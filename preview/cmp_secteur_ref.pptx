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54000"/>
            <a:ext cx="9144000" cy="251999"/>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851999" y="324000"/>
            <a:ext cx="1440000" cy="14400"/>
          </a:xfrm>
          <a:prstGeom prst="rect">
            <a:avLst/>
          </a:prstGeom>
          <a:solidFill>
            <a:srgbClr val="AA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52800"/>
            <a:ext cx="9144000" cy="270000"/>
          </a:xfrm>
          <a:prstGeom prst="rect">
            <a:avLst/>
          </a:prstGeom>
          <a:noFill/>
        </p:spPr>
        <p:txBody>
          <a:bodyPr wrap="square">
            <a:spAutoFit/>
          </a:bodyPr>
          <a:lstStyle/>
          <a:p>
            <a:pPr algn="ctr"/>
            <a:r>
              <a:rPr sz="900" b="0" i="0">
                <a:solidFill>
                  <a:srgbClr val="CCDDEE"/>
                </a:solidFill>
              </a:rPr>
              <a:t>Pitchbook  —  Comparatif Sectoriel</a:t>
            </a:r>
          </a:p>
        </p:txBody>
      </p:sp>
      <p:sp>
        <p:nvSpPr>
          <p:cNvPr id="6" name="TextBox 5"/>
          <p:cNvSpPr txBox="1"/>
          <p:nvPr/>
        </p:nvSpPr>
        <p:spPr>
          <a:xfrm>
            <a:off x="0" y="1440000"/>
            <a:ext cx="9144000" cy="900000"/>
          </a:xfrm>
          <a:prstGeom prst="rect">
            <a:avLst/>
          </a:prstGeom>
          <a:noFill/>
        </p:spPr>
        <p:txBody>
          <a:bodyPr wrap="square">
            <a:spAutoFit/>
          </a:bodyPr>
          <a:lstStyle/>
          <a:p>
            <a:pPr algn="ctr"/>
            <a:r>
              <a:rPr sz="3400" b="1" i="0">
                <a:solidFill>
                  <a:srgbClr val="1B3A6B"/>
                </a:solidFill>
              </a:rPr>
              <a:t>Santé  vs  Technology</a:t>
            </a:r>
          </a:p>
        </p:txBody>
      </p:sp>
      <p:sp>
        <p:nvSpPr>
          <p:cNvPr id="7" name="TextBox 6"/>
          <p:cNvSpPr txBox="1"/>
          <p:nvPr/>
        </p:nvSpPr>
        <p:spPr>
          <a:xfrm>
            <a:off x="0" y="2448000"/>
            <a:ext cx="9144000" cy="360000"/>
          </a:xfrm>
          <a:prstGeom prst="rect">
            <a:avLst/>
          </a:prstGeom>
          <a:noFill/>
        </p:spPr>
        <p:txBody>
          <a:bodyPr wrap="square">
            <a:spAutoFit/>
          </a:bodyPr>
          <a:lstStyle/>
          <a:p>
            <a:pPr algn="ctr"/>
            <a:r>
              <a:rPr sz="1300" b="0" i="0">
                <a:solidFill>
                  <a:srgbClr val="555555"/>
                </a:solidFill>
              </a:rPr>
              <a:t>Global</a:t>
            </a:r>
          </a:p>
        </p:txBody>
      </p:sp>
      <p:sp>
        <p:nvSpPr>
          <p:cNvPr id="8" name="Rectangle 7"/>
          <p:cNvSpPr/>
          <p:nvPr/>
        </p:nvSpPr>
        <p:spPr>
          <a:xfrm>
            <a:off x="324000" y="2880000"/>
            <a:ext cx="2015999" cy="86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4000" y="2880000"/>
            <a:ext cx="792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3200" y="2934000"/>
            <a:ext cx="1936800" cy="486000"/>
          </a:xfrm>
          <a:prstGeom prst="rect">
            <a:avLst/>
          </a:prstGeom>
          <a:noFill/>
        </p:spPr>
        <p:txBody>
          <a:bodyPr wrap="square">
            <a:spAutoFit/>
          </a:bodyPr>
          <a:lstStyle/>
          <a:p>
            <a:pPr algn="ctr"/>
            <a:r>
              <a:rPr sz="2800" b="1" i="0">
                <a:solidFill>
                  <a:srgbClr val="1B3A6B"/>
                </a:solidFill>
              </a:rPr>
              <a:t>75</a:t>
            </a:r>
          </a:p>
        </p:txBody>
      </p:sp>
      <p:sp>
        <p:nvSpPr>
          <p:cNvPr id="11" name="TextBox 10"/>
          <p:cNvSpPr txBox="1"/>
          <p:nvPr/>
        </p:nvSpPr>
        <p:spPr>
          <a:xfrm>
            <a:off x="403200" y="3438000"/>
            <a:ext cx="1936800" cy="306000"/>
          </a:xfrm>
          <a:prstGeom prst="rect">
            <a:avLst/>
          </a:prstGeom>
          <a:noFill/>
        </p:spPr>
        <p:txBody>
          <a:bodyPr wrap="square">
            <a:spAutoFit/>
          </a:bodyPr>
          <a:lstStyle/>
          <a:p>
            <a:pPr algn="ctr"/>
            <a:r>
              <a:rPr sz="850" b="0" i="0">
                <a:solidFill>
                  <a:srgbClr val="1B3A6B"/>
                </a:solidFill>
              </a:rPr>
              <a:t>sociétés
Santé</a:t>
            </a:r>
          </a:p>
        </p:txBody>
      </p:sp>
      <p:sp>
        <p:nvSpPr>
          <p:cNvPr id="12" name="Rectangle 11"/>
          <p:cNvSpPr/>
          <p:nvPr/>
        </p:nvSpPr>
        <p:spPr>
          <a:xfrm>
            <a:off x="2430000" y="2880000"/>
            <a:ext cx="2015999" cy="86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30000" y="2880000"/>
            <a:ext cx="792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9200" y="2934000"/>
            <a:ext cx="1936800" cy="486000"/>
          </a:xfrm>
          <a:prstGeom prst="rect">
            <a:avLst/>
          </a:prstGeom>
          <a:noFill/>
        </p:spPr>
        <p:txBody>
          <a:bodyPr wrap="square">
            <a:spAutoFit/>
          </a:bodyPr>
          <a:lstStyle/>
          <a:p>
            <a:pPr algn="ctr"/>
            <a:r>
              <a:rPr sz="2800" b="1" i="0">
                <a:solidFill>
                  <a:srgbClr val="1B3A6B"/>
                </a:solidFill>
              </a:rPr>
              <a:t>49</a:t>
            </a:r>
          </a:p>
        </p:txBody>
      </p:sp>
      <p:sp>
        <p:nvSpPr>
          <p:cNvPr id="15" name="TextBox 14"/>
          <p:cNvSpPr txBox="1"/>
          <p:nvPr/>
        </p:nvSpPr>
        <p:spPr>
          <a:xfrm>
            <a:off x="2509200" y="3438000"/>
            <a:ext cx="1936800" cy="306000"/>
          </a:xfrm>
          <a:prstGeom prst="rect">
            <a:avLst/>
          </a:prstGeom>
          <a:noFill/>
        </p:spPr>
        <p:txBody>
          <a:bodyPr wrap="square">
            <a:spAutoFit/>
          </a:bodyPr>
          <a:lstStyle/>
          <a:p>
            <a:pPr algn="ctr"/>
            <a:r>
              <a:rPr sz="850" b="0" i="0">
                <a:solidFill>
                  <a:srgbClr val="1B3A6B"/>
                </a:solidFill>
              </a:rPr>
              <a:t>Score FinSight
Santé</a:t>
            </a:r>
          </a:p>
        </p:txBody>
      </p:sp>
      <p:sp>
        <p:nvSpPr>
          <p:cNvPr id="16" name="Rectangle 15"/>
          <p:cNvSpPr/>
          <p:nvPr/>
        </p:nvSpPr>
        <p:spPr>
          <a:xfrm>
            <a:off x="4536000" y="2880000"/>
            <a:ext cx="2015999" cy="86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36000" y="2880000"/>
            <a:ext cx="79200" cy="86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5200" y="2934000"/>
            <a:ext cx="1936800" cy="486000"/>
          </a:xfrm>
          <a:prstGeom prst="rect">
            <a:avLst/>
          </a:prstGeom>
          <a:noFill/>
        </p:spPr>
        <p:txBody>
          <a:bodyPr wrap="square">
            <a:spAutoFit/>
          </a:bodyPr>
          <a:lstStyle/>
          <a:p>
            <a:pPr algn="ctr"/>
            <a:r>
              <a:rPr sz="2800" b="1" i="0">
                <a:solidFill>
                  <a:srgbClr val="1A7A4A"/>
                </a:solidFill>
              </a:rPr>
              <a:t>8</a:t>
            </a:r>
          </a:p>
        </p:txBody>
      </p:sp>
      <p:sp>
        <p:nvSpPr>
          <p:cNvPr id="19" name="TextBox 18"/>
          <p:cNvSpPr txBox="1"/>
          <p:nvPr/>
        </p:nvSpPr>
        <p:spPr>
          <a:xfrm>
            <a:off x="4615200" y="3438000"/>
            <a:ext cx="1936800" cy="306000"/>
          </a:xfrm>
          <a:prstGeom prst="rect">
            <a:avLst/>
          </a:prstGeom>
          <a:noFill/>
        </p:spPr>
        <p:txBody>
          <a:bodyPr wrap="square">
            <a:spAutoFit/>
          </a:bodyPr>
          <a:lstStyle/>
          <a:p>
            <a:pPr algn="ctr"/>
            <a:r>
              <a:rPr sz="850" b="0" i="0">
                <a:solidFill>
                  <a:srgbClr val="1B3A6B"/>
                </a:solidFill>
              </a:rPr>
              <a:t>sociétés
Technology</a:t>
            </a:r>
          </a:p>
        </p:txBody>
      </p:sp>
      <p:sp>
        <p:nvSpPr>
          <p:cNvPr id="20" name="Rectangle 19"/>
          <p:cNvSpPr/>
          <p:nvPr/>
        </p:nvSpPr>
        <p:spPr>
          <a:xfrm>
            <a:off x="6641999" y="2880000"/>
            <a:ext cx="2015999" cy="86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41999" y="2880000"/>
            <a:ext cx="79200" cy="86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1199" y="2934000"/>
            <a:ext cx="1936800" cy="486000"/>
          </a:xfrm>
          <a:prstGeom prst="rect">
            <a:avLst/>
          </a:prstGeom>
          <a:noFill/>
        </p:spPr>
        <p:txBody>
          <a:bodyPr wrap="square">
            <a:spAutoFit/>
          </a:bodyPr>
          <a:lstStyle/>
          <a:p>
            <a:pPr algn="ctr"/>
            <a:r>
              <a:rPr sz="2800" b="1" i="0">
                <a:solidFill>
                  <a:srgbClr val="1A7A4A"/>
                </a:solidFill>
              </a:rPr>
              <a:t>76</a:t>
            </a:r>
          </a:p>
        </p:txBody>
      </p:sp>
      <p:sp>
        <p:nvSpPr>
          <p:cNvPr id="23" name="TextBox 22"/>
          <p:cNvSpPr txBox="1"/>
          <p:nvPr/>
        </p:nvSpPr>
        <p:spPr>
          <a:xfrm>
            <a:off x="6721199" y="3438000"/>
            <a:ext cx="1936800" cy="306000"/>
          </a:xfrm>
          <a:prstGeom prst="rect">
            <a:avLst/>
          </a:prstGeom>
          <a:noFill/>
        </p:spPr>
        <p:txBody>
          <a:bodyPr wrap="square">
            <a:spAutoFit/>
          </a:bodyPr>
          <a:lstStyle/>
          <a:p>
            <a:pPr algn="ctr"/>
            <a:r>
              <a:rPr sz="850" b="0" i="0">
                <a:solidFill>
                  <a:srgbClr val="1B3A6B"/>
                </a:solidFill>
              </a:rPr>
              <a:t>Score FinSight
Technology</a:t>
            </a:r>
          </a:p>
        </p:txBody>
      </p:sp>
      <p:sp>
        <p:nvSpPr>
          <p:cNvPr id="24" name="Rectangle 23"/>
          <p:cNvSpPr/>
          <p:nvPr/>
        </p:nvSpPr>
        <p:spPr>
          <a:xfrm>
            <a:off x="792000" y="3960000"/>
            <a:ext cx="1620000" cy="32400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2000" y="3988800"/>
            <a:ext cx="1620000" cy="270000"/>
          </a:xfrm>
          <a:prstGeom prst="rect">
            <a:avLst/>
          </a:prstGeom>
          <a:noFill/>
        </p:spPr>
        <p:txBody>
          <a:bodyPr wrap="square">
            <a:spAutoFit/>
          </a:bodyPr>
          <a:lstStyle/>
          <a:p>
            <a:pPr algn="ctr"/>
            <a:r>
              <a:rPr sz="950" b="1" i="0">
                <a:solidFill>
                  <a:srgbClr val="FFFFFF"/>
                </a:solidFill>
              </a:rPr>
              <a:t>● Neutre</a:t>
            </a:r>
          </a:p>
        </p:txBody>
      </p:sp>
      <p:sp>
        <p:nvSpPr>
          <p:cNvPr id="26" name="Rectangle 25"/>
          <p:cNvSpPr/>
          <p:nvPr/>
        </p:nvSpPr>
        <p:spPr>
          <a:xfrm>
            <a:off x="6732000" y="3960000"/>
            <a:ext cx="16200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32000" y="3988800"/>
            <a:ext cx="1620000" cy="270000"/>
          </a:xfrm>
          <a:prstGeom prst="rect">
            <a:avLst/>
          </a:prstGeom>
          <a:noFill/>
        </p:spPr>
        <p:txBody>
          <a:bodyPr wrap="square">
            <a:spAutoFit/>
          </a:bodyPr>
          <a:lstStyle/>
          <a:p>
            <a:pPr algn="ctr"/>
            <a:r>
              <a:rPr sz="950" b="1" i="0">
                <a:solidFill>
                  <a:srgbClr val="FFFFFF"/>
                </a:solidFill>
              </a:rPr>
              <a:t>● Surpondérer</a:t>
            </a:r>
          </a:p>
        </p:txBody>
      </p:sp>
      <p:sp>
        <p:nvSpPr>
          <p:cNvPr id="28" name="Rectangle 27"/>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14000"/>
            <a:ext cx="4320000" cy="180000"/>
          </a:xfrm>
          <a:prstGeom prst="rect">
            <a:avLst/>
          </a:prstGeom>
          <a:noFill/>
        </p:spPr>
        <p:txBody>
          <a:bodyPr wrap="square">
            <a:spAutoFit/>
          </a:bodyPr>
          <a:lstStyle/>
          <a:p>
            <a:pPr algn="l"/>
            <a:r>
              <a:rPr sz="750" b="0" i="0">
                <a:solidFill>
                  <a:srgbClr val="555555"/>
                </a:solidFill>
              </a:rPr>
              <a:t>Rapport confidentiel  |  FinSight IA</a:t>
            </a:r>
          </a:p>
        </p:txBody>
      </p:sp>
      <p:sp>
        <p:nvSpPr>
          <p:cNvPr id="30" name="TextBox 29"/>
          <p:cNvSpPr txBox="1"/>
          <p:nvPr/>
        </p:nvSpPr>
        <p:spPr>
          <a:xfrm>
            <a:off x="0" y="4914000"/>
            <a:ext cx="8784000" cy="180000"/>
          </a:xfrm>
          <a:prstGeom prst="rect">
            <a:avLst/>
          </a:prstGeom>
          <a:noFill/>
        </p:spPr>
        <p:txBody>
          <a:bodyPr wrap="square">
            <a:spAutoFit/>
          </a:bodyPr>
          <a:lstStyle/>
          <a:p>
            <a:pPr algn="r"/>
            <a:r>
              <a:rPr sz="750" b="0" i="0">
                <a:solidFill>
                  <a:srgbClr val="555555"/>
                </a:solidFill>
              </a:rPr>
              <a:t>11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Executive Summary  —  Santé vs Technology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Univers : Global  |  75 + 8 sociétés analysées</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4104000" cy="37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756000"/>
            <a:ext cx="43200" cy="37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792000"/>
            <a:ext cx="3816000" cy="144000"/>
          </a:xfrm>
          <a:prstGeom prst="rect">
            <a:avLst/>
          </a:prstGeom>
          <a:noFill/>
        </p:spPr>
        <p:txBody>
          <a:bodyPr wrap="square">
            <a:spAutoFit/>
          </a:bodyPr>
          <a:lstStyle/>
          <a:p>
            <a:pPr algn="l"/>
            <a:r>
              <a:rPr sz="1000" b="1" i="0">
                <a:solidFill>
                  <a:srgbClr val="1B3A6B"/>
                </a:solidFill>
              </a:rPr>
              <a:t>Santé  —  Neutre</a:t>
            </a:r>
          </a:p>
        </p:txBody>
      </p:sp>
      <p:sp>
        <p:nvSpPr>
          <p:cNvPr id="21" name="TextBox 20"/>
          <p:cNvSpPr txBox="1"/>
          <p:nvPr/>
        </p:nvSpPr>
        <p:spPr>
          <a:xfrm>
            <a:off x="468000" y="943200"/>
            <a:ext cx="3816000" cy="162000"/>
          </a:xfrm>
          <a:prstGeom prst="rect">
            <a:avLst/>
          </a:prstGeom>
          <a:noFill/>
        </p:spPr>
        <p:txBody>
          <a:bodyPr wrap="square">
            <a:spAutoFit/>
          </a:bodyPr>
          <a:lstStyle/>
          <a:p>
            <a:pPr algn="l"/>
            <a:r>
              <a:rPr sz="750" b="0" i="0">
                <a:solidFill>
                  <a:srgbClr val="1B3A6B"/>
                </a:solidFill>
              </a:rPr>
              <a:t>Score 49/100  |  P/E 24.8x  |  Croiss. +30.0 %  |  Mg. EBITDA 25.2 %</a:t>
            </a:r>
          </a:p>
        </p:txBody>
      </p:sp>
      <p:sp>
        <p:nvSpPr>
          <p:cNvPr id="22" name="Rectangle 21"/>
          <p:cNvSpPr/>
          <p:nvPr/>
        </p:nvSpPr>
        <p:spPr>
          <a:xfrm>
            <a:off x="4716000" y="756000"/>
            <a:ext cx="4104000" cy="37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16000" y="756000"/>
            <a:ext cx="43200" cy="37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60000" y="792000"/>
            <a:ext cx="3816000" cy="144000"/>
          </a:xfrm>
          <a:prstGeom prst="rect">
            <a:avLst/>
          </a:prstGeom>
          <a:noFill/>
        </p:spPr>
        <p:txBody>
          <a:bodyPr wrap="square">
            <a:spAutoFit/>
          </a:bodyPr>
          <a:lstStyle/>
          <a:p>
            <a:pPr algn="l"/>
            <a:r>
              <a:rPr sz="1000" b="1" i="0">
                <a:solidFill>
                  <a:srgbClr val="1A7A4A"/>
                </a:solidFill>
              </a:rPr>
              <a:t>Technology  —  Surpondérer</a:t>
            </a:r>
          </a:p>
        </p:txBody>
      </p:sp>
      <p:sp>
        <p:nvSpPr>
          <p:cNvPr id="25" name="TextBox 24"/>
          <p:cNvSpPr txBox="1"/>
          <p:nvPr/>
        </p:nvSpPr>
        <p:spPr>
          <a:xfrm>
            <a:off x="4860000" y="943200"/>
            <a:ext cx="3816000" cy="162000"/>
          </a:xfrm>
          <a:prstGeom prst="rect">
            <a:avLst/>
          </a:prstGeom>
          <a:noFill/>
        </p:spPr>
        <p:txBody>
          <a:bodyPr wrap="square">
            <a:spAutoFit/>
          </a:bodyPr>
          <a:lstStyle/>
          <a:p>
            <a:pPr algn="l"/>
            <a:r>
              <a:rPr sz="750" b="0" i="0">
                <a:solidFill>
                  <a:srgbClr val="1A7A4A"/>
                </a:solidFill>
              </a:rPr>
              <a:t>Score 76/100  |  P/E 31.2x  |  Croiss. +22.7 %  |  Mg. EBITDA 46.8 %</a:t>
            </a:r>
          </a:p>
        </p:txBody>
      </p:sp>
      <p:graphicFrame>
        <p:nvGraphicFramePr>
          <p:cNvPr id="26" name="Table 25"/>
          <p:cNvGraphicFramePr>
            <a:graphicFrameLocks noGrp="1"/>
          </p:cNvGraphicFramePr>
          <p:nvPr/>
        </p:nvGraphicFramePr>
        <p:xfrm>
          <a:off x="324000" y="1224000"/>
          <a:ext cx="8496000" cy="2862000"/>
        </p:xfrm>
        <a:graphic>
          <a:graphicData uri="http://schemas.openxmlformats.org/drawingml/2006/table">
            <a:tbl>
              <a:tblPr firstRow="1" bandRow="1">
                <a:tableStyleId>{5C22544A-7EE6-4342-B048-85BDC9FD1C3A}</a:tableStyleId>
              </a:tblPr>
              <a:tblGrid>
                <a:gridCol w="3115200"/>
                <a:gridCol w="1699200"/>
                <a:gridCol w="1699200"/>
                <a:gridCol w="1982400"/>
              </a:tblGrid>
              <a:tr h="286200">
                <a:tc>
                  <a:txBody>
                    <a:bodyPr/>
                    <a:lstStyle/>
                    <a:p>
                      <a:pPr algn="ctr"/>
                      <a:r>
                        <a:rPr sz="850" b="1">
                          <a:solidFill>
                            <a:srgbClr val="FFFFFF"/>
                          </a:solidFill>
                        </a:rPr>
                        <a:t>Metrique</a:t>
                      </a:r>
                    </a:p>
                  </a:txBody>
                  <a:tcPr>
                    <a:solidFill>
                      <a:srgbClr val="1B3A6B"/>
                    </a:solidFill>
                  </a:tcPr>
                </a:tc>
                <a:tc>
                  <a:txBody>
                    <a:bodyPr/>
                    <a:lstStyle/>
                    <a:p>
                      <a:pPr algn="ctr"/>
                      <a:r>
                        <a:rPr sz="850" b="1">
                          <a:solidFill>
                            <a:srgbClr val="FFFFFF"/>
                          </a:solidFill>
                        </a:rPr>
                        <a:t>Santé</a:t>
                      </a:r>
                    </a:p>
                  </a:txBody>
                  <a:tcPr>
                    <a:solidFill>
                      <a:srgbClr val="1B3A6B"/>
                    </a:solidFill>
                  </a:tcPr>
                </a:tc>
                <a:tc>
                  <a:txBody>
                    <a:bodyPr/>
                    <a:lstStyle/>
                    <a:p>
                      <a:pPr algn="ctr"/>
                      <a:r>
                        <a:rPr sz="850" b="1">
                          <a:solidFill>
                            <a:srgbClr val="FFFFFF"/>
                          </a:solidFill>
                        </a:rPr>
                        <a:t>Technology</a:t>
                      </a:r>
                    </a:p>
                  </a:txBody>
                  <a:tcPr>
                    <a:solidFill>
                      <a:srgbClr val="1B3A6B"/>
                    </a:solidFill>
                  </a:tcPr>
                </a:tc>
                <a:tc>
                  <a:txBody>
                    <a:bodyPr/>
                    <a:lstStyle/>
                    <a:p>
                      <a:pPr algn="ctr"/>
                      <a:r>
                        <a:rPr sz="850" b="1">
                          <a:solidFill>
                            <a:srgbClr val="FFFFFF"/>
                          </a:solidFill>
                        </a:rPr>
                        <a:t>Avantage</a:t>
                      </a:r>
                    </a:p>
                  </a:txBody>
                  <a:tcPr>
                    <a:solidFill>
                      <a:srgbClr val="1B3A6B"/>
                    </a:solidFill>
                  </a:tcPr>
                </a:tc>
              </a:tr>
              <a:tr h="286200">
                <a:tc>
                  <a:txBody>
                    <a:bodyPr/>
                    <a:lstStyle/>
                    <a:p>
                      <a:pPr algn="ctr"/>
                      <a:r>
                        <a:rPr sz="850" b="0">
                          <a:solidFill>
                            <a:srgbClr val="1A1A1A"/>
                          </a:solidFill>
                        </a:rPr>
                        <a:t>Score FinSight</a:t>
                      </a:r>
                    </a:p>
                  </a:txBody>
                  <a:tcPr>
                    <a:noFill/>
                  </a:tcPr>
                </a:tc>
                <a:tc>
                  <a:txBody>
                    <a:bodyPr/>
                    <a:lstStyle/>
                    <a:p>
                      <a:pPr algn="ctr"/>
                      <a:r>
                        <a:rPr sz="850" b="0">
                          <a:solidFill>
                            <a:srgbClr val="1A1A1A"/>
                          </a:solidFill>
                        </a:rPr>
                        <a:t>49/100</a:t>
                      </a:r>
                    </a:p>
                  </a:txBody>
                  <a:tcPr>
                    <a:noFill/>
                  </a:tcPr>
                </a:tc>
                <a:tc>
                  <a:txBody>
                    <a:bodyPr/>
                    <a:lstStyle/>
                    <a:p>
                      <a:pPr algn="ctr"/>
                      <a:r>
                        <a:rPr sz="850" b="0">
                          <a:solidFill>
                            <a:srgbClr val="1A1A1A"/>
                          </a:solidFill>
                        </a:rPr>
                        <a:t>76/100</a:t>
                      </a:r>
                    </a:p>
                  </a:txBody>
                  <a:tcPr>
                    <a:noFill/>
                  </a:tcPr>
                </a:tc>
                <a:tc>
                  <a:txBody>
                    <a:bodyPr/>
                    <a:lstStyle/>
                    <a:p>
                      <a:pPr algn="ctr"/>
                      <a:r>
                        <a:rPr sz="850" b="0">
                          <a:solidFill>
                            <a:srgbClr val="1A1A1A"/>
                          </a:solidFill>
                        </a:rPr>
                        <a:t>Technology</a:t>
                      </a:r>
                    </a:p>
                  </a:txBody>
                  <a:tcPr>
                    <a:noFill/>
                  </a:tcPr>
                </a:tc>
              </a:tr>
              <a:tr h="286200">
                <a:tc>
                  <a:txBody>
                    <a:bodyPr/>
                    <a:lstStyle/>
                    <a:p>
                      <a:pPr algn="ctr"/>
                      <a:r>
                        <a:rPr sz="850" b="0">
                          <a:solidFill>
                            <a:srgbClr val="1A1A1A"/>
                          </a:solidFill>
                        </a:rPr>
                        <a:t>P/E Médian</a:t>
                      </a:r>
                    </a:p>
                  </a:txBody>
                  <a:tcPr>
                    <a:solidFill>
                      <a:srgbClr val="F5F7FA"/>
                    </a:solidFill>
                  </a:tcPr>
                </a:tc>
                <a:tc>
                  <a:txBody>
                    <a:bodyPr/>
                    <a:lstStyle/>
                    <a:p>
                      <a:pPr algn="ctr"/>
                      <a:r>
                        <a:rPr sz="850" b="0">
                          <a:solidFill>
                            <a:srgbClr val="1A1A1A"/>
                          </a:solidFill>
                        </a:rPr>
                        <a:t>24.8x</a:t>
                      </a:r>
                    </a:p>
                  </a:txBody>
                  <a:tcPr>
                    <a:solidFill>
                      <a:srgbClr val="F5F7FA"/>
                    </a:solidFill>
                  </a:tcPr>
                </a:tc>
                <a:tc>
                  <a:txBody>
                    <a:bodyPr/>
                    <a:lstStyle/>
                    <a:p>
                      <a:pPr algn="ctr"/>
                      <a:r>
                        <a:rPr sz="850" b="0">
                          <a:solidFill>
                            <a:srgbClr val="1A1A1A"/>
                          </a:solidFill>
                        </a:rPr>
                        <a:t>31.2x</a:t>
                      </a:r>
                    </a:p>
                  </a:txBody>
                  <a:tcPr>
                    <a:solidFill>
                      <a:srgbClr val="F5F7FA"/>
                    </a:solidFill>
                  </a:tcPr>
                </a:tc>
                <a:tc>
                  <a:txBody>
                    <a:bodyPr/>
                    <a:lstStyle/>
                    <a:p>
                      <a:pPr algn="ctr"/>
                      <a:r>
                        <a:rPr sz="850" b="0">
                          <a:solidFill>
                            <a:srgbClr val="1A1A1A"/>
                          </a:solidFill>
                        </a:rPr>
                        <a:t>Santé</a:t>
                      </a:r>
                    </a:p>
                  </a:txBody>
                  <a:tcPr>
                    <a:solidFill>
                      <a:srgbClr val="F5F7FA"/>
                    </a:solidFill>
                  </a:tcPr>
                </a:tc>
              </a:tr>
              <a:tr h="286200">
                <a:tc>
                  <a:txBody>
                    <a:bodyPr/>
                    <a:lstStyle/>
                    <a:p>
                      <a:pPr algn="ctr"/>
                      <a:r>
                        <a:rPr sz="850" b="0">
                          <a:solidFill>
                            <a:srgbClr val="1A1A1A"/>
                          </a:solidFill>
                        </a:rPr>
                        <a:t>EV/EBITDA Médian</a:t>
                      </a:r>
                    </a:p>
                  </a:txBody>
                  <a:tcPr>
                    <a:noFill/>
                  </a:tcPr>
                </a:tc>
                <a:tc>
                  <a:txBody>
                    <a:bodyPr/>
                    <a:lstStyle/>
                    <a:p>
                      <a:pPr algn="ctr"/>
                      <a:r>
                        <a:rPr sz="850" b="0">
                          <a:solidFill>
                            <a:srgbClr val="1A1A1A"/>
                          </a:solidFill>
                        </a:rPr>
                        <a:t>15.0x</a:t>
                      </a:r>
                    </a:p>
                  </a:txBody>
                  <a:tcPr>
                    <a:noFill/>
                  </a:tcPr>
                </a:tc>
                <a:tc>
                  <a:txBody>
                    <a:bodyPr/>
                    <a:lstStyle/>
                    <a:p>
                      <a:pPr algn="ctr"/>
                      <a:r>
                        <a:rPr sz="850" b="0">
                          <a:solidFill>
                            <a:srgbClr val="1A1A1A"/>
                          </a:solidFill>
                        </a:rPr>
                        <a:t>25.2x</a:t>
                      </a:r>
                    </a:p>
                  </a:txBody>
                  <a:tcPr>
                    <a:noFill/>
                  </a:tcPr>
                </a:tc>
                <a:tc>
                  <a:txBody>
                    <a:bodyPr/>
                    <a:lstStyle/>
                    <a:p>
                      <a:pPr algn="ctr"/>
                      <a:r>
                        <a:rPr sz="850" b="0">
                          <a:solidFill>
                            <a:srgbClr val="1A1A1A"/>
                          </a:solidFill>
                        </a:rPr>
                        <a:t>Santé</a:t>
                      </a:r>
                    </a:p>
                  </a:txBody>
                  <a:tcPr>
                    <a:noFill/>
                  </a:tcPr>
                </a:tc>
              </a:tr>
              <a:tr h="286200">
                <a:tc>
                  <a:txBody>
                    <a:bodyPr/>
                    <a:lstStyle/>
                    <a:p>
                      <a:pPr algn="ctr"/>
                      <a:r>
                        <a:rPr sz="850" b="0">
                          <a:solidFill>
                            <a:srgbClr val="1A1A1A"/>
                          </a:solidFill>
                        </a:rPr>
                        <a:t>Croissance rev. med.</a:t>
                      </a:r>
                    </a:p>
                  </a:txBody>
                  <a:tcPr>
                    <a:solidFill>
                      <a:srgbClr val="F5F7FA"/>
                    </a:solidFill>
                  </a:tcPr>
                </a:tc>
                <a:tc>
                  <a:txBody>
                    <a:bodyPr/>
                    <a:lstStyle/>
                    <a:p>
                      <a:pPr algn="ctr"/>
                      <a:r>
                        <a:rPr sz="850" b="0">
                          <a:solidFill>
                            <a:srgbClr val="1A1A1A"/>
                          </a:solidFill>
                        </a:rPr>
                        <a:t>+30.0 %</a:t>
                      </a:r>
                    </a:p>
                  </a:txBody>
                  <a:tcPr>
                    <a:solidFill>
                      <a:srgbClr val="F5F7FA"/>
                    </a:solidFill>
                  </a:tcPr>
                </a:tc>
                <a:tc>
                  <a:txBody>
                    <a:bodyPr/>
                    <a:lstStyle/>
                    <a:p>
                      <a:pPr algn="ctr"/>
                      <a:r>
                        <a:rPr sz="850" b="0">
                          <a:solidFill>
                            <a:srgbClr val="1A1A1A"/>
                          </a:solidFill>
                        </a:rPr>
                        <a:t>+22.7 %</a:t>
                      </a:r>
                    </a:p>
                  </a:txBody>
                  <a:tcPr>
                    <a:solidFill>
                      <a:srgbClr val="F5F7FA"/>
                    </a:solidFill>
                  </a:tcPr>
                </a:tc>
                <a:tc>
                  <a:txBody>
                    <a:bodyPr/>
                    <a:lstStyle/>
                    <a:p>
                      <a:pPr algn="ctr"/>
                      <a:r>
                        <a:rPr sz="850" b="0">
                          <a:solidFill>
                            <a:srgbClr val="1A1A1A"/>
                          </a:solidFill>
                        </a:rPr>
                        <a:t>Santé</a:t>
                      </a:r>
                    </a:p>
                  </a:txBody>
                  <a:tcPr>
                    <a:solidFill>
                      <a:srgbClr val="F5F7FA"/>
                    </a:solidFill>
                  </a:tcPr>
                </a:tc>
              </a:tr>
              <a:tr h="286200">
                <a:tc>
                  <a:txBody>
                    <a:bodyPr/>
                    <a:lstStyle/>
                    <a:p>
                      <a:pPr algn="ctr"/>
                      <a:r>
                        <a:rPr sz="850" b="0">
                          <a:solidFill>
                            <a:srgbClr val="1A1A1A"/>
                          </a:solidFill>
                        </a:rPr>
                        <a:t>Marge EBITDA med.</a:t>
                      </a:r>
                    </a:p>
                  </a:txBody>
                  <a:tcPr>
                    <a:noFill/>
                  </a:tcPr>
                </a:tc>
                <a:tc>
                  <a:txBody>
                    <a:bodyPr/>
                    <a:lstStyle/>
                    <a:p>
                      <a:pPr algn="ctr"/>
                      <a:r>
                        <a:rPr sz="850" b="0">
                          <a:solidFill>
                            <a:srgbClr val="1A1A1A"/>
                          </a:solidFill>
                        </a:rPr>
                        <a:t>25.2 %</a:t>
                      </a:r>
                    </a:p>
                  </a:txBody>
                  <a:tcPr>
                    <a:noFill/>
                  </a:tcPr>
                </a:tc>
                <a:tc>
                  <a:txBody>
                    <a:bodyPr/>
                    <a:lstStyle/>
                    <a:p>
                      <a:pPr algn="ctr"/>
                      <a:r>
                        <a:rPr sz="850" b="0">
                          <a:solidFill>
                            <a:srgbClr val="1A1A1A"/>
                          </a:solidFill>
                        </a:rPr>
                        <a:t>46.8 %</a:t>
                      </a:r>
                    </a:p>
                  </a:txBody>
                  <a:tcPr>
                    <a:noFill/>
                  </a:tcPr>
                </a:tc>
                <a:tc>
                  <a:txBody>
                    <a:bodyPr/>
                    <a:lstStyle/>
                    <a:p>
                      <a:pPr algn="ctr"/>
                      <a:r>
                        <a:rPr sz="850" b="0">
                          <a:solidFill>
                            <a:srgbClr val="1A1A1A"/>
                          </a:solidFill>
                        </a:rPr>
                        <a:t>Technology</a:t>
                      </a:r>
                    </a:p>
                  </a:txBody>
                  <a:tcPr>
                    <a:noFill/>
                  </a:tcPr>
                </a:tc>
              </a:tr>
              <a:tr h="286200">
                <a:tc>
                  <a:txBody>
                    <a:bodyPr/>
                    <a:lstStyle/>
                    <a:p>
                      <a:pPr algn="ctr"/>
                      <a:r>
                        <a:rPr sz="850" b="0">
                          <a:solidFill>
                            <a:srgbClr val="1A1A1A"/>
                          </a:solidFill>
                        </a:rPr>
                        <a:t>Marge Nette med.</a:t>
                      </a:r>
                    </a:p>
                  </a:txBody>
                  <a:tcPr>
                    <a:solidFill>
                      <a:srgbClr val="F5F7FA"/>
                    </a:solidFill>
                  </a:tcPr>
                </a:tc>
                <a:tc>
                  <a:txBody>
                    <a:bodyPr/>
                    <a:lstStyle/>
                    <a:p>
                      <a:pPr algn="ctr"/>
                      <a:r>
                        <a:rPr sz="850" b="0">
                          <a:solidFill>
                            <a:srgbClr val="1A1A1A"/>
                          </a:solidFill>
                        </a:rPr>
                        <a:t>10.2 %</a:t>
                      </a:r>
                    </a:p>
                  </a:txBody>
                  <a:tcPr>
                    <a:solidFill>
                      <a:srgbClr val="F5F7FA"/>
                    </a:solidFill>
                  </a:tcPr>
                </a:tc>
                <a:tc>
                  <a:txBody>
                    <a:bodyPr/>
                    <a:lstStyle/>
                    <a:p>
                      <a:pPr algn="ctr"/>
                      <a:r>
                        <a:rPr sz="850" b="0">
                          <a:solidFill>
                            <a:srgbClr val="1A1A1A"/>
                          </a:solidFill>
                        </a:rPr>
                        <a:t>31.4 %</a:t>
                      </a:r>
                    </a:p>
                  </a:txBody>
                  <a:tcPr>
                    <a:solidFill>
                      <a:srgbClr val="F5F7FA"/>
                    </a:solidFill>
                  </a:tcPr>
                </a:tc>
                <a:tc>
                  <a:txBody>
                    <a:bodyPr/>
                    <a:lstStyle/>
                    <a:p>
                      <a:pPr algn="ctr"/>
                      <a:r>
                        <a:rPr sz="850" b="0">
                          <a:solidFill>
                            <a:srgbClr val="1A1A1A"/>
                          </a:solidFill>
                        </a:rPr>
                        <a:t>Technology</a:t>
                      </a:r>
                    </a:p>
                  </a:txBody>
                  <a:tcPr>
                    <a:solidFill>
                      <a:srgbClr val="F5F7FA"/>
                    </a:solidFill>
                  </a:tcPr>
                </a:tc>
              </a:tr>
              <a:tr h="286200">
                <a:tc>
                  <a:txBody>
                    <a:bodyPr/>
                    <a:lstStyle/>
                    <a:p>
                      <a:pPr algn="ctr"/>
                      <a:r>
                        <a:rPr sz="850" b="0">
                          <a:solidFill>
                            <a:srgbClr val="1A1A1A"/>
                          </a:solidFill>
                        </a:rPr>
                        <a:t>ROE Médian</a:t>
                      </a:r>
                    </a:p>
                  </a:txBody>
                  <a:tcPr>
                    <a:noFill/>
                  </a:tcPr>
                </a:tc>
                <a:tc>
                  <a:txBody>
                    <a:bodyPr/>
                    <a:lstStyle/>
                    <a:p>
                      <a:pPr algn="ctr"/>
                      <a:r>
                        <a:rPr sz="850" b="0">
                          <a:solidFill>
                            <a:srgbClr val="1A1A1A"/>
                          </a:solidFill>
                        </a:rPr>
                        <a:t>11.6 %</a:t>
                      </a:r>
                    </a:p>
                  </a:txBody>
                  <a:tcPr>
                    <a:noFill/>
                  </a:tcPr>
                </a:tc>
                <a:tc>
                  <a:txBody>
                    <a:bodyPr/>
                    <a:lstStyle/>
                    <a:p>
                      <a:pPr algn="ctr"/>
                      <a:r>
                        <a:rPr sz="850" b="0">
                          <a:solidFill>
                            <a:srgbClr val="1A1A1A"/>
                          </a:solidFill>
                        </a:rPr>
                        <a:t>35.0 %</a:t>
                      </a:r>
                    </a:p>
                  </a:txBody>
                  <a:tcPr>
                    <a:noFill/>
                  </a:tcPr>
                </a:tc>
                <a:tc>
                  <a:txBody>
                    <a:bodyPr/>
                    <a:lstStyle/>
                    <a:p>
                      <a:pPr algn="ctr"/>
                      <a:r>
                        <a:rPr sz="850" b="0">
                          <a:solidFill>
                            <a:srgbClr val="1A1A1A"/>
                          </a:solidFill>
                        </a:rPr>
                        <a:t>Technology</a:t>
                      </a:r>
                    </a:p>
                  </a:txBody>
                  <a:tcPr>
                    <a:noFill/>
                  </a:tcPr>
                </a:tc>
              </a:tr>
              <a:tr h="286200">
                <a:tc>
                  <a:txBody>
                    <a:bodyPr/>
                    <a:lstStyle/>
                    <a:p>
                      <a:pPr algn="ctr"/>
                      <a:r>
                        <a:rPr sz="850" b="0">
                          <a:solidFill>
                            <a:srgbClr val="1A1A1A"/>
                          </a:solidFill>
                        </a:rPr>
                        <a:t>Beta Médian</a:t>
                      </a:r>
                    </a:p>
                  </a:txBody>
                  <a:tcPr>
                    <a:solidFill>
                      <a:srgbClr val="F5F7FA"/>
                    </a:solidFill>
                  </a:tcPr>
                </a:tc>
                <a:tc>
                  <a:txBody>
                    <a:bodyPr/>
                    <a:lstStyle/>
                    <a:p>
                      <a:pPr algn="ctr"/>
                      <a:r>
                        <a:rPr sz="850" b="0">
                          <a:solidFill>
                            <a:srgbClr val="1A1A1A"/>
                          </a:solidFill>
                        </a:rPr>
                        <a:t>1.00</a:t>
                      </a:r>
                    </a:p>
                  </a:txBody>
                  <a:tcPr>
                    <a:solidFill>
                      <a:srgbClr val="F5F7FA"/>
                    </a:solidFill>
                  </a:tcPr>
                </a:tc>
                <a:tc>
                  <a:txBody>
                    <a:bodyPr/>
                    <a:lstStyle/>
                    <a:p>
                      <a:pPr algn="ctr"/>
                      <a:r>
                        <a:rPr sz="850" b="0">
                          <a:solidFill>
                            <a:srgbClr val="1A1A1A"/>
                          </a:solidFill>
                        </a:rPr>
                        <a:t>1.28</a:t>
                      </a:r>
                    </a:p>
                  </a:txBody>
                  <a:tcPr>
                    <a:solidFill>
                      <a:srgbClr val="F5F7FA"/>
                    </a:solidFill>
                  </a:tcPr>
                </a:tc>
                <a:tc>
                  <a:txBody>
                    <a:bodyPr/>
                    <a:lstStyle/>
                    <a:p>
                      <a:pPr algn="ctr"/>
                      <a:r>
                        <a:rPr sz="850" b="0">
                          <a:solidFill>
                            <a:srgbClr val="1A1A1A"/>
                          </a:solidFill>
                        </a:rPr>
                        <a:t>Santé</a:t>
                      </a:r>
                    </a:p>
                  </a:txBody>
                  <a:tcPr>
                    <a:solidFill>
                      <a:srgbClr val="F5F7FA"/>
                    </a:solidFill>
                  </a:tcPr>
                </a:tc>
              </a:tr>
              <a:tr h="286200">
                <a:tc>
                  <a:txBody>
                    <a:bodyPr/>
                    <a:lstStyle/>
                    <a:p>
                      <a:pPr algn="ctr"/>
                      <a:r>
                        <a:rPr sz="850" b="0">
                          <a:solidFill>
                            <a:srgbClr val="1A1A1A"/>
                          </a:solidFill>
                        </a:rPr>
                        <a:t>Perf. 52S med.</a:t>
                      </a:r>
                    </a:p>
                  </a:txBody>
                  <a:tcPr>
                    <a:noFill/>
                  </a:tcPr>
                </a:tc>
                <a:tc>
                  <a:txBody>
                    <a:bodyPr/>
                    <a:lstStyle/>
                    <a:p>
                      <a:pPr algn="ctr"/>
                      <a:r>
                        <a:rPr sz="850" b="0">
                          <a:solidFill>
                            <a:srgbClr val="1A1A1A"/>
                          </a:solidFill>
                        </a:rPr>
                        <a:t>+6.0 %</a:t>
                      </a:r>
                    </a:p>
                  </a:txBody>
                  <a:tcPr>
                    <a:noFill/>
                  </a:tcPr>
                </a:tc>
                <a:tc>
                  <a:txBody>
                    <a:bodyPr/>
                    <a:lstStyle/>
                    <a:p>
                      <a:pPr algn="ctr"/>
                      <a:r>
                        <a:rPr sz="850" b="0">
                          <a:solidFill>
                            <a:srgbClr val="1A1A1A"/>
                          </a:solidFill>
                        </a:rPr>
                        <a:t>+49.5 %</a:t>
                      </a:r>
                    </a:p>
                  </a:txBody>
                  <a:tcPr>
                    <a:noFill/>
                  </a:tcPr>
                </a:tc>
                <a:tc>
                  <a:txBody>
                    <a:bodyPr/>
                    <a:lstStyle/>
                    <a:p>
                      <a:pPr algn="ctr"/>
                      <a:r>
                        <a:rPr sz="850" b="0">
                          <a:solidFill>
                            <a:srgbClr val="1A1A1A"/>
                          </a:solidFill>
                        </a:rPr>
                        <a:t>Technology</a:t>
                      </a:r>
                    </a:p>
                  </a:txBody>
                  <a:tcPr>
                    <a:no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Analyse comparative : Santé vs Technology</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86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86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971999"/>
            <a:ext cx="1152000" cy="702000"/>
          </a:xfrm>
          <a:prstGeom prst="rect">
            <a:avLst/>
          </a:prstGeom>
          <a:noFill/>
        </p:spPr>
        <p:txBody>
          <a:bodyPr wrap="square">
            <a:spAutoFit/>
          </a:bodyPr>
          <a:lstStyle/>
          <a:p>
            <a:pPr algn="ctr"/>
            <a:r>
              <a:rPr sz="4400" b="1" i="0">
                <a:solidFill>
                  <a:srgbClr val="2E5FA3"/>
                </a:solidFill>
              </a:rPr>
              <a:t>01</a:t>
            </a:r>
          </a:p>
        </p:txBody>
      </p:sp>
      <p:sp>
        <p:nvSpPr>
          <p:cNvPr id="21" name="TextBox 20"/>
          <p:cNvSpPr txBox="1"/>
          <p:nvPr/>
        </p:nvSpPr>
        <p:spPr>
          <a:xfrm>
            <a:off x="1764000" y="1026000"/>
            <a:ext cx="5616000" cy="288000"/>
          </a:xfrm>
          <a:prstGeom prst="rect">
            <a:avLst/>
          </a:prstGeom>
          <a:noFill/>
        </p:spPr>
        <p:txBody>
          <a:bodyPr wrap="square">
            <a:spAutoFit/>
          </a:bodyPr>
          <a:lstStyle/>
          <a:p>
            <a:pPr algn="l"/>
            <a:r>
              <a:rPr sz="1500" b="1" i="0">
                <a:solidFill>
                  <a:srgbClr val="1B3A6B"/>
                </a:solidFill>
              </a:rPr>
              <a:t>Profil &amp; Valorisation</a:t>
            </a:r>
          </a:p>
        </p:txBody>
      </p:sp>
      <p:sp>
        <p:nvSpPr>
          <p:cNvPr id="22" name="TextBox 21"/>
          <p:cNvSpPr txBox="1"/>
          <p:nvPr/>
        </p:nvSpPr>
        <p:spPr>
          <a:xfrm>
            <a:off x="1764000" y="1332000"/>
            <a:ext cx="5616000" cy="360000"/>
          </a:xfrm>
          <a:prstGeom prst="rect">
            <a:avLst/>
          </a:prstGeom>
          <a:noFill/>
        </p:spPr>
        <p:txBody>
          <a:bodyPr wrap="square">
            <a:spAutoFit/>
          </a:bodyPr>
          <a:lstStyle/>
          <a:p>
            <a:pPr algn="l"/>
            <a:r>
              <a:rPr sz="1000" b="0" i="0">
                <a:solidFill>
                  <a:srgbClr val="555555"/>
                </a:solidFill>
              </a:rPr>
              <a:t>Structure des secteurs, multiples de marché, qualité des bilans</a:t>
            </a:r>
          </a:p>
        </p:txBody>
      </p:sp>
      <p:sp>
        <p:nvSpPr>
          <p:cNvPr id="23" name="Rectangle 22"/>
          <p:cNvSpPr/>
          <p:nvPr/>
        </p:nvSpPr>
        <p:spPr>
          <a:xfrm>
            <a:off x="7596000" y="117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96000" y="1242000"/>
            <a:ext cx="1080000" cy="162000"/>
          </a:xfrm>
          <a:prstGeom prst="rect">
            <a:avLst/>
          </a:prstGeom>
          <a:noFill/>
        </p:spPr>
        <p:txBody>
          <a:bodyPr wrap="square">
            <a:spAutoFit/>
          </a:bodyPr>
          <a:lstStyle/>
          <a:p>
            <a:pPr algn="ctr"/>
            <a:r>
              <a:rPr sz="1000" b="1" i="0">
                <a:solidFill>
                  <a:srgbClr val="FFFFFF"/>
                </a:solidFill>
              </a:rPr>
              <a:t>Slides 5-8</a:t>
            </a:r>
          </a:p>
        </p:txBody>
      </p:sp>
      <p:sp>
        <p:nvSpPr>
          <p:cNvPr id="25" name="Rectangle 24"/>
          <p:cNvSpPr/>
          <p:nvPr/>
        </p:nvSpPr>
        <p:spPr>
          <a:xfrm>
            <a:off x="324000" y="185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4000" y="185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1962000"/>
            <a:ext cx="1152000" cy="702000"/>
          </a:xfrm>
          <a:prstGeom prst="rect">
            <a:avLst/>
          </a:prstGeom>
          <a:noFill/>
        </p:spPr>
        <p:txBody>
          <a:bodyPr wrap="square">
            <a:spAutoFit/>
          </a:bodyPr>
          <a:lstStyle/>
          <a:p>
            <a:pPr algn="ctr"/>
            <a:r>
              <a:rPr sz="4400" b="1" i="0">
                <a:solidFill>
                  <a:srgbClr val="2E5FA3"/>
                </a:solidFill>
              </a:rPr>
              <a:t>02</a:t>
            </a:r>
          </a:p>
        </p:txBody>
      </p:sp>
      <p:sp>
        <p:nvSpPr>
          <p:cNvPr id="28" name="TextBox 27"/>
          <p:cNvSpPr txBox="1"/>
          <p:nvPr/>
        </p:nvSpPr>
        <p:spPr>
          <a:xfrm>
            <a:off x="1764000" y="2016000"/>
            <a:ext cx="5616000" cy="288000"/>
          </a:xfrm>
          <a:prstGeom prst="rect">
            <a:avLst/>
          </a:prstGeom>
          <a:noFill/>
        </p:spPr>
        <p:txBody>
          <a:bodyPr wrap="square">
            <a:spAutoFit/>
          </a:bodyPr>
          <a:lstStyle/>
          <a:p>
            <a:pPr algn="l"/>
            <a:r>
              <a:rPr sz="1500" b="1" i="0">
                <a:solidFill>
                  <a:srgbClr val="1B3A6B"/>
                </a:solidFill>
              </a:rPr>
              <a:t>Performance &amp; Scoring</a:t>
            </a:r>
          </a:p>
        </p:txBody>
      </p:sp>
      <p:sp>
        <p:nvSpPr>
          <p:cNvPr id="29" name="TextBox 28"/>
          <p:cNvSpPr txBox="1"/>
          <p:nvPr/>
        </p:nvSpPr>
        <p:spPr>
          <a:xfrm>
            <a:off x="1764000" y="2322000"/>
            <a:ext cx="5616000" cy="360000"/>
          </a:xfrm>
          <a:prstGeom prst="rect">
            <a:avLst/>
          </a:prstGeom>
          <a:noFill/>
        </p:spPr>
        <p:txBody>
          <a:bodyPr wrap="square">
            <a:spAutoFit/>
          </a:bodyPr>
          <a:lstStyle/>
          <a:p>
            <a:pPr algn="l"/>
            <a:r>
              <a:rPr sz="1000" b="0" i="0">
                <a:solidFill>
                  <a:srgbClr val="555555"/>
                </a:solidFill>
              </a:rPr>
              <a:t>Cours 52 semaines, revenue growth et scoring multidimensionnel</a:t>
            </a:r>
          </a:p>
        </p:txBody>
      </p:sp>
      <p:sp>
        <p:nvSpPr>
          <p:cNvPr id="30" name="Rectangle 29"/>
          <p:cNvSpPr/>
          <p:nvPr/>
        </p:nvSpPr>
        <p:spPr>
          <a:xfrm>
            <a:off x="7596000" y="216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96000" y="2232000"/>
            <a:ext cx="1080000" cy="162000"/>
          </a:xfrm>
          <a:prstGeom prst="rect">
            <a:avLst/>
          </a:prstGeom>
          <a:noFill/>
        </p:spPr>
        <p:txBody>
          <a:bodyPr wrap="square">
            <a:spAutoFit/>
          </a:bodyPr>
          <a:lstStyle/>
          <a:p>
            <a:pPr algn="ctr"/>
            <a:r>
              <a:rPr sz="1000" b="1" i="0">
                <a:solidFill>
                  <a:srgbClr val="FFFFFF"/>
                </a:solidFill>
              </a:rPr>
              <a:t>Slides 10-11</a:t>
            </a:r>
          </a:p>
        </p:txBody>
      </p:sp>
      <p:sp>
        <p:nvSpPr>
          <p:cNvPr id="32" name="Rectangle 31"/>
          <p:cNvSpPr/>
          <p:nvPr/>
        </p:nvSpPr>
        <p:spPr>
          <a:xfrm>
            <a:off x="324000" y="284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4000" y="284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8000" y="2952000"/>
            <a:ext cx="1152000" cy="702000"/>
          </a:xfrm>
          <a:prstGeom prst="rect">
            <a:avLst/>
          </a:prstGeom>
          <a:noFill/>
        </p:spPr>
        <p:txBody>
          <a:bodyPr wrap="square">
            <a:spAutoFit/>
          </a:bodyPr>
          <a:lstStyle/>
          <a:p>
            <a:pPr algn="ctr"/>
            <a:r>
              <a:rPr sz="4400" b="1" i="0">
                <a:solidFill>
                  <a:srgbClr val="2E5FA3"/>
                </a:solidFill>
              </a:rPr>
              <a:t>03</a:t>
            </a:r>
          </a:p>
        </p:txBody>
      </p:sp>
      <p:sp>
        <p:nvSpPr>
          <p:cNvPr id="35" name="TextBox 34"/>
          <p:cNvSpPr txBox="1"/>
          <p:nvPr/>
        </p:nvSpPr>
        <p:spPr>
          <a:xfrm>
            <a:off x="1764000" y="3006000"/>
            <a:ext cx="5616000" cy="288000"/>
          </a:xfrm>
          <a:prstGeom prst="rect">
            <a:avLst/>
          </a:prstGeom>
          <a:noFill/>
        </p:spPr>
        <p:txBody>
          <a:bodyPr wrap="square">
            <a:spAutoFit/>
          </a:bodyPr>
          <a:lstStyle/>
          <a:p>
            <a:pPr algn="l"/>
            <a:r>
              <a:rPr sz="1500" b="1" i="0">
                <a:solidFill>
                  <a:srgbClr val="1B3A6B"/>
                </a:solidFill>
              </a:rPr>
              <a:t>Top Acteurs &amp; Risques</a:t>
            </a:r>
          </a:p>
        </p:txBody>
      </p:sp>
      <p:sp>
        <p:nvSpPr>
          <p:cNvPr id="36" name="TextBox 35"/>
          <p:cNvSpPr txBox="1"/>
          <p:nvPr/>
        </p:nvSpPr>
        <p:spPr>
          <a:xfrm>
            <a:off x="1764000" y="3312000"/>
            <a:ext cx="5616000" cy="360000"/>
          </a:xfrm>
          <a:prstGeom prst="rect">
            <a:avLst/>
          </a:prstGeom>
          <a:noFill/>
        </p:spPr>
        <p:txBody>
          <a:bodyPr wrap="square">
            <a:spAutoFit/>
          </a:bodyPr>
          <a:lstStyle/>
          <a:p>
            <a:pPr algn="l"/>
            <a:r>
              <a:rPr sz="1000" b="0" i="0">
                <a:solidFill>
                  <a:srgbClr val="555555"/>
                </a:solidFill>
              </a:rPr>
              <a:t>Meilleures sociétés et conditions d'invalidation par secteur</a:t>
            </a:r>
          </a:p>
        </p:txBody>
      </p:sp>
      <p:sp>
        <p:nvSpPr>
          <p:cNvPr id="37" name="Rectangle 36"/>
          <p:cNvSpPr/>
          <p:nvPr/>
        </p:nvSpPr>
        <p:spPr>
          <a:xfrm>
            <a:off x="7596000" y="315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96000" y="3222000"/>
            <a:ext cx="1080000" cy="162000"/>
          </a:xfrm>
          <a:prstGeom prst="rect">
            <a:avLst/>
          </a:prstGeom>
          <a:noFill/>
        </p:spPr>
        <p:txBody>
          <a:bodyPr wrap="square">
            <a:spAutoFit/>
          </a:bodyPr>
          <a:lstStyle/>
          <a:p>
            <a:pPr algn="ctr"/>
            <a:r>
              <a:rPr sz="1000" b="1" i="0">
                <a:solidFill>
                  <a:srgbClr val="FFFFFF"/>
                </a:solidFill>
              </a:rPr>
              <a:t>Slides 13-16</a:t>
            </a:r>
          </a:p>
        </p:txBody>
      </p:sp>
      <p:sp>
        <p:nvSpPr>
          <p:cNvPr id="39" name="Rectangle 38"/>
          <p:cNvSpPr/>
          <p:nvPr/>
        </p:nvSpPr>
        <p:spPr>
          <a:xfrm>
            <a:off x="324000" y="3834000"/>
            <a:ext cx="8496000" cy="917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4000" y="3834000"/>
            <a:ext cx="64800" cy="91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8000" y="3942000"/>
            <a:ext cx="1152000" cy="702000"/>
          </a:xfrm>
          <a:prstGeom prst="rect">
            <a:avLst/>
          </a:prstGeom>
          <a:noFill/>
        </p:spPr>
        <p:txBody>
          <a:bodyPr wrap="square">
            <a:spAutoFit/>
          </a:bodyPr>
          <a:lstStyle/>
          <a:p>
            <a:pPr algn="ctr"/>
            <a:r>
              <a:rPr sz="4400" b="1" i="0">
                <a:solidFill>
                  <a:srgbClr val="2E5FA3"/>
                </a:solidFill>
              </a:rPr>
              <a:t>04</a:t>
            </a:r>
          </a:p>
        </p:txBody>
      </p:sp>
      <p:sp>
        <p:nvSpPr>
          <p:cNvPr id="42" name="TextBox 41"/>
          <p:cNvSpPr txBox="1"/>
          <p:nvPr/>
        </p:nvSpPr>
        <p:spPr>
          <a:xfrm>
            <a:off x="1764000" y="3996000"/>
            <a:ext cx="5616000" cy="288000"/>
          </a:xfrm>
          <a:prstGeom prst="rect">
            <a:avLst/>
          </a:prstGeom>
          <a:noFill/>
        </p:spPr>
        <p:txBody>
          <a:bodyPr wrap="square">
            <a:spAutoFit/>
          </a:bodyPr>
          <a:lstStyle/>
          <a:p>
            <a:pPr algn="l"/>
            <a:r>
              <a:rPr sz="1500" b="1" i="0">
                <a:solidFill>
                  <a:srgbClr val="1B3A6B"/>
                </a:solidFill>
              </a:rPr>
              <a:t>Synthèse &amp; Décision</a:t>
            </a:r>
          </a:p>
        </p:txBody>
      </p:sp>
      <p:sp>
        <p:nvSpPr>
          <p:cNvPr id="43" name="TextBox 42"/>
          <p:cNvSpPr txBox="1"/>
          <p:nvPr/>
        </p:nvSpPr>
        <p:spPr>
          <a:xfrm>
            <a:off x="1764000" y="4302000"/>
            <a:ext cx="5616000" cy="360000"/>
          </a:xfrm>
          <a:prstGeom prst="rect">
            <a:avLst/>
          </a:prstGeom>
          <a:noFill/>
        </p:spPr>
        <p:txBody>
          <a:bodyPr wrap="square">
            <a:spAutoFit/>
          </a:bodyPr>
          <a:lstStyle/>
          <a:p>
            <a:pPr algn="l"/>
            <a:r>
              <a:rPr sz="1000" b="0" i="0">
                <a:solidFill>
                  <a:srgbClr val="555555"/>
                </a:solidFill>
              </a:rPr>
              <a:t>Thèses d'Investissement, verdict comparatif et recommandation</a:t>
            </a:r>
          </a:p>
        </p:txBody>
      </p:sp>
      <p:sp>
        <p:nvSpPr>
          <p:cNvPr id="44" name="Rectangle 43"/>
          <p:cNvSpPr/>
          <p:nvPr/>
        </p:nvSpPr>
        <p:spPr>
          <a:xfrm>
            <a:off x="7596000" y="4140000"/>
            <a:ext cx="1080000" cy="30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96000" y="4212000"/>
            <a:ext cx="1080000" cy="162000"/>
          </a:xfrm>
          <a:prstGeom prst="rect">
            <a:avLst/>
          </a:prstGeom>
          <a:noFill/>
        </p:spPr>
        <p:txBody>
          <a:bodyPr wrap="square">
            <a:spAutoFit/>
          </a:bodyPr>
          <a:lstStyle/>
          <a:p>
            <a:pPr algn="ctr"/>
            <a:r>
              <a:rPr sz="1000" b="1" i="0">
                <a:solidFill>
                  <a:srgbClr val="FFFFFF"/>
                </a:solidFill>
              </a:rPr>
              <a:t>Slides 18-21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Profil &amp; Valorisation</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Structure des secteurs, multiples et qualité des bilans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Profil &amp; Structure des Secteurs</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Santé  vs  Technology  |  Positionnement structurel</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4140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6000" y="792000"/>
            <a:ext cx="3996000" cy="198000"/>
          </a:xfrm>
          <a:prstGeom prst="rect">
            <a:avLst/>
          </a:prstGeom>
          <a:noFill/>
        </p:spPr>
        <p:txBody>
          <a:bodyPr wrap="square">
            <a:spAutoFit/>
          </a:bodyPr>
          <a:lstStyle/>
          <a:p>
            <a:pPr algn="l"/>
            <a:r>
              <a:rPr sz="1100" b="1" i="0">
                <a:solidFill>
                  <a:srgbClr val="FFFFFF"/>
                </a:solidFill>
              </a:rPr>
              <a:t>Santé</a:t>
            </a:r>
          </a:p>
        </p:txBody>
      </p:sp>
      <p:sp>
        <p:nvSpPr>
          <p:cNvPr id="20" name="Rectangle 19"/>
          <p:cNvSpPr/>
          <p:nvPr/>
        </p:nvSpPr>
        <p:spPr>
          <a:xfrm>
            <a:off x="324000" y="1062000"/>
            <a:ext cx="4140000" cy="118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000" y="1062000"/>
            <a:ext cx="46800" cy="118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000" y="1098000"/>
            <a:ext cx="3996000" cy="129600"/>
          </a:xfrm>
          <a:prstGeom prst="rect">
            <a:avLst/>
          </a:prstGeom>
          <a:noFill/>
        </p:spPr>
        <p:txBody>
          <a:bodyPr wrap="square">
            <a:spAutoFit/>
          </a:bodyPr>
          <a:lstStyle/>
          <a:p>
            <a:pPr algn="l"/>
            <a:r>
              <a:rPr sz="850" b="1" i="0">
                <a:solidFill>
                  <a:srgbClr val="1B3A6B"/>
                </a:solidFill>
              </a:rPr>
              <a:t>DESCRIPTION SECTORIELLE</a:t>
            </a:r>
          </a:p>
        </p:txBody>
      </p:sp>
      <p:sp>
        <p:nvSpPr>
          <p:cNvPr id="23" name="TextBox 22"/>
          <p:cNvSpPr txBox="1"/>
          <p:nvPr/>
        </p:nvSpPr>
        <p:spPr>
          <a:xfrm>
            <a:off x="432000" y="1242000"/>
            <a:ext cx="3960000" cy="964799"/>
          </a:xfrm>
          <a:prstGeom prst="rect">
            <a:avLst/>
          </a:prstGeom>
          <a:noFill/>
        </p:spPr>
        <p:txBody>
          <a:bodyPr wrap="square">
            <a:spAutoFit/>
          </a:bodyPr>
          <a:lstStyle/>
          <a:p>
            <a:pPr algn="l"/>
            <a:r>
              <a:rPr sz="850" b="0" i="0">
                <a:solidFill>
                  <a:srgbClr val="1B3A6B"/>
                </a:solidFill>
              </a:rPr>
              <a:t>Le secteur Santé regroupe les sociétés actives dans ce domaine. Analyse basée sur les données financières réelles des principaux acteurs.</a:t>
            </a:r>
          </a:p>
        </p:txBody>
      </p:sp>
      <p:sp>
        <p:nvSpPr>
          <p:cNvPr id="24" name="Rectangle 23"/>
          <p:cNvSpPr/>
          <p:nvPr/>
        </p:nvSpPr>
        <p:spPr>
          <a:xfrm>
            <a:off x="324000" y="2304000"/>
            <a:ext cx="4140000" cy="18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8000" y="2322000"/>
            <a:ext cx="4031999" cy="151200"/>
          </a:xfrm>
          <a:prstGeom prst="rect">
            <a:avLst/>
          </a:prstGeom>
          <a:noFill/>
        </p:spPr>
        <p:txBody>
          <a:bodyPr wrap="square">
            <a:spAutoFit/>
          </a:bodyPr>
          <a:lstStyle/>
          <a:p>
            <a:pPr algn="l"/>
            <a:r>
              <a:rPr sz="850" b="0" i="1">
                <a:solidFill>
                  <a:srgbClr val="1B3A6B"/>
                </a:solidFill>
              </a:rPr>
              <a:t>Cycle : Positionnement cycle a déterminer selon contexte macro</a:t>
            </a:r>
          </a:p>
        </p:txBody>
      </p:sp>
      <p:sp>
        <p:nvSpPr>
          <p:cNvPr id="26" name="TextBox 25"/>
          <p:cNvSpPr txBox="1"/>
          <p:nvPr/>
        </p:nvSpPr>
        <p:spPr>
          <a:xfrm>
            <a:off x="324000" y="2556000"/>
            <a:ext cx="4140000" cy="151200"/>
          </a:xfrm>
          <a:prstGeom prst="rect">
            <a:avLst/>
          </a:prstGeom>
          <a:noFill/>
        </p:spPr>
        <p:txBody>
          <a:bodyPr wrap="square">
            <a:spAutoFit/>
          </a:bodyPr>
          <a:lstStyle/>
          <a:p>
            <a:pPr algn="l"/>
            <a:r>
              <a:rPr sz="950" b="1" i="0">
                <a:solidFill>
                  <a:srgbClr val="1B3A6B"/>
                </a:solidFill>
              </a:rPr>
              <a:t>Drivers principaux</a:t>
            </a:r>
          </a:p>
        </p:txBody>
      </p:sp>
      <p:sp>
        <p:nvSpPr>
          <p:cNvPr id="27" name="Rectangle 26"/>
          <p:cNvSpPr/>
          <p:nvPr/>
        </p:nvSpPr>
        <p:spPr>
          <a:xfrm>
            <a:off x="324000" y="2790000"/>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2772000"/>
            <a:ext cx="3978000" cy="162000"/>
          </a:xfrm>
          <a:prstGeom prst="rect">
            <a:avLst/>
          </a:prstGeom>
          <a:noFill/>
        </p:spPr>
        <p:txBody>
          <a:bodyPr wrap="square">
            <a:spAutoFit/>
          </a:bodyPr>
          <a:lstStyle/>
          <a:p>
            <a:pPr algn="l"/>
            <a:r>
              <a:rPr sz="900" b="1" i="0">
                <a:solidFill>
                  <a:srgbClr val="1A1A1A"/>
                </a:solidFill>
              </a:rPr>
              <a:t>Demande Structurelle</a:t>
            </a:r>
          </a:p>
        </p:txBody>
      </p:sp>
      <p:sp>
        <p:nvSpPr>
          <p:cNvPr id="29" name="TextBox 28"/>
          <p:cNvSpPr txBox="1"/>
          <p:nvPr/>
        </p:nvSpPr>
        <p:spPr>
          <a:xfrm>
            <a:off x="468000" y="2944800"/>
            <a:ext cx="3978000" cy="306000"/>
          </a:xfrm>
          <a:prstGeom prst="rect">
            <a:avLst/>
          </a:prstGeom>
          <a:noFill/>
        </p:spPr>
        <p:txBody>
          <a:bodyPr wrap="square">
            <a:spAutoFit/>
          </a:bodyPr>
          <a:lstStyle/>
          <a:p>
            <a:pPr algn="l"/>
            <a:r>
              <a:rPr sz="750" b="0" i="1">
                <a:solidFill>
                  <a:srgbClr val="555555"/>
                </a:solidFill>
              </a:rPr>
              <a:t>Croissance portée par megatendances</a:t>
            </a:r>
          </a:p>
        </p:txBody>
      </p:sp>
      <p:sp>
        <p:nvSpPr>
          <p:cNvPr id="30" name="Rectangle 29"/>
          <p:cNvSpPr/>
          <p:nvPr/>
        </p:nvSpPr>
        <p:spPr>
          <a:xfrm>
            <a:off x="324000" y="3311999"/>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3294000"/>
            <a:ext cx="3978000" cy="162000"/>
          </a:xfrm>
          <a:prstGeom prst="rect">
            <a:avLst/>
          </a:prstGeom>
          <a:noFill/>
        </p:spPr>
        <p:txBody>
          <a:bodyPr wrap="square">
            <a:spAutoFit/>
          </a:bodyPr>
          <a:lstStyle/>
          <a:p>
            <a:pPr algn="l"/>
            <a:r>
              <a:rPr sz="900" b="1" i="0">
                <a:solidFill>
                  <a:srgbClr val="1A1A1A"/>
                </a:solidFill>
              </a:rPr>
              <a:t>Innovation</a:t>
            </a:r>
          </a:p>
        </p:txBody>
      </p:sp>
      <p:sp>
        <p:nvSpPr>
          <p:cNvPr id="32" name="TextBox 31"/>
          <p:cNvSpPr txBox="1"/>
          <p:nvPr/>
        </p:nvSpPr>
        <p:spPr>
          <a:xfrm>
            <a:off x="468000" y="3466799"/>
            <a:ext cx="3978000" cy="306000"/>
          </a:xfrm>
          <a:prstGeom prst="rect">
            <a:avLst/>
          </a:prstGeom>
          <a:noFill/>
        </p:spPr>
        <p:txBody>
          <a:bodyPr wrap="square">
            <a:spAutoFit/>
          </a:bodyPr>
          <a:lstStyle/>
          <a:p>
            <a:pPr algn="l"/>
            <a:r>
              <a:rPr sz="750" b="0" i="1">
                <a:solidFill>
                  <a:srgbClr val="555555"/>
                </a:solidFill>
              </a:rPr>
              <a:t>R&amp;D et transformation technologique</a:t>
            </a:r>
          </a:p>
        </p:txBody>
      </p:sp>
      <p:sp>
        <p:nvSpPr>
          <p:cNvPr id="33" name="Rectangle 32"/>
          <p:cNvSpPr/>
          <p:nvPr/>
        </p:nvSpPr>
        <p:spPr>
          <a:xfrm>
            <a:off x="324000" y="3834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8000" y="3816000"/>
            <a:ext cx="3978000" cy="162000"/>
          </a:xfrm>
          <a:prstGeom prst="rect">
            <a:avLst/>
          </a:prstGeom>
          <a:noFill/>
        </p:spPr>
        <p:txBody>
          <a:bodyPr wrap="square">
            <a:spAutoFit/>
          </a:bodyPr>
          <a:lstStyle/>
          <a:p>
            <a:pPr algn="l"/>
            <a:r>
              <a:rPr sz="900" b="1" i="0">
                <a:solidFill>
                  <a:srgbClr val="1A1A1A"/>
                </a:solidFill>
              </a:rPr>
              <a:t>Sensibilité Macro</a:t>
            </a:r>
          </a:p>
        </p:txBody>
      </p:sp>
      <p:sp>
        <p:nvSpPr>
          <p:cNvPr id="35" name="TextBox 34"/>
          <p:cNvSpPr txBox="1"/>
          <p:nvPr/>
        </p:nvSpPr>
        <p:spPr>
          <a:xfrm>
            <a:off x="468000" y="3988800"/>
            <a:ext cx="3978000" cy="306000"/>
          </a:xfrm>
          <a:prstGeom prst="rect">
            <a:avLst/>
          </a:prstGeom>
          <a:noFill/>
        </p:spPr>
        <p:txBody>
          <a:bodyPr wrap="square">
            <a:spAutoFit/>
          </a:bodyPr>
          <a:lstStyle/>
          <a:p>
            <a:pPr algn="l"/>
            <a:r>
              <a:rPr sz="750" b="0" i="1">
                <a:solidFill>
                  <a:srgbClr val="555555"/>
                </a:solidFill>
              </a:rPr>
              <a:t>Exposition aux cycles Économiques</a:t>
            </a:r>
          </a:p>
        </p:txBody>
      </p:sp>
      <p:sp>
        <p:nvSpPr>
          <p:cNvPr id="36" name="Rectangle 35"/>
          <p:cNvSpPr/>
          <p:nvPr/>
        </p:nvSpPr>
        <p:spPr>
          <a:xfrm>
            <a:off x="324000" y="4356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8000" y="4338000"/>
            <a:ext cx="3978000" cy="162000"/>
          </a:xfrm>
          <a:prstGeom prst="rect">
            <a:avLst/>
          </a:prstGeom>
          <a:noFill/>
        </p:spPr>
        <p:txBody>
          <a:bodyPr wrap="square">
            <a:spAutoFit/>
          </a:bodyPr>
          <a:lstStyle/>
          <a:p>
            <a:pPr algn="l"/>
            <a:r>
              <a:rPr sz="900" b="1" i="0">
                <a:solidFill>
                  <a:srgbClr val="1A1A1A"/>
                </a:solidFill>
              </a:rPr>
              <a:t>Pression Concurrence</a:t>
            </a:r>
          </a:p>
        </p:txBody>
      </p:sp>
      <p:sp>
        <p:nvSpPr>
          <p:cNvPr id="38" name="TextBox 37"/>
          <p:cNvSpPr txBox="1"/>
          <p:nvPr/>
        </p:nvSpPr>
        <p:spPr>
          <a:xfrm>
            <a:off x="468000" y="4510800"/>
            <a:ext cx="3978000" cy="306000"/>
          </a:xfrm>
          <a:prstGeom prst="rect">
            <a:avLst/>
          </a:prstGeom>
          <a:noFill/>
        </p:spPr>
        <p:txBody>
          <a:bodyPr wrap="square">
            <a:spAutoFit/>
          </a:bodyPr>
          <a:lstStyle/>
          <a:p>
            <a:pPr algn="l"/>
            <a:r>
              <a:rPr sz="750" b="0" i="1">
                <a:solidFill>
                  <a:srgbClr val="555555"/>
                </a:solidFill>
              </a:rPr>
              <a:t>Nouveaux entrants et disruption</a:t>
            </a:r>
          </a:p>
        </p:txBody>
      </p:sp>
      <p:sp>
        <p:nvSpPr>
          <p:cNvPr id="39" name="Rectangle 38"/>
          <p:cNvSpPr/>
          <p:nvPr/>
        </p:nvSpPr>
        <p:spPr>
          <a:xfrm>
            <a:off x="4680000" y="756000"/>
            <a:ext cx="4140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52000" y="792000"/>
            <a:ext cx="3996000" cy="198000"/>
          </a:xfrm>
          <a:prstGeom prst="rect">
            <a:avLst/>
          </a:prstGeom>
          <a:noFill/>
        </p:spPr>
        <p:txBody>
          <a:bodyPr wrap="square">
            <a:spAutoFit/>
          </a:bodyPr>
          <a:lstStyle/>
          <a:p>
            <a:pPr algn="l"/>
            <a:r>
              <a:rPr sz="1100" b="1" i="0">
                <a:solidFill>
                  <a:srgbClr val="FFFFFF"/>
                </a:solidFill>
              </a:rPr>
              <a:t>Technology</a:t>
            </a:r>
          </a:p>
        </p:txBody>
      </p:sp>
      <p:sp>
        <p:nvSpPr>
          <p:cNvPr id="41" name="Rectangle 40"/>
          <p:cNvSpPr/>
          <p:nvPr/>
        </p:nvSpPr>
        <p:spPr>
          <a:xfrm>
            <a:off x="4680000" y="1062000"/>
            <a:ext cx="4140000" cy="118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680000" y="1062000"/>
            <a:ext cx="46800" cy="118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88000" y="1098000"/>
            <a:ext cx="3996000" cy="129600"/>
          </a:xfrm>
          <a:prstGeom prst="rect">
            <a:avLst/>
          </a:prstGeom>
          <a:noFill/>
        </p:spPr>
        <p:txBody>
          <a:bodyPr wrap="square">
            <a:spAutoFit/>
          </a:bodyPr>
          <a:lstStyle/>
          <a:p>
            <a:pPr algn="l"/>
            <a:r>
              <a:rPr sz="850" b="1" i="0">
                <a:solidFill>
                  <a:srgbClr val="1B3A6B"/>
                </a:solidFill>
              </a:rPr>
              <a:t>DESCRIPTION SECTORIELLE</a:t>
            </a:r>
          </a:p>
        </p:txBody>
      </p:sp>
      <p:sp>
        <p:nvSpPr>
          <p:cNvPr id="44" name="TextBox 43"/>
          <p:cNvSpPr txBox="1"/>
          <p:nvPr/>
        </p:nvSpPr>
        <p:spPr>
          <a:xfrm>
            <a:off x="4788000" y="1242000"/>
            <a:ext cx="3960000" cy="964799"/>
          </a:xfrm>
          <a:prstGeom prst="rect">
            <a:avLst/>
          </a:prstGeom>
          <a:noFill/>
        </p:spPr>
        <p:txBody>
          <a:bodyPr wrap="square">
            <a:spAutoFit/>
          </a:bodyPr>
          <a:lstStyle/>
          <a:p>
            <a:pPr algn="l"/>
            <a:r>
              <a:rPr sz="850" b="0" i="0">
                <a:solidFill>
                  <a:srgbClr val="1B3A6B"/>
                </a:solidFill>
              </a:rPr>
              <a:t>Le secteur Technology regroupe les entreprises actives dans les logiciels, les services informatiques, les semi-conducteurs et les equipements telecom. Porté par la transformation digitale des entreprises et l'adoption de l'IA generative, ce secteur affiche des multiples de valorisation parmi les plus élevés du Marché, justifies par des perspectives de croissance supérieures et des marges en expansion.</a:t>
            </a:r>
          </a:p>
        </p:txBody>
      </p:sp>
      <p:sp>
        <p:nvSpPr>
          <p:cNvPr id="45" name="Rectangle 44"/>
          <p:cNvSpPr/>
          <p:nvPr/>
        </p:nvSpPr>
        <p:spPr>
          <a:xfrm>
            <a:off x="4680000" y="2304000"/>
            <a:ext cx="4140000"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34000" y="2322000"/>
            <a:ext cx="4031999" cy="151200"/>
          </a:xfrm>
          <a:prstGeom prst="rect">
            <a:avLst/>
          </a:prstGeom>
          <a:noFill/>
        </p:spPr>
        <p:txBody>
          <a:bodyPr wrap="square">
            <a:spAutoFit/>
          </a:bodyPr>
          <a:lstStyle/>
          <a:p>
            <a:pPr algn="l"/>
            <a:r>
              <a:rPr sz="850" b="0" i="1">
                <a:solidFill>
                  <a:srgbClr val="1A7A4A"/>
                </a:solidFill>
              </a:rPr>
              <a:t>Cycle : Secteur en phase d'expansion | porté par l'IA et le cloud souverain</a:t>
            </a:r>
          </a:p>
        </p:txBody>
      </p:sp>
      <p:sp>
        <p:nvSpPr>
          <p:cNvPr id="47" name="TextBox 46"/>
          <p:cNvSpPr txBox="1"/>
          <p:nvPr/>
        </p:nvSpPr>
        <p:spPr>
          <a:xfrm>
            <a:off x="4680000" y="2556000"/>
            <a:ext cx="4140000" cy="151200"/>
          </a:xfrm>
          <a:prstGeom prst="rect">
            <a:avLst/>
          </a:prstGeom>
          <a:noFill/>
        </p:spPr>
        <p:txBody>
          <a:bodyPr wrap="square">
            <a:spAutoFit/>
          </a:bodyPr>
          <a:lstStyle/>
          <a:p>
            <a:pPr algn="l"/>
            <a:r>
              <a:rPr sz="950" b="1" i="0">
                <a:solidFill>
                  <a:srgbClr val="1A7A4A"/>
                </a:solidFill>
              </a:rPr>
              <a:t>Drivers principaux</a:t>
            </a:r>
          </a:p>
        </p:txBody>
      </p:sp>
      <p:sp>
        <p:nvSpPr>
          <p:cNvPr id="48" name="Rectangle 47"/>
          <p:cNvSpPr/>
          <p:nvPr/>
        </p:nvSpPr>
        <p:spPr>
          <a:xfrm>
            <a:off x="4680000" y="2790000"/>
            <a:ext cx="79200" cy="7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24000" y="2772000"/>
            <a:ext cx="3978000" cy="162000"/>
          </a:xfrm>
          <a:prstGeom prst="rect">
            <a:avLst/>
          </a:prstGeom>
          <a:noFill/>
        </p:spPr>
        <p:txBody>
          <a:bodyPr wrap="square">
            <a:spAutoFit/>
          </a:bodyPr>
          <a:lstStyle/>
          <a:p>
            <a:pPr algn="l"/>
            <a:r>
              <a:rPr sz="900" b="1" i="0">
                <a:solidFill>
                  <a:srgbClr val="1A1A1A"/>
                </a:solidFill>
              </a:rPr>
              <a:t>Intelligence Artificielle</a:t>
            </a:r>
          </a:p>
        </p:txBody>
      </p:sp>
      <p:sp>
        <p:nvSpPr>
          <p:cNvPr id="50" name="TextBox 49"/>
          <p:cNvSpPr txBox="1"/>
          <p:nvPr/>
        </p:nvSpPr>
        <p:spPr>
          <a:xfrm>
            <a:off x="4824000" y="2944800"/>
            <a:ext cx="3978000" cy="306000"/>
          </a:xfrm>
          <a:prstGeom prst="rect">
            <a:avLst/>
          </a:prstGeom>
          <a:noFill/>
        </p:spPr>
        <p:txBody>
          <a:bodyPr wrap="square">
            <a:spAutoFit/>
          </a:bodyPr>
          <a:lstStyle/>
          <a:p>
            <a:pPr algn="l"/>
            <a:r>
              <a:rPr sz="750" b="0" i="1">
                <a:solidFill>
                  <a:srgbClr val="555555"/>
                </a:solidFill>
              </a:rPr>
              <a:t>Adoption entreprises +42 % en 2026 — premier driver de dépenses IT</a:t>
            </a:r>
          </a:p>
        </p:txBody>
      </p:sp>
      <p:sp>
        <p:nvSpPr>
          <p:cNvPr id="51" name="Rectangle 50"/>
          <p:cNvSpPr/>
          <p:nvPr/>
        </p:nvSpPr>
        <p:spPr>
          <a:xfrm>
            <a:off x="4680000" y="3311999"/>
            <a:ext cx="79200" cy="7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24000" y="3294000"/>
            <a:ext cx="3978000" cy="162000"/>
          </a:xfrm>
          <a:prstGeom prst="rect">
            <a:avLst/>
          </a:prstGeom>
          <a:noFill/>
        </p:spPr>
        <p:txBody>
          <a:bodyPr wrap="square">
            <a:spAutoFit/>
          </a:bodyPr>
          <a:lstStyle/>
          <a:p>
            <a:pPr algn="l"/>
            <a:r>
              <a:rPr sz="900" b="1" i="0">
                <a:solidFill>
                  <a:srgbClr val="1A1A1A"/>
                </a:solidFill>
              </a:rPr>
              <a:t>Cloud Hybride Souverain</a:t>
            </a:r>
          </a:p>
        </p:txBody>
      </p:sp>
      <p:sp>
        <p:nvSpPr>
          <p:cNvPr id="53" name="TextBox 52"/>
          <p:cNvSpPr txBox="1"/>
          <p:nvPr/>
        </p:nvSpPr>
        <p:spPr>
          <a:xfrm>
            <a:off x="4824000" y="3466799"/>
            <a:ext cx="3978000" cy="306000"/>
          </a:xfrm>
          <a:prstGeom prst="rect">
            <a:avLst/>
          </a:prstGeom>
          <a:noFill/>
        </p:spPr>
        <p:txBody>
          <a:bodyPr wrap="square">
            <a:spAutoFit/>
          </a:bodyPr>
          <a:lstStyle/>
          <a:p>
            <a:pPr algn="l"/>
            <a:r>
              <a:rPr sz="750" b="0" i="1">
                <a:solidFill>
                  <a:srgbClr val="555555"/>
                </a:solidFill>
              </a:rPr>
              <a:t>Contraintes souveraineté données — migration vers solutions EU acceleree par NIS2</a:t>
            </a:r>
          </a:p>
        </p:txBody>
      </p:sp>
      <p:sp>
        <p:nvSpPr>
          <p:cNvPr id="54" name="Rectangle 53"/>
          <p:cNvSpPr/>
          <p:nvPr/>
        </p:nvSpPr>
        <p:spPr>
          <a:xfrm>
            <a:off x="4680000" y="3834000"/>
            <a:ext cx="79200" cy="7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24000" y="3816000"/>
            <a:ext cx="3978000" cy="162000"/>
          </a:xfrm>
          <a:prstGeom prst="rect">
            <a:avLst/>
          </a:prstGeom>
          <a:noFill/>
        </p:spPr>
        <p:txBody>
          <a:bodyPr wrap="square">
            <a:spAutoFit/>
          </a:bodyPr>
          <a:lstStyle/>
          <a:p>
            <a:pPr algn="l"/>
            <a:r>
              <a:rPr sz="900" b="1" i="0">
                <a:solidFill>
                  <a:srgbClr val="1A1A1A"/>
                </a:solidFill>
              </a:rPr>
              <a:t>Modernisation SI Publics</a:t>
            </a:r>
          </a:p>
        </p:txBody>
      </p:sp>
      <p:sp>
        <p:nvSpPr>
          <p:cNvPr id="56" name="TextBox 55"/>
          <p:cNvSpPr txBox="1"/>
          <p:nvPr/>
        </p:nvSpPr>
        <p:spPr>
          <a:xfrm>
            <a:off x="4824000" y="3988800"/>
            <a:ext cx="3978000" cy="306000"/>
          </a:xfrm>
          <a:prstGeom prst="rect">
            <a:avLst/>
          </a:prstGeom>
          <a:noFill/>
        </p:spPr>
        <p:txBody>
          <a:bodyPr wrap="square">
            <a:spAutoFit/>
          </a:bodyPr>
          <a:lstStyle/>
          <a:p>
            <a:pPr algn="l"/>
            <a:r>
              <a:rPr sz="750" b="0" i="1">
                <a:solidFill>
                  <a:srgbClr val="555555"/>
                </a:solidFill>
              </a:rPr>
              <a:t>Plans gouvernementaux 2026-2028 — budgets numeriques confirmes 6 États EU</a:t>
            </a:r>
          </a:p>
        </p:txBody>
      </p:sp>
      <p:sp>
        <p:nvSpPr>
          <p:cNvPr id="57" name="Rectangle 56"/>
          <p:cNvSpPr/>
          <p:nvPr/>
        </p:nvSpPr>
        <p:spPr>
          <a:xfrm>
            <a:off x="4680000" y="4356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824000" y="4338000"/>
            <a:ext cx="3978000" cy="162000"/>
          </a:xfrm>
          <a:prstGeom prst="rect">
            <a:avLst/>
          </a:prstGeom>
          <a:noFill/>
        </p:spPr>
        <p:txBody>
          <a:bodyPr wrap="square">
            <a:spAutoFit/>
          </a:bodyPr>
          <a:lstStyle/>
          <a:p>
            <a:pPr algn="l"/>
            <a:r>
              <a:rPr sz="900" b="1" i="0">
                <a:solidFill>
                  <a:srgbClr val="1A1A1A"/>
                </a:solidFill>
              </a:rPr>
              <a:t>Sensibilité Taux</a:t>
            </a:r>
          </a:p>
        </p:txBody>
      </p:sp>
      <p:sp>
        <p:nvSpPr>
          <p:cNvPr id="59" name="TextBox 58"/>
          <p:cNvSpPr txBox="1"/>
          <p:nvPr/>
        </p:nvSpPr>
        <p:spPr>
          <a:xfrm>
            <a:off x="4824000" y="4510800"/>
            <a:ext cx="3978000" cy="306000"/>
          </a:xfrm>
          <a:prstGeom prst="rect">
            <a:avLst/>
          </a:prstGeom>
          <a:noFill/>
        </p:spPr>
        <p:txBody>
          <a:bodyPr wrap="square">
            <a:spAutoFit/>
          </a:bodyPr>
          <a:lstStyle/>
          <a:p>
            <a:pPr algn="l"/>
            <a:r>
              <a:rPr sz="750" b="0" i="1">
                <a:solidFill>
                  <a:srgbClr val="555555"/>
                </a:solidFill>
              </a:rPr>
              <a:t>Compression multiples si taux &gt; 4,5 % — impact modéré sur FCF structurel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Valorisation Comparée  —  Multiples de Marché</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P/E et EV-multiples medianes — Santé vs Technology</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pic>
        <p:nvPicPr>
          <p:cNvPr id="18" name="Picture 17" descr="image.png"/>
          <p:cNvPicPr>
            <a:picLocks noChangeAspect="1"/>
          </p:cNvPicPr>
          <p:nvPr/>
        </p:nvPicPr>
        <p:blipFill>
          <a:blip r:embed="rId2"/>
          <a:stretch>
            <a:fillRect/>
          </a:stretch>
        </p:blipFill>
        <p:spPr>
          <a:xfrm>
            <a:off x="324000" y="720000"/>
            <a:ext cx="4500000" cy="1980000"/>
          </a:xfrm>
          <a:prstGeom prst="rect">
            <a:avLst/>
          </a:prstGeom>
        </p:spPr>
      </p:pic>
      <p:graphicFrame>
        <p:nvGraphicFramePr>
          <p:cNvPr id="19" name="Table 18"/>
          <p:cNvGraphicFramePr>
            <a:graphicFrameLocks noGrp="1"/>
          </p:cNvGraphicFramePr>
          <p:nvPr/>
        </p:nvGraphicFramePr>
        <p:xfrm>
          <a:off x="324000" y="2808000"/>
          <a:ext cx="4500000" cy="1026000"/>
        </p:xfrm>
        <a:graphic>
          <a:graphicData uri="http://schemas.openxmlformats.org/drawingml/2006/table">
            <a:tbl>
              <a:tblPr firstRow="1" bandRow="1">
                <a:tableStyleId>{5C22544A-7EE6-4342-B048-85BDC9FD1C3A}</a:tableStyleId>
              </a:tblPr>
              <a:tblGrid>
                <a:gridCol w="1620000"/>
                <a:gridCol w="1440000"/>
                <a:gridCol w="1440000"/>
              </a:tblGrid>
              <a:tr h="205200">
                <a:tc>
                  <a:txBody>
                    <a:bodyPr/>
                    <a:lstStyle/>
                    <a:p>
                      <a:pPr algn="ctr"/>
                      <a:r>
                        <a:rPr sz="900" b="1">
                          <a:solidFill>
                            <a:srgbClr val="FFFFFF"/>
                          </a:solidFill>
                        </a:rPr>
                        <a:t>Indicateurs</a:t>
                      </a:r>
                    </a:p>
                  </a:txBody>
                  <a:tcPr>
                    <a:solidFill>
                      <a:srgbClr val="1B3A6B"/>
                    </a:solidFill>
                  </a:tcPr>
                </a:tc>
                <a:tc>
                  <a:txBody>
                    <a:bodyPr/>
                    <a:lstStyle/>
                    <a:p>
                      <a:pPr algn="ctr"/>
                      <a:r>
                        <a:rPr sz="900" b="1">
                          <a:solidFill>
                            <a:srgbClr val="FFFFFF"/>
                          </a:solidFill>
                        </a:rPr>
                        <a:t>Santé</a:t>
                      </a:r>
                    </a:p>
                  </a:txBody>
                  <a:tcPr>
                    <a:solidFill>
                      <a:srgbClr val="1B3A6B"/>
                    </a:solidFill>
                  </a:tcPr>
                </a:tc>
                <a:tc>
                  <a:txBody>
                    <a:bodyPr/>
                    <a:lstStyle/>
                    <a:p>
                      <a:pPr algn="ctr"/>
                      <a:r>
                        <a:rPr sz="900" b="1">
                          <a:solidFill>
                            <a:srgbClr val="FFFFFF"/>
                          </a:solidFill>
                        </a:rPr>
                        <a:t>Technology</a:t>
                      </a:r>
                    </a:p>
                  </a:txBody>
                  <a:tcPr>
                    <a:solidFill>
                      <a:srgbClr val="1B3A6B"/>
                    </a:solidFill>
                  </a:tcPr>
                </a:tc>
              </a:tr>
              <a:tr h="205200">
                <a:tc>
                  <a:txBody>
                    <a:bodyPr/>
                    <a:lstStyle/>
                    <a:p>
                      <a:pPr algn="ctr"/>
                      <a:r>
                        <a:rPr sz="900" b="0">
                          <a:solidFill>
                            <a:srgbClr val="1A1A1A"/>
                          </a:solidFill>
                        </a:rPr>
                        <a:t>FCF Yield med.</a:t>
                      </a:r>
                    </a:p>
                  </a:txBody>
                  <a:tcPr>
                    <a:noFill/>
                  </a:tcPr>
                </a:tc>
                <a:tc>
                  <a:txBody>
                    <a:bodyPr/>
                    <a:lstStyle/>
                    <a:p>
                      <a:pPr algn="ctr"/>
                      <a:r>
                        <a:rPr sz="900" b="0">
                          <a:solidFill>
                            <a:srgbClr val="1A1A1A"/>
                          </a:solidFill>
                        </a:rPr>
                        <a:t>4.6 %</a:t>
                      </a:r>
                    </a:p>
                  </a:txBody>
                  <a:tcPr>
                    <a:noFill/>
                  </a:tcPr>
                </a:tc>
                <a:tc>
                  <a:txBody>
                    <a:bodyPr/>
                    <a:lstStyle/>
                    <a:p>
                      <a:pPr algn="ctr"/>
                      <a:r>
                        <a:rPr sz="900" b="0">
                          <a:solidFill>
                            <a:srgbClr val="1A1A1A"/>
                          </a:solidFill>
                        </a:rPr>
                        <a:t>1.4 %</a:t>
                      </a:r>
                    </a:p>
                  </a:txBody>
                  <a:tcPr>
                    <a:noFill/>
                  </a:tcPr>
                </a:tc>
              </a:tr>
              <a:tr h="205200">
                <a:tc>
                  <a:txBody>
                    <a:bodyPr/>
                    <a:lstStyle/>
                    <a:p>
                      <a:pPr algn="ctr"/>
                      <a:r>
                        <a:rPr sz="900" b="0">
                          <a:solidFill>
                            <a:srgbClr val="1A1A1A"/>
                          </a:solidFill>
                        </a:rPr>
                        <a:t>Beta Médian</a:t>
                      </a:r>
                    </a:p>
                  </a:txBody>
                  <a:tcPr>
                    <a:solidFill>
                      <a:srgbClr val="F5F7FA"/>
                    </a:solidFill>
                  </a:tcPr>
                </a:tc>
                <a:tc>
                  <a:txBody>
                    <a:bodyPr/>
                    <a:lstStyle/>
                    <a:p>
                      <a:pPr algn="ctr"/>
                      <a:r>
                        <a:rPr sz="900" b="0">
                          <a:solidFill>
                            <a:srgbClr val="1A1A1A"/>
                          </a:solidFill>
                        </a:rPr>
                        <a:t>1.00</a:t>
                      </a:r>
                    </a:p>
                  </a:txBody>
                  <a:tcPr>
                    <a:solidFill>
                      <a:srgbClr val="F5F7FA"/>
                    </a:solidFill>
                  </a:tcPr>
                </a:tc>
                <a:tc>
                  <a:txBody>
                    <a:bodyPr/>
                    <a:lstStyle/>
                    <a:p>
                      <a:pPr algn="ctr"/>
                      <a:r>
                        <a:rPr sz="900" b="0">
                          <a:solidFill>
                            <a:srgbClr val="1A1A1A"/>
                          </a:solidFill>
                        </a:rPr>
                        <a:t>1.28</a:t>
                      </a:r>
                    </a:p>
                  </a:txBody>
                  <a:tcPr>
                    <a:solidFill>
                      <a:srgbClr val="F5F7FA"/>
                    </a:solidFill>
                  </a:tcPr>
                </a:tc>
              </a:tr>
              <a:tr h="205200">
                <a:tc>
                  <a:txBody>
                    <a:bodyPr/>
                    <a:lstStyle/>
                    <a:p>
                      <a:pPr algn="ctr"/>
                      <a:r>
                        <a:rPr sz="900" b="0">
                          <a:solidFill>
                            <a:srgbClr val="1A1A1A"/>
                          </a:solidFill>
                        </a:rPr>
                        <a:t>Altman Z med.</a:t>
                      </a:r>
                    </a:p>
                  </a:txBody>
                  <a:tcPr>
                    <a:noFill/>
                  </a:tcPr>
                </a:tc>
                <a:tc>
                  <a:txBody>
                    <a:bodyPr/>
                    <a:lstStyle/>
                    <a:p>
                      <a:pPr algn="ctr"/>
                      <a:r>
                        <a:rPr sz="900" b="0">
                          <a:solidFill>
                            <a:srgbClr val="1A1A1A"/>
                          </a:solidFill>
                        </a:rPr>
                        <a:t>3.61</a:t>
                      </a:r>
                    </a:p>
                  </a:txBody>
                  <a:tcPr>
                    <a:noFill/>
                  </a:tcPr>
                </a:tc>
                <a:tc>
                  <a:txBody>
                    <a:bodyPr/>
                    <a:lstStyle/>
                    <a:p>
                      <a:pPr algn="ctr"/>
                      <a:r>
                        <a:rPr sz="900" b="0">
                          <a:solidFill>
                            <a:srgbClr val="1A1A1A"/>
                          </a:solidFill>
                        </a:rPr>
                        <a:t>—</a:t>
                      </a:r>
                    </a:p>
                  </a:txBody>
                  <a:tcPr>
                    <a:noFill/>
                  </a:tcPr>
                </a:tc>
              </a:tr>
              <a:tr h="205200">
                <a:tc>
                  <a:txBody>
                    <a:bodyPr/>
                    <a:lstStyle/>
                    <a:p>
                      <a:pPr algn="ctr"/>
                      <a:r>
                        <a:rPr sz="900" b="0">
                          <a:solidFill>
                            <a:srgbClr val="1A1A1A"/>
                          </a:solidFill>
                        </a:rPr>
                        <a:t>Piotroski med.</a:t>
                      </a:r>
                    </a:p>
                  </a:txBody>
                  <a:tcPr>
                    <a:solidFill>
                      <a:srgbClr val="F5F7FA"/>
                    </a:solidFill>
                  </a:tcPr>
                </a:tc>
                <a:tc>
                  <a:txBody>
                    <a:bodyPr/>
                    <a:lstStyle/>
                    <a:p>
                      <a:pPr algn="ctr"/>
                      <a:r>
                        <a:rPr sz="900" b="0">
                          <a:solidFill>
                            <a:srgbClr val="1A1A1A"/>
                          </a:solidFill>
                        </a:rPr>
                        <a:t>0.0</a:t>
                      </a:r>
                    </a:p>
                  </a:txBody>
                  <a:tcPr>
                    <a:solidFill>
                      <a:srgbClr val="F5F7FA"/>
                    </a:solidFill>
                  </a:tcPr>
                </a:tc>
                <a:tc>
                  <a:txBody>
                    <a:bodyPr/>
                    <a:lstStyle/>
                    <a:p>
                      <a:pPr algn="ctr"/>
                      <a:r>
                        <a:rPr sz="900" b="0">
                          <a:solidFill>
                            <a:srgbClr val="1A1A1A"/>
                          </a:solidFill>
                        </a:rPr>
                        <a:t>5.0</a:t>
                      </a:r>
                    </a:p>
                  </a:txBody>
                  <a:tcPr>
                    <a:solidFill>
                      <a:srgbClr val="F5F7FA"/>
                    </a:solidFill>
                  </a:tcPr>
                </a:tc>
              </a:tr>
            </a:tbl>
          </a:graphicData>
        </a:graphic>
      </p:graphicFrame>
      <p:graphicFrame>
        <p:nvGraphicFramePr>
          <p:cNvPr id="20" name="Table 19"/>
          <p:cNvGraphicFramePr>
            <a:graphicFrameLocks noGrp="1"/>
          </p:cNvGraphicFramePr>
          <p:nvPr/>
        </p:nvGraphicFramePr>
        <p:xfrm>
          <a:off x="5040000" y="720000"/>
          <a:ext cx="3780000" cy="2160000"/>
        </p:xfrm>
        <a:graphic>
          <a:graphicData uri="http://schemas.openxmlformats.org/drawingml/2006/table">
            <a:tbl>
              <a:tblPr firstRow="1" bandRow="1">
                <a:tableStyleId>{5C22544A-7EE6-4342-B048-85BDC9FD1C3A}</a:tableStyleId>
              </a:tblPr>
              <a:tblGrid>
                <a:gridCol w="1620000"/>
                <a:gridCol w="1080000"/>
                <a:gridCol w="1080000"/>
              </a:tblGrid>
              <a:tr h="432000">
                <a:tc>
                  <a:txBody>
                    <a:bodyPr/>
                    <a:lstStyle/>
                    <a:p>
                      <a:pPr algn="ctr"/>
                      <a:r>
                        <a:rPr sz="900" b="1">
                          <a:solidFill>
                            <a:srgbClr val="FFFFFF"/>
                          </a:solidFill>
                        </a:rPr>
                        <a:t>Metrique</a:t>
                      </a:r>
                    </a:p>
                  </a:txBody>
                  <a:tcPr>
                    <a:solidFill>
                      <a:srgbClr val="1B3A6B"/>
                    </a:solidFill>
                  </a:tcPr>
                </a:tc>
                <a:tc>
                  <a:txBody>
                    <a:bodyPr/>
                    <a:lstStyle/>
                    <a:p>
                      <a:pPr algn="ctr"/>
                      <a:r>
                        <a:rPr sz="900" b="1">
                          <a:solidFill>
                            <a:srgbClr val="FFFFFF"/>
                          </a:solidFill>
                        </a:rPr>
                        <a:t>Santé</a:t>
                      </a:r>
                    </a:p>
                  </a:txBody>
                  <a:tcPr>
                    <a:solidFill>
                      <a:srgbClr val="1B3A6B"/>
                    </a:solidFill>
                  </a:tcPr>
                </a:tc>
                <a:tc>
                  <a:txBody>
                    <a:bodyPr/>
                    <a:lstStyle/>
                    <a:p>
                      <a:pPr algn="ctr"/>
                      <a:r>
                        <a:rPr sz="900" b="1">
                          <a:solidFill>
                            <a:srgbClr val="FFFFFF"/>
                          </a:solidFill>
                        </a:rPr>
                        <a:t>Technology</a:t>
                      </a:r>
                    </a:p>
                  </a:txBody>
                  <a:tcPr>
                    <a:solidFill>
                      <a:srgbClr val="1B3A6B"/>
                    </a:solidFill>
                  </a:tcPr>
                </a:tc>
              </a:tr>
              <a:tr h="432000">
                <a:tc>
                  <a:txBody>
                    <a:bodyPr/>
                    <a:lstStyle/>
                    <a:p>
                      <a:pPr algn="ctr"/>
                      <a:r>
                        <a:rPr sz="900" b="0">
                          <a:solidFill>
                            <a:srgbClr val="1A1A1A"/>
                          </a:solidFill>
                        </a:rPr>
                        <a:t>P/E Médian</a:t>
                      </a:r>
                    </a:p>
                  </a:txBody>
                  <a:tcPr>
                    <a:noFill/>
                  </a:tcPr>
                </a:tc>
                <a:tc>
                  <a:txBody>
                    <a:bodyPr/>
                    <a:lstStyle/>
                    <a:p>
                      <a:pPr algn="ctr"/>
                      <a:r>
                        <a:rPr sz="900" b="0">
                          <a:solidFill>
                            <a:srgbClr val="1A1A1A"/>
                          </a:solidFill>
                        </a:rPr>
                        <a:t>24.8x</a:t>
                      </a:r>
                    </a:p>
                  </a:txBody>
                  <a:tcPr>
                    <a:noFill/>
                  </a:tcPr>
                </a:tc>
                <a:tc>
                  <a:txBody>
                    <a:bodyPr/>
                    <a:lstStyle/>
                    <a:p>
                      <a:pPr algn="ctr"/>
                      <a:r>
                        <a:rPr sz="900" b="0">
                          <a:solidFill>
                            <a:srgbClr val="1A1A1A"/>
                          </a:solidFill>
                        </a:rPr>
                        <a:t>31.2x</a:t>
                      </a:r>
                    </a:p>
                  </a:txBody>
                  <a:tcPr>
                    <a:noFill/>
                  </a:tcPr>
                </a:tc>
              </a:tr>
              <a:tr h="432000">
                <a:tc>
                  <a:txBody>
                    <a:bodyPr/>
                    <a:lstStyle/>
                    <a:p>
                      <a:pPr algn="ctr"/>
                      <a:r>
                        <a:rPr sz="900" b="0">
                          <a:solidFill>
                            <a:srgbClr val="1A1A1A"/>
                          </a:solidFill>
                        </a:rPr>
                        <a:t>EV/EBITDA med.</a:t>
                      </a:r>
                    </a:p>
                  </a:txBody>
                  <a:tcPr>
                    <a:solidFill>
                      <a:srgbClr val="F5F7FA"/>
                    </a:solidFill>
                  </a:tcPr>
                </a:tc>
                <a:tc>
                  <a:txBody>
                    <a:bodyPr/>
                    <a:lstStyle/>
                    <a:p>
                      <a:pPr algn="ctr"/>
                      <a:r>
                        <a:rPr sz="900" b="0">
                          <a:solidFill>
                            <a:srgbClr val="1A1A1A"/>
                          </a:solidFill>
                        </a:rPr>
                        <a:t>15.0x</a:t>
                      </a:r>
                    </a:p>
                  </a:txBody>
                  <a:tcPr>
                    <a:solidFill>
                      <a:srgbClr val="F5F7FA"/>
                    </a:solidFill>
                  </a:tcPr>
                </a:tc>
                <a:tc>
                  <a:txBody>
                    <a:bodyPr/>
                    <a:lstStyle/>
                    <a:p>
                      <a:pPr algn="ctr"/>
                      <a:r>
                        <a:rPr sz="900" b="0">
                          <a:solidFill>
                            <a:srgbClr val="1A1A1A"/>
                          </a:solidFill>
                        </a:rPr>
                        <a:t>25.2x</a:t>
                      </a:r>
                    </a:p>
                  </a:txBody>
                  <a:tcPr>
                    <a:solidFill>
                      <a:srgbClr val="F5F7FA"/>
                    </a:solidFill>
                  </a:tcPr>
                </a:tc>
              </a:tr>
              <a:tr h="432000">
                <a:tc>
                  <a:txBody>
                    <a:bodyPr/>
                    <a:lstStyle/>
                    <a:p>
                      <a:pPr algn="ctr"/>
                      <a:r>
                        <a:rPr sz="900" b="0">
                          <a:solidFill>
                            <a:srgbClr val="1A1A1A"/>
                          </a:solidFill>
                        </a:rPr>
                        <a:t>EV/Revenue med.</a:t>
                      </a:r>
                    </a:p>
                  </a:txBody>
                  <a:tcPr>
                    <a:noFill/>
                  </a:tcPr>
                </a:tc>
                <a:tc>
                  <a:txBody>
                    <a:bodyPr/>
                    <a:lstStyle/>
                    <a:p>
                      <a:pPr algn="ctr"/>
                      <a:r>
                        <a:rPr sz="900" b="0">
                          <a:solidFill>
                            <a:srgbClr val="1A1A1A"/>
                          </a:solidFill>
                        </a:rPr>
                        <a:t>4.3x</a:t>
                      </a:r>
                    </a:p>
                  </a:txBody>
                  <a:tcPr>
                    <a:noFill/>
                  </a:tcPr>
                </a:tc>
                <a:tc>
                  <a:txBody>
                    <a:bodyPr/>
                    <a:lstStyle/>
                    <a:p>
                      <a:pPr algn="ctr"/>
                      <a:r>
                        <a:rPr sz="900" b="0">
                          <a:solidFill>
                            <a:srgbClr val="1A1A1A"/>
                          </a:solidFill>
                        </a:rPr>
                        <a:t>9.3x</a:t>
                      </a:r>
                    </a:p>
                  </a:txBody>
                  <a:tcPr>
                    <a:noFill/>
                  </a:tcPr>
                </a:tc>
              </a:tr>
              <a:tr h="432000">
                <a:tc>
                  <a:txBody>
                    <a:bodyPr/>
                    <a:lstStyle/>
                    <a:p>
                      <a:pPr algn="ctr"/>
                      <a:r>
                        <a:rPr sz="900" b="0">
                          <a:solidFill>
                            <a:srgbClr val="1A1A1A"/>
                          </a:solidFill>
                        </a:rPr>
                        <a:t>PEG ratio med.</a:t>
                      </a:r>
                    </a:p>
                  </a:txBody>
                  <a:tcPr>
                    <a:solidFill>
                      <a:srgbClr val="F5F7FA"/>
                    </a:solidFill>
                  </a:tcPr>
                </a:tc>
                <a:tc>
                  <a:txBody>
                    <a:bodyPr/>
                    <a:lstStyle/>
                    <a:p>
                      <a:pPr algn="ctr"/>
                      <a:r>
                        <a:rPr sz="900" b="0">
                          <a:solidFill>
                            <a:srgbClr val="1A1A1A"/>
                          </a:solidFill>
                        </a:rPr>
                        <a:t>5.73</a:t>
                      </a:r>
                    </a:p>
                  </a:txBody>
                  <a:tcPr>
                    <a:solidFill>
                      <a:srgbClr val="F5F7FA"/>
                    </a:solidFill>
                  </a:tcPr>
                </a:tc>
                <a:tc>
                  <a:txBody>
                    <a:bodyPr/>
                    <a:lstStyle/>
                    <a:p>
                      <a:pPr algn="ctr"/>
                      <a:r>
                        <a:rPr sz="900" b="0">
                          <a:solidFill>
                            <a:srgbClr val="1A1A1A"/>
                          </a:solidFill>
                        </a:rPr>
                        <a:t>1.51</a:t>
                      </a:r>
                    </a:p>
                  </a:txBody>
                  <a:tcPr>
                    <a:solidFill>
                      <a:srgbClr val="F5F7FA"/>
                    </a:solidFill>
                  </a:tcPr>
                </a:tc>
              </a:tr>
            </a:tbl>
          </a:graphicData>
        </a:graphic>
      </p:graphicFrame>
      <p:sp>
        <p:nvSpPr>
          <p:cNvPr id="21" name="Rectangle 20"/>
          <p:cNvSpPr/>
          <p:nvPr/>
        </p:nvSpPr>
        <p:spPr>
          <a:xfrm>
            <a:off x="5040000" y="3060000"/>
            <a:ext cx="3780000" cy="1745999"/>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40000" y="3060000"/>
            <a:ext cx="46800" cy="1745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48000" y="3096000"/>
            <a:ext cx="3636000" cy="129600"/>
          </a:xfrm>
          <a:prstGeom prst="rect">
            <a:avLst/>
          </a:prstGeom>
          <a:noFill/>
        </p:spPr>
        <p:txBody>
          <a:bodyPr wrap="square">
            <a:spAutoFit/>
          </a:bodyPr>
          <a:lstStyle/>
          <a:p>
            <a:pPr algn="l"/>
            <a:r>
              <a:rPr sz="850" b="1" i="0">
                <a:solidFill>
                  <a:srgbClr val="1B3A6B"/>
                </a:solidFill>
              </a:rPr>
              <a:t>SANTÉ DÉCOTÉ DE 6.4X P/E VS TECHNOLOGY — ARBITRAGE VALUE CLAIR</a:t>
            </a:r>
          </a:p>
        </p:txBody>
      </p:sp>
      <p:sp>
        <p:nvSpPr>
          <p:cNvPr id="24" name="TextBox 23"/>
          <p:cNvSpPr txBox="1"/>
          <p:nvPr/>
        </p:nvSpPr>
        <p:spPr>
          <a:xfrm>
            <a:off x="5148000" y="3240000"/>
            <a:ext cx="3600000" cy="1522799"/>
          </a:xfrm>
          <a:prstGeom prst="rect">
            <a:avLst/>
          </a:prstGeom>
          <a:noFill/>
        </p:spPr>
        <p:txBody>
          <a:bodyPr wrap="square">
            <a:spAutoFit/>
          </a:bodyPr>
          <a:lstStyle/>
          <a:p>
            <a:pPr algn="l"/>
            <a:r>
              <a:rPr sz="850" b="0" i="0">
                <a:solidFill>
                  <a:srgbClr val="1B3A6B"/>
                </a:solidFill>
              </a:rPr>
              <a:t>Santé côté a une prime inferieure de 6.4x P/E vs Technology. Écart reflète une anticipation de croissance superieure.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Qualité &amp; Rentabilité  —  Marges et Retour sur Capital</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Qui genere plus de valeur par euro de chiffre d'affaires ?</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pic>
        <p:nvPicPr>
          <p:cNvPr id="18" name="Picture 17" descr="image.png"/>
          <p:cNvPicPr>
            <a:picLocks noChangeAspect="1"/>
          </p:cNvPicPr>
          <p:nvPr/>
        </p:nvPicPr>
        <p:blipFill>
          <a:blip r:embed="rId2"/>
          <a:stretch>
            <a:fillRect/>
          </a:stretch>
        </p:blipFill>
        <p:spPr>
          <a:xfrm>
            <a:off x="324000" y="720000"/>
            <a:ext cx="4500000" cy="1980000"/>
          </a:xfrm>
          <a:prstGeom prst="rect">
            <a:avLst/>
          </a:prstGeom>
        </p:spPr>
      </p:pic>
      <p:pic>
        <p:nvPicPr>
          <p:cNvPr id="19" name="Picture 18" descr="image.png"/>
          <p:cNvPicPr>
            <a:picLocks noChangeAspect="1"/>
          </p:cNvPicPr>
          <p:nvPr/>
        </p:nvPicPr>
        <p:blipFill>
          <a:blip r:embed="rId3"/>
          <a:stretch>
            <a:fillRect/>
          </a:stretch>
        </p:blipFill>
        <p:spPr>
          <a:xfrm>
            <a:off x="4860000" y="720000"/>
            <a:ext cx="3960000" cy="1980000"/>
          </a:xfrm>
          <a:prstGeom prst="rect">
            <a:avLst/>
          </a:prstGeom>
        </p:spPr>
      </p:pic>
      <p:sp>
        <p:nvSpPr>
          <p:cNvPr id="20" name="Rectangle 19"/>
          <p:cNvSpPr/>
          <p:nvPr/>
        </p:nvSpPr>
        <p:spPr>
          <a:xfrm>
            <a:off x="324000" y="2790000"/>
            <a:ext cx="8496000" cy="199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000" y="2790000"/>
            <a:ext cx="46800" cy="199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000" y="2826000"/>
            <a:ext cx="8352000" cy="129600"/>
          </a:xfrm>
          <a:prstGeom prst="rect">
            <a:avLst/>
          </a:prstGeom>
          <a:noFill/>
        </p:spPr>
        <p:txBody>
          <a:bodyPr wrap="square">
            <a:spAutoFit/>
          </a:bodyPr>
          <a:lstStyle/>
          <a:p>
            <a:pPr algn="l"/>
            <a:r>
              <a:rPr sz="900" b="1" i="0">
                <a:solidFill>
                  <a:srgbClr val="1B3A6B"/>
                </a:solidFill>
              </a:rPr>
              <a:t>TECHNOLOGY DOMINE MARGES ET RENTABILITÉ — QUALITÉ OPÉRATIONNELLE SUPÉRIEURE</a:t>
            </a:r>
          </a:p>
        </p:txBody>
      </p:sp>
      <p:sp>
        <p:nvSpPr>
          <p:cNvPr id="23" name="TextBox 22"/>
          <p:cNvSpPr txBox="1"/>
          <p:nvPr/>
        </p:nvSpPr>
        <p:spPr>
          <a:xfrm>
            <a:off x="432000" y="2970000"/>
            <a:ext cx="8316000" cy="1774800"/>
          </a:xfrm>
          <a:prstGeom prst="rect">
            <a:avLst/>
          </a:prstGeom>
          <a:noFill/>
        </p:spPr>
        <p:txBody>
          <a:bodyPr wrap="square">
            <a:spAutoFit/>
          </a:bodyPr>
          <a:lstStyle/>
          <a:p>
            <a:pPr algn="l"/>
            <a:r>
              <a:rPr sz="900" b="0" i="0">
                <a:solidFill>
                  <a:srgbClr val="1B3A6B"/>
                </a:solidFill>
              </a:rPr>
              <a:t>Technology affiche une marge EBITDA superieure (46.8 %). Technology domine sur le ROE (35.0 %).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Capital Allocation  —  Dividendes, FCF &amp; Rémunération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Comparaison politique de distribution — Santé vs Technology</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graphicFrame>
        <p:nvGraphicFramePr>
          <p:cNvPr id="18" name="Table 17"/>
          <p:cNvGraphicFramePr>
            <a:graphicFrameLocks noGrp="1"/>
          </p:cNvGraphicFramePr>
          <p:nvPr/>
        </p:nvGraphicFramePr>
        <p:xfrm>
          <a:off x="324000" y="720000"/>
          <a:ext cx="4679998" cy="1980000"/>
        </p:xfrm>
        <a:graphic>
          <a:graphicData uri="http://schemas.openxmlformats.org/drawingml/2006/table">
            <a:tbl>
              <a:tblPr firstRow="1" bandRow="1">
                <a:tableStyleId>{5C22544A-7EE6-4342-B048-85BDC9FD1C3A}</a:tableStyleId>
              </a:tblPr>
              <a:tblGrid>
                <a:gridCol w="1995348"/>
                <a:gridCol w="1342325"/>
                <a:gridCol w="1342325"/>
              </a:tblGrid>
              <a:tr h="396000">
                <a:tc>
                  <a:txBody>
                    <a:bodyPr/>
                    <a:lstStyle/>
                    <a:p>
                      <a:pPr algn="ctr"/>
                      <a:r>
                        <a:rPr sz="900" b="1">
                          <a:solidFill>
                            <a:srgbClr val="FFFFFF"/>
                          </a:solidFill>
                        </a:rPr>
                        <a:t>Indicateur</a:t>
                      </a:r>
                    </a:p>
                  </a:txBody>
                  <a:tcPr>
                    <a:solidFill>
                      <a:srgbClr val="1B3A6B"/>
                    </a:solidFill>
                  </a:tcPr>
                </a:tc>
                <a:tc>
                  <a:txBody>
                    <a:bodyPr/>
                    <a:lstStyle/>
                    <a:p>
                      <a:pPr algn="ctr"/>
                      <a:r>
                        <a:rPr sz="900" b="1">
                          <a:solidFill>
                            <a:srgbClr val="FFFFFF"/>
                          </a:solidFill>
                        </a:rPr>
                        <a:t>Santé</a:t>
                      </a:r>
                    </a:p>
                  </a:txBody>
                  <a:tcPr>
                    <a:solidFill>
                      <a:srgbClr val="1B3A6B"/>
                    </a:solidFill>
                  </a:tcPr>
                </a:tc>
                <a:tc>
                  <a:txBody>
                    <a:bodyPr/>
                    <a:lstStyle/>
                    <a:p>
                      <a:pPr algn="ctr"/>
                      <a:r>
                        <a:rPr sz="900" b="1">
                          <a:solidFill>
                            <a:srgbClr val="FFFFFF"/>
                          </a:solidFill>
                        </a:rPr>
                        <a:t>Technology</a:t>
                      </a:r>
                    </a:p>
                  </a:txBody>
                  <a:tcPr>
                    <a:solidFill>
                      <a:srgbClr val="1B3A6B"/>
                    </a:solidFill>
                  </a:tcPr>
                </a:tc>
              </a:tr>
              <a:tr h="396000">
                <a:tc>
                  <a:txBody>
                    <a:bodyPr/>
                    <a:lstStyle/>
                    <a:p>
                      <a:pPr algn="ctr"/>
                      <a:r>
                        <a:rPr sz="900" b="0">
                          <a:solidFill>
                            <a:srgbClr val="1A1A1A"/>
                          </a:solidFill>
                        </a:rPr>
                        <a:t>Rendement dividende med.</a:t>
                      </a:r>
                    </a:p>
                  </a:txBody>
                  <a:tcPr>
                    <a:noFill/>
                  </a:tcPr>
                </a:tc>
                <a:tc>
                  <a:txBody>
                    <a:bodyPr/>
                    <a:lstStyle/>
                    <a:p>
                      <a:pPr algn="ctr"/>
                      <a:r>
                        <a:rPr sz="900" b="0">
                          <a:solidFill>
                            <a:srgbClr val="1A1A1A"/>
                          </a:solidFill>
                        </a:rPr>
                        <a:t>—</a:t>
                      </a:r>
                    </a:p>
                  </a:txBody>
                  <a:tcPr>
                    <a:noFill/>
                  </a:tcPr>
                </a:tc>
                <a:tc>
                  <a:txBody>
                    <a:bodyPr/>
                    <a:lstStyle/>
                    <a:p>
                      <a:pPr algn="ctr"/>
                      <a:r>
                        <a:rPr sz="900" b="0">
                          <a:solidFill>
                            <a:srgbClr val="1A1A1A"/>
                          </a:solidFill>
                        </a:rPr>
                        <a:t>0.4 %</a:t>
                      </a:r>
                    </a:p>
                  </a:txBody>
                  <a:tcPr>
                    <a:noFill/>
                  </a:tcPr>
                </a:tc>
              </a:tr>
              <a:tr h="396000">
                <a:tc>
                  <a:txBody>
                    <a:bodyPr/>
                    <a:lstStyle/>
                    <a:p>
                      <a:pPr algn="ctr"/>
                      <a:r>
                        <a:rPr sz="900" b="0">
                          <a:solidFill>
                            <a:srgbClr val="1A1A1A"/>
                          </a:solidFill>
                        </a:rPr>
                        <a:t>FCF Yield Médian</a:t>
                      </a:r>
                    </a:p>
                  </a:txBody>
                  <a:tcPr>
                    <a:solidFill>
                      <a:srgbClr val="F5F7FA"/>
                    </a:solidFill>
                  </a:tcPr>
                </a:tc>
                <a:tc>
                  <a:txBody>
                    <a:bodyPr/>
                    <a:lstStyle/>
                    <a:p>
                      <a:pPr algn="ctr"/>
                      <a:r>
                        <a:rPr sz="900" b="0">
                          <a:solidFill>
                            <a:srgbClr val="1A1A1A"/>
                          </a:solidFill>
                        </a:rPr>
                        <a:t>4.6 %</a:t>
                      </a:r>
                    </a:p>
                  </a:txBody>
                  <a:tcPr>
                    <a:solidFill>
                      <a:srgbClr val="F5F7FA"/>
                    </a:solidFill>
                  </a:tcPr>
                </a:tc>
                <a:tc>
                  <a:txBody>
                    <a:bodyPr/>
                    <a:lstStyle/>
                    <a:p>
                      <a:pPr algn="ctr"/>
                      <a:r>
                        <a:rPr sz="900" b="0">
                          <a:solidFill>
                            <a:srgbClr val="1A1A1A"/>
                          </a:solidFill>
                        </a:rPr>
                        <a:t>1.4 %</a:t>
                      </a:r>
                    </a:p>
                  </a:txBody>
                  <a:tcPr>
                    <a:solidFill>
                      <a:srgbClr val="F5F7FA"/>
                    </a:solidFill>
                  </a:tcPr>
                </a:tc>
              </a:tr>
              <a:tr h="396000">
                <a:tc>
                  <a:txBody>
                    <a:bodyPr/>
                    <a:lstStyle/>
                    <a:p>
                      <a:pPr algn="ctr"/>
                      <a:r>
                        <a:rPr sz="900" b="0">
                          <a:solidFill>
                            <a:srgbClr val="1A1A1A"/>
                          </a:solidFill>
                        </a:rPr>
                        <a:t>Payout Ratio Médian</a:t>
                      </a:r>
                    </a:p>
                  </a:txBody>
                  <a:tcPr>
                    <a:noFill/>
                  </a:tcPr>
                </a:tc>
                <a:tc>
                  <a:txBody>
                    <a:bodyPr/>
                    <a:lstStyle/>
                    <a:p>
                      <a:pPr algn="ctr"/>
                      <a:r>
                        <a:rPr sz="900" b="0">
                          <a:solidFill>
                            <a:srgbClr val="1A1A1A"/>
                          </a:solidFill>
                        </a:rPr>
                        <a:t>—</a:t>
                      </a:r>
                    </a:p>
                  </a:txBody>
                  <a:tcPr>
                    <a:noFill/>
                  </a:tcPr>
                </a:tc>
                <a:tc>
                  <a:txBody>
                    <a:bodyPr/>
                    <a:lstStyle/>
                    <a:p>
                      <a:pPr algn="ctr"/>
                      <a:r>
                        <a:rPr sz="900" b="0">
                          <a:solidFill>
                            <a:srgbClr val="1A1A1A"/>
                          </a:solidFill>
                        </a:rPr>
                        <a:t>13.0 %</a:t>
                      </a:r>
                    </a:p>
                  </a:txBody>
                  <a:tcPr>
                    <a:noFill/>
                  </a:tcPr>
                </a:tc>
              </a:tr>
              <a:tr h="396000">
                <a:tc>
                  <a:txBody>
                    <a:bodyPr/>
                    <a:lstStyle/>
                    <a:p>
                      <a:pPr algn="ctr"/>
                      <a:r>
                        <a:rPr sz="900" b="0">
                          <a:solidFill>
                            <a:srgbClr val="1A1A1A"/>
                          </a:solidFill>
                        </a:rPr>
                        <a:t>FCF Yield / Div Yield</a:t>
                      </a:r>
                    </a:p>
                  </a:txBody>
                  <a:tcPr>
                    <a:solidFill>
                      <a:srgbClr val="F5F7FA"/>
                    </a:solidFill>
                  </a:tcPr>
                </a:tc>
                <a:tc>
                  <a:txBody>
                    <a:bodyPr/>
                    <a:lstStyle/>
                    <a:p>
                      <a:pPr algn="ctr"/>
                      <a:r>
                        <a:rPr sz="900" b="0">
                          <a:solidFill>
                            <a:srgbClr val="1A1A1A"/>
                          </a:solidFill>
                        </a:rPr>
                        <a:t>—</a:t>
                      </a:r>
                    </a:p>
                  </a:txBody>
                  <a:tcPr>
                    <a:solidFill>
                      <a:srgbClr val="F5F7FA"/>
                    </a:solidFill>
                  </a:tcPr>
                </a:tc>
                <a:tc>
                  <a:txBody>
                    <a:bodyPr/>
                    <a:lstStyle/>
                    <a:p>
                      <a:pPr algn="ctr"/>
                      <a:r>
                        <a:rPr sz="900" b="0">
                          <a:solidFill>
                            <a:srgbClr val="1A1A1A"/>
                          </a:solidFill>
                        </a:rPr>
                        <a:t>3.4x</a:t>
                      </a:r>
                    </a:p>
                  </a:txBody>
                  <a:tcPr>
                    <a:solidFill>
                      <a:srgbClr val="F5F7FA"/>
                    </a:solidFill>
                  </a:tcPr>
                </a:tc>
              </a:tr>
            </a:tbl>
          </a:graphicData>
        </a:graphic>
      </p:graphicFrame>
      <p:pic>
        <p:nvPicPr>
          <p:cNvPr id="19" name="Picture 18" descr="image.png"/>
          <p:cNvPicPr>
            <a:picLocks noChangeAspect="1"/>
          </p:cNvPicPr>
          <p:nvPr/>
        </p:nvPicPr>
        <p:blipFill>
          <a:blip r:embed="rId2"/>
          <a:stretch>
            <a:fillRect/>
          </a:stretch>
        </p:blipFill>
        <p:spPr>
          <a:xfrm>
            <a:off x="324000" y="2808000"/>
            <a:ext cx="4680000" cy="1980000"/>
          </a:xfrm>
          <a:prstGeom prst="rect">
            <a:avLst/>
          </a:prstGeom>
        </p:spPr>
      </p:pic>
      <p:sp>
        <p:nvSpPr>
          <p:cNvPr id="20" name="Rectangle 19"/>
          <p:cNvSpPr/>
          <p:nvPr/>
        </p:nvSpPr>
        <p:spPr>
          <a:xfrm>
            <a:off x="5220000" y="720000"/>
            <a:ext cx="3581999" cy="406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20000" y="720000"/>
            <a:ext cx="46800" cy="406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28000" y="756000"/>
            <a:ext cx="3437999" cy="129600"/>
          </a:xfrm>
          <a:prstGeom prst="rect">
            <a:avLst/>
          </a:prstGeom>
          <a:noFill/>
        </p:spPr>
        <p:txBody>
          <a:bodyPr wrap="square">
            <a:spAutoFit/>
          </a:bodyPr>
          <a:lstStyle/>
          <a:p>
            <a:pPr algn="l"/>
            <a:r>
              <a:rPr sz="900" b="1" i="0">
                <a:solidFill>
                  <a:srgbClr val="1B3A6B"/>
                </a:solidFill>
              </a:rPr>
              <a:t>SANTÉ PRIVILÉGIE LE RÉINVESTISSEMENT — YIELDS MODÉRÉS (0.4%)</a:t>
            </a:r>
          </a:p>
        </p:txBody>
      </p:sp>
      <p:sp>
        <p:nvSpPr>
          <p:cNvPr id="23" name="TextBox 22"/>
          <p:cNvSpPr txBox="1"/>
          <p:nvPr/>
        </p:nvSpPr>
        <p:spPr>
          <a:xfrm>
            <a:off x="5328000" y="900000"/>
            <a:ext cx="3401999" cy="3844800"/>
          </a:xfrm>
          <a:prstGeom prst="rect">
            <a:avLst/>
          </a:prstGeom>
          <a:noFill/>
        </p:spPr>
        <p:txBody>
          <a:bodyPr wrap="square">
            <a:spAutoFit/>
          </a:bodyPr>
          <a:lstStyle/>
          <a:p>
            <a:pPr algn="l"/>
            <a:r>
              <a:rPr sz="900" b="0" i="0">
                <a:solidFill>
                  <a:srgbClr val="1B3A6B"/>
                </a:solidFill>
              </a:rPr>
              <a:t>Technology offre le meilleur rendement dividende (med. 0.4 %), ce qui reflète un modèle de maturité bilancielle et une politique de distribution établie. Santé genere davantage de FCF (4.6 % de FCF Yield), signal d'une capacite de rémunération durable et d'une allocation du capital disciplinée. Un FCF Yield superieur au dividende versé garantit la soutenabilite et la résilience de la distribution meme en phase de contraction des marges. L'arbitrage entre dividende versé et réinvestissement traduit la maturité du cycle d'investissement : un secteur en phase de croissance préféré allouer son cash a l'expansion, un secteur mature monétisé via la distribution.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Performance &amp; Scoring</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Cours 52 semaines, revenue growth et scoring multidimensionnel</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Performance Boursière  —  Cours Comparatif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Composite Normalisé base 100 — top 15 sociétés par secteur  |  Santé vs Technology</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pic>
        <p:nvPicPr>
          <p:cNvPr id="18" name="Picture 17" descr="image.png"/>
          <p:cNvPicPr>
            <a:picLocks noChangeAspect="1"/>
          </p:cNvPicPr>
          <p:nvPr/>
        </p:nvPicPr>
        <p:blipFill>
          <a:blip r:embed="rId2"/>
          <a:stretch>
            <a:fillRect/>
          </a:stretch>
        </p:blipFill>
        <p:spPr>
          <a:xfrm>
            <a:off x="324000" y="720000"/>
            <a:ext cx="5940000" cy="2700000"/>
          </a:xfrm>
          <a:prstGeom prst="rect">
            <a:avLst/>
          </a:prstGeom>
        </p:spPr>
      </p:pic>
      <p:graphicFrame>
        <p:nvGraphicFramePr>
          <p:cNvPr id="19" name="Table 18"/>
          <p:cNvGraphicFramePr>
            <a:graphicFrameLocks noGrp="1"/>
          </p:cNvGraphicFramePr>
          <p:nvPr/>
        </p:nvGraphicFramePr>
        <p:xfrm>
          <a:off x="6300000" y="720000"/>
          <a:ext cx="2519999" cy="2700000"/>
        </p:xfrm>
        <a:graphic>
          <a:graphicData uri="http://schemas.openxmlformats.org/drawingml/2006/table">
            <a:tbl>
              <a:tblPr firstRow="1" bandRow="1">
                <a:tableStyleId>{5C22544A-7EE6-4342-B048-85BDC9FD1C3A}</a:tableStyleId>
              </a:tblPr>
              <a:tblGrid>
                <a:gridCol w="1007999"/>
                <a:gridCol w="756000"/>
                <a:gridCol w="756000"/>
              </a:tblGrid>
              <a:tr h="450000">
                <a:tc>
                  <a:txBody>
                    <a:bodyPr/>
                    <a:lstStyle/>
                    <a:p>
                      <a:pPr algn="ctr"/>
                      <a:r>
                        <a:rPr sz="800" b="1">
                          <a:solidFill>
                            <a:srgbClr val="FFFFFF"/>
                          </a:solidFill>
                        </a:rPr>
                        <a:t/>
                      </a:r>
                    </a:p>
                  </a:txBody>
                  <a:tcPr>
                    <a:solidFill>
                      <a:srgbClr val="1B3A6B"/>
                    </a:solidFill>
                  </a:tcPr>
                </a:tc>
                <a:tc>
                  <a:txBody>
                    <a:bodyPr/>
                    <a:lstStyle/>
                    <a:p>
                      <a:pPr algn="ctr"/>
                      <a:r>
                        <a:rPr sz="800" b="1">
                          <a:solidFill>
                            <a:srgbClr val="FFFFFF"/>
                          </a:solidFill>
                        </a:rPr>
                        <a:t>Santé</a:t>
                      </a:r>
                    </a:p>
                  </a:txBody>
                  <a:tcPr>
                    <a:solidFill>
                      <a:srgbClr val="1B3A6B"/>
                    </a:solidFill>
                  </a:tcPr>
                </a:tc>
                <a:tc>
                  <a:txBody>
                    <a:bodyPr/>
                    <a:lstStyle/>
                    <a:p>
                      <a:pPr algn="ctr"/>
                      <a:r>
                        <a:rPr sz="800" b="1">
                          <a:solidFill>
                            <a:srgbClr val="FFFFFF"/>
                          </a:solidFill>
                        </a:rPr>
                        <a:t>Technolog</a:t>
                      </a:r>
                    </a:p>
                  </a:txBody>
                  <a:tcPr>
                    <a:solidFill>
                      <a:srgbClr val="1B3A6B"/>
                    </a:solidFill>
                  </a:tcPr>
                </a:tc>
              </a:tr>
              <a:tr h="450000">
                <a:tc>
                  <a:txBody>
                    <a:bodyPr/>
                    <a:lstStyle/>
                    <a:p>
                      <a:pPr algn="ctr"/>
                      <a:r>
                        <a:rPr sz="850" b="0">
                          <a:solidFill>
                            <a:srgbClr val="1A1A1A"/>
                          </a:solidFill>
                        </a:rPr>
                        <a:t>Perf. 52S med.</a:t>
                      </a:r>
                    </a:p>
                  </a:txBody>
                  <a:tcPr>
                    <a:noFill/>
                  </a:tcPr>
                </a:tc>
                <a:tc>
                  <a:txBody>
                    <a:bodyPr/>
                    <a:lstStyle/>
                    <a:p>
                      <a:pPr algn="ctr"/>
                      <a:r>
                        <a:rPr sz="850" b="0">
                          <a:solidFill>
                            <a:srgbClr val="1A1A1A"/>
                          </a:solidFill>
                        </a:rPr>
                        <a:t>+6.0 %</a:t>
                      </a:r>
                    </a:p>
                  </a:txBody>
                  <a:tcPr>
                    <a:noFill/>
                  </a:tcPr>
                </a:tc>
                <a:tc>
                  <a:txBody>
                    <a:bodyPr/>
                    <a:lstStyle/>
                    <a:p>
                      <a:pPr algn="ctr"/>
                      <a:r>
                        <a:rPr sz="850" b="0">
                          <a:solidFill>
                            <a:srgbClr val="1A1A1A"/>
                          </a:solidFill>
                        </a:rPr>
                        <a:t>+49.5 %</a:t>
                      </a:r>
                    </a:p>
                  </a:txBody>
                  <a:tcPr>
                    <a:noFill/>
                  </a:tcPr>
                </a:tc>
              </a:tr>
              <a:tr h="450000">
                <a:tc>
                  <a:txBody>
                    <a:bodyPr/>
                    <a:lstStyle/>
                    <a:p>
                      <a:pPr algn="ctr"/>
                      <a:r>
                        <a:rPr sz="850" b="0">
                          <a:solidFill>
                            <a:srgbClr val="1A1A1A"/>
                          </a:solidFill>
                        </a:rPr>
                        <a:t>Croiss. rev. med.</a:t>
                      </a:r>
                    </a:p>
                  </a:txBody>
                  <a:tcPr>
                    <a:solidFill>
                      <a:srgbClr val="F5F7FA"/>
                    </a:solidFill>
                  </a:tcPr>
                </a:tc>
                <a:tc>
                  <a:txBody>
                    <a:bodyPr/>
                    <a:lstStyle/>
                    <a:p>
                      <a:pPr algn="ctr"/>
                      <a:r>
                        <a:rPr sz="850" b="0">
                          <a:solidFill>
                            <a:srgbClr val="1A1A1A"/>
                          </a:solidFill>
                        </a:rPr>
                        <a:t>+30.0 %</a:t>
                      </a:r>
                    </a:p>
                  </a:txBody>
                  <a:tcPr>
                    <a:solidFill>
                      <a:srgbClr val="F5F7FA"/>
                    </a:solidFill>
                  </a:tcPr>
                </a:tc>
                <a:tc>
                  <a:txBody>
                    <a:bodyPr/>
                    <a:lstStyle/>
                    <a:p>
                      <a:pPr algn="ctr"/>
                      <a:r>
                        <a:rPr sz="850" b="0">
                          <a:solidFill>
                            <a:srgbClr val="1A1A1A"/>
                          </a:solidFill>
                        </a:rPr>
                        <a:t>+22.7 %</a:t>
                      </a:r>
                    </a:p>
                  </a:txBody>
                  <a:tcPr>
                    <a:solidFill>
                      <a:srgbClr val="F5F7FA"/>
                    </a:solidFill>
                  </a:tcPr>
                </a:tc>
              </a:tr>
              <a:tr h="450000">
                <a:tc>
                  <a:txBody>
                    <a:bodyPr/>
                    <a:lstStyle/>
                    <a:p>
                      <a:pPr algn="ctr"/>
                      <a:r>
                        <a:rPr sz="850" b="0">
                          <a:solidFill>
                            <a:srgbClr val="1A1A1A"/>
                          </a:solidFill>
                        </a:rPr>
                        <a:t>Beta Médian</a:t>
                      </a:r>
                    </a:p>
                  </a:txBody>
                  <a:tcPr>
                    <a:noFill/>
                  </a:tcPr>
                </a:tc>
                <a:tc>
                  <a:txBody>
                    <a:bodyPr/>
                    <a:lstStyle/>
                    <a:p>
                      <a:pPr algn="ctr"/>
                      <a:r>
                        <a:rPr sz="850" b="0">
                          <a:solidFill>
                            <a:srgbClr val="1A1A1A"/>
                          </a:solidFill>
                        </a:rPr>
                        <a:t>1.00</a:t>
                      </a:r>
                    </a:p>
                  </a:txBody>
                  <a:tcPr>
                    <a:noFill/>
                  </a:tcPr>
                </a:tc>
                <a:tc>
                  <a:txBody>
                    <a:bodyPr/>
                    <a:lstStyle/>
                    <a:p>
                      <a:pPr algn="ctr"/>
                      <a:r>
                        <a:rPr sz="850" b="0">
                          <a:solidFill>
                            <a:srgbClr val="1A1A1A"/>
                          </a:solidFill>
                        </a:rPr>
                        <a:t>1.28</a:t>
                      </a:r>
                    </a:p>
                  </a:txBody>
                  <a:tcPr>
                    <a:noFill/>
                  </a:tcPr>
                </a:tc>
              </a:tr>
              <a:tr h="450000">
                <a:tc>
                  <a:txBody>
                    <a:bodyPr/>
                    <a:lstStyle/>
                    <a:p>
                      <a:pPr algn="ctr"/>
                      <a:r>
                        <a:rPr sz="850" b="0">
                          <a:solidFill>
                            <a:srgbClr val="1A1A1A"/>
                          </a:solidFill>
                        </a:rPr>
                        <a:t>FCF Yield med.</a:t>
                      </a:r>
                    </a:p>
                  </a:txBody>
                  <a:tcPr>
                    <a:solidFill>
                      <a:srgbClr val="F5F7FA"/>
                    </a:solidFill>
                  </a:tcPr>
                </a:tc>
                <a:tc>
                  <a:txBody>
                    <a:bodyPr/>
                    <a:lstStyle/>
                    <a:p>
                      <a:pPr algn="ctr"/>
                      <a:r>
                        <a:rPr sz="850" b="0">
                          <a:solidFill>
                            <a:srgbClr val="1A1A1A"/>
                          </a:solidFill>
                        </a:rPr>
                        <a:t>4.6 %</a:t>
                      </a:r>
                    </a:p>
                  </a:txBody>
                  <a:tcPr>
                    <a:solidFill>
                      <a:srgbClr val="F5F7FA"/>
                    </a:solidFill>
                  </a:tcPr>
                </a:tc>
                <a:tc>
                  <a:txBody>
                    <a:bodyPr/>
                    <a:lstStyle/>
                    <a:p>
                      <a:pPr algn="ctr"/>
                      <a:r>
                        <a:rPr sz="850" b="0">
                          <a:solidFill>
                            <a:srgbClr val="1A1A1A"/>
                          </a:solidFill>
                        </a:rPr>
                        <a:t>1.4 %</a:t>
                      </a:r>
                    </a:p>
                  </a:txBody>
                  <a:tcPr>
                    <a:solidFill>
                      <a:srgbClr val="F5F7FA"/>
                    </a:solidFill>
                  </a:tcPr>
                </a:tc>
              </a:tr>
              <a:tr h="450000">
                <a:tc>
                  <a:txBody>
                    <a:bodyPr/>
                    <a:lstStyle/>
                    <a:p>
                      <a:pPr algn="ctr"/>
                      <a:r>
                        <a:rPr sz="850" b="0">
                          <a:solidFill>
                            <a:srgbClr val="1A1A1A"/>
                          </a:solidFill>
                        </a:rPr>
                        <a:t>Score Global</a:t>
                      </a:r>
                    </a:p>
                  </a:txBody>
                  <a:tcPr>
                    <a:noFill/>
                  </a:tcPr>
                </a:tc>
                <a:tc>
                  <a:txBody>
                    <a:bodyPr/>
                    <a:lstStyle/>
                    <a:p>
                      <a:pPr algn="ctr"/>
                      <a:r>
                        <a:rPr sz="850" b="0">
                          <a:solidFill>
                            <a:srgbClr val="1A1A1A"/>
                          </a:solidFill>
                        </a:rPr>
                        <a:t>49/100</a:t>
                      </a:r>
                    </a:p>
                  </a:txBody>
                  <a:tcPr>
                    <a:noFill/>
                  </a:tcPr>
                </a:tc>
                <a:tc>
                  <a:txBody>
                    <a:bodyPr/>
                    <a:lstStyle/>
                    <a:p>
                      <a:pPr algn="ctr"/>
                      <a:r>
                        <a:rPr sz="850" b="0">
                          <a:solidFill>
                            <a:srgbClr val="1A1A1A"/>
                          </a:solidFill>
                        </a:rPr>
                        <a:t>76/100</a:t>
                      </a:r>
                    </a:p>
                  </a:txBody>
                  <a:tcPr>
                    <a:noFill/>
                  </a:tcPr>
                </a:tc>
              </a:tr>
            </a:tbl>
          </a:graphicData>
        </a:graphic>
      </p:graphicFrame>
      <p:sp>
        <p:nvSpPr>
          <p:cNvPr id="20" name="Rectangle 19"/>
          <p:cNvSpPr/>
          <p:nvPr/>
        </p:nvSpPr>
        <p:spPr>
          <a:xfrm>
            <a:off x="324000" y="3528000"/>
            <a:ext cx="8496000" cy="127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000" y="3528000"/>
            <a:ext cx="46800" cy="127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000" y="3564000"/>
            <a:ext cx="8352000" cy="129600"/>
          </a:xfrm>
          <a:prstGeom prst="rect">
            <a:avLst/>
          </a:prstGeom>
          <a:noFill/>
        </p:spPr>
        <p:txBody>
          <a:bodyPr wrap="square">
            <a:spAutoFit/>
          </a:bodyPr>
          <a:lstStyle/>
          <a:p>
            <a:pPr algn="l"/>
            <a:r>
              <a:rPr sz="900" b="1" i="0">
                <a:solidFill>
                  <a:srgbClr val="1B3A6B"/>
                </a:solidFill>
              </a:rPr>
              <a:t>SANTÉ SURPERFORME SUR 52S — MOMENTUM +49.5 %</a:t>
            </a:r>
          </a:p>
        </p:txBody>
      </p:sp>
      <p:sp>
        <p:nvSpPr>
          <p:cNvPr id="23" name="TextBox 22"/>
          <p:cNvSpPr txBox="1"/>
          <p:nvPr/>
        </p:nvSpPr>
        <p:spPr>
          <a:xfrm>
            <a:off x="432000" y="3708000"/>
            <a:ext cx="8316000" cy="1054800"/>
          </a:xfrm>
          <a:prstGeom prst="rect">
            <a:avLst/>
          </a:prstGeom>
          <a:noFill/>
        </p:spPr>
        <p:txBody>
          <a:bodyPr wrap="square">
            <a:spAutoFit/>
          </a:bodyPr>
          <a:lstStyle/>
          <a:p>
            <a:pPr algn="l"/>
            <a:r>
              <a:rPr sz="900" b="0" i="0">
                <a:solidFill>
                  <a:srgbClr val="1B3A6B"/>
                </a:solidFill>
              </a:rPr>
              <a:t>Technology surperforme sur 52 semaines avec un écart de 43.5 pts (+49.5 % vs +6.0 %). Cet écart de performance reflète des dynamiques fondamentales distinctes : croissance des revenus superieure de 7.3 pts, qualité bilancielle et momentum sectoriel divergents. La courbe Normalisée permet d'isoler la performance pure, independamment des niveaux absolus.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Scoring Multi-critères  —  Value / Growth / Quality / Momentum</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Score FinSight décompose par dimension — Santé vs Technology</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graphicFrame>
        <p:nvGraphicFramePr>
          <p:cNvPr id="18" name="Table 17"/>
          <p:cNvGraphicFramePr>
            <a:graphicFrameLocks noGrp="1"/>
          </p:cNvGraphicFramePr>
          <p:nvPr/>
        </p:nvGraphicFramePr>
        <p:xfrm>
          <a:off x="324000" y="792000"/>
          <a:ext cx="3780000" cy="2520000"/>
        </p:xfrm>
        <a:graphic>
          <a:graphicData uri="http://schemas.openxmlformats.org/drawingml/2006/table">
            <a:tbl>
              <a:tblPr firstRow="1" bandRow="1">
                <a:tableStyleId>{5C22544A-7EE6-4342-B048-85BDC9FD1C3A}</a:tableStyleId>
              </a:tblPr>
              <a:tblGrid>
                <a:gridCol w="1440000"/>
                <a:gridCol w="1170000"/>
                <a:gridCol w="1170000"/>
              </a:tblGrid>
              <a:tr h="420000">
                <a:tc>
                  <a:txBody>
                    <a:bodyPr/>
                    <a:lstStyle/>
                    <a:p>
                      <a:pPr algn="ctr"/>
                      <a:r>
                        <a:rPr sz="1000" b="1">
                          <a:solidFill>
                            <a:srgbClr val="FFFFFF"/>
                          </a:solidFill>
                        </a:rPr>
                        <a:t>Dimension</a:t>
                      </a:r>
                    </a:p>
                  </a:txBody>
                  <a:tcPr>
                    <a:solidFill>
                      <a:srgbClr val="1B3A6B"/>
                    </a:solidFill>
                  </a:tcPr>
                </a:tc>
                <a:tc>
                  <a:txBody>
                    <a:bodyPr/>
                    <a:lstStyle/>
                    <a:p>
                      <a:pPr algn="ctr"/>
                      <a:r>
                        <a:rPr sz="1000" b="1">
                          <a:solidFill>
                            <a:srgbClr val="FFFFFF"/>
                          </a:solidFill>
                        </a:rPr>
                        <a:t>Santé</a:t>
                      </a:r>
                    </a:p>
                  </a:txBody>
                  <a:tcPr>
                    <a:solidFill>
                      <a:srgbClr val="1B3A6B"/>
                    </a:solidFill>
                  </a:tcPr>
                </a:tc>
                <a:tc>
                  <a:txBody>
                    <a:bodyPr/>
                    <a:lstStyle/>
                    <a:p>
                      <a:pPr algn="ctr"/>
                      <a:r>
                        <a:rPr sz="1000" b="1">
                          <a:solidFill>
                            <a:srgbClr val="FFFFFF"/>
                          </a:solidFill>
                        </a:rPr>
                        <a:t>Technology</a:t>
                      </a:r>
                    </a:p>
                  </a:txBody>
                  <a:tcPr>
                    <a:solidFill>
                      <a:srgbClr val="1B3A6B"/>
                    </a:solidFill>
                  </a:tcPr>
                </a:tc>
              </a:tr>
              <a:tr h="420000">
                <a:tc>
                  <a:txBody>
                    <a:bodyPr/>
                    <a:lstStyle/>
                    <a:p>
                      <a:pPr algn="ctr"/>
                      <a:r>
                        <a:rPr sz="1000" b="0">
                          <a:solidFill>
                            <a:srgbClr val="1A1A1A"/>
                          </a:solidFill>
                        </a:rPr>
                        <a:t>Value</a:t>
                      </a:r>
                    </a:p>
                  </a:txBody>
                  <a:tcPr>
                    <a:noFill/>
                  </a:tcPr>
                </a:tc>
                <a:tc>
                  <a:txBody>
                    <a:bodyPr/>
                    <a:lstStyle/>
                    <a:p>
                      <a:pPr algn="ctr"/>
                      <a:r>
                        <a:rPr sz="1000" b="0">
                          <a:solidFill>
                            <a:srgbClr val="1A1A1A"/>
                          </a:solidFill>
                        </a:rPr>
                        <a:t>13/25</a:t>
                      </a:r>
                    </a:p>
                  </a:txBody>
                  <a:tcPr>
                    <a:noFill/>
                  </a:tcPr>
                </a:tc>
                <a:tc>
                  <a:txBody>
                    <a:bodyPr/>
                    <a:lstStyle/>
                    <a:p>
                      <a:pPr algn="ctr"/>
                      <a:r>
                        <a:rPr sz="1000" b="0">
                          <a:solidFill>
                            <a:srgbClr val="1A1A1A"/>
                          </a:solidFill>
                        </a:rPr>
                        <a:t>8/25</a:t>
                      </a:r>
                    </a:p>
                  </a:txBody>
                  <a:tcPr>
                    <a:noFill/>
                  </a:tcPr>
                </a:tc>
              </a:tr>
              <a:tr h="420000">
                <a:tc>
                  <a:txBody>
                    <a:bodyPr/>
                    <a:lstStyle/>
                    <a:p>
                      <a:pPr algn="ctr"/>
                      <a:r>
                        <a:rPr sz="1000" b="0">
                          <a:solidFill>
                            <a:srgbClr val="1A1A1A"/>
                          </a:solidFill>
                        </a:rPr>
                        <a:t>Growth</a:t>
                      </a:r>
                    </a:p>
                  </a:txBody>
                  <a:tcPr>
                    <a:solidFill>
                      <a:srgbClr val="F5F7FA"/>
                    </a:solidFill>
                  </a:tcPr>
                </a:tc>
                <a:tc>
                  <a:txBody>
                    <a:bodyPr/>
                    <a:lstStyle/>
                    <a:p>
                      <a:pPr algn="ctr"/>
                      <a:r>
                        <a:rPr sz="1000" b="0">
                          <a:solidFill>
                            <a:srgbClr val="1A1A1A"/>
                          </a:solidFill>
                        </a:rPr>
                        <a:t>16/25</a:t>
                      </a:r>
                    </a:p>
                  </a:txBody>
                  <a:tcPr>
                    <a:solidFill>
                      <a:srgbClr val="F5F7FA"/>
                    </a:solidFill>
                  </a:tcPr>
                </a:tc>
                <a:tc>
                  <a:txBody>
                    <a:bodyPr/>
                    <a:lstStyle/>
                    <a:p>
                      <a:pPr algn="ctr"/>
                      <a:r>
                        <a:rPr sz="1000" b="0">
                          <a:solidFill>
                            <a:srgbClr val="1A1A1A"/>
                          </a:solidFill>
                        </a:rPr>
                        <a:t>25/25</a:t>
                      </a:r>
                    </a:p>
                  </a:txBody>
                  <a:tcPr>
                    <a:solidFill>
                      <a:srgbClr val="F5F7FA"/>
                    </a:solidFill>
                  </a:tcPr>
                </a:tc>
              </a:tr>
              <a:tr h="420000">
                <a:tc>
                  <a:txBody>
                    <a:bodyPr/>
                    <a:lstStyle/>
                    <a:p>
                      <a:pPr algn="ctr"/>
                      <a:r>
                        <a:rPr sz="1000" b="0">
                          <a:solidFill>
                            <a:srgbClr val="1A1A1A"/>
                          </a:solidFill>
                        </a:rPr>
                        <a:t>Quality</a:t>
                      </a:r>
                    </a:p>
                  </a:txBody>
                  <a:tcPr>
                    <a:noFill/>
                  </a:tcPr>
                </a:tc>
                <a:tc>
                  <a:txBody>
                    <a:bodyPr/>
                    <a:lstStyle/>
                    <a:p>
                      <a:pPr algn="ctr"/>
                      <a:r>
                        <a:rPr sz="1000" b="0">
                          <a:solidFill>
                            <a:srgbClr val="1A1A1A"/>
                          </a:solidFill>
                        </a:rPr>
                        <a:t>16/25</a:t>
                      </a:r>
                    </a:p>
                  </a:txBody>
                  <a:tcPr>
                    <a:noFill/>
                  </a:tcPr>
                </a:tc>
                <a:tc>
                  <a:txBody>
                    <a:bodyPr/>
                    <a:lstStyle/>
                    <a:p>
                      <a:pPr algn="ctr"/>
                      <a:r>
                        <a:rPr sz="1000" b="0">
                          <a:solidFill>
                            <a:srgbClr val="1A1A1A"/>
                          </a:solidFill>
                        </a:rPr>
                        <a:t>24/25</a:t>
                      </a:r>
                    </a:p>
                  </a:txBody>
                  <a:tcPr>
                    <a:noFill/>
                  </a:tcPr>
                </a:tc>
              </a:tr>
              <a:tr h="420000">
                <a:tc>
                  <a:txBody>
                    <a:bodyPr/>
                    <a:lstStyle/>
                    <a:p>
                      <a:pPr algn="ctr"/>
                      <a:r>
                        <a:rPr sz="1000" b="0">
                          <a:solidFill>
                            <a:srgbClr val="1A1A1A"/>
                          </a:solidFill>
                        </a:rPr>
                        <a:t>Momentum</a:t>
                      </a:r>
                    </a:p>
                  </a:txBody>
                  <a:tcPr>
                    <a:solidFill>
                      <a:srgbClr val="F5F7FA"/>
                    </a:solidFill>
                  </a:tcPr>
                </a:tc>
                <a:tc>
                  <a:txBody>
                    <a:bodyPr/>
                    <a:lstStyle/>
                    <a:p>
                      <a:pPr algn="ctr"/>
                      <a:r>
                        <a:rPr sz="1000" b="0">
                          <a:solidFill>
                            <a:srgbClr val="1A1A1A"/>
                          </a:solidFill>
                        </a:rPr>
                        <a:t>16/25</a:t>
                      </a:r>
                    </a:p>
                  </a:txBody>
                  <a:tcPr>
                    <a:solidFill>
                      <a:srgbClr val="F5F7FA"/>
                    </a:solidFill>
                  </a:tcPr>
                </a:tc>
                <a:tc>
                  <a:txBody>
                    <a:bodyPr/>
                    <a:lstStyle/>
                    <a:p>
                      <a:pPr algn="ctr"/>
                      <a:r>
                        <a:rPr sz="1000" b="0">
                          <a:solidFill>
                            <a:srgbClr val="1A1A1A"/>
                          </a:solidFill>
                        </a:rPr>
                        <a:t>19/25</a:t>
                      </a:r>
                    </a:p>
                  </a:txBody>
                  <a:tcPr>
                    <a:solidFill>
                      <a:srgbClr val="F5F7FA"/>
                    </a:solidFill>
                  </a:tcPr>
                </a:tc>
              </a:tr>
              <a:tr h="420000">
                <a:tc>
                  <a:txBody>
                    <a:bodyPr/>
                    <a:lstStyle/>
                    <a:p>
                      <a:pPr algn="ctr"/>
                      <a:r>
                        <a:rPr sz="1000" b="0">
                          <a:solidFill>
                            <a:srgbClr val="1A1A1A"/>
                          </a:solidFill>
                        </a:rPr>
                        <a:t>TOTAL</a:t>
                      </a:r>
                    </a:p>
                  </a:txBody>
                  <a:tcPr>
                    <a:noFill/>
                  </a:tcPr>
                </a:tc>
                <a:tc>
                  <a:txBody>
                    <a:bodyPr/>
                    <a:lstStyle/>
                    <a:p>
                      <a:pPr algn="ctr"/>
                      <a:r>
                        <a:rPr sz="1000" b="0">
                          <a:solidFill>
                            <a:srgbClr val="1A1A1A"/>
                          </a:solidFill>
                        </a:rPr>
                        <a:t>49/100</a:t>
                      </a:r>
                    </a:p>
                  </a:txBody>
                  <a:tcPr>
                    <a:noFill/>
                  </a:tcPr>
                </a:tc>
                <a:tc>
                  <a:txBody>
                    <a:bodyPr/>
                    <a:lstStyle/>
                    <a:p>
                      <a:pPr algn="ctr"/>
                      <a:r>
                        <a:rPr sz="1000" b="0">
                          <a:solidFill>
                            <a:srgbClr val="1A1A1A"/>
                          </a:solidFill>
                        </a:rPr>
                        <a:t>76/100</a:t>
                      </a:r>
                    </a:p>
                  </a:txBody>
                  <a:tcPr>
                    <a:noFill/>
                  </a:tcPr>
                </a:tc>
              </a:tr>
            </a:tbl>
          </a:graphicData>
        </a:graphic>
      </p:graphicFrame>
      <p:pic>
        <p:nvPicPr>
          <p:cNvPr id="19" name="Picture 18" descr="image.png"/>
          <p:cNvPicPr>
            <a:picLocks noChangeAspect="1"/>
          </p:cNvPicPr>
          <p:nvPr/>
        </p:nvPicPr>
        <p:blipFill>
          <a:blip r:embed="rId2"/>
          <a:stretch>
            <a:fillRect/>
          </a:stretch>
        </p:blipFill>
        <p:spPr>
          <a:xfrm>
            <a:off x="4680000" y="648000"/>
            <a:ext cx="4140000" cy="3420000"/>
          </a:xfrm>
          <a:prstGeom prst="rect">
            <a:avLst/>
          </a:prstGeom>
        </p:spPr>
      </p:pic>
      <p:sp>
        <p:nvSpPr>
          <p:cNvPr id="20" name="Rectangle 19"/>
          <p:cNvSpPr/>
          <p:nvPr/>
        </p:nvSpPr>
        <p:spPr>
          <a:xfrm>
            <a:off x="324000" y="3401999"/>
            <a:ext cx="4140000" cy="140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000" y="3401999"/>
            <a:ext cx="46800" cy="140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000" y="3437999"/>
            <a:ext cx="3996000" cy="129600"/>
          </a:xfrm>
          <a:prstGeom prst="rect">
            <a:avLst/>
          </a:prstGeom>
          <a:noFill/>
        </p:spPr>
        <p:txBody>
          <a:bodyPr wrap="square">
            <a:spAutoFit/>
          </a:bodyPr>
          <a:lstStyle/>
          <a:p>
            <a:pPr algn="l"/>
            <a:r>
              <a:rPr sz="900" b="1" i="0">
                <a:solidFill>
                  <a:srgbClr val="1B3A6B"/>
                </a:solidFill>
              </a:rPr>
              <a:t>INTERPRÉTATION SCORING MULTIDIMENSIONNEL</a:t>
            </a:r>
          </a:p>
        </p:txBody>
      </p:sp>
      <p:sp>
        <p:nvSpPr>
          <p:cNvPr id="23" name="TextBox 22"/>
          <p:cNvSpPr txBox="1"/>
          <p:nvPr/>
        </p:nvSpPr>
        <p:spPr>
          <a:xfrm>
            <a:off x="432000" y="3581999"/>
            <a:ext cx="3960000" cy="1180800"/>
          </a:xfrm>
          <a:prstGeom prst="rect">
            <a:avLst/>
          </a:prstGeom>
          <a:noFill/>
        </p:spPr>
        <p:txBody>
          <a:bodyPr wrap="square">
            <a:spAutoFit/>
          </a:bodyPr>
          <a:lstStyle/>
          <a:p>
            <a:pPr algn="l"/>
            <a:r>
              <a:rPr sz="900" b="0" i="0">
                <a:solidFill>
                  <a:srgbClr val="1B3A6B"/>
                </a:solidFill>
              </a:rPr>
              <a:t>Technology ressort en avance sur le scoring FinSight global (76/100 vs 49/100), avec un écart de 27 pts revelant une superiorite structurelle. L'analyse radar permet d'identifier les dimensions de force et de faiblesse relatives : un secteur peut dominer sur la qualité tout en Étant pénalisé sur la valorisation. L'écart global conditionne le signal d'allocation : &gt;= 65 pts = Surpondérer, 45-64 pts = neutre, &lt; 45 pts = Sous-pondérer.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Acteurs &amp; Risques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Meilleures sociétés et conditions d'invalidation par secteur</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Top Acteurs  —  Santé</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75 sociétés analysées — classees par score FinSight</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graphicFrame>
        <p:nvGraphicFramePr>
          <p:cNvPr id="18" name="Table 17"/>
          <p:cNvGraphicFramePr>
            <a:graphicFrameLocks noGrp="1"/>
          </p:cNvGraphicFramePr>
          <p:nvPr/>
        </p:nvGraphicFramePr>
        <p:xfrm>
          <a:off x="324000" y="720000"/>
          <a:ext cx="8495997" cy="3960000"/>
        </p:xfrm>
        <a:graphic>
          <a:graphicData uri="http://schemas.openxmlformats.org/drawingml/2006/table">
            <a:tbl>
              <a:tblPr firstRow="1" bandRow="1">
                <a:tableStyleId>{5C22544A-7EE6-4342-B048-85BDC9FD1C3A}</a:tableStyleId>
              </a:tblPr>
              <a:tblGrid>
                <a:gridCol w="1714439"/>
                <a:gridCol w="761973"/>
                <a:gridCol w="761973"/>
                <a:gridCol w="952466"/>
                <a:gridCol w="952466"/>
                <a:gridCol w="952466"/>
                <a:gridCol w="952466"/>
                <a:gridCol w="761973"/>
                <a:gridCol w="685775"/>
              </a:tblGrid>
              <a:tr h="440000">
                <a:tc>
                  <a:txBody>
                    <a:bodyPr/>
                    <a:lstStyle/>
                    <a:p>
                      <a:pPr algn="ctr"/>
                      <a:r>
                        <a:rPr sz="850" b="1">
                          <a:solidFill>
                            <a:srgbClr val="FFFFFF"/>
                          </a:solidFill>
                        </a:rPr>
                        <a:t>Société</a:t>
                      </a:r>
                    </a:p>
                  </a:txBody>
                  <a:tcPr>
                    <a:solidFill>
                      <a:srgbClr val="1B3A6B"/>
                    </a:solidFill>
                  </a:tcPr>
                </a:tc>
                <a:tc>
                  <a:txBody>
                    <a:bodyPr/>
                    <a:lstStyle/>
                    <a:p>
                      <a:pPr algn="ctr"/>
                      <a:r>
                        <a:rPr sz="850" b="1">
                          <a:solidFill>
                            <a:srgbClr val="FFFFFF"/>
                          </a:solidFill>
                        </a:rPr>
                        <a:t>Score</a:t>
                      </a:r>
                    </a:p>
                  </a:txBody>
                  <a:tcPr>
                    <a:solidFill>
                      <a:srgbClr val="1B3A6B"/>
                    </a:solidFill>
                  </a:tcPr>
                </a:tc>
                <a:tc>
                  <a:txBody>
                    <a:bodyPr/>
                    <a:lstStyle/>
                    <a:p>
                      <a:pPr algn="ctr"/>
                      <a:r>
                        <a:rPr sz="850" b="1">
                          <a:solidFill>
                            <a:srgbClr val="FFFFFF"/>
                          </a:solidFill>
                        </a:rPr>
                        <a:t>P/E</a:t>
                      </a:r>
                    </a:p>
                  </a:txBody>
                  <a:tcPr>
                    <a:solidFill>
                      <a:srgbClr val="1B3A6B"/>
                    </a:solidFill>
                  </a:tcPr>
                </a:tc>
                <a:tc>
                  <a:txBody>
                    <a:bodyPr/>
                    <a:lstStyle/>
                    <a:p>
                      <a:pPr algn="ctr"/>
                      <a:r>
                        <a:rPr sz="850" b="1">
                          <a:solidFill>
                            <a:srgbClr val="FFFFFF"/>
                          </a:solidFill>
                        </a:rPr>
                        <a:t>EV/EBITDA</a:t>
                      </a:r>
                    </a:p>
                  </a:txBody>
                  <a:tcPr>
                    <a:solidFill>
                      <a:srgbClr val="1B3A6B"/>
                    </a:solidFill>
                  </a:tcPr>
                </a:tc>
                <a:tc>
                  <a:txBody>
                    <a:bodyPr/>
                    <a:lstStyle/>
                    <a:p>
                      <a:pPr algn="ctr"/>
                      <a:r>
                        <a:rPr sz="850" b="1">
                          <a:solidFill>
                            <a:srgbClr val="FFFFFF"/>
                          </a:solidFill>
                        </a:rPr>
                        <a:t>Croiss.Rev.</a:t>
                      </a:r>
                    </a:p>
                  </a:txBody>
                  <a:tcPr>
                    <a:solidFill>
                      <a:srgbClr val="1B3A6B"/>
                    </a:solidFill>
                  </a:tcPr>
                </a:tc>
                <a:tc>
                  <a:txBody>
                    <a:bodyPr/>
                    <a:lstStyle/>
                    <a:p>
                      <a:pPr algn="ctr"/>
                      <a:r>
                        <a:rPr sz="850" b="1">
                          <a:solidFill>
                            <a:srgbClr val="FFFFFF"/>
                          </a:solidFill>
                        </a:rPr>
                        <a:t>Mg.EBITDA</a:t>
                      </a:r>
                    </a:p>
                  </a:txBody>
                  <a:tcPr>
                    <a:solidFill>
                      <a:srgbClr val="1B3A6B"/>
                    </a:solidFill>
                  </a:tcPr>
                </a:tc>
                <a:tc>
                  <a:txBody>
                    <a:bodyPr/>
                    <a:lstStyle/>
                    <a:p>
                      <a:pPr algn="ctr"/>
                      <a:r>
                        <a:rPr sz="850" b="1">
                          <a:solidFill>
                            <a:srgbClr val="FFFFFF"/>
                          </a:solidFill>
                        </a:rPr>
                        <a:t>Mg.Nette</a:t>
                      </a:r>
                    </a:p>
                  </a:txBody>
                  <a:tcPr>
                    <a:solidFill>
                      <a:srgbClr val="1B3A6B"/>
                    </a:solidFill>
                  </a:tcPr>
                </a:tc>
                <a:tc>
                  <a:txBody>
                    <a:bodyPr/>
                    <a:lstStyle/>
                    <a:p>
                      <a:pPr algn="ctr"/>
                      <a:r>
                        <a:rPr sz="850" b="1">
                          <a:solidFill>
                            <a:srgbClr val="FFFFFF"/>
                          </a:solidFill>
                        </a:rPr>
                        <a:t>ROE</a:t>
                      </a:r>
                    </a:p>
                  </a:txBody>
                  <a:tcPr>
                    <a:solidFill>
                      <a:srgbClr val="1B3A6B"/>
                    </a:solidFill>
                  </a:tcPr>
                </a:tc>
                <a:tc>
                  <a:txBody>
                    <a:bodyPr/>
                    <a:lstStyle/>
                    <a:p>
                      <a:pPr algn="ctr"/>
                      <a:r>
                        <a:rPr sz="850" b="1">
                          <a:solidFill>
                            <a:srgbClr val="FFFFFF"/>
                          </a:solidFill>
                        </a:rPr>
                        <a:t>Beta</a:t>
                      </a:r>
                    </a:p>
                  </a:txBody>
                  <a:tcPr>
                    <a:solidFill>
                      <a:srgbClr val="1B3A6B"/>
                    </a:solidFill>
                  </a:tcPr>
                </a:tc>
              </a:tr>
              <a:tr h="440000">
                <a:tc>
                  <a:txBody>
                    <a:bodyPr/>
                    <a:lstStyle/>
                    <a:p>
                      <a:pPr algn="ctr"/>
                      <a:r>
                        <a:rPr sz="850" b="0">
                          <a:solidFill>
                            <a:srgbClr val="1A1A1A"/>
                          </a:solidFill>
                        </a:rPr>
                        <a:t>Johnson &amp; Johnson</a:t>
                      </a:r>
                    </a:p>
                  </a:txBody>
                  <a:tcPr>
                    <a:noFill/>
                  </a:tcPr>
                </a:tc>
                <a:tc>
                  <a:txBody>
                    <a:bodyPr/>
                    <a:lstStyle/>
                    <a:p>
                      <a:pPr algn="ctr"/>
                      <a:r>
                        <a:rPr sz="850" b="0">
                          <a:solidFill>
                            <a:srgbClr val="1A1A1A"/>
                          </a:solidFill>
                        </a:rPr>
                        <a:t>96/100</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+6.0 %</a:t>
                      </a:r>
                    </a:p>
                  </a:txBody>
                  <a:tcPr>
                    <a:noFill/>
                  </a:tcPr>
                </a:tc>
                <a:tc>
                  <a:txBody>
                    <a:bodyPr/>
                    <a:lstStyle/>
                    <a:p>
                      <a:pPr algn="ctr"/>
                      <a:r>
                        <a:rPr sz="850" b="0">
                          <a:solidFill>
                            <a:srgbClr val="1A1A1A"/>
                          </a:solidFill>
                        </a:rPr>
                        <a:t>43.6 %</a:t>
                      </a:r>
                    </a:p>
                  </a:txBody>
                  <a:tcPr>
                    <a:noFill/>
                  </a:tcPr>
                </a:tc>
                <a:tc>
                  <a:txBody>
                    <a:bodyPr/>
                    <a:lstStyle/>
                    <a:p>
                      <a:pPr algn="ctr"/>
                      <a:r>
                        <a:rPr sz="850" b="0">
                          <a:solidFill>
                            <a:srgbClr val="1A1A1A"/>
                          </a:solidFill>
                        </a:rPr>
                        <a:t>28.5 %</a:t>
                      </a:r>
                    </a:p>
                  </a:txBody>
                  <a:tcPr>
                    <a:noFill/>
                  </a:tcPr>
                </a:tc>
                <a:tc>
                  <a:txBody>
                    <a:bodyPr/>
                    <a:lstStyle/>
                    <a:p>
                      <a:pPr algn="ctr"/>
                      <a:r>
                        <a:rPr sz="850" b="0">
                          <a:solidFill>
                            <a:srgbClr val="1A1A1A"/>
                          </a:solidFill>
                        </a:rPr>
                        <a:t>32.9 %</a:t>
                      </a:r>
                    </a:p>
                  </a:txBody>
                  <a:tcPr>
                    <a:noFill/>
                  </a:tcPr>
                </a:tc>
                <a:tc>
                  <a:txBody>
                    <a:bodyPr/>
                    <a:lstStyle/>
                    <a:p>
                      <a:pPr algn="ctr"/>
                      <a:r>
                        <a:rPr sz="850" b="0">
                          <a:solidFill>
                            <a:srgbClr val="1A1A1A"/>
                          </a:solidFill>
                        </a:rPr>
                        <a:t>1.00</a:t>
                      </a:r>
                    </a:p>
                  </a:txBody>
                  <a:tcPr>
                    <a:noFill/>
                  </a:tcPr>
                </a:tc>
              </a:tr>
              <a:tr h="440000">
                <a:tc>
                  <a:txBody>
                    <a:bodyPr/>
                    <a:lstStyle/>
                    <a:p>
                      <a:pPr algn="ctr"/>
                      <a:r>
                        <a:rPr sz="850" b="0">
                          <a:solidFill>
                            <a:srgbClr val="1A1A1A"/>
                          </a:solidFill>
                        </a:rPr>
                        <a:t>Incyte Corporation</a:t>
                      </a:r>
                    </a:p>
                  </a:txBody>
                  <a:tcPr>
                    <a:solidFill>
                      <a:srgbClr val="F5F7FA"/>
                    </a:solidFill>
                  </a:tcPr>
                </a:tc>
                <a:tc>
                  <a:txBody>
                    <a:bodyPr/>
                    <a:lstStyle/>
                    <a:p>
                      <a:pPr algn="ctr"/>
                      <a:r>
                        <a:rPr sz="850" b="0">
                          <a:solidFill>
                            <a:srgbClr val="1A1A1A"/>
                          </a:solidFill>
                        </a:rPr>
                        <a:t>95/100</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+21.2 %</a:t>
                      </a:r>
                    </a:p>
                  </a:txBody>
                  <a:tcPr>
                    <a:solidFill>
                      <a:srgbClr val="F5F7FA"/>
                    </a:solidFill>
                  </a:tcPr>
                </a:tc>
                <a:tc>
                  <a:txBody>
                    <a:bodyPr/>
                    <a:lstStyle/>
                    <a:p>
                      <a:pPr algn="ctr"/>
                      <a:r>
                        <a:rPr sz="850" b="0">
                          <a:solidFill>
                            <a:srgbClr val="1A1A1A"/>
                          </a:solidFill>
                        </a:rPr>
                        <a:t>34.2 %</a:t>
                      </a:r>
                    </a:p>
                  </a:txBody>
                  <a:tcPr>
                    <a:solidFill>
                      <a:srgbClr val="F5F7FA"/>
                    </a:solidFill>
                  </a:tcPr>
                </a:tc>
                <a:tc>
                  <a:txBody>
                    <a:bodyPr/>
                    <a:lstStyle/>
                    <a:p>
                      <a:pPr algn="ctr"/>
                      <a:r>
                        <a:rPr sz="850" b="0">
                          <a:solidFill>
                            <a:srgbClr val="1A1A1A"/>
                          </a:solidFill>
                        </a:rPr>
                        <a:t>25.0 %</a:t>
                      </a:r>
                    </a:p>
                  </a:txBody>
                  <a:tcPr>
                    <a:solidFill>
                      <a:srgbClr val="F5F7FA"/>
                    </a:solidFill>
                  </a:tcPr>
                </a:tc>
                <a:tc>
                  <a:txBody>
                    <a:bodyPr/>
                    <a:lstStyle/>
                    <a:p>
                      <a:pPr algn="ctr"/>
                      <a:r>
                        <a:rPr sz="850" b="0">
                          <a:solidFill>
                            <a:srgbClr val="1A1A1A"/>
                          </a:solidFill>
                        </a:rPr>
                        <a:t>24.9 %</a:t>
                      </a:r>
                    </a:p>
                  </a:txBody>
                  <a:tcPr>
                    <a:solidFill>
                      <a:srgbClr val="F5F7FA"/>
                    </a:solidFill>
                  </a:tcPr>
                </a:tc>
                <a:tc>
                  <a:txBody>
                    <a:bodyPr/>
                    <a:lstStyle/>
                    <a:p>
                      <a:pPr algn="ctr"/>
                      <a:r>
                        <a:rPr sz="850" b="0">
                          <a:solidFill>
                            <a:srgbClr val="1A1A1A"/>
                          </a:solidFill>
                        </a:rPr>
                        <a:t>1.00</a:t>
                      </a:r>
                    </a:p>
                  </a:txBody>
                  <a:tcPr>
                    <a:solidFill>
                      <a:srgbClr val="F5F7FA"/>
                    </a:solidFill>
                  </a:tcPr>
                </a:tc>
              </a:tr>
              <a:tr h="440000">
                <a:tc>
                  <a:txBody>
                    <a:bodyPr/>
                    <a:lstStyle/>
                    <a:p>
                      <a:pPr algn="ctr"/>
                      <a:r>
                        <a:rPr sz="850" b="0">
                          <a:solidFill>
                            <a:srgbClr val="1A1A1A"/>
                          </a:solidFill>
                        </a:rPr>
                        <a:t>Gilead Sciences, Inc.</a:t>
                      </a:r>
                    </a:p>
                  </a:txBody>
                  <a:tcPr>
                    <a:noFill/>
                  </a:tcPr>
                </a:tc>
                <a:tc>
                  <a:txBody>
                    <a:bodyPr/>
                    <a:lstStyle/>
                    <a:p>
                      <a:pPr algn="ctr"/>
                      <a:r>
                        <a:rPr sz="850" b="0">
                          <a:solidFill>
                            <a:srgbClr val="1A1A1A"/>
                          </a:solidFill>
                        </a:rPr>
                        <a:t>91/100</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+240.0 %</a:t>
                      </a:r>
                    </a:p>
                  </a:txBody>
                  <a:tcPr>
                    <a:noFill/>
                  </a:tcPr>
                </a:tc>
                <a:tc>
                  <a:txBody>
                    <a:bodyPr/>
                    <a:lstStyle/>
                    <a:p>
                      <a:pPr algn="ctr"/>
                      <a:r>
                        <a:rPr sz="850" b="0">
                          <a:solidFill>
                            <a:srgbClr val="1A1A1A"/>
                          </a:solidFill>
                        </a:rPr>
                        <a:t>46.1 %</a:t>
                      </a:r>
                    </a:p>
                  </a:txBody>
                  <a:tcPr>
                    <a:noFill/>
                  </a:tcPr>
                </a:tc>
                <a:tc>
                  <a:txBody>
                    <a:bodyPr/>
                    <a:lstStyle/>
                    <a:p>
                      <a:pPr algn="ctr"/>
                      <a:r>
                        <a:rPr sz="850" b="0">
                          <a:solidFill>
                            <a:srgbClr val="1A1A1A"/>
                          </a:solidFill>
                        </a:rPr>
                        <a:t>28.9 %</a:t>
                      </a:r>
                    </a:p>
                  </a:txBody>
                  <a:tcPr>
                    <a:noFill/>
                  </a:tcPr>
                </a:tc>
                <a:tc>
                  <a:txBody>
                    <a:bodyPr/>
                    <a:lstStyle/>
                    <a:p>
                      <a:pPr algn="ctr"/>
                      <a:r>
                        <a:rPr sz="850" b="0">
                          <a:solidFill>
                            <a:srgbClr val="1A1A1A"/>
                          </a:solidFill>
                        </a:rPr>
                        <a:t>37.5 %</a:t>
                      </a:r>
                    </a:p>
                  </a:txBody>
                  <a:tcPr>
                    <a:noFill/>
                  </a:tcPr>
                </a:tc>
                <a:tc>
                  <a:txBody>
                    <a:bodyPr/>
                    <a:lstStyle/>
                    <a:p>
                      <a:pPr algn="ctr"/>
                      <a:r>
                        <a:rPr sz="850" b="0">
                          <a:solidFill>
                            <a:srgbClr val="1A1A1A"/>
                          </a:solidFill>
                        </a:rPr>
                        <a:t>1.00</a:t>
                      </a:r>
                    </a:p>
                  </a:txBody>
                  <a:tcPr>
                    <a:noFill/>
                  </a:tcPr>
                </a:tc>
              </a:tr>
              <a:tr h="440000">
                <a:tc>
                  <a:txBody>
                    <a:bodyPr/>
                    <a:lstStyle/>
                    <a:p>
                      <a:pPr algn="ctr"/>
                      <a:r>
                        <a:rPr sz="850" b="0">
                          <a:solidFill>
                            <a:srgbClr val="1A1A1A"/>
                          </a:solidFill>
                        </a:rPr>
                        <a:t>Eli Lilly and Company</a:t>
                      </a:r>
                    </a:p>
                  </a:txBody>
                  <a:tcPr>
                    <a:solidFill>
                      <a:srgbClr val="F5F7FA"/>
                    </a:solidFill>
                  </a:tcPr>
                </a:tc>
                <a:tc>
                  <a:txBody>
                    <a:bodyPr/>
                    <a:lstStyle/>
                    <a:p>
                      <a:pPr algn="ctr"/>
                      <a:r>
                        <a:rPr sz="850" b="0">
                          <a:solidFill>
                            <a:srgbClr val="1A1A1A"/>
                          </a:solidFill>
                        </a:rPr>
                        <a:t>89/100</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+44.7 %</a:t>
                      </a:r>
                    </a:p>
                  </a:txBody>
                  <a:tcPr>
                    <a:solidFill>
                      <a:srgbClr val="F5F7FA"/>
                    </a:solidFill>
                  </a:tcPr>
                </a:tc>
                <a:tc>
                  <a:txBody>
                    <a:bodyPr/>
                    <a:lstStyle/>
                    <a:p>
                      <a:pPr algn="ctr"/>
                      <a:r>
                        <a:rPr sz="850" b="0">
                          <a:solidFill>
                            <a:srgbClr val="1A1A1A"/>
                          </a:solidFill>
                        </a:rPr>
                        <a:t>48.6 %</a:t>
                      </a:r>
                    </a:p>
                  </a:txBody>
                  <a:tcPr>
                    <a:solidFill>
                      <a:srgbClr val="F5F7FA"/>
                    </a:solidFill>
                  </a:tcPr>
                </a:tc>
                <a:tc>
                  <a:txBody>
                    <a:bodyPr/>
                    <a:lstStyle/>
                    <a:p>
                      <a:pPr algn="ctr"/>
                      <a:r>
                        <a:rPr sz="850" b="0">
                          <a:solidFill>
                            <a:srgbClr val="1A1A1A"/>
                          </a:solidFill>
                        </a:rPr>
                        <a:t>31.7 %</a:t>
                      </a:r>
                    </a:p>
                  </a:txBody>
                  <a:tcPr>
                    <a:solidFill>
                      <a:srgbClr val="F5F7FA"/>
                    </a:solidFill>
                  </a:tcPr>
                </a:tc>
                <a:tc>
                  <a:txBody>
                    <a:bodyPr/>
                    <a:lstStyle/>
                    <a:p>
                      <a:pPr algn="ctr"/>
                      <a:r>
                        <a:rPr sz="850" b="0">
                          <a:solidFill>
                            <a:srgbClr val="1A1A1A"/>
                          </a:solidFill>
                        </a:rPr>
                        <a:t>77.8 %</a:t>
                      </a:r>
                    </a:p>
                  </a:txBody>
                  <a:tcPr>
                    <a:solidFill>
                      <a:srgbClr val="F5F7FA"/>
                    </a:solidFill>
                  </a:tcPr>
                </a:tc>
                <a:tc>
                  <a:txBody>
                    <a:bodyPr/>
                    <a:lstStyle/>
                    <a:p>
                      <a:pPr algn="ctr"/>
                      <a:r>
                        <a:rPr sz="850" b="0">
                          <a:solidFill>
                            <a:srgbClr val="1A1A1A"/>
                          </a:solidFill>
                        </a:rPr>
                        <a:t>1.00</a:t>
                      </a:r>
                    </a:p>
                  </a:txBody>
                  <a:tcPr>
                    <a:solidFill>
                      <a:srgbClr val="F5F7FA"/>
                    </a:solidFill>
                  </a:tcPr>
                </a:tc>
              </a:tr>
              <a:tr h="440000">
                <a:tc>
                  <a:txBody>
                    <a:bodyPr/>
                    <a:lstStyle/>
                    <a:p>
                      <a:pPr algn="ctr"/>
                      <a:r>
                        <a:rPr sz="850" b="0">
                          <a:solidFill>
                            <a:srgbClr val="1A1A1A"/>
                          </a:solidFill>
                        </a:rPr>
                        <a:t>GSK plc</a:t>
                      </a:r>
                    </a:p>
                  </a:txBody>
                  <a:tcPr>
                    <a:noFill/>
                  </a:tcPr>
                </a:tc>
                <a:tc>
                  <a:txBody>
                    <a:bodyPr/>
                    <a:lstStyle/>
                    <a:p>
                      <a:pPr algn="ctr"/>
                      <a:r>
                        <a:rPr sz="850" b="0">
                          <a:solidFill>
                            <a:srgbClr val="1A1A1A"/>
                          </a:solidFill>
                        </a:rPr>
                        <a:t>87/100</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+410.0 %</a:t>
                      </a:r>
                    </a:p>
                  </a:txBody>
                  <a:tcPr>
                    <a:noFill/>
                  </a:tcPr>
                </a:tc>
                <a:tc>
                  <a:txBody>
                    <a:bodyPr/>
                    <a:lstStyle/>
                    <a:p>
                      <a:pPr algn="ctr"/>
                      <a:r>
                        <a:rPr sz="850" b="0">
                          <a:solidFill>
                            <a:srgbClr val="1A1A1A"/>
                          </a:solidFill>
                        </a:rPr>
                        <a:t>31.8 %</a:t>
                      </a:r>
                    </a:p>
                  </a:txBody>
                  <a:tcPr>
                    <a:noFill/>
                  </a:tcPr>
                </a:tc>
                <a:tc>
                  <a:txBody>
                    <a:bodyPr/>
                    <a:lstStyle/>
                    <a:p>
                      <a:pPr algn="ctr"/>
                      <a:r>
                        <a:rPr sz="850" b="0">
                          <a:solidFill>
                            <a:srgbClr val="1A1A1A"/>
                          </a:solidFill>
                        </a:rPr>
                        <a:t>17.5 %</a:t>
                      </a:r>
                    </a:p>
                  </a:txBody>
                  <a:tcPr>
                    <a:noFill/>
                  </a:tcPr>
                </a:tc>
                <a:tc>
                  <a:txBody>
                    <a:bodyPr/>
                    <a:lstStyle/>
                    <a:p>
                      <a:pPr algn="ctr"/>
                      <a:r>
                        <a:rPr sz="850" b="0">
                          <a:solidFill>
                            <a:srgbClr val="1A1A1A"/>
                          </a:solidFill>
                        </a:rPr>
                        <a:t>34.9 %</a:t>
                      </a:r>
                    </a:p>
                  </a:txBody>
                  <a:tcPr>
                    <a:noFill/>
                  </a:tcPr>
                </a:tc>
                <a:tc>
                  <a:txBody>
                    <a:bodyPr/>
                    <a:lstStyle/>
                    <a:p>
                      <a:pPr algn="ctr"/>
                      <a:r>
                        <a:rPr sz="850" b="0">
                          <a:solidFill>
                            <a:srgbClr val="1A1A1A"/>
                          </a:solidFill>
                        </a:rPr>
                        <a:t>1.00</a:t>
                      </a:r>
                    </a:p>
                  </a:txBody>
                  <a:tcPr>
                    <a:noFill/>
                  </a:tcPr>
                </a:tc>
              </a:tr>
              <a:tr h="440000">
                <a:tc>
                  <a:txBody>
                    <a:bodyPr/>
                    <a:lstStyle/>
                    <a:p>
                      <a:pPr algn="ctr"/>
                      <a:r>
                        <a:rPr sz="850" b="0">
                          <a:solidFill>
                            <a:srgbClr val="1A1A1A"/>
                          </a:solidFill>
                        </a:rPr>
                        <a:t>AstraZeneca PLC</a:t>
                      </a:r>
                    </a:p>
                  </a:txBody>
                  <a:tcPr>
                    <a:solidFill>
                      <a:srgbClr val="F5F7FA"/>
                    </a:solidFill>
                  </a:tcPr>
                </a:tc>
                <a:tc>
                  <a:txBody>
                    <a:bodyPr/>
                    <a:lstStyle/>
                    <a:p>
                      <a:pPr algn="ctr"/>
                      <a:r>
                        <a:rPr sz="850" b="0">
                          <a:solidFill>
                            <a:srgbClr val="1A1A1A"/>
                          </a:solidFill>
                        </a:rPr>
                        <a:t>84/100</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+8.6 %</a:t>
                      </a:r>
                    </a:p>
                  </a:txBody>
                  <a:tcPr>
                    <a:solidFill>
                      <a:srgbClr val="F5F7FA"/>
                    </a:solidFill>
                  </a:tcPr>
                </a:tc>
                <a:tc>
                  <a:txBody>
                    <a:bodyPr/>
                    <a:lstStyle/>
                    <a:p>
                      <a:pPr algn="ctr"/>
                      <a:r>
                        <a:rPr sz="850" b="0">
                          <a:solidFill>
                            <a:srgbClr val="1A1A1A"/>
                          </a:solidFill>
                        </a:rPr>
                        <a:t>33.2 %</a:t>
                      </a:r>
                    </a:p>
                  </a:txBody>
                  <a:tcPr>
                    <a:solidFill>
                      <a:srgbClr val="F5F7FA"/>
                    </a:solidFill>
                  </a:tcPr>
                </a:tc>
                <a:tc>
                  <a:txBody>
                    <a:bodyPr/>
                    <a:lstStyle/>
                    <a:p>
                      <a:pPr algn="ctr"/>
                      <a:r>
                        <a:rPr sz="850" b="0">
                          <a:solidFill>
                            <a:srgbClr val="1A1A1A"/>
                          </a:solidFill>
                        </a:rPr>
                        <a:t>17.4 %</a:t>
                      </a:r>
                    </a:p>
                  </a:txBody>
                  <a:tcPr>
                    <a:solidFill>
                      <a:srgbClr val="F5F7FA"/>
                    </a:solidFill>
                  </a:tcPr>
                </a:tc>
                <a:tc>
                  <a:txBody>
                    <a:bodyPr/>
                    <a:lstStyle/>
                    <a:p>
                      <a:pPr algn="ctr"/>
                      <a:r>
                        <a:rPr sz="850" b="0">
                          <a:solidFill>
                            <a:srgbClr val="1A1A1A"/>
                          </a:solidFill>
                        </a:rPr>
                        <a:t>21.0 %</a:t>
                      </a:r>
                    </a:p>
                  </a:txBody>
                  <a:tcPr>
                    <a:solidFill>
                      <a:srgbClr val="F5F7FA"/>
                    </a:solidFill>
                  </a:tcPr>
                </a:tc>
                <a:tc>
                  <a:txBody>
                    <a:bodyPr/>
                    <a:lstStyle/>
                    <a:p>
                      <a:pPr algn="ctr"/>
                      <a:r>
                        <a:rPr sz="850" b="0">
                          <a:solidFill>
                            <a:srgbClr val="1A1A1A"/>
                          </a:solidFill>
                        </a:rPr>
                        <a:t>1.00</a:t>
                      </a:r>
                    </a:p>
                  </a:txBody>
                  <a:tcPr>
                    <a:solidFill>
                      <a:srgbClr val="F5F7FA"/>
                    </a:solidFill>
                  </a:tcPr>
                </a:tc>
              </a:tr>
              <a:tr h="440000">
                <a:tc>
                  <a:txBody>
                    <a:bodyPr/>
                    <a:lstStyle/>
                    <a:p>
                      <a:pPr algn="ctr"/>
                      <a:r>
                        <a:rPr sz="850" b="0">
                          <a:solidFill>
                            <a:srgbClr val="1A1A1A"/>
                          </a:solidFill>
                        </a:rPr>
                        <a:t>Bristol-Myers Squibb Com</a:t>
                      </a:r>
                    </a:p>
                  </a:txBody>
                  <a:tcPr>
                    <a:noFill/>
                  </a:tcPr>
                </a:tc>
                <a:tc>
                  <a:txBody>
                    <a:bodyPr/>
                    <a:lstStyle/>
                    <a:p>
                      <a:pPr algn="ctr"/>
                      <a:r>
                        <a:rPr sz="850" b="0">
                          <a:solidFill>
                            <a:srgbClr val="1A1A1A"/>
                          </a:solidFill>
                        </a:rPr>
                        <a:t>84/100</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a:t>
                      </a:r>
                    </a:p>
                  </a:txBody>
                  <a:tcPr>
                    <a:noFill/>
                  </a:tcPr>
                </a:tc>
                <a:tc>
                  <a:txBody>
                    <a:bodyPr/>
                    <a:lstStyle/>
                    <a:p>
                      <a:pPr algn="ctr"/>
                      <a:r>
                        <a:rPr sz="850" b="0">
                          <a:solidFill>
                            <a:srgbClr val="1A1A1A"/>
                          </a:solidFill>
                        </a:rPr>
                        <a:t>-20.0 %</a:t>
                      </a:r>
                    </a:p>
                  </a:txBody>
                  <a:tcPr>
                    <a:noFill/>
                  </a:tcPr>
                </a:tc>
                <a:tc>
                  <a:txBody>
                    <a:bodyPr/>
                    <a:lstStyle/>
                    <a:p>
                      <a:pPr algn="ctr"/>
                      <a:r>
                        <a:rPr sz="850" b="0">
                          <a:solidFill>
                            <a:srgbClr val="1A1A1A"/>
                          </a:solidFill>
                        </a:rPr>
                        <a:t>31.6 %</a:t>
                      </a:r>
                    </a:p>
                  </a:txBody>
                  <a:tcPr>
                    <a:noFill/>
                  </a:tcPr>
                </a:tc>
                <a:tc>
                  <a:txBody>
                    <a:bodyPr/>
                    <a:lstStyle/>
                    <a:p>
                      <a:pPr algn="ctr"/>
                      <a:r>
                        <a:rPr sz="850" b="0">
                          <a:solidFill>
                            <a:srgbClr val="1A1A1A"/>
                          </a:solidFill>
                        </a:rPr>
                        <a:t>14.6 %</a:t>
                      </a:r>
                    </a:p>
                  </a:txBody>
                  <a:tcPr>
                    <a:noFill/>
                  </a:tcPr>
                </a:tc>
                <a:tc>
                  <a:txBody>
                    <a:bodyPr/>
                    <a:lstStyle/>
                    <a:p>
                      <a:pPr algn="ctr"/>
                      <a:r>
                        <a:rPr sz="850" b="0">
                          <a:solidFill>
                            <a:srgbClr val="1A1A1A"/>
                          </a:solidFill>
                        </a:rPr>
                        <a:t>38.2 %</a:t>
                      </a:r>
                    </a:p>
                  </a:txBody>
                  <a:tcPr>
                    <a:noFill/>
                  </a:tcPr>
                </a:tc>
                <a:tc>
                  <a:txBody>
                    <a:bodyPr/>
                    <a:lstStyle/>
                    <a:p>
                      <a:pPr algn="ctr"/>
                      <a:r>
                        <a:rPr sz="850" b="0">
                          <a:solidFill>
                            <a:srgbClr val="1A1A1A"/>
                          </a:solidFill>
                        </a:rPr>
                        <a:t>1.00</a:t>
                      </a:r>
                    </a:p>
                  </a:txBody>
                  <a:tcPr>
                    <a:noFill/>
                  </a:tcPr>
                </a:tc>
              </a:tr>
              <a:tr h="440000">
                <a:tc>
                  <a:txBody>
                    <a:bodyPr/>
                    <a:lstStyle/>
                    <a:p>
                      <a:pPr algn="ctr"/>
                      <a:r>
                        <a:rPr sz="850" b="0">
                          <a:solidFill>
                            <a:srgbClr val="1A1A1A"/>
                          </a:solidFill>
                        </a:rPr>
                        <a:t>Merck &amp; Co., Inc.</a:t>
                      </a:r>
                    </a:p>
                  </a:txBody>
                  <a:tcPr>
                    <a:solidFill>
                      <a:srgbClr val="F5F7FA"/>
                    </a:solidFill>
                  </a:tcPr>
                </a:tc>
                <a:tc>
                  <a:txBody>
                    <a:bodyPr/>
                    <a:lstStyle/>
                    <a:p>
                      <a:pPr algn="ctr"/>
                      <a:r>
                        <a:rPr sz="850" b="0">
                          <a:solidFill>
                            <a:srgbClr val="1A1A1A"/>
                          </a:solidFill>
                        </a:rPr>
                        <a:t>80/100</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a:t>
                      </a:r>
                    </a:p>
                  </a:txBody>
                  <a:tcPr>
                    <a:solidFill>
                      <a:srgbClr val="F5F7FA"/>
                    </a:solidFill>
                  </a:tcPr>
                </a:tc>
                <a:tc>
                  <a:txBody>
                    <a:bodyPr/>
                    <a:lstStyle/>
                    <a:p>
                      <a:pPr algn="ctr"/>
                      <a:r>
                        <a:rPr sz="850" b="0">
                          <a:solidFill>
                            <a:srgbClr val="1A1A1A"/>
                          </a:solidFill>
                        </a:rPr>
                        <a:t>+130.0 %</a:t>
                      </a:r>
                    </a:p>
                  </a:txBody>
                  <a:tcPr>
                    <a:solidFill>
                      <a:srgbClr val="F5F7FA"/>
                    </a:solidFill>
                  </a:tcPr>
                </a:tc>
                <a:tc>
                  <a:txBody>
                    <a:bodyPr/>
                    <a:lstStyle/>
                    <a:p>
                      <a:pPr algn="ctr"/>
                      <a:r>
                        <a:rPr sz="850" b="0">
                          <a:solidFill>
                            <a:srgbClr val="1A1A1A"/>
                          </a:solidFill>
                        </a:rPr>
                        <a:t>43.5 %</a:t>
                      </a:r>
                    </a:p>
                  </a:txBody>
                  <a:tcPr>
                    <a:solidFill>
                      <a:srgbClr val="F5F7FA"/>
                    </a:solidFill>
                  </a:tcPr>
                </a:tc>
                <a:tc>
                  <a:txBody>
                    <a:bodyPr/>
                    <a:lstStyle/>
                    <a:p>
                      <a:pPr algn="ctr"/>
                      <a:r>
                        <a:rPr sz="850" b="0">
                          <a:solidFill>
                            <a:srgbClr val="1A1A1A"/>
                          </a:solidFill>
                        </a:rPr>
                        <a:t>28.1 %</a:t>
                      </a:r>
                    </a:p>
                  </a:txBody>
                  <a:tcPr>
                    <a:solidFill>
                      <a:srgbClr val="F5F7FA"/>
                    </a:solidFill>
                  </a:tcPr>
                </a:tc>
                <a:tc>
                  <a:txBody>
                    <a:bodyPr/>
                    <a:lstStyle/>
                    <a:p>
                      <a:pPr algn="ctr"/>
                      <a:r>
                        <a:rPr sz="850" b="0">
                          <a:solidFill>
                            <a:srgbClr val="1A1A1A"/>
                          </a:solidFill>
                        </a:rPr>
                        <a:t>34.7 %</a:t>
                      </a:r>
                    </a:p>
                  </a:txBody>
                  <a:tcPr>
                    <a:solidFill>
                      <a:srgbClr val="F5F7FA"/>
                    </a:solidFill>
                  </a:tcPr>
                </a:tc>
                <a:tc>
                  <a:txBody>
                    <a:bodyPr/>
                    <a:lstStyle/>
                    <a:p>
                      <a:pPr algn="ctr"/>
                      <a:r>
                        <a:rPr sz="850" b="0">
                          <a:solidFill>
                            <a:srgbClr val="1A1A1A"/>
                          </a:solidFill>
                        </a:rPr>
                        <a:t>1.00</a:t>
                      </a:r>
                    </a:p>
                  </a:txBody>
                  <a:tcPr>
                    <a:solidFill>
                      <a:srgbClr val="F5F7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Top Acteurs  —  Technology</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8 sociétés analysées — classees par score FinSight</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graphicFrame>
        <p:nvGraphicFramePr>
          <p:cNvPr id="18" name="Table 17"/>
          <p:cNvGraphicFramePr>
            <a:graphicFrameLocks noGrp="1"/>
          </p:cNvGraphicFramePr>
          <p:nvPr/>
        </p:nvGraphicFramePr>
        <p:xfrm>
          <a:off x="324000" y="720000"/>
          <a:ext cx="8495997" cy="3960000"/>
        </p:xfrm>
        <a:graphic>
          <a:graphicData uri="http://schemas.openxmlformats.org/drawingml/2006/table">
            <a:tbl>
              <a:tblPr firstRow="1" bandRow="1">
                <a:tableStyleId>{5C22544A-7EE6-4342-B048-85BDC9FD1C3A}</a:tableStyleId>
              </a:tblPr>
              <a:tblGrid>
                <a:gridCol w="1714439"/>
                <a:gridCol w="761973"/>
                <a:gridCol w="761973"/>
                <a:gridCol w="952466"/>
                <a:gridCol w="952466"/>
                <a:gridCol w="952466"/>
                <a:gridCol w="952466"/>
                <a:gridCol w="761973"/>
                <a:gridCol w="685775"/>
              </a:tblGrid>
              <a:tr h="440000">
                <a:tc>
                  <a:txBody>
                    <a:bodyPr/>
                    <a:lstStyle/>
                    <a:p>
                      <a:pPr algn="ctr"/>
                      <a:r>
                        <a:rPr sz="850" b="1">
                          <a:solidFill>
                            <a:srgbClr val="FFFFFF"/>
                          </a:solidFill>
                        </a:rPr>
                        <a:t>Société</a:t>
                      </a:r>
                    </a:p>
                  </a:txBody>
                  <a:tcPr>
                    <a:solidFill>
                      <a:srgbClr val="1A7A4A"/>
                    </a:solidFill>
                  </a:tcPr>
                </a:tc>
                <a:tc>
                  <a:txBody>
                    <a:bodyPr/>
                    <a:lstStyle/>
                    <a:p>
                      <a:pPr algn="ctr"/>
                      <a:r>
                        <a:rPr sz="850" b="1">
                          <a:solidFill>
                            <a:srgbClr val="FFFFFF"/>
                          </a:solidFill>
                        </a:rPr>
                        <a:t>Score</a:t>
                      </a:r>
                    </a:p>
                  </a:txBody>
                  <a:tcPr>
                    <a:solidFill>
                      <a:srgbClr val="1A7A4A"/>
                    </a:solidFill>
                  </a:tcPr>
                </a:tc>
                <a:tc>
                  <a:txBody>
                    <a:bodyPr/>
                    <a:lstStyle/>
                    <a:p>
                      <a:pPr algn="ctr"/>
                      <a:r>
                        <a:rPr sz="850" b="1">
                          <a:solidFill>
                            <a:srgbClr val="FFFFFF"/>
                          </a:solidFill>
                        </a:rPr>
                        <a:t>P/E</a:t>
                      </a:r>
                    </a:p>
                  </a:txBody>
                  <a:tcPr>
                    <a:solidFill>
                      <a:srgbClr val="1A7A4A"/>
                    </a:solidFill>
                  </a:tcPr>
                </a:tc>
                <a:tc>
                  <a:txBody>
                    <a:bodyPr/>
                    <a:lstStyle/>
                    <a:p>
                      <a:pPr algn="ctr"/>
                      <a:r>
                        <a:rPr sz="850" b="1">
                          <a:solidFill>
                            <a:srgbClr val="FFFFFF"/>
                          </a:solidFill>
                        </a:rPr>
                        <a:t>EV/EBITDA</a:t>
                      </a:r>
                    </a:p>
                  </a:txBody>
                  <a:tcPr>
                    <a:solidFill>
                      <a:srgbClr val="1A7A4A"/>
                    </a:solidFill>
                  </a:tcPr>
                </a:tc>
                <a:tc>
                  <a:txBody>
                    <a:bodyPr/>
                    <a:lstStyle/>
                    <a:p>
                      <a:pPr algn="ctr"/>
                      <a:r>
                        <a:rPr sz="850" b="1">
                          <a:solidFill>
                            <a:srgbClr val="FFFFFF"/>
                          </a:solidFill>
                        </a:rPr>
                        <a:t>Croiss.Rev.</a:t>
                      </a:r>
                    </a:p>
                  </a:txBody>
                  <a:tcPr>
                    <a:solidFill>
                      <a:srgbClr val="1A7A4A"/>
                    </a:solidFill>
                  </a:tcPr>
                </a:tc>
                <a:tc>
                  <a:txBody>
                    <a:bodyPr/>
                    <a:lstStyle/>
                    <a:p>
                      <a:pPr algn="ctr"/>
                      <a:r>
                        <a:rPr sz="850" b="1">
                          <a:solidFill>
                            <a:srgbClr val="FFFFFF"/>
                          </a:solidFill>
                        </a:rPr>
                        <a:t>Mg.EBITDA</a:t>
                      </a:r>
                    </a:p>
                  </a:txBody>
                  <a:tcPr>
                    <a:solidFill>
                      <a:srgbClr val="1A7A4A"/>
                    </a:solidFill>
                  </a:tcPr>
                </a:tc>
                <a:tc>
                  <a:txBody>
                    <a:bodyPr/>
                    <a:lstStyle/>
                    <a:p>
                      <a:pPr algn="ctr"/>
                      <a:r>
                        <a:rPr sz="850" b="1">
                          <a:solidFill>
                            <a:srgbClr val="FFFFFF"/>
                          </a:solidFill>
                        </a:rPr>
                        <a:t>Mg.Nette</a:t>
                      </a:r>
                    </a:p>
                  </a:txBody>
                  <a:tcPr>
                    <a:solidFill>
                      <a:srgbClr val="1A7A4A"/>
                    </a:solidFill>
                  </a:tcPr>
                </a:tc>
                <a:tc>
                  <a:txBody>
                    <a:bodyPr/>
                    <a:lstStyle/>
                    <a:p>
                      <a:pPr algn="ctr"/>
                      <a:r>
                        <a:rPr sz="850" b="1">
                          <a:solidFill>
                            <a:srgbClr val="FFFFFF"/>
                          </a:solidFill>
                        </a:rPr>
                        <a:t>ROE</a:t>
                      </a:r>
                    </a:p>
                  </a:txBody>
                  <a:tcPr>
                    <a:solidFill>
                      <a:srgbClr val="1A7A4A"/>
                    </a:solidFill>
                  </a:tcPr>
                </a:tc>
                <a:tc>
                  <a:txBody>
                    <a:bodyPr/>
                    <a:lstStyle/>
                    <a:p>
                      <a:pPr algn="ctr"/>
                      <a:r>
                        <a:rPr sz="850" b="1">
                          <a:solidFill>
                            <a:srgbClr val="FFFFFF"/>
                          </a:solidFill>
                        </a:rPr>
                        <a:t>Beta</a:t>
                      </a:r>
                    </a:p>
                  </a:txBody>
                  <a:tcPr>
                    <a:solidFill>
                      <a:srgbClr val="1A7A4A"/>
                    </a:solidFill>
                  </a:tcPr>
                </a:tc>
              </a:tr>
              <a:tr h="440000">
                <a:tc>
                  <a:txBody>
                    <a:bodyPr/>
                    <a:lstStyle/>
                    <a:p>
                      <a:pPr algn="ctr"/>
                      <a:r>
                        <a:rPr sz="850" b="0">
                          <a:solidFill>
                            <a:srgbClr val="1A1A1A"/>
                          </a:solidFill>
                        </a:rPr>
                        <a:t>Alphabet Inc.</a:t>
                      </a:r>
                    </a:p>
                  </a:txBody>
                  <a:tcPr>
                    <a:noFill/>
                  </a:tcPr>
                </a:tc>
                <a:tc>
                  <a:txBody>
                    <a:bodyPr/>
                    <a:lstStyle/>
                    <a:p>
                      <a:pPr algn="ctr"/>
                      <a:r>
                        <a:rPr sz="850" b="0">
                          <a:solidFill>
                            <a:srgbClr val="1A1A1A"/>
                          </a:solidFill>
                        </a:rPr>
                        <a:t>85/100</a:t>
                      </a:r>
                    </a:p>
                  </a:txBody>
                  <a:tcPr>
                    <a:noFill/>
                  </a:tcPr>
                </a:tc>
                <a:tc>
                  <a:txBody>
                    <a:bodyPr/>
                    <a:lstStyle/>
                    <a:p>
                      <a:pPr algn="ctr"/>
                      <a:r>
                        <a:rPr sz="850" b="0">
                          <a:solidFill>
                            <a:srgbClr val="1A1A1A"/>
                          </a:solidFill>
                        </a:rPr>
                        <a:t>29.3x</a:t>
                      </a:r>
                    </a:p>
                  </a:txBody>
                  <a:tcPr>
                    <a:noFill/>
                  </a:tcPr>
                </a:tc>
                <a:tc>
                  <a:txBody>
                    <a:bodyPr/>
                    <a:lstStyle/>
                    <a:p>
                      <a:pPr algn="ctr"/>
                      <a:r>
                        <a:rPr sz="850" b="0">
                          <a:solidFill>
                            <a:srgbClr val="1A1A1A"/>
                          </a:solidFill>
                        </a:rPr>
                        <a:t>25.2x</a:t>
                      </a:r>
                    </a:p>
                  </a:txBody>
                  <a:tcPr>
                    <a:noFill/>
                  </a:tcPr>
                </a:tc>
                <a:tc>
                  <a:txBody>
                    <a:bodyPr/>
                    <a:lstStyle/>
                    <a:p>
                      <a:pPr algn="ctr"/>
                      <a:r>
                        <a:rPr sz="850" b="0">
                          <a:solidFill>
                            <a:srgbClr val="1A1A1A"/>
                          </a:solidFill>
                        </a:rPr>
                        <a:t>+18.0 %</a:t>
                      </a:r>
                    </a:p>
                  </a:txBody>
                  <a:tcPr>
                    <a:noFill/>
                  </a:tcPr>
                </a:tc>
                <a:tc>
                  <a:txBody>
                    <a:bodyPr/>
                    <a:lstStyle/>
                    <a:p>
                      <a:pPr algn="ctr"/>
                      <a:r>
                        <a:rPr sz="850" b="0">
                          <a:solidFill>
                            <a:srgbClr val="1A1A1A"/>
                          </a:solidFill>
                        </a:rPr>
                        <a:t>37.3 %</a:t>
                      </a:r>
                    </a:p>
                  </a:txBody>
                  <a:tcPr>
                    <a:noFill/>
                  </a:tcPr>
                </a:tc>
                <a:tc>
                  <a:txBody>
                    <a:bodyPr/>
                    <a:lstStyle/>
                    <a:p>
                      <a:pPr algn="ctr"/>
                      <a:r>
                        <a:rPr sz="850" b="0">
                          <a:solidFill>
                            <a:srgbClr val="1A1A1A"/>
                          </a:solidFill>
                        </a:rPr>
                        <a:t>32.8 %</a:t>
                      </a:r>
                    </a:p>
                  </a:txBody>
                  <a:tcPr>
                    <a:noFill/>
                  </a:tcPr>
                </a:tc>
                <a:tc>
                  <a:txBody>
                    <a:bodyPr/>
                    <a:lstStyle/>
                    <a:p>
                      <a:pPr algn="ctr"/>
                      <a:r>
                        <a:rPr sz="850" b="0">
                          <a:solidFill>
                            <a:srgbClr val="1A1A1A"/>
                          </a:solidFill>
                        </a:rPr>
                        <a:t>35.7 %</a:t>
                      </a:r>
                    </a:p>
                  </a:txBody>
                  <a:tcPr>
                    <a:noFill/>
                  </a:tcPr>
                </a:tc>
                <a:tc>
                  <a:txBody>
                    <a:bodyPr/>
                    <a:lstStyle/>
                    <a:p>
                      <a:pPr algn="ctr"/>
                      <a:r>
                        <a:rPr sz="850" b="0">
                          <a:solidFill>
                            <a:srgbClr val="1A1A1A"/>
                          </a:solidFill>
                        </a:rPr>
                        <a:t>1.13</a:t>
                      </a:r>
                    </a:p>
                  </a:txBody>
                  <a:tcPr>
                    <a:noFill/>
                  </a:tcPr>
                </a:tc>
              </a:tr>
              <a:tr h="440000">
                <a:tc>
                  <a:txBody>
                    <a:bodyPr/>
                    <a:lstStyle/>
                    <a:p>
                      <a:pPr algn="ctr"/>
                      <a:r>
                        <a:rPr sz="850" b="0">
                          <a:solidFill>
                            <a:srgbClr val="1A1A1A"/>
                          </a:solidFill>
                        </a:rPr>
                        <a:t>NVIDIA Corporation</a:t>
                      </a:r>
                    </a:p>
                  </a:txBody>
                  <a:tcPr>
                    <a:solidFill>
                      <a:srgbClr val="F5F7FA"/>
                    </a:solidFill>
                  </a:tcPr>
                </a:tc>
                <a:tc>
                  <a:txBody>
                    <a:bodyPr/>
                    <a:lstStyle/>
                    <a:p>
                      <a:pPr algn="ctr"/>
                      <a:r>
                        <a:rPr sz="850" b="0">
                          <a:solidFill>
                            <a:srgbClr val="1A1A1A"/>
                          </a:solidFill>
                        </a:rPr>
                        <a:t>78/100</a:t>
                      </a:r>
                    </a:p>
                  </a:txBody>
                  <a:tcPr>
                    <a:solidFill>
                      <a:srgbClr val="F5F7FA"/>
                    </a:solidFill>
                  </a:tcPr>
                </a:tc>
                <a:tc>
                  <a:txBody>
                    <a:bodyPr/>
                    <a:lstStyle/>
                    <a:p>
                      <a:pPr algn="ctr"/>
                      <a:r>
                        <a:rPr sz="850" b="0">
                          <a:solidFill>
                            <a:srgbClr val="1A1A1A"/>
                          </a:solidFill>
                        </a:rPr>
                        <a:t>38.5x</a:t>
                      </a:r>
                    </a:p>
                  </a:txBody>
                  <a:tcPr>
                    <a:solidFill>
                      <a:srgbClr val="F5F7FA"/>
                    </a:solidFill>
                  </a:tcPr>
                </a:tc>
                <a:tc>
                  <a:txBody>
                    <a:bodyPr/>
                    <a:lstStyle/>
                    <a:p>
                      <a:pPr algn="ctr"/>
                      <a:r>
                        <a:rPr sz="850" b="0">
                          <a:solidFill>
                            <a:srgbClr val="1A1A1A"/>
                          </a:solidFill>
                        </a:rPr>
                        <a:t>34.0x</a:t>
                      </a:r>
                    </a:p>
                  </a:txBody>
                  <a:tcPr>
                    <a:solidFill>
                      <a:srgbClr val="F5F7FA"/>
                    </a:solidFill>
                  </a:tcPr>
                </a:tc>
                <a:tc>
                  <a:txBody>
                    <a:bodyPr/>
                    <a:lstStyle/>
                    <a:p>
                      <a:pPr algn="ctr"/>
                      <a:r>
                        <a:rPr sz="850" b="0">
                          <a:solidFill>
                            <a:srgbClr val="1A1A1A"/>
                          </a:solidFill>
                        </a:rPr>
                        <a:t>+73.2 %</a:t>
                      </a:r>
                    </a:p>
                  </a:txBody>
                  <a:tcPr>
                    <a:solidFill>
                      <a:srgbClr val="F5F7FA"/>
                    </a:solidFill>
                  </a:tcPr>
                </a:tc>
                <a:tc>
                  <a:txBody>
                    <a:bodyPr/>
                    <a:lstStyle/>
                    <a:p>
                      <a:pPr algn="ctr"/>
                      <a:r>
                        <a:rPr sz="850" b="0">
                          <a:solidFill>
                            <a:srgbClr val="1A1A1A"/>
                          </a:solidFill>
                        </a:rPr>
                        <a:t>61.7 %</a:t>
                      </a:r>
                    </a:p>
                  </a:txBody>
                  <a:tcPr>
                    <a:solidFill>
                      <a:srgbClr val="F5F7FA"/>
                    </a:solidFill>
                  </a:tcPr>
                </a:tc>
                <a:tc>
                  <a:txBody>
                    <a:bodyPr/>
                    <a:lstStyle/>
                    <a:p>
                      <a:pPr algn="ctr"/>
                      <a:r>
                        <a:rPr sz="850" b="0">
                          <a:solidFill>
                            <a:srgbClr val="1A1A1A"/>
                          </a:solidFill>
                        </a:rPr>
                        <a:t>55.6 %</a:t>
                      </a:r>
                    </a:p>
                  </a:txBody>
                  <a:tcPr>
                    <a:solidFill>
                      <a:srgbClr val="F5F7FA"/>
                    </a:solidFill>
                  </a:tcPr>
                </a:tc>
                <a:tc>
                  <a:txBody>
                    <a:bodyPr/>
                    <a:lstStyle/>
                    <a:p>
                      <a:pPr algn="ctr"/>
                      <a:r>
                        <a:rPr sz="850" b="0">
                          <a:solidFill>
                            <a:srgbClr val="1A1A1A"/>
                          </a:solidFill>
                        </a:rPr>
                        <a:t>101.5 %</a:t>
                      </a:r>
                    </a:p>
                  </a:txBody>
                  <a:tcPr>
                    <a:solidFill>
                      <a:srgbClr val="F5F7FA"/>
                    </a:solidFill>
                  </a:tcPr>
                </a:tc>
                <a:tc>
                  <a:txBody>
                    <a:bodyPr/>
                    <a:lstStyle/>
                    <a:p>
                      <a:pPr algn="ctr"/>
                      <a:r>
                        <a:rPr sz="850" b="0">
                          <a:solidFill>
                            <a:srgbClr val="1A1A1A"/>
                          </a:solidFill>
                        </a:rPr>
                        <a:t>2.33</a:t>
                      </a:r>
                    </a:p>
                  </a:txBody>
                  <a:tcPr>
                    <a:solidFill>
                      <a:srgbClr val="F5F7FA"/>
                    </a:solidFill>
                  </a:tcPr>
                </a:tc>
              </a:tr>
              <a:tr h="440000">
                <a:tc>
                  <a:txBody>
                    <a:bodyPr/>
                    <a:lstStyle/>
                    <a:p>
                      <a:pPr algn="ctr"/>
                      <a:r>
                        <a:rPr sz="850" b="0">
                          <a:solidFill>
                            <a:srgbClr val="1A1A1A"/>
                          </a:solidFill>
                        </a:rPr>
                        <a:t>Meta Platforms, Inc.</a:t>
                      </a:r>
                    </a:p>
                  </a:txBody>
                  <a:tcPr>
                    <a:noFill/>
                  </a:tcPr>
                </a:tc>
                <a:tc>
                  <a:txBody>
                    <a:bodyPr/>
                    <a:lstStyle/>
                    <a:p>
                      <a:pPr algn="ctr"/>
                      <a:r>
                        <a:rPr sz="850" b="0">
                          <a:solidFill>
                            <a:srgbClr val="1A1A1A"/>
                          </a:solidFill>
                        </a:rPr>
                        <a:t>76/100</a:t>
                      </a:r>
                    </a:p>
                  </a:txBody>
                  <a:tcPr>
                    <a:noFill/>
                  </a:tcPr>
                </a:tc>
                <a:tc>
                  <a:txBody>
                    <a:bodyPr/>
                    <a:lstStyle/>
                    <a:p>
                      <a:pPr algn="ctr"/>
                      <a:r>
                        <a:rPr sz="850" b="0">
                          <a:solidFill>
                            <a:srgbClr val="1A1A1A"/>
                          </a:solidFill>
                        </a:rPr>
                        <a:t>26.8x</a:t>
                      </a:r>
                    </a:p>
                  </a:txBody>
                  <a:tcPr>
                    <a:noFill/>
                  </a:tcPr>
                </a:tc>
                <a:tc>
                  <a:txBody>
                    <a:bodyPr/>
                    <a:lstStyle/>
                    <a:p>
                      <a:pPr algn="ctr"/>
                      <a:r>
                        <a:rPr sz="850" b="0">
                          <a:solidFill>
                            <a:srgbClr val="1A1A1A"/>
                          </a:solidFill>
                        </a:rPr>
                        <a:t>15.7x</a:t>
                      </a:r>
                    </a:p>
                  </a:txBody>
                  <a:tcPr>
                    <a:noFill/>
                  </a:tcPr>
                </a:tc>
                <a:tc>
                  <a:txBody>
                    <a:bodyPr/>
                    <a:lstStyle/>
                    <a:p>
                      <a:pPr algn="ctr"/>
                      <a:r>
                        <a:rPr sz="850" b="0">
                          <a:solidFill>
                            <a:srgbClr val="1A1A1A"/>
                          </a:solidFill>
                        </a:rPr>
                        <a:t>+23.8 %</a:t>
                      </a:r>
                    </a:p>
                  </a:txBody>
                  <a:tcPr>
                    <a:noFill/>
                  </a:tcPr>
                </a:tc>
                <a:tc>
                  <a:txBody>
                    <a:bodyPr/>
                    <a:lstStyle/>
                    <a:p>
                      <a:pPr algn="ctr"/>
                      <a:r>
                        <a:rPr sz="850" b="0">
                          <a:solidFill>
                            <a:srgbClr val="1A1A1A"/>
                          </a:solidFill>
                        </a:rPr>
                        <a:t>50.7 %</a:t>
                      </a:r>
                    </a:p>
                  </a:txBody>
                  <a:tcPr>
                    <a:noFill/>
                  </a:tcPr>
                </a:tc>
                <a:tc>
                  <a:txBody>
                    <a:bodyPr/>
                    <a:lstStyle/>
                    <a:p>
                      <a:pPr algn="ctr"/>
                      <a:r>
                        <a:rPr sz="850" b="0">
                          <a:solidFill>
                            <a:srgbClr val="1A1A1A"/>
                          </a:solidFill>
                        </a:rPr>
                        <a:t>30.1 %</a:t>
                      </a:r>
                    </a:p>
                  </a:txBody>
                  <a:tcPr>
                    <a:noFill/>
                  </a:tcPr>
                </a:tc>
                <a:tc>
                  <a:txBody>
                    <a:bodyPr/>
                    <a:lstStyle/>
                    <a:p>
                      <a:pPr algn="ctr"/>
                      <a:r>
                        <a:rPr sz="850" b="0">
                          <a:solidFill>
                            <a:srgbClr val="1A1A1A"/>
                          </a:solidFill>
                        </a:rPr>
                        <a:t>30.2 %</a:t>
                      </a:r>
                    </a:p>
                  </a:txBody>
                  <a:tcPr>
                    <a:noFill/>
                  </a:tcPr>
                </a:tc>
                <a:tc>
                  <a:txBody>
                    <a:bodyPr/>
                    <a:lstStyle/>
                    <a:p>
                      <a:pPr algn="ctr"/>
                      <a:r>
                        <a:rPr sz="850" b="0">
                          <a:solidFill>
                            <a:srgbClr val="1A1A1A"/>
                          </a:solidFill>
                        </a:rPr>
                        <a:t>1.31</a:t>
                      </a:r>
                    </a:p>
                  </a:txBody>
                  <a:tcPr>
                    <a:noFill/>
                  </a:tcPr>
                </a:tc>
              </a:tr>
              <a:tr h="440000">
                <a:tc>
                  <a:txBody>
                    <a:bodyPr/>
                    <a:lstStyle/>
                    <a:p>
                      <a:pPr algn="ctr"/>
                      <a:r>
                        <a:rPr sz="850" b="0">
                          <a:solidFill>
                            <a:srgbClr val="1A1A1A"/>
                          </a:solidFill>
                        </a:rPr>
                        <a:t>Apple Inc.</a:t>
                      </a:r>
                    </a:p>
                  </a:txBody>
                  <a:tcPr>
                    <a:solidFill>
                      <a:srgbClr val="F5F7FA"/>
                    </a:solidFill>
                  </a:tcPr>
                </a:tc>
                <a:tc>
                  <a:txBody>
                    <a:bodyPr/>
                    <a:lstStyle/>
                    <a:p>
                      <a:pPr algn="ctr"/>
                      <a:r>
                        <a:rPr sz="850" b="0">
                          <a:solidFill>
                            <a:srgbClr val="1A1A1A"/>
                          </a:solidFill>
                        </a:rPr>
                        <a:t>75/100</a:t>
                      </a:r>
                    </a:p>
                  </a:txBody>
                  <a:tcPr>
                    <a:solidFill>
                      <a:srgbClr val="F5F7FA"/>
                    </a:solidFill>
                  </a:tcPr>
                </a:tc>
                <a:tc>
                  <a:txBody>
                    <a:bodyPr/>
                    <a:lstStyle/>
                    <a:p>
                      <a:pPr algn="ctr"/>
                      <a:r>
                        <a:rPr sz="850" b="0">
                          <a:solidFill>
                            <a:srgbClr val="1A1A1A"/>
                          </a:solidFill>
                        </a:rPr>
                        <a:t>33.0x</a:t>
                      </a:r>
                    </a:p>
                  </a:txBody>
                  <a:tcPr>
                    <a:solidFill>
                      <a:srgbClr val="F5F7FA"/>
                    </a:solidFill>
                  </a:tcPr>
                </a:tc>
                <a:tc>
                  <a:txBody>
                    <a:bodyPr/>
                    <a:lstStyle/>
                    <a:p>
                      <a:pPr algn="ctr"/>
                      <a:r>
                        <a:rPr sz="850" b="0">
                          <a:solidFill>
                            <a:srgbClr val="1A1A1A"/>
                          </a:solidFill>
                        </a:rPr>
                        <a:t>25.2x</a:t>
                      </a:r>
                    </a:p>
                  </a:txBody>
                  <a:tcPr>
                    <a:solidFill>
                      <a:srgbClr val="F5F7FA"/>
                    </a:solidFill>
                  </a:tcPr>
                </a:tc>
                <a:tc>
                  <a:txBody>
                    <a:bodyPr/>
                    <a:lstStyle/>
                    <a:p>
                      <a:pPr algn="ctr"/>
                      <a:r>
                        <a:rPr sz="850" b="0">
                          <a:solidFill>
                            <a:srgbClr val="1A1A1A"/>
                          </a:solidFill>
                        </a:rPr>
                        <a:t>+15.7 %</a:t>
                      </a:r>
                    </a:p>
                  </a:txBody>
                  <a:tcPr>
                    <a:solidFill>
                      <a:srgbClr val="F5F7FA"/>
                    </a:solidFill>
                  </a:tcPr>
                </a:tc>
                <a:tc>
                  <a:txBody>
                    <a:bodyPr/>
                    <a:lstStyle/>
                    <a:p>
                      <a:pPr algn="ctr"/>
                      <a:r>
                        <a:rPr sz="850" b="0">
                          <a:solidFill>
                            <a:srgbClr val="1A1A1A"/>
                          </a:solidFill>
                        </a:rPr>
                        <a:t>35.1 %</a:t>
                      </a:r>
                    </a:p>
                  </a:txBody>
                  <a:tcPr>
                    <a:solidFill>
                      <a:srgbClr val="F5F7FA"/>
                    </a:solidFill>
                  </a:tcPr>
                </a:tc>
                <a:tc>
                  <a:txBody>
                    <a:bodyPr/>
                    <a:lstStyle/>
                    <a:p>
                      <a:pPr algn="ctr"/>
                      <a:r>
                        <a:rPr sz="850" b="0">
                          <a:solidFill>
                            <a:srgbClr val="1A1A1A"/>
                          </a:solidFill>
                        </a:rPr>
                        <a:t>27.0 %</a:t>
                      </a:r>
                    </a:p>
                  </a:txBody>
                  <a:tcPr>
                    <a:solidFill>
                      <a:srgbClr val="F5F7FA"/>
                    </a:solidFill>
                  </a:tcPr>
                </a:tc>
                <a:tc>
                  <a:txBody>
                    <a:bodyPr/>
                    <a:lstStyle/>
                    <a:p>
                      <a:pPr algn="ctr"/>
                      <a:r>
                        <a:rPr sz="850" b="0">
                          <a:solidFill>
                            <a:srgbClr val="1A1A1A"/>
                          </a:solidFill>
                        </a:rPr>
                        <a:t>152.0 %</a:t>
                      </a:r>
                    </a:p>
                  </a:txBody>
                  <a:tcPr>
                    <a:solidFill>
                      <a:srgbClr val="F5F7FA"/>
                    </a:solidFill>
                  </a:tcPr>
                </a:tc>
                <a:tc>
                  <a:txBody>
                    <a:bodyPr/>
                    <a:lstStyle/>
                    <a:p>
                      <a:pPr algn="ctr"/>
                      <a:r>
                        <a:rPr sz="850" b="0">
                          <a:solidFill>
                            <a:srgbClr val="1A1A1A"/>
                          </a:solidFill>
                        </a:rPr>
                        <a:t>1.11</a:t>
                      </a:r>
                    </a:p>
                  </a:txBody>
                  <a:tcPr>
                    <a:solidFill>
                      <a:srgbClr val="F5F7FA"/>
                    </a:solidFill>
                  </a:tcPr>
                </a:tc>
              </a:tr>
              <a:tr h="440000">
                <a:tc>
                  <a:txBody>
                    <a:bodyPr/>
                    <a:lstStyle/>
                    <a:p>
                      <a:pPr algn="ctr"/>
                      <a:r>
                        <a:rPr sz="850" b="0">
                          <a:solidFill>
                            <a:srgbClr val="1A1A1A"/>
                          </a:solidFill>
                        </a:rPr>
                        <a:t>Microsoft Corporation</a:t>
                      </a:r>
                    </a:p>
                  </a:txBody>
                  <a:tcPr>
                    <a:noFill/>
                  </a:tcPr>
                </a:tc>
                <a:tc>
                  <a:txBody>
                    <a:bodyPr/>
                    <a:lstStyle/>
                    <a:p>
                      <a:pPr algn="ctr"/>
                      <a:r>
                        <a:rPr sz="850" b="0">
                          <a:solidFill>
                            <a:srgbClr val="1A1A1A"/>
                          </a:solidFill>
                        </a:rPr>
                        <a:t>75/100</a:t>
                      </a:r>
                    </a:p>
                  </a:txBody>
                  <a:tcPr>
                    <a:noFill/>
                  </a:tcPr>
                </a:tc>
                <a:tc>
                  <a:txBody>
                    <a:bodyPr/>
                    <a:lstStyle/>
                    <a:p>
                      <a:pPr algn="ctr"/>
                      <a:r>
                        <a:rPr sz="850" b="0">
                          <a:solidFill>
                            <a:srgbClr val="1A1A1A"/>
                          </a:solidFill>
                        </a:rPr>
                        <a:t>23.2x</a:t>
                      </a:r>
                    </a:p>
                  </a:txBody>
                  <a:tcPr>
                    <a:noFill/>
                  </a:tcPr>
                </a:tc>
                <a:tc>
                  <a:txBody>
                    <a:bodyPr/>
                    <a:lstStyle/>
                    <a:p>
                      <a:pPr algn="ctr"/>
                      <a:r>
                        <a:rPr sz="850" b="0">
                          <a:solidFill>
                            <a:srgbClr val="1A1A1A"/>
                          </a:solidFill>
                        </a:rPr>
                        <a:t>15.9x</a:t>
                      </a:r>
                    </a:p>
                  </a:txBody>
                  <a:tcPr>
                    <a:noFill/>
                  </a:tcPr>
                </a:tc>
                <a:tc>
                  <a:txBody>
                    <a:bodyPr/>
                    <a:lstStyle/>
                    <a:p>
                      <a:pPr algn="ctr"/>
                      <a:r>
                        <a:rPr sz="850" b="0">
                          <a:solidFill>
                            <a:srgbClr val="1A1A1A"/>
                          </a:solidFill>
                        </a:rPr>
                        <a:t>+16.7 %</a:t>
                      </a:r>
                    </a:p>
                  </a:txBody>
                  <a:tcPr>
                    <a:noFill/>
                  </a:tcPr>
                </a:tc>
                <a:tc>
                  <a:txBody>
                    <a:bodyPr/>
                    <a:lstStyle/>
                    <a:p>
                      <a:pPr algn="ctr"/>
                      <a:r>
                        <a:rPr sz="850" b="0">
                          <a:solidFill>
                            <a:srgbClr val="1A1A1A"/>
                          </a:solidFill>
                        </a:rPr>
                        <a:t>57.4 %</a:t>
                      </a:r>
                    </a:p>
                  </a:txBody>
                  <a:tcPr>
                    <a:noFill/>
                  </a:tcPr>
                </a:tc>
                <a:tc>
                  <a:txBody>
                    <a:bodyPr/>
                    <a:lstStyle/>
                    <a:p>
                      <a:pPr algn="ctr"/>
                      <a:r>
                        <a:rPr sz="850" b="0">
                          <a:solidFill>
                            <a:srgbClr val="1A1A1A"/>
                          </a:solidFill>
                        </a:rPr>
                        <a:t>39.0 %</a:t>
                      </a:r>
                    </a:p>
                  </a:txBody>
                  <a:tcPr>
                    <a:noFill/>
                  </a:tcPr>
                </a:tc>
                <a:tc>
                  <a:txBody>
                    <a:bodyPr/>
                    <a:lstStyle/>
                    <a:p>
                      <a:pPr algn="ctr"/>
                      <a:r>
                        <a:rPr sz="850" b="0">
                          <a:solidFill>
                            <a:srgbClr val="1A1A1A"/>
                          </a:solidFill>
                        </a:rPr>
                        <a:t>34.4 %</a:t>
                      </a:r>
                    </a:p>
                  </a:txBody>
                  <a:tcPr>
                    <a:noFill/>
                  </a:tcPr>
                </a:tc>
                <a:tc>
                  <a:txBody>
                    <a:bodyPr/>
                    <a:lstStyle/>
                    <a:p>
                      <a:pPr algn="ctr"/>
                      <a:r>
                        <a:rPr sz="850" b="0">
                          <a:solidFill>
                            <a:srgbClr val="1A1A1A"/>
                          </a:solidFill>
                        </a:rPr>
                        <a:t>1.11</a:t>
                      </a:r>
                    </a:p>
                  </a:txBody>
                  <a:tcPr>
                    <a:noFill/>
                  </a:tcPr>
                </a:tc>
              </a:tr>
              <a:tr h="440000">
                <a:tc>
                  <a:txBody>
                    <a:bodyPr/>
                    <a:lstStyle/>
                    <a:p>
                      <a:pPr algn="ctr"/>
                      <a:r>
                        <a:rPr sz="850" b="0">
                          <a:solidFill>
                            <a:srgbClr val="1A1A1A"/>
                          </a:solidFill>
                        </a:rPr>
                        <a:t>Broadcom Inc.</a:t>
                      </a:r>
                    </a:p>
                  </a:txBody>
                  <a:tcPr>
                    <a:solidFill>
                      <a:srgbClr val="F5F7FA"/>
                    </a:solidFill>
                  </a:tcPr>
                </a:tc>
                <a:tc>
                  <a:txBody>
                    <a:bodyPr/>
                    <a:lstStyle/>
                    <a:p>
                      <a:pPr algn="ctr"/>
                      <a:r>
                        <a:rPr sz="850" b="0">
                          <a:solidFill>
                            <a:srgbClr val="1A1A1A"/>
                          </a:solidFill>
                        </a:rPr>
                        <a:t>75/100</a:t>
                      </a:r>
                    </a:p>
                  </a:txBody>
                  <a:tcPr>
                    <a:solidFill>
                      <a:srgbClr val="F5F7FA"/>
                    </a:solidFill>
                  </a:tcPr>
                </a:tc>
                <a:tc>
                  <a:txBody>
                    <a:bodyPr/>
                    <a:lstStyle/>
                    <a:p>
                      <a:pPr algn="ctr"/>
                      <a:r>
                        <a:rPr sz="850" b="0">
                          <a:solidFill>
                            <a:srgbClr val="1A1A1A"/>
                          </a:solidFill>
                        </a:rPr>
                        <a:t>72.4x</a:t>
                      </a:r>
                    </a:p>
                  </a:txBody>
                  <a:tcPr>
                    <a:solidFill>
                      <a:srgbClr val="F5F7FA"/>
                    </a:solidFill>
                  </a:tcPr>
                </a:tc>
                <a:tc>
                  <a:txBody>
                    <a:bodyPr/>
                    <a:lstStyle/>
                    <a:p>
                      <a:pPr algn="ctr"/>
                      <a:r>
                        <a:rPr sz="850" b="0">
                          <a:solidFill>
                            <a:srgbClr val="1A1A1A"/>
                          </a:solidFill>
                        </a:rPr>
                        <a:t>48.7x</a:t>
                      </a:r>
                    </a:p>
                  </a:txBody>
                  <a:tcPr>
                    <a:solidFill>
                      <a:srgbClr val="F5F7FA"/>
                    </a:solidFill>
                  </a:tcPr>
                </a:tc>
                <a:tc>
                  <a:txBody>
                    <a:bodyPr/>
                    <a:lstStyle/>
                    <a:p>
                      <a:pPr algn="ctr"/>
                      <a:r>
                        <a:rPr sz="850" b="0">
                          <a:solidFill>
                            <a:srgbClr val="1A1A1A"/>
                          </a:solidFill>
                        </a:rPr>
                        <a:t>+29.5 %</a:t>
                      </a:r>
                    </a:p>
                  </a:txBody>
                  <a:tcPr>
                    <a:solidFill>
                      <a:srgbClr val="F5F7FA"/>
                    </a:solidFill>
                  </a:tcPr>
                </a:tc>
                <a:tc>
                  <a:txBody>
                    <a:bodyPr/>
                    <a:lstStyle/>
                    <a:p>
                      <a:pPr algn="ctr"/>
                      <a:r>
                        <a:rPr sz="850" b="0">
                          <a:solidFill>
                            <a:srgbClr val="1A1A1A"/>
                          </a:solidFill>
                        </a:rPr>
                        <a:t>54.5 %</a:t>
                      </a:r>
                    </a:p>
                  </a:txBody>
                  <a:tcPr>
                    <a:solidFill>
                      <a:srgbClr val="F5F7FA"/>
                    </a:solidFill>
                  </a:tcPr>
                </a:tc>
                <a:tc>
                  <a:txBody>
                    <a:bodyPr/>
                    <a:lstStyle/>
                    <a:p>
                      <a:pPr algn="ctr"/>
                      <a:r>
                        <a:rPr sz="850" b="0">
                          <a:solidFill>
                            <a:srgbClr val="1A1A1A"/>
                          </a:solidFill>
                        </a:rPr>
                        <a:t>36.6 %</a:t>
                      </a:r>
                    </a:p>
                  </a:txBody>
                  <a:tcPr>
                    <a:solidFill>
                      <a:srgbClr val="F5F7FA"/>
                    </a:solidFill>
                  </a:tcPr>
                </a:tc>
                <a:tc>
                  <a:txBody>
                    <a:bodyPr/>
                    <a:lstStyle/>
                    <a:p>
                      <a:pPr algn="ctr"/>
                      <a:r>
                        <a:rPr sz="850" b="0">
                          <a:solidFill>
                            <a:srgbClr val="1A1A1A"/>
                          </a:solidFill>
                        </a:rPr>
                        <a:t>33.4 %</a:t>
                      </a:r>
                    </a:p>
                  </a:txBody>
                  <a:tcPr>
                    <a:solidFill>
                      <a:srgbClr val="F5F7FA"/>
                    </a:solidFill>
                  </a:tcPr>
                </a:tc>
                <a:tc>
                  <a:txBody>
                    <a:bodyPr/>
                    <a:lstStyle/>
                    <a:p>
                      <a:pPr algn="ctr"/>
                      <a:r>
                        <a:rPr sz="850" b="0">
                          <a:solidFill>
                            <a:srgbClr val="1A1A1A"/>
                          </a:solidFill>
                        </a:rPr>
                        <a:t>1.25</a:t>
                      </a:r>
                    </a:p>
                  </a:txBody>
                  <a:tcPr>
                    <a:solidFill>
                      <a:srgbClr val="F5F7FA"/>
                    </a:solidFill>
                  </a:tcPr>
                </a:tc>
              </a:tr>
              <a:tr h="440000">
                <a:tc>
                  <a:txBody>
                    <a:bodyPr/>
                    <a:lstStyle/>
                    <a:p>
                      <a:pPr algn="ctr"/>
                      <a:r>
                        <a:rPr sz="850" b="0">
                          <a:solidFill>
                            <a:srgbClr val="1A1A1A"/>
                          </a:solidFill>
                        </a:rPr>
                        <a:t>Oracle Corporation</a:t>
                      </a:r>
                    </a:p>
                  </a:txBody>
                  <a:tcPr>
                    <a:noFill/>
                  </a:tcPr>
                </a:tc>
                <a:tc>
                  <a:txBody>
                    <a:bodyPr/>
                    <a:lstStyle/>
                    <a:p>
                      <a:pPr algn="ctr"/>
                      <a:r>
                        <a:rPr sz="850" b="0">
                          <a:solidFill>
                            <a:srgbClr val="1A1A1A"/>
                          </a:solidFill>
                        </a:rPr>
                        <a:t>75/100</a:t>
                      </a:r>
                    </a:p>
                  </a:txBody>
                  <a:tcPr>
                    <a:noFill/>
                  </a:tcPr>
                </a:tc>
                <a:tc>
                  <a:txBody>
                    <a:bodyPr/>
                    <a:lstStyle/>
                    <a:p>
                      <a:pPr algn="ctr"/>
                      <a:r>
                        <a:rPr sz="850" b="0">
                          <a:solidFill>
                            <a:srgbClr val="1A1A1A"/>
                          </a:solidFill>
                        </a:rPr>
                        <a:t>24.8x</a:t>
                      </a:r>
                    </a:p>
                  </a:txBody>
                  <a:tcPr>
                    <a:noFill/>
                  </a:tcPr>
                </a:tc>
                <a:tc>
                  <a:txBody>
                    <a:bodyPr/>
                    <a:lstStyle/>
                    <a:p>
                      <a:pPr algn="ctr"/>
                      <a:r>
                        <a:rPr sz="850" b="0">
                          <a:solidFill>
                            <a:srgbClr val="1A1A1A"/>
                          </a:solidFill>
                        </a:rPr>
                        <a:t>19.2x</a:t>
                      </a:r>
                    </a:p>
                  </a:txBody>
                  <a:tcPr>
                    <a:noFill/>
                  </a:tcPr>
                </a:tc>
                <a:tc>
                  <a:txBody>
                    <a:bodyPr/>
                    <a:lstStyle/>
                    <a:p>
                      <a:pPr algn="ctr"/>
                      <a:r>
                        <a:rPr sz="850" b="0">
                          <a:solidFill>
                            <a:srgbClr val="1A1A1A"/>
                          </a:solidFill>
                        </a:rPr>
                        <a:t>+21.7 %</a:t>
                      </a:r>
                    </a:p>
                  </a:txBody>
                  <a:tcPr>
                    <a:noFill/>
                  </a:tcPr>
                </a:tc>
                <a:tc>
                  <a:txBody>
                    <a:bodyPr/>
                    <a:lstStyle/>
                    <a:p>
                      <a:pPr algn="ctr"/>
                      <a:r>
                        <a:rPr sz="850" b="0">
                          <a:solidFill>
                            <a:srgbClr val="1A1A1A"/>
                          </a:solidFill>
                        </a:rPr>
                        <a:t>42.8 %</a:t>
                      </a:r>
                    </a:p>
                  </a:txBody>
                  <a:tcPr>
                    <a:noFill/>
                  </a:tcPr>
                </a:tc>
                <a:tc>
                  <a:txBody>
                    <a:bodyPr/>
                    <a:lstStyle/>
                    <a:p>
                      <a:pPr algn="ctr"/>
                      <a:r>
                        <a:rPr sz="850" b="0">
                          <a:solidFill>
                            <a:srgbClr val="1A1A1A"/>
                          </a:solidFill>
                        </a:rPr>
                        <a:t>25.3 %</a:t>
                      </a:r>
                    </a:p>
                  </a:txBody>
                  <a:tcPr>
                    <a:noFill/>
                  </a:tcPr>
                </a:tc>
                <a:tc>
                  <a:txBody>
                    <a:bodyPr/>
                    <a:lstStyle/>
                    <a:p>
                      <a:pPr algn="ctr"/>
                      <a:r>
                        <a:rPr sz="850" b="0">
                          <a:solidFill>
                            <a:srgbClr val="1A1A1A"/>
                          </a:solidFill>
                        </a:rPr>
                        <a:t>57.6 %</a:t>
                      </a:r>
                    </a:p>
                  </a:txBody>
                  <a:tcPr>
                    <a:noFill/>
                  </a:tcPr>
                </a:tc>
                <a:tc>
                  <a:txBody>
                    <a:bodyPr/>
                    <a:lstStyle/>
                    <a:p>
                      <a:pPr algn="ctr"/>
                      <a:r>
                        <a:rPr sz="850" b="0">
                          <a:solidFill>
                            <a:srgbClr val="1A1A1A"/>
                          </a:solidFill>
                        </a:rPr>
                        <a:t>1.60</a:t>
                      </a:r>
                    </a:p>
                  </a:txBody>
                  <a:tcPr>
                    <a:noFill/>
                  </a:tcPr>
                </a:tc>
              </a:tr>
              <a:tr h="440000">
                <a:tc>
                  <a:txBody>
                    <a:bodyPr/>
                    <a:lstStyle/>
                    <a:p>
                      <a:pPr algn="ctr"/>
                      <a:r>
                        <a:rPr sz="850" b="0">
                          <a:solidFill>
                            <a:srgbClr val="1A1A1A"/>
                          </a:solidFill>
                        </a:rPr>
                        <a:t>Advanced Micro Devices, </a:t>
                      </a:r>
                    </a:p>
                  </a:txBody>
                  <a:tcPr>
                    <a:solidFill>
                      <a:srgbClr val="F5F7FA"/>
                    </a:solidFill>
                  </a:tcPr>
                </a:tc>
                <a:tc>
                  <a:txBody>
                    <a:bodyPr/>
                    <a:lstStyle/>
                    <a:p>
                      <a:pPr algn="ctr"/>
                      <a:r>
                        <a:rPr sz="850" b="0">
                          <a:solidFill>
                            <a:srgbClr val="1A1A1A"/>
                          </a:solidFill>
                        </a:rPr>
                        <a:t>70/100</a:t>
                      </a:r>
                    </a:p>
                  </a:txBody>
                  <a:tcPr>
                    <a:solidFill>
                      <a:srgbClr val="F5F7FA"/>
                    </a:solidFill>
                  </a:tcPr>
                </a:tc>
                <a:tc>
                  <a:txBody>
                    <a:bodyPr/>
                    <a:lstStyle/>
                    <a:p>
                      <a:pPr algn="ctr"/>
                      <a:r>
                        <a:rPr sz="850" b="0">
                          <a:solidFill>
                            <a:srgbClr val="1A1A1A"/>
                          </a:solidFill>
                        </a:rPr>
                        <a:t>93.5x</a:t>
                      </a:r>
                    </a:p>
                  </a:txBody>
                  <a:tcPr>
                    <a:solidFill>
                      <a:srgbClr val="F5F7FA"/>
                    </a:solidFill>
                  </a:tcPr>
                </a:tc>
                <a:tc>
                  <a:txBody>
                    <a:bodyPr/>
                    <a:lstStyle/>
                    <a:p>
                      <a:pPr algn="ctr"/>
                      <a:r>
                        <a:rPr sz="850" b="0">
                          <a:solidFill>
                            <a:srgbClr val="1A1A1A"/>
                          </a:solidFill>
                        </a:rPr>
                        <a:t>58.3x</a:t>
                      </a:r>
                    </a:p>
                  </a:txBody>
                  <a:tcPr>
                    <a:solidFill>
                      <a:srgbClr val="F5F7FA"/>
                    </a:solidFill>
                  </a:tcPr>
                </a:tc>
                <a:tc>
                  <a:txBody>
                    <a:bodyPr/>
                    <a:lstStyle/>
                    <a:p>
                      <a:pPr algn="ctr"/>
                      <a:r>
                        <a:rPr sz="850" b="0">
                          <a:solidFill>
                            <a:srgbClr val="1A1A1A"/>
                          </a:solidFill>
                        </a:rPr>
                        <a:t>+34.1 %</a:t>
                      </a:r>
                    </a:p>
                  </a:txBody>
                  <a:tcPr>
                    <a:solidFill>
                      <a:srgbClr val="F5F7FA"/>
                    </a:solidFill>
                  </a:tcPr>
                </a:tc>
                <a:tc>
                  <a:txBody>
                    <a:bodyPr/>
                    <a:lstStyle/>
                    <a:p>
                      <a:pPr algn="ctr"/>
                      <a:r>
                        <a:rPr sz="850" b="0">
                          <a:solidFill>
                            <a:srgbClr val="1A1A1A"/>
                          </a:solidFill>
                        </a:rPr>
                        <a:t>19.5 %</a:t>
                      </a:r>
                    </a:p>
                  </a:txBody>
                  <a:tcPr>
                    <a:solidFill>
                      <a:srgbClr val="F5F7FA"/>
                    </a:solidFill>
                  </a:tcPr>
                </a:tc>
                <a:tc>
                  <a:txBody>
                    <a:bodyPr/>
                    <a:lstStyle/>
                    <a:p>
                      <a:pPr algn="ctr"/>
                      <a:r>
                        <a:rPr sz="850" b="0">
                          <a:solidFill>
                            <a:srgbClr val="1A1A1A"/>
                          </a:solidFill>
                        </a:rPr>
                        <a:t>12.5 %</a:t>
                      </a:r>
                    </a:p>
                  </a:txBody>
                  <a:tcPr>
                    <a:solidFill>
                      <a:srgbClr val="F5F7FA"/>
                    </a:solidFill>
                  </a:tcPr>
                </a:tc>
                <a:tc>
                  <a:txBody>
                    <a:bodyPr/>
                    <a:lstStyle/>
                    <a:p>
                      <a:pPr algn="ctr"/>
                      <a:r>
                        <a:rPr sz="850" b="0">
                          <a:solidFill>
                            <a:srgbClr val="1A1A1A"/>
                          </a:solidFill>
                        </a:rPr>
                        <a:t>7.1 %</a:t>
                      </a:r>
                    </a:p>
                  </a:txBody>
                  <a:tcPr>
                    <a:solidFill>
                      <a:srgbClr val="F5F7FA"/>
                    </a:solidFill>
                  </a:tcPr>
                </a:tc>
                <a:tc>
                  <a:txBody>
                    <a:bodyPr/>
                    <a:lstStyle/>
                    <a:p>
                      <a:pPr algn="ctr"/>
                      <a:r>
                        <a:rPr sz="850" b="0">
                          <a:solidFill>
                            <a:srgbClr val="1A1A1A"/>
                          </a:solidFill>
                        </a:rPr>
                        <a:t>1.96</a:t>
                      </a:r>
                    </a:p>
                  </a:txBody>
                  <a:tcPr>
                    <a:solidFill>
                      <a:srgbClr val="F5F7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Risques &amp; Catalyseurs  —  Santé</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Conditions d'investissement et d'invalidation de la Thèse</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4104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4000" y="777600"/>
            <a:ext cx="4104000" cy="172800"/>
          </a:xfrm>
          <a:prstGeom prst="rect">
            <a:avLst/>
          </a:prstGeom>
          <a:noFill/>
        </p:spPr>
        <p:txBody>
          <a:bodyPr wrap="square">
            <a:spAutoFit/>
          </a:bodyPr>
          <a:lstStyle/>
          <a:p>
            <a:pPr algn="ctr"/>
            <a:r>
              <a:rPr sz="900" b="1" i="0">
                <a:solidFill>
                  <a:srgbClr val="FFFFFF"/>
                </a:solidFill>
              </a:rPr>
              <a:t>CATALYSEURS</a:t>
            </a:r>
          </a:p>
        </p:txBody>
      </p:sp>
      <p:sp>
        <p:nvSpPr>
          <p:cNvPr id="20" name="Rectangle 19"/>
          <p:cNvSpPr/>
          <p:nvPr/>
        </p:nvSpPr>
        <p:spPr>
          <a:xfrm>
            <a:off x="342000" y="1080000"/>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1044000"/>
            <a:ext cx="3960000" cy="162000"/>
          </a:xfrm>
          <a:prstGeom prst="rect">
            <a:avLst/>
          </a:prstGeom>
          <a:noFill/>
        </p:spPr>
        <p:txBody>
          <a:bodyPr wrap="square">
            <a:spAutoFit/>
          </a:bodyPr>
          <a:lstStyle/>
          <a:p>
            <a:pPr algn="l"/>
            <a:r>
              <a:rPr sz="950" b="1" i="0">
                <a:solidFill>
                  <a:srgbClr val="1B3A6B"/>
                </a:solidFill>
              </a:rPr>
              <a:t>Croissance Structurelle</a:t>
            </a:r>
          </a:p>
        </p:txBody>
      </p:sp>
      <p:sp>
        <p:nvSpPr>
          <p:cNvPr id="22" name="TextBox 21"/>
          <p:cNvSpPr txBox="1"/>
          <p:nvPr/>
        </p:nvSpPr>
        <p:spPr>
          <a:xfrm>
            <a:off x="468000" y="1224000"/>
            <a:ext cx="3941999" cy="558000"/>
          </a:xfrm>
          <a:prstGeom prst="rect">
            <a:avLst/>
          </a:prstGeom>
          <a:noFill/>
        </p:spPr>
        <p:txBody>
          <a:bodyPr wrap="square">
            <a:spAutoFit/>
          </a:bodyPr>
          <a:lstStyle/>
          <a:p>
            <a:pPr algn="l"/>
            <a:r>
              <a:rPr sz="800" b="0" i="0">
                <a:solidFill>
                  <a:srgbClr val="1A1A1A"/>
                </a:solidFill>
              </a:rPr>
              <a:t>Demande sectorielle portée par des tendances long terme favorables.</a:t>
            </a:r>
          </a:p>
        </p:txBody>
      </p:sp>
      <p:sp>
        <p:nvSpPr>
          <p:cNvPr id="23" name="Rectangle 22"/>
          <p:cNvSpPr/>
          <p:nvPr/>
        </p:nvSpPr>
        <p:spPr>
          <a:xfrm>
            <a:off x="342000" y="1871999"/>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8000" y="1835999"/>
            <a:ext cx="3960000" cy="162000"/>
          </a:xfrm>
          <a:prstGeom prst="rect">
            <a:avLst/>
          </a:prstGeom>
          <a:noFill/>
        </p:spPr>
        <p:txBody>
          <a:bodyPr wrap="square">
            <a:spAutoFit/>
          </a:bodyPr>
          <a:lstStyle/>
          <a:p>
            <a:pPr algn="l"/>
            <a:r>
              <a:rPr sz="950" b="1" i="0">
                <a:solidFill>
                  <a:srgbClr val="1B3A6B"/>
                </a:solidFill>
              </a:rPr>
              <a:t>Transformation Digitale</a:t>
            </a:r>
          </a:p>
        </p:txBody>
      </p:sp>
      <p:sp>
        <p:nvSpPr>
          <p:cNvPr id="25" name="TextBox 24"/>
          <p:cNvSpPr txBox="1"/>
          <p:nvPr/>
        </p:nvSpPr>
        <p:spPr>
          <a:xfrm>
            <a:off x="468000" y="2015999"/>
            <a:ext cx="3941999" cy="558000"/>
          </a:xfrm>
          <a:prstGeom prst="rect">
            <a:avLst/>
          </a:prstGeom>
          <a:noFill/>
        </p:spPr>
        <p:txBody>
          <a:bodyPr wrap="square">
            <a:spAutoFit/>
          </a:bodyPr>
          <a:lstStyle/>
          <a:p>
            <a:pPr algn="l"/>
            <a:r>
              <a:rPr sz="800" b="0" i="0">
                <a:solidFill>
                  <a:srgbClr val="1A1A1A"/>
                </a:solidFill>
              </a:rPr>
              <a:t>Adoption technologique acceleree — gains de productivite et nouveaux modèles.</a:t>
            </a:r>
          </a:p>
        </p:txBody>
      </p:sp>
      <p:sp>
        <p:nvSpPr>
          <p:cNvPr id="26" name="Rectangle 25"/>
          <p:cNvSpPr/>
          <p:nvPr/>
        </p:nvSpPr>
        <p:spPr>
          <a:xfrm>
            <a:off x="342000" y="2664000"/>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628000"/>
            <a:ext cx="3960000" cy="162000"/>
          </a:xfrm>
          <a:prstGeom prst="rect">
            <a:avLst/>
          </a:prstGeom>
          <a:noFill/>
        </p:spPr>
        <p:txBody>
          <a:bodyPr wrap="square">
            <a:spAutoFit/>
          </a:bodyPr>
          <a:lstStyle/>
          <a:p>
            <a:pPr algn="l"/>
            <a:r>
              <a:rPr sz="950" b="1" i="0">
                <a:solidFill>
                  <a:srgbClr val="1B3A6B"/>
                </a:solidFill>
              </a:rPr>
              <a:t>Consolidation</a:t>
            </a:r>
          </a:p>
        </p:txBody>
      </p:sp>
      <p:sp>
        <p:nvSpPr>
          <p:cNvPr id="28" name="TextBox 27"/>
          <p:cNvSpPr txBox="1"/>
          <p:nvPr/>
        </p:nvSpPr>
        <p:spPr>
          <a:xfrm>
            <a:off x="468000" y="2808000"/>
            <a:ext cx="3941999" cy="558000"/>
          </a:xfrm>
          <a:prstGeom prst="rect">
            <a:avLst/>
          </a:prstGeom>
          <a:noFill/>
        </p:spPr>
        <p:txBody>
          <a:bodyPr wrap="square">
            <a:spAutoFit/>
          </a:bodyPr>
          <a:lstStyle/>
          <a:p>
            <a:pPr algn="l"/>
            <a:r>
              <a:rPr sz="800" b="0" i="0">
                <a:solidFill>
                  <a:srgbClr val="1A1A1A"/>
                </a:solidFill>
              </a:rPr>
              <a:t>Fusions-acquisitions — Économies d'échelle et elimination des acteurs faibles.</a:t>
            </a:r>
          </a:p>
        </p:txBody>
      </p:sp>
      <p:sp>
        <p:nvSpPr>
          <p:cNvPr id="29" name="Rectangle 28"/>
          <p:cNvSpPr/>
          <p:nvPr/>
        </p:nvSpPr>
        <p:spPr>
          <a:xfrm>
            <a:off x="4716000" y="756000"/>
            <a:ext cx="4104000" cy="21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16000" y="777600"/>
            <a:ext cx="4104000" cy="172800"/>
          </a:xfrm>
          <a:prstGeom prst="rect">
            <a:avLst/>
          </a:prstGeom>
          <a:noFill/>
        </p:spPr>
        <p:txBody>
          <a:bodyPr wrap="square">
            <a:spAutoFit/>
          </a:bodyPr>
          <a:lstStyle/>
          <a:p>
            <a:pPr algn="ctr"/>
            <a:r>
              <a:rPr sz="900" b="1" i="0">
                <a:solidFill>
                  <a:srgbClr val="FFFFFF"/>
                </a:solidFill>
              </a:rPr>
              <a:t>RISQUES</a:t>
            </a:r>
          </a:p>
        </p:txBody>
      </p:sp>
      <p:sp>
        <p:nvSpPr>
          <p:cNvPr id="31" name="Rectangle 30"/>
          <p:cNvSpPr/>
          <p:nvPr/>
        </p:nvSpPr>
        <p:spPr>
          <a:xfrm>
            <a:off x="4734000" y="1080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60000" y="1044000"/>
            <a:ext cx="3960000" cy="162000"/>
          </a:xfrm>
          <a:prstGeom prst="rect">
            <a:avLst/>
          </a:prstGeom>
          <a:noFill/>
        </p:spPr>
        <p:txBody>
          <a:bodyPr wrap="square">
            <a:spAutoFit/>
          </a:bodyPr>
          <a:lstStyle/>
          <a:p>
            <a:pPr algn="l"/>
            <a:r>
              <a:rPr sz="950" b="1" i="0">
                <a:solidFill>
                  <a:srgbClr val="A82020"/>
                </a:solidFill>
              </a:rPr>
              <a:t>Ralentissement Macro</a:t>
            </a:r>
          </a:p>
        </p:txBody>
      </p:sp>
      <p:sp>
        <p:nvSpPr>
          <p:cNvPr id="33" name="TextBox 32"/>
          <p:cNvSpPr txBox="1"/>
          <p:nvPr/>
        </p:nvSpPr>
        <p:spPr>
          <a:xfrm>
            <a:off x="4860000" y="1224000"/>
            <a:ext cx="3941999" cy="558000"/>
          </a:xfrm>
          <a:prstGeom prst="rect">
            <a:avLst/>
          </a:prstGeom>
          <a:noFill/>
        </p:spPr>
        <p:txBody>
          <a:bodyPr wrap="square">
            <a:spAutoFit/>
          </a:bodyPr>
          <a:lstStyle/>
          <a:p>
            <a:pPr algn="l"/>
            <a:r>
              <a:rPr sz="800" b="0" i="0">
                <a:solidFill>
                  <a:srgbClr val="1A1A1A"/>
                </a:solidFill>
              </a:rPr>
              <a:t>Récession potentielle — contraction de la demande et compression des marges.</a:t>
            </a:r>
          </a:p>
        </p:txBody>
      </p:sp>
      <p:sp>
        <p:nvSpPr>
          <p:cNvPr id="34" name="Rectangle 33"/>
          <p:cNvSpPr/>
          <p:nvPr/>
        </p:nvSpPr>
        <p:spPr>
          <a:xfrm>
            <a:off x="4734000" y="1871999"/>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1835999"/>
            <a:ext cx="3960000" cy="162000"/>
          </a:xfrm>
          <a:prstGeom prst="rect">
            <a:avLst/>
          </a:prstGeom>
          <a:noFill/>
        </p:spPr>
        <p:txBody>
          <a:bodyPr wrap="square">
            <a:spAutoFit/>
          </a:bodyPr>
          <a:lstStyle/>
          <a:p>
            <a:pPr algn="l"/>
            <a:r>
              <a:rPr sz="950" b="1" i="0">
                <a:solidFill>
                  <a:srgbClr val="A82020"/>
                </a:solidFill>
              </a:rPr>
              <a:t>Pression Concurrentielle</a:t>
            </a:r>
          </a:p>
        </p:txBody>
      </p:sp>
      <p:sp>
        <p:nvSpPr>
          <p:cNvPr id="36" name="TextBox 35"/>
          <p:cNvSpPr txBox="1"/>
          <p:nvPr/>
        </p:nvSpPr>
        <p:spPr>
          <a:xfrm>
            <a:off x="4860000" y="2015999"/>
            <a:ext cx="3941999" cy="558000"/>
          </a:xfrm>
          <a:prstGeom prst="rect">
            <a:avLst/>
          </a:prstGeom>
          <a:noFill/>
        </p:spPr>
        <p:txBody>
          <a:bodyPr wrap="square">
            <a:spAutoFit/>
          </a:bodyPr>
          <a:lstStyle/>
          <a:p>
            <a:pPr algn="l"/>
            <a:r>
              <a:rPr sz="800" b="0" i="0">
                <a:solidFill>
                  <a:srgbClr val="1A1A1A"/>
                </a:solidFill>
              </a:rPr>
              <a:t>Nouveaux entrants et disruption — erosion des parts de marché.</a:t>
            </a:r>
          </a:p>
        </p:txBody>
      </p:sp>
      <p:sp>
        <p:nvSpPr>
          <p:cNvPr id="37" name="Rectangle 36"/>
          <p:cNvSpPr/>
          <p:nvPr/>
        </p:nvSpPr>
        <p:spPr>
          <a:xfrm>
            <a:off x="4734000" y="2664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60000" y="2628000"/>
            <a:ext cx="3960000" cy="162000"/>
          </a:xfrm>
          <a:prstGeom prst="rect">
            <a:avLst/>
          </a:prstGeom>
          <a:noFill/>
        </p:spPr>
        <p:txBody>
          <a:bodyPr wrap="square">
            <a:spAutoFit/>
          </a:bodyPr>
          <a:lstStyle/>
          <a:p>
            <a:pPr algn="l"/>
            <a:r>
              <a:rPr sz="950" b="1" i="0">
                <a:solidFill>
                  <a:srgbClr val="A82020"/>
                </a:solidFill>
              </a:rPr>
              <a:t>Risque Réglementaire</a:t>
            </a:r>
          </a:p>
        </p:txBody>
      </p:sp>
      <p:sp>
        <p:nvSpPr>
          <p:cNvPr id="39" name="TextBox 38"/>
          <p:cNvSpPr txBox="1"/>
          <p:nvPr/>
        </p:nvSpPr>
        <p:spPr>
          <a:xfrm>
            <a:off x="4860000" y="2808000"/>
            <a:ext cx="3941999" cy="558000"/>
          </a:xfrm>
          <a:prstGeom prst="rect">
            <a:avLst/>
          </a:prstGeom>
          <a:noFill/>
        </p:spPr>
        <p:txBody>
          <a:bodyPr wrap="square">
            <a:spAutoFit/>
          </a:bodyPr>
          <a:lstStyle/>
          <a:p>
            <a:pPr algn="l"/>
            <a:r>
              <a:rPr sz="800" b="0" i="0">
                <a:solidFill>
                  <a:srgbClr val="1A1A1A"/>
                </a:solidFill>
              </a:rPr>
              <a:t>Évolutions réglementaires — Surcoûts de Conformité.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Risques &amp; Catalyseurs  —  Technology</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Conditions d'investissement et d'invalidation de la Thèse</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4104000" cy="21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4000" y="777600"/>
            <a:ext cx="4104000" cy="172800"/>
          </a:xfrm>
          <a:prstGeom prst="rect">
            <a:avLst/>
          </a:prstGeom>
          <a:noFill/>
        </p:spPr>
        <p:txBody>
          <a:bodyPr wrap="square">
            <a:spAutoFit/>
          </a:bodyPr>
          <a:lstStyle/>
          <a:p>
            <a:pPr algn="ctr"/>
            <a:r>
              <a:rPr sz="900" b="1" i="0">
                <a:solidFill>
                  <a:srgbClr val="FFFFFF"/>
                </a:solidFill>
              </a:rPr>
              <a:t>CATALYSEURS</a:t>
            </a:r>
          </a:p>
        </p:txBody>
      </p:sp>
      <p:sp>
        <p:nvSpPr>
          <p:cNvPr id="20" name="Rectangle 19"/>
          <p:cNvSpPr/>
          <p:nvPr/>
        </p:nvSpPr>
        <p:spPr>
          <a:xfrm>
            <a:off x="342000" y="1080000"/>
            <a:ext cx="79200" cy="7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1044000"/>
            <a:ext cx="3960000" cy="162000"/>
          </a:xfrm>
          <a:prstGeom prst="rect">
            <a:avLst/>
          </a:prstGeom>
          <a:noFill/>
        </p:spPr>
        <p:txBody>
          <a:bodyPr wrap="square">
            <a:spAutoFit/>
          </a:bodyPr>
          <a:lstStyle/>
          <a:p>
            <a:pPr algn="l"/>
            <a:r>
              <a:rPr sz="950" b="1" i="0">
                <a:solidFill>
                  <a:srgbClr val="1A7A4A"/>
                </a:solidFill>
              </a:rPr>
              <a:t>Adoption IA Generative</a:t>
            </a:r>
          </a:p>
        </p:txBody>
      </p:sp>
      <p:sp>
        <p:nvSpPr>
          <p:cNvPr id="22" name="TextBox 21"/>
          <p:cNvSpPr txBox="1"/>
          <p:nvPr/>
        </p:nvSpPr>
        <p:spPr>
          <a:xfrm>
            <a:off x="468000" y="1224000"/>
            <a:ext cx="3941999" cy="558000"/>
          </a:xfrm>
          <a:prstGeom prst="rect">
            <a:avLst/>
          </a:prstGeom>
          <a:noFill/>
        </p:spPr>
        <p:txBody>
          <a:bodyPr wrap="square">
            <a:spAutoFit/>
          </a:bodyPr>
          <a:lstStyle/>
          <a:p>
            <a:pPr algn="l"/>
            <a:r>
              <a:rPr sz="800" b="0" i="0">
                <a:solidFill>
                  <a:srgbClr val="1A1A1A"/>
                </a:solidFill>
              </a:rPr>
              <a:t>Accélération des mandats IA dans les grands comptes européens — contrats pluriannuels en hausse de 38 % sur T1 2026.</a:t>
            </a:r>
          </a:p>
        </p:txBody>
      </p:sp>
      <p:sp>
        <p:nvSpPr>
          <p:cNvPr id="23" name="Rectangle 22"/>
          <p:cNvSpPr/>
          <p:nvPr/>
        </p:nvSpPr>
        <p:spPr>
          <a:xfrm>
            <a:off x="342000" y="1871999"/>
            <a:ext cx="79200" cy="7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8000" y="1835999"/>
            <a:ext cx="3960000" cy="162000"/>
          </a:xfrm>
          <a:prstGeom prst="rect">
            <a:avLst/>
          </a:prstGeom>
          <a:noFill/>
        </p:spPr>
        <p:txBody>
          <a:bodyPr wrap="square">
            <a:spAutoFit/>
          </a:bodyPr>
          <a:lstStyle/>
          <a:p>
            <a:pPr algn="l"/>
            <a:r>
              <a:rPr sz="950" b="1" i="0">
                <a:solidFill>
                  <a:srgbClr val="1A7A4A"/>
                </a:solidFill>
              </a:rPr>
              <a:t>Modernisation SI Publics</a:t>
            </a:r>
          </a:p>
        </p:txBody>
      </p:sp>
      <p:sp>
        <p:nvSpPr>
          <p:cNvPr id="25" name="TextBox 24"/>
          <p:cNvSpPr txBox="1"/>
          <p:nvPr/>
        </p:nvSpPr>
        <p:spPr>
          <a:xfrm>
            <a:off x="468000" y="2015999"/>
            <a:ext cx="3941999" cy="558000"/>
          </a:xfrm>
          <a:prstGeom prst="rect">
            <a:avLst/>
          </a:prstGeom>
          <a:noFill/>
        </p:spPr>
        <p:txBody>
          <a:bodyPr wrap="square">
            <a:spAutoFit/>
          </a:bodyPr>
          <a:lstStyle/>
          <a:p>
            <a:pPr algn="l"/>
            <a:r>
              <a:rPr sz="800" b="0" i="0">
                <a:solidFill>
                  <a:srgbClr val="1A1A1A"/>
                </a:solidFill>
              </a:rPr>
              <a:t>Plans d'investissement gouvernementaux 2026-2028 — budgets numeriques confirmes pour 6 États membres EU.</a:t>
            </a:r>
          </a:p>
        </p:txBody>
      </p:sp>
      <p:sp>
        <p:nvSpPr>
          <p:cNvPr id="26" name="Rectangle 25"/>
          <p:cNvSpPr/>
          <p:nvPr/>
        </p:nvSpPr>
        <p:spPr>
          <a:xfrm>
            <a:off x="342000" y="2664000"/>
            <a:ext cx="79200" cy="7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628000"/>
            <a:ext cx="3960000" cy="162000"/>
          </a:xfrm>
          <a:prstGeom prst="rect">
            <a:avLst/>
          </a:prstGeom>
          <a:noFill/>
        </p:spPr>
        <p:txBody>
          <a:bodyPr wrap="square">
            <a:spAutoFit/>
          </a:bodyPr>
          <a:lstStyle/>
          <a:p>
            <a:pPr algn="l"/>
            <a:r>
              <a:rPr sz="950" b="1" i="0">
                <a:solidFill>
                  <a:srgbClr val="1A7A4A"/>
                </a:solidFill>
              </a:rPr>
              <a:t>Cloud Hybride Souveraineté</a:t>
            </a:r>
          </a:p>
        </p:txBody>
      </p:sp>
      <p:sp>
        <p:nvSpPr>
          <p:cNvPr id="28" name="TextBox 27"/>
          <p:cNvSpPr txBox="1"/>
          <p:nvPr/>
        </p:nvSpPr>
        <p:spPr>
          <a:xfrm>
            <a:off x="468000" y="2808000"/>
            <a:ext cx="3941999" cy="558000"/>
          </a:xfrm>
          <a:prstGeom prst="rect">
            <a:avLst/>
          </a:prstGeom>
          <a:noFill/>
        </p:spPr>
        <p:txBody>
          <a:bodyPr wrap="square">
            <a:spAutoFit/>
          </a:bodyPr>
          <a:lstStyle/>
          <a:p>
            <a:pPr algn="l"/>
            <a:r>
              <a:rPr sz="800" b="0" i="0">
                <a:solidFill>
                  <a:srgbClr val="1A1A1A"/>
                </a:solidFill>
              </a:rPr>
              <a:t>Contraintes réglementaires sur les données — migration vers solutions EU portée par NIS2 et DORA.</a:t>
            </a:r>
          </a:p>
        </p:txBody>
      </p:sp>
      <p:sp>
        <p:nvSpPr>
          <p:cNvPr id="29" name="Rectangle 28"/>
          <p:cNvSpPr/>
          <p:nvPr/>
        </p:nvSpPr>
        <p:spPr>
          <a:xfrm>
            <a:off x="4716000" y="756000"/>
            <a:ext cx="4104000" cy="21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16000" y="777600"/>
            <a:ext cx="4104000" cy="172800"/>
          </a:xfrm>
          <a:prstGeom prst="rect">
            <a:avLst/>
          </a:prstGeom>
          <a:noFill/>
        </p:spPr>
        <p:txBody>
          <a:bodyPr wrap="square">
            <a:spAutoFit/>
          </a:bodyPr>
          <a:lstStyle/>
          <a:p>
            <a:pPr algn="ctr"/>
            <a:r>
              <a:rPr sz="900" b="1" i="0">
                <a:solidFill>
                  <a:srgbClr val="FFFFFF"/>
                </a:solidFill>
              </a:rPr>
              <a:t>RISQUES</a:t>
            </a:r>
          </a:p>
        </p:txBody>
      </p:sp>
      <p:sp>
        <p:nvSpPr>
          <p:cNvPr id="31" name="Rectangle 30"/>
          <p:cNvSpPr/>
          <p:nvPr/>
        </p:nvSpPr>
        <p:spPr>
          <a:xfrm>
            <a:off x="4734000" y="1080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60000" y="1044000"/>
            <a:ext cx="3960000" cy="162000"/>
          </a:xfrm>
          <a:prstGeom prst="rect">
            <a:avLst/>
          </a:prstGeom>
          <a:noFill/>
        </p:spPr>
        <p:txBody>
          <a:bodyPr wrap="square">
            <a:spAutoFit/>
          </a:bodyPr>
          <a:lstStyle/>
          <a:p>
            <a:pPr algn="l"/>
            <a:r>
              <a:rPr sz="950" b="1" i="0">
                <a:solidFill>
                  <a:srgbClr val="A82020"/>
                </a:solidFill>
              </a:rPr>
              <a:t>Ralentissement Budgets IT</a:t>
            </a:r>
          </a:p>
        </p:txBody>
      </p:sp>
      <p:sp>
        <p:nvSpPr>
          <p:cNvPr id="33" name="TextBox 32"/>
          <p:cNvSpPr txBox="1"/>
          <p:nvPr/>
        </p:nvSpPr>
        <p:spPr>
          <a:xfrm>
            <a:off x="4860000" y="1224000"/>
            <a:ext cx="3941999" cy="558000"/>
          </a:xfrm>
          <a:prstGeom prst="rect">
            <a:avLst/>
          </a:prstGeom>
          <a:noFill/>
        </p:spPr>
        <p:txBody>
          <a:bodyPr wrap="square">
            <a:spAutoFit/>
          </a:bodyPr>
          <a:lstStyle/>
          <a:p>
            <a:pPr algn="l"/>
            <a:r>
              <a:rPr sz="800" b="0" i="0">
                <a:solidFill>
                  <a:srgbClr val="1A1A1A"/>
                </a:solidFill>
              </a:rPr>
              <a:t>Récession européenne confirmee entraînerait une réduction des budgets IT de 12-18 %, pénalisant les prestataires de services.</a:t>
            </a:r>
          </a:p>
        </p:txBody>
      </p:sp>
      <p:sp>
        <p:nvSpPr>
          <p:cNvPr id="34" name="Rectangle 33"/>
          <p:cNvSpPr/>
          <p:nvPr/>
        </p:nvSpPr>
        <p:spPr>
          <a:xfrm>
            <a:off x="4734000" y="1871999"/>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1835999"/>
            <a:ext cx="3960000" cy="162000"/>
          </a:xfrm>
          <a:prstGeom prst="rect">
            <a:avLst/>
          </a:prstGeom>
          <a:noFill/>
        </p:spPr>
        <p:txBody>
          <a:bodyPr wrap="square">
            <a:spAutoFit/>
          </a:bodyPr>
          <a:lstStyle/>
          <a:p>
            <a:pPr algn="l"/>
            <a:r>
              <a:rPr sz="950" b="1" i="0">
                <a:solidFill>
                  <a:srgbClr val="A82020"/>
                </a:solidFill>
              </a:rPr>
              <a:t>Durcissement AI Act</a:t>
            </a:r>
          </a:p>
        </p:txBody>
      </p:sp>
      <p:sp>
        <p:nvSpPr>
          <p:cNvPr id="36" name="TextBox 35"/>
          <p:cNvSpPr txBox="1"/>
          <p:nvPr/>
        </p:nvSpPr>
        <p:spPr>
          <a:xfrm>
            <a:off x="4860000" y="2015999"/>
            <a:ext cx="3941999" cy="558000"/>
          </a:xfrm>
          <a:prstGeom prst="rect">
            <a:avLst/>
          </a:prstGeom>
          <a:noFill/>
        </p:spPr>
        <p:txBody>
          <a:bodyPr wrap="square">
            <a:spAutoFit/>
          </a:bodyPr>
          <a:lstStyle/>
          <a:p>
            <a:pPr algn="l"/>
            <a:r>
              <a:rPr sz="800" b="0" i="0">
                <a:solidFill>
                  <a:srgbClr val="1A1A1A"/>
                </a:solidFill>
              </a:rPr>
              <a:t>Surcoût de mise en Conformité estime a 8-12 % du CA pour les editeurs de logiciels IA — impact marges 2027.</a:t>
            </a:r>
          </a:p>
        </p:txBody>
      </p:sp>
      <p:sp>
        <p:nvSpPr>
          <p:cNvPr id="37" name="Rectangle 36"/>
          <p:cNvSpPr/>
          <p:nvPr/>
        </p:nvSpPr>
        <p:spPr>
          <a:xfrm>
            <a:off x="4734000" y="2664000"/>
            <a:ext cx="79200" cy="792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60000" y="2628000"/>
            <a:ext cx="3960000" cy="162000"/>
          </a:xfrm>
          <a:prstGeom prst="rect">
            <a:avLst/>
          </a:prstGeom>
          <a:noFill/>
        </p:spPr>
        <p:txBody>
          <a:bodyPr wrap="square">
            <a:spAutoFit/>
          </a:bodyPr>
          <a:lstStyle/>
          <a:p>
            <a:pPr algn="l"/>
            <a:r>
              <a:rPr sz="950" b="1" i="0">
                <a:solidFill>
                  <a:srgbClr val="A82020"/>
                </a:solidFill>
              </a:rPr>
              <a:t>Pression Tarifaire US/Asie</a:t>
            </a:r>
          </a:p>
        </p:txBody>
      </p:sp>
      <p:sp>
        <p:nvSpPr>
          <p:cNvPr id="39" name="TextBox 38"/>
          <p:cNvSpPr txBox="1"/>
          <p:nvPr/>
        </p:nvSpPr>
        <p:spPr>
          <a:xfrm>
            <a:off x="4860000" y="2808000"/>
            <a:ext cx="3941999" cy="558000"/>
          </a:xfrm>
          <a:prstGeom prst="rect">
            <a:avLst/>
          </a:prstGeom>
          <a:noFill/>
        </p:spPr>
        <p:txBody>
          <a:bodyPr wrap="square">
            <a:spAutoFit/>
          </a:bodyPr>
          <a:lstStyle/>
          <a:p>
            <a:pPr algn="l"/>
            <a:r>
              <a:rPr sz="800" b="0" i="0">
                <a:solidFill>
                  <a:srgbClr val="1A1A1A"/>
                </a:solidFill>
              </a:rPr>
              <a:t>Acteurs américains et asiatiques agressifs sur les segments logiciels standardisés — guerre des prix bas de gamme.</a:t>
            </a:r>
          </a:p>
        </p:txBody>
      </p:sp>
      <p:sp>
        <p:nvSpPr>
          <p:cNvPr id="40" name="Rectangle 39"/>
          <p:cNvSpPr/>
          <p:nvPr/>
        </p:nvSpPr>
        <p:spPr>
          <a:xfrm>
            <a:off x="324000" y="3438000"/>
            <a:ext cx="8496000" cy="1728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3456000"/>
            <a:ext cx="8496000" cy="151200"/>
          </a:xfrm>
          <a:prstGeom prst="rect">
            <a:avLst/>
          </a:prstGeom>
          <a:noFill/>
        </p:spPr>
        <p:txBody>
          <a:bodyPr wrap="square">
            <a:spAutoFit/>
          </a:bodyPr>
          <a:lstStyle/>
          <a:p>
            <a:pPr algn="ctr"/>
            <a:r>
              <a:rPr sz="900" b="1" i="0">
                <a:solidFill>
                  <a:srgbClr val="FFFFFF"/>
                </a:solidFill>
              </a:rPr>
              <a:t>CONDITIONS D'INVALIDATION</a:t>
            </a:r>
          </a:p>
        </p:txBody>
      </p:sp>
      <p:graphicFrame>
        <p:nvGraphicFramePr>
          <p:cNvPr id="42" name="Table 41"/>
          <p:cNvGraphicFramePr>
            <a:graphicFrameLocks noGrp="1"/>
          </p:cNvGraphicFramePr>
          <p:nvPr/>
        </p:nvGraphicFramePr>
        <p:xfrm>
          <a:off x="324000" y="3654000"/>
          <a:ext cx="8496000" cy="1152000"/>
        </p:xfrm>
        <a:graphic>
          <a:graphicData uri="http://schemas.openxmlformats.org/drawingml/2006/table">
            <a:tbl>
              <a:tblPr firstRow="1" bandRow="1">
                <a:tableStyleId>{5C22544A-7EE6-4342-B048-85BDC9FD1C3A}</a:tableStyleId>
              </a:tblPr>
              <a:tblGrid>
                <a:gridCol w="1858500"/>
                <a:gridCol w="5310000"/>
                <a:gridCol w="1327500"/>
              </a:tblGrid>
              <a:tr h="230400">
                <a:tc>
                  <a:txBody>
                    <a:bodyPr/>
                    <a:lstStyle/>
                    <a:p>
                      <a:pPr algn="ctr"/>
                      <a:r>
                        <a:rPr sz="800" b="1">
                          <a:solidFill>
                            <a:srgbClr val="FFFFFF"/>
                          </a:solidFill>
                        </a:rPr>
                        <a:t>Type</a:t>
                      </a:r>
                    </a:p>
                  </a:txBody>
                  <a:tcPr>
                    <a:solidFill>
                      <a:srgbClr val="1B3A6B"/>
                    </a:solidFill>
                  </a:tcPr>
                </a:tc>
                <a:tc>
                  <a:txBody>
                    <a:bodyPr/>
                    <a:lstStyle/>
                    <a:p>
                      <a:pPr algn="ctr"/>
                      <a:r>
                        <a:rPr sz="800" b="1">
                          <a:solidFill>
                            <a:srgbClr val="FFFFFF"/>
                          </a:solidFill>
                        </a:rPr>
                        <a:t>Condition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30400">
                <a:tc>
                  <a:txBody>
                    <a:bodyPr/>
                    <a:lstStyle/>
                    <a:p>
                      <a:pPr algn="ctr"/>
                      <a:r>
                        <a:rPr sz="800" b="0">
                          <a:solidFill>
                            <a:srgbClr val="1A1A1A"/>
                          </a:solidFill>
                        </a:rPr>
                        <a:t>Macro</a:t>
                      </a:r>
                    </a:p>
                  </a:txBody>
                  <a:tcPr>
                    <a:noFill/>
                  </a:tcPr>
                </a:tc>
                <a:tc>
                  <a:txBody>
                    <a:bodyPr/>
                    <a:lstStyle/>
                    <a:p>
                      <a:pPr algn="ctr"/>
                      <a:r>
                        <a:rPr sz="800" b="0">
                          <a:solidFill>
                            <a:srgbClr val="1A1A1A"/>
                          </a:solidFill>
                        </a:rPr>
                        <a:t>Récession UE confirmee — contraction PIB &gt; 1,5 %</a:t>
                      </a:r>
                    </a:p>
                  </a:txBody>
                  <a:tcPr>
                    <a:noFill/>
                  </a:tcPr>
                </a:tc>
                <a:tc>
                  <a:txBody>
                    <a:bodyPr/>
                    <a:lstStyle/>
                    <a:p>
                      <a:pPr algn="ctr"/>
                      <a:r>
                        <a:rPr sz="800" b="0">
                          <a:solidFill>
                            <a:srgbClr val="1A1A1A"/>
                          </a:solidFill>
                        </a:rPr>
                        <a:t>6-12 mois</a:t>
                      </a:r>
                    </a:p>
                  </a:txBody>
                  <a:tcPr>
                    <a:noFill/>
                  </a:tcPr>
                </a:tc>
              </a:tr>
              <a:tr h="2304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Réduction budgets IT &gt; 15 % grands comptes</a:t>
                      </a:r>
                    </a:p>
                  </a:txBody>
                  <a:tcPr>
                    <a:solidFill>
                      <a:srgbClr val="F5F7FA"/>
                    </a:solidFill>
                  </a:tcPr>
                </a:tc>
                <a:tc>
                  <a:txBody>
                    <a:bodyPr/>
                    <a:lstStyle/>
                    <a:p>
                      <a:pPr algn="ctr"/>
                      <a:r>
                        <a:rPr sz="800" b="0">
                          <a:solidFill>
                            <a:srgbClr val="1A1A1A"/>
                          </a:solidFill>
                        </a:rPr>
                        <a:t>12-18 mois</a:t>
                      </a:r>
                    </a:p>
                  </a:txBody>
                  <a:tcPr>
                    <a:solidFill>
                      <a:srgbClr val="F5F7FA"/>
                    </a:solidFill>
                  </a:tcPr>
                </a:tc>
              </a:tr>
              <a:tr h="230400">
                <a:tc>
                  <a:txBody>
                    <a:bodyPr/>
                    <a:lstStyle/>
                    <a:p>
                      <a:pPr algn="ctr"/>
                      <a:r>
                        <a:rPr sz="800" b="0">
                          <a:solidFill>
                            <a:srgbClr val="1A1A1A"/>
                          </a:solidFill>
                        </a:rPr>
                        <a:t>Réglementaire</a:t>
                      </a:r>
                    </a:p>
                  </a:txBody>
                  <a:tcPr>
                    <a:noFill/>
                  </a:tcPr>
                </a:tc>
                <a:tc>
                  <a:txBody>
                    <a:bodyPr/>
                    <a:lstStyle/>
                    <a:p>
                      <a:pPr algn="ctr"/>
                      <a:r>
                        <a:rPr sz="800" b="0">
                          <a:solidFill>
                            <a:srgbClr val="1A1A1A"/>
                          </a:solidFill>
                        </a:rPr>
                        <a:t>AI Act surcoût Conformité &gt; 15 % CA</a:t>
                      </a:r>
                    </a:p>
                  </a:txBody>
                  <a:tcPr>
                    <a:noFill/>
                  </a:tcPr>
                </a:tc>
                <a:tc>
                  <a:txBody>
                    <a:bodyPr/>
                    <a:lstStyle/>
                    <a:p>
                      <a:pPr algn="ctr"/>
                      <a:r>
                        <a:rPr sz="800" b="0">
                          <a:solidFill>
                            <a:srgbClr val="1A1A1A"/>
                          </a:solidFill>
                        </a:rPr>
                        <a:t>18-24 mois</a:t>
                      </a:r>
                    </a:p>
                  </a:txBody>
                  <a:tcPr>
                    <a:noFill/>
                  </a:tcPr>
                </a:tc>
              </a:tr>
              <a:tr h="230400">
                <a:tc>
                  <a:txBody>
                    <a:bodyPr/>
                    <a:lstStyle/>
                    <a:p>
                      <a:pPr algn="ctr"/>
                      <a:r>
                        <a:rPr sz="800" b="0">
                          <a:solidFill>
                            <a:srgbClr val="1A1A1A"/>
                          </a:solidFill>
                        </a:rPr>
                        <a:t>Fondamental</a:t>
                      </a:r>
                    </a:p>
                  </a:txBody>
                  <a:tcPr>
                    <a:solidFill>
                      <a:srgbClr val="F5F7FA"/>
                    </a:solidFill>
                  </a:tcPr>
                </a:tc>
                <a:tc>
                  <a:txBody>
                    <a:bodyPr/>
                    <a:lstStyle/>
                    <a:p>
                      <a:pPr algn="ctr"/>
                      <a:r>
                        <a:rPr sz="800" b="0">
                          <a:solidFill>
                            <a:srgbClr val="1A1A1A"/>
                          </a:solidFill>
                        </a:rPr>
                        <a:t>Révision baissière EPS &gt; 20 % sur 2 trimestres</a:t>
                      </a:r>
                    </a:p>
                  </a:txBody>
                  <a:tcPr>
                    <a:solidFill>
                      <a:srgbClr val="F5F7FA"/>
                    </a:solidFill>
                  </a:tcPr>
                </a:tc>
                <a:tc>
                  <a:txBody>
                    <a:bodyPr/>
                    <a:lstStyle/>
                    <a:p>
                      <a:pPr algn="ctr"/>
                      <a:r>
                        <a:rPr sz="800" b="0">
                          <a:solidFill>
                            <a:srgbClr val="1A1A1A"/>
                          </a:solidFill>
                        </a:rPr>
                        <a:t>6-9 mois</a:t>
                      </a:r>
                    </a:p>
                  </a:txBody>
                  <a:tcPr>
                    <a:solidFill>
                      <a:srgbClr val="F5F7FA"/>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&amp; Décision</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Thèses d'Investissement, verdict comparatif et recommandation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Synthèse Comparative  —  Thèses d'Investissement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Arguments structurels et risques majeurs : Santé vs Technology</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4031999"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200" y="777600"/>
            <a:ext cx="3941999" cy="172800"/>
          </a:xfrm>
          <a:prstGeom prst="rect">
            <a:avLst/>
          </a:prstGeom>
          <a:noFill/>
        </p:spPr>
        <p:txBody>
          <a:bodyPr wrap="square">
            <a:spAutoFit/>
          </a:bodyPr>
          <a:lstStyle/>
          <a:p>
            <a:pPr algn="l"/>
            <a:r>
              <a:rPr sz="950" b="1" i="0">
                <a:solidFill>
                  <a:srgbClr val="FFFFFF"/>
                </a:solidFill>
              </a:rPr>
              <a:t>THÈSE LONG  SANTÉ</a:t>
            </a:r>
          </a:p>
        </p:txBody>
      </p:sp>
      <p:sp>
        <p:nvSpPr>
          <p:cNvPr id="20" name="Rectangle 19"/>
          <p:cNvSpPr/>
          <p:nvPr/>
        </p:nvSpPr>
        <p:spPr>
          <a:xfrm>
            <a:off x="324000" y="1044000"/>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0800" y="1029600"/>
            <a:ext cx="3887999" cy="172800"/>
          </a:xfrm>
          <a:prstGeom prst="rect">
            <a:avLst/>
          </a:prstGeom>
          <a:noFill/>
        </p:spPr>
        <p:txBody>
          <a:bodyPr wrap="square">
            <a:spAutoFit/>
          </a:bodyPr>
          <a:lstStyle/>
          <a:p>
            <a:pPr algn="l"/>
            <a:r>
              <a:rPr sz="850" b="1" i="0">
                <a:solidFill>
                  <a:srgbClr val="1A1A1A"/>
                </a:solidFill>
              </a:rPr>
              <a:t>Marge EBITDA élevée (25%)</a:t>
            </a:r>
          </a:p>
        </p:txBody>
      </p:sp>
      <p:sp>
        <p:nvSpPr>
          <p:cNvPr id="22" name="TextBox 21"/>
          <p:cNvSpPr txBox="1"/>
          <p:nvPr/>
        </p:nvSpPr>
        <p:spPr>
          <a:xfrm>
            <a:off x="460800" y="1216800"/>
            <a:ext cx="3887999" cy="648000"/>
          </a:xfrm>
          <a:prstGeom prst="rect">
            <a:avLst/>
          </a:prstGeom>
          <a:noFill/>
        </p:spPr>
        <p:txBody>
          <a:bodyPr wrap="square">
            <a:spAutoFit/>
          </a:bodyPr>
          <a:lstStyle/>
          <a:p>
            <a:pPr algn="l"/>
            <a:r>
              <a:rPr sz="800" b="0" i="1">
                <a:solidFill>
                  <a:srgbClr val="555555"/>
                </a:solidFill>
              </a:rPr>
              <a:t>forte capacite a générer du cash opérationnel</a:t>
            </a:r>
          </a:p>
        </p:txBody>
      </p:sp>
      <p:sp>
        <p:nvSpPr>
          <p:cNvPr id="23" name="Rectangle 22"/>
          <p:cNvSpPr/>
          <p:nvPr/>
        </p:nvSpPr>
        <p:spPr>
          <a:xfrm>
            <a:off x="324000" y="1944000"/>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0800" y="1929600"/>
            <a:ext cx="3887999" cy="172800"/>
          </a:xfrm>
          <a:prstGeom prst="rect">
            <a:avLst/>
          </a:prstGeom>
          <a:noFill/>
        </p:spPr>
        <p:txBody>
          <a:bodyPr wrap="square">
            <a:spAutoFit/>
          </a:bodyPr>
          <a:lstStyle/>
          <a:p>
            <a:pPr algn="l"/>
            <a:r>
              <a:rPr sz="850" b="1" i="0">
                <a:solidFill>
                  <a:srgbClr val="1A1A1A"/>
                </a:solidFill>
              </a:rPr>
              <a:t>Croissance revenue soutenue (+30.0%)</a:t>
            </a:r>
          </a:p>
        </p:txBody>
      </p:sp>
      <p:sp>
        <p:nvSpPr>
          <p:cNvPr id="25" name="TextBox 24"/>
          <p:cNvSpPr txBox="1"/>
          <p:nvPr/>
        </p:nvSpPr>
        <p:spPr>
          <a:xfrm>
            <a:off x="460800" y="2116800"/>
            <a:ext cx="3887999" cy="648000"/>
          </a:xfrm>
          <a:prstGeom prst="rect">
            <a:avLst/>
          </a:prstGeom>
          <a:noFill/>
        </p:spPr>
        <p:txBody>
          <a:bodyPr wrap="square">
            <a:spAutoFit/>
          </a:bodyPr>
          <a:lstStyle/>
          <a:p>
            <a:pPr algn="l"/>
            <a:r>
              <a:rPr sz="800" b="0" i="1">
                <a:solidFill>
                  <a:srgbClr val="555555"/>
                </a:solidFill>
              </a:rPr>
              <a:t>secteur en expansion structurelle</a:t>
            </a:r>
          </a:p>
        </p:txBody>
      </p:sp>
      <p:sp>
        <p:nvSpPr>
          <p:cNvPr id="26" name="Rectangle 25"/>
          <p:cNvSpPr/>
          <p:nvPr/>
        </p:nvSpPr>
        <p:spPr>
          <a:xfrm>
            <a:off x="324000" y="2844000"/>
            <a:ext cx="79200" cy="79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0800" y="2829600"/>
            <a:ext cx="3887999" cy="172800"/>
          </a:xfrm>
          <a:prstGeom prst="rect">
            <a:avLst/>
          </a:prstGeom>
          <a:noFill/>
        </p:spPr>
        <p:txBody>
          <a:bodyPr wrap="square">
            <a:spAutoFit/>
          </a:bodyPr>
          <a:lstStyle/>
          <a:p>
            <a:pPr algn="l"/>
            <a:r>
              <a:rPr sz="850" b="1" i="0">
                <a:solidFill>
                  <a:srgbClr val="1A1A1A"/>
                </a:solidFill>
              </a:rPr>
              <a:t>FCF Yield (4.6%)</a:t>
            </a:r>
          </a:p>
        </p:txBody>
      </p:sp>
      <p:sp>
        <p:nvSpPr>
          <p:cNvPr id="28" name="TextBox 27"/>
          <p:cNvSpPr txBox="1"/>
          <p:nvPr/>
        </p:nvSpPr>
        <p:spPr>
          <a:xfrm>
            <a:off x="460800" y="3016800"/>
            <a:ext cx="3887999" cy="648000"/>
          </a:xfrm>
          <a:prstGeom prst="rect">
            <a:avLst/>
          </a:prstGeom>
          <a:noFill/>
        </p:spPr>
        <p:txBody>
          <a:bodyPr wrap="square">
            <a:spAutoFit/>
          </a:bodyPr>
          <a:lstStyle/>
          <a:p>
            <a:pPr algn="l"/>
            <a:r>
              <a:rPr sz="800" b="0" i="1">
                <a:solidFill>
                  <a:srgbClr val="555555"/>
                </a:solidFill>
              </a:rPr>
              <a:t>génération de cash visible, base pour dividendes et rachats</a:t>
            </a:r>
          </a:p>
        </p:txBody>
      </p:sp>
      <p:sp>
        <p:nvSpPr>
          <p:cNvPr id="29" name="Rectangle 28"/>
          <p:cNvSpPr/>
          <p:nvPr/>
        </p:nvSpPr>
        <p:spPr>
          <a:xfrm>
            <a:off x="4716000" y="756000"/>
            <a:ext cx="4031999" cy="2160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9200" y="777600"/>
            <a:ext cx="3941999" cy="172800"/>
          </a:xfrm>
          <a:prstGeom prst="rect">
            <a:avLst/>
          </a:prstGeom>
          <a:noFill/>
        </p:spPr>
        <p:txBody>
          <a:bodyPr wrap="square">
            <a:spAutoFit/>
          </a:bodyPr>
          <a:lstStyle/>
          <a:p>
            <a:pPr algn="l"/>
            <a:r>
              <a:rPr sz="950" b="1" i="0">
                <a:solidFill>
                  <a:srgbClr val="FFFFFF"/>
                </a:solidFill>
              </a:rPr>
              <a:t>THÈSE LONG  TECHNOLOGY</a:t>
            </a:r>
          </a:p>
        </p:txBody>
      </p:sp>
      <p:sp>
        <p:nvSpPr>
          <p:cNvPr id="31" name="Rectangle 30"/>
          <p:cNvSpPr/>
          <p:nvPr/>
        </p:nvSpPr>
        <p:spPr>
          <a:xfrm>
            <a:off x="4716000" y="1044000"/>
            <a:ext cx="79200" cy="792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52800" y="1029600"/>
            <a:ext cx="3887999" cy="172800"/>
          </a:xfrm>
          <a:prstGeom prst="rect">
            <a:avLst/>
          </a:prstGeom>
          <a:noFill/>
        </p:spPr>
        <p:txBody>
          <a:bodyPr wrap="square">
            <a:spAutoFit/>
          </a:bodyPr>
          <a:lstStyle/>
          <a:p>
            <a:pPr algn="l"/>
            <a:r>
              <a:rPr sz="850" b="1" i="0">
                <a:solidFill>
                  <a:srgbClr val="1A1A1A"/>
                </a:solidFill>
              </a:rPr>
              <a:t>Marge EBITDA élevée (47%)</a:t>
            </a:r>
          </a:p>
        </p:txBody>
      </p:sp>
      <p:sp>
        <p:nvSpPr>
          <p:cNvPr id="33" name="TextBox 32"/>
          <p:cNvSpPr txBox="1"/>
          <p:nvPr/>
        </p:nvSpPr>
        <p:spPr>
          <a:xfrm>
            <a:off x="4852800" y="1216800"/>
            <a:ext cx="3887999" cy="648000"/>
          </a:xfrm>
          <a:prstGeom prst="rect">
            <a:avLst/>
          </a:prstGeom>
          <a:noFill/>
        </p:spPr>
        <p:txBody>
          <a:bodyPr wrap="square">
            <a:spAutoFit/>
          </a:bodyPr>
          <a:lstStyle/>
          <a:p>
            <a:pPr algn="l"/>
            <a:r>
              <a:rPr sz="800" b="0" i="1">
                <a:solidFill>
                  <a:srgbClr val="555555"/>
                </a:solidFill>
              </a:rPr>
              <a:t>forte capacite a générer du cash opérationnel</a:t>
            </a:r>
          </a:p>
        </p:txBody>
      </p:sp>
      <p:sp>
        <p:nvSpPr>
          <p:cNvPr id="34" name="Rectangle 33"/>
          <p:cNvSpPr/>
          <p:nvPr/>
        </p:nvSpPr>
        <p:spPr>
          <a:xfrm>
            <a:off x="4716000" y="1944000"/>
            <a:ext cx="79200" cy="792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52800" y="1929600"/>
            <a:ext cx="3887999" cy="172800"/>
          </a:xfrm>
          <a:prstGeom prst="rect">
            <a:avLst/>
          </a:prstGeom>
          <a:noFill/>
        </p:spPr>
        <p:txBody>
          <a:bodyPr wrap="square">
            <a:spAutoFit/>
          </a:bodyPr>
          <a:lstStyle/>
          <a:p>
            <a:pPr algn="l"/>
            <a:r>
              <a:rPr sz="850" b="1" i="0">
                <a:solidFill>
                  <a:srgbClr val="1A1A1A"/>
                </a:solidFill>
              </a:rPr>
              <a:t>Croissance revenue soutenue (+22.7%)</a:t>
            </a:r>
          </a:p>
        </p:txBody>
      </p:sp>
      <p:sp>
        <p:nvSpPr>
          <p:cNvPr id="36" name="TextBox 35"/>
          <p:cNvSpPr txBox="1"/>
          <p:nvPr/>
        </p:nvSpPr>
        <p:spPr>
          <a:xfrm>
            <a:off x="4852800" y="2116800"/>
            <a:ext cx="3887999" cy="648000"/>
          </a:xfrm>
          <a:prstGeom prst="rect">
            <a:avLst/>
          </a:prstGeom>
          <a:noFill/>
        </p:spPr>
        <p:txBody>
          <a:bodyPr wrap="square">
            <a:spAutoFit/>
          </a:bodyPr>
          <a:lstStyle/>
          <a:p>
            <a:pPr algn="l"/>
            <a:r>
              <a:rPr sz="800" b="0" i="1">
                <a:solidFill>
                  <a:srgbClr val="555555"/>
                </a:solidFill>
              </a:rPr>
              <a:t>secteur en expansion structurelle</a:t>
            </a:r>
          </a:p>
        </p:txBody>
      </p:sp>
      <p:sp>
        <p:nvSpPr>
          <p:cNvPr id="37" name="Rectangle 36"/>
          <p:cNvSpPr/>
          <p:nvPr/>
        </p:nvSpPr>
        <p:spPr>
          <a:xfrm>
            <a:off x="4716000" y="2844000"/>
            <a:ext cx="79200" cy="7920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52800" y="2829600"/>
            <a:ext cx="3887999" cy="172800"/>
          </a:xfrm>
          <a:prstGeom prst="rect">
            <a:avLst/>
          </a:prstGeom>
          <a:noFill/>
        </p:spPr>
        <p:txBody>
          <a:bodyPr wrap="square">
            <a:spAutoFit/>
          </a:bodyPr>
          <a:lstStyle/>
          <a:p>
            <a:pPr algn="l"/>
            <a:r>
              <a:rPr sz="850" b="1" i="0">
                <a:solidFill>
                  <a:srgbClr val="1A1A1A"/>
                </a:solidFill>
              </a:rPr>
              <a:t>ROE attractif (35%)</a:t>
            </a:r>
          </a:p>
        </p:txBody>
      </p:sp>
      <p:sp>
        <p:nvSpPr>
          <p:cNvPr id="39" name="TextBox 38"/>
          <p:cNvSpPr txBox="1"/>
          <p:nvPr/>
        </p:nvSpPr>
        <p:spPr>
          <a:xfrm>
            <a:off x="4852800" y="3016800"/>
            <a:ext cx="3887999" cy="648000"/>
          </a:xfrm>
          <a:prstGeom prst="rect">
            <a:avLst/>
          </a:prstGeom>
          <a:noFill/>
        </p:spPr>
        <p:txBody>
          <a:bodyPr wrap="square">
            <a:spAutoFit/>
          </a:bodyPr>
          <a:lstStyle/>
          <a:p>
            <a:pPr algn="l"/>
            <a:r>
              <a:rPr sz="800" b="0" i="1">
                <a:solidFill>
                  <a:srgbClr val="555555"/>
                </a:solidFill>
              </a:rPr>
              <a:t>modèle a forte création de valeur actionnariale</a:t>
            </a:r>
          </a:p>
        </p:txBody>
      </p:sp>
      <p:sp>
        <p:nvSpPr>
          <p:cNvPr id="40" name="Rectangle 39"/>
          <p:cNvSpPr/>
          <p:nvPr/>
        </p:nvSpPr>
        <p:spPr>
          <a:xfrm>
            <a:off x="324000" y="3780000"/>
            <a:ext cx="8424000" cy="198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6000" y="3801600"/>
            <a:ext cx="8280000" cy="162000"/>
          </a:xfrm>
          <a:prstGeom prst="rect">
            <a:avLst/>
          </a:prstGeom>
          <a:noFill/>
        </p:spPr>
        <p:txBody>
          <a:bodyPr wrap="square">
            <a:spAutoFit/>
          </a:bodyPr>
          <a:lstStyle/>
          <a:p>
            <a:pPr algn="ctr"/>
            <a:r>
              <a:rPr sz="1000" b="1" i="0">
                <a:solidFill>
                  <a:srgbClr val="FFFFFF"/>
                </a:solidFill>
              </a:rPr>
              <a:t>RISQUES PRINCIPAUX</a:t>
            </a:r>
          </a:p>
        </p:txBody>
      </p:sp>
      <p:sp>
        <p:nvSpPr>
          <p:cNvPr id="42" name="Rectangle 41"/>
          <p:cNvSpPr/>
          <p:nvPr/>
        </p:nvSpPr>
        <p:spPr>
          <a:xfrm>
            <a:off x="324000" y="3996000"/>
            <a:ext cx="8424000" cy="81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4000" y="3996000"/>
            <a:ext cx="46800" cy="81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2000" y="4031999"/>
            <a:ext cx="8280000" cy="129600"/>
          </a:xfrm>
          <a:prstGeom prst="rect">
            <a:avLst/>
          </a:prstGeom>
          <a:noFill/>
        </p:spPr>
        <p:txBody>
          <a:bodyPr wrap="square">
            <a:spAutoFit/>
          </a:bodyPr>
          <a:lstStyle/>
          <a:p>
            <a:pPr algn="l"/>
            <a:r>
              <a:rPr sz="900" b="1" i="0">
                <a:solidFill>
                  <a:srgbClr val="1B3A6B"/>
                </a:solidFill>
              </a:rPr>
              <a:t>SANTÉ VS TECHNOLOGY — RISQUES STRUCTURELS ET POINTS D'INVALIDATION</a:t>
            </a:r>
          </a:p>
        </p:txBody>
      </p:sp>
      <p:sp>
        <p:nvSpPr>
          <p:cNvPr id="45" name="TextBox 44"/>
          <p:cNvSpPr txBox="1"/>
          <p:nvPr/>
        </p:nvSpPr>
        <p:spPr>
          <a:xfrm>
            <a:off x="432000" y="4176000"/>
            <a:ext cx="8243999" cy="586800"/>
          </a:xfrm>
          <a:prstGeom prst="rect">
            <a:avLst/>
          </a:prstGeom>
          <a:noFill/>
        </p:spPr>
        <p:txBody>
          <a:bodyPr wrap="square">
            <a:spAutoFit/>
          </a:bodyPr>
          <a:lstStyle/>
          <a:p>
            <a:pPr algn="l"/>
            <a:r>
              <a:rPr sz="900" b="0" i="0">
                <a:solidFill>
                  <a:srgbClr val="1B3A6B"/>
                </a:solidFill>
              </a:rPr>
              <a:t>Santé : Surveillance du consensus — révision de valorisation possible.  Technology : Valorisation tendue (P/E 31x) — peu de marge de sécurité en cas de déception.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Recommandation  —  Positionnement Portefeuille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Signal FinSight et implications pour la construction de portefeuille</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8496000" cy="19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774000"/>
            <a:ext cx="8424000" cy="162000"/>
          </a:xfrm>
          <a:prstGeom prst="rect">
            <a:avLst/>
          </a:prstGeom>
          <a:noFill/>
        </p:spPr>
        <p:txBody>
          <a:bodyPr wrap="square">
            <a:spAutoFit/>
          </a:bodyPr>
          <a:lstStyle/>
          <a:p>
            <a:pPr algn="l"/>
            <a:r>
              <a:rPr sz="750" b="0" i="1">
                <a:solidFill>
                  <a:srgbClr val="555555"/>
                </a:solidFill>
              </a:rPr>
              <a:t>Les signaux FinSight sont calculés sur données fondamentales réelles (yfinance). Ils ne constituent pas un conseil en investissement.</a:t>
            </a:r>
          </a:p>
        </p:txBody>
      </p:sp>
      <p:sp>
        <p:nvSpPr>
          <p:cNvPr id="20" name="Rectangle 19"/>
          <p:cNvSpPr/>
          <p:nvPr/>
        </p:nvSpPr>
        <p:spPr>
          <a:xfrm>
            <a:off x="324000" y="1036800"/>
            <a:ext cx="4031999" cy="37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000" y="1065600"/>
            <a:ext cx="3960000" cy="172800"/>
          </a:xfrm>
          <a:prstGeom prst="rect">
            <a:avLst/>
          </a:prstGeom>
          <a:noFill/>
        </p:spPr>
        <p:txBody>
          <a:bodyPr wrap="square">
            <a:spAutoFit/>
          </a:bodyPr>
          <a:lstStyle/>
          <a:p>
            <a:pPr algn="l"/>
            <a:r>
              <a:rPr sz="1100" b="1" i="0">
                <a:solidFill>
                  <a:srgbClr val="FFFFFF"/>
                </a:solidFill>
              </a:rPr>
              <a:t>Santé</a:t>
            </a:r>
          </a:p>
        </p:txBody>
      </p:sp>
      <p:sp>
        <p:nvSpPr>
          <p:cNvPr id="22" name="TextBox 21"/>
          <p:cNvSpPr txBox="1"/>
          <p:nvPr/>
        </p:nvSpPr>
        <p:spPr>
          <a:xfrm>
            <a:off x="360000" y="1260000"/>
            <a:ext cx="3960000" cy="144000"/>
          </a:xfrm>
          <a:prstGeom prst="rect">
            <a:avLst/>
          </a:prstGeom>
          <a:noFill/>
        </p:spPr>
        <p:txBody>
          <a:bodyPr wrap="square">
            <a:spAutoFit/>
          </a:bodyPr>
          <a:lstStyle/>
          <a:p>
            <a:pPr algn="l"/>
            <a:r>
              <a:rPr sz="850" b="0" i="0">
                <a:solidFill>
                  <a:srgbClr val="FFFFFF"/>
                </a:solidFill>
              </a:rPr>
              <a:t>Global</a:t>
            </a:r>
          </a:p>
        </p:txBody>
      </p:sp>
      <p:sp>
        <p:nvSpPr>
          <p:cNvPr id="23" name="Rectangle 22"/>
          <p:cNvSpPr/>
          <p:nvPr/>
        </p:nvSpPr>
        <p:spPr>
          <a:xfrm>
            <a:off x="324000" y="1440000"/>
            <a:ext cx="4031999" cy="46800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1512000"/>
            <a:ext cx="4031999" cy="270000"/>
          </a:xfrm>
          <a:prstGeom prst="rect">
            <a:avLst/>
          </a:prstGeom>
          <a:noFill/>
        </p:spPr>
        <p:txBody>
          <a:bodyPr wrap="square">
            <a:spAutoFit/>
          </a:bodyPr>
          <a:lstStyle/>
          <a:p>
            <a:pPr algn="ctr"/>
            <a:r>
              <a:rPr sz="2000" b="1" i="0">
                <a:solidFill>
                  <a:srgbClr val="FFFFFF"/>
                </a:solidFill>
              </a:rPr>
              <a:t>● Neutre</a:t>
            </a:r>
          </a:p>
        </p:txBody>
      </p:sp>
      <p:sp>
        <p:nvSpPr>
          <p:cNvPr id="25" name="Rectangle 24"/>
          <p:cNvSpPr/>
          <p:nvPr/>
        </p:nvSpPr>
        <p:spPr>
          <a:xfrm>
            <a:off x="324000" y="1980000"/>
            <a:ext cx="4031999" cy="24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0000" y="2015999"/>
            <a:ext cx="2520000" cy="187200"/>
          </a:xfrm>
          <a:prstGeom prst="rect">
            <a:avLst/>
          </a:prstGeom>
          <a:noFill/>
        </p:spPr>
        <p:txBody>
          <a:bodyPr wrap="square">
            <a:spAutoFit/>
          </a:bodyPr>
          <a:lstStyle/>
          <a:p>
            <a:pPr algn="l"/>
            <a:r>
              <a:rPr sz="850" b="0" i="0">
                <a:solidFill>
                  <a:srgbClr val="555555"/>
                </a:solidFill>
              </a:rPr>
              <a:t>Score FinSight</a:t>
            </a:r>
          </a:p>
        </p:txBody>
      </p:sp>
      <p:sp>
        <p:nvSpPr>
          <p:cNvPr id="27" name="TextBox 26"/>
          <p:cNvSpPr txBox="1"/>
          <p:nvPr/>
        </p:nvSpPr>
        <p:spPr>
          <a:xfrm>
            <a:off x="360000" y="2015999"/>
            <a:ext cx="3960000" cy="187200"/>
          </a:xfrm>
          <a:prstGeom prst="rect">
            <a:avLst/>
          </a:prstGeom>
          <a:noFill/>
        </p:spPr>
        <p:txBody>
          <a:bodyPr wrap="square">
            <a:spAutoFit/>
          </a:bodyPr>
          <a:lstStyle/>
          <a:p>
            <a:pPr algn="r"/>
            <a:r>
              <a:rPr sz="850" b="1" i="0">
                <a:solidFill>
                  <a:srgbClr val="1B3A6B"/>
                </a:solidFill>
              </a:rPr>
              <a:t>49/100</a:t>
            </a:r>
          </a:p>
        </p:txBody>
      </p:sp>
      <p:sp>
        <p:nvSpPr>
          <p:cNvPr id="28" name="Rectangle 27"/>
          <p:cNvSpPr/>
          <p:nvPr/>
        </p:nvSpPr>
        <p:spPr>
          <a:xfrm>
            <a:off x="324000" y="2250000"/>
            <a:ext cx="4031999" cy="24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0000" y="2286000"/>
            <a:ext cx="2520000" cy="187200"/>
          </a:xfrm>
          <a:prstGeom prst="rect">
            <a:avLst/>
          </a:prstGeom>
          <a:noFill/>
        </p:spPr>
        <p:txBody>
          <a:bodyPr wrap="square">
            <a:spAutoFit/>
          </a:bodyPr>
          <a:lstStyle/>
          <a:p>
            <a:pPr algn="l"/>
            <a:r>
              <a:rPr sz="850" b="0" i="0">
                <a:solidFill>
                  <a:srgbClr val="555555"/>
                </a:solidFill>
              </a:rPr>
              <a:t>P/E Médian</a:t>
            </a:r>
          </a:p>
        </p:txBody>
      </p:sp>
      <p:sp>
        <p:nvSpPr>
          <p:cNvPr id="30" name="TextBox 29"/>
          <p:cNvSpPr txBox="1"/>
          <p:nvPr/>
        </p:nvSpPr>
        <p:spPr>
          <a:xfrm>
            <a:off x="360000" y="2286000"/>
            <a:ext cx="3960000" cy="187200"/>
          </a:xfrm>
          <a:prstGeom prst="rect">
            <a:avLst/>
          </a:prstGeom>
          <a:noFill/>
        </p:spPr>
        <p:txBody>
          <a:bodyPr wrap="square">
            <a:spAutoFit/>
          </a:bodyPr>
          <a:lstStyle/>
          <a:p>
            <a:pPr algn="r"/>
            <a:r>
              <a:rPr sz="850" b="1" i="0">
                <a:solidFill>
                  <a:srgbClr val="1B3A6B"/>
                </a:solidFill>
              </a:rPr>
              <a:t>24.8x</a:t>
            </a:r>
          </a:p>
        </p:txBody>
      </p:sp>
      <p:sp>
        <p:nvSpPr>
          <p:cNvPr id="31" name="Rectangle 30"/>
          <p:cNvSpPr/>
          <p:nvPr/>
        </p:nvSpPr>
        <p:spPr>
          <a:xfrm>
            <a:off x="324000" y="2520000"/>
            <a:ext cx="4031999" cy="24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000" y="2556000"/>
            <a:ext cx="2520000" cy="187200"/>
          </a:xfrm>
          <a:prstGeom prst="rect">
            <a:avLst/>
          </a:prstGeom>
          <a:noFill/>
        </p:spPr>
        <p:txBody>
          <a:bodyPr wrap="square">
            <a:spAutoFit/>
          </a:bodyPr>
          <a:lstStyle/>
          <a:p>
            <a:pPr algn="l"/>
            <a:r>
              <a:rPr sz="850" b="0" i="0">
                <a:solidFill>
                  <a:srgbClr val="555555"/>
                </a:solidFill>
              </a:rPr>
              <a:t>Croissance Rev.</a:t>
            </a:r>
          </a:p>
        </p:txBody>
      </p:sp>
      <p:sp>
        <p:nvSpPr>
          <p:cNvPr id="33" name="TextBox 32"/>
          <p:cNvSpPr txBox="1"/>
          <p:nvPr/>
        </p:nvSpPr>
        <p:spPr>
          <a:xfrm>
            <a:off x="360000" y="2556000"/>
            <a:ext cx="3960000" cy="187200"/>
          </a:xfrm>
          <a:prstGeom prst="rect">
            <a:avLst/>
          </a:prstGeom>
          <a:noFill/>
        </p:spPr>
        <p:txBody>
          <a:bodyPr wrap="square">
            <a:spAutoFit/>
          </a:bodyPr>
          <a:lstStyle/>
          <a:p>
            <a:pPr algn="r"/>
            <a:r>
              <a:rPr sz="850" b="1" i="0">
                <a:solidFill>
                  <a:srgbClr val="1B3A6B"/>
                </a:solidFill>
              </a:rPr>
              <a:t>+30.0 %</a:t>
            </a:r>
          </a:p>
        </p:txBody>
      </p:sp>
      <p:sp>
        <p:nvSpPr>
          <p:cNvPr id="34" name="Rectangle 33"/>
          <p:cNvSpPr/>
          <p:nvPr/>
        </p:nvSpPr>
        <p:spPr>
          <a:xfrm>
            <a:off x="324000" y="2790000"/>
            <a:ext cx="4031999" cy="24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2826000"/>
            <a:ext cx="2520000" cy="187200"/>
          </a:xfrm>
          <a:prstGeom prst="rect">
            <a:avLst/>
          </a:prstGeom>
          <a:noFill/>
        </p:spPr>
        <p:txBody>
          <a:bodyPr wrap="square">
            <a:spAutoFit/>
          </a:bodyPr>
          <a:lstStyle/>
          <a:p>
            <a:pPr algn="l"/>
            <a:r>
              <a:rPr sz="850" b="0" i="0">
                <a:solidFill>
                  <a:srgbClr val="555555"/>
                </a:solidFill>
              </a:rPr>
              <a:t>Marge EBITDA</a:t>
            </a:r>
          </a:p>
        </p:txBody>
      </p:sp>
      <p:sp>
        <p:nvSpPr>
          <p:cNvPr id="36" name="TextBox 35"/>
          <p:cNvSpPr txBox="1"/>
          <p:nvPr/>
        </p:nvSpPr>
        <p:spPr>
          <a:xfrm>
            <a:off x="360000" y="2826000"/>
            <a:ext cx="3960000" cy="187200"/>
          </a:xfrm>
          <a:prstGeom prst="rect">
            <a:avLst/>
          </a:prstGeom>
          <a:noFill/>
        </p:spPr>
        <p:txBody>
          <a:bodyPr wrap="square">
            <a:spAutoFit/>
          </a:bodyPr>
          <a:lstStyle/>
          <a:p>
            <a:pPr algn="r"/>
            <a:r>
              <a:rPr sz="850" b="1" i="0">
                <a:solidFill>
                  <a:srgbClr val="1B3A6B"/>
                </a:solidFill>
              </a:rPr>
              <a:t>25.2 %</a:t>
            </a:r>
          </a:p>
        </p:txBody>
      </p:sp>
      <p:sp>
        <p:nvSpPr>
          <p:cNvPr id="37" name="Rectangle 36"/>
          <p:cNvSpPr/>
          <p:nvPr/>
        </p:nvSpPr>
        <p:spPr>
          <a:xfrm>
            <a:off x="324000" y="3060000"/>
            <a:ext cx="4031999" cy="24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0000" y="3096000"/>
            <a:ext cx="2520000" cy="187200"/>
          </a:xfrm>
          <a:prstGeom prst="rect">
            <a:avLst/>
          </a:prstGeom>
          <a:noFill/>
        </p:spPr>
        <p:txBody>
          <a:bodyPr wrap="square">
            <a:spAutoFit/>
          </a:bodyPr>
          <a:lstStyle/>
          <a:p>
            <a:pPr algn="l"/>
            <a:r>
              <a:rPr sz="850" b="0" i="0">
                <a:solidFill>
                  <a:srgbClr val="555555"/>
                </a:solidFill>
              </a:rPr>
              <a:t>ROE</a:t>
            </a:r>
          </a:p>
        </p:txBody>
      </p:sp>
      <p:sp>
        <p:nvSpPr>
          <p:cNvPr id="39" name="TextBox 38"/>
          <p:cNvSpPr txBox="1"/>
          <p:nvPr/>
        </p:nvSpPr>
        <p:spPr>
          <a:xfrm>
            <a:off x="360000" y="3096000"/>
            <a:ext cx="3960000" cy="187200"/>
          </a:xfrm>
          <a:prstGeom prst="rect">
            <a:avLst/>
          </a:prstGeom>
          <a:noFill/>
        </p:spPr>
        <p:txBody>
          <a:bodyPr wrap="square">
            <a:spAutoFit/>
          </a:bodyPr>
          <a:lstStyle/>
          <a:p>
            <a:pPr algn="r"/>
            <a:r>
              <a:rPr sz="850" b="1" i="0">
                <a:solidFill>
                  <a:srgbClr val="1B3A6B"/>
                </a:solidFill>
              </a:rPr>
              <a:t>11.6 %</a:t>
            </a:r>
          </a:p>
        </p:txBody>
      </p:sp>
      <p:sp>
        <p:nvSpPr>
          <p:cNvPr id="40" name="Rectangle 39"/>
          <p:cNvSpPr/>
          <p:nvPr/>
        </p:nvSpPr>
        <p:spPr>
          <a:xfrm>
            <a:off x="324000" y="3330000"/>
            <a:ext cx="4031999" cy="24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0000" y="3366000"/>
            <a:ext cx="2520000" cy="187200"/>
          </a:xfrm>
          <a:prstGeom prst="rect">
            <a:avLst/>
          </a:prstGeom>
          <a:noFill/>
        </p:spPr>
        <p:txBody>
          <a:bodyPr wrap="square">
            <a:spAutoFit/>
          </a:bodyPr>
          <a:lstStyle/>
          <a:p>
            <a:pPr algn="l"/>
            <a:r>
              <a:rPr sz="850" b="0" i="0">
                <a:solidFill>
                  <a:srgbClr val="555555"/>
                </a:solidFill>
              </a:rPr>
              <a:t>Perf. 52S</a:t>
            </a:r>
          </a:p>
        </p:txBody>
      </p:sp>
      <p:sp>
        <p:nvSpPr>
          <p:cNvPr id="42" name="TextBox 41"/>
          <p:cNvSpPr txBox="1"/>
          <p:nvPr/>
        </p:nvSpPr>
        <p:spPr>
          <a:xfrm>
            <a:off x="360000" y="3366000"/>
            <a:ext cx="3960000" cy="187200"/>
          </a:xfrm>
          <a:prstGeom prst="rect">
            <a:avLst/>
          </a:prstGeom>
          <a:noFill/>
        </p:spPr>
        <p:txBody>
          <a:bodyPr wrap="square">
            <a:spAutoFit/>
          </a:bodyPr>
          <a:lstStyle/>
          <a:p>
            <a:pPr algn="r"/>
            <a:r>
              <a:rPr sz="850" b="1" i="0">
                <a:solidFill>
                  <a:srgbClr val="1B3A6B"/>
                </a:solidFill>
              </a:rPr>
              <a:t>+6.0 %</a:t>
            </a:r>
          </a:p>
        </p:txBody>
      </p:sp>
      <p:sp>
        <p:nvSpPr>
          <p:cNvPr id="43" name="Rectangle 42"/>
          <p:cNvSpPr/>
          <p:nvPr/>
        </p:nvSpPr>
        <p:spPr>
          <a:xfrm>
            <a:off x="4572000" y="972000"/>
            <a:ext cx="14400" cy="27000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16000" y="1036800"/>
            <a:ext cx="4031999" cy="37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52000" y="1065600"/>
            <a:ext cx="3960000" cy="172800"/>
          </a:xfrm>
          <a:prstGeom prst="rect">
            <a:avLst/>
          </a:prstGeom>
          <a:noFill/>
        </p:spPr>
        <p:txBody>
          <a:bodyPr wrap="square">
            <a:spAutoFit/>
          </a:bodyPr>
          <a:lstStyle/>
          <a:p>
            <a:pPr algn="l"/>
            <a:r>
              <a:rPr sz="1100" b="1" i="0">
                <a:solidFill>
                  <a:srgbClr val="FFFFFF"/>
                </a:solidFill>
              </a:rPr>
              <a:t>Technology</a:t>
            </a:r>
          </a:p>
        </p:txBody>
      </p:sp>
      <p:sp>
        <p:nvSpPr>
          <p:cNvPr id="46" name="TextBox 45"/>
          <p:cNvSpPr txBox="1"/>
          <p:nvPr/>
        </p:nvSpPr>
        <p:spPr>
          <a:xfrm>
            <a:off x="4752000" y="1260000"/>
            <a:ext cx="3960000" cy="144000"/>
          </a:xfrm>
          <a:prstGeom prst="rect">
            <a:avLst/>
          </a:prstGeom>
          <a:noFill/>
        </p:spPr>
        <p:txBody>
          <a:bodyPr wrap="square">
            <a:spAutoFit/>
          </a:bodyPr>
          <a:lstStyle/>
          <a:p>
            <a:pPr algn="l"/>
            <a:r>
              <a:rPr sz="850" b="0" i="0">
                <a:solidFill>
                  <a:srgbClr val="FFFFFF"/>
                </a:solidFill>
              </a:rPr>
              <a:t>Global</a:t>
            </a:r>
          </a:p>
        </p:txBody>
      </p:sp>
      <p:sp>
        <p:nvSpPr>
          <p:cNvPr id="47" name="Rectangle 46"/>
          <p:cNvSpPr/>
          <p:nvPr/>
        </p:nvSpPr>
        <p:spPr>
          <a:xfrm>
            <a:off x="4716000" y="1440000"/>
            <a:ext cx="4031999" cy="46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16000" y="1512000"/>
            <a:ext cx="4031999" cy="270000"/>
          </a:xfrm>
          <a:prstGeom prst="rect">
            <a:avLst/>
          </a:prstGeom>
          <a:noFill/>
        </p:spPr>
        <p:txBody>
          <a:bodyPr wrap="square">
            <a:spAutoFit/>
          </a:bodyPr>
          <a:lstStyle/>
          <a:p>
            <a:pPr algn="ctr"/>
            <a:r>
              <a:rPr sz="2000" b="1" i="0">
                <a:solidFill>
                  <a:srgbClr val="FFFFFF"/>
                </a:solidFill>
              </a:rPr>
              <a:t>● Surpondérer</a:t>
            </a:r>
          </a:p>
        </p:txBody>
      </p:sp>
      <p:sp>
        <p:nvSpPr>
          <p:cNvPr id="49" name="Rectangle 48"/>
          <p:cNvSpPr/>
          <p:nvPr/>
        </p:nvSpPr>
        <p:spPr>
          <a:xfrm>
            <a:off x="4716000" y="1980000"/>
            <a:ext cx="4031999" cy="24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52000" y="2015999"/>
            <a:ext cx="2520000" cy="187200"/>
          </a:xfrm>
          <a:prstGeom prst="rect">
            <a:avLst/>
          </a:prstGeom>
          <a:noFill/>
        </p:spPr>
        <p:txBody>
          <a:bodyPr wrap="square">
            <a:spAutoFit/>
          </a:bodyPr>
          <a:lstStyle/>
          <a:p>
            <a:pPr algn="l"/>
            <a:r>
              <a:rPr sz="850" b="0" i="0">
                <a:solidFill>
                  <a:srgbClr val="555555"/>
                </a:solidFill>
              </a:rPr>
              <a:t>Score FinSight</a:t>
            </a:r>
          </a:p>
        </p:txBody>
      </p:sp>
      <p:sp>
        <p:nvSpPr>
          <p:cNvPr id="51" name="TextBox 50"/>
          <p:cNvSpPr txBox="1"/>
          <p:nvPr/>
        </p:nvSpPr>
        <p:spPr>
          <a:xfrm>
            <a:off x="4752000" y="2015999"/>
            <a:ext cx="3960000" cy="187200"/>
          </a:xfrm>
          <a:prstGeom prst="rect">
            <a:avLst/>
          </a:prstGeom>
          <a:noFill/>
        </p:spPr>
        <p:txBody>
          <a:bodyPr wrap="square">
            <a:spAutoFit/>
          </a:bodyPr>
          <a:lstStyle/>
          <a:p>
            <a:pPr algn="r"/>
            <a:r>
              <a:rPr sz="850" b="1" i="0">
                <a:solidFill>
                  <a:srgbClr val="1A7A4A"/>
                </a:solidFill>
              </a:rPr>
              <a:t>76/100</a:t>
            </a:r>
          </a:p>
        </p:txBody>
      </p:sp>
      <p:sp>
        <p:nvSpPr>
          <p:cNvPr id="52" name="Rectangle 51"/>
          <p:cNvSpPr/>
          <p:nvPr/>
        </p:nvSpPr>
        <p:spPr>
          <a:xfrm>
            <a:off x="4716000" y="2250000"/>
            <a:ext cx="4031999" cy="24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52000" y="2286000"/>
            <a:ext cx="2520000" cy="187200"/>
          </a:xfrm>
          <a:prstGeom prst="rect">
            <a:avLst/>
          </a:prstGeom>
          <a:noFill/>
        </p:spPr>
        <p:txBody>
          <a:bodyPr wrap="square">
            <a:spAutoFit/>
          </a:bodyPr>
          <a:lstStyle/>
          <a:p>
            <a:pPr algn="l"/>
            <a:r>
              <a:rPr sz="850" b="0" i="0">
                <a:solidFill>
                  <a:srgbClr val="555555"/>
                </a:solidFill>
              </a:rPr>
              <a:t>P/E Médian</a:t>
            </a:r>
          </a:p>
        </p:txBody>
      </p:sp>
      <p:sp>
        <p:nvSpPr>
          <p:cNvPr id="54" name="TextBox 53"/>
          <p:cNvSpPr txBox="1"/>
          <p:nvPr/>
        </p:nvSpPr>
        <p:spPr>
          <a:xfrm>
            <a:off x="4752000" y="2286000"/>
            <a:ext cx="3960000" cy="187200"/>
          </a:xfrm>
          <a:prstGeom prst="rect">
            <a:avLst/>
          </a:prstGeom>
          <a:noFill/>
        </p:spPr>
        <p:txBody>
          <a:bodyPr wrap="square">
            <a:spAutoFit/>
          </a:bodyPr>
          <a:lstStyle/>
          <a:p>
            <a:pPr algn="r"/>
            <a:r>
              <a:rPr sz="850" b="1" i="0">
                <a:solidFill>
                  <a:srgbClr val="1A7A4A"/>
                </a:solidFill>
              </a:rPr>
              <a:t>31.2x</a:t>
            </a:r>
          </a:p>
        </p:txBody>
      </p:sp>
      <p:sp>
        <p:nvSpPr>
          <p:cNvPr id="55" name="Rectangle 54"/>
          <p:cNvSpPr/>
          <p:nvPr/>
        </p:nvSpPr>
        <p:spPr>
          <a:xfrm>
            <a:off x="4716000" y="2520000"/>
            <a:ext cx="4031999" cy="24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52000" y="2556000"/>
            <a:ext cx="2520000" cy="187200"/>
          </a:xfrm>
          <a:prstGeom prst="rect">
            <a:avLst/>
          </a:prstGeom>
          <a:noFill/>
        </p:spPr>
        <p:txBody>
          <a:bodyPr wrap="square">
            <a:spAutoFit/>
          </a:bodyPr>
          <a:lstStyle/>
          <a:p>
            <a:pPr algn="l"/>
            <a:r>
              <a:rPr sz="850" b="0" i="0">
                <a:solidFill>
                  <a:srgbClr val="555555"/>
                </a:solidFill>
              </a:rPr>
              <a:t>Croissance Rev.</a:t>
            </a:r>
          </a:p>
        </p:txBody>
      </p:sp>
      <p:sp>
        <p:nvSpPr>
          <p:cNvPr id="57" name="TextBox 56"/>
          <p:cNvSpPr txBox="1"/>
          <p:nvPr/>
        </p:nvSpPr>
        <p:spPr>
          <a:xfrm>
            <a:off x="4752000" y="2556000"/>
            <a:ext cx="3960000" cy="187200"/>
          </a:xfrm>
          <a:prstGeom prst="rect">
            <a:avLst/>
          </a:prstGeom>
          <a:noFill/>
        </p:spPr>
        <p:txBody>
          <a:bodyPr wrap="square">
            <a:spAutoFit/>
          </a:bodyPr>
          <a:lstStyle/>
          <a:p>
            <a:pPr algn="r"/>
            <a:r>
              <a:rPr sz="850" b="1" i="0">
                <a:solidFill>
                  <a:srgbClr val="1A7A4A"/>
                </a:solidFill>
              </a:rPr>
              <a:t>+22.7 %</a:t>
            </a:r>
          </a:p>
        </p:txBody>
      </p:sp>
      <p:sp>
        <p:nvSpPr>
          <p:cNvPr id="58" name="Rectangle 57"/>
          <p:cNvSpPr/>
          <p:nvPr/>
        </p:nvSpPr>
        <p:spPr>
          <a:xfrm>
            <a:off x="4716000" y="2790000"/>
            <a:ext cx="4031999" cy="24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752000" y="2826000"/>
            <a:ext cx="2520000" cy="187200"/>
          </a:xfrm>
          <a:prstGeom prst="rect">
            <a:avLst/>
          </a:prstGeom>
          <a:noFill/>
        </p:spPr>
        <p:txBody>
          <a:bodyPr wrap="square">
            <a:spAutoFit/>
          </a:bodyPr>
          <a:lstStyle/>
          <a:p>
            <a:pPr algn="l"/>
            <a:r>
              <a:rPr sz="850" b="0" i="0">
                <a:solidFill>
                  <a:srgbClr val="555555"/>
                </a:solidFill>
              </a:rPr>
              <a:t>Marge EBITDA</a:t>
            </a:r>
          </a:p>
        </p:txBody>
      </p:sp>
      <p:sp>
        <p:nvSpPr>
          <p:cNvPr id="60" name="TextBox 59"/>
          <p:cNvSpPr txBox="1"/>
          <p:nvPr/>
        </p:nvSpPr>
        <p:spPr>
          <a:xfrm>
            <a:off x="4752000" y="2826000"/>
            <a:ext cx="3960000" cy="187200"/>
          </a:xfrm>
          <a:prstGeom prst="rect">
            <a:avLst/>
          </a:prstGeom>
          <a:noFill/>
        </p:spPr>
        <p:txBody>
          <a:bodyPr wrap="square">
            <a:spAutoFit/>
          </a:bodyPr>
          <a:lstStyle/>
          <a:p>
            <a:pPr algn="r"/>
            <a:r>
              <a:rPr sz="850" b="1" i="0">
                <a:solidFill>
                  <a:srgbClr val="1A7A4A"/>
                </a:solidFill>
              </a:rPr>
              <a:t>46.8 %</a:t>
            </a:r>
          </a:p>
        </p:txBody>
      </p:sp>
      <p:sp>
        <p:nvSpPr>
          <p:cNvPr id="61" name="Rectangle 60"/>
          <p:cNvSpPr/>
          <p:nvPr/>
        </p:nvSpPr>
        <p:spPr>
          <a:xfrm>
            <a:off x="4716000" y="3060000"/>
            <a:ext cx="4031999" cy="24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752000" y="3096000"/>
            <a:ext cx="2520000" cy="187200"/>
          </a:xfrm>
          <a:prstGeom prst="rect">
            <a:avLst/>
          </a:prstGeom>
          <a:noFill/>
        </p:spPr>
        <p:txBody>
          <a:bodyPr wrap="square">
            <a:spAutoFit/>
          </a:bodyPr>
          <a:lstStyle/>
          <a:p>
            <a:pPr algn="l"/>
            <a:r>
              <a:rPr sz="850" b="0" i="0">
                <a:solidFill>
                  <a:srgbClr val="555555"/>
                </a:solidFill>
              </a:rPr>
              <a:t>ROE</a:t>
            </a:r>
          </a:p>
        </p:txBody>
      </p:sp>
      <p:sp>
        <p:nvSpPr>
          <p:cNvPr id="63" name="TextBox 62"/>
          <p:cNvSpPr txBox="1"/>
          <p:nvPr/>
        </p:nvSpPr>
        <p:spPr>
          <a:xfrm>
            <a:off x="4752000" y="3096000"/>
            <a:ext cx="3960000" cy="187200"/>
          </a:xfrm>
          <a:prstGeom prst="rect">
            <a:avLst/>
          </a:prstGeom>
          <a:noFill/>
        </p:spPr>
        <p:txBody>
          <a:bodyPr wrap="square">
            <a:spAutoFit/>
          </a:bodyPr>
          <a:lstStyle/>
          <a:p>
            <a:pPr algn="r"/>
            <a:r>
              <a:rPr sz="850" b="1" i="0">
                <a:solidFill>
                  <a:srgbClr val="1A7A4A"/>
                </a:solidFill>
              </a:rPr>
              <a:t>35.0 %</a:t>
            </a:r>
          </a:p>
        </p:txBody>
      </p:sp>
      <p:sp>
        <p:nvSpPr>
          <p:cNvPr id="64" name="Rectangle 63"/>
          <p:cNvSpPr/>
          <p:nvPr/>
        </p:nvSpPr>
        <p:spPr>
          <a:xfrm>
            <a:off x="4716000" y="3330000"/>
            <a:ext cx="4031999" cy="244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752000" y="3366000"/>
            <a:ext cx="2520000" cy="187200"/>
          </a:xfrm>
          <a:prstGeom prst="rect">
            <a:avLst/>
          </a:prstGeom>
          <a:noFill/>
        </p:spPr>
        <p:txBody>
          <a:bodyPr wrap="square">
            <a:spAutoFit/>
          </a:bodyPr>
          <a:lstStyle/>
          <a:p>
            <a:pPr algn="l"/>
            <a:r>
              <a:rPr sz="850" b="0" i="0">
                <a:solidFill>
                  <a:srgbClr val="555555"/>
                </a:solidFill>
              </a:rPr>
              <a:t>Perf. 52S</a:t>
            </a:r>
          </a:p>
        </p:txBody>
      </p:sp>
      <p:sp>
        <p:nvSpPr>
          <p:cNvPr id="66" name="TextBox 65"/>
          <p:cNvSpPr txBox="1"/>
          <p:nvPr/>
        </p:nvSpPr>
        <p:spPr>
          <a:xfrm>
            <a:off x="4752000" y="3366000"/>
            <a:ext cx="3960000" cy="187200"/>
          </a:xfrm>
          <a:prstGeom prst="rect">
            <a:avLst/>
          </a:prstGeom>
          <a:noFill/>
        </p:spPr>
        <p:txBody>
          <a:bodyPr wrap="square">
            <a:spAutoFit/>
          </a:bodyPr>
          <a:lstStyle/>
          <a:p>
            <a:pPr algn="r"/>
            <a:r>
              <a:rPr sz="850" b="1" i="0">
                <a:solidFill>
                  <a:srgbClr val="1A7A4A"/>
                </a:solidFill>
              </a:rPr>
              <a:t>+49.5 %</a:t>
            </a:r>
          </a:p>
        </p:txBody>
      </p:sp>
      <p:sp>
        <p:nvSpPr>
          <p:cNvPr id="67" name="TextBox 66"/>
          <p:cNvSpPr txBox="1"/>
          <p:nvPr/>
        </p:nvSpPr>
        <p:spPr>
          <a:xfrm>
            <a:off x="324000" y="4816800"/>
            <a:ext cx="8496000" cy="108000"/>
          </a:xfrm>
          <a:prstGeom prst="rect">
            <a:avLst/>
          </a:prstGeom>
          <a:noFill/>
        </p:spPr>
        <p:txBody>
          <a:bodyPr wrap="square">
            <a:spAutoFit/>
          </a:bodyPr>
          <a:lstStyle/>
          <a:p>
            <a:pPr algn="l"/>
            <a:r>
              <a:rPr sz="650" b="0" i="1">
                <a:solidFill>
                  <a:srgbClr val="AAAAAA"/>
                </a:solidFill>
              </a:rPr>
              <a:t>Score FinSight : indicateur proprietaire 0-100 (value + growth + qualité + momentum, 25 pts chacun). Signal : Surpondérer &gt;=65, Neutre 45-64, Sous-pondérer &lt;45.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40000" cy="468000"/>
          </a:xfrm>
          <a:prstGeom prst="rect">
            <a:avLst/>
          </a:prstGeom>
          <a:noFill/>
        </p:spPr>
        <p:txBody>
          <a:bodyPr wrap="square">
            <a:spAutoFit/>
          </a:bodyPr>
          <a:lstStyle/>
          <a:p>
            <a:pPr algn="l"/>
            <a:r>
              <a:rPr sz="1200" b="1" i="0">
                <a:solidFill>
                  <a:srgbClr val="FFFFFF"/>
                </a:solidFill>
              </a:rPr>
              <a:t>Verdict Comparatif  —  Conviction d'Allocation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58000"/>
            <a:ext cx="8496000" cy="198000"/>
          </a:xfrm>
          <a:prstGeom prst="rect">
            <a:avLst/>
          </a:prstGeom>
          <a:noFill/>
        </p:spPr>
        <p:txBody>
          <a:bodyPr wrap="square">
            <a:spAutoFit/>
          </a:bodyPr>
          <a:lstStyle/>
          <a:p>
            <a:pPr algn="l"/>
            <a:r>
              <a:rPr sz="750" b="0" i="0">
                <a:solidFill>
                  <a:srgbClr val="555555"/>
                </a:solidFill>
              </a:rPr>
              <a:t>Secteur a privilegier, arguments décisionnels et conditions d'invalidation</a:t>
            </a:r>
          </a:p>
        </p:txBody>
      </p:sp>
      <p:sp>
        <p:nvSpPr>
          <p:cNvPr id="15" name="Rectangle 1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000" y="4968000"/>
            <a:ext cx="5040000" cy="144000"/>
          </a:xfrm>
          <a:prstGeom prst="rect">
            <a:avLst/>
          </a:prstGeom>
          <a:noFill/>
        </p:spPr>
        <p:txBody>
          <a:bodyPr wrap="square">
            <a:spAutoFit/>
          </a:bodyPr>
          <a:lstStyle/>
          <a:p>
            <a:pPr algn="l"/>
            <a:r>
              <a:rPr sz="700" b="0" i="0">
                <a:solidFill>
                  <a:srgbClr val="AAAAAA"/>
                </a:solidFill>
              </a:rPr>
              <a:t>FinSight IA  |  Comparatif Sectoriel  |  Usage confidentiel</a:t>
            </a:r>
          </a:p>
        </p:txBody>
      </p:sp>
      <p:sp>
        <p:nvSpPr>
          <p:cNvPr id="17" name="TextBox 16"/>
          <p:cNvSpPr txBox="1"/>
          <p:nvPr/>
        </p:nvSpPr>
        <p:spPr>
          <a:xfrm>
            <a:off x="0" y="4968000"/>
            <a:ext cx="8784000" cy="144000"/>
          </a:xfrm>
          <a:prstGeom prst="rect">
            <a:avLst/>
          </a:prstGeom>
          <a:noFill/>
        </p:spPr>
        <p:txBody>
          <a:bodyPr wrap="square">
            <a:spAutoFit/>
          </a:bodyPr>
          <a:lstStyle/>
          <a:p>
            <a:pPr algn="r"/>
            <a:r>
              <a:rPr sz="700" b="0" i="0">
                <a:solidFill>
                  <a:srgbClr val="AAAAAA"/>
                </a:solidFill>
              </a:rPr>
              <a:t>11 avril 2026</a:t>
            </a:r>
          </a:p>
        </p:txBody>
      </p:sp>
      <p:sp>
        <p:nvSpPr>
          <p:cNvPr id="18" name="Rectangle 17"/>
          <p:cNvSpPr/>
          <p:nvPr/>
        </p:nvSpPr>
        <p:spPr>
          <a:xfrm>
            <a:off x="324000" y="756000"/>
            <a:ext cx="8496000" cy="503999"/>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792000"/>
            <a:ext cx="8424000" cy="270000"/>
          </a:xfrm>
          <a:prstGeom prst="rect">
            <a:avLst/>
          </a:prstGeom>
          <a:noFill/>
        </p:spPr>
        <p:txBody>
          <a:bodyPr wrap="square">
            <a:spAutoFit/>
          </a:bodyPr>
          <a:lstStyle/>
          <a:p>
            <a:pPr algn="ctr"/>
            <a:r>
              <a:rPr sz="1700" b="1" i="0">
                <a:solidFill>
                  <a:srgbClr val="FFFFFF"/>
                </a:solidFill>
              </a:rPr>
              <a:t>SECTEUR PRIVILEGIE : TECHNOLOGY</a:t>
            </a:r>
          </a:p>
        </p:txBody>
      </p:sp>
      <p:sp>
        <p:nvSpPr>
          <p:cNvPr id="20" name="TextBox 19"/>
          <p:cNvSpPr txBox="1"/>
          <p:nvPr/>
        </p:nvSpPr>
        <p:spPr>
          <a:xfrm>
            <a:off x="360000" y="1069200"/>
            <a:ext cx="8424000" cy="144000"/>
          </a:xfrm>
          <a:prstGeom prst="rect">
            <a:avLst/>
          </a:prstGeom>
          <a:noFill/>
        </p:spPr>
        <p:txBody>
          <a:bodyPr wrap="square">
            <a:spAutoFit/>
          </a:bodyPr>
          <a:lstStyle/>
          <a:p>
            <a:pPr algn="ctr"/>
            <a:r>
              <a:rPr sz="850" b="0" i="0">
                <a:solidFill>
                  <a:srgbClr val="FFFFFF"/>
                </a:solidFill>
              </a:rPr>
              <a:t>Signal : Surpondérer  |  Score 76/100 vs 49/100 (Santé)  |  Écart 27 pts</a:t>
            </a:r>
          </a:p>
        </p:txBody>
      </p:sp>
      <p:sp>
        <p:nvSpPr>
          <p:cNvPr id="21" name="Rectangle 20"/>
          <p:cNvSpPr/>
          <p:nvPr/>
        </p:nvSpPr>
        <p:spPr>
          <a:xfrm>
            <a:off x="324000" y="1332000"/>
            <a:ext cx="8496000" cy="792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332000"/>
            <a:ext cx="46800" cy="79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2000" y="1368000"/>
            <a:ext cx="8352000" cy="129600"/>
          </a:xfrm>
          <a:prstGeom prst="rect">
            <a:avLst/>
          </a:prstGeom>
          <a:noFill/>
        </p:spPr>
        <p:txBody>
          <a:bodyPr wrap="square">
            <a:spAutoFit/>
          </a:bodyPr>
          <a:lstStyle/>
          <a:p>
            <a:pPr algn="l"/>
            <a:r>
              <a:rPr sz="900" b="1" i="0">
                <a:solidFill>
                  <a:srgbClr val="1B3A6B"/>
                </a:solidFill>
              </a:rPr>
              <a:t>TECHNOLOGY PRIVILÉGIÉ (76/100) — ÉCART 27 PTS VS SANTÉ : CONVICTION SURPONDÉRER</a:t>
            </a:r>
          </a:p>
        </p:txBody>
      </p:sp>
      <p:sp>
        <p:nvSpPr>
          <p:cNvPr id="24" name="TextBox 23"/>
          <p:cNvSpPr txBox="1"/>
          <p:nvPr/>
        </p:nvSpPr>
        <p:spPr>
          <a:xfrm>
            <a:off x="432000" y="1512000"/>
            <a:ext cx="8316000" cy="568800"/>
          </a:xfrm>
          <a:prstGeom prst="rect">
            <a:avLst/>
          </a:prstGeom>
          <a:noFill/>
        </p:spPr>
        <p:txBody>
          <a:bodyPr wrap="square">
            <a:spAutoFit/>
          </a:bodyPr>
          <a:lstStyle/>
          <a:p>
            <a:pPr algn="l"/>
            <a:r>
              <a:rPr sz="900" b="0" i="0">
                <a:solidFill>
                  <a:srgbClr val="1B3A6B"/>
                </a:solidFill>
              </a:rPr>
              <a:t>Technology présente le profil risque/rendement le plus attractif dans l'univers Global. Avec un score FinSight de 76/100, la superiorite structurelle s'exprime sur les dimensions value, growth et qualité. L'écart de 27 pts face a Santé (49/100) legitime une surponderation tactique sur un horizon 6-12 mois, sous reserve de stabilité macro.</a:t>
            </a:r>
          </a:p>
        </p:txBody>
      </p:sp>
      <p:sp>
        <p:nvSpPr>
          <p:cNvPr id="25" name="Rectangle 24"/>
          <p:cNvSpPr/>
          <p:nvPr/>
        </p:nvSpPr>
        <p:spPr>
          <a:xfrm>
            <a:off x="324000" y="2214000"/>
            <a:ext cx="2664000" cy="1728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4000" y="2224800"/>
            <a:ext cx="2664000" cy="144000"/>
          </a:xfrm>
          <a:prstGeom prst="rect">
            <a:avLst/>
          </a:prstGeom>
          <a:noFill/>
        </p:spPr>
        <p:txBody>
          <a:bodyPr wrap="square">
            <a:spAutoFit/>
          </a:bodyPr>
          <a:lstStyle/>
          <a:p>
            <a:pPr algn="ctr"/>
            <a:r>
              <a:rPr sz="800" b="1" i="0">
                <a:solidFill>
                  <a:srgbClr val="FFFFFF"/>
                </a:solidFill>
              </a:rPr>
              <a:t>CATALYSEURS CLES</a:t>
            </a:r>
          </a:p>
        </p:txBody>
      </p:sp>
      <p:sp>
        <p:nvSpPr>
          <p:cNvPr id="27" name="Rectangle 26"/>
          <p:cNvSpPr/>
          <p:nvPr/>
        </p:nvSpPr>
        <p:spPr>
          <a:xfrm>
            <a:off x="324000" y="2448000"/>
            <a:ext cx="72000" cy="7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9200" y="2440800"/>
            <a:ext cx="2548800" cy="151200"/>
          </a:xfrm>
          <a:prstGeom prst="rect">
            <a:avLst/>
          </a:prstGeom>
          <a:noFill/>
        </p:spPr>
        <p:txBody>
          <a:bodyPr wrap="square">
            <a:spAutoFit/>
          </a:bodyPr>
          <a:lstStyle/>
          <a:p>
            <a:pPr algn="l"/>
            <a:r>
              <a:rPr sz="800" b="1" i="0">
                <a:solidFill>
                  <a:srgbClr val="1A1A1A"/>
                </a:solidFill>
              </a:rPr>
              <a:t>Adoption IA Generative</a:t>
            </a:r>
          </a:p>
        </p:txBody>
      </p:sp>
      <p:sp>
        <p:nvSpPr>
          <p:cNvPr id="29" name="TextBox 28"/>
          <p:cNvSpPr txBox="1"/>
          <p:nvPr/>
        </p:nvSpPr>
        <p:spPr>
          <a:xfrm>
            <a:off x="439200" y="2606400"/>
            <a:ext cx="2548800" cy="468000"/>
          </a:xfrm>
          <a:prstGeom prst="rect">
            <a:avLst/>
          </a:prstGeom>
          <a:noFill/>
        </p:spPr>
        <p:txBody>
          <a:bodyPr wrap="square">
            <a:spAutoFit/>
          </a:bodyPr>
          <a:lstStyle/>
          <a:p>
            <a:pPr algn="l"/>
            <a:r>
              <a:rPr sz="750" b="0" i="0">
                <a:solidFill>
                  <a:srgbClr val="555555"/>
                </a:solidFill>
              </a:rPr>
              <a:t>Accélération des mandats IA dans les grands comptes européens — contrats pluriannuels en hausse de 38 % sur T1</a:t>
            </a:r>
          </a:p>
        </p:txBody>
      </p:sp>
      <p:sp>
        <p:nvSpPr>
          <p:cNvPr id="30" name="Rectangle 29"/>
          <p:cNvSpPr/>
          <p:nvPr/>
        </p:nvSpPr>
        <p:spPr>
          <a:xfrm>
            <a:off x="324000" y="3150000"/>
            <a:ext cx="72000" cy="7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9200" y="3142800"/>
            <a:ext cx="2548800" cy="151200"/>
          </a:xfrm>
          <a:prstGeom prst="rect">
            <a:avLst/>
          </a:prstGeom>
          <a:noFill/>
        </p:spPr>
        <p:txBody>
          <a:bodyPr wrap="square">
            <a:spAutoFit/>
          </a:bodyPr>
          <a:lstStyle/>
          <a:p>
            <a:pPr algn="l"/>
            <a:r>
              <a:rPr sz="800" b="1" i="0">
                <a:solidFill>
                  <a:srgbClr val="1A1A1A"/>
                </a:solidFill>
              </a:rPr>
              <a:t>Modernisation SI Publics</a:t>
            </a:r>
          </a:p>
        </p:txBody>
      </p:sp>
      <p:sp>
        <p:nvSpPr>
          <p:cNvPr id="32" name="TextBox 31"/>
          <p:cNvSpPr txBox="1"/>
          <p:nvPr/>
        </p:nvSpPr>
        <p:spPr>
          <a:xfrm>
            <a:off x="439200" y="3308400"/>
            <a:ext cx="2548800" cy="468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États membres EU.</a:t>
            </a:r>
          </a:p>
        </p:txBody>
      </p:sp>
      <p:sp>
        <p:nvSpPr>
          <p:cNvPr id="33" name="Rectangle 32"/>
          <p:cNvSpPr/>
          <p:nvPr/>
        </p:nvSpPr>
        <p:spPr>
          <a:xfrm>
            <a:off x="3096000" y="2214000"/>
            <a:ext cx="2664000" cy="1728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96000" y="2224800"/>
            <a:ext cx="2664000" cy="144000"/>
          </a:xfrm>
          <a:prstGeom prst="rect">
            <a:avLst/>
          </a:prstGeom>
          <a:noFill/>
        </p:spPr>
        <p:txBody>
          <a:bodyPr wrap="square">
            <a:spAutoFit/>
          </a:bodyPr>
          <a:lstStyle/>
          <a:p>
            <a:pPr algn="ctr"/>
            <a:r>
              <a:rPr sz="800" b="1" i="0">
                <a:solidFill>
                  <a:srgbClr val="FFFFFF"/>
                </a:solidFill>
              </a:rPr>
              <a:t>RISQUES PRINCIPAUX</a:t>
            </a:r>
          </a:p>
        </p:txBody>
      </p:sp>
      <p:sp>
        <p:nvSpPr>
          <p:cNvPr id="35" name="Rectangle 34"/>
          <p:cNvSpPr/>
          <p:nvPr/>
        </p:nvSpPr>
        <p:spPr>
          <a:xfrm>
            <a:off x="3096000" y="2448000"/>
            <a:ext cx="72000"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11200" y="2440800"/>
            <a:ext cx="2548800" cy="151200"/>
          </a:xfrm>
          <a:prstGeom prst="rect">
            <a:avLst/>
          </a:prstGeom>
          <a:noFill/>
        </p:spPr>
        <p:txBody>
          <a:bodyPr wrap="square">
            <a:spAutoFit/>
          </a:bodyPr>
          <a:lstStyle/>
          <a:p>
            <a:pPr algn="l"/>
            <a:r>
              <a:rPr sz="800" b="1" i="0">
                <a:solidFill>
                  <a:srgbClr val="1A1A1A"/>
                </a:solidFill>
              </a:rPr>
              <a:t>Valorisation tendue (P/E 31x)</a:t>
            </a:r>
          </a:p>
        </p:txBody>
      </p:sp>
      <p:sp>
        <p:nvSpPr>
          <p:cNvPr id="37" name="TextBox 36"/>
          <p:cNvSpPr txBox="1"/>
          <p:nvPr/>
        </p:nvSpPr>
        <p:spPr>
          <a:xfrm>
            <a:off x="3211200" y="2606400"/>
            <a:ext cx="2548800" cy="468000"/>
          </a:xfrm>
          <a:prstGeom prst="rect">
            <a:avLst/>
          </a:prstGeom>
          <a:noFill/>
        </p:spPr>
        <p:txBody>
          <a:bodyPr wrap="square">
            <a:spAutoFit/>
          </a:bodyPr>
          <a:lstStyle/>
          <a:p>
            <a:pPr algn="l"/>
            <a:r>
              <a:rPr sz="750" b="0" i="0">
                <a:solidFill>
                  <a:srgbClr val="555555"/>
                </a:solidFill>
              </a:rPr>
              <a:t>peu de marge de sécurité en cas de déception</a:t>
            </a:r>
          </a:p>
        </p:txBody>
      </p:sp>
      <p:sp>
        <p:nvSpPr>
          <p:cNvPr id="38" name="Rectangle 37"/>
          <p:cNvSpPr/>
          <p:nvPr/>
        </p:nvSpPr>
        <p:spPr>
          <a:xfrm>
            <a:off x="3096000" y="3150000"/>
            <a:ext cx="72000"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11200" y="3142800"/>
            <a:ext cx="2548800" cy="151200"/>
          </a:xfrm>
          <a:prstGeom prst="rect">
            <a:avLst/>
          </a:prstGeom>
          <a:noFill/>
        </p:spPr>
        <p:txBody>
          <a:bodyPr wrap="square">
            <a:spAutoFit/>
          </a:bodyPr>
          <a:lstStyle/>
          <a:p>
            <a:pPr algn="l"/>
            <a:r>
              <a:rPr sz="800" b="1" i="0">
                <a:solidFill>
                  <a:srgbClr val="1A1A1A"/>
                </a:solidFill>
              </a:rPr>
              <a:t>EV/EBITDA premium (25x)</a:t>
            </a:r>
          </a:p>
        </p:txBody>
      </p:sp>
      <p:sp>
        <p:nvSpPr>
          <p:cNvPr id="40" name="TextBox 39"/>
          <p:cNvSpPr txBox="1"/>
          <p:nvPr/>
        </p:nvSpPr>
        <p:spPr>
          <a:xfrm>
            <a:off x="3211200" y="3308400"/>
            <a:ext cx="2548800" cy="468000"/>
          </a:xfrm>
          <a:prstGeom prst="rect">
            <a:avLst/>
          </a:prstGeom>
          <a:noFill/>
        </p:spPr>
        <p:txBody>
          <a:bodyPr wrap="square">
            <a:spAutoFit/>
          </a:bodyPr>
          <a:lstStyle/>
          <a:p>
            <a:pPr algn="l"/>
            <a:r>
              <a:rPr sz="750" b="0" i="0">
                <a:solidFill>
                  <a:srgbClr val="555555"/>
                </a:solidFill>
              </a:rPr>
              <a:t>execution sans faute requise</a:t>
            </a:r>
          </a:p>
        </p:txBody>
      </p:sp>
      <p:sp>
        <p:nvSpPr>
          <p:cNvPr id="41" name="Rectangle 40"/>
          <p:cNvSpPr/>
          <p:nvPr/>
        </p:nvSpPr>
        <p:spPr>
          <a:xfrm>
            <a:off x="5868000" y="2214000"/>
            <a:ext cx="2664000" cy="17280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68000" y="2224800"/>
            <a:ext cx="2664000" cy="144000"/>
          </a:xfrm>
          <a:prstGeom prst="rect">
            <a:avLst/>
          </a:prstGeom>
          <a:noFill/>
        </p:spPr>
        <p:txBody>
          <a:bodyPr wrap="square">
            <a:spAutoFit/>
          </a:bodyPr>
          <a:lstStyle/>
          <a:p>
            <a:pPr algn="ctr"/>
            <a:r>
              <a:rPr sz="800" b="1" i="0">
                <a:solidFill>
                  <a:srgbClr val="FFFFFF"/>
                </a:solidFill>
              </a:rPr>
              <a:t>CONDITIONS D'INVALIDATION</a:t>
            </a:r>
          </a:p>
        </p:txBody>
      </p:sp>
      <p:sp>
        <p:nvSpPr>
          <p:cNvPr id="43" name="Rectangle 42"/>
          <p:cNvSpPr/>
          <p:nvPr/>
        </p:nvSpPr>
        <p:spPr>
          <a:xfrm>
            <a:off x="5868000" y="2448000"/>
            <a:ext cx="72000" cy="7200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83200" y="2440800"/>
            <a:ext cx="2548800" cy="151200"/>
          </a:xfrm>
          <a:prstGeom prst="rect">
            <a:avLst/>
          </a:prstGeom>
          <a:noFill/>
        </p:spPr>
        <p:txBody>
          <a:bodyPr wrap="square">
            <a:spAutoFit/>
          </a:bodyPr>
          <a:lstStyle/>
          <a:p>
            <a:pPr algn="l"/>
            <a:r>
              <a:rPr sz="800" b="1" i="0">
                <a:solidFill>
                  <a:srgbClr val="1A1A1A"/>
                </a:solidFill>
              </a:rPr>
              <a:t>Détérioration macro</a:t>
            </a:r>
          </a:p>
        </p:txBody>
      </p:sp>
      <p:sp>
        <p:nvSpPr>
          <p:cNvPr id="45" name="TextBox 44"/>
          <p:cNvSpPr txBox="1"/>
          <p:nvPr/>
        </p:nvSpPr>
        <p:spPr>
          <a:xfrm>
            <a:off x="5983200" y="2606400"/>
            <a:ext cx="2548800" cy="468000"/>
          </a:xfrm>
          <a:prstGeom prst="rect">
            <a:avLst/>
          </a:prstGeom>
          <a:noFill/>
        </p:spPr>
        <p:txBody>
          <a:bodyPr wrap="square">
            <a:spAutoFit/>
          </a:bodyPr>
          <a:lstStyle/>
          <a:p>
            <a:pPr algn="l"/>
            <a:r>
              <a:rPr sz="750" b="0" i="0">
                <a:solidFill>
                  <a:srgbClr val="555555"/>
                </a:solidFill>
              </a:rPr>
              <a:t>Récession ou hausse taux materielle — revoir positionnement</a:t>
            </a:r>
          </a:p>
        </p:txBody>
      </p:sp>
      <p:sp>
        <p:nvSpPr>
          <p:cNvPr id="46" name="Rectangle 45"/>
          <p:cNvSpPr/>
          <p:nvPr/>
        </p:nvSpPr>
        <p:spPr>
          <a:xfrm>
            <a:off x="5868000" y="3150000"/>
            <a:ext cx="72000" cy="7200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83200" y="3142800"/>
            <a:ext cx="2548800" cy="151200"/>
          </a:xfrm>
          <a:prstGeom prst="rect">
            <a:avLst/>
          </a:prstGeom>
          <a:noFill/>
        </p:spPr>
        <p:txBody>
          <a:bodyPr wrap="square">
            <a:spAutoFit/>
          </a:bodyPr>
          <a:lstStyle/>
          <a:p>
            <a:pPr algn="l"/>
            <a:r>
              <a:rPr sz="800" b="1" i="0">
                <a:solidFill>
                  <a:srgbClr val="1A1A1A"/>
                </a:solidFill>
              </a:rPr>
              <a:t>Révision benefices</a:t>
            </a:r>
          </a:p>
        </p:txBody>
      </p:sp>
      <p:sp>
        <p:nvSpPr>
          <p:cNvPr id="48" name="TextBox 47"/>
          <p:cNvSpPr txBox="1"/>
          <p:nvPr/>
        </p:nvSpPr>
        <p:spPr>
          <a:xfrm>
            <a:off x="5983200" y="3308400"/>
            <a:ext cx="2548800" cy="468000"/>
          </a:xfrm>
          <a:prstGeom prst="rect">
            <a:avLst/>
          </a:prstGeom>
          <a:noFill/>
        </p:spPr>
        <p:txBody>
          <a:bodyPr wrap="square">
            <a:spAutoFit/>
          </a:bodyPr>
          <a:lstStyle/>
          <a:p>
            <a:pPr algn="l"/>
            <a:r>
              <a:rPr sz="750" b="0" i="0">
                <a:solidFill>
                  <a:srgbClr val="555555"/>
                </a:solidFill>
              </a:rPr>
              <a:t>Profit warning &gt; -10% / 2 trimestres — signal de sortie</a:t>
            </a:r>
          </a:p>
        </p:txBody>
      </p:sp>
      <p:sp>
        <p:nvSpPr>
          <p:cNvPr id="49" name="Rectangle 48"/>
          <p:cNvSpPr/>
          <p:nvPr/>
        </p:nvSpPr>
        <p:spPr>
          <a:xfrm>
            <a:off x="324000" y="3906000"/>
            <a:ext cx="8496000" cy="198000"/>
          </a:xfrm>
          <a:prstGeom prst="rect">
            <a:avLst/>
          </a:prstGeom>
          <a:solidFill>
            <a:srgbClr val="F5F7FA"/>
          </a:solidFill>
          <a:ln w="5080">
            <a:solidFill>
              <a:srgbClr val="E8E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0000" y="3941999"/>
            <a:ext cx="8424000" cy="144000"/>
          </a:xfrm>
          <a:prstGeom prst="rect">
            <a:avLst/>
          </a:prstGeom>
          <a:noFill/>
        </p:spPr>
        <p:txBody>
          <a:bodyPr wrap="square">
            <a:spAutoFit/>
          </a:bodyPr>
          <a:lstStyle/>
          <a:p>
            <a:pPr algn="ctr"/>
            <a:r>
              <a:rPr sz="800" b="0" i="1">
                <a:solidFill>
                  <a:srgbClr val="1B3A6B"/>
                </a:solidFill>
              </a:rPr>
              <a:t>Horizon recommande : 6-12 mois  |  Conviction FORTE si écart score &gt; 15 pts  |  Rééquilibrer si écart &lt; 5 pts  |  Révisable a chaque publication trimestrielle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08000"/>
            <a:ext cx="8496000" cy="432000"/>
          </a:xfrm>
          <a:prstGeom prst="rect">
            <a:avLst/>
          </a:prstGeom>
          <a:noFill/>
        </p:spPr>
        <p:txBody>
          <a:bodyPr wrap="square">
            <a:spAutoFit/>
          </a:bodyPr>
          <a:lstStyle/>
          <a:p>
            <a:pPr algn="l"/>
            <a:r>
              <a:rPr sz="1300" b="1" i="0">
                <a:solidFill>
                  <a:srgbClr val="FFFFFF"/>
                </a:solidFill>
              </a:rPr>
              <a:t>Méthodologie &amp; Mentions Légales</a:t>
            </a:r>
          </a:p>
        </p:txBody>
      </p:sp>
      <p:sp>
        <p:nvSpPr>
          <p:cNvPr id="4" name="Rectangle 3"/>
          <p:cNvSpPr/>
          <p:nvPr/>
        </p:nvSpPr>
        <p:spPr>
          <a:xfrm>
            <a:off x="324000" y="720000"/>
            <a:ext cx="4031999" cy="151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4000" y="730799"/>
            <a:ext cx="4031999" cy="129600"/>
          </a:xfrm>
          <a:prstGeom prst="rect">
            <a:avLst/>
          </a:prstGeom>
          <a:noFill/>
        </p:spPr>
        <p:txBody>
          <a:bodyPr wrap="square">
            <a:spAutoFit/>
          </a:bodyPr>
          <a:lstStyle/>
          <a:p>
            <a:pPr algn="ctr"/>
            <a:r>
              <a:rPr sz="800" b="1" i="0">
                <a:solidFill>
                  <a:srgbClr val="FFFFFF"/>
                </a:solidFill>
              </a:rPr>
              <a:t>MÉTHODOLOGIE</a:t>
            </a:r>
          </a:p>
        </p:txBody>
      </p:sp>
      <p:sp>
        <p:nvSpPr>
          <p:cNvPr id="6" name="TextBox 5"/>
          <p:cNvSpPr txBox="1"/>
          <p:nvPr/>
        </p:nvSpPr>
        <p:spPr>
          <a:xfrm>
            <a:off x="324000" y="917999"/>
            <a:ext cx="4031999" cy="122400"/>
          </a:xfrm>
          <a:prstGeom prst="rect">
            <a:avLst/>
          </a:prstGeom>
          <a:noFill/>
        </p:spPr>
        <p:txBody>
          <a:bodyPr wrap="square">
            <a:spAutoFit/>
          </a:bodyPr>
          <a:lstStyle/>
          <a:p>
            <a:pPr algn="l"/>
            <a:r>
              <a:rPr sz="750" b="1" i="0">
                <a:solidFill>
                  <a:srgbClr val="1B3A6B"/>
                </a:solidFill>
              </a:rPr>
              <a:t>Scoring FinSight (0-100)</a:t>
            </a:r>
          </a:p>
        </p:txBody>
      </p:sp>
      <p:sp>
        <p:nvSpPr>
          <p:cNvPr id="7" name="TextBox 6"/>
          <p:cNvSpPr txBox="1"/>
          <p:nvPr/>
        </p:nvSpPr>
        <p:spPr>
          <a:xfrm>
            <a:off x="324000" y="1054800"/>
            <a:ext cx="4031999" cy="594000"/>
          </a:xfrm>
          <a:prstGeom prst="rect">
            <a:avLst/>
          </a:prstGeom>
          <a:noFill/>
        </p:spPr>
        <p:txBody>
          <a:bodyPr wrap="square">
            <a:spAutoFit/>
          </a:bodyPr>
          <a:lstStyle/>
          <a:p>
            <a:pPr algn="l"/>
            <a:r>
              <a:rPr sz="650" b="0" i="0">
                <a:solidFill>
                  <a:srgbClr val="555555"/>
                </a:solidFill>
              </a:rPr>
              <a:t>Agrégation de 4 dimensions également pondérées a 25 pts chacune : Value (P/E, EV/EBITDA, PEG, FCF Yield), Growth (CAGR revenus, EPS growth, révisions), Quality (ROE, ROIC, Piotroski F-Score, Altman Z, marges), Momentum (perf. 52S, RSI relative, révision consensus). Seuils d'allocation : &gt;= 65 = Surpondérer, 45-64 = Neutre, &lt; 45 = Sous-pondérer.</a:t>
            </a:r>
          </a:p>
        </p:txBody>
      </p:sp>
      <p:sp>
        <p:nvSpPr>
          <p:cNvPr id="8" name="TextBox 7"/>
          <p:cNvSpPr txBox="1"/>
          <p:nvPr/>
        </p:nvSpPr>
        <p:spPr>
          <a:xfrm>
            <a:off x="324000" y="1655999"/>
            <a:ext cx="4031999" cy="122400"/>
          </a:xfrm>
          <a:prstGeom prst="rect">
            <a:avLst/>
          </a:prstGeom>
          <a:noFill/>
        </p:spPr>
        <p:txBody>
          <a:bodyPr wrap="square">
            <a:spAutoFit/>
          </a:bodyPr>
          <a:lstStyle/>
          <a:p>
            <a:pPr algn="l"/>
            <a:r>
              <a:rPr sz="750" b="1" i="0">
                <a:solidFill>
                  <a:srgbClr val="1B3A6B"/>
                </a:solidFill>
              </a:rPr>
              <a:t>Indicateurs de qualité financière</a:t>
            </a:r>
          </a:p>
        </p:txBody>
      </p:sp>
      <p:sp>
        <p:nvSpPr>
          <p:cNvPr id="9" name="TextBox 8"/>
          <p:cNvSpPr txBox="1"/>
          <p:nvPr/>
        </p:nvSpPr>
        <p:spPr>
          <a:xfrm>
            <a:off x="324000" y="1792799"/>
            <a:ext cx="4031999" cy="594000"/>
          </a:xfrm>
          <a:prstGeom prst="rect">
            <a:avLst/>
          </a:prstGeom>
          <a:noFill/>
        </p:spPr>
        <p:txBody>
          <a:bodyPr wrap="square">
            <a:spAutoFit/>
          </a:bodyPr>
          <a:lstStyle/>
          <a:p>
            <a:pPr algn="l"/>
            <a:r>
              <a:rPr sz="650" b="0" i="0">
                <a:solidFill>
                  <a:srgbClr val="555555"/>
                </a:solidFill>
              </a:rPr>
              <a:t>Piotroski F-Score (0-9) : 9 critères binaires (ROA positif, CFO &gt; NI, levier en baisse, etc.). Altman Z-Score : modèle de detresse financière (Z&gt;2.99 = sain, 1.81-2.99 = grise, &lt;1.81 = distress). Beneish M-Score : modèle de detection de manipulation comptable (M &lt; -2.22 = sain, M &gt; -1.78 = signal). Ces scores sont retires des affichages principaux pour préserver la lisibilite mais restent calculés en arriere-plan et intégrés au scoring composite Quality.</a:t>
            </a:r>
          </a:p>
        </p:txBody>
      </p:sp>
      <p:sp>
        <p:nvSpPr>
          <p:cNvPr id="10" name="TextBox 9"/>
          <p:cNvSpPr txBox="1"/>
          <p:nvPr/>
        </p:nvSpPr>
        <p:spPr>
          <a:xfrm>
            <a:off x="324000" y="2394000"/>
            <a:ext cx="4031999" cy="122400"/>
          </a:xfrm>
          <a:prstGeom prst="rect">
            <a:avLst/>
          </a:prstGeom>
          <a:noFill/>
        </p:spPr>
        <p:txBody>
          <a:bodyPr wrap="square">
            <a:spAutoFit/>
          </a:bodyPr>
          <a:lstStyle/>
          <a:p>
            <a:pPr algn="l"/>
            <a:r>
              <a:rPr sz="750" b="1" i="0">
                <a:solidFill>
                  <a:srgbClr val="1B3A6B"/>
                </a:solidFill>
              </a:rPr>
              <a:t>Construction de l'univers</a:t>
            </a:r>
          </a:p>
        </p:txBody>
      </p:sp>
      <p:sp>
        <p:nvSpPr>
          <p:cNvPr id="11" name="TextBox 10"/>
          <p:cNvSpPr txBox="1"/>
          <p:nvPr/>
        </p:nvSpPr>
        <p:spPr>
          <a:xfrm>
            <a:off x="324000" y="2530800"/>
            <a:ext cx="4031999" cy="594000"/>
          </a:xfrm>
          <a:prstGeom prst="rect">
            <a:avLst/>
          </a:prstGeom>
          <a:noFill/>
        </p:spPr>
        <p:txBody>
          <a:bodyPr wrap="square">
            <a:spAutoFit/>
          </a:bodyPr>
          <a:lstStyle/>
          <a:p>
            <a:pPr algn="l"/>
            <a:r>
              <a:rPr sz="650" b="0" i="0">
                <a:solidFill>
                  <a:srgbClr val="555555"/>
                </a:solidFill>
              </a:rPr>
              <a:t>Univers S&amp;P 500, CAC 40, STOXX 600 ou global selon le parametre sélectionné par l'utilisateur. Toutes les sociétés du secteur avec données yfinance disponibles (min. 3 ratios renseignés). Valeurs aberrantes filtrees : P/E &gt; 999x exclus, ROE &lt; -500% exclus, ratios LTM uniquement. medianes utilisees plutot que moyennes pour la robustesse aux outliers.</a:t>
            </a:r>
          </a:p>
        </p:txBody>
      </p:sp>
      <p:sp>
        <p:nvSpPr>
          <p:cNvPr id="12" name="TextBox 11"/>
          <p:cNvSpPr txBox="1"/>
          <p:nvPr/>
        </p:nvSpPr>
        <p:spPr>
          <a:xfrm>
            <a:off x="324000" y="3131999"/>
            <a:ext cx="4031999" cy="122400"/>
          </a:xfrm>
          <a:prstGeom prst="rect">
            <a:avLst/>
          </a:prstGeom>
          <a:noFill/>
        </p:spPr>
        <p:txBody>
          <a:bodyPr wrap="square">
            <a:spAutoFit/>
          </a:bodyPr>
          <a:lstStyle/>
          <a:p>
            <a:pPr algn="l"/>
            <a:r>
              <a:rPr sz="750" b="1" i="0">
                <a:solidFill>
                  <a:srgbClr val="1B3A6B"/>
                </a:solidFill>
              </a:rPr>
              <a:t>Sources de données</a:t>
            </a:r>
          </a:p>
        </p:txBody>
      </p:sp>
      <p:sp>
        <p:nvSpPr>
          <p:cNvPr id="13" name="TextBox 12"/>
          <p:cNvSpPr txBox="1"/>
          <p:nvPr/>
        </p:nvSpPr>
        <p:spPr>
          <a:xfrm>
            <a:off x="324000" y="3268800"/>
            <a:ext cx="4031999" cy="594000"/>
          </a:xfrm>
          <a:prstGeom prst="rect">
            <a:avLst/>
          </a:prstGeom>
          <a:noFill/>
        </p:spPr>
        <p:txBody>
          <a:bodyPr wrap="square">
            <a:spAutoFit/>
          </a:bodyPr>
          <a:lstStyle/>
          <a:p>
            <a:pPr algn="l"/>
            <a:r>
              <a:rPr sz="650" b="0" i="0">
                <a:solidFill>
                  <a:srgbClr val="555555"/>
                </a:solidFill>
              </a:rPr>
              <a:t>yfinance (Yahoo Finance) : cours, bilan, compte de résultats, flux de trésorerie — fréquence trimestrielle ou annuelle selon disponibilite. Finnhub : news et sentiment. FMP : données supplementaires si disponibles. Perf. 52S : composite top-15 Normalisé base 100.</a:t>
            </a:r>
          </a:p>
        </p:txBody>
      </p:sp>
      <p:sp>
        <p:nvSpPr>
          <p:cNvPr id="14" name="TextBox 13"/>
          <p:cNvSpPr txBox="1"/>
          <p:nvPr/>
        </p:nvSpPr>
        <p:spPr>
          <a:xfrm>
            <a:off x="324000" y="3870000"/>
            <a:ext cx="4031999" cy="122400"/>
          </a:xfrm>
          <a:prstGeom prst="rect">
            <a:avLst/>
          </a:prstGeom>
          <a:noFill/>
        </p:spPr>
        <p:txBody>
          <a:bodyPr wrap="square">
            <a:spAutoFit/>
          </a:bodyPr>
          <a:lstStyle/>
          <a:p>
            <a:pPr algn="l"/>
            <a:r>
              <a:rPr sz="750" b="1" i="0">
                <a:solidFill>
                  <a:srgbClr val="1B3A6B"/>
                </a:solidFill>
              </a:rPr>
              <a:t>Limites &amp; Mises en garde</a:t>
            </a:r>
          </a:p>
        </p:txBody>
      </p:sp>
      <p:sp>
        <p:nvSpPr>
          <p:cNvPr id="15" name="TextBox 14"/>
          <p:cNvSpPr txBox="1"/>
          <p:nvPr/>
        </p:nvSpPr>
        <p:spPr>
          <a:xfrm>
            <a:off x="324000" y="4006800"/>
            <a:ext cx="4031999" cy="594000"/>
          </a:xfrm>
          <a:prstGeom prst="rect">
            <a:avLst/>
          </a:prstGeom>
          <a:noFill/>
        </p:spPr>
        <p:txBody>
          <a:bodyPr wrap="square">
            <a:spAutoFit/>
          </a:bodyPr>
          <a:lstStyle/>
          <a:p>
            <a:pPr algn="l"/>
            <a:r>
              <a:rPr sz="650" b="0" i="0">
                <a:solidFill>
                  <a:srgbClr val="555555"/>
                </a:solidFill>
              </a:rPr>
              <a:t>Données retardees de 24h sur yfinance free tier. Certains ratios (ROIC, Piotroski) peuvent être indisponibles pour des sociétés hors US. medianes sectorielles masquent la dispersion intra. Les signaux sont Mécaniques, statiques (snapshot point-in-time) et non ajustés du cycle. Aucune analyse qualitative manuelle (management, gouvernance, ESG) n'est réalisée.</a:t>
            </a:r>
          </a:p>
        </p:txBody>
      </p:sp>
      <p:sp>
        <p:nvSpPr>
          <p:cNvPr id="16" name="Rectangle 15"/>
          <p:cNvSpPr/>
          <p:nvPr/>
        </p:nvSpPr>
        <p:spPr>
          <a:xfrm>
            <a:off x="4716000" y="720000"/>
            <a:ext cx="4031999" cy="1512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6000" y="730799"/>
            <a:ext cx="4031999" cy="129600"/>
          </a:xfrm>
          <a:prstGeom prst="rect">
            <a:avLst/>
          </a:prstGeom>
          <a:noFill/>
        </p:spPr>
        <p:txBody>
          <a:bodyPr wrap="square">
            <a:spAutoFit/>
          </a:bodyPr>
          <a:lstStyle/>
          <a:p>
            <a:pPr algn="ctr"/>
            <a:r>
              <a:rPr sz="800" b="1" i="0">
                <a:solidFill>
                  <a:srgbClr val="FFFFFF"/>
                </a:solidFill>
              </a:rPr>
              <a:t>MENTIONS LÉGALES</a:t>
            </a:r>
          </a:p>
        </p:txBody>
      </p:sp>
      <p:sp>
        <p:nvSpPr>
          <p:cNvPr id="18" name="TextBox 17"/>
          <p:cNvSpPr txBox="1"/>
          <p:nvPr/>
        </p:nvSpPr>
        <p:spPr>
          <a:xfrm>
            <a:off x="4716000" y="917999"/>
            <a:ext cx="4031999" cy="122400"/>
          </a:xfrm>
          <a:prstGeom prst="rect">
            <a:avLst/>
          </a:prstGeom>
          <a:noFill/>
        </p:spPr>
        <p:txBody>
          <a:bodyPr wrap="square">
            <a:spAutoFit/>
          </a:bodyPr>
          <a:lstStyle/>
          <a:p>
            <a:pPr algn="l"/>
            <a:r>
              <a:rPr sz="750" b="1" i="0">
                <a:solidFill>
                  <a:srgbClr val="1B3A6B"/>
                </a:solidFill>
              </a:rPr>
              <a:t>Caractère informatif et pedagogique</a:t>
            </a:r>
          </a:p>
        </p:txBody>
      </p:sp>
      <p:sp>
        <p:nvSpPr>
          <p:cNvPr id="19" name="TextBox 18"/>
          <p:cNvSpPr txBox="1"/>
          <p:nvPr/>
        </p:nvSpPr>
        <p:spPr>
          <a:xfrm>
            <a:off x="4716000" y="1054800"/>
            <a:ext cx="4031999" cy="594000"/>
          </a:xfrm>
          <a:prstGeom prst="rect">
            <a:avLst/>
          </a:prstGeom>
          <a:noFill/>
        </p:spPr>
        <p:txBody>
          <a:bodyPr wrap="square">
            <a:spAutoFit/>
          </a:bodyPr>
          <a:lstStyle/>
          <a:p>
            <a:pPr algn="l"/>
            <a:r>
              <a:rPr sz="650" b="0" i="0">
                <a:solidFill>
                  <a:srgbClr val="555555"/>
                </a:solidFill>
              </a:rPr>
              <a:t>Ce document est produit exclusivement a des fins d'information et de démonstration pedagogique. Il ne constitue en aucun cas un conseil en investissement, une recommandation personnalisee, une incitation a l'achat ou a la vente de valeurs mobilières, ni une offre ou sollicitation de souscription a un produit financier au sens du Règlement Général de l'AMF. L'utilisateur est seul responsable de ses décisions d'investissement et doit consulter un conseiller en investissement financier (CIF) agréé avant toute opération.</a:t>
            </a:r>
          </a:p>
        </p:txBody>
      </p:sp>
      <p:sp>
        <p:nvSpPr>
          <p:cNvPr id="20" name="TextBox 19"/>
          <p:cNvSpPr txBox="1"/>
          <p:nvPr/>
        </p:nvSpPr>
        <p:spPr>
          <a:xfrm>
            <a:off x="4716000" y="1655999"/>
            <a:ext cx="4031999" cy="122400"/>
          </a:xfrm>
          <a:prstGeom prst="rect">
            <a:avLst/>
          </a:prstGeom>
          <a:noFill/>
        </p:spPr>
        <p:txBody>
          <a:bodyPr wrap="square">
            <a:spAutoFit/>
          </a:bodyPr>
          <a:lstStyle/>
          <a:p>
            <a:pPr algn="l"/>
            <a:r>
              <a:rPr sz="750" b="1" i="0">
                <a:solidFill>
                  <a:srgbClr val="1B3A6B"/>
                </a:solidFill>
              </a:rPr>
              <a:t>Absence de due diligence et limites de l'analyse</a:t>
            </a:r>
          </a:p>
        </p:txBody>
      </p:sp>
      <p:sp>
        <p:nvSpPr>
          <p:cNvPr id="21" name="TextBox 20"/>
          <p:cNvSpPr txBox="1"/>
          <p:nvPr/>
        </p:nvSpPr>
        <p:spPr>
          <a:xfrm>
            <a:off x="4716000" y="1792799"/>
            <a:ext cx="4031999" cy="594000"/>
          </a:xfrm>
          <a:prstGeom prst="rect">
            <a:avLst/>
          </a:prstGeom>
          <a:noFill/>
        </p:spPr>
        <p:txBody>
          <a:bodyPr wrap="square">
            <a:spAutoFit/>
          </a:bodyPr>
          <a:lstStyle/>
          <a:p>
            <a:pPr algn="l"/>
            <a:r>
              <a:rPr sz="650" b="0" i="0">
                <a:solidFill>
                  <a:srgbClr val="555555"/>
                </a:solidFill>
              </a:rPr>
              <a:t>FinSight IA est un outil algorithmique de screening basé sur des données publiques (yfinance, Finnhub, FMP). Les analyses présentées sont generees automatiquement par des modèles statistiques et un LLM, sans validation manuelle, sans rencontre avec le management, sans audit des comptes. Aucune due diligence spécifique, expertise sectorielle approfondie ou vérification croisee n'est réalisée. Les modèles peuvent contenir des biais, erreurs ou simplifications. FinSight IA et ses auteurs déclinent toute responsabilité quant aux pertes ou prejudices découlant de l'utilisation de ce document.</a:t>
            </a:r>
          </a:p>
        </p:txBody>
      </p:sp>
      <p:sp>
        <p:nvSpPr>
          <p:cNvPr id="22" name="TextBox 21"/>
          <p:cNvSpPr txBox="1"/>
          <p:nvPr/>
        </p:nvSpPr>
        <p:spPr>
          <a:xfrm>
            <a:off x="4716000" y="2394000"/>
            <a:ext cx="4031999" cy="122400"/>
          </a:xfrm>
          <a:prstGeom prst="rect">
            <a:avLst/>
          </a:prstGeom>
          <a:noFill/>
        </p:spPr>
        <p:txBody>
          <a:bodyPr wrap="square">
            <a:spAutoFit/>
          </a:bodyPr>
          <a:lstStyle/>
          <a:p>
            <a:pPr algn="l"/>
            <a:r>
              <a:rPr sz="750" b="1" i="0">
                <a:solidFill>
                  <a:srgbClr val="1B3A6B"/>
                </a:solidFill>
              </a:rPr>
              <a:t>Risques d'investissement</a:t>
            </a:r>
          </a:p>
        </p:txBody>
      </p:sp>
      <p:sp>
        <p:nvSpPr>
          <p:cNvPr id="23" name="TextBox 22"/>
          <p:cNvSpPr txBox="1"/>
          <p:nvPr/>
        </p:nvSpPr>
        <p:spPr>
          <a:xfrm>
            <a:off x="4716000" y="2530800"/>
            <a:ext cx="4031999" cy="594000"/>
          </a:xfrm>
          <a:prstGeom prst="rect">
            <a:avLst/>
          </a:prstGeom>
          <a:noFill/>
        </p:spPr>
        <p:txBody>
          <a:bodyPr wrap="square">
            <a:spAutoFit/>
          </a:bodyPr>
          <a:lstStyle/>
          <a:p>
            <a:pPr algn="l"/>
            <a:r>
              <a:rPr sz="650" b="0" i="0">
                <a:solidFill>
                  <a:srgbClr val="555555"/>
                </a:solidFill>
              </a:rPr>
              <a:t>Tout investissement en valeurs mobilières comporte un risque de perte partielle ou totale en capital. Les performances passees ne préjugent pas des performances futures. Les conditions de marché, le contexte macroeconomique, les décisions réglementaires et les événements géopolitiques peuvent evoluer rapidement et invalider les signaux présentés. La diversification et un horizon d'investissement adapte sont recommandes.</a:t>
            </a:r>
          </a:p>
        </p:txBody>
      </p:sp>
      <p:sp>
        <p:nvSpPr>
          <p:cNvPr id="24" name="TextBox 23"/>
          <p:cNvSpPr txBox="1"/>
          <p:nvPr/>
        </p:nvSpPr>
        <p:spPr>
          <a:xfrm>
            <a:off x="4716000" y="3131999"/>
            <a:ext cx="4031999" cy="122400"/>
          </a:xfrm>
          <a:prstGeom prst="rect">
            <a:avLst/>
          </a:prstGeom>
          <a:noFill/>
        </p:spPr>
        <p:txBody>
          <a:bodyPr wrap="square">
            <a:spAutoFit/>
          </a:bodyPr>
          <a:lstStyle/>
          <a:p>
            <a:pPr algn="l"/>
            <a:r>
              <a:rPr sz="750" b="1" i="0">
                <a:solidFill>
                  <a:srgbClr val="1B3A6B"/>
                </a:solidFill>
              </a:rPr>
              <a:t>Confidentialité et propriete intellectuelle</a:t>
            </a:r>
          </a:p>
        </p:txBody>
      </p:sp>
      <p:sp>
        <p:nvSpPr>
          <p:cNvPr id="25" name="TextBox 24"/>
          <p:cNvSpPr txBox="1"/>
          <p:nvPr/>
        </p:nvSpPr>
        <p:spPr>
          <a:xfrm>
            <a:off x="4716000" y="3268800"/>
            <a:ext cx="4031999" cy="594000"/>
          </a:xfrm>
          <a:prstGeom prst="rect">
            <a:avLst/>
          </a:prstGeom>
          <a:noFill/>
        </p:spPr>
        <p:txBody>
          <a:bodyPr wrap="square">
            <a:spAutoFit/>
          </a:bodyPr>
          <a:lstStyle/>
          <a:p>
            <a:pPr algn="l"/>
            <a:r>
              <a:rPr sz="650" b="0" i="0">
                <a:solidFill>
                  <a:srgbClr val="555555"/>
                </a:solidFill>
              </a:rPr>
              <a:t>Ce document est destine a un usage prive et confidentiel. Sa reproduction, distribution, publication ou diffusion, meme partielle, est strictement interdite sans autorisation ecrite expresse. Le scoring FinSight, la Méthodologie et les visuels sont la propriete intellectuelle exclusive de FinSight IA. Toute exploitation commerciale est prohibee. Ne pas utiliser comme base exclusive pour une décision d'investissement.</a:t>
            </a:r>
          </a:p>
        </p:txBody>
      </p:sp>
      <p:sp>
        <p:nvSpPr>
          <p:cNvPr id="26" name="Rectangle 25"/>
          <p:cNvSpPr/>
          <p:nvPr/>
        </p:nvSpPr>
        <p:spPr>
          <a:xfrm>
            <a:off x="324000" y="4788000"/>
            <a:ext cx="8496000" cy="9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4000" y="4795200"/>
            <a:ext cx="8496000" cy="79200"/>
          </a:xfrm>
          <a:prstGeom prst="rect">
            <a:avLst/>
          </a:prstGeom>
          <a:noFill/>
        </p:spPr>
        <p:txBody>
          <a:bodyPr wrap="square">
            <a:spAutoFit/>
          </a:bodyPr>
          <a:lstStyle/>
          <a:p>
            <a:pPr algn="ctr"/>
            <a:r>
              <a:rPr sz="700" b="1" i="0">
                <a:solidFill>
                  <a:srgbClr val="1B3A6B"/>
                </a:solidFill>
              </a:rPr>
              <a:t>Généré par FinSight IA  |  11 avril 2026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