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S&amp;P 500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^GSPC  ·  11 secteurs analysés  ·  503 sociétés couvertes</a:t>
            </a:r>
          </a:p>
        </p:txBody>
      </p:sp>
      <p:sp>
        <p:nvSpPr>
          <p:cNvPr id="8" name="Rectangle 7"/>
          <p:cNvSpPr/>
          <p:nvPr/>
        </p:nvSpPr>
        <p:spPr>
          <a:xfrm>
            <a:off x="457200" y="2448000"/>
            <a:ext cx="8229600" cy="4752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1A7A4A"/>
                </a:solidFill>
              </a:rPr>
              <a:t>● SURPONDÉRER  ·  Conviction 64 %  ·  ERP -0.6%</a:t>
            </a:r>
          </a:p>
        </p:txBody>
      </p:sp>
      <p:sp>
        <p:nvSpPr>
          <p:cNvPr id="11" name="Rectangle 10"/>
          <p:cNvSpPr/>
          <p:nvPr/>
        </p:nvSpPr>
        <p:spPr>
          <a:xfrm>
            <a:off x="4572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1200" y="3096000"/>
            <a:ext cx="1224000" cy="180000"/>
          </a:xfrm>
          <a:prstGeom prst="rect">
            <a:avLst/>
          </a:prstGeom>
          <a:noFill/>
        </p:spPr>
        <p:txBody>
          <a:bodyPr wrap="square">
            <a:spAutoFit/>
          </a:bodyPr>
          <a:lstStyle/>
          <a:p>
            <a:pPr algn="l"/>
            <a:r>
              <a:rPr sz="700" b="0" i="0">
                <a:solidFill>
                  <a:srgbClr val="555555"/>
                </a:solidFill>
              </a:rPr>
              <a:t>Cours</a:t>
            </a:r>
          </a:p>
        </p:txBody>
      </p:sp>
      <p:sp>
        <p:nvSpPr>
          <p:cNvPr id="13" name="TextBox 12"/>
          <p:cNvSpPr txBox="1"/>
          <p:nvPr/>
        </p:nvSpPr>
        <p:spPr>
          <a:xfrm>
            <a:off x="511200" y="3258000"/>
            <a:ext cx="1224000" cy="324000"/>
          </a:xfrm>
          <a:prstGeom prst="rect">
            <a:avLst/>
          </a:prstGeom>
          <a:noFill/>
        </p:spPr>
        <p:txBody>
          <a:bodyPr wrap="square">
            <a:spAutoFit/>
          </a:bodyPr>
          <a:lstStyle/>
          <a:p>
            <a:pPr algn="l"/>
            <a:r>
              <a:rPr sz="1100" b="1" i="0">
                <a:solidFill>
                  <a:srgbClr val="1B3A6B"/>
                </a:solidFill>
              </a:rPr>
              <a:t>6 783</a:t>
            </a:r>
          </a:p>
        </p:txBody>
      </p:sp>
      <p:sp>
        <p:nvSpPr>
          <p:cNvPr id="14" name="Rectangle 13"/>
          <p:cNvSpPr/>
          <p:nvPr/>
        </p:nvSpPr>
        <p:spPr>
          <a:xfrm>
            <a:off x="18288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2800" y="3096000"/>
            <a:ext cx="1224000" cy="180000"/>
          </a:xfrm>
          <a:prstGeom prst="rect">
            <a:avLst/>
          </a:prstGeom>
          <a:noFill/>
        </p:spPr>
        <p:txBody>
          <a:bodyPr wrap="square">
            <a:spAutoFit/>
          </a:bodyPr>
          <a:lstStyle/>
          <a:p>
            <a:pPr algn="l"/>
            <a:r>
              <a:rPr sz="700" b="0" i="0">
                <a:solidFill>
                  <a:srgbClr val="555555"/>
                </a:solidFill>
              </a:rPr>
              <a:t>Variation YTD</a:t>
            </a:r>
          </a:p>
        </p:txBody>
      </p:sp>
      <p:sp>
        <p:nvSpPr>
          <p:cNvPr id="16" name="TextBox 15"/>
          <p:cNvSpPr txBox="1"/>
          <p:nvPr/>
        </p:nvSpPr>
        <p:spPr>
          <a:xfrm>
            <a:off x="1882800" y="3258000"/>
            <a:ext cx="1224000" cy="324000"/>
          </a:xfrm>
          <a:prstGeom prst="rect">
            <a:avLst/>
          </a:prstGeom>
          <a:noFill/>
        </p:spPr>
        <p:txBody>
          <a:bodyPr wrap="square">
            <a:spAutoFit/>
          </a:bodyPr>
          <a:lstStyle/>
          <a:p>
            <a:pPr algn="l"/>
            <a:r>
              <a:rPr sz="1100" b="1" i="0">
                <a:solidFill>
                  <a:srgbClr val="1B3A6B"/>
                </a:solidFill>
              </a:rPr>
              <a:t>-1.1%</a:t>
            </a:r>
          </a:p>
        </p:txBody>
      </p:sp>
      <p:sp>
        <p:nvSpPr>
          <p:cNvPr id="17" name="Rectangle 16"/>
          <p:cNvSpPr/>
          <p:nvPr/>
        </p:nvSpPr>
        <p:spPr>
          <a:xfrm>
            <a:off x="32004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54400" y="3096000"/>
            <a:ext cx="1224000" cy="180000"/>
          </a:xfrm>
          <a:prstGeom prst="rect">
            <a:avLst/>
          </a:prstGeom>
          <a:noFill/>
        </p:spPr>
        <p:txBody>
          <a:bodyPr wrap="square">
            <a:spAutoFit/>
          </a:bodyPr>
          <a:lstStyle/>
          <a:p>
            <a:pPr algn="l"/>
            <a:r>
              <a:rPr sz="700" b="0" i="0">
                <a:solidFill>
                  <a:srgbClr val="555555"/>
                </a:solidFill>
              </a:rPr>
              <a:t>Surpondérer</a:t>
            </a:r>
          </a:p>
        </p:txBody>
      </p:sp>
      <p:sp>
        <p:nvSpPr>
          <p:cNvPr id="19" name="TextBox 18"/>
          <p:cNvSpPr txBox="1"/>
          <p:nvPr/>
        </p:nvSpPr>
        <p:spPr>
          <a:xfrm>
            <a:off x="3254400" y="3258000"/>
            <a:ext cx="1224000" cy="324000"/>
          </a:xfrm>
          <a:prstGeom prst="rect">
            <a:avLst/>
          </a:prstGeom>
          <a:noFill/>
        </p:spPr>
        <p:txBody>
          <a:bodyPr wrap="square">
            <a:spAutoFit/>
          </a:bodyPr>
          <a:lstStyle/>
          <a:p>
            <a:pPr algn="l"/>
            <a:r>
              <a:rPr sz="1100" b="1" i="0">
                <a:solidFill>
                  <a:srgbClr val="1B3A6B"/>
                </a:solidFill>
              </a:rPr>
              <a:t>7 sect.</a:t>
            </a:r>
          </a:p>
        </p:txBody>
      </p:sp>
      <p:sp>
        <p:nvSpPr>
          <p:cNvPr id="20" name="Rectangle 19"/>
          <p:cNvSpPr/>
          <p:nvPr/>
        </p:nvSpPr>
        <p:spPr>
          <a:xfrm>
            <a:off x="45720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26000" y="3096000"/>
            <a:ext cx="1224000" cy="180000"/>
          </a:xfrm>
          <a:prstGeom prst="rect">
            <a:avLst/>
          </a:prstGeom>
          <a:noFill/>
        </p:spPr>
        <p:txBody>
          <a:bodyPr wrap="square">
            <a:spAutoFit/>
          </a:bodyPr>
          <a:lstStyle/>
          <a:p>
            <a:pPr algn="l"/>
            <a:r>
              <a:rPr sz="700" b="0" i="0">
                <a:solidFill>
                  <a:srgbClr val="555555"/>
                </a:solidFill>
              </a:rPr>
              <a:t>Neutre</a:t>
            </a:r>
          </a:p>
        </p:txBody>
      </p:sp>
      <p:sp>
        <p:nvSpPr>
          <p:cNvPr id="22" name="TextBox 21"/>
          <p:cNvSpPr txBox="1"/>
          <p:nvPr/>
        </p:nvSpPr>
        <p:spPr>
          <a:xfrm>
            <a:off x="4626000" y="3258000"/>
            <a:ext cx="1224000" cy="324000"/>
          </a:xfrm>
          <a:prstGeom prst="rect">
            <a:avLst/>
          </a:prstGeom>
          <a:noFill/>
        </p:spPr>
        <p:txBody>
          <a:bodyPr wrap="square">
            <a:spAutoFit/>
          </a:bodyPr>
          <a:lstStyle/>
          <a:p>
            <a:pPr algn="l"/>
            <a:r>
              <a:rPr sz="1100" b="1" i="0">
                <a:solidFill>
                  <a:srgbClr val="1B3A6B"/>
                </a:solidFill>
              </a:rPr>
              <a:t>4 sect.</a:t>
            </a:r>
          </a:p>
        </p:txBody>
      </p:sp>
      <p:sp>
        <p:nvSpPr>
          <p:cNvPr id="23" name="Rectangle 22"/>
          <p:cNvSpPr/>
          <p:nvPr/>
        </p:nvSpPr>
        <p:spPr>
          <a:xfrm>
            <a:off x="59436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97600" y="3096000"/>
            <a:ext cx="1224000" cy="180000"/>
          </a:xfrm>
          <a:prstGeom prst="rect">
            <a:avLst/>
          </a:prstGeom>
          <a:noFill/>
        </p:spPr>
        <p:txBody>
          <a:bodyPr wrap="square">
            <a:spAutoFit/>
          </a:bodyPr>
          <a:lstStyle/>
          <a:p>
            <a:pPr algn="l"/>
            <a:r>
              <a:rPr sz="700" b="0" i="0">
                <a:solidFill>
                  <a:srgbClr val="555555"/>
                </a:solidFill>
              </a:rPr>
              <a:t>Sous-pondérer</a:t>
            </a:r>
          </a:p>
        </p:txBody>
      </p:sp>
      <p:sp>
        <p:nvSpPr>
          <p:cNvPr id="25" name="TextBox 24"/>
          <p:cNvSpPr txBox="1"/>
          <p:nvPr/>
        </p:nvSpPr>
        <p:spPr>
          <a:xfrm>
            <a:off x="5997600" y="3258000"/>
            <a:ext cx="1224000" cy="324000"/>
          </a:xfrm>
          <a:prstGeom prst="rect">
            <a:avLst/>
          </a:prstGeom>
          <a:noFill/>
        </p:spPr>
        <p:txBody>
          <a:bodyPr wrap="square">
            <a:spAutoFit/>
          </a:bodyPr>
          <a:lstStyle/>
          <a:p>
            <a:pPr algn="l"/>
            <a:r>
              <a:rPr sz="1100" b="1" i="0">
                <a:solidFill>
                  <a:srgbClr val="1B3A6B"/>
                </a:solidFill>
              </a:rPr>
              <a:t>0 sect.</a:t>
            </a:r>
          </a:p>
        </p:txBody>
      </p:sp>
      <p:sp>
        <p:nvSpPr>
          <p:cNvPr id="26" name="Rectangle 25"/>
          <p:cNvSpPr/>
          <p:nvPr/>
        </p:nvSpPr>
        <p:spPr>
          <a:xfrm>
            <a:off x="73152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69200" y="3096000"/>
            <a:ext cx="1224000" cy="180000"/>
          </a:xfrm>
          <a:prstGeom prst="rect">
            <a:avLst/>
          </a:prstGeom>
          <a:noFill/>
        </p:spPr>
        <p:txBody>
          <a:bodyPr wrap="square">
            <a:spAutoFit/>
          </a:bodyPr>
          <a:lstStyle/>
          <a:p>
            <a:pPr algn="l"/>
            <a:r>
              <a:rPr sz="700" b="0" i="0">
                <a:solidFill>
                  <a:srgbClr val="555555"/>
                </a:solidFill>
              </a:rPr>
              <a:t>Score médian</a:t>
            </a:r>
          </a:p>
        </p:txBody>
      </p:sp>
      <p:sp>
        <p:nvSpPr>
          <p:cNvPr id="28" name="TextBox 27"/>
          <p:cNvSpPr txBox="1"/>
          <p:nvPr/>
        </p:nvSpPr>
        <p:spPr>
          <a:xfrm>
            <a:off x="7369200" y="3258000"/>
            <a:ext cx="1224000" cy="324000"/>
          </a:xfrm>
          <a:prstGeom prst="rect">
            <a:avLst/>
          </a:prstGeom>
          <a:noFill/>
        </p:spPr>
        <p:txBody>
          <a:bodyPr wrap="square">
            <a:spAutoFit/>
          </a:bodyPr>
          <a:lstStyle/>
          <a:p>
            <a:pPr algn="l"/>
            <a:r>
              <a:rPr sz="1100" b="1" i="0">
                <a:solidFill>
                  <a:srgbClr val="1B3A6B"/>
                </a:solidFill>
              </a:rPr>
              <a:t>66.9/100</a:t>
            </a:r>
          </a:p>
        </p:txBody>
      </p:sp>
      <p:sp>
        <p:nvSpPr>
          <p:cNvPr id="29" name="Rectangle 28"/>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31" name="TextBox 30"/>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8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sociétés  ·  Horizon 12 mois</a:t>
            </a:r>
          </a:p>
        </p:txBody>
      </p:sp>
      <p:sp>
        <p:nvSpPr>
          <p:cNvPr id="15" name="Rectangle 14"/>
          <p:cNvSpPr/>
          <p:nvPr/>
        </p:nvSpPr>
        <p:spPr>
          <a:xfrm>
            <a:off x="324000" y="827999"/>
            <a:ext cx="1728000" cy="27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6 783  ·  YTD : -1.1%  ·  P/E Forward : —  ·  ERP : -0.6% (Tendu)  ·  Conviction 64 %</a:t>
            </a:r>
          </a:p>
        </p:txBody>
      </p:sp>
      <p:sp>
        <p:nvSpPr>
          <p:cNvPr id="18" name="Rectangle 17"/>
          <p:cNvSpPr/>
          <p:nvPr/>
        </p:nvSpPr>
        <p:spPr>
          <a:xfrm>
            <a:off x="324000" y="1368000"/>
            <a:ext cx="882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828000" cy="162000"/>
          </a:xfrm>
          <a:prstGeom prst="rect">
            <a:avLst/>
          </a:prstGeom>
          <a:noFill/>
        </p:spPr>
        <p:txBody>
          <a:bodyPr wrap="square" anchor="ctr">
            <a:spAutoFit/>
          </a:bodyPr>
          <a:lstStyle/>
          <a:p>
            <a:pPr algn="ctr"/>
            <a:r>
              <a:rPr sz="750" b="1" i="0">
                <a:solidFill>
                  <a:srgbClr val="FFFFFF"/>
                </a:solidFill>
              </a:rPr>
              <a:t>Régime Volatile</a:t>
            </a:r>
          </a:p>
        </p:txBody>
      </p:sp>
      <p:sp>
        <p:nvSpPr>
          <p:cNvPr id="20" name="Rectangle 19"/>
          <p:cNvSpPr/>
          <p:nvPr/>
        </p:nvSpPr>
        <p:spPr>
          <a:xfrm>
            <a:off x="126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96000" y="1368000"/>
            <a:ext cx="738000" cy="162000"/>
          </a:xfrm>
          <a:prstGeom prst="rect">
            <a:avLst/>
          </a:prstGeom>
          <a:noFill/>
        </p:spPr>
        <p:txBody>
          <a:bodyPr wrap="square" anchor="ctr">
            <a:spAutoFit/>
          </a:bodyPr>
          <a:lstStyle/>
          <a:p>
            <a:pPr algn="ctr"/>
            <a:r>
              <a:rPr sz="750" b="0" i="0">
                <a:solidFill>
                  <a:srgbClr val="1B3A6B"/>
                </a:solidFill>
              </a:rPr>
              <a:t>VIX 21</a:t>
            </a:r>
          </a:p>
        </p:txBody>
      </p:sp>
      <p:sp>
        <p:nvSpPr>
          <p:cNvPr id="22" name="Rectangle 21"/>
          <p:cNvSpPr/>
          <p:nvPr/>
        </p:nvSpPr>
        <p:spPr>
          <a:xfrm>
            <a:off x="2106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4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95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7999" y="1368000"/>
            <a:ext cx="738000" cy="162000"/>
          </a:xfrm>
          <a:prstGeom prst="rect">
            <a:avLst/>
          </a:prstGeom>
          <a:noFill/>
        </p:spPr>
        <p:txBody>
          <a:bodyPr wrap="square" anchor="ctr">
            <a:spAutoFit/>
          </a:bodyPr>
          <a:lstStyle/>
          <a:p>
            <a:pPr algn="ctr"/>
            <a:r>
              <a:rPr sz="750" b="0" i="0">
                <a:solidFill>
                  <a:srgbClr val="1B3A6B"/>
                </a:solidFill>
              </a:rPr>
              <a:t>Rec. 6M 18%</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Résultats trimestriels solides des géants technolo</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Les publications des entreprises technologiques pourraient dépasser les attentes, renforçant la confiance dans le moment</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Stabilisation des anticipations de taux de la Fed</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Un pivot dovish de la Fed ou une communication plus accommodante pourrait relancer l'appétit pour le risque sur l'indice</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Rebond des prix des matières premières</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La hausse continue des prix de l'énergie et des métaux pourrait soutenir les bénéfices des secteurs Materials et Energy.</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S&amp;P 500 est Surpondérer avec une conviction de 64% (sur la base des 11 secteurs analyses). 7 secteur(s) ressortent Surpondérer — Technology, Health Care, Communication Services — portes par leur momentum positif 52 semaines. 4 secteurs sont Neutre et 0 en Sous-ponderer.  Le S&amp;P 500 affiche un cours de 6 783 (YTD : -1.1%). P/E Forward — vs médiane historique 10 ans 18.0x — valorisation en ligne avec l'historique. ERP Damodaran -0.6% (prime insuffisante — prudence sur les entrées). Score composite moyen : 66.9/100 — conviction 64 %. Secteurs a Surponderer : aucun. Secteurs a eviter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S&amp;P 500  —  Caractéristiques &amp; Valorisation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^GSPC  ·  Analyse institutionnelle FinSight  ·  Données yfinance / FMP</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6 783</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-1.1%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18.0x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-0.6%</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Surpondérer (score composite 66.9/100). P/E Forward — vs médiane historique 18.0x — valorisation proche des normes historiques. ERP Damodaran : -0.6% (Tendu). Secteurs a Surponderer : Technology  ·  Health Care  ·  Comm. Services. Secteurs a Sous-ponderer : aucun. 4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médiane 10Y</a:t>
                      </a:r>
                    </a:p>
                  </a:txBody>
                  <a:tcPr>
                    <a:noFill/>
                  </a:tcPr>
                </a:tc>
              </a:tr>
              <a:tr h="30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normalisé</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-0.6%</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Surévalué si &gt; 20 %</a:t>
                      </a:r>
                    </a:p>
                  </a:txBody>
                  <a:tcPr>
                    <a:noFill/>
                  </a:tcPr>
                </a:tc>
                <a:tc>
                  <a:txBody>
                    <a:bodyPr/>
                    <a:lstStyle/>
                    <a:p>
                      <a:pPr algn="ctr"/>
                      <a:r>
                        <a:rPr sz="800" b="0">
                          <a:solidFill>
                            <a:srgbClr val="1A1A1A"/>
                          </a:solidFill>
                        </a:rPr>
                        <a:t>Signal d'alerte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Cours 6 783 (YTD -1.1%) — Croissance BPA forward +8.5%. P/E Forward — vs mediane historique 18.0x. L'ERP Damodaran de -0.6% signale une prime de risque comprimee — les actions sont peu renunerees vs les taux. Dans ce contexte, la selectivite sectorielle prime : se concentrer sur les secteurs a forte visibilite BPA et pricing power, eviter les dossiers a multiples etires. Score composite FinSight : 66.9/100 — signal Surpondérer (conviction 64%). 7 secteur(s) en Surponderer, 0 en Sous-ponderer.</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Économique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avancée  ·  Signaux FRED  ·  Modèle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avancée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normalisée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avancées positionne le cycle en phase d'expansion avancée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modérée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Légèrement inversée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Chômage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Marché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recommandée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avancées positionne le cycle en phase d'expansion avancée : ISM Manufacturier autour du seuil 50 (49.8), courbe des taux partiellement normalisée (10Y-2Y +0.2%), Leading Indicators OCDE en légère hausse. Cette configuration favorise les secteurs avec forte visibilité BPA et moindre sensibilité aux taux : Technology, Health Care, Financials. Les secteurs défensifs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1.1x</a:t>
                      </a:r>
                    </a:p>
                  </a:txBody>
                  <a:tcPr>
                    <a:noFill/>
                  </a:tcPr>
                </a:tc>
                <a:tc>
                  <a:txBody>
                    <a:bodyPr/>
                    <a:lstStyle/>
                    <a:p>
                      <a:pPr algn="ctr"/>
                      <a:r>
                        <a:rPr sz="800" b="0">
                          <a:solidFill>
                            <a:srgbClr val="1A1A1A"/>
                          </a:solidFill>
                        </a:rPr>
                        <a:t>2.4%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78</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0.9x</a:t>
                      </a:r>
                    </a:p>
                  </a:txBody>
                  <a:tcPr>
                    <a:solidFill>
                      <a:srgbClr val="F5F7FA"/>
                    </a:solidFill>
                  </a:tcPr>
                </a:tc>
                <a:tc>
                  <a:txBody>
                    <a:bodyPr/>
                    <a:lstStyle/>
                    <a:p>
                      <a:pPr algn="ctr"/>
                      <a:r>
                        <a:rPr sz="800" b="0">
                          <a:solidFill>
                            <a:srgbClr val="1A1A1A"/>
                          </a:solidFill>
                        </a:rPr>
                        <a:t>0.6%</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77</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0.7x</a:t>
                      </a:r>
                    </a:p>
                  </a:txBody>
                  <a:tcPr>
                    <a:noFill/>
                  </a:tcPr>
                </a:tc>
                <a:tc>
                  <a:txBody>
                    <a:bodyPr/>
                    <a:lstStyle/>
                    <a:p>
                      <a:pPr algn="ctr"/>
                      <a:r>
                        <a:rPr sz="800" b="0">
                          <a:solidFill>
                            <a:srgbClr val="1A1A1A"/>
                          </a:solidFill>
                        </a:rPr>
                        <a:t>1.8%</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75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14.0%</a:t>
                      </a:r>
                    </a:p>
                  </a:txBody>
                  <a:tcPr>
                    <a:solidFill>
                      <a:srgbClr val="F5F7FA"/>
                    </a:solidFill>
                  </a:tcPr>
                </a:tc>
                <a:tc>
                  <a:txBody>
                    <a:bodyPr/>
                    <a:lstStyle/>
                    <a:p>
                      <a:pPr algn="ctr"/>
                      <a:r>
                        <a:rPr sz="800" b="0">
                          <a:solidFill>
                            <a:srgbClr val="1A1A1A"/>
                          </a:solidFill>
                        </a:rPr>
                        <a:t>+6.5%</a:t>
                      </a:r>
                    </a:p>
                  </a:txBody>
                  <a:tcPr>
                    <a:solidFill>
                      <a:srgbClr val="F5F7FA"/>
                    </a:solidFill>
                  </a:tcPr>
                </a:tc>
                <a:tc>
                  <a:txBody>
                    <a:bodyPr/>
                    <a:lstStyle/>
                    <a:p>
                      <a:pPr algn="ctr"/>
                      <a:r>
                        <a:rPr sz="800" b="0">
                          <a:solidFill>
                            <a:srgbClr val="1A1A1A"/>
                          </a:solidFill>
                        </a:rPr>
                        <a:t>1.7x</a:t>
                      </a:r>
                    </a:p>
                  </a:txBody>
                  <a:tcPr>
                    <a:solidFill>
                      <a:srgbClr val="F5F7FA"/>
                    </a:solidFill>
                  </a:tcPr>
                </a:tc>
                <a:tc>
                  <a:txBody>
                    <a:bodyPr/>
                    <a:lstStyle/>
                    <a:p>
                      <a:pPr algn="ctr"/>
                      <a:r>
                        <a:rPr sz="800" b="0">
                          <a:solidFill>
                            <a:srgbClr val="1A1A1A"/>
                          </a:solidFill>
                        </a:rPr>
                        <a:t>1.3%</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71</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28.0%</a:t>
                      </a:r>
                    </a:p>
                  </a:txBody>
                  <a:tcPr>
                    <a:no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0.7x</a:t>
                      </a:r>
                    </a:p>
                  </a:txBody>
                  <a:tcPr>
                    <a:noFill/>
                  </a:tcPr>
                </a:tc>
                <a:tc>
                  <a:txBody>
                    <a:bodyPr/>
                    <a:lstStyle/>
                    <a:p>
                      <a:pPr algn="ctr"/>
                      <a:r>
                        <a:rPr sz="800" b="0">
                          <a:solidFill>
                            <a:srgbClr val="1A1A1A"/>
                          </a:solidFill>
                        </a:rPr>
                        <a:t>2.6%</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68</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1.2x</a:t>
                      </a:r>
                    </a:p>
                  </a:txBody>
                  <a:tcPr>
                    <a:solidFill>
                      <a:srgbClr val="F5F7FA"/>
                    </a:solidFill>
                  </a:tcPr>
                </a:tc>
                <a:tc>
                  <a:txBody>
                    <a:bodyPr/>
                    <a:lstStyle/>
                    <a:p>
                      <a:pPr algn="ctr"/>
                      <a:r>
                        <a:rPr sz="800" b="0">
                          <a:solidFill>
                            <a:srgbClr val="1A1A1A"/>
                          </a:solidFill>
                        </a:rPr>
                        <a:t>1.7%</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Comm. Services</a:t>
                      </a:r>
                    </a:p>
                  </a:txBody>
                  <a:tcPr>
                    <a:noFill/>
                  </a:tcPr>
                </a:tc>
                <a:tc>
                  <a:txBody>
                    <a:bodyPr/>
                    <a:lstStyle/>
                    <a:p>
                      <a:pPr algn="ctr"/>
                      <a:r>
                        <a:rPr sz="800" b="0">
                          <a:solidFill>
                            <a:srgbClr val="1A1A1A"/>
                          </a:solidFill>
                        </a:rPr>
                        <a:t>66</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23.0%</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1A1A"/>
                          </a:solidFill>
                        </a:rPr>
                        <a:t>3.6x</a:t>
                      </a:r>
                    </a:p>
                  </a:txBody>
                  <a:tcPr>
                    <a:noFill/>
                  </a:tcPr>
                </a:tc>
                <a:tc>
                  <a:txBody>
                    <a:bodyPr/>
                    <a:lstStyle/>
                    <a:p>
                      <a:pPr algn="ctr"/>
                      <a:r>
                        <a:rPr sz="800" b="0">
                          <a:solidFill>
                            <a:srgbClr val="1A1A1A"/>
                          </a:solidFill>
                        </a:rPr>
                        <a:t>1.3%</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56</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42.0%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2.1x</a:t>
                      </a:r>
                    </a:p>
                  </a:txBody>
                  <a:tcPr>
                    <a:solidFill>
                      <a:srgbClr val="F5F7FA"/>
                    </a:solidFill>
                  </a:tcPr>
                </a:tc>
                <a:tc>
                  <a:txBody>
                    <a:bodyPr/>
                    <a:lstStyle/>
                    <a:p>
                      <a:pPr algn="ctr"/>
                      <a:r>
                        <a:rPr sz="800" b="0">
                          <a:solidFill>
                            <a:srgbClr val="1A1A1A"/>
                          </a:solidFill>
                        </a:rPr>
                        <a:t>3.4%</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0.7x</a:t>
                      </a:r>
                    </a:p>
                  </a:txBody>
                  <a:tcPr>
                    <a:noFill/>
                  </a:tcPr>
                </a:tc>
                <a:tc>
                  <a:txBody>
                    <a:bodyPr/>
                    <a:lstStyle/>
                    <a:p>
                      <a:pPr algn="ctr"/>
                      <a:r>
                        <a:rPr sz="800" b="0">
                          <a:solidFill>
                            <a:srgbClr val="1A1A1A"/>
                          </a:solidFill>
                        </a:rPr>
                        <a:t>0.8%</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Cons. Staples</a:t>
                      </a:r>
                    </a:p>
                  </a:txBody>
                  <a:tcPr>
                    <a:solidFill>
                      <a:srgbClr val="F5F7FA"/>
                    </a:solidFill>
                  </a:tcPr>
                </a:tc>
                <a:tc>
                  <a:txBody>
                    <a:bodyPr/>
                    <a:lstStyle/>
                    <a:p>
                      <a:pPr algn="ctr"/>
                      <a:r>
                        <a:rPr sz="800" b="0">
                          <a:solidFill>
                            <a:srgbClr val="1A1A1A"/>
                          </a:solidFill>
                        </a:rPr>
                        <a:t>53</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a:t>
                      </a:r>
                    </a:p>
                  </a:txBody>
                  <a:tcPr>
                    <a:solidFill>
                      <a:srgbClr val="F5F7FA"/>
                    </a:solidFill>
                  </a:tcPr>
                </a:tc>
                <a:tc>
                  <a:txBody>
                    <a:bodyPr/>
                    <a:lstStyle/>
                    <a:p>
                      <a:pPr algn="ctr"/>
                      <a:r>
                        <a:rPr sz="800" b="0">
                          <a:solidFill>
                            <a:srgbClr val="1A1A1A"/>
                          </a:solidFill>
                        </a:rPr>
                        <a:t>+3.5%</a:t>
                      </a:r>
                    </a:p>
                  </a:txBody>
                  <a:tcPr>
                    <a:solidFill>
                      <a:srgbClr val="F5F7FA"/>
                    </a:solidFill>
                  </a:tcPr>
                </a:tc>
                <a:tc>
                  <a:txBody>
                    <a:bodyPr/>
                    <a:lstStyle/>
                    <a:p>
                      <a:pPr algn="ctr"/>
                      <a:r>
                        <a:rPr sz="800" b="0">
                          <a:solidFill>
                            <a:srgbClr val="1A1A1A"/>
                          </a:solidFill>
                        </a:rPr>
                        <a:t>1.2x</a:t>
                      </a:r>
                    </a:p>
                  </a:txBody>
                  <a:tcPr>
                    <a:solidFill>
                      <a:srgbClr val="F5F7FA"/>
                    </a:solidFill>
                  </a:tcPr>
                </a:tc>
                <a:tc>
                  <a:txBody>
                    <a:bodyPr/>
                    <a:lstStyle/>
                    <a:p>
                      <a:pPr algn="ctr"/>
                      <a:r>
                        <a:rPr sz="800" b="0">
                          <a:solidFill>
                            <a:srgbClr val="1A1A1A"/>
                          </a:solidFill>
                        </a:rPr>
                        <a:t>2.6%</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52</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30.0%</a:t>
                      </a:r>
                    </a:p>
                  </a:txBody>
                  <a:tcPr>
                    <a:noFill/>
                  </a:tcPr>
                </a:tc>
                <a:tc>
                  <a:txBody>
                    <a:bodyPr/>
                    <a:lstStyle/>
                    <a:p>
                      <a:pPr algn="ctr"/>
                      <a:r>
                        <a:rPr sz="800" b="0">
                          <a:solidFill>
                            <a:srgbClr val="1A1A1A"/>
                          </a:solidFill>
                        </a:rPr>
                        <a:t>+10.0%</a:t>
                      </a:r>
                    </a:p>
                  </a:txBody>
                  <a:tcPr>
                    <a:noFill/>
                  </a:tcPr>
                </a:tc>
                <a:tc>
                  <a:txBody>
                    <a:bodyPr/>
                    <a:lstStyle/>
                    <a:p>
                      <a:pPr algn="ctr"/>
                      <a:r>
                        <a:rPr sz="800" b="0">
                          <a:solidFill>
                            <a:srgbClr val="1A1A1A"/>
                          </a:solidFill>
                        </a:rPr>
                        <a:t>1.5x</a:t>
                      </a:r>
                    </a:p>
                  </a:txBody>
                  <a:tcPr>
                    <a:noFill/>
                  </a:tcPr>
                </a:tc>
                <a:tc>
                  <a:txBody>
                    <a:bodyPr/>
                    <a:lstStyle/>
                    <a:p>
                      <a:pPr algn="ctr"/>
                      <a:r>
                        <a:rPr sz="800" b="0">
                          <a:solidFill>
                            <a:srgbClr val="1A1A1A"/>
                          </a:solidFill>
                        </a:rPr>
                        <a:t>1.6%</a:t>
                      </a:r>
                    </a:p>
                  </a:txBody>
                  <a:tcPr>
                    <a:noFill/>
                  </a:tcPr>
                </a:tc>
              </a:tr>
            </a:tbl>
          </a:graphicData>
        </a:graphic>
      </p:graphicFrame>
      <p:sp>
        <p:nvSpPr>
          <p:cNvPr id="16" name="Rectangle 15"/>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7 secteur(s) sur 11 franchissent le seuil Surpondérer (score &gt; 65) : Energy · Technology · Materials · Industrials · Utilities · Health Care · Communication Services. 0 secteur(s) en Sous-pondérer : aucun. 4 secteur(s) en position Neutre. L'écart entre le secteur leader (Energy, score 85/100) et le secteur le plus faible (Financials, score 52/100) est de 33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Energy  ·  Technology en zone Opportunite (EV/EBITDA attractif) — forte conviction score Surponderer.
Energy  ·  Technology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solidFill>
                      <a:srgbClr val="F5F7FA"/>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77</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75</a:t>
                      </a:r>
                    </a:p>
                  </a:txBody>
                  <a:tcPr>
                    <a:solidFill>
                      <a:srgbClr val="E8F5EE"/>
                    </a:solidFill>
                  </a:tcPr>
                </a:tc>
                <a:tc>
                  <a:txBody>
                    <a:bodyPr/>
                    <a:lstStyle/>
                    <a:p>
                      <a:pPr algn="ctr"/>
                      <a:r>
                        <a:rPr sz="800" b="0">
                          <a:solidFill>
                            <a:srgbClr val="1A1A1A"/>
                          </a:solidFill>
                        </a:rPr>
                        <a:t>30</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71</a:t>
                      </a:r>
                    </a:p>
                  </a:txBody>
                  <a:tcPr>
                    <a:solidFill>
                      <a:srgbClr val="E8F5EE"/>
                    </a:solidFill>
                  </a:tcPr>
                </a:tc>
                <a:tc>
                  <a:txBody>
                    <a:bodyPr/>
                    <a:lstStyle/>
                    <a:p>
                      <a:pPr algn="ctr"/>
                      <a:r>
                        <a:rPr sz="800" b="0">
                          <a:solidFill>
                            <a:srgbClr val="1A1A1A"/>
                          </a:solidFill>
                        </a:rPr>
                        <a:t>28</a:t>
                      </a:r>
                    </a:p>
                  </a:txBody>
                  <a:tcPr>
                    <a:no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21</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68</a:t>
                      </a:r>
                    </a:p>
                  </a:txBody>
                  <a:tcPr>
                    <a:solidFill>
                      <a:srgbClr val="E8F5EE"/>
                    </a:solidFill>
                  </a:tcPr>
                </a:tc>
                <a:tc>
                  <a:txBody>
                    <a:bodyPr/>
                    <a:lstStyle/>
                    <a:p>
                      <a:pPr algn="ctr"/>
                      <a:r>
                        <a:rPr sz="800" b="0">
                          <a:solidFill>
                            <a:srgbClr val="1A1A1A"/>
                          </a:solidFill>
                        </a:rPr>
                        <a:t>27</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no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56</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solidFill>
                      <a:srgbClr val="F5F7FA"/>
                    </a:solid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52</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864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332000" y="1620000"/>
            <a:ext cx="792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2124000" y="1620000"/>
            <a:ext cx="792000" cy="198000"/>
          </a:xfrm>
          <a:prstGeom prst="rect">
            <a:avLst/>
          </a:prstGeom>
          <a:noFill/>
        </p:spPr>
        <p:txBody>
          <a:bodyPr wrap="square">
            <a:spAutoFit/>
          </a:bodyPr>
          <a:lstStyle/>
          <a:p>
            <a:pPr algn="l"/>
            <a:r>
              <a:rPr sz="800" b="0" i="0">
                <a:solidFill>
                  <a:srgbClr val="555555"/>
                </a:solidFill>
              </a:rPr>
              <a:t>Score : 85</a:t>
            </a:r>
          </a:p>
        </p:txBody>
      </p:sp>
      <p:sp>
        <p:nvSpPr>
          <p:cNvPr id="26" name="Rectangle 25"/>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1915200"/>
            <a:ext cx="864000" cy="198000"/>
          </a:xfrm>
          <a:prstGeom prst="rect">
            <a:avLst/>
          </a:prstGeom>
          <a:noFill/>
        </p:spPr>
        <p:txBody>
          <a:bodyPr wrap="square">
            <a:spAutoFit/>
          </a:bodyPr>
          <a:lstStyle/>
          <a:p>
            <a:pPr algn="l"/>
            <a:r>
              <a:rPr sz="800" b="1" i="0">
                <a:solidFill>
                  <a:srgbClr val="1B3A6B"/>
                </a:solidFill>
              </a:rPr>
              <a:t>CVX</a:t>
            </a:r>
          </a:p>
        </p:txBody>
      </p:sp>
      <p:sp>
        <p:nvSpPr>
          <p:cNvPr id="28" name="TextBox 27"/>
          <p:cNvSpPr txBox="1"/>
          <p:nvPr/>
        </p:nvSpPr>
        <p:spPr>
          <a:xfrm>
            <a:off x="1332000" y="1915200"/>
            <a:ext cx="792000" cy="198000"/>
          </a:xfrm>
          <a:prstGeom prst="rect">
            <a:avLst/>
          </a:prstGeom>
          <a:noFill/>
        </p:spPr>
        <p:txBody>
          <a:bodyPr wrap="square">
            <a:spAutoFit/>
          </a:bodyPr>
          <a:lstStyle/>
          <a:p>
            <a:pPr algn="l"/>
            <a:r>
              <a:rPr sz="800" b="0" i="0">
                <a:solidFill>
                  <a:srgbClr val="1A7A4A"/>
                </a:solidFill>
              </a:rPr>
              <a:t>Surp.</a:t>
            </a:r>
          </a:p>
        </p:txBody>
      </p:sp>
      <p:sp>
        <p:nvSpPr>
          <p:cNvPr id="29" name="TextBox 28"/>
          <p:cNvSpPr txBox="1"/>
          <p:nvPr/>
        </p:nvSpPr>
        <p:spPr>
          <a:xfrm>
            <a:off x="2124000" y="1915200"/>
            <a:ext cx="792000" cy="198000"/>
          </a:xfrm>
          <a:prstGeom prst="rect">
            <a:avLst/>
          </a:prstGeom>
          <a:noFill/>
        </p:spPr>
        <p:txBody>
          <a:bodyPr wrap="square">
            <a:spAutoFit/>
          </a:bodyPr>
          <a:lstStyle/>
          <a:p>
            <a:pPr algn="l"/>
            <a:r>
              <a:rPr sz="800" b="0" i="0">
                <a:solidFill>
                  <a:srgbClr val="555555"/>
                </a:solidFill>
              </a:rPr>
              <a:t>Score : 85</a:t>
            </a:r>
          </a:p>
        </p:txBody>
      </p:sp>
      <p:sp>
        <p:nvSpPr>
          <p:cNvPr id="30" name="Rectangle 29"/>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210400"/>
            <a:ext cx="864000" cy="198000"/>
          </a:xfrm>
          <a:prstGeom prst="rect">
            <a:avLst/>
          </a:prstGeom>
          <a:noFill/>
        </p:spPr>
        <p:txBody>
          <a:bodyPr wrap="square">
            <a:spAutoFit/>
          </a:bodyPr>
          <a:lstStyle/>
          <a:p>
            <a:pPr algn="l"/>
            <a:r>
              <a:rPr sz="800" b="1" i="0">
                <a:solidFill>
                  <a:srgbClr val="1B3A6B"/>
                </a:solidFill>
              </a:rPr>
              <a:t>COP</a:t>
            </a:r>
          </a:p>
        </p:txBody>
      </p:sp>
      <p:sp>
        <p:nvSpPr>
          <p:cNvPr id="32" name="TextBox 31"/>
          <p:cNvSpPr txBox="1"/>
          <p:nvPr/>
        </p:nvSpPr>
        <p:spPr>
          <a:xfrm>
            <a:off x="1332000" y="2210400"/>
            <a:ext cx="792000" cy="198000"/>
          </a:xfrm>
          <a:prstGeom prst="rect">
            <a:avLst/>
          </a:prstGeom>
          <a:noFill/>
        </p:spPr>
        <p:txBody>
          <a:bodyPr wrap="square">
            <a:spAutoFit/>
          </a:bodyPr>
          <a:lstStyle/>
          <a:p>
            <a:pPr algn="l"/>
            <a:r>
              <a:rPr sz="800" b="0" i="0">
                <a:solidFill>
                  <a:srgbClr val="1A7A4A"/>
                </a:solidFill>
              </a:rPr>
              <a:t>Surp.</a:t>
            </a:r>
          </a:p>
        </p:txBody>
      </p:sp>
      <p:sp>
        <p:nvSpPr>
          <p:cNvPr id="33" name="TextBox 32"/>
          <p:cNvSpPr txBox="1"/>
          <p:nvPr/>
        </p:nvSpPr>
        <p:spPr>
          <a:xfrm>
            <a:off x="2124000" y="2210400"/>
            <a:ext cx="792000" cy="198000"/>
          </a:xfrm>
          <a:prstGeom prst="rect">
            <a:avLst/>
          </a:prstGeom>
          <a:noFill/>
        </p:spPr>
        <p:txBody>
          <a:bodyPr wrap="square">
            <a:spAutoFit/>
          </a:bodyPr>
          <a:lstStyle/>
          <a:p>
            <a:pPr algn="l"/>
            <a:r>
              <a:rPr sz="800" b="0" i="0">
                <a:solidFill>
                  <a:srgbClr val="555555"/>
                </a:solidFill>
              </a:rPr>
              <a:t>Score : 85</a:t>
            </a:r>
          </a:p>
        </p:txBody>
      </p:sp>
      <p:sp>
        <p:nvSpPr>
          <p:cNvPr id="34" name="TextBox 33"/>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5" name="Rectangle 34"/>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+47.0% — momentum sectoriel positif</a:t>
            </a:r>
          </a:p>
        </p:txBody>
      </p:sp>
      <p:sp>
        <p:nvSpPr>
          <p:cNvPr id="37" name="TextBox 36"/>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8" name="Rectangle 37"/>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0" name="Rectangle 39"/>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3" name="Rectangle 42"/>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5" name="TextBox 44"/>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46" name="TextBox 45"/>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7" name="Rectangle 46"/>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94000" y="1620000"/>
            <a:ext cx="864000" cy="198000"/>
          </a:xfrm>
          <a:prstGeom prst="rect">
            <a:avLst/>
          </a:prstGeom>
          <a:noFill/>
        </p:spPr>
        <p:txBody>
          <a:bodyPr wrap="square">
            <a:spAutoFit/>
          </a:bodyPr>
          <a:lstStyle/>
          <a:p>
            <a:pPr algn="l"/>
            <a:r>
              <a:rPr sz="800" b="1" i="0">
                <a:solidFill>
                  <a:srgbClr val="1B3A6B"/>
                </a:solidFill>
              </a:rPr>
              <a:t>AAPL</a:t>
            </a:r>
          </a:p>
        </p:txBody>
      </p:sp>
      <p:sp>
        <p:nvSpPr>
          <p:cNvPr id="49" name="TextBox 48"/>
          <p:cNvSpPr txBox="1"/>
          <p:nvPr/>
        </p:nvSpPr>
        <p:spPr>
          <a:xfrm>
            <a:off x="4158000" y="1620000"/>
            <a:ext cx="792000" cy="198000"/>
          </a:xfrm>
          <a:prstGeom prst="rect">
            <a:avLst/>
          </a:prstGeom>
          <a:noFill/>
        </p:spPr>
        <p:txBody>
          <a:bodyPr wrap="square">
            <a:spAutoFit/>
          </a:bodyPr>
          <a:lstStyle/>
          <a:p>
            <a:pPr algn="l"/>
            <a:r>
              <a:rPr sz="800" b="0" i="0">
                <a:solidFill>
                  <a:srgbClr val="1A7A4A"/>
                </a:solidFill>
              </a:rPr>
              <a:t>Surp.</a:t>
            </a:r>
          </a:p>
        </p:txBody>
      </p:sp>
      <p:sp>
        <p:nvSpPr>
          <p:cNvPr id="50" name="TextBox 49"/>
          <p:cNvSpPr txBox="1"/>
          <p:nvPr/>
        </p:nvSpPr>
        <p:spPr>
          <a:xfrm>
            <a:off x="4950000" y="1620000"/>
            <a:ext cx="792000" cy="198000"/>
          </a:xfrm>
          <a:prstGeom prst="rect">
            <a:avLst/>
          </a:prstGeom>
          <a:noFill/>
        </p:spPr>
        <p:txBody>
          <a:bodyPr wrap="square">
            <a:spAutoFit/>
          </a:bodyPr>
          <a:lstStyle/>
          <a:p>
            <a:pPr algn="l"/>
            <a:r>
              <a:rPr sz="800" b="0" i="0">
                <a:solidFill>
                  <a:srgbClr val="555555"/>
                </a:solidFill>
              </a:rPr>
              <a:t>Score : 75</a:t>
            </a:r>
          </a:p>
        </p:txBody>
      </p:sp>
      <p:sp>
        <p:nvSpPr>
          <p:cNvPr id="51" name="Rectangle 50"/>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94000" y="1915200"/>
            <a:ext cx="864000" cy="198000"/>
          </a:xfrm>
          <a:prstGeom prst="rect">
            <a:avLst/>
          </a:prstGeom>
          <a:noFill/>
        </p:spPr>
        <p:txBody>
          <a:bodyPr wrap="square">
            <a:spAutoFit/>
          </a:bodyPr>
          <a:lstStyle/>
          <a:p>
            <a:pPr algn="l"/>
            <a:r>
              <a:rPr sz="800" b="1" i="0">
                <a:solidFill>
                  <a:srgbClr val="1B3A6B"/>
                </a:solidFill>
              </a:rPr>
              <a:t>MSFT</a:t>
            </a:r>
          </a:p>
        </p:txBody>
      </p:sp>
      <p:sp>
        <p:nvSpPr>
          <p:cNvPr id="53" name="TextBox 52"/>
          <p:cNvSpPr txBox="1"/>
          <p:nvPr/>
        </p:nvSpPr>
        <p:spPr>
          <a:xfrm>
            <a:off x="4158000" y="1915200"/>
            <a:ext cx="792000" cy="198000"/>
          </a:xfrm>
          <a:prstGeom prst="rect">
            <a:avLst/>
          </a:prstGeom>
          <a:noFill/>
        </p:spPr>
        <p:txBody>
          <a:bodyPr wrap="square">
            <a:spAutoFit/>
          </a:bodyPr>
          <a:lstStyle/>
          <a:p>
            <a:pPr algn="l"/>
            <a:r>
              <a:rPr sz="800" b="0" i="0">
                <a:solidFill>
                  <a:srgbClr val="1A7A4A"/>
                </a:solidFill>
              </a:rPr>
              <a:t>Surp.</a:t>
            </a:r>
          </a:p>
        </p:txBody>
      </p:sp>
      <p:sp>
        <p:nvSpPr>
          <p:cNvPr id="54" name="TextBox 53"/>
          <p:cNvSpPr txBox="1"/>
          <p:nvPr/>
        </p:nvSpPr>
        <p:spPr>
          <a:xfrm>
            <a:off x="4950000" y="1915200"/>
            <a:ext cx="792000" cy="198000"/>
          </a:xfrm>
          <a:prstGeom prst="rect">
            <a:avLst/>
          </a:prstGeom>
          <a:noFill/>
        </p:spPr>
        <p:txBody>
          <a:bodyPr wrap="square">
            <a:spAutoFit/>
          </a:bodyPr>
          <a:lstStyle/>
          <a:p>
            <a:pPr algn="l"/>
            <a:r>
              <a:rPr sz="800" b="0" i="0">
                <a:solidFill>
                  <a:srgbClr val="555555"/>
                </a:solidFill>
              </a:rPr>
              <a:t>Score : 75</a:t>
            </a:r>
          </a:p>
        </p:txBody>
      </p:sp>
      <p:sp>
        <p:nvSpPr>
          <p:cNvPr id="55" name="Rectangle 54"/>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2210400"/>
            <a:ext cx="864000" cy="198000"/>
          </a:xfrm>
          <a:prstGeom prst="rect">
            <a:avLst/>
          </a:prstGeom>
          <a:noFill/>
        </p:spPr>
        <p:txBody>
          <a:bodyPr wrap="square">
            <a:spAutoFit/>
          </a:bodyPr>
          <a:lstStyle/>
          <a:p>
            <a:pPr algn="l"/>
            <a:r>
              <a:rPr sz="800" b="1" i="0">
                <a:solidFill>
                  <a:srgbClr val="1B3A6B"/>
                </a:solidFill>
              </a:rPr>
              <a:t>NVDA</a:t>
            </a:r>
          </a:p>
        </p:txBody>
      </p:sp>
      <p:sp>
        <p:nvSpPr>
          <p:cNvPr id="57" name="TextBox 56"/>
          <p:cNvSpPr txBox="1"/>
          <p:nvPr/>
        </p:nvSpPr>
        <p:spPr>
          <a:xfrm>
            <a:off x="4158000" y="2210400"/>
            <a:ext cx="792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950000" y="2210400"/>
            <a:ext cx="792000" cy="198000"/>
          </a:xfrm>
          <a:prstGeom prst="rect">
            <a:avLst/>
          </a:prstGeom>
          <a:noFill/>
        </p:spPr>
        <p:txBody>
          <a:bodyPr wrap="square">
            <a:spAutoFit/>
          </a:bodyPr>
          <a:lstStyle/>
          <a:p>
            <a:pPr algn="l"/>
            <a:r>
              <a:rPr sz="800" b="0" i="0">
                <a:solidFill>
                  <a:srgbClr val="555555"/>
                </a:solidFill>
              </a:rPr>
              <a:t>Score : 75</a:t>
            </a:r>
          </a:p>
        </p:txBody>
      </p:sp>
      <p:sp>
        <p:nvSpPr>
          <p:cNvPr id="59" name="TextBox 58"/>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0" name="Rectangle 59"/>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+23.4% — momentum sectoriel positif</a:t>
            </a:r>
          </a:p>
        </p:txBody>
      </p:sp>
      <p:sp>
        <p:nvSpPr>
          <p:cNvPr id="62" name="TextBox 61"/>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3" name="Rectangle 62"/>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65" name="Rectangle 64"/>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Materials</a:t>
            </a:r>
          </a:p>
        </p:txBody>
      </p:sp>
      <p:sp>
        <p:nvSpPr>
          <p:cNvPr id="68" name="Rectangle 67"/>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0" name="TextBox 69"/>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77/100  ·  EV/EBITDA : —</a:t>
            </a:r>
          </a:p>
        </p:txBody>
      </p:sp>
      <p:sp>
        <p:nvSpPr>
          <p:cNvPr id="71" name="TextBox 70"/>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2" name="Rectangle 71"/>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119999" y="1620000"/>
            <a:ext cx="864000" cy="198000"/>
          </a:xfrm>
          <a:prstGeom prst="rect">
            <a:avLst/>
          </a:prstGeom>
          <a:noFill/>
        </p:spPr>
        <p:txBody>
          <a:bodyPr wrap="square">
            <a:spAutoFit/>
          </a:bodyPr>
          <a:lstStyle/>
          <a:p>
            <a:pPr algn="l"/>
            <a:r>
              <a:rPr sz="800" b="1" i="0">
                <a:solidFill>
                  <a:srgbClr val="1B3A6B"/>
                </a:solidFill>
              </a:rPr>
              <a:t>—</a:t>
            </a:r>
          </a:p>
        </p:txBody>
      </p:sp>
      <p:sp>
        <p:nvSpPr>
          <p:cNvPr id="74" name="TextBox 73"/>
          <p:cNvSpPr txBox="1"/>
          <p:nvPr/>
        </p:nvSpPr>
        <p:spPr>
          <a:xfrm>
            <a:off x="6983999" y="1620000"/>
            <a:ext cx="792000" cy="198000"/>
          </a:xfrm>
          <a:prstGeom prst="rect">
            <a:avLst/>
          </a:prstGeom>
          <a:noFill/>
        </p:spPr>
        <p:txBody>
          <a:bodyPr wrap="square">
            <a:spAutoFit/>
          </a:bodyPr>
          <a:lstStyle/>
          <a:p>
            <a:pPr algn="l"/>
            <a:r>
              <a:rPr sz="800" b="0" i="0">
                <a:solidFill>
                  <a:srgbClr val="B06000"/>
                </a:solidFill>
              </a:rPr>
              <a:t>Neutre</a:t>
            </a:r>
          </a:p>
        </p:txBody>
      </p:sp>
      <p:sp>
        <p:nvSpPr>
          <p:cNvPr id="75" name="TextBox 74"/>
          <p:cNvSpPr txBox="1"/>
          <p:nvPr/>
        </p:nvSpPr>
        <p:spPr>
          <a:xfrm>
            <a:off x="7775999" y="1620000"/>
            <a:ext cx="792000" cy="198000"/>
          </a:xfrm>
          <a:prstGeom prst="rect">
            <a:avLst/>
          </a:prstGeom>
          <a:noFill/>
        </p:spPr>
        <p:txBody>
          <a:bodyPr wrap="square">
            <a:spAutoFit/>
          </a:bodyPr>
          <a:lstStyle/>
          <a:p>
            <a:pPr algn="l"/>
            <a:r>
              <a:rPr sz="800" b="0" i="0">
                <a:solidFill>
                  <a:srgbClr val="555555"/>
                </a:solidFill>
              </a:rPr>
              <a:t>Score : 50</a:t>
            </a:r>
          </a:p>
        </p:txBody>
      </p:sp>
      <p:sp>
        <p:nvSpPr>
          <p:cNvPr id="76" name="TextBox 75"/>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77" name="Rectangle 76"/>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+22.2% — momentum sectoriel positif</a:t>
            </a:r>
          </a:p>
        </p:txBody>
      </p:sp>
      <p:sp>
        <p:nvSpPr>
          <p:cNvPr id="79" name="TextBox 78"/>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80" name="Rectangle 79"/>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82" name="Rectangle 8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graphicFrame>
        <p:nvGraphicFramePr>
          <p:cNvPr id="15" name="Table 14"/>
          <p:cNvGraphicFramePr>
            <a:graphicFrameLocks noGrp="1"/>
          </p:cNvGraphicFramePr>
          <p:nvPr/>
        </p:nvGraphicFramePr>
        <p:xfrm>
          <a:off x="324000" y="864000"/>
          <a:ext cx="5580000" cy="3294000"/>
        </p:xfrm>
        <a:graphic>
          <a:graphicData uri="http://schemas.openxmlformats.org/drawingml/2006/table">
            <a:tbl>
              <a:tblPr firstRow="1" bandRow="1">
                <a:tableStyleId>{5C22544A-7EE6-4342-B048-85BDC9FD1C3A}</a:tableStyleId>
              </a:tblPr>
              <a:tblGrid>
                <a:gridCol w="2046000"/>
                <a:gridCol w="1116000"/>
                <a:gridCol w="1302000"/>
                <a:gridCol w="1116000"/>
              </a:tblGrid>
              <a:tr h="253384">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Min-Variance</a:t>
                      </a:r>
                    </a:p>
                  </a:txBody>
                  <a:tcPr>
                    <a:solidFill>
                      <a:srgbClr val="1B3A6B"/>
                    </a:solidFill>
                  </a:tcPr>
                </a:tc>
                <a:tc>
                  <a:txBody>
                    <a:bodyPr/>
                    <a:lstStyle/>
                    <a:p>
                      <a:pPr algn="ctr"/>
                      <a:r>
                        <a:rPr sz="800" b="1">
                          <a:solidFill>
                            <a:srgbClr val="FFFFFF"/>
                          </a:solidFill>
                        </a:rPr>
                        <a:t>Tangency (Max Sharpe)</a:t>
                      </a:r>
                    </a:p>
                  </a:txBody>
                  <a:tcPr>
                    <a:solidFill>
                      <a:srgbClr val="1B3A6B"/>
                    </a:solidFill>
                  </a:tcPr>
                </a:tc>
                <a:tc>
                  <a:txBody>
                    <a:bodyPr/>
                    <a:lstStyle/>
                    <a:p>
                      <a:pPr algn="ctr"/>
                      <a:r>
                        <a:rPr sz="800" b="1">
                          <a:solidFill>
                            <a:srgbClr val="FFFFFF"/>
                          </a:solidFill>
                        </a:rPr>
                        <a:t>ERC</a:t>
                      </a:r>
                    </a:p>
                  </a:txBody>
                  <a:tcPr>
                    <a:solidFill>
                      <a:srgbClr val="1B3A6B"/>
                    </a:solidFill>
                  </a:tcPr>
                </a:tc>
              </a:tr>
              <a:tr h="253384">
                <a:tc>
                  <a:txBody>
                    <a:bodyPr/>
                    <a:lstStyle/>
                    <a:p>
                      <a:pPr algn="ctr"/>
                      <a:r>
                        <a:rPr sz="800" b="0">
                          <a:solidFill>
                            <a:srgbClr val="1A1A1A"/>
                          </a:solidFill>
                        </a:rPr>
                        <a:t>Technology</a:t>
                      </a:r>
                    </a:p>
                  </a:txBody>
                  <a:tcPr>
                    <a:noFill/>
                  </a:tcPr>
                </a:tc>
                <a:tc>
                  <a:txBody>
                    <a:bodyPr/>
                    <a:lstStyle/>
                    <a:p>
                      <a:pPr algn="ctr"/>
                      <a:r>
                        <a:rPr sz="800" b="0">
                          <a:solidFill>
                            <a:srgbClr val="1A1A1A"/>
                          </a:solidFill>
                        </a:rPr>
                        <a:t>6.3 %</a:t>
                      </a:r>
                    </a:p>
                  </a:txBody>
                  <a:tcPr>
                    <a:noFill/>
                  </a:tcPr>
                </a:tc>
                <a:tc>
                  <a:txBody>
                    <a:bodyPr/>
                    <a:lstStyle/>
                    <a:p>
                      <a:pPr algn="ctr"/>
                      <a:r>
                        <a:rPr sz="800" b="0">
                          <a:solidFill>
                            <a:srgbClr val="1A1A1A"/>
                          </a:solidFill>
                        </a:rPr>
                        <a:t>11.9 %</a:t>
                      </a:r>
                    </a:p>
                  </a:txBody>
                  <a:tcPr>
                    <a:noFill/>
                  </a:tcPr>
                </a:tc>
                <a:tc>
                  <a:txBody>
                    <a:bodyPr/>
                    <a:lstStyle/>
                    <a:p>
                      <a:pPr algn="ctr"/>
                      <a:r>
                        <a:rPr sz="800" b="0">
                          <a:solidFill>
                            <a:srgbClr val="1A1A1A"/>
                          </a:solidFill>
                        </a:rPr>
                        <a:t>9.1 %</a:t>
                      </a:r>
                    </a:p>
                  </a:txBody>
                  <a:tcPr>
                    <a:noFill/>
                  </a:tcPr>
                </a:tc>
              </a:tr>
              <a:tr h="253384">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3.7 %</a:t>
                      </a:r>
                    </a:p>
                  </a:txBody>
                  <a:tcPr>
                    <a:solidFill>
                      <a:srgbClr val="F5F7FA"/>
                    </a:solidFill>
                  </a:tcPr>
                </a:tc>
                <a:tc>
                  <a:txBody>
                    <a:bodyPr/>
                    <a:lstStyle/>
                    <a:p>
                      <a:pPr algn="ctr"/>
                      <a:r>
                        <a:rPr sz="800" b="0">
                          <a:solidFill>
                            <a:srgbClr val="1A1A1A"/>
                          </a:solidFill>
                        </a:rPr>
                        <a:t>7.9 %</a:t>
                      </a:r>
                    </a:p>
                  </a:txBody>
                  <a:tcPr>
                    <a:solidFill>
                      <a:srgbClr val="F5F7FA"/>
                    </a:solidFill>
                  </a:tcPr>
                </a:tc>
                <a:tc>
                  <a:txBody>
                    <a:bodyPr/>
                    <a:lstStyle/>
                    <a:p>
                      <a:pPr algn="ctr"/>
                      <a:r>
                        <a:rPr sz="800" b="0">
                          <a:solidFill>
                            <a:srgbClr val="1A1A1A"/>
                          </a:solidFill>
                        </a:rPr>
                        <a:t>9.1 %</a:t>
                      </a:r>
                    </a:p>
                  </a:txBody>
                  <a:tcPr>
                    <a:solidFill>
                      <a:srgbClr val="F5F7FA"/>
                    </a:solidFill>
                  </a:tcPr>
                </a:tc>
              </a:tr>
              <a:tr h="253384">
                <a:tc>
                  <a:txBody>
                    <a:bodyPr/>
                    <a:lstStyle/>
                    <a:p>
                      <a:pPr algn="ctr"/>
                      <a:r>
                        <a:rPr sz="800" b="0">
                          <a:solidFill>
                            <a:srgbClr val="1A1A1A"/>
                          </a:solidFill>
                        </a:rPr>
                        <a:t>Financials</a:t>
                      </a:r>
                    </a:p>
                  </a:txBody>
                  <a:tcPr>
                    <a:noFill/>
                  </a:tcPr>
                </a:tc>
                <a:tc>
                  <a:txBody>
                    <a:bodyPr/>
                    <a:lstStyle/>
                    <a:p>
                      <a:pPr algn="ctr"/>
                      <a:r>
                        <a:rPr sz="800" b="0">
                          <a:solidFill>
                            <a:srgbClr val="1A1A1A"/>
                          </a:solidFill>
                        </a:rPr>
                        <a:t>0.0 %</a:t>
                      </a:r>
                    </a:p>
                  </a:txBody>
                  <a:tcPr>
                    <a:noFill/>
                  </a:tcPr>
                </a:tc>
                <a:tc>
                  <a:txBody>
                    <a:bodyPr/>
                    <a:lstStyle/>
                    <a:p>
                      <a:pPr algn="ctr"/>
                      <a:r>
                        <a:rPr sz="800" b="0">
                          <a:solidFill>
                            <a:srgbClr val="1A1A1A"/>
                          </a:solidFill>
                        </a:rPr>
                        <a:t>0.0 %</a:t>
                      </a:r>
                    </a:p>
                  </a:txBody>
                  <a:tcPr>
                    <a:noFill/>
                  </a:tcPr>
                </a:tc>
                <a:tc>
                  <a:txBody>
                    <a:bodyPr/>
                    <a:lstStyle/>
                    <a:p>
                      <a:pPr algn="ctr"/>
                      <a:r>
                        <a:rPr sz="800" b="0">
                          <a:solidFill>
                            <a:srgbClr val="1A1A1A"/>
                          </a:solidFill>
                        </a:rPr>
                        <a:t>9.1 %</a:t>
                      </a:r>
                    </a:p>
                  </a:txBody>
                  <a:tcPr>
                    <a:noFill/>
                  </a:tcPr>
                </a:tc>
              </a:tr>
              <a:tr h="253384">
                <a:tc>
                  <a:txBody>
                    <a:bodyPr/>
                    <a:lstStyle/>
                    <a:p>
                      <a:pPr algn="ctr"/>
                      <a:r>
                        <a:rPr sz="800" b="0">
                          <a:solidFill>
                            <a:srgbClr val="1A1A1A"/>
                          </a:solidFill>
                        </a:rPr>
                        <a:t>Cons. Discret.</a:t>
                      </a:r>
                    </a:p>
                  </a:txBody>
                  <a:tcPr>
                    <a:solidFill>
                      <a:srgbClr val="F5F7FA"/>
                    </a:solidFill>
                  </a:tcPr>
                </a:tc>
                <a:tc>
                  <a:txBody>
                    <a:bodyPr/>
                    <a:lstStyle/>
                    <a:p>
                      <a:pPr algn="ctr"/>
                      <a:r>
                        <a:rPr sz="800" b="0">
                          <a:solidFill>
                            <a:srgbClr val="1A1A1A"/>
                          </a:solidFill>
                        </a:rPr>
                        <a:t>0.0 %</a:t>
                      </a:r>
                    </a:p>
                  </a:txBody>
                  <a:tcPr>
                    <a:solidFill>
                      <a:srgbClr val="F5F7FA"/>
                    </a:solidFill>
                  </a:tcPr>
                </a:tc>
                <a:tc>
                  <a:txBody>
                    <a:bodyPr/>
                    <a:lstStyle/>
                    <a:p>
                      <a:pPr algn="ctr"/>
                      <a:r>
                        <a:rPr sz="800" b="0">
                          <a:solidFill>
                            <a:srgbClr val="1A1A1A"/>
                          </a:solidFill>
                        </a:rPr>
                        <a:t>0.0 %</a:t>
                      </a:r>
                    </a:p>
                  </a:txBody>
                  <a:tcPr>
                    <a:solidFill>
                      <a:srgbClr val="F5F7FA"/>
                    </a:solidFill>
                  </a:tcPr>
                </a:tc>
                <a:tc>
                  <a:txBody>
                    <a:bodyPr/>
                    <a:lstStyle/>
                    <a:p>
                      <a:pPr algn="ctr"/>
                      <a:r>
                        <a:rPr sz="800" b="0">
                          <a:solidFill>
                            <a:srgbClr val="1A1A1A"/>
                          </a:solidFill>
                        </a:rPr>
                        <a:t>9.1 %</a:t>
                      </a:r>
                    </a:p>
                  </a:txBody>
                  <a:tcPr>
                    <a:solidFill>
                      <a:srgbClr val="F5F7FA"/>
                    </a:solidFill>
                  </a:tcPr>
                </a:tc>
              </a:tr>
              <a:tr h="253384">
                <a:tc>
                  <a:txBody>
                    <a:bodyPr/>
                    <a:lstStyle/>
                    <a:p>
                      <a:pPr algn="ctr"/>
                      <a:r>
                        <a:rPr sz="800" b="0">
                          <a:solidFill>
                            <a:srgbClr val="1A1A1A"/>
                          </a:solidFill>
                        </a:rPr>
                        <a:t>Comm. Services</a:t>
                      </a:r>
                    </a:p>
                  </a:txBody>
                  <a:tcPr>
                    <a:noFill/>
                  </a:tcPr>
                </a:tc>
                <a:tc>
                  <a:txBody>
                    <a:bodyPr/>
                    <a:lstStyle/>
                    <a:p>
                      <a:pPr algn="ctr"/>
                      <a:r>
                        <a:rPr sz="800" b="0">
                          <a:solidFill>
                            <a:srgbClr val="1A1A1A"/>
                          </a:solidFill>
                        </a:rPr>
                        <a:t>23.5 %</a:t>
                      </a:r>
                    </a:p>
                  </a:txBody>
                  <a:tcPr>
                    <a:noFill/>
                  </a:tcPr>
                </a:tc>
                <a:tc>
                  <a:txBody>
                    <a:bodyPr/>
                    <a:lstStyle/>
                    <a:p>
                      <a:pPr algn="ctr"/>
                      <a:r>
                        <a:rPr sz="800" b="0">
                          <a:solidFill>
                            <a:srgbClr val="1A1A1A"/>
                          </a:solidFill>
                        </a:rPr>
                        <a:t>3.5 %</a:t>
                      </a:r>
                    </a:p>
                  </a:txBody>
                  <a:tcPr>
                    <a:noFill/>
                  </a:tcPr>
                </a:tc>
                <a:tc>
                  <a:txBody>
                    <a:bodyPr/>
                    <a:lstStyle/>
                    <a:p>
                      <a:pPr algn="ctr"/>
                      <a:r>
                        <a:rPr sz="800" b="0">
                          <a:solidFill>
                            <a:srgbClr val="1A1A1A"/>
                          </a:solidFill>
                        </a:rPr>
                        <a:t>9.1 %</a:t>
                      </a:r>
                    </a:p>
                  </a:txBody>
                  <a:tcPr>
                    <a:noFill/>
                  </a:tcPr>
                </a:tc>
              </a:tr>
              <a:tr h="253384">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0.0 %</a:t>
                      </a:r>
                    </a:p>
                  </a:txBody>
                  <a:tcPr>
                    <a:solidFill>
                      <a:srgbClr val="F5F7FA"/>
                    </a:solidFill>
                  </a:tcPr>
                </a:tc>
                <a:tc>
                  <a:txBody>
                    <a:bodyPr/>
                    <a:lstStyle/>
                    <a:p>
                      <a:pPr algn="ctr"/>
                      <a:r>
                        <a:rPr sz="800" b="0">
                          <a:solidFill>
                            <a:srgbClr val="1A1A1A"/>
                          </a:solidFill>
                        </a:rPr>
                        <a:t>7.7 %</a:t>
                      </a:r>
                    </a:p>
                  </a:txBody>
                  <a:tcPr>
                    <a:solidFill>
                      <a:srgbClr val="F5F7FA"/>
                    </a:solidFill>
                  </a:tcPr>
                </a:tc>
                <a:tc>
                  <a:txBody>
                    <a:bodyPr/>
                    <a:lstStyle/>
                    <a:p>
                      <a:pPr algn="ctr"/>
                      <a:r>
                        <a:rPr sz="800" b="0">
                          <a:solidFill>
                            <a:srgbClr val="1A1A1A"/>
                          </a:solidFill>
                        </a:rPr>
                        <a:t>9.1 %</a:t>
                      </a:r>
                    </a:p>
                  </a:txBody>
                  <a:tcPr>
                    <a:solidFill>
                      <a:srgbClr val="F5F7FA"/>
                    </a:solidFill>
                  </a:tcPr>
                </a:tc>
              </a:tr>
              <a:tr h="253384">
                <a:tc>
                  <a:txBody>
                    <a:bodyPr/>
                    <a:lstStyle/>
                    <a:p>
                      <a:pPr algn="ctr"/>
                      <a:r>
                        <a:rPr sz="800" b="0">
                          <a:solidFill>
                            <a:srgbClr val="1A1A1A"/>
                          </a:solidFill>
                        </a:rPr>
                        <a:t>Cons. Staples</a:t>
                      </a:r>
                    </a:p>
                  </a:txBody>
                  <a:tcPr>
                    <a:noFill/>
                  </a:tcPr>
                </a:tc>
                <a:tc>
                  <a:txBody>
                    <a:bodyPr/>
                    <a:lstStyle/>
                    <a:p>
                      <a:pPr algn="ctr"/>
                      <a:r>
                        <a:rPr sz="800" b="0">
                          <a:solidFill>
                            <a:srgbClr val="1A1A1A"/>
                          </a:solidFill>
                        </a:rPr>
                        <a:t>36.6 %</a:t>
                      </a:r>
                    </a:p>
                  </a:txBody>
                  <a:tcPr>
                    <a:noFill/>
                  </a:tcPr>
                </a:tc>
                <a:tc>
                  <a:txBody>
                    <a:bodyPr/>
                    <a:lstStyle/>
                    <a:p>
                      <a:pPr algn="ctr"/>
                      <a:r>
                        <a:rPr sz="800" b="0">
                          <a:solidFill>
                            <a:srgbClr val="1A1A1A"/>
                          </a:solidFill>
                        </a:rPr>
                        <a:t>0.0 %</a:t>
                      </a:r>
                    </a:p>
                  </a:txBody>
                  <a:tcPr>
                    <a:noFill/>
                  </a:tcPr>
                </a:tc>
                <a:tc>
                  <a:txBody>
                    <a:bodyPr/>
                    <a:lstStyle/>
                    <a:p>
                      <a:pPr algn="ctr"/>
                      <a:r>
                        <a:rPr sz="800" b="0">
                          <a:solidFill>
                            <a:srgbClr val="1A1A1A"/>
                          </a:solidFill>
                        </a:rPr>
                        <a:t>9.1 %</a:t>
                      </a:r>
                    </a:p>
                  </a:txBody>
                  <a:tcPr>
                    <a:noFill/>
                  </a:tcPr>
                </a:tc>
              </a:tr>
              <a:tr h="253384">
                <a:tc>
                  <a:txBody>
                    <a:bodyPr/>
                    <a:lstStyle/>
                    <a:p>
                      <a:pPr algn="ctr"/>
                      <a:r>
                        <a:rPr sz="800" b="0">
                          <a:solidFill>
                            <a:srgbClr val="1A1A1A"/>
                          </a:solidFill>
                        </a:rPr>
                        <a:t>Energy</a:t>
                      </a:r>
                    </a:p>
                  </a:txBody>
                  <a:tcPr>
                    <a:solidFill>
                      <a:srgbClr val="EAF4EF"/>
                    </a:solidFill>
                  </a:tcPr>
                </a:tc>
                <a:tc>
                  <a:txBody>
                    <a:bodyPr/>
                    <a:lstStyle/>
                    <a:p>
                      <a:pPr algn="ctr"/>
                      <a:r>
                        <a:rPr sz="800" b="0">
                          <a:solidFill>
                            <a:srgbClr val="1A1A1A"/>
                          </a:solidFill>
                        </a:rPr>
                        <a:t>12.3 %</a:t>
                      </a:r>
                    </a:p>
                  </a:txBody>
                  <a:tcPr>
                    <a:solidFill>
                      <a:srgbClr val="EAF4EF"/>
                    </a:solidFill>
                  </a:tcPr>
                </a:tc>
                <a:tc>
                  <a:txBody>
                    <a:bodyPr/>
                    <a:lstStyle/>
                    <a:p>
                      <a:pPr algn="ctr"/>
                      <a:r>
                        <a:rPr sz="800" b="0">
                          <a:solidFill>
                            <a:srgbClr val="1A1A1A"/>
                          </a:solidFill>
                        </a:rPr>
                        <a:t>40.0 %</a:t>
                      </a:r>
                    </a:p>
                  </a:txBody>
                  <a:tcPr>
                    <a:solidFill>
                      <a:srgbClr val="EAF4EF"/>
                    </a:solidFill>
                  </a:tcPr>
                </a:tc>
                <a:tc>
                  <a:txBody>
                    <a:bodyPr/>
                    <a:lstStyle/>
                    <a:p>
                      <a:pPr algn="ctr"/>
                      <a:r>
                        <a:rPr sz="800" b="0">
                          <a:solidFill>
                            <a:srgbClr val="1A1A1A"/>
                          </a:solidFill>
                        </a:rPr>
                        <a:t>9.1 %</a:t>
                      </a:r>
                    </a:p>
                  </a:txBody>
                  <a:tcPr>
                    <a:solidFill>
                      <a:srgbClr val="EAF4EF"/>
                    </a:solidFill>
                  </a:tcPr>
                </a:tc>
              </a:tr>
              <a:tr h="253384">
                <a:tc>
                  <a:txBody>
                    <a:bodyPr/>
                    <a:lstStyle/>
                    <a:p>
                      <a:pPr algn="ctr"/>
                      <a:r>
                        <a:rPr sz="800" b="0">
                          <a:solidFill>
                            <a:srgbClr val="1A1A1A"/>
                          </a:solidFill>
                        </a:rPr>
                        <a:t>Real Estate</a:t>
                      </a:r>
                    </a:p>
                  </a:txBody>
                  <a:tcPr>
                    <a:noFill/>
                  </a:tcPr>
                </a:tc>
                <a:tc>
                  <a:txBody>
                    <a:bodyPr/>
                    <a:lstStyle/>
                    <a:p>
                      <a:pPr algn="ctr"/>
                      <a:r>
                        <a:rPr sz="800" b="0">
                          <a:solidFill>
                            <a:srgbClr val="1A1A1A"/>
                          </a:solidFill>
                        </a:rPr>
                        <a:t>0.0 %</a:t>
                      </a:r>
                    </a:p>
                  </a:txBody>
                  <a:tcPr>
                    <a:noFill/>
                  </a:tcPr>
                </a:tc>
                <a:tc>
                  <a:txBody>
                    <a:bodyPr/>
                    <a:lstStyle/>
                    <a:p>
                      <a:pPr algn="ctr"/>
                      <a:r>
                        <a:rPr sz="800" b="0">
                          <a:solidFill>
                            <a:srgbClr val="1A1A1A"/>
                          </a:solidFill>
                        </a:rPr>
                        <a:t>0.0 %</a:t>
                      </a:r>
                    </a:p>
                  </a:txBody>
                  <a:tcPr>
                    <a:noFill/>
                  </a:tcPr>
                </a:tc>
                <a:tc>
                  <a:txBody>
                    <a:bodyPr/>
                    <a:lstStyle/>
                    <a:p>
                      <a:pPr algn="ctr"/>
                      <a:r>
                        <a:rPr sz="800" b="0">
                          <a:solidFill>
                            <a:srgbClr val="1A1A1A"/>
                          </a:solidFill>
                        </a:rPr>
                        <a:t>9.1 %</a:t>
                      </a:r>
                    </a:p>
                  </a:txBody>
                  <a:tcPr>
                    <a:noFill/>
                  </a:tcPr>
                </a:tc>
              </a:tr>
              <a:tr h="253384">
                <a:tc>
                  <a:txBody>
                    <a:bodyPr/>
                    <a:lstStyle/>
                    <a:p>
                      <a:pPr algn="ctr"/>
                      <a:r>
                        <a:rPr sz="800" b="0">
                          <a:solidFill>
                            <a:srgbClr val="1A1A1A"/>
                          </a:solidFill>
                        </a:rPr>
                        <a:t>Utilities</a:t>
                      </a:r>
                    </a:p>
                  </a:txBody>
                  <a:tcPr>
                    <a:solidFill>
                      <a:srgbClr val="EAF4EF"/>
                    </a:solidFill>
                  </a:tcPr>
                </a:tc>
                <a:tc>
                  <a:txBody>
                    <a:bodyPr/>
                    <a:lstStyle/>
                    <a:p>
                      <a:pPr algn="ctr"/>
                      <a:r>
                        <a:rPr sz="800" b="0">
                          <a:solidFill>
                            <a:srgbClr val="1A1A1A"/>
                          </a:solidFill>
                        </a:rPr>
                        <a:t>17.6 %</a:t>
                      </a:r>
                    </a:p>
                  </a:txBody>
                  <a:tcPr>
                    <a:solidFill>
                      <a:srgbClr val="EAF4EF"/>
                    </a:solidFill>
                  </a:tcPr>
                </a:tc>
                <a:tc>
                  <a:txBody>
                    <a:bodyPr/>
                    <a:lstStyle/>
                    <a:p>
                      <a:pPr algn="ctr"/>
                      <a:r>
                        <a:rPr sz="800" b="0">
                          <a:solidFill>
                            <a:srgbClr val="1A1A1A"/>
                          </a:solidFill>
                        </a:rPr>
                        <a:t>29.0 %</a:t>
                      </a:r>
                    </a:p>
                  </a:txBody>
                  <a:tcPr>
                    <a:solidFill>
                      <a:srgbClr val="EAF4EF"/>
                    </a:solidFill>
                  </a:tcPr>
                </a:tc>
                <a:tc>
                  <a:txBody>
                    <a:bodyPr/>
                    <a:lstStyle/>
                    <a:p>
                      <a:pPr algn="ctr"/>
                      <a:r>
                        <a:rPr sz="800" b="0">
                          <a:solidFill>
                            <a:srgbClr val="1A1A1A"/>
                          </a:solidFill>
                        </a:rPr>
                        <a:t>9.1 %</a:t>
                      </a:r>
                    </a:p>
                  </a:txBody>
                  <a:tcPr>
                    <a:solidFill>
                      <a:srgbClr val="EAF4EF"/>
                    </a:solidFill>
                  </a:tcPr>
                </a:tc>
              </a:tr>
              <a:tr h="253384">
                <a:tc>
                  <a:txBody>
                    <a:bodyPr/>
                    <a:lstStyle/>
                    <a:p>
                      <a:pPr algn="ctr"/>
                      <a:r>
                        <a:rPr sz="800" b="0">
                          <a:solidFill>
                            <a:srgbClr val="1A1A1A"/>
                          </a:solidFill>
                        </a:rPr>
                        <a:t>Materials</a:t>
                      </a:r>
                    </a:p>
                  </a:txBody>
                  <a:tcPr>
                    <a:noFill/>
                  </a:tcPr>
                </a:tc>
                <a:tc>
                  <a:txBody>
                    <a:bodyPr/>
                    <a:lstStyle/>
                    <a:p>
                      <a:pPr algn="ctr"/>
                      <a:r>
                        <a:rPr sz="800" b="0">
                          <a:solidFill>
                            <a:srgbClr val="1A1A1A"/>
                          </a:solidFill>
                        </a:rPr>
                        <a:t>0.0 %</a:t>
                      </a:r>
                    </a:p>
                  </a:txBody>
                  <a:tcPr>
                    <a:noFill/>
                  </a:tcPr>
                </a:tc>
                <a:tc>
                  <a:txBody>
                    <a:bodyPr/>
                    <a:lstStyle/>
                    <a:p>
                      <a:pPr algn="ctr"/>
                      <a:r>
                        <a:rPr sz="800" b="0">
                          <a:solidFill>
                            <a:srgbClr val="1A1A1A"/>
                          </a:solidFill>
                        </a:rPr>
                        <a:t>0.0 %</a:t>
                      </a:r>
                    </a:p>
                  </a:txBody>
                  <a:tcPr>
                    <a:noFill/>
                  </a:tcPr>
                </a:tc>
                <a:tc>
                  <a:txBody>
                    <a:bodyPr/>
                    <a:lstStyle/>
                    <a:p>
                      <a:pPr algn="ctr"/>
                      <a:r>
                        <a:rPr sz="800" b="0">
                          <a:solidFill>
                            <a:srgbClr val="1A1A1A"/>
                          </a:solidFill>
                        </a:rPr>
                        <a:t>9.1 %</a:t>
                      </a:r>
                    </a:p>
                  </a:txBody>
                  <a:tcPr>
                    <a:noFill/>
                  </a:tcPr>
                </a:tc>
              </a:tr>
              <a:tr h="253392">
                <a:tc>
                  <a:txBody>
                    <a:bodyPr/>
                    <a:lstStyle/>
                    <a:p>
                      <a:pPr algn="ctr"/>
                      <a:r>
                        <a:rPr sz="800" b="0">
                          <a:solidFill>
                            <a:srgbClr val="1A1A1A"/>
                          </a:solidFill>
                        </a:rPr>
                        <a:t>Sharpe ratio</a:t>
                      </a:r>
                    </a:p>
                  </a:txBody>
                  <a:tcPr>
                    <a:solidFill>
                      <a:srgbClr val="F5F7FA"/>
                    </a:solidFill>
                  </a:tcPr>
                </a:tc>
                <a:tc>
                  <a:txBody>
                    <a:bodyPr/>
                    <a:lstStyle/>
                    <a:p>
                      <a:pPr algn="ctr"/>
                      <a:r>
                        <a:rPr sz="800" b="0">
                          <a:solidFill>
                            <a:srgbClr val="1A1A1A"/>
                          </a:solidFill>
                        </a:rPr>
                        <a:t>1.17</a:t>
                      </a:r>
                    </a:p>
                  </a:txBody>
                  <a:tcPr>
                    <a:solidFill>
                      <a:srgbClr val="F5F7FA"/>
                    </a:solidFill>
                  </a:tcPr>
                </a:tc>
                <a:tc>
                  <a:txBody>
                    <a:bodyPr/>
                    <a:lstStyle/>
                    <a:p>
                      <a:pPr algn="ctr"/>
                      <a:r>
                        <a:rPr sz="800" b="0">
                          <a:solidFill>
                            <a:srgbClr val="1A1A1A"/>
                          </a:solidFill>
                        </a:rPr>
                        <a:t>2.15</a:t>
                      </a:r>
                    </a:p>
                  </a:txBody>
                  <a:tcPr>
                    <a:solidFill>
                      <a:srgbClr val="F5F7FA"/>
                    </a:solidFill>
                  </a:tcPr>
                </a:tc>
                <a:tc>
                  <a:txBody>
                    <a:bodyPr/>
                    <a:lstStyle/>
                    <a:p>
                      <a:pPr algn="ctr"/>
                      <a:r>
                        <a:rPr sz="800" b="0">
                          <a:solidFill>
                            <a:srgbClr val="1A1A1A"/>
                          </a:solidFill>
                        </a:rPr>
                        <a:t>1.03</a:t>
                      </a:r>
                    </a:p>
                  </a:txBody>
                  <a:tcPr>
                    <a:solidFill>
                      <a:srgbClr val="F5F7FA"/>
                    </a:solidFill>
                  </a:tcPr>
                </a:tc>
              </a:tr>
            </a:tbl>
          </a:graphicData>
        </a:graphic>
      </p:graphicFrame>
      <p:sp>
        <p:nvSpPr>
          <p:cNvPr id="16" name="Rectangle 15"/>
          <p:cNvSpPr/>
          <p:nvPr/>
        </p:nvSpPr>
        <p:spPr>
          <a:xfrm>
            <a:off x="6120000" y="864000"/>
            <a:ext cx="2700000" cy="329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0000" y="864000"/>
            <a:ext cx="43200" cy="32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28000" y="900000"/>
            <a:ext cx="2520000" cy="198000"/>
          </a:xfrm>
          <a:prstGeom prst="rect">
            <a:avLst/>
          </a:prstGeom>
          <a:noFill/>
        </p:spPr>
        <p:txBody>
          <a:bodyPr wrap="square">
            <a:spAutoFit/>
          </a:bodyPr>
          <a:lstStyle/>
          <a:p>
            <a:pPr algn="l"/>
            <a:r>
              <a:rPr sz="800" b="1" i="0">
                <a:solidFill>
                  <a:srgbClr val="1B3A6B"/>
                </a:solidFill>
              </a:rPr>
              <a:t>LECTURE QUANTITATIVE</a:t>
            </a:r>
          </a:p>
        </p:txBody>
      </p:sp>
      <p:sp>
        <p:nvSpPr>
          <p:cNvPr id="19" name="TextBox 18"/>
          <p:cNvSpPr txBox="1"/>
          <p:nvPr/>
        </p:nvSpPr>
        <p:spPr>
          <a:xfrm>
            <a:off x="6228000" y="1116000"/>
            <a:ext cx="2520000" cy="3006000"/>
          </a:xfrm>
          <a:prstGeom prst="rect">
            <a:avLst/>
          </a:prstGeom>
          <a:noFill/>
        </p:spPr>
        <p:txBody>
          <a:bodyPr wrap="square">
            <a:spAutoFit/>
          </a:bodyPr>
          <a:lstStyle/>
          <a:p>
            <a:pPr algn="l"/>
            <a:r>
              <a:rPr sz="750" b="0" i="0">
                <a:solidFill>
                  <a:srgbClr val="555555"/>
                </a:solidFill>
              </a:rPr>
              <a:t>Portefeuille Tangency (Max Sharpe = 2.15) : sur-allocation sur Energy — secteur offrant le meilleur ratio rendement/risque sur 52 semaines. Ce portefeuille est le plus agressif des trois.
Min-Variance (Sharpe = 1.17) : poids dominant sur Consumer Staples — secteur le moins volatil sur la periode. Approche defensive, adaptee a un contexte d'incertitude elevee.
ERC (Sharpe = 1.03) : allocation equilibree, Technology ressort dominant. Chaque secteur contribue egalement au risque total du portefeuille.
Note : Basé sur rendements journaliers 52S ETF SPDR. Contraintes : poids 0-40% par secteur.</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d'entrée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médiane 10 ans : 18.0x
PE Forward indice : —
Zone d'entrée favorable (PE &lt; mediane) :
Aucun secteur top3
Zone de prudence (PE &gt; mediane +15 %) :
Aucun
Methodologie : le PE Forward estime est ancre sur le PE global de l'indice ajuste du score sectoriel (+/- ecart). Les secteurs a gauche de la ligne pointillee (mediane 10 ans) offrent un meilleur point d'entree. Un ecart &gt; +20 % vs la médiane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avancée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Alléger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avancée, le signal Accumuler se concentre sur les secteurs a forte croissance BPA et pricing power : Technology (IA), Health Care (FDA pipeline), Financials (NIM). Le signal Alléger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11 secteurs  ·  Signal composite</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composite secteurs</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620000" cy="162000"/>
          </a:xfrm>
          <a:prstGeom prst="rect">
            <a:avLst/>
          </a:prstGeom>
          <a:noFill/>
        </p:spPr>
        <p:txBody>
          <a:bodyPr wrap="square">
            <a:spAutoFit/>
          </a:bodyPr>
          <a:lstStyle/>
          <a:p>
            <a:pPr algn="l"/>
            <a:r>
              <a:rPr sz="850" b="1" i="0">
                <a:solidFill>
                  <a:srgbClr val="FFFFFF"/>
                </a:solidFill>
              </a:rPr>
              <a:t>Surpondérer</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secteurs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62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secteurs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620000" cy="162000"/>
          </a:xfrm>
          <a:prstGeom prst="rect">
            <a:avLst/>
          </a:prstGeom>
          <a:noFill/>
        </p:spPr>
        <p:txBody>
          <a:bodyPr wrap="square">
            <a:spAutoFit/>
          </a:bodyPr>
          <a:lstStyle/>
          <a:p>
            <a:pPr algn="l"/>
            <a:r>
              <a:rPr sz="850" b="1" i="0">
                <a:solidFill>
                  <a:srgbClr val="1A1A1A"/>
                </a:solidFill>
              </a:rPr>
              <a:t>Sous-pondérer</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secteurs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Secteurs leaders / retardataires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Surpondérer :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Sous-pondérer :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Score composite par secteur (dérivé du score quantitatif)</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sectoriels SPDR/iShares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+47.0 %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+23.4 %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XLB  —  Materials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+22.2 %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+20.9 %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XLU  —  Utilities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+17.5 %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+14.9 %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+13.7 %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XLRE  —  Real Estate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+5.2 %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Cours S&amp;P 500 : 6 783 (YTD : -1.1%). XLE (Energy) : +47.0% sur 52S — secteur leader, signal Surponderer confirme. XLF (Financials) : +2.0% — secteur en retrait, coherent avec le positionnement Sous-ponderer. Dispersion de performance = levier d'alpha sectoriel.</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