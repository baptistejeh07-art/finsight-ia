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SURPONDERER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analysés  ·  503 sociétés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6 369</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-7.1%</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29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sociétés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6 369  ·  YTD : -7.1%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SYNTHÈSE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Communication Services, Energy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Synthese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economique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Decomposition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Recommandes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Synthese signal · Societes representatives · Distribution valorisations · Zone d entree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Scenarios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Synthese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economique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6 369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-7.1%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Decomposition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+24.5%</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+23.0%</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73</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10.0x</a:t>
                      </a:r>
                    </a:p>
                  </a:txBody>
                  <a:tcPr>
                    <a:solidFill>
                      <a:srgbClr val="F5F7FA"/>
                    </a:solidFill>
                  </a:tcPr>
                </a:tc>
                <a:tc>
                  <a:txBody>
                    <a:bodyPr/>
                    <a:lstStyle/>
                    <a:p>
                      <a:pPr algn="ctr"/>
                      <a:r>
                        <a:rPr sz="800" b="0">
                          <a:solidFill>
                            <a:srgbClr val="1A1A1A"/>
                          </a:solidFill>
                        </a:rPr>
                        <a:t>16.0%</a:t>
                      </a:r>
                    </a:p>
                  </a:txBody>
                  <a:tcPr>
                    <a:solidFill>
                      <a:srgbClr val="F5F7FA"/>
                    </a:solidFill>
                  </a:tcPr>
                </a:tc>
                <a:tc>
                  <a:txBody>
                    <a:bodyPr/>
                    <a:lstStyle/>
                    <a:p>
                      <a:pPr algn="ctr"/>
                      <a:r>
                        <a:rPr sz="800" b="0">
                          <a:solidFill>
                            <a:srgbClr val="1A1A1A"/>
                          </a:solidFill>
                        </a:rPr>
                        <a:t>+4.0%</a:t>
                      </a:r>
                    </a:p>
                  </a:txBody>
                  <a:tcPr>
                    <a:solidFill>
                      <a:srgbClr val="F5F7FA"/>
                    </a:solidFill>
                  </a:tcPr>
                </a:tc>
                <a:tc>
                  <a:txBody>
                    <a:bodyPr/>
                    <a:lstStyle/>
                    <a:p>
                      <a:pPr algn="ctr"/>
                      <a:r>
                        <a:rPr sz="800" b="0">
                          <a:solidFill>
                            <a:srgbClr val="1A1A1A"/>
                          </a:solidFill>
                        </a:rPr>
                        <a:t>+18.9%</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noFill/>
                  </a:tcPr>
                </a:tc>
                <a:tc>
                  <a:txBody>
                    <a:bodyPr/>
                    <a:lstStyle/>
                    <a:p>
                      <a:pPr algn="ctr"/>
                      <a:r>
                        <a:rPr sz="800" b="0">
                          <a:solidFill>
                            <a:srgbClr val="1A1A1A"/>
                          </a:solidFill>
                        </a:rPr>
                        <a:t>28.0%</a:t>
                      </a:r>
                    </a:p>
                  </a:txBody>
                  <a:tcPr>
                    <a:no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+18.9%</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+13.5%</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+8.0%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+3.8%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+2.7%</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solidFill>
                      <a:srgbClr val="F5F7FA"/>
                    </a:solidFill>
                  </a:tcPr>
                </a:tc>
                <a:tc>
                  <a:txBody>
                    <a:bodyPr/>
                    <a:lstStyle/>
                    <a:p>
                      <a:pPr algn="ctr"/>
                      <a:r>
                        <a:rPr sz="800" b="0">
                          <a:solidFill>
                            <a:srgbClr val="1A1A1A"/>
                          </a:solidFill>
                        </a:rPr>
                        <a:t>30.0%</a:t>
                      </a:r>
                    </a:p>
                  </a:txBody>
                  <a:tcPr>
                    <a:solidFill>
                      <a:srgbClr val="F5F7FA"/>
                    </a:solidFill>
                  </a:tcPr>
                </a:tc>
                <a:tc>
                  <a:txBody>
                    <a:bodyPr/>
                    <a:lstStyle/>
                    <a:p>
                      <a:pPr algn="ctr"/>
                      <a:r>
                        <a:rPr sz="800" b="0">
                          <a:solidFill>
                            <a:srgbClr val="1A1A1A"/>
                          </a:solidFill>
                        </a:rPr>
                        <a:t>+10.0%</a:t>
                      </a:r>
                    </a:p>
                  </a:txBody>
                  <a:tcPr>
                    <a:solidFill>
                      <a:srgbClr val="F5F7FA"/>
                    </a:solidFill>
                  </a:tcPr>
                </a:tc>
                <a:tc>
                  <a:txBody>
                    <a:bodyPr/>
                    <a:lstStyle/>
                    <a:p>
                      <a:pPr algn="ctr"/>
                      <a:r>
                        <a:rPr sz="800" b="0">
                          <a:solidFill>
                            <a:srgbClr val="1A1A1A"/>
                          </a:solidFill>
                        </a:rPr>
                        <a:t>-0.4%</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noFill/>
                  </a:tcPr>
                </a:tc>
                <a:tc>
                  <a:txBody>
                    <a:bodyPr/>
                    <a:lstStyle/>
                    <a:p>
                      <a:pPr algn="ctr"/>
                      <a:r>
                        <a:rPr sz="800" b="0">
                          <a:solidFill>
                            <a:srgbClr val="1A1A1A"/>
                          </a:solidFill>
                        </a:rPr>
                        <a:t>42.0%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Surpondérer (score &gt; 65) : Energy · Technology · Industrials · Materials · Utilities · Communication Services. 0 secteur(s) en Sous-pondérer. La dispersion des scores illustre 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Revisions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Revisions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eleve. Le momentum (34 pts) constitue le premier signal de confirmation. Les secteurs en vert sur les 3 dimensions offrent le meilleur profil composite. Croiser avec la valorisation relative pour identifier les meilleures opportunites d entree.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signal · Societes representatives · Zone d entree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Surponderer  ·  Signal · Score · EV/EBITDA · Societes representatives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+60.4%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79/100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76</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76</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76</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+24.5%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+23.0%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 entree Accumuler / Neutre / Alleger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 entree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Surponderer offrent les meilleures zones d entree parmi les secteurs recommandes : P/E Forward inferieur ou proche de la mediane historique 10 ans — profil risque/rendement favorable. Les secteurs au-dessus de la mediane (+20 %) meritent une prudence accrue sur le point d entree.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Scenarios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Scenarios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scenarios alternatifs  ·  Conditions d invalidation du signal Surponderer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Recession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revision BPA -15/-20 %. Signal passerait Sous-ponderer.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prolonge</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 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geopolitique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geopolitique — spike VIX &gt; 35, rotation defensive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SURPONDERER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Economique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Sensibilites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favorisee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Synthese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+24.5 %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+23.0 %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XLB  —  Materials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+18.9 %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XLU  —  Utilities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+18.9 %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+13.5 %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+8.0 %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+3.8 %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+60.4 % — confirmation du signal Surponderer soutenu par la monetisation IA. XLF (Financials) sous-performe (-0.4 %) en ligne avec le signal Sous-ponderer.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