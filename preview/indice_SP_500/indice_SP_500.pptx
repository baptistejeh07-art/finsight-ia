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80000"/>
            <a:ext cx="4320000" cy="288000"/>
          </a:xfrm>
          <a:prstGeom prst="rect">
            <a:avLst/>
          </a:prstGeom>
          <a:noFill/>
        </p:spPr>
        <p:txBody>
          <a:bodyPr wrap="square">
            <a:spAutoFit/>
          </a:bodyPr>
          <a:lstStyle/>
          <a:p>
            <a:pPr algn="l"/>
            <a:r>
              <a:rPr sz="1100" b="0" i="0">
                <a:solidFill>
                  <a:srgbClr val="AAAAAA"/>
                </a:solidFill>
              </a:rPr>
              <a:t>FinSight IA</a:t>
            </a:r>
          </a:p>
        </p:txBody>
      </p:sp>
      <p:sp>
        <p:nvSpPr>
          <p:cNvPr id="4" name="TextBox 3"/>
          <p:cNvSpPr txBox="1"/>
          <p:nvPr/>
        </p:nvSpPr>
        <p:spPr>
          <a:xfrm>
            <a:off x="360000" y="468000"/>
            <a:ext cx="6480000" cy="251999"/>
          </a:xfrm>
          <a:prstGeom prst="rect">
            <a:avLst/>
          </a:prstGeom>
          <a:noFill/>
        </p:spPr>
        <p:txBody>
          <a:bodyPr wrap="square">
            <a:spAutoFit/>
          </a:bodyPr>
          <a:lstStyle/>
          <a:p>
            <a:pPr algn="l"/>
            <a:r>
              <a:rPr sz="900" b="0" i="0">
                <a:solidFill>
                  <a:srgbClr val="2A5298"/>
                </a:solidFill>
              </a:rPr>
              <a:t>Pitchbook  ·  Analyse d'Indice</a:t>
            </a:r>
          </a:p>
        </p:txBody>
      </p:sp>
      <p:sp>
        <p:nvSpPr>
          <p:cNvPr id="5" name="TextBox 4"/>
          <p:cNvSpPr txBox="1"/>
          <p:nvPr/>
        </p:nvSpPr>
        <p:spPr>
          <a:xfrm>
            <a:off x="360000" y="1152000"/>
            <a:ext cx="8280000" cy="720000"/>
          </a:xfrm>
          <a:prstGeom prst="rect">
            <a:avLst/>
          </a:prstGeom>
          <a:noFill/>
        </p:spPr>
        <p:txBody>
          <a:bodyPr wrap="square">
            <a:spAutoFit/>
          </a:bodyPr>
          <a:lstStyle/>
          <a:p>
            <a:pPr algn="l"/>
            <a:r>
              <a:rPr sz="3600" b="1" i="0">
                <a:solidFill>
                  <a:srgbClr val="FFFFFF"/>
                </a:solidFill>
              </a:rPr>
              <a:t>S&amp;P 500</a:t>
            </a:r>
          </a:p>
        </p:txBody>
      </p:sp>
      <p:sp>
        <p:nvSpPr>
          <p:cNvPr id="6" name="Rectangle 5"/>
          <p:cNvSpPr/>
          <p:nvPr/>
        </p:nvSpPr>
        <p:spPr>
          <a:xfrm>
            <a:off x="360000" y="1980000"/>
            <a:ext cx="2880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8000" y="2034000"/>
            <a:ext cx="2664000" cy="288000"/>
          </a:xfrm>
          <a:prstGeom prst="rect">
            <a:avLst/>
          </a:prstGeom>
          <a:noFill/>
        </p:spPr>
        <p:txBody>
          <a:bodyPr wrap="square">
            <a:spAutoFit/>
          </a:bodyPr>
          <a:lstStyle/>
          <a:p>
            <a:pPr algn="l"/>
            <a:r>
              <a:rPr sz="1100" b="1" i="0">
                <a:solidFill>
                  <a:srgbClr val="FFFFFF"/>
                </a:solidFill>
              </a:rPr>
              <a:t>SURPONDÉRER  ·  Conviction 55 %</a:t>
            </a:r>
          </a:p>
        </p:txBody>
      </p:sp>
      <p:sp>
        <p:nvSpPr>
          <p:cNvPr id="8" name="TextBox 7"/>
          <p:cNvSpPr txBox="1"/>
          <p:nvPr/>
        </p:nvSpPr>
        <p:spPr>
          <a:xfrm>
            <a:off x="360000" y="2448000"/>
            <a:ext cx="7920000" cy="216000"/>
          </a:xfrm>
          <a:prstGeom prst="rect">
            <a:avLst/>
          </a:prstGeom>
          <a:noFill/>
        </p:spPr>
        <p:txBody>
          <a:bodyPr wrap="square">
            <a:spAutoFit/>
          </a:bodyPr>
          <a:lstStyle/>
          <a:p>
            <a:pPr algn="l"/>
            <a:r>
              <a:rPr sz="900" b="0" i="0">
                <a:solidFill>
                  <a:srgbClr val="AAAAAA"/>
                </a:solidFill>
              </a:rPr>
              <a:t>^GSPC  ·  11 secteurs analysés  ·  503 sociétés couvertes</a:t>
            </a:r>
          </a:p>
        </p:txBody>
      </p:sp>
      <p:sp>
        <p:nvSpPr>
          <p:cNvPr id="9" name="Rectangle 8"/>
          <p:cNvSpPr/>
          <p:nvPr/>
        </p:nvSpPr>
        <p:spPr>
          <a:xfrm>
            <a:off x="360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2988000"/>
            <a:ext cx="1728000" cy="180000"/>
          </a:xfrm>
          <a:prstGeom prst="rect">
            <a:avLst/>
          </a:prstGeom>
          <a:noFill/>
        </p:spPr>
        <p:txBody>
          <a:bodyPr wrap="square">
            <a:spAutoFit/>
          </a:bodyPr>
          <a:lstStyle/>
          <a:p>
            <a:pPr algn="l"/>
            <a:r>
              <a:rPr sz="750" b="0" i="0">
                <a:solidFill>
                  <a:srgbClr val="AAAAAA"/>
                </a:solidFill>
              </a:rPr>
              <a:t>Cours</a:t>
            </a:r>
          </a:p>
        </p:txBody>
      </p:sp>
      <p:sp>
        <p:nvSpPr>
          <p:cNvPr id="11" name="TextBox 10"/>
          <p:cNvSpPr txBox="1"/>
          <p:nvPr/>
        </p:nvSpPr>
        <p:spPr>
          <a:xfrm>
            <a:off x="432000" y="3150000"/>
            <a:ext cx="1728000" cy="288000"/>
          </a:xfrm>
          <a:prstGeom prst="rect">
            <a:avLst/>
          </a:prstGeom>
          <a:noFill/>
        </p:spPr>
        <p:txBody>
          <a:bodyPr wrap="square">
            <a:spAutoFit/>
          </a:bodyPr>
          <a:lstStyle/>
          <a:p>
            <a:pPr algn="l"/>
            <a:r>
              <a:rPr sz="1400" b="1" i="0">
                <a:solidFill>
                  <a:srgbClr val="FFFFFF"/>
                </a:solidFill>
              </a:rPr>
              <a:t>6 369</a:t>
            </a:r>
          </a:p>
        </p:txBody>
      </p:sp>
      <p:sp>
        <p:nvSpPr>
          <p:cNvPr id="12" name="Rectangle 11"/>
          <p:cNvSpPr/>
          <p:nvPr/>
        </p:nvSpPr>
        <p:spPr>
          <a:xfrm>
            <a:off x="2448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20000" y="2988000"/>
            <a:ext cx="1728000" cy="180000"/>
          </a:xfrm>
          <a:prstGeom prst="rect">
            <a:avLst/>
          </a:prstGeom>
          <a:noFill/>
        </p:spPr>
        <p:txBody>
          <a:bodyPr wrap="square">
            <a:spAutoFit/>
          </a:bodyPr>
          <a:lstStyle/>
          <a:p>
            <a:pPr algn="l"/>
            <a:r>
              <a:rPr sz="750" b="0" i="0">
                <a:solidFill>
                  <a:srgbClr val="AAAAAA"/>
                </a:solidFill>
              </a:rPr>
              <a:t>YTD</a:t>
            </a:r>
          </a:p>
        </p:txBody>
      </p:sp>
      <p:sp>
        <p:nvSpPr>
          <p:cNvPr id="14" name="TextBox 13"/>
          <p:cNvSpPr txBox="1"/>
          <p:nvPr/>
        </p:nvSpPr>
        <p:spPr>
          <a:xfrm>
            <a:off x="2520000" y="3150000"/>
            <a:ext cx="1728000" cy="288000"/>
          </a:xfrm>
          <a:prstGeom prst="rect">
            <a:avLst/>
          </a:prstGeom>
          <a:noFill/>
        </p:spPr>
        <p:txBody>
          <a:bodyPr wrap="square">
            <a:spAutoFit/>
          </a:bodyPr>
          <a:lstStyle/>
          <a:p>
            <a:pPr algn="l"/>
            <a:r>
              <a:rPr sz="1400" b="1" i="0">
                <a:solidFill>
                  <a:srgbClr val="FFFFFF"/>
                </a:solidFill>
              </a:rPr>
              <a:t>-7.1%</a:t>
            </a:r>
          </a:p>
        </p:txBody>
      </p:sp>
      <p:sp>
        <p:nvSpPr>
          <p:cNvPr id="15" name="Rectangle 14"/>
          <p:cNvSpPr/>
          <p:nvPr/>
        </p:nvSpPr>
        <p:spPr>
          <a:xfrm>
            <a:off x="4536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000" y="2988000"/>
            <a:ext cx="1728000" cy="180000"/>
          </a:xfrm>
          <a:prstGeom prst="rect">
            <a:avLst/>
          </a:prstGeom>
          <a:noFill/>
        </p:spPr>
        <p:txBody>
          <a:bodyPr wrap="square">
            <a:spAutoFit/>
          </a:bodyPr>
          <a:lstStyle/>
          <a:p>
            <a:pPr algn="l"/>
            <a:r>
              <a:rPr sz="750" b="0" i="0">
                <a:solidFill>
                  <a:srgbClr val="AAAAAA"/>
                </a:solidFill>
              </a:rPr>
              <a:t>P/E Fwd</a:t>
            </a:r>
          </a:p>
        </p:txBody>
      </p:sp>
      <p:sp>
        <p:nvSpPr>
          <p:cNvPr id="17" name="TextBox 16"/>
          <p:cNvSpPr txBox="1"/>
          <p:nvPr/>
        </p:nvSpPr>
        <p:spPr>
          <a:xfrm>
            <a:off x="4608000" y="3150000"/>
            <a:ext cx="1728000" cy="288000"/>
          </a:xfrm>
          <a:prstGeom prst="rect">
            <a:avLst/>
          </a:prstGeom>
          <a:noFill/>
        </p:spPr>
        <p:txBody>
          <a:bodyPr wrap="square">
            <a:spAutoFit/>
          </a:bodyPr>
          <a:lstStyle/>
          <a:p>
            <a:pPr algn="l"/>
            <a:r>
              <a:rPr sz="1400" b="1" i="0">
                <a:solidFill>
                  <a:srgbClr val="FFFFFF"/>
                </a:solidFill>
              </a:rPr>
              <a:t>—</a:t>
            </a:r>
          </a:p>
        </p:txBody>
      </p:sp>
      <p:sp>
        <p:nvSpPr>
          <p:cNvPr id="18" name="Rectangle 17"/>
          <p:cNvSpPr/>
          <p:nvPr/>
        </p:nvSpPr>
        <p:spPr>
          <a:xfrm>
            <a:off x="6623999"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95999" y="2988000"/>
            <a:ext cx="1728000" cy="180000"/>
          </a:xfrm>
          <a:prstGeom prst="rect">
            <a:avLst/>
          </a:prstGeom>
          <a:noFill/>
        </p:spPr>
        <p:txBody>
          <a:bodyPr wrap="square">
            <a:spAutoFit/>
          </a:bodyPr>
          <a:lstStyle/>
          <a:p>
            <a:pPr algn="l"/>
            <a:r>
              <a:rPr sz="750" b="0" i="0">
                <a:solidFill>
                  <a:srgbClr val="AAAAAA"/>
                </a:solidFill>
              </a:rPr>
              <a:t>BPA Growth</a:t>
            </a:r>
          </a:p>
        </p:txBody>
      </p:sp>
      <p:sp>
        <p:nvSpPr>
          <p:cNvPr id="20" name="TextBox 19"/>
          <p:cNvSpPr txBox="1"/>
          <p:nvPr/>
        </p:nvSpPr>
        <p:spPr>
          <a:xfrm>
            <a:off x="6695999" y="3150000"/>
            <a:ext cx="1728000" cy="288000"/>
          </a:xfrm>
          <a:prstGeom prst="rect">
            <a:avLst/>
          </a:prstGeom>
          <a:noFill/>
        </p:spPr>
        <p:txBody>
          <a:bodyPr wrap="square">
            <a:spAutoFit/>
          </a:bodyPr>
          <a:lstStyle/>
          <a:p>
            <a:pPr algn="l"/>
            <a:r>
              <a:rPr sz="1400" b="1" i="0">
                <a:solidFill>
                  <a:srgbClr val="FFFFFF"/>
                </a:solidFill>
              </a:rPr>
              <a:t>+8.5%</a:t>
            </a:r>
          </a:p>
        </p:txBody>
      </p:sp>
      <p:sp>
        <p:nvSpPr>
          <p:cNvPr id="21" name="TextBox 20"/>
          <p:cNvSpPr txBox="1"/>
          <p:nvPr/>
        </p:nvSpPr>
        <p:spPr>
          <a:xfrm>
            <a:off x="360000" y="4320000"/>
            <a:ext cx="5040000" cy="216000"/>
          </a:xfrm>
          <a:prstGeom prst="rect">
            <a:avLst/>
          </a:prstGeom>
          <a:noFill/>
        </p:spPr>
        <p:txBody>
          <a:bodyPr wrap="square">
            <a:spAutoFit/>
          </a:bodyPr>
          <a:lstStyle/>
          <a:p>
            <a:pPr algn="l"/>
            <a:r>
              <a:rPr sz="900" b="0" i="0">
                <a:solidFill>
                  <a:srgbClr val="AAAAAA"/>
                </a:solidFill>
              </a:rPr>
              <a:t>29 mars 2026</a:t>
            </a:r>
          </a:p>
        </p:txBody>
      </p:sp>
      <p:sp>
        <p:nvSpPr>
          <p:cNvPr id="22" name="TextBox 21"/>
          <p:cNvSpPr txBox="1"/>
          <p:nvPr/>
        </p:nvSpPr>
        <p:spPr>
          <a:xfrm>
            <a:off x="5400000" y="4320000"/>
            <a:ext cx="3240000" cy="216000"/>
          </a:xfrm>
          <a:prstGeom prst="rect">
            <a:avLst/>
          </a:prstGeom>
          <a:noFill/>
        </p:spPr>
        <p:txBody>
          <a:bodyPr wrap="square">
            <a:spAutoFit/>
          </a:bodyPr>
          <a:lstStyle/>
          <a:p>
            <a:pPr algn="r"/>
            <a:r>
              <a:rPr sz="900" b="0" i="0">
                <a:solidFill>
                  <a:srgbClr val="AAAAAA"/>
                </a:solidFill>
              </a:rPr>
              <a:t>Rapport confidentiel</a:t>
            </a:r>
          </a:p>
        </p:txBody>
      </p:sp>
      <p:sp>
        <p:nvSpPr>
          <p:cNvPr id="23" name="TextBox 22"/>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sociétés  ·  Horizon 12 mois</a:t>
            </a:r>
          </a:p>
        </p:txBody>
      </p:sp>
      <p:sp>
        <p:nvSpPr>
          <p:cNvPr id="15" name="Rectangle 14"/>
          <p:cNvSpPr/>
          <p:nvPr/>
        </p:nvSpPr>
        <p:spPr>
          <a:xfrm>
            <a:off x="324000" y="720000"/>
            <a:ext cx="1728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756000"/>
            <a:ext cx="1584000" cy="216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062000"/>
            <a:ext cx="8496000" cy="198000"/>
          </a:xfrm>
          <a:prstGeom prst="rect">
            <a:avLst/>
          </a:prstGeom>
          <a:noFill/>
        </p:spPr>
        <p:txBody>
          <a:bodyPr wrap="square">
            <a:spAutoFit/>
          </a:bodyPr>
          <a:lstStyle/>
          <a:p>
            <a:pPr algn="l"/>
            <a:r>
              <a:rPr sz="800" b="0" i="0">
                <a:solidFill>
                  <a:srgbClr val="555555"/>
                </a:solidFill>
              </a:rPr>
              <a:t>Cours : 6 369  ·  YTD : -7.1%  ·  P/E Forward : —  ·  Croissance BPA : +8.5%  ·  Conviction 55 %</a:t>
            </a:r>
          </a:p>
        </p:txBody>
      </p:sp>
      <p:sp>
        <p:nvSpPr>
          <p:cNvPr id="18" name="Rectangle 17"/>
          <p:cNvSpPr/>
          <p:nvPr/>
        </p:nvSpPr>
        <p:spPr>
          <a:xfrm>
            <a:off x="324000" y="1332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000" y="1350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0" name="Rectangle 19"/>
          <p:cNvSpPr/>
          <p:nvPr/>
        </p:nvSpPr>
        <p:spPr>
          <a:xfrm>
            <a:off x="324000" y="1565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3999" y="1565999"/>
            <a:ext cx="8028000" cy="162000"/>
          </a:xfrm>
          <a:prstGeom prst="rect">
            <a:avLst/>
          </a:prstGeom>
          <a:noFill/>
        </p:spPr>
        <p:txBody>
          <a:bodyPr wrap="square">
            <a:spAutoFit/>
          </a:bodyPr>
          <a:lstStyle/>
          <a:p>
            <a:pPr algn="l"/>
            <a:r>
              <a:rPr sz="800" b="1" i="0">
                <a:solidFill>
                  <a:srgbClr val="1B3A6B"/>
                </a:solidFill>
              </a:rPr>
              <a:t>Cycle IA</a:t>
            </a:r>
          </a:p>
        </p:txBody>
      </p:sp>
      <p:sp>
        <p:nvSpPr>
          <p:cNvPr id="22" name="TextBox 21"/>
          <p:cNvSpPr txBox="1"/>
          <p:nvPr/>
        </p:nvSpPr>
        <p:spPr>
          <a:xfrm>
            <a:off x="413999" y="1728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23" name="Rectangle 22"/>
          <p:cNvSpPr/>
          <p:nvPr/>
        </p:nvSpPr>
        <p:spPr>
          <a:xfrm>
            <a:off x="324000" y="1943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3999" y="1943999"/>
            <a:ext cx="8028000" cy="162000"/>
          </a:xfrm>
          <a:prstGeom prst="rect">
            <a:avLst/>
          </a:prstGeom>
          <a:noFill/>
        </p:spPr>
        <p:txBody>
          <a:bodyPr wrap="square">
            <a:spAutoFit/>
          </a:bodyPr>
          <a:lstStyle/>
          <a:p>
            <a:pPr algn="l"/>
            <a:r>
              <a:rPr sz="800" b="1" i="0">
                <a:solidFill>
                  <a:srgbClr val="1B3A6B"/>
                </a:solidFill>
              </a:rPr>
              <a:t>Desinflation</a:t>
            </a:r>
          </a:p>
        </p:txBody>
      </p:sp>
      <p:sp>
        <p:nvSpPr>
          <p:cNvPr id="25" name="TextBox 24"/>
          <p:cNvSpPr txBox="1"/>
          <p:nvPr/>
        </p:nvSpPr>
        <p:spPr>
          <a:xfrm>
            <a:off x="413999" y="2106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26" name="Rectangle 25"/>
          <p:cNvSpPr/>
          <p:nvPr/>
        </p:nvSpPr>
        <p:spPr>
          <a:xfrm>
            <a:off x="324000" y="232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3999" y="232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28" name="TextBox 27"/>
          <p:cNvSpPr txBox="1"/>
          <p:nvPr/>
        </p:nvSpPr>
        <p:spPr>
          <a:xfrm>
            <a:off x="413999" y="248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29" name="Rectangle 28"/>
          <p:cNvSpPr/>
          <p:nvPr/>
        </p:nvSpPr>
        <p:spPr>
          <a:xfrm>
            <a:off x="324000" y="2808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4000" y="2808000"/>
            <a:ext cx="43200" cy="19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2844000"/>
            <a:ext cx="8208000" cy="198000"/>
          </a:xfrm>
          <a:prstGeom prst="rect">
            <a:avLst/>
          </a:prstGeom>
          <a:noFill/>
        </p:spPr>
        <p:txBody>
          <a:bodyPr wrap="square">
            <a:spAutoFit/>
          </a:bodyPr>
          <a:lstStyle/>
          <a:p>
            <a:pPr algn="l"/>
            <a:r>
              <a:rPr sz="800" b="1" i="0">
                <a:solidFill>
                  <a:srgbClr val="1B3A6B"/>
                </a:solidFill>
              </a:rPr>
              <a:t>SYNTHÈSE DU SIGNAL</a:t>
            </a:r>
          </a:p>
        </p:txBody>
      </p:sp>
      <p:sp>
        <p:nvSpPr>
          <p:cNvPr id="32" name="TextBox 31"/>
          <p:cNvSpPr txBox="1"/>
          <p:nvPr/>
        </p:nvSpPr>
        <p:spPr>
          <a:xfrm>
            <a:off x="432000" y="3060000"/>
            <a:ext cx="8208000" cy="1620000"/>
          </a:xfrm>
          <a:prstGeom prst="rect">
            <a:avLst/>
          </a:prstGeom>
          <a:noFill/>
        </p:spPr>
        <p:txBody>
          <a:bodyPr wrap="square">
            <a:spAutoFit/>
          </a:bodyPr>
          <a:lstStyle/>
          <a:p>
            <a:pPr algn="l"/>
            <a:r>
              <a:rPr sz="800" b="0" i="0">
                <a:solidFill>
                  <a:srgbClr val="555555"/>
                </a:solidFill>
              </a:rPr>
              <a:t>Le signal global sur le S&amp;P 500 est Surponderer avec une conviction de 55% (sur la base des 11 secteurs analyses). 6 secteur(s) ressortent Surponderer — Technology, Communication Services, Industrials — portes par leur momentum positif 52 semaines. 5 secteurs sont Neutre et 0 en Sous-ponderer.</a:t>
            </a:r>
          </a:p>
        </p:txBody>
      </p:sp>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Synthese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economique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Decomposition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Recommandes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Synthese signal · Societes representatives · Distribution valorisations · Zone d entree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Scenarios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Synthese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economique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6 369</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-7.1%</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90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28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 50 (49.8), courbe...</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Decomposition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sociétés  ·  Tri par score FinSight décroissant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6.0x</a:t>
                      </a:r>
                    </a:p>
                  </a:txBody>
                  <a:tcPr>
                    <a:noFill/>
                  </a:tcPr>
                </a:tc>
                <a:tc>
                  <a:txBody>
                    <a:bodyPr/>
                    <a:lstStyle/>
                    <a:p>
                      <a:pPr algn="ctr"/>
                      <a:r>
                        <a:rPr sz="800" b="0">
                          <a:solidFill>
                            <a:srgbClr val="1A1A1A"/>
                          </a:solidFill>
                        </a:rPr>
                        <a:t>24.0%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+60.4%</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18.0x</a:t>
                      </a:r>
                    </a:p>
                  </a:txBody>
                  <a:tcPr>
                    <a:solidFill>
                      <a:srgbClr val="F5F7FA"/>
                    </a:solidFill>
                  </a:tcPr>
                </a:tc>
                <a:tc>
                  <a:txBody>
                    <a:bodyPr/>
                    <a:lstStyle/>
                    <a:p>
                      <a:pPr algn="ctr"/>
                      <a:r>
                        <a:rPr sz="800" b="0">
                          <a:solidFill>
                            <a:srgbClr val="1A1A1A"/>
                          </a:solidFill>
                        </a:rPr>
                        <a:t>27.0%</a:t>
                      </a:r>
                    </a:p>
                  </a:txBody>
                  <a:tcPr>
                    <a:solidFill>
                      <a:srgbClr val="F5F7FA"/>
                    </a:solidFill>
                  </a:tcPr>
                </a:tc>
                <a:tc>
                  <a:txBody>
                    <a:bodyPr/>
                    <a:lstStyle/>
                    <a:p>
                      <a:pPr algn="ctr"/>
                      <a:r>
                        <a:rPr sz="800" b="0">
                          <a:solidFill>
                            <a:srgbClr val="1A1A1A"/>
                          </a:solidFill>
                        </a:rPr>
                        <a:t>+13.0%</a:t>
                      </a:r>
                    </a:p>
                  </a:txBody>
                  <a:tcPr>
                    <a:solidFill>
                      <a:srgbClr val="F5F7FA"/>
                    </a:solidFill>
                  </a:tcPr>
                </a:tc>
                <a:tc>
                  <a:txBody>
                    <a:bodyPr/>
                    <a:lstStyle/>
                    <a:p>
                      <a:pPr algn="ctr"/>
                      <a:r>
                        <a:rPr sz="800" b="0">
                          <a:solidFill>
                            <a:srgbClr val="1A1A1A"/>
                          </a:solidFill>
                        </a:rPr>
                        <a:t>+24.5%</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13.0x</a:t>
                      </a:r>
                    </a:p>
                  </a:txBody>
                  <a:tcPr>
                    <a:noFill/>
                  </a:tcPr>
                </a:tc>
                <a:tc>
                  <a:txBody>
                    <a:bodyPr/>
                    <a:lstStyle/>
                    <a:p>
                      <a:pPr algn="ctr"/>
                      <a:r>
                        <a:rPr sz="800" b="0">
                          <a:solidFill>
                            <a:srgbClr val="1A1A1A"/>
                          </a:solidFill>
                        </a:rPr>
                        <a:t>14.0%</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1A1A"/>
                          </a:solidFill>
                        </a:rPr>
                        <a:t>+23.0%</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+18.9%</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10.0x</a:t>
                      </a:r>
                    </a:p>
                  </a:txBody>
                  <a:tcPr>
                    <a:no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1A1A1A"/>
                          </a:solidFill>
                        </a:rPr>
                        <a:t>+18.9%</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23.0%</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+13.5%</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11.0%</a:t>
                      </a:r>
                    </a:p>
                  </a:txBody>
                  <a:tcPr>
                    <a:noFill/>
                  </a:tcPr>
                </a:tc>
                <a:tc>
                  <a:txBody>
                    <a:bodyPr/>
                    <a:lstStyle/>
                    <a:p>
                      <a:pPr algn="ctr"/>
                      <a:r>
                        <a:rPr sz="800" b="0">
                          <a:solidFill>
                            <a:srgbClr val="1A1A1A"/>
                          </a:solidFill>
                        </a:rPr>
                        <a:t>+7.5%</a:t>
                      </a:r>
                    </a:p>
                  </a:txBody>
                  <a:tcPr>
                    <a:noFill/>
                  </a:tcPr>
                </a:tc>
                <a:tc>
                  <a:txBody>
                    <a:bodyPr/>
                    <a:lstStyle/>
                    <a:p>
                      <a:pPr algn="ctr"/>
                      <a:r>
                        <a:rPr sz="800" b="0">
                          <a:solidFill>
                            <a:srgbClr val="1A1A1A"/>
                          </a:solidFill>
                        </a:rPr>
                        <a:t>+8.0%</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14.0x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+9.5%</a:t>
                      </a:r>
                    </a:p>
                  </a:txBody>
                  <a:tcPr>
                    <a:solidFill>
                      <a:srgbClr val="F5F7FA"/>
                    </a:solidFill>
                  </a:tcPr>
                </a:tc>
                <a:tc>
                  <a:txBody>
                    <a:bodyPr/>
                    <a:lstStyle/>
                    <a:p>
                      <a:pPr algn="ctr"/>
                      <a:r>
                        <a:rPr sz="800" b="0">
                          <a:solidFill>
                            <a:srgbClr val="1A1A1A"/>
                          </a:solidFill>
                        </a:rPr>
                        <a:t>+3.8%</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17.0%</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+2.7%</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9.0x</a:t>
                      </a:r>
                    </a:p>
                  </a:txBody>
                  <a:tcPr>
                    <a:solidFill>
                      <a:srgbClr val="F5F7FA"/>
                    </a:solidFill>
                  </a:tcPr>
                </a:tc>
                <a:tc>
                  <a:txBody>
                    <a:bodyPr/>
                    <a:lstStyle/>
                    <a:p>
                      <a:pPr algn="ctr"/>
                      <a:r>
                        <a:rPr sz="800" b="0">
                          <a:solidFill>
                            <a:srgbClr val="1A1A1A"/>
                          </a:solidFill>
                        </a:rPr>
                        <a:t>30.0%</a:t>
                      </a:r>
                    </a:p>
                  </a:txBody>
                  <a:tcPr>
                    <a:solidFill>
                      <a:srgbClr val="F5F7FA"/>
                    </a:solidFill>
                  </a:tcPr>
                </a:tc>
                <a:tc>
                  <a:txBody>
                    <a:bodyPr/>
                    <a:lstStyle/>
                    <a:p>
                      <a:pPr algn="ctr"/>
                      <a:r>
                        <a:rPr sz="800" b="0">
                          <a:solidFill>
                            <a:srgbClr val="1A1A1A"/>
                          </a:solidFill>
                        </a:rPr>
                        <a:t>+10.0%</a:t>
                      </a:r>
                    </a:p>
                  </a:txBody>
                  <a:tcPr>
                    <a:solidFill>
                      <a:srgbClr val="F5F7FA"/>
                    </a:solidFill>
                  </a:tcPr>
                </a:tc>
                <a:tc>
                  <a:txBody>
                    <a:bodyPr/>
                    <a:lstStyle/>
                    <a:p>
                      <a:pPr algn="ctr"/>
                      <a:r>
                        <a:rPr sz="800" b="0">
                          <a:solidFill>
                            <a:srgbClr val="1A1A1A"/>
                          </a:solidFill>
                        </a:rPr>
                        <a:t>-0.4%</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17.0x</a:t>
                      </a:r>
                    </a:p>
                  </a:txBody>
                  <a:tcPr>
                    <a:noFill/>
                  </a:tcPr>
                </a:tc>
                <a:tc>
                  <a:txBody>
                    <a:bodyPr/>
                    <a:lstStyle/>
                    <a:p>
                      <a:pPr algn="ctr"/>
                      <a:r>
                        <a:rPr sz="800" b="0">
                          <a:solidFill>
                            <a:srgbClr val="1A1A1A"/>
                          </a:solidFill>
                        </a:rPr>
                        <a:t>42.0%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+0.2%</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Seuls 6 secteur(s) sur 11 franchissent le seuil Surpondérer (score &gt; 65) : Energy · Technology · Industrials · Utilities · Materials · Communication Services. 0 secteur(s) en Sous-pondérer. La dispersion des scores illustre 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N/A en quadrant Premium Justifie — valorisation elevee supportee par forte croissance BPA.
Technology  ·  Industrials en zone Opportunite — croissance correcte a valorisation attractive.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Revisions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Revisions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E8F5EE"/>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solidFill>
                      <a:srgbClr val="FDF3E5"/>
                    </a:solid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Energy domine avec le score le plus eleve. Le momentum (34 pts) constitue le premier signal de confirmation. Les secteurs en vert sur les 3 dimensions offrent le meilleur profil composite. Croiser avec la valorisation relative pour identifier les meilleures opportunites d entree.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signal · Societes representatives · Zone d entree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Surponderer  ·  Signal · Score · EV/EBITDA · Societes representatives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CVX</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COP</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85</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+60.4% — momentum sectoriel positif</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79/100  ·  EV/EBITDA : —</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AAPL</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76</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MSFT</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76</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NVDA</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1A7A4A"/>
                </a:solidFill>
              </a:rPr>
              <a:t>Surp.</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76</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+24.5% — momentum sectoriel positif</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78/100  ·  EV/EBITDA : —</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UNP</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72</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RTX</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72</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HON</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1A7A4A"/>
                </a:solidFill>
              </a:rPr>
              <a:t>Surp.</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72</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+23.0% — momentum sectoriel positif</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par secteur  ·  Vert = Surponderer · Amber = Neutre · Rouge = Sous-ponderer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18.0x — prime de 50 % vs la mediane sectorielle (12.0x). Cette prime est justifiee par une croissance BPA structurellement elevee.
Energy offre la valorisation la plus attractive (6.0x) mais le signal Surponderer reflète les risques specifiques au secteur.
Mediane sectorielle : 12.0x EV/EBITDA — seuil de reference pour evaluer la cherté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mediane historique 10 ans  ·  Signal d entree Accumuler / Neutre / Alleger</a:t>
            </a:r>
          </a:p>
        </p:txBody>
      </p:sp>
      <p:pic>
        <p:nvPicPr>
          <p:cNvPr id="15" name="Picture 14" descr="image.png"/>
          <p:cNvPicPr>
            <a:picLocks noChangeAspect="1"/>
          </p:cNvPicPr>
          <p:nvPr/>
        </p:nvPicPr>
        <p:blipFill>
          <a:blip r:embed="rId2"/>
          <a:stretch>
            <a:fillRect/>
          </a:stretch>
        </p:blipFill>
        <p:spPr>
          <a:xfrm>
            <a:off x="324000" y="827999"/>
            <a:ext cx="8496000" cy="2592000"/>
          </a:xfrm>
          <a:prstGeom prst="rect">
            <a:avLst/>
          </a:prstGeom>
        </p:spPr>
      </p:pic>
      <p:sp>
        <p:nvSpPr>
          <p:cNvPr id="16" name="Rectangle 15"/>
          <p:cNvSpPr/>
          <p:nvPr/>
        </p:nvSpPr>
        <p:spPr>
          <a:xfrm>
            <a:off x="324000" y="3564000"/>
            <a:ext cx="8496000" cy="124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564000"/>
            <a:ext cx="43200" cy="124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618000"/>
            <a:ext cx="8208000" cy="216000"/>
          </a:xfrm>
          <a:prstGeom prst="rect">
            <a:avLst/>
          </a:prstGeom>
          <a:noFill/>
        </p:spPr>
        <p:txBody>
          <a:bodyPr wrap="square">
            <a:spAutoFit/>
          </a:bodyPr>
          <a:lstStyle/>
          <a:p>
            <a:pPr algn="l"/>
            <a:r>
              <a:rPr sz="800" b="1" i="0">
                <a:solidFill>
                  <a:srgbClr val="1B3A6B"/>
                </a:solidFill>
              </a:rPr>
              <a:t>Lecture — Secteurs en zone d entree optimale</a:t>
            </a:r>
          </a:p>
        </p:txBody>
      </p:sp>
      <p:sp>
        <p:nvSpPr>
          <p:cNvPr id="19" name="TextBox 18"/>
          <p:cNvSpPr txBox="1"/>
          <p:nvPr/>
        </p:nvSpPr>
        <p:spPr>
          <a:xfrm>
            <a:off x="432000" y="3852000"/>
            <a:ext cx="8208000" cy="918000"/>
          </a:xfrm>
          <a:prstGeom prst="rect">
            <a:avLst/>
          </a:prstGeom>
          <a:noFill/>
        </p:spPr>
        <p:txBody>
          <a:bodyPr wrap="square">
            <a:spAutoFit/>
          </a:bodyPr>
          <a:lstStyle/>
          <a:p>
            <a:pPr algn="l"/>
            <a:r>
              <a:rPr sz="750" b="0" i="0">
                <a:solidFill>
                  <a:srgbClr val="555555"/>
                </a:solidFill>
              </a:rPr>
              <a:t>Aucun secteur Surponderer offrent les meilleures zones d entree parmi les secteurs recommandes : P/E Forward inferieur ou proche de la mediane historique 10 ans — profil risque/rendement favorable. Les secteurs au-dessus de la mediane (+20 %) meritent une prudence accrue sur le point d entree.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Scenarios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Scenarios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scenarios alternatifs  ·  Conditions d invalidation du signal Surponderer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Recession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revision BPA -15/-20 %. Signal passerait Sous-ponderer.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prolonge</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 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geopolitique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geopolitique — spike VIX &gt; 35, rotation defensive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SURPONDERER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Economique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Sensibilites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favorisee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Synthese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Agrégé</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0.060</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agrégé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Négatif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Thèmes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SPDR sectoriels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+60.4 %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+24.5 %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+23.0 %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XLU  —  Utilities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+18.9 %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XLB  —  Materials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+18.9 %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+13.5 %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XLY  —  Consumer Discretio</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+8.0 %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+3.8 %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XLE (Energy) domine avec +60.4 % — confirmation du signal Surponderer soutenu par la monetisation IA. XLF (Financials) sous-performe (-0.4 %) en ligne avec le signal Sous-ponderer.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