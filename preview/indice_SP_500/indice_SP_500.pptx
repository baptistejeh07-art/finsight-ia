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80000"/>
            <a:ext cx="4320000" cy="288000"/>
          </a:xfrm>
          <a:prstGeom prst="rect">
            <a:avLst/>
          </a:prstGeom>
          <a:noFill/>
        </p:spPr>
        <p:txBody>
          <a:bodyPr wrap="square">
            <a:spAutoFit/>
          </a:bodyPr>
          <a:lstStyle/>
          <a:p>
            <a:pPr algn="l"/>
            <a:r>
              <a:rPr sz="1100" b="0" i="0">
                <a:solidFill>
                  <a:srgbClr val="AAAAAA"/>
                </a:solidFill>
              </a:rPr>
              <a:t>FinSight IA</a:t>
            </a:r>
          </a:p>
        </p:txBody>
      </p:sp>
      <p:sp>
        <p:nvSpPr>
          <p:cNvPr id="4" name="TextBox 3"/>
          <p:cNvSpPr txBox="1"/>
          <p:nvPr/>
        </p:nvSpPr>
        <p:spPr>
          <a:xfrm>
            <a:off x="360000" y="468000"/>
            <a:ext cx="6480000" cy="251999"/>
          </a:xfrm>
          <a:prstGeom prst="rect">
            <a:avLst/>
          </a:prstGeom>
          <a:noFill/>
        </p:spPr>
        <p:txBody>
          <a:bodyPr wrap="square">
            <a:spAutoFit/>
          </a:bodyPr>
          <a:lstStyle/>
          <a:p>
            <a:pPr algn="l"/>
            <a:r>
              <a:rPr sz="900" b="0" i="0">
                <a:solidFill>
                  <a:srgbClr val="2A5298"/>
                </a:solidFill>
              </a:rPr>
              <a:t>Pitchbook  ·  Analyse d'Indice</a:t>
            </a:r>
          </a:p>
        </p:txBody>
      </p:sp>
      <p:sp>
        <p:nvSpPr>
          <p:cNvPr id="5" name="TextBox 4"/>
          <p:cNvSpPr txBox="1"/>
          <p:nvPr/>
        </p:nvSpPr>
        <p:spPr>
          <a:xfrm>
            <a:off x="360000" y="1152000"/>
            <a:ext cx="8280000" cy="720000"/>
          </a:xfrm>
          <a:prstGeom prst="rect">
            <a:avLst/>
          </a:prstGeom>
          <a:noFill/>
        </p:spPr>
        <p:txBody>
          <a:bodyPr wrap="square">
            <a:spAutoFit/>
          </a:bodyPr>
          <a:lstStyle/>
          <a:p>
            <a:pPr algn="l"/>
            <a:r>
              <a:rPr sz="3600" b="1" i="0">
                <a:solidFill>
                  <a:srgbClr val="FFFFFF"/>
                </a:solidFill>
              </a:rPr>
              <a:t>S&amp;P 500</a:t>
            </a:r>
          </a:p>
        </p:txBody>
      </p:sp>
      <p:sp>
        <p:nvSpPr>
          <p:cNvPr id="6" name="Rectangle 5"/>
          <p:cNvSpPr/>
          <p:nvPr/>
        </p:nvSpPr>
        <p:spPr>
          <a:xfrm>
            <a:off x="360000" y="1980000"/>
            <a:ext cx="2880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8000" y="2034000"/>
            <a:ext cx="2664000" cy="288000"/>
          </a:xfrm>
          <a:prstGeom prst="rect">
            <a:avLst/>
          </a:prstGeom>
          <a:noFill/>
        </p:spPr>
        <p:txBody>
          <a:bodyPr wrap="square">
            <a:spAutoFit/>
          </a:bodyPr>
          <a:lstStyle/>
          <a:p>
            <a:pPr algn="l"/>
            <a:r>
              <a:rPr sz="1100" b="1" i="0">
                <a:solidFill>
                  <a:srgbClr val="FFFFFF"/>
                </a:solidFill>
              </a:rPr>
              <a:t>SURPONDÉRER  ·  Conviction 55 %</a:t>
            </a:r>
          </a:p>
        </p:txBody>
      </p:sp>
      <p:sp>
        <p:nvSpPr>
          <p:cNvPr id="8" name="TextBox 7"/>
          <p:cNvSpPr txBox="1"/>
          <p:nvPr/>
        </p:nvSpPr>
        <p:spPr>
          <a:xfrm>
            <a:off x="360000" y="2448000"/>
            <a:ext cx="7920000" cy="216000"/>
          </a:xfrm>
          <a:prstGeom prst="rect">
            <a:avLst/>
          </a:prstGeom>
          <a:noFill/>
        </p:spPr>
        <p:txBody>
          <a:bodyPr wrap="square">
            <a:spAutoFit/>
          </a:bodyPr>
          <a:lstStyle/>
          <a:p>
            <a:pPr algn="l"/>
            <a:r>
              <a:rPr sz="900" b="0" i="0">
                <a:solidFill>
                  <a:srgbClr val="AAAAAA"/>
                </a:solidFill>
              </a:rPr>
              <a:t>^GSPC  ·  11 secteurs analysés  ·  503 sociétés couvertes</a:t>
            </a:r>
          </a:p>
        </p:txBody>
      </p:sp>
      <p:sp>
        <p:nvSpPr>
          <p:cNvPr id="9" name="Rectangle 8"/>
          <p:cNvSpPr/>
          <p:nvPr/>
        </p:nvSpPr>
        <p:spPr>
          <a:xfrm>
            <a:off x="360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2988000"/>
            <a:ext cx="1728000" cy="180000"/>
          </a:xfrm>
          <a:prstGeom prst="rect">
            <a:avLst/>
          </a:prstGeom>
          <a:noFill/>
        </p:spPr>
        <p:txBody>
          <a:bodyPr wrap="square">
            <a:spAutoFit/>
          </a:bodyPr>
          <a:lstStyle/>
          <a:p>
            <a:pPr algn="l"/>
            <a:r>
              <a:rPr sz="750" b="0" i="0">
                <a:solidFill>
                  <a:srgbClr val="AAAAAA"/>
                </a:solidFill>
              </a:rPr>
              <a:t>Cours</a:t>
            </a:r>
          </a:p>
        </p:txBody>
      </p:sp>
      <p:sp>
        <p:nvSpPr>
          <p:cNvPr id="11" name="TextBox 10"/>
          <p:cNvSpPr txBox="1"/>
          <p:nvPr/>
        </p:nvSpPr>
        <p:spPr>
          <a:xfrm>
            <a:off x="432000" y="3150000"/>
            <a:ext cx="1728000" cy="288000"/>
          </a:xfrm>
          <a:prstGeom prst="rect">
            <a:avLst/>
          </a:prstGeom>
          <a:noFill/>
        </p:spPr>
        <p:txBody>
          <a:bodyPr wrap="square">
            <a:spAutoFit/>
          </a:bodyPr>
          <a:lstStyle/>
          <a:p>
            <a:pPr algn="l"/>
            <a:r>
              <a:rPr sz="1400" b="1" i="0">
                <a:solidFill>
                  <a:srgbClr val="FFFFFF"/>
                </a:solidFill>
              </a:rPr>
              <a:t>6 369</a:t>
            </a:r>
          </a:p>
        </p:txBody>
      </p:sp>
      <p:sp>
        <p:nvSpPr>
          <p:cNvPr id="12" name="Rectangle 11"/>
          <p:cNvSpPr/>
          <p:nvPr/>
        </p:nvSpPr>
        <p:spPr>
          <a:xfrm>
            <a:off x="2448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20000" y="2988000"/>
            <a:ext cx="1728000" cy="180000"/>
          </a:xfrm>
          <a:prstGeom prst="rect">
            <a:avLst/>
          </a:prstGeom>
          <a:noFill/>
        </p:spPr>
        <p:txBody>
          <a:bodyPr wrap="square">
            <a:spAutoFit/>
          </a:bodyPr>
          <a:lstStyle/>
          <a:p>
            <a:pPr algn="l"/>
            <a:r>
              <a:rPr sz="750" b="0" i="0">
                <a:solidFill>
                  <a:srgbClr val="AAAAAA"/>
                </a:solidFill>
              </a:rPr>
              <a:t>YTD</a:t>
            </a:r>
          </a:p>
        </p:txBody>
      </p:sp>
      <p:sp>
        <p:nvSpPr>
          <p:cNvPr id="14" name="TextBox 13"/>
          <p:cNvSpPr txBox="1"/>
          <p:nvPr/>
        </p:nvSpPr>
        <p:spPr>
          <a:xfrm>
            <a:off x="2520000" y="3150000"/>
            <a:ext cx="1728000" cy="288000"/>
          </a:xfrm>
          <a:prstGeom prst="rect">
            <a:avLst/>
          </a:prstGeom>
          <a:noFill/>
        </p:spPr>
        <p:txBody>
          <a:bodyPr wrap="square">
            <a:spAutoFit/>
          </a:bodyPr>
          <a:lstStyle/>
          <a:p>
            <a:pPr algn="l"/>
            <a:r>
              <a:rPr sz="1400" b="1" i="0">
                <a:solidFill>
                  <a:srgbClr val="FFFFFF"/>
                </a:solidFill>
              </a:rPr>
              <a:t>-7.1%</a:t>
            </a:r>
          </a:p>
        </p:txBody>
      </p:sp>
      <p:sp>
        <p:nvSpPr>
          <p:cNvPr id="15" name="Rectangle 14"/>
          <p:cNvSpPr/>
          <p:nvPr/>
        </p:nvSpPr>
        <p:spPr>
          <a:xfrm>
            <a:off x="4536000"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000" y="2988000"/>
            <a:ext cx="1728000" cy="180000"/>
          </a:xfrm>
          <a:prstGeom prst="rect">
            <a:avLst/>
          </a:prstGeom>
          <a:noFill/>
        </p:spPr>
        <p:txBody>
          <a:bodyPr wrap="square">
            <a:spAutoFit/>
          </a:bodyPr>
          <a:lstStyle/>
          <a:p>
            <a:pPr algn="l"/>
            <a:r>
              <a:rPr sz="750" b="0" i="0">
                <a:solidFill>
                  <a:srgbClr val="AAAAAA"/>
                </a:solidFill>
              </a:rPr>
              <a:t>P/E Fwd</a:t>
            </a:r>
          </a:p>
        </p:txBody>
      </p:sp>
      <p:sp>
        <p:nvSpPr>
          <p:cNvPr id="17" name="TextBox 16"/>
          <p:cNvSpPr txBox="1"/>
          <p:nvPr/>
        </p:nvSpPr>
        <p:spPr>
          <a:xfrm>
            <a:off x="4608000" y="3150000"/>
            <a:ext cx="1728000" cy="288000"/>
          </a:xfrm>
          <a:prstGeom prst="rect">
            <a:avLst/>
          </a:prstGeom>
          <a:noFill/>
        </p:spPr>
        <p:txBody>
          <a:bodyPr wrap="square">
            <a:spAutoFit/>
          </a:bodyPr>
          <a:lstStyle/>
          <a:p>
            <a:pPr algn="l"/>
            <a:r>
              <a:rPr sz="1400" b="1" i="0">
                <a:solidFill>
                  <a:srgbClr val="FFFFFF"/>
                </a:solidFill>
              </a:rPr>
              <a:t>—</a:t>
            </a:r>
          </a:p>
        </p:txBody>
      </p:sp>
      <p:sp>
        <p:nvSpPr>
          <p:cNvPr id="18" name="Rectangle 17"/>
          <p:cNvSpPr/>
          <p:nvPr/>
        </p:nvSpPr>
        <p:spPr>
          <a:xfrm>
            <a:off x="6623999" y="2951999"/>
            <a:ext cx="1872000" cy="57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95999" y="2988000"/>
            <a:ext cx="1728000" cy="180000"/>
          </a:xfrm>
          <a:prstGeom prst="rect">
            <a:avLst/>
          </a:prstGeom>
          <a:noFill/>
        </p:spPr>
        <p:txBody>
          <a:bodyPr wrap="square">
            <a:spAutoFit/>
          </a:bodyPr>
          <a:lstStyle/>
          <a:p>
            <a:pPr algn="l"/>
            <a:r>
              <a:rPr sz="750" b="0" i="0">
                <a:solidFill>
                  <a:srgbClr val="AAAAAA"/>
                </a:solidFill>
              </a:rPr>
              <a:t>BPA Growth</a:t>
            </a:r>
          </a:p>
        </p:txBody>
      </p:sp>
      <p:sp>
        <p:nvSpPr>
          <p:cNvPr id="20" name="TextBox 19"/>
          <p:cNvSpPr txBox="1"/>
          <p:nvPr/>
        </p:nvSpPr>
        <p:spPr>
          <a:xfrm>
            <a:off x="6695999" y="3150000"/>
            <a:ext cx="1728000" cy="288000"/>
          </a:xfrm>
          <a:prstGeom prst="rect">
            <a:avLst/>
          </a:prstGeom>
          <a:noFill/>
        </p:spPr>
        <p:txBody>
          <a:bodyPr wrap="square">
            <a:spAutoFit/>
          </a:bodyPr>
          <a:lstStyle/>
          <a:p>
            <a:pPr algn="l"/>
            <a:r>
              <a:rPr sz="1400" b="1" i="0">
                <a:solidFill>
                  <a:srgbClr val="FFFFFF"/>
                </a:solidFill>
              </a:rPr>
              <a:t>+8.5%</a:t>
            </a:r>
          </a:p>
        </p:txBody>
      </p:sp>
      <p:sp>
        <p:nvSpPr>
          <p:cNvPr id="21" name="TextBox 20"/>
          <p:cNvSpPr txBox="1"/>
          <p:nvPr/>
        </p:nvSpPr>
        <p:spPr>
          <a:xfrm>
            <a:off x="360000" y="4320000"/>
            <a:ext cx="5040000" cy="216000"/>
          </a:xfrm>
          <a:prstGeom prst="rect">
            <a:avLst/>
          </a:prstGeom>
          <a:noFill/>
        </p:spPr>
        <p:txBody>
          <a:bodyPr wrap="square">
            <a:spAutoFit/>
          </a:bodyPr>
          <a:lstStyle/>
          <a:p>
            <a:pPr algn="l"/>
            <a:r>
              <a:rPr sz="900" b="0" i="0">
                <a:solidFill>
                  <a:srgbClr val="AAAAAA"/>
                </a:solidFill>
              </a:rPr>
              <a:t>29 mars 2026</a:t>
            </a:r>
          </a:p>
        </p:txBody>
      </p:sp>
      <p:sp>
        <p:nvSpPr>
          <p:cNvPr id="22" name="TextBox 21"/>
          <p:cNvSpPr txBox="1"/>
          <p:nvPr/>
        </p:nvSpPr>
        <p:spPr>
          <a:xfrm>
            <a:off x="5400000" y="4320000"/>
            <a:ext cx="3240000" cy="216000"/>
          </a:xfrm>
          <a:prstGeom prst="rect">
            <a:avLst/>
          </a:prstGeom>
          <a:noFill/>
        </p:spPr>
        <p:txBody>
          <a:bodyPr wrap="square">
            <a:spAutoFit/>
          </a:bodyPr>
          <a:lstStyle/>
          <a:p>
            <a:pPr algn="r"/>
            <a:r>
              <a:rPr sz="900" b="0" i="0">
                <a:solidFill>
                  <a:srgbClr val="AAAAAA"/>
                </a:solidFill>
              </a:rPr>
              <a:t>Rapport confidentiel</a:t>
            </a:r>
          </a:p>
        </p:txBody>
      </p:sp>
      <p:sp>
        <p:nvSpPr>
          <p:cNvPr id="23" name="TextBox 22"/>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720000"/>
            <a:ext cx="1728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756000"/>
            <a:ext cx="1584000" cy="216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062000"/>
            <a:ext cx="8496000" cy="198000"/>
          </a:xfrm>
          <a:prstGeom prst="rect">
            <a:avLst/>
          </a:prstGeom>
          <a:noFill/>
        </p:spPr>
        <p:txBody>
          <a:bodyPr wrap="square">
            <a:spAutoFit/>
          </a:bodyPr>
          <a:lstStyle/>
          <a:p>
            <a:pPr algn="l"/>
            <a:r>
              <a:rPr sz="800" b="0" i="0">
                <a:solidFill>
                  <a:srgbClr val="555555"/>
                </a:solidFill>
              </a:rPr>
              <a:t>Cours : 6 369  ·  YTD : -7.1%  ·  P/E Forward : —  ·  Croissance BPA : +8.5%  ·  Conviction 55 %</a:t>
            </a:r>
          </a:p>
        </p:txBody>
      </p:sp>
      <p:sp>
        <p:nvSpPr>
          <p:cNvPr id="18" name="Rectangle 17"/>
          <p:cNvSpPr/>
          <p:nvPr/>
        </p:nvSpPr>
        <p:spPr>
          <a:xfrm>
            <a:off x="324000" y="1332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1350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0" name="Rectangle 19"/>
          <p:cNvSpPr/>
          <p:nvPr/>
        </p:nvSpPr>
        <p:spPr>
          <a:xfrm>
            <a:off x="324000" y="1565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3999" y="1565999"/>
            <a:ext cx="8028000" cy="162000"/>
          </a:xfrm>
          <a:prstGeom prst="rect">
            <a:avLst/>
          </a:prstGeom>
          <a:noFill/>
        </p:spPr>
        <p:txBody>
          <a:bodyPr wrap="square">
            <a:spAutoFit/>
          </a:bodyPr>
          <a:lstStyle/>
          <a:p>
            <a:pPr algn="l"/>
            <a:r>
              <a:rPr sz="800" b="1" i="0">
                <a:solidFill>
                  <a:srgbClr val="1B3A6B"/>
                </a:solidFill>
              </a:rPr>
              <a:t>Cycle IA</a:t>
            </a:r>
          </a:p>
        </p:txBody>
      </p:sp>
      <p:sp>
        <p:nvSpPr>
          <p:cNvPr id="22" name="TextBox 21"/>
          <p:cNvSpPr txBox="1"/>
          <p:nvPr/>
        </p:nvSpPr>
        <p:spPr>
          <a:xfrm>
            <a:off x="413999" y="1728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23" name="Rectangle 22"/>
          <p:cNvSpPr/>
          <p:nvPr/>
        </p:nvSpPr>
        <p:spPr>
          <a:xfrm>
            <a:off x="324000" y="1943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3999" y="1943999"/>
            <a:ext cx="8028000" cy="162000"/>
          </a:xfrm>
          <a:prstGeom prst="rect">
            <a:avLst/>
          </a:prstGeom>
          <a:noFill/>
        </p:spPr>
        <p:txBody>
          <a:bodyPr wrap="square">
            <a:spAutoFit/>
          </a:bodyPr>
          <a:lstStyle/>
          <a:p>
            <a:pPr algn="l"/>
            <a:r>
              <a:rPr sz="800" b="1" i="0">
                <a:solidFill>
                  <a:srgbClr val="1B3A6B"/>
                </a:solidFill>
              </a:rPr>
              <a:t>Desinflation</a:t>
            </a:r>
          </a:p>
        </p:txBody>
      </p:sp>
      <p:sp>
        <p:nvSpPr>
          <p:cNvPr id="25" name="TextBox 24"/>
          <p:cNvSpPr txBox="1"/>
          <p:nvPr/>
        </p:nvSpPr>
        <p:spPr>
          <a:xfrm>
            <a:off x="413999" y="2106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26" name="Rectangle 25"/>
          <p:cNvSpPr/>
          <p:nvPr/>
        </p:nvSpPr>
        <p:spPr>
          <a:xfrm>
            <a:off x="324000" y="232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3999" y="232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28" name="TextBox 27"/>
          <p:cNvSpPr txBox="1"/>
          <p:nvPr/>
        </p:nvSpPr>
        <p:spPr>
          <a:xfrm>
            <a:off x="413999" y="248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29" name="Rectangle 28"/>
          <p:cNvSpPr/>
          <p:nvPr/>
        </p:nvSpPr>
        <p:spPr>
          <a:xfrm>
            <a:off x="324000" y="2808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4000" y="2808000"/>
            <a:ext cx="43200" cy="19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2844000"/>
            <a:ext cx="8208000" cy="198000"/>
          </a:xfrm>
          <a:prstGeom prst="rect">
            <a:avLst/>
          </a:prstGeom>
          <a:noFill/>
        </p:spPr>
        <p:txBody>
          <a:bodyPr wrap="square">
            <a:spAutoFit/>
          </a:bodyPr>
          <a:lstStyle/>
          <a:p>
            <a:pPr algn="l"/>
            <a:r>
              <a:rPr sz="800" b="1" i="0">
                <a:solidFill>
                  <a:srgbClr val="1B3A6B"/>
                </a:solidFill>
              </a:rPr>
              <a:t>SYNTHÈSE DU SIGNAL</a:t>
            </a:r>
          </a:p>
        </p:txBody>
      </p:sp>
      <p:sp>
        <p:nvSpPr>
          <p:cNvPr id="32" name="TextBox 31"/>
          <p:cNvSpPr txBox="1"/>
          <p:nvPr/>
        </p:nvSpPr>
        <p:spPr>
          <a:xfrm>
            <a:off x="432000" y="3060000"/>
            <a:ext cx="8208000" cy="1620000"/>
          </a:xfrm>
          <a:prstGeom prst="rect">
            <a:avLst/>
          </a:prstGeom>
          <a:noFill/>
        </p:spPr>
        <p:txBody>
          <a:bodyPr wrap="square">
            <a:spAutoFit/>
          </a:bodyPr>
          <a:lstStyle/>
          <a:p>
            <a:pPr algn="l"/>
            <a:r>
              <a:rPr sz="800" b="0" i="0">
                <a:solidFill>
                  <a:srgbClr val="555555"/>
                </a:solidFill>
              </a:rPr>
              <a:t>Le signal global sur le S&amp;P 500 est Surponderer avec une conviction de 55% (sur la base des 11 secteurs analyses). 6 secteur(s) ressortent Surponderer — Technology, Industrials, Communication Services — portes par leur momentum positif 52 semaines. 5 secteurs sont Neutre et 0 en Sous-ponderer.</a:t>
            </a:r>
          </a:p>
        </p:txBody>
      </p:sp>
      <p:sp>
        <p:nvSpPr>
          <p:cNvPr id="33" name="Rectangle 3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6 369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-7.1%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90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28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 50 (49.8), courbe...</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6.0x</a:t>
                      </a:r>
                    </a:p>
                  </a:txBody>
                  <a:tcPr>
                    <a:no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+60.4%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+24.5%</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13.0x</a:t>
                      </a:r>
                    </a:p>
                  </a:txBody>
                  <a:tcPr>
                    <a:noFill/>
                  </a:tcPr>
                </a:tc>
                <a:tc>
                  <a:txBody>
                    <a:bodyPr/>
                    <a:lstStyle/>
                    <a:p>
                      <a:pPr algn="ctr"/>
                      <a:r>
                        <a:rPr sz="800" b="0">
                          <a:solidFill>
                            <a:srgbClr val="1A1A1A"/>
                          </a:solidFill>
                        </a:rPr>
                        <a:t>14.0%</a:t>
                      </a:r>
                    </a:p>
                  </a:txBody>
                  <a:tcPr>
                    <a:noFill/>
                  </a:tcPr>
                </a:tc>
                <a:tc>
                  <a:txBody>
                    <a:bodyPr/>
                    <a:lstStyle/>
                    <a:p>
                      <a:pPr algn="ctr"/>
                      <a:r>
                        <a:rPr sz="800" b="0">
                          <a:solidFill>
                            <a:srgbClr val="1A1A1A"/>
                          </a:solidFill>
                        </a:rPr>
                        <a:t>+6.5%</a:t>
                      </a:r>
                    </a:p>
                  </a:txBody>
                  <a:tcPr>
                    <a:noFill/>
                  </a:tcPr>
                </a:tc>
                <a:tc>
                  <a:txBody>
                    <a:bodyPr/>
                    <a:lstStyle/>
                    <a:p>
                      <a:pPr algn="ctr"/>
                      <a:r>
                        <a:rPr sz="800" b="0">
                          <a:solidFill>
                            <a:srgbClr val="1A1A1A"/>
                          </a:solidFill>
                        </a:rPr>
                        <a:t>+23.0%</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+18.9%</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10.0x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+18.9%</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11.0x</a:t>
                      </a:r>
                    </a:p>
                  </a:txBody>
                  <a:tcPr>
                    <a:solidFill>
                      <a:srgbClr val="F5F7FA"/>
                    </a:solidFill>
                  </a:tcPr>
                </a:tc>
                <a:tc>
                  <a:txBody>
                    <a:bodyPr/>
                    <a:lstStyle/>
                    <a:p>
                      <a:pPr algn="ctr"/>
                      <a:r>
                        <a:rPr sz="800" b="0">
                          <a:solidFill>
                            <a:srgbClr val="1A1A1A"/>
                          </a:solidFill>
                        </a:rPr>
                        <a:t>23.0%</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+13.5%</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+8.0%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14.0x</a:t>
                      </a:r>
                    </a:p>
                  </a:txBody>
                  <a:tcPr>
                    <a:solidFill>
                      <a:srgbClr val="F5F7FA"/>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+3.8%</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12.0x</a:t>
                      </a:r>
                    </a:p>
                  </a:txBody>
                  <a:tcPr>
                    <a:noFill/>
                  </a:tcPr>
                </a:tc>
                <a:tc>
                  <a:txBody>
                    <a:bodyPr/>
                    <a:lstStyle/>
                    <a:p>
                      <a:pPr algn="ctr"/>
                      <a:r>
                        <a:rPr sz="800" b="0">
                          <a:solidFill>
                            <a:srgbClr val="1A1A1A"/>
                          </a:solidFill>
                        </a:rPr>
                        <a:t>17.0%</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+2.7%</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9.0x</a:t>
                      </a:r>
                    </a:p>
                  </a:txBody>
                  <a:tcPr>
                    <a:solidFill>
                      <a:srgbClr val="F5F7FA"/>
                    </a:solidFill>
                  </a:tcPr>
                </a:tc>
                <a:tc>
                  <a:txBody>
                    <a:bodyPr/>
                    <a:lstStyle/>
                    <a:p>
                      <a:pPr algn="ctr"/>
                      <a:r>
                        <a:rPr sz="800" b="0">
                          <a:solidFill>
                            <a:srgbClr val="1A1A1A"/>
                          </a:solidFill>
                        </a:rPr>
                        <a:t>30.0%</a:t>
                      </a:r>
                    </a:p>
                  </a:txBody>
                  <a:tcPr>
                    <a:solidFill>
                      <a:srgbClr val="F5F7FA"/>
                    </a:solidFill>
                  </a:tcPr>
                </a:tc>
                <a:tc>
                  <a:txBody>
                    <a:bodyPr/>
                    <a:lstStyle/>
                    <a:p>
                      <a:pPr algn="ctr"/>
                      <a:r>
                        <a:rPr sz="800" b="0">
                          <a:solidFill>
                            <a:srgbClr val="1A1A1A"/>
                          </a:solidFill>
                        </a:rPr>
                        <a:t>+10.0%</a:t>
                      </a:r>
                    </a:p>
                  </a:txBody>
                  <a:tcPr>
                    <a:solidFill>
                      <a:srgbClr val="F5F7FA"/>
                    </a:solidFill>
                  </a:tcPr>
                </a:tc>
                <a:tc>
                  <a:txBody>
                    <a:bodyPr/>
                    <a:lstStyle/>
                    <a:p>
                      <a:pPr algn="ctr"/>
                      <a:r>
                        <a:rPr sz="800" b="0">
                          <a:solidFill>
                            <a:srgbClr val="1A1A1A"/>
                          </a:solidFill>
                        </a:rPr>
                        <a:t>-0.4%</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17.0x</a:t>
                      </a:r>
                    </a:p>
                  </a:txBody>
                  <a:tcPr>
                    <a:noFill/>
                  </a:tcPr>
                </a:tc>
                <a:tc>
                  <a:txBody>
                    <a:bodyPr/>
                    <a:lstStyle/>
                    <a:p>
                      <a:pPr algn="ctr"/>
                      <a:r>
                        <a:rPr sz="800" b="0">
                          <a:solidFill>
                            <a:srgbClr val="1A1A1A"/>
                          </a:solidFill>
                        </a:rPr>
                        <a:t>42.0%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+0.2%</a:t>
                      </a:r>
                    </a:p>
                  </a:txBody>
                  <a:tcPr>
                    <a:no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Seuls 6 secteur(s) sur 11 franchissent le seuil Surpondérer (score &gt; 65) : Energy · Technology · Industrials · Utilities · Materials · Communication Services. 0 secteur(s) en Sous-pondérer. La dispersion des scores illustre 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N/A en quadrant Premium Justifie — valorisation elevee supportee par forte croissance BPA.
Technology  ·  Industrials en zone Opportunite — croissance correcte a valorisation attractive.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79</a:t>
                      </a:r>
                    </a:p>
                  </a:txBody>
                  <a:tcPr>
                    <a:solidFill>
                      <a:srgbClr val="E8F5EE"/>
                    </a:solidFill>
                  </a:tcPr>
                </a:tc>
                <a:tc>
                  <a:txBody>
                    <a:bodyPr/>
                    <a:lstStyle/>
                    <a:p>
                      <a:pPr algn="ctr"/>
                      <a:r>
                        <a:rPr sz="800" b="0">
                          <a:solidFill>
                            <a:srgbClr val="1A1A1A"/>
                          </a:solidFill>
                        </a:rPr>
                        <a:t>32</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1A1A"/>
                          </a:solidFill>
                        </a:rPr>
                        <a:t>24</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no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solidFill>
                      <a:srgbClr val="F5F7FA"/>
                    </a:solid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73</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60</a:t>
                      </a:r>
                    </a:p>
                  </a:txBody>
                  <a:tcPr>
                    <a:solidFill>
                      <a:srgbClr val="FDF3E5"/>
                    </a:solid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18</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CVX</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576000" cy="198000"/>
          </a:xfrm>
          <a:prstGeom prst="rect">
            <a:avLst/>
          </a:prstGeom>
          <a:noFill/>
        </p:spPr>
        <p:txBody>
          <a:bodyPr wrap="square">
            <a:spAutoFit/>
          </a:bodyPr>
          <a:lstStyle/>
          <a:p>
            <a:pPr algn="l"/>
            <a:r>
              <a:rPr sz="800" b="1" i="0">
                <a:solidFill>
                  <a:srgbClr val="1B3A6B"/>
                </a:solidFill>
              </a:rPr>
              <a:t>COP</a:t>
            </a:r>
          </a:p>
        </p:txBody>
      </p:sp>
      <p:sp>
        <p:nvSpPr>
          <p:cNvPr id="34" name="TextBox 33"/>
          <p:cNvSpPr txBox="1"/>
          <p:nvPr/>
        </p:nvSpPr>
        <p:spPr>
          <a:xfrm>
            <a:off x="1044000" y="2210400"/>
            <a:ext cx="540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584000" y="2210400"/>
            <a:ext cx="540000" cy="198000"/>
          </a:xfrm>
          <a:prstGeom prst="rect">
            <a:avLst/>
          </a:prstGeom>
          <a:noFill/>
        </p:spPr>
        <p:txBody>
          <a:bodyPr wrap="square">
            <a:spAutoFit/>
          </a:bodyPr>
          <a:lstStyle/>
          <a:p>
            <a:pPr algn="l"/>
            <a:r>
              <a:rPr sz="800" b="0" i="0">
                <a:solidFill>
                  <a:srgbClr val="555555"/>
                </a:solidFill>
              </a:rPr>
              <a:t>—</a:t>
            </a:r>
          </a:p>
        </p:txBody>
      </p:sp>
      <p:sp>
        <p:nvSpPr>
          <p:cNvPr id="36" name="TextBox 35"/>
          <p:cNvSpPr txBox="1"/>
          <p:nvPr/>
        </p:nvSpPr>
        <p:spPr>
          <a:xfrm>
            <a:off x="2124000" y="2210400"/>
            <a:ext cx="540000" cy="198000"/>
          </a:xfrm>
          <a:prstGeom prst="rect">
            <a:avLst/>
          </a:prstGeom>
          <a:noFill/>
        </p:spPr>
        <p:txBody>
          <a:bodyPr wrap="square">
            <a:spAutoFit/>
          </a:bodyPr>
          <a:lstStyle/>
          <a:p>
            <a:pPr algn="l"/>
            <a:r>
              <a:rPr sz="800" b="0" i="0">
                <a:solidFill>
                  <a:srgbClr val="555555"/>
                </a:solidFill>
              </a:rPr>
              <a:t>85</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+60.4% — momentum sectoriel positif</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79/100  ·  EV/EBITDA : —</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AAPL</a:t>
            </a:r>
          </a:p>
        </p:txBody>
      </p:sp>
      <p:sp>
        <p:nvSpPr>
          <p:cNvPr id="52" name="TextBox 51"/>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a:t>
            </a:r>
          </a:p>
        </p:txBody>
      </p:sp>
      <p:sp>
        <p:nvSpPr>
          <p:cNvPr id="54" name="TextBox 53"/>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76</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MSFT</a:t>
            </a:r>
          </a:p>
        </p:txBody>
      </p:sp>
      <p:sp>
        <p:nvSpPr>
          <p:cNvPr id="57" name="TextBox 56"/>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a:t>
            </a:r>
          </a:p>
        </p:txBody>
      </p:sp>
      <p:sp>
        <p:nvSpPr>
          <p:cNvPr id="59" name="TextBox 58"/>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76</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NVDA</a:t>
            </a:r>
          </a:p>
        </p:txBody>
      </p:sp>
      <p:sp>
        <p:nvSpPr>
          <p:cNvPr id="62" name="TextBox 61"/>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63" name="TextBox 62"/>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a:t>
            </a:r>
          </a:p>
        </p:txBody>
      </p:sp>
      <p:sp>
        <p:nvSpPr>
          <p:cNvPr id="64" name="TextBox 63"/>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76</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+24.5% — momentum sectoriel positif</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UNP</a:t>
            </a:r>
          </a:p>
        </p:txBody>
      </p:sp>
      <p:sp>
        <p:nvSpPr>
          <p:cNvPr id="80" name="TextBox 79"/>
          <p:cNvSpPr txBox="1"/>
          <p:nvPr/>
        </p:nvSpPr>
        <p:spPr>
          <a:xfrm>
            <a:off x="6695999" y="1620000"/>
            <a:ext cx="540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a:t>
            </a:r>
          </a:p>
        </p:txBody>
      </p:sp>
      <p:sp>
        <p:nvSpPr>
          <p:cNvPr id="82" name="TextBox 81"/>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72</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RTX</a:t>
            </a:r>
          </a:p>
        </p:txBody>
      </p:sp>
      <p:sp>
        <p:nvSpPr>
          <p:cNvPr id="85" name="TextBox 84"/>
          <p:cNvSpPr txBox="1"/>
          <p:nvPr/>
        </p:nvSpPr>
        <p:spPr>
          <a:xfrm>
            <a:off x="6695999" y="1915200"/>
            <a:ext cx="540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a:t>
            </a:r>
          </a:p>
        </p:txBody>
      </p:sp>
      <p:sp>
        <p:nvSpPr>
          <p:cNvPr id="87" name="TextBox 86"/>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72</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576000" cy="198000"/>
          </a:xfrm>
          <a:prstGeom prst="rect">
            <a:avLst/>
          </a:prstGeom>
          <a:noFill/>
        </p:spPr>
        <p:txBody>
          <a:bodyPr wrap="square">
            <a:spAutoFit/>
          </a:bodyPr>
          <a:lstStyle/>
          <a:p>
            <a:pPr algn="l"/>
            <a:r>
              <a:rPr sz="800" b="1" i="0">
                <a:solidFill>
                  <a:srgbClr val="1B3A6B"/>
                </a:solidFill>
              </a:rPr>
              <a:t>HON</a:t>
            </a:r>
          </a:p>
        </p:txBody>
      </p:sp>
      <p:sp>
        <p:nvSpPr>
          <p:cNvPr id="90" name="TextBox 89"/>
          <p:cNvSpPr txBox="1"/>
          <p:nvPr/>
        </p:nvSpPr>
        <p:spPr>
          <a:xfrm>
            <a:off x="6695999" y="2210400"/>
            <a:ext cx="540000" cy="198000"/>
          </a:xfrm>
          <a:prstGeom prst="rect">
            <a:avLst/>
          </a:prstGeom>
          <a:noFill/>
        </p:spPr>
        <p:txBody>
          <a:bodyPr wrap="square">
            <a:spAutoFit/>
          </a:bodyPr>
          <a:lstStyle/>
          <a:p>
            <a:pPr algn="l"/>
            <a:r>
              <a:rPr sz="800" b="0" i="0">
                <a:solidFill>
                  <a:srgbClr val="1A7A4A"/>
                </a:solidFill>
              </a:rPr>
              <a:t>Surp.</a:t>
            </a:r>
          </a:p>
        </p:txBody>
      </p:sp>
      <p:sp>
        <p:nvSpPr>
          <p:cNvPr id="91" name="TextBox 90"/>
          <p:cNvSpPr txBox="1"/>
          <p:nvPr/>
        </p:nvSpPr>
        <p:spPr>
          <a:xfrm>
            <a:off x="7235999" y="2210400"/>
            <a:ext cx="540000" cy="198000"/>
          </a:xfrm>
          <a:prstGeom prst="rect">
            <a:avLst/>
          </a:prstGeom>
          <a:noFill/>
        </p:spPr>
        <p:txBody>
          <a:bodyPr wrap="square">
            <a:spAutoFit/>
          </a:bodyPr>
          <a:lstStyle/>
          <a:p>
            <a:pPr algn="l"/>
            <a:r>
              <a:rPr sz="800" b="0" i="0">
                <a:solidFill>
                  <a:srgbClr val="555555"/>
                </a:solidFill>
              </a:rPr>
              <a:t>—</a:t>
            </a:r>
          </a:p>
        </p:txBody>
      </p:sp>
      <p:sp>
        <p:nvSpPr>
          <p:cNvPr id="92" name="TextBox 91"/>
          <p:cNvSpPr txBox="1"/>
          <p:nvPr/>
        </p:nvSpPr>
        <p:spPr>
          <a:xfrm>
            <a:off x="7775999" y="2210400"/>
            <a:ext cx="540000" cy="198000"/>
          </a:xfrm>
          <a:prstGeom prst="rect">
            <a:avLst/>
          </a:prstGeom>
          <a:noFill/>
        </p:spPr>
        <p:txBody>
          <a:bodyPr wrap="square">
            <a:spAutoFit/>
          </a:bodyPr>
          <a:lstStyle/>
          <a:p>
            <a:pPr algn="l"/>
            <a:r>
              <a:rPr sz="800" b="0" i="0">
                <a:solidFill>
                  <a:srgbClr val="555555"/>
                </a:solidFill>
              </a:rPr>
              <a:t>72</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+23.0% — momentum sectoriel positif</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médian par secteur  ·  Vert = Surpondérer · Amber = Neutre · Rouge = Sous-pondérer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Technology traite a 18.0x — prime de 50 % vs la mediane sectorielle (12.0x). Cette prime est justifiee par une croissance BPA structurellement elevee.
Energy offre la valorisation la plus attractive (6.0x) mais le signal Surponderer reflète les risques specifiques au secteur.
Mediane sectorielle : 12.0x EV/EBITDA — seuil de reference pour evaluer la cherté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8496000" cy="2592000"/>
          </a:xfrm>
          <a:prstGeom prst="rect">
            <a:avLst/>
          </a:prstGeom>
        </p:spPr>
      </p:pic>
      <p:sp>
        <p:nvSpPr>
          <p:cNvPr id="16" name="Rectangle 15"/>
          <p:cNvSpPr/>
          <p:nvPr/>
        </p:nvSpPr>
        <p:spPr>
          <a:xfrm>
            <a:off x="324000" y="3564000"/>
            <a:ext cx="8496000" cy="124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64000"/>
            <a:ext cx="43200" cy="124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618000"/>
            <a:ext cx="8208000" cy="216000"/>
          </a:xfrm>
          <a:prstGeom prst="rect">
            <a:avLst/>
          </a:prstGeom>
          <a:noFill/>
        </p:spPr>
        <p:txBody>
          <a:bodyPr wrap="square">
            <a:spAutoFit/>
          </a:bodyPr>
          <a:lstStyle/>
          <a:p>
            <a:pPr algn="l"/>
            <a:r>
              <a:rPr sz="800" b="1" i="0">
                <a:solidFill>
                  <a:srgbClr val="1B3A6B"/>
                </a:solidFill>
              </a:rPr>
              <a:t>Lecture — Secteurs en zone d'entrée optimale</a:t>
            </a:r>
          </a:p>
        </p:txBody>
      </p:sp>
      <p:sp>
        <p:nvSpPr>
          <p:cNvPr id="19" name="TextBox 18"/>
          <p:cNvSpPr txBox="1"/>
          <p:nvPr/>
        </p:nvSpPr>
        <p:spPr>
          <a:xfrm>
            <a:off x="432000" y="3852000"/>
            <a:ext cx="8208000" cy="918000"/>
          </a:xfrm>
          <a:prstGeom prst="rect">
            <a:avLst/>
          </a:prstGeom>
          <a:noFill/>
        </p:spPr>
        <p:txBody>
          <a:bodyPr wrap="square">
            <a:spAutoFit/>
          </a:bodyPr>
          <a:lstStyle/>
          <a:p>
            <a:pPr algn="l"/>
            <a:r>
              <a:rPr sz="750" b="0" i="0">
                <a:solidFill>
                  <a:srgbClr val="555555"/>
                </a:solidFill>
              </a:rPr>
              <a:t>Aucun secteur Surpondérer offrent les meilleures zones d'entrée parmi les secteurs recommandés : P/E Forward inférieur ou proche de la médiane historique 10 ans — profil risque/rendement favorable. Les secteurs au-dessus de la médiane (+20 %) méritent une prudence accrue sur le point d'entrée.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11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0.060</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SPDR sectoriels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+60.4 %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+24.5 %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+23.0 %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XLU  —  Utilities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+18.9 %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XLB  —  Materials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+18.9 %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+13.5 %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XLY  —  Consumer Discretio</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+8.0 %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+3.8 %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XLE (Energy) domine avec +60.4 % — confirmation du signal Surpondérer soutenu par la monétisation IA. XLF (Financials) sous-performe (-0.4 %)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