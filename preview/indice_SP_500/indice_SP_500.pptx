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80000"/>
            <a:ext cx="4320000" cy="288000"/>
          </a:xfrm>
          <a:prstGeom prst="rect">
            <a:avLst/>
          </a:prstGeom>
          <a:noFill/>
        </p:spPr>
        <p:txBody>
          <a:bodyPr wrap="square">
            <a:spAutoFit/>
          </a:bodyPr>
          <a:lstStyle/>
          <a:p>
            <a:pPr algn="l"/>
            <a:r>
              <a:rPr sz="1100" b="0" i="0">
                <a:solidFill>
                  <a:srgbClr val="AAAAAA"/>
                </a:solidFill>
              </a:rPr>
              <a:t>FinSight IA</a:t>
            </a:r>
          </a:p>
        </p:txBody>
      </p:sp>
      <p:sp>
        <p:nvSpPr>
          <p:cNvPr id="4" name="TextBox 3"/>
          <p:cNvSpPr txBox="1"/>
          <p:nvPr/>
        </p:nvSpPr>
        <p:spPr>
          <a:xfrm>
            <a:off x="360000" y="468000"/>
            <a:ext cx="6480000" cy="251999"/>
          </a:xfrm>
          <a:prstGeom prst="rect">
            <a:avLst/>
          </a:prstGeom>
          <a:noFill/>
        </p:spPr>
        <p:txBody>
          <a:bodyPr wrap="square">
            <a:spAutoFit/>
          </a:bodyPr>
          <a:lstStyle/>
          <a:p>
            <a:pPr algn="l"/>
            <a:r>
              <a:rPr sz="900" b="0" i="0">
                <a:solidFill>
                  <a:srgbClr val="2A5298"/>
                </a:solidFill>
              </a:rPr>
              <a:t>Pitchbook  ·  Analyse d'Indice</a:t>
            </a:r>
          </a:p>
        </p:txBody>
      </p:sp>
      <p:sp>
        <p:nvSpPr>
          <p:cNvPr id="5" name="TextBox 4"/>
          <p:cNvSpPr txBox="1"/>
          <p:nvPr/>
        </p:nvSpPr>
        <p:spPr>
          <a:xfrm>
            <a:off x="360000" y="1152000"/>
            <a:ext cx="8280000" cy="720000"/>
          </a:xfrm>
          <a:prstGeom prst="rect">
            <a:avLst/>
          </a:prstGeom>
          <a:noFill/>
        </p:spPr>
        <p:txBody>
          <a:bodyPr wrap="square">
            <a:spAutoFit/>
          </a:bodyPr>
          <a:lstStyle/>
          <a:p>
            <a:pPr algn="l"/>
            <a:r>
              <a:rPr sz="3600" b="1" i="0">
                <a:solidFill>
                  <a:srgbClr val="FFFFFF"/>
                </a:solidFill>
              </a:rPr>
              <a:t>S&amp;P 500</a:t>
            </a:r>
          </a:p>
        </p:txBody>
      </p:sp>
      <p:sp>
        <p:nvSpPr>
          <p:cNvPr id="6" name="Rectangle 5"/>
          <p:cNvSpPr/>
          <p:nvPr/>
        </p:nvSpPr>
        <p:spPr>
          <a:xfrm>
            <a:off x="360000" y="1980000"/>
            <a:ext cx="2880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8000" y="2034000"/>
            <a:ext cx="2664000" cy="288000"/>
          </a:xfrm>
          <a:prstGeom prst="rect">
            <a:avLst/>
          </a:prstGeom>
          <a:noFill/>
        </p:spPr>
        <p:txBody>
          <a:bodyPr wrap="square">
            <a:spAutoFit/>
          </a:bodyPr>
          <a:lstStyle/>
          <a:p>
            <a:pPr algn="l"/>
            <a:r>
              <a:rPr sz="1100" b="1" i="0">
                <a:solidFill>
                  <a:srgbClr val="FFFFFF"/>
                </a:solidFill>
              </a:rPr>
              <a:t>SURPONDÉRER  ·  Conviction 55 %</a:t>
            </a:r>
          </a:p>
        </p:txBody>
      </p:sp>
      <p:sp>
        <p:nvSpPr>
          <p:cNvPr id="8" name="TextBox 7"/>
          <p:cNvSpPr txBox="1"/>
          <p:nvPr/>
        </p:nvSpPr>
        <p:spPr>
          <a:xfrm>
            <a:off x="360000" y="2448000"/>
            <a:ext cx="7920000" cy="216000"/>
          </a:xfrm>
          <a:prstGeom prst="rect">
            <a:avLst/>
          </a:prstGeom>
          <a:noFill/>
        </p:spPr>
        <p:txBody>
          <a:bodyPr wrap="square">
            <a:spAutoFit/>
          </a:bodyPr>
          <a:lstStyle/>
          <a:p>
            <a:pPr algn="l"/>
            <a:r>
              <a:rPr sz="900" b="0" i="0">
                <a:solidFill>
                  <a:srgbClr val="AAAAAA"/>
                </a:solidFill>
              </a:rPr>
              <a:t>^GSPC  ·  11 secteurs analysés  ·  503 sociétés couvertes</a:t>
            </a:r>
          </a:p>
        </p:txBody>
      </p:sp>
      <p:sp>
        <p:nvSpPr>
          <p:cNvPr id="9" name="Rectangle 8"/>
          <p:cNvSpPr/>
          <p:nvPr/>
        </p:nvSpPr>
        <p:spPr>
          <a:xfrm>
            <a:off x="360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000" y="2988000"/>
            <a:ext cx="1728000" cy="180000"/>
          </a:xfrm>
          <a:prstGeom prst="rect">
            <a:avLst/>
          </a:prstGeom>
          <a:noFill/>
        </p:spPr>
        <p:txBody>
          <a:bodyPr wrap="square">
            <a:spAutoFit/>
          </a:bodyPr>
          <a:lstStyle/>
          <a:p>
            <a:pPr algn="l"/>
            <a:r>
              <a:rPr sz="750" b="0" i="0">
                <a:solidFill>
                  <a:srgbClr val="AAAAAA"/>
                </a:solidFill>
              </a:rPr>
              <a:t>Cours</a:t>
            </a:r>
          </a:p>
        </p:txBody>
      </p:sp>
      <p:sp>
        <p:nvSpPr>
          <p:cNvPr id="11" name="TextBox 10"/>
          <p:cNvSpPr txBox="1"/>
          <p:nvPr/>
        </p:nvSpPr>
        <p:spPr>
          <a:xfrm>
            <a:off x="432000" y="3150000"/>
            <a:ext cx="1728000" cy="288000"/>
          </a:xfrm>
          <a:prstGeom prst="rect">
            <a:avLst/>
          </a:prstGeom>
          <a:noFill/>
        </p:spPr>
        <p:txBody>
          <a:bodyPr wrap="square">
            <a:spAutoFit/>
          </a:bodyPr>
          <a:lstStyle/>
          <a:p>
            <a:pPr algn="l"/>
            <a:r>
              <a:rPr sz="1400" b="1" i="0">
                <a:solidFill>
                  <a:srgbClr val="FFFFFF"/>
                </a:solidFill>
              </a:rPr>
              <a:t>6 369</a:t>
            </a:r>
          </a:p>
        </p:txBody>
      </p:sp>
      <p:sp>
        <p:nvSpPr>
          <p:cNvPr id="12" name="Rectangle 11"/>
          <p:cNvSpPr/>
          <p:nvPr/>
        </p:nvSpPr>
        <p:spPr>
          <a:xfrm>
            <a:off x="2448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20000" y="2988000"/>
            <a:ext cx="1728000" cy="180000"/>
          </a:xfrm>
          <a:prstGeom prst="rect">
            <a:avLst/>
          </a:prstGeom>
          <a:noFill/>
        </p:spPr>
        <p:txBody>
          <a:bodyPr wrap="square">
            <a:spAutoFit/>
          </a:bodyPr>
          <a:lstStyle/>
          <a:p>
            <a:pPr algn="l"/>
            <a:r>
              <a:rPr sz="750" b="0" i="0">
                <a:solidFill>
                  <a:srgbClr val="AAAAAA"/>
                </a:solidFill>
              </a:rPr>
              <a:t>YTD</a:t>
            </a:r>
          </a:p>
        </p:txBody>
      </p:sp>
      <p:sp>
        <p:nvSpPr>
          <p:cNvPr id="14" name="TextBox 13"/>
          <p:cNvSpPr txBox="1"/>
          <p:nvPr/>
        </p:nvSpPr>
        <p:spPr>
          <a:xfrm>
            <a:off x="2520000" y="3150000"/>
            <a:ext cx="1728000" cy="288000"/>
          </a:xfrm>
          <a:prstGeom prst="rect">
            <a:avLst/>
          </a:prstGeom>
          <a:noFill/>
        </p:spPr>
        <p:txBody>
          <a:bodyPr wrap="square">
            <a:spAutoFit/>
          </a:bodyPr>
          <a:lstStyle/>
          <a:p>
            <a:pPr algn="l"/>
            <a:r>
              <a:rPr sz="1400" b="1" i="0">
                <a:solidFill>
                  <a:srgbClr val="FFFFFF"/>
                </a:solidFill>
              </a:rPr>
              <a:t>-7.1%</a:t>
            </a:r>
          </a:p>
        </p:txBody>
      </p:sp>
      <p:sp>
        <p:nvSpPr>
          <p:cNvPr id="15" name="Rectangle 14"/>
          <p:cNvSpPr/>
          <p:nvPr/>
        </p:nvSpPr>
        <p:spPr>
          <a:xfrm>
            <a:off x="4536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000" y="2988000"/>
            <a:ext cx="1728000" cy="180000"/>
          </a:xfrm>
          <a:prstGeom prst="rect">
            <a:avLst/>
          </a:prstGeom>
          <a:noFill/>
        </p:spPr>
        <p:txBody>
          <a:bodyPr wrap="square">
            <a:spAutoFit/>
          </a:bodyPr>
          <a:lstStyle/>
          <a:p>
            <a:pPr algn="l"/>
            <a:r>
              <a:rPr sz="750" b="0" i="0">
                <a:solidFill>
                  <a:srgbClr val="AAAAAA"/>
                </a:solidFill>
              </a:rPr>
              <a:t>P/E Fwd</a:t>
            </a:r>
          </a:p>
        </p:txBody>
      </p:sp>
      <p:sp>
        <p:nvSpPr>
          <p:cNvPr id="17" name="TextBox 16"/>
          <p:cNvSpPr txBox="1"/>
          <p:nvPr/>
        </p:nvSpPr>
        <p:spPr>
          <a:xfrm>
            <a:off x="4608000" y="3150000"/>
            <a:ext cx="1728000" cy="288000"/>
          </a:xfrm>
          <a:prstGeom prst="rect">
            <a:avLst/>
          </a:prstGeom>
          <a:noFill/>
        </p:spPr>
        <p:txBody>
          <a:bodyPr wrap="square">
            <a:spAutoFit/>
          </a:bodyPr>
          <a:lstStyle/>
          <a:p>
            <a:pPr algn="l"/>
            <a:r>
              <a:rPr sz="1400" b="1" i="0">
                <a:solidFill>
                  <a:srgbClr val="FFFFFF"/>
                </a:solidFill>
              </a:rPr>
              <a:t>—</a:t>
            </a:r>
          </a:p>
        </p:txBody>
      </p:sp>
      <p:sp>
        <p:nvSpPr>
          <p:cNvPr id="18" name="Rectangle 17"/>
          <p:cNvSpPr/>
          <p:nvPr/>
        </p:nvSpPr>
        <p:spPr>
          <a:xfrm>
            <a:off x="6623999"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95999" y="2988000"/>
            <a:ext cx="1728000" cy="180000"/>
          </a:xfrm>
          <a:prstGeom prst="rect">
            <a:avLst/>
          </a:prstGeom>
          <a:noFill/>
        </p:spPr>
        <p:txBody>
          <a:bodyPr wrap="square">
            <a:spAutoFit/>
          </a:bodyPr>
          <a:lstStyle/>
          <a:p>
            <a:pPr algn="l"/>
            <a:r>
              <a:rPr sz="750" b="0" i="0">
                <a:solidFill>
                  <a:srgbClr val="AAAAAA"/>
                </a:solidFill>
              </a:rPr>
              <a:t>BPA Growth</a:t>
            </a:r>
          </a:p>
        </p:txBody>
      </p:sp>
      <p:sp>
        <p:nvSpPr>
          <p:cNvPr id="20" name="TextBox 19"/>
          <p:cNvSpPr txBox="1"/>
          <p:nvPr/>
        </p:nvSpPr>
        <p:spPr>
          <a:xfrm>
            <a:off x="6695999" y="3150000"/>
            <a:ext cx="1728000" cy="288000"/>
          </a:xfrm>
          <a:prstGeom prst="rect">
            <a:avLst/>
          </a:prstGeom>
          <a:noFill/>
        </p:spPr>
        <p:txBody>
          <a:bodyPr wrap="square">
            <a:spAutoFit/>
          </a:bodyPr>
          <a:lstStyle/>
          <a:p>
            <a:pPr algn="l"/>
            <a:r>
              <a:rPr sz="1400" b="1" i="0">
                <a:solidFill>
                  <a:srgbClr val="FFFFFF"/>
                </a:solidFill>
              </a:rPr>
              <a:t>+8.5%</a:t>
            </a:r>
          </a:p>
        </p:txBody>
      </p:sp>
      <p:sp>
        <p:nvSpPr>
          <p:cNvPr id="21" name="TextBox 20"/>
          <p:cNvSpPr txBox="1"/>
          <p:nvPr/>
        </p:nvSpPr>
        <p:spPr>
          <a:xfrm>
            <a:off x="360000" y="4320000"/>
            <a:ext cx="5040000" cy="216000"/>
          </a:xfrm>
          <a:prstGeom prst="rect">
            <a:avLst/>
          </a:prstGeom>
          <a:noFill/>
        </p:spPr>
        <p:txBody>
          <a:bodyPr wrap="square">
            <a:spAutoFit/>
          </a:bodyPr>
          <a:lstStyle/>
          <a:p>
            <a:pPr algn="l"/>
            <a:r>
              <a:rPr sz="900" b="0" i="0">
                <a:solidFill>
                  <a:srgbClr val="AAAAAA"/>
                </a:solidFill>
              </a:rPr>
              <a:t>29 mars 2026</a:t>
            </a:r>
          </a:p>
        </p:txBody>
      </p:sp>
      <p:sp>
        <p:nvSpPr>
          <p:cNvPr id="22" name="TextBox 21"/>
          <p:cNvSpPr txBox="1"/>
          <p:nvPr/>
        </p:nvSpPr>
        <p:spPr>
          <a:xfrm>
            <a:off x="5400000" y="4320000"/>
            <a:ext cx="3240000" cy="216000"/>
          </a:xfrm>
          <a:prstGeom prst="rect">
            <a:avLst/>
          </a:prstGeom>
          <a:noFill/>
        </p:spPr>
        <p:txBody>
          <a:bodyPr wrap="square">
            <a:spAutoFit/>
          </a:bodyPr>
          <a:lstStyle/>
          <a:p>
            <a:pPr algn="r"/>
            <a:r>
              <a:rPr sz="900" b="0" i="0">
                <a:solidFill>
                  <a:srgbClr val="AAAAAA"/>
                </a:solidFill>
              </a:rPr>
              <a:t>Rapport confidentiel</a:t>
            </a:r>
          </a:p>
        </p:txBody>
      </p:sp>
      <p:sp>
        <p:nvSpPr>
          <p:cNvPr id="23" name="TextBox 22"/>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11 secteurs  ·  503 sociétés  ·  Horizon 12 mois</a:t>
            </a:r>
          </a:p>
        </p:txBody>
      </p:sp>
      <p:sp>
        <p:nvSpPr>
          <p:cNvPr id="15" name="Rectangle 14"/>
          <p:cNvSpPr/>
          <p:nvPr/>
        </p:nvSpPr>
        <p:spPr>
          <a:xfrm>
            <a:off x="324000" y="720000"/>
            <a:ext cx="1728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756000"/>
            <a:ext cx="1584000" cy="216000"/>
          </a:xfrm>
          <a:prstGeom prst="rect">
            <a:avLst/>
          </a:prstGeom>
          <a:noFill/>
        </p:spPr>
        <p:txBody>
          <a:bodyPr wrap="square">
            <a:spAutoFit/>
          </a:bodyPr>
          <a:lstStyle/>
          <a:p>
            <a:pPr algn="l"/>
            <a:r>
              <a:rPr sz="1000" b="1" i="0">
                <a:solidFill>
                  <a:srgbClr val="FFFFFF"/>
                </a:solidFill>
              </a:rPr>
              <a:t>SURPONDÉRER</a:t>
            </a:r>
          </a:p>
        </p:txBody>
      </p:sp>
      <p:sp>
        <p:nvSpPr>
          <p:cNvPr id="17" name="TextBox 16"/>
          <p:cNvSpPr txBox="1"/>
          <p:nvPr/>
        </p:nvSpPr>
        <p:spPr>
          <a:xfrm>
            <a:off x="324000" y="1062000"/>
            <a:ext cx="8496000" cy="198000"/>
          </a:xfrm>
          <a:prstGeom prst="rect">
            <a:avLst/>
          </a:prstGeom>
          <a:noFill/>
        </p:spPr>
        <p:txBody>
          <a:bodyPr wrap="square">
            <a:spAutoFit/>
          </a:bodyPr>
          <a:lstStyle/>
          <a:p>
            <a:pPr algn="l"/>
            <a:r>
              <a:rPr sz="800" b="0" i="0">
                <a:solidFill>
                  <a:srgbClr val="555555"/>
                </a:solidFill>
              </a:rPr>
              <a:t>Cours : 6 369  ·  YTD : -7.1%  ·  P/E Forward : —  ·  Croissance BPA : +8.5%  ·  Conviction 55 %</a:t>
            </a:r>
          </a:p>
        </p:txBody>
      </p:sp>
      <p:sp>
        <p:nvSpPr>
          <p:cNvPr id="18" name="Rectangle 17"/>
          <p:cNvSpPr/>
          <p:nvPr/>
        </p:nvSpPr>
        <p:spPr>
          <a:xfrm>
            <a:off x="324000" y="1332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000" y="1350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0" name="Rectangle 19"/>
          <p:cNvSpPr/>
          <p:nvPr/>
        </p:nvSpPr>
        <p:spPr>
          <a:xfrm>
            <a:off x="324000" y="1565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3999" y="1565999"/>
            <a:ext cx="8028000" cy="162000"/>
          </a:xfrm>
          <a:prstGeom prst="rect">
            <a:avLst/>
          </a:prstGeom>
          <a:noFill/>
        </p:spPr>
        <p:txBody>
          <a:bodyPr wrap="square">
            <a:spAutoFit/>
          </a:bodyPr>
          <a:lstStyle/>
          <a:p>
            <a:pPr algn="l"/>
            <a:r>
              <a:rPr sz="800" b="1" i="0">
                <a:solidFill>
                  <a:srgbClr val="1B3A6B"/>
                </a:solidFill>
              </a:rPr>
              <a:t>Cycle IA</a:t>
            </a:r>
          </a:p>
        </p:txBody>
      </p:sp>
      <p:sp>
        <p:nvSpPr>
          <p:cNvPr id="22" name="TextBox 21"/>
          <p:cNvSpPr txBox="1"/>
          <p:nvPr/>
        </p:nvSpPr>
        <p:spPr>
          <a:xfrm>
            <a:off x="413999" y="1728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23" name="Rectangle 22"/>
          <p:cNvSpPr/>
          <p:nvPr/>
        </p:nvSpPr>
        <p:spPr>
          <a:xfrm>
            <a:off x="324000" y="1943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3999" y="1943999"/>
            <a:ext cx="8028000" cy="162000"/>
          </a:xfrm>
          <a:prstGeom prst="rect">
            <a:avLst/>
          </a:prstGeom>
          <a:noFill/>
        </p:spPr>
        <p:txBody>
          <a:bodyPr wrap="square">
            <a:spAutoFit/>
          </a:bodyPr>
          <a:lstStyle/>
          <a:p>
            <a:pPr algn="l"/>
            <a:r>
              <a:rPr sz="800" b="1" i="0">
                <a:solidFill>
                  <a:srgbClr val="1B3A6B"/>
                </a:solidFill>
              </a:rPr>
              <a:t>Desinflation</a:t>
            </a:r>
          </a:p>
        </p:txBody>
      </p:sp>
      <p:sp>
        <p:nvSpPr>
          <p:cNvPr id="25" name="TextBox 24"/>
          <p:cNvSpPr txBox="1"/>
          <p:nvPr/>
        </p:nvSpPr>
        <p:spPr>
          <a:xfrm>
            <a:off x="413999" y="2106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26" name="Rectangle 25"/>
          <p:cNvSpPr/>
          <p:nvPr/>
        </p:nvSpPr>
        <p:spPr>
          <a:xfrm>
            <a:off x="324000" y="232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3999" y="232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28" name="TextBox 27"/>
          <p:cNvSpPr txBox="1"/>
          <p:nvPr/>
        </p:nvSpPr>
        <p:spPr>
          <a:xfrm>
            <a:off x="413999" y="248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29" name="Rectangle 28"/>
          <p:cNvSpPr/>
          <p:nvPr/>
        </p:nvSpPr>
        <p:spPr>
          <a:xfrm>
            <a:off x="324000" y="2808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4000" y="2808000"/>
            <a:ext cx="43200" cy="19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2000" y="2844000"/>
            <a:ext cx="8208000" cy="198000"/>
          </a:xfrm>
          <a:prstGeom prst="rect">
            <a:avLst/>
          </a:prstGeom>
          <a:noFill/>
        </p:spPr>
        <p:txBody>
          <a:bodyPr wrap="square">
            <a:spAutoFit/>
          </a:bodyPr>
          <a:lstStyle/>
          <a:p>
            <a:pPr algn="l"/>
            <a:r>
              <a:rPr sz="800" b="1" i="0">
                <a:solidFill>
                  <a:srgbClr val="1B3A6B"/>
                </a:solidFill>
              </a:rPr>
              <a:t>SYNTHÈSE DU SIGNAL</a:t>
            </a:r>
          </a:p>
        </p:txBody>
      </p:sp>
      <p:sp>
        <p:nvSpPr>
          <p:cNvPr id="32" name="TextBox 31"/>
          <p:cNvSpPr txBox="1"/>
          <p:nvPr/>
        </p:nvSpPr>
        <p:spPr>
          <a:xfrm>
            <a:off x="432000" y="3060000"/>
            <a:ext cx="8208000" cy="1620000"/>
          </a:xfrm>
          <a:prstGeom prst="rect">
            <a:avLst/>
          </a:prstGeom>
          <a:noFill/>
        </p:spPr>
        <p:txBody>
          <a:bodyPr wrap="square">
            <a:spAutoFit/>
          </a:bodyPr>
          <a:lstStyle/>
          <a:p>
            <a:pPr algn="l"/>
            <a:r>
              <a:rPr sz="800" b="0" i="0">
                <a:solidFill>
                  <a:srgbClr val="555555"/>
                </a:solidFill>
              </a:rPr>
              <a:t>Le signal global sur le S&amp;P 500 est Surponderer avec une conviction de 55% (sur la base des 11 secteurs analyses). 6 secteur(s) ressortent Surponderer — Technology, Communication Services, Industrials — portes par leur momentum positif 52 semaines. 5 secteurs sont Neutre et 0 en Sous-ponderer.</a:t>
            </a:r>
          </a:p>
        </p:txBody>
      </p:sp>
      <p:sp>
        <p:nvSpPr>
          <p:cNvPr id="33" name="Rectangle 3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^GSPC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S&amp;P 500 regroupe les 503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6 369</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-7.1%</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503</a:t>
                      </a:r>
                    </a:p>
                  </a:txBody>
                  <a:tcPr>
                    <a:solidFill>
                      <a:srgbClr val="F5F7FA"/>
                    </a:solidFill>
                  </a:tcPr>
                </a:tc>
              </a:tr>
            </a:tbl>
          </a:graphicData>
        </a:graphic>
      </p:graphicFrame>
      <p:sp>
        <p:nvSpPr>
          <p:cNvPr id="18" name="Rectangle 1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80000"/>
            <a:ext cx="8496000" cy="19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80000"/>
            <a:ext cx="43200" cy="19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934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168000"/>
            <a:ext cx="8208000" cy="1601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90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28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 50 (49.8), courbe...</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503 sociétés  ·  Tri par score FinSight décroissant</a:t>
            </a:r>
          </a:p>
        </p:txBody>
      </p:sp>
      <p:graphicFrame>
        <p:nvGraphicFramePr>
          <p:cNvPr id="15" name="Table 14"/>
          <p:cNvGraphicFramePr>
            <a:graphicFrameLocks noGrp="1"/>
          </p:cNvGraphicFramePr>
          <p:nvPr/>
        </p:nvGraphicFramePr>
        <p:xfrm>
          <a:off x="324000" y="827999"/>
          <a:ext cx="8495994" cy="2700000"/>
        </p:xfrm>
        <a:graphic>
          <a:graphicData uri="http://schemas.openxmlformats.org/drawingml/2006/table">
            <a:tbl>
              <a:tblPr firstRow="1" bandRow="1">
                <a:tableStyleId>{5C22544A-7EE6-4342-B048-85BDC9FD1C3A}</a:tableStyleId>
              </a:tblPr>
              <a:tblGrid>
                <a:gridCol w="492521"/>
                <a:gridCol w="1846956"/>
                <a:gridCol w="615652"/>
                <a:gridCol w="1436521"/>
                <a:gridCol w="1026086"/>
                <a:gridCol w="1026086"/>
                <a:gridCol w="1026086"/>
                <a:gridCol w="1026086"/>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6.0x</a:t>
                      </a:r>
                    </a:p>
                  </a:txBody>
                  <a:tcPr>
                    <a:noFill/>
                  </a:tcPr>
                </a:tc>
                <a:tc>
                  <a:txBody>
                    <a:bodyPr/>
                    <a:lstStyle/>
                    <a:p>
                      <a:pPr algn="ctr"/>
                      <a:r>
                        <a:rPr sz="800" b="0">
                          <a:solidFill>
                            <a:srgbClr val="1A1A1A"/>
                          </a:solidFill>
                        </a:rPr>
                        <a:t>24.0%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+60.4%</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18.0x</a:t>
                      </a:r>
                    </a:p>
                  </a:txBody>
                  <a:tcPr>
                    <a:solidFill>
                      <a:srgbClr val="F5F7FA"/>
                    </a:solidFill>
                  </a:tcPr>
                </a:tc>
                <a:tc>
                  <a:txBody>
                    <a:bodyPr/>
                    <a:lstStyle/>
                    <a:p>
                      <a:pPr algn="ctr"/>
                      <a:r>
                        <a:rPr sz="800" b="0">
                          <a:solidFill>
                            <a:srgbClr val="1A1A1A"/>
                          </a:solidFill>
                        </a:rPr>
                        <a:t>27.0%</a:t>
                      </a:r>
                    </a:p>
                  </a:txBody>
                  <a:tcPr>
                    <a:solidFill>
                      <a:srgbClr val="F5F7FA"/>
                    </a:solidFill>
                  </a:tcPr>
                </a:tc>
                <a:tc>
                  <a:txBody>
                    <a:bodyPr/>
                    <a:lstStyle/>
                    <a:p>
                      <a:pPr algn="ctr"/>
                      <a:r>
                        <a:rPr sz="800" b="0">
                          <a:solidFill>
                            <a:srgbClr val="1A1A1A"/>
                          </a:solidFill>
                        </a:rPr>
                        <a:t>+13.0%</a:t>
                      </a:r>
                    </a:p>
                  </a:txBody>
                  <a:tcPr>
                    <a:solidFill>
                      <a:srgbClr val="F5F7FA"/>
                    </a:solidFill>
                  </a:tcPr>
                </a:tc>
                <a:tc>
                  <a:txBody>
                    <a:bodyPr/>
                    <a:lstStyle/>
                    <a:p>
                      <a:pPr algn="ctr"/>
                      <a:r>
                        <a:rPr sz="800" b="0">
                          <a:solidFill>
                            <a:srgbClr val="1A1A1A"/>
                          </a:solidFill>
                        </a:rPr>
                        <a:t>+24.5%</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13.0x</a:t>
                      </a:r>
                    </a:p>
                  </a:txBody>
                  <a:tcPr>
                    <a:noFill/>
                  </a:tcPr>
                </a:tc>
                <a:tc>
                  <a:txBody>
                    <a:bodyPr/>
                    <a:lstStyle/>
                    <a:p>
                      <a:pPr algn="ctr"/>
                      <a:r>
                        <a:rPr sz="800" b="0">
                          <a:solidFill>
                            <a:srgbClr val="1A1A1A"/>
                          </a:solidFill>
                        </a:rPr>
                        <a:t>14.0%</a:t>
                      </a:r>
                    </a:p>
                  </a:txBody>
                  <a:tcPr>
                    <a:noFill/>
                  </a:tcPr>
                </a:tc>
                <a:tc>
                  <a:txBody>
                    <a:bodyPr/>
                    <a:lstStyle/>
                    <a:p>
                      <a:pPr algn="ctr"/>
                      <a:r>
                        <a:rPr sz="800" b="0">
                          <a:solidFill>
                            <a:srgbClr val="1A1A1A"/>
                          </a:solidFill>
                        </a:rPr>
                        <a:t>+6.5%</a:t>
                      </a:r>
                    </a:p>
                  </a:txBody>
                  <a:tcPr>
                    <a:noFill/>
                  </a:tcPr>
                </a:tc>
                <a:tc>
                  <a:txBody>
                    <a:bodyPr/>
                    <a:lstStyle/>
                    <a:p>
                      <a:pPr algn="ctr"/>
                      <a:r>
                        <a:rPr sz="800" b="0">
                          <a:solidFill>
                            <a:srgbClr val="1A1A1A"/>
                          </a:solidFill>
                        </a:rPr>
                        <a:t>+23.0%</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73</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28.0%</a:t>
                      </a:r>
                    </a:p>
                  </a:txBody>
                  <a:tcPr>
                    <a:solidFill>
                      <a:srgbClr val="F5F7FA"/>
                    </a:solidFill>
                  </a:tcPr>
                </a:tc>
                <a:tc>
                  <a:txBody>
                    <a:bodyPr/>
                    <a:lstStyle/>
                    <a:p>
                      <a:pPr algn="ctr"/>
                      <a:r>
                        <a:rPr sz="800" b="0">
                          <a:solidFill>
                            <a:srgbClr val="1A1A1A"/>
                          </a:solidFill>
                        </a:rPr>
                        <a:t>+2.5%</a:t>
                      </a:r>
                    </a:p>
                  </a:txBody>
                  <a:tcPr>
                    <a:solidFill>
                      <a:srgbClr val="F5F7FA"/>
                    </a:solidFill>
                  </a:tcPr>
                </a:tc>
                <a:tc>
                  <a:txBody>
                    <a:bodyPr/>
                    <a:lstStyle/>
                    <a:p>
                      <a:pPr algn="ctr"/>
                      <a:r>
                        <a:rPr sz="800" b="0">
                          <a:solidFill>
                            <a:srgbClr val="1A1A1A"/>
                          </a:solidFill>
                        </a:rPr>
                        <a:t>+18.9%</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10.0x</a:t>
                      </a:r>
                    </a:p>
                  </a:txBody>
                  <a:tcPr>
                    <a:noFill/>
                  </a:tcPr>
                </a:tc>
                <a:tc>
                  <a:txBody>
                    <a:bodyPr/>
                    <a:lstStyle/>
                    <a:p>
                      <a:pPr algn="ctr"/>
                      <a:r>
                        <a:rPr sz="800" b="0">
                          <a:solidFill>
                            <a:srgbClr val="1A1A1A"/>
                          </a:solidFill>
                        </a:rPr>
                        <a:t>16.0%</a:t>
                      </a:r>
                    </a:p>
                  </a:txBody>
                  <a:tcPr>
                    <a:noFill/>
                  </a:tcPr>
                </a:tc>
                <a:tc>
                  <a:txBody>
                    <a:bodyPr/>
                    <a:lstStyle/>
                    <a:p>
                      <a:pPr algn="ctr"/>
                      <a:r>
                        <a:rPr sz="800" b="0">
                          <a:solidFill>
                            <a:srgbClr val="1A1A1A"/>
                          </a:solidFill>
                        </a:rPr>
                        <a:t>+4.0%</a:t>
                      </a:r>
                    </a:p>
                  </a:txBody>
                  <a:tcPr>
                    <a:noFill/>
                  </a:tcPr>
                </a:tc>
                <a:tc>
                  <a:txBody>
                    <a:bodyPr/>
                    <a:lstStyle/>
                    <a:p>
                      <a:pPr algn="ctr"/>
                      <a:r>
                        <a:rPr sz="800" b="0">
                          <a:solidFill>
                            <a:srgbClr val="1A1A1A"/>
                          </a:solidFill>
                        </a:rPr>
                        <a:t>+18.9%</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23.0%</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+13.5%</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11.0%</a:t>
                      </a:r>
                    </a:p>
                  </a:txBody>
                  <a:tcPr>
                    <a:noFill/>
                  </a:tcPr>
                </a:tc>
                <a:tc>
                  <a:txBody>
                    <a:bodyPr/>
                    <a:lstStyle/>
                    <a:p>
                      <a:pPr algn="ctr"/>
                      <a:r>
                        <a:rPr sz="800" b="0">
                          <a:solidFill>
                            <a:srgbClr val="1A1A1A"/>
                          </a:solidFill>
                        </a:rPr>
                        <a:t>+7.5%</a:t>
                      </a:r>
                    </a:p>
                  </a:txBody>
                  <a:tcPr>
                    <a:noFill/>
                  </a:tcPr>
                </a:tc>
                <a:tc>
                  <a:txBody>
                    <a:bodyPr/>
                    <a:lstStyle/>
                    <a:p>
                      <a:pPr algn="ctr"/>
                      <a:r>
                        <a:rPr sz="800" b="0">
                          <a:solidFill>
                            <a:srgbClr val="1A1A1A"/>
                          </a:solidFill>
                        </a:rPr>
                        <a:t>+8.0%</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14.0x</a:t>
                      </a:r>
                    </a:p>
                  </a:txBody>
                  <a:tcPr>
                    <a:solidFill>
                      <a:srgbClr val="F5F7FA"/>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+9.5%</a:t>
                      </a:r>
                    </a:p>
                  </a:txBody>
                  <a:tcPr>
                    <a:solidFill>
                      <a:srgbClr val="F5F7FA"/>
                    </a:solidFill>
                  </a:tcPr>
                </a:tc>
                <a:tc>
                  <a:txBody>
                    <a:bodyPr/>
                    <a:lstStyle/>
                    <a:p>
                      <a:pPr algn="ctr"/>
                      <a:r>
                        <a:rPr sz="800" b="0">
                          <a:solidFill>
                            <a:srgbClr val="1A1A1A"/>
                          </a:solidFill>
                        </a:rPr>
                        <a:t>+3.8%</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53</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17.0%</a:t>
                      </a:r>
                    </a:p>
                  </a:txBody>
                  <a:tcPr>
                    <a:noFill/>
                  </a:tcPr>
                </a:tc>
                <a:tc>
                  <a:txBody>
                    <a:bodyPr/>
                    <a:lstStyle/>
                    <a:p>
                      <a:pPr algn="ctr"/>
                      <a:r>
                        <a:rPr sz="800" b="0">
                          <a:solidFill>
                            <a:srgbClr val="1A1A1A"/>
                          </a:solidFill>
                        </a:rPr>
                        <a:t>+3.5%</a:t>
                      </a:r>
                    </a:p>
                  </a:txBody>
                  <a:tcPr>
                    <a:noFill/>
                  </a:tcPr>
                </a:tc>
                <a:tc>
                  <a:txBody>
                    <a:bodyPr/>
                    <a:lstStyle/>
                    <a:p>
                      <a:pPr algn="ctr"/>
                      <a:r>
                        <a:rPr sz="800" b="0">
                          <a:solidFill>
                            <a:srgbClr val="1A1A1A"/>
                          </a:solidFill>
                        </a:rPr>
                        <a:t>+2.7%</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50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9.0x</a:t>
                      </a:r>
                    </a:p>
                  </a:txBody>
                  <a:tcPr>
                    <a:solidFill>
                      <a:srgbClr val="F5F7FA"/>
                    </a:solidFill>
                  </a:tcPr>
                </a:tc>
                <a:tc>
                  <a:txBody>
                    <a:bodyPr/>
                    <a:lstStyle/>
                    <a:p>
                      <a:pPr algn="ctr"/>
                      <a:r>
                        <a:rPr sz="800" b="0">
                          <a:solidFill>
                            <a:srgbClr val="1A1A1A"/>
                          </a:solidFill>
                        </a:rPr>
                        <a:t>30.0%</a:t>
                      </a:r>
                    </a:p>
                  </a:txBody>
                  <a:tcPr>
                    <a:solidFill>
                      <a:srgbClr val="F5F7FA"/>
                    </a:solidFill>
                  </a:tcPr>
                </a:tc>
                <a:tc>
                  <a:txBody>
                    <a:bodyPr/>
                    <a:lstStyle/>
                    <a:p>
                      <a:pPr algn="ctr"/>
                      <a:r>
                        <a:rPr sz="800" b="0">
                          <a:solidFill>
                            <a:srgbClr val="1A1A1A"/>
                          </a:solidFill>
                        </a:rPr>
                        <a:t>+10.0%</a:t>
                      </a:r>
                    </a:p>
                  </a:txBody>
                  <a:tcPr>
                    <a:solidFill>
                      <a:srgbClr val="F5F7FA"/>
                    </a:solidFill>
                  </a:tcPr>
                </a:tc>
                <a:tc>
                  <a:txBody>
                    <a:bodyPr/>
                    <a:lstStyle/>
                    <a:p>
                      <a:pPr algn="ctr"/>
                      <a:r>
                        <a:rPr sz="800" b="0">
                          <a:solidFill>
                            <a:srgbClr val="1A1A1A"/>
                          </a:solidFill>
                        </a:rPr>
                        <a:t>-0.4%</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Real Estate</a:t>
                      </a:r>
                    </a:p>
                  </a:txBody>
                  <a:tcPr>
                    <a:noFill/>
                  </a:tcPr>
                </a:tc>
                <a:tc>
                  <a:txBody>
                    <a:bodyPr/>
                    <a:lstStyle/>
                    <a:p>
                      <a:pPr algn="ctr"/>
                      <a:r>
                        <a:rPr sz="800" b="0">
                          <a:solidFill>
                            <a:srgbClr val="1A1A1A"/>
                          </a:solidFill>
                        </a:rPr>
                        <a:t>50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17.0x</a:t>
                      </a:r>
                    </a:p>
                  </a:txBody>
                  <a:tcPr>
                    <a:noFill/>
                  </a:tcPr>
                </a:tc>
                <a:tc>
                  <a:txBody>
                    <a:bodyPr/>
                    <a:lstStyle/>
                    <a:p>
                      <a:pPr algn="ctr"/>
                      <a:r>
                        <a:rPr sz="800" b="0">
                          <a:solidFill>
                            <a:srgbClr val="1A1A1A"/>
                          </a:solidFill>
                        </a:rPr>
                        <a:t>42.0%</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+0.2%</a:t>
                      </a:r>
                    </a:p>
                  </a:txBody>
                  <a:tcPr>
                    <a:no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Seuls 6 secteur(s) sur 11 franchissent le seuil Surpondérer (score &gt; 65) : Energy · Technology · Industrials · Utilities · Materials · Communication Services. 0 secteur(s) en Sous-pondérer. La dispersion des scores illustre 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N/A en quadrant Premium Justifie — valorisation elevee supportee par forte croissance BPA.
Technology  ·  Industrials en zone Opportunite — croissance correcte a valorisation attractive.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E8F5EE"/>
                    </a:solidFill>
                  </a:tcPr>
                </a:tc>
                <a:tc>
                  <a:txBody>
                    <a:bodyPr/>
                    <a:lstStyle/>
                    <a:p>
                      <a:pPr algn="ctr"/>
                      <a:r>
                        <a:rPr sz="800" b="0">
                          <a:solidFill>
                            <a:srgbClr val="1A1A1A"/>
                          </a:solidFill>
                        </a:rPr>
                        <a:t>32</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solidFill>
                      <a:srgbClr val="E8F5EE"/>
                    </a:solidFill>
                  </a:tcPr>
                </a:tc>
                <a:tc>
                  <a:txBody>
                    <a:bodyPr/>
                    <a:lstStyle/>
                    <a:p>
                      <a:pPr algn="ctr"/>
                      <a:r>
                        <a:rPr sz="800" b="0">
                          <a:solidFill>
                            <a:srgbClr val="1A1A1A"/>
                          </a:solidFill>
                        </a:rPr>
                        <a:t>31</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E8F5EE"/>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solidFill>
                      <a:srgbClr val="FDF3E5"/>
                    </a:solidFill>
                  </a:tcPr>
                </a:tc>
                <a:tc>
                  <a:txBody>
                    <a:bodyPr/>
                    <a:lstStyle/>
                    <a:p>
                      <a:pPr algn="ctr"/>
                      <a:r>
                        <a:rPr sz="800" b="0">
                          <a:solidFill>
                            <a:srgbClr val="1A1A1A"/>
                          </a:solidFill>
                        </a:rPr>
                        <a:t>24</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no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Energy domine avec le score le plus élevé. Le momentum (34 pts) constitue le premier signal de confirmation. Les secteurs en vert sur les 3 dimensions offrent le meilleur profil composite. Croiser avec la valorisation relative pour identifier les meilleures opportunités d'entrée.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Distribution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Energy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576000" cy="198000"/>
          </a:xfrm>
          <a:prstGeom prst="rect">
            <a:avLst/>
          </a:prstGeom>
          <a:noFill/>
        </p:spPr>
        <p:txBody>
          <a:bodyPr wrap="square">
            <a:spAutoFit/>
          </a:bodyPr>
          <a:lstStyle/>
          <a:p>
            <a:pPr algn="l"/>
            <a:r>
              <a:rPr sz="800" b="1" i="0">
                <a:solidFill>
                  <a:srgbClr val="1B3A6B"/>
                </a:solidFill>
              </a:rPr>
              <a:t>XOM</a:t>
            </a:r>
          </a:p>
        </p:txBody>
      </p:sp>
      <p:sp>
        <p:nvSpPr>
          <p:cNvPr id="24" name="TextBox 23"/>
          <p:cNvSpPr txBox="1"/>
          <p:nvPr/>
        </p:nvSpPr>
        <p:spPr>
          <a:xfrm>
            <a:off x="1044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584000" y="1620000"/>
            <a:ext cx="540000" cy="198000"/>
          </a:xfrm>
          <a:prstGeom prst="rect">
            <a:avLst/>
          </a:prstGeom>
          <a:noFill/>
        </p:spPr>
        <p:txBody>
          <a:bodyPr wrap="square">
            <a:spAutoFit/>
          </a:bodyPr>
          <a:lstStyle/>
          <a:p>
            <a:pPr algn="l"/>
            <a:r>
              <a:rPr sz="800" b="0" i="0">
                <a:solidFill>
                  <a:srgbClr val="555555"/>
                </a:solidFill>
              </a:rPr>
              <a:t>—</a:t>
            </a:r>
          </a:p>
        </p:txBody>
      </p:sp>
      <p:sp>
        <p:nvSpPr>
          <p:cNvPr id="26" name="TextBox 25"/>
          <p:cNvSpPr txBox="1"/>
          <p:nvPr/>
        </p:nvSpPr>
        <p:spPr>
          <a:xfrm>
            <a:off x="2124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576000" cy="198000"/>
          </a:xfrm>
          <a:prstGeom prst="rect">
            <a:avLst/>
          </a:prstGeom>
          <a:noFill/>
        </p:spPr>
        <p:txBody>
          <a:bodyPr wrap="square">
            <a:spAutoFit/>
          </a:bodyPr>
          <a:lstStyle/>
          <a:p>
            <a:pPr algn="l"/>
            <a:r>
              <a:rPr sz="800" b="1" i="0">
                <a:solidFill>
                  <a:srgbClr val="1B3A6B"/>
                </a:solidFill>
              </a:rPr>
              <a:t>CVX</a:t>
            </a:r>
          </a:p>
        </p:txBody>
      </p:sp>
      <p:sp>
        <p:nvSpPr>
          <p:cNvPr id="29" name="TextBox 28"/>
          <p:cNvSpPr txBox="1"/>
          <p:nvPr/>
        </p:nvSpPr>
        <p:spPr>
          <a:xfrm>
            <a:off x="1044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584000" y="1915200"/>
            <a:ext cx="540000" cy="198000"/>
          </a:xfrm>
          <a:prstGeom prst="rect">
            <a:avLst/>
          </a:prstGeom>
          <a:noFill/>
        </p:spPr>
        <p:txBody>
          <a:bodyPr wrap="square">
            <a:spAutoFit/>
          </a:bodyPr>
          <a:lstStyle/>
          <a:p>
            <a:pPr algn="l"/>
            <a:r>
              <a:rPr sz="800" b="0" i="0">
                <a:solidFill>
                  <a:srgbClr val="555555"/>
                </a:solidFill>
              </a:rPr>
              <a:t>—</a:t>
            </a:r>
          </a:p>
        </p:txBody>
      </p:sp>
      <p:sp>
        <p:nvSpPr>
          <p:cNvPr id="31" name="TextBox 30"/>
          <p:cNvSpPr txBox="1"/>
          <p:nvPr/>
        </p:nvSpPr>
        <p:spPr>
          <a:xfrm>
            <a:off x="2124000" y="1915200"/>
            <a:ext cx="540000" cy="198000"/>
          </a:xfrm>
          <a:prstGeom prst="rect">
            <a:avLst/>
          </a:prstGeom>
          <a:noFill/>
        </p:spPr>
        <p:txBody>
          <a:bodyPr wrap="square">
            <a:spAutoFit/>
          </a:bodyPr>
          <a:lstStyle/>
          <a:p>
            <a:pPr algn="l"/>
            <a:r>
              <a:rPr sz="800" b="0" i="0">
                <a:solidFill>
                  <a:srgbClr val="555555"/>
                </a:solidFill>
              </a:rPr>
              <a:t>85</a:t>
            </a:r>
          </a:p>
        </p:txBody>
      </p:sp>
      <p:sp>
        <p:nvSpPr>
          <p:cNvPr id="32" name="Rectangle 31"/>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8000" y="2210400"/>
            <a:ext cx="576000" cy="198000"/>
          </a:xfrm>
          <a:prstGeom prst="rect">
            <a:avLst/>
          </a:prstGeom>
          <a:noFill/>
        </p:spPr>
        <p:txBody>
          <a:bodyPr wrap="square">
            <a:spAutoFit/>
          </a:bodyPr>
          <a:lstStyle/>
          <a:p>
            <a:pPr algn="l"/>
            <a:r>
              <a:rPr sz="800" b="1" i="0">
                <a:solidFill>
                  <a:srgbClr val="1B3A6B"/>
                </a:solidFill>
              </a:rPr>
              <a:t>COP</a:t>
            </a:r>
          </a:p>
        </p:txBody>
      </p:sp>
      <p:sp>
        <p:nvSpPr>
          <p:cNvPr id="34" name="TextBox 33"/>
          <p:cNvSpPr txBox="1"/>
          <p:nvPr/>
        </p:nvSpPr>
        <p:spPr>
          <a:xfrm>
            <a:off x="1044000" y="2210400"/>
            <a:ext cx="540000" cy="198000"/>
          </a:xfrm>
          <a:prstGeom prst="rect">
            <a:avLst/>
          </a:prstGeom>
          <a:noFill/>
        </p:spPr>
        <p:txBody>
          <a:bodyPr wrap="square">
            <a:spAutoFit/>
          </a:bodyPr>
          <a:lstStyle/>
          <a:p>
            <a:pPr algn="l"/>
            <a:r>
              <a:rPr sz="800" b="0" i="0">
                <a:solidFill>
                  <a:srgbClr val="1A7A4A"/>
                </a:solidFill>
              </a:rPr>
              <a:t>Surp.</a:t>
            </a:r>
          </a:p>
        </p:txBody>
      </p:sp>
      <p:sp>
        <p:nvSpPr>
          <p:cNvPr id="35" name="TextBox 34"/>
          <p:cNvSpPr txBox="1"/>
          <p:nvPr/>
        </p:nvSpPr>
        <p:spPr>
          <a:xfrm>
            <a:off x="1584000" y="2210400"/>
            <a:ext cx="540000" cy="198000"/>
          </a:xfrm>
          <a:prstGeom prst="rect">
            <a:avLst/>
          </a:prstGeom>
          <a:noFill/>
        </p:spPr>
        <p:txBody>
          <a:bodyPr wrap="square">
            <a:spAutoFit/>
          </a:bodyPr>
          <a:lstStyle/>
          <a:p>
            <a:pPr algn="l"/>
            <a:r>
              <a:rPr sz="800" b="0" i="0">
                <a:solidFill>
                  <a:srgbClr val="555555"/>
                </a:solidFill>
              </a:rPr>
              <a:t>—</a:t>
            </a:r>
          </a:p>
        </p:txBody>
      </p:sp>
      <p:sp>
        <p:nvSpPr>
          <p:cNvPr id="36" name="TextBox 35"/>
          <p:cNvSpPr txBox="1"/>
          <p:nvPr/>
        </p:nvSpPr>
        <p:spPr>
          <a:xfrm>
            <a:off x="2124000" y="2210400"/>
            <a:ext cx="540000" cy="198000"/>
          </a:xfrm>
          <a:prstGeom prst="rect">
            <a:avLst/>
          </a:prstGeom>
          <a:noFill/>
        </p:spPr>
        <p:txBody>
          <a:bodyPr wrap="square">
            <a:spAutoFit/>
          </a:bodyPr>
          <a:lstStyle/>
          <a:p>
            <a:pPr algn="l"/>
            <a:r>
              <a:rPr sz="800" b="0" i="0">
                <a:solidFill>
                  <a:srgbClr val="555555"/>
                </a:solidFill>
              </a:rPr>
              <a:t>85</a:t>
            </a:r>
          </a:p>
        </p:txBody>
      </p:sp>
      <p:sp>
        <p:nvSpPr>
          <p:cNvPr id="37" name="TextBox 3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8" name="Rectangle 3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YTD +60.4% — momentum sectoriel positif</a:t>
            </a:r>
          </a:p>
        </p:txBody>
      </p:sp>
      <p:sp>
        <p:nvSpPr>
          <p:cNvPr id="40" name="TextBox 3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1" name="Rectangle 4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43" name="Rectangle 4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46" name="Rectangle 4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8" name="TextBox 4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79/100  ·  EV/EBITDA : —</a:t>
            </a:r>
          </a:p>
        </p:txBody>
      </p:sp>
      <p:sp>
        <p:nvSpPr>
          <p:cNvPr id="49" name="TextBox 4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50" name="Rectangle 4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620000"/>
            <a:ext cx="576000" cy="198000"/>
          </a:xfrm>
          <a:prstGeom prst="rect">
            <a:avLst/>
          </a:prstGeom>
          <a:noFill/>
        </p:spPr>
        <p:txBody>
          <a:bodyPr wrap="square">
            <a:spAutoFit/>
          </a:bodyPr>
          <a:lstStyle/>
          <a:p>
            <a:pPr algn="l"/>
            <a:r>
              <a:rPr sz="800" b="1" i="0">
                <a:solidFill>
                  <a:srgbClr val="1B3A6B"/>
                </a:solidFill>
              </a:rPr>
              <a:t>AAPL</a:t>
            </a:r>
          </a:p>
        </p:txBody>
      </p:sp>
      <p:sp>
        <p:nvSpPr>
          <p:cNvPr id="52" name="TextBox 51"/>
          <p:cNvSpPr txBox="1"/>
          <p:nvPr/>
        </p:nvSpPr>
        <p:spPr>
          <a:xfrm>
            <a:off x="3870000" y="16200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410000" y="1620000"/>
            <a:ext cx="540000" cy="198000"/>
          </a:xfrm>
          <a:prstGeom prst="rect">
            <a:avLst/>
          </a:prstGeom>
          <a:noFill/>
        </p:spPr>
        <p:txBody>
          <a:bodyPr wrap="square">
            <a:spAutoFit/>
          </a:bodyPr>
          <a:lstStyle/>
          <a:p>
            <a:pPr algn="l"/>
            <a:r>
              <a:rPr sz="800" b="0" i="0">
                <a:solidFill>
                  <a:srgbClr val="555555"/>
                </a:solidFill>
              </a:rPr>
              <a:t>—</a:t>
            </a:r>
          </a:p>
        </p:txBody>
      </p:sp>
      <p:sp>
        <p:nvSpPr>
          <p:cNvPr id="54" name="TextBox 53"/>
          <p:cNvSpPr txBox="1"/>
          <p:nvPr/>
        </p:nvSpPr>
        <p:spPr>
          <a:xfrm>
            <a:off x="4950000" y="1620000"/>
            <a:ext cx="540000" cy="198000"/>
          </a:xfrm>
          <a:prstGeom prst="rect">
            <a:avLst/>
          </a:prstGeom>
          <a:noFill/>
        </p:spPr>
        <p:txBody>
          <a:bodyPr wrap="square">
            <a:spAutoFit/>
          </a:bodyPr>
          <a:lstStyle/>
          <a:p>
            <a:pPr algn="l"/>
            <a:r>
              <a:rPr sz="800" b="0" i="0">
                <a:solidFill>
                  <a:srgbClr val="555555"/>
                </a:solidFill>
              </a:rPr>
              <a:t>76</a:t>
            </a:r>
          </a:p>
        </p:txBody>
      </p:sp>
      <p:sp>
        <p:nvSpPr>
          <p:cNvPr id="55" name="Rectangle 54"/>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1915200"/>
            <a:ext cx="576000" cy="198000"/>
          </a:xfrm>
          <a:prstGeom prst="rect">
            <a:avLst/>
          </a:prstGeom>
          <a:noFill/>
        </p:spPr>
        <p:txBody>
          <a:bodyPr wrap="square">
            <a:spAutoFit/>
          </a:bodyPr>
          <a:lstStyle/>
          <a:p>
            <a:pPr algn="l"/>
            <a:r>
              <a:rPr sz="800" b="1" i="0">
                <a:solidFill>
                  <a:srgbClr val="1B3A6B"/>
                </a:solidFill>
              </a:rPr>
              <a:t>MSFT</a:t>
            </a:r>
          </a:p>
        </p:txBody>
      </p:sp>
      <p:sp>
        <p:nvSpPr>
          <p:cNvPr id="57" name="TextBox 56"/>
          <p:cNvSpPr txBox="1"/>
          <p:nvPr/>
        </p:nvSpPr>
        <p:spPr>
          <a:xfrm>
            <a:off x="3870000" y="19152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410000" y="1915200"/>
            <a:ext cx="540000" cy="198000"/>
          </a:xfrm>
          <a:prstGeom prst="rect">
            <a:avLst/>
          </a:prstGeom>
          <a:noFill/>
        </p:spPr>
        <p:txBody>
          <a:bodyPr wrap="square">
            <a:spAutoFit/>
          </a:bodyPr>
          <a:lstStyle/>
          <a:p>
            <a:pPr algn="l"/>
            <a:r>
              <a:rPr sz="800" b="0" i="0">
                <a:solidFill>
                  <a:srgbClr val="555555"/>
                </a:solidFill>
              </a:rPr>
              <a:t>—</a:t>
            </a:r>
          </a:p>
        </p:txBody>
      </p:sp>
      <p:sp>
        <p:nvSpPr>
          <p:cNvPr id="59" name="TextBox 58"/>
          <p:cNvSpPr txBox="1"/>
          <p:nvPr/>
        </p:nvSpPr>
        <p:spPr>
          <a:xfrm>
            <a:off x="4950000" y="1915200"/>
            <a:ext cx="540000" cy="198000"/>
          </a:xfrm>
          <a:prstGeom prst="rect">
            <a:avLst/>
          </a:prstGeom>
          <a:noFill/>
        </p:spPr>
        <p:txBody>
          <a:bodyPr wrap="square">
            <a:spAutoFit/>
          </a:bodyPr>
          <a:lstStyle/>
          <a:p>
            <a:pPr algn="l"/>
            <a:r>
              <a:rPr sz="800" b="0" i="0">
                <a:solidFill>
                  <a:srgbClr val="555555"/>
                </a:solidFill>
              </a:rPr>
              <a:t>76</a:t>
            </a:r>
          </a:p>
        </p:txBody>
      </p:sp>
      <p:sp>
        <p:nvSpPr>
          <p:cNvPr id="60" name="Rectangle 59"/>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210400"/>
            <a:ext cx="576000" cy="198000"/>
          </a:xfrm>
          <a:prstGeom prst="rect">
            <a:avLst/>
          </a:prstGeom>
          <a:noFill/>
        </p:spPr>
        <p:txBody>
          <a:bodyPr wrap="square">
            <a:spAutoFit/>
          </a:bodyPr>
          <a:lstStyle/>
          <a:p>
            <a:pPr algn="l"/>
            <a:r>
              <a:rPr sz="800" b="1" i="0">
                <a:solidFill>
                  <a:srgbClr val="1B3A6B"/>
                </a:solidFill>
              </a:rPr>
              <a:t>NVDA</a:t>
            </a:r>
          </a:p>
        </p:txBody>
      </p:sp>
      <p:sp>
        <p:nvSpPr>
          <p:cNvPr id="62" name="TextBox 61"/>
          <p:cNvSpPr txBox="1"/>
          <p:nvPr/>
        </p:nvSpPr>
        <p:spPr>
          <a:xfrm>
            <a:off x="3870000" y="2210400"/>
            <a:ext cx="540000" cy="198000"/>
          </a:xfrm>
          <a:prstGeom prst="rect">
            <a:avLst/>
          </a:prstGeom>
          <a:noFill/>
        </p:spPr>
        <p:txBody>
          <a:bodyPr wrap="square">
            <a:spAutoFit/>
          </a:bodyPr>
          <a:lstStyle/>
          <a:p>
            <a:pPr algn="l"/>
            <a:r>
              <a:rPr sz="800" b="0" i="0">
                <a:solidFill>
                  <a:srgbClr val="1A7A4A"/>
                </a:solidFill>
              </a:rPr>
              <a:t>Surp.</a:t>
            </a:r>
          </a:p>
        </p:txBody>
      </p:sp>
      <p:sp>
        <p:nvSpPr>
          <p:cNvPr id="63" name="TextBox 62"/>
          <p:cNvSpPr txBox="1"/>
          <p:nvPr/>
        </p:nvSpPr>
        <p:spPr>
          <a:xfrm>
            <a:off x="4410000" y="2210400"/>
            <a:ext cx="540000" cy="198000"/>
          </a:xfrm>
          <a:prstGeom prst="rect">
            <a:avLst/>
          </a:prstGeom>
          <a:noFill/>
        </p:spPr>
        <p:txBody>
          <a:bodyPr wrap="square">
            <a:spAutoFit/>
          </a:bodyPr>
          <a:lstStyle/>
          <a:p>
            <a:pPr algn="l"/>
            <a:r>
              <a:rPr sz="800" b="0" i="0">
                <a:solidFill>
                  <a:srgbClr val="555555"/>
                </a:solidFill>
              </a:rPr>
              <a:t>—</a:t>
            </a:r>
          </a:p>
        </p:txBody>
      </p:sp>
      <p:sp>
        <p:nvSpPr>
          <p:cNvPr id="64" name="TextBox 63"/>
          <p:cNvSpPr txBox="1"/>
          <p:nvPr/>
        </p:nvSpPr>
        <p:spPr>
          <a:xfrm>
            <a:off x="4950000" y="2210400"/>
            <a:ext cx="540000" cy="198000"/>
          </a:xfrm>
          <a:prstGeom prst="rect">
            <a:avLst/>
          </a:prstGeom>
          <a:noFill/>
        </p:spPr>
        <p:txBody>
          <a:bodyPr wrap="square">
            <a:spAutoFit/>
          </a:bodyPr>
          <a:lstStyle/>
          <a:p>
            <a:pPr algn="l"/>
            <a:r>
              <a:rPr sz="800" b="0" i="0">
                <a:solidFill>
                  <a:srgbClr val="555555"/>
                </a:solidFill>
              </a:rPr>
              <a:t>76</a:t>
            </a:r>
          </a:p>
        </p:txBody>
      </p:sp>
      <p:sp>
        <p:nvSpPr>
          <p:cNvPr id="65" name="TextBox 6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6" name="Rectangle 6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YTD +24.5% — momentum sectoriel positif</a:t>
            </a:r>
          </a:p>
        </p:txBody>
      </p:sp>
      <p:sp>
        <p:nvSpPr>
          <p:cNvPr id="68" name="TextBox 6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9" name="Rectangle 6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71" name="Rectangle 7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Industrials</a:t>
            </a:r>
          </a:p>
        </p:txBody>
      </p:sp>
      <p:sp>
        <p:nvSpPr>
          <p:cNvPr id="74" name="Rectangle 7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6" name="TextBox 7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78/100  ·  EV/EBITDA : —</a:t>
            </a:r>
          </a:p>
        </p:txBody>
      </p:sp>
      <p:sp>
        <p:nvSpPr>
          <p:cNvPr id="77" name="TextBox 7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78" name="Rectangle 7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620000"/>
            <a:ext cx="576000" cy="198000"/>
          </a:xfrm>
          <a:prstGeom prst="rect">
            <a:avLst/>
          </a:prstGeom>
          <a:noFill/>
        </p:spPr>
        <p:txBody>
          <a:bodyPr wrap="square">
            <a:spAutoFit/>
          </a:bodyPr>
          <a:lstStyle/>
          <a:p>
            <a:pPr algn="l"/>
            <a:r>
              <a:rPr sz="800" b="1" i="0">
                <a:solidFill>
                  <a:srgbClr val="1B3A6B"/>
                </a:solidFill>
              </a:rPr>
              <a:t>UNP</a:t>
            </a:r>
          </a:p>
        </p:txBody>
      </p:sp>
      <p:sp>
        <p:nvSpPr>
          <p:cNvPr id="80" name="TextBox 79"/>
          <p:cNvSpPr txBox="1"/>
          <p:nvPr/>
        </p:nvSpPr>
        <p:spPr>
          <a:xfrm>
            <a:off x="6695999" y="1620000"/>
            <a:ext cx="540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235999" y="1620000"/>
            <a:ext cx="540000" cy="198000"/>
          </a:xfrm>
          <a:prstGeom prst="rect">
            <a:avLst/>
          </a:prstGeom>
          <a:noFill/>
        </p:spPr>
        <p:txBody>
          <a:bodyPr wrap="square">
            <a:spAutoFit/>
          </a:bodyPr>
          <a:lstStyle/>
          <a:p>
            <a:pPr algn="l"/>
            <a:r>
              <a:rPr sz="800" b="0" i="0">
                <a:solidFill>
                  <a:srgbClr val="555555"/>
                </a:solidFill>
              </a:rPr>
              <a:t>—</a:t>
            </a:r>
          </a:p>
        </p:txBody>
      </p:sp>
      <p:sp>
        <p:nvSpPr>
          <p:cNvPr id="82" name="TextBox 81"/>
          <p:cNvSpPr txBox="1"/>
          <p:nvPr/>
        </p:nvSpPr>
        <p:spPr>
          <a:xfrm>
            <a:off x="7775999" y="1620000"/>
            <a:ext cx="540000" cy="198000"/>
          </a:xfrm>
          <a:prstGeom prst="rect">
            <a:avLst/>
          </a:prstGeom>
          <a:noFill/>
        </p:spPr>
        <p:txBody>
          <a:bodyPr wrap="square">
            <a:spAutoFit/>
          </a:bodyPr>
          <a:lstStyle/>
          <a:p>
            <a:pPr algn="l"/>
            <a:r>
              <a:rPr sz="800" b="0" i="0">
                <a:solidFill>
                  <a:srgbClr val="555555"/>
                </a:solidFill>
              </a:rPr>
              <a:t>72</a:t>
            </a:r>
          </a:p>
        </p:txBody>
      </p:sp>
      <p:sp>
        <p:nvSpPr>
          <p:cNvPr id="83" name="Rectangle 82"/>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1915200"/>
            <a:ext cx="576000" cy="198000"/>
          </a:xfrm>
          <a:prstGeom prst="rect">
            <a:avLst/>
          </a:prstGeom>
          <a:noFill/>
        </p:spPr>
        <p:txBody>
          <a:bodyPr wrap="square">
            <a:spAutoFit/>
          </a:bodyPr>
          <a:lstStyle/>
          <a:p>
            <a:pPr algn="l"/>
            <a:r>
              <a:rPr sz="800" b="1" i="0">
                <a:solidFill>
                  <a:srgbClr val="1B3A6B"/>
                </a:solidFill>
              </a:rPr>
              <a:t>RTX</a:t>
            </a:r>
          </a:p>
        </p:txBody>
      </p:sp>
      <p:sp>
        <p:nvSpPr>
          <p:cNvPr id="85" name="TextBox 84"/>
          <p:cNvSpPr txBox="1"/>
          <p:nvPr/>
        </p:nvSpPr>
        <p:spPr>
          <a:xfrm>
            <a:off x="6695999" y="1915200"/>
            <a:ext cx="540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235999" y="1915200"/>
            <a:ext cx="540000" cy="198000"/>
          </a:xfrm>
          <a:prstGeom prst="rect">
            <a:avLst/>
          </a:prstGeom>
          <a:noFill/>
        </p:spPr>
        <p:txBody>
          <a:bodyPr wrap="square">
            <a:spAutoFit/>
          </a:bodyPr>
          <a:lstStyle/>
          <a:p>
            <a:pPr algn="l"/>
            <a:r>
              <a:rPr sz="800" b="0" i="0">
                <a:solidFill>
                  <a:srgbClr val="555555"/>
                </a:solidFill>
              </a:rPr>
              <a:t>—</a:t>
            </a:r>
          </a:p>
        </p:txBody>
      </p:sp>
      <p:sp>
        <p:nvSpPr>
          <p:cNvPr id="87" name="TextBox 86"/>
          <p:cNvSpPr txBox="1"/>
          <p:nvPr/>
        </p:nvSpPr>
        <p:spPr>
          <a:xfrm>
            <a:off x="7775999" y="1915200"/>
            <a:ext cx="540000" cy="198000"/>
          </a:xfrm>
          <a:prstGeom prst="rect">
            <a:avLst/>
          </a:prstGeom>
          <a:noFill/>
        </p:spPr>
        <p:txBody>
          <a:bodyPr wrap="square">
            <a:spAutoFit/>
          </a:bodyPr>
          <a:lstStyle/>
          <a:p>
            <a:pPr algn="l"/>
            <a:r>
              <a:rPr sz="800" b="0" i="0">
                <a:solidFill>
                  <a:srgbClr val="555555"/>
                </a:solidFill>
              </a:rPr>
              <a:t>72</a:t>
            </a:r>
          </a:p>
        </p:txBody>
      </p:sp>
      <p:sp>
        <p:nvSpPr>
          <p:cNvPr id="88" name="Rectangle 87"/>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2210400"/>
            <a:ext cx="576000" cy="198000"/>
          </a:xfrm>
          <a:prstGeom prst="rect">
            <a:avLst/>
          </a:prstGeom>
          <a:noFill/>
        </p:spPr>
        <p:txBody>
          <a:bodyPr wrap="square">
            <a:spAutoFit/>
          </a:bodyPr>
          <a:lstStyle/>
          <a:p>
            <a:pPr algn="l"/>
            <a:r>
              <a:rPr sz="800" b="1" i="0">
                <a:solidFill>
                  <a:srgbClr val="1B3A6B"/>
                </a:solidFill>
              </a:rPr>
              <a:t>HON</a:t>
            </a:r>
          </a:p>
        </p:txBody>
      </p:sp>
      <p:sp>
        <p:nvSpPr>
          <p:cNvPr id="90" name="TextBox 89"/>
          <p:cNvSpPr txBox="1"/>
          <p:nvPr/>
        </p:nvSpPr>
        <p:spPr>
          <a:xfrm>
            <a:off x="6695999" y="2210400"/>
            <a:ext cx="540000" cy="198000"/>
          </a:xfrm>
          <a:prstGeom prst="rect">
            <a:avLst/>
          </a:prstGeom>
          <a:noFill/>
        </p:spPr>
        <p:txBody>
          <a:bodyPr wrap="square">
            <a:spAutoFit/>
          </a:bodyPr>
          <a:lstStyle/>
          <a:p>
            <a:pPr algn="l"/>
            <a:r>
              <a:rPr sz="800" b="0" i="0">
                <a:solidFill>
                  <a:srgbClr val="1A7A4A"/>
                </a:solidFill>
              </a:rPr>
              <a:t>Surp.</a:t>
            </a:r>
          </a:p>
        </p:txBody>
      </p:sp>
      <p:sp>
        <p:nvSpPr>
          <p:cNvPr id="91" name="TextBox 90"/>
          <p:cNvSpPr txBox="1"/>
          <p:nvPr/>
        </p:nvSpPr>
        <p:spPr>
          <a:xfrm>
            <a:off x="7235999" y="2210400"/>
            <a:ext cx="540000" cy="198000"/>
          </a:xfrm>
          <a:prstGeom prst="rect">
            <a:avLst/>
          </a:prstGeom>
          <a:noFill/>
        </p:spPr>
        <p:txBody>
          <a:bodyPr wrap="square">
            <a:spAutoFit/>
          </a:bodyPr>
          <a:lstStyle/>
          <a:p>
            <a:pPr algn="l"/>
            <a:r>
              <a:rPr sz="800" b="0" i="0">
                <a:solidFill>
                  <a:srgbClr val="555555"/>
                </a:solidFill>
              </a:rPr>
              <a:t>—</a:t>
            </a:r>
          </a:p>
        </p:txBody>
      </p:sp>
      <p:sp>
        <p:nvSpPr>
          <p:cNvPr id="92" name="TextBox 91"/>
          <p:cNvSpPr txBox="1"/>
          <p:nvPr/>
        </p:nvSpPr>
        <p:spPr>
          <a:xfrm>
            <a:off x="7775999" y="2210400"/>
            <a:ext cx="540000" cy="198000"/>
          </a:xfrm>
          <a:prstGeom prst="rect">
            <a:avLst/>
          </a:prstGeom>
          <a:noFill/>
        </p:spPr>
        <p:txBody>
          <a:bodyPr wrap="square">
            <a:spAutoFit/>
          </a:bodyPr>
          <a:lstStyle/>
          <a:p>
            <a:pPr algn="l"/>
            <a:r>
              <a:rPr sz="800" b="0" i="0">
                <a:solidFill>
                  <a:srgbClr val="555555"/>
                </a:solidFill>
              </a:rPr>
              <a:t>72</a:t>
            </a:r>
          </a:p>
        </p:txBody>
      </p:sp>
      <p:sp>
        <p:nvSpPr>
          <p:cNvPr id="93" name="TextBox 9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94" name="Rectangle 9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YTD +23.0% — momentum sectoriel positif</a:t>
            </a:r>
          </a:p>
        </p:txBody>
      </p:sp>
      <p:sp>
        <p:nvSpPr>
          <p:cNvPr id="96" name="TextBox 9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7" name="Rectangle 9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99" name="Rectangle 9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 Sectorielles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médian par secteur  ·  Vert = Surpondérer · Amber = Neutre · Rouge = Sous-pondérer</a:t>
            </a:r>
          </a:p>
        </p:txBody>
      </p:sp>
      <p:pic>
        <p:nvPicPr>
          <p:cNvPr id="15" name="Picture 14" descr="image.png"/>
          <p:cNvPicPr>
            <a:picLocks noChangeAspect="1"/>
          </p:cNvPicPr>
          <p:nvPr/>
        </p:nvPicPr>
        <p:blipFill>
          <a:blip r:embed="rId2"/>
          <a:stretch>
            <a:fillRect/>
          </a:stretch>
        </p:blipFill>
        <p:spPr>
          <a:xfrm>
            <a:off x="324000" y="827999"/>
            <a:ext cx="5040000" cy="3168000"/>
          </a:xfrm>
          <a:prstGeom prst="rect">
            <a:avLst/>
          </a:prstGeom>
        </p:spPr>
      </p:pic>
      <p:sp>
        <p:nvSpPr>
          <p:cNvPr id="16" name="Rectangle 15"/>
          <p:cNvSpPr/>
          <p:nvPr/>
        </p:nvSpPr>
        <p:spPr>
          <a:xfrm>
            <a:off x="5544000" y="827999"/>
            <a:ext cx="3276000" cy="31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44000" y="827999"/>
            <a:ext cx="43200" cy="316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2000" y="864000"/>
            <a:ext cx="3096000" cy="216000"/>
          </a:xfrm>
          <a:prstGeom prst="rect">
            <a:avLst/>
          </a:prstGeom>
          <a:noFill/>
        </p:spPr>
        <p:txBody>
          <a:bodyPr wrap="square">
            <a:spAutoFit/>
          </a:bodyPr>
          <a:lstStyle/>
          <a:p>
            <a:pPr algn="l"/>
            <a:r>
              <a:rPr sz="850" b="1" i="0">
                <a:solidFill>
                  <a:srgbClr val="1B3A6B"/>
                </a:solidFill>
              </a:rPr>
              <a:t>Lecture de la Distribution</a:t>
            </a:r>
          </a:p>
        </p:txBody>
      </p:sp>
      <p:sp>
        <p:nvSpPr>
          <p:cNvPr id="19" name="TextBox 18"/>
          <p:cNvSpPr txBox="1"/>
          <p:nvPr/>
        </p:nvSpPr>
        <p:spPr>
          <a:xfrm>
            <a:off x="5652000" y="1116000"/>
            <a:ext cx="3096000" cy="2808000"/>
          </a:xfrm>
          <a:prstGeom prst="rect">
            <a:avLst/>
          </a:prstGeom>
          <a:noFill/>
        </p:spPr>
        <p:txBody>
          <a:bodyPr wrap="square">
            <a:spAutoFit/>
          </a:bodyPr>
          <a:lstStyle/>
          <a:p>
            <a:pPr algn="l"/>
            <a:r>
              <a:rPr sz="800" b="0" i="0">
                <a:solidFill>
                  <a:srgbClr val="555555"/>
                </a:solidFill>
              </a:rPr>
              <a:t>Technology traite a 18.0x — prime de 50 % vs la mediane sectorielle (12.0x). Cette prime est justifiee par une croissance BPA structurellement elevee.
Energy offre la valorisation la plus attractive (6.0x) mais le signal Surponderer reflète les risques specifiques au secteur.
Mediane sectorielle : 12.0x EV/EBITDA — seuil de reference pour evaluer la cherté relative.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d'Entrée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médiane historique 10 ans  ·  Signal d'entrée Accumuler / Neutre / Alléger</a:t>
            </a:r>
          </a:p>
        </p:txBody>
      </p:sp>
      <p:pic>
        <p:nvPicPr>
          <p:cNvPr id="15" name="Picture 14" descr="image.png"/>
          <p:cNvPicPr>
            <a:picLocks noChangeAspect="1"/>
          </p:cNvPicPr>
          <p:nvPr/>
        </p:nvPicPr>
        <p:blipFill>
          <a:blip r:embed="rId2"/>
          <a:stretch>
            <a:fillRect/>
          </a:stretch>
        </p:blipFill>
        <p:spPr>
          <a:xfrm>
            <a:off x="324000" y="827999"/>
            <a:ext cx="8496000" cy="2592000"/>
          </a:xfrm>
          <a:prstGeom prst="rect">
            <a:avLst/>
          </a:prstGeom>
        </p:spPr>
      </p:pic>
      <p:sp>
        <p:nvSpPr>
          <p:cNvPr id="16" name="Rectangle 15"/>
          <p:cNvSpPr/>
          <p:nvPr/>
        </p:nvSpPr>
        <p:spPr>
          <a:xfrm>
            <a:off x="324000" y="3564000"/>
            <a:ext cx="8496000" cy="124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564000"/>
            <a:ext cx="43200" cy="124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618000"/>
            <a:ext cx="8208000" cy="216000"/>
          </a:xfrm>
          <a:prstGeom prst="rect">
            <a:avLst/>
          </a:prstGeom>
          <a:noFill/>
        </p:spPr>
        <p:txBody>
          <a:bodyPr wrap="square">
            <a:spAutoFit/>
          </a:bodyPr>
          <a:lstStyle/>
          <a:p>
            <a:pPr algn="l"/>
            <a:r>
              <a:rPr sz="800" b="1" i="0">
                <a:solidFill>
                  <a:srgbClr val="1B3A6B"/>
                </a:solidFill>
              </a:rPr>
              <a:t>Lecture — Secteurs en zone d'entrée optimale</a:t>
            </a:r>
          </a:p>
        </p:txBody>
      </p:sp>
      <p:sp>
        <p:nvSpPr>
          <p:cNvPr id="19" name="TextBox 18"/>
          <p:cNvSpPr txBox="1"/>
          <p:nvPr/>
        </p:nvSpPr>
        <p:spPr>
          <a:xfrm>
            <a:off x="432000" y="3852000"/>
            <a:ext cx="8208000" cy="918000"/>
          </a:xfrm>
          <a:prstGeom prst="rect">
            <a:avLst/>
          </a:prstGeom>
          <a:noFill/>
        </p:spPr>
        <p:txBody>
          <a:bodyPr wrap="square">
            <a:spAutoFit/>
          </a:bodyPr>
          <a:lstStyle/>
          <a:p>
            <a:pPr algn="l"/>
            <a:r>
              <a:rPr sz="750" b="0" i="0">
                <a:solidFill>
                  <a:srgbClr val="555555"/>
                </a:solidFill>
              </a:rPr>
              <a:t>Aucun secteur Surpondérer offrent les meilleures zones d'entrée parmi les secteurs recommandés : P/E Forward inférieur ou proche de la médiane historique 10 ans — profil risque/rendement favorable. Les secteurs au-dessus de la médiane (+20 %) méritent une prudence accrue sur le point d'entrée.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Scenarios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Surpondérer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SURPONDÉRER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S&amp;P 500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FinBERT Agrégé</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34 articles  ·  7 jours glissants  ·  11 secteurs</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0.060</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agrégé FinBERT</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080000" cy="162000"/>
          </a:xfrm>
          <a:prstGeom prst="rect">
            <a:avLst/>
          </a:prstGeom>
          <a:noFill/>
        </p:spPr>
        <p:txBody>
          <a:bodyPr wrap="square">
            <a:spAutoFit/>
          </a:bodyPr>
          <a:lstStyle/>
          <a:p>
            <a:pPr algn="l"/>
            <a:r>
              <a:rPr sz="850" b="1" i="0">
                <a:solidFill>
                  <a:srgbClr val="FFFFFF"/>
                </a:solidFill>
              </a:rPr>
              <a:t>Positif</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articles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08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articles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080000" cy="162000"/>
          </a:xfrm>
          <a:prstGeom prst="rect">
            <a:avLst/>
          </a:prstGeom>
          <a:noFill/>
        </p:spPr>
        <p:txBody>
          <a:bodyPr wrap="square">
            <a:spAutoFit/>
          </a:bodyPr>
          <a:lstStyle/>
          <a:p>
            <a:pPr algn="l"/>
            <a:r>
              <a:rPr sz="850" b="1" i="0">
                <a:solidFill>
                  <a:srgbClr val="1A1A1A"/>
                </a:solidFill>
              </a:rPr>
              <a:t>Négatif</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articles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Thèmes dominants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Distribution sentiment par secteur</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ETF SPDR sectoriels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XLE  —  Energy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+60.4 %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XLK  —  Technology</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+24.5 %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+23.0 %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XLU  —  Utilities</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+18.9 %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XLB  —  Materials</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+18.9 %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XLC  —  Communication Serv</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+13.5 %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XLY  —  Consumer Discretio</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+8.0 %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+3.8 %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XLE (Energy) domine avec +60.4 % — confirmation du signal Surpondérer soutenu par la monétisation IA. XLF (Financials) sous-performe (-0.4 %) en ligne avec le signal Sous-pondérer.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