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80000"/>
            <a:ext cx="4320000" cy="288000"/>
          </a:xfrm>
          <a:prstGeom prst="rect">
            <a:avLst/>
          </a:prstGeom>
          <a:noFill/>
        </p:spPr>
        <p:txBody>
          <a:bodyPr wrap="square">
            <a:spAutoFit/>
          </a:bodyPr>
          <a:lstStyle/>
          <a:p>
            <a:pPr algn="l"/>
            <a:r>
              <a:rPr sz="1100" b="0" i="0">
                <a:solidFill>
                  <a:srgbClr val="AAAAAA"/>
                </a:solidFill>
              </a:rPr>
              <a:t>FinSight IA</a:t>
            </a:r>
          </a:p>
        </p:txBody>
      </p:sp>
      <p:sp>
        <p:nvSpPr>
          <p:cNvPr id="4" name="TextBox 3"/>
          <p:cNvSpPr txBox="1"/>
          <p:nvPr/>
        </p:nvSpPr>
        <p:spPr>
          <a:xfrm>
            <a:off x="360000" y="468000"/>
            <a:ext cx="6480000" cy="251999"/>
          </a:xfrm>
          <a:prstGeom prst="rect">
            <a:avLst/>
          </a:prstGeom>
          <a:noFill/>
        </p:spPr>
        <p:txBody>
          <a:bodyPr wrap="square">
            <a:spAutoFit/>
          </a:bodyPr>
          <a:lstStyle/>
          <a:p>
            <a:pPr algn="l"/>
            <a:r>
              <a:rPr sz="900" b="0" i="0">
                <a:solidFill>
                  <a:srgbClr val="2A5298"/>
                </a:solidFill>
              </a:rPr>
              <a:t>Pitchbook  ·  Analyse d'Indice</a:t>
            </a:r>
          </a:p>
        </p:txBody>
      </p:sp>
      <p:sp>
        <p:nvSpPr>
          <p:cNvPr id="5" name="TextBox 4"/>
          <p:cNvSpPr txBox="1"/>
          <p:nvPr/>
        </p:nvSpPr>
        <p:spPr>
          <a:xfrm>
            <a:off x="360000" y="1152000"/>
            <a:ext cx="8280000" cy="720000"/>
          </a:xfrm>
          <a:prstGeom prst="rect">
            <a:avLst/>
          </a:prstGeom>
          <a:noFill/>
        </p:spPr>
        <p:txBody>
          <a:bodyPr wrap="square">
            <a:spAutoFit/>
          </a:bodyPr>
          <a:lstStyle/>
          <a:p>
            <a:pPr algn="l"/>
            <a:r>
              <a:rPr sz="3600" b="1" i="0">
                <a:solidFill>
                  <a:srgbClr val="FFFFFF"/>
                </a:solidFill>
              </a:rPr>
              <a:t>S&amp;P 500</a:t>
            </a:r>
          </a:p>
        </p:txBody>
      </p:sp>
      <p:sp>
        <p:nvSpPr>
          <p:cNvPr id="6" name="Rectangle 5"/>
          <p:cNvSpPr/>
          <p:nvPr/>
        </p:nvSpPr>
        <p:spPr>
          <a:xfrm>
            <a:off x="360000" y="1980000"/>
            <a:ext cx="2880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8000" y="2034000"/>
            <a:ext cx="2664000" cy="288000"/>
          </a:xfrm>
          <a:prstGeom prst="rect">
            <a:avLst/>
          </a:prstGeom>
          <a:noFill/>
        </p:spPr>
        <p:txBody>
          <a:bodyPr wrap="square">
            <a:spAutoFit/>
          </a:bodyPr>
          <a:lstStyle/>
          <a:p>
            <a:pPr algn="l"/>
            <a:r>
              <a:rPr sz="1100" b="1" i="0">
                <a:solidFill>
                  <a:srgbClr val="FFFFFF"/>
                </a:solidFill>
              </a:rPr>
              <a:t>SURPONDERER  ·  Conviction 55 %</a:t>
            </a:r>
          </a:p>
        </p:txBody>
      </p:sp>
      <p:sp>
        <p:nvSpPr>
          <p:cNvPr id="8" name="TextBox 7"/>
          <p:cNvSpPr txBox="1"/>
          <p:nvPr/>
        </p:nvSpPr>
        <p:spPr>
          <a:xfrm>
            <a:off x="360000" y="2448000"/>
            <a:ext cx="7920000" cy="216000"/>
          </a:xfrm>
          <a:prstGeom prst="rect">
            <a:avLst/>
          </a:prstGeom>
          <a:noFill/>
        </p:spPr>
        <p:txBody>
          <a:bodyPr wrap="square">
            <a:spAutoFit/>
          </a:bodyPr>
          <a:lstStyle/>
          <a:p>
            <a:pPr algn="l"/>
            <a:r>
              <a:rPr sz="900" b="0" i="0">
                <a:solidFill>
                  <a:srgbClr val="AAAAAA"/>
                </a:solidFill>
              </a:rPr>
              <a:t>^GSPC  ·  11 secteurs analyses  ·  503 societes couvertes</a:t>
            </a:r>
          </a:p>
        </p:txBody>
      </p:sp>
      <p:sp>
        <p:nvSpPr>
          <p:cNvPr id="9" name="Rectangle 8"/>
          <p:cNvSpPr/>
          <p:nvPr/>
        </p:nvSpPr>
        <p:spPr>
          <a:xfrm>
            <a:off x="360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000" y="2988000"/>
            <a:ext cx="1728000" cy="180000"/>
          </a:xfrm>
          <a:prstGeom prst="rect">
            <a:avLst/>
          </a:prstGeom>
          <a:noFill/>
        </p:spPr>
        <p:txBody>
          <a:bodyPr wrap="square">
            <a:spAutoFit/>
          </a:bodyPr>
          <a:lstStyle/>
          <a:p>
            <a:pPr algn="l"/>
            <a:r>
              <a:rPr sz="750" b="0" i="0">
                <a:solidFill>
                  <a:srgbClr val="AAAAAA"/>
                </a:solidFill>
              </a:rPr>
              <a:t>Cours</a:t>
            </a:r>
          </a:p>
        </p:txBody>
      </p:sp>
      <p:sp>
        <p:nvSpPr>
          <p:cNvPr id="11" name="TextBox 10"/>
          <p:cNvSpPr txBox="1"/>
          <p:nvPr/>
        </p:nvSpPr>
        <p:spPr>
          <a:xfrm>
            <a:off x="432000" y="3150000"/>
            <a:ext cx="1728000" cy="288000"/>
          </a:xfrm>
          <a:prstGeom prst="rect">
            <a:avLst/>
          </a:prstGeom>
          <a:noFill/>
        </p:spPr>
        <p:txBody>
          <a:bodyPr wrap="square">
            <a:spAutoFit/>
          </a:bodyPr>
          <a:lstStyle/>
          <a:p>
            <a:pPr algn="l"/>
            <a:r>
              <a:rPr sz="1400" b="1" i="0">
                <a:solidFill>
                  <a:srgbClr val="FFFFFF"/>
                </a:solidFill>
              </a:rPr>
              <a:t>6 400</a:t>
            </a:r>
          </a:p>
        </p:txBody>
      </p:sp>
      <p:sp>
        <p:nvSpPr>
          <p:cNvPr id="12" name="Rectangle 11"/>
          <p:cNvSpPr/>
          <p:nvPr/>
        </p:nvSpPr>
        <p:spPr>
          <a:xfrm>
            <a:off x="2448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20000" y="2988000"/>
            <a:ext cx="1728000" cy="180000"/>
          </a:xfrm>
          <a:prstGeom prst="rect">
            <a:avLst/>
          </a:prstGeom>
          <a:noFill/>
        </p:spPr>
        <p:txBody>
          <a:bodyPr wrap="square">
            <a:spAutoFit/>
          </a:bodyPr>
          <a:lstStyle/>
          <a:p>
            <a:pPr algn="l"/>
            <a:r>
              <a:rPr sz="750" b="0" i="0">
                <a:solidFill>
                  <a:srgbClr val="AAAAAA"/>
                </a:solidFill>
              </a:rPr>
              <a:t>YTD</a:t>
            </a:r>
          </a:p>
        </p:txBody>
      </p:sp>
      <p:sp>
        <p:nvSpPr>
          <p:cNvPr id="14" name="TextBox 13"/>
          <p:cNvSpPr txBox="1"/>
          <p:nvPr/>
        </p:nvSpPr>
        <p:spPr>
          <a:xfrm>
            <a:off x="2520000" y="3150000"/>
            <a:ext cx="1728000" cy="288000"/>
          </a:xfrm>
          <a:prstGeom prst="rect">
            <a:avLst/>
          </a:prstGeom>
          <a:noFill/>
        </p:spPr>
        <p:txBody>
          <a:bodyPr wrap="square">
            <a:spAutoFit/>
          </a:bodyPr>
          <a:lstStyle/>
          <a:p>
            <a:pPr algn="l"/>
            <a:r>
              <a:rPr sz="1400" b="1" i="0">
                <a:solidFill>
                  <a:srgbClr val="FFFFFF"/>
                </a:solidFill>
              </a:rPr>
              <a:t>-6.7%</a:t>
            </a:r>
          </a:p>
        </p:txBody>
      </p:sp>
      <p:sp>
        <p:nvSpPr>
          <p:cNvPr id="15" name="Rectangle 14"/>
          <p:cNvSpPr/>
          <p:nvPr/>
        </p:nvSpPr>
        <p:spPr>
          <a:xfrm>
            <a:off x="4536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8000" y="2988000"/>
            <a:ext cx="1728000" cy="180000"/>
          </a:xfrm>
          <a:prstGeom prst="rect">
            <a:avLst/>
          </a:prstGeom>
          <a:noFill/>
        </p:spPr>
        <p:txBody>
          <a:bodyPr wrap="square">
            <a:spAutoFit/>
          </a:bodyPr>
          <a:lstStyle/>
          <a:p>
            <a:pPr algn="l"/>
            <a:r>
              <a:rPr sz="750" b="0" i="0">
                <a:solidFill>
                  <a:srgbClr val="AAAAAA"/>
                </a:solidFill>
              </a:rPr>
              <a:t>P/E Fwd</a:t>
            </a:r>
          </a:p>
        </p:txBody>
      </p:sp>
      <p:sp>
        <p:nvSpPr>
          <p:cNvPr id="17" name="TextBox 16"/>
          <p:cNvSpPr txBox="1"/>
          <p:nvPr/>
        </p:nvSpPr>
        <p:spPr>
          <a:xfrm>
            <a:off x="4608000" y="3150000"/>
            <a:ext cx="1728000" cy="288000"/>
          </a:xfrm>
          <a:prstGeom prst="rect">
            <a:avLst/>
          </a:prstGeom>
          <a:noFill/>
        </p:spPr>
        <p:txBody>
          <a:bodyPr wrap="square">
            <a:spAutoFit/>
          </a:bodyPr>
          <a:lstStyle/>
          <a:p>
            <a:pPr algn="l"/>
            <a:r>
              <a:rPr sz="1400" b="1" i="0">
                <a:solidFill>
                  <a:srgbClr val="FFFFFF"/>
                </a:solidFill>
              </a:rPr>
              <a:t>—</a:t>
            </a:r>
          </a:p>
        </p:txBody>
      </p:sp>
      <p:sp>
        <p:nvSpPr>
          <p:cNvPr id="18" name="Rectangle 17"/>
          <p:cNvSpPr/>
          <p:nvPr/>
        </p:nvSpPr>
        <p:spPr>
          <a:xfrm>
            <a:off x="6623999"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95999" y="2988000"/>
            <a:ext cx="1728000" cy="180000"/>
          </a:xfrm>
          <a:prstGeom prst="rect">
            <a:avLst/>
          </a:prstGeom>
          <a:noFill/>
        </p:spPr>
        <p:txBody>
          <a:bodyPr wrap="square">
            <a:spAutoFit/>
          </a:bodyPr>
          <a:lstStyle/>
          <a:p>
            <a:pPr algn="l"/>
            <a:r>
              <a:rPr sz="750" b="0" i="0">
                <a:solidFill>
                  <a:srgbClr val="AAAAAA"/>
                </a:solidFill>
              </a:rPr>
              <a:t>BPA Growth</a:t>
            </a:r>
          </a:p>
        </p:txBody>
      </p:sp>
      <p:sp>
        <p:nvSpPr>
          <p:cNvPr id="20" name="TextBox 19"/>
          <p:cNvSpPr txBox="1"/>
          <p:nvPr/>
        </p:nvSpPr>
        <p:spPr>
          <a:xfrm>
            <a:off x="6695999" y="3150000"/>
            <a:ext cx="1728000" cy="288000"/>
          </a:xfrm>
          <a:prstGeom prst="rect">
            <a:avLst/>
          </a:prstGeom>
          <a:noFill/>
        </p:spPr>
        <p:txBody>
          <a:bodyPr wrap="square">
            <a:spAutoFit/>
          </a:bodyPr>
          <a:lstStyle/>
          <a:p>
            <a:pPr algn="l"/>
            <a:r>
              <a:rPr sz="1400" b="1" i="0">
                <a:solidFill>
                  <a:srgbClr val="FFFFFF"/>
                </a:solidFill>
              </a:rPr>
              <a:t>+8.5%</a:t>
            </a:r>
          </a:p>
        </p:txBody>
      </p:sp>
      <p:sp>
        <p:nvSpPr>
          <p:cNvPr id="21" name="TextBox 20"/>
          <p:cNvSpPr txBox="1"/>
          <p:nvPr/>
        </p:nvSpPr>
        <p:spPr>
          <a:xfrm>
            <a:off x="360000" y="4320000"/>
            <a:ext cx="5040000" cy="216000"/>
          </a:xfrm>
          <a:prstGeom prst="rect">
            <a:avLst/>
          </a:prstGeom>
          <a:noFill/>
        </p:spPr>
        <p:txBody>
          <a:bodyPr wrap="square">
            <a:spAutoFit/>
          </a:bodyPr>
          <a:lstStyle/>
          <a:p>
            <a:pPr algn="l"/>
            <a:r>
              <a:rPr sz="900" b="0" i="0">
                <a:solidFill>
                  <a:srgbClr val="AAAAAA"/>
                </a:solidFill>
              </a:rPr>
              <a:t>27 mars 2026</a:t>
            </a:r>
          </a:p>
        </p:txBody>
      </p:sp>
      <p:sp>
        <p:nvSpPr>
          <p:cNvPr id="22" name="TextBox 21"/>
          <p:cNvSpPr txBox="1"/>
          <p:nvPr/>
        </p:nvSpPr>
        <p:spPr>
          <a:xfrm>
            <a:off x="5400000" y="4320000"/>
            <a:ext cx="3240000" cy="216000"/>
          </a:xfrm>
          <a:prstGeom prst="rect">
            <a:avLst/>
          </a:prstGeom>
          <a:noFill/>
        </p:spPr>
        <p:txBody>
          <a:bodyPr wrap="square">
            <a:spAutoFit/>
          </a:bodyPr>
          <a:lstStyle/>
          <a:p>
            <a:pPr algn="r"/>
            <a:r>
              <a:rPr sz="900" b="0" i="0">
                <a:solidFill>
                  <a:srgbClr val="AAAAAA"/>
                </a:solidFill>
              </a:rPr>
              <a:t>Rapport confidentiel</a:t>
            </a:r>
          </a:p>
        </p:txBody>
      </p:sp>
      <p:sp>
        <p:nvSpPr>
          <p:cNvPr id="23" name="TextBox 22"/>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11 secteurs  ·  503 societes  ·  Horizon 12 mois</a:t>
            </a:r>
          </a:p>
        </p:txBody>
      </p:sp>
      <p:sp>
        <p:nvSpPr>
          <p:cNvPr id="15" name="Rectangle 14"/>
          <p:cNvSpPr/>
          <p:nvPr/>
        </p:nvSpPr>
        <p:spPr>
          <a:xfrm>
            <a:off x="324000" y="720000"/>
            <a:ext cx="1728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756000"/>
            <a:ext cx="1584000" cy="216000"/>
          </a:xfrm>
          <a:prstGeom prst="rect">
            <a:avLst/>
          </a:prstGeom>
          <a:noFill/>
        </p:spPr>
        <p:txBody>
          <a:bodyPr wrap="square">
            <a:spAutoFit/>
          </a:bodyPr>
          <a:lstStyle/>
          <a:p>
            <a:pPr algn="l"/>
            <a:r>
              <a:rPr sz="1000" b="1" i="0">
                <a:solidFill>
                  <a:srgbClr val="FFFFFF"/>
                </a:solidFill>
              </a:rPr>
              <a:t>SURPONDERER</a:t>
            </a:r>
          </a:p>
        </p:txBody>
      </p:sp>
      <p:sp>
        <p:nvSpPr>
          <p:cNvPr id="17" name="TextBox 16"/>
          <p:cNvSpPr txBox="1"/>
          <p:nvPr/>
        </p:nvSpPr>
        <p:spPr>
          <a:xfrm>
            <a:off x="324000" y="1062000"/>
            <a:ext cx="8496000" cy="198000"/>
          </a:xfrm>
          <a:prstGeom prst="rect">
            <a:avLst/>
          </a:prstGeom>
          <a:noFill/>
        </p:spPr>
        <p:txBody>
          <a:bodyPr wrap="square">
            <a:spAutoFit/>
          </a:bodyPr>
          <a:lstStyle/>
          <a:p>
            <a:pPr algn="l"/>
            <a:r>
              <a:rPr sz="800" b="0" i="0">
                <a:solidFill>
                  <a:srgbClr val="555555"/>
                </a:solidFill>
              </a:rPr>
              <a:t>Cours : 6 400  ·  YTD : -6.7%  ·  P/E Forward : —  ·  Croissance BPA : +8.5%  ·  Conviction 55 %</a:t>
            </a:r>
          </a:p>
        </p:txBody>
      </p:sp>
      <p:sp>
        <p:nvSpPr>
          <p:cNvPr id="18" name="Rectangle 17"/>
          <p:cNvSpPr/>
          <p:nvPr/>
        </p:nvSpPr>
        <p:spPr>
          <a:xfrm>
            <a:off x="324000" y="1332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6000" y="1350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0" name="Rectangle 19"/>
          <p:cNvSpPr/>
          <p:nvPr/>
        </p:nvSpPr>
        <p:spPr>
          <a:xfrm>
            <a:off x="324000" y="1565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3999" y="1565999"/>
            <a:ext cx="8028000" cy="162000"/>
          </a:xfrm>
          <a:prstGeom prst="rect">
            <a:avLst/>
          </a:prstGeom>
          <a:noFill/>
        </p:spPr>
        <p:txBody>
          <a:bodyPr wrap="square">
            <a:spAutoFit/>
          </a:bodyPr>
          <a:lstStyle/>
          <a:p>
            <a:pPr algn="l"/>
            <a:r>
              <a:rPr sz="800" b="1" i="0">
                <a:solidFill>
                  <a:srgbClr val="1B3A6B"/>
                </a:solidFill>
              </a:rPr>
              <a:t>Cycle IA</a:t>
            </a:r>
          </a:p>
        </p:txBody>
      </p:sp>
      <p:sp>
        <p:nvSpPr>
          <p:cNvPr id="22" name="TextBox 21"/>
          <p:cNvSpPr txBox="1"/>
          <p:nvPr/>
        </p:nvSpPr>
        <p:spPr>
          <a:xfrm>
            <a:off x="413999" y="1728000"/>
            <a:ext cx="8028000" cy="198000"/>
          </a:xfrm>
          <a:prstGeom prst="rect">
            <a:avLst/>
          </a:prstGeom>
          <a:noFill/>
        </p:spPr>
        <p:txBody>
          <a:bodyPr wrap="square">
            <a:spAutoFit/>
          </a:bodyPr>
          <a:lstStyle/>
          <a:p>
            <a:pPr algn="l"/>
            <a:r>
              <a:rPr sz="750" b="0" i="0">
                <a:solidFill>
                  <a:srgbClr val="555555"/>
                </a:solidFill>
              </a:rPr>
              <a:t>CAPEX hyperscalers +35% YoY — monetisation acceleree services cloud et semi</a:t>
            </a:r>
          </a:p>
        </p:txBody>
      </p:sp>
      <p:sp>
        <p:nvSpPr>
          <p:cNvPr id="23" name="Rectangle 22"/>
          <p:cNvSpPr/>
          <p:nvPr/>
        </p:nvSpPr>
        <p:spPr>
          <a:xfrm>
            <a:off x="324000" y="1943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3999" y="1943999"/>
            <a:ext cx="8028000" cy="162000"/>
          </a:xfrm>
          <a:prstGeom prst="rect">
            <a:avLst/>
          </a:prstGeom>
          <a:noFill/>
        </p:spPr>
        <p:txBody>
          <a:bodyPr wrap="square">
            <a:spAutoFit/>
          </a:bodyPr>
          <a:lstStyle/>
          <a:p>
            <a:pPr algn="l"/>
            <a:r>
              <a:rPr sz="800" b="1" i="0">
                <a:solidFill>
                  <a:srgbClr val="1B3A6B"/>
                </a:solidFill>
              </a:rPr>
              <a:t>Desinflation</a:t>
            </a:r>
          </a:p>
        </p:txBody>
      </p:sp>
      <p:sp>
        <p:nvSpPr>
          <p:cNvPr id="25" name="TextBox 24"/>
          <p:cNvSpPr txBox="1"/>
          <p:nvPr/>
        </p:nvSpPr>
        <p:spPr>
          <a:xfrm>
            <a:off x="413999" y="2106000"/>
            <a:ext cx="8028000" cy="198000"/>
          </a:xfrm>
          <a:prstGeom prst="rect">
            <a:avLst/>
          </a:prstGeom>
          <a:noFill/>
        </p:spPr>
        <p:txBody>
          <a:bodyPr wrap="square">
            <a:spAutoFit/>
          </a:bodyPr>
          <a:lstStyle/>
          <a:p>
            <a:pPr algn="l"/>
            <a:r>
              <a:rPr sz="750" b="0" i="0">
                <a:solidFill>
                  <a:srgbClr val="555555"/>
                </a:solidFill>
              </a:rPr>
              <a:t>PCE Core convergence vers 2.5% d ici fin 2026 — Fed pivot dovish attendu</a:t>
            </a:r>
          </a:p>
        </p:txBody>
      </p:sp>
      <p:sp>
        <p:nvSpPr>
          <p:cNvPr id="26" name="Rectangle 25"/>
          <p:cNvSpPr/>
          <p:nvPr/>
        </p:nvSpPr>
        <p:spPr>
          <a:xfrm>
            <a:off x="324000" y="232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3999" y="2321999"/>
            <a:ext cx="8028000" cy="162000"/>
          </a:xfrm>
          <a:prstGeom prst="rect">
            <a:avLst/>
          </a:prstGeom>
          <a:noFill/>
        </p:spPr>
        <p:txBody>
          <a:bodyPr wrap="square">
            <a:spAutoFit/>
          </a:bodyPr>
          <a:lstStyle/>
          <a:p>
            <a:pPr algn="l"/>
            <a:r>
              <a:rPr sz="800" b="1" i="0">
                <a:solidFill>
                  <a:srgbClr val="1B3A6B"/>
                </a:solidFill>
              </a:rPr>
              <a:t>Resilience margins</a:t>
            </a:r>
          </a:p>
        </p:txBody>
      </p:sp>
      <p:sp>
        <p:nvSpPr>
          <p:cNvPr id="28" name="TextBox 27"/>
          <p:cNvSpPr txBox="1"/>
          <p:nvPr/>
        </p:nvSpPr>
        <p:spPr>
          <a:xfrm>
            <a:off x="413999" y="2484000"/>
            <a:ext cx="8028000" cy="198000"/>
          </a:xfrm>
          <a:prstGeom prst="rect">
            <a:avLst/>
          </a:prstGeom>
          <a:noFill/>
        </p:spPr>
        <p:txBody>
          <a:bodyPr wrap="square">
            <a:spAutoFit/>
          </a:bodyPr>
          <a:lstStyle/>
          <a:p>
            <a:pPr algn="l"/>
            <a:r>
              <a:rPr sz="750" b="0" i="0">
                <a:solidFill>
                  <a:srgbClr val="555555"/>
                </a:solidFill>
              </a:rPr>
              <a:t>Marges nettes S&amp;P 500 a 12.4% vs 11.8% consensus — revision haussiere BPA</a:t>
            </a:r>
          </a:p>
        </p:txBody>
      </p:sp>
      <p:sp>
        <p:nvSpPr>
          <p:cNvPr id="29" name="Rectangle 28"/>
          <p:cNvSpPr/>
          <p:nvPr/>
        </p:nvSpPr>
        <p:spPr>
          <a:xfrm>
            <a:off x="324000" y="2808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4000" y="2808000"/>
            <a:ext cx="43200" cy="19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2000" y="2844000"/>
            <a:ext cx="8208000" cy="198000"/>
          </a:xfrm>
          <a:prstGeom prst="rect">
            <a:avLst/>
          </a:prstGeom>
          <a:noFill/>
        </p:spPr>
        <p:txBody>
          <a:bodyPr wrap="square">
            <a:spAutoFit/>
          </a:bodyPr>
          <a:lstStyle/>
          <a:p>
            <a:pPr algn="l"/>
            <a:r>
              <a:rPr sz="800" b="1" i="0">
                <a:solidFill>
                  <a:srgbClr val="1B3A6B"/>
                </a:solidFill>
              </a:rPr>
              <a:t>SYNTHESE DU SIGNAL</a:t>
            </a:r>
          </a:p>
        </p:txBody>
      </p:sp>
      <p:sp>
        <p:nvSpPr>
          <p:cNvPr id="32" name="TextBox 31"/>
          <p:cNvSpPr txBox="1"/>
          <p:nvPr/>
        </p:nvSpPr>
        <p:spPr>
          <a:xfrm>
            <a:off x="432000" y="3060000"/>
            <a:ext cx="8208000" cy="1620000"/>
          </a:xfrm>
          <a:prstGeom prst="rect">
            <a:avLst/>
          </a:prstGeom>
          <a:noFill/>
        </p:spPr>
        <p:txBody>
          <a:bodyPr wrap="square">
            <a:spAutoFit/>
          </a:bodyPr>
          <a:lstStyle/>
          <a:p>
            <a:pPr algn="l"/>
            <a:r>
              <a:rPr sz="800" b="0" i="0">
                <a:solidFill>
                  <a:srgbClr val="555555"/>
                </a:solidFill>
              </a:rPr>
              <a:t>Le signal global sur le S&amp;P 500 est Neutre avec une conviction de 27% (sur la base des 11 secteurs analyses). 3 secteurs ressortent Surponderer — Technology, Health Care et Financials — portes respectivement par le cycle IA, le pricing power defensif et les spreads de credit eleves. 6 secteurs sont Neutre en raison d'une visibilite limitee sur les BPA dans un contexte de taux restrictifs. 2 secteu</a:t>
            </a:r>
          </a:p>
        </p:txBody>
      </p:sp>
      <p:sp>
        <p:nvSpPr>
          <p:cNvPr id="33" name="Rectangle 3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^GSPC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Synthese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economique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Decomposition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Recommandes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Synthese signal · Societes representatives · Distribution valorisations · Zone d entree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Scenarios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Synthese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economique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Caracteristiques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S&amp;P 500 regroupe les 503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METRIQUE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6 400</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-6.7%</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r>
              <a:tr h="28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analyses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Societes couvertes</a:t>
                      </a:r>
                    </a:p>
                  </a:txBody>
                  <a:tcPr>
                    <a:solidFill>
                      <a:srgbClr val="F5F7FA"/>
                    </a:solidFill>
                  </a:tcPr>
                </a:tc>
                <a:tc>
                  <a:txBody>
                    <a:bodyPr/>
                    <a:lstStyle/>
                    <a:p>
                      <a:pPr algn="ctr"/>
                      <a:r>
                        <a:rPr sz="800" b="0">
                          <a:solidFill>
                            <a:srgbClr val="1A1A1A"/>
                          </a:solidFill>
                        </a:rPr>
                        <a:t>503</a:t>
                      </a:r>
                    </a:p>
                  </a:txBody>
                  <a:tcPr>
                    <a:solidFill>
                      <a:srgbClr val="F5F7FA"/>
                    </a:solidFill>
                  </a:tcPr>
                </a:tc>
              </a:tr>
            </a:tbl>
          </a:graphicData>
        </a:graphic>
      </p:graphicFrame>
      <p:sp>
        <p:nvSpPr>
          <p:cNvPr id="18" name="Rectangle 1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mediane 10Y</a:t>
                      </a:r>
                    </a:p>
                  </a:txBody>
                  <a:tcPr>
                    <a:noFill/>
                  </a:tcPr>
                </a:tc>
              </a:tr>
              <a:tr h="30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normalise</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Surevalu si &gt; 20 %</a:t>
                      </a:r>
                    </a:p>
                  </a:txBody>
                  <a:tcPr>
                    <a:noFill/>
                  </a:tcPr>
                </a:tc>
                <a:tc>
                  <a:txBody>
                    <a:bodyPr/>
                    <a:lstStyle/>
                    <a:p>
                      <a:pPr algn="ctr"/>
                      <a:r>
                        <a:rPr sz="800" b="0">
                          <a:solidFill>
                            <a:srgbClr val="1A1A1A"/>
                          </a:solidFill>
                        </a:rPr>
                        <a:t>Signal d alerte valorisation</a:t>
                      </a:r>
                    </a:p>
                  </a:txBody>
                  <a:tcPr>
                    <a:noFill/>
                  </a:tcPr>
                </a:tc>
              </a:tr>
            </a:tbl>
          </a:graphicData>
        </a:graphic>
      </p:graphicFrame>
      <p:sp>
        <p:nvSpPr>
          <p:cNvPr id="16" name="Rectangle 15"/>
          <p:cNvSpPr/>
          <p:nvPr/>
        </p:nvSpPr>
        <p:spPr>
          <a:xfrm>
            <a:off x="324000" y="2880000"/>
            <a:ext cx="8496000" cy="19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80000"/>
            <a:ext cx="43200" cy="19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934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168000"/>
            <a:ext cx="8208000" cy="1601999"/>
          </a:xfrm>
          <a:prstGeom prst="rect">
            <a:avLst/>
          </a:prstGeom>
          <a:noFill/>
        </p:spPr>
        <p:txBody>
          <a:bodyPr wrap="square">
            <a:spAutoFit/>
          </a:bodyPr>
          <a:lstStyle/>
          <a:p>
            <a:pPr algn="l"/>
            <a:r>
              <a:rPr sz="750" b="0" i="0">
                <a:solidFill>
                  <a:srgbClr val="555555"/>
                </a:solidFill>
              </a:rPr>
              <a:t>Le P/E Forward a 21.5x s'inscrit en prime de 18% par rapport a la mediane 10 ans (18.2x), justifie en partie par la monetisation de l'IA et la qualite superieure des marges. L'ERP ressort a 4.2% — niveau attractif mais contraint par le 10Y US a 4.3%. La compression de multiple reste le principal risque si les taux LT d</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Economique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Signaux FRED  ·  Modele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avancee</a:t>
            </a:r>
          </a:p>
        </p:txBody>
      </p:sp>
      <p:sp>
        <p:nvSpPr>
          <p:cNvPr id="20" name="TextBox 19"/>
          <p:cNvSpPr txBox="1"/>
          <p:nvPr/>
        </p:nvSpPr>
        <p:spPr>
          <a:xfrm>
            <a:off x="396000" y="1908000"/>
            <a:ext cx="2808000" cy="900000"/>
          </a:xfrm>
          <a:prstGeom prst="rect">
            <a:avLst/>
          </a:prstGeom>
          <a:noFill/>
        </p:spPr>
        <p:txBody>
          <a:bodyPr wrap="square">
            <a:spAutoFit/>
          </a:bodyPr>
          <a:lstStyle/>
          <a:p>
            <a:pPr algn="l"/>
            <a:r>
              <a:rPr sz="800" b="0" i="0">
                <a:solidFill>
                  <a:srgbClr val="AAAAAA"/>
                </a:solidFill>
              </a:rPr>
              <a:t>Milieu-fin de cycle — ISM proche 50, courbe taux normalisee</a:t>
            </a:r>
          </a:p>
        </p:txBody>
      </p:sp>
      <p:sp>
        <p:nvSpPr>
          <p:cNvPr id="21" name="TextBox 20"/>
          <p:cNvSpPr txBox="1"/>
          <p:nvPr/>
        </p:nvSpPr>
        <p:spPr>
          <a:xfrm>
            <a:off x="396000" y="2628000"/>
            <a:ext cx="2808000" cy="468000"/>
          </a:xfrm>
          <a:prstGeom prst="rect">
            <a:avLst/>
          </a:prstGeom>
          <a:noFill/>
        </p:spPr>
        <p:txBody>
          <a:bodyPr wrap="square">
            <a:spAutoFit/>
          </a:bodyPr>
          <a:lstStyle/>
          <a:p>
            <a:pPr algn="l"/>
            <a:r>
              <a:rPr sz="750" b="0" i="0">
                <a:solidFill>
                  <a:srgbClr val="AAAAAA"/>
                </a:solidFill>
              </a:rPr>
              <a:t>L'analyse des indicateurs avancees positionne le cycle en phase d'expansion avancee : ISM Manufacturier autour du seuil 50 (49.8), courbe des taux partiellement normalisee (10Y-2Y +0.2%), Leading Indicators OCDE en legere hausse. Cette configuration favorise les secteurs avec for</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moderee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Legerement inversee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Chomage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Marche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recommandee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avancees positionne le cycle en phase d'expansion avancee : ISM Manufacturier autour du seuil 50 (49.8), courbe des taux partiellement normalisee (10Y-2Y +0.2%), Leading Indi</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Decomposition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503 societes  ·  Tri par score FinSight decroissant</a:t>
            </a:r>
          </a:p>
        </p:txBody>
      </p:sp>
      <p:graphicFrame>
        <p:nvGraphicFramePr>
          <p:cNvPr id="15" name="Table 14"/>
          <p:cNvGraphicFramePr>
            <a:graphicFrameLocks noGrp="1"/>
          </p:cNvGraphicFramePr>
          <p:nvPr/>
        </p:nvGraphicFramePr>
        <p:xfrm>
          <a:off x="324000" y="827999"/>
          <a:ext cx="8495994" cy="2700000"/>
        </p:xfrm>
        <a:graphic>
          <a:graphicData uri="http://schemas.openxmlformats.org/drawingml/2006/table">
            <a:tbl>
              <a:tblPr firstRow="1" bandRow="1">
                <a:tableStyleId>{5C22544A-7EE6-4342-B048-85BDC9FD1C3A}</a:tableStyleId>
              </a:tblPr>
              <a:tblGrid>
                <a:gridCol w="492521"/>
                <a:gridCol w="1846956"/>
                <a:gridCol w="615652"/>
                <a:gridCol w="1436521"/>
                <a:gridCol w="1026086"/>
                <a:gridCol w="1026086"/>
                <a:gridCol w="1026086"/>
                <a:gridCol w="1026086"/>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6.0x</a:t>
                      </a:r>
                    </a:p>
                  </a:txBody>
                  <a:tcPr>
                    <a:noFill/>
                  </a:tcPr>
                </a:tc>
                <a:tc>
                  <a:txBody>
                    <a:bodyPr/>
                    <a:lstStyle/>
                    <a:p>
                      <a:pPr algn="ctr"/>
                      <a:r>
                        <a:rPr sz="800" b="0">
                          <a:solidFill>
                            <a:srgbClr val="1A1A1A"/>
                          </a:solidFill>
                        </a:rPr>
                        <a:t>22.0%</a:t>
                      </a:r>
                    </a:p>
                  </a:txBody>
                  <a:tcPr>
                    <a:noFill/>
                  </a:tcPr>
                </a:tc>
                <a:tc>
                  <a:txBody>
                    <a:bodyPr/>
                    <a:lstStyle/>
                    <a:p>
                      <a:pPr algn="ctr"/>
                      <a:r>
                        <a:rPr sz="800" b="0">
                          <a:solidFill>
                            <a:srgbClr val="1A1A1A"/>
                          </a:solidFill>
                        </a:rPr>
                        <a:t>+8.0%</a:t>
                      </a:r>
                    </a:p>
                  </a:txBody>
                  <a:tcPr>
                    <a:noFill/>
                  </a:tcPr>
                </a:tc>
                <a:tc>
                  <a:txBody>
                    <a:bodyPr/>
                    <a:lstStyle/>
                    <a:p>
                      <a:pPr algn="ctr"/>
                      <a:r>
                        <a:rPr sz="800" b="0">
                          <a:solidFill>
                            <a:srgbClr val="1A1A1A"/>
                          </a:solidFill>
                        </a:rPr>
                        <a:t>+60.6%</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80</a:t>
                      </a:r>
                    </a:p>
                  </a:txBody>
                  <a:tcPr>
                    <a:solidFill>
                      <a:srgbClr val="F5F7FA"/>
                    </a:solid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18.0x</a:t>
                      </a:r>
                    </a:p>
                  </a:txBody>
                  <a:tcPr>
                    <a:solidFill>
                      <a:srgbClr val="F5F7FA"/>
                    </a:solidFill>
                  </a:tcPr>
                </a:tc>
                <a:tc>
                  <a:txBody>
                    <a:bodyPr/>
                    <a:lstStyle/>
                    <a:p>
                      <a:pPr algn="ctr"/>
                      <a:r>
                        <a:rPr sz="800" b="0">
                          <a:solidFill>
                            <a:srgbClr val="1A1A1A"/>
                          </a:solidFill>
                        </a:rPr>
                        <a:t>22.0%</a:t>
                      </a:r>
                    </a:p>
                  </a:txBody>
                  <a:tcPr>
                    <a:solidFill>
                      <a:srgbClr val="F5F7FA"/>
                    </a:solidFill>
                  </a:tcPr>
                </a:tc>
                <a:tc>
                  <a:txBody>
                    <a:bodyPr/>
                    <a:lstStyle/>
                    <a:p>
                      <a:pPr algn="ctr"/>
                      <a:r>
                        <a:rPr sz="800" b="0">
                          <a:solidFill>
                            <a:srgbClr val="1A1A1A"/>
                          </a:solidFill>
                        </a:rPr>
                        <a:t>+8.0%</a:t>
                      </a:r>
                    </a:p>
                  </a:txBody>
                  <a:tcPr>
                    <a:solidFill>
                      <a:srgbClr val="F5F7FA"/>
                    </a:solidFill>
                  </a:tcPr>
                </a:tc>
                <a:tc>
                  <a:txBody>
                    <a:bodyPr/>
                    <a:lstStyle/>
                    <a:p>
                      <a:pPr algn="ctr"/>
                      <a:r>
                        <a:rPr sz="800" b="0">
                          <a:solidFill>
                            <a:srgbClr val="1A1A1A"/>
                          </a:solidFill>
                        </a:rPr>
                        <a:t>+25.0%</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no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13.0x</a:t>
                      </a:r>
                    </a:p>
                  </a:txBody>
                  <a:tcPr>
                    <a:noFill/>
                  </a:tcPr>
                </a:tc>
                <a:tc>
                  <a:txBody>
                    <a:bodyPr/>
                    <a:lstStyle/>
                    <a:p>
                      <a:pPr algn="ctr"/>
                      <a:r>
                        <a:rPr sz="800" b="0">
                          <a:solidFill>
                            <a:srgbClr val="1A1A1A"/>
                          </a:solidFill>
                        </a:rPr>
                        <a:t>22.0%</a:t>
                      </a:r>
                    </a:p>
                  </a:txBody>
                  <a:tcPr>
                    <a:noFill/>
                  </a:tcPr>
                </a:tc>
                <a:tc>
                  <a:txBody>
                    <a:bodyPr/>
                    <a:lstStyle/>
                    <a:p>
                      <a:pPr algn="ctr"/>
                      <a:r>
                        <a:rPr sz="800" b="0">
                          <a:solidFill>
                            <a:srgbClr val="1A1A1A"/>
                          </a:solidFill>
                        </a:rPr>
                        <a:t>+8.0%</a:t>
                      </a:r>
                    </a:p>
                  </a:txBody>
                  <a:tcPr>
                    <a:noFill/>
                  </a:tcPr>
                </a:tc>
                <a:tc>
                  <a:txBody>
                    <a:bodyPr/>
                    <a:lstStyle/>
                    <a:p>
                      <a:pPr algn="ctr"/>
                      <a:r>
                        <a:rPr sz="800" b="0">
                          <a:solidFill>
                            <a:srgbClr val="1A1A1A"/>
                          </a:solidFill>
                        </a:rPr>
                        <a:t>+23.7%</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74</a:t>
                      </a:r>
                    </a:p>
                  </a:txBody>
                  <a:tcPr>
                    <a:solidFill>
                      <a:srgbClr val="F5F7FA"/>
                    </a:solid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22.0%</a:t>
                      </a:r>
                    </a:p>
                  </a:txBody>
                  <a:tcPr>
                    <a:solidFill>
                      <a:srgbClr val="F5F7FA"/>
                    </a:solidFill>
                  </a:tcPr>
                </a:tc>
                <a:tc>
                  <a:txBody>
                    <a:bodyPr/>
                    <a:lstStyle/>
                    <a:p>
                      <a:pPr algn="ctr"/>
                      <a:r>
                        <a:rPr sz="800" b="0">
                          <a:solidFill>
                            <a:srgbClr val="1A1A1A"/>
                          </a:solidFill>
                        </a:rPr>
                        <a:t>+8.0%</a:t>
                      </a:r>
                    </a:p>
                  </a:txBody>
                  <a:tcPr>
                    <a:solidFill>
                      <a:srgbClr val="F5F7FA"/>
                    </a:solidFill>
                  </a:tcPr>
                </a:tc>
                <a:tc>
                  <a:txBody>
                    <a:bodyPr/>
                    <a:lstStyle/>
                    <a:p>
                      <a:pPr algn="ctr"/>
                      <a:r>
                        <a:rPr sz="800" b="0">
                          <a:solidFill>
                            <a:srgbClr val="1A1A1A"/>
                          </a:solidFill>
                        </a:rPr>
                        <a:t>+19.7%</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no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10.0x</a:t>
                      </a:r>
                    </a:p>
                  </a:txBody>
                  <a:tcPr>
                    <a:noFill/>
                  </a:tcPr>
                </a:tc>
                <a:tc>
                  <a:txBody>
                    <a:bodyPr/>
                    <a:lstStyle/>
                    <a:p>
                      <a:pPr algn="ctr"/>
                      <a:r>
                        <a:rPr sz="800" b="0">
                          <a:solidFill>
                            <a:srgbClr val="1A1A1A"/>
                          </a:solidFill>
                        </a:rPr>
                        <a:t>22.0%</a:t>
                      </a:r>
                    </a:p>
                  </a:txBody>
                  <a:tcPr>
                    <a:noFill/>
                  </a:tcPr>
                </a:tc>
                <a:tc>
                  <a:txBody>
                    <a:bodyPr/>
                    <a:lstStyle/>
                    <a:p>
                      <a:pPr algn="ctr"/>
                      <a:r>
                        <a:rPr sz="800" b="0">
                          <a:solidFill>
                            <a:srgbClr val="1A1A1A"/>
                          </a:solidFill>
                        </a:rPr>
                        <a:t>+8.0%</a:t>
                      </a:r>
                    </a:p>
                  </a:txBody>
                  <a:tcPr>
                    <a:noFill/>
                  </a:tcPr>
                </a:tc>
                <a:tc>
                  <a:txBody>
                    <a:bodyPr/>
                    <a:lstStyle/>
                    <a:p>
                      <a:pPr algn="ctr"/>
                      <a:r>
                        <a:rPr sz="800" b="0">
                          <a:solidFill>
                            <a:srgbClr val="1A1A1A"/>
                          </a:solidFill>
                        </a:rPr>
                        <a:t>+19.3%</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Communication Servic</a:t>
                      </a:r>
                    </a:p>
                  </a:txBody>
                  <a:tcPr>
                    <a:solidFill>
                      <a:srgbClr val="F5F7FA"/>
                    </a:solidFill>
                  </a:tcPr>
                </a:tc>
                <a:tc>
                  <a:txBody>
                    <a:bodyPr/>
                    <a:lstStyle/>
                    <a:p>
                      <a:pPr algn="ctr"/>
                      <a:r>
                        <a:rPr sz="800" b="0">
                          <a:solidFill>
                            <a:srgbClr val="1A1A1A"/>
                          </a:solidFill>
                        </a:rPr>
                        <a:t>66</a:t>
                      </a:r>
                    </a:p>
                  </a:txBody>
                  <a:tcPr>
                    <a:solidFill>
                      <a:srgbClr val="F5F7FA"/>
                    </a:solid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12.0x</a:t>
                      </a:r>
                    </a:p>
                  </a:txBody>
                  <a:tcPr>
                    <a:solidFill>
                      <a:srgbClr val="F5F7FA"/>
                    </a:solidFill>
                  </a:tcPr>
                </a:tc>
                <a:tc>
                  <a:txBody>
                    <a:bodyPr/>
                    <a:lstStyle/>
                    <a:p>
                      <a:pPr algn="ctr"/>
                      <a:r>
                        <a:rPr sz="800" b="0">
                          <a:solidFill>
                            <a:srgbClr val="1A1A1A"/>
                          </a:solidFill>
                        </a:rPr>
                        <a:t>22.0%</a:t>
                      </a:r>
                    </a:p>
                  </a:txBody>
                  <a:tcPr>
                    <a:solidFill>
                      <a:srgbClr val="F5F7FA"/>
                    </a:solidFill>
                  </a:tcPr>
                </a:tc>
                <a:tc>
                  <a:txBody>
                    <a:bodyPr/>
                    <a:lstStyle/>
                    <a:p>
                      <a:pPr algn="ctr"/>
                      <a:r>
                        <a:rPr sz="800" b="0">
                          <a:solidFill>
                            <a:srgbClr val="1A1A1A"/>
                          </a:solidFill>
                        </a:rPr>
                        <a:t>+8.0%</a:t>
                      </a:r>
                    </a:p>
                  </a:txBody>
                  <a:tcPr>
                    <a:solidFill>
                      <a:srgbClr val="F5F7FA"/>
                    </a:solidFill>
                  </a:tcPr>
                </a:tc>
                <a:tc>
                  <a:txBody>
                    <a:bodyPr/>
                    <a:lstStyle/>
                    <a:p>
                      <a:pPr algn="ctr"/>
                      <a:r>
                        <a:rPr sz="800" b="0">
                          <a:solidFill>
                            <a:srgbClr val="1A1A1A"/>
                          </a:solidFill>
                        </a:rPr>
                        <a:t>+13.7%</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Consumer Discretiona</a:t>
                      </a:r>
                    </a:p>
                  </a:txBody>
                  <a:tcPr>
                    <a:noFill/>
                  </a:tcPr>
                </a:tc>
                <a:tc>
                  <a:txBody>
                    <a:bodyPr/>
                    <a:lstStyle/>
                    <a:p>
                      <a:pPr algn="ctr"/>
                      <a:r>
                        <a:rPr sz="800" b="0">
                          <a:solidFill>
                            <a:srgbClr val="1A1A1A"/>
                          </a:solidFill>
                        </a:rPr>
                        <a:t>60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22.0%</a:t>
                      </a:r>
                    </a:p>
                  </a:txBody>
                  <a:tcPr>
                    <a:noFill/>
                  </a:tcPr>
                </a:tc>
                <a:tc>
                  <a:txBody>
                    <a:bodyPr/>
                    <a:lstStyle/>
                    <a:p>
                      <a:pPr algn="ctr"/>
                      <a:r>
                        <a:rPr sz="800" b="0">
                          <a:solidFill>
                            <a:srgbClr val="1A1A1A"/>
                          </a:solidFill>
                        </a:rPr>
                        <a:t>+8.0%</a:t>
                      </a:r>
                    </a:p>
                  </a:txBody>
                  <a:tcPr>
                    <a:noFill/>
                  </a:tcPr>
                </a:tc>
                <a:tc>
                  <a:txBody>
                    <a:bodyPr/>
                    <a:lstStyle/>
                    <a:p>
                      <a:pPr algn="ctr"/>
                      <a:r>
                        <a:rPr sz="800" b="0">
                          <a:solidFill>
                            <a:srgbClr val="1A1A1A"/>
                          </a:solidFill>
                        </a:rPr>
                        <a:t>+8.7%</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14.0x</a:t>
                      </a:r>
                    </a:p>
                  </a:txBody>
                  <a:tcPr>
                    <a:solidFill>
                      <a:srgbClr val="F5F7FA"/>
                    </a:solidFill>
                  </a:tcPr>
                </a:tc>
                <a:tc>
                  <a:txBody>
                    <a:bodyPr/>
                    <a:lstStyle/>
                    <a:p>
                      <a:pPr algn="ctr"/>
                      <a:r>
                        <a:rPr sz="800" b="0">
                          <a:solidFill>
                            <a:srgbClr val="1A1A1A"/>
                          </a:solidFill>
                        </a:rPr>
                        <a:t>22.0%</a:t>
                      </a:r>
                    </a:p>
                  </a:txBody>
                  <a:tcPr>
                    <a:solidFill>
                      <a:srgbClr val="F5F7FA"/>
                    </a:solidFill>
                  </a:tcPr>
                </a:tc>
                <a:tc>
                  <a:txBody>
                    <a:bodyPr/>
                    <a:lstStyle/>
                    <a:p>
                      <a:pPr algn="ctr"/>
                      <a:r>
                        <a:rPr sz="800" b="0">
                          <a:solidFill>
                            <a:srgbClr val="1A1A1A"/>
                          </a:solidFill>
                        </a:rPr>
                        <a:t>+8.0%</a:t>
                      </a:r>
                    </a:p>
                  </a:txBody>
                  <a:tcPr>
                    <a:solidFill>
                      <a:srgbClr val="F5F7FA"/>
                    </a:solidFill>
                  </a:tcPr>
                </a:tc>
                <a:tc>
                  <a:txBody>
                    <a:bodyPr/>
                    <a:lstStyle/>
                    <a:p>
                      <a:pPr algn="ctr"/>
                      <a:r>
                        <a:rPr sz="800" b="0">
                          <a:solidFill>
                            <a:srgbClr val="1A1A1A"/>
                          </a:solidFill>
                        </a:rPr>
                        <a:t>+4.4%</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Consumer Staples</a:t>
                      </a:r>
                    </a:p>
                  </a:txBody>
                  <a:tcPr>
                    <a:noFill/>
                  </a:tcPr>
                </a:tc>
                <a:tc>
                  <a:txBody>
                    <a:bodyPr/>
                    <a:lstStyle/>
                    <a:p>
                      <a:pPr algn="ctr"/>
                      <a:r>
                        <a:rPr sz="800" b="0">
                          <a:solidFill>
                            <a:srgbClr val="1A1A1A"/>
                          </a:solidFill>
                        </a:rPr>
                        <a:t>54</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22.0%</a:t>
                      </a:r>
                    </a:p>
                  </a:txBody>
                  <a:tcPr>
                    <a:noFill/>
                  </a:tcPr>
                </a:tc>
                <a:tc>
                  <a:txBody>
                    <a:bodyPr/>
                    <a:lstStyle/>
                    <a:p>
                      <a:pPr algn="ctr"/>
                      <a:r>
                        <a:rPr sz="800" b="0">
                          <a:solidFill>
                            <a:srgbClr val="1A1A1A"/>
                          </a:solidFill>
                        </a:rPr>
                        <a:t>+8.0%</a:t>
                      </a:r>
                    </a:p>
                  </a:txBody>
                  <a:tcPr>
                    <a:noFill/>
                  </a:tcPr>
                </a:tc>
                <a:tc>
                  <a:txBody>
                    <a:bodyPr/>
                    <a:lstStyle/>
                    <a:p>
                      <a:pPr algn="ctr"/>
                      <a:r>
                        <a:rPr sz="800" b="0">
                          <a:solidFill>
                            <a:srgbClr val="1A1A1A"/>
                          </a:solidFill>
                        </a:rPr>
                        <a:t>+3.2%</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51</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17.0x</a:t>
                      </a:r>
                    </a:p>
                  </a:txBody>
                  <a:tcPr>
                    <a:solidFill>
                      <a:srgbClr val="F5F7FA"/>
                    </a:solidFill>
                  </a:tcPr>
                </a:tc>
                <a:tc>
                  <a:txBody>
                    <a:bodyPr/>
                    <a:lstStyle/>
                    <a:p>
                      <a:pPr algn="ctr"/>
                      <a:r>
                        <a:rPr sz="800" b="0">
                          <a:solidFill>
                            <a:srgbClr val="1A1A1A"/>
                          </a:solidFill>
                        </a:rPr>
                        <a:t>22.0%</a:t>
                      </a:r>
                    </a:p>
                  </a:txBody>
                  <a:tcPr>
                    <a:solidFill>
                      <a:srgbClr val="F5F7FA"/>
                    </a:solidFill>
                  </a:tcPr>
                </a:tc>
                <a:tc>
                  <a:txBody>
                    <a:bodyPr/>
                    <a:lstStyle/>
                    <a:p>
                      <a:pPr algn="ctr"/>
                      <a:r>
                        <a:rPr sz="800" b="0">
                          <a:solidFill>
                            <a:srgbClr val="1A1A1A"/>
                          </a:solidFill>
                        </a:rPr>
                        <a:t>+8.0%</a:t>
                      </a:r>
                    </a:p>
                  </a:txBody>
                  <a:tcPr>
                    <a:solidFill>
                      <a:srgbClr val="F5F7FA"/>
                    </a:solidFill>
                  </a:tcPr>
                </a:tc>
                <a:tc>
                  <a:txBody>
                    <a:bodyPr/>
                    <a:lstStyle/>
                    <a:p>
                      <a:pPr algn="ctr"/>
                      <a:r>
                        <a:rPr sz="800" b="0">
                          <a:solidFill>
                            <a:srgbClr val="1A1A1A"/>
                          </a:solidFill>
                        </a:rPr>
                        <a:t>+0.8%</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Financials</a:t>
                      </a:r>
                    </a:p>
                  </a:txBody>
                  <a:tcPr>
                    <a:noFill/>
                  </a:tcPr>
                </a:tc>
                <a:tc>
                  <a:txBody>
                    <a:bodyPr/>
                    <a:lstStyle/>
                    <a:p>
                      <a:pPr algn="ctr"/>
                      <a:r>
                        <a:rPr sz="800" b="0">
                          <a:solidFill>
                            <a:srgbClr val="1A1A1A"/>
                          </a:solidFill>
                        </a:rPr>
                        <a:t>50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9.0x</a:t>
                      </a:r>
                    </a:p>
                  </a:txBody>
                  <a:tcPr>
                    <a:noFill/>
                  </a:tcPr>
                </a:tc>
                <a:tc>
                  <a:txBody>
                    <a:bodyPr/>
                    <a:lstStyle/>
                    <a:p>
                      <a:pPr algn="ctr"/>
                      <a:r>
                        <a:rPr sz="800" b="0">
                          <a:solidFill>
                            <a:srgbClr val="1A1A1A"/>
                          </a:solidFill>
                        </a:rPr>
                        <a:t>22.0%</a:t>
                      </a:r>
                    </a:p>
                  </a:txBody>
                  <a:tcPr>
                    <a:noFill/>
                  </a:tcPr>
                </a:tc>
                <a:tc>
                  <a:txBody>
                    <a:bodyPr/>
                    <a:lstStyle/>
                    <a:p>
                      <a:pPr algn="ctr"/>
                      <a:r>
                        <a:rPr sz="800" b="0">
                          <a:solidFill>
                            <a:srgbClr val="1A1A1A"/>
                          </a:solidFill>
                        </a:rPr>
                        <a:t>+8.0%</a:t>
                      </a:r>
                    </a:p>
                  </a:txBody>
                  <a:tcPr>
                    <a:noFill/>
                  </a:tcPr>
                </a:tc>
                <a:tc>
                  <a:txBody>
                    <a:bodyPr/>
                    <a:lstStyle/>
                    <a:p>
                      <a:pPr algn="ctr"/>
                      <a:r>
                        <a:rPr sz="800" b="0">
                          <a:solidFill>
                            <a:srgbClr val="1A1A1A"/>
                          </a:solidFill>
                        </a:rPr>
                        <a:t>+0.2%</a:t>
                      </a:r>
                    </a:p>
                  </a:txBody>
                  <a:tcPr>
                    <a:no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Lecture analytique — Ce que la cartographie revele</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Seuls 6 secteur(s) sur 11 franchissent le seuil Surponderer (score &gt; 65) : Energy · Technology · Industrials. 0 secteur(s) en Sous-ponderer. La dispersion des scores illustre une bifurcation sectorielle marquee.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N/A en quadrant Premium Justifie — valorisation elevee supportee par forte croissance BPA.
Technology  ·  Industrials en zone Opportunite — croissance correcte a valorisation attractive.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Revisions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Revisions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80</a:t>
                      </a:r>
                    </a:p>
                  </a:txBody>
                  <a:tcPr>
                    <a:solidFill>
                      <a:srgbClr val="E8F5EE"/>
                    </a:solidFill>
                  </a:tcPr>
                </a:tc>
                <a:tc>
                  <a:txBody>
                    <a:bodyPr/>
                    <a:lstStyle/>
                    <a:p>
                      <a:pPr algn="ctr"/>
                      <a:r>
                        <a:rPr sz="800" b="0">
                          <a:solidFill>
                            <a:srgbClr val="1A1A1A"/>
                          </a:solidFill>
                        </a:rPr>
                        <a:t>32</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solidFill>
                      <a:srgbClr val="E8F5EE"/>
                    </a:solidFill>
                  </a:tcPr>
                </a:tc>
                <a:tc>
                  <a:txBody>
                    <a:bodyPr/>
                    <a:lstStyle/>
                    <a:p>
                      <a:pPr algn="ctr"/>
                      <a:r>
                        <a:rPr sz="800" b="0">
                          <a:solidFill>
                            <a:srgbClr val="1A1A1A"/>
                          </a:solidFill>
                        </a:rPr>
                        <a:t>31</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74</a:t>
                      </a:r>
                    </a:p>
                  </a:txBody>
                  <a:tcPr>
                    <a:solidFill>
                      <a:srgbClr val="E8F5EE"/>
                    </a:solidFill>
                  </a:tcPr>
                </a:tc>
                <a:tc>
                  <a:txBody>
                    <a:bodyPr/>
                    <a:lstStyle/>
                    <a:p>
                      <a:pPr algn="ctr"/>
                      <a:r>
                        <a:rPr sz="800" b="0">
                          <a:solidFill>
                            <a:srgbClr val="1A1A1A"/>
                          </a:solidFill>
                        </a:rPr>
                        <a:t>30</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Communication Servic</a:t>
                      </a:r>
                    </a:p>
                  </a:txBody>
                  <a:tcPr>
                    <a:solidFill>
                      <a:srgbClr val="F5F7FA"/>
                    </a:solidFill>
                  </a:tcPr>
                </a:tc>
                <a:tc>
                  <a:txBody>
                    <a:bodyPr/>
                    <a:lstStyle/>
                    <a:p>
                      <a:pPr algn="ctr"/>
                      <a:r>
                        <a:rPr sz="800" b="0">
                          <a:solidFill>
                            <a:srgbClr val="1A1A1A"/>
                          </a:solidFill>
                        </a:rPr>
                        <a:t>66</a:t>
                      </a:r>
                    </a:p>
                  </a:txBody>
                  <a:tcPr>
                    <a:solidFill>
                      <a:srgbClr val="E8F5EE"/>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Consumer Discretiona</a:t>
                      </a:r>
                    </a:p>
                  </a:txBody>
                  <a:tcPr>
                    <a:noFill/>
                  </a:tcPr>
                </a:tc>
                <a:tc>
                  <a:txBody>
                    <a:bodyPr/>
                    <a:lstStyle/>
                    <a:p>
                      <a:pPr algn="ctr"/>
                      <a:r>
                        <a:rPr sz="800" b="0">
                          <a:solidFill>
                            <a:srgbClr val="1A1A1A"/>
                          </a:solidFill>
                        </a:rPr>
                        <a:t>60</a:t>
                      </a:r>
                    </a:p>
                  </a:txBody>
                  <a:tcPr>
                    <a:solidFill>
                      <a:srgbClr val="FDF3E5"/>
                    </a:solidFill>
                  </a:tcPr>
                </a:tc>
                <a:tc>
                  <a:txBody>
                    <a:bodyPr/>
                    <a:lstStyle/>
                    <a:p>
                      <a:pPr algn="ctr"/>
                      <a:r>
                        <a:rPr sz="800" b="0">
                          <a:solidFill>
                            <a:srgbClr val="1A1A1A"/>
                          </a:solidFill>
                        </a:rPr>
                        <a:t>24</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Consumer Staples</a:t>
                      </a:r>
                    </a:p>
                  </a:txBody>
                  <a:tcPr>
                    <a:noFill/>
                  </a:tcPr>
                </a:tc>
                <a:tc>
                  <a:txBody>
                    <a:bodyPr/>
                    <a:lstStyle/>
                    <a:p>
                      <a:pPr algn="ctr"/>
                      <a:r>
                        <a:rPr sz="800" b="0">
                          <a:solidFill>
                            <a:srgbClr val="1A1A1A"/>
                          </a:solidFill>
                        </a:rPr>
                        <a:t>54</a:t>
                      </a:r>
                    </a:p>
                  </a:txBody>
                  <a:tcPr>
                    <a:solidFill>
                      <a:srgbClr val="FDF3E5"/>
                    </a:solid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51</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Financials</a:t>
                      </a:r>
                    </a:p>
                  </a:txBody>
                  <a:tcPr>
                    <a:no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Methode : composite 40 % momentum + 30 % revisions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Energy domine avec le score le plus eleve. Le momentum (34 pts) constitue le premier signal de confirmation. Les secteurs en vert sur les 3 dimensions offrent le meilleur profil composite. Croiser avec la valorisation relative pour identifier les meilleures opportunites d entree.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Recommandes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signal · Societes representatives · Zone d entree · Distribution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Surponderer  ·  Signal · Score · EV/EBITDA · Societes representatives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Energy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576000" cy="198000"/>
          </a:xfrm>
          <a:prstGeom prst="rect">
            <a:avLst/>
          </a:prstGeom>
          <a:noFill/>
        </p:spPr>
        <p:txBody>
          <a:bodyPr wrap="square">
            <a:spAutoFit/>
          </a:bodyPr>
          <a:lstStyle/>
          <a:p>
            <a:pPr algn="l"/>
            <a:r>
              <a:rPr sz="800" b="1" i="0">
                <a:solidFill>
                  <a:srgbClr val="1B3A6B"/>
                </a:solidFill>
              </a:rPr>
              <a:t>XOM</a:t>
            </a:r>
          </a:p>
        </p:txBody>
      </p:sp>
      <p:sp>
        <p:nvSpPr>
          <p:cNvPr id="24" name="TextBox 23"/>
          <p:cNvSpPr txBox="1"/>
          <p:nvPr/>
        </p:nvSpPr>
        <p:spPr>
          <a:xfrm>
            <a:off x="1044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584000" y="1620000"/>
            <a:ext cx="540000" cy="198000"/>
          </a:xfrm>
          <a:prstGeom prst="rect">
            <a:avLst/>
          </a:prstGeom>
          <a:noFill/>
        </p:spPr>
        <p:txBody>
          <a:bodyPr wrap="square">
            <a:spAutoFit/>
          </a:bodyPr>
          <a:lstStyle/>
          <a:p>
            <a:pPr algn="l"/>
            <a:r>
              <a:rPr sz="800" b="0" i="0">
                <a:solidFill>
                  <a:srgbClr val="555555"/>
                </a:solidFill>
              </a:rPr>
              <a:t>—</a:t>
            </a:r>
          </a:p>
        </p:txBody>
      </p:sp>
      <p:sp>
        <p:nvSpPr>
          <p:cNvPr id="26" name="TextBox 25"/>
          <p:cNvSpPr txBox="1"/>
          <p:nvPr/>
        </p:nvSpPr>
        <p:spPr>
          <a:xfrm>
            <a:off x="2124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576000" cy="198000"/>
          </a:xfrm>
          <a:prstGeom prst="rect">
            <a:avLst/>
          </a:prstGeom>
          <a:noFill/>
        </p:spPr>
        <p:txBody>
          <a:bodyPr wrap="square">
            <a:spAutoFit/>
          </a:bodyPr>
          <a:lstStyle/>
          <a:p>
            <a:pPr algn="l"/>
            <a:r>
              <a:rPr sz="800" b="1" i="0">
                <a:solidFill>
                  <a:srgbClr val="1B3A6B"/>
                </a:solidFill>
              </a:rPr>
              <a:t>CVX</a:t>
            </a:r>
          </a:p>
        </p:txBody>
      </p:sp>
      <p:sp>
        <p:nvSpPr>
          <p:cNvPr id="29" name="TextBox 28"/>
          <p:cNvSpPr txBox="1"/>
          <p:nvPr/>
        </p:nvSpPr>
        <p:spPr>
          <a:xfrm>
            <a:off x="1044000" y="1915200"/>
            <a:ext cx="540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584000" y="1915200"/>
            <a:ext cx="540000" cy="198000"/>
          </a:xfrm>
          <a:prstGeom prst="rect">
            <a:avLst/>
          </a:prstGeom>
          <a:noFill/>
        </p:spPr>
        <p:txBody>
          <a:bodyPr wrap="square">
            <a:spAutoFit/>
          </a:bodyPr>
          <a:lstStyle/>
          <a:p>
            <a:pPr algn="l"/>
            <a:r>
              <a:rPr sz="800" b="0" i="0">
                <a:solidFill>
                  <a:srgbClr val="555555"/>
                </a:solidFill>
              </a:rPr>
              <a:t>—</a:t>
            </a:r>
          </a:p>
        </p:txBody>
      </p:sp>
      <p:sp>
        <p:nvSpPr>
          <p:cNvPr id="31" name="TextBox 30"/>
          <p:cNvSpPr txBox="1"/>
          <p:nvPr/>
        </p:nvSpPr>
        <p:spPr>
          <a:xfrm>
            <a:off x="2124000" y="1915200"/>
            <a:ext cx="540000" cy="198000"/>
          </a:xfrm>
          <a:prstGeom prst="rect">
            <a:avLst/>
          </a:prstGeom>
          <a:noFill/>
        </p:spPr>
        <p:txBody>
          <a:bodyPr wrap="square">
            <a:spAutoFit/>
          </a:bodyPr>
          <a:lstStyle/>
          <a:p>
            <a:pPr algn="l"/>
            <a:r>
              <a:rPr sz="800" b="0" i="0">
                <a:solidFill>
                  <a:srgbClr val="555555"/>
                </a:solidFill>
              </a:rPr>
              <a:t>85</a:t>
            </a:r>
          </a:p>
        </p:txBody>
      </p:sp>
      <p:sp>
        <p:nvSpPr>
          <p:cNvPr id="32" name="Rectangle 31"/>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8000" y="2210400"/>
            <a:ext cx="576000" cy="198000"/>
          </a:xfrm>
          <a:prstGeom prst="rect">
            <a:avLst/>
          </a:prstGeom>
          <a:noFill/>
        </p:spPr>
        <p:txBody>
          <a:bodyPr wrap="square">
            <a:spAutoFit/>
          </a:bodyPr>
          <a:lstStyle/>
          <a:p>
            <a:pPr algn="l"/>
            <a:r>
              <a:rPr sz="800" b="1" i="0">
                <a:solidFill>
                  <a:srgbClr val="1B3A6B"/>
                </a:solidFill>
              </a:rPr>
              <a:t>COP</a:t>
            </a:r>
          </a:p>
        </p:txBody>
      </p:sp>
      <p:sp>
        <p:nvSpPr>
          <p:cNvPr id="34" name="TextBox 33"/>
          <p:cNvSpPr txBox="1"/>
          <p:nvPr/>
        </p:nvSpPr>
        <p:spPr>
          <a:xfrm>
            <a:off x="1044000" y="2210400"/>
            <a:ext cx="540000" cy="198000"/>
          </a:xfrm>
          <a:prstGeom prst="rect">
            <a:avLst/>
          </a:prstGeom>
          <a:noFill/>
        </p:spPr>
        <p:txBody>
          <a:bodyPr wrap="square">
            <a:spAutoFit/>
          </a:bodyPr>
          <a:lstStyle/>
          <a:p>
            <a:pPr algn="l"/>
            <a:r>
              <a:rPr sz="800" b="0" i="0">
                <a:solidFill>
                  <a:srgbClr val="1A7A4A"/>
                </a:solidFill>
              </a:rPr>
              <a:t>Surp.</a:t>
            </a:r>
          </a:p>
        </p:txBody>
      </p:sp>
      <p:sp>
        <p:nvSpPr>
          <p:cNvPr id="35" name="TextBox 34"/>
          <p:cNvSpPr txBox="1"/>
          <p:nvPr/>
        </p:nvSpPr>
        <p:spPr>
          <a:xfrm>
            <a:off x="1584000" y="2210400"/>
            <a:ext cx="540000" cy="198000"/>
          </a:xfrm>
          <a:prstGeom prst="rect">
            <a:avLst/>
          </a:prstGeom>
          <a:noFill/>
        </p:spPr>
        <p:txBody>
          <a:bodyPr wrap="square">
            <a:spAutoFit/>
          </a:bodyPr>
          <a:lstStyle/>
          <a:p>
            <a:pPr algn="l"/>
            <a:r>
              <a:rPr sz="800" b="0" i="0">
                <a:solidFill>
                  <a:srgbClr val="555555"/>
                </a:solidFill>
              </a:rPr>
              <a:t>—</a:t>
            </a:r>
          </a:p>
        </p:txBody>
      </p:sp>
      <p:sp>
        <p:nvSpPr>
          <p:cNvPr id="36" name="TextBox 35"/>
          <p:cNvSpPr txBox="1"/>
          <p:nvPr/>
        </p:nvSpPr>
        <p:spPr>
          <a:xfrm>
            <a:off x="2124000" y="2210400"/>
            <a:ext cx="540000" cy="198000"/>
          </a:xfrm>
          <a:prstGeom prst="rect">
            <a:avLst/>
          </a:prstGeom>
          <a:noFill/>
        </p:spPr>
        <p:txBody>
          <a:bodyPr wrap="square">
            <a:spAutoFit/>
          </a:bodyPr>
          <a:lstStyle/>
          <a:p>
            <a:pPr algn="l"/>
            <a:r>
              <a:rPr sz="800" b="0" i="0">
                <a:solidFill>
                  <a:srgbClr val="555555"/>
                </a:solidFill>
              </a:rPr>
              <a:t>85</a:t>
            </a:r>
          </a:p>
        </p:txBody>
      </p:sp>
      <p:sp>
        <p:nvSpPr>
          <p:cNvPr id="37" name="TextBox 3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8" name="Rectangle 3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YTD +60.6% — momentum sectoriel positif</a:t>
            </a:r>
          </a:p>
        </p:txBody>
      </p:sp>
      <p:sp>
        <p:nvSpPr>
          <p:cNvPr id="40" name="TextBox 3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1" name="Rectangle 4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43" name="Rectangle 4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46" name="Rectangle 4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8" name="TextBox 4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80/100  ·  EV/EBITDA : —</a:t>
            </a:r>
          </a:p>
        </p:txBody>
      </p:sp>
      <p:sp>
        <p:nvSpPr>
          <p:cNvPr id="49" name="TextBox 4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50" name="Rectangle 4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620000"/>
            <a:ext cx="576000" cy="198000"/>
          </a:xfrm>
          <a:prstGeom prst="rect">
            <a:avLst/>
          </a:prstGeom>
          <a:noFill/>
        </p:spPr>
        <p:txBody>
          <a:bodyPr wrap="square">
            <a:spAutoFit/>
          </a:bodyPr>
          <a:lstStyle/>
          <a:p>
            <a:pPr algn="l"/>
            <a:r>
              <a:rPr sz="800" b="1" i="0">
                <a:solidFill>
                  <a:srgbClr val="1B3A6B"/>
                </a:solidFill>
              </a:rPr>
              <a:t>AAPL</a:t>
            </a:r>
          </a:p>
        </p:txBody>
      </p:sp>
      <p:sp>
        <p:nvSpPr>
          <p:cNvPr id="52" name="TextBox 51"/>
          <p:cNvSpPr txBox="1"/>
          <p:nvPr/>
        </p:nvSpPr>
        <p:spPr>
          <a:xfrm>
            <a:off x="3870000" y="1620000"/>
            <a:ext cx="540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410000" y="1620000"/>
            <a:ext cx="540000" cy="198000"/>
          </a:xfrm>
          <a:prstGeom prst="rect">
            <a:avLst/>
          </a:prstGeom>
          <a:noFill/>
        </p:spPr>
        <p:txBody>
          <a:bodyPr wrap="square">
            <a:spAutoFit/>
          </a:bodyPr>
          <a:lstStyle/>
          <a:p>
            <a:pPr algn="l"/>
            <a:r>
              <a:rPr sz="800" b="0" i="0">
                <a:solidFill>
                  <a:srgbClr val="555555"/>
                </a:solidFill>
              </a:rPr>
              <a:t>—</a:t>
            </a:r>
          </a:p>
        </p:txBody>
      </p:sp>
      <p:sp>
        <p:nvSpPr>
          <p:cNvPr id="54" name="TextBox 53"/>
          <p:cNvSpPr txBox="1"/>
          <p:nvPr/>
        </p:nvSpPr>
        <p:spPr>
          <a:xfrm>
            <a:off x="4950000" y="1620000"/>
            <a:ext cx="540000" cy="198000"/>
          </a:xfrm>
          <a:prstGeom prst="rect">
            <a:avLst/>
          </a:prstGeom>
          <a:noFill/>
        </p:spPr>
        <p:txBody>
          <a:bodyPr wrap="square">
            <a:spAutoFit/>
          </a:bodyPr>
          <a:lstStyle/>
          <a:p>
            <a:pPr algn="l"/>
            <a:r>
              <a:rPr sz="800" b="0" i="0">
                <a:solidFill>
                  <a:srgbClr val="555555"/>
                </a:solidFill>
              </a:rPr>
              <a:t>77</a:t>
            </a:r>
          </a:p>
        </p:txBody>
      </p:sp>
      <p:sp>
        <p:nvSpPr>
          <p:cNvPr id="55" name="Rectangle 54"/>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1915200"/>
            <a:ext cx="576000" cy="198000"/>
          </a:xfrm>
          <a:prstGeom prst="rect">
            <a:avLst/>
          </a:prstGeom>
          <a:noFill/>
        </p:spPr>
        <p:txBody>
          <a:bodyPr wrap="square">
            <a:spAutoFit/>
          </a:bodyPr>
          <a:lstStyle/>
          <a:p>
            <a:pPr algn="l"/>
            <a:r>
              <a:rPr sz="800" b="1" i="0">
                <a:solidFill>
                  <a:srgbClr val="1B3A6B"/>
                </a:solidFill>
              </a:rPr>
              <a:t>MSFT</a:t>
            </a:r>
          </a:p>
        </p:txBody>
      </p:sp>
      <p:sp>
        <p:nvSpPr>
          <p:cNvPr id="57" name="TextBox 56"/>
          <p:cNvSpPr txBox="1"/>
          <p:nvPr/>
        </p:nvSpPr>
        <p:spPr>
          <a:xfrm>
            <a:off x="3870000" y="1915200"/>
            <a:ext cx="540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410000" y="1915200"/>
            <a:ext cx="540000" cy="198000"/>
          </a:xfrm>
          <a:prstGeom prst="rect">
            <a:avLst/>
          </a:prstGeom>
          <a:noFill/>
        </p:spPr>
        <p:txBody>
          <a:bodyPr wrap="square">
            <a:spAutoFit/>
          </a:bodyPr>
          <a:lstStyle/>
          <a:p>
            <a:pPr algn="l"/>
            <a:r>
              <a:rPr sz="800" b="0" i="0">
                <a:solidFill>
                  <a:srgbClr val="555555"/>
                </a:solidFill>
              </a:rPr>
              <a:t>—</a:t>
            </a:r>
          </a:p>
        </p:txBody>
      </p:sp>
      <p:sp>
        <p:nvSpPr>
          <p:cNvPr id="59" name="TextBox 58"/>
          <p:cNvSpPr txBox="1"/>
          <p:nvPr/>
        </p:nvSpPr>
        <p:spPr>
          <a:xfrm>
            <a:off x="4950000" y="1915200"/>
            <a:ext cx="540000" cy="198000"/>
          </a:xfrm>
          <a:prstGeom prst="rect">
            <a:avLst/>
          </a:prstGeom>
          <a:noFill/>
        </p:spPr>
        <p:txBody>
          <a:bodyPr wrap="square">
            <a:spAutoFit/>
          </a:bodyPr>
          <a:lstStyle/>
          <a:p>
            <a:pPr algn="l"/>
            <a:r>
              <a:rPr sz="800" b="0" i="0">
                <a:solidFill>
                  <a:srgbClr val="555555"/>
                </a:solidFill>
              </a:rPr>
              <a:t>77</a:t>
            </a:r>
          </a:p>
        </p:txBody>
      </p:sp>
      <p:sp>
        <p:nvSpPr>
          <p:cNvPr id="60" name="Rectangle 59"/>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210400"/>
            <a:ext cx="576000" cy="198000"/>
          </a:xfrm>
          <a:prstGeom prst="rect">
            <a:avLst/>
          </a:prstGeom>
          <a:noFill/>
        </p:spPr>
        <p:txBody>
          <a:bodyPr wrap="square">
            <a:spAutoFit/>
          </a:bodyPr>
          <a:lstStyle/>
          <a:p>
            <a:pPr algn="l"/>
            <a:r>
              <a:rPr sz="800" b="1" i="0">
                <a:solidFill>
                  <a:srgbClr val="1B3A6B"/>
                </a:solidFill>
              </a:rPr>
              <a:t>NVDA</a:t>
            </a:r>
          </a:p>
        </p:txBody>
      </p:sp>
      <p:sp>
        <p:nvSpPr>
          <p:cNvPr id="62" name="TextBox 61"/>
          <p:cNvSpPr txBox="1"/>
          <p:nvPr/>
        </p:nvSpPr>
        <p:spPr>
          <a:xfrm>
            <a:off x="3870000" y="2210400"/>
            <a:ext cx="540000" cy="198000"/>
          </a:xfrm>
          <a:prstGeom prst="rect">
            <a:avLst/>
          </a:prstGeom>
          <a:noFill/>
        </p:spPr>
        <p:txBody>
          <a:bodyPr wrap="square">
            <a:spAutoFit/>
          </a:bodyPr>
          <a:lstStyle/>
          <a:p>
            <a:pPr algn="l"/>
            <a:r>
              <a:rPr sz="800" b="0" i="0">
                <a:solidFill>
                  <a:srgbClr val="1A7A4A"/>
                </a:solidFill>
              </a:rPr>
              <a:t>Surp.</a:t>
            </a:r>
          </a:p>
        </p:txBody>
      </p:sp>
      <p:sp>
        <p:nvSpPr>
          <p:cNvPr id="63" name="TextBox 62"/>
          <p:cNvSpPr txBox="1"/>
          <p:nvPr/>
        </p:nvSpPr>
        <p:spPr>
          <a:xfrm>
            <a:off x="4410000" y="2210400"/>
            <a:ext cx="540000" cy="198000"/>
          </a:xfrm>
          <a:prstGeom prst="rect">
            <a:avLst/>
          </a:prstGeom>
          <a:noFill/>
        </p:spPr>
        <p:txBody>
          <a:bodyPr wrap="square">
            <a:spAutoFit/>
          </a:bodyPr>
          <a:lstStyle/>
          <a:p>
            <a:pPr algn="l"/>
            <a:r>
              <a:rPr sz="800" b="0" i="0">
                <a:solidFill>
                  <a:srgbClr val="555555"/>
                </a:solidFill>
              </a:rPr>
              <a:t>—</a:t>
            </a:r>
          </a:p>
        </p:txBody>
      </p:sp>
      <p:sp>
        <p:nvSpPr>
          <p:cNvPr id="64" name="TextBox 63"/>
          <p:cNvSpPr txBox="1"/>
          <p:nvPr/>
        </p:nvSpPr>
        <p:spPr>
          <a:xfrm>
            <a:off x="4950000" y="2210400"/>
            <a:ext cx="540000" cy="198000"/>
          </a:xfrm>
          <a:prstGeom prst="rect">
            <a:avLst/>
          </a:prstGeom>
          <a:noFill/>
        </p:spPr>
        <p:txBody>
          <a:bodyPr wrap="square">
            <a:spAutoFit/>
          </a:bodyPr>
          <a:lstStyle/>
          <a:p>
            <a:pPr algn="l"/>
            <a:r>
              <a:rPr sz="800" b="0" i="0">
                <a:solidFill>
                  <a:srgbClr val="555555"/>
                </a:solidFill>
              </a:rPr>
              <a:t>77</a:t>
            </a:r>
          </a:p>
        </p:txBody>
      </p:sp>
      <p:sp>
        <p:nvSpPr>
          <p:cNvPr id="65" name="TextBox 6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6" name="Rectangle 6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YTD +25.0% — momentum sectoriel positif</a:t>
            </a:r>
          </a:p>
        </p:txBody>
      </p:sp>
      <p:sp>
        <p:nvSpPr>
          <p:cNvPr id="68" name="TextBox 6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9" name="Rectangle 6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71" name="Rectangle 7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Industrials</a:t>
            </a:r>
          </a:p>
        </p:txBody>
      </p:sp>
      <p:sp>
        <p:nvSpPr>
          <p:cNvPr id="74" name="Rectangle 7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6" name="TextBox 7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78/100  ·  EV/EBITDA : —</a:t>
            </a:r>
          </a:p>
        </p:txBody>
      </p:sp>
      <p:sp>
        <p:nvSpPr>
          <p:cNvPr id="77" name="TextBox 7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78" name="Rectangle 7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620000"/>
            <a:ext cx="576000" cy="198000"/>
          </a:xfrm>
          <a:prstGeom prst="rect">
            <a:avLst/>
          </a:prstGeom>
          <a:noFill/>
        </p:spPr>
        <p:txBody>
          <a:bodyPr wrap="square">
            <a:spAutoFit/>
          </a:bodyPr>
          <a:lstStyle/>
          <a:p>
            <a:pPr algn="l"/>
            <a:r>
              <a:rPr sz="800" b="1" i="0">
                <a:solidFill>
                  <a:srgbClr val="1B3A6B"/>
                </a:solidFill>
              </a:rPr>
              <a:t>UNP</a:t>
            </a:r>
          </a:p>
        </p:txBody>
      </p:sp>
      <p:sp>
        <p:nvSpPr>
          <p:cNvPr id="80" name="TextBox 79"/>
          <p:cNvSpPr txBox="1"/>
          <p:nvPr/>
        </p:nvSpPr>
        <p:spPr>
          <a:xfrm>
            <a:off x="6695999" y="1620000"/>
            <a:ext cx="540000" cy="198000"/>
          </a:xfrm>
          <a:prstGeom prst="rect">
            <a:avLst/>
          </a:prstGeom>
          <a:noFill/>
        </p:spPr>
        <p:txBody>
          <a:bodyPr wrap="square">
            <a:spAutoFit/>
          </a:bodyPr>
          <a:lstStyle/>
          <a:p>
            <a:pPr algn="l"/>
            <a:r>
              <a:rPr sz="800" b="0" i="0">
                <a:solidFill>
                  <a:srgbClr val="1A7A4A"/>
                </a:solidFill>
              </a:rPr>
              <a:t>Surp.</a:t>
            </a:r>
          </a:p>
        </p:txBody>
      </p:sp>
      <p:sp>
        <p:nvSpPr>
          <p:cNvPr id="81" name="TextBox 80"/>
          <p:cNvSpPr txBox="1"/>
          <p:nvPr/>
        </p:nvSpPr>
        <p:spPr>
          <a:xfrm>
            <a:off x="7235999" y="1620000"/>
            <a:ext cx="540000" cy="198000"/>
          </a:xfrm>
          <a:prstGeom prst="rect">
            <a:avLst/>
          </a:prstGeom>
          <a:noFill/>
        </p:spPr>
        <p:txBody>
          <a:bodyPr wrap="square">
            <a:spAutoFit/>
          </a:bodyPr>
          <a:lstStyle/>
          <a:p>
            <a:pPr algn="l"/>
            <a:r>
              <a:rPr sz="800" b="0" i="0">
                <a:solidFill>
                  <a:srgbClr val="555555"/>
                </a:solidFill>
              </a:rPr>
              <a:t>—</a:t>
            </a:r>
          </a:p>
        </p:txBody>
      </p:sp>
      <p:sp>
        <p:nvSpPr>
          <p:cNvPr id="82" name="TextBox 81"/>
          <p:cNvSpPr txBox="1"/>
          <p:nvPr/>
        </p:nvSpPr>
        <p:spPr>
          <a:xfrm>
            <a:off x="7775999" y="1620000"/>
            <a:ext cx="540000" cy="198000"/>
          </a:xfrm>
          <a:prstGeom prst="rect">
            <a:avLst/>
          </a:prstGeom>
          <a:noFill/>
        </p:spPr>
        <p:txBody>
          <a:bodyPr wrap="square">
            <a:spAutoFit/>
          </a:bodyPr>
          <a:lstStyle/>
          <a:p>
            <a:pPr algn="l"/>
            <a:r>
              <a:rPr sz="800" b="0" i="0">
                <a:solidFill>
                  <a:srgbClr val="555555"/>
                </a:solidFill>
              </a:rPr>
              <a:t>72</a:t>
            </a:r>
          </a:p>
        </p:txBody>
      </p:sp>
      <p:sp>
        <p:nvSpPr>
          <p:cNvPr id="83" name="Rectangle 82"/>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19999" y="1915200"/>
            <a:ext cx="576000" cy="198000"/>
          </a:xfrm>
          <a:prstGeom prst="rect">
            <a:avLst/>
          </a:prstGeom>
          <a:noFill/>
        </p:spPr>
        <p:txBody>
          <a:bodyPr wrap="square">
            <a:spAutoFit/>
          </a:bodyPr>
          <a:lstStyle/>
          <a:p>
            <a:pPr algn="l"/>
            <a:r>
              <a:rPr sz="800" b="1" i="0">
                <a:solidFill>
                  <a:srgbClr val="1B3A6B"/>
                </a:solidFill>
              </a:rPr>
              <a:t>RTX</a:t>
            </a:r>
          </a:p>
        </p:txBody>
      </p:sp>
      <p:sp>
        <p:nvSpPr>
          <p:cNvPr id="85" name="TextBox 84"/>
          <p:cNvSpPr txBox="1"/>
          <p:nvPr/>
        </p:nvSpPr>
        <p:spPr>
          <a:xfrm>
            <a:off x="6695999" y="1915200"/>
            <a:ext cx="540000" cy="198000"/>
          </a:xfrm>
          <a:prstGeom prst="rect">
            <a:avLst/>
          </a:prstGeom>
          <a:noFill/>
        </p:spPr>
        <p:txBody>
          <a:bodyPr wrap="square">
            <a:spAutoFit/>
          </a:bodyPr>
          <a:lstStyle/>
          <a:p>
            <a:pPr algn="l"/>
            <a:r>
              <a:rPr sz="800" b="0" i="0">
                <a:solidFill>
                  <a:srgbClr val="1A7A4A"/>
                </a:solidFill>
              </a:rPr>
              <a:t>Surp.</a:t>
            </a:r>
          </a:p>
        </p:txBody>
      </p:sp>
      <p:sp>
        <p:nvSpPr>
          <p:cNvPr id="86" name="TextBox 85"/>
          <p:cNvSpPr txBox="1"/>
          <p:nvPr/>
        </p:nvSpPr>
        <p:spPr>
          <a:xfrm>
            <a:off x="7235999" y="1915200"/>
            <a:ext cx="540000" cy="198000"/>
          </a:xfrm>
          <a:prstGeom prst="rect">
            <a:avLst/>
          </a:prstGeom>
          <a:noFill/>
        </p:spPr>
        <p:txBody>
          <a:bodyPr wrap="square">
            <a:spAutoFit/>
          </a:bodyPr>
          <a:lstStyle/>
          <a:p>
            <a:pPr algn="l"/>
            <a:r>
              <a:rPr sz="800" b="0" i="0">
                <a:solidFill>
                  <a:srgbClr val="555555"/>
                </a:solidFill>
              </a:rPr>
              <a:t>—</a:t>
            </a:r>
          </a:p>
        </p:txBody>
      </p:sp>
      <p:sp>
        <p:nvSpPr>
          <p:cNvPr id="87" name="TextBox 86"/>
          <p:cNvSpPr txBox="1"/>
          <p:nvPr/>
        </p:nvSpPr>
        <p:spPr>
          <a:xfrm>
            <a:off x="7775999" y="1915200"/>
            <a:ext cx="540000" cy="198000"/>
          </a:xfrm>
          <a:prstGeom prst="rect">
            <a:avLst/>
          </a:prstGeom>
          <a:noFill/>
        </p:spPr>
        <p:txBody>
          <a:bodyPr wrap="square">
            <a:spAutoFit/>
          </a:bodyPr>
          <a:lstStyle/>
          <a:p>
            <a:pPr algn="l"/>
            <a:r>
              <a:rPr sz="800" b="0" i="0">
                <a:solidFill>
                  <a:srgbClr val="555555"/>
                </a:solidFill>
              </a:rPr>
              <a:t>72</a:t>
            </a:r>
          </a:p>
        </p:txBody>
      </p:sp>
      <p:sp>
        <p:nvSpPr>
          <p:cNvPr id="88" name="Rectangle 87"/>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119999" y="2210400"/>
            <a:ext cx="576000" cy="198000"/>
          </a:xfrm>
          <a:prstGeom prst="rect">
            <a:avLst/>
          </a:prstGeom>
          <a:noFill/>
        </p:spPr>
        <p:txBody>
          <a:bodyPr wrap="square">
            <a:spAutoFit/>
          </a:bodyPr>
          <a:lstStyle/>
          <a:p>
            <a:pPr algn="l"/>
            <a:r>
              <a:rPr sz="800" b="1" i="0">
                <a:solidFill>
                  <a:srgbClr val="1B3A6B"/>
                </a:solidFill>
              </a:rPr>
              <a:t>HON</a:t>
            </a:r>
          </a:p>
        </p:txBody>
      </p:sp>
      <p:sp>
        <p:nvSpPr>
          <p:cNvPr id="90" name="TextBox 89"/>
          <p:cNvSpPr txBox="1"/>
          <p:nvPr/>
        </p:nvSpPr>
        <p:spPr>
          <a:xfrm>
            <a:off x="6695999" y="2210400"/>
            <a:ext cx="540000" cy="198000"/>
          </a:xfrm>
          <a:prstGeom prst="rect">
            <a:avLst/>
          </a:prstGeom>
          <a:noFill/>
        </p:spPr>
        <p:txBody>
          <a:bodyPr wrap="square">
            <a:spAutoFit/>
          </a:bodyPr>
          <a:lstStyle/>
          <a:p>
            <a:pPr algn="l"/>
            <a:r>
              <a:rPr sz="800" b="0" i="0">
                <a:solidFill>
                  <a:srgbClr val="1A7A4A"/>
                </a:solidFill>
              </a:rPr>
              <a:t>Surp.</a:t>
            </a:r>
          </a:p>
        </p:txBody>
      </p:sp>
      <p:sp>
        <p:nvSpPr>
          <p:cNvPr id="91" name="TextBox 90"/>
          <p:cNvSpPr txBox="1"/>
          <p:nvPr/>
        </p:nvSpPr>
        <p:spPr>
          <a:xfrm>
            <a:off x="7235999" y="2210400"/>
            <a:ext cx="540000" cy="198000"/>
          </a:xfrm>
          <a:prstGeom prst="rect">
            <a:avLst/>
          </a:prstGeom>
          <a:noFill/>
        </p:spPr>
        <p:txBody>
          <a:bodyPr wrap="square">
            <a:spAutoFit/>
          </a:bodyPr>
          <a:lstStyle/>
          <a:p>
            <a:pPr algn="l"/>
            <a:r>
              <a:rPr sz="800" b="0" i="0">
                <a:solidFill>
                  <a:srgbClr val="555555"/>
                </a:solidFill>
              </a:rPr>
              <a:t>—</a:t>
            </a:r>
          </a:p>
        </p:txBody>
      </p:sp>
      <p:sp>
        <p:nvSpPr>
          <p:cNvPr id="92" name="TextBox 91"/>
          <p:cNvSpPr txBox="1"/>
          <p:nvPr/>
        </p:nvSpPr>
        <p:spPr>
          <a:xfrm>
            <a:off x="7775999" y="2210400"/>
            <a:ext cx="540000" cy="198000"/>
          </a:xfrm>
          <a:prstGeom prst="rect">
            <a:avLst/>
          </a:prstGeom>
          <a:noFill/>
        </p:spPr>
        <p:txBody>
          <a:bodyPr wrap="square">
            <a:spAutoFit/>
          </a:bodyPr>
          <a:lstStyle/>
          <a:p>
            <a:pPr algn="l"/>
            <a:r>
              <a:rPr sz="800" b="0" i="0">
                <a:solidFill>
                  <a:srgbClr val="555555"/>
                </a:solidFill>
              </a:rPr>
              <a:t>72</a:t>
            </a:r>
          </a:p>
        </p:txBody>
      </p:sp>
      <p:sp>
        <p:nvSpPr>
          <p:cNvPr id="93" name="TextBox 9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94" name="Rectangle 9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YTD +23.7% — momentum sectoriel positif</a:t>
            </a:r>
          </a:p>
        </p:txBody>
      </p:sp>
      <p:sp>
        <p:nvSpPr>
          <p:cNvPr id="96" name="TextBox 9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97" name="Rectangle 9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99" name="Rectangle 9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 Sectorielles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par secteur  ·  Vert = Surponderer · Amber = Neutre · Rouge = Sous-ponderer</a:t>
            </a:r>
          </a:p>
        </p:txBody>
      </p:sp>
      <p:pic>
        <p:nvPicPr>
          <p:cNvPr id="15" name="Picture 14" descr="image.png"/>
          <p:cNvPicPr>
            <a:picLocks noChangeAspect="1"/>
          </p:cNvPicPr>
          <p:nvPr/>
        </p:nvPicPr>
        <p:blipFill>
          <a:blip r:embed="rId2"/>
          <a:stretch>
            <a:fillRect/>
          </a:stretch>
        </p:blipFill>
        <p:spPr>
          <a:xfrm>
            <a:off x="324000" y="827999"/>
            <a:ext cx="5040000" cy="3168000"/>
          </a:xfrm>
          <a:prstGeom prst="rect">
            <a:avLst/>
          </a:prstGeom>
        </p:spPr>
      </p:pic>
      <p:sp>
        <p:nvSpPr>
          <p:cNvPr id="16" name="Rectangle 15"/>
          <p:cNvSpPr/>
          <p:nvPr/>
        </p:nvSpPr>
        <p:spPr>
          <a:xfrm>
            <a:off x="5544000" y="827999"/>
            <a:ext cx="3276000" cy="31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44000" y="827999"/>
            <a:ext cx="43200" cy="316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2000" y="864000"/>
            <a:ext cx="3096000" cy="216000"/>
          </a:xfrm>
          <a:prstGeom prst="rect">
            <a:avLst/>
          </a:prstGeom>
          <a:noFill/>
        </p:spPr>
        <p:txBody>
          <a:bodyPr wrap="square">
            <a:spAutoFit/>
          </a:bodyPr>
          <a:lstStyle/>
          <a:p>
            <a:pPr algn="l"/>
            <a:r>
              <a:rPr sz="850" b="1" i="0">
                <a:solidFill>
                  <a:srgbClr val="1B3A6B"/>
                </a:solidFill>
              </a:rPr>
              <a:t>Lecture de la Distribution</a:t>
            </a:r>
          </a:p>
        </p:txBody>
      </p:sp>
      <p:sp>
        <p:nvSpPr>
          <p:cNvPr id="19" name="TextBox 18"/>
          <p:cNvSpPr txBox="1"/>
          <p:nvPr/>
        </p:nvSpPr>
        <p:spPr>
          <a:xfrm>
            <a:off x="5652000" y="1116000"/>
            <a:ext cx="3096000" cy="2808000"/>
          </a:xfrm>
          <a:prstGeom prst="rect">
            <a:avLst/>
          </a:prstGeom>
          <a:noFill/>
        </p:spPr>
        <p:txBody>
          <a:bodyPr wrap="square">
            <a:spAutoFit/>
          </a:bodyPr>
          <a:lstStyle/>
          <a:p>
            <a:pPr algn="l"/>
            <a:r>
              <a:rPr sz="800" b="0" i="0">
                <a:solidFill>
                  <a:srgbClr val="555555"/>
                </a:solidFill>
              </a:rPr>
              <a:t>Technology traite a 18.0x — prime de 50 % vs la mediane sectorielle (12.0x). Cette prime est justifiee par une croissance BPA structurellement elevee.
Energy offre la valorisation la plus attractive (6.0x) mais le signal Surponderer reflète les risques specifiques au secteur.
Mediane sectorielle : 12.0x EV/EBITDA — seuil de reference pour evaluer la cherté relative.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mediane historique 10 ans  ·  Signal d entree Accumuler / Neutre / Alleger</a:t>
            </a:r>
          </a:p>
        </p:txBody>
      </p:sp>
      <p:pic>
        <p:nvPicPr>
          <p:cNvPr id="15" name="Picture 14" descr="image.png"/>
          <p:cNvPicPr>
            <a:picLocks noChangeAspect="1"/>
          </p:cNvPicPr>
          <p:nvPr/>
        </p:nvPicPr>
        <p:blipFill>
          <a:blip r:embed="rId2"/>
          <a:stretch>
            <a:fillRect/>
          </a:stretch>
        </p:blipFill>
        <p:spPr>
          <a:xfrm>
            <a:off x="324000" y="827999"/>
            <a:ext cx="8496000" cy="2592000"/>
          </a:xfrm>
          <a:prstGeom prst="rect">
            <a:avLst/>
          </a:prstGeom>
        </p:spPr>
      </p:pic>
      <p:sp>
        <p:nvSpPr>
          <p:cNvPr id="16" name="Rectangle 15"/>
          <p:cNvSpPr/>
          <p:nvPr/>
        </p:nvSpPr>
        <p:spPr>
          <a:xfrm>
            <a:off x="324000" y="3564000"/>
            <a:ext cx="8496000" cy="124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564000"/>
            <a:ext cx="43200" cy="124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618000"/>
            <a:ext cx="8208000" cy="216000"/>
          </a:xfrm>
          <a:prstGeom prst="rect">
            <a:avLst/>
          </a:prstGeom>
          <a:noFill/>
        </p:spPr>
        <p:txBody>
          <a:bodyPr wrap="square">
            <a:spAutoFit/>
          </a:bodyPr>
          <a:lstStyle/>
          <a:p>
            <a:pPr algn="l"/>
            <a:r>
              <a:rPr sz="800" b="1" i="0">
                <a:solidFill>
                  <a:srgbClr val="1B3A6B"/>
                </a:solidFill>
              </a:rPr>
              <a:t>Lecture — Secteurs en zone d entree optimale</a:t>
            </a:r>
          </a:p>
        </p:txBody>
      </p:sp>
      <p:sp>
        <p:nvSpPr>
          <p:cNvPr id="19" name="TextBox 18"/>
          <p:cNvSpPr txBox="1"/>
          <p:nvPr/>
        </p:nvSpPr>
        <p:spPr>
          <a:xfrm>
            <a:off x="432000" y="3852000"/>
            <a:ext cx="8208000" cy="918000"/>
          </a:xfrm>
          <a:prstGeom prst="rect">
            <a:avLst/>
          </a:prstGeom>
          <a:noFill/>
        </p:spPr>
        <p:txBody>
          <a:bodyPr wrap="square">
            <a:spAutoFit/>
          </a:bodyPr>
          <a:lstStyle/>
          <a:p>
            <a:pPr algn="l"/>
            <a:r>
              <a:rPr sz="750" b="0" i="0">
                <a:solidFill>
                  <a:srgbClr val="555555"/>
                </a:solidFill>
              </a:rPr>
              <a:t>Aucun secteur Surponderer offrent les meilleures zones d entree parmi les secteurs recommandes : P/E Forward inferieur ou proche de la mediane historique 10 ans — profil risque/rendement favorable. Les secteurs au-dessus de la mediane (+20 %) meritent une prudence accrue sur le point d entree.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Scenarios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Scenarios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scenarios alternatifs  ·  Conditions d invalidation du signal Surponderer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Recession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revision BPA -15/-20 %. Signal passerait Sous-ponderer.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prolonge</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 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geopolitique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geopolitique — spike VIX &gt; 35, rotation defensive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SURPONDERER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S&amp;P 500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Economique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Sensibilites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favorisee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Communication Servic</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Consumer Discretiona</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Consumer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Alleger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Synthese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avancee, le signal Accumuler se concentre sur les secteurs a forte croissance BPA et pricing power : Technology (IA), Health Care (FDA pipeline), Financials (NIM). Le signal Alleger cible Real Estate (pression taux directe) et Utilities (compres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FinBERT Agrege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semantique FinBERT  ·  420 articles  ·  7 jours glissants  ·  11 secteurs</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0.060</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agrege FinBERT</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12320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080000" cy="162000"/>
          </a:xfrm>
          <a:prstGeom prst="rect">
            <a:avLst/>
          </a:prstGeom>
          <a:noFill/>
        </p:spPr>
        <p:txBody>
          <a:bodyPr wrap="square">
            <a:spAutoFit/>
          </a:bodyPr>
          <a:lstStyle/>
          <a:p>
            <a:pPr algn="l"/>
            <a:r>
              <a:rPr sz="850" b="1" i="0">
                <a:solidFill>
                  <a:srgbClr val="FFFFFF"/>
                </a:solidFill>
              </a:rPr>
              <a:t>Positif</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168 articles (40 %)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12636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08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189 articles (45 %)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42120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080000" cy="162000"/>
          </a:xfrm>
          <a:prstGeom prst="rect">
            <a:avLst/>
          </a:prstGeom>
          <a:noFill/>
        </p:spPr>
        <p:txBody>
          <a:bodyPr wrap="square">
            <a:spAutoFit/>
          </a:bodyPr>
          <a:lstStyle/>
          <a:p>
            <a:pPr algn="l"/>
            <a:r>
              <a:rPr sz="850" b="1" i="0">
                <a:solidFill>
                  <a:srgbClr val="FFFFFF"/>
                </a:solidFill>
              </a:rPr>
              <a:t>Negatif</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FFFFFF"/>
                </a:solidFill>
              </a:rPr>
              <a:t>63 articles (15 %)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Themes dominants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 —</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 —</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Distribution sentiment par secteur</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ETF SPDR sectoriels  ·  Indexe a 100 au debut de la periode  ·  Donnees yfinance</a:t>
            </a:r>
          </a:p>
        </p:txBody>
      </p:sp>
      <p:pic>
        <p:nvPicPr>
          <p:cNvPr id="15" name="Picture 14" descr="image.png"/>
          <p:cNvPicPr>
            <a:picLocks noChangeAspect="1"/>
          </p:cNvPicPr>
          <p:nvPr/>
        </p:nvPicPr>
        <p:blipFill>
          <a:blip r:embed="rId2"/>
          <a:stretch>
            <a:fillRect/>
          </a:stretch>
        </p:blipFill>
        <p:spPr>
          <a:xfrm>
            <a:off x="324000" y="827999"/>
            <a:ext cx="5400000" cy="3996000"/>
          </a:xfrm>
          <a:prstGeom prst="rect">
            <a:avLst/>
          </a:prstGeom>
        </p:spPr>
      </p:pic>
      <p:sp>
        <p:nvSpPr>
          <p:cNvPr id="16" name="Rectangle 15"/>
          <p:cNvSpPr/>
          <p:nvPr/>
        </p:nvSpPr>
        <p:spPr>
          <a:xfrm>
            <a:off x="5903999" y="827999"/>
            <a:ext cx="2916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ETF SPDR</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XLE  —  Energy</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800" b="1" i="0">
                <a:solidFill>
                  <a:srgbClr val="1A7A4A"/>
                </a:solidFill>
              </a:rPr>
              <a:t>+60.6 %</a:t>
            </a:r>
          </a:p>
        </p:txBody>
      </p:sp>
      <p:sp>
        <p:nvSpPr>
          <p:cNvPr id="22" name="Rectangle 21"/>
          <p:cNvSpPr/>
          <p:nvPr/>
        </p:nvSpPr>
        <p:spPr>
          <a:xfrm>
            <a:off x="5940000" y="1620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65999"/>
            <a:ext cx="2556000" cy="198000"/>
          </a:xfrm>
          <a:prstGeom prst="rect">
            <a:avLst/>
          </a:prstGeom>
          <a:noFill/>
        </p:spPr>
        <p:txBody>
          <a:bodyPr wrap="square">
            <a:spAutoFit/>
          </a:bodyPr>
          <a:lstStyle/>
          <a:p>
            <a:pPr algn="l"/>
            <a:r>
              <a:rPr sz="750" b="1" i="0">
                <a:solidFill>
                  <a:srgbClr val="1B3A6B"/>
                </a:solidFill>
              </a:rPr>
              <a:t>XLK  —  Technology</a:t>
            </a:r>
          </a:p>
        </p:txBody>
      </p:sp>
      <p:sp>
        <p:nvSpPr>
          <p:cNvPr id="24" name="TextBox 23"/>
          <p:cNvSpPr txBox="1"/>
          <p:nvPr/>
        </p:nvSpPr>
        <p:spPr>
          <a:xfrm>
            <a:off x="6192000" y="1763999"/>
            <a:ext cx="2556000" cy="198000"/>
          </a:xfrm>
          <a:prstGeom prst="rect">
            <a:avLst/>
          </a:prstGeom>
          <a:noFill/>
        </p:spPr>
        <p:txBody>
          <a:bodyPr wrap="square">
            <a:spAutoFit/>
          </a:bodyPr>
          <a:lstStyle/>
          <a:p>
            <a:pPr algn="l"/>
            <a:r>
              <a:rPr sz="800" b="1" i="0">
                <a:solidFill>
                  <a:srgbClr val="1A7A4A"/>
                </a:solidFill>
              </a:rPr>
              <a:t>+25.0 %</a:t>
            </a:r>
          </a:p>
        </p:txBody>
      </p:sp>
      <p:sp>
        <p:nvSpPr>
          <p:cNvPr id="25" name="Rectangle 24"/>
          <p:cNvSpPr/>
          <p:nvPr/>
        </p:nvSpPr>
        <p:spPr>
          <a:xfrm>
            <a:off x="5940000" y="2052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998000"/>
            <a:ext cx="2556000" cy="198000"/>
          </a:xfrm>
          <a:prstGeom prst="rect">
            <a:avLst/>
          </a:prstGeom>
          <a:noFill/>
        </p:spPr>
        <p:txBody>
          <a:bodyPr wrap="square">
            <a:spAutoFit/>
          </a:bodyPr>
          <a:lstStyle/>
          <a:p>
            <a:pPr algn="l"/>
            <a:r>
              <a:rPr sz="750" b="1" i="0">
                <a:solidFill>
                  <a:srgbClr val="1B3A6B"/>
                </a:solidFill>
              </a:rPr>
              <a:t>XLI  —  Industrials</a:t>
            </a:r>
          </a:p>
        </p:txBody>
      </p:sp>
      <p:sp>
        <p:nvSpPr>
          <p:cNvPr id="27" name="TextBox 26"/>
          <p:cNvSpPr txBox="1"/>
          <p:nvPr/>
        </p:nvSpPr>
        <p:spPr>
          <a:xfrm>
            <a:off x="6192000" y="2196000"/>
            <a:ext cx="2556000" cy="198000"/>
          </a:xfrm>
          <a:prstGeom prst="rect">
            <a:avLst/>
          </a:prstGeom>
          <a:noFill/>
        </p:spPr>
        <p:txBody>
          <a:bodyPr wrap="square">
            <a:spAutoFit/>
          </a:bodyPr>
          <a:lstStyle/>
          <a:p>
            <a:pPr algn="l"/>
            <a:r>
              <a:rPr sz="800" b="1" i="0">
                <a:solidFill>
                  <a:srgbClr val="1A7A4A"/>
                </a:solidFill>
              </a:rPr>
              <a:t>+23.7 %</a:t>
            </a:r>
          </a:p>
        </p:txBody>
      </p:sp>
      <p:sp>
        <p:nvSpPr>
          <p:cNvPr id="28" name="Rectangle 27"/>
          <p:cNvSpPr/>
          <p:nvPr/>
        </p:nvSpPr>
        <p:spPr>
          <a:xfrm>
            <a:off x="5940000" y="2484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30000"/>
            <a:ext cx="2556000" cy="198000"/>
          </a:xfrm>
          <a:prstGeom prst="rect">
            <a:avLst/>
          </a:prstGeom>
          <a:noFill/>
        </p:spPr>
        <p:txBody>
          <a:bodyPr wrap="square">
            <a:spAutoFit/>
          </a:bodyPr>
          <a:lstStyle/>
          <a:p>
            <a:pPr algn="l"/>
            <a:r>
              <a:rPr sz="750" b="1" i="0">
                <a:solidFill>
                  <a:srgbClr val="1B3A6B"/>
                </a:solidFill>
              </a:rPr>
              <a:t>XLU  —  Utilities</a:t>
            </a:r>
          </a:p>
        </p:txBody>
      </p:sp>
      <p:sp>
        <p:nvSpPr>
          <p:cNvPr id="30" name="TextBox 29"/>
          <p:cNvSpPr txBox="1"/>
          <p:nvPr/>
        </p:nvSpPr>
        <p:spPr>
          <a:xfrm>
            <a:off x="6192000" y="2628000"/>
            <a:ext cx="2556000" cy="198000"/>
          </a:xfrm>
          <a:prstGeom prst="rect">
            <a:avLst/>
          </a:prstGeom>
          <a:noFill/>
        </p:spPr>
        <p:txBody>
          <a:bodyPr wrap="square">
            <a:spAutoFit/>
          </a:bodyPr>
          <a:lstStyle/>
          <a:p>
            <a:pPr algn="l"/>
            <a:r>
              <a:rPr sz="800" b="1" i="0">
                <a:solidFill>
                  <a:srgbClr val="1A7A4A"/>
                </a:solidFill>
              </a:rPr>
              <a:t>+19.7 %</a:t>
            </a:r>
          </a:p>
        </p:txBody>
      </p:sp>
      <p:sp>
        <p:nvSpPr>
          <p:cNvPr id="31" name="Rectangle 30"/>
          <p:cNvSpPr/>
          <p:nvPr/>
        </p:nvSpPr>
        <p:spPr>
          <a:xfrm>
            <a:off x="5940000" y="2916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861999"/>
            <a:ext cx="2556000" cy="198000"/>
          </a:xfrm>
          <a:prstGeom prst="rect">
            <a:avLst/>
          </a:prstGeom>
          <a:noFill/>
        </p:spPr>
        <p:txBody>
          <a:bodyPr wrap="square">
            <a:spAutoFit/>
          </a:bodyPr>
          <a:lstStyle/>
          <a:p>
            <a:pPr algn="l"/>
            <a:r>
              <a:rPr sz="750" b="1" i="0">
                <a:solidFill>
                  <a:srgbClr val="1B3A6B"/>
                </a:solidFill>
              </a:rPr>
              <a:t>XLB  —  Materials</a:t>
            </a:r>
          </a:p>
        </p:txBody>
      </p:sp>
      <p:sp>
        <p:nvSpPr>
          <p:cNvPr id="33" name="TextBox 32"/>
          <p:cNvSpPr txBox="1"/>
          <p:nvPr/>
        </p:nvSpPr>
        <p:spPr>
          <a:xfrm>
            <a:off x="6192000" y="3060000"/>
            <a:ext cx="2556000" cy="198000"/>
          </a:xfrm>
          <a:prstGeom prst="rect">
            <a:avLst/>
          </a:prstGeom>
          <a:noFill/>
        </p:spPr>
        <p:txBody>
          <a:bodyPr wrap="square">
            <a:spAutoFit/>
          </a:bodyPr>
          <a:lstStyle/>
          <a:p>
            <a:pPr algn="l"/>
            <a:r>
              <a:rPr sz="800" b="1" i="0">
                <a:solidFill>
                  <a:srgbClr val="1A7A4A"/>
                </a:solidFill>
              </a:rPr>
              <a:t>+19.3 %</a:t>
            </a:r>
          </a:p>
        </p:txBody>
      </p:sp>
      <p:sp>
        <p:nvSpPr>
          <p:cNvPr id="34" name="Rectangle 33"/>
          <p:cNvSpPr/>
          <p:nvPr/>
        </p:nvSpPr>
        <p:spPr>
          <a:xfrm>
            <a:off x="5940000" y="334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294000"/>
            <a:ext cx="2556000" cy="198000"/>
          </a:xfrm>
          <a:prstGeom prst="rect">
            <a:avLst/>
          </a:prstGeom>
          <a:noFill/>
        </p:spPr>
        <p:txBody>
          <a:bodyPr wrap="square">
            <a:spAutoFit/>
          </a:bodyPr>
          <a:lstStyle/>
          <a:p>
            <a:pPr algn="l"/>
            <a:r>
              <a:rPr sz="750" b="1" i="0">
                <a:solidFill>
                  <a:srgbClr val="1B3A6B"/>
                </a:solidFill>
              </a:rPr>
              <a:t>XLC  —  Communication Serv</a:t>
            </a:r>
          </a:p>
        </p:txBody>
      </p:sp>
      <p:sp>
        <p:nvSpPr>
          <p:cNvPr id="36" name="TextBox 35"/>
          <p:cNvSpPr txBox="1"/>
          <p:nvPr/>
        </p:nvSpPr>
        <p:spPr>
          <a:xfrm>
            <a:off x="6192000" y="3492000"/>
            <a:ext cx="2556000" cy="198000"/>
          </a:xfrm>
          <a:prstGeom prst="rect">
            <a:avLst/>
          </a:prstGeom>
          <a:noFill/>
        </p:spPr>
        <p:txBody>
          <a:bodyPr wrap="square">
            <a:spAutoFit/>
          </a:bodyPr>
          <a:lstStyle/>
          <a:p>
            <a:pPr algn="l"/>
            <a:r>
              <a:rPr sz="800" b="1" i="0">
                <a:solidFill>
                  <a:srgbClr val="1A7A4A"/>
                </a:solidFill>
              </a:rPr>
              <a:t>+13.7 %</a:t>
            </a:r>
          </a:p>
        </p:txBody>
      </p:sp>
      <p:sp>
        <p:nvSpPr>
          <p:cNvPr id="37" name="Rectangle 36"/>
          <p:cNvSpPr/>
          <p:nvPr/>
        </p:nvSpPr>
        <p:spPr>
          <a:xfrm>
            <a:off x="5940000" y="3780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726000"/>
            <a:ext cx="2556000" cy="198000"/>
          </a:xfrm>
          <a:prstGeom prst="rect">
            <a:avLst/>
          </a:prstGeom>
          <a:noFill/>
        </p:spPr>
        <p:txBody>
          <a:bodyPr wrap="square">
            <a:spAutoFit/>
          </a:bodyPr>
          <a:lstStyle/>
          <a:p>
            <a:pPr algn="l"/>
            <a:r>
              <a:rPr sz="750" b="1" i="0">
                <a:solidFill>
                  <a:srgbClr val="1B3A6B"/>
                </a:solidFill>
              </a:rPr>
              <a:t>XLY  —  Consumer Discretio</a:t>
            </a:r>
          </a:p>
        </p:txBody>
      </p:sp>
      <p:sp>
        <p:nvSpPr>
          <p:cNvPr id="39" name="TextBox 38"/>
          <p:cNvSpPr txBox="1"/>
          <p:nvPr/>
        </p:nvSpPr>
        <p:spPr>
          <a:xfrm>
            <a:off x="6192000" y="3924000"/>
            <a:ext cx="2556000" cy="198000"/>
          </a:xfrm>
          <a:prstGeom prst="rect">
            <a:avLst/>
          </a:prstGeom>
          <a:noFill/>
        </p:spPr>
        <p:txBody>
          <a:bodyPr wrap="square">
            <a:spAutoFit/>
          </a:bodyPr>
          <a:lstStyle/>
          <a:p>
            <a:pPr algn="l"/>
            <a:r>
              <a:rPr sz="800" b="1" i="0">
                <a:solidFill>
                  <a:srgbClr val="1A7A4A"/>
                </a:solidFill>
              </a:rPr>
              <a:t>+8.7 %</a:t>
            </a:r>
          </a:p>
        </p:txBody>
      </p:sp>
      <p:sp>
        <p:nvSpPr>
          <p:cNvPr id="40" name="Rectangle 39"/>
          <p:cNvSpPr/>
          <p:nvPr/>
        </p:nvSpPr>
        <p:spPr>
          <a:xfrm>
            <a:off x="5940000" y="4212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158000"/>
            <a:ext cx="2556000" cy="198000"/>
          </a:xfrm>
          <a:prstGeom prst="rect">
            <a:avLst/>
          </a:prstGeom>
          <a:noFill/>
        </p:spPr>
        <p:txBody>
          <a:bodyPr wrap="square">
            <a:spAutoFit/>
          </a:bodyPr>
          <a:lstStyle/>
          <a:p>
            <a:pPr algn="l"/>
            <a:r>
              <a:rPr sz="750" b="1" i="0">
                <a:solidFill>
                  <a:srgbClr val="1B3A6B"/>
                </a:solidFill>
              </a:rPr>
              <a:t>XLV  —  Health Care</a:t>
            </a:r>
          </a:p>
        </p:txBody>
      </p:sp>
      <p:sp>
        <p:nvSpPr>
          <p:cNvPr id="42" name="TextBox 41"/>
          <p:cNvSpPr txBox="1"/>
          <p:nvPr/>
        </p:nvSpPr>
        <p:spPr>
          <a:xfrm>
            <a:off x="6192000" y="4356000"/>
            <a:ext cx="2556000" cy="198000"/>
          </a:xfrm>
          <a:prstGeom prst="rect">
            <a:avLst/>
          </a:prstGeom>
          <a:noFill/>
        </p:spPr>
        <p:txBody>
          <a:bodyPr wrap="square">
            <a:spAutoFit/>
          </a:bodyPr>
          <a:lstStyle/>
          <a:p>
            <a:pPr algn="l"/>
            <a:r>
              <a:rPr sz="800" b="1" i="0">
                <a:solidFill>
                  <a:srgbClr val="1A7A4A"/>
                </a:solidFill>
              </a:rPr>
              <a:t>+4.4 %</a:t>
            </a:r>
          </a:p>
        </p:txBody>
      </p:sp>
      <p:sp>
        <p:nvSpPr>
          <p:cNvPr id="43" name="Rectangle 42"/>
          <p:cNvSpPr/>
          <p:nvPr/>
        </p:nvSpPr>
        <p:spPr>
          <a:xfrm>
            <a:off x="5903999" y="396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996000"/>
            <a:ext cx="2808000" cy="180000"/>
          </a:xfrm>
          <a:prstGeom prst="rect">
            <a:avLst/>
          </a:prstGeom>
          <a:noFill/>
        </p:spPr>
        <p:txBody>
          <a:bodyPr wrap="square">
            <a:spAutoFit/>
          </a:bodyPr>
          <a:lstStyle/>
          <a:p>
            <a:pPr algn="l"/>
            <a:r>
              <a:rPr sz="750" b="1" i="0">
                <a:solidFill>
                  <a:srgbClr val="1B3A6B"/>
                </a:solidFill>
              </a:rPr>
              <a:t>Lecture du graphique</a:t>
            </a:r>
          </a:p>
        </p:txBody>
      </p:sp>
      <p:sp>
        <p:nvSpPr>
          <p:cNvPr id="45" name="TextBox 44"/>
          <p:cNvSpPr txBox="1"/>
          <p:nvPr/>
        </p:nvSpPr>
        <p:spPr>
          <a:xfrm>
            <a:off x="5976000" y="4194000"/>
            <a:ext cx="2808000" cy="612000"/>
          </a:xfrm>
          <a:prstGeom prst="rect">
            <a:avLst/>
          </a:prstGeom>
          <a:noFill/>
        </p:spPr>
        <p:txBody>
          <a:bodyPr wrap="square">
            <a:spAutoFit/>
          </a:bodyPr>
          <a:lstStyle/>
          <a:p>
            <a:pPr algn="l"/>
            <a:r>
              <a:rPr sz="700" b="0" i="0">
                <a:solidFill>
                  <a:srgbClr val="555555"/>
                </a:solidFill>
              </a:rPr>
              <a:t>XLE (Energy) domine avec +60.6 % — confirmation du signal Surponderer soutenu par la monetisation IA. XLF (Financials) sous-performe (+0.2 %) en ligne avec le signal Sous-ponderer.</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