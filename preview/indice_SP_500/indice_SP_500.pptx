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S&amp;P 500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64 %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69/100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7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4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6 575  ·  YTD : -4.1%  ·  P/E Forward : —  ·  ERP : -0.5% (Tendu)  ·  Conviction 64 %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75200"/>
            <a:ext cx="828000" cy="144000"/>
          </a:xfrm>
          <a:prstGeom prst="rect">
            <a:avLst/>
          </a:prstGeom>
          <a:noFill/>
        </p:spPr>
        <p:txBody>
          <a:bodyPr wrap="square">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75200"/>
            <a:ext cx="738000" cy="144000"/>
          </a:xfrm>
          <a:prstGeom prst="rect">
            <a:avLst/>
          </a:prstGeom>
          <a:noFill/>
        </p:spPr>
        <p:txBody>
          <a:bodyPr wrap="square">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75200"/>
            <a:ext cx="738000" cy="144000"/>
          </a:xfrm>
          <a:prstGeom prst="rect">
            <a:avLst/>
          </a:prstGeom>
          <a:noFill/>
        </p:spPr>
        <p:txBody>
          <a:bodyPr wrap="square">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75200"/>
            <a:ext cx="738000" cy="144000"/>
          </a:xfrm>
          <a:prstGeom prst="rect">
            <a:avLst/>
          </a:prstGeom>
          <a:noFill/>
        </p:spPr>
        <p:txBody>
          <a:bodyPr wrap="square">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S&amp;P 500 est Surponderer avec une conviction de 64% (sur la base des 11 secteurs analyses). 7 secteur(s) ressortent Surponderer — Technology, Consumer Discretionary, Communication Services — portes par leur momentum positif 52 semaines. 4 secteurs sont Neutre et 0 en Sous-ponderer.  Le S&amp;P 500 affiche un cours de 6 575 (YTD : -4.1%). P/E Forward — vs mediane historique 10 ans 18.2x — valorisation en ligne avec l'historique. ERP Damodaran -0.5% (prime insuffisante — prudence sur les entrees). Score composite moyen : —/100 — conviction 64 %.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6 575</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Surponderer (score composite —/100). P/E Forward — vs mediane historique 18.2x — valorisation proche des normes historiques. ERP Damodaran : -0.5% (Tendu). Secteurs a Surponderer : Technology  ·  Cons. Discret.  ·  Comm. Services. Secteurs a Sous-ponderer : aucun. 4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noFill/>
                  </a:tcPr>
                </a:tc>
                <a:tc>
                  <a:txBody>
                    <a:bodyPr/>
                    <a:lstStyle/>
                    <a:p>
                      <a:pPr algn="ctr"/>
                      <a:r>
                        <a:rPr sz="800" b="0">
                          <a:solidFill>
                            <a:srgbClr val="1A1A1A"/>
                          </a:solidFill>
                        </a:rPr>
                        <a:t>27.0%</a:t>
                      </a:r>
                    </a:p>
                  </a:txBody>
                  <a:tcPr>
                    <a:noFill/>
                  </a:tcPr>
                </a:tc>
                <a:tc>
                  <a:txBody>
                    <a:bodyPr/>
                    <a:lstStyle/>
                    <a:p>
                      <a:pPr algn="ctr"/>
                      <a:r>
                        <a:rPr sz="800" b="0">
                          <a:solidFill>
                            <a:srgbClr val="1A1A1A"/>
                          </a:solidFill>
                        </a:rPr>
                        <a:t>+13.0%</a:t>
                      </a:r>
                    </a:p>
                  </a:txBody>
                  <a:tcPr>
                    <a:noFill/>
                  </a:tcPr>
                </a:tc>
                <a:tc>
                  <a:txBody>
                    <a:bodyPr/>
                    <a:lstStyle/>
                    <a:p>
                      <a:pPr algn="ctr"/>
                      <a:r>
                        <a:rPr sz="800" b="0">
                          <a:solidFill>
                            <a:srgbClr val="1A1A1A"/>
                          </a:solidFill>
                        </a:rPr>
                        <a:t>+29.2%</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solidFill>
                      <a:srgbClr val="F5F7FA"/>
                    </a:solidFill>
                  </a:tcPr>
                </a:tc>
                <a:tc>
                  <a:txBody>
                    <a:bodyPr/>
                    <a:lstStyle/>
                    <a:p>
                      <a:pPr algn="ctr"/>
                      <a:r>
                        <a:rPr sz="800" b="0">
                          <a:solidFill>
                            <a:srgbClr val="1A1A1A"/>
                          </a:solidFill>
                        </a:rPr>
                        <a:t>24.0%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+51.2%</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+27.0%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solidFill>
                      <a:srgbClr val="F5F7FA"/>
                    </a:solidFill>
                  </a:tcPr>
                </a:tc>
                <a:tc>
                  <a:txBody>
                    <a:bodyPr/>
                    <a:lstStyle/>
                    <a:p>
                      <a:pPr algn="ctr"/>
                      <a:r>
                        <a:rPr sz="800" b="0">
                          <a:solidFill>
                            <a:srgbClr val="1A1A1A"/>
                          </a:solidFill>
                        </a:rPr>
                        <a:t>16.0%</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1A1A1A"/>
                          </a:solidFill>
                        </a:rPr>
                        <a:t>+22.7%</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74</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no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+20.2%</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+18.0%</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+12.2%</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+7.0%</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solidFill>
                      <a:srgbClr val="F5F7FA"/>
                    </a:solidFill>
                  </a:tcPr>
                </a:tc>
                <a:tc>
                  <a:txBody>
                    <a:bodyPr/>
                    <a:lstStyle/>
                    <a:p>
                      <a:pPr algn="ctr"/>
                      <a:r>
                        <a:rPr sz="800" b="0">
                          <a:solidFill>
                            <a:srgbClr val="1A1A1A"/>
                          </a:solidFill>
                        </a:rPr>
                        <a:t>17.0%</a:t>
                      </a:r>
                    </a:p>
                  </a:txBody>
                  <a:tcPr>
                    <a:solidFill>
                      <a:srgbClr val="F5F7FA"/>
                    </a:solidFill>
                  </a:tcPr>
                </a:tc>
                <a:tc>
                  <a:txBody>
                    <a:bodyPr/>
                    <a:lstStyle/>
                    <a:p>
                      <a:pPr algn="ctr"/>
                      <a:r>
                        <a:rPr sz="800" b="0">
                          <a:solidFill>
                            <a:srgbClr val="1A1A1A"/>
                          </a:solidFill>
                        </a:rPr>
                        <a:t>+3.5%</a:t>
                      </a:r>
                    </a:p>
                  </a:txBody>
                  <a:tcPr>
                    <a:solidFill>
                      <a:srgbClr val="F5F7FA"/>
                    </a:solidFill>
                  </a:tcPr>
                </a:tc>
                <a:tc>
                  <a:txBody>
                    <a:bodyPr/>
                    <a:lstStyle/>
                    <a:p>
                      <a:pPr algn="ctr"/>
                      <a:r>
                        <a:rPr sz="800" b="0">
                          <a:solidFill>
                            <a:srgbClr val="1A1A1A"/>
                          </a:solidFill>
                        </a:rPr>
                        <a:t>+2.3%</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+2.6%</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7 secteur(s) sur 11 franchissent le seuil Surpondérer (score &gt; 65) : Technology · Energy · Industrials · Materials · Utilities · Communication Services · Consumer Discretionary. 0 secteur(s) en Sous-pondérer : aucun. 4 secteur(s) en position Neutre. L'écart entre le secteur leader (Technology, score 85/100) et le secteur le plus faible (Real Estate, score 53/100) est de 32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  Energy en zone Opportunite (EV/EBITDA attractif) — forte conviction score Surponderer.
Technology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82</a:t>
                      </a:r>
                    </a:p>
                  </a:txBody>
                  <a:tcPr>
                    <a:solidFill>
                      <a:srgbClr val="E8F5EE"/>
                    </a:solidFill>
                  </a:tcPr>
                </a:tc>
                <a:tc>
                  <a:txBody>
                    <a:bodyPr/>
                    <a:lstStyle/>
                    <a:p>
                      <a:pPr algn="ctr"/>
                      <a:r>
                        <a:rPr sz="800" b="0">
                          <a:solidFill>
                            <a:srgbClr val="1A1A1A"/>
                          </a:solidFill>
                        </a:rPr>
                        <a:t>33</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77</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864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332000" y="1620000"/>
            <a:ext cx="792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2124000" y="1620000"/>
            <a:ext cx="792000" cy="198000"/>
          </a:xfrm>
          <a:prstGeom prst="rect">
            <a:avLst/>
          </a:prstGeom>
          <a:noFill/>
        </p:spPr>
        <p:txBody>
          <a:bodyPr wrap="square">
            <a:spAutoFit/>
          </a:bodyPr>
          <a:lstStyle/>
          <a:p>
            <a:pPr algn="l"/>
            <a:r>
              <a:rPr sz="800" b="0" i="0">
                <a:solidFill>
                  <a:srgbClr val="555555"/>
                </a:solidFill>
              </a:rPr>
              <a:t>Score : 85</a:t>
            </a:r>
          </a:p>
        </p:txBody>
      </p:sp>
      <p:sp>
        <p:nvSpPr>
          <p:cNvPr id="26" name="Rectangle 25"/>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1915200"/>
            <a:ext cx="864000" cy="198000"/>
          </a:xfrm>
          <a:prstGeom prst="rect">
            <a:avLst/>
          </a:prstGeom>
          <a:noFill/>
        </p:spPr>
        <p:txBody>
          <a:bodyPr wrap="square">
            <a:spAutoFit/>
          </a:bodyPr>
          <a:lstStyle/>
          <a:p>
            <a:pPr algn="l"/>
            <a:r>
              <a:rPr sz="800" b="1" i="0">
                <a:solidFill>
                  <a:srgbClr val="1B3A6B"/>
                </a:solidFill>
              </a:rPr>
              <a:t>CVX</a:t>
            </a:r>
          </a:p>
        </p:txBody>
      </p:sp>
      <p:sp>
        <p:nvSpPr>
          <p:cNvPr id="28" name="TextBox 27"/>
          <p:cNvSpPr txBox="1"/>
          <p:nvPr/>
        </p:nvSpPr>
        <p:spPr>
          <a:xfrm>
            <a:off x="1332000" y="1915200"/>
            <a:ext cx="792000" cy="198000"/>
          </a:xfrm>
          <a:prstGeom prst="rect">
            <a:avLst/>
          </a:prstGeom>
          <a:noFill/>
        </p:spPr>
        <p:txBody>
          <a:bodyPr wrap="square">
            <a:spAutoFit/>
          </a:bodyPr>
          <a:lstStyle/>
          <a:p>
            <a:pPr algn="l"/>
            <a:r>
              <a:rPr sz="800" b="0" i="0">
                <a:solidFill>
                  <a:srgbClr val="1A7A4A"/>
                </a:solidFill>
              </a:rPr>
              <a:t>Surp.</a:t>
            </a:r>
          </a:p>
        </p:txBody>
      </p:sp>
      <p:sp>
        <p:nvSpPr>
          <p:cNvPr id="29" name="TextBox 28"/>
          <p:cNvSpPr txBox="1"/>
          <p:nvPr/>
        </p:nvSpPr>
        <p:spPr>
          <a:xfrm>
            <a:off x="2124000" y="1915200"/>
            <a:ext cx="792000" cy="198000"/>
          </a:xfrm>
          <a:prstGeom prst="rect">
            <a:avLst/>
          </a:prstGeom>
          <a:noFill/>
        </p:spPr>
        <p:txBody>
          <a:bodyPr wrap="square">
            <a:spAutoFit/>
          </a:bodyPr>
          <a:lstStyle/>
          <a:p>
            <a:pPr algn="l"/>
            <a:r>
              <a:rPr sz="800" b="0" i="0">
                <a:solidFill>
                  <a:srgbClr val="555555"/>
                </a:solidFill>
              </a:rPr>
              <a:t>Score : 85</a:t>
            </a:r>
          </a:p>
        </p:txBody>
      </p:sp>
      <p:sp>
        <p:nvSpPr>
          <p:cNvPr id="30" name="Rectangle 29"/>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210400"/>
            <a:ext cx="864000" cy="198000"/>
          </a:xfrm>
          <a:prstGeom prst="rect">
            <a:avLst/>
          </a:prstGeom>
          <a:noFill/>
        </p:spPr>
        <p:txBody>
          <a:bodyPr wrap="square">
            <a:spAutoFit/>
          </a:bodyPr>
          <a:lstStyle/>
          <a:p>
            <a:pPr algn="l"/>
            <a:r>
              <a:rPr sz="800" b="1" i="0">
                <a:solidFill>
                  <a:srgbClr val="1B3A6B"/>
                </a:solidFill>
              </a:rPr>
              <a:t>COP</a:t>
            </a:r>
          </a:p>
        </p:txBody>
      </p:sp>
      <p:sp>
        <p:nvSpPr>
          <p:cNvPr id="32" name="TextBox 31"/>
          <p:cNvSpPr txBox="1"/>
          <p:nvPr/>
        </p:nvSpPr>
        <p:spPr>
          <a:xfrm>
            <a:off x="1332000" y="2210400"/>
            <a:ext cx="792000" cy="198000"/>
          </a:xfrm>
          <a:prstGeom prst="rect">
            <a:avLst/>
          </a:prstGeom>
          <a:noFill/>
        </p:spPr>
        <p:txBody>
          <a:bodyPr wrap="square">
            <a:spAutoFit/>
          </a:bodyPr>
          <a:lstStyle/>
          <a:p>
            <a:pPr algn="l"/>
            <a:r>
              <a:rPr sz="800" b="0" i="0">
                <a:solidFill>
                  <a:srgbClr val="1A7A4A"/>
                </a:solidFill>
              </a:rPr>
              <a:t>Surp.</a:t>
            </a:r>
          </a:p>
        </p:txBody>
      </p:sp>
      <p:sp>
        <p:nvSpPr>
          <p:cNvPr id="33" name="TextBox 32"/>
          <p:cNvSpPr txBox="1"/>
          <p:nvPr/>
        </p:nvSpPr>
        <p:spPr>
          <a:xfrm>
            <a:off x="2124000" y="2210400"/>
            <a:ext cx="792000" cy="198000"/>
          </a:xfrm>
          <a:prstGeom prst="rect">
            <a:avLst/>
          </a:prstGeom>
          <a:noFill/>
        </p:spPr>
        <p:txBody>
          <a:bodyPr wrap="square">
            <a:spAutoFit/>
          </a:bodyPr>
          <a:lstStyle/>
          <a:p>
            <a:pPr algn="l"/>
            <a:r>
              <a:rPr sz="800" b="0" i="0">
                <a:solidFill>
                  <a:srgbClr val="555555"/>
                </a:solidFill>
              </a:rPr>
              <a:t>Score : 85</a:t>
            </a:r>
          </a:p>
        </p:txBody>
      </p:sp>
      <p:sp>
        <p:nvSpPr>
          <p:cNvPr id="34" name="TextBox 33"/>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5" name="Rectangle 34"/>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+51.2% — momentum sectoriel positif</a:t>
            </a:r>
          </a:p>
        </p:txBody>
      </p:sp>
      <p:sp>
        <p:nvSpPr>
          <p:cNvPr id="37" name="TextBox 36"/>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8" name="Rectangle 37"/>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0" name="Rectangle 39"/>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3" name="Rectangle 42"/>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5" name="TextBox 44"/>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46" name="TextBox 45"/>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7" name="Rectangle 46"/>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94000" y="1620000"/>
            <a:ext cx="864000" cy="198000"/>
          </a:xfrm>
          <a:prstGeom prst="rect">
            <a:avLst/>
          </a:prstGeom>
          <a:noFill/>
        </p:spPr>
        <p:txBody>
          <a:bodyPr wrap="square">
            <a:spAutoFit/>
          </a:bodyPr>
          <a:lstStyle/>
          <a:p>
            <a:pPr algn="l"/>
            <a:r>
              <a:rPr sz="800" b="1" i="0">
                <a:solidFill>
                  <a:srgbClr val="1B3A6B"/>
                </a:solidFill>
              </a:rPr>
              <a:t>AAPL</a:t>
            </a:r>
          </a:p>
        </p:txBody>
      </p:sp>
      <p:sp>
        <p:nvSpPr>
          <p:cNvPr id="49" name="TextBox 48"/>
          <p:cNvSpPr txBox="1"/>
          <p:nvPr/>
        </p:nvSpPr>
        <p:spPr>
          <a:xfrm>
            <a:off x="4158000" y="1620000"/>
            <a:ext cx="792000" cy="198000"/>
          </a:xfrm>
          <a:prstGeom prst="rect">
            <a:avLst/>
          </a:prstGeom>
          <a:noFill/>
        </p:spPr>
        <p:txBody>
          <a:bodyPr wrap="square">
            <a:spAutoFit/>
          </a:bodyPr>
          <a:lstStyle/>
          <a:p>
            <a:pPr algn="l"/>
            <a:r>
              <a:rPr sz="800" b="0" i="0">
                <a:solidFill>
                  <a:srgbClr val="1A7A4A"/>
                </a:solidFill>
              </a:rPr>
              <a:t>Surp.</a:t>
            </a:r>
          </a:p>
        </p:txBody>
      </p:sp>
      <p:sp>
        <p:nvSpPr>
          <p:cNvPr id="50" name="TextBox 49"/>
          <p:cNvSpPr txBox="1"/>
          <p:nvPr/>
        </p:nvSpPr>
        <p:spPr>
          <a:xfrm>
            <a:off x="4950000" y="1620000"/>
            <a:ext cx="792000" cy="198000"/>
          </a:xfrm>
          <a:prstGeom prst="rect">
            <a:avLst/>
          </a:prstGeom>
          <a:noFill/>
        </p:spPr>
        <p:txBody>
          <a:bodyPr wrap="square">
            <a:spAutoFit/>
          </a:bodyPr>
          <a:lstStyle/>
          <a:p>
            <a:pPr algn="l"/>
            <a:r>
              <a:rPr sz="800" b="0" i="0">
                <a:solidFill>
                  <a:srgbClr val="555555"/>
                </a:solidFill>
              </a:rPr>
              <a:t>Score : 82</a:t>
            </a:r>
          </a:p>
        </p:txBody>
      </p:sp>
      <p:sp>
        <p:nvSpPr>
          <p:cNvPr id="51" name="Rectangle 50"/>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4000" y="1915200"/>
            <a:ext cx="864000" cy="198000"/>
          </a:xfrm>
          <a:prstGeom prst="rect">
            <a:avLst/>
          </a:prstGeom>
          <a:noFill/>
        </p:spPr>
        <p:txBody>
          <a:bodyPr wrap="square">
            <a:spAutoFit/>
          </a:bodyPr>
          <a:lstStyle/>
          <a:p>
            <a:pPr algn="l"/>
            <a:r>
              <a:rPr sz="800" b="1" i="0">
                <a:solidFill>
                  <a:srgbClr val="1B3A6B"/>
                </a:solidFill>
              </a:rPr>
              <a:t>MSFT</a:t>
            </a:r>
          </a:p>
        </p:txBody>
      </p:sp>
      <p:sp>
        <p:nvSpPr>
          <p:cNvPr id="53" name="TextBox 52"/>
          <p:cNvSpPr txBox="1"/>
          <p:nvPr/>
        </p:nvSpPr>
        <p:spPr>
          <a:xfrm>
            <a:off x="4158000" y="1915200"/>
            <a:ext cx="792000" cy="198000"/>
          </a:xfrm>
          <a:prstGeom prst="rect">
            <a:avLst/>
          </a:prstGeom>
          <a:noFill/>
        </p:spPr>
        <p:txBody>
          <a:bodyPr wrap="square">
            <a:spAutoFit/>
          </a:bodyPr>
          <a:lstStyle/>
          <a:p>
            <a:pPr algn="l"/>
            <a:r>
              <a:rPr sz="800" b="0" i="0">
                <a:solidFill>
                  <a:srgbClr val="1A7A4A"/>
                </a:solidFill>
              </a:rPr>
              <a:t>Surp.</a:t>
            </a:r>
          </a:p>
        </p:txBody>
      </p:sp>
      <p:sp>
        <p:nvSpPr>
          <p:cNvPr id="54" name="TextBox 53"/>
          <p:cNvSpPr txBox="1"/>
          <p:nvPr/>
        </p:nvSpPr>
        <p:spPr>
          <a:xfrm>
            <a:off x="4950000" y="1915200"/>
            <a:ext cx="792000" cy="198000"/>
          </a:xfrm>
          <a:prstGeom prst="rect">
            <a:avLst/>
          </a:prstGeom>
          <a:noFill/>
        </p:spPr>
        <p:txBody>
          <a:bodyPr wrap="square">
            <a:spAutoFit/>
          </a:bodyPr>
          <a:lstStyle/>
          <a:p>
            <a:pPr algn="l"/>
            <a:r>
              <a:rPr sz="800" b="0" i="0">
                <a:solidFill>
                  <a:srgbClr val="555555"/>
                </a:solidFill>
              </a:rPr>
              <a:t>Score : 82</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864000" cy="198000"/>
          </a:xfrm>
          <a:prstGeom prst="rect">
            <a:avLst/>
          </a:prstGeom>
          <a:noFill/>
        </p:spPr>
        <p:txBody>
          <a:bodyPr wrap="square">
            <a:spAutoFit/>
          </a:bodyPr>
          <a:lstStyle/>
          <a:p>
            <a:pPr algn="l"/>
            <a:r>
              <a:rPr sz="800" b="1" i="0">
                <a:solidFill>
                  <a:srgbClr val="1B3A6B"/>
                </a:solidFill>
              </a:rPr>
              <a:t>NVDA</a:t>
            </a:r>
          </a:p>
        </p:txBody>
      </p:sp>
      <p:sp>
        <p:nvSpPr>
          <p:cNvPr id="57" name="TextBox 56"/>
          <p:cNvSpPr txBox="1"/>
          <p:nvPr/>
        </p:nvSpPr>
        <p:spPr>
          <a:xfrm>
            <a:off x="4158000" y="2210400"/>
            <a:ext cx="792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950000" y="2210400"/>
            <a:ext cx="792000" cy="198000"/>
          </a:xfrm>
          <a:prstGeom prst="rect">
            <a:avLst/>
          </a:prstGeom>
          <a:noFill/>
        </p:spPr>
        <p:txBody>
          <a:bodyPr wrap="square">
            <a:spAutoFit/>
          </a:bodyPr>
          <a:lstStyle/>
          <a:p>
            <a:pPr algn="l"/>
            <a:r>
              <a:rPr sz="800" b="0" i="0">
                <a:solidFill>
                  <a:srgbClr val="555555"/>
                </a:solidFill>
              </a:rPr>
              <a:t>Score : 82</a:t>
            </a:r>
          </a:p>
        </p:txBody>
      </p:sp>
      <p:sp>
        <p:nvSpPr>
          <p:cNvPr id="59" name="TextBox 58"/>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0" name="Rectangle 59"/>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+29.2% — momentum sectoriel positif</a:t>
            </a:r>
          </a:p>
        </p:txBody>
      </p:sp>
      <p:sp>
        <p:nvSpPr>
          <p:cNvPr id="62" name="TextBox 61"/>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3" name="Rectangle 62"/>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65" name="Rectangle 64"/>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68" name="Rectangle 67"/>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0" name="TextBox 69"/>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82/100  ·  EV/EBITDA : —</a:t>
            </a:r>
          </a:p>
        </p:txBody>
      </p:sp>
      <p:sp>
        <p:nvSpPr>
          <p:cNvPr id="71" name="TextBox 70"/>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2" name="Rectangle 71"/>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19999" y="1620000"/>
            <a:ext cx="864000" cy="198000"/>
          </a:xfrm>
          <a:prstGeom prst="rect">
            <a:avLst/>
          </a:prstGeom>
          <a:noFill/>
        </p:spPr>
        <p:txBody>
          <a:bodyPr wrap="square">
            <a:spAutoFit/>
          </a:bodyPr>
          <a:lstStyle/>
          <a:p>
            <a:pPr algn="l"/>
            <a:r>
              <a:rPr sz="800" b="1" i="0">
                <a:solidFill>
                  <a:srgbClr val="1B3A6B"/>
                </a:solidFill>
              </a:rPr>
              <a:t>UNP</a:t>
            </a:r>
          </a:p>
        </p:txBody>
      </p:sp>
      <p:sp>
        <p:nvSpPr>
          <p:cNvPr id="74" name="TextBox 73"/>
          <p:cNvSpPr txBox="1"/>
          <p:nvPr/>
        </p:nvSpPr>
        <p:spPr>
          <a:xfrm>
            <a:off x="6983999" y="1620000"/>
            <a:ext cx="792000" cy="198000"/>
          </a:xfrm>
          <a:prstGeom prst="rect">
            <a:avLst/>
          </a:prstGeom>
          <a:noFill/>
        </p:spPr>
        <p:txBody>
          <a:bodyPr wrap="square">
            <a:spAutoFit/>
          </a:bodyPr>
          <a:lstStyle/>
          <a:p>
            <a:pPr algn="l"/>
            <a:r>
              <a:rPr sz="800" b="0" i="0">
                <a:solidFill>
                  <a:srgbClr val="1A7A4A"/>
                </a:solidFill>
              </a:rPr>
              <a:t>Surp.</a:t>
            </a:r>
          </a:p>
        </p:txBody>
      </p:sp>
      <p:sp>
        <p:nvSpPr>
          <p:cNvPr id="75" name="TextBox 74"/>
          <p:cNvSpPr txBox="1"/>
          <p:nvPr/>
        </p:nvSpPr>
        <p:spPr>
          <a:xfrm>
            <a:off x="7775999" y="1620000"/>
            <a:ext cx="792000" cy="198000"/>
          </a:xfrm>
          <a:prstGeom prst="rect">
            <a:avLst/>
          </a:prstGeom>
          <a:noFill/>
        </p:spPr>
        <p:txBody>
          <a:bodyPr wrap="square">
            <a:spAutoFit/>
          </a:bodyPr>
          <a:lstStyle/>
          <a:p>
            <a:pPr algn="l"/>
            <a:r>
              <a:rPr sz="800" b="0" i="0">
                <a:solidFill>
                  <a:srgbClr val="555555"/>
                </a:solidFill>
              </a:rPr>
              <a:t>Score : 76</a:t>
            </a:r>
          </a:p>
        </p:txBody>
      </p:sp>
      <p:sp>
        <p:nvSpPr>
          <p:cNvPr id="76" name="Rectangle 75"/>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119999" y="1915200"/>
            <a:ext cx="864000" cy="198000"/>
          </a:xfrm>
          <a:prstGeom prst="rect">
            <a:avLst/>
          </a:prstGeom>
          <a:noFill/>
        </p:spPr>
        <p:txBody>
          <a:bodyPr wrap="square">
            <a:spAutoFit/>
          </a:bodyPr>
          <a:lstStyle/>
          <a:p>
            <a:pPr algn="l"/>
            <a:r>
              <a:rPr sz="800" b="1" i="0">
                <a:solidFill>
                  <a:srgbClr val="1B3A6B"/>
                </a:solidFill>
              </a:rPr>
              <a:t>RTX</a:t>
            </a:r>
          </a:p>
        </p:txBody>
      </p:sp>
      <p:sp>
        <p:nvSpPr>
          <p:cNvPr id="78" name="TextBox 77"/>
          <p:cNvSpPr txBox="1"/>
          <p:nvPr/>
        </p:nvSpPr>
        <p:spPr>
          <a:xfrm>
            <a:off x="6983999" y="1915200"/>
            <a:ext cx="792000" cy="198000"/>
          </a:xfrm>
          <a:prstGeom prst="rect">
            <a:avLst/>
          </a:prstGeom>
          <a:noFill/>
        </p:spPr>
        <p:txBody>
          <a:bodyPr wrap="square">
            <a:spAutoFit/>
          </a:bodyPr>
          <a:lstStyle/>
          <a:p>
            <a:pPr algn="l"/>
            <a:r>
              <a:rPr sz="800" b="0" i="0">
                <a:solidFill>
                  <a:srgbClr val="1A7A4A"/>
                </a:solidFill>
              </a:rPr>
              <a:t>Surp.</a:t>
            </a:r>
          </a:p>
        </p:txBody>
      </p:sp>
      <p:sp>
        <p:nvSpPr>
          <p:cNvPr id="79" name="TextBox 78"/>
          <p:cNvSpPr txBox="1"/>
          <p:nvPr/>
        </p:nvSpPr>
        <p:spPr>
          <a:xfrm>
            <a:off x="7775999" y="1915200"/>
            <a:ext cx="792000" cy="198000"/>
          </a:xfrm>
          <a:prstGeom prst="rect">
            <a:avLst/>
          </a:prstGeom>
          <a:noFill/>
        </p:spPr>
        <p:txBody>
          <a:bodyPr wrap="square">
            <a:spAutoFit/>
          </a:bodyPr>
          <a:lstStyle/>
          <a:p>
            <a:pPr algn="l"/>
            <a:r>
              <a:rPr sz="800" b="0" i="0">
                <a:solidFill>
                  <a:srgbClr val="555555"/>
                </a:solidFill>
              </a:rPr>
              <a:t>Score : 76</a:t>
            </a:r>
          </a:p>
        </p:txBody>
      </p:sp>
      <p:sp>
        <p:nvSpPr>
          <p:cNvPr id="80" name="Rectangle 79"/>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19999" y="2210400"/>
            <a:ext cx="864000" cy="198000"/>
          </a:xfrm>
          <a:prstGeom prst="rect">
            <a:avLst/>
          </a:prstGeom>
          <a:noFill/>
        </p:spPr>
        <p:txBody>
          <a:bodyPr wrap="square">
            <a:spAutoFit/>
          </a:bodyPr>
          <a:lstStyle/>
          <a:p>
            <a:pPr algn="l"/>
            <a:r>
              <a:rPr sz="800" b="1" i="0">
                <a:solidFill>
                  <a:srgbClr val="1B3A6B"/>
                </a:solidFill>
              </a:rPr>
              <a:t>HON</a:t>
            </a:r>
          </a:p>
        </p:txBody>
      </p:sp>
      <p:sp>
        <p:nvSpPr>
          <p:cNvPr id="82" name="TextBox 81"/>
          <p:cNvSpPr txBox="1"/>
          <p:nvPr/>
        </p:nvSpPr>
        <p:spPr>
          <a:xfrm>
            <a:off x="6983999" y="2210400"/>
            <a:ext cx="792000" cy="198000"/>
          </a:xfrm>
          <a:prstGeom prst="rect">
            <a:avLst/>
          </a:prstGeom>
          <a:noFill/>
        </p:spPr>
        <p:txBody>
          <a:bodyPr wrap="square">
            <a:spAutoFit/>
          </a:bodyPr>
          <a:lstStyle/>
          <a:p>
            <a:pPr algn="l"/>
            <a:r>
              <a:rPr sz="800" b="0" i="0">
                <a:solidFill>
                  <a:srgbClr val="1A7A4A"/>
                </a:solidFill>
              </a:rPr>
              <a:t>Surp.</a:t>
            </a:r>
          </a:p>
        </p:txBody>
      </p:sp>
      <p:sp>
        <p:nvSpPr>
          <p:cNvPr id="83" name="TextBox 82"/>
          <p:cNvSpPr txBox="1"/>
          <p:nvPr/>
        </p:nvSpPr>
        <p:spPr>
          <a:xfrm>
            <a:off x="7775999" y="2210400"/>
            <a:ext cx="792000" cy="198000"/>
          </a:xfrm>
          <a:prstGeom prst="rect">
            <a:avLst/>
          </a:prstGeom>
          <a:noFill/>
        </p:spPr>
        <p:txBody>
          <a:bodyPr wrap="square">
            <a:spAutoFit/>
          </a:bodyPr>
          <a:lstStyle/>
          <a:p>
            <a:pPr algn="l"/>
            <a:r>
              <a:rPr sz="800" b="0" i="0">
                <a:solidFill>
                  <a:srgbClr val="555555"/>
                </a:solidFill>
              </a:rPr>
              <a:t>Score : 76</a:t>
            </a:r>
          </a:p>
        </p:txBody>
      </p:sp>
      <p:sp>
        <p:nvSpPr>
          <p:cNvPr id="84" name="TextBox 83"/>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5" name="Rectangle 84"/>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+27.0% — momentum sectoriel positif</a:t>
            </a:r>
          </a:p>
        </p:txBody>
      </p:sp>
      <p:sp>
        <p:nvSpPr>
          <p:cNvPr id="87" name="TextBox 86"/>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88" name="Rectangle 87"/>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0" name="Rectangle 8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reflete les risques specifiques au secteur.
Mediane sectorielle : 12.0x EV/EBITDA — seuil de reference pour evaluer la cherte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
Zone d'entree favorable (PE &lt; mediane) :
Aucun secteur top3
Zone de prudence (PE &gt; mediane +15 %) :
Aucun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+51.2 %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+29.2 %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+27.0 %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XLB  —  Materials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+22.7 %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+20.2 %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+18.0 %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+12.2 %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+7.0 %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+51.2 % — confirmation du signal Surpondérer soutenu par la monétisation IA. XLP (Consumer Staples) sous-performe (+2.3 %)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