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4320000" cy="288000"/>
          </a:xfrm>
          <a:prstGeom prst="rect">
            <a:avLst/>
          </a:prstGeom>
          <a:noFill/>
        </p:spPr>
        <p:txBody>
          <a:bodyPr wrap="square">
            <a:spAutoFit/>
          </a:bodyPr>
          <a:lstStyle/>
          <a:p>
            <a:pPr algn="l"/>
            <a:r>
              <a:rPr sz="1100" b="0" i="0">
                <a:solidFill>
                  <a:srgbClr val="AAAAAA"/>
                </a:solidFill>
              </a:rPr>
              <a:t>FinSight IA</a:t>
            </a:r>
          </a:p>
        </p:txBody>
      </p:sp>
      <p:sp>
        <p:nvSpPr>
          <p:cNvPr id="4" name="TextBox 3"/>
          <p:cNvSpPr txBox="1"/>
          <p:nvPr/>
        </p:nvSpPr>
        <p:spPr>
          <a:xfrm>
            <a:off x="360000" y="468000"/>
            <a:ext cx="6480000" cy="251999"/>
          </a:xfrm>
          <a:prstGeom prst="rect">
            <a:avLst/>
          </a:prstGeom>
          <a:noFill/>
        </p:spPr>
        <p:txBody>
          <a:bodyPr wrap="square">
            <a:spAutoFit/>
          </a:bodyPr>
          <a:lstStyle/>
          <a:p>
            <a:pPr algn="l"/>
            <a:r>
              <a:rPr sz="900" b="0" i="0">
                <a:solidFill>
                  <a:srgbClr val="2A5298"/>
                </a:solidFill>
              </a:rPr>
              <a:t>Pitchbook  ·  Analyse d'Indice</a:t>
            </a:r>
          </a:p>
        </p:txBody>
      </p:sp>
      <p:sp>
        <p:nvSpPr>
          <p:cNvPr id="5" name="TextBox 4"/>
          <p:cNvSpPr txBox="1"/>
          <p:nvPr/>
        </p:nvSpPr>
        <p:spPr>
          <a:xfrm>
            <a:off x="360000" y="1152000"/>
            <a:ext cx="8280000" cy="720000"/>
          </a:xfrm>
          <a:prstGeom prst="rect">
            <a:avLst/>
          </a:prstGeom>
          <a:noFill/>
        </p:spPr>
        <p:txBody>
          <a:bodyPr wrap="square">
            <a:spAutoFit/>
          </a:bodyPr>
          <a:lstStyle/>
          <a:p>
            <a:pPr algn="l"/>
            <a:r>
              <a:rPr sz="3600" b="1" i="0">
                <a:solidFill>
                  <a:srgbClr val="FFFFFF"/>
                </a:solidFill>
              </a:rPr>
              <a:t>S&amp;P 500</a:t>
            </a:r>
          </a:p>
        </p:txBody>
      </p:sp>
      <p:sp>
        <p:nvSpPr>
          <p:cNvPr id="6" name="Rectangle 5"/>
          <p:cNvSpPr/>
          <p:nvPr/>
        </p:nvSpPr>
        <p:spPr>
          <a:xfrm>
            <a:off x="360000" y="1980000"/>
            <a:ext cx="2880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8000" y="2034000"/>
            <a:ext cx="2664000" cy="288000"/>
          </a:xfrm>
          <a:prstGeom prst="rect">
            <a:avLst/>
          </a:prstGeom>
          <a:noFill/>
        </p:spPr>
        <p:txBody>
          <a:bodyPr wrap="square">
            <a:spAutoFit/>
          </a:bodyPr>
          <a:lstStyle/>
          <a:p>
            <a:pPr algn="l"/>
            <a:r>
              <a:rPr sz="1100" b="1" i="0">
                <a:solidFill>
                  <a:srgbClr val="FFFFFF"/>
                </a:solidFill>
              </a:rPr>
              <a:t>SURPONDERER  ·  Conviction 55 %</a:t>
            </a:r>
          </a:p>
        </p:txBody>
      </p:sp>
      <p:sp>
        <p:nvSpPr>
          <p:cNvPr id="8" name="TextBox 7"/>
          <p:cNvSpPr txBox="1"/>
          <p:nvPr/>
        </p:nvSpPr>
        <p:spPr>
          <a:xfrm>
            <a:off x="360000" y="2448000"/>
            <a:ext cx="7920000" cy="216000"/>
          </a:xfrm>
          <a:prstGeom prst="rect">
            <a:avLst/>
          </a:prstGeom>
          <a:noFill/>
        </p:spPr>
        <p:txBody>
          <a:bodyPr wrap="square">
            <a:spAutoFit/>
          </a:bodyPr>
          <a:lstStyle/>
          <a:p>
            <a:pPr algn="l"/>
            <a:r>
              <a:rPr sz="900" b="0" i="0">
                <a:solidFill>
                  <a:srgbClr val="AAAAAA"/>
                </a:solidFill>
              </a:rPr>
              <a:t>^GSPC  ·  11 secteurs analyses  ·  503 societes couvertes</a:t>
            </a:r>
          </a:p>
        </p:txBody>
      </p:sp>
      <p:sp>
        <p:nvSpPr>
          <p:cNvPr id="9" name="Rectangle 8"/>
          <p:cNvSpPr/>
          <p:nvPr/>
        </p:nvSpPr>
        <p:spPr>
          <a:xfrm>
            <a:off x="360000" y="2951999"/>
            <a:ext cx="1872000" cy="57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2000" y="2988000"/>
            <a:ext cx="1728000" cy="180000"/>
          </a:xfrm>
          <a:prstGeom prst="rect">
            <a:avLst/>
          </a:prstGeom>
          <a:noFill/>
        </p:spPr>
        <p:txBody>
          <a:bodyPr wrap="square">
            <a:spAutoFit/>
          </a:bodyPr>
          <a:lstStyle/>
          <a:p>
            <a:pPr algn="l"/>
            <a:r>
              <a:rPr sz="750" b="0" i="0">
                <a:solidFill>
                  <a:srgbClr val="AAAAAA"/>
                </a:solidFill>
              </a:rPr>
              <a:t>Cours</a:t>
            </a:r>
          </a:p>
        </p:txBody>
      </p:sp>
      <p:sp>
        <p:nvSpPr>
          <p:cNvPr id="11" name="TextBox 10"/>
          <p:cNvSpPr txBox="1"/>
          <p:nvPr/>
        </p:nvSpPr>
        <p:spPr>
          <a:xfrm>
            <a:off x="432000" y="3150000"/>
            <a:ext cx="1728000" cy="288000"/>
          </a:xfrm>
          <a:prstGeom prst="rect">
            <a:avLst/>
          </a:prstGeom>
          <a:noFill/>
        </p:spPr>
        <p:txBody>
          <a:bodyPr wrap="square">
            <a:spAutoFit/>
          </a:bodyPr>
          <a:lstStyle/>
          <a:p>
            <a:pPr algn="l"/>
            <a:r>
              <a:rPr sz="1400" b="1" i="0">
                <a:solidFill>
                  <a:srgbClr val="FFFFFF"/>
                </a:solidFill>
              </a:rPr>
              <a:t>6 369</a:t>
            </a:r>
          </a:p>
        </p:txBody>
      </p:sp>
      <p:sp>
        <p:nvSpPr>
          <p:cNvPr id="12" name="Rectangle 11"/>
          <p:cNvSpPr/>
          <p:nvPr/>
        </p:nvSpPr>
        <p:spPr>
          <a:xfrm>
            <a:off x="2448000" y="2951999"/>
            <a:ext cx="1872000" cy="57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20000" y="2988000"/>
            <a:ext cx="1728000" cy="180000"/>
          </a:xfrm>
          <a:prstGeom prst="rect">
            <a:avLst/>
          </a:prstGeom>
          <a:noFill/>
        </p:spPr>
        <p:txBody>
          <a:bodyPr wrap="square">
            <a:spAutoFit/>
          </a:bodyPr>
          <a:lstStyle/>
          <a:p>
            <a:pPr algn="l"/>
            <a:r>
              <a:rPr sz="750" b="0" i="0">
                <a:solidFill>
                  <a:srgbClr val="AAAAAA"/>
                </a:solidFill>
              </a:rPr>
              <a:t>YTD</a:t>
            </a:r>
          </a:p>
        </p:txBody>
      </p:sp>
      <p:sp>
        <p:nvSpPr>
          <p:cNvPr id="14" name="TextBox 13"/>
          <p:cNvSpPr txBox="1"/>
          <p:nvPr/>
        </p:nvSpPr>
        <p:spPr>
          <a:xfrm>
            <a:off x="2520000" y="3150000"/>
            <a:ext cx="1728000" cy="288000"/>
          </a:xfrm>
          <a:prstGeom prst="rect">
            <a:avLst/>
          </a:prstGeom>
          <a:noFill/>
        </p:spPr>
        <p:txBody>
          <a:bodyPr wrap="square">
            <a:spAutoFit/>
          </a:bodyPr>
          <a:lstStyle/>
          <a:p>
            <a:pPr algn="l"/>
            <a:r>
              <a:rPr sz="1400" b="1" i="0">
                <a:solidFill>
                  <a:srgbClr val="FFFFFF"/>
                </a:solidFill>
              </a:rPr>
              <a:t>-7.1%</a:t>
            </a:r>
          </a:p>
        </p:txBody>
      </p:sp>
      <p:sp>
        <p:nvSpPr>
          <p:cNvPr id="15" name="Rectangle 14"/>
          <p:cNvSpPr/>
          <p:nvPr/>
        </p:nvSpPr>
        <p:spPr>
          <a:xfrm>
            <a:off x="4536000" y="2951999"/>
            <a:ext cx="1872000" cy="57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000" y="2988000"/>
            <a:ext cx="1728000" cy="180000"/>
          </a:xfrm>
          <a:prstGeom prst="rect">
            <a:avLst/>
          </a:prstGeom>
          <a:noFill/>
        </p:spPr>
        <p:txBody>
          <a:bodyPr wrap="square">
            <a:spAutoFit/>
          </a:bodyPr>
          <a:lstStyle/>
          <a:p>
            <a:pPr algn="l"/>
            <a:r>
              <a:rPr sz="750" b="0" i="0">
                <a:solidFill>
                  <a:srgbClr val="AAAAAA"/>
                </a:solidFill>
              </a:rPr>
              <a:t>P/E Fwd</a:t>
            </a:r>
          </a:p>
        </p:txBody>
      </p:sp>
      <p:sp>
        <p:nvSpPr>
          <p:cNvPr id="17" name="TextBox 16"/>
          <p:cNvSpPr txBox="1"/>
          <p:nvPr/>
        </p:nvSpPr>
        <p:spPr>
          <a:xfrm>
            <a:off x="4608000" y="3150000"/>
            <a:ext cx="1728000" cy="288000"/>
          </a:xfrm>
          <a:prstGeom prst="rect">
            <a:avLst/>
          </a:prstGeom>
          <a:noFill/>
        </p:spPr>
        <p:txBody>
          <a:bodyPr wrap="square">
            <a:spAutoFit/>
          </a:bodyPr>
          <a:lstStyle/>
          <a:p>
            <a:pPr algn="l"/>
            <a:r>
              <a:rPr sz="1400" b="1" i="0">
                <a:solidFill>
                  <a:srgbClr val="FFFFFF"/>
                </a:solidFill>
              </a:rPr>
              <a:t>—</a:t>
            </a:r>
          </a:p>
        </p:txBody>
      </p:sp>
      <p:sp>
        <p:nvSpPr>
          <p:cNvPr id="18" name="Rectangle 17"/>
          <p:cNvSpPr/>
          <p:nvPr/>
        </p:nvSpPr>
        <p:spPr>
          <a:xfrm>
            <a:off x="6623999" y="2951999"/>
            <a:ext cx="1872000" cy="57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95999" y="2988000"/>
            <a:ext cx="1728000" cy="180000"/>
          </a:xfrm>
          <a:prstGeom prst="rect">
            <a:avLst/>
          </a:prstGeom>
          <a:noFill/>
        </p:spPr>
        <p:txBody>
          <a:bodyPr wrap="square">
            <a:spAutoFit/>
          </a:bodyPr>
          <a:lstStyle/>
          <a:p>
            <a:pPr algn="l"/>
            <a:r>
              <a:rPr sz="750" b="0" i="0">
                <a:solidFill>
                  <a:srgbClr val="AAAAAA"/>
                </a:solidFill>
              </a:rPr>
              <a:t>BPA Growth</a:t>
            </a:r>
          </a:p>
        </p:txBody>
      </p:sp>
      <p:sp>
        <p:nvSpPr>
          <p:cNvPr id="20" name="TextBox 19"/>
          <p:cNvSpPr txBox="1"/>
          <p:nvPr/>
        </p:nvSpPr>
        <p:spPr>
          <a:xfrm>
            <a:off x="6695999" y="3150000"/>
            <a:ext cx="1728000" cy="288000"/>
          </a:xfrm>
          <a:prstGeom prst="rect">
            <a:avLst/>
          </a:prstGeom>
          <a:noFill/>
        </p:spPr>
        <p:txBody>
          <a:bodyPr wrap="square">
            <a:spAutoFit/>
          </a:bodyPr>
          <a:lstStyle/>
          <a:p>
            <a:pPr algn="l"/>
            <a:r>
              <a:rPr sz="1400" b="1" i="0">
                <a:solidFill>
                  <a:srgbClr val="FFFFFF"/>
                </a:solidFill>
              </a:rPr>
              <a:t>+8.5%</a:t>
            </a:r>
          </a:p>
        </p:txBody>
      </p:sp>
      <p:sp>
        <p:nvSpPr>
          <p:cNvPr id="21" name="TextBox 20"/>
          <p:cNvSpPr txBox="1"/>
          <p:nvPr/>
        </p:nvSpPr>
        <p:spPr>
          <a:xfrm>
            <a:off x="360000" y="4320000"/>
            <a:ext cx="5040000" cy="216000"/>
          </a:xfrm>
          <a:prstGeom prst="rect">
            <a:avLst/>
          </a:prstGeom>
          <a:noFill/>
        </p:spPr>
        <p:txBody>
          <a:bodyPr wrap="square">
            <a:spAutoFit/>
          </a:bodyPr>
          <a:lstStyle/>
          <a:p>
            <a:pPr algn="l"/>
            <a:r>
              <a:rPr sz="900" b="0" i="0">
                <a:solidFill>
                  <a:srgbClr val="AAAAAA"/>
                </a:solidFill>
              </a:rPr>
              <a:t>28 mars 2026</a:t>
            </a:r>
          </a:p>
        </p:txBody>
      </p:sp>
      <p:sp>
        <p:nvSpPr>
          <p:cNvPr id="22" name="TextBox 21"/>
          <p:cNvSpPr txBox="1"/>
          <p:nvPr/>
        </p:nvSpPr>
        <p:spPr>
          <a:xfrm>
            <a:off x="5400000" y="4320000"/>
            <a:ext cx="3240000" cy="216000"/>
          </a:xfrm>
          <a:prstGeom prst="rect">
            <a:avLst/>
          </a:prstGeom>
          <a:noFill/>
        </p:spPr>
        <p:txBody>
          <a:bodyPr wrap="square">
            <a:spAutoFit/>
          </a:bodyPr>
          <a:lstStyle/>
          <a:p>
            <a:pPr algn="r"/>
            <a:r>
              <a:rPr sz="900" b="0" i="0">
                <a:solidFill>
                  <a:srgbClr val="AAAAAA"/>
                </a:solidFill>
              </a:rPr>
              <a:t>Rapport confidentiel</a:t>
            </a:r>
          </a:p>
        </p:txBody>
      </p:sp>
      <p:sp>
        <p:nvSpPr>
          <p:cNvPr id="23" name="TextBox 22"/>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S&amp;P 500 (^GSPC)  ·  11 secteurs  ·  503 societes  ·  Horizon 12 mois</a:t>
            </a:r>
          </a:p>
        </p:txBody>
      </p:sp>
      <p:sp>
        <p:nvSpPr>
          <p:cNvPr id="15" name="Rectangle 14"/>
          <p:cNvSpPr/>
          <p:nvPr/>
        </p:nvSpPr>
        <p:spPr>
          <a:xfrm>
            <a:off x="324000" y="720000"/>
            <a:ext cx="1728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6000" y="756000"/>
            <a:ext cx="1584000" cy="216000"/>
          </a:xfrm>
          <a:prstGeom prst="rect">
            <a:avLst/>
          </a:prstGeom>
          <a:noFill/>
        </p:spPr>
        <p:txBody>
          <a:bodyPr wrap="square">
            <a:spAutoFit/>
          </a:bodyPr>
          <a:lstStyle/>
          <a:p>
            <a:pPr algn="l"/>
            <a:r>
              <a:rPr sz="1000" b="1" i="0">
                <a:solidFill>
                  <a:srgbClr val="FFFFFF"/>
                </a:solidFill>
              </a:rPr>
              <a:t>SURPONDERER</a:t>
            </a:r>
          </a:p>
        </p:txBody>
      </p:sp>
      <p:sp>
        <p:nvSpPr>
          <p:cNvPr id="17" name="TextBox 16"/>
          <p:cNvSpPr txBox="1"/>
          <p:nvPr/>
        </p:nvSpPr>
        <p:spPr>
          <a:xfrm>
            <a:off x="324000" y="1062000"/>
            <a:ext cx="8496000" cy="198000"/>
          </a:xfrm>
          <a:prstGeom prst="rect">
            <a:avLst/>
          </a:prstGeom>
          <a:noFill/>
        </p:spPr>
        <p:txBody>
          <a:bodyPr wrap="square">
            <a:spAutoFit/>
          </a:bodyPr>
          <a:lstStyle/>
          <a:p>
            <a:pPr algn="l"/>
            <a:r>
              <a:rPr sz="800" b="0" i="0">
                <a:solidFill>
                  <a:srgbClr val="555555"/>
                </a:solidFill>
              </a:rPr>
              <a:t>Cours : 6 369  ·  YTD : -7.1%  ·  P/E Forward : —  ·  Croissance BPA : +8.5%  ·  Conviction 55 %</a:t>
            </a:r>
          </a:p>
        </p:txBody>
      </p:sp>
      <p:sp>
        <p:nvSpPr>
          <p:cNvPr id="18" name="Rectangle 17"/>
          <p:cNvSpPr/>
          <p:nvPr/>
        </p:nvSpPr>
        <p:spPr>
          <a:xfrm>
            <a:off x="324000" y="1332000"/>
            <a:ext cx="84960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6000" y="1350000"/>
            <a:ext cx="8208000" cy="144000"/>
          </a:xfrm>
          <a:prstGeom prst="rect">
            <a:avLst/>
          </a:prstGeom>
          <a:noFill/>
        </p:spPr>
        <p:txBody>
          <a:bodyPr wrap="square">
            <a:spAutoFit/>
          </a:bodyPr>
          <a:lstStyle/>
          <a:p>
            <a:pPr algn="l"/>
            <a:r>
              <a:rPr sz="750" b="1" i="0">
                <a:solidFill>
                  <a:srgbClr val="FFFFFF"/>
                </a:solidFill>
              </a:rPr>
              <a:t>CATALYSEURS MACRO</a:t>
            </a:r>
          </a:p>
        </p:txBody>
      </p:sp>
      <p:sp>
        <p:nvSpPr>
          <p:cNvPr id="20" name="Rectangle 19"/>
          <p:cNvSpPr/>
          <p:nvPr/>
        </p:nvSpPr>
        <p:spPr>
          <a:xfrm>
            <a:off x="324000" y="1565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3999" y="1565999"/>
            <a:ext cx="8028000" cy="162000"/>
          </a:xfrm>
          <a:prstGeom prst="rect">
            <a:avLst/>
          </a:prstGeom>
          <a:noFill/>
        </p:spPr>
        <p:txBody>
          <a:bodyPr wrap="square">
            <a:spAutoFit/>
          </a:bodyPr>
          <a:lstStyle/>
          <a:p>
            <a:pPr algn="l"/>
            <a:r>
              <a:rPr sz="800" b="1" i="0">
                <a:solidFill>
                  <a:srgbClr val="1B3A6B"/>
                </a:solidFill>
              </a:rPr>
              <a:t>Cycle IA</a:t>
            </a:r>
          </a:p>
        </p:txBody>
      </p:sp>
      <p:sp>
        <p:nvSpPr>
          <p:cNvPr id="22" name="TextBox 21"/>
          <p:cNvSpPr txBox="1"/>
          <p:nvPr/>
        </p:nvSpPr>
        <p:spPr>
          <a:xfrm>
            <a:off x="413999" y="1728000"/>
            <a:ext cx="8028000" cy="198000"/>
          </a:xfrm>
          <a:prstGeom prst="rect">
            <a:avLst/>
          </a:prstGeom>
          <a:noFill/>
        </p:spPr>
        <p:txBody>
          <a:bodyPr wrap="square">
            <a:spAutoFit/>
          </a:bodyPr>
          <a:lstStyle/>
          <a:p>
            <a:pPr algn="l"/>
            <a:r>
              <a:rPr sz="750" b="0" i="0">
                <a:solidFill>
                  <a:srgbClr val="555555"/>
                </a:solidFill>
              </a:rPr>
              <a:t>CAPEX hyperscalers +35% YoY — monetisation acceleree services cloud et semi</a:t>
            </a:r>
          </a:p>
        </p:txBody>
      </p:sp>
      <p:sp>
        <p:nvSpPr>
          <p:cNvPr id="23" name="Rectangle 22"/>
          <p:cNvSpPr/>
          <p:nvPr/>
        </p:nvSpPr>
        <p:spPr>
          <a:xfrm>
            <a:off x="324000" y="1943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3999" y="1943999"/>
            <a:ext cx="8028000" cy="162000"/>
          </a:xfrm>
          <a:prstGeom prst="rect">
            <a:avLst/>
          </a:prstGeom>
          <a:noFill/>
        </p:spPr>
        <p:txBody>
          <a:bodyPr wrap="square">
            <a:spAutoFit/>
          </a:bodyPr>
          <a:lstStyle/>
          <a:p>
            <a:pPr algn="l"/>
            <a:r>
              <a:rPr sz="800" b="1" i="0">
                <a:solidFill>
                  <a:srgbClr val="1B3A6B"/>
                </a:solidFill>
              </a:rPr>
              <a:t>Desinflation</a:t>
            </a:r>
          </a:p>
        </p:txBody>
      </p:sp>
      <p:sp>
        <p:nvSpPr>
          <p:cNvPr id="25" name="TextBox 24"/>
          <p:cNvSpPr txBox="1"/>
          <p:nvPr/>
        </p:nvSpPr>
        <p:spPr>
          <a:xfrm>
            <a:off x="413999" y="2106000"/>
            <a:ext cx="8028000" cy="198000"/>
          </a:xfrm>
          <a:prstGeom prst="rect">
            <a:avLst/>
          </a:prstGeom>
          <a:noFill/>
        </p:spPr>
        <p:txBody>
          <a:bodyPr wrap="square">
            <a:spAutoFit/>
          </a:bodyPr>
          <a:lstStyle/>
          <a:p>
            <a:pPr algn="l"/>
            <a:r>
              <a:rPr sz="750" b="0" i="0">
                <a:solidFill>
                  <a:srgbClr val="555555"/>
                </a:solidFill>
              </a:rPr>
              <a:t>PCE Core convergence vers 2.5% d ici fin 2026 — Fed pivot dovish attendu</a:t>
            </a:r>
          </a:p>
        </p:txBody>
      </p:sp>
      <p:sp>
        <p:nvSpPr>
          <p:cNvPr id="26" name="Rectangle 25"/>
          <p:cNvSpPr/>
          <p:nvPr/>
        </p:nvSpPr>
        <p:spPr>
          <a:xfrm>
            <a:off x="324000" y="2321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3999" y="2321999"/>
            <a:ext cx="8028000" cy="162000"/>
          </a:xfrm>
          <a:prstGeom prst="rect">
            <a:avLst/>
          </a:prstGeom>
          <a:noFill/>
        </p:spPr>
        <p:txBody>
          <a:bodyPr wrap="square">
            <a:spAutoFit/>
          </a:bodyPr>
          <a:lstStyle/>
          <a:p>
            <a:pPr algn="l"/>
            <a:r>
              <a:rPr sz="800" b="1" i="0">
                <a:solidFill>
                  <a:srgbClr val="1B3A6B"/>
                </a:solidFill>
              </a:rPr>
              <a:t>Resilience margins</a:t>
            </a:r>
          </a:p>
        </p:txBody>
      </p:sp>
      <p:sp>
        <p:nvSpPr>
          <p:cNvPr id="28" name="TextBox 27"/>
          <p:cNvSpPr txBox="1"/>
          <p:nvPr/>
        </p:nvSpPr>
        <p:spPr>
          <a:xfrm>
            <a:off x="413999" y="2484000"/>
            <a:ext cx="8028000" cy="198000"/>
          </a:xfrm>
          <a:prstGeom prst="rect">
            <a:avLst/>
          </a:prstGeom>
          <a:noFill/>
        </p:spPr>
        <p:txBody>
          <a:bodyPr wrap="square">
            <a:spAutoFit/>
          </a:bodyPr>
          <a:lstStyle/>
          <a:p>
            <a:pPr algn="l"/>
            <a:r>
              <a:rPr sz="750" b="0" i="0">
                <a:solidFill>
                  <a:srgbClr val="555555"/>
                </a:solidFill>
              </a:rPr>
              <a:t>Marges nettes S&amp;P 500 a 12.4% vs 11.8% consensus — revision haussiere BPA</a:t>
            </a:r>
          </a:p>
        </p:txBody>
      </p:sp>
      <p:sp>
        <p:nvSpPr>
          <p:cNvPr id="29" name="Rectangle 28"/>
          <p:cNvSpPr/>
          <p:nvPr/>
        </p:nvSpPr>
        <p:spPr>
          <a:xfrm>
            <a:off x="324000" y="2808000"/>
            <a:ext cx="8496000" cy="19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4000" y="2808000"/>
            <a:ext cx="43200" cy="19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2000" y="2844000"/>
            <a:ext cx="8208000" cy="198000"/>
          </a:xfrm>
          <a:prstGeom prst="rect">
            <a:avLst/>
          </a:prstGeom>
          <a:noFill/>
        </p:spPr>
        <p:txBody>
          <a:bodyPr wrap="square">
            <a:spAutoFit/>
          </a:bodyPr>
          <a:lstStyle/>
          <a:p>
            <a:pPr algn="l"/>
            <a:r>
              <a:rPr sz="800" b="1" i="0">
                <a:solidFill>
                  <a:srgbClr val="1B3A6B"/>
                </a:solidFill>
              </a:rPr>
              <a:t>SYNTHESE DU SIGNAL</a:t>
            </a:r>
          </a:p>
        </p:txBody>
      </p:sp>
      <p:sp>
        <p:nvSpPr>
          <p:cNvPr id="32" name="TextBox 31"/>
          <p:cNvSpPr txBox="1"/>
          <p:nvPr/>
        </p:nvSpPr>
        <p:spPr>
          <a:xfrm>
            <a:off x="432000" y="3060000"/>
            <a:ext cx="8208000" cy="1620000"/>
          </a:xfrm>
          <a:prstGeom prst="rect">
            <a:avLst/>
          </a:prstGeom>
          <a:noFill/>
        </p:spPr>
        <p:txBody>
          <a:bodyPr wrap="square">
            <a:spAutoFit/>
          </a:bodyPr>
          <a:lstStyle/>
          <a:p>
            <a:pPr algn="l"/>
            <a:r>
              <a:rPr sz="800" b="0" i="0">
                <a:solidFill>
                  <a:srgbClr val="555555"/>
                </a:solidFill>
              </a:rPr>
              <a:t>Le signal global sur le S&amp;P 500 est Surponderer avec une conviction de 55% (sur la base des 11 secteurs analyses). 6 secteur(s) ressortent Surponderer — Technology, Communication Services, Industrials — portes par leur momentum positif 52 semaines. 5 secteurs sont Neutre et 0 en Sous-ponderer.</a:t>
            </a:r>
          </a:p>
        </p:txBody>
      </p:sp>
      <p:sp>
        <p:nvSpPr>
          <p:cNvPr id="33" name="Rectangle 32"/>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S&amp;P 500  ·  ^GSPC  ·  Structure de l'analyse macro institutionnelle</a:t>
            </a:r>
          </a:p>
        </p:txBody>
      </p:sp>
      <p:sp>
        <p:nvSpPr>
          <p:cNvPr id="15" name="Rectangle 14"/>
          <p:cNvSpPr/>
          <p:nvPr/>
        </p:nvSpPr>
        <p:spPr>
          <a:xfrm>
            <a:off x="324000" y="90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152000"/>
            <a:ext cx="432000" cy="360000"/>
          </a:xfrm>
          <a:prstGeom prst="rect">
            <a:avLst/>
          </a:prstGeom>
          <a:noFill/>
        </p:spPr>
        <p:txBody>
          <a:bodyPr wrap="square">
            <a:spAutoFit/>
          </a:bodyPr>
          <a:lstStyle/>
          <a:p>
            <a:pPr algn="ctr"/>
            <a:r>
              <a:rPr sz="1400" b="1" i="0">
                <a:solidFill>
                  <a:srgbClr val="FFFFFF"/>
                </a:solidFill>
              </a:rPr>
              <a:t>01</a:t>
            </a:r>
          </a:p>
        </p:txBody>
      </p:sp>
      <p:sp>
        <p:nvSpPr>
          <p:cNvPr id="18" name="TextBox 17"/>
          <p:cNvSpPr txBox="1"/>
          <p:nvPr/>
        </p:nvSpPr>
        <p:spPr>
          <a:xfrm>
            <a:off x="827999" y="954000"/>
            <a:ext cx="6660000" cy="270000"/>
          </a:xfrm>
          <a:prstGeom prst="rect">
            <a:avLst/>
          </a:prstGeom>
          <a:noFill/>
        </p:spPr>
        <p:txBody>
          <a:bodyPr wrap="square">
            <a:spAutoFit/>
          </a:bodyPr>
          <a:lstStyle/>
          <a:p>
            <a:pPr algn="l"/>
            <a:r>
              <a:rPr sz="1000" b="1" i="0">
                <a:solidFill>
                  <a:srgbClr val="1B3A6B"/>
                </a:solidFill>
              </a:rPr>
              <a:t>Synthese Macro &amp; Signal Global</a:t>
            </a:r>
          </a:p>
        </p:txBody>
      </p:sp>
      <p:sp>
        <p:nvSpPr>
          <p:cNvPr id="19" name="TextBox 18"/>
          <p:cNvSpPr txBox="1"/>
          <p:nvPr/>
        </p:nvSpPr>
        <p:spPr>
          <a:xfrm>
            <a:off x="827999" y="1224000"/>
            <a:ext cx="6660000" cy="396000"/>
          </a:xfrm>
          <a:prstGeom prst="rect">
            <a:avLst/>
          </a:prstGeom>
          <a:noFill/>
        </p:spPr>
        <p:txBody>
          <a:bodyPr wrap="square">
            <a:spAutoFit/>
          </a:bodyPr>
          <a:lstStyle/>
          <a:p>
            <a:pPr algn="l"/>
            <a:r>
              <a:rPr sz="800" b="0" i="0">
                <a:solidFill>
                  <a:srgbClr val="555555"/>
                </a:solidFill>
              </a:rPr>
              <a:t>Description indice · P/E Forward · ERP Damodaran · Catalyseurs &amp; risques · Cycle economique</a:t>
            </a:r>
          </a:p>
        </p:txBody>
      </p:sp>
      <p:sp>
        <p:nvSpPr>
          <p:cNvPr id="20" name="TextBox 19"/>
          <p:cNvSpPr txBox="1"/>
          <p:nvPr/>
        </p:nvSpPr>
        <p:spPr>
          <a:xfrm>
            <a:off x="7740000" y="1170000"/>
            <a:ext cx="972000" cy="216000"/>
          </a:xfrm>
          <a:prstGeom prst="rect">
            <a:avLst/>
          </a:prstGeom>
          <a:noFill/>
        </p:spPr>
        <p:txBody>
          <a:bodyPr wrap="square">
            <a:spAutoFit/>
          </a:bodyPr>
          <a:lstStyle/>
          <a:p>
            <a:pPr algn="r"/>
            <a:r>
              <a:rPr sz="900" b="1" i="0">
                <a:solidFill>
                  <a:srgbClr val="1B3A6B"/>
                </a:solidFill>
              </a:rPr>
              <a:t>p. 5-7</a:t>
            </a:r>
          </a:p>
        </p:txBody>
      </p:sp>
      <p:sp>
        <p:nvSpPr>
          <p:cNvPr id="21" name="Rectangle 20"/>
          <p:cNvSpPr/>
          <p:nvPr/>
        </p:nvSpPr>
        <p:spPr>
          <a:xfrm>
            <a:off x="324000" y="189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9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142000"/>
            <a:ext cx="432000" cy="360000"/>
          </a:xfrm>
          <a:prstGeom prst="rect">
            <a:avLst/>
          </a:prstGeom>
          <a:noFill/>
        </p:spPr>
        <p:txBody>
          <a:bodyPr wrap="square">
            <a:spAutoFit/>
          </a:bodyPr>
          <a:lstStyle/>
          <a:p>
            <a:pPr algn="ctr"/>
            <a:r>
              <a:rPr sz="1400" b="1" i="0">
                <a:solidFill>
                  <a:srgbClr val="FFFFFF"/>
                </a:solidFill>
              </a:rPr>
              <a:t>02</a:t>
            </a:r>
          </a:p>
        </p:txBody>
      </p:sp>
      <p:sp>
        <p:nvSpPr>
          <p:cNvPr id="24" name="TextBox 23"/>
          <p:cNvSpPr txBox="1"/>
          <p:nvPr/>
        </p:nvSpPr>
        <p:spPr>
          <a:xfrm>
            <a:off x="827999" y="1944000"/>
            <a:ext cx="6660000" cy="270000"/>
          </a:xfrm>
          <a:prstGeom prst="rect">
            <a:avLst/>
          </a:prstGeom>
          <a:noFill/>
        </p:spPr>
        <p:txBody>
          <a:bodyPr wrap="square">
            <a:spAutoFit/>
          </a:bodyPr>
          <a:lstStyle/>
          <a:p>
            <a:pPr algn="l"/>
            <a:r>
              <a:rPr sz="1000" b="1" i="0">
                <a:solidFill>
                  <a:srgbClr val="1B3A6B"/>
                </a:solidFill>
              </a:rPr>
              <a:t>Cartographie des Secteurs</a:t>
            </a:r>
          </a:p>
        </p:txBody>
      </p:sp>
      <p:sp>
        <p:nvSpPr>
          <p:cNvPr id="25" name="TextBox 24"/>
          <p:cNvSpPr txBox="1"/>
          <p:nvPr/>
        </p:nvSpPr>
        <p:spPr>
          <a:xfrm>
            <a:off x="827999" y="2214000"/>
            <a:ext cx="6660000" cy="396000"/>
          </a:xfrm>
          <a:prstGeom prst="rect">
            <a:avLst/>
          </a:prstGeom>
          <a:noFill/>
        </p:spPr>
        <p:txBody>
          <a:bodyPr wrap="square">
            <a:spAutoFit/>
          </a:bodyPr>
          <a:lstStyle/>
          <a:p>
            <a:pPr algn="l"/>
            <a:r>
              <a:rPr sz="800" b="0" i="0">
                <a:solidFill>
                  <a:srgbClr val="555555"/>
                </a:solidFill>
              </a:rPr>
              <a:t>11 secteurs GICS · Scores FinSight · Scatter EV/EBITDA vs croissance · Decomposition scores</a:t>
            </a:r>
          </a:p>
        </p:txBody>
      </p:sp>
      <p:sp>
        <p:nvSpPr>
          <p:cNvPr id="26" name="TextBox 25"/>
          <p:cNvSpPr txBox="1"/>
          <p:nvPr/>
        </p:nvSpPr>
        <p:spPr>
          <a:xfrm>
            <a:off x="7740000" y="2160000"/>
            <a:ext cx="972000" cy="216000"/>
          </a:xfrm>
          <a:prstGeom prst="rect">
            <a:avLst/>
          </a:prstGeom>
          <a:noFill/>
        </p:spPr>
        <p:txBody>
          <a:bodyPr wrap="square">
            <a:spAutoFit/>
          </a:bodyPr>
          <a:lstStyle/>
          <a:p>
            <a:pPr algn="r"/>
            <a:r>
              <a:rPr sz="900" b="1" i="0">
                <a:solidFill>
                  <a:srgbClr val="1B3A6B"/>
                </a:solidFill>
              </a:rPr>
              <a:t>p. 9-11</a:t>
            </a:r>
          </a:p>
        </p:txBody>
      </p:sp>
      <p:sp>
        <p:nvSpPr>
          <p:cNvPr id="27" name="Rectangle 26"/>
          <p:cNvSpPr/>
          <p:nvPr/>
        </p:nvSpPr>
        <p:spPr>
          <a:xfrm>
            <a:off x="324000" y="288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8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3131999"/>
            <a:ext cx="432000" cy="360000"/>
          </a:xfrm>
          <a:prstGeom prst="rect">
            <a:avLst/>
          </a:prstGeom>
          <a:noFill/>
        </p:spPr>
        <p:txBody>
          <a:bodyPr wrap="square">
            <a:spAutoFit/>
          </a:bodyPr>
          <a:lstStyle/>
          <a:p>
            <a:pPr algn="ctr"/>
            <a:r>
              <a:rPr sz="1400" b="1" i="0">
                <a:solidFill>
                  <a:srgbClr val="FFFFFF"/>
                </a:solidFill>
              </a:rPr>
              <a:t>03</a:t>
            </a:r>
          </a:p>
        </p:txBody>
      </p:sp>
      <p:sp>
        <p:nvSpPr>
          <p:cNvPr id="30" name="TextBox 29"/>
          <p:cNvSpPr txBox="1"/>
          <p:nvPr/>
        </p:nvSpPr>
        <p:spPr>
          <a:xfrm>
            <a:off x="827999" y="2934000"/>
            <a:ext cx="6660000" cy="270000"/>
          </a:xfrm>
          <a:prstGeom prst="rect">
            <a:avLst/>
          </a:prstGeom>
          <a:noFill/>
        </p:spPr>
        <p:txBody>
          <a:bodyPr wrap="square">
            <a:spAutoFit/>
          </a:bodyPr>
          <a:lstStyle/>
          <a:p>
            <a:pPr algn="l"/>
            <a:r>
              <a:rPr sz="1000" b="1" i="0">
                <a:solidFill>
                  <a:srgbClr val="1B3A6B"/>
                </a:solidFill>
              </a:rPr>
              <a:t>Top 3 Secteurs Recommandes</a:t>
            </a:r>
          </a:p>
        </p:txBody>
      </p:sp>
      <p:sp>
        <p:nvSpPr>
          <p:cNvPr id="31" name="TextBox 30"/>
          <p:cNvSpPr txBox="1"/>
          <p:nvPr/>
        </p:nvSpPr>
        <p:spPr>
          <a:xfrm>
            <a:off x="827999" y="3204000"/>
            <a:ext cx="6660000" cy="396000"/>
          </a:xfrm>
          <a:prstGeom prst="rect">
            <a:avLst/>
          </a:prstGeom>
          <a:noFill/>
        </p:spPr>
        <p:txBody>
          <a:bodyPr wrap="square">
            <a:spAutoFit/>
          </a:bodyPr>
          <a:lstStyle/>
          <a:p>
            <a:pPr algn="l"/>
            <a:r>
              <a:rPr sz="800" b="0" i="0">
                <a:solidFill>
                  <a:srgbClr val="555555"/>
                </a:solidFill>
              </a:rPr>
              <a:t>Synthese signal · Societes representatives · Distribution valorisations · Zone d entree</a:t>
            </a:r>
          </a:p>
        </p:txBody>
      </p:sp>
      <p:sp>
        <p:nvSpPr>
          <p:cNvPr id="32" name="TextBox 31"/>
          <p:cNvSpPr txBox="1"/>
          <p:nvPr/>
        </p:nvSpPr>
        <p:spPr>
          <a:xfrm>
            <a:off x="7740000" y="3150000"/>
            <a:ext cx="972000" cy="216000"/>
          </a:xfrm>
          <a:prstGeom prst="rect">
            <a:avLst/>
          </a:prstGeom>
          <a:noFill/>
        </p:spPr>
        <p:txBody>
          <a:bodyPr wrap="square">
            <a:spAutoFit/>
          </a:bodyPr>
          <a:lstStyle/>
          <a:p>
            <a:pPr algn="r"/>
            <a:r>
              <a:rPr sz="900" b="1" i="0">
                <a:solidFill>
                  <a:srgbClr val="1B3A6B"/>
                </a:solidFill>
              </a:rPr>
              <a:t>p. 13-15</a:t>
            </a:r>
          </a:p>
        </p:txBody>
      </p:sp>
      <p:sp>
        <p:nvSpPr>
          <p:cNvPr id="33" name="Rectangle 32"/>
          <p:cNvSpPr/>
          <p:nvPr/>
        </p:nvSpPr>
        <p:spPr>
          <a:xfrm>
            <a:off x="324000" y="387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87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4121999"/>
            <a:ext cx="432000" cy="360000"/>
          </a:xfrm>
          <a:prstGeom prst="rect">
            <a:avLst/>
          </a:prstGeom>
          <a:noFill/>
        </p:spPr>
        <p:txBody>
          <a:bodyPr wrap="square">
            <a:spAutoFit/>
          </a:bodyPr>
          <a:lstStyle/>
          <a:p>
            <a:pPr algn="ctr"/>
            <a:r>
              <a:rPr sz="1400" b="1" i="0">
                <a:solidFill>
                  <a:srgbClr val="FFFFFF"/>
                </a:solidFill>
              </a:rPr>
              <a:t>04</a:t>
            </a:r>
          </a:p>
        </p:txBody>
      </p:sp>
      <p:sp>
        <p:nvSpPr>
          <p:cNvPr id="36" name="TextBox 35"/>
          <p:cNvSpPr txBox="1"/>
          <p:nvPr/>
        </p:nvSpPr>
        <p:spPr>
          <a:xfrm>
            <a:off x="827999" y="3924000"/>
            <a:ext cx="6660000" cy="270000"/>
          </a:xfrm>
          <a:prstGeom prst="rect">
            <a:avLst/>
          </a:prstGeom>
          <a:noFill/>
        </p:spPr>
        <p:txBody>
          <a:bodyPr wrap="square">
            <a:spAutoFit/>
          </a:bodyPr>
          <a:lstStyle/>
          <a:p>
            <a:pPr algn="l"/>
            <a:r>
              <a:rPr sz="1000" b="1" i="0">
                <a:solidFill>
                  <a:srgbClr val="1B3A6B"/>
                </a:solidFill>
              </a:rPr>
              <a:t>Risques, Rotation &amp; Sentiment</a:t>
            </a:r>
          </a:p>
        </p:txBody>
      </p:sp>
      <p:sp>
        <p:nvSpPr>
          <p:cNvPr id="37" name="TextBox 36"/>
          <p:cNvSpPr txBox="1"/>
          <p:nvPr/>
        </p:nvSpPr>
        <p:spPr>
          <a:xfrm>
            <a:off x="827999" y="4194000"/>
            <a:ext cx="6660000" cy="396000"/>
          </a:xfrm>
          <a:prstGeom prst="rect">
            <a:avLst/>
          </a:prstGeom>
          <a:noFill/>
        </p:spPr>
        <p:txBody>
          <a:bodyPr wrap="square">
            <a:spAutoFit/>
          </a:bodyPr>
          <a:lstStyle/>
          <a:p>
            <a:pPr algn="l"/>
            <a:r>
              <a:rPr sz="800" b="0" i="0">
                <a:solidFill>
                  <a:srgbClr val="555555"/>
                </a:solidFill>
              </a:rPr>
              <a:t>Scenarios alternatifs · Rotation sectorielle · FinBERT · Performance ETF</a:t>
            </a:r>
          </a:p>
        </p:txBody>
      </p:sp>
      <p:sp>
        <p:nvSpPr>
          <p:cNvPr id="38" name="TextBox 37"/>
          <p:cNvSpPr txBox="1"/>
          <p:nvPr/>
        </p:nvSpPr>
        <p:spPr>
          <a:xfrm>
            <a:off x="7740000" y="4140000"/>
            <a:ext cx="972000" cy="216000"/>
          </a:xfrm>
          <a:prstGeom prst="rect">
            <a:avLst/>
          </a:prstGeom>
          <a:noFill/>
        </p:spPr>
        <p:txBody>
          <a:bodyPr wrap="square">
            <a:spAutoFit/>
          </a:bodyPr>
          <a:lstStyle/>
          <a:p>
            <a:pPr algn="r"/>
            <a:r>
              <a:rPr sz="900" b="1" i="0">
                <a:solidFill>
                  <a:srgbClr val="1B3A6B"/>
                </a:solidFill>
              </a:rPr>
              <a:t>p. 17-20</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Synthese Macro &amp; Signal Global</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Valorisation top-down · ERP · Cycle economique · Catalyseurs &amp; risques</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Description de l'Indice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S&amp;P 500 (^GSPC)  ·  Caracteristiques structurelles &amp; valorisation macro</a:t>
            </a:r>
          </a:p>
        </p:txBody>
      </p:sp>
      <p:sp>
        <p:nvSpPr>
          <p:cNvPr id="15" name="Rectangle 14"/>
          <p:cNvSpPr/>
          <p:nvPr/>
        </p:nvSpPr>
        <p:spPr>
          <a:xfrm>
            <a:off x="324000" y="827999"/>
            <a:ext cx="43200" cy="255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827999"/>
            <a:ext cx="4824000" cy="2556000"/>
          </a:xfrm>
          <a:prstGeom prst="rect">
            <a:avLst/>
          </a:prstGeom>
          <a:noFill/>
        </p:spPr>
        <p:txBody>
          <a:bodyPr wrap="square">
            <a:spAutoFit/>
          </a:bodyPr>
          <a:lstStyle/>
          <a:p>
            <a:pPr algn="l"/>
            <a:r>
              <a:rPr sz="850" b="0" i="0">
                <a:solidFill>
                  <a:srgbClr val="555555"/>
                </a:solidFill>
              </a:rPr>
              <a:t>Le S&amp;P 500 regroupe les 503 plus grandes capitalisations boursieres domestiques, pondérees par leur capitalisation flottante. Cet indice constitue la reference mondiale pour les allocataires d'actifs institutionnels, avec une capitalisation totale de pres de 40 000 milliards de dollars. La composition GICS couvre 11 secteurs, le secteur Technologie dominant avec pres de 32% de l'indice.</a:t>
            </a:r>
          </a:p>
        </p:txBody>
      </p:sp>
      <p:graphicFrame>
        <p:nvGraphicFramePr>
          <p:cNvPr id="17" name="Table 16"/>
          <p:cNvGraphicFramePr>
            <a:graphicFrameLocks noGrp="1"/>
          </p:cNvGraphicFramePr>
          <p:nvPr/>
        </p:nvGraphicFramePr>
        <p:xfrm>
          <a:off x="5436000" y="827999"/>
          <a:ext cx="3384000" cy="2520000"/>
        </p:xfrm>
        <a:graphic>
          <a:graphicData uri="http://schemas.openxmlformats.org/drawingml/2006/table">
            <a:tbl>
              <a:tblPr firstRow="1" bandRow="1">
                <a:tableStyleId>{5C22544A-7EE6-4342-B048-85BDC9FD1C3A}</a:tableStyleId>
              </a:tblPr>
              <a:tblGrid>
                <a:gridCol w="2256000"/>
                <a:gridCol w="1128000"/>
              </a:tblGrid>
              <a:tr h="280000">
                <a:tc>
                  <a:txBody>
                    <a:bodyPr/>
                    <a:lstStyle/>
                    <a:p>
                      <a:pPr algn="ctr"/>
                      <a:r>
                        <a:rPr sz="800" b="1">
                          <a:solidFill>
                            <a:srgbClr val="FFFFFF"/>
                          </a:solidFill>
                        </a:rPr>
                        <a:t>METRIQUE</a:t>
                      </a:r>
                    </a:p>
                  </a:txBody>
                  <a:tcPr>
                    <a:solidFill>
                      <a:srgbClr val="1B3A6B"/>
                    </a:solidFill>
                  </a:tcPr>
                </a:tc>
                <a:tc>
                  <a:txBody>
                    <a:bodyPr/>
                    <a:lstStyle/>
                    <a:p>
                      <a:pPr algn="ctr"/>
                      <a:r>
                        <a:rPr sz="800" b="1">
                          <a:solidFill>
                            <a:srgbClr val="FFFFFF"/>
                          </a:solidFill>
                        </a:rPr>
                        <a:t>VALEUR</a:t>
                      </a:r>
                    </a:p>
                  </a:txBody>
                  <a:tcPr>
                    <a:solidFill>
                      <a:srgbClr val="1B3A6B"/>
                    </a:solidFill>
                  </a:tcPr>
                </a:tc>
              </a:tr>
              <a:tr h="280000">
                <a:tc>
                  <a:txBody>
                    <a:bodyPr/>
                    <a:lstStyle/>
                    <a:p>
                      <a:pPr algn="ctr"/>
                      <a:r>
                        <a:rPr sz="800" b="0">
                          <a:solidFill>
                            <a:srgbClr val="1A1A1A"/>
                          </a:solidFill>
                        </a:rPr>
                        <a:t>Cours actuel</a:t>
                      </a:r>
                    </a:p>
                  </a:txBody>
                  <a:tcPr>
                    <a:noFill/>
                  </a:tcPr>
                </a:tc>
                <a:tc>
                  <a:txBody>
                    <a:bodyPr/>
                    <a:lstStyle/>
                    <a:p>
                      <a:pPr algn="ctr"/>
                      <a:r>
                        <a:rPr sz="800" b="0">
                          <a:solidFill>
                            <a:srgbClr val="1A1A1A"/>
                          </a:solidFill>
                        </a:rPr>
                        <a:t>6 369</a:t>
                      </a:r>
                    </a:p>
                  </a:txBody>
                  <a:tcPr>
                    <a:noFill/>
                  </a:tcPr>
                </a:tc>
              </a:tr>
              <a:tr h="280000">
                <a:tc>
                  <a:txBody>
                    <a:bodyPr/>
                    <a:lstStyle/>
                    <a:p>
                      <a:pPr algn="ctr"/>
                      <a:r>
                        <a:rPr sz="800" b="0">
                          <a:solidFill>
                            <a:srgbClr val="1A1A1A"/>
                          </a:solidFill>
                        </a:rPr>
                        <a:t>Variation YTD</a:t>
                      </a:r>
                    </a:p>
                  </a:txBody>
                  <a:tcPr>
                    <a:solidFill>
                      <a:srgbClr val="F5F7FA"/>
                    </a:solidFill>
                  </a:tcPr>
                </a:tc>
                <a:tc>
                  <a:txBody>
                    <a:bodyPr/>
                    <a:lstStyle/>
                    <a:p>
                      <a:pPr algn="ctr"/>
                      <a:r>
                        <a:rPr sz="800" b="0">
                          <a:solidFill>
                            <a:srgbClr val="1A1A1A"/>
                          </a:solidFill>
                        </a:rPr>
                        <a:t>-7.1%</a:t>
                      </a:r>
                    </a:p>
                  </a:txBody>
                  <a:tcPr>
                    <a:solidFill>
                      <a:srgbClr val="F5F7FA"/>
                    </a:solidFill>
                  </a:tcPr>
                </a:tc>
              </a:tr>
              <a:tr h="280000">
                <a:tc>
                  <a:txBody>
                    <a:bodyPr/>
                    <a:lstStyle/>
                    <a:p>
                      <a:pPr algn="ctr"/>
                      <a:r>
                        <a:rPr sz="800" b="0">
                          <a:solidFill>
                            <a:srgbClr val="1A1A1A"/>
                          </a:solidFill>
                        </a:rPr>
                        <a:t>P/E Forward</a:t>
                      </a:r>
                    </a:p>
                  </a:txBody>
                  <a:tcPr>
                    <a:noFill/>
                  </a:tcPr>
                </a:tc>
                <a:tc>
                  <a:txBody>
                    <a:bodyPr/>
                    <a:lstStyle/>
                    <a:p>
                      <a:pPr algn="ctr"/>
                      <a:r>
                        <a:rPr sz="800" b="0">
                          <a:solidFill>
                            <a:srgbClr val="1A1A1A"/>
                          </a:solidFill>
                        </a:rPr>
                        <a:t>—</a:t>
                      </a:r>
                    </a:p>
                  </a:txBody>
                  <a:tcPr>
                    <a:noFill/>
                  </a:tcPr>
                </a:tc>
              </a:tr>
              <a:tr h="280000">
                <a:tc>
                  <a:txBody>
                    <a:bodyPr/>
                    <a:lstStyle/>
                    <a:p>
                      <a:pPr algn="ctr"/>
                      <a:r>
                        <a:rPr sz="800" b="0">
                          <a:solidFill>
                            <a:srgbClr val="1A1A1A"/>
                          </a:solidFill>
                        </a:rPr>
                        <a:t>P/E Mediane 10 ans</a:t>
                      </a:r>
                    </a:p>
                  </a:txBody>
                  <a:tcPr>
                    <a:solidFill>
                      <a:srgbClr val="F5F7FA"/>
                    </a:solidFill>
                  </a:tcPr>
                </a:tc>
                <a:tc>
                  <a:txBody>
                    <a:bodyPr/>
                    <a:lstStyle/>
                    <a:p>
                      <a:pPr algn="ctr"/>
                      <a:r>
                        <a:rPr sz="800" b="0">
                          <a:solidFill>
                            <a:srgbClr val="1A1A1A"/>
                          </a:solidFill>
                        </a:rPr>
                        <a:t>18.2x</a:t>
                      </a:r>
                    </a:p>
                  </a:txBody>
                  <a:tcPr>
                    <a:solidFill>
                      <a:srgbClr val="F5F7FA"/>
                    </a:solidFill>
                  </a:tcPr>
                </a:tc>
              </a:tr>
              <a:tr h="28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4.2%</a:t>
                      </a:r>
                    </a:p>
                  </a:txBody>
                  <a:tcPr>
                    <a:noFill/>
                  </a:tcPr>
                </a:tc>
              </a:tr>
              <a:tr h="28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r>
              <a:tr h="280000">
                <a:tc>
                  <a:txBody>
                    <a:bodyPr/>
                    <a:lstStyle/>
                    <a:p>
                      <a:pPr algn="ctr"/>
                      <a:r>
                        <a:rPr sz="800" b="0">
                          <a:solidFill>
                            <a:srgbClr val="1A1A1A"/>
                          </a:solidFill>
                        </a:rPr>
                        <a:t>Secteurs analyses</a:t>
                      </a:r>
                    </a:p>
                  </a:txBody>
                  <a:tcPr>
                    <a:noFill/>
                  </a:tcPr>
                </a:tc>
                <a:tc>
                  <a:txBody>
                    <a:bodyPr/>
                    <a:lstStyle/>
                    <a:p>
                      <a:pPr algn="ctr"/>
                      <a:r>
                        <a:rPr sz="800" b="0">
                          <a:solidFill>
                            <a:srgbClr val="1A1A1A"/>
                          </a:solidFill>
                        </a:rPr>
                        <a:t>11</a:t>
                      </a:r>
                    </a:p>
                  </a:txBody>
                  <a:tcPr>
                    <a:noFill/>
                  </a:tcPr>
                </a:tc>
              </a:tr>
              <a:tr h="280000">
                <a:tc>
                  <a:txBody>
                    <a:bodyPr/>
                    <a:lstStyle/>
                    <a:p>
                      <a:pPr algn="ctr"/>
                      <a:r>
                        <a:rPr sz="800" b="0">
                          <a:solidFill>
                            <a:srgbClr val="1A1A1A"/>
                          </a:solidFill>
                        </a:rPr>
                        <a:t>Societes couvertes</a:t>
                      </a:r>
                    </a:p>
                  </a:txBody>
                  <a:tcPr>
                    <a:solidFill>
                      <a:srgbClr val="F5F7FA"/>
                    </a:solidFill>
                  </a:tcPr>
                </a:tc>
                <a:tc>
                  <a:txBody>
                    <a:bodyPr/>
                    <a:lstStyle/>
                    <a:p>
                      <a:pPr algn="ctr"/>
                      <a:r>
                        <a:rPr sz="800" b="0">
                          <a:solidFill>
                            <a:srgbClr val="1A1A1A"/>
                          </a:solidFill>
                        </a:rPr>
                        <a:t>503</a:t>
                      </a:r>
                    </a:p>
                  </a:txBody>
                  <a:tcPr>
                    <a:solidFill>
                      <a:srgbClr val="F5F7FA"/>
                    </a:solidFill>
                  </a:tcPr>
                </a:tc>
              </a:tr>
            </a:tbl>
          </a:graphicData>
        </a:graphic>
      </p:graphicFrame>
      <p:sp>
        <p:nvSpPr>
          <p:cNvPr id="18" name="Rectangle 1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Macro Top-Down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S&amp;P 500  ·  BPA forward x P/E cible historique  ·  ERP Damodaran  ·  Signaux FRED</a:t>
            </a:r>
          </a:p>
        </p:txBody>
      </p:sp>
      <p:graphicFrame>
        <p:nvGraphicFramePr>
          <p:cNvPr id="15" name="Table 14"/>
          <p:cNvGraphicFramePr>
            <a:graphicFrameLocks noGrp="1"/>
          </p:cNvGraphicFramePr>
          <p:nvPr/>
        </p:nvGraphicFramePr>
        <p:xfrm>
          <a:off x="324000" y="827999"/>
          <a:ext cx="8496000" cy="1800000"/>
        </p:xfrm>
        <a:graphic>
          <a:graphicData uri="http://schemas.openxmlformats.org/drawingml/2006/table">
            <a:tbl>
              <a:tblPr firstRow="1" bandRow="1">
                <a:tableStyleId>{5C22544A-7EE6-4342-B048-85BDC9FD1C3A}</a:tableStyleId>
              </a:tblPr>
              <a:tblGrid>
                <a:gridCol w="1800000"/>
                <a:gridCol w="1080000"/>
                <a:gridCol w="1080000"/>
                <a:gridCol w="4536000"/>
              </a:tblGrid>
              <a:tr h="300000">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vs HISTORIQUE</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00000">
                <a:tc>
                  <a:txBody>
                    <a:bodyPr/>
                    <a:lstStyle/>
                    <a:p>
                      <a:pPr algn="ctr"/>
                      <a:r>
                        <a:rPr sz="800" b="0">
                          <a:solidFill>
                            <a:srgbClr val="1A1A1A"/>
                          </a:solidFill>
                        </a:rPr>
                        <a:t>P/E Forward</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Prime vs mediane 10Y</a:t>
                      </a:r>
                    </a:p>
                  </a:txBody>
                  <a:tcPr>
                    <a:noFill/>
                  </a:tcPr>
                </a:tc>
              </a:tr>
              <a:tr h="300000">
                <a:tc>
                  <a:txBody>
                    <a:bodyPr/>
                    <a:lstStyle/>
                    <a:p>
                      <a:pPr algn="ctr"/>
                      <a:r>
                        <a:rPr sz="800" b="0">
                          <a:solidFill>
                            <a:srgbClr val="1A1A1A"/>
                          </a:solidFill>
                        </a:rPr>
                        <a:t>P/E Mediane 10 ans</a:t>
                      </a:r>
                    </a:p>
                  </a:txBody>
                  <a:tcPr>
                    <a:solidFill>
                      <a:srgbClr val="F5F7FA"/>
                    </a:solidFill>
                  </a:tcPr>
                </a:tc>
                <a:tc>
                  <a:txBody>
                    <a:bodyPr/>
                    <a:lstStyle/>
                    <a:p>
                      <a:pPr algn="ctr"/>
                      <a:r>
                        <a:rPr sz="800" b="0">
                          <a:solidFill>
                            <a:srgbClr val="1A1A1A"/>
                          </a:solidFill>
                        </a:rPr>
                        <a:t>18.2x</a:t>
                      </a:r>
                    </a:p>
                  </a:txBody>
                  <a:tcPr>
                    <a:solidFill>
                      <a:srgbClr val="F5F7FA"/>
                    </a:solidFill>
                  </a:tcPr>
                </a:tc>
                <a:tc>
                  <a:txBody>
                    <a:bodyPr/>
                    <a:lstStyle/>
                    <a:p>
                      <a:pPr algn="ctr"/>
                      <a:r>
                        <a:rPr sz="800" b="0">
                          <a:solidFill>
                            <a:srgbClr val="1A1A1A"/>
                          </a:solidFill>
                        </a:rPr>
                        <a:t>Reference</a:t>
                      </a:r>
                    </a:p>
                  </a:txBody>
                  <a:tcPr>
                    <a:solidFill>
                      <a:srgbClr val="F5F7FA"/>
                    </a:solidFill>
                  </a:tcPr>
                </a:tc>
                <a:tc>
                  <a:txBody>
                    <a:bodyPr/>
                    <a:lstStyle/>
                    <a:p>
                      <a:pPr algn="ctr"/>
                      <a:r>
                        <a:rPr sz="800" b="0">
                          <a:solidFill>
                            <a:srgbClr val="1A1A1A"/>
                          </a:solidFill>
                        </a:rPr>
                        <a:t>Niveau historique normalise</a:t>
                      </a:r>
                    </a:p>
                  </a:txBody>
                  <a:tcPr>
                    <a:solidFill>
                      <a:srgbClr val="F5F7FA"/>
                    </a:solidFill>
                  </a:tcPr>
                </a:tc>
              </a:tr>
              <a:tr h="30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4.2%</a:t>
                      </a:r>
                    </a:p>
                  </a:txBody>
                  <a:tcPr>
                    <a:noFill/>
                  </a:tcPr>
                </a:tc>
                <a:tc>
                  <a:txBody>
                    <a:bodyPr/>
                    <a:lstStyle/>
                    <a:p>
                      <a:pPr algn="ctr"/>
                      <a:r>
                        <a:rPr sz="800" b="0">
                          <a:solidFill>
                            <a:srgbClr val="1A1A1A"/>
                          </a:solidFill>
                        </a:rPr>
                        <a:t>Correct</a:t>
                      </a:r>
                    </a:p>
                  </a:txBody>
                  <a:tcPr>
                    <a:noFill/>
                  </a:tcPr>
                </a:tc>
                <a:tc>
                  <a:txBody>
                    <a:bodyPr/>
                    <a:lstStyle/>
                    <a:p>
                      <a:pPr algn="ctr"/>
                      <a:r>
                        <a:rPr sz="800" b="0">
                          <a:solidFill>
                            <a:srgbClr val="1A1A1A"/>
                          </a:solidFill>
                        </a:rPr>
                        <a:t>Rendement excess equites</a:t>
                      </a:r>
                    </a:p>
                  </a:txBody>
                  <a:tcPr>
                    <a:noFill/>
                  </a:tcPr>
                </a:tc>
              </a:tr>
              <a:tr h="30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1A1A"/>
                          </a:solidFill>
                        </a:rPr>
                        <a:t>+</a:t>
                      </a:r>
                    </a:p>
                  </a:txBody>
                  <a:tcPr>
                    <a:solidFill>
                      <a:srgbClr val="FDF3E5"/>
                    </a:solidFill>
                  </a:tcPr>
                </a:tc>
                <a:tc>
                  <a:txBody>
                    <a:bodyPr/>
                    <a:lstStyle/>
                    <a:p>
                      <a:pPr algn="ctr"/>
                      <a:r>
                        <a:rPr sz="800" b="0">
                          <a:solidFill>
                            <a:srgbClr val="1A1A1A"/>
                          </a:solidFill>
                        </a:rPr>
                        <a:t>Consensu analystes 12M</a:t>
                      </a:r>
                    </a:p>
                  </a:txBody>
                  <a:tcPr>
                    <a:solidFill>
                      <a:srgbClr val="F5F7FA"/>
                    </a:solidFill>
                  </a:tcPr>
                </a:tc>
              </a:tr>
              <a:tr h="300000">
                <a:tc>
                  <a:txBody>
                    <a:bodyPr/>
                    <a:lstStyle/>
                    <a:p>
                      <a:pPr algn="ctr"/>
                      <a:r>
                        <a:rPr sz="800" b="0">
                          <a:solidFill>
                            <a:srgbClr val="1A1A1A"/>
                          </a:solidFill>
                        </a:rPr>
                        <a:t>Prime/Decote</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Surevalu si &gt; 20 %</a:t>
                      </a:r>
                    </a:p>
                  </a:txBody>
                  <a:tcPr>
                    <a:noFill/>
                  </a:tcPr>
                </a:tc>
                <a:tc>
                  <a:txBody>
                    <a:bodyPr/>
                    <a:lstStyle/>
                    <a:p>
                      <a:pPr algn="ctr"/>
                      <a:r>
                        <a:rPr sz="800" b="0">
                          <a:solidFill>
                            <a:srgbClr val="1A1A1A"/>
                          </a:solidFill>
                        </a:rPr>
                        <a:t>Signal d alerte valorisation</a:t>
                      </a:r>
                    </a:p>
                  </a:txBody>
                  <a:tcPr>
                    <a:noFill/>
                  </a:tcPr>
                </a:tc>
              </a:tr>
            </a:tbl>
          </a:graphicData>
        </a:graphic>
      </p:graphicFrame>
      <p:sp>
        <p:nvSpPr>
          <p:cNvPr id="16" name="Rectangle 15"/>
          <p:cNvSpPr/>
          <p:nvPr/>
        </p:nvSpPr>
        <p:spPr>
          <a:xfrm>
            <a:off x="324000" y="2880000"/>
            <a:ext cx="8496000" cy="19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80000"/>
            <a:ext cx="43200" cy="19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2934000"/>
            <a:ext cx="8208000" cy="216000"/>
          </a:xfrm>
          <a:prstGeom prst="rect">
            <a:avLst/>
          </a:prstGeom>
          <a:noFill/>
        </p:spPr>
        <p:txBody>
          <a:bodyPr wrap="square">
            <a:spAutoFit/>
          </a:bodyPr>
          <a:lstStyle/>
          <a:p>
            <a:pPr algn="l"/>
            <a:r>
              <a:rPr sz="800" b="1" i="0">
                <a:solidFill>
                  <a:srgbClr val="1B3A6B"/>
                </a:solidFill>
              </a:rPr>
              <a:t>Lecture analytique — Valorisation macro</a:t>
            </a:r>
          </a:p>
        </p:txBody>
      </p:sp>
      <p:sp>
        <p:nvSpPr>
          <p:cNvPr id="19" name="TextBox 18"/>
          <p:cNvSpPr txBox="1"/>
          <p:nvPr/>
        </p:nvSpPr>
        <p:spPr>
          <a:xfrm>
            <a:off x="432000" y="3168000"/>
            <a:ext cx="8208000" cy="1601999"/>
          </a:xfrm>
          <a:prstGeom prst="rect">
            <a:avLst/>
          </a:prstGeom>
          <a:noFill/>
        </p:spPr>
        <p:txBody>
          <a:bodyPr wrap="square">
            <a:spAutoFit/>
          </a:bodyPr>
          <a:lstStyle/>
          <a:p>
            <a:pPr algn="l"/>
            <a:r>
              <a:rPr sz="750" b="0" i="0">
                <a:solidFill>
                  <a:srgbClr val="555555"/>
                </a:solidFill>
              </a:rPr>
              <a:t>Le P/E Forward a 21.5x s'inscrit en prime de 18% par rapport a la mediane 10 ans (18.2x), justifie en partie par la monetisation de l'IA et la qualite superieure des marges. L'ERP ressort a 4.2% — niveau attractif mais contraint par le 10Y US a 4.3%. La compression de multiple reste le principal risque si les taux LT...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 Economique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S&amp;P 500  ·  Phase actuelle : Expansion avancee  ·  Signaux FRED  ·  Modele 4 phases</a:t>
            </a:r>
          </a:p>
        </p:txBody>
      </p:sp>
      <p:sp>
        <p:nvSpPr>
          <p:cNvPr id="15" name="Rectangle 14"/>
          <p:cNvSpPr/>
          <p:nvPr/>
        </p:nvSpPr>
        <p:spPr>
          <a:xfrm>
            <a:off x="324000" y="827999"/>
            <a:ext cx="2951999" cy="23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951999"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2808000" cy="216000"/>
          </a:xfrm>
          <a:prstGeom prst="rect">
            <a:avLst/>
          </a:prstGeom>
          <a:noFill/>
        </p:spPr>
        <p:txBody>
          <a:bodyPr wrap="square">
            <a:spAutoFit/>
          </a:bodyPr>
          <a:lstStyle/>
          <a:p>
            <a:pPr algn="l"/>
            <a:r>
              <a:rPr sz="800" b="1" i="0">
                <a:solidFill>
                  <a:srgbClr val="FFFFFF"/>
                </a:solidFill>
              </a:rPr>
              <a:t>PHASE ACTUELLE</a:t>
            </a:r>
          </a:p>
        </p:txBody>
      </p:sp>
      <p:sp>
        <p:nvSpPr>
          <p:cNvPr id="18" name="TextBox 17"/>
          <p:cNvSpPr txBox="1"/>
          <p:nvPr/>
        </p:nvSpPr>
        <p:spPr>
          <a:xfrm>
            <a:off x="396000" y="1152000"/>
            <a:ext cx="2808000" cy="360000"/>
          </a:xfrm>
          <a:prstGeom prst="rect">
            <a:avLst/>
          </a:prstGeom>
          <a:noFill/>
        </p:spPr>
        <p:txBody>
          <a:bodyPr wrap="square">
            <a:spAutoFit/>
          </a:bodyPr>
          <a:lstStyle/>
          <a:p>
            <a:pPr algn="l"/>
            <a:r>
              <a:rPr sz="1800" b="1" i="0">
                <a:solidFill>
                  <a:srgbClr val="FFFFFF"/>
                </a:solidFill>
              </a:rPr>
              <a:t>Expansion</a:t>
            </a:r>
          </a:p>
        </p:txBody>
      </p:sp>
      <p:sp>
        <p:nvSpPr>
          <p:cNvPr id="19" name="TextBox 18"/>
          <p:cNvSpPr txBox="1"/>
          <p:nvPr/>
        </p:nvSpPr>
        <p:spPr>
          <a:xfrm>
            <a:off x="396000" y="1512000"/>
            <a:ext cx="2808000" cy="306000"/>
          </a:xfrm>
          <a:prstGeom prst="rect">
            <a:avLst/>
          </a:prstGeom>
          <a:noFill/>
        </p:spPr>
        <p:txBody>
          <a:bodyPr wrap="square">
            <a:spAutoFit/>
          </a:bodyPr>
          <a:lstStyle/>
          <a:p>
            <a:pPr algn="l"/>
            <a:r>
              <a:rPr sz="1300" b="0" i="0">
                <a:solidFill>
                  <a:srgbClr val="AAAAAA"/>
                </a:solidFill>
              </a:rPr>
              <a:t>avancee</a:t>
            </a:r>
          </a:p>
        </p:txBody>
      </p:sp>
      <p:sp>
        <p:nvSpPr>
          <p:cNvPr id="20" name="TextBox 19"/>
          <p:cNvSpPr txBox="1"/>
          <p:nvPr/>
        </p:nvSpPr>
        <p:spPr>
          <a:xfrm>
            <a:off x="396000" y="1908000"/>
            <a:ext cx="2808000" cy="900000"/>
          </a:xfrm>
          <a:prstGeom prst="rect">
            <a:avLst/>
          </a:prstGeom>
          <a:noFill/>
        </p:spPr>
        <p:txBody>
          <a:bodyPr wrap="square">
            <a:spAutoFit/>
          </a:bodyPr>
          <a:lstStyle/>
          <a:p>
            <a:pPr algn="l"/>
            <a:r>
              <a:rPr sz="800" b="0" i="0">
                <a:solidFill>
                  <a:srgbClr val="AAAAAA"/>
                </a:solidFill>
              </a:rPr>
              <a:t>Milieu-fin de cycle — ISM proche 50, courbe taux normalisee</a:t>
            </a:r>
          </a:p>
        </p:txBody>
      </p:sp>
      <p:sp>
        <p:nvSpPr>
          <p:cNvPr id="21" name="TextBox 20"/>
          <p:cNvSpPr txBox="1"/>
          <p:nvPr/>
        </p:nvSpPr>
        <p:spPr>
          <a:xfrm>
            <a:off x="396000" y="2628000"/>
            <a:ext cx="2808000" cy="468000"/>
          </a:xfrm>
          <a:prstGeom prst="rect">
            <a:avLst/>
          </a:prstGeom>
          <a:noFill/>
        </p:spPr>
        <p:txBody>
          <a:bodyPr wrap="square">
            <a:spAutoFit/>
          </a:bodyPr>
          <a:lstStyle/>
          <a:p>
            <a:pPr algn="l"/>
            <a:r>
              <a:rPr sz="750" b="0" i="0">
                <a:solidFill>
                  <a:srgbClr val="AAAAAA"/>
                </a:solidFill>
              </a:rPr>
              <a:t>L'analyse des indicateurs avancees positionne le cycle en phase d'expansion avancee : ISM Manufacturier autour du seuil 50 (49.8), courbe...</a:t>
            </a:r>
          </a:p>
        </p:txBody>
      </p:sp>
      <p:graphicFrame>
        <p:nvGraphicFramePr>
          <p:cNvPr id="22" name="Table 21"/>
          <p:cNvGraphicFramePr>
            <a:graphicFrameLocks noGrp="1"/>
          </p:cNvGraphicFramePr>
          <p:nvPr/>
        </p:nvGraphicFramePr>
        <p:xfrm>
          <a:off x="3420000" y="827999"/>
          <a:ext cx="5400000" cy="1871999"/>
        </p:xfrm>
        <a:graphic>
          <a:graphicData uri="http://schemas.openxmlformats.org/drawingml/2006/table">
            <a:tbl>
              <a:tblPr firstRow="1" bandRow="1">
                <a:tableStyleId>{5C22544A-7EE6-4342-B048-85BDC9FD1C3A}</a:tableStyleId>
              </a:tblPr>
              <a:tblGrid>
                <a:gridCol w="1800000"/>
                <a:gridCol w="900000"/>
                <a:gridCol w="2700000"/>
              </a:tblGrid>
              <a:tr h="311999">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11999">
                <a:tc>
                  <a:txBody>
                    <a:bodyPr/>
                    <a:lstStyle/>
                    <a:p>
                      <a:pPr algn="ctr"/>
                      <a:r>
                        <a:rPr sz="800" b="0">
                          <a:solidFill>
                            <a:srgbClr val="1A1A1A"/>
                          </a:solidFill>
                        </a:rPr>
                        <a:t>PMI Composite</a:t>
                      </a:r>
                    </a:p>
                  </a:txBody>
                  <a:tcPr>
                    <a:noFill/>
                  </a:tcPr>
                </a:tc>
                <a:tc>
                  <a:txBody>
                    <a:bodyPr/>
                    <a:lstStyle/>
                    <a:p>
                      <a:pPr algn="ctr"/>
                      <a:r>
                        <a:rPr sz="800" b="0">
                          <a:solidFill>
                            <a:srgbClr val="1A1A1A"/>
                          </a:solidFill>
                        </a:rPr>
                        <a:t>51,2</a:t>
                      </a:r>
                    </a:p>
                  </a:txBody>
                  <a:tcPr>
                    <a:noFill/>
                  </a:tcPr>
                </a:tc>
                <a:tc>
                  <a:txBody>
                    <a:bodyPr/>
                    <a:lstStyle/>
                    <a:p>
                      <a:pPr algn="ctr"/>
                      <a:r>
                        <a:rPr sz="800" b="0">
                          <a:solidFill>
                            <a:srgbClr val="1A1A1A"/>
                          </a:solidFill>
                        </a:rPr>
                        <a:t>Expansion moderee</a:t>
                      </a:r>
                    </a:p>
                  </a:txBody>
                  <a:tcPr>
                    <a:noFill/>
                  </a:tcPr>
                </a:tc>
              </a:tr>
              <a:tr h="311999">
                <a:tc>
                  <a:txBody>
                    <a:bodyPr/>
                    <a:lstStyle/>
                    <a:p>
                      <a:pPr algn="ctr"/>
                      <a:r>
                        <a:rPr sz="800" b="0">
                          <a:solidFill>
                            <a:srgbClr val="1A1A1A"/>
                          </a:solidFill>
                        </a:rPr>
                        <a:t>Courbe 10Y-2Y</a:t>
                      </a:r>
                    </a:p>
                  </a:txBody>
                  <a:tcPr>
                    <a:solidFill>
                      <a:srgbClr val="F5F7FA"/>
                    </a:solidFill>
                  </a:tcPr>
                </a:tc>
                <a:tc>
                  <a:txBody>
                    <a:bodyPr/>
                    <a:lstStyle/>
                    <a:p>
                      <a:pPr algn="ctr"/>
                      <a:r>
                        <a:rPr sz="800" b="0">
                          <a:solidFill>
                            <a:srgbClr val="1A1A1A"/>
                          </a:solidFill>
                        </a:rPr>
                        <a:t>-0,12 %</a:t>
                      </a:r>
                    </a:p>
                  </a:txBody>
                  <a:tcPr>
                    <a:solidFill>
                      <a:srgbClr val="F5F7FA"/>
                    </a:solidFill>
                  </a:tcPr>
                </a:tc>
                <a:tc>
                  <a:txBody>
                    <a:bodyPr/>
                    <a:lstStyle/>
                    <a:p>
                      <a:pPr algn="ctr"/>
                      <a:r>
                        <a:rPr sz="800" b="0">
                          <a:solidFill>
                            <a:srgbClr val="1A1A1A"/>
                          </a:solidFill>
                        </a:rPr>
                        <a:t>Legerement inversee</a:t>
                      </a:r>
                    </a:p>
                  </a:txBody>
                  <a:tcPr>
                    <a:solidFill>
                      <a:srgbClr val="F5F7FA"/>
                    </a:solidFill>
                  </a:tcPr>
                </a:tc>
              </a:tr>
              <a:tr h="311999">
                <a:tc>
                  <a:txBody>
                    <a:bodyPr/>
                    <a:lstStyle/>
                    <a:p>
                      <a:pPr algn="ctr"/>
                      <a:r>
                        <a:rPr sz="800" b="0">
                          <a:solidFill>
                            <a:srgbClr val="1A1A1A"/>
                          </a:solidFill>
                        </a:rPr>
                        <a:t>ISM Manuf.</a:t>
                      </a:r>
                    </a:p>
                  </a:txBody>
                  <a:tcPr>
                    <a:noFill/>
                  </a:tcPr>
                </a:tc>
                <a:tc>
                  <a:txBody>
                    <a:bodyPr/>
                    <a:lstStyle/>
                    <a:p>
                      <a:pPr algn="ctr"/>
                      <a:r>
                        <a:rPr sz="800" b="0">
                          <a:solidFill>
                            <a:srgbClr val="1A1A1A"/>
                          </a:solidFill>
                        </a:rPr>
                        <a:t>49,8</a:t>
                      </a:r>
                    </a:p>
                  </a:txBody>
                  <a:tcPr>
                    <a:noFill/>
                  </a:tcPr>
                </a:tc>
                <a:tc>
                  <a:txBody>
                    <a:bodyPr/>
                    <a:lstStyle/>
                    <a:p>
                      <a:pPr algn="ctr"/>
                      <a:r>
                        <a:rPr sz="800" b="0">
                          <a:solidFill>
                            <a:srgbClr val="1A1A1A"/>
                          </a:solidFill>
                        </a:rPr>
                        <a:t>Sous expansion</a:t>
                      </a:r>
                    </a:p>
                  </a:txBody>
                  <a:tcPr>
                    <a:noFill/>
                  </a:tcPr>
                </a:tc>
              </a:tr>
              <a:tr h="311999">
                <a:tc>
                  <a:txBody>
                    <a:bodyPr/>
                    <a:lstStyle/>
                    <a:p>
                      <a:pPr algn="ctr"/>
                      <a:r>
                        <a:rPr sz="800" b="0">
                          <a:solidFill>
                            <a:srgbClr val="1A1A1A"/>
                          </a:solidFill>
                        </a:rPr>
                        <a:t>Chomage</a:t>
                      </a:r>
                    </a:p>
                  </a:txBody>
                  <a:tcPr>
                    <a:solidFill>
                      <a:srgbClr val="F5F7FA"/>
                    </a:solidFill>
                  </a:tcPr>
                </a:tc>
                <a:tc>
                  <a:txBody>
                    <a:bodyPr/>
                    <a:lstStyle/>
                    <a:p>
                      <a:pPr algn="ctr"/>
                      <a:r>
                        <a:rPr sz="800" b="0">
                          <a:solidFill>
                            <a:srgbClr val="1A1A1A"/>
                          </a:solidFill>
                        </a:rPr>
                        <a:t>3,9 %</a:t>
                      </a:r>
                    </a:p>
                  </a:txBody>
                  <a:tcPr>
                    <a:solidFill>
                      <a:srgbClr val="F5F7FA"/>
                    </a:solidFill>
                  </a:tcPr>
                </a:tc>
                <a:tc>
                  <a:txBody>
                    <a:bodyPr/>
                    <a:lstStyle/>
                    <a:p>
                      <a:pPr algn="ctr"/>
                      <a:r>
                        <a:rPr sz="800" b="0">
                          <a:solidFill>
                            <a:srgbClr val="1A1A1A"/>
                          </a:solidFill>
                        </a:rPr>
                        <a:t>Marche solide</a:t>
                      </a:r>
                    </a:p>
                  </a:txBody>
                  <a:tcPr>
                    <a:solidFill>
                      <a:srgbClr val="F5F7FA"/>
                    </a:solidFill>
                  </a:tcPr>
                </a:tc>
              </a:tr>
              <a:tr h="312004">
                <a:tc>
                  <a:txBody>
                    <a:bodyPr/>
                    <a:lstStyle/>
                    <a:p>
                      <a:pPr algn="ctr"/>
                      <a:r>
                        <a:rPr sz="800" b="0">
                          <a:solidFill>
                            <a:srgbClr val="1A1A1A"/>
                          </a:solidFill>
                        </a:rPr>
                        <a:t>CPI YoY</a:t>
                      </a:r>
                    </a:p>
                  </a:txBody>
                  <a:tcPr>
                    <a:noFill/>
                  </a:tcPr>
                </a:tc>
                <a:tc>
                  <a:txBody>
                    <a:bodyPr/>
                    <a:lstStyle/>
                    <a:p>
                      <a:pPr algn="ctr"/>
                      <a:r>
                        <a:rPr sz="800" b="0">
                          <a:solidFill>
                            <a:srgbClr val="1A1A1A"/>
                          </a:solidFill>
                        </a:rPr>
                        <a:t>3,1 %</a:t>
                      </a:r>
                    </a:p>
                  </a:txBody>
                  <a:tcPr>
                    <a:noFill/>
                  </a:tcPr>
                </a:tc>
                <a:tc>
                  <a:txBody>
                    <a:bodyPr/>
                    <a:lstStyle/>
                    <a:p>
                      <a:pPr algn="ctr"/>
                      <a:r>
                        <a:rPr sz="800" b="0">
                          <a:solidFill>
                            <a:srgbClr val="1A1A1A"/>
                          </a:solidFill>
                        </a:rPr>
                        <a:t>Au-dessus cible</a:t>
                      </a:r>
                    </a:p>
                  </a:txBody>
                  <a:tcPr>
                    <a:noFill/>
                  </a:tcPr>
                </a:tc>
              </a:tr>
            </a:tbl>
          </a:graphicData>
        </a:graphic>
      </p:graphicFrame>
      <p:sp>
        <p:nvSpPr>
          <p:cNvPr id="23" name="Rectangle 22"/>
          <p:cNvSpPr/>
          <p:nvPr/>
        </p:nvSpPr>
        <p:spPr>
          <a:xfrm>
            <a:off x="3420000" y="3348000"/>
            <a:ext cx="5400000" cy="104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20000" y="3348000"/>
            <a:ext cx="36000" cy="104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8000" y="3384000"/>
            <a:ext cx="5220000" cy="216000"/>
          </a:xfrm>
          <a:prstGeom prst="rect">
            <a:avLst/>
          </a:prstGeom>
          <a:noFill/>
        </p:spPr>
        <p:txBody>
          <a:bodyPr wrap="square">
            <a:spAutoFit/>
          </a:bodyPr>
          <a:lstStyle/>
          <a:p>
            <a:pPr algn="l"/>
            <a:r>
              <a:rPr sz="800" b="1" i="0">
                <a:solidFill>
                  <a:srgbClr val="1B3A6B"/>
                </a:solidFill>
              </a:rPr>
              <a:t>Allocation recommandee selon le positionnement de cycle</a:t>
            </a:r>
          </a:p>
        </p:txBody>
      </p:sp>
      <p:sp>
        <p:nvSpPr>
          <p:cNvPr id="26" name="TextBox 25"/>
          <p:cNvSpPr txBox="1"/>
          <p:nvPr/>
        </p:nvSpPr>
        <p:spPr>
          <a:xfrm>
            <a:off x="3528000" y="3600000"/>
            <a:ext cx="5220000" cy="720000"/>
          </a:xfrm>
          <a:prstGeom prst="rect">
            <a:avLst/>
          </a:prstGeom>
          <a:noFill/>
        </p:spPr>
        <p:txBody>
          <a:bodyPr wrap="square">
            <a:spAutoFit/>
          </a:bodyPr>
          <a:lstStyle/>
          <a:p>
            <a:pPr algn="l"/>
            <a:r>
              <a:rPr sz="750" b="0" i="0">
                <a:solidFill>
                  <a:srgbClr val="555555"/>
                </a:solidFill>
              </a:rPr>
              <a:t>L'analyse des indicateurs avancees positionne le cycle en phase d'expansion avancee : ISM Manufacturier autour du seuil 50 (49.8), courbe des taux partiellement normalisee (10Y-2Y +0.2%), Leading...</a:t>
            </a:r>
          </a:p>
        </p:txBody>
      </p:sp>
      <p:sp>
        <p:nvSpPr>
          <p:cNvPr id="27" name="Rectangle 2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Secteurs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11 secteurs GICS · Scores · Scatter valorisation · Decomposition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Secteurs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11 secteurs GICS  ·  503 societes  ·  Tri par score FinSight decroissant</a:t>
            </a:r>
          </a:p>
        </p:txBody>
      </p:sp>
      <p:graphicFrame>
        <p:nvGraphicFramePr>
          <p:cNvPr id="15" name="Table 14"/>
          <p:cNvGraphicFramePr>
            <a:graphicFrameLocks noGrp="1"/>
          </p:cNvGraphicFramePr>
          <p:nvPr/>
        </p:nvGraphicFramePr>
        <p:xfrm>
          <a:off x="324000" y="827999"/>
          <a:ext cx="8495994" cy="2700000"/>
        </p:xfrm>
        <a:graphic>
          <a:graphicData uri="http://schemas.openxmlformats.org/drawingml/2006/table">
            <a:tbl>
              <a:tblPr firstRow="1" bandRow="1">
                <a:tableStyleId>{5C22544A-7EE6-4342-B048-85BDC9FD1C3A}</a:tableStyleId>
              </a:tblPr>
              <a:tblGrid>
                <a:gridCol w="492521"/>
                <a:gridCol w="1846956"/>
                <a:gridCol w="615652"/>
                <a:gridCol w="1436521"/>
                <a:gridCol w="1026086"/>
                <a:gridCol w="1026086"/>
                <a:gridCol w="1026086"/>
                <a:gridCol w="1026086"/>
              </a:tblGrid>
              <a:tr h="225000">
                <a:tc>
                  <a:txBody>
                    <a:bodyPr/>
                    <a:lstStyle/>
                    <a:p>
                      <a:pPr algn="ctr"/>
                      <a:r>
                        <a:rPr sz="800" b="1">
                          <a:solidFill>
                            <a:srgbClr val="FFFFFF"/>
                          </a:solidFill>
                        </a:rPr>
                        <a:t>Rg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Mom.</a:t>
                      </a:r>
                    </a:p>
                  </a:txBody>
                  <a:tcPr>
                    <a:solidFill>
                      <a:srgbClr val="1B3A6B"/>
                    </a:solidFill>
                  </a:tcPr>
                </a:tc>
              </a:tr>
              <a:tr h="225000">
                <a:tc>
                  <a:txBody>
                    <a:bodyPr/>
                    <a:lstStyle/>
                    <a:p>
                      <a:pPr algn="ctr"/>
                      <a:r>
                        <a:rPr sz="800" b="0">
                          <a:solidFill>
                            <a:srgbClr val="1A1A1A"/>
                          </a:solidFill>
                        </a:rPr>
                        <a:t>1</a:t>
                      </a:r>
                    </a:p>
                  </a:txBody>
                  <a:tcPr>
                    <a:noFill/>
                  </a:tcPr>
                </a:tc>
                <a:tc>
                  <a:txBody>
                    <a:bodyPr/>
                    <a:lstStyle/>
                    <a:p>
                      <a:pPr algn="ctr"/>
                      <a:r>
                        <a:rPr sz="800" b="0">
                          <a:solidFill>
                            <a:srgbClr val="1A1A1A"/>
                          </a:solidFill>
                        </a:rPr>
                        <a:t>Energy</a:t>
                      </a:r>
                    </a:p>
                  </a:txBody>
                  <a:tcPr>
                    <a:noFill/>
                  </a:tcPr>
                </a:tc>
                <a:tc>
                  <a:txBody>
                    <a:bodyPr/>
                    <a:lstStyle/>
                    <a:p>
                      <a:pPr algn="ctr"/>
                      <a:r>
                        <a:rPr sz="800" b="0">
                          <a:solidFill>
                            <a:srgbClr val="1A1A1A"/>
                          </a:solidFill>
                        </a:rPr>
                        <a:t>85</a:t>
                      </a:r>
                    </a:p>
                  </a:txBody>
                  <a:tcPr>
                    <a:noFill/>
                  </a:tcPr>
                </a:tc>
                <a:tc>
                  <a:txBody>
                    <a:bodyPr/>
                    <a:lstStyle/>
                    <a:p>
                      <a:pPr algn="ctr"/>
                      <a:r>
                        <a:rPr sz="800" b="0">
                          <a:solidFill>
                            <a:srgbClr val="1A7A4A"/>
                          </a:solidFill>
                        </a:rPr>
                        <a:t>Surponderer</a:t>
                      </a:r>
                    </a:p>
                  </a:txBody>
                  <a:tcPr>
                    <a:solidFill>
                      <a:srgbClr val="E8F5EE"/>
                    </a:solidFill>
                  </a:tcPr>
                </a:tc>
                <a:tc>
                  <a:txBody>
                    <a:bodyPr/>
                    <a:lstStyle/>
                    <a:p>
                      <a:pPr algn="ctr"/>
                      <a:r>
                        <a:rPr sz="800" b="0">
                          <a:solidFill>
                            <a:srgbClr val="1A1A1A"/>
                          </a:solidFill>
                        </a:rPr>
                        <a:t>6.0x</a:t>
                      </a:r>
                    </a:p>
                  </a:txBody>
                  <a:tcPr>
                    <a:noFill/>
                  </a:tcPr>
                </a:tc>
                <a:tc>
                  <a:txBody>
                    <a:bodyPr/>
                    <a:lstStyle/>
                    <a:p>
                      <a:pPr algn="ctr"/>
                      <a:r>
                        <a:rPr sz="800" b="0">
                          <a:solidFill>
                            <a:srgbClr val="1A1A1A"/>
                          </a:solidFill>
                        </a:rPr>
                        <a:t>24.0%</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1A1A1A"/>
                          </a:solidFill>
                        </a:rPr>
                        <a:t>+60.4%</a:t>
                      </a:r>
                    </a:p>
                  </a:txBody>
                  <a:tcPr>
                    <a:noFill/>
                  </a:tcPr>
                </a:tc>
              </a:tr>
              <a:tr h="225000">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79</a:t>
                      </a:r>
                    </a:p>
                  </a:txBody>
                  <a:tcPr>
                    <a:solidFill>
                      <a:srgbClr val="F5F7FA"/>
                    </a:solidFill>
                  </a:tcPr>
                </a:tc>
                <a:tc>
                  <a:txBody>
                    <a:bodyPr/>
                    <a:lstStyle/>
                    <a:p>
                      <a:pPr algn="ctr"/>
                      <a:r>
                        <a:rPr sz="800" b="0">
                          <a:solidFill>
                            <a:srgbClr val="1A7A4A"/>
                          </a:solidFill>
                        </a:rPr>
                        <a:t>Surponderer</a:t>
                      </a:r>
                    </a:p>
                  </a:txBody>
                  <a:tcPr>
                    <a:solidFill>
                      <a:srgbClr val="E8F5EE"/>
                    </a:solidFill>
                  </a:tcPr>
                </a:tc>
                <a:tc>
                  <a:txBody>
                    <a:bodyPr/>
                    <a:lstStyle/>
                    <a:p>
                      <a:pPr algn="ctr"/>
                      <a:r>
                        <a:rPr sz="800" b="0">
                          <a:solidFill>
                            <a:srgbClr val="1A1A1A"/>
                          </a:solidFill>
                        </a:rPr>
                        <a:t>18.0x</a:t>
                      </a:r>
                    </a:p>
                  </a:txBody>
                  <a:tcPr>
                    <a:solidFill>
                      <a:srgbClr val="F5F7FA"/>
                    </a:solidFill>
                  </a:tcPr>
                </a:tc>
                <a:tc>
                  <a:txBody>
                    <a:bodyPr/>
                    <a:lstStyle/>
                    <a:p>
                      <a:pPr algn="ctr"/>
                      <a:r>
                        <a:rPr sz="800" b="0">
                          <a:solidFill>
                            <a:srgbClr val="1A1A1A"/>
                          </a:solidFill>
                        </a:rPr>
                        <a:t>27.0%</a:t>
                      </a:r>
                    </a:p>
                  </a:txBody>
                  <a:tcPr>
                    <a:solidFill>
                      <a:srgbClr val="F5F7FA"/>
                    </a:solidFill>
                  </a:tcPr>
                </a:tc>
                <a:tc>
                  <a:txBody>
                    <a:bodyPr/>
                    <a:lstStyle/>
                    <a:p>
                      <a:pPr algn="ctr"/>
                      <a:r>
                        <a:rPr sz="800" b="0">
                          <a:solidFill>
                            <a:srgbClr val="1A1A1A"/>
                          </a:solidFill>
                        </a:rPr>
                        <a:t>+13.0%</a:t>
                      </a:r>
                    </a:p>
                  </a:txBody>
                  <a:tcPr>
                    <a:solidFill>
                      <a:srgbClr val="F5F7FA"/>
                    </a:solidFill>
                  </a:tcPr>
                </a:tc>
                <a:tc>
                  <a:txBody>
                    <a:bodyPr/>
                    <a:lstStyle/>
                    <a:p>
                      <a:pPr algn="ctr"/>
                      <a:r>
                        <a:rPr sz="800" b="0">
                          <a:solidFill>
                            <a:srgbClr val="1A1A1A"/>
                          </a:solidFill>
                        </a:rPr>
                        <a:t>+24.5%</a:t>
                      </a:r>
                    </a:p>
                  </a:txBody>
                  <a:tcPr>
                    <a:solidFill>
                      <a:srgbClr val="F5F7FA"/>
                    </a:solidFill>
                  </a:tcPr>
                </a:tc>
              </a:tr>
              <a:tr h="225000">
                <a:tc>
                  <a:txBody>
                    <a:bodyPr/>
                    <a:lstStyle/>
                    <a:p>
                      <a:pPr algn="ctr"/>
                      <a:r>
                        <a:rPr sz="800" b="0">
                          <a:solidFill>
                            <a:srgbClr val="1A1A1A"/>
                          </a:solidFill>
                        </a:rPr>
                        <a:t>3</a:t>
                      </a:r>
                    </a:p>
                  </a:txBody>
                  <a:tcPr>
                    <a:noFill/>
                  </a:tcPr>
                </a:tc>
                <a:tc>
                  <a:txBody>
                    <a:bodyPr/>
                    <a:lstStyle/>
                    <a:p>
                      <a:pPr algn="ctr"/>
                      <a:r>
                        <a:rPr sz="800" b="0">
                          <a:solidFill>
                            <a:srgbClr val="1A1A1A"/>
                          </a:solidFill>
                        </a:rPr>
                        <a:t>Industrials</a:t>
                      </a:r>
                    </a:p>
                  </a:txBody>
                  <a:tcPr>
                    <a:noFill/>
                  </a:tcPr>
                </a:tc>
                <a:tc>
                  <a:txBody>
                    <a:bodyPr/>
                    <a:lstStyle/>
                    <a:p>
                      <a:pPr algn="ctr"/>
                      <a:r>
                        <a:rPr sz="800" b="0">
                          <a:solidFill>
                            <a:srgbClr val="1A1A1A"/>
                          </a:solidFill>
                        </a:rPr>
                        <a:t>78</a:t>
                      </a:r>
                    </a:p>
                  </a:txBody>
                  <a:tcPr>
                    <a:noFill/>
                  </a:tcPr>
                </a:tc>
                <a:tc>
                  <a:txBody>
                    <a:bodyPr/>
                    <a:lstStyle/>
                    <a:p>
                      <a:pPr algn="ctr"/>
                      <a:r>
                        <a:rPr sz="800" b="0">
                          <a:solidFill>
                            <a:srgbClr val="1A7A4A"/>
                          </a:solidFill>
                        </a:rPr>
                        <a:t>Surponderer</a:t>
                      </a:r>
                    </a:p>
                  </a:txBody>
                  <a:tcPr>
                    <a:solidFill>
                      <a:srgbClr val="E8F5EE"/>
                    </a:solidFill>
                  </a:tcPr>
                </a:tc>
                <a:tc>
                  <a:txBody>
                    <a:bodyPr/>
                    <a:lstStyle/>
                    <a:p>
                      <a:pPr algn="ctr"/>
                      <a:r>
                        <a:rPr sz="800" b="0">
                          <a:solidFill>
                            <a:srgbClr val="1A1A1A"/>
                          </a:solidFill>
                        </a:rPr>
                        <a:t>13.0x</a:t>
                      </a:r>
                    </a:p>
                  </a:txBody>
                  <a:tcPr>
                    <a:noFill/>
                  </a:tcPr>
                </a:tc>
                <a:tc>
                  <a:txBody>
                    <a:bodyPr/>
                    <a:lstStyle/>
                    <a:p>
                      <a:pPr algn="ctr"/>
                      <a:r>
                        <a:rPr sz="800" b="0">
                          <a:solidFill>
                            <a:srgbClr val="1A1A1A"/>
                          </a:solidFill>
                        </a:rPr>
                        <a:t>14.0%</a:t>
                      </a:r>
                    </a:p>
                  </a:txBody>
                  <a:tcPr>
                    <a:noFill/>
                  </a:tcPr>
                </a:tc>
                <a:tc>
                  <a:txBody>
                    <a:bodyPr/>
                    <a:lstStyle/>
                    <a:p>
                      <a:pPr algn="ctr"/>
                      <a:r>
                        <a:rPr sz="800" b="0">
                          <a:solidFill>
                            <a:srgbClr val="1A1A1A"/>
                          </a:solidFill>
                        </a:rPr>
                        <a:t>+6.5%</a:t>
                      </a:r>
                    </a:p>
                  </a:txBody>
                  <a:tcPr>
                    <a:noFill/>
                  </a:tcPr>
                </a:tc>
                <a:tc>
                  <a:txBody>
                    <a:bodyPr/>
                    <a:lstStyle/>
                    <a:p>
                      <a:pPr algn="ctr"/>
                      <a:r>
                        <a:rPr sz="800" b="0">
                          <a:solidFill>
                            <a:srgbClr val="1A1A1A"/>
                          </a:solidFill>
                        </a:rPr>
                        <a:t>+23.0%</a:t>
                      </a:r>
                    </a:p>
                  </a:txBody>
                  <a:tcPr>
                    <a:noFill/>
                  </a:tcPr>
                </a:tc>
              </a:tr>
              <a:tr h="225000">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Utilities</a:t>
                      </a:r>
                    </a:p>
                  </a:txBody>
                  <a:tcPr>
                    <a:solidFill>
                      <a:srgbClr val="F5F7FA"/>
                    </a:solidFill>
                  </a:tcPr>
                </a:tc>
                <a:tc>
                  <a:txBody>
                    <a:bodyPr/>
                    <a:lstStyle/>
                    <a:p>
                      <a:pPr algn="ctr"/>
                      <a:r>
                        <a:rPr sz="800" b="0">
                          <a:solidFill>
                            <a:srgbClr val="1A1A1A"/>
                          </a:solidFill>
                        </a:rPr>
                        <a:t>73</a:t>
                      </a:r>
                    </a:p>
                  </a:txBody>
                  <a:tcPr>
                    <a:solidFill>
                      <a:srgbClr val="F5F7FA"/>
                    </a:solidFill>
                  </a:tcPr>
                </a:tc>
                <a:tc>
                  <a:txBody>
                    <a:bodyPr/>
                    <a:lstStyle/>
                    <a:p>
                      <a:pPr algn="ctr"/>
                      <a:r>
                        <a:rPr sz="800" b="0">
                          <a:solidFill>
                            <a:srgbClr val="1A7A4A"/>
                          </a:solidFill>
                        </a:rPr>
                        <a:t>Surponderer</a:t>
                      </a:r>
                    </a:p>
                  </a:txBody>
                  <a:tcPr>
                    <a:solidFill>
                      <a:srgbClr val="E8F5EE"/>
                    </a:solidFill>
                  </a:tcPr>
                </a:tc>
                <a:tc>
                  <a:txBody>
                    <a:bodyPr/>
                    <a:lstStyle/>
                    <a:p>
                      <a:pPr algn="ctr"/>
                      <a:r>
                        <a:rPr sz="800" b="0">
                          <a:solidFill>
                            <a:srgbClr val="1A1A1A"/>
                          </a:solidFill>
                        </a:rPr>
                        <a:t>11.0x</a:t>
                      </a:r>
                    </a:p>
                  </a:txBody>
                  <a:tcPr>
                    <a:solidFill>
                      <a:srgbClr val="F5F7FA"/>
                    </a:solidFill>
                  </a:tcPr>
                </a:tc>
                <a:tc>
                  <a:txBody>
                    <a:bodyPr/>
                    <a:lstStyle/>
                    <a:p>
                      <a:pPr algn="ctr"/>
                      <a:r>
                        <a:rPr sz="800" b="0">
                          <a:solidFill>
                            <a:srgbClr val="1A1A1A"/>
                          </a:solidFill>
                        </a:rPr>
                        <a:t>28.0%</a:t>
                      </a:r>
                    </a:p>
                  </a:txBody>
                  <a:tcPr>
                    <a:solidFill>
                      <a:srgbClr val="F5F7FA"/>
                    </a:solidFill>
                  </a:tcPr>
                </a:tc>
                <a:tc>
                  <a:txBody>
                    <a:bodyPr/>
                    <a:lstStyle/>
                    <a:p>
                      <a:pPr algn="ctr"/>
                      <a:r>
                        <a:rPr sz="800" b="0">
                          <a:solidFill>
                            <a:srgbClr val="1A1A1A"/>
                          </a:solidFill>
                        </a:rPr>
                        <a:t>+2.5%</a:t>
                      </a:r>
                    </a:p>
                  </a:txBody>
                  <a:tcPr>
                    <a:solidFill>
                      <a:srgbClr val="F5F7FA"/>
                    </a:solidFill>
                  </a:tcPr>
                </a:tc>
                <a:tc>
                  <a:txBody>
                    <a:bodyPr/>
                    <a:lstStyle/>
                    <a:p>
                      <a:pPr algn="ctr"/>
                      <a:r>
                        <a:rPr sz="800" b="0">
                          <a:solidFill>
                            <a:srgbClr val="1A1A1A"/>
                          </a:solidFill>
                        </a:rPr>
                        <a:t>+18.9%</a:t>
                      </a:r>
                    </a:p>
                  </a:txBody>
                  <a:tcPr>
                    <a:solidFill>
                      <a:srgbClr val="F5F7FA"/>
                    </a:solidFill>
                  </a:tcPr>
                </a:tc>
              </a:tr>
              <a:tr h="225000">
                <a:tc>
                  <a:txBody>
                    <a:bodyPr/>
                    <a:lstStyle/>
                    <a:p>
                      <a:pPr algn="ctr"/>
                      <a:r>
                        <a:rPr sz="800" b="0">
                          <a:solidFill>
                            <a:srgbClr val="1A1A1A"/>
                          </a:solidFill>
                        </a:rPr>
                        <a:t>5</a:t>
                      </a:r>
                    </a:p>
                  </a:txBody>
                  <a:tcPr>
                    <a:noFill/>
                  </a:tcPr>
                </a:tc>
                <a:tc>
                  <a:txBody>
                    <a:bodyPr/>
                    <a:lstStyle/>
                    <a:p>
                      <a:pPr algn="ctr"/>
                      <a:r>
                        <a:rPr sz="800" b="0">
                          <a:solidFill>
                            <a:srgbClr val="1A1A1A"/>
                          </a:solidFill>
                        </a:rPr>
                        <a:t>Materials</a:t>
                      </a:r>
                    </a:p>
                  </a:txBody>
                  <a:tcPr>
                    <a:noFill/>
                  </a:tcPr>
                </a:tc>
                <a:tc>
                  <a:txBody>
                    <a:bodyPr/>
                    <a:lstStyle/>
                    <a:p>
                      <a:pPr algn="ctr"/>
                      <a:r>
                        <a:rPr sz="800" b="0">
                          <a:solidFill>
                            <a:srgbClr val="1A1A1A"/>
                          </a:solidFill>
                        </a:rPr>
                        <a:t>73</a:t>
                      </a:r>
                    </a:p>
                  </a:txBody>
                  <a:tcPr>
                    <a:noFill/>
                  </a:tcPr>
                </a:tc>
                <a:tc>
                  <a:txBody>
                    <a:bodyPr/>
                    <a:lstStyle/>
                    <a:p>
                      <a:pPr algn="ctr"/>
                      <a:r>
                        <a:rPr sz="800" b="0">
                          <a:solidFill>
                            <a:srgbClr val="1A7A4A"/>
                          </a:solidFill>
                        </a:rPr>
                        <a:t>Surponderer</a:t>
                      </a:r>
                    </a:p>
                  </a:txBody>
                  <a:tcPr>
                    <a:solidFill>
                      <a:srgbClr val="E8F5EE"/>
                    </a:solidFill>
                  </a:tcPr>
                </a:tc>
                <a:tc>
                  <a:txBody>
                    <a:bodyPr/>
                    <a:lstStyle/>
                    <a:p>
                      <a:pPr algn="ctr"/>
                      <a:r>
                        <a:rPr sz="800" b="0">
                          <a:solidFill>
                            <a:srgbClr val="1A1A1A"/>
                          </a:solidFill>
                        </a:rPr>
                        <a:t>10.0x</a:t>
                      </a:r>
                    </a:p>
                  </a:txBody>
                  <a:tcPr>
                    <a:noFill/>
                  </a:tcPr>
                </a:tc>
                <a:tc>
                  <a:txBody>
                    <a:bodyPr/>
                    <a:lstStyle/>
                    <a:p>
                      <a:pPr algn="ctr"/>
                      <a:r>
                        <a:rPr sz="800" b="0">
                          <a:solidFill>
                            <a:srgbClr val="1A1A1A"/>
                          </a:solidFill>
                        </a:rPr>
                        <a:t>16.0%</a:t>
                      </a:r>
                    </a:p>
                  </a:txBody>
                  <a:tcPr>
                    <a:noFill/>
                  </a:tcPr>
                </a:tc>
                <a:tc>
                  <a:txBody>
                    <a:bodyPr/>
                    <a:lstStyle/>
                    <a:p>
                      <a:pPr algn="ctr"/>
                      <a:r>
                        <a:rPr sz="800" b="0">
                          <a:solidFill>
                            <a:srgbClr val="1A1A1A"/>
                          </a:solidFill>
                        </a:rPr>
                        <a:t>+4.0%</a:t>
                      </a:r>
                    </a:p>
                  </a:txBody>
                  <a:tcPr>
                    <a:noFill/>
                  </a:tcPr>
                </a:tc>
                <a:tc>
                  <a:txBody>
                    <a:bodyPr/>
                    <a:lstStyle/>
                    <a:p>
                      <a:pPr algn="ctr"/>
                      <a:r>
                        <a:rPr sz="800" b="0">
                          <a:solidFill>
                            <a:srgbClr val="1A1A1A"/>
                          </a:solidFill>
                        </a:rPr>
                        <a:t>+18.9%</a:t>
                      </a:r>
                    </a:p>
                  </a:txBody>
                  <a:tcPr>
                    <a:noFill/>
                  </a:tcPr>
                </a:tc>
              </a:tr>
              <a:tr h="225000">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66</a:t>
                      </a:r>
                    </a:p>
                  </a:txBody>
                  <a:tcPr>
                    <a:solidFill>
                      <a:srgbClr val="F5F7FA"/>
                    </a:solidFill>
                  </a:tcPr>
                </a:tc>
                <a:tc>
                  <a:txBody>
                    <a:bodyPr/>
                    <a:lstStyle/>
                    <a:p>
                      <a:pPr algn="ctr"/>
                      <a:r>
                        <a:rPr sz="800" b="0">
                          <a:solidFill>
                            <a:srgbClr val="1A7A4A"/>
                          </a:solidFill>
                        </a:rPr>
                        <a:t>Surponderer</a:t>
                      </a:r>
                    </a:p>
                  </a:txBody>
                  <a:tcPr>
                    <a:solidFill>
                      <a:srgbClr val="E8F5EE"/>
                    </a:solidFill>
                  </a:tcPr>
                </a:tc>
                <a:tc>
                  <a:txBody>
                    <a:bodyPr/>
                    <a:lstStyle/>
                    <a:p>
                      <a:pPr algn="ctr"/>
                      <a:r>
                        <a:rPr sz="800" b="0">
                          <a:solidFill>
                            <a:srgbClr val="1A1A1A"/>
                          </a:solidFill>
                        </a:rPr>
                        <a:t>11.0x</a:t>
                      </a:r>
                    </a:p>
                  </a:txBody>
                  <a:tcPr>
                    <a:solidFill>
                      <a:srgbClr val="F5F7FA"/>
                    </a:solidFill>
                  </a:tcPr>
                </a:tc>
                <a:tc>
                  <a:txBody>
                    <a:bodyPr/>
                    <a:lstStyle/>
                    <a:p>
                      <a:pPr algn="ctr"/>
                      <a:r>
                        <a:rPr sz="800" b="0">
                          <a:solidFill>
                            <a:srgbClr val="1A1A1A"/>
                          </a:solidFill>
                        </a:rPr>
                        <a:t>23.0%</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1A1A"/>
                          </a:solidFill>
                        </a:rPr>
                        <a:t>+13.5%</a:t>
                      </a:r>
                    </a:p>
                  </a:txBody>
                  <a:tcPr>
                    <a:solidFill>
                      <a:srgbClr val="F5F7FA"/>
                    </a:solidFill>
                  </a:tcPr>
                </a:tc>
              </a:tr>
              <a:tr h="225000">
                <a:tc>
                  <a:txBody>
                    <a:bodyPr/>
                    <a:lstStyle/>
                    <a:p>
                      <a:pPr algn="ctr"/>
                      <a:r>
                        <a:rPr sz="800" b="0">
                          <a:solidFill>
                            <a:srgbClr val="1A1A1A"/>
                          </a:solidFill>
                        </a:rPr>
                        <a:t>7</a:t>
                      </a:r>
                    </a:p>
                  </a:txBody>
                  <a:tcPr>
                    <a:noFill/>
                  </a:tcPr>
                </a:tc>
                <a:tc>
                  <a:txBody>
                    <a:bodyPr/>
                    <a:lstStyle/>
                    <a:p>
                      <a:pPr algn="ctr"/>
                      <a:r>
                        <a:rPr sz="800" b="0">
                          <a:solidFill>
                            <a:srgbClr val="1A1A1A"/>
                          </a:solidFill>
                        </a:rPr>
                        <a:t>Cons. Discret.</a:t>
                      </a:r>
                    </a:p>
                  </a:txBody>
                  <a:tcPr>
                    <a:noFill/>
                  </a:tcPr>
                </a:tc>
                <a:tc>
                  <a:txBody>
                    <a:bodyPr/>
                    <a:lstStyle/>
                    <a:p>
                      <a:pPr algn="ctr"/>
                      <a:r>
                        <a:rPr sz="800" b="0">
                          <a:solidFill>
                            <a:srgbClr val="1A1A1A"/>
                          </a:solidFill>
                        </a:rPr>
                        <a:t>60</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12.0x</a:t>
                      </a:r>
                    </a:p>
                  </a:txBody>
                  <a:tcPr>
                    <a:noFill/>
                  </a:tcPr>
                </a:tc>
                <a:tc>
                  <a:txBody>
                    <a:bodyPr/>
                    <a:lstStyle/>
                    <a:p>
                      <a:pPr algn="ctr"/>
                      <a:r>
                        <a:rPr sz="800" b="0">
                          <a:solidFill>
                            <a:srgbClr val="1A1A1A"/>
                          </a:solidFill>
                        </a:rPr>
                        <a:t>11.0%</a:t>
                      </a:r>
                    </a:p>
                  </a:txBody>
                  <a:tcPr>
                    <a:noFill/>
                  </a:tcPr>
                </a:tc>
                <a:tc>
                  <a:txBody>
                    <a:bodyPr/>
                    <a:lstStyle/>
                    <a:p>
                      <a:pPr algn="ctr"/>
                      <a:r>
                        <a:rPr sz="800" b="0">
                          <a:solidFill>
                            <a:srgbClr val="1A1A1A"/>
                          </a:solidFill>
                        </a:rPr>
                        <a:t>+7.5%</a:t>
                      </a:r>
                    </a:p>
                  </a:txBody>
                  <a:tcPr>
                    <a:noFill/>
                  </a:tcPr>
                </a:tc>
                <a:tc>
                  <a:txBody>
                    <a:bodyPr/>
                    <a:lstStyle/>
                    <a:p>
                      <a:pPr algn="ctr"/>
                      <a:r>
                        <a:rPr sz="800" b="0">
                          <a:solidFill>
                            <a:srgbClr val="1A1A1A"/>
                          </a:solidFill>
                        </a:rPr>
                        <a:t>+8.0%</a:t>
                      </a:r>
                    </a:p>
                  </a:txBody>
                  <a:tcPr>
                    <a:noFill/>
                  </a:tcPr>
                </a:tc>
              </a:tr>
              <a:tr h="225000">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55</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14.0x</a:t>
                      </a:r>
                    </a:p>
                  </a:txBody>
                  <a:tcPr>
                    <a:solidFill>
                      <a:srgbClr val="F5F7FA"/>
                    </a:solidFill>
                  </a:tcPr>
                </a:tc>
                <a:tc>
                  <a:txBody>
                    <a:bodyPr/>
                    <a:lstStyle/>
                    <a:p>
                      <a:pPr algn="ctr"/>
                      <a:r>
                        <a:rPr sz="800" b="0">
                          <a:solidFill>
                            <a:srgbClr val="1A1A1A"/>
                          </a:solidFill>
                        </a:rPr>
                        <a:t>18.0%</a:t>
                      </a:r>
                    </a:p>
                  </a:txBody>
                  <a:tcPr>
                    <a:solidFill>
                      <a:srgbClr val="F5F7FA"/>
                    </a:solidFill>
                  </a:tcPr>
                </a:tc>
                <a:tc>
                  <a:txBody>
                    <a:bodyPr/>
                    <a:lstStyle/>
                    <a:p>
                      <a:pPr algn="ctr"/>
                      <a:r>
                        <a:rPr sz="800" b="0">
                          <a:solidFill>
                            <a:srgbClr val="1A1A1A"/>
                          </a:solidFill>
                        </a:rPr>
                        <a:t>+9.5%</a:t>
                      </a:r>
                    </a:p>
                  </a:txBody>
                  <a:tcPr>
                    <a:solidFill>
                      <a:srgbClr val="F5F7FA"/>
                    </a:solidFill>
                  </a:tcPr>
                </a:tc>
                <a:tc>
                  <a:txBody>
                    <a:bodyPr/>
                    <a:lstStyle/>
                    <a:p>
                      <a:pPr algn="ctr"/>
                      <a:r>
                        <a:rPr sz="800" b="0">
                          <a:solidFill>
                            <a:srgbClr val="1A1A1A"/>
                          </a:solidFill>
                        </a:rPr>
                        <a:t>+3.8%</a:t>
                      </a:r>
                    </a:p>
                  </a:txBody>
                  <a:tcPr>
                    <a:solidFill>
                      <a:srgbClr val="F5F7FA"/>
                    </a:solidFill>
                  </a:tcPr>
                </a:tc>
              </a:tr>
              <a:tr h="225000">
                <a:tc>
                  <a:txBody>
                    <a:bodyPr/>
                    <a:lstStyle/>
                    <a:p>
                      <a:pPr algn="ctr"/>
                      <a:r>
                        <a:rPr sz="800" b="0">
                          <a:solidFill>
                            <a:srgbClr val="1A1A1A"/>
                          </a:solidFill>
                        </a:rPr>
                        <a:t>9</a:t>
                      </a:r>
                    </a:p>
                  </a:txBody>
                  <a:tcPr>
                    <a:noFill/>
                  </a:tcPr>
                </a:tc>
                <a:tc>
                  <a:txBody>
                    <a:bodyPr/>
                    <a:lstStyle/>
                    <a:p>
                      <a:pPr algn="ctr"/>
                      <a:r>
                        <a:rPr sz="800" b="0">
                          <a:solidFill>
                            <a:srgbClr val="1A1A1A"/>
                          </a:solidFill>
                        </a:rPr>
                        <a:t>Cons. Staples</a:t>
                      </a:r>
                    </a:p>
                  </a:txBody>
                  <a:tcPr>
                    <a:noFill/>
                  </a:tcPr>
                </a:tc>
                <a:tc>
                  <a:txBody>
                    <a:bodyPr/>
                    <a:lstStyle/>
                    <a:p>
                      <a:pPr algn="ctr"/>
                      <a:r>
                        <a:rPr sz="800" b="0">
                          <a:solidFill>
                            <a:srgbClr val="1A1A1A"/>
                          </a:solidFill>
                        </a:rPr>
                        <a:t>53</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12.0x</a:t>
                      </a:r>
                    </a:p>
                  </a:txBody>
                  <a:tcPr>
                    <a:noFill/>
                  </a:tcPr>
                </a:tc>
                <a:tc>
                  <a:txBody>
                    <a:bodyPr/>
                    <a:lstStyle/>
                    <a:p>
                      <a:pPr algn="ctr"/>
                      <a:r>
                        <a:rPr sz="800" b="0">
                          <a:solidFill>
                            <a:srgbClr val="1A1A1A"/>
                          </a:solidFill>
                        </a:rPr>
                        <a:t>17.0%</a:t>
                      </a:r>
                    </a:p>
                  </a:txBody>
                  <a:tcPr>
                    <a:noFill/>
                  </a:tcPr>
                </a:tc>
                <a:tc>
                  <a:txBody>
                    <a:bodyPr/>
                    <a:lstStyle/>
                    <a:p>
                      <a:pPr algn="ctr"/>
                      <a:r>
                        <a:rPr sz="800" b="0">
                          <a:solidFill>
                            <a:srgbClr val="1A1A1A"/>
                          </a:solidFill>
                        </a:rPr>
                        <a:t>+3.5%</a:t>
                      </a:r>
                    </a:p>
                  </a:txBody>
                  <a:tcPr>
                    <a:noFill/>
                  </a:tcPr>
                </a:tc>
                <a:tc>
                  <a:txBody>
                    <a:bodyPr/>
                    <a:lstStyle/>
                    <a:p>
                      <a:pPr algn="ctr"/>
                      <a:r>
                        <a:rPr sz="800" b="0">
                          <a:solidFill>
                            <a:srgbClr val="1A1A1A"/>
                          </a:solidFill>
                        </a:rPr>
                        <a:t>+2.7%</a:t>
                      </a:r>
                    </a:p>
                  </a:txBody>
                  <a:tcPr>
                    <a:noFill/>
                  </a:tcPr>
                </a:tc>
              </a:tr>
              <a:tr h="22500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Financials</a:t>
                      </a:r>
                    </a:p>
                  </a:txBody>
                  <a:tcPr>
                    <a:solidFill>
                      <a:srgbClr val="F5F7FA"/>
                    </a:solidFill>
                  </a:tcPr>
                </a:tc>
                <a:tc>
                  <a:txBody>
                    <a:bodyPr/>
                    <a:lstStyle/>
                    <a:p>
                      <a:pPr algn="ctr"/>
                      <a:r>
                        <a:rPr sz="800" b="0">
                          <a:solidFill>
                            <a:srgbClr val="1A1A1A"/>
                          </a:solidFill>
                        </a:rPr>
                        <a:t>50</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9.0x</a:t>
                      </a:r>
                    </a:p>
                  </a:txBody>
                  <a:tcPr>
                    <a:solidFill>
                      <a:srgbClr val="F5F7FA"/>
                    </a:solidFill>
                  </a:tcPr>
                </a:tc>
                <a:tc>
                  <a:txBody>
                    <a:bodyPr/>
                    <a:lstStyle/>
                    <a:p>
                      <a:pPr algn="ctr"/>
                      <a:r>
                        <a:rPr sz="800" b="0">
                          <a:solidFill>
                            <a:srgbClr val="1A1A1A"/>
                          </a:solidFill>
                        </a:rPr>
                        <a:t>30.0%</a:t>
                      </a:r>
                    </a:p>
                  </a:txBody>
                  <a:tcPr>
                    <a:solidFill>
                      <a:srgbClr val="F5F7FA"/>
                    </a:solidFill>
                  </a:tcPr>
                </a:tc>
                <a:tc>
                  <a:txBody>
                    <a:bodyPr/>
                    <a:lstStyle/>
                    <a:p>
                      <a:pPr algn="ctr"/>
                      <a:r>
                        <a:rPr sz="800" b="0">
                          <a:solidFill>
                            <a:srgbClr val="1A1A1A"/>
                          </a:solidFill>
                        </a:rPr>
                        <a:t>+10.0%</a:t>
                      </a:r>
                    </a:p>
                  </a:txBody>
                  <a:tcPr>
                    <a:solidFill>
                      <a:srgbClr val="F5F7FA"/>
                    </a:solidFill>
                  </a:tcPr>
                </a:tc>
                <a:tc>
                  <a:txBody>
                    <a:bodyPr/>
                    <a:lstStyle/>
                    <a:p>
                      <a:pPr algn="ctr"/>
                      <a:r>
                        <a:rPr sz="800" b="0">
                          <a:solidFill>
                            <a:srgbClr val="1A1A1A"/>
                          </a:solidFill>
                        </a:rPr>
                        <a:t>-0.4%</a:t>
                      </a:r>
                    </a:p>
                  </a:txBody>
                  <a:tcPr>
                    <a:solidFill>
                      <a:srgbClr val="F5F7FA"/>
                    </a:solidFill>
                  </a:tcPr>
                </a:tc>
              </a:tr>
              <a:tr h="225000">
                <a:tc>
                  <a:txBody>
                    <a:bodyPr/>
                    <a:lstStyle/>
                    <a:p>
                      <a:pPr algn="ctr"/>
                      <a:r>
                        <a:rPr sz="800" b="0">
                          <a:solidFill>
                            <a:srgbClr val="1A1A1A"/>
                          </a:solidFill>
                        </a:rPr>
                        <a:t>11</a:t>
                      </a:r>
                    </a:p>
                  </a:txBody>
                  <a:tcPr>
                    <a:noFill/>
                  </a:tcPr>
                </a:tc>
                <a:tc>
                  <a:txBody>
                    <a:bodyPr/>
                    <a:lstStyle/>
                    <a:p>
                      <a:pPr algn="ctr"/>
                      <a:r>
                        <a:rPr sz="800" b="0">
                          <a:solidFill>
                            <a:srgbClr val="1A1A1A"/>
                          </a:solidFill>
                        </a:rPr>
                        <a:t>Real Estate</a:t>
                      </a:r>
                    </a:p>
                  </a:txBody>
                  <a:tcPr>
                    <a:noFill/>
                  </a:tcPr>
                </a:tc>
                <a:tc>
                  <a:txBody>
                    <a:bodyPr/>
                    <a:lstStyle/>
                    <a:p>
                      <a:pPr algn="ctr"/>
                      <a:r>
                        <a:rPr sz="800" b="0">
                          <a:solidFill>
                            <a:srgbClr val="1A1A1A"/>
                          </a:solidFill>
                        </a:rPr>
                        <a:t>50</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17.0x</a:t>
                      </a:r>
                    </a:p>
                  </a:txBody>
                  <a:tcPr>
                    <a:noFill/>
                  </a:tcPr>
                </a:tc>
                <a:tc>
                  <a:txBody>
                    <a:bodyPr/>
                    <a:lstStyle/>
                    <a:p>
                      <a:pPr algn="ctr"/>
                      <a:r>
                        <a:rPr sz="800" b="0">
                          <a:solidFill>
                            <a:srgbClr val="1A1A1A"/>
                          </a:solidFill>
                        </a:rPr>
                        <a:t>42.0%</a:t>
                      </a:r>
                    </a:p>
                  </a:txBody>
                  <a:tcPr>
                    <a:noFill/>
                  </a:tcPr>
                </a:tc>
                <a:tc>
                  <a:txBody>
                    <a:bodyPr/>
                    <a:lstStyle/>
                    <a:p>
                      <a:pPr algn="ctr"/>
                      <a:r>
                        <a:rPr sz="800" b="0">
                          <a:solidFill>
                            <a:srgbClr val="1A1A1A"/>
                          </a:solidFill>
                        </a:rPr>
                        <a:t>+2.0%</a:t>
                      </a:r>
                    </a:p>
                  </a:txBody>
                  <a:tcPr>
                    <a:noFill/>
                  </a:tcPr>
                </a:tc>
                <a:tc>
                  <a:txBody>
                    <a:bodyPr/>
                    <a:lstStyle/>
                    <a:p>
                      <a:pPr algn="ctr"/>
                      <a:r>
                        <a:rPr sz="800" b="0">
                          <a:solidFill>
                            <a:srgbClr val="1A1A1A"/>
                          </a:solidFill>
                        </a:rPr>
                        <a:t>+0.2%</a:t>
                      </a:r>
                    </a:p>
                  </a:txBody>
                  <a:tcPr>
                    <a:no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Lecture analytique — Ce que la cartographie revele</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Seuls 6 secteur(s) sur 11 franchissent le seuil Surponderer (score &gt; 65) : Energy · Technology · Industrials · Utilities · Materials · Communication Services. 0 secteur(s) en Sous-ponderer. La dispersion des scores illustre une bifurcation sectorielle marquee.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 BPA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vs Croissance BPA  ·  4 quadrants  ·  Un point par secteur GICS</a:t>
            </a:r>
          </a:p>
        </p:txBody>
      </p:sp>
      <p:pic>
        <p:nvPicPr>
          <p:cNvPr id="15" name="Picture 14" descr="image.png"/>
          <p:cNvPicPr>
            <a:picLocks noChangeAspect="1"/>
          </p:cNvPicPr>
          <p:nvPr/>
        </p:nvPicPr>
        <p:blipFill>
          <a:blip r:embed="rId2"/>
          <a:stretch>
            <a:fillRect/>
          </a:stretch>
        </p:blipFill>
        <p:spPr>
          <a:xfrm>
            <a:off x="324000" y="827999"/>
            <a:ext cx="5112000" cy="3096000"/>
          </a:xfrm>
          <a:prstGeom prst="rect">
            <a:avLst/>
          </a:prstGeom>
        </p:spPr>
      </p:pic>
      <p:sp>
        <p:nvSpPr>
          <p:cNvPr id="16" name="Rectangle 15"/>
          <p:cNvSpPr/>
          <p:nvPr/>
        </p:nvSpPr>
        <p:spPr>
          <a:xfrm>
            <a:off x="5616000" y="827999"/>
            <a:ext cx="3204000" cy="30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16000" y="827999"/>
            <a:ext cx="43200" cy="309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24000" y="864000"/>
            <a:ext cx="3024000" cy="216000"/>
          </a:xfrm>
          <a:prstGeom prst="rect">
            <a:avLst/>
          </a:prstGeom>
          <a:noFill/>
        </p:spPr>
        <p:txBody>
          <a:bodyPr wrap="square">
            <a:spAutoFit/>
          </a:bodyPr>
          <a:lstStyle/>
          <a:p>
            <a:pPr algn="l"/>
            <a:r>
              <a:rPr sz="850" b="1" i="0">
                <a:solidFill>
                  <a:srgbClr val="1B3A6B"/>
                </a:solidFill>
              </a:rPr>
              <a:t>Lecture du Scatter</a:t>
            </a:r>
          </a:p>
        </p:txBody>
      </p:sp>
      <p:sp>
        <p:nvSpPr>
          <p:cNvPr id="19" name="TextBox 18"/>
          <p:cNvSpPr txBox="1"/>
          <p:nvPr/>
        </p:nvSpPr>
        <p:spPr>
          <a:xfrm>
            <a:off x="5724000" y="1116000"/>
            <a:ext cx="3024000" cy="2772000"/>
          </a:xfrm>
          <a:prstGeom prst="rect">
            <a:avLst/>
          </a:prstGeom>
          <a:noFill/>
        </p:spPr>
        <p:txBody>
          <a:bodyPr wrap="square">
            <a:spAutoFit/>
          </a:bodyPr>
          <a:lstStyle/>
          <a:p>
            <a:pPr algn="l"/>
            <a:r>
              <a:rPr sz="800" b="0" i="0">
                <a:solidFill>
                  <a:srgbClr val="555555"/>
                </a:solidFill>
              </a:rPr>
              <a:t>N/A en quadrant Premium Justifie — valorisation elevee supportee par forte croissance BPA.
Technology  ·  Industrials en zone Opportunite — croissance correcte a valorisation attractive. Meilleur ratio risque/rendement.
Les pointilles representent les medianes sectorielles (EV/EBITDA et BPA growth). Favoriser les secteurs en bas droite (forte croissance, valorisation moderee).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Decomposition des Scores FinSight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11 secteurs GICS  ·  Score 0-100  ·  Momentum 40 % · Revisions BPA 30 % · Valorisation 30 %</a:t>
            </a:r>
          </a:p>
        </p:txBody>
      </p:sp>
      <p:graphicFrame>
        <p:nvGraphicFramePr>
          <p:cNvPr id="15" name="Table 14"/>
          <p:cNvGraphicFramePr>
            <a:graphicFrameLocks noGrp="1"/>
          </p:cNvGraphicFramePr>
          <p:nvPr/>
        </p:nvGraphicFramePr>
        <p:xfrm>
          <a:off x="324000" y="827999"/>
          <a:ext cx="8495999" cy="2520000"/>
        </p:xfrm>
        <a:graphic>
          <a:graphicData uri="http://schemas.openxmlformats.org/drawingml/2006/table">
            <a:tbl>
              <a:tblPr firstRow="1" bandRow="1">
                <a:tableStyleId>{5C22544A-7EE6-4342-B048-85BDC9FD1C3A}</a:tableStyleId>
              </a:tblPr>
              <a:tblGrid>
                <a:gridCol w="1820571"/>
                <a:gridCol w="1011428"/>
                <a:gridCol w="1416000"/>
                <a:gridCol w="1416000"/>
                <a:gridCol w="1416000"/>
                <a:gridCol w="1416000"/>
              </a:tblGrid>
              <a:tr h="210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 Total</a:t>
                      </a:r>
                    </a:p>
                  </a:txBody>
                  <a:tcPr>
                    <a:solidFill>
                      <a:srgbClr val="1B3A6B"/>
                    </a:solidFill>
                  </a:tcPr>
                </a:tc>
                <a:tc>
                  <a:txBody>
                    <a:bodyPr/>
                    <a:lstStyle/>
                    <a:p>
                      <a:pPr algn="ctr"/>
                      <a:r>
                        <a:rPr sz="800" b="1">
                          <a:solidFill>
                            <a:srgbClr val="FFFFFF"/>
                          </a:solidFill>
                        </a:rPr>
                        <a:t>Momentum (40%)</a:t>
                      </a:r>
                    </a:p>
                  </a:txBody>
                  <a:tcPr>
                    <a:solidFill>
                      <a:srgbClr val="1B3A6B"/>
                    </a:solidFill>
                  </a:tcPr>
                </a:tc>
                <a:tc>
                  <a:txBody>
                    <a:bodyPr/>
                    <a:lstStyle/>
                    <a:p>
                      <a:pPr algn="ctr"/>
                      <a:r>
                        <a:rPr sz="800" b="1">
                          <a:solidFill>
                            <a:srgbClr val="FFFFFF"/>
                          </a:solidFill>
                        </a:rPr>
                        <a:t>Revisions (30%)</a:t>
                      </a:r>
                    </a:p>
                  </a:txBody>
                  <a:tcPr>
                    <a:solidFill>
                      <a:srgbClr val="1B3A6B"/>
                    </a:solidFill>
                  </a:tcPr>
                </a:tc>
                <a:tc>
                  <a:txBody>
                    <a:bodyPr/>
                    <a:lstStyle/>
                    <a:p>
                      <a:pPr algn="ctr"/>
                      <a:r>
                        <a:rPr sz="800" b="1">
                          <a:solidFill>
                            <a:srgbClr val="FFFFFF"/>
                          </a:solidFill>
                        </a:rPr>
                        <a:t>Valorisation (30%)</a:t>
                      </a:r>
                    </a:p>
                  </a:txBody>
                  <a:tcPr>
                    <a:solidFill>
                      <a:srgbClr val="1B3A6B"/>
                    </a:solidFill>
                  </a:tcPr>
                </a:tc>
                <a:tc>
                  <a:txBody>
                    <a:bodyPr/>
                    <a:lstStyle/>
                    <a:p>
                      <a:pPr algn="ctr"/>
                      <a:r>
                        <a:rPr sz="800" b="1">
                          <a:solidFill>
                            <a:srgbClr val="FFFFFF"/>
                          </a:solidFill>
                        </a:rPr>
                        <a:t>Signal</a:t>
                      </a:r>
                    </a:p>
                  </a:txBody>
                  <a:tcPr>
                    <a:solidFill>
                      <a:srgbClr val="1B3A6B"/>
                    </a:solidFill>
                  </a:tcPr>
                </a:tc>
              </a:tr>
              <a:tr h="210000">
                <a:tc>
                  <a:txBody>
                    <a:bodyPr/>
                    <a:lstStyle/>
                    <a:p>
                      <a:pPr algn="ctr"/>
                      <a:r>
                        <a:rPr sz="800" b="0">
                          <a:solidFill>
                            <a:srgbClr val="1A1A1A"/>
                          </a:solidFill>
                        </a:rPr>
                        <a:t>Energy</a:t>
                      </a:r>
                    </a:p>
                  </a:txBody>
                  <a:tcPr>
                    <a:noFill/>
                  </a:tcPr>
                </a:tc>
                <a:tc>
                  <a:txBody>
                    <a:bodyPr/>
                    <a:lstStyle/>
                    <a:p>
                      <a:pPr algn="ctr"/>
                      <a:r>
                        <a:rPr sz="800" b="0">
                          <a:solidFill>
                            <a:srgbClr val="1A1A1A"/>
                          </a:solidFill>
                        </a:rPr>
                        <a:t>85</a:t>
                      </a:r>
                    </a:p>
                  </a:txBody>
                  <a:tcPr>
                    <a:solidFill>
                      <a:srgbClr val="E8F5EE"/>
                    </a:solidFill>
                  </a:tcPr>
                </a:tc>
                <a:tc>
                  <a:txBody>
                    <a:bodyPr/>
                    <a:lstStyle/>
                    <a:p>
                      <a:pPr algn="ctr"/>
                      <a:r>
                        <a:rPr sz="800" b="0">
                          <a:solidFill>
                            <a:srgbClr val="1A1A1A"/>
                          </a:solidFill>
                        </a:rPr>
                        <a:t>34</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7A4A"/>
                          </a:solidFill>
                        </a:rPr>
                        <a:t>Surponderer</a:t>
                      </a:r>
                    </a:p>
                  </a:txBody>
                  <a:tcPr>
                    <a:solidFill>
                      <a:srgbClr val="E8F5EE"/>
                    </a:solidFill>
                  </a:tcPr>
                </a:tc>
              </a:tr>
              <a:tr h="210000">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79</a:t>
                      </a:r>
                    </a:p>
                  </a:txBody>
                  <a:tcPr>
                    <a:solidFill>
                      <a:srgbClr val="E8F5EE"/>
                    </a:solidFill>
                  </a:tcPr>
                </a:tc>
                <a:tc>
                  <a:txBody>
                    <a:bodyPr/>
                    <a:lstStyle/>
                    <a:p>
                      <a:pPr algn="ctr"/>
                      <a:r>
                        <a:rPr sz="800" b="0">
                          <a:solidFill>
                            <a:srgbClr val="1A1A1A"/>
                          </a:solidFill>
                        </a:rPr>
                        <a:t>32</a:t>
                      </a:r>
                    </a:p>
                  </a:txBody>
                  <a:tcPr>
                    <a:solidFill>
                      <a:srgbClr val="F5F7FA"/>
                    </a:solidFill>
                  </a:tcPr>
                </a:tc>
                <a:tc>
                  <a:txBody>
                    <a:bodyPr/>
                    <a:lstStyle/>
                    <a:p>
                      <a:pPr algn="ctr"/>
                      <a:r>
                        <a:rPr sz="800" b="0">
                          <a:solidFill>
                            <a:srgbClr val="1A1A1A"/>
                          </a:solidFill>
                        </a:rPr>
                        <a:t>24</a:t>
                      </a:r>
                    </a:p>
                  </a:txBody>
                  <a:tcPr>
                    <a:solidFill>
                      <a:srgbClr val="F5F7FA"/>
                    </a:solidFill>
                  </a:tcPr>
                </a:tc>
                <a:tc>
                  <a:txBody>
                    <a:bodyPr/>
                    <a:lstStyle/>
                    <a:p>
                      <a:pPr algn="ctr"/>
                      <a:r>
                        <a:rPr sz="800" b="0">
                          <a:solidFill>
                            <a:srgbClr val="1A1A1A"/>
                          </a:solidFill>
                        </a:rPr>
                        <a:t>24</a:t>
                      </a:r>
                    </a:p>
                  </a:txBody>
                  <a:tcPr>
                    <a:solidFill>
                      <a:srgbClr val="F5F7FA"/>
                    </a:solidFill>
                  </a:tcPr>
                </a:tc>
                <a:tc>
                  <a:txBody>
                    <a:bodyPr/>
                    <a:lstStyle/>
                    <a:p>
                      <a:pPr algn="ctr"/>
                      <a:r>
                        <a:rPr sz="800" b="0">
                          <a:solidFill>
                            <a:srgbClr val="1A7A4A"/>
                          </a:solidFill>
                        </a:rPr>
                        <a:t>Surponderer</a:t>
                      </a:r>
                    </a:p>
                  </a:txBody>
                  <a:tcPr>
                    <a:solidFill>
                      <a:srgbClr val="E8F5EE"/>
                    </a:solidFill>
                  </a:tcPr>
                </a:tc>
              </a:tr>
              <a:tr h="210000">
                <a:tc>
                  <a:txBody>
                    <a:bodyPr/>
                    <a:lstStyle/>
                    <a:p>
                      <a:pPr algn="ctr"/>
                      <a:r>
                        <a:rPr sz="800" b="0">
                          <a:solidFill>
                            <a:srgbClr val="1A1A1A"/>
                          </a:solidFill>
                        </a:rPr>
                        <a:t>Industrials</a:t>
                      </a:r>
                    </a:p>
                  </a:txBody>
                  <a:tcPr>
                    <a:noFill/>
                  </a:tcPr>
                </a:tc>
                <a:tc>
                  <a:txBody>
                    <a:bodyPr/>
                    <a:lstStyle/>
                    <a:p>
                      <a:pPr algn="ctr"/>
                      <a:r>
                        <a:rPr sz="800" b="0">
                          <a:solidFill>
                            <a:srgbClr val="1A1A1A"/>
                          </a:solidFill>
                        </a:rPr>
                        <a:t>78</a:t>
                      </a:r>
                    </a:p>
                  </a:txBody>
                  <a:tcPr>
                    <a:solidFill>
                      <a:srgbClr val="E8F5EE"/>
                    </a:solidFill>
                  </a:tcPr>
                </a:tc>
                <a:tc>
                  <a:txBody>
                    <a:bodyPr/>
                    <a:lstStyle/>
                    <a:p>
                      <a:pPr algn="ctr"/>
                      <a:r>
                        <a:rPr sz="800" b="0">
                          <a:solidFill>
                            <a:srgbClr val="1A1A1A"/>
                          </a:solidFill>
                        </a:rPr>
                        <a:t>31</a:t>
                      </a:r>
                    </a:p>
                  </a:txBody>
                  <a:tcPr>
                    <a:noFill/>
                  </a:tcPr>
                </a:tc>
                <a:tc>
                  <a:txBody>
                    <a:bodyPr/>
                    <a:lstStyle/>
                    <a:p>
                      <a:pPr algn="ctr"/>
                      <a:r>
                        <a:rPr sz="800" b="0">
                          <a:solidFill>
                            <a:srgbClr val="1A1A1A"/>
                          </a:solidFill>
                        </a:rPr>
                        <a:t>23</a:t>
                      </a:r>
                    </a:p>
                  </a:txBody>
                  <a:tcPr>
                    <a:noFill/>
                  </a:tcPr>
                </a:tc>
                <a:tc>
                  <a:txBody>
                    <a:bodyPr/>
                    <a:lstStyle/>
                    <a:p>
                      <a:pPr algn="ctr"/>
                      <a:r>
                        <a:rPr sz="800" b="0">
                          <a:solidFill>
                            <a:srgbClr val="1A1A1A"/>
                          </a:solidFill>
                        </a:rPr>
                        <a:t>23</a:t>
                      </a:r>
                    </a:p>
                  </a:txBody>
                  <a:tcPr>
                    <a:noFill/>
                  </a:tcPr>
                </a:tc>
                <a:tc>
                  <a:txBody>
                    <a:bodyPr/>
                    <a:lstStyle/>
                    <a:p>
                      <a:pPr algn="ctr"/>
                      <a:r>
                        <a:rPr sz="800" b="0">
                          <a:solidFill>
                            <a:srgbClr val="1A7A4A"/>
                          </a:solidFill>
                        </a:rPr>
                        <a:t>Surponderer</a:t>
                      </a:r>
                    </a:p>
                  </a:txBody>
                  <a:tcPr>
                    <a:solidFill>
                      <a:srgbClr val="E8F5EE"/>
                    </a:solidFill>
                  </a:tcPr>
                </a:tc>
              </a:tr>
              <a:tr h="210000">
                <a:tc>
                  <a:txBody>
                    <a:bodyPr/>
                    <a:lstStyle/>
                    <a:p>
                      <a:pPr algn="ctr"/>
                      <a:r>
                        <a:rPr sz="800" b="0">
                          <a:solidFill>
                            <a:srgbClr val="1A1A1A"/>
                          </a:solidFill>
                        </a:rPr>
                        <a:t>Utilities</a:t>
                      </a:r>
                    </a:p>
                  </a:txBody>
                  <a:tcPr>
                    <a:solidFill>
                      <a:srgbClr val="F5F7FA"/>
                    </a:solidFill>
                  </a:tcPr>
                </a:tc>
                <a:tc>
                  <a:txBody>
                    <a:bodyPr/>
                    <a:lstStyle/>
                    <a:p>
                      <a:pPr algn="ctr"/>
                      <a:r>
                        <a:rPr sz="800" b="0">
                          <a:solidFill>
                            <a:srgbClr val="1A1A1A"/>
                          </a:solidFill>
                        </a:rPr>
                        <a:t>73</a:t>
                      </a:r>
                    </a:p>
                  </a:txBody>
                  <a:tcPr>
                    <a:solidFill>
                      <a:srgbClr val="E8F5EE"/>
                    </a:solidFill>
                  </a:tcPr>
                </a:tc>
                <a:tc>
                  <a:txBody>
                    <a:bodyPr/>
                    <a:lstStyle/>
                    <a:p>
                      <a:pPr algn="ctr"/>
                      <a:r>
                        <a:rPr sz="800" b="0">
                          <a:solidFill>
                            <a:srgbClr val="1A1A1A"/>
                          </a:solidFill>
                        </a:rPr>
                        <a:t>29</a:t>
                      </a:r>
                    </a:p>
                  </a:txBody>
                  <a:tcPr>
                    <a:solidFill>
                      <a:srgbClr val="F5F7FA"/>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7A4A"/>
                          </a:solidFill>
                        </a:rPr>
                        <a:t>Surponderer</a:t>
                      </a:r>
                    </a:p>
                  </a:txBody>
                  <a:tcPr>
                    <a:solidFill>
                      <a:srgbClr val="E8F5EE"/>
                    </a:solidFill>
                  </a:tcPr>
                </a:tc>
              </a:tr>
              <a:tr h="210000">
                <a:tc>
                  <a:txBody>
                    <a:bodyPr/>
                    <a:lstStyle/>
                    <a:p>
                      <a:pPr algn="ctr"/>
                      <a:r>
                        <a:rPr sz="800" b="0">
                          <a:solidFill>
                            <a:srgbClr val="1A1A1A"/>
                          </a:solidFill>
                        </a:rPr>
                        <a:t>Materials</a:t>
                      </a:r>
                    </a:p>
                  </a:txBody>
                  <a:tcPr>
                    <a:noFill/>
                  </a:tcPr>
                </a:tc>
                <a:tc>
                  <a:txBody>
                    <a:bodyPr/>
                    <a:lstStyle/>
                    <a:p>
                      <a:pPr algn="ctr"/>
                      <a:r>
                        <a:rPr sz="800" b="0">
                          <a:solidFill>
                            <a:srgbClr val="1A1A1A"/>
                          </a:solidFill>
                        </a:rPr>
                        <a:t>73</a:t>
                      </a:r>
                    </a:p>
                  </a:txBody>
                  <a:tcPr>
                    <a:solidFill>
                      <a:srgbClr val="E8F5EE"/>
                    </a:solidFill>
                  </a:tcPr>
                </a:tc>
                <a:tc>
                  <a:txBody>
                    <a:bodyPr/>
                    <a:lstStyle/>
                    <a:p>
                      <a:pPr algn="ctr"/>
                      <a:r>
                        <a:rPr sz="800" b="0">
                          <a:solidFill>
                            <a:srgbClr val="1A1A1A"/>
                          </a:solidFill>
                        </a:rPr>
                        <a:t>29</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7A4A"/>
                          </a:solidFill>
                        </a:rPr>
                        <a:t>Surponderer</a:t>
                      </a:r>
                    </a:p>
                  </a:txBody>
                  <a:tcPr>
                    <a:solidFill>
                      <a:srgbClr val="E8F5EE"/>
                    </a:solidFill>
                  </a:tcPr>
                </a:tc>
              </a:tr>
              <a:tr h="210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66</a:t>
                      </a:r>
                    </a:p>
                  </a:txBody>
                  <a:tcPr>
                    <a:solidFill>
                      <a:srgbClr val="E8F5EE"/>
                    </a:solidFill>
                  </a:tcPr>
                </a:tc>
                <a:tc>
                  <a:txBody>
                    <a:bodyPr/>
                    <a:lstStyle/>
                    <a:p>
                      <a:pPr algn="ctr"/>
                      <a:r>
                        <a:rPr sz="800" b="0">
                          <a:solidFill>
                            <a:srgbClr val="1A1A1A"/>
                          </a:solidFill>
                        </a:rPr>
                        <a:t>26</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7A4A"/>
                          </a:solidFill>
                        </a:rPr>
                        <a:t>Surponderer</a:t>
                      </a:r>
                    </a:p>
                  </a:txBody>
                  <a:tcPr>
                    <a:solidFill>
                      <a:srgbClr val="E8F5EE"/>
                    </a:solidFill>
                  </a:tcPr>
                </a:tc>
              </a:tr>
              <a:tr h="210000">
                <a:tc>
                  <a:txBody>
                    <a:bodyPr/>
                    <a:lstStyle/>
                    <a:p>
                      <a:pPr algn="ctr"/>
                      <a:r>
                        <a:rPr sz="800" b="0">
                          <a:solidFill>
                            <a:srgbClr val="1A1A1A"/>
                          </a:solidFill>
                        </a:rPr>
                        <a:t>Cons. Discret.</a:t>
                      </a:r>
                    </a:p>
                  </a:txBody>
                  <a:tcPr>
                    <a:noFill/>
                  </a:tcPr>
                </a:tc>
                <a:tc>
                  <a:txBody>
                    <a:bodyPr/>
                    <a:lstStyle/>
                    <a:p>
                      <a:pPr algn="ctr"/>
                      <a:r>
                        <a:rPr sz="800" b="0">
                          <a:solidFill>
                            <a:srgbClr val="1A1A1A"/>
                          </a:solidFill>
                        </a:rPr>
                        <a:t>60</a:t>
                      </a:r>
                    </a:p>
                  </a:txBody>
                  <a:tcPr>
                    <a:solidFill>
                      <a:srgbClr val="FDF3E5"/>
                    </a:solidFill>
                  </a:tcPr>
                </a:tc>
                <a:tc>
                  <a:txBody>
                    <a:bodyPr/>
                    <a:lstStyle/>
                    <a:p>
                      <a:pPr algn="ctr"/>
                      <a:r>
                        <a:rPr sz="800" b="0">
                          <a:solidFill>
                            <a:srgbClr val="1A1A1A"/>
                          </a:solidFill>
                        </a:rPr>
                        <a:t>24</a:t>
                      </a:r>
                    </a:p>
                  </a:txBody>
                  <a:tcPr>
                    <a:noFill/>
                  </a:tcPr>
                </a:tc>
                <a:tc>
                  <a:txBody>
                    <a:bodyPr/>
                    <a:lstStyle/>
                    <a:p>
                      <a:pPr algn="ctr"/>
                      <a:r>
                        <a:rPr sz="800" b="0">
                          <a:solidFill>
                            <a:srgbClr val="1A1A1A"/>
                          </a:solidFill>
                        </a:rPr>
                        <a:t>18</a:t>
                      </a:r>
                    </a:p>
                  </a:txBody>
                  <a:tcPr>
                    <a:noFill/>
                  </a:tcPr>
                </a:tc>
                <a:tc>
                  <a:txBody>
                    <a:bodyPr/>
                    <a:lstStyle/>
                    <a:p>
                      <a:pPr algn="ctr"/>
                      <a:r>
                        <a:rPr sz="800" b="0">
                          <a:solidFill>
                            <a:srgbClr val="1A1A1A"/>
                          </a:solidFill>
                        </a:rPr>
                        <a:t>18</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55</a:t>
                      </a:r>
                    </a:p>
                  </a:txBody>
                  <a:tcPr>
                    <a:solidFill>
                      <a:srgbClr val="FDF3E5"/>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Cons. Staples</a:t>
                      </a:r>
                    </a:p>
                  </a:txBody>
                  <a:tcPr>
                    <a:noFill/>
                  </a:tcPr>
                </a:tc>
                <a:tc>
                  <a:txBody>
                    <a:bodyPr/>
                    <a:lstStyle/>
                    <a:p>
                      <a:pPr algn="ctr"/>
                      <a:r>
                        <a:rPr sz="800" b="0">
                          <a:solidFill>
                            <a:srgbClr val="1A1A1A"/>
                          </a:solidFill>
                        </a:rPr>
                        <a:t>53</a:t>
                      </a:r>
                    </a:p>
                  </a:txBody>
                  <a:tcPr>
                    <a:solidFill>
                      <a:srgbClr val="FDF3E5"/>
                    </a:solidFill>
                  </a:tcPr>
                </a:tc>
                <a:tc>
                  <a:txBody>
                    <a:bodyPr/>
                    <a:lstStyle/>
                    <a:p>
                      <a:pPr algn="ctr"/>
                      <a:r>
                        <a:rPr sz="800" b="0">
                          <a:solidFill>
                            <a:srgbClr val="1A1A1A"/>
                          </a:solidFill>
                        </a:rPr>
                        <a:t>21</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Financials</a:t>
                      </a:r>
                    </a:p>
                  </a:txBody>
                  <a:tcPr>
                    <a:solidFill>
                      <a:srgbClr val="F5F7FA"/>
                    </a:solidFill>
                  </a:tcPr>
                </a:tc>
                <a:tc>
                  <a:txBody>
                    <a:bodyPr/>
                    <a:lstStyle/>
                    <a:p>
                      <a:pPr algn="ctr"/>
                      <a:r>
                        <a:rPr sz="800" b="0">
                          <a:solidFill>
                            <a:srgbClr val="1A1A1A"/>
                          </a:solidFill>
                        </a:rPr>
                        <a:t>50</a:t>
                      </a:r>
                    </a:p>
                  </a:txBody>
                  <a:tcPr>
                    <a:solidFill>
                      <a:srgbClr val="FDF3E5"/>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1A1A"/>
                          </a:solidFill>
                        </a:rPr>
                        <a:t>15</a:t>
                      </a:r>
                    </a:p>
                  </a:txBody>
                  <a:tcPr>
                    <a:solidFill>
                      <a:srgbClr val="F5F7FA"/>
                    </a:solidFill>
                  </a:tcPr>
                </a:tc>
                <a:tc>
                  <a:txBody>
                    <a:bodyPr/>
                    <a:lstStyle/>
                    <a:p>
                      <a:pPr algn="ctr"/>
                      <a:r>
                        <a:rPr sz="800" b="0">
                          <a:solidFill>
                            <a:srgbClr val="1A1A1A"/>
                          </a:solidFill>
                        </a:rPr>
                        <a:t>15</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Real Estate</a:t>
                      </a:r>
                    </a:p>
                  </a:txBody>
                  <a:tcPr>
                    <a:noFill/>
                  </a:tcPr>
                </a:tc>
                <a:tc>
                  <a:txBody>
                    <a:bodyPr/>
                    <a:lstStyle/>
                    <a:p>
                      <a:pPr algn="ctr"/>
                      <a:r>
                        <a:rPr sz="800" b="0">
                          <a:solidFill>
                            <a:srgbClr val="1A1A1A"/>
                          </a:solidFill>
                        </a:rPr>
                        <a:t>50</a:t>
                      </a:r>
                    </a:p>
                  </a:txBody>
                  <a:tcPr>
                    <a:solidFill>
                      <a:srgbClr val="FDF3E5"/>
                    </a:solidFill>
                  </a:tcPr>
                </a:tc>
                <a:tc>
                  <a:txBody>
                    <a:bodyPr/>
                    <a:lstStyle/>
                    <a:p>
                      <a:pPr algn="ctr"/>
                      <a:r>
                        <a:rPr sz="800" b="0">
                          <a:solidFill>
                            <a:srgbClr val="1A1A1A"/>
                          </a:solidFill>
                        </a:rPr>
                        <a:t>20</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B06000"/>
                          </a:solidFill>
                        </a:rPr>
                        <a:t>Neutre</a:t>
                      </a:r>
                    </a:p>
                  </a:txBody>
                  <a:tcPr>
                    <a:solidFill>
                      <a:srgbClr val="FDF3E5"/>
                    </a:solidFill>
                  </a:tcPr>
                </a:tc>
              </a:tr>
            </a:tbl>
          </a:graphicData>
        </a:graphic>
      </p:graphicFrame>
      <p:sp>
        <p:nvSpPr>
          <p:cNvPr id="16" name="TextBox 15"/>
          <p:cNvSpPr txBox="1"/>
          <p:nvPr/>
        </p:nvSpPr>
        <p:spPr>
          <a:xfrm>
            <a:off x="324000" y="3578399"/>
            <a:ext cx="8496000" cy="216000"/>
          </a:xfrm>
          <a:prstGeom prst="rect">
            <a:avLst/>
          </a:prstGeom>
          <a:noFill/>
        </p:spPr>
        <p:txBody>
          <a:bodyPr wrap="square">
            <a:spAutoFit/>
          </a:bodyPr>
          <a:lstStyle/>
          <a:p>
            <a:pPr algn="l"/>
            <a:r>
              <a:rPr sz="700" b="0" i="1">
                <a:solidFill>
                  <a:srgbClr val="AAAAAA"/>
                </a:solidFill>
              </a:rPr>
              <a:t>Lecture : Score &gt;= 65 = vert · 45-64 = neutre · &lt; 45 = rouge · Methode : composite 40 % momentum + 30 % revisions BPA + 30 % valorisation relative</a:t>
            </a:r>
          </a:p>
        </p:txBody>
      </p:sp>
      <p:sp>
        <p:nvSpPr>
          <p:cNvPr id="17" name="Rectangle 16"/>
          <p:cNvSpPr/>
          <p:nvPr/>
        </p:nvSpPr>
        <p:spPr>
          <a:xfrm>
            <a:off x="324000" y="3780000"/>
            <a:ext cx="8496000" cy="10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3780000"/>
            <a:ext cx="43200" cy="10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834000"/>
            <a:ext cx="8208000" cy="216000"/>
          </a:xfrm>
          <a:prstGeom prst="rect">
            <a:avLst/>
          </a:prstGeom>
          <a:noFill/>
        </p:spPr>
        <p:txBody>
          <a:bodyPr wrap="square">
            <a:spAutoFit/>
          </a:bodyPr>
          <a:lstStyle/>
          <a:p>
            <a:pPr algn="l"/>
            <a:r>
              <a:rPr sz="800" b="1" i="0">
                <a:solidFill>
                  <a:srgbClr val="1B3A6B"/>
                </a:solidFill>
              </a:rPr>
              <a:t>Analyse des scores — Points saillants</a:t>
            </a:r>
          </a:p>
        </p:txBody>
      </p:sp>
      <p:sp>
        <p:nvSpPr>
          <p:cNvPr id="20" name="TextBox 19"/>
          <p:cNvSpPr txBox="1"/>
          <p:nvPr/>
        </p:nvSpPr>
        <p:spPr>
          <a:xfrm>
            <a:off x="432000" y="4068000"/>
            <a:ext cx="8208000" cy="701999"/>
          </a:xfrm>
          <a:prstGeom prst="rect">
            <a:avLst/>
          </a:prstGeom>
          <a:noFill/>
        </p:spPr>
        <p:txBody>
          <a:bodyPr wrap="square">
            <a:spAutoFit/>
          </a:bodyPr>
          <a:lstStyle/>
          <a:p>
            <a:pPr algn="l"/>
            <a:r>
              <a:rPr sz="750" b="0" i="0">
                <a:solidFill>
                  <a:srgbClr val="555555"/>
                </a:solidFill>
              </a:rPr>
              <a:t>Energy domine avec le score le plus eleve. Le momentum (34 pts) constitue le premier signal de confirmation. Les secteurs en vert sur les 3 dimensions offrent le meilleur profil composite. Croiser avec la valorisation relative pour identifier les meilleures opportunites d entree.</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Secteurs Recommandes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signal · Societes representatives · Zone d entree · Distribution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Secteurs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Secteurs Surponderer  ·  Signal · Score · EV/EBITDA · Societes representatives · Catalyseur · Risque</a:t>
            </a:r>
          </a:p>
        </p:txBody>
      </p:sp>
      <p:sp>
        <p:nvSpPr>
          <p:cNvPr id="15" name="Rectangle 14"/>
          <p:cNvSpPr/>
          <p:nvPr/>
        </p:nvSpPr>
        <p:spPr>
          <a:xfrm>
            <a:off x="324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51999"/>
          </a:xfrm>
          <a:prstGeom prst="rect">
            <a:avLst/>
          </a:prstGeom>
          <a:noFill/>
        </p:spPr>
        <p:txBody>
          <a:bodyPr wrap="square">
            <a:spAutoFit/>
          </a:bodyPr>
          <a:lstStyle/>
          <a:p>
            <a:pPr algn="l"/>
            <a:r>
              <a:rPr sz="1000" b="1" i="0">
                <a:solidFill>
                  <a:srgbClr val="FFFFFF"/>
                </a:solidFill>
              </a:rPr>
              <a:t>Energy</a:t>
            </a:r>
          </a:p>
        </p:txBody>
      </p:sp>
      <p:sp>
        <p:nvSpPr>
          <p:cNvPr id="18" name="Rectangle 17"/>
          <p:cNvSpPr/>
          <p:nvPr/>
        </p:nvSpPr>
        <p:spPr>
          <a:xfrm>
            <a:off x="2304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864000"/>
            <a:ext cx="612000" cy="198000"/>
          </a:xfrm>
          <a:prstGeom prst="rect">
            <a:avLst/>
          </a:prstGeom>
          <a:noFill/>
        </p:spPr>
        <p:txBody>
          <a:bodyPr wrap="square">
            <a:spAutoFit/>
          </a:bodyPr>
          <a:lstStyle/>
          <a:p>
            <a:pPr algn="ctr"/>
            <a:r>
              <a:rPr sz="750" b="1" i="0">
                <a:solidFill>
                  <a:srgbClr val="FFFFFF"/>
                </a:solidFill>
              </a:rPr>
              <a:t>Surp.</a:t>
            </a:r>
          </a:p>
        </p:txBody>
      </p:sp>
      <p:sp>
        <p:nvSpPr>
          <p:cNvPr id="20" name="TextBox 19"/>
          <p:cNvSpPr txBox="1"/>
          <p:nvPr/>
        </p:nvSpPr>
        <p:spPr>
          <a:xfrm>
            <a:off x="396000" y="1170000"/>
            <a:ext cx="2592000" cy="180000"/>
          </a:xfrm>
          <a:prstGeom prst="rect">
            <a:avLst/>
          </a:prstGeom>
          <a:noFill/>
        </p:spPr>
        <p:txBody>
          <a:bodyPr wrap="square">
            <a:spAutoFit/>
          </a:bodyPr>
          <a:lstStyle/>
          <a:p>
            <a:pPr algn="l"/>
            <a:r>
              <a:rPr sz="750" b="0" i="0">
                <a:solidFill>
                  <a:srgbClr val="1B3A6B"/>
                </a:solidFill>
              </a:rPr>
              <a:t>Score : 85/100  ·  EV/EBITDA : —</a:t>
            </a:r>
          </a:p>
        </p:txBody>
      </p:sp>
      <p:sp>
        <p:nvSpPr>
          <p:cNvPr id="21" name="TextBox 20"/>
          <p:cNvSpPr txBox="1"/>
          <p:nvPr/>
        </p:nvSpPr>
        <p:spPr>
          <a:xfrm>
            <a:off x="396000" y="1386000"/>
            <a:ext cx="2592000" cy="162000"/>
          </a:xfrm>
          <a:prstGeom prst="rect">
            <a:avLst/>
          </a:prstGeom>
          <a:noFill/>
        </p:spPr>
        <p:txBody>
          <a:bodyPr wrap="square">
            <a:spAutoFit/>
          </a:bodyPr>
          <a:lstStyle/>
          <a:p>
            <a:pPr algn="l"/>
            <a:r>
              <a:rPr sz="750" b="1" i="0">
                <a:solidFill>
                  <a:srgbClr val="1B3A6B"/>
                </a:solidFill>
              </a:rPr>
              <a:t>Societes representatives</a:t>
            </a:r>
          </a:p>
        </p:txBody>
      </p:sp>
      <p:sp>
        <p:nvSpPr>
          <p:cNvPr id="22" name="Rectangle 21"/>
          <p:cNvSpPr/>
          <p:nvPr/>
        </p:nvSpPr>
        <p:spPr>
          <a:xfrm>
            <a:off x="396000"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20000"/>
            <a:ext cx="576000" cy="198000"/>
          </a:xfrm>
          <a:prstGeom prst="rect">
            <a:avLst/>
          </a:prstGeom>
          <a:noFill/>
        </p:spPr>
        <p:txBody>
          <a:bodyPr wrap="square">
            <a:spAutoFit/>
          </a:bodyPr>
          <a:lstStyle/>
          <a:p>
            <a:pPr algn="l"/>
            <a:r>
              <a:rPr sz="800" b="1" i="0">
                <a:solidFill>
                  <a:srgbClr val="1B3A6B"/>
                </a:solidFill>
              </a:rPr>
              <a:t>XOM</a:t>
            </a:r>
          </a:p>
        </p:txBody>
      </p:sp>
      <p:sp>
        <p:nvSpPr>
          <p:cNvPr id="24" name="TextBox 23"/>
          <p:cNvSpPr txBox="1"/>
          <p:nvPr/>
        </p:nvSpPr>
        <p:spPr>
          <a:xfrm>
            <a:off x="1044000" y="1620000"/>
            <a:ext cx="540000" cy="198000"/>
          </a:xfrm>
          <a:prstGeom prst="rect">
            <a:avLst/>
          </a:prstGeom>
          <a:noFill/>
        </p:spPr>
        <p:txBody>
          <a:bodyPr wrap="square">
            <a:spAutoFit/>
          </a:bodyPr>
          <a:lstStyle/>
          <a:p>
            <a:pPr algn="l"/>
            <a:r>
              <a:rPr sz="800" b="0" i="0">
                <a:solidFill>
                  <a:srgbClr val="1A7A4A"/>
                </a:solidFill>
              </a:rPr>
              <a:t>Surp.</a:t>
            </a:r>
          </a:p>
        </p:txBody>
      </p:sp>
      <p:sp>
        <p:nvSpPr>
          <p:cNvPr id="25" name="TextBox 24"/>
          <p:cNvSpPr txBox="1"/>
          <p:nvPr/>
        </p:nvSpPr>
        <p:spPr>
          <a:xfrm>
            <a:off x="1584000" y="1620000"/>
            <a:ext cx="540000" cy="198000"/>
          </a:xfrm>
          <a:prstGeom prst="rect">
            <a:avLst/>
          </a:prstGeom>
          <a:noFill/>
        </p:spPr>
        <p:txBody>
          <a:bodyPr wrap="square">
            <a:spAutoFit/>
          </a:bodyPr>
          <a:lstStyle/>
          <a:p>
            <a:pPr algn="l"/>
            <a:r>
              <a:rPr sz="800" b="0" i="0">
                <a:solidFill>
                  <a:srgbClr val="555555"/>
                </a:solidFill>
              </a:rPr>
              <a:t>—</a:t>
            </a:r>
          </a:p>
        </p:txBody>
      </p:sp>
      <p:sp>
        <p:nvSpPr>
          <p:cNvPr id="26" name="TextBox 25"/>
          <p:cNvSpPr txBox="1"/>
          <p:nvPr/>
        </p:nvSpPr>
        <p:spPr>
          <a:xfrm>
            <a:off x="2124000" y="1620000"/>
            <a:ext cx="540000" cy="198000"/>
          </a:xfrm>
          <a:prstGeom prst="rect">
            <a:avLst/>
          </a:prstGeom>
          <a:noFill/>
        </p:spPr>
        <p:txBody>
          <a:bodyPr wrap="square">
            <a:spAutoFit/>
          </a:bodyPr>
          <a:lstStyle/>
          <a:p>
            <a:pPr algn="l"/>
            <a:r>
              <a:rPr sz="800" b="0" i="0">
                <a:solidFill>
                  <a:srgbClr val="555555"/>
                </a:solidFill>
              </a:rPr>
              <a:t>85</a:t>
            </a:r>
          </a:p>
        </p:txBody>
      </p:sp>
      <p:sp>
        <p:nvSpPr>
          <p:cNvPr id="27" name="Rectangle 26"/>
          <p:cNvSpPr/>
          <p:nvPr/>
        </p:nvSpPr>
        <p:spPr>
          <a:xfrm>
            <a:off x="396000"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000" y="1915200"/>
            <a:ext cx="576000" cy="198000"/>
          </a:xfrm>
          <a:prstGeom prst="rect">
            <a:avLst/>
          </a:prstGeom>
          <a:noFill/>
        </p:spPr>
        <p:txBody>
          <a:bodyPr wrap="square">
            <a:spAutoFit/>
          </a:bodyPr>
          <a:lstStyle/>
          <a:p>
            <a:pPr algn="l"/>
            <a:r>
              <a:rPr sz="800" b="1" i="0">
                <a:solidFill>
                  <a:srgbClr val="1B3A6B"/>
                </a:solidFill>
              </a:rPr>
              <a:t>CVX</a:t>
            </a:r>
          </a:p>
        </p:txBody>
      </p:sp>
      <p:sp>
        <p:nvSpPr>
          <p:cNvPr id="29" name="TextBox 28"/>
          <p:cNvSpPr txBox="1"/>
          <p:nvPr/>
        </p:nvSpPr>
        <p:spPr>
          <a:xfrm>
            <a:off x="1044000" y="1915200"/>
            <a:ext cx="540000" cy="198000"/>
          </a:xfrm>
          <a:prstGeom prst="rect">
            <a:avLst/>
          </a:prstGeom>
          <a:noFill/>
        </p:spPr>
        <p:txBody>
          <a:bodyPr wrap="square">
            <a:spAutoFit/>
          </a:bodyPr>
          <a:lstStyle/>
          <a:p>
            <a:pPr algn="l"/>
            <a:r>
              <a:rPr sz="800" b="0" i="0">
                <a:solidFill>
                  <a:srgbClr val="1A7A4A"/>
                </a:solidFill>
              </a:rPr>
              <a:t>Surp.</a:t>
            </a:r>
          </a:p>
        </p:txBody>
      </p:sp>
      <p:sp>
        <p:nvSpPr>
          <p:cNvPr id="30" name="TextBox 29"/>
          <p:cNvSpPr txBox="1"/>
          <p:nvPr/>
        </p:nvSpPr>
        <p:spPr>
          <a:xfrm>
            <a:off x="1584000" y="1915200"/>
            <a:ext cx="540000" cy="198000"/>
          </a:xfrm>
          <a:prstGeom prst="rect">
            <a:avLst/>
          </a:prstGeom>
          <a:noFill/>
        </p:spPr>
        <p:txBody>
          <a:bodyPr wrap="square">
            <a:spAutoFit/>
          </a:bodyPr>
          <a:lstStyle/>
          <a:p>
            <a:pPr algn="l"/>
            <a:r>
              <a:rPr sz="800" b="0" i="0">
                <a:solidFill>
                  <a:srgbClr val="555555"/>
                </a:solidFill>
              </a:rPr>
              <a:t>—</a:t>
            </a:r>
          </a:p>
        </p:txBody>
      </p:sp>
      <p:sp>
        <p:nvSpPr>
          <p:cNvPr id="31" name="TextBox 30"/>
          <p:cNvSpPr txBox="1"/>
          <p:nvPr/>
        </p:nvSpPr>
        <p:spPr>
          <a:xfrm>
            <a:off x="2124000" y="1915200"/>
            <a:ext cx="540000" cy="198000"/>
          </a:xfrm>
          <a:prstGeom prst="rect">
            <a:avLst/>
          </a:prstGeom>
          <a:noFill/>
        </p:spPr>
        <p:txBody>
          <a:bodyPr wrap="square">
            <a:spAutoFit/>
          </a:bodyPr>
          <a:lstStyle/>
          <a:p>
            <a:pPr algn="l"/>
            <a:r>
              <a:rPr sz="800" b="0" i="0">
                <a:solidFill>
                  <a:srgbClr val="555555"/>
                </a:solidFill>
              </a:rPr>
              <a:t>85</a:t>
            </a:r>
          </a:p>
        </p:txBody>
      </p:sp>
      <p:sp>
        <p:nvSpPr>
          <p:cNvPr id="32" name="Rectangle 31"/>
          <p:cNvSpPr/>
          <p:nvPr/>
        </p:nvSpPr>
        <p:spPr>
          <a:xfrm>
            <a:off x="396000"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8000" y="2210400"/>
            <a:ext cx="576000" cy="198000"/>
          </a:xfrm>
          <a:prstGeom prst="rect">
            <a:avLst/>
          </a:prstGeom>
          <a:noFill/>
        </p:spPr>
        <p:txBody>
          <a:bodyPr wrap="square">
            <a:spAutoFit/>
          </a:bodyPr>
          <a:lstStyle/>
          <a:p>
            <a:pPr algn="l"/>
            <a:r>
              <a:rPr sz="800" b="1" i="0">
                <a:solidFill>
                  <a:srgbClr val="1B3A6B"/>
                </a:solidFill>
              </a:rPr>
              <a:t>COP</a:t>
            </a:r>
          </a:p>
        </p:txBody>
      </p:sp>
      <p:sp>
        <p:nvSpPr>
          <p:cNvPr id="34" name="TextBox 33"/>
          <p:cNvSpPr txBox="1"/>
          <p:nvPr/>
        </p:nvSpPr>
        <p:spPr>
          <a:xfrm>
            <a:off x="1044000" y="2210400"/>
            <a:ext cx="540000" cy="198000"/>
          </a:xfrm>
          <a:prstGeom prst="rect">
            <a:avLst/>
          </a:prstGeom>
          <a:noFill/>
        </p:spPr>
        <p:txBody>
          <a:bodyPr wrap="square">
            <a:spAutoFit/>
          </a:bodyPr>
          <a:lstStyle/>
          <a:p>
            <a:pPr algn="l"/>
            <a:r>
              <a:rPr sz="800" b="0" i="0">
                <a:solidFill>
                  <a:srgbClr val="1A7A4A"/>
                </a:solidFill>
              </a:rPr>
              <a:t>Surp.</a:t>
            </a:r>
          </a:p>
        </p:txBody>
      </p:sp>
      <p:sp>
        <p:nvSpPr>
          <p:cNvPr id="35" name="TextBox 34"/>
          <p:cNvSpPr txBox="1"/>
          <p:nvPr/>
        </p:nvSpPr>
        <p:spPr>
          <a:xfrm>
            <a:off x="1584000" y="2210400"/>
            <a:ext cx="540000" cy="198000"/>
          </a:xfrm>
          <a:prstGeom prst="rect">
            <a:avLst/>
          </a:prstGeom>
          <a:noFill/>
        </p:spPr>
        <p:txBody>
          <a:bodyPr wrap="square">
            <a:spAutoFit/>
          </a:bodyPr>
          <a:lstStyle/>
          <a:p>
            <a:pPr algn="l"/>
            <a:r>
              <a:rPr sz="800" b="0" i="0">
                <a:solidFill>
                  <a:srgbClr val="555555"/>
                </a:solidFill>
              </a:rPr>
              <a:t>—</a:t>
            </a:r>
          </a:p>
        </p:txBody>
      </p:sp>
      <p:sp>
        <p:nvSpPr>
          <p:cNvPr id="36" name="TextBox 35"/>
          <p:cNvSpPr txBox="1"/>
          <p:nvPr/>
        </p:nvSpPr>
        <p:spPr>
          <a:xfrm>
            <a:off x="2124000" y="2210400"/>
            <a:ext cx="540000" cy="198000"/>
          </a:xfrm>
          <a:prstGeom prst="rect">
            <a:avLst/>
          </a:prstGeom>
          <a:noFill/>
        </p:spPr>
        <p:txBody>
          <a:bodyPr wrap="square">
            <a:spAutoFit/>
          </a:bodyPr>
          <a:lstStyle/>
          <a:p>
            <a:pPr algn="l"/>
            <a:r>
              <a:rPr sz="800" b="0" i="0">
                <a:solidFill>
                  <a:srgbClr val="555555"/>
                </a:solidFill>
              </a:rPr>
              <a:t>85</a:t>
            </a:r>
          </a:p>
        </p:txBody>
      </p:sp>
      <p:sp>
        <p:nvSpPr>
          <p:cNvPr id="37" name="TextBox 36"/>
          <p:cNvSpPr txBox="1"/>
          <p:nvPr/>
        </p:nvSpPr>
        <p:spPr>
          <a:xfrm>
            <a:off x="396000"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38" name="Rectangle 37"/>
          <p:cNvSpPr/>
          <p:nvPr/>
        </p:nvSpPr>
        <p:spPr>
          <a:xfrm>
            <a:off x="396000"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8000" y="2700000"/>
            <a:ext cx="2484000" cy="666000"/>
          </a:xfrm>
          <a:prstGeom prst="rect">
            <a:avLst/>
          </a:prstGeom>
          <a:noFill/>
        </p:spPr>
        <p:txBody>
          <a:bodyPr wrap="square">
            <a:spAutoFit/>
          </a:bodyPr>
          <a:lstStyle/>
          <a:p>
            <a:pPr algn="l"/>
            <a:r>
              <a:rPr sz="750" b="0" i="0">
                <a:solidFill>
                  <a:srgbClr val="555555"/>
                </a:solidFill>
              </a:rPr>
              <a:t>Performance YTD +60.4% — momentum sectoriel positif</a:t>
            </a:r>
          </a:p>
        </p:txBody>
      </p:sp>
      <p:sp>
        <p:nvSpPr>
          <p:cNvPr id="40" name="TextBox 39"/>
          <p:cNvSpPr txBox="1"/>
          <p:nvPr/>
        </p:nvSpPr>
        <p:spPr>
          <a:xfrm>
            <a:off x="396000"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41" name="Rectangle 40"/>
          <p:cNvSpPr/>
          <p:nvPr/>
        </p:nvSpPr>
        <p:spPr>
          <a:xfrm>
            <a:off x="396000"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8000" y="3654000"/>
            <a:ext cx="2484000" cy="666000"/>
          </a:xfrm>
          <a:prstGeom prst="rect">
            <a:avLst/>
          </a:prstGeom>
          <a:noFill/>
        </p:spPr>
        <p:txBody>
          <a:bodyPr wrap="square">
            <a:spAutoFit/>
          </a:bodyPr>
          <a:lstStyle/>
          <a:p>
            <a:pPr algn="l"/>
            <a:r>
              <a:rPr sz="750" b="0" i="0">
                <a:solidFill>
                  <a:srgbClr val="555555"/>
                </a:solidFill>
              </a:rPr>
              <a:t>Risque de compression multiple si croissance BPA decelee</a:t>
            </a:r>
          </a:p>
        </p:txBody>
      </p:sp>
      <p:sp>
        <p:nvSpPr>
          <p:cNvPr id="43" name="Rectangle 42"/>
          <p:cNvSpPr/>
          <p:nvPr/>
        </p:nvSpPr>
        <p:spPr>
          <a:xfrm>
            <a:off x="3150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150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1999" y="846000"/>
            <a:ext cx="1800000" cy="251999"/>
          </a:xfrm>
          <a:prstGeom prst="rect">
            <a:avLst/>
          </a:prstGeom>
          <a:noFill/>
        </p:spPr>
        <p:txBody>
          <a:bodyPr wrap="square">
            <a:spAutoFit/>
          </a:bodyPr>
          <a:lstStyle/>
          <a:p>
            <a:pPr algn="l"/>
            <a:r>
              <a:rPr sz="1000" b="1" i="0">
                <a:solidFill>
                  <a:srgbClr val="FFFFFF"/>
                </a:solidFill>
              </a:rPr>
              <a:t>Technology</a:t>
            </a:r>
          </a:p>
        </p:txBody>
      </p:sp>
      <p:sp>
        <p:nvSpPr>
          <p:cNvPr id="46" name="Rectangle 45"/>
          <p:cNvSpPr/>
          <p:nvPr/>
        </p:nvSpPr>
        <p:spPr>
          <a:xfrm>
            <a:off x="5130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000" y="864000"/>
            <a:ext cx="612000" cy="198000"/>
          </a:xfrm>
          <a:prstGeom prst="rect">
            <a:avLst/>
          </a:prstGeom>
          <a:noFill/>
        </p:spPr>
        <p:txBody>
          <a:bodyPr wrap="square">
            <a:spAutoFit/>
          </a:bodyPr>
          <a:lstStyle/>
          <a:p>
            <a:pPr algn="ctr"/>
            <a:r>
              <a:rPr sz="750" b="1" i="0">
                <a:solidFill>
                  <a:srgbClr val="FFFFFF"/>
                </a:solidFill>
              </a:rPr>
              <a:t>Surp.</a:t>
            </a:r>
          </a:p>
        </p:txBody>
      </p:sp>
      <p:sp>
        <p:nvSpPr>
          <p:cNvPr id="48" name="TextBox 47"/>
          <p:cNvSpPr txBox="1"/>
          <p:nvPr/>
        </p:nvSpPr>
        <p:spPr>
          <a:xfrm>
            <a:off x="3221999" y="1170000"/>
            <a:ext cx="2592000" cy="180000"/>
          </a:xfrm>
          <a:prstGeom prst="rect">
            <a:avLst/>
          </a:prstGeom>
          <a:noFill/>
        </p:spPr>
        <p:txBody>
          <a:bodyPr wrap="square">
            <a:spAutoFit/>
          </a:bodyPr>
          <a:lstStyle/>
          <a:p>
            <a:pPr algn="l"/>
            <a:r>
              <a:rPr sz="750" b="0" i="0">
                <a:solidFill>
                  <a:srgbClr val="1B3A6B"/>
                </a:solidFill>
              </a:rPr>
              <a:t>Score : 79/100  ·  EV/EBITDA : —</a:t>
            </a:r>
          </a:p>
        </p:txBody>
      </p:sp>
      <p:sp>
        <p:nvSpPr>
          <p:cNvPr id="49" name="TextBox 48"/>
          <p:cNvSpPr txBox="1"/>
          <p:nvPr/>
        </p:nvSpPr>
        <p:spPr>
          <a:xfrm>
            <a:off x="3221999" y="1386000"/>
            <a:ext cx="2592000" cy="162000"/>
          </a:xfrm>
          <a:prstGeom prst="rect">
            <a:avLst/>
          </a:prstGeom>
          <a:noFill/>
        </p:spPr>
        <p:txBody>
          <a:bodyPr wrap="square">
            <a:spAutoFit/>
          </a:bodyPr>
          <a:lstStyle/>
          <a:p>
            <a:pPr algn="l"/>
            <a:r>
              <a:rPr sz="750" b="1" i="0">
                <a:solidFill>
                  <a:srgbClr val="1B3A6B"/>
                </a:solidFill>
              </a:rPr>
              <a:t>Societes representatives</a:t>
            </a:r>
          </a:p>
        </p:txBody>
      </p:sp>
      <p:sp>
        <p:nvSpPr>
          <p:cNvPr id="50" name="Rectangle 49"/>
          <p:cNvSpPr/>
          <p:nvPr/>
        </p:nvSpPr>
        <p:spPr>
          <a:xfrm>
            <a:off x="3221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4000" y="1620000"/>
            <a:ext cx="576000" cy="198000"/>
          </a:xfrm>
          <a:prstGeom prst="rect">
            <a:avLst/>
          </a:prstGeom>
          <a:noFill/>
        </p:spPr>
        <p:txBody>
          <a:bodyPr wrap="square">
            <a:spAutoFit/>
          </a:bodyPr>
          <a:lstStyle/>
          <a:p>
            <a:pPr algn="l"/>
            <a:r>
              <a:rPr sz="800" b="1" i="0">
                <a:solidFill>
                  <a:srgbClr val="1B3A6B"/>
                </a:solidFill>
              </a:rPr>
              <a:t>AAPL</a:t>
            </a:r>
          </a:p>
        </p:txBody>
      </p:sp>
      <p:sp>
        <p:nvSpPr>
          <p:cNvPr id="52" name="TextBox 51"/>
          <p:cNvSpPr txBox="1"/>
          <p:nvPr/>
        </p:nvSpPr>
        <p:spPr>
          <a:xfrm>
            <a:off x="3870000" y="1620000"/>
            <a:ext cx="540000" cy="198000"/>
          </a:xfrm>
          <a:prstGeom prst="rect">
            <a:avLst/>
          </a:prstGeom>
          <a:noFill/>
        </p:spPr>
        <p:txBody>
          <a:bodyPr wrap="square">
            <a:spAutoFit/>
          </a:bodyPr>
          <a:lstStyle/>
          <a:p>
            <a:pPr algn="l"/>
            <a:r>
              <a:rPr sz="800" b="0" i="0">
                <a:solidFill>
                  <a:srgbClr val="1A7A4A"/>
                </a:solidFill>
              </a:rPr>
              <a:t>Surp.</a:t>
            </a:r>
          </a:p>
        </p:txBody>
      </p:sp>
      <p:sp>
        <p:nvSpPr>
          <p:cNvPr id="53" name="TextBox 52"/>
          <p:cNvSpPr txBox="1"/>
          <p:nvPr/>
        </p:nvSpPr>
        <p:spPr>
          <a:xfrm>
            <a:off x="4410000" y="1620000"/>
            <a:ext cx="540000" cy="198000"/>
          </a:xfrm>
          <a:prstGeom prst="rect">
            <a:avLst/>
          </a:prstGeom>
          <a:noFill/>
        </p:spPr>
        <p:txBody>
          <a:bodyPr wrap="square">
            <a:spAutoFit/>
          </a:bodyPr>
          <a:lstStyle/>
          <a:p>
            <a:pPr algn="l"/>
            <a:r>
              <a:rPr sz="800" b="0" i="0">
                <a:solidFill>
                  <a:srgbClr val="555555"/>
                </a:solidFill>
              </a:rPr>
              <a:t>—</a:t>
            </a:r>
          </a:p>
        </p:txBody>
      </p:sp>
      <p:sp>
        <p:nvSpPr>
          <p:cNvPr id="54" name="TextBox 53"/>
          <p:cNvSpPr txBox="1"/>
          <p:nvPr/>
        </p:nvSpPr>
        <p:spPr>
          <a:xfrm>
            <a:off x="4950000" y="1620000"/>
            <a:ext cx="540000" cy="198000"/>
          </a:xfrm>
          <a:prstGeom prst="rect">
            <a:avLst/>
          </a:prstGeom>
          <a:noFill/>
        </p:spPr>
        <p:txBody>
          <a:bodyPr wrap="square">
            <a:spAutoFit/>
          </a:bodyPr>
          <a:lstStyle/>
          <a:p>
            <a:pPr algn="l"/>
            <a:r>
              <a:rPr sz="800" b="0" i="0">
                <a:solidFill>
                  <a:srgbClr val="555555"/>
                </a:solidFill>
              </a:rPr>
              <a:t>76</a:t>
            </a:r>
          </a:p>
        </p:txBody>
      </p:sp>
      <p:sp>
        <p:nvSpPr>
          <p:cNvPr id="55" name="Rectangle 54"/>
          <p:cNvSpPr/>
          <p:nvPr/>
        </p:nvSpPr>
        <p:spPr>
          <a:xfrm>
            <a:off x="3221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94000" y="1915200"/>
            <a:ext cx="576000" cy="198000"/>
          </a:xfrm>
          <a:prstGeom prst="rect">
            <a:avLst/>
          </a:prstGeom>
          <a:noFill/>
        </p:spPr>
        <p:txBody>
          <a:bodyPr wrap="square">
            <a:spAutoFit/>
          </a:bodyPr>
          <a:lstStyle/>
          <a:p>
            <a:pPr algn="l"/>
            <a:r>
              <a:rPr sz="800" b="1" i="0">
                <a:solidFill>
                  <a:srgbClr val="1B3A6B"/>
                </a:solidFill>
              </a:rPr>
              <a:t>MSFT</a:t>
            </a:r>
          </a:p>
        </p:txBody>
      </p:sp>
      <p:sp>
        <p:nvSpPr>
          <p:cNvPr id="57" name="TextBox 56"/>
          <p:cNvSpPr txBox="1"/>
          <p:nvPr/>
        </p:nvSpPr>
        <p:spPr>
          <a:xfrm>
            <a:off x="3870000" y="1915200"/>
            <a:ext cx="540000" cy="198000"/>
          </a:xfrm>
          <a:prstGeom prst="rect">
            <a:avLst/>
          </a:prstGeom>
          <a:noFill/>
        </p:spPr>
        <p:txBody>
          <a:bodyPr wrap="square">
            <a:spAutoFit/>
          </a:bodyPr>
          <a:lstStyle/>
          <a:p>
            <a:pPr algn="l"/>
            <a:r>
              <a:rPr sz="800" b="0" i="0">
                <a:solidFill>
                  <a:srgbClr val="1A7A4A"/>
                </a:solidFill>
              </a:rPr>
              <a:t>Surp.</a:t>
            </a:r>
          </a:p>
        </p:txBody>
      </p:sp>
      <p:sp>
        <p:nvSpPr>
          <p:cNvPr id="58" name="TextBox 57"/>
          <p:cNvSpPr txBox="1"/>
          <p:nvPr/>
        </p:nvSpPr>
        <p:spPr>
          <a:xfrm>
            <a:off x="4410000" y="1915200"/>
            <a:ext cx="540000" cy="198000"/>
          </a:xfrm>
          <a:prstGeom prst="rect">
            <a:avLst/>
          </a:prstGeom>
          <a:noFill/>
        </p:spPr>
        <p:txBody>
          <a:bodyPr wrap="square">
            <a:spAutoFit/>
          </a:bodyPr>
          <a:lstStyle/>
          <a:p>
            <a:pPr algn="l"/>
            <a:r>
              <a:rPr sz="800" b="0" i="0">
                <a:solidFill>
                  <a:srgbClr val="555555"/>
                </a:solidFill>
              </a:rPr>
              <a:t>—</a:t>
            </a:r>
          </a:p>
        </p:txBody>
      </p:sp>
      <p:sp>
        <p:nvSpPr>
          <p:cNvPr id="59" name="TextBox 58"/>
          <p:cNvSpPr txBox="1"/>
          <p:nvPr/>
        </p:nvSpPr>
        <p:spPr>
          <a:xfrm>
            <a:off x="4950000" y="1915200"/>
            <a:ext cx="540000" cy="198000"/>
          </a:xfrm>
          <a:prstGeom prst="rect">
            <a:avLst/>
          </a:prstGeom>
          <a:noFill/>
        </p:spPr>
        <p:txBody>
          <a:bodyPr wrap="square">
            <a:spAutoFit/>
          </a:bodyPr>
          <a:lstStyle/>
          <a:p>
            <a:pPr algn="l"/>
            <a:r>
              <a:rPr sz="800" b="0" i="0">
                <a:solidFill>
                  <a:srgbClr val="555555"/>
                </a:solidFill>
              </a:rPr>
              <a:t>76</a:t>
            </a:r>
          </a:p>
        </p:txBody>
      </p:sp>
      <p:sp>
        <p:nvSpPr>
          <p:cNvPr id="60" name="Rectangle 59"/>
          <p:cNvSpPr/>
          <p:nvPr/>
        </p:nvSpPr>
        <p:spPr>
          <a:xfrm>
            <a:off x="3221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94000" y="2210400"/>
            <a:ext cx="576000" cy="198000"/>
          </a:xfrm>
          <a:prstGeom prst="rect">
            <a:avLst/>
          </a:prstGeom>
          <a:noFill/>
        </p:spPr>
        <p:txBody>
          <a:bodyPr wrap="square">
            <a:spAutoFit/>
          </a:bodyPr>
          <a:lstStyle/>
          <a:p>
            <a:pPr algn="l"/>
            <a:r>
              <a:rPr sz="800" b="1" i="0">
                <a:solidFill>
                  <a:srgbClr val="1B3A6B"/>
                </a:solidFill>
              </a:rPr>
              <a:t>NVDA</a:t>
            </a:r>
          </a:p>
        </p:txBody>
      </p:sp>
      <p:sp>
        <p:nvSpPr>
          <p:cNvPr id="62" name="TextBox 61"/>
          <p:cNvSpPr txBox="1"/>
          <p:nvPr/>
        </p:nvSpPr>
        <p:spPr>
          <a:xfrm>
            <a:off x="3870000" y="2210400"/>
            <a:ext cx="540000" cy="198000"/>
          </a:xfrm>
          <a:prstGeom prst="rect">
            <a:avLst/>
          </a:prstGeom>
          <a:noFill/>
        </p:spPr>
        <p:txBody>
          <a:bodyPr wrap="square">
            <a:spAutoFit/>
          </a:bodyPr>
          <a:lstStyle/>
          <a:p>
            <a:pPr algn="l"/>
            <a:r>
              <a:rPr sz="800" b="0" i="0">
                <a:solidFill>
                  <a:srgbClr val="1A7A4A"/>
                </a:solidFill>
              </a:rPr>
              <a:t>Surp.</a:t>
            </a:r>
          </a:p>
        </p:txBody>
      </p:sp>
      <p:sp>
        <p:nvSpPr>
          <p:cNvPr id="63" name="TextBox 62"/>
          <p:cNvSpPr txBox="1"/>
          <p:nvPr/>
        </p:nvSpPr>
        <p:spPr>
          <a:xfrm>
            <a:off x="4410000" y="2210400"/>
            <a:ext cx="540000" cy="198000"/>
          </a:xfrm>
          <a:prstGeom prst="rect">
            <a:avLst/>
          </a:prstGeom>
          <a:noFill/>
        </p:spPr>
        <p:txBody>
          <a:bodyPr wrap="square">
            <a:spAutoFit/>
          </a:bodyPr>
          <a:lstStyle/>
          <a:p>
            <a:pPr algn="l"/>
            <a:r>
              <a:rPr sz="800" b="0" i="0">
                <a:solidFill>
                  <a:srgbClr val="555555"/>
                </a:solidFill>
              </a:rPr>
              <a:t>—</a:t>
            </a:r>
          </a:p>
        </p:txBody>
      </p:sp>
      <p:sp>
        <p:nvSpPr>
          <p:cNvPr id="64" name="TextBox 63"/>
          <p:cNvSpPr txBox="1"/>
          <p:nvPr/>
        </p:nvSpPr>
        <p:spPr>
          <a:xfrm>
            <a:off x="4950000" y="2210400"/>
            <a:ext cx="540000" cy="198000"/>
          </a:xfrm>
          <a:prstGeom prst="rect">
            <a:avLst/>
          </a:prstGeom>
          <a:noFill/>
        </p:spPr>
        <p:txBody>
          <a:bodyPr wrap="square">
            <a:spAutoFit/>
          </a:bodyPr>
          <a:lstStyle/>
          <a:p>
            <a:pPr algn="l"/>
            <a:r>
              <a:rPr sz="800" b="0" i="0">
                <a:solidFill>
                  <a:srgbClr val="555555"/>
                </a:solidFill>
              </a:rPr>
              <a:t>76</a:t>
            </a:r>
          </a:p>
        </p:txBody>
      </p:sp>
      <p:sp>
        <p:nvSpPr>
          <p:cNvPr id="65" name="TextBox 64"/>
          <p:cNvSpPr txBox="1"/>
          <p:nvPr/>
        </p:nvSpPr>
        <p:spPr>
          <a:xfrm>
            <a:off x="3221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66" name="Rectangle 65"/>
          <p:cNvSpPr/>
          <p:nvPr/>
        </p:nvSpPr>
        <p:spPr>
          <a:xfrm>
            <a:off x="3221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94000" y="2700000"/>
            <a:ext cx="2484000" cy="666000"/>
          </a:xfrm>
          <a:prstGeom prst="rect">
            <a:avLst/>
          </a:prstGeom>
          <a:noFill/>
        </p:spPr>
        <p:txBody>
          <a:bodyPr wrap="square">
            <a:spAutoFit/>
          </a:bodyPr>
          <a:lstStyle/>
          <a:p>
            <a:pPr algn="l"/>
            <a:r>
              <a:rPr sz="750" b="0" i="0">
                <a:solidFill>
                  <a:srgbClr val="555555"/>
                </a:solidFill>
              </a:rPr>
              <a:t>Performance YTD +24.5% — momentum sectoriel positif</a:t>
            </a:r>
          </a:p>
        </p:txBody>
      </p:sp>
      <p:sp>
        <p:nvSpPr>
          <p:cNvPr id="68" name="TextBox 67"/>
          <p:cNvSpPr txBox="1"/>
          <p:nvPr/>
        </p:nvSpPr>
        <p:spPr>
          <a:xfrm>
            <a:off x="3221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69" name="Rectangle 68"/>
          <p:cNvSpPr/>
          <p:nvPr/>
        </p:nvSpPr>
        <p:spPr>
          <a:xfrm>
            <a:off x="3221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94000" y="3654000"/>
            <a:ext cx="2484000" cy="666000"/>
          </a:xfrm>
          <a:prstGeom prst="rect">
            <a:avLst/>
          </a:prstGeom>
          <a:noFill/>
        </p:spPr>
        <p:txBody>
          <a:bodyPr wrap="square">
            <a:spAutoFit/>
          </a:bodyPr>
          <a:lstStyle/>
          <a:p>
            <a:pPr algn="l"/>
            <a:r>
              <a:rPr sz="750" b="0" i="0">
                <a:solidFill>
                  <a:srgbClr val="555555"/>
                </a:solidFill>
              </a:rPr>
              <a:t>Risque de compression multiple si croissance BPA decelee</a:t>
            </a:r>
          </a:p>
        </p:txBody>
      </p:sp>
      <p:sp>
        <p:nvSpPr>
          <p:cNvPr id="71" name="Rectangle 70"/>
          <p:cNvSpPr/>
          <p:nvPr/>
        </p:nvSpPr>
        <p:spPr>
          <a:xfrm>
            <a:off x="5975999"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975999"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047999" y="846000"/>
            <a:ext cx="1800000" cy="251999"/>
          </a:xfrm>
          <a:prstGeom prst="rect">
            <a:avLst/>
          </a:prstGeom>
          <a:noFill/>
        </p:spPr>
        <p:txBody>
          <a:bodyPr wrap="square">
            <a:spAutoFit/>
          </a:bodyPr>
          <a:lstStyle/>
          <a:p>
            <a:pPr algn="l"/>
            <a:r>
              <a:rPr sz="1000" b="1" i="0">
                <a:solidFill>
                  <a:srgbClr val="FFFFFF"/>
                </a:solidFill>
              </a:rPr>
              <a:t>Industrials</a:t>
            </a:r>
          </a:p>
        </p:txBody>
      </p:sp>
      <p:sp>
        <p:nvSpPr>
          <p:cNvPr id="74" name="Rectangle 73"/>
          <p:cNvSpPr/>
          <p:nvPr/>
        </p:nvSpPr>
        <p:spPr>
          <a:xfrm>
            <a:off x="7955999"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992000" y="864000"/>
            <a:ext cx="612000" cy="198000"/>
          </a:xfrm>
          <a:prstGeom prst="rect">
            <a:avLst/>
          </a:prstGeom>
          <a:noFill/>
        </p:spPr>
        <p:txBody>
          <a:bodyPr wrap="square">
            <a:spAutoFit/>
          </a:bodyPr>
          <a:lstStyle/>
          <a:p>
            <a:pPr algn="ctr"/>
            <a:r>
              <a:rPr sz="750" b="1" i="0">
                <a:solidFill>
                  <a:srgbClr val="FFFFFF"/>
                </a:solidFill>
              </a:rPr>
              <a:t>Surp.</a:t>
            </a:r>
          </a:p>
        </p:txBody>
      </p:sp>
      <p:sp>
        <p:nvSpPr>
          <p:cNvPr id="76" name="TextBox 75"/>
          <p:cNvSpPr txBox="1"/>
          <p:nvPr/>
        </p:nvSpPr>
        <p:spPr>
          <a:xfrm>
            <a:off x="6047999" y="1170000"/>
            <a:ext cx="2592000" cy="180000"/>
          </a:xfrm>
          <a:prstGeom prst="rect">
            <a:avLst/>
          </a:prstGeom>
          <a:noFill/>
        </p:spPr>
        <p:txBody>
          <a:bodyPr wrap="square">
            <a:spAutoFit/>
          </a:bodyPr>
          <a:lstStyle/>
          <a:p>
            <a:pPr algn="l"/>
            <a:r>
              <a:rPr sz="750" b="0" i="0">
                <a:solidFill>
                  <a:srgbClr val="1B3A6B"/>
                </a:solidFill>
              </a:rPr>
              <a:t>Score : 78/100  ·  EV/EBITDA : —</a:t>
            </a:r>
          </a:p>
        </p:txBody>
      </p:sp>
      <p:sp>
        <p:nvSpPr>
          <p:cNvPr id="77" name="TextBox 76"/>
          <p:cNvSpPr txBox="1"/>
          <p:nvPr/>
        </p:nvSpPr>
        <p:spPr>
          <a:xfrm>
            <a:off x="6047999" y="1386000"/>
            <a:ext cx="2592000" cy="162000"/>
          </a:xfrm>
          <a:prstGeom prst="rect">
            <a:avLst/>
          </a:prstGeom>
          <a:noFill/>
        </p:spPr>
        <p:txBody>
          <a:bodyPr wrap="square">
            <a:spAutoFit/>
          </a:bodyPr>
          <a:lstStyle/>
          <a:p>
            <a:pPr algn="l"/>
            <a:r>
              <a:rPr sz="750" b="1" i="0">
                <a:solidFill>
                  <a:srgbClr val="1B3A6B"/>
                </a:solidFill>
              </a:rPr>
              <a:t>Societes representatives</a:t>
            </a:r>
          </a:p>
        </p:txBody>
      </p:sp>
      <p:sp>
        <p:nvSpPr>
          <p:cNvPr id="78" name="Rectangle 77"/>
          <p:cNvSpPr/>
          <p:nvPr/>
        </p:nvSpPr>
        <p:spPr>
          <a:xfrm>
            <a:off x="6047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119999" y="1620000"/>
            <a:ext cx="576000" cy="198000"/>
          </a:xfrm>
          <a:prstGeom prst="rect">
            <a:avLst/>
          </a:prstGeom>
          <a:noFill/>
        </p:spPr>
        <p:txBody>
          <a:bodyPr wrap="square">
            <a:spAutoFit/>
          </a:bodyPr>
          <a:lstStyle/>
          <a:p>
            <a:pPr algn="l"/>
            <a:r>
              <a:rPr sz="800" b="1" i="0">
                <a:solidFill>
                  <a:srgbClr val="1B3A6B"/>
                </a:solidFill>
              </a:rPr>
              <a:t>UNP</a:t>
            </a:r>
          </a:p>
        </p:txBody>
      </p:sp>
      <p:sp>
        <p:nvSpPr>
          <p:cNvPr id="80" name="TextBox 79"/>
          <p:cNvSpPr txBox="1"/>
          <p:nvPr/>
        </p:nvSpPr>
        <p:spPr>
          <a:xfrm>
            <a:off x="6695999" y="1620000"/>
            <a:ext cx="540000" cy="198000"/>
          </a:xfrm>
          <a:prstGeom prst="rect">
            <a:avLst/>
          </a:prstGeom>
          <a:noFill/>
        </p:spPr>
        <p:txBody>
          <a:bodyPr wrap="square">
            <a:spAutoFit/>
          </a:bodyPr>
          <a:lstStyle/>
          <a:p>
            <a:pPr algn="l"/>
            <a:r>
              <a:rPr sz="800" b="0" i="0">
                <a:solidFill>
                  <a:srgbClr val="1A7A4A"/>
                </a:solidFill>
              </a:rPr>
              <a:t>Surp.</a:t>
            </a:r>
          </a:p>
        </p:txBody>
      </p:sp>
      <p:sp>
        <p:nvSpPr>
          <p:cNvPr id="81" name="TextBox 80"/>
          <p:cNvSpPr txBox="1"/>
          <p:nvPr/>
        </p:nvSpPr>
        <p:spPr>
          <a:xfrm>
            <a:off x="7235999" y="1620000"/>
            <a:ext cx="540000" cy="198000"/>
          </a:xfrm>
          <a:prstGeom prst="rect">
            <a:avLst/>
          </a:prstGeom>
          <a:noFill/>
        </p:spPr>
        <p:txBody>
          <a:bodyPr wrap="square">
            <a:spAutoFit/>
          </a:bodyPr>
          <a:lstStyle/>
          <a:p>
            <a:pPr algn="l"/>
            <a:r>
              <a:rPr sz="800" b="0" i="0">
                <a:solidFill>
                  <a:srgbClr val="555555"/>
                </a:solidFill>
              </a:rPr>
              <a:t>—</a:t>
            </a:r>
          </a:p>
        </p:txBody>
      </p:sp>
      <p:sp>
        <p:nvSpPr>
          <p:cNvPr id="82" name="TextBox 81"/>
          <p:cNvSpPr txBox="1"/>
          <p:nvPr/>
        </p:nvSpPr>
        <p:spPr>
          <a:xfrm>
            <a:off x="7775999" y="1620000"/>
            <a:ext cx="540000" cy="198000"/>
          </a:xfrm>
          <a:prstGeom prst="rect">
            <a:avLst/>
          </a:prstGeom>
          <a:noFill/>
        </p:spPr>
        <p:txBody>
          <a:bodyPr wrap="square">
            <a:spAutoFit/>
          </a:bodyPr>
          <a:lstStyle/>
          <a:p>
            <a:pPr algn="l"/>
            <a:r>
              <a:rPr sz="800" b="0" i="0">
                <a:solidFill>
                  <a:srgbClr val="555555"/>
                </a:solidFill>
              </a:rPr>
              <a:t>72</a:t>
            </a:r>
          </a:p>
        </p:txBody>
      </p:sp>
      <p:sp>
        <p:nvSpPr>
          <p:cNvPr id="83" name="Rectangle 82"/>
          <p:cNvSpPr/>
          <p:nvPr/>
        </p:nvSpPr>
        <p:spPr>
          <a:xfrm>
            <a:off x="6047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19999" y="1915200"/>
            <a:ext cx="576000" cy="198000"/>
          </a:xfrm>
          <a:prstGeom prst="rect">
            <a:avLst/>
          </a:prstGeom>
          <a:noFill/>
        </p:spPr>
        <p:txBody>
          <a:bodyPr wrap="square">
            <a:spAutoFit/>
          </a:bodyPr>
          <a:lstStyle/>
          <a:p>
            <a:pPr algn="l"/>
            <a:r>
              <a:rPr sz="800" b="1" i="0">
                <a:solidFill>
                  <a:srgbClr val="1B3A6B"/>
                </a:solidFill>
              </a:rPr>
              <a:t>RTX</a:t>
            </a:r>
          </a:p>
        </p:txBody>
      </p:sp>
      <p:sp>
        <p:nvSpPr>
          <p:cNvPr id="85" name="TextBox 84"/>
          <p:cNvSpPr txBox="1"/>
          <p:nvPr/>
        </p:nvSpPr>
        <p:spPr>
          <a:xfrm>
            <a:off x="6695999" y="1915200"/>
            <a:ext cx="540000" cy="198000"/>
          </a:xfrm>
          <a:prstGeom prst="rect">
            <a:avLst/>
          </a:prstGeom>
          <a:noFill/>
        </p:spPr>
        <p:txBody>
          <a:bodyPr wrap="square">
            <a:spAutoFit/>
          </a:bodyPr>
          <a:lstStyle/>
          <a:p>
            <a:pPr algn="l"/>
            <a:r>
              <a:rPr sz="800" b="0" i="0">
                <a:solidFill>
                  <a:srgbClr val="1A7A4A"/>
                </a:solidFill>
              </a:rPr>
              <a:t>Surp.</a:t>
            </a:r>
          </a:p>
        </p:txBody>
      </p:sp>
      <p:sp>
        <p:nvSpPr>
          <p:cNvPr id="86" name="TextBox 85"/>
          <p:cNvSpPr txBox="1"/>
          <p:nvPr/>
        </p:nvSpPr>
        <p:spPr>
          <a:xfrm>
            <a:off x="7235999" y="1915200"/>
            <a:ext cx="540000" cy="198000"/>
          </a:xfrm>
          <a:prstGeom prst="rect">
            <a:avLst/>
          </a:prstGeom>
          <a:noFill/>
        </p:spPr>
        <p:txBody>
          <a:bodyPr wrap="square">
            <a:spAutoFit/>
          </a:bodyPr>
          <a:lstStyle/>
          <a:p>
            <a:pPr algn="l"/>
            <a:r>
              <a:rPr sz="800" b="0" i="0">
                <a:solidFill>
                  <a:srgbClr val="555555"/>
                </a:solidFill>
              </a:rPr>
              <a:t>—</a:t>
            </a:r>
          </a:p>
        </p:txBody>
      </p:sp>
      <p:sp>
        <p:nvSpPr>
          <p:cNvPr id="87" name="TextBox 86"/>
          <p:cNvSpPr txBox="1"/>
          <p:nvPr/>
        </p:nvSpPr>
        <p:spPr>
          <a:xfrm>
            <a:off x="7775999" y="1915200"/>
            <a:ext cx="540000" cy="198000"/>
          </a:xfrm>
          <a:prstGeom prst="rect">
            <a:avLst/>
          </a:prstGeom>
          <a:noFill/>
        </p:spPr>
        <p:txBody>
          <a:bodyPr wrap="square">
            <a:spAutoFit/>
          </a:bodyPr>
          <a:lstStyle/>
          <a:p>
            <a:pPr algn="l"/>
            <a:r>
              <a:rPr sz="800" b="0" i="0">
                <a:solidFill>
                  <a:srgbClr val="555555"/>
                </a:solidFill>
              </a:rPr>
              <a:t>72</a:t>
            </a:r>
          </a:p>
        </p:txBody>
      </p:sp>
      <p:sp>
        <p:nvSpPr>
          <p:cNvPr id="88" name="Rectangle 87"/>
          <p:cNvSpPr/>
          <p:nvPr/>
        </p:nvSpPr>
        <p:spPr>
          <a:xfrm>
            <a:off x="6047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19999" y="2210400"/>
            <a:ext cx="576000" cy="198000"/>
          </a:xfrm>
          <a:prstGeom prst="rect">
            <a:avLst/>
          </a:prstGeom>
          <a:noFill/>
        </p:spPr>
        <p:txBody>
          <a:bodyPr wrap="square">
            <a:spAutoFit/>
          </a:bodyPr>
          <a:lstStyle/>
          <a:p>
            <a:pPr algn="l"/>
            <a:r>
              <a:rPr sz="800" b="1" i="0">
                <a:solidFill>
                  <a:srgbClr val="1B3A6B"/>
                </a:solidFill>
              </a:rPr>
              <a:t>HON</a:t>
            </a:r>
          </a:p>
        </p:txBody>
      </p:sp>
      <p:sp>
        <p:nvSpPr>
          <p:cNvPr id="90" name="TextBox 89"/>
          <p:cNvSpPr txBox="1"/>
          <p:nvPr/>
        </p:nvSpPr>
        <p:spPr>
          <a:xfrm>
            <a:off x="6695999" y="2210400"/>
            <a:ext cx="540000" cy="198000"/>
          </a:xfrm>
          <a:prstGeom prst="rect">
            <a:avLst/>
          </a:prstGeom>
          <a:noFill/>
        </p:spPr>
        <p:txBody>
          <a:bodyPr wrap="square">
            <a:spAutoFit/>
          </a:bodyPr>
          <a:lstStyle/>
          <a:p>
            <a:pPr algn="l"/>
            <a:r>
              <a:rPr sz="800" b="0" i="0">
                <a:solidFill>
                  <a:srgbClr val="1A7A4A"/>
                </a:solidFill>
              </a:rPr>
              <a:t>Surp.</a:t>
            </a:r>
          </a:p>
        </p:txBody>
      </p:sp>
      <p:sp>
        <p:nvSpPr>
          <p:cNvPr id="91" name="TextBox 90"/>
          <p:cNvSpPr txBox="1"/>
          <p:nvPr/>
        </p:nvSpPr>
        <p:spPr>
          <a:xfrm>
            <a:off x="7235999" y="2210400"/>
            <a:ext cx="540000" cy="198000"/>
          </a:xfrm>
          <a:prstGeom prst="rect">
            <a:avLst/>
          </a:prstGeom>
          <a:noFill/>
        </p:spPr>
        <p:txBody>
          <a:bodyPr wrap="square">
            <a:spAutoFit/>
          </a:bodyPr>
          <a:lstStyle/>
          <a:p>
            <a:pPr algn="l"/>
            <a:r>
              <a:rPr sz="800" b="0" i="0">
                <a:solidFill>
                  <a:srgbClr val="555555"/>
                </a:solidFill>
              </a:rPr>
              <a:t>—</a:t>
            </a:r>
          </a:p>
        </p:txBody>
      </p:sp>
      <p:sp>
        <p:nvSpPr>
          <p:cNvPr id="92" name="TextBox 91"/>
          <p:cNvSpPr txBox="1"/>
          <p:nvPr/>
        </p:nvSpPr>
        <p:spPr>
          <a:xfrm>
            <a:off x="7775999" y="2210400"/>
            <a:ext cx="540000" cy="198000"/>
          </a:xfrm>
          <a:prstGeom prst="rect">
            <a:avLst/>
          </a:prstGeom>
          <a:noFill/>
        </p:spPr>
        <p:txBody>
          <a:bodyPr wrap="square">
            <a:spAutoFit/>
          </a:bodyPr>
          <a:lstStyle/>
          <a:p>
            <a:pPr algn="l"/>
            <a:r>
              <a:rPr sz="800" b="0" i="0">
                <a:solidFill>
                  <a:srgbClr val="555555"/>
                </a:solidFill>
              </a:rPr>
              <a:t>72</a:t>
            </a:r>
          </a:p>
        </p:txBody>
      </p:sp>
      <p:sp>
        <p:nvSpPr>
          <p:cNvPr id="93" name="TextBox 92"/>
          <p:cNvSpPr txBox="1"/>
          <p:nvPr/>
        </p:nvSpPr>
        <p:spPr>
          <a:xfrm>
            <a:off x="6047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94" name="Rectangle 93"/>
          <p:cNvSpPr/>
          <p:nvPr/>
        </p:nvSpPr>
        <p:spPr>
          <a:xfrm>
            <a:off x="6047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19999" y="2700000"/>
            <a:ext cx="2484000" cy="666000"/>
          </a:xfrm>
          <a:prstGeom prst="rect">
            <a:avLst/>
          </a:prstGeom>
          <a:noFill/>
        </p:spPr>
        <p:txBody>
          <a:bodyPr wrap="square">
            <a:spAutoFit/>
          </a:bodyPr>
          <a:lstStyle/>
          <a:p>
            <a:pPr algn="l"/>
            <a:r>
              <a:rPr sz="750" b="0" i="0">
                <a:solidFill>
                  <a:srgbClr val="555555"/>
                </a:solidFill>
              </a:rPr>
              <a:t>Performance YTD +23.0% — momentum sectoriel positif</a:t>
            </a:r>
          </a:p>
        </p:txBody>
      </p:sp>
      <p:sp>
        <p:nvSpPr>
          <p:cNvPr id="96" name="TextBox 95"/>
          <p:cNvSpPr txBox="1"/>
          <p:nvPr/>
        </p:nvSpPr>
        <p:spPr>
          <a:xfrm>
            <a:off x="6047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97" name="Rectangle 96"/>
          <p:cNvSpPr/>
          <p:nvPr/>
        </p:nvSpPr>
        <p:spPr>
          <a:xfrm>
            <a:off x="6047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19999" y="3654000"/>
            <a:ext cx="2484000" cy="666000"/>
          </a:xfrm>
          <a:prstGeom prst="rect">
            <a:avLst/>
          </a:prstGeom>
          <a:noFill/>
        </p:spPr>
        <p:txBody>
          <a:bodyPr wrap="square">
            <a:spAutoFit/>
          </a:bodyPr>
          <a:lstStyle/>
          <a:p>
            <a:pPr algn="l"/>
            <a:r>
              <a:rPr sz="750" b="0" i="0">
                <a:solidFill>
                  <a:srgbClr val="555555"/>
                </a:solidFill>
              </a:rPr>
              <a:t>Risque de compression multiple si croissance BPA decelee</a:t>
            </a:r>
          </a:p>
        </p:txBody>
      </p:sp>
      <p:sp>
        <p:nvSpPr>
          <p:cNvPr id="99" name="Rectangle 9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 Sectorielles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par secteur  ·  Vert = Surponderer · Amber = Neutre · Rouge = Sous-ponderer</a:t>
            </a:r>
          </a:p>
        </p:txBody>
      </p:sp>
      <p:pic>
        <p:nvPicPr>
          <p:cNvPr id="15" name="Picture 14" descr="image.png"/>
          <p:cNvPicPr>
            <a:picLocks noChangeAspect="1"/>
          </p:cNvPicPr>
          <p:nvPr/>
        </p:nvPicPr>
        <p:blipFill>
          <a:blip r:embed="rId2"/>
          <a:stretch>
            <a:fillRect/>
          </a:stretch>
        </p:blipFill>
        <p:spPr>
          <a:xfrm>
            <a:off x="324000" y="827999"/>
            <a:ext cx="5040000" cy="3168000"/>
          </a:xfrm>
          <a:prstGeom prst="rect">
            <a:avLst/>
          </a:prstGeom>
        </p:spPr>
      </p:pic>
      <p:sp>
        <p:nvSpPr>
          <p:cNvPr id="16" name="Rectangle 15"/>
          <p:cNvSpPr/>
          <p:nvPr/>
        </p:nvSpPr>
        <p:spPr>
          <a:xfrm>
            <a:off x="5544000" y="827999"/>
            <a:ext cx="3276000" cy="316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44000" y="827999"/>
            <a:ext cx="43200" cy="316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52000" y="864000"/>
            <a:ext cx="3096000" cy="216000"/>
          </a:xfrm>
          <a:prstGeom prst="rect">
            <a:avLst/>
          </a:prstGeom>
          <a:noFill/>
        </p:spPr>
        <p:txBody>
          <a:bodyPr wrap="square">
            <a:spAutoFit/>
          </a:bodyPr>
          <a:lstStyle/>
          <a:p>
            <a:pPr algn="l"/>
            <a:r>
              <a:rPr sz="850" b="1" i="0">
                <a:solidFill>
                  <a:srgbClr val="1B3A6B"/>
                </a:solidFill>
              </a:rPr>
              <a:t>Lecture de la Distribution</a:t>
            </a:r>
          </a:p>
        </p:txBody>
      </p:sp>
      <p:sp>
        <p:nvSpPr>
          <p:cNvPr id="19" name="TextBox 18"/>
          <p:cNvSpPr txBox="1"/>
          <p:nvPr/>
        </p:nvSpPr>
        <p:spPr>
          <a:xfrm>
            <a:off x="5652000" y="1116000"/>
            <a:ext cx="3096000" cy="2808000"/>
          </a:xfrm>
          <a:prstGeom prst="rect">
            <a:avLst/>
          </a:prstGeom>
          <a:noFill/>
        </p:spPr>
        <p:txBody>
          <a:bodyPr wrap="square">
            <a:spAutoFit/>
          </a:bodyPr>
          <a:lstStyle/>
          <a:p>
            <a:pPr algn="l"/>
            <a:r>
              <a:rPr sz="800" b="0" i="0">
                <a:solidFill>
                  <a:srgbClr val="555555"/>
                </a:solidFill>
              </a:rPr>
              <a:t>Technology traite a 18.0x — prime de 50 % vs la mediane sectorielle (12.0x). Cette prime est justifiee par une croissance BPA structurellement elevee.
Energy offre la valorisation la plus attractive (6.0x) mais le signal Surponderer reflète les risques specifiques au secteur.
Mediane sectorielle : 12.0x EV/EBITDA — seuil de reference pour evaluer la cherté relative.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 par Secteur</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P/E actuel vs mediane historique 10 ans  ·  Signal d entree Accumuler / Neutre / Alleger</a:t>
            </a:r>
          </a:p>
        </p:txBody>
      </p:sp>
      <p:pic>
        <p:nvPicPr>
          <p:cNvPr id="15" name="Picture 14" descr="image.png"/>
          <p:cNvPicPr>
            <a:picLocks noChangeAspect="1"/>
          </p:cNvPicPr>
          <p:nvPr/>
        </p:nvPicPr>
        <p:blipFill>
          <a:blip r:embed="rId2"/>
          <a:stretch>
            <a:fillRect/>
          </a:stretch>
        </p:blipFill>
        <p:spPr>
          <a:xfrm>
            <a:off x="324000" y="827999"/>
            <a:ext cx="8496000" cy="2592000"/>
          </a:xfrm>
          <a:prstGeom prst="rect">
            <a:avLst/>
          </a:prstGeom>
        </p:spPr>
      </p:pic>
      <p:sp>
        <p:nvSpPr>
          <p:cNvPr id="16" name="Rectangle 15"/>
          <p:cNvSpPr/>
          <p:nvPr/>
        </p:nvSpPr>
        <p:spPr>
          <a:xfrm>
            <a:off x="324000" y="3564000"/>
            <a:ext cx="8496000" cy="124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564000"/>
            <a:ext cx="43200" cy="124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618000"/>
            <a:ext cx="8208000" cy="216000"/>
          </a:xfrm>
          <a:prstGeom prst="rect">
            <a:avLst/>
          </a:prstGeom>
          <a:noFill/>
        </p:spPr>
        <p:txBody>
          <a:bodyPr wrap="square">
            <a:spAutoFit/>
          </a:bodyPr>
          <a:lstStyle/>
          <a:p>
            <a:pPr algn="l"/>
            <a:r>
              <a:rPr sz="800" b="1" i="0">
                <a:solidFill>
                  <a:srgbClr val="1B3A6B"/>
                </a:solidFill>
              </a:rPr>
              <a:t>Lecture — Secteurs en zone d entree optimale</a:t>
            </a:r>
          </a:p>
        </p:txBody>
      </p:sp>
      <p:sp>
        <p:nvSpPr>
          <p:cNvPr id="19" name="TextBox 18"/>
          <p:cNvSpPr txBox="1"/>
          <p:nvPr/>
        </p:nvSpPr>
        <p:spPr>
          <a:xfrm>
            <a:off x="432000" y="3852000"/>
            <a:ext cx="8208000" cy="918000"/>
          </a:xfrm>
          <a:prstGeom prst="rect">
            <a:avLst/>
          </a:prstGeom>
          <a:noFill/>
        </p:spPr>
        <p:txBody>
          <a:bodyPr wrap="square">
            <a:spAutoFit/>
          </a:bodyPr>
          <a:lstStyle/>
          <a:p>
            <a:pPr algn="l"/>
            <a:r>
              <a:rPr sz="750" b="0" i="0">
                <a:solidFill>
                  <a:srgbClr val="555555"/>
                </a:solidFill>
              </a:rPr>
              <a:t>Aucun secteur Surponderer offrent les meilleures zones d entree parmi les secteurs recommandes : P/E Forward inferieur ou proche de la mediane historique 10 ans — profil risque/rendement favorable. Les secteurs au-dessus de la mediane (+20 %) meritent une prudence accrue sur le point d entree.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Rotation &amp; Sentiment</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Scenarios alternatifs · Rotation sectorielle · FinBERT · Performance ETF</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Macro &amp; Scenarios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adversariale  ·  3 scenarios alternatifs  ·  Conditions d invalidation du signal Surponderer</a:t>
            </a:r>
          </a:p>
        </p:txBody>
      </p:sp>
      <p:sp>
        <p:nvSpPr>
          <p:cNvPr id="15" name="Rectangle 14"/>
          <p:cNvSpPr/>
          <p:nvPr/>
        </p:nvSpPr>
        <p:spPr>
          <a:xfrm>
            <a:off x="324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70000"/>
          </a:xfrm>
          <a:prstGeom prst="rect">
            <a:avLst/>
          </a:prstGeom>
          <a:noFill/>
        </p:spPr>
        <p:txBody>
          <a:bodyPr wrap="square">
            <a:spAutoFit/>
          </a:bodyPr>
          <a:lstStyle/>
          <a:p>
            <a:pPr algn="l"/>
            <a:r>
              <a:rPr sz="900" b="1" i="0">
                <a:solidFill>
                  <a:srgbClr val="FFFFFF"/>
                </a:solidFill>
              </a:rPr>
              <a:t>Recession technique</a:t>
            </a:r>
          </a:p>
        </p:txBody>
      </p:sp>
      <p:sp>
        <p:nvSpPr>
          <p:cNvPr id="18" name="TextBox 17"/>
          <p:cNvSpPr txBox="1"/>
          <p:nvPr/>
        </p:nvSpPr>
        <p:spPr>
          <a:xfrm>
            <a:off x="2232000" y="864000"/>
            <a:ext cx="720000" cy="234000"/>
          </a:xfrm>
          <a:prstGeom prst="rect">
            <a:avLst/>
          </a:prstGeom>
          <a:noFill/>
        </p:spPr>
        <p:txBody>
          <a:bodyPr wrap="square">
            <a:spAutoFit/>
          </a:bodyPr>
          <a:lstStyle/>
          <a:p>
            <a:pPr algn="r"/>
            <a:r>
              <a:rPr sz="900" b="1" i="0">
                <a:solidFill>
                  <a:srgbClr val="FFFFFF"/>
                </a:solidFill>
              </a:rPr>
              <a:t>Prob. 18 %</a:t>
            </a:r>
          </a:p>
        </p:txBody>
      </p:sp>
      <p:sp>
        <p:nvSpPr>
          <p:cNvPr id="19" name="TextBox 18"/>
          <p:cNvSpPr txBox="1"/>
          <p:nvPr/>
        </p:nvSpPr>
        <p:spPr>
          <a:xfrm>
            <a:off x="396000" y="1170000"/>
            <a:ext cx="2592000" cy="1152000"/>
          </a:xfrm>
          <a:prstGeom prst="rect">
            <a:avLst/>
          </a:prstGeom>
          <a:noFill/>
        </p:spPr>
        <p:txBody>
          <a:bodyPr wrap="square">
            <a:spAutoFit/>
          </a:bodyPr>
          <a:lstStyle/>
          <a:p>
            <a:pPr algn="l"/>
            <a:r>
              <a:rPr sz="800" b="0" i="0">
                <a:solidFill>
                  <a:srgbClr val="555555"/>
                </a:solidFill>
              </a:rPr>
              <a:t>Deux trimestres PIB &lt; 0 % — revision BPA -15/-20 %. Signal passerait Sous-ponderer.</a:t>
            </a:r>
          </a:p>
        </p:txBody>
      </p:sp>
      <p:sp>
        <p:nvSpPr>
          <p:cNvPr id="20" name="Rectangle 19"/>
          <p:cNvSpPr/>
          <p:nvPr/>
        </p:nvSpPr>
        <p:spPr>
          <a:xfrm>
            <a:off x="3150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50000" y="827999"/>
            <a:ext cx="2700000" cy="30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1999" y="846000"/>
            <a:ext cx="1800000" cy="270000"/>
          </a:xfrm>
          <a:prstGeom prst="rect">
            <a:avLst/>
          </a:prstGeom>
          <a:noFill/>
        </p:spPr>
        <p:txBody>
          <a:bodyPr wrap="square">
            <a:spAutoFit/>
          </a:bodyPr>
          <a:lstStyle/>
          <a:p>
            <a:pPr algn="l"/>
            <a:r>
              <a:rPr sz="900" b="1" i="0">
                <a:solidFill>
                  <a:srgbClr val="FFFFFF"/>
                </a:solidFill>
              </a:rPr>
              <a:t>Resserrement Fed prolonge</a:t>
            </a:r>
          </a:p>
        </p:txBody>
      </p:sp>
      <p:sp>
        <p:nvSpPr>
          <p:cNvPr id="23" name="TextBox 22"/>
          <p:cNvSpPr txBox="1"/>
          <p:nvPr/>
        </p:nvSpPr>
        <p:spPr>
          <a:xfrm>
            <a:off x="5058000" y="864000"/>
            <a:ext cx="720000" cy="234000"/>
          </a:xfrm>
          <a:prstGeom prst="rect">
            <a:avLst/>
          </a:prstGeom>
          <a:noFill/>
        </p:spPr>
        <p:txBody>
          <a:bodyPr wrap="square">
            <a:spAutoFit/>
          </a:bodyPr>
          <a:lstStyle/>
          <a:p>
            <a:pPr algn="r"/>
            <a:r>
              <a:rPr sz="900" b="1" i="0">
                <a:solidFill>
                  <a:srgbClr val="FFFFFF"/>
                </a:solidFill>
              </a:rPr>
              <a:t>Prob. 35 %</a:t>
            </a:r>
          </a:p>
        </p:txBody>
      </p:sp>
      <p:sp>
        <p:nvSpPr>
          <p:cNvPr id="24" name="TextBox 23"/>
          <p:cNvSpPr txBox="1"/>
          <p:nvPr/>
        </p:nvSpPr>
        <p:spPr>
          <a:xfrm>
            <a:off x="3221999" y="1170000"/>
            <a:ext cx="2592000" cy="1152000"/>
          </a:xfrm>
          <a:prstGeom prst="rect">
            <a:avLst/>
          </a:prstGeom>
          <a:noFill/>
        </p:spPr>
        <p:txBody>
          <a:bodyPr wrap="square">
            <a:spAutoFit/>
          </a:bodyPr>
          <a:lstStyle/>
          <a:p>
            <a:pPr algn="l"/>
            <a:r>
              <a:rPr sz="800" b="0" i="0">
                <a:solidFill>
                  <a:srgbClr val="555555"/>
                </a:solidFill>
              </a:rPr>
              <a:t>Fed Funds &gt; 4,5 % jusqu en 2027 — compression multiples growth et rotation sectorielle.</a:t>
            </a:r>
          </a:p>
        </p:txBody>
      </p:sp>
      <p:sp>
        <p:nvSpPr>
          <p:cNvPr id="25" name="Rectangle 24"/>
          <p:cNvSpPr/>
          <p:nvPr/>
        </p:nvSpPr>
        <p:spPr>
          <a:xfrm>
            <a:off x="5975999"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75999"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47999" y="846000"/>
            <a:ext cx="1800000" cy="270000"/>
          </a:xfrm>
          <a:prstGeom prst="rect">
            <a:avLst/>
          </a:prstGeom>
          <a:noFill/>
        </p:spPr>
        <p:txBody>
          <a:bodyPr wrap="square">
            <a:spAutoFit/>
          </a:bodyPr>
          <a:lstStyle/>
          <a:p>
            <a:pPr algn="l"/>
            <a:r>
              <a:rPr sz="900" b="1" i="0">
                <a:solidFill>
                  <a:srgbClr val="FFFFFF"/>
                </a:solidFill>
              </a:rPr>
              <a:t>Choc geopolitique</a:t>
            </a:r>
          </a:p>
        </p:txBody>
      </p:sp>
      <p:sp>
        <p:nvSpPr>
          <p:cNvPr id="28" name="TextBox 27"/>
          <p:cNvSpPr txBox="1"/>
          <p:nvPr/>
        </p:nvSpPr>
        <p:spPr>
          <a:xfrm>
            <a:off x="7883999" y="864000"/>
            <a:ext cx="720000" cy="234000"/>
          </a:xfrm>
          <a:prstGeom prst="rect">
            <a:avLst/>
          </a:prstGeom>
          <a:noFill/>
        </p:spPr>
        <p:txBody>
          <a:bodyPr wrap="square">
            <a:spAutoFit/>
          </a:bodyPr>
          <a:lstStyle/>
          <a:p>
            <a:pPr algn="r"/>
            <a:r>
              <a:rPr sz="900" b="1" i="0">
                <a:solidFill>
                  <a:srgbClr val="FFFFFF"/>
                </a:solidFill>
              </a:rPr>
              <a:t>Prob. 20 %</a:t>
            </a:r>
          </a:p>
        </p:txBody>
      </p:sp>
      <p:sp>
        <p:nvSpPr>
          <p:cNvPr id="29" name="TextBox 28"/>
          <p:cNvSpPr txBox="1"/>
          <p:nvPr/>
        </p:nvSpPr>
        <p:spPr>
          <a:xfrm>
            <a:off x="6047999" y="1170000"/>
            <a:ext cx="2592000" cy="1152000"/>
          </a:xfrm>
          <a:prstGeom prst="rect">
            <a:avLst/>
          </a:prstGeom>
          <a:noFill/>
        </p:spPr>
        <p:txBody>
          <a:bodyPr wrap="square">
            <a:spAutoFit/>
          </a:bodyPr>
          <a:lstStyle/>
          <a:p>
            <a:pPr algn="l"/>
            <a:r>
              <a:rPr sz="800" b="0" i="0">
                <a:solidFill>
                  <a:srgbClr val="555555"/>
                </a:solidFill>
              </a:rPr>
              <a:t>Escalade geopolitique — spike VIX &gt; 35, rotation defensive vers Consumer Staples et Health Care.</a:t>
            </a:r>
          </a:p>
        </p:txBody>
      </p:sp>
      <p:sp>
        <p:nvSpPr>
          <p:cNvPr id="30" name="Rectangle 29"/>
          <p:cNvSpPr/>
          <p:nvPr/>
        </p:nvSpPr>
        <p:spPr>
          <a:xfrm>
            <a:off x="324000" y="2520000"/>
            <a:ext cx="8496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6000" y="2538000"/>
            <a:ext cx="8208000" cy="162000"/>
          </a:xfrm>
          <a:prstGeom prst="rect">
            <a:avLst/>
          </a:prstGeom>
          <a:noFill/>
        </p:spPr>
        <p:txBody>
          <a:bodyPr wrap="square">
            <a:spAutoFit/>
          </a:bodyPr>
          <a:lstStyle/>
          <a:p>
            <a:pPr algn="l"/>
            <a:r>
              <a:rPr sz="800" b="1" i="0">
                <a:solidFill>
                  <a:srgbClr val="FFFFFF"/>
                </a:solidFill>
              </a:rPr>
              <a:t>Conditions d'invalidation du signal SURPONDERER</a:t>
            </a:r>
          </a:p>
        </p:txBody>
      </p:sp>
      <p:sp>
        <p:nvSpPr>
          <p:cNvPr id="32" name="Rectangle 31"/>
          <p:cNvSpPr/>
          <p:nvPr/>
        </p:nvSpPr>
        <p:spPr>
          <a:xfrm>
            <a:off x="324000" y="2772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3999" y="2772000"/>
            <a:ext cx="8028000" cy="324000"/>
          </a:xfrm>
          <a:prstGeom prst="rect">
            <a:avLst/>
          </a:prstGeom>
          <a:noFill/>
        </p:spPr>
        <p:txBody>
          <a:bodyPr wrap="square">
            <a:spAutoFit/>
          </a:bodyPr>
          <a:lstStyle/>
          <a:p>
            <a:pPr algn="l"/>
            <a:r>
              <a:rPr sz="850" b="0" i="0">
                <a:solidFill>
                  <a:srgbClr val="555555"/>
                </a:solidFill>
              </a:rPr>
              <a:t>S&amp;P 500 casse le support 4 800 pts — signal bascule Sous-ponderer</a:t>
            </a:r>
          </a:p>
        </p:txBody>
      </p:sp>
      <p:sp>
        <p:nvSpPr>
          <p:cNvPr id="34" name="Rectangle 33"/>
          <p:cNvSpPr/>
          <p:nvPr/>
        </p:nvSpPr>
        <p:spPr>
          <a:xfrm>
            <a:off x="324000" y="3168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168000"/>
            <a:ext cx="8028000" cy="324000"/>
          </a:xfrm>
          <a:prstGeom prst="rect">
            <a:avLst/>
          </a:prstGeom>
          <a:noFill/>
        </p:spPr>
        <p:txBody>
          <a:bodyPr wrap="square">
            <a:spAutoFit/>
          </a:bodyPr>
          <a:lstStyle/>
          <a:p>
            <a:pPr algn="l"/>
            <a:r>
              <a:rPr sz="850" b="0" i="0">
                <a:solidFill>
                  <a:srgbClr val="555555"/>
                </a:solidFill>
              </a:rPr>
              <a:t>Fed hike inattendu post-CPI &gt; 3.5% — derating massif growth</a:t>
            </a:r>
          </a:p>
        </p:txBody>
      </p:sp>
      <p:sp>
        <p:nvSpPr>
          <p:cNvPr id="36" name="Rectangle 35"/>
          <p:cNvSpPr/>
          <p:nvPr/>
        </p:nvSpPr>
        <p:spPr>
          <a:xfrm>
            <a:off x="324000" y="3564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3999" y="3564000"/>
            <a:ext cx="8028000" cy="324000"/>
          </a:xfrm>
          <a:prstGeom prst="rect">
            <a:avLst/>
          </a:prstGeom>
          <a:noFill/>
        </p:spPr>
        <p:txBody>
          <a:bodyPr wrap="square">
            <a:spAutoFit/>
          </a:bodyPr>
          <a:lstStyle/>
          <a:p>
            <a:pPr algn="l"/>
            <a:r>
              <a:rPr sz="850" b="0" i="0">
                <a:solidFill>
                  <a:srgbClr val="555555"/>
                </a:solidFill>
              </a:rPr>
              <a:t>Revisions BPA agragees &lt; -5% sur 2 trimestres consecutifs</a:t>
            </a:r>
          </a:p>
        </p:txBody>
      </p:sp>
      <p:sp>
        <p:nvSpPr>
          <p:cNvPr id="38" name="Rectangle 37"/>
          <p:cNvSpPr/>
          <p:nvPr/>
        </p:nvSpPr>
        <p:spPr>
          <a:xfrm>
            <a:off x="324000" y="3960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3999" y="3960000"/>
            <a:ext cx="8028000" cy="324000"/>
          </a:xfrm>
          <a:prstGeom prst="rect">
            <a:avLst/>
          </a:prstGeom>
          <a:noFill/>
        </p:spPr>
        <p:txBody>
          <a:bodyPr wrap="square">
            <a:spAutoFit/>
          </a:bodyPr>
          <a:lstStyle/>
          <a:p>
            <a:pPr algn="l"/>
            <a:r>
              <a:rPr sz="850" b="0" i="0">
                <a:solidFill>
                  <a:srgbClr val="555555"/>
                </a:solidFill>
              </a:rPr>
              <a:t>VIX &gt; 35 sur plus de 10 seances consecutives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Rotation Sectorielle &amp; Cycle Economique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S&amp;P 500  ·  Phase actuelle : Expansion avancee  ·  Sensibilites taux/PIB  ·  Signal de rotation</a:t>
            </a:r>
          </a:p>
        </p:txBody>
      </p:sp>
      <p:graphicFrame>
        <p:nvGraphicFramePr>
          <p:cNvPr id="15" name="Table 14"/>
          <p:cNvGraphicFramePr>
            <a:graphicFrameLocks noGrp="1"/>
          </p:cNvGraphicFramePr>
          <p:nvPr/>
        </p:nvGraphicFramePr>
        <p:xfrm>
          <a:off x="324000" y="827999"/>
          <a:ext cx="8495999" cy="2808000"/>
        </p:xfrm>
        <a:graphic>
          <a:graphicData uri="http://schemas.openxmlformats.org/drawingml/2006/table">
            <a:tbl>
              <a:tblPr firstRow="1" bandRow="1">
                <a:tableStyleId>{5C22544A-7EE6-4342-B048-85BDC9FD1C3A}</a:tableStyleId>
              </a:tblPr>
              <a:tblGrid>
                <a:gridCol w="2184685"/>
                <a:gridCol w="1699200"/>
                <a:gridCol w="1456457"/>
                <a:gridCol w="1456457"/>
                <a:gridCol w="1699200"/>
              </a:tblGrid>
              <a:tr h="234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Phase favorisee</a:t>
                      </a:r>
                    </a:p>
                  </a:txBody>
                  <a:tcPr>
                    <a:solidFill>
                      <a:srgbClr val="1B3A6B"/>
                    </a:solidFill>
                  </a:tcPr>
                </a:tc>
                <a:tc>
                  <a:txBody>
                    <a:bodyPr/>
                    <a:lstStyle/>
                    <a:p>
                      <a:pPr algn="ctr"/>
                      <a:r>
                        <a:rPr sz="800" b="1">
                          <a:solidFill>
                            <a:srgbClr val="FFFFFF"/>
                          </a:solidFill>
                        </a:rPr>
                        <a:t>Sens. Taux</a:t>
                      </a:r>
                    </a:p>
                  </a:txBody>
                  <a:tcPr>
                    <a:solidFill>
                      <a:srgbClr val="1B3A6B"/>
                    </a:solidFill>
                  </a:tcPr>
                </a:tc>
                <a:tc>
                  <a:txBody>
                    <a:bodyPr/>
                    <a:lstStyle/>
                    <a:p>
                      <a:pPr algn="ctr"/>
                      <a:r>
                        <a:rPr sz="800" b="1">
                          <a:solidFill>
                            <a:srgbClr val="FFFFFF"/>
                          </a:solidFill>
                        </a:rPr>
                        <a:t>Sens. PIB</a:t>
                      </a:r>
                    </a:p>
                  </a:txBody>
                  <a:tcPr>
                    <a:solidFill>
                      <a:srgbClr val="1B3A6B"/>
                    </a:solidFill>
                  </a:tcPr>
                </a:tc>
                <a:tc>
                  <a:txBody>
                    <a:bodyPr/>
                    <a:lstStyle/>
                    <a:p>
                      <a:pPr algn="ctr"/>
                      <a:r>
                        <a:rPr sz="800" b="1">
                          <a:solidFill>
                            <a:srgbClr val="FFFFFF"/>
                          </a:solidFill>
                        </a:rPr>
                        <a:t>Signal Rotation</a:t>
                      </a:r>
                    </a:p>
                  </a:txBody>
                  <a:tcPr>
                    <a:solidFill>
                      <a:srgbClr val="1B3A6B"/>
                    </a:solidFill>
                  </a:tcPr>
                </a:tc>
              </a:tr>
              <a:tr h="234000">
                <a:tc>
                  <a:txBody>
                    <a:bodyPr/>
                    <a:lstStyle/>
                    <a:p>
                      <a:pPr algn="ctr"/>
                      <a:r>
                        <a:rPr sz="800" b="0">
                          <a:solidFill>
                            <a:srgbClr val="1A1A1A"/>
                          </a:solidFill>
                        </a:rPr>
                        <a:t>Technology</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Faible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Financials</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Positive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Discret.</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Staples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Energy</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Alleger</a:t>
                      </a:r>
                    </a:p>
                  </a:txBody>
                  <a:tcPr>
                    <a:solidFill>
                      <a:srgbClr val="FDF3E5"/>
                    </a:solidFill>
                  </a:tcPr>
                </a:tc>
              </a:tr>
              <a:tr h="234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Ralentissement</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Alleger</a:t>
                      </a:r>
                    </a:p>
                  </a:txBody>
                  <a:tcPr>
                    <a:solidFill>
                      <a:srgbClr val="FDF3E5"/>
                    </a:solidFill>
                  </a:tcPr>
                </a:tc>
              </a:tr>
              <a:tr h="234000">
                <a:tc>
                  <a:txBody>
                    <a:bodyPr/>
                    <a:lstStyle/>
                    <a:p>
                      <a:pPr algn="ctr"/>
                      <a:r>
                        <a:rPr sz="800" b="0">
                          <a:solidFill>
                            <a:srgbClr val="1A1A1A"/>
                          </a:solidFill>
                        </a:rPr>
                        <a:t>Utilities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Alleger</a:t>
                      </a:r>
                    </a:p>
                  </a:txBody>
                  <a:tcPr>
                    <a:solidFill>
                      <a:srgbClr val="FDF3E5"/>
                    </a:solid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Positionnement de cycle — Synthese et catalyseur de rotation</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La rotation sectorielle recommandee s'appuie sur le modele cycle 4-phases FinSight. En phase d'expansion avancee, le signal Accumuler se concentre sur les secteurs a forte croissance BPA et pricing power : Technology (IA), Health Care (FDA pipeline), Financials (NIM). Le signal Alleger cible Real Estate (pression taux directe) et Utilities...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FinBERT Agrege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semantique FinBERT  ·  34 articles  ·  7 jours glissants  ·  11 secteurs</a:t>
            </a:r>
          </a:p>
        </p:txBody>
      </p:sp>
      <p:sp>
        <p:nvSpPr>
          <p:cNvPr id="15" name="Rectangle 14"/>
          <p:cNvSpPr/>
          <p:nvPr/>
        </p:nvSpPr>
        <p:spPr>
          <a:xfrm>
            <a:off x="324000" y="827999"/>
            <a:ext cx="2088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00000"/>
            <a:ext cx="1908000" cy="576000"/>
          </a:xfrm>
          <a:prstGeom prst="rect">
            <a:avLst/>
          </a:prstGeom>
          <a:noFill/>
        </p:spPr>
        <p:txBody>
          <a:bodyPr wrap="square">
            <a:spAutoFit/>
          </a:bodyPr>
          <a:lstStyle/>
          <a:p>
            <a:pPr algn="l"/>
            <a:r>
              <a:rPr sz="3200" b="1" i="0">
                <a:solidFill>
                  <a:srgbClr val="1A7A4A"/>
                </a:solidFill>
              </a:rPr>
              <a:t>0.060</a:t>
            </a:r>
          </a:p>
        </p:txBody>
      </p:sp>
      <p:sp>
        <p:nvSpPr>
          <p:cNvPr id="18" name="TextBox 17"/>
          <p:cNvSpPr txBox="1"/>
          <p:nvPr/>
        </p:nvSpPr>
        <p:spPr>
          <a:xfrm>
            <a:off x="432000" y="1458000"/>
            <a:ext cx="1908000" cy="198000"/>
          </a:xfrm>
          <a:prstGeom prst="rect">
            <a:avLst/>
          </a:prstGeom>
          <a:noFill/>
        </p:spPr>
        <p:txBody>
          <a:bodyPr wrap="square">
            <a:spAutoFit/>
          </a:bodyPr>
          <a:lstStyle/>
          <a:p>
            <a:pPr algn="l"/>
            <a:r>
              <a:rPr sz="800" b="0" i="0">
                <a:solidFill>
                  <a:srgbClr val="555555"/>
                </a:solidFill>
              </a:rPr>
              <a:t>Score agrege FinBERT</a:t>
            </a:r>
          </a:p>
        </p:txBody>
      </p:sp>
      <p:sp>
        <p:nvSpPr>
          <p:cNvPr id="19" name="TextBox 18"/>
          <p:cNvSpPr txBox="1"/>
          <p:nvPr/>
        </p:nvSpPr>
        <p:spPr>
          <a:xfrm>
            <a:off x="432000" y="1638000"/>
            <a:ext cx="1908000" cy="180000"/>
          </a:xfrm>
          <a:prstGeom prst="rect">
            <a:avLst/>
          </a:prstGeom>
          <a:noFill/>
        </p:spPr>
        <p:txBody>
          <a:bodyPr wrap="square">
            <a:spAutoFit/>
          </a:bodyPr>
          <a:lstStyle/>
          <a:p>
            <a:pPr algn="l"/>
            <a:r>
              <a:rPr sz="850" b="1" i="0">
                <a:solidFill>
                  <a:srgbClr val="1A7A4A"/>
                </a:solidFill>
              </a:rPr>
              <a:t>Neutre</a:t>
            </a:r>
          </a:p>
        </p:txBody>
      </p:sp>
      <p:sp>
        <p:nvSpPr>
          <p:cNvPr id="20" name="Rectangle 19"/>
          <p:cNvSpPr/>
          <p:nvPr/>
        </p:nvSpPr>
        <p:spPr>
          <a:xfrm>
            <a:off x="2592000" y="827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92000" y="827999"/>
            <a:ext cx="1235520" cy="36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64000" y="845999"/>
            <a:ext cx="1080000" cy="162000"/>
          </a:xfrm>
          <a:prstGeom prst="rect">
            <a:avLst/>
          </a:prstGeom>
          <a:noFill/>
        </p:spPr>
        <p:txBody>
          <a:bodyPr wrap="square">
            <a:spAutoFit/>
          </a:bodyPr>
          <a:lstStyle/>
          <a:p>
            <a:pPr algn="l"/>
            <a:r>
              <a:rPr sz="850" b="1" i="0">
                <a:solidFill>
                  <a:srgbClr val="FFFFFF"/>
                </a:solidFill>
              </a:rPr>
              <a:t>Positif</a:t>
            </a:r>
          </a:p>
        </p:txBody>
      </p:sp>
      <p:sp>
        <p:nvSpPr>
          <p:cNvPr id="23" name="TextBox 22"/>
          <p:cNvSpPr txBox="1"/>
          <p:nvPr/>
        </p:nvSpPr>
        <p:spPr>
          <a:xfrm>
            <a:off x="2664000" y="1007999"/>
            <a:ext cx="2520000" cy="162000"/>
          </a:xfrm>
          <a:prstGeom prst="rect">
            <a:avLst/>
          </a:prstGeom>
          <a:noFill/>
        </p:spPr>
        <p:txBody>
          <a:bodyPr wrap="square">
            <a:spAutoFit/>
          </a:bodyPr>
          <a:lstStyle/>
          <a:p>
            <a:pPr algn="l"/>
            <a:r>
              <a:rPr sz="800" b="0" i="0">
                <a:solidFill>
                  <a:srgbClr val="FFFFFF"/>
                </a:solidFill>
              </a:rPr>
              <a:t>15 articles (44 %)</a:t>
            </a:r>
          </a:p>
        </p:txBody>
      </p:sp>
      <p:sp>
        <p:nvSpPr>
          <p:cNvPr id="24" name="Rectangle 23"/>
          <p:cNvSpPr/>
          <p:nvPr/>
        </p:nvSpPr>
        <p:spPr>
          <a:xfrm>
            <a:off x="2592000" y="1242000"/>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000" y="1242000"/>
            <a:ext cx="982800" cy="3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4000" y="1259999"/>
            <a:ext cx="1080000" cy="162000"/>
          </a:xfrm>
          <a:prstGeom prst="rect">
            <a:avLst/>
          </a:prstGeom>
          <a:noFill/>
        </p:spPr>
        <p:txBody>
          <a:bodyPr wrap="square">
            <a:spAutoFit/>
          </a:bodyPr>
          <a:lstStyle/>
          <a:p>
            <a:pPr algn="l"/>
            <a:r>
              <a:rPr sz="850" b="1" i="0">
                <a:solidFill>
                  <a:srgbClr val="FFFFFF"/>
                </a:solidFill>
              </a:rPr>
              <a:t>Neutre</a:t>
            </a:r>
          </a:p>
        </p:txBody>
      </p:sp>
      <p:sp>
        <p:nvSpPr>
          <p:cNvPr id="27" name="TextBox 26"/>
          <p:cNvSpPr txBox="1"/>
          <p:nvPr/>
        </p:nvSpPr>
        <p:spPr>
          <a:xfrm>
            <a:off x="2664000" y="1422000"/>
            <a:ext cx="2520000" cy="162000"/>
          </a:xfrm>
          <a:prstGeom prst="rect">
            <a:avLst/>
          </a:prstGeom>
          <a:noFill/>
        </p:spPr>
        <p:txBody>
          <a:bodyPr wrap="square">
            <a:spAutoFit/>
          </a:bodyPr>
          <a:lstStyle/>
          <a:p>
            <a:pPr algn="l"/>
            <a:r>
              <a:rPr sz="800" b="0" i="0">
                <a:solidFill>
                  <a:srgbClr val="FFFFFF"/>
                </a:solidFill>
              </a:rPr>
              <a:t>12 articles (35 %)</a:t>
            </a:r>
          </a:p>
        </p:txBody>
      </p:sp>
      <p:sp>
        <p:nvSpPr>
          <p:cNvPr id="28" name="Rectangle 27"/>
          <p:cNvSpPr/>
          <p:nvPr/>
        </p:nvSpPr>
        <p:spPr>
          <a:xfrm>
            <a:off x="2592000" y="1655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000" y="1655999"/>
            <a:ext cx="589680" cy="36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64000" y="1673999"/>
            <a:ext cx="1080000" cy="162000"/>
          </a:xfrm>
          <a:prstGeom prst="rect">
            <a:avLst/>
          </a:prstGeom>
          <a:noFill/>
        </p:spPr>
        <p:txBody>
          <a:bodyPr wrap="square">
            <a:spAutoFit/>
          </a:bodyPr>
          <a:lstStyle/>
          <a:p>
            <a:pPr algn="l"/>
            <a:r>
              <a:rPr sz="850" b="1" i="0">
                <a:solidFill>
                  <a:srgbClr val="1A1A1A"/>
                </a:solidFill>
              </a:rPr>
              <a:t>Negatif</a:t>
            </a:r>
          </a:p>
        </p:txBody>
      </p:sp>
      <p:sp>
        <p:nvSpPr>
          <p:cNvPr id="31" name="TextBox 30"/>
          <p:cNvSpPr txBox="1"/>
          <p:nvPr/>
        </p:nvSpPr>
        <p:spPr>
          <a:xfrm>
            <a:off x="2664000" y="1835999"/>
            <a:ext cx="2520000" cy="162000"/>
          </a:xfrm>
          <a:prstGeom prst="rect">
            <a:avLst/>
          </a:prstGeom>
          <a:noFill/>
        </p:spPr>
        <p:txBody>
          <a:bodyPr wrap="square">
            <a:spAutoFit/>
          </a:bodyPr>
          <a:lstStyle/>
          <a:p>
            <a:pPr algn="l"/>
            <a:r>
              <a:rPr sz="800" b="0" i="0">
                <a:solidFill>
                  <a:srgbClr val="1A1A1A"/>
                </a:solidFill>
              </a:rPr>
              <a:t>7 articles (21 %)</a:t>
            </a:r>
          </a:p>
        </p:txBody>
      </p:sp>
      <p:sp>
        <p:nvSpPr>
          <p:cNvPr id="32" name="TextBox 31"/>
          <p:cNvSpPr txBox="1"/>
          <p:nvPr/>
        </p:nvSpPr>
        <p:spPr>
          <a:xfrm>
            <a:off x="5580000" y="827999"/>
            <a:ext cx="3168000" cy="180000"/>
          </a:xfrm>
          <a:prstGeom prst="rect">
            <a:avLst/>
          </a:prstGeom>
          <a:noFill/>
        </p:spPr>
        <p:txBody>
          <a:bodyPr wrap="square">
            <a:spAutoFit/>
          </a:bodyPr>
          <a:lstStyle/>
          <a:p>
            <a:pPr algn="l"/>
            <a:r>
              <a:rPr sz="850" b="1" i="0">
                <a:solidFill>
                  <a:srgbClr val="1B3A6B"/>
                </a:solidFill>
              </a:rPr>
              <a:t>Themes dominants</a:t>
            </a:r>
          </a:p>
        </p:txBody>
      </p:sp>
      <p:sp>
        <p:nvSpPr>
          <p:cNvPr id="33" name="Rectangle 32"/>
          <p:cNvSpPr/>
          <p:nvPr/>
        </p:nvSpPr>
        <p:spPr>
          <a:xfrm>
            <a:off x="5580000" y="1044000"/>
            <a:ext cx="3168000" cy="45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2000" y="1062000"/>
            <a:ext cx="3024000" cy="413999"/>
          </a:xfrm>
          <a:prstGeom prst="rect">
            <a:avLst/>
          </a:prstGeom>
          <a:noFill/>
        </p:spPr>
        <p:txBody>
          <a:bodyPr wrap="square">
            <a:spAutoFit/>
          </a:bodyPr>
          <a:lstStyle/>
          <a:p>
            <a:pPr algn="l"/>
            <a:r>
              <a:rPr sz="800" b="0" i="0">
                <a:solidFill>
                  <a:srgbClr val="555555"/>
                </a:solidFill>
              </a:rPr>
              <a:t>+ Resultats T4  ·  Cycle IA  ·  Innovation semi</a:t>
            </a:r>
          </a:p>
        </p:txBody>
      </p:sp>
      <p:sp>
        <p:nvSpPr>
          <p:cNvPr id="35" name="Rectangle 34"/>
          <p:cNvSpPr/>
          <p:nvPr/>
        </p:nvSpPr>
        <p:spPr>
          <a:xfrm>
            <a:off x="5580000" y="1530000"/>
            <a:ext cx="3168000" cy="45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52000" y="1548000"/>
            <a:ext cx="3024000" cy="413999"/>
          </a:xfrm>
          <a:prstGeom prst="rect">
            <a:avLst/>
          </a:prstGeom>
          <a:noFill/>
        </p:spPr>
        <p:txBody>
          <a:bodyPr wrap="square">
            <a:spAutoFit/>
          </a:bodyPr>
          <a:lstStyle/>
          <a:p>
            <a:pPr algn="l"/>
            <a:r>
              <a:rPr sz="800" b="0" i="0">
                <a:solidFill>
                  <a:srgbClr val="555555"/>
                </a:solidFill>
              </a:rPr>
              <a:t>- Regulation  ·  Taux LT  ·  CRE</a:t>
            </a:r>
          </a:p>
        </p:txBody>
      </p:sp>
      <p:sp>
        <p:nvSpPr>
          <p:cNvPr id="37" name="TextBox 36"/>
          <p:cNvSpPr txBox="1"/>
          <p:nvPr/>
        </p:nvSpPr>
        <p:spPr>
          <a:xfrm>
            <a:off x="324000" y="2124000"/>
            <a:ext cx="8496000" cy="198000"/>
          </a:xfrm>
          <a:prstGeom prst="rect">
            <a:avLst/>
          </a:prstGeom>
          <a:noFill/>
        </p:spPr>
        <p:txBody>
          <a:bodyPr wrap="square">
            <a:spAutoFit/>
          </a:bodyPr>
          <a:lstStyle/>
          <a:p>
            <a:pPr algn="l"/>
            <a:r>
              <a:rPr sz="800" b="1" i="0">
                <a:solidFill>
                  <a:srgbClr val="1B3A6B"/>
                </a:solidFill>
              </a:rPr>
              <a:t>Distribution sentiment par secteur</a:t>
            </a:r>
          </a:p>
        </p:txBody>
      </p:sp>
      <p:pic>
        <p:nvPicPr>
          <p:cNvPr id="38" name="Picture 37" descr="image.png"/>
          <p:cNvPicPr>
            <a:picLocks noChangeAspect="1"/>
          </p:cNvPicPr>
          <p:nvPr/>
        </p:nvPicPr>
        <p:blipFill>
          <a:blip r:embed="rId2"/>
          <a:stretch>
            <a:fillRect/>
          </a:stretch>
        </p:blipFill>
        <p:spPr>
          <a:xfrm>
            <a:off x="324000" y="2340000"/>
            <a:ext cx="8496000" cy="2520000"/>
          </a:xfrm>
          <a:prstGeom prst="rect">
            <a:avLst/>
          </a:prstGeom>
        </p:spPr>
      </p:pic>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des ETF Sectoriels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1A1A1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S&amp;P 500  ·  ETF SPDR sectoriels  ·  Indexe a 100 au debut de la periode  ·  Donnees yfinance</a:t>
            </a:r>
          </a:p>
        </p:txBody>
      </p:sp>
      <p:pic>
        <p:nvPicPr>
          <p:cNvPr id="15" name="Picture 14" descr="image.png"/>
          <p:cNvPicPr>
            <a:picLocks noChangeAspect="1"/>
          </p:cNvPicPr>
          <p:nvPr/>
        </p:nvPicPr>
        <p:blipFill>
          <a:blip r:embed="rId2"/>
          <a:stretch>
            <a:fillRect/>
          </a:stretch>
        </p:blipFill>
        <p:spPr>
          <a:xfrm>
            <a:off x="324000" y="827999"/>
            <a:ext cx="5400000" cy="3996000"/>
          </a:xfrm>
          <a:prstGeom prst="rect">
            <a:avLst/>
          </a:prstGeom>
        </p:spPr>
      </p:pic>
      <p:sp>
        <p:nvSpPr>
          <p:cNvPr id="16" name="Rectangle 15"/>
          <p:cNvSpPr/>
          <p:nvPr/>
        </p:nvSpPr>
        <p:spPr>
          <a:xfrm>
            <a:off x="5903999" y="827999"/>
            <a:ext cx="2916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03999" y="827999"/>
            <a:ext cx="2916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46000"/>
            <a:ext cx="2808000" cy="198000"/>
          </a:xfrm>
          <a:prstGeom prst="rect">
            <a:avLst/>
          </a:prstGeom>
          <a:noFill/>
        </p:spPr>
        <p:txBody>
          <a:bodyPr wrap="square">
            <a:spAutoFit/>
          </a:bodyPr>
          <a:lstStyle/>
          <a:p>
            <a:pPr algn="l"/>
            <a:r>
              <a:rPr sz="800" b="1" i="0">
                <a:solidFill>
                  <a:srgbClr val="FFFFFF"/>
                </a:solidFill>
              </a:rPr>
              <a:t>Legende ETF SPDR</a:t>
            </a:r>
          </a:p>
        </p:txBody>
      </p:sp>
      <p:sp>
        <p:nvSpPr>
          <p:cNvPr id="19" name="Rectangle 18"/>
          <p:cNvSpPr/>
          <p:nvPr/>
        </p:nvSpPr>
        <p:spPr>
          <a:xfrm>
            <a:off x="5940000" y="1188000"/>
            <a:ext cx="180000" cy="1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2000" y="1134000"/>
            <a:ext cx="2556000" cy="198000"/>
          </a:xfrm>
          <a:prstGeom prst="rect">
            <a:avLst/>
          </a:prstGeom>
          <a:noFill/>
        </p:spPr>
        <p:txBody>
          <a:bodyPr wrap="square">
            <a:spAutoFit/>
          </a:bodyPr>
          <a:lstStyle/>
          <a:p>
            <a:pPr algn="l"/>
            <a:r>
              <a:rPr sz="750" b="1" i="0">
                <a:solidFill>
                  <a:srgbClr val="1B3A6B"/>
                </a:solidFill>
              </a:rPr>
              <a:t>XLE  —  Energy</a:t>
            </a:r>
          </a:p>
        </p:txBody>
      </p:sp>
      <p:sp>
        <p:nvSpPr>
          <p:cNvPr id="21" name="TextBox 20"/>
          <p:cNvSpPr txBox="1"/>
          <p:nvPr/>
        </p:nvSpPr>
        <p:spPr>
          <a:xfrm>
            <a:off x="6192000" y="1332000"/>
            <a:ext cx="2556000" cy="198000"/>
          </a:xfrm>
          <a:prstGeom prst="rect">
            <a:avLst/>
          </a:prstGeom>
          <a:noFill/>
        </p:spPr>
        <p:txBody>
          <a:bodyPr wrap="square">
            <a:spAutoFit/>
          </a:bodyPr>
          <a:lstStyle/>
          <a:p>
            <a:pPr algn="l"/>
            <a:r>
              <a:rPr sz="800" b="1" i="0">
                <a:solidFill>
                  <a:srgbClr val="1A7A4A"/>
                </a:solidFill>
              </a:rPr>
              <a:t>+60.4 %</a:t>
            </a:r>
          </a:p>
        </p:txBody>
      </p:sp>
      <p:sp>
        <p:nvSpPr>
          <p:cNvPr id="22" name="Rectangle 21"/>
          <p:cNvSpPr/>
          <p:nvPr/>
        </p:nvSpPr>
        <p:spPr>
          <a:xfrm>
            <a:off x="5940000" y="1620000"/>
            <a:ext cx="180000" cy="125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2000" y="1565999"/>
            <a:ext cx="2556000" cy="198000"/>
          </a:xfrm>
          <a:prstGeom prst="rect">
            <a:avLst/>
          </a:prstGeom>
          <a:noFill/>
        </p:spPr>
        <p:txBody>
          <a:bodyPr wrap="square">
            <a:spAutoFit/>
          </a:bodyPr>
          <a:lstStyle/>
          <a:p>
            <a:pPr algn="l"/>
            <a:r>
              <a:rPr sz="750" b="1" i="0">
                <a:solidFill>
                  <a:srgbClr val="1B3A6B"/>
                </a:solidFill>
              </a:rPr>
              <a:t>XLK  —  Technology</a:t>
            </a:r>
          </a:p>
        </p:txBody>
      </p:sp>
      <p:sp>
        <p:nvSpPr>
          <p:cNvPr id="24" name="TextBox 23"/>
          <p:cNvSpPr txBox="1"/>
          <p:nvPr/>
        </p:nvSpPr>
        <p:spPr>
          <a:xfrm>
            <a:off x="6192000" y="1763999"/>
            <a:ext cx="2556000" cy="198000"/>
          </a:xfrm>
          <a:prstGeom prst="rect">
            <a:avLst/>
          </a:prstGeom>
          <a:noFill/>
        </p:spPr>
        <p:txBody>
          <a:bodyPr wrap="square">
            <a:spAutoFit/>
          </a:bodyPr>
          <a:lstStyle/>
          <a:p>
            <a:pPr algn="l"/>
            <a:r>
              <a:rPr sz="800" b="1" i="0">
                <a:solidFill>
                  <a:srgbClr val="1A7A4A"/>
                </a:solidFill>
              </a:rPr>
              <a:t>+24.5 %</a:t>
            </a:r>
          </a:p>
        </p:txBody>
      </p:sp>
      <p:sp>
        <p:nvSpPr>
          <p:cNvPr id="25" name="Rectangle 24"/>
          <p:cNvSpPr/>
          <p:nvPr/>
        </p:nvSpPr>
        <p:spPr>
          <a:xfrm>
            <a:off x="5940000" y="2052000"/>
            <a:ext cx="180000" cy="125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2000" y="1998000"/>
            <a:ext cx="2556000" cy="198000"/>
          </a:xfrm>
          <a:prstGeom prst="rect">
            <a:avLst/>
          </a:prstGeom>
          <a:noFill/>
        </p:spPr>
        <p:txBody>
          <a:bodyPr wrap="square">
            <a:spAutoFit/>
          </a:bodyPr>
          <a:lstStyle/>
          <a:p>
            <a:pPr algn="l"/>
            <a:r>
              <a:rPr sz="750" b="1" i="0">
                <a:solidFill>
                  <a:srgbClr val="1B3A6B"/>
                </a:solidFill>
              </a:rPr>
              <a:t>XLI  —  Industrials</a:t>
            </a:r>
          </a:p>
        </p:txBody>
      </p:sp>
      <p:sp>
        <p:nvSpPr>
          <p:cNvPr id="27" name="TextBox 26"/>
          <p:cNvSpPr txBox="1"/>
          <p:nvPr/>
        </p:nvSpPr>
        <p:spPr>
          <a:xfrm>
            <a:off x="6192000" y="2196000"/>
            <a:ext cx="2556000" cy="198000"/>
          </a:xfrm>
          <a:prstGeom prst="rect">
            <a:avLst/>
          </a:prstGeom>
          <a:noFill/>
        </p:spPr>
        <p:txBody>
          <a:bodyPr wrap="square">
            <a:spAutoFit/>
          </a:bodyPr>
          <a:lstStyle/>
          <a:p>
            <a:pPr algn="l"/>
            <a:r>
              <a:rPr sz="800" b="1" i="0">
                <a:solidFill>
                  <a:srgbClr val="1A7A4A"/>
                </a:solidFill>
              </a:rPr>
              <a:t>+23.0 %</a:t>
            </a:r>
          </a:p>
        </p:txBody>
      </p:sp>
      <p:sp>
        <p:nvSpPr>
          <p:cNvPr id="28" name="Rectangle 27"/>
          <p:cNvSpPr/>
          <p:nvPr/>
        </p:nvSpPr>
        <p:spPr>
          <a:xfrm>
            <a:off x="5940000" y="2484000"/>
            <a:ext cx="180000" cy="125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2000" y="2430000"/>
            <a:ext cx="2556000" cy="198000"/>
          </a:xfrm>
          <a:prstGeom prst="rect">
            <a:avLst/>
          </a:prstGeom>
          <a:noFill/>
        </p:spPr>
        <p:txBody>
          <a:bodyPr wrap="square">
            <a:spAutoFit/>
          </a:bodyPr>
          <a:lstStyle/>
          <a:p>
            <a:pPr algn="l"/>
            <a:r>
              <a:rPr sz="750" b="1" i="0">
                <a:solidFill>
                  <a:srgbClr val="1B3A6B"/>
                </a:solidFill>
              </a:rPr>
              <a:t>XLU  —  Utilities</a:t>
            </a:r>
          </a:p>
        </p:txBody>
      </p:sp>
      <p:sp>
        <p:nvSpPr>
          <p:cNvPr id="30" name="TextBox 29"/>
          <p:cNvSpPr txBox="1"/>
          <p:nvPr/>
        </p:nvSpPr>
        <p:spPr>
          <a:xfrm>
            <a:off x="6192000" y="2628000"/>
            <a:ext cx="2556000" cy="198000"/>
          </a:xfrm>
          <a:prstGeom prst="rect">
            <a:avLst/>
          </a:prstGeom>
          <a:noFill/>
        </p:spPr>
        <p:txBody>
          <a:bodyPr wrap="square">
            <a:spAutoFit/>
          </a:bodyPr>
          <a:lstStyle/>
          <a:p>
            <a:pPr algn="l"/>
            <a:r>
              <a:rPr sz="800" b="1" i="0">
                <a:solidFill>
                  <a:srgbClr val="1A7A4A"/>
                </a:solidFill>
              </a:rPr>
              <a:t>+18.9 %</a:t>
            </a:r>
          </a:p>
        </p:txBody>
      </p:sp>
      <p:sp>
        <p:nvSpPr>
          <p:cNvPr id="31" name="Rectangle 30"/>
          <p:cNvSpPr/>
          <p:nvPr/>
        </p:nvSpPr>
        <p:spPr>
          <a:xfrm>
            <a:off x="5940000" y="2916000"/>
            <a:ext cx="180000" cy="125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2000" y="2861999"/>
            <a:ext cx="2556000" cy="198000"/>
          </a:xfrm>
          <a:prstGeom prst="rect">
            <a:avLst/>
          </a:prstGeom>
          <a:noFill/>
        </p:spPr>
        <p:txBody>
          <a:bodyPr wrap="square">
            <a:spAutoFit/>
          </a:bodyPr>
          <a:lstStyle/>
          <a:p>
            <a:pPr algn="l"/>
            <a:r>
              <a:rPr sz="750" b="1" i="0">
                <a:solidFill>
                  <a:srgbClr val="1B3A6B"/>
                </a:solidFill>
              </a:rPr>
              <a:t>XLB  —  Materials</a:t>
            </a:r>
          </a:p>
        </p:txBody>
      </p:sp>
      <p:sp>
        <p:nvSpPr>
          <p:cNvPr id="33" name="TextBox 32"/>
          <p:cNvSpPr txBox="1"/>
          <p:nvPr/>
        </p:nvSpPr>
        <p:spPr>
          <a:xfrm>
            <a:off x="6192000" y="3060000"/>
            <a:ext cx="2556000" cy="198000"/>
          </a:xfrm>
          <a:prstGeom prst="rect">
            <a:avLst/>
          </a:prstGeom>
          <a:noFill/>
        </p:spPr>
        <p:txBody>
          <a:bodyPr wrap="square">
            <a:spAutoFit/>
          </a:bodyPr>
          <a:lstStyle/>
          <a:p>
            <a:pPr algn="l"/>
            <a:r>
              <a:rPr sz="800" b="1" i="0">
                <a:solidFill>
                  <a:srgbClr val="1A7A4A"/>
                </a:solidFill>
              </a:rPr>
              <a:t>+18.9 %</a:t>
            </a:r>
          </a:p>
        </p:txBody>
      </p:sp>
      <p:sp>
        <p:nvSpPr>
          <p:cNvPr id="34" name="Rectangle 33"/>
          <p:cNvSpPr/>
          <p:nvPr/>
        </p:nvSpPr>
        <p:spPr>
          <a:xfrm>
            <a:off x="5940000" y="3348000"/>
            <a:ext cx="180000" cy="125999"/>
          </a:xfrm>
          <a:prstGeom prst="rect">
            <a:avLst/>
          </a:prstGeom>
          <a:solidFill>
            <a:srgbClr val="6B3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3294000"/>
            <a:ext cx="2556000" cy="198000"/>
          </a:xfrm>
          <a:prstGeom prst="rect">
            <a:avLst/>
          </a:prstGeom>
          <a:noFill/>
        </p:spPr>
        <p:txBody>
          <a:bodyPr wrap="square">
            <a:spAutoFit/>
          </a:bodyPr>
          <a:lstStyle/>
          <a:p>
            <a:pPr algn="l"/>
            <a:r>
              <a:rPr sz="750" b="1" i="0">
                <a:solidFill>
                  <a:srgbClr val="1B3A6B"/>
                </a:solidFill>
              </a:rPr>
              <a:t>XLC  —  Communication Serv</a:t>
            </a:r>
          </a:p>
        </p:txBody>
      </p:sp>
      <p:sp>
        <p:nvSpPr>
          <p:cNvPr id="36" name="TextBox 35"/>
          <p:cNvSpPr txBox="1"/>
          <p:nvPr/>
        </p:nvSpPr>
        <p:spPr>
          <a:xfrm>
            <a:off x="6192000" y="3492000"/>
            <a:ext cx="2556000" cy="198000"/>
          </a:xfrm>
          <a:prstGeom prst="rect">
            <a:avLst/>
          </a:prstGeom>
          <a:noFill/>
        </p:spPr>
        <p:txBody>
          <a:bodyPr wrap="square">
            <a:spAutoFit/>
          </a:bodyPr>
          <a:lstStyle/>
          <a:p>
            <a:pPr algn="l"/>
            <a:r>
              <a:rPr sz="800" b="1" i="0">
                <a:solidFill>
                  <a:srgbClr val="1A7A4A"/>
                </a:solidFill>
              </a:rPr>
              <a:t>+13.5 %</a:t>
            </a:r>
          </a:p>
        </p:txBody>
      </p:sp>
      <p:sp>
        <p:nvSpPr>
          <p:cNvPr id="37" name="Rectangle 36"/>
          <p:cNvSpPr/>
          <p:nvPr/>
        </p:nvSpPr>
        <p:spPr>
          <a:xfrm>
            <a:off x="5940000" y="3780000"/>
            <a:ext cx="180000" cy="125999"/>
          </a:xfrm>
          <a:prstGeom prst="rect">
            <a:avLst/>
          </a:prstGeom>
          <a:solidFill>
            <a:srgbClr val="3A6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92000" y="3726000"/>
            <a:ext cx="2556000" cy="198000"/>
          </a:xfrm>
          <a:prstGeom prst="rect">
            <a:avLst/>
          </a:prstGeom>
          <a:noFill/>
        </p:spPr>
        <p:txBody>
          <a:bodyPr wrap="square">
            <a:spAutoFit/>
          </a:bodyPr>
          <a:lstStyle/>
          <a:p>
            <a:pPr algn="l"/>
            <a:r>
              <a:rPr sz="750" b="1" i="0">
                <a:solidFill>
                  <a:srgbClr val="1B3A6B"/>
                </a:solidFill>
              </a:rPr>
              <a:t>XLY  —  Consumer Discretio</a:t>
            </a:r>
          </a:p>
        </p:txBody>
      </p:sp>
      <p:sp>
        <p:nvSpPr>
          <p:cNvPr id="39" name="TextBox 38"/>
          <p:cNvSpPr txBox="1"/>
          <p:nvPr/>
        </p:nvSpPr>
        <p:spPr>
          <a:xfrm>
            <a:off x="6192000" y="3924000"/>
            <a:ext cx="2556000" cy="198000"/>
          </a:xfrm>
          <a:prstGeom prst="rect">
            <a:avLst/>
          </a:prstGeom>
          <a:noFill/>
        </p:spPr>
        <p:txBody>
          <a:bodyPr wrap="square">
            <a:spAutoFit/>
          </a:bodyPr>
          <a:lstStyle/>
          <a:p>
            <a:pPr algn="l"/>
            <a:r>
              <a:rPr sz="800" b="1" i="0">
                <a:solidFill>
                  <a:srgbClr val="1A7A4A"/>
                </a:solidFill>
              </a:rPr>
              <a:t>+8.0 %</a:t>
            </a:r>
          </a:p>
        </p:txBody>
      </p:sp>
      <p:sp>
        <p:nvSpPr>
          <p:cNvPr id="40" name="Rectangle 39"/>
          <p:cNvSpPr/>
          <p:nvPr/>
        </p:nvSpPr>
        <p:spPr>
          <a:xfrm>
            <a:off x="5940000" y="4212000"/>
            <a:ext cx="180000" cy="125999"/>
          </a:xfrm>
          <a:prstGeom prst="rect">
            <a:avLst/>
          </a:prstGeom>
          <a:solidFill>
            <a:srgbClr val="6B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92000" y="4158000"/>
            <a:ext cx="2556000" cy="198000"/>
          </a:xfrm>
          <a:prstGeom prst="rect">
            <a:avLst/>
          </a:prstGeom>
          <a:noFill/>
        </p:spPr>
        <p:txBody>
          <a:bodyPr wrap="square">
            <a:spAutoFit/>
          </a:bodyPr>
          <a:lstStyle/>
          <a:p>
            <a:pPr algn="l"/>
            <a:r>
              <a:rPr sz="750" b="1" i="0">
                <a:solidFill>
                  <a:srgbClr val="1B3A6B"/>
                </a:solidFill>
              </a:rPr>
              <a:t>XLV  —  Health Care</a:t>
            </a:r>
          </a:p>
        </p:txBody>
      </p:sp>
      <p:sp>
        <p:nvSpPr>
          <p:cNvPr id="42" name="TextBox 41"/>
          <p:cNvSpPr txBox="1"/>
          <p:nvPr/>
        </p:nvSpPr>
        <p:spPr>
          <a:xfrm>
            <a:off x="6192000" y="4356000"/>
            <a:ext cx="2556000" cy="198000"/>
          </a:xfrm>
          <a:prstGeom prst="rect">
            <a:avLst/>
          </a:prstGeom>
          <a:noFill/>
        </p:spPr>
        <p:txBody>
          <a:bodyPr wrap="square">
            <a:spAutoFit/>
          </a:bodyPr>
          <a:lstStyle/>
          <a:p>
            <a:pPr algn="l"/>
            <a:r>
              <a:rPr sz="800" b="1" i="0">
                <a:solidFill>
                  <a:srgbClr val="1A7A4A"/>
                </a:solidFill>
              </a:rPr>
              <a:t>+3.8 %</a:t>
            </a:r>
          </a:p>
        </p:txBody>
      </p:sp>
      <p:sp>
        <p:nvSpPr>
          <p:cNvPr id="43" name="Rectangle 42"/>
          <p:cNvSpPr/>
          <p:nvPr/>
        </p:nvSpPr>
        <p:spPr>
          <a:xfrm>
            <a:off x="5903999" y="3960000"/>
            <a:ext cx="2916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76000" y="3996000"/>
            <a:ext cx="2808000" cy="180000"/>
          </a:xfrm>
          <a:prstGeom prst="rect">
            <a:avLst/>
          </a:prstGeom>
          <a:noFill/>
        </p:spPr>
        <p:txBody>
          <a:bodyPr wrap="square">
            <a:spAutoFit/>
          </a:bodyPr>
          <a:lstStyle/>
          <a:p>
            <a:pPr algn="l"/>
            <a:r>
              <a:rPr sz="750" b="1" i="0">
                <a:solidFill>
                  <a:srgbClr val="1B3A6B"/>
                </a:solidFill>
              </a:rPr>
              <a:t>Lecture du graphique</a:t>
            </a:r>
          </a:p>
        </p:txBody>
      </p:sp>
      <p:sp>
        <p:nvSpPr>
          <p:cNvPr id="45" name="TextBox 44"/>
          <p:cNvSpPr txBox="1"/>
          <p:nvPr/>
        </p:nvSpPr>
        <p:spPr>
          <a:xfrm>
            <a:off x="5976000" y="4194000"/>
            <a:ext cx="2808000" cy="612000"/>
          </a:xfrm>
          <a:prstGeom prst="rect">
            <a:avLst/>
          </a:prstGeom>
          <a:noFill/>
        </p:spPr>
        <p:txBody>
          <a:bodyPr wrap="square">
            <a:spAutoFit/>
          </a:bodyPr>
          <a:lstStyle/>
          <a:p>
            <a:pPr algn="l"/>
            <a:r>
              <a:rPr sz="700" b="0" i="0">
                <a:solidFill>
                  <a:srgbClr val="555555"/>
                </a:solidFill>
              </a:rPr>
              <a:t>XLE (Energy) domine avec +60.4 % — confirmation du signal Surponderer soutenu par la monetisation IA. XLF (Financials) sous-performe (-0.4 %) en ligne avec le signal Sous-ponderer.</a:t>
            </a:r>
          </a:p>
        </p:txBody>
      </p:sp>
      <p:sp>
        <p:nvSpPr>
          <p:cNvPr id="46" name="Rectangle 4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