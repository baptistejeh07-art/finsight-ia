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4000" b="1" i="0">
                <a:solidFill>
                  <a:srgbClr val="1B3A6B"/>
                </a:solidFill>
                <a:latin typeface="Calibri"/>
              </a:rPr>
              <a:t>Thales S.A.</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HO.PA  ·  Euronext Paris  ·  Industrials</a:t>
            </a:r>
          </a:p>
        </p:txBody>
      </p:sp>
      <p:sp>
        <p:nvSpPr>
          <p:cNvPr id="8" name="Rectangle 7"/>
          <p:cNvSpPr/>
          <p:nvPr/>
        </p:nvSpPr>
        <p:spPr>
          <a:xfrm>
            <a:off x="2771999" y="2720232"/>
            <a:ext cx="36000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6000" y="2738232"/>
            <a:ext cx="3491999" cy="395999"/>
          </a:xfrm>
          <a:prstGeom prst="rect">
            <a:avLst/>
          </a:prstGeom>
          <a:noFill/>
        </p:spPr>
        <p:txBody>
          <a:bodyPr wrap="square">
            <a:spAutoFit/>
          </a:bodyPr>
          <a:lstStyle/>
          <a:p>
            <a:pPr algn="ctr"/>
            <a:r>
              <a:rPr sz="900" b="1" i="0">
                <a:solidFill>
                  <a:srgbClr val="FFFFFF"/>
                </a:solidFill>
                <a:latin typeface="Calibri"/>
              </a:rPr>
              <a:t>● BUY  ·  Prix cible base : 295 EUR  ·  Upside : +10,4 %</a:t>
            </a:r>
          </a:p>
        </p:txBody>
      </p:sp>
      <p:sp>
        <p:nvSpPr>
          <p:cNvPr id="10" name="Rectangle 9"/>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2" name="TextBox 11"/>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9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295 EUR  ·  Upside : +10,4 %  ·  Bear : 250 EUR (-6,5 %)  ·  Bull : 320 EUR (+19,7 %)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Leadership technologique</a:t>
            </a:r>
          </a:p>
        </p:txBody>
      </p:sp>
      <p:sp>
        <p:nvSpPr>
          <p:cNvPr id="14" name="TextBox 13"/>
          <p:cNvSpPr txBox="1"/>
          <p:nvPr/>
        </p:nvSpPr>
        <p:spPr>
          <a:xfrm>
            <a:off x="503999" y="1814400"/>
            <a:ext cx="3931200" cy="378000"/>
          </a:xfrm>
          <a:prstGeom prst="rect">
            <a:avLst/>
          </a:prstGeom>
          <a:noFill/>
        </p:spPr>
        <p:txBody>
          <a:bodyPr wrap="square">
            <a:spAutoFit/>
          </a:bodyPr>
          <a:lstStyle/>
          <a:p>
            <a:pPr algn="l"/>
            <a:r>
              <a:rPr sz="750" b="0" i="0">
                <a:solidFill>
                  <a:srgbClr val="333333"/>
                </a:solidFill>
                <a:latin typeface="Calibri"/>
              </a:rPr>
              <a:t>Thales capitalise sur un carnet de commandes record de 42,3Md€ fin 2025, avec un mix logiciel/services passant de 55% à 60% du CA d'ici 2027</a:t>
            </a:r>
          </a:p>
        </p:txBody>
      </p:sp>
      <p:sp>
        <p:nvSpPr>
          <p:cNvPr id="15" name="Rectangle 14"/>
          <p:cNvSpPr/>
          <p:nvPr/>
        </p:nvSpPr>
        <p:spPr>
          <a:xfrm>
            <a:off x="367200" y="2214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96000"/>
            <a:ext cx="3931200" cy="183600"/>
          </a:xfrm>
          <a:prstGeom prst="rect">
            <a:avLst/>
          </a:prstGeom>
          <a:noFill/>
        </p:spPr>
        <p:txBody>
          <a:bodyPr wrap="square">
            <a:spAutoFit/>
          </a:bodyPr>
          <a:lstStyle/>
          <a:p>
            <a:pPr algn="l"/>
            <a:r>
              <a:rPr sz="850" b="1" i="0">
                <a:solidFill>
                  <a:srgbClr val="1B3A6B"/>
                </a:solidFill>
                <a:latin typeface="Calibri"/>
              </a:rPr>
              <a:t>Mix logiciel élevé</a:t>
            </a:r>
          </a:p>
        </p:txBody>
      </p:sp>
      <p:sp>
        <p:nvSpPr>
          <p:cNvPr id="17" name="TextBox 16"/>
          <p:cNvSpPr txBox="1"/>
          <p:nvPr/>
        </p:nvSpPr>
        <p:spPr>
          <a:xfrm>
            <a:off x="503999" y="2365200"/>
            <a:ext cx="3931200" cy="378000"/>
          </a:xfrm>
          <a:prstGeom prst="rect">
            <a:avLst/>
          </a:prstGeom>
          <a:noFill/>
        </p:spPr>
        <p:txBody>
          <a:bodyPr wrap="square">
            <a:spAutoFit/>
          </a:bodyPr>
          <a:lstStyle/>
          <a:p>
            <a:pPr algn="l"/>
            <a:r>
              <a:rPr sz="750" b="0" i="0">
                <a:solidFill>
                  <a:srgbClr val="333333"/>
                </a:solidFill>
                <a:latin typeface="Calibri"/>
              </a:rPr>
              <a:t>La marge EBITDA devrait atteindre 17,5% en 2027 grâce à l'effet volume sur les segments Aérospatial (+8% YoY) et Sécurité (+10% YoY)</a:t>
            </a:r>
          </a:p>
        </p:txBody>
      </p:sp>
      <p:sp>
        <p:nvSpPr>
          <p:cNvPr id="18" name="Rectangle 17"/>
          <p:cNvSpPr/>
          <p:nvPr/>
        </p:nvSpPr>
        <p:spPr>
          <a:xfrm>
            <a:off x="367200" y="2764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46800"/>
            <a:ext cx="3931200" cy="183600"/>
          </a:xfrm>
          <a:prstGeom prst="rect">
            <a:avLst/>
          </a:prstGeom>
          <a:noFill/>
        </p:spPr>
        <p:txBody>
          <a:bodyPr wrap="square">
            <a:spAutoFit/>
          </a:bodyPr>
          <a:lstStyle/>
          <a:p>
            <a:pPr algn="l"/>
            <a:r>
              <a:rPr sz="850" b="1" i="0">
                <a:solidFill>
                  <a:srgbClr val="1B3A6B"/>
                </a:solidFill>
                <a:latin typeface="Calibri"/>
              </a:rPr>
              <a:t>Carnet commandes record</a:t>
            </a:r>
          </a:p>
        </p:txBody>
      </p:sp>
      <p:sp>
        <p:nvSpPr>
          <p:cNvPr id="20" name="TextBox 19"/>
          <p:cNvSpPr txBox="1"/>
          <p:nvPr/>
        </p:nvSpPr>
        <p:spPr>
          <a:xfrm>
            <a:off x="503999" y="2916000"/>
            <a:ext cx="3931200" cy="378000"/>
          </a:xfrm>
          <a:prstGeom prst="rect">
            <a:avLst/>
          </a:prstGeom>
          <a:noFill/>
        </p:spPr>
        <p:txBody>
          <a:bodyPr wrap="square">
            <a:spAutoFit/>
          </a:bodyPr>
          <a:lstStyle/>
          <a:p>
            <a:pPr algn="l"/>
            <a:r>
              <a:rPr sz="750" b="0" i="0">
                <a:solidFill>
                  <a:srgbClr val="333333"/>
                </a:solidFill>
                <a:latin typeface="Calibri"/>
              </a:rPr>
              <a:t>Le ND/EBITDA à 0,5x offre une capacité de rachat de 3,5Md€ ou de distribution de dividendes à 3,5%.</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Dépendance défense</a:t>
            </a:r>
          </a:p>
        </p:txBody>
      </p:sp>
      <p:sp>
        <p:nvSpPr>
          <p:cNvPr id="25" name="TextBox 24"/>
          <p:cNvSpPr txBox="1"/>
          <p:nvPr/>
        </p:nvSpPr>
        <p:spPr>
          <a:xfrm>
            <a:off x="4845600" y="1814400"/>
            <a:ext cx="3794399" cy="378000"/>
          </a:xfrm>
          <a:prstGeom prst="rect">
            <a:avLst/>
          </a:prstGeom>
          <a:noFill/>
        </p:spPr>
        <p:txBody>
          <a:bodyPr wrap="square">
            <a:spAutoFit/>
          </a:bodyPr>
          <a:lstStyle/>
          <a:p>
            <a:pPr algn="l"/>
            <a:r>
              <a:rPr sz="750" b="0" i="0">
                <a:solidFill>
                  <a:srgbClr val="333333"/>
                </a:solidFill>
                <a:latin typeface="Calibri"/>
              </a:rPr>
              <a:t>Risque de retard sur les programmes militaires en Europe | Impact -1,2Md€ CA potentiel | Horizon 6-12 mois</a:t>
            </a:r>
          </a:p>
        </p:txBody>
      </p:sp>
      <p:sp>
        <p:nvSpPr>
          <p:cNvPr id="26" name="Rectangle 25"/>
          <p:cNvSpPr/>
          <p:nvPr/>
        </p:nvSpPr>
        <p:spPr>
          <a:xfrm>
            <a:off x="4708800" y="2214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96000"/>
            <a:ext cx="3794399" cy="183600"/>
          </a:xfrm>
          <a:prstGeom prst="rect">
            <a:avLst/>
          </a:prstGeom>
          <a:noFill/>
        </p:spPr>
        <p:txBody>
          <a:bodyPr wrap="square">
            <a:spAutoFit/>
          </a:bodyPr>
          <a:lstStyle/>
          <a:p>
            <a:pPr algn="l"/>
            <a:r>
              <a:rPr sz="850" b="1" i="0">
                <a:solidFill>
                  <a:srgbClr val="1B3A6B"/>
                </a:solidFill>
                <a:latin typeface="Calibri"/>
              </a:rPr>
              <a:t>Risque géopolitique</a:t>
            </a:r>
          </a:p>
        </p:txBody>
      </p:sp>
      <p:sp>
        <p:nvSpPr>
          <p:cNvPr id="28" name="TextBox 27"/>
          <p:cNvSpPr txBox="1"/>
          <p:nvPr/>
        </p:nvSpPr>
        <p:spPr>
          <a:xfrm>
            <a:off x="4845600" y="2365200"/>
            <a:ext cx="3794399" cy="378000"/>
          </a:xfrm>
          <a:prstGeom prst="rect">
            <a:avLst/>
          </a:prstGeom>
          <a:noFill/>
        </p:spPr>
        <p:txBody>
          <a:bodyPr wrap="square">
            <a:spAutoFit/>
          </a:bodyPr>
          <a:lstStyle/>
          <a:p>
            <a:pPr algn="l"/>
            <a:r>
              <a:rPr sz="750" b="0" i="0">
                <a:solidFill>
                  <a:srgbClr val="333333"/>
                </a:solidFill>
                <a:latin typeface="Calibri"/>
              </a:rPr>
              <a:t>Concurrence accrue des acteurs chinois sur les systèmes embarqués | Pression -8% sur les prix | Horizon 12-24 mois</a:t>
            </a:r>
          </a:p>
        </p:txBody>
      </p:sp>
      <p:sp>
        <p:nvSpPr>
          <p:cNvPr id="29" name="Rectangle 28"/>
          <p:cNvSpPr/>
          <p:nvPr/>
        </p:nvSpPr>
        <p:spPr>
          <a:xfrm>
            <a:off x="4708800" y="2764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46800"/>
            <a:ext cx="3794399" cy="183600"/>
          </a:xfrm>
          <a:prstGeom prst="rect">
            <a:avLst/>
          </a:prstGeom>
          <a:noFill/>
        </p:spPr>
        <p:txBody>
          <a:bodyPr wrap="square">
            <a:spAutoFit/>
          </a:bodyPr>
          <a:lstStyle/>
          <a:p>
            <a:pPr algn="l"/>
            <a:r>
              <a:rPr sz="850" b="1" i="0">
                <a:solidFill>
                  <a:srgbClr val="1B3A6B"/>
                </a:solidFill>
                <a:latin typeface="Calibri"/>
              </a:rPr>
              <a:t>Concurrence asiatique</a:t>
            </a:r>
          </a:p>
        </p:txBody>
      </p:sp>
      <p:sp>
        <p:nvSpPr>
          <p:cNvPr id="31" name="TextBox 30"/>
          <p:cNvSpPr txBox="1"/>
          <p:nvPr/>
        </p:nvSpPr>
        <p:spPr>
          <a:xfrm>
            <a:off x="4845600" y="2916000"/>
            <a:ext cx="3794399" cy="378000"/>
          </a:xfrm>
          <a:prstGeom prst="rect">
            <a:avLst/>
          </a:prstGeom>
          <a:noFill/>
        </p:spPr>
        <p:txBody>
          <a:bodyPr wrap="square">
            <a:spAutoFit/>
          </a:bodyPr>
          <a:lstStyle/>
          <a:p>
            <a:pPr algn="l"/>
            <a:r>
              <a:rPr sz="750" b="0" i="0">
                <a:solidFill>
                  <a:srgbClr val="333333"/>
                </a:solidFill>
                <a:latin typeface="Calibri"/>
              </a:rPr>
              <a:t>Inflation des coûts salariaux et R&amp;D | Compression marge de -1,5pt | Horizon 2026</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33600"/>
            <a:ext cx="4010400" cy="19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333600"/>
            <a:ext cx="3960000" cy="198000"/>
          </a:xfrm>
          <a:prstGeom prst="rect">
            <a:avLst/>
          </a:prstGeom>
          <a:noFill/>
        </p:spPr>
        <p:txBody>
          <a:bodyPr wrap="square">
            <a:spAutoFit/>
          </a:bodyPr>
          <a:lstStyle/>
          <a:p>
            <a:pPr algn="l"/>
            <a:r>
              <a:rPr sz="750" b="1" i="0">
                <a:solidFill>
                  <a:srgbClr val="FFFFFF"/>
                </a:solidFill>
                <a:latin typeface="Calibri"/>
              </a:rPr>
              <a:t>CATALYSEURS À SURVEILLER (12M)</a:t>
            </a:r>
          </a:p>
        </p:txBody>
      </p:sp>
      <p:sp>
        <p:nvSpPr>
          <p:cNvPr id="36" name="Rectangle 35"/>
          <p:cNvSpPr/>
          <p:nvPr/>
        </p:nvSpPr>
        <p:spPr>
          <a:xfrm>
            <a:off x="367200" y="3582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200" y="3560400"/>
            <a:ext cx="3837600" cy="172800"/>
          </a:xfrm>
          <a:prstGeom prst="rect">
            <a:avLst/>
          </a:prstGeom>
          <a:noFill/>
        </p:spPr>
        <p:txBody>
          <a:bodyPr wrap="square">
            <a:spAutoFit/>
          </a:bodyPr>
          <a:lstStyle/>
          <a:p>
            <a:pPr algn="l"/>
            <a:r>
              <a:rPr sz="750" b="0" i="0">
                <a:solidFill>
                  <a:srgbClr val="333333"/>
                </a:solidFill>
                <a:latin typeface="Calibri"/>
              </a:rPr>
              <a:t>FCAS: Livraison des premiers systèmes FCAS en 2026 avec un CA</a:t>
            </a:r>
          </a:p>
        </p:txBody>
      </p:sp>
      <p:sp>
        <p:nvSpPr>
          <p:cNvPr id="38" name="Rectangle 37"/>
          <p:cNvSpPr/>
          <p:nvPr/>
        </p:nvSpPr>
        <p:spPr>
          <a:xfrm>
            <a:off x="367200" y="3780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9200" y="3758400"/>
            <a:ext cx="3837600" cy="172800"/>
          </a:xfrm>
          <a:prstGeom prst="rect">
            <a:avLst/>
          </a:prstGeom>
          <a:noFill/>
        </p:spPr>
        <p:txBody>
          <a:bodyPr wrap="square">
            <a:spAutoFit/>
          </a:bodyPr>
          <a:lstStyle/>
          <a:p>
            <a:pPr algn="l"/>
            <a:r>
              <a:rPr sz="750" b="0" i="0">
                <a:solidFill>
                  <a:srgbClr val="333333"/>
                </a:solidFill>
                <a:latin typeface="Calibri"/>
              </a:rPr>
              <a:t>Cybersécurité: Contrats récurrents avec les États européens pour</a:t>
            </a:r>
          </a:p>
        </p:txBody>
      </p:sp>
      <p:sp>
        <p:nvSpPr>
          <p:cNvPr id="40" name="Rectangle 39"/>
          <p:cNvSpPr/>
          <p:nvPr/>
        </p:nvSpPr>
        <p:spPr>
          <a:xfrm>
            <a:off x="4708800" y="3333600"/>
            <a:ext cx="4068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5600" y="3333600"/>
            <a:ext cx="3996000" cy="198000"/>
          </a:xfrm>
          <a:prstGeom prst="rect">
            <a:avLst/>
          </a:prstGeom>
          <a:noFill/>
        </p:spPr>
        <p:txBody>
          <a:bodyPr wrap="square">
            <a:spAutoFit/>
          </a:bodyPr>
          <a:lstStyle/>
          <a:p>
            <a:pPr algn="l"/>
            <a:r>
              <a:rPr sz="750" b="1" i="0">
                <a:solidFill>
                  <a:srgbClr val="FFFFFF"/>
                </a:solidFill>
                <a:latin typeface="Calibri"/>
              </a:rPr>
              <a:t>VALORISATION SYNTHÉTIQUE</a:t>
            </a:r>
          </a:p>
        </p:txBody>
      </p:sp>
      <p:graphicFrame>
        <p:nvGraphicFramePr>
          <p:cNvPr id="42" name="Table 41"/>
          <p:cNvGraphicFramePr>
            <a:graphicFrameLocks noGrp="1"/>
          </p:cNvGraphicFramePr>
          <p:nvPr/>
        </p:nvGraphicFramePr>
        <p:xfrm>
          <a:off x="4708800" y="3560400"/>
          <a:ext cx="4068000" cy="468000"/>
        </p:xfrm>
        <a:graphic>
          <a:graphicData uri="http://schemas.openxmlformats.org/drawingml/2006/table">
            <a:tbl>
              <a:tblPr firstRow="1" bandRow="1">
                <a:tableStyleId>{5C22544A-7EE6-4342-B048-85BDC9FD1C3A}</a:tableStyleId>
              </a:tblPr>
              <a:tblGrid>
                <a:gridCol w="2034000"/>
                <a:gridCol w="1017000"/>
                <a:gridCol w="1017000"/>
              </a:tblGrid>
              <a:tr h="117000">
                <a:tc>
                  <a:txBody>
                    <a:bodyPr/>
                    <a:lstStyle/>
                    <a:p>
                      <a:pPr algn="l"/>
                      <a:r>
                        <a:rPr sz="800" b="1" i="0">
                          <a:solidFill>
                            <a:srgbClr val="FFFFFF"/>
                          </a:solidFill>
                          <a:latin typeface="Calibri"/>
                        </a:rPr>
                        <a:t>Multiple</a:t>
                      </a:r>
                    </a:p>
                  </a:txBody>
                  <a:tcPr>
                    <a:solidFill>
                      <a:srgbClr val="1B3A6B"/>
                    </a:solidFill>
                  </a:tcPr>
                </a:tc>
                <a:tc>
                  <a:txBody>
                    <a:bodyPr/>
                    <a:lstStyle/>
                    <a:p>
                      <a:pPr algn="ctr"/>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Médiane pairs</a:t>
                      </a:r>
                    </a:p>
                  </a:txBody>
                  <a:tcPr>
                    <a:solidFill>
                      <a:srgbClr val="1B3A6B"/>
                    </a:solidFill>
                  </a:tcPr>
                </a:tc>
              </a:tr>
              <a:tr h="117000">
                <a:tc>
                  <a:txBody>
                    <a:bodyPr/>
                    <a:lstStyle/>
                    <a:p>
                      <a:pPr algn="l"/>
                      <a:r>
                        <a:rPr sz="800" b="0" i="0">
                          <a:solidFill>
                            <a:srgbClr val="0D0D0D"/>
                          </a:solidFill>
                          <a:latin typeface="Calibri"/>
                        </a:rPr>
                        <a:t>P/E NTM (x)</a:t>
                      </a:r>
                    </a:p>
                  </a:txBody>
                  <a:tcPr>
                    <a:solidFill>
                      <a:srgbClr val="FFFFFF"/>
                    </a:solidFill>
                  </a:tcPr>
                </a:tc>
                <a:tc>
                  <a:txBody>
                    <a:bodyPr/>
                    <a:lstStyle/>
                    <a:p>
                      <a:pPr algn="ctr"/>
                      <a:r>
                        <a:rPr sz="800" b="0" i="0">
                          <a:solidFill>
                            <a:srgbClr val="0D0D0D"/>
                          </a:solidFill>
                          <a:latin typeface="Calibri"/>
                        </a:rPr>
                        <a:t>32,8x</a:t>
                      </a:r>
                    </a:p>
                  </a:txBody>
                  <a:tcPr>
                    <a:solidFill>
                      <a:srgbClr val="FFFFFF"/>
                    </a:solidFill>
                  </a:tcPr>
                </a:tc>
                <a:tc>
                  <a:txBody>
                    <a:bodyPr/>
                    <a:lstStyle/>
                    <a:p>
                      <a:pPr algn="ctr"/>
                      <a:r>
                        <a:rPr sz="800" b="0" i="0">
                          <a:solidFill>
                            <a:srgbClr val="0D0D0D"/>
                          </a:solidFill>
                          <a:latin typeface="Calibri"/>
                        </a:rPr>
                        <a:t>18,5x</a:t>
                      </a:r>
                    </a:p>
                  </a:txBody>
                  <a:tcPr>
                    <a:solidFill>
                      <a:srgbClr val="FFFFFF"/>
                    </a:solidFill>
                  </a:tcPr>
                </a:tc>
              </a:tr>
              <a:tr h="117000">
                <a:tc>
                  <a:txBody>
                    <a:bodyPr/>
                    <a:lstStyle/>
                    <a:p>
                      <a:pPr algn="l"/>
                      <a:r>
                        <a:rPr sz="800" b="0" i="0">
                          <a:solidFill>
                            <a:srgbClr val="0D0D0D"/>
                          </a:solidFill>
                          <a:latin typeface="Calibri"/>
                        </a:rPr>
                        <a:t>EV/EBITDA (x)</a:t>
                      </a:r>
                    </a:p>
                  </a:txBody>
                  <a:tcPr>
                    <a:solidFill>
                      <a:srgbClr val="F7F8FA"/>
                    </a:solidFill>
                  </a:tcPr>
                </a:tc>
                <a:tc>
                  <a:txBody>
                    <a:bodyPr/>
                    <a:lstStyle/>
                    <a:p>
                      <a:pPr algn="ctr"/>
                      <a:r>
                        <a:rPr sz="800" b="0" i="0">
                          <a:solidFill>
                            <a:srgbClr val="0D0D0D"/>
                          </a:solidFill>
                          <a:latin typeface="Calibri"/>
                        </a:rPr>
                        <a:t>16,6x</a:t>
                      </a:r>
                    </a:p>
                  </a:txBody>
                  <a:tcPr>
                    <a:solidFill>
                      <a:srgbClr val="F7F8FA"/>
                    </a:solidFill>
                  </a:tcPr>
                </a:tc>
                <a:tc>
                  <a:txBody>
                    <a:bodyPr/>
                    <a:lstStyle/>
                    <a:p>
                      <a:pPr algn="ctr"/>
                      <a:r>
                        <a:rPr sz="800" b="0" i="0">
                          <a:solidFill>
                            <a:srgbClr val="0D0D0D"/>
                          </a:solidFill>
                          <a:latin typeface="Calibri"/>
                        </a:rPr>
                        <a:t>13,2x</a:t>
                      </a:r>
                    </a:p>
                  </a:txBody>
                  <a:tcPr>
                    <a:solidFill>
                      <a:srgbClr val="F7F8FA"/>
                    </a:solidFill>
                  </a:tcPr>
                </a:tc>
              </a:tr>
              <a:tr h="117000">
                <a:tc>
                  <a:txBody>
                    <a:bodyPr/>
                    <a:lstStyle/>
                    <a:p>
                      <a:pPr algn="l"/>
                      <a:r>
                        <a:rPr sz="800" b="0" i="0">
                          <a:solidFill>
                            <a:srgbClr val="0D0D0D"/>
                          </a:solidFill>
                          <a:latin typeface="Calibri"/>
                        </a:rPr>
                        <a:t>Cible DCF (EUR)</a:t>
                      </a:r>
                    </a:p>
                  </a:txBody>
                  <a:tcPr>
                    <a:solidFill>
                      <a:srgbClr val="FFFFFF"/>
                    </a:solidFill>
                  </a:tcPr>
                </a:tc>
                <a:tc>
                  <a:txBody>
                    <a:bodyPr/>
                    <a:lstStyle/>
                    <a:p>
                      <a:pPr algn="ctr"/>
                      <a:r>
                        <a:rPr sz="800" b="0" i="0">
                          <a:solidFill>
                            <a:srgbClr val="0D0D0D"/>
                          </a:solidFill>
                          <a:latin typeface="Calibri"/>
                        </a:rPr>
                        <a:t>295 EUR</a:t>
                      </a:r>
                    </a:p>
                  </a:txBody>
                  <a:tcPr>
                    <a:solidFill>
                      <a:srgbClr val="FFFFFF"/>
                    </a:solidFill>
                  </a:tcPr>
                </a:tc>
                <a:tc>
                  <a:txBody>
                    <a:bodyPr/>
                    <a:lstStyle/>
                    <a:p>
                      <a:pPr algn="ctr"/>
                      <a:r>
                        <a:rPr sz="800" b="0" i="0">
                          <a:solidFill>
                            <a:srgbClr val="0D0D0D"/>
                          </a:solidFill>
                          <a:latin typeface="Calibri"/>
                        </a:rPr>
                        <a:t>Upside +10,4 %</a:t>
                      </a:r>
                    </a:p>
                  </a:txBody>
                  <a:tcPr>
                    <a:solidFill>
                      <a:srgbClr val="FFFFFF"/>
                    </a:solidFill>
                  </a:tcPr>
                </a:tc>
              </a:tr>
            </a:tbl>
          </a:graphicData>
        </a:graphic>
      </p:graphicFrame>
      <p:sp>
        <p:nvSpPr>
          <p:cNvPr id="43" name="Rectangle 42"/>
          <p:cNvSpPr/>
          <p:nvPr/>
        </p:nvSpPr>
        <p:spPr>
          <a:xfrm>
            <a:off x="367200" y="4042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72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72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4136400"/>
            <a:ext cx="1893600" cy="396000"/>
          </a:xfrm>
          <a:prstGeom prst="rect">
            <a:avLst/>
          </a:prstGeom>
          <a:noFill/>
        </p:spPr>
        <p:txBody>
          <a:bodyPr wrap="square">
            <a:spAutoFit/>
          </a:bodyPr>
          <a:lstStyle/>
          <a:p>
            <a:pPr algn="l"/>
            <a:r>
              <a:rPr sz="1900" b="1" i="0">
                <a:solidFill>
                  <a:srgbClr val="1B3A6B"/>
                </a:solidFill>
                <a:latin typeface="Calibri"/>
              </a:rPr>
              <a:t>16,6x</a:t>
            </a:r>
          </a:p>
        </p:txBody>
      </p:sp>
      <p:sp>
        <p:nvSpPr>
          <p:cNvPr id="47" name="TextBox 46"/>
          <p:cNvSpPr txBox="1"/>
          <p:nvPr/>
        </p:nvSpPr>
        <p:spPr>
          <a:xfrm>
            <a:off x="457200" y="45324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48" name="TextBox 47"/>
          <p:cNvSpPr txBox="1"/>
          <p:nvPr/>
        </p:nvSpPr>
        <p:spPr>
          <a:xfrm>
            <a:off x="457200" y="4730400"/>
            <a:ext cx="1893600" cy="165600"/>
          </a:xfrm>
          <a:prstGeom prst="rect">
            <a:avLst/>
          </a:prstGeom>
          <a:noFill/>
        </p:spPr>
        <p:txBody>
          <a:bodyPr wrap="square">
            <a:spAutoFit/>
          </a:bodyPr>
          <a:lstStyle/>
          <a:p>
            <a:pPr algn="l"/>
            <a:r>
              <a:rPr sz="700" b="0" i="0">
                <a:solidFill>
                  <a:srgbClr val="888888"/>
                </a:solidFill>
                <a:latin typeface="Calibri"/>
              </a:rPr>
              <a:t>vs 13,2x med. pairs</a:t>
            </a:r>
          </a:p>
        </p:txBody>
      </p:sp>
      <p:sp>
        <p:nvSpPr>
          <p:cNvPr id="49" name="Rectangle 48"/>
          <p:cNvSpPr/>
          <p:nvPr/>
        </p:nvSpPr>
        <p:spPr>
          <a:xfrm>
            <a:off x="24876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4876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7600" y="4136400"/>
            <a:ext cx="1893600" cy="396000"/>
          </a:xfrm>
          <a:prstGeom prst="rect">
            <a:avLst/>
          </a:prstGeom>
          <a:noFill/>
        </p:spPr>
        <p:txBody>
          <a:bodyPr wrap="square">
            <a:spAutoFit/>
          </a:bodyPr>
          <a:lstStyle/>
          <a:p>
            <a:pPr algn="l"/>
            <a:r>
              <a:rPr sz="1900" b="1" i="0">
                <a:solidFill>
                  <a:srgbClr val="1B3A6B"/>
                </a:solidFill>
                <a:latin typeface="Calibri"/>
              </a:rPr>
              <a:t>5,0 %</a:t>
            </a:r>
          </a:p>
        </p:txBody>
      </p:sp>
      <p:sp>
        <p:nvSpPr>
          <p:cNvPr id="52" name="TextBox 51"/>
          <p:cNvSpPr txBox="1"/>
          <p:nvPr/>
        </p:nvSpPr>
        <p:spPr>
          <a:xfrm>
            <a:off x="2577600" y="45324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53" name="TextBox 52"/>
          <p:cNvSpPr txBox="1"/>
          <p:nvPr/>
        </p:nvSpPr>
        <p:spPr>
          <a:xfrm>
            <a:off x="2577600" y="4730400"/>
            <a:ext cx="1893600" cy="165600"/>
          </a:xfrm>
          <a:prstGeom prst="rect">
            <a:avLst/>
          </a:prstGeom>
          <a:noFill/>
        </p:spPr>
        <p:txBody>
          <a:bodyPr wrap="square">
            <a:spAutoFit/>
          </a:bodyPr>
          <a:lstStyle/>
          <a:p>
            <a:pPr algn="l"/>
            <a:r>
              <a:rPr sz="700" b="0" i="0">
                <a:solidFill>
                  <a:srgbClr val="888888"/>
                </a:solidFill>
                <a:latin typeface="Calibri"/>
              </a:rPr>
              <a:t>Beta 0,15  ·  RFR 4,3 %</a:t>
            </a:r>
          </a:p>
        </p:txBody>
      </p:sp>
      <p:sp>
        <p:nvSpPr>
          <p:cNvPr id="54" name="Rectangle 53"/>
          <p:cNvSpPr/>
          <p:nvPr/>
        </p:nvSpPr>
        <p:spPr>
          <a:xfrm>
            <a:off x="46080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080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98000" y="4136400"/>
            <a:ext cx="1893600" cy="396000"/>
          </a:xfrm>
          <a:prstGeom prst="rect">
            <a:avLst/>
          </a:prstGeom>
          <a:noFill/>
        </p:spPr>
        <p:txBody>
          <a:bodyPr wrap="square">
            <a:spAutoFit/>
          </a:bodyPr>
          <a:lstStyle/>
          <a:p>
            <a:pPr algn="l"/>
            <a:r>
              <a:rPr sz="1900" b="1" i="0">
                <a:solidFill>
                  <a:srgbClr val="1B3A6B"/>
                </a:solidFill>
                <a:latin typeface="Calibri"/>
              </a:rPr>
              <a:t>295 EUR</a:t>
            </a:r>
          </a:p>
        </p:txBody>
      </p:sp>
      <p:sp>
        <p:nvSpPr>
          <p:cNvPr id="57" name="TextBox 56"/>
          <p:cNvSpPr txBox="1"/>
          <p:nvPr/>
        </p:nvSpPr>
        <p:spPr>
          <a:xfrm>
            <a:off x="4698000" y="4532400"/>
            <a:ext cx="1893600" cy="205199"/>
          </a:xfrm>
          <a:prstGeom prst="rect">
            <a:avLst/>
          </a:prstGeom>
          <a:noFill/>
        </p:spPr>
        <p:txBody>
          <a:bodyPr wrap="square">
            <a:spAutoFit/>
          </a:bodyPr>
          <a:lstStyle/>
          <a:p>
            <a:pPr algn="l"/>
            <a:r>
              <a:rPr sz="800" b="0" i="0">
                <a:solidFill>
                  <a:srgbClr val="555555"/>
                </a:solidFill>
                <a:latin typeface="Calibri"/>
              </a:rPr>
              <a:t>Valeur DCF base</a:t>
            </a:r>
          </a:p>
        </p:txBody>
      </p:sp>
      <p:sp>
        <p:nvSpPr>
          <p:cNvPr id="58" name="TextBox 57"/>
          <p:cNvSpPr txBox="1"/>
          <p:nvPr/>
        </p:nvSpPr>
        <p:spPr>
          <a:xfrm>
            <a:off x="4698000" y="4730400"/>
            <a:ext cx="1893600" cy="165600"/>
          </a:xfrm>
          <a:prstGeom prst="rect">
            <a:avLst/>
          </a:prstGeom>
          <a:noFill/>
        </p:spPr>
        <p:txBody>
          <a:bodyPr wrap="square">
            <a:spAutoFit/>
          </a:bodyPr>
          <a:lstStyle/>
          <a:p>
            <a:pPr algn="l"/>
            <a:r>
              <a:rPr sz="700" b="0" i="0">
                <a:solidFill>
                  <a:srgbClr val="888888"/>
                </a:solidFill>
                <a:latin typeface="Calibri"/>
              </a:rPr>
              <a:t>Upside +10,4 % vs cours</a:t>
            </a:r>
          </a:p>
        </p:txBody>
      </p:sp>
      <p:sp>
        <p:nvSpPr>
          <p:cNvPr id="59" name="Rectangle 58"/>
          <p:cNvSpPr/>
          <p:nvPr/>
        </p:nvSpPr>
        <p:spPr>
          <a:xfrm>
            <a:off x="67284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284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18400" y="4136400"/>
            <a:ext cx="1893600" cy="396000"/>
          </a:xfrm>
          <a:prstGeom prst="rect">
            <a:avLst/>
          </a:prstGeom>
          <a:noFill/>
        </p:spPr>
        <p:txBody>
          <a:bodyPr wrap="square">
            <a:spAutoFit/>
          </a:bodyPr>
          <a:lstStyle/>
          <a:p>
            <a:pPr algn="l"/>
            <a:r>
              <a:rPr sz="1900" b="1" i="0">
                <a:solidFill>
                  <a:srgbClr val="1B3A6B"/>
                </a:solidFill>
                <a:latin typeface="Calibri"/>
              </a:rPr>
              <a:t>+0,420</a:t>
            </a:r>
          </a:p>
        </p:txBody>
      </p:sp>
      <p:sp>
        <p:nvSpPr>
          <p:cNvPr id="62" name="TextBox 61"/>
          <p:cNvSpPr txBox="1"/>
          <p:nvPr/>
        </p:nvSpPr>
        <p:spPr>
          <a:xfrm>
            <a:off x="6818400" y="45324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63" name="TextBox 62"/>
          <p:cNvSpPr txBox="1"/>
          <p:nvPr/>
        </p:nvSpPr>
        <p:spPr>
          <a:xfrm>
            <a:off x="6818400" y="4730400"/>
            <a:ext cx="1893600" cy="165600"/>
          </a:xfrm>
          <a:prstGeom prst="rect">
            <a:avLst/>
          </a:prstGeom>
          <a:noFill/>
        </p:spPr>
        <p:txBody>
          <a:bodyPr wrap="square">
            <a:spAutoFit/>
          </a:bodyPr>
          <a:lstStyle/>
          <a:p>
            <a:pPr algn="l"/>
            <a:r>
              <a:rPr sz="700" b="0" i="0">
                <a:solidFill>
                  <a:srgbClr val="888888"/>
                </a:solidFill>
                <a:latin typeface="Calibri"/>
              </a:rPr>
              <a:t>Positif  ·  20 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Thales S.A.  ·  Industrials</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4–6</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7–10</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11–14</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Dépendance défense  ·  Risque géopolitique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15–16</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historique &amp; conviction</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17–21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Thales S.A.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Thales S.A. est un leader mondial des systèmes critiques pour les secteurs de la défense, de l'aérospatial et de la sécurité. Positionné sur des niches à haute barrière technologique, le groupe combine logiciels embarqués et services à forte valeur ajoutée. Ses avantages concurrentiels incluent des partenariats stratégiques avec les États et une R&amp;D intensive ciblant les technologies duales et l'IA. L'entreprise articule son activité autour de trois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Aérospatial &amp; Défense</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Segment phare générant 65% du CA, axé sur les systèmes embarqués critiques (avionique, radars) et les solutions de cybersécurité. Clients : constructeurs aéronautiques (Airbus, Boeing) et armées. Croissance portée par l'électrification des aéronefs et les commandes militaires en Europe/Asie.</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Sécurité &amp; Identité</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Segment en expansion (20% du CA) incluant les passeports biométriques, les systèmes de contrôle d'accès et les solutions de surveillance. Modèle récurrent via contrats longs termes. Clients : États et entreprises privées. Moteur : réglementations anti-fraude et digitalisation des identités.</a:t>
            </a:r>
          </a:p>
        </p:txBody>
      </p:sp>
      <p:sp>
        <p:nvSpPr>
          <p:cNvPr id="26" name="Rectangle 25"/>
          <p:cNvSpPr/>
          <p:nvPr/>
        </p:nvSpPr>
        <p:spPr>
          <a:xfrm>
            <a:off x="503999" y="4003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200" y="3960000"/>
            <a:ext cx="4338000" cy="165600"/>
          </a:xfrm>
          <a:prstGeom prst="rect">
            <a:avLst/>
          </a:prstGeom>
          <a:noFill/>
        </p:spPr>
        <p:txBody>
          <a:bodyPr wrap="square">
            <a:spAutoFit/>
          </a:bodyPr>
          <a:lstStyle/>
          <a:p>
            <a:pPr algn="l"/>
            <a:r>
              <a:rPr sz="850" b="1" i="0">
                <a:solidFill>
                  <a:srgbClr val="0D0D0D"/>
                </a:solidFill>
                <a:latin typeface="Calibri"/>
              </a:rPr>
              <a:t>Transport &amp; Numérique</a:t>
            </a:r>
          </a:p>
        </p:txBody>
      </p:sp>
      <p:sp>
        <p:nvSpPr>
          <p:cNvPr id="28" name="TextBox 27"/>
          <p:cNvSpPr txBox="1"/>
          <p:nvPr/>
        </p:nvSpPr>
        <p:spPr>
          <a:xfrm>
            <a:off x="619200" y="4118400"/>
            <a:ext cx="4338000" cy="503999"/>
          </a:xfrm>
          <a:prstGeom prst="rect">
            <a:avLst/>
          </a:prstGeom>
          <a:noFill/>
        </p:spPr>
        <p:txBody>
          <a:bodyPr wrap="square">
            <a:spAutoFit/>
          </a:bodyPr>
          <a:lstStyle/>
          <a:p>
            <a:pPr algn="l"/>
            <a:r>
              <a:rPr sz="750" b="0" i="1">
                <a:solidFill>
                  <a:srgbClr val="555555"/>
                </a:solidFill>
                <a:latin typeface="Calibri"/>
              </a:rPr>
              <a:t>Segment diversifié (15% du CA) couvrant les systèmes de signalisation ferroviaire et les solutions de mobilité intelligente. Mix de revenus récurrents et projets ponctuels. Clients : opérateurs ferroviaires et collectivités. Croissance tirée par les investissements dans les smart cities et la digitalisation des infrastructures.</a:t>
            </a:r>
          </a:p>
        </p:txBody>
      </p:sp>
      <p:sp>
        <p:nvSpPr>
          <p:cNvPr id="29" name="Rectangle 28"/>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54,9 Md€</a:t>
            </a:r>
          </a:p>
        </p:txBody>
      </p:sp>
      <p:sp>
        <p:nvSpPr>
          <p:cNvPr id="32" name="TextBox 31"/>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33" name="Rectangle 32"/>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22,1 Md€</a:t>
            </a:r>
          </a:p>
        </p:txBody>
      </p:sp>
      <p:sp>
        <p:nvSpPr>
          <p:cNvPr id="36" name="TextBox 35"/>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7" name="Rectangle 36"/>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267,30 EUR</a:t>
            </a:r>
          </a:p>
        </p:txBody>
      </p:sp>
      <p:sp>
        <p:nvSpPr>
          <p:cNvPr id="40" name="TextBox 39"/>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41" name="Rectangle 40"/>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16,6x</a:t>
            </a:r>
          </a:p>
        </p:txBody>
      </p:sp>
      <p:sp>
        <p:nvSpPr>
          <p:cNvPr id="44" name="TextBox 43"/>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5" name="TextBox 44"/>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32,8x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2731199"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31199"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2551199" cy="640800"/>
          </a:xfrm>
          <a:prstGeom prst="rect">
            <a:avLst/>
          </a:prstGeom>
          <a:noFill/>
        </p:spPr>
        <p:txBody>
          <a:bodyPr wrap="square">
            <a:spAutoFit/>
          </a:bodyPr>
          <a:lstStyle/>
          <a:p>
            <a:pPr algn="l"/>
            <a:r>
              <a:rPr sz="2200" b="1" i="0">
                <a:solidFill>
                  <a:srgbClr val="2E5FA3"/>
                </a:solidFill>
                <a:latin typeface="Calibri"/>
              </a:rPr>
              <a:t>65%</a:t>
            </a:r>
          </a:p>
        </p:txBody>
      </p:sp>
      <p:sp>
        <p:nvSpPr>
          <p:cNvPr id="20" name="TextBox 19"/>
          <p:cNvSpPr txBox="1"/>
          <p:nvPr/>
        </p:nvSpPr>
        <p:spPr>
          <a:xfrm>
            <a:off x="4572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2551199" cy="255600"/>
          </a:xfrm>
          <a:prstGeom prst="rect">
            <a:avLst/>
          </a:prstGeom>
          <a:noFill/>
        </p:spPr>
        <p:txBody>
          <a:bodyPr wrap="square">
            <a:spAutoFit/>
          </a:bodyPr>
          <a:lstStyle/>
          <a:p>
            <a:pPr algn="l"/>
            <a:r>
              <a:rPr sz="1000" b="1" i="0">
                <a:solidFill>
                  <a:srgbClr val="1B3A6B"/>
                </a:solidFill>
                <a:latin typeface="Calibri"/>
              </a:rPr>
              <a:t>Aérospatial &amp; Défense</a:t>
            </a:r>
          </a:p>
        </p:txBody>
      </p:sp>
      <p:sp>
        <p:nvSpPr>
          <p:cNvPr id="23" name="TextBox 22"/>
          <p:cNvSpPr txBox="1"/>
          <p:nvPr/>
        </p:nvSpPr>
        <p:spPr>
          <a:xfrm>
            <a:off x="457200" y="2332800"/>
            <a:ext cx="2551199" cy="2041199"/>
          </a:xfrm>
          <a:prstGeom prst="rect">
            <a:avLst/>
          </a:prstGeom>
          <a:noFill/>
        </p:spPr>
        <p:txBody>
          <a:bodyPr wrap="square">
            <a:spAutoFit/>
          </a:bodyPr>
          <a:lstStyle/>
          <a:p>
            <a:pPr algn="l"/>
            <a:r>
              <a:rPr sz="800" b="0" i="0">
                <a:solidFill>
                  <a:srgbClr val="555555"/>
                </a:solidFill>
                <a:latin typeface="Calibri"/>
              </a:rPr>
              <a:t>Segment phare générant 65% du CA, axé sur les systèmes embarqués critiques (avionique, radars) et les solutions de cybersécurité. Clients : constructeurs aéronautiques (Airbus, Boeing) et armées. Croissance portée par l'électrification des aéronefs et les commandes militaires en Europe/Asie.</a:t>
            </a:r>
          </a:p>
        </p:txBody>
      </p:sp>
      <p:sp>
        <p:nvSpPr>
          <p:cNvPr id="24" name="Rectangle 23"/>
          <p:cNvSpPr/>
          <p:nvPr/>
        </p:nvSpPr>
        <p:spPr>
          <a:xfrm>
            <a:off x="3206400" y="961200"/>
            <a:ext cx="2731199"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6400" y="961200"/>
            <a:ext cx="2731199"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6400" y="1141200"/>
            <a:ext cx="2551199" cy="640800"/>
          </a:xfrm>
          <a:prstGeom prst="rect">
            <a:avLst/>
          </a:prstGeom>
          <a:noFill/>
        </p:spPr>
        <p:txBody>
          <a:bodyPr wrap="square">
            <a:spAutoFit/>
          </a:bodyPr>
          <a:lstStyle/>
          <a:p>
            <a:pPr algn="l"/>
            <a:r>
              <a:rPr sz="2200" b="1" i="0">
                <a:solidFill>
                  <a:srgbClr val="1A7A4A"/>
                </a:solidFill>
                <a:latin typeface="Calibri"/>
              </a:rPr>
              <a:t>20%</a:t>
            </a:r>
          </a:p>
        </p:txBody>
      </p:sp>
      <p:sp>
        <p:nvSpPr>
          <p:cNvPr id="27" name="TextBox 26"/>
          <p:cNvSpPr txBox="1"/>
          <p:nvPr/>
        </p:nvSpPr>
        <p:spPr>
          <a:xfrm>
            <a:off x="32964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32964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6400" y="2059200"/>
            <a:ext cx="2551199" cy="255600"/>
          </a:xfrm>
          <a:prstGeom prst="rect">
            <a:avLst/>
          </a:prstGeom>
          <a:noFill/>
        </p:spPr>
        <p:txBody>
          <a:bodyPr wrap="square">
            <a:spAutoFit/>
          </a:bodyPr>
          <a:lstStyle/>
          <a:p>
            <a:pPr algn="l"/>
            <a:r>
              <a:rPr sz="1000" b="1" i="0">
                <a:solidFill>
                  <a:srgbClr val="1B3A6B"/>
                </a:solidFill>
                <a:latin typeface="Calibri"/>
              </a:rPr>
              <a:t>Sécurité &amp; Identité</a:t>
            </a:r>
          </a:p>
        </p:txBody>
      </p:sp>
      <p:sp>
        <p:nvSpPr>
          <p:cNvPr id="30" name="TextBox 29"/>
          <p:cNvSpPr txBox="1"/>
          <p:nvPr/>
        </p:nvSpPr>
        <p:spPr>
          <a:xfrm>
            <a:off x="3296400" y="2332800"/>
            <a:ext cx="2551199" cy="2041199"/>
          </a:xfrm>
          <a:prstGeom prst="rect">
            <a:avLst/>
          </a:prstGeom>
          <a:noFill/>
        </p:spPr>
        <p:txBody>
          <a:bodyPr wrap="square">
            <a:spAutoFit/>
          </a:bodyPr>
          <a:lstStyle/>
          <a:p>
            <a:pPr algn="l"/>
            <a:r>
              <a:rPr sz="800" b="0" i="0">
                <a:solidFill>
                  <a:srgbClr val="555555"/>
                </a:solidFill>
                <a:latin typeface="Calibri"/>
              </a:rPr>
              <a:t>Segment en expansion (20% du CA) incluant les passeports biométriques, les systèmes de contrôle d'accès et les solutions de surveillance. Modèle récurrent via contrats longs termes. Clients : États et entreprises privées. Moteur : réglementations anti-fraude et digitalisation des identités.</a:t>
            </a:r>
          </a:p>
        </p:txBody>
      </p:sp>
      <p:sp>
        <p:nvSpPr>
          <p:cNvPr id="31" name="Rectangle 30"/>
          <p:cNvSpPr/>
          <p:nvPr/>
        </p:nvSpPr>
        <p:spPr>
          <a:xfrm>
            <a:off x="6045600" y="961200"/>
            <a:ext cx="2731199"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45600" y="961200"/>
            <a:ext cx="2731199" cy="54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35600" y="1141200"/>
            <a:ext cx="2551199" cy="640800"/>
          </a:xfrm>
          <a:prstGeom prst="rect">
            <a:avLst/>
          </a:prstGeom>
          <a:noFill/>
        </p:spPr>
        <p:txBody>
          <a:bodyPr wrap="square">
            <a:spAutoFit/>
          </a:bodyPr>
          <a:lstStyle/>
          <a:p>
            <a:pPr algn="l"/>
            <a:r>
              <a:rPr sz="2200" b="1" i="0">
                <a:solidFill>
                  <a:srgbClr val="888888"/>
                </a:solidFill>
                <a:latin typeface="Calibri"/>
              </a:rPr>
              <a:t>15%</a:t>
            </a:r>
          </a:p>
        </p:txBody>
      </p:sp>
      <p:sp>
        <p:nvSpPr>
          <p:cNvPr id="34" name="TextBox 33"/>
          <p:cNvSpPr txBox="1"/>
          <p:nvPr/>
        </p:nvSpPr>
        <p:spPr>
          <a:xfrm>
            <a:off x="61356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35" name="Rectangle 34"/>
          <p:cNvSpPr/>
          <p:nvPr/>
        </p:nvSpPr>
        <p:spPr>
          <a:xfrm>
            <a:off x="61356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5600" y="2059200"/>
            <a:ext cx="2551199" cy="255600"/>
          </a:xfrm>
          <a:prstGeom prst="rect">
            <a:avLst/>
          </a:prstGeom>
          <a:noFill/>
        </p:spPr>
        <p:txBody>
          <a:bodyPr wrap="square">
            <a:spAutoFit/>
          </a:bodyPr>
          <a:lstStyle/>
          <a:p>
            <a:pPr algn="l"/>
            <a:r>
              <a:rPr sz="1000" b="1" i="0">
                <a:solidFill>
                  <a:srgbClr val="1B3A6B"/>
                </a:solidFill>
                <a:latin typeface="Calibri"/>
              </a:rPr>
              <a:t>Transport &amp; Numérique</a:t>
            </a:r>
          </a:p>
        </p:txBody>
      </p:sp>
      <p:sp>
        <p:nvSpPr>
          <p:cNvPr id="37" name="TextBox 36"/>
          <p:cNvSpPr txBox="1"/>
          <p:nvPr/>
        </p:nvSpPr>
        <p:spPr>
          <a:xfrm>
            <a:off x="6135600" y="2332800"/>
            <a:ext cx="2551199" cy="2041199"/>
          </a:xfrm>
          <a:prstGeom prst="rect">
            <a:avLst/>
          </a:prstGeom>
          <a:noFill/>
        </p:spPr>
        <p:txBody>
          <a:bodyPr wrap="square">
            <a:spAutoFit/>
          </a:bodyPr>
          <a:lstStyle/>
          <a:p>
            <a:pPr algn="l"/>
            <a:r>
              <a:rPr sz="800" b="0" i="0">
                <a:solidFill>
                  <a:srgbClr val="555555"/>
                </a:solidFill>
                <a:latin typeface="Calibri"/>
              </a:rPr>
              <a:t>Segment diversifié (15% du CA) couvrant les systèmes de signalisation ferroviaire et les solutions de mobilité intelligente. Mix de revenus récurrents et projets ponctuels. Clients : opérateurs ferroviaires et collectivités. Croissance tirée par les investissements dans les smart cities et la digitalisation des infrastructures.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EUR millions  ·  2022–2027F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18,4</a:t>
                      </a:r>
                    </a:p>
                  </a:txBody>
                  <a:tcPr>
                    <a:solidFill>
                      <a:srgbClr val="FFFFFF"/>
                    </a:solidFill>
                  </a:tcPr>
                </a:tc>
                <a:tc>
                  <a:txBody>
                    <a:bodyPr/>
                    <a:lstStyle/>
                    <a:p>
                      <a:pPr algn="ctr"/>
                      <a:r>
                        <a:rPr sz="800" b="1" i="0">
                          <a:solidFill>
                            <a:srgbClr val="0D0D0D"/>
                          </a:solidFill>
                          <a:latin typeface="Calibri"/>
                        </a:rPr>
                        <a:t>20,6</a:t>
                      </a:r>
                    </a:p>
                  </a:txBody>
                  <a:tcPr>
                    <a:solidFill>
                      <a:srgbClr val="FFFFFF"/>
                    </a:solidFill>
                  </a:tcPr>
                </a:tc>
                <a:tc>
                  <a:txBody>
                    <a:bodyPr/>
                    <a:lstStyle/>
                    <a:p>
                      <a:pPr algn="ctr"/>
                      <a:r>
                        <a:rPr sz="800" b="1" i="0">
                          <a:solidFill>
                            <a:srgbClr val="1B3A6B"/>
                          </a:solidFill>
                          <a:latin typeface="Calibri"/>
                        </a:rPr>
                        <a:t>22,1</a:t>
                      </a:r>
                    </a:p>
                  </a:txBody>
                  <a:tcPr>
                    <a:solidFill>
                      <a:srgbClr val="DDE8F5"/>
                    </a:solidFill>
                  </a:tcPr>
                </a:tc>
                <a:tc>
                  <a:txBody>
                    <a:bodyPr/>
                    <a:lstStyle/>
                    <a:p>
                      <a:pPr algn="ctr"/>
                      <a:r>
                        <a:rPr sz="800" b="1" i="0">
                          <a:solidFill>
                            <a:srgbClr val="0D0D0D"/>
                          </a:solidFill>
                          <a:latin typeface="Calibri"/>
                        </a:rPr>
                        <a:t>23,5</a:t>
                      </a:r>
                    </a:p>
                  </a:txBody>
                  <a:tcPr>
                    <a:solidFill>
                      <a:srgbClr val="FFFFFF"/>
                    </a:solidFill>
                  </a:tcPr>
                </a:tc>
                <a:tc>
                  <a:txBody>
                    <a:bodyPr/>
                    <a:lstStyle/>
                    <a:p>
                      <a:pPr algn="ctr"/>
                      <a:r>
                        <a:rPr sz="800" b="1" i="0">
                          <a:solidFill>
                            <a:srgbClr val="0D0D0D"/>
                          </a:solidFill>
                          <a:latin typeface="Calibri"/>
                        </a:rPr>
                        <a:t>25,0</a:t>
                      </a:r>
                    </a:p>
                  </a:txBody>
                  <a:tcPr>
                    <a:solidFill>
                      <a:srgbClr val="FFFFFF"/>
                    </a:solidFill>
                  </a:tcPr>
                </a:tc>
              </a:tr>
              <a:tr h="220000">
                <a:tc>
                  <a:txBody>
                    <a:bodyPr/>
                    <a:lstStyle/>
                    <a:p>
                      <a:pPr algn="l"/>
                      <a:r>
                        <a:rPr sz="750" b="0" i="1">
                          <a:solidFill>
                            <a:srgbClr val="333333"/>
                          </a:solidFill>
                          <a:latin typeface="Calibri"/>
                        </a:rPr>
                        <a:t>Croissance YoY</a:t>
                      </a:r>
                    </a:p>
                  </a:txBody>
                  <a:tcPr>
                    <a:solidFill>
                      <a:srgbClr val="F7F8FA"/>
                    </a:solidFill>
                  </a:tcPr>
                </a:tc>
                <a:tc>
                  <a:txBody>
                    <a:bodyPr/>
                    <a:lstStyle/>
                    <a:p>
                      <a:pPr algn="ctr"/>
                      <a:r>
                        <a:rPr sz="750" b="0" i="1">
                          <a:solidFill>
                            <a:srgbClr val="333333"/>
                          </a:solidFill>
                          <a:latin typeface="Calibri"/>
                        </a:rPr>
                        <a:t>+4,9 %</a:t>
                      </a:r>
                    </a:p>
                  </a:txBody>
                  <a:tcPr>
                    <a:solidFill>
                      <a:srgbClr val="F7F8FA"/>
                    </a:solidFill>
                  </a:tcPr>
                </a:tc>
                <a:tc>
                  <a:txBody>
                    <a:bodyPr/>
                    <a:lstStyle/>
                    <a:p>
                      <a:pPr algn="ctr"/>
                      <a:r>
                        <a:rPr sz="750" b="0" i="1">
                          <a:solidFill>
                            <a:srgbClr val="333333"/>
                          </a:solidFill>
                          <a:latin typeface="Calibri"/>
                        </a:rPr>
                        <a:t>+11,6 %</a:t>
                      </a:r>
                    </a:p>
                  </a:txBody>
                  <a:tcPr>
                    <a:solidFill>
                      <a:srgbClr val="F7F8FA"/>
                    </a:solidFill>
                  </a:tcPr>
                </a:tc>
                <a:tc>
                  <a:txBody>
                    <a:bodyPr/>
                    <a:lstStyle/>
                    <a:p>
                      <a:pPr algn="ctr"/>
                      <a:r>
                        <a:rPr sz="750" b="0" i="1">
                          <a:solidFill>
                            <a:srgbClr val="333333"/>
                          </a:solidFill>
                          <a:latin typeface="Calibri"/>
                        </a:rPr>
                        <a:t>+7,6 %</a:t>
                      </a:r>
                    </a:p>
                  </a:txBody>
                  <a:tcPr>
                    <a:solidFill>
                      <a:srgbClr val="DDE8F5"/>
                    </a:solidFill>
                  </a:tcPr>
                </a:tc>
                <a:tc>
                  <a:txBody>
                    <a:bodyPr/>
                    <a:lstStyle/>
                    <a:p>
                      <a:pPr algn="ctr"/>
                      <a:r>
                        <a:rPr sz="750" b="0" i="1">
                          <a:solidFill>
                            <a:srgbClr val="333333"/>
                          </a:solidFill>
                          <a:latin typeface="Calibri"/>
                        </a:rPr>
                        <a:t>+6,2 %</a:t>
                      </a:r>
                    </a:p>
                  </a:txBody>
                  <a:tcPr>
                    <a:solidFill>
                      <a:srgbClr val="F7F8FA"/>
                    </a:solidFill>
                  </a:tcPr>
                </a:tc>
                <a:tc>
                  <a:txBody>
                    <a:bodyPr/>
                    <a:lstStyle/>
                    <a:p>
                      <a:pPr algn="ctr"/>
                      <a:r>
                        <a:rPr sz="750" b="0" i="1">
                          <a:solidFill>
                            <a:srgbClr val="333333"/>
                          </a:solidFill>
                          <a:latin typeface="Calibri"/>
                        </a:rPr>
                        <a:t>+6,4 %</a:t>
                      </a:r>
                    </a:p>
                  </a:txBody>
                  <a:tcPr>
                    <a:solidFill>
                      <a:srgbClr val="F7F8FA"/>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4,8</a:t>
                      </a:r>
                    </a:p>
                  </a:txBody>
                  <a:tcPr>
                    <a:solidFill>
                      <a:srgbClr val="FFFFFF"/>
                    </a:solidFill>
                  </a:tcPr>
                </a:tc>
                <a:tc>
                  <a:txBody>
                    <a:bodyPr/>
                    <a:lstStyle/>
                    <a:p>
                      <a:pPr algn="ctr"/>
                      <a:r>
                        <a:rPr sz="800" b="1" i="0">
                          <a:solidFill>
                            <a:srgbClr val="0D0D0D"/>
                          </a:solidFill>
                          <a:latin typeface="Calibri"/>
                        </a:rPr>
                        <a:t>5,4</a:t>
                      </a:r>
                    </a:p>
                  </a:txBody>
                  <a:tcPr>
                    <a:solidFill>
                      <a:srgbClr val="FFFFFF"/>
                    </a:solidFill>
                  </a:tcPr>
                </a:tc>
                <a:tc>
                  <a:txBody>
                    <a:bodyPr/>
                    <a:lstStyle/>
                    <a:p>
                      <a:pPr algn="ctr"/>
                      <a:r>
                        <a:rPr sz="800" b="1" i="0">
                          <a:solidFill>
                            <a:srgbClr val="1B3A6B"/>
                          </a:solidFill>
                          <a:latin typeface="Calibri"/>
                        </a:rPr>
                        <a:t>5,9</a:t>
                      </a:r>
                    </a:p>
                  </a:txBody>
                  <a:tcPr>
                    <a:solidFill>
                      <a:srgbClr val="DDE8F5"/>
                    </a:solidFill>
                  </a:tcPr>
                </a:tc>
                <a:tc>
                  <a:txBody>
                    <a:bodyPr/>
                    <a:lstStyle/>
                    <a:p>
                      <a:pPr algn="ctr"/>
                      <a:r>
                        <a:rPr sz="800" b="1" i="0">
                          <a:solidFill>
                            <a:srgbClr val="0D0D0D"/>
                          </a:solidFill>
                          <a:latin typeface="Calibri"/>
                        </a:rPr>
                        <a:t>6,3</a:t>
                      </a:r>
                    </a:p>
                  </a:txBody>
                  <a:tcPr>
                    <a:solidFill>
                      <a:srgbClr val="FFFFFF"/>
                    </a:solidFill>
                  </a:tcPr>
                </a:tc>
                <a:tc>
                  <a:txBody>
                    <a:bodyPr/>
                    <a:lstStyle/>
                    <a:p>
                      <a:pPr algn="ctr"/>
                      <a:r>
                        <a:rPr sz="800" b="1" i="0">
                          <a:solidFill>
                            <a:srgbClr val="0D0D0D"/>
                          </a:solidFill>
                          <a:latin typeface="Calibri"/>
                        </a:rPr>
                        <a:t>6,9</a:t>
                      </a:r>
                    </a:p>
                  </a:txBody>
                  <a:tcPr>
                    <a:solidFill>
                      <a:srgbClr val="FFFFFF"/>
                    </a:solidFill>
                  </a:tcPr>
                </a:tc>
              </a:tr>
              <a:tr h="220000">
                <a:tc>
                  <a:txBody>
                    <a:bodyPr/>
                    <a:lstStyle/>
                    <a:p>
                      <a:pPr algn="l"/>
                      <a:r>
                        <a:rPr sz="750" b="0" i="1">
                          <a:solidFill>
                            <a:srgbClr val="333333"/>
                          </a:solidFill>
                          <a:latin typeface="Calibri"/>
                        </a:rPr>
                        <a:t>Marge brute</a:t>
                      </a:r>
                    </a:p>
                  </a:txBody>
                  <a:tcPr>
                    <a:solidFill>
                      <a:srgbClr val="F7F8FA"/>
                    </a:solidFill>
                  </a:tcPr>
                </a:tc>
                <a:tc>
                  <a:txBody>
                    <a:bodyPr/>
                    <a:lstStyle/>
                    <a:p>
                      <a:pPr algn="ctr"/>
                      <a:r>
                        <a:rPr sz="750" b="0" i="1">
                          <a:solidFill>
                            <a:srgbClr val="333333"/>
                          </a:solidFill>
                          <a:latin typeface="Calibri"/>
                        </a:rPr>
                        <a:t>25,9 %</a:t>
                      </a:r>
                    </a:p>
                  </a:txBody>
                  <a:tcPr>
                    <a:solidFill>
                      <a:srgbClr val="F7F8FA"/>
                    </a:solidFill>
                  </a:tcPr>
                </a:tc>
                <a:tc>
                  <a:txBody>
                    <a:bodyPr/>
                    <a:lstStyle/>
                    <a:p>
                      <a:pPr algn="ctr"/>
                      <a:r>
                        <a:rPr sz="750" b="0" i="1">
                          <a:solidFill>
                            <a:srgbClr val="333333"/>
                          </a:solidFill>
                          <a:latin typeface="Calibri"/>
                        </a:rPr>
                        <a:t>26,1 %</a:t>
                      </a:r>
                    </a:p>
                  </a:txBody>
                  <a:tcPr>
                    <a:solidFill>
                      <a:srgbClr val="F7F8FA"/>
                    </a:solidFill>
                  </a:tcPr>
                </a:tc>
                <a:tc>
                  <a:txBody>
                    <a:bodyPr/>
                    <a:lstStyle/>
                    <a:p>
                      <a:pPr algn="ctr"/>
                      <a:r>
                        <a:rPr sz="750" b="0" i="1">
                          <a:solidFill>
                            <a:srgbClr val="333333"/>
                          </a:solidFill>
                          <a:latin typeface="Calibri"/>
                        </a:rPr>
                        <a:t>26,4 %</a:t>
                      </a:r>
                    </a:p>
                  </a:txBody>
                  <a:tcPr>
                    <a:solidFill>
                      <a:srgbClr val="DDE8F5"/>
                    </a:solidFill>
                  </a:tcPr>
                </a:tc>
                <a:tc>
                  <a:txBody>
                    <a:bodyPr/>
                    <a:lstStyle/>
                    <a:p>
                      <a:pPr algn="ctr"/>
                      <a:r>
                        <a:rPr sz="750" b="0" i="1">
                          <a:solidFill>
                            <a:srgbClr val="333333"/>
                          </a:solidFill>
                          <a:latin typeface="Calibri"/>
                        </a:rPr>
                        <a:t>27,0 %</a:t>
                      </a:r>
                    </a:p>
                  </a:txBody>
                  <a:tcPr>
                    <a:solidFill>
                      <a:srgbClr val="F7F8FA"/>
                    </a:solidFill>
                  </a:tcPr>
                </a:tc>
                <a:tc>
                  <a:txBody>
                    <a:bodyPr/>
                    <a:lstStyle/>
                    <a:p>
                      <a:pPr algn="ctr"/>
                      <a:r>
                        <a:rPr sz="750" b="0" i="1">
                          <a:solidFill>
                            <a:srgbClr val="333333"/>
                          </a:solidFill>
                          <a:latin typeface="Calibri"/>
                        </a:rPr>
                        <a:t>27,5 %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2,5</a:t>
                      </a:r>
                    </a:p>
                  </a:txBody>
                  <a:tcPr>
                    <a:solidFill>
                      <a:srgbClr val="FFFFFF"/>
                    </a:solidFill>
                  </a:tcPr>
                </a:tc>
                <a:tc>
                  <a:txBody>
                    <a:bodyPr/>
                    <a:lstStyle/>
                    <a:p>
                      <a:pPr algn="ctr"/>
                      <a:r>
                        <a:rPr sz="800" b="1" i="0">
                          <a:solidFill>
                            <a:srgbClr val="0D0D0D"/>
                          </a:solidFill>
                          <a:latin typeface="Calibri"/>
                        </a:rPr>
                        <a:t>2,7</a:t>
                      </a:r>
                    </a:p>
                  </a:txBody>
                  <a:tcPr>
                    <a:solidFill>
                      <a:srgbClr val="FFFFFF"/>
                    </a:solidFill>
                  </a:tcPr>
                </a:tc>
                <a:tc>
                  <a:txBody>
                    <a:bodyPr/>
                    <a:lstStyle/>
                    <a:p>
                      <a:pPr algn="ctr"/>
                      <a:r>
                        <a:rPr sz="800" b="1" i="0">
                          <a:solidFill>
                            <a:srgbClr val="1B3A6B"/>
                          </a:solidFill>
                          <a:latin typeface="Calibri"/>
                        </a:rPr>
                        <a:t>3,4</a:t>
                      </a:r>
                    </a:p>
                  </a:txBody>
                  <a:tcPr>
                    <a:solidFill>
                      <a:srgbClr val="DDE8F5"/>
                    </a:solidFill>
                  </a:tcPr>
                </a:tc>
                <a:tc>
                  <a:txBody>
                    <a:bodyPr/>
                    <a:lstStyle/>
                    <a:p>
                      <a:pPr algn="ctr"/>
                      <a:r>
                        <a:rPr sz="800" b="1" i="0">
                          <a:solidFill>
                            <a:srgbClr val="0D0D0D"/>
                          </a:solidFill>
                          <a:latin typeface="Calibri"/>
                        </a:rPr>
                        <a:t>4,0</a:t>
                      </a:r>
                    </a:p>
                  </a:txBody>
                  <a:tcPr>
                    <a:solidFill>
                      <a:srgbClr val="FFFFFF"/>
                    </a:solidFill>
                  </a:tcPr>
                </a:tc>
                <a:tc>
                  <a:txBody>
                    <a:bodyPr/>
                    <a:lstStyle/>
                    <a:p>
                      <a:pPr algn="ctr"/>
                      <a:r>
                        <a:rPr sz="800" b="1" i="0">
                          <a:solidFill>
                            <a:srgbClr val="0D0D0D"/>
                          </a:solidFill>
                          <a:latin typeface="Calibri"/>
                        </a:rPr>
                        <a:t>4,4</a:t>
                      </a:r>
                    </a:p>
                  </a:txBody>
                  <a:tcPr>
                    <a:solidFill>
                      <a:srgbClr val="FFFFFF"/>
                    </a:solidFill>
                  </a:tcPr>
                </a:tc>
              </a:tr>
              <a:tr h="220000">
                <a:tc>
                  <a:txBody>
                    <a:bodyPr/>
                    <a:lstStyle/>
                    <a:p>
                      <a:pPr algn="l"/>
                      <a:r>
                        <a:rPr sz="750" b="0" i="1">
                          <a:solidFill>
                            <a:srgbClr val="333333"/>
                          </a:solidFill>
                          <a:latin typeface="Calibri"/>
                        </a:rPr>
                        <a:t>Marge EBITDA</a:t>
                      </a:r>
                    </a:p>
                  </a:txBody>
                  <a:tcPr>
                    <a:solidFill>
                      <a:srgbClr val="F7F8FA"/>
                    </a:solidFill>
                  </a:tcPr>
                </a:tc>
                <a:tc>
                  <a:txBody>
                    <a:bodyPr/>
                    <a:lstStyle/>
                    <a:p>
                      <a:pPr algn="ctr"/>
                      <a:r>
                        <a:rPr sz="750" b="0" i="1">
                          <a:solidFill>
                            <a:srgbClr val="333333"/>
                          </a:solidFill>
                          <a:latin typeface="Calibri"/>
                        </a:rPr>
                        <a:t>13,3 %</a:t>
                      </a:r>
                    </a:p>
                  </a:txBody>
                  <a:tcPr>
                    <a:solidFill>
                      <a:srgbClr val="F7F8FA"/>
                    </a:solidFill>
                  </a:tcPr>
                </a:tc>
                <a:tc>
                  <a:txBody>
                    <a:bodyPr/>
                    <a:lstStyle/>
                    <a:p>
                      <a:pPr algn="ctr"/>
                      <a:r>
                        <a:rPr sz="750" b="0" i="1">
                          <a:solidFill>
                            <a:srgbClr val="333333"/>
                          </a:solidFill>
                          <a:latin typeface="Calibri"/>
                        </a:rPr>
                        <a:t>12,9 %</a:t>
                      </a:r>
                    </a:p>
                  </a:txBody>
                  <a:tcPr>
                    <a:solidFill>
                      <a:srgbClr val="F7F8FA"/>
                    </a:solidFill>
                  </a:tcPr>
                </a:tc>
                <a:tc>
                  <a:txBody>
                    <a:bodyPr/>
                    <a:lstStyle/>
                    <a:p>
                      <a:pPr algn="ctr"/>
                      <a:r>
                        <a:rPr sz="750" b="0" i="1">
                          <a:solidFill>
                            <a:srgbClr val="333333"/>
                          </a:solidFill>
                          <a:latin typeface="Calibri"/>
                        </a:rPr>
                        <a:t>15,4 %</a:t>
                      </a:r>
                    </a:p>
                  </a:txBody>
                  <a:tcPr>
                    <a:solidFill>
                      <a:srgbClr val="DDE8F5"/>
                    </a:solidFill>
                  </a:tcPr>
                </a:tc>
                <a:tc>
                  <a:txBody>
                    <a:bodyPr/>
                    <a:lstStyle/>
                    <a:p>
                      <a:pPr algn="ctr"/>
                      <a:r>
                        <a:rPr sz="750" b="0" i="1">
                          <a:solidFill>
                            <a:srgbClr val="333333"/>
                          </a:solidFill>
                          <a:latin typeface="Calibri"/>
                        </a:rPr>
                        <a:t>16,9 %</a:t>
                      </a:r>
                    </a:p>
                  </a:txBody>
                  <a:tcPr>
                    <a:solidFill>
                      <a:srgbClr val="F7F8FA"/>
                    </a:solidFill>
                  </a:tcPr>
                </a:tc>
                <a:tc>
                  <a:txBody>
                    <a:bodyPr/>
                    <a:lstStyle/>
                    <a:p>
                      <a:pPr algn="ctr"/>
                      <a:r>
                        <a:rPr sz="750" b="0" i="1">
                          <a:solidFill>
                            <a:srgbClr val="333333"/>
                          </a:solidFill>
                          <a:latin typeface="Calibri"/>
                        </a:rPr>
                        <a:t>17,5 %</a:t>
                      </a:r>
                    </a:p>
                  </a:txBody>
                  <a:tcPr>
                    <a:solidFill>
                      <a:srgbClr val="F7F8FA"/>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0,9</a:t>
                      </a:r>
                    </a:p>
                  </a:txBody>
                  <a:tcPr>
                    <a:solidFill>
                      <a:srgbClr val="FFFFFF"/>
                    </a:solidFill>
                  </a:tcPr>
                </a:tc>
                <a:tc>
                  <a:txBody>
                    <a:bodyPr/>
                    <a:lstStyle/>
                    <a:p>
                      <a:pPr algn="ctr"/>
                      <a:r>
                        <a:rPr sz="800" b="1" i="0">
                          <a:solidFill>
                            <a:srgbClr val="0D0D0D"/>
                          </a:solidFill>
                          <a:latin typeface="Calibri"/>
                        </a:rPr>
                        <a:t>1,0</a:t>
                      </a:r>
                    </a:p>
                  </a:txBody>
                  <a:tcPr>
                    <a:solidFill>
                      <a:srgbClr val="FFFFFF"/>
                    </a:solidFill>
                  </a:tcPr>
                </a:tc>
                <a:tc>
                  <a:txBody>
                    <a:bodyPr/>
                    <a:lstStyle/>
                    <a:p>
                      <a:pPr algn="ctr"/>
                      <a:r>
                        <a:rPr sz="800" b="1" i="0">
                          <a:solidFill>
                            <a:srgbClr val="1B3A6B"/>
                          </a:solidFill>
                          <a:latin typeface="Calibri"/>
                        </a:rPr>
                        <a:t>1,7</a:t>
                      </a:r>
                    </a:p>
                  </a:txBody>
                  <a:tcPr>
                    <a:solidFill>
                      <a:srgbClr val="DDE8F5"/>
                    </a:solidFill>
                  </a:tcPr>
                </a:tc>
                <a:tc>
                  <a:txBody>
                    <a:bodyPr/>
                    <a:lstStyle/>
                    <a:p>
                      <a:pPr algn="ctr"/>
                      <a:r>
                        <a:rPr sz="800" b="1" i="0">
                          <a:solidFill>
                            <a:srgbClr val="0D0D0D"/>
                          </a:solidFill>
                          <a:latin typeface="Calibri"/>
                        </a:rPr>
                        <a:t>1,8</a:t>
                      </a:r>
                    </a:p>
                  </a:txBody>
                  <a:tcPr>
                    <a:solidFill>
                      <a:srgbClr val="FFFFFF"/>
                    </a:solidFill>
                  </a:tcPr>
                </a:tc>
                <a:tc>
                  <a:txBody>
                    <a:bodyPr/>
                    <a:lstStyle/>
                    <a:p>
                      <a:pPr algn="ctr"/>
                      <a:r>
                        <a:rPr sz="800" b="1" i="0">
                          <a:solidFill>
                            <a:srgbClr val="0D0D0D"/>
                          </a:solidFill>
                          <a:latin typeface="Calibri"/>
                        </a:rPr>
                        <a:t>1,9</a:t>
                      </a:r>
                    </a:p>
                  </a:txBody>
                  <a:tcPr>
                    <a:solidFill>
                      <a:srgbClr val="FFFFFF"/>
                    </a:solidFill>
                  </a:tcPr>
                </a:tc>
              </a:tr>
              <a:tr h="220000">
                <a:tc>
                  <a:txBody>
                    <a:bodyPr/>
                    <a:lstStyle/>
                    <a:p>
                      <a:pPr algn="l"/>
                      <a:r>
                        <a:rPr sz="750" b="0" i="1">
                          <a:solidFill>
                            <a:srgbClr val="333333"/>
                          </a:solidFill>
                          <a:latin typeface="Calibri"/>
                        </a:rPr>
                        <a:t>Marge nette</a:t>
                      </a:r>
                    </a:p>
                  </a:txBody>
                  <a:tcPr>
                    <a:solidFill>
                      <a:srgbClr val="F7F8FA"/>
                    </a:solidFill>
                  </a:tcPr>
                </a:tc>
                <a:tc>
                  <a:txBody>
                    <a:bodyPr/>
                    <a:lstStyle/>
                    <a:p>
                      <a:pPr algn="ctr"/>
                      <a:r>
                        <a:rPr sz="750" b="0" i="1">
                          <a:solidFill>
                            <a:srgbClr val="333333"/>
                          </a:solidFill>
                          <a:latin typeface="Calibri"/>
                        </a:rPr>
                        <a:t>5,1 %</a:t>
                      </a:r>
                    </a:p>
                  </a:txBody>
                  <a:tcPr>
                    <a:solidFill>
                      <a:srgbClr val="F7F8FA"/>
                    </a:solidFill>
                  </a:tcPr>
                </a:tc>
                <a:tc>
                  <a:txBody>
                    <a:bodyPr/>
                    <a:lstStyle/>
                    <a:p>
                      <a:pPr algn="ctr"/>
                      <a:r>
                        <a:rPr sz="750" b="0" i="1">
                          <a:solidFill>
                            <a:srgbClr val="333333"/>
                          </a:solidFill>
                          <a:latin typeface="Calibri"/>
                        </a:rPr>
                        <a:t>4,9 %</a:t>
                      </a:r>
                    </a:p>
                  </a:txBody>
                  <a:tcPr>
                    <a:solidFill>
                      <a:srgbClr val="F7F8FA"/>
                    </a:solidFill>
                  </a:tcPr>
                </a:tc>
                <a:tc>
                  <a:txBody>
                    <a:bodyPr/>
                    <a:lstStyle/>
                    <a:p>
                      <a:pPr algn="ctr"/>
                      <a:r>
                        <a:rPr sz="750" b="0" i="1">
                          <a:solidFill>
                            <a:srgbClr val="333333"/>
                          </a:solidFill>
                          <a:latin typeface="Calibri"/>
                        </a:rPr>
                        <a:t>7,6 %</a:t>
                      </a:r>
                    </a:p>
                  </a:txBody>
                  <a:tcPr>
                    <a:solidFill>
                      <a:srgbClr val="DDE8F5"/>
                    </a:solidFill>
                  </a:tcPr>
                </a:tc>
                <a:tc>
                  <a:txBody>
                    <a:bodyPr/>
                    <a:lstStyle/>
                    <a:p>
                      <a:pPr algn="ctr"/>
                      <a:r>
                        <a:rPr sz="750" b="0" i="1">
                          <a:solidFill>
                            <a:srgbClr val="333333"/>
                          </a:solidFill>
                          <a:latin typeface="Calibri"/>
                        </a:rPr>
                        <a:t>7,5 %</a:t>
                      </a:r>
                    </a:p>
                  </a:txBody>
                  <a:tcPr>
                    <a:solidFill>
                      <a:srgbClr val="F7F8FA"/>
                    </a:solidFill>
                  </a:tcPr>
                </a:tc>
                <a:tc>
                  <a:txBody>
                    <a:bodyPr/>
                    <a:lstStyle/>
                    <a:p>
                      <a:pPr algn="ctr"/>
                      <a:r>
                        <a:rPr sz="750" b="0" i="1">
                          <a:solidFill>
                            <a:srgbClr val="333333"/>
                          </a:solidFill>
                          <a:latin typeface="Calibri"/>
                        </a:rPr>
                        <a:t>7,7 %</a:t>
                      </a:r>
                    </a:p>
                  </a:txBody>
                  <a:tcPr>
                    <a:solidFill>
                      <a:srgbClr val="F7F8FA"/>
                    </a:solidFill>
                  </a:tcPr>
                </a:tc>
              </a:tr>
            </a:tbl>
          </a:graphicData>
        </a:graphic>
      </p:graphicFrame>
      <p:sp>
        <p:nvSpPr>
          <p:cNvPr id="18" name="Rectangle 17"/>
          <p:cNvSpPr/>
          <p:nvPr/>
        </p:nvSpPr>
        <p:spPr>
          <a:xfrm>
            <a:off x="367200" y="3218400"/>
            <a:ext cx="8413200" cy="12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218400"/>
            <a:ext cx="79200" cy="122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247200"/>
            <a:ext cx="8298000" cy="1188000"/>
          </a:xfrm>
          <a:prstGeom prst="rect">
            <a:avLst/>
          </a:prstGeom>
          <a:noFill/>
        </p:spPr>
        <p:txBody>
          <a:bodyPr wrap="square">
            <a:spAutoFit/>
          </a:bodyPr>
          <a:lstStyle/>
          <a:p>
            <a:pPr algn="l"/>
            <a:r>
              <a:rPr sz="850" b="0" i="0">
                <a:solidFill>
                  <a:srgbClr val="555555"/>
                </a:solidFill>
                <a:latin typeface="Calibri"/>
              </a:rPr>
              <a:t>Le CA 2025 atteint 22,1Md€ (+7,6% YoY), porté par un levier opérationnel de +2,5pts sur la marge EBITDA (15,4% vs 12,9% en 2024) grâce à l'amélioration du mix produits et aux économies d'échelle. Le ND/EBITDA à 0,5x et un ROIC de 20,3% soulignent une trésorerie solide pour financer la R&amp;D (1,2Md€) ou des acquisitions ciblées.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EUR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4,4 Md€</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4,0 Md€</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1,7 Md€</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1,85</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1,16</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0,8x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8,1x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0,5x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2,19</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-2,63</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Rectangle 30"/>
          <p:cNvSpPr/>
          <p:nvPr/>
        </p:nvSpPr>
        <p:spPr>
          <a:xfrm>
            <a:off x="367200" y="4068000"/>
            <a:ext cx="8413200" cy="46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7200" y="4068000"/>
            <a:ext cx="79200" cy="46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200" y="4096800"/>
            <a:ext cx="8298000" cy="432000"/>
          </a:xfrm>
          <a:prstGeom prst="rect">
            <a:avLst/>
          </a:prstGeom>
          <a:noFill/>
        </p:spPr>
        <p:txBody>
          <a:bodyPr wrap="square">
            <a:spAutoFit/>
          </a:bodyPr>
          <a:lstStyle/>
          <a:p>
            <a:pPr algn="l"/>
            <a:r>
              <a:rPr sz="850" b="0" i="0">
                <a:solidFill>
                  <a:srgbClr val="555555"/>
                </a:solidFill>
                <a:latin typeface="Calibri"/>
              </a:rPr>
              <a:t>Le CA 2025 atteint 22,1Md€ (+7,6% YoY), porté par un levier opérationnel de +2,5pts sur la marge EBITDA (15,4% vs 12,9% en 2024) grâce à l'amélioration du mix produits et aux économies d'échelle. Le ND/EBITDA à 0,5x et un ROIC de 20,3% soulignent une trésorerie solide pour financer la R&amp;D (1,2Md€) ou des acquisitions ciblées.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32,8x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Premium</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16,6x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Premium</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2,6x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26,4 %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15,4 %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21,0 %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20,3 %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Léger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2,19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Zone grise</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-2,63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Rectangle 17"/>
          <p:cNvSpPr/>
          <p:nvPr/>
        </p:nvSpPr>
        <p:spPr>
          <a:xfrm>
            <a:off x="367200" y="3628800"/>
            <a:ext cx="8413200" cy="82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628800"/>
            <a:ext cx="792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657600"/>
            <a:ext cx="8298000" cy="788400"/>
          </a:xfrm>
          <a:prstGeom prst="rect">
            <a:avLst/>
          </a:prstGeom>
          <a:noFill/>
        </p:spPr>
        <p:txBody>
          <a:bodyPr wrap="square">
            <a:spAutoFit/>
          </a:bodyPr>
          <a:lstStyle/>
          <a:p>
            <a:pPr algn="l"/>
            <a:r>
              <a:rPr sz="850" b="0" i="0">
                <a:solidFill>
                  <a:srgbClr val="555555"/>
                </a:solidFill>
                <a:latin typeface="Calibri"/>
              </a:rPr>
              <a:t>La marge EBITDA est passée de 14,3% en 2022 à 15,4% en 2025, avec une accélération en 2025 (+2,5pts) due à la montée en puissance des segments logiciels (+6pts de marge) et à la rationalisation des coûts fixes. Le pricing power est durable sur les niches technologiques, mais une mean-reversion est possible en cas de pression inflationniste sur les coûts salariaux (+4% en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295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267,30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250 EUR</a:t>
                      </a:r>
                    </a:p>
                  </a:txBody>
                  <a:tcPr>
                    <a:solidFill>
                      <a:srgbClr val="FAF0EF"/>
                    </a:solidFill>
                  </a:tcPr>
                </a:tc>
                <a:tc>
                  <a:txBody>
                    <a:bodyPr/>
                    <a:lstStyle/>
                    <a:p>
                      <a:pPr algn="ctr"/>
                      <a:r>
                        <a:rPr sz="2000" b="1" i="0">
                          <a:solidFill>
                            <a:srgbClr val="2E5FA3"/>
                          </a:solidFill>
                          <a:latin typeface="Calibri"/>
                        </a:rPr>
                        <a:t>295 EUR</a:t>
                      </a:r>
                    </a:p>
                  </a:txBody>
                  <a:tcPr>
                    <a:solidFill>
                      <a:srgbClr val="EEF3FA"/>
                    </a:solidFill>
                  </a:tcPr>
                </a:tc>
                <a:tc>
                  <a:txBody>
                    <a:bodyPr/>
                    <a:lstStyle/>
                    <a:p>
                      <a:pPr algn="ctr"/>
                      <a:r>
                        <a:rPr sz="2000" b="1" i="0">
                          <a:solidFill>
                            <a:srgbClr val="1A7A4A"/>
                          </a:solidFill>
                          <a:latin typeface="Calibri"/>
                        </a:rPr>
                        <a:t>320 EUR</a:t>
                      </a:r>
                    </a:p>
                  </a:txBody>
                  <a:tcPr>
                    <a:solidFill>
                      <a:srgbClr val="EAF4EF"/>
                    </a:solidFill>
                  </a:tcPr>
                </a:tc>
              </a:tr>
              <a:tr h="342900">
                <a:tc>
                  <a:txBody>
                    <a:bodyPr/>
                    <a:lstStyle/>
                    <a:p>
                      <a:pPr algn="ctr"/>
                      <a:r>
                        <a:rPr sz="1200" b="1" i="0">
                          <a:solidFill>
                            <a:srgbClr val="A82020"/>
                          </a:solidFill>
                          <a:latin typeface="Calibri"/>
                        </a:rPr>
                        <a:t>-6,5 %</a:t>
                      </a:r>
                    </a:p>
                  </a:txBody>
                  <a:tcPr>
                    <a:solidFill>
                      <a:srgbClr val="FAF0EF"/>
                    </a:solidFill>
                  </a:tcPr>
                </a:tc>
                <a:tc>
                  <a:txBody>
                    <a:bodyPr/>
                    <a:lstStyle/>
                    <a:p>
                      <a:pPr algn="ctr"/>
                      <a:r>
                        <a:rPr sz="1200" b="1" i="0">
                          <a:solidFill>
                            <a:srgbClr val="2E5FA3"/>
                          </a:solidFill>
                          <a:latin typeface="Calibri"/>
                        </a:rPr>
                        <a:t>+10,4 %</a:t>
                      </a:r>
                    </a:p>
                  </a:txBody>
                  <a:tcPr>
                    <a:solidFill>
                      <a:srgbClr val="EEF3FA"/>
                    </a:solidFill>
                  </a:tcPr>
                </a:tc>
                <a:tc>
                  <a:txBody>
                    <a:bodyPr/>
                    <a:lstStyle/>
                    <a:p>
                      <a:pPr algn="ctr"/>
                      <a:r>
                        <a:rPr sz="1200" b="1" i="0">
                          <a:solidFill>
                            <a:srgbClr val="1A7A4A"/>
                          </a:solidFill>
                          <a:latin typeface="Calibri"/>
                        </a:rPr>
                        <a:t>+19,7 %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4024800" cy="201600"/>
          </a:xfrm>
          <a:prstGeom prst="rect">
            <a:avLst/>
          </a:prstGeom>
          <a:noFill/>
        </p:spPr>
        <p:txBody>
          <a:bodyPr wrap="square">
            <a:spAutoFit/>
          </a:bodyPr>
          <a:lstStyle/>
          <a:p>
            <a:pPr algn="l"/>
            <a:r>
              <a:rPr sz="900" b="1" i="0">
                <a:solidFill>
                  <a:srgbClr val="1B3A6B"/>
                </a:solidFill>
                <a:latin typeface="Calibri"/>
              </a:rPr>
              <a:t>Monte Carlo GBM — 10 000 simulations</a:t>
            </a:r>
          </a:p>
        </p:txBody>
      </p:sp>
      <p:graphicFrame>
        <p:nvGraphicFramePr>
          <p:cNvPr id="19" name="Table 18"/>
          <p:cNvGraphicFramePr>
            <a:graphicFrameLocks noGrp="1"/>
          </p:cNvGraphicFramePr>
          <p:nvPr/>
        </p:nvGraphicFramePr>
        <p:xfrm>
          <a:off x="367200" y="2653200"/>
          <a:ext cx="4024800" cy="1116000"/>
        </p:xfrm>
        <a:graphic>
          <a:graphicData uri="http://schemas.openxmlformats.org/drawingml/2006/table">
            <a:tbl>
              <a:tblPr firstRow="1" bandRow="1">
                <a:tableStyleId>{5C22544A-7EE6-4342-B048-85BDC9FD1C3A}</a:tableStyleId>
              </a:tblPr>
              <a:tblGrid>
                <a:gridCol w="1690416"/>
                <a:gridCol w="1287936"/>
                <a:gridCol w="1046448"/>
              </a:tblGrid>
              <a:tr h="186000">
                <a:tc>
                  <a:txBody>
                    <a:bodyPr/>
                    <a:lstStyle/>
                    <a:p>
                      <a:pPr algn="l"/>
                      <a:r>
                        <a:rPr sz="800" b="1" i="0">
                          <a:solidFill>
                            <a:srgbClr val="FFFFFF"/>
                          </a:solidFill>
                          <a:latin typeface="Calibri"/>
                        </a:rPr>
                        <a:t>Scénario</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Cours prédit (12M)</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vs Cours</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Down (P2)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179 EUR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Pessimiste (P10)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226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 Médian (P50)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339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+26,7 %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Optimiste (P90)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506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+89,3 %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Up (P98)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642 EUR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+140,1 %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4482000" y="2394000"/>
            <a:ext cx="4298400" cy="201600"/>
          </a:xfrm>
          <a:prstGeom prst="rect">
            <a:avLst/>
          </a:prstGeom>
          <a:noFill/>
        </p:spPr>
        <p:txBody>
          <a:bodyPr wrap="square">
            <a:spAutoFit/>
          </a:bodyPr>
          <a:lstStyle/>
          <a:p>
            <a:pPr algn="l"/>
            <a:r>
              <a:rPr sz="900" b="1" i="0">
                <a:solidFill>
                  <a:srgbClr val="1B3A6B"/>
                </a:solidFill>
                <a:latin typeface="Calibri"/>
              </a:rPr>
              <a:t>Sensibilité WACC × TGR — Valeur (EUR)</a:t>
            </a:r>
          </a:p>
        </p:txBody>
      </p:sp>
      <p:graphicFrame>
        <p:nvGraphicFramePr>
          <p:cNvPr id="21" name="Table 20"/>
          <p:cNvGraphicFramePr>
            <a:graphicFrameLocks noGrp="1"/>
          </p:cNvGraphicFramePr>
          <p:nvPr/>
        </p:nvGraphicFramePr>
        <p:xfrm>
          <a:off x="4482000" y="2653200"/>
          <a:ext cx="4298400" cy="1116000"/>
        </p:xfrm>
        <a:graphic>
          <a:graphicData uri="http://schemas.openxmlformats.org/drawingml/2006/table">
            <a:tbl>
              <a:tblPr firstRow="1" bandRow="1">
                <a:tableStyleId>{5C22544A-7EE6-4342-B048-85BDC9FD1C3A}</a:tableStyleId>
              </a:tblPr>
              <a:tblGrid>
                <a:gridCol w="716400"/>
                <a:gridCol w="716400"/>
                <a:gridCol w="716400"/>
                <a:gridCol w="716400"/>
                <a:gridCol w="716400"/>
                <a:gridCol w="7164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3,0%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584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868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1 687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29 795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4,0%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353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584</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868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295</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353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6,0%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7,0%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367200" y="3916800"/>
            <a:ext cx="8413200" cy="54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3916800"/>
            <a:ext cx="79200" cy="547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200" y="3945600"/>
            <a:ext cx="8298000" cy="511200"/>
          </a:xfrm>
          <a:prstGeom prst="rect">
            <a:avLst/>
          </a:prstGeom>
          <a:noFill/>
        </p:spPr>
        <p:txBody>
          <a:bodyPr wrap="square">
            <a:spAutoFit/>
          </a:bodyPr>
          <a:lstStyle/>
          <a:p>
            <a:pPr algn="l"/>
            <a:r>
              <a:rPr sz="850" b="0" i="0">
                <a:solidFill>
                  <a:srgbClr val="555555"/>
                </a:solidFill>
                <a:latin typeface="Calibri"/>
              </a:rPr>
              <a:t>Avec un WACC de 5,0% et une TGR de 2,0%, le DCF implicite est de 295€ (base), soit un upside de 10% vs le cours actuel. Cet écart suggère une sous-valorisation structurelle liée à la visibilité des cash-flows récurrents et à la résilience des marges dans un environnement macro incertain.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EUR</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Thales S.A.</a:t>
                      </a:r>
                    </a:p>
                  </a:txBody>
                  <a:tcPr>
                    <a:solidFill>
                      <a:srgbClr val="DDE8F5"/>
                    </a:solidFill>
                  </a:tcPr>
                </a:tc>
                <a:tc>
                  <a:txBody>
                    <a:bodyPr/>
                    <a:lstStyle/>
                    <a:p>
                      <a:pPr algn="ctr"/>
                      <a:r>
                        <a:rPr sz="750" b="1" i="0">
                          <a:solidFill>
                            <a:srgbClr val="2E5FA3"/>
                          </a:solidFill>
                          <a:latin typeface="Calibri"/>
                        </a:rPr>
                        <a:t>HO.PA</a:t>
                      </a:r>
                    </a:p>
                  </a:txBody>
                  <a:tcPr>
                    <a:solidFill>
                      <a:srgbClr val="DDE8F5"/>
                    </a:solidFill>
                  </a:tcPr>
                </a:tc>
                <a:tc>
                  <a:txBody>
                    <a:bodyPr/>
                    <a:lstStyle/>
                    <a:p>
                      <a:pPr algn="ctr"/>
                      <a:r>
                        <a:rPr sz="800" b="1" i="0">
                          <a:solidFill>
                            <a:srgbClr val="1B3A6B"/>
                          </a:solidFill>
                          <a:latin typeface="Calibri"/>
                        </a:rPr>
                        <a:t>54,9</a:t>
                      </a:r>
                    </a:p>
                  </a:txBody>
                  <a:tcPr>
                    <a:solidFill>
                      <a:srgbClr val="DDE8F5"/>
                    </a:solidFill>
                  </a:tcPr>
                </a:tc>
                <a:tc>
                  <a:txBody>
                    <a:bodyPr/>
                    <a:lstStyle/>
                    <a:p>
                      <a:pPr algn="ctr"/>
                      <a:r>
                        <a:rPr sz="800" b="1" i="0">
                          <a:solidFill>
                            <a:srgbClr val="1B3A6B"/>
                          </a:solidFill>
                          <a:latin typeface="Calibri"/>
                        </a:rPr>
                        <a:t>16,6x</a:t>
                      </a:r>
                    </a:p>
                  </a:txBody>
                  <a:tcPr>
                    <a:solidFill>
                      <a:srgbClr val="DDE8F5"/>
                    </a:solidFill>
                  </a:tcPr>
                </a:tc>
                <a:tc>
                  <a:txBody>
                    <a:bodyPr/>
                    <a:lstStyle/>
                    <a:p>
                      <a:pPr algn="ctr"/>
                      <a:r>
                        <a:rPr sz="800" b="1" i="0">
                          <a:solidFill>
                            <a:srgbClr val="1B3A6B"/>
                          </a:solidFill>
                          <a:latin typeface="Calibri"/>
                        </a:rPr>
                        <a:t>2,6x</a:t>
                      </a:r>
                    </a:p>
                  </a:txBody>
                  <a:tcPr>
                    <a:solidFill>
                      <a:srgbClr val="DDE8F5"/>
                    </a:solidFill>
                  </a:tcPr>
                </a:tc>
                <a:tc>
                  <a:txBody>
                    <a:bodyPr/>
                    <a:lstStyle/>
                    <a:p>
                      <a:pPr algn="ctr"/>
                      <a:r>
                        <a:rPr sz="800" b="1" i="0">
                          <a:solidFill>
                            <a:srgbClr val="1B3A6B"/>
                          </a:solidFill>
                          <a:latin typeface="Calibri"/>
                        </a:rPr>
                        <a:t>32,8x</a:t>
                      </a:r>
                    </a:p>
                  </a:txBody>
                  <a:tcPr>
                    <a:solidFill>
                      <a:srgbClr val="DDE8F5"/>
                    </a:solidFill>
                  </a:tcPr>
                </a:tc>
                <a:tc>
                  <a:txBody>
                    <a:bodyPr/>
                    <a:lstStyle/>
                    <a:p>
                      <a:pPr algn="ctr"/>
                      <a:r>
                        <a:rPr sz="800" b="1" i="0">
                          <a:solidFill>
                            <a:srgbClr val="1B3A6B"/>
                          </a:solidFill>
                          <a:latin typeface="Calibri"/>
                        </a:rPr>
                        <a:t>26,4 %</a:t>
                      </a:r>
                    </a:p>
                  </a:txBody>
                  <a:tcPr>
                    <a:solidFill>
                      <a:srgbClr val="DDE8F5"/>
                    </a:solidFill>
                  </a:tcPr>
                </a:tc>
                <a:tc>
                  <a:txBody>
                    <a:bodyPr/>
                    <a:lstStyle/>
                    <a:p>
                      <a:pPr algn="ctr"/>
                      <a:r>
                        <a:rPr sz="800" b="1" i="0">
                          <a:solidFill>
                            <a:srgbClr val="1B3A6B"/>
                          </a:solidFill>
                          <a:latin typeface="Calibri"/>
                        </a:rPr>
                        <a:t>15,4 %</a:t>
                      </a:r>
                    </a:p>
                  </a:txBody>
                  <a:tcPr>
                    <a:solidFill>
                      <a:srgbClr val="DDE8F5"/>
                    </a:solidFill>
                  </a:tcPr>
                </a:tc>
              </a:tr>
              <a:tr h="251999">
                <a:tc>
                  <a:txBody>
                    <a:bodyPr/>
                    <a:lstStyle/>
                    <a:p>
                      <a:pPr algn="l"/>
                      <a:r>
                        <a:rPr sz="800" b="0" i="0">
                          <a:solidFill>
                            <a:srgbClr val="0D0D0D"/>
                          </a:solidFill>
                          <a:latin typeface="Calibri"/>
                        </a:rPr>
                        <a:t>Lockheed Martin</a:t>
                      </a:r>
                    </a:p>
                  </a:txBody>
                  <a:tcPr>
                    <a:solidFill>
                      <a:srgbClr val="FFFFFF"/>
                    </a:solidFill>
                  </a:tcPr>
                </a:tc>
                <a:tc>
                  <a:txBody>
                    <a:bodyPr/>
                    <a:lstStyle/>
                    <a:p>
                      <a:pPr algn="ctr"/>
                      <a:r>
                        <a:rPr sz="750" b="0" i="0">
                          <a:solidFill>
                            <a:srgbClr val="555555"/>
                          </a:solidFill>
                          <a:latin typeface="Calibri"/>
                        </a:rPr>
                        <a:t>LMT</a:t>
                      </a:r>
                    </a:p>
                  </a:txBody>
                  <a:tcPr>
                    <a:solidFill>
                      <a:srgbClr val="FFFFFF"/>
                    </a:solidFill>
                  </a:tcPr>
                </a:tc>
                <a:tc>
                  <a:txBody>
                    <a:bodyPr/>
                    <a:lstStyle/>
                    <a:p>
                      <a:pPr algn="ctr"/>
                      <a:r>
                        <a:rPr sz="800" b="0" i="0">
                          <a:solidFill>
                            <a:srgbClr val="0D0D0D"/>
                          </a:solidFill>
                          <a:latin typeface="Calibri"/>
                        </a:rPr>
                        <a:t>115,2</a:t>
                      </a:r>
                    </a:p>
                  </a:txBody>
                  <a:tcPr>
                    <a:solidFill>
                      <a:srgbClr val="FFFFFF"/>
                    </a:solidFill>
                  </a:tcPr>
                </a:tc>
                <a:tc>
                  <a:txBody>
                    <a:bodyPr/>
                    <a:lstStyle/>
                    <a:p>
                      <a:pPr algn="ctr"/>
                      <a:r>
                        <a:rPr sz="800" b="0" i="0">
                          <a:solidFill>
                            <a:srgbClr val="0D0D0D"/>
                          </a:solidFill>
                          <a:latin typeface="Calibri"/>
                        </a:rPr>
                        <a:t>12,8x</a:t>
                      </a:r>
                    </a:p>
                  </a:txBody>
                  <a:tcPr>
                    <a:solidFill>
                      <a:srgbClr val="FFFFFF"/>
                    </a:solidFill>
                  </a:tcPr>
                </a:tc>
                <a:tc>
                  <a:txBody>
                    <a:bodyPr/>
                    <a:lstStyle/>
                    <a:p>
                      <a:pPr algn="ctr"/>
                      <a:r>
                        <a:rPr sz="800" b="0" i="0">
                          <a:solidFill>
                            <a:srgbClr val="0D0D0D"/>
                          </a:solidFill>
                          <a:latin typeface="Calibri"/>
                        </a:rPr>
                        <a:t>1,6x</a:t>
                      </a:r>
                    </a:p>
                  </a:txBody>
                  <a:tcPr>
                    <a:solidFill>
                      <a:srgbClr val="FFFFFF"/>
                    </a:solidFill>
                  </a:tcPr>
                </a:tc>
                <a:tc>
                  <a:txBody>
                    <a:bodyPr/>
                    <a:lstStyle/>
                    <a:p>
                      <a:pPr algn="ctr"/>
                      <a:r>
                        <a:rPr sz="800" b="0" i="0">
                          <a:solidFill>
                            <a:srgbClr val="0D0D0D"/>
                          </a:solidFill>
                          <a:latin typeface="Calibri"/>
                        </a:rPr>
                        <a:t>18,5x</a:t>
                      </a:r>
                    </a:p>
                  </a:txBody>
                  <a:tcPr>
                    <a:solidFill>
                      <a:srgbClr val="FFFFFF"/>
                    </a:solidFill>
                  </a:tcPr>
                </a:tc>
                <a:tc>
                  <a:txBody>
                    <a:bodyPr/>
                    <a:lstStyle/>
                    <a:p>
                      <a:pPr algn="ctr"/>
                      <a:r>
                        <a:rPr sz="800" b="0" i="0">
                          <a:solidFill>
                            <a:srgbClr val="0D0D0D"/>
                          </a:solidFill>
                          <a:latin typeface="Calibri"/>
                        </a:rPr>
                        <a:t>22,1 %</a:t>
                      </a:r>
                    </a:p>
                  </a:txBody>
                  <a:tcPr>
                    <a:solidFill>
                      <a:srgbClr val="FFFFFF"/>
                    </a:solidFill>
                  </a:tcPr>
                </a:tc>
                <a:tc>
                  <a:txBody>
                    <a:bodyPr/>
                    <a:lstStyle/>
                    <a:p>
                      <a:pPr algn="ctr"/>
                      <a:r>
                        <a:rPr sz="800" b="0" i="0">
                          <a:solidFill>
                            <a:srgbClr val="0D0D0D"/>
                          </a:solidFill>
                          <a:latin typeface="Calibri"/>
                        </a:rPr>
                        <a:t>14,5 %</a:t>
                      </a:r>
                    </a:p>
                  </a:txBody>
                  <a:tcPr>
                    <a:solidFill>
                      <a:srgbClr val="FFFFFF"/>
                    </a:solidFill>
                  </a:tcPr>
                </a:tc>
              </a:tr>
              <a:tr h="251999">
                <a:tc>
                  <a:txBody>
                    <a:bodyPr/>
                    <a:lstStyle/>
                    <a:p>
                      <a:pPr algn="l"/>
                      <a:r>
                        <a:rPr sz="800" b="0" i="0">
                          <a:solidFill>
                            <a:srgbClr val="0D0D0D"/>
                          </a:solidFill>
                          <a:latin typeface="Calibri"/>
                        </a:rPr>
                        <a:t>BAE Systems</a:t>
                      </a:r>
                    </a:p>
                  </a:txBody>
                  <a:tcPr>
                    <a:solidFill>
                      <a:srgbClr val="F7F8FA"/>
                    </a:solidFill>
                  </a:tcPr>
                </a:tc>
                <a:tc>
                  <a:txBody>
                    <a:bodyPr/>
                    <a:lstStyle/>
                    <a:p>
                      <a:pPr algn="ctr"/>
                      <a:r>
                        <a:rPr sz="750" b="0" i="0">
                          <a:solidFill>
                            <a:srgbClr val="555555"/>
                          </a:solidFill>
                          <a:latin typeface="Calibri"/>
                        </a:rPr>
                        <a:t>BA.L</a:t>
                      </a:r>
                    </a:p>
                  </a:txBody>
                  <a:tcPr>
                    <a:solidFill>
                      <a:srgbClr val="F7F8FA"/>
                    </a:solidFill>
                  </a:tcPr>
                </a:tc>
                <a:tc>
                  <a:txBody>
                    <a:bodyPr/>
                    <a:lstStyle/>
                    <a:p>
                      <a:pPr algn="ctr"/>
                      <a:r>
                        <a:rPr sz="800" b="0" i="0">
                          <a:solidFill>
                            <a:srgbClr val="0D0D0D"/>
                          </a:solidFill>
                          <a:latin typeface="Calibri"/>
                        </a:rPr>
                        <a:t>32,8</a:t>
                      </a:r>
                    </a:p>
                  </a:txBody>
                  <a:tcPr>
                    <a:solidFill>
                      <a:srgbClr val="F7F8FA"/>
                    </a:solidFill>
                  </a:tcPr>
                </a:tc>
                <a:tc>
                  <a:txBody>
                    <a:bodyPr/>
                    <a:lstStyle/>
                    <a:p>
                      <a:pPr algn="ctr"/>
                      <a:r>
                        <a:rPr sz="800" b="0" i="0">
                          <a:solidFill>
                            <a:srgbClr val="0D0D0D"/>
                          </a:solidFill>
                          <a:latin typeface="Calibri"/>
                        </a:rPr>
                        <a:t>13,2x</a:t>
                      </a:r>
                    </a:p>
                  </a:txBody>
                  <a:tcPr>
                    <a:solidFill>
                      <a:srgbClr val="F7F8FA"/>
                    </a:solidFill>
                  </a:tcPr>
                </a:tc>
                <a:tc>
                  <a:txBody>
                    <a:bodyPr/>
                    <a:lstStyle/>
                    <a:p>
                      <a:pPr algn="ctr"/>
                      <a:r>
                        <a:rPr sz="800" b="0" i="0">
                          <a:solidFill>
                            <a:srgbClr val="0D0D0D"/>
                          </a:solidFill>
                          <a:latin typeface="Calibri"/>
                        </a:rPr>
                        <a:t>1,5x</a:t>
                      </a:r>
                    </a:p>
                  </a:txBody>
                  <a:tcPr>
                    <a:solidFill>
                      <a:srgbClr val="F7F8FA"/>
                    </a:solidFill>
                  </a:tcPr>
                </a:tc>
                <a:tc>
                  <a:txBody>
                    <a:bodyPr/>
                    <a:lstStyle/>
                    <a:p>
                      <a:pPr algn="ctr"/>
                      <a:r>
                        <a:rPr sz="800" b="0" i="0">
                          <a:solidFill>
                            <a:srgbClr val="0D0D0D"/>
                          </a:solidFill>
                          <a:latin typeface="Calibri"/>
                        </a:rPr>
                        <a:t>16,8x</a:t>
                      </a:r>
                    </a:p>
                  </a:txBody>
                  <a:tcPr>
                    <a:solidFill>
                      <a:srgbClr val="F7F8FA"/>
                    </a:solidFill>
                  </a:tcPr>
                </a:tc>
                <a:tc>
                  <a:txBody>
                    <a:bodyPr/>
                    <a:lstStyle/>
                    <a:p>
                      <a:pPr algn="ctr"/>
                      <a:r>
                        <a:rPr sz="800" b="0" i="0">
                          <a:solidFill>
                            <a:srgbClr val="0D0D0D"/>
                          </a:solidFill>
                          <a:latin typeface="Calibri"/>
                        </a:rPr>
                        <a:t>23,5 %</a:t>
                      </a:r>
                    </a:p>
                  </a:txBody>
                  <a:tcPr>
                    <a:solidFill>
                      <a:srgbClr val="F7F8FA"/>
                    </a:solidFill>
                  </a:tcPr>
                </a:tc>
                <a:tc>
                  <a:txBody>
                    <a:bodyPr/>
                    <a:lstStyle/>
                    <a:p>
                      <a:pPr algn="ctr"/>
                      <a:r>
                        <a:rPr sz="800" b="0" i="0">
                          <a:solidFill>
                            <a:srgbClr val="0D0D0D"/>
                          </a:solidFill>
                          <a:latin typeface="Calibri"/>
                        </a:rPr>
                        <a:t>13,8 %</a:t>
                      </a:r>
                    </a:p>
                  </a:txBody>
                  <a:tcPr>
                    <a:solidFill>
                      <a:srgbClr val="F7F8FA"/>
                    </a:solidFill>
                  </a:tcPr>
                </a:tc>
              </a:tr>
              <a:tr h="251999">
                <a:tc>
                  <a:txBody>
                    <a:bodyPr/>
                    <a:lstStyle/>
                    <a:p>
                      <a:pPr algn="l"/>
                      <a:r>
                        <a:rPr sz="800" b="0" i="0">
                          <a:solidFill>
                            <a:srgbClr val="0D0D0D"/>
                          </a:solidFill>
                          <a:latin typeface="Calibri"/>
                        </a:rPr>
                        <a:t>Safran</a:t>
                      </a:r>
                    </a:p>
                  </a:txBody>
                  <a:tcPr>
                    <a:solidFill>
                      <a:srgbClr val="FFFFFF"/>
                    </a:solidFill>
                  </a:tcPr>
                </a:tc>
                <a:tc>
                  <a:txBody>
                    <a:bodyPr/>
                    <a:lstStyle/>
                    <a:p>
                      <a:pPr algn="ctr"/>
                      <a:r>
                        <a:rPr sz="750" b="0" i="0">
                          <a:solidFill>
                            <a:srgbClr val="555555"/>
                          </a:solidFill>
                          <a:latin typeface="Calibri"/>
                        </a:rPr>
                        <a:t>SAF.PA</a:t>
                      </a:r>
                    </a:p>
                  </a:txBody>
                  <a:tcPr>
                    <a:solidFill>
                      <a:srgbClr val="FFFFFF"/>
                    </a:solidFill>
                  </a:tcPr>
                </a:tc>
                <a:tc>
                  <a:txBody>
                    <a:bodyPr/>
                    <a:lstStyle/>
                    <a:p>
                      <a:pPr algn="ctr"/>
                      <a:r>
                        <a:rPr sz="800" b="0" i="0">
                          <a:solidFill>
                            <a:srgbClr val="0D0D0D"/>
                          </a:solidFill>
                          <a:latin typeface="Calibri"/>
                        </a:rPr>
                        <a:t>68,5</a:t>
                      </a:r>
                    </a:p>
                  </a:txBody>
                  <a:tcPr>
                    <a:solidFill>
                      <a:srgbClr val="FFFFFF"/>
                    </a:solidFill>
                  </a:tcPr>
                </a:tc>
                <a:tc>
                  <a:txBody>
                    <a:bodyPr/>
                    <a:lstStyle/>
                    <a:p>
                      <a:pPr algn="ctr"/>
                      <a:r>
                        <a:rPr sz="800" b="0" i="0">
                          <a:solidFill>
                            <a:srgbClr val="0D0D0D"/>
                          </a:solidFill>
                          <a:latin typeface="Calibri"/>
                        </a:rPr>
                        <a:t>15,1x</a:t>
                      </a:r>
                    </a:p>
                  </a:txBody>
                  <a:tcPr>
                    <a:solidFill>
                      <a:srgbClr val="FFFFFF"/>
                    </a:solidFill>
                  </a:tcPr>
                </a:tc>
                <a:tc>
                  <a:txBody>
                    <a:bodyPr/>
                    <a:lstStyle/>
                    <a:p>
                      <a:pPr algn="ctr"/>
                      <a:r>
                        <a:rPr sz="800" b="0" i="0">
                          <a:solidFill>
                            <a:srgbClr val="0D0D0D"/>
                          </a:solidFill>
                          <a:latin typeface="Calibri"/>
                        </a:rPr>
                        <a:t>2,1x</a:t>
                      </a:r>
                    </a:p>
                  </a:txBody>
                  <a:tcPr>
                    <a:solidFill>
                      <a:srgbClr val="FFFFFF"/>
                    </a:solidFill>
                  </a:tcPr>
                </a:tc>
                <a:tc>
                  <a:txBody>
                    <a:bodyPr/>
                    <a:lstStyle/>
                    <a:p>
                      <a:pPr algn="ctr"/>
                      <a:r>
                        <a:rPr sz="800" b="0" i="0">
                          <a:solidFill>
                            <a:srgbClr val="0D0D0D"/>
                          </a:solidFill>
                          <a:latin typeface="Calibri"/>
                        </a:rPr>
                        <a:t>25,3x</a:t>
                      </a:r>
                    </a:p>
                  </a:txBody>
                  <a:tcPr>
                    <a:solidFill>
                      <a:srgbClr val="FFFFFF"/>
                    </a:solidFill>
                  </a:tcPr>
                </a:tc>
                <a:tc>
                  <a:txBody>
                    <a:bodyPr/>
                    <a:lstStyle/>
                    <a:p>
                      <a:pPr algn="ctr"/>
                      <a:r>
                        <a:rPr sz="800" b="0" i="0">
                          <a:solidFill>
                            <a:srgbClr val="0D0D0D"/>
                          </a:solidFill>
                          <a:latin typeface="Calibri"/>
                        </a:rPr>
                        <a:t>32,4 %</a:t>
                      </a:r>
                    </a:p>
                  </a:txBody>
                  <a:tcPr>
                    <a:solidFill>
                      <a:srgbClr val="FFFFFF"/>
                    </a:solidFill>
                  </a:tcPr>
                </a:tc>
                <a:tc>
                  <a:txBody>
                    <a:bodyPr/>
                    <a:lstStyle/>
                    <a:p>
                      <a:pPr algn="ctr"/>
                      <a:r>
                        <a:rPr sz="800" b="0" i="0">
                          <a:solidFill>
                            <a:srgbClr val="0D0D0D"/>
                          </a:solidFill>
                          <a:latin typeface="Calibri"/>
                        </a:rPr>
                        <a:t>18,2 %</a:t>
                      </a:r>
                    </a:p>
                  </a:txBody>
                  <a:tcPr>
                    <a:solidFill>
                      <a:srgbClr val="FFFFFF"/>
                    </a:solidFill>
                  </a:tcPr>
                </a:tc>
              </a:tr>
              <a:tr h="251999">
                <a:tc>
                  <a:txBody>
                    <a:bodyPr/>
                    <a:lstStyle/>
                    <a:p>
                      <a:pPr algn="l"/>
                      <a:r>
                        <a:rPr sz="800" b="0" i="0">
                          <a:solidFill>
                            <a:srgbClr val="0D0D0D"/>
                          </a:solidFill>
                          <a:latin typeface="Calibri"/>
                        </a:rPr>
                        <a:t>Honeywell</a:t>
                      </a:r>
                    </a:p>
                  </a:txBody>
                  <a:tcPr>
                    <a:solidFill>
                      <a:srgbClr val="F7F8FA"/>
                    </a:solidFill>
                  </a:tcPr>
                </a:tc>
                <a:tc>
                  <a:txBody>
                    <a:bodyPr/>
                    <a:lstStyle/>
                    <a:p>
                      <a:pPr algn="ctr"/>
                      <a:r>
                        <a:rPr sz="750" b="0" i="0">
                          <a:solidFill>
                            <a:srgbClr val="555555"/>
                          </a:solidFill>
                          <a:latin typeface="Calibri"/>
                        </a:rPr>
                        <a:t>HON</a:t>
                      </a:r>
                    </a:p>
                  </a:txBody>
                  <a:tcPr>
                    <a:solidFill>
                      <a:srgbClr val="F7F8FA"/>
                    </a:solidFill>
                  </a:tcPr>
                </a:tc>
                <a:tc>
                  <a:txBody>
                    <a:bodyPr/>
                    <a:lstStyle/>
                    <a:p>
                      <a:pPr algn="ctr"/>
                      <a:r>
                        <a:rPr sz="800" b="0" i="0">
                          <a:solidFill>
                            <a:srgbClr val="0D0D0D"/>
                          </a:solidFill>
                          <a:latin typeface="Calibri"/>
                        </a:rPr>
                        <a:t>120,4</a:t>
                      </a:r>
                    </a:p>
                  </a:txBody>
                  <a:tcPr>
                    <a:solidFill>
                      <a:srgbClr val="F7F8FA"/>
                    </a:solidFill>
                  </a:tcPr>
                </a:tc>
                <a:tc>
                  <a:txBody>
                    <a:bodyPr/>
                    <a:lstStyle/>
                    <a:p>
                      <a:pPr algn="ctr"/>
                      <a:r>
                        <a:rPr sz="800" b="0" i="0">
                          <a:solidFill>
                            <a:srgbClr val="0D0D0D"/>
                          </a:solidFill>
                          <a:latin typeface="Calibri"/>
                        </a:rPr>
                        <a:t>18,2x</a:t>
                      </a:r>
                    </a:p>
                  </a:txBody>
                  <a:tcPr>
                    <a:solidFill>
                      <a:srgbClr val="F7F8FA"/>
                    </a:solidFill>
                  </a:tcPr>
                </a:tc>
                <a:tc>
                  <a:txBody>
                    <a:bodyPr/>
                    <a:lstStyle/>
                    <a:p>
                      <a:pPr algn="ctr"/>
                      <a:r>
                        <a:rPr sz="800" b="0" i="0">
                          <a:solidFill>
                            <a:srgbClr val="0D0D0D"/>
                          </a:solidFill>
                          <a:latin typeface="Calibri"/>
                        </a:rPr>
                        <a:t>2,3x</a:t>
                      </a:r>
                    </a:p>
                  </a:txBody>
                  <a:tcPr>
                    <a:solidFill>
                      <a:srgbClr val="F7F8FA"/>
                    </a:solidFill>
                  </a:tcPr>
                </a:tc>
                <a:tc>
                  <a:txBody>
                    <a:bodyPr/>
                    <a:lstStyle/>
                    <a:p>
                      <a:pPr algn="ctr"/>
                      <a:r>
                        <a:rPr sz="800" b="0" i="0">
                          <a:solidFill>
                            <a:srgbClr val="0D0D0D"/>
                          </a:solidFill>
                          <a:latin typeface="Calibri"/>
                        </a:rPr>
                        <a:t>22,1x</a:t>
                      </a:r>
                    </a:p>
                  </a:txBody>
                  <a:tcPr>
                    <a:solidFill>
                      <a:srgbClr val="F7F8FA"/>
                    </a:solidFill>
                  </a:tcPr>
                </a:tc>
                <a:tc>
                  <a:txBody>
                    <a:bodyPr/>
                    <a:lstStyle/>
                    <a:p>
                      <a:pPr algn="ctr"/>
                      <a:r>
                        <a:rPr sz="800" b="0" i="0">
                          <a:solidFill>
                            <a:srgbClr val="0D0D0D"/>
                          </a:solidFill>
                          <a:latin typeface="Calibri"/>
                        </a:rPr>
                        <a:t>35,2 %</a:t>
                      </a:r>
                    </a:p>
                  </a:txBody>
                  <a:tcPr>
                    <a:solidFill>
                      <a:srgbClr val="F7F8FA"/>
                    </a:solidFill>
                  </a:tcPr>
                </a:tc>
                <a:tc>
                  <a:txBody>
                    <a:bodyPr/>
                    <a:lstStyle/>
                    <a:p>
                      <a:pPr algn="ctr"/>
                      <a:r>
                        <a:rPr sz="800" b="0" i="0">
                          <a:solidFill>
                            <a:srgbClr val="0D0D0D"/>
                          </a:solidFill>
                          <a:latin typeface="Calibri"/>
                        </a:rPr>
                        <a:t>21,5 %</a:t>
                      </a:r>
                    </a:p>
                  </a:txBody>
                  <a:tcPr>
                    <a:solidFill>
                      <a:srgbClr val="F7F8FA"/>
                    </a:solidFill>
                  </a:tcPr>
                </a:tc>
              </a:tr>
              <a:tr h="251999">
                <a:tc>
                  <a:txBody>
                    <a:bodyPr/>
                    <a:lstStyle/>
                    <a:p>
                      <a:pPr algn="l"/>
                      <a:r>
                        <a:rPr sz="800" b="0" i="0">
                          <a:solidFill>
                            <a:srgbClr val="0D0D0D"/>
                          </a:solidFill>
                          <a:latin typeface="Calibri"/>
                        </a:rPr>
                        <a:t>Northrop Grumman</a:t>
                      </a:r>
                    </a:p>
                  </a:txBody>
                  <a:tcPr>
                    <a:solidFill>
                      <a:srgbClr val="FFFFFF"/>
                    </a:solidFill>
                  </a:tcPr>
                </a:tc>
                <a:tc>
                  <a:txBody>
                    <a:bodyPr/>
                    <a:lstStyle/>
                    <a:p>
                      <a:pPr algn="ctr"/>
                      <a:r>
                        <a:rPr sz="750" b="0" i="0">
                          <a:solidFill>
                            <a:srgbClr val="555555"/>
                          </a:solidFill>
                          <a:latin typeface="Calibri"/>
                        </a:rPr>
                        <a:t>NOC</a:t>
                      </a:r>
                    </a:p>
                  </a:txBody>
                  <a:tcPr>
                    <a:solidFill>
                      <a:srgbClr val="FFFFFF"/>
                    </a:solidFill>
                  </a:tcPr>
                </a:tc>
                <a:tc>
                  <a:txBody>
                    <a:bodyPr/>
                    <a:lstStyle/>
                    <a:p>
                      <a:pPr algn="ctr"/>
                      <a:r>
                        <a:rPr sz="800" b="0" i="0">
                          <a:solidFill>
                            <a:srgbClr val="0D0D0D"/>
                          </a:solidFill>
                          <a:latin typeface="Calibri"/>
                        </a:rPr>
                        <a:t>65,7</a:t>
                      </a:r>
                    </a:p>
                  </a:txBody>
                  <a:tcPr>
                    <a:solidFill>
                      <a:srgbClr val="FFFFFF"/>
                    </a:solidFill>
                  </a:tcPr>
                </a:tc>
                <a:tc>
                  <a:txBody>
                    <a:bodyPr/>
                    <a:lstStyle/>
                    <a:p>
                      <a:pPr algn="ctr"/>
                      <a:r>
                        <a:rPr sz="800" b="0" i="0">
                          <a:solidFill>
                            <a:srgbClr val="0D0D0D"/>
                          </a:solidFill>
                          <a:latin typeface="Calibri"/>
                        </a:rPr>
                        <a:t>11,9x</a:t>
                      </a:r>
                    </a:p>
                  </a:txBody>
                  <a:tcPr>
                    <a:solidFill>
                      <a:srgbClr val="FFFFFF"/>
                    </a:solidFill>
                  </a:tcPr>
                </a:tc>
                <a:tc>
                  <a:txBody>
                    <a:bodyPr/>
                    <a:lstStyle/>
                    <a:p>
                      <a:pPr algn="ctr"/>
                      <a:r>
                        <a:rPr sz="800" b="0" i="0">
                          <a:solidFill>
                            <a:srgbClr val="0D0D0D"/>
                          </a:solidFill>
                          <a:latin typeface="Calibri"/>
                        </a:rPr>
                        <a:t>1,4x</a:t>
                      </a:r>
                    </a:p>
                  </a:txBody>
                  <a:tcPr>
                    <a:solidFill>
                      <a:srgbClr val="FFFFFF"/>
                    </a:solidFill>
                  </a:tcPr>
                </a:tc>
                <a:tc>
                  <a:txBody>
                    <a:bodyPr/>
                    <a:lstStyle/>
                    <a:p>
                      <a:pPr algn="ctr"/>
                      <a:r>
                        <a:rPr sz="800" b="0" i="0">
                          <a:solidFill>
                            <a:srgbClr val="0D0D0D"/>
                          </a:solidFill>
                          <a:latin typeface="Calibri"/>
                        </a:rPr>
                        <a:t>17,9x</a:t>
                      </a:r>
                    </a:p>
                  </a:txBody>
                  <a:tcPr>
                    <a:solidFill>
                      <a:srgbClr val="FFFFFF"/>
                    </a:solidFill>
                  </a:tcPr>
                </a:tc>
                <a:tc>
                  <a:txBody>
                    <a:bodyPr/>
                    <a:lstStyle/>
                    <a:p>
                      <a:pPr algn="ctr"/>
                      <a:r>
                        <a:rPr sz="800" b="0" i="0">
                          <a:solidFill>
                            <a:srgbClr val="0D0D0D"/>
                          </a:solidFill>
                          <a:latin typeface="Calibri"/>
                        </a:rPr>
                        <a:t>21,8 %</a:t>
                      </a:r>
                    </a:p>
                  </a:txBody>
                  <a:tcPr>
                    <a:solidFill>
                      <a:srgbClr val="FFFFFF"/>
                    </a:solidFill>
                  </a:tcPr>
                </a:tc>
                <a:tc>
                  <a:txBody>
                    <a:bodyPr/>
                    <a:lstStyle/>
                    <a:p>
                      <a:pPr algn="ctr"/>
                      <a:r>
                        <a:rPr sz="800" b="0" i="0">
                          <a:solidFill>
                            <a:srgbClr val="0D0D0D"/>
                          </a:solidFill>
                          <a:latin typeface="Calibri"/>
                        </a:rPr>
                        <a:t>15,2 %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13,2x</a:t>
                      </a:r>
                    </a:p>
                  </a:txBody>
                  <a:tcPr>
                    <a:solidFill>
                      <a:srgbClr val="F7F8FA"/>
                    </a:solidFill>
                  </a:tcPr>
                </a:tc>
                <a:tc>
                  <a:txBody>
                    <a:bodyPr/>
                    <a:lstStyle/>
                    <a:p>
                      <a:pPr algn="ctr"/>
                      <a:r>
                        <a:rPr sz="800" b="1" i="0">
                          <a:solidFill>
                            <a:srgbClr val="0D0D0D"/>
                          </a:solidFill>
                          <a:latin typeface="Calibri"/>
                        </a:rPr>
                        <a:t>1,6x</a:t>
                      </a:r>
                    </a:p>
                  </a:txBody>
                  <a:tcPr>
                    <a:solidFill>
                      <a:srgbClr val="F7F8FA"/>
                    </a:solidFill>
                  </a:tcPr>
                </a:tc>
                <a:tc>
                  <a:txBody>
                    <a:bodyPr/>
                    <a:lstStyle/>
                    <a:p>
                      <a:pPr algn="ctr"/>
                      <a:r>
                        <a:rPr sz="800" b="1" i="0">
                          <a:solidFill>
                            <a:srgbClr val="0D0D0D"/>
                          </a:solidFill>
                          <a:latin typeface="Calibri"/>
                        </a:rPr>
                        <a:t>18,5x</a:t>
                      </a:r>
                    </a:p>
                  </a:txBody>
                  <a:tcPr>
                    <a:solidFill>
                      <a:srgbClr val="F7F8FA"/>
                    </a:solidFill>
                  </a:tcPr>
                </a:tc>
                <a:tc>
                  <a:txBody>
                    <a:bodyPr/>
                    <a:lstStyle/>
                    <a:p>
                      <a:pPr algn="ctr"/>
                      <a:r>
                        <a:rPr sz="800" b="1" i="0">
                          <a:solidFill>
                            <a:srgbClr val="0D0D0D"/>
                          </a:solidFill>
                          <a:latin typeface="Calibri"/>
                        </a:rPr>
                        <a:t>23,5 %</a:t>
                      </a:r>
                    </a:p>
                  </a:txBody>
                  <a:tcPr>
                    <a:solidFill>
                      <a:srgbClr val="F7F8FA"/>
                    </a:solidFill>
                  </a:tcPr>
                </a:tc>
                <a:tc>
                  <a:txBody>
                    <a:bodyPr/>
                    <a:lstStyle/>
                    <a:p>
                      <a:pPr algn="ctr"/>
                      <a:r>
                        <a:rPr sz="800" b="1" i="0">
                          <a:solidFill>
                            <a:srgbClr val="0D0D0D"/>
                          </a:solidFill>
                          <a:latin typeface="Calibri"/>
                        </a:rPr>
                        <a:t>15,2 %</a:t>
                      </a:r>
                    </a:p>
                  </a:txBody>
                  <a:tcPr>
                    <a:solidFill>
                      <a:srgbClr val="F7F8FA"/>
                    </a:solidFill>
                  </a:tcPr>
                </a:tc>
              </a:tr>
            </a:tbl>
          </a:graphicData>
        </a:graphic>
      </p:graphicFrame>
      <p:sp>
        <p:nvSpPr>
          <p:cNvPr id="18" name="Rectangle 17"/>
          <p:cNvSpPr/>
          <p:nvPr/>
        </p:nvSpPr>
        <p:spPr>
          <a:xfrm>
            <a:off x="367200" y="3128400"/>
            <a:ext cx="84132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128400"/>
            <a:ext cx="79200" cy="15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157200"/>
            <a:ext cx="8298000" cy="1512000"/>
          </a:xfrm>
          <a:prstGeom prst="rect">
            <a:avLst/>
          </a:prstGeom>
          <a:noFill/>
        </p:spPr>
        <p:txBody>
          <a:bodyPr wrap="square">
            <a:spAutoFit/>
          </a:bodyPr>
          <a:lstStyle/>
          <a:p>
            <a:pPr algn="l"/>
            <a:r>
              <a:rPr sz="850" b="0" i="0">
                <a:solidFill>
                  <a:srgbClr val="555555"/>
                </a:solidFill>
                <a:latin typeface="Calibri"/>
              </a:rPr>
              <a:t>Thales se traite à 16,6x EV/EBITDA vs une médiane peers de 14,2x (+17%), et à 32,8x P/E vs 21x (+56%). La prime est justifiée par une croissance organique supérieure (+7,6% vs +5% peers) et une qualité de portefeuille (carnet de commandes à 2x le CA). Une convergence vers la médiane impliquerait un downside de 15%, peu probable sans choc sectoriel. La marge EBITDA est passée de 14,3% en 2022 à 15,4% en 2025, avec une accélération en 2025 (+2,5pts) due à la montée en puissance des segments logiciels (+6pts de marge) et à la rationalisation des coûts fixes. Le pricing power est durable sur les niches technologiques, mais une mean-reversion est possible en cas de pression inflationniste sur les coûts salariaux (+4% en 2025). Thales se négocie à 16,6x EV/EBITDA vs une médiane sectorielle de 14,2x, justifiée par sa croissance supérieure (+7,6% vs +5% secteur) et sa qualité d'actifs. Le P/E à 32,8x reflète une prime de 56% vs la médiane (21x).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EUR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Rectangle 17"/>
          <p:cNvSpPr/>
          <p:nvPr/>
        </p:nvSpPr>
        <p:spPr>
          <a:xfrm>
            <a:off x="367200" y="3488400"/>
            <a:ext cx="8413200" cy="1281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488400"/>
            <a:ext cx="79200" cy="128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517200"/>
            <a:ext cx="8298000" cy="1245600"/>
          </a:xfrm>
          <a:prstGeom prst="rect">
            <a:avLst/>
          </a:prstGeom>
          <a:noFill/>
        </p:spPr>
        <p:txBody>
          <a:bodyPr wrap="square">
            <a:spAutoFit/>
          </a:bodyPr>
          <a:lstStyle/>
          <a:p>
            <a:pPr algn="l"/>
            <a:r>
              <a:rPr sz="850" b="0" i="0">
                <a:solidFill>
                  <a:srgbClr val="555555"/>
                </a:solidFill>
                <a:latin typeface="Calibri"/>
              </a:rPr>
              <a:t>Avec un WACC de 5,0% et une TGR de 2,0%, le DCF implicite est de 295€ (base), soit un upside de 10% vs le cours actuel. Cet écart suggère une sous-valorisation structurelle liée à la visibilité des cash-flows récurrents et à la résilience des marges dans un environnement macro incertain. Thales se négocie à 16,6x EV/EBITDA vs une médiane sectorielle de 14,2x, justifiée par sa croissance supérieure (+7,6% vs +5% secteur) et sa qualité d'actifs. Le P/E à 32,8x reflète une prime de 56% vs la médiane (21x).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Multiples de Valorisation Historiques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HO.PA · P/E &amp; EV/EBITDA sur 5 ans · Standards marché</a:t>
            </a:r>
          </a:p>
        </p:txBody>
      </p:sp>
      <p:pic>
        <p:nvPicPr>
          <p:cNvPr id="17" name="Picture 16" descr="image.png"/>
          <p:cNvPicPr>
            <a:picLocks noChangeAspect="1"/>
          </p:cNvPicPr>
          <p:nvPr/>
        </p:nvPicPr>
        <p:blipFill>
          <a:blip r:embed="rId2"/>
          <a:stretch>
            <a:fillRect/>
          </a:stretch>
        </p:blipFill>
        <p:spPr>
          <a:xfrm>
            <a:off x="367200" y="864000"/>
            <a:ext cx="5688000" cy="2520000"/>
          </a:xfrm>
          <a:prstGeom prst="rect">
            <a:avLst/>
          </a:prstGeom>
        </p:spPr>
      </p:pic>
      <p:sp>
        <p:nvSpPr>
          <p:cNvPr id="18" name="TextBox 17"/>
          <p:cNvSpPr txBox="1"/>
          <p:nvPr/>
        </p:nvSpPr>
        <p:spPr>
          <a:xfrm>
            <a:off x="6192000" y="864000"/>
            <a:ext cx="2592000" cy="180000"/>
          </a:xfrm>
          <a:prstGeom prst="rect">
            <a:avLst/>
          </a:prstGeom>
          <a:noFill/>
        </p:spPr>
        <p:txBody>
          <a:bodyPr wrap="square">
            <a:spAutoFit/>
          </a:bodyPr>
          <a:lstStyle/>
          <a:p>
            <a:pPr algn="l"/>
            <a:r>
              <a:rPr sz="800" b="1" i="0">
                <a:solidFill>
                  <a:srgbClr val="1B3A6B"/>
                </a:solidFill>
                <a:latin typeface="Calibri"/>
              </a:rPr>
              <a:t>SYNTHÈSE DES MULTIPLES</a:t>
            </a:r>
          </a:p>
        </p:txBody>
      </p:sp>
      <p:graphicFrame>
        <p:nvGraphicFramePr>
          <p:cNvPr id="19" name="Table 18"/>
          <p:cNvGraphicFramePr>
            <a:graphicFrameLocks noGrp="1"/>
          </p:cNvGraphicFramePr>
          <p:nvPr/>
        </p:nvGraphicFramePr>
        <p:xfrm>
          <a:off x="6192000" y="1098000"/>
          <a:ext cx="2592000" cy="1008000"/>
        </p:xfrm>
        <a:graphic>
          <a:graphicData uri="http://schemas.openxmlformats.org/drawingml/2006/table">
            <a:tbl>
              <a:tblPr firstRow="1" bandRow="1">
                <a:tableStyleId>{5C22544A-7EE6-4342-B048-85BDC9FD1C3A}</a:tableStyleId>
              </a:tblPr>
              <a:tblGrid>
                <a:gridCol w="777600"/>
                <a:gridCol w="570240"/>
                <a:gridCol w="673920"/>
                <a:gridCol w="570240"/>
              </a:tblGrid>
              <a:tr h="201600">
                <a:tc>
                  <a:txBody>
                    <a:bodyPr/>
                    <a:lstStyle/>
                    <a:p>
                      <a:pPr algn="l"/>
                      <a:r>
                        <a:rPr sz="800" b="1" i="0">
                          <a:solidFill>
                            <a:srgbClr val="FFFFFF"/>
                          </a:solidFill>
                          <a:latin typeface="Calibri"/>
                        </a:rPr>
                        <a:t>Année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EV/EB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49,4x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22,0x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7,7x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57,9x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24,2x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21,9x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7,3x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32,8x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6,9x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Rectangle 19"/>
          <p:cNvSpPr/>
          <p:nvPr/>
        </p:nvSpPr>
        <p:spPr>
          <a:xfrm>
            <a:off x="367200" y="3600000"/>
            <a:ext cx="8413200" cy="111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7200" y="3600000"/>
            <a:ext cx="79200" cy="111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200" y="3628800"/>
            <a:ext cx="8298000" cy="1080000"/>
          </a:xfrm>
          <a:prstGeom prst="rect">
            <a:avLst/>
          </a:prstGeom>
          <a:noFill/>
        </p:spPr>
        <p:txBody>
          <a:bodyPr wrap="square">
            <a:spAutoFit/>
          </a:bodyPr>
          <a:lstStyle/>
          <a:p>
            <a:pPr algn="l"/>
            <a:r>
              <a:rPr sz="850" b="0" i="0">
                <a:solidFill>
                  <a:srgbClr val="555555"/>
                </a:solidFill>
                <a:latin typeface="Calibri"/>
              </a:rPr>
              <a:t>Le P/E affiche une compression multiple de 16.6x sur la période (49,4x → 32,8x), signal d’une réévaluation négative du profil de croissance. L’EV/EBITDA diverge à 16,6x vs 22,0x historique. Le CA 2025 atteint 22,1Md€ (+7,6% YoY), porté par un levier opérationnel de +2,5pts sur la marge EBITDA (15,4% vs 12,9% en 2024) grâce à l'amélioration du mix produits et aux économies d'échelle. Le ND/EBITDA à 0,5x et un ROIC de 20,3% soulignent une trésorerie solide pour financer la R&amp;D (1,2Md€) ou des acquisitions ciblées.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Capital Returns &amp; Free Cash Flow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HO.PA · FCF yield, dividendes &amp; allocation du capital</a:t>
            </a:r>
          </a:p>
        </p:txBody>
      </p:sp>
      <p:sp>
        <p:nvSpPr>
          <p:cNvPr id="17" name="Rectangle 16"/>
          <p:cNvSpPr/>
          <p:nvPr/>
        </p:nvSpPr>
        <p:spPr>
          <a:xfrm>
            <a:off x="367200"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00" y="871200"/>
            <a:ext cx="1900799" cy="234000"/>
          </a:xfrm>
          <a:prstGeom prst="rect">
            <a:avLst/>
          </a:prstGeom>
          <a:noFill/>
        </p:spPr>
        <p:txBody>
          <a:bodyPr wrap="square">
            <a:spAutoFit/>
          </a:bodyPr>
          <a:lstStyle/>
          <a:p>
            <a:pPr algn="l"/>
            <a:r>
              <a:rPr sz="1600" b="1" i="0">
                <a:solidFill>
                  <a:srgbClr val="1B3A6B"/>
                </a:solidFill>
                <a:latin typeface="Calibri"/>
              </a:rPr>
              <a:t>3,6 %</a:t>
            </a:r>
          </a:p>
        </p:txBody>
      </p:sp>
      <p:sp>
        <p:nvSpPr>
          <p:cNvPr id="20" name="TextBox 19"/>
          <p:cNvSpPr txBox="1"/>
          <p:nvPr/>
        </p:nvSpPr>
        <p:spPr>
          <a:xfrm>
            <a:off x="460800" y="1098000"/>
            <a:ext cx="1900799" cy="234000"/>
          </a:xfrm>
          <a:prstGeom prst="rect">
            <a:avLst/>
          </a:prstGeom>
          <a:noFill/>
        </p:spPr>
        <p:txBody>
          <a:bodyPr wrap="square">
            <a:spAutoFit/>
          </a:bodyPr>
          <a:lstStyle/>
          <a:p>
            <a:pPr algn="l"/>
            <a:r>
              <a:rPr sz="800" b="0" i="0">
                <a:solidFill>
                  <a:srgbClr val="555555"/>
                </a:solidFill>
                <a:latin typeface="Calibri"/>
              </a:rPr>
              <a:t>FCF Yield</a:t>
            </a:r>
          </a:p>
        </p:txBody>
      </p:sp>
      <p:sp>
        <p:nvSpPr>
          <p:cNvPr id="21" name="Rectangle 20"/>
          <p:cNvSpPr/>
          <p:nvPr/>
        </p:nvSpPr>
        <p:spPr>
          <a:xfrm>
            <a:off x="24479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479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1599" y="871200"/>
            <a:ext cx="1900799" cy="234000"/>
          </a:xfrm>
          <a:prstGeom prst="rect">
            <a:avLst/>
          </a:prstGeom>
          <a:noFill/>
        </p:spPr>
        <p:txBody>
          <a:bodyPr wrap="square">
            <a:spAutoFit/>
          </a:bodyPr>
          <a:lstStyle/>
          <a:p>
            <a:pPr algn="l"/>
            <a:r>
              <a:rPr sz="1600" b="1" i="0">
                <a:solidFill>
                  <a:srgbClr val="1B3A6B"/>
                </a:solidFill>
                <a:latin typeface="Calibri"/>
              </a:rPr>
              <a:t>2,0 Md€</a:t>
            </a:r>
          </a:p>
        </p:txBody>
      </p:sp>
      <p:sp>
        <p:nvSpPr>
          <p:cNvPr id="24" name="TextBox 23"/>
          <p:cNvSpPr txBox="1"/>
          <p:nvPr/>
        </p:nvSpPr>
        <p:spPr>
          <a:xfrm>
            <a:off x="2541599" y="1098000"/>
            <a:ext cx="1900799" cy="234000"/>
          </a:xfrm>
          <a:prstGeom prst="rect">
            <a:avLst/>
          </a:prstGeom>
          <a:noFill/>
        </p:spPr>
        <p:txBody>
          <a:bodyPr wrap="square">
            <a:spAutoFit/>
          </a:bodyPr>
          <a:lstStyle/>
          <a:p>
            <a:pPr algn="l"/>
            <a:r>
              <a:rPr sz="800" b="0" i="0">
                <a:solidFill>
                  <a:srgbClr val="555555"/>
                </a:solidFill>
                <a:latin typeface="Calibri"/>
              </a:rPr>
              <a:t>FCF (LTM)</a:t>
            </a:r>
          </a:p>
        </p:txBody>
      </p:sp>
      <p:sp>
        <p:nvSpPr>
          <p:cNvPr id="25" name="Rectangle 24"/>
          <p:cNvSpPr/>
          <p:nvPr/>
        </p:nvSpPr>
        <p:spPr>
          <a:xfrm>
            <a:off x="45287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87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22399" y="871200"/>
            <a:ext cx="1900799" cy="234000"/>
          </a:xfrm>
          <a:prstGeom prst="rect">
            <a:avLst/>
          </a:prstGeom>
          <a:noFill/>
        </p:spPr>
        <p:txBody>
          <a:bodyPr wrap="square">
            <a:spAutoFit/>
          </a:bodyPr>
          <a:lstStyle/>
          <a:p>
            <a:pPr algn="l"/>
            <a:r>
              <a:rPr sz="1600" b="1" i="0">
                <a:solidFill>
                  <a:srgbClr val="1B3A6B"/>
                </a:solidFill>
                <a:latin typeface="Calibri"/>
              </a:rPr>
              <a:t>3,4 %</a:t>
            </a:r>
          </a:p>
        </p:txBody>
      </p:sp>
      <p:sp>
        <p:nvSpPr>
          <p:cNvPr id="28" name="TextBox 27"/>
          <p:cNvSpPr txBox="1"/>
          <p:nvPr/>
        </p:nvSpPr>
        <p:spPr>
          <a:xfrm>
            <a:off x="4622399" y="1098000"/>
            <a:ext cx="1900799" cy="234000"/>
          </a:xfrm>
          <a:prstGeom prst="rect">
            <a:avLst/>
          </a:prstGeom>
          <a:noFill/>
        </p:spPr>
        <p:txBody>
          <a:bodyPr wrap="square">
            <a:spAutoFit/>
          </a:bodyPr>
          <a:lstStyle/>
          <a:p>
            <a:pPr algn="l"/>
            <a:r>
              <a:rPr sz="800" b="0" i="0">
                <a:solidFill>
                  <a:srgbClr val="555555"/>
                </a:solidFill>
                <a:latin typeface="Calibri"/>
              </a:rPr>
              <a:t>Capex / Rev</a:t>
            </a:r>
          </a:p>
        </p:txBody>
      </p:sp>
      <p:sp>
        <p:nvSpPr>
          <p:cNvPr id="29" name="Rectangle 28"/>
          <p:cNvSpPr/>
          <p:nvPr/>
        </p:nvSpPr>
        <p:spPr>
          <a:xfrm>
            <a:off x="66095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095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3199" y="871200"/>
            <a:ext cx="1900799" cy="234000"/>
          </a:xfrm>
          <a:prstGeom prst="rect">
            <a:avLst/>
          </a:prstGeom>
          <a:noFill/>
        </p:spPr>
        <p:txBody>
          <a:bodyPr wrap="square">
            <a:spAutoFit/>
          </a:bodyPr>
          <a:lstStyle/>
          <a:p>
            <a:pPr algn="l"/>
            <a:r>
              <a:rPr sz="1600" b="1" i="0">
                <a:solidFill>
                  <a:srgbClr val="1B3A6B"/>
                </a:solidFill>
                <a:latin typeface="Calibri"/>
              </a:rPr>
              <a:t>—</a:t>
            </a:r>
          </a:p>
        </p:txBody>
      </p:sp>
      <p:sp>
        <p:nvSpPr>
          <p:cNvPr id="32" name="TextBox 31"/>
          <p:cNvSpPr txBox="1"/>
          <p:nvPr/>
        </p:nvSpPr>
        <p:spPr>
          <a:xfrm>
            <a:off x="6703199" y="1098000"/>
            <a:ext cx="1900799" cy="234000"/>
          </a:xfrm>
          <a:prstGeom prst="rect">
            <a:avLst/>
          </a:prstGeom>
          <a:noFill/>
        </p:spPr>
        <p:txBody>
          <a:bodyPr wrap="square">
            <a:spAutoFit/>
          </a:bodyPr>
          <a:lstStyle/>
          <a:p>
            <a:pPr algn="l"/>
            <a:r>
              <a:rPr sz="800" b="0" i="0">
                <a:solidFill>
                  <a:srgbClr val="555555"/>
                </a:solidFill>
                <a:latin typeface="Calibri"/>
              </a:rPr>
              <a:t>Div. Payout</a:t>
            </a:r>
          </a:p>
        </p:txBody>
      </p:sp>
      <p:pic>
        <p:nvPicPr>
          <p:cNvPr id="33" name="Picture 32" descr="image.png"/>
          <p:cNvPicPr>
            <a:picLocks noChangeAspect="1"/>
          </p:cNvPicPr>
          <p:nvPr/>
        </p:nvPicPr>
        <p:blipFill>
          <a:blip r:embed="rId2"/>
          <a:stretch>
            <a:fillRect/>
          </a:stretch>
        </p:blipFill>
        <p:spPr>
          <a:xfrm>
            <a:off x="367200" y="1512000"/>
            <a:ext cx="5220000" cy="2088000"/>
          </a:xfrm>
          <a:prstGeom prst="rect">
            <a:avLst/>
          </a:prstGeom>
        </p:spPr>
      </p:pic>
      <p:sp>
        <p:nvSpPr>
          <p:cNvPr id="34" name="TextBox 33"/>
          <p:cNvSpPr txBox="1"/>
          <p:nvPr/>
        </p:nvSpPr>
        <p:spPr>
          <a:xfrm>
            <a:off x="5832000" y="1512000"/>
            <a:ext cx="2951999" cy="180000"/>
          </a:xfrm>
          <a:prstGeom prst="rect">
            <a:avLst/>
          </a:prstGeom>
          <a:noFill/>
        </p:spPr>
        <p:txBody>
          <a:bodyPr wrap="square">
            <a:spAutoFit/>
          </a:bodyPr>
          <a:lstStyle/>
          <a:p>
            <a:pPr algn="l"/>
            <a:r>
              <a:rPr sz="800" b="1" i="0">
                <a:solidFill>
                  <a:srgbClr val="1B3A6B"/>
                </a:solidFill>
                <a:latin typeface="Calibri"/>
              </a:rPr>
              <a:t>ALLOCATION DU CAPITAL</a:t>
            </a:r>
          </a:p>
        </p:txBody>
      </p:sp>
      <p:graphicFrame>
        <p:nvGraphicFramePr>
          <p:cNvPr id="35" name="Table 34"/>
          <p:cNvGraphicFramePr>
            <a:graphicFrameLocks noGrp="1"/>
          </p:cNvGraphicFramePr>
          <p:nvPr/>
        </p:nvGraphicFramePr>
        <p:xfrm>
          <a:off x="5832000" y="1745999"/>
          <a:ext cx="2951995" cy="1008000"/>
        </p:xfrm>
        <a:graphic>
          <a:graphicData uri="http://schemas.openxmlformats.org/drawingml/2006/table">
            <a:tbl>
              <a:tblPr firstRow="1" bandRow="1">
                <a:tableStyleId>{5C22544A-7EE6-4342-B048-85BDC9FD1C3A}</a:tableStyleId>
              </a:tblPr>
              <a:tblGrid>
                <a:gridCol w="649439"/>
                <a:gridCol w="590399"/>
                <a:gridCol w="560879"/>
                <a:gridCol w="560879"/>
                <a:gridCol w="590399"/>
              </a:tblGrid>
              <a:tr h="201600">
                <a:tc>
                  <a:txBody>
                    <a:bodyPr/>
                    <a:lstStyle/>
                    <a:p>
                      <a:pPr algn="l"/>
                      <a:r>
                        <a:rPr sz="800" b="1" i="0">
                          <a:solidFill>
                            <a:srgbClr val="FFFFFF"/>
                          </a:solidFill>
                          <a:latin typeface="Calibri"/>
                        </a:rPr>
                        <a:t>Ann.</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FCF</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Yield</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Div%</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Capex%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 Md€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 Md€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 Md€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 Md€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36" name="Rectangle 35"/>
          <p:cNvSpPr/>
          <p:nvPr/>
        </p:nvSpPr>
        <p:spPr>
          <a:xfrm>
            <a:off x="367200" y="3708000"/>
            <a:ext cx="84132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7200" y="3708000"/>
            <a:ext cx="79200" cy="1007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200" y="3736800"/>
            <a:ext cx="8298000" cy="971999"/>
          </a:xfrm>
          <a:prstGeom prst="rect">
            <a:avLst/>
          </a:prstGeom>
          <a:noFill/>
        </p:spPr>
        <p:txBody>
          <a:bodyPr wrap="square">
            <a:spAutoFit/>
          </a:bodyPr>
          <a:lstStyle/>
          <a:p>
            <a:pPr algn="l"/>
            <a:r>
              <a:rPr sz="850" b="0" i="0">
                <a:solidFill>
                  <a:srgbClr val="555555"/>
                </a:solidFill>
                <a:latin typeface="Calibri"/>
              </a:rPr>
              <a:t>Le FCF affiche une croissance de 369 M€ sur la période, avec un FCF yield actuel de 3,6 % — à surveiller au regard de la valorisation de marché. L’allocation vers les dividendes est maintenue malgré la pression sur les marges. Le CA 2025 atteint 22,1Md€ (+7,6% YoY), porté par un levier opérationnel de +2,5pts sur la marge EBITDA (15,4% vs 12,9% en 2024) grâce à l'amélioration du mix produits et aux économies d'échelle. Le ND/EBITDA à 0,5x et un ROIC de 20,3% soulignent une trésorerie solide pour financer la R&amp;D (1,2Md€) ou des acquisitions ciblées.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LBO — Leveraged Buyout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HO.PA · Attractivité PE · Multiples d’entrée vs IRR cible</a:t>
            </a:r>
          </a:p>
        </p:txBody>
      </p:sp>
      <p:graphicFrame>
        <p:nvGraphicFramePr>
          <p:cNvPr id="17" name="Table 16"/>
          <p:cNvGraphicFramePr>
            <a:graphicFrameLocks noGrp="1"/>
          </p:cNvGraphicFramePr>
          <p:nvPr/>
        </p:nvGraphicFramePr>
        <p:xfrm>
          <a:off x="367200" y="900000"/>
          <a:ext cx="4860000" cy="1170000"/>
        </p:xfrm>
        <a:graphic>
          <a:graphicData uri="http://schemas.openxmlformats.org/drawingml/2006/table">
            <a:tbl>
              <a:tblPr firstRow="1" bandRow="1">
                <a:tableStyleId>{5C22544A-7EE6-4342-B048-85BDC9FD1C3A}</a:tableStyleId>
              </a:tblPr>
              <a:tblGrid>
                <a:gridCol w="1069200"/>
                <a:gridCol w="1263600"/>
                <a:gridCol w="1263600"/>
                <a:gridCol w="1263600"/>
              </a:tblGrid>
              <a:tr h="234000">
                <a:tc>
                  <a:txBody>
                    <a:bodyPr/>
                    <a:lstStyle/>
                    <a:p>
                      <a:pPr algn="l"/>
                      <a:r>
                        <a:rPr sz="800" b="1" i="0">
                          <a:solidFill>
                            <a:srgbClr val="FFFFFF"/>
                          </a:solidFill>
                          <a:latin typeface="Calibri"/>
                        </a:rPr>
                        <a:t>Entry mult.</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8x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10x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12x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19.0% / 2.4x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25.4% / 3.1x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30.8% / 3.8x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9.7% / 1.6x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15.7% / 2.1x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20.6% / 2.6x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 / 1.2x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9.2% / 1.6x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13.9% / 1.9x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-0.9% / 1.0x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 / 1.2x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8.9% / 1.5x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2592000"/>
            <a:ext cx="4860000" cy="180000"/>
          </a:xfrm>
          <a:prstGeom prst="rect">
            <a:avLst/>
          </a:prstGeom>
          <a:noFill/>
        </p:spPr>
        <p:txBody>
          <a:bodyPr wrap="square">
            <a:spAutoFit/>
          </a:bodyPr>
          <a:lstStyle/>
          <a:p>
            <a:pPr algn="l"/>
            <a:r>
              <a:rPr sz="750" b="0" i="0">
                <a:solidFill>
                  <a:srgbClr val="555555"/>
                </a:solidFill>
                <a:latin typeface="Calibri"/>
              </a:rPr>
              <a:t>Hypotheses : Levier 4x EBITDA · 5 ans holding · 50% remboursement dette · EBITDA +8%/an</a:t>
            </a:r>
          </a:p>
        </p:txBody>
      </p:sp>
      <p:sp>
        <p:nvSpPr>
          <p:cNvPr id="19" name="TextBox 18"/>
          <p:cNvSpPr txBox="1"/>
          <p:nvPr/>
        </p:nvSpPr>
        <p:spPr>
          <a:xfrm>
            <a:off x="367200" y="2754000"/>
            <a:ext cx="4860000" cy="180000"/>
          </a:xfrm>
          <a:prstGeom prst="rect">
            <a:avLst/>
          </a:prstGeom>
          <a:noFill/>
        </p:spPr>
        <p:txBody>
          <a:bodyPr wrap="square">
            <a:spAutoFit/>
          </a:bodyPr>
          <a:lstStyle/>
          <a:p>
            <a:pPr algn="l"/>
            <a:r>
              <a:rPr sz="750" b="0" i="0">
                <a:solidFill>
                  <a:srgbClr val="888888"/>
                </a:solidFill>
                <a:latin typeface="Calibri"/>
              </a:rPr>
              <a:t>Lecture : IRR / MOIC  ● vert ≥ 20%  ● ambre 15-20%  ● rouge &lt; 15%</a:t>
            </a:r>
          </a:p>
        </p:txBody>
      </p:sp>
      <p:sp>
        <p:nvSpPr>
          <p:cNvPr id="20" name="TextBox 19"/>
          <p:cNvSpPr txBox="1"/>
          <p:nvPr/>
        </p:nvSpPr>
        <p:spPr>
          <a:xfrm>
            <a:off x="5472000" y="900000"/>
            <a:ext cx="3311999" cy="180000"/>
          </a:xfrm>
          <a:prstGeom prst="rect">
            <a:avLst/>
          </a:prstGeom>
          <a:noFill/>
        </p:spPr>
        <p:txBody>
          <a:bodyPr wrap="square">
            <a:spAutoFit/>
          </a:bodyPr>
          <a:lstStyle/>
          <a:p>
            <a:pPr algn="l"/>
            <a:r>
              <a:rPr sz="800" b="1" i="0">
                <a:solidFill>
                  <a:srgbClr val="1B3A6B"/>
                </a:solidFill>
                <a:latin typeface="Calibri"/>
              </a:rPr>
              <a:t>HYPOTHÈSES &amp; STRUCTURE LBO</a:t>
            </a:r>
          </a:p>
        </p:txBody>
      </p:sp>
      <p:graphicFrame>
        <p:nvGraphicFramePr>
          <p:cNvPr id="21" name="Table 20"/>
          <p:cNvGraphicFramePr>
            <a:graphicFrameLocks noGrp="1"/>
          </p:cNvGraphicFramePr>
          <p:nvPr/>
        </p:nvGraphicFramePr>
        <p:xfrm>
          <a:off x="5472000" y="1116000"/>
          <a:ext cx="3311998" cy="1602000"/>
        </p:xfrm>
        <a:graphic>
          <a:graphicData uri="http://schemas.openxmlformats.org/drawingml/2006/table">
            <a:tbl>
              <a:tblPr firstRow="1" bandRow="1">
                <a:tableStyleId>{5C22544A-7EE6-4342-B048-85BDC9FD1C3A}</a:tableStyleId>
              </a:tblPr>
              <a:tblGrid>
                <a:gridCol w="1722239"/>
                <a:gridCol w="1589759"/>
              </a:tblGrid>
              <a:tr h="20025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LTM</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 Md€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FCF LTM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 Md€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Levier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4x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Dette entrée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13,6 Md€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exit (est.)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4,9 Md€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Holding</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 ans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IRR cible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 20%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5472000" y="3096000"/>
            <a:ext cx="3311999" cy="1007999"/>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72000" y="3096000"/>
            <a:ext cx="72000" cy="1007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0000" y="3131999"/>
            <a:ext cx="3168000" cy="162000"/>
          </a:xfrm>
          <a:prstGeom prst="rect">
            <a:avLst/>
          </a:prstGeom>
          <a:noFill/>
        </p:spPr>
        <p:txBody>
          <a:bodyPr wrap="square">
            <a:spAutoFit/>
          </a:bodyPr>
          <a:lstStyle/>
          <a:p>
            <a:pPr algn="l"/>
            <a:r>
              <a:rPr sz="750" b="1" i="0">
                <a:solidFill>
                  <a:srgbClr val="B06000"/>
                </a:solidFill>
                <a:latin typeface="Calibri"/>
              </a:rPr>
              <a:t>NOTE MÉTHODOLOGIQUE</a:t>
            </a:r>
          </a:p>
        </p:txBody>
      </p:sp>
      <p:sp>
        <p:nvSpPr>
          <p:cNvPr id="25" name="TextBox 24"/>
          <p:cNvSpPr txBox="1"/>
          <p:nvPr/>
        </p:nvSpPr>
        <p:spPr>
          <a:xfrm>
            <a:off x="5580000" y="3294000"/>
            <a:ext cx="3168000" cy="792000"/>
          </a:xfrm>
          <a:prstGeom prst="rect">
            <a:avLst/>
          </a:prstGeom>
          <a:noFill/>
        </p:spPr>
        <p:txBody>
          <a:bodyPr wrap="square">
            <a:spAutoFit/>
          </a:bodyPr>
          <a:lstStyle/>
          <a:p>
            <a:pPr algn="l"/>
            <a:r>
              <a:rPr sz="800" b="0" i="0">
                <a:solidFill>
                  <a:srgbClr val="555555"/>
                </a:solidFill>
                <a:latin typeface="Calibri"/>
              </a:rPr>
              <a:t>Analyse indicative uniquement. Le LBO assume un rachat 100% equity par un fonds PE. La dette est remboursée par le FCF de la cible. L'IRR ne tient pas compte des frais de transaction ni de la structure fiscale optimisée. Un IRR ≥ 20% est le seuil standard d'un fonds PE tier-1.</a:t>
            </a:r>
          </a:p>
        </p:txBody>
      </p:sp>
      <p:sp>
        <p:nvSpPr>
          <p:cNvPr id="26" name="Rectangle 25"/>
          <p:cNvSpPr/>
          <p:nvPr/>
        </p:nvSpPr>
        <p:spPr>
          <a:xfrm>
            <a:off x="367200" y="4176000"/>
            <a:ext cx="84132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7200" y="4176000"/>
            <a:ext cx="79200" cy="57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200" y="4204800"/>
            <a:ext cx="8298000" cy="540000"/>
          </a:xfrm>
          <a:prstGeom prst="rect">
            <a:avLst/>
          </a:prstGeom>
          <a:noFill/>
        </p:spPr>
        <p:txBody>
          <a:bodyPr wrap="square">
            <a:spAutoFit/>
          </a:bodyPr>
          <a:lstStyle/>
          <a:p>
            <a:pPr algn="l"/>
            <a:r>
              <a:rPr sz="850" b="0" i="0">
                <a:solidFill>
                  <a:srgbClr val="555555"/>
                </a:solidFill>
                <a:latin typeface="Calibri"/>
              </a:rPr>
              <a:t>A 10x EBITDA d'entrée / 10x de sortie, le LBO génère un IRR de 15.7% (MOIC 2.1x en 5 ans) — attractivité PE jugée limite. Un fonds tier-1 ciblant 20%+ d'IRR doit entrer en dessous de 8x EBITDA. La génération de FCF (2,0 Md€) est le principal levier de remboursement de la dette.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396000"/>
          </a:xfrm>
          <a:prstGeom prst="rect">
            <a:avLst/>
          </a:prstGeom>
          <a:noFill/>
        </p:spPr>
        <p:txBody>
          <a:bodyPr wrap="square">
            <a:spAutoFit/>
          </a:bodyPr>
          <a:lstStyle/>
          <a:p>
            <a:pPr algn="l"/>
            <a:r>
              <a:rPr sz="900" b="1" i="0">
                <a:solidFill>
                  <a:srgbClr val="A82020"/>
                </a:solidFill>
                <a:latin typeface="Calibri"/>
              </a:rPr>
              <a:t>Dépendance clients étatiques</a:t>
            </a:r>
          </a:p>
        </p:txBody>
      </p:sp>
      <p:sp>
        <p:nvSpPr>
          <p:cNvPr id="20" name="TextBox 19"/>
          <p:cNvSpPr txBox="1"/>
          <p:nvPr/>
        </p:nvSpPr>
        <p:spPr>
          <a:xfrm>
            <a:off x="475200" y="1537199"/>
            <a:ext cx="2527200" cy="1260000"/>
          </a:xfrm>
          <a:prstGeom prst="rect">
            <a:avLst/>
          </a:prstGeom>
          <a:noFill/>
        </p:spPr>
        <p:txBody>
          <a:bodyPr wrap="square">
            <a:spAutoFit/>
          </a:bodyPr>
          <a:lstStyle/>
          <a:p>
            <a:pPr algn="l"/>
            <a:r>
              <a:rPr sz="800" b="0" i="0">
                <a:solidFill>
                  <a:srgbClr val="555555"/>
                </a:solidFill>
                <a:latin typeface="Calibri"/>
              </a:rPr>
              <a:t>Le leadership technologique de Thales repose sur des niches coûteuses en R&amp;D, avec un mix logiciel qui gonfle artificiellement les marges : 26,4 % de GM en 2025 masquent des coûts de maintenance logicielle en hausse de 15 % par an depuis 2020. Les contrats publics, pilier de ses revenus, subissent des retards récurrents de paiement, avec 1,2 milliard d’euros de créances douteuses en 2024.</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396000"/>
          </a:xfrm>
          <a:prstGeom prst="rect">
            <a:avLst/>
          </a:prstGeom>
          <a:noFill/>
        </p:spPr>
        <p:txBody>
          <a:bodyPr wrap="square">
            <a:spAutoFit/>
          </a:bodyPr>
          <a:lstStyle/>
          <a:p>
            <a:pPr algn="l"/>
            <a:r>
              <a:rPr sz="900" b="1" i="0">
                <a:solidFill>
                  <a:srgbClr val="2E5FA3"/>
                </a:solidFill>
                <a:latin typeface="Calibri"/>
              </a:rPr>
              <a:t>Marges logicielles artificielles</a:t>
            </a:r>
          </a:p>
        </p:txBody>
      </p:sp>
      <p:sp>
        <p:nvSpPr>
          <p:cNvPr id="24" name="TextBox 23"/>
          <p:cNvSpPr txBox="1"/>
          <p:nvPr/>
        </p:nvSpPr>
        <p:spPr>
          <a:xfrm>
            <a:off x="3337200" y="1537199"/>
            <a:ext cx="2527200" cy="1260000"/>
          </a:xfrm>
          <a:prstGeom prst="rect">
            <a:avLst/>
          </a:prstGeom>
          <a:noFill/>
        </p:spPr>
        <p:txBody>
          <a:bodyPr wrap="square">
            <a:spAutoFit/>
          </a:bodyPr>
          <a:lstStyle/>
          <a:p>
            <a:pPr algn="l"/>
            <a:r>
              <a:rPr sz="800" b="0" i="0">
                <a:solidFill>
                  <a:srgbClr val="555555"/>
                </a:solidFill>
                <a:latin typeface="Calibri"/>
              </a:rPr>
              <a:t>Le carnet de commandes record de 42,3 milliards d’euros en 2025 est concentré sur 10 % de clients étatiques, exposant Thales à des annulations arbitraires en cas de restrictions budgétaires : le secteur défense français a déjà réduit ses dépenses de 8 % en 2023.</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396000"/>
          </a:xfrm>
          <a:prstGeom prst="rect">
            <a:avLst/>
          </a:prstGeom>
          <a:noFill/>
        </p:spPr>
        <p:txBody>
          <a:bodyPr wrap="square">
            <a:spAutoFit/>
          </a:bodyPr>
          <a:lstStyle/>
          <a:p>
            <a:pPr algn="l"/>
            <a:r>
              <a:rPr sz="900" b="1" i="0">
                <a:solidFill>
                  <a:srgbClr val="B06000"/>
                </a:solidFill>
                <a:latin typeface="Calibri"/>
              </a:rPr>
              <a:t>Surévaluation P/E</a:t>
            </a:r>
          </a:p>
        </p:txBody>
      </p:sp>
      <p:sp>
        <p:nvSpPr>
          <p:cNvPr id="28" name="TextBox 27"/>
          <p:cNvSpPr txBox="1"/>
          <p:nvPr/>
        </p:nvSpPr>
        <p:spPr>
          <a:xfrm>
            <a:off x="6199200" y="1537199"/>
            <a:ext cx="2527200" cy="1260000"/>
          </a:xfrm>
          <a:prstGeom prst="rect">
            <a:avLst/>
          </a:prstGeom>
          <a:noFill/>
        </p:spPr>
        <p:txBody>
          <a:bodyPr wrap="square">
            <a:spAutoFit/>
          </a:bodyPr>
          <a:lstStyle/>
          <a:p>
            <a:pPr algn="l"/>
            <a:r>
              <a:rPr sz="800" b="0" i="0">
                <a:solidFill>
                  <a:srgbClr val="555555"/>
                </a:solidFill>
                <a:latin typeface="Calibri"/>
              </a:rPr>
              <a:t>Le ratio P/E de 32,81x en 2025 dépasse de 50 % la moyenne sectorielle, reflétant une surévaluation : l’EBITDA ajusté chute de 4 % en glissement annuel malgré la croissance des revenus, signe d’une compression des profits réels.</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Récession en Europe réduisant les budgets défense de -15%</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Concurrence accrue des acteurs chinois sur les systèmes embarqués critiques</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Retard majeur sur le programme FCAS ou perte d'un contrat majeur</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Détresse : 20/100  Moderé</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44/100  Moderate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Régime : Volatile  Rec.6M:26%</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Qualité : Excellente (1.20x)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Modérée (35% CT)</a:t>
            </a:r>
          </a:p>
        </p:txBody>
      </p:sp>
      <p:sp>
        <p:nvSpPr>
          <p:cNvPr id="47" name="Rectangle 46"/>
          <p:cNvSpPr/>
          <p:nvPr/>
        </p:nvSpPr>
        <p:spPr>
          <a:xfrm>
            <a:off x="612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02800" y="4629600"/>
            <a:ext cx="2696400" cy="158400"/>
          </a:xfrm>
          <a:prstGeom prst="rect">
            <a:avLst/>
          </a:prstGeom>
          <a:noFill/>
        </p:spPr>
        <p:txBody>
          <a:bodyPr wrap="square">
            <a:spAutoFit/>
          </a:bodyPr>
          <a:lstStyle/>
          <a:p>
            <a:pPr algn="l"/>
            <a:r>
              <a:rPr sz="700" b="0" i="0">
                <a:solidFill>
                  <a:srgbClr val="1B3A6B"/>
                </a:solidFill>
                <a:latin typeface="Calibri"/>
              </a:rPr>
              <a:t>Dividende : Tres soutenable (44.4x)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LLM Groq</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20 articles  ·  7 derniers jours  ·  Classification LLM</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Positif</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+0,420</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20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59,0 %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LLM Groq</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14</a:t>
                      </a:r>
                    </a:p>
                  </a:txBody>
                  <a:tcPr>
                    <a:solidFill>
                      <a:srgbClr val="EAF4EF"/>
                    </a:solidFill>
                  </a:tcPr>
                </a:tc>
                <a:tc>
                  <a:txBody>
                    <a:bodyPr/>
                    <a:lstStyle/>
                    <a:p>
                      <a:pPr algn="ctr"/>
                      <a:r>
                        <a:rPr sz="800" b="0" i="0">
                          <a:solidFill>
                            <a:srgbClr val="0D0D0D"/>
                          </a:solidFill>
                          <a:latin typeface="Calibri"/>
                        </a:rPr>
                        <a:t>+0,590</a:t>
                      </a:r>
                    </a:p>
                  </a:txBody>
                  <a:tcPr>
                    <a:solidFill>
                      <a:srgbClr val="EAF4EF"/>
                    </a:solidFill>
                  </a:tcPr>
                </a:tc>
                <a:tc>
                  <a:txBody>
                    <a:bodyPr/>
                    <a:lstStyle/>
                    <a:p>
                      <a:pPr algn="ctr"/>
                      <a:r>
                        <a:rPr sz="800" b="0" i="0">
                          <a:solidFill>
                            <a:srgbClr val="0D0D0D"/>
                          </a:solidFill>
                          <a:latin typeface="Calibri"/>
                        </a:rPr>
                        <a:t>Croissance organique +7,6% en 2025 portée par l'aérospatial et la cybersécurité | Horizon 2026-2027</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3</a:t>
                      </a:r>
                    </a:p>
                  </a:txBody>
                  <a:tcPr>
                    <a:solidFill>
                      <a:srgbClr val="FFFFFF"/>
                    </a:solidFill>
                  </a:tcPr>
                </a:tc>
                <a:tc>
                  <a:txBody>
                    <a:bodyPr/>
                    <a:lstStyle/>
                    <a:p>
                      <a:pPr algn="ctr"/>
                      <a:r>
                        <a:rPr sz="800" b="0" i="0">
                          <a:solidFill>
                            <a:srgbClr val="0D0D0D"/>
                          </a:solidFill>
                          <a:latin typeface="Calibri"/>
                        </a:rPr>
                        <a:t>+0,240</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3</a:t>
                      </a:r>
                    </a:p>
                  </a:txBody>
                  <a:tcPr>
                    <a:solidFill>
                      <a:srgbClr val="FAF0EF"/>
                    </a:solidFill>
                  </a:tcPr>
                </a:tc>
                <a:tc>
                  <a:txBody>
                    <a:bodyPr/>
                    <a:lstStyle/>
                    <a:p>
                      <a:pPr algn="ctr"/>
                      <a:r>
                        <a:rPr sz="800" b="0" i="0">
                          <a:solidFill>
                            <a:srgbClr val="0D0D0D"/>
                          </a:solidFill>
                          <a:latin typeface="Calibri"/>
                        </a:rPr>
                        <a:t>+0,170</a:t>
                      </a:r>
                    </a:p>
                  </a:txBody>
                  <a:tcPr>
                    <a:solidFill>
                      <a:srgbClr val="FAF0EF"/>
                    </a:solidFill>
                  </a:tcPr>
                </a:tc>
                <a:tc>
                  <a:txBody>
                    <a:bodyPr/>
                    <a:lstStyle/>
                    <a:p>
                      <a:pPr algn="ctr"/>
                      <a:r>
                        <a:rPr sz="800" b="0" i="0">
                          <a:solidFill>
                            <a:srgbClr val="0D0D0D"/>
                          </a:solidFill>
                          <a:latin typeface="Calibri"/>
                        </a:rPr>
                        <a:t>Risque de retard sur les programmes militaires en Europe | Impact -1,2Md€ CA potentiel | Horizon 6-12 mois</a:t>
                      </a:r>
                    </a:p>
                  </a:txBody>
                  <a:tcPr>
                    <a:solidFill>
                      <a:srgbClr val="FAF0EF"/>
                    </a:solidFill>
                  </a:tcPr>
                </a:tc>
              </a:tr>
            </a:tbl>
          </a:graphicData>
        </a:graphic>
      </p:graphicFrame>
      <p:sp>
        <p:nvSpPr>
          <p:cNvPr id="39" name="TextBox 38"/>
          <p:cNvSpPr txBox="1"/>
          <p:nvPr/>
        </p:nvSpPr>
        <p:spPr>
          <a:xfrm>
            <a:off x="367200" y="4140000"/>
            <a:ext cx="8413200" cy="630000"/>
          </a:xfrm>
          <a:prstGeom prst="rect">
            <a:avLst/>
          </a:prstGeom>
          <a:noFill/>
        </p:spPr>
        <p:txBody>
          <a:bodyPr wrap="square">
            <a:spAutoFit/>
          </a:bodyPr>
          <a:lstStyle/>
          <a:p>
            <a:pPr algn="l"/>
            <a:r>
              <a:rPr sz="850" b="0" i="0">
                <a:solidFill>
                  <a:srgbClr val="333333"/>
                </a:solidFill>
                <a:latin typeface="Calibri"/>
              </a:rPr>
              <a:t>La presse financière souligne une dynamique globalement positive pour Thales (HO.PA) cette semaine, portée par des innovations technologiques et des partenariats stratégiques. Cependant, certains titres évoquent des défis réglementaires et des pressions macroéconomiques pesant sur le secteur.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9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Thales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56.2 %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First TRT Exch-Trd Fd. II-First TRT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STAR FUNDS-Vanguard Total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Goldman Sachs TRT II-Goldman Sachs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GLOBAL X FUNDS-Global X Defense Tec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TAX-MANAGED FUNDS-Vanguard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MFS SERIES TRUST I-MFS Research Int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iShares Trust-iShares Core MSCI EAF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40.2 %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56.2 %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40.2 %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Rectangle 20"/>
          <p:cNvSpPr/>
          <p:nvPr/>
        </p:nvSpPr>
        <p:spPr>
          <a:xfrm>
            <a:off x="367200" y="3326400"/>
            <a:ext cx="8413200" cy="1443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3326400"/>
            <a:ext cx="79200" cy="144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200" y="3355200"/>
            <a:ext cx="8298000" cy="1407600"/>
          </a:xfrm>
          <a:prstGeom prst="rect">
            <a:avLst/>
          </a:prstGeom>
          <a:noFill/>
        </p:spPr>
        <p:txBody>
          <a:bodyPr wrap="square">
            <a:spAutoFit/>
          </a:bodyPr>
          <a:lstStyle/>
          <a:p>
            <a:pPr algn="l"/>
            <a:r>
              <a:rPr sz="850" b="0" i="0">
                <a:solidFill>
                  <a:srgbClr val="555555"/>
                </a:solidFill>
                <a:latin typeface="Calibri"/>
              </a:rPr>
              <a:t>Thales se négocie à 16,6x EV/EBITDA vs une médiane sectorielle de 14,2x, justifiée par sa croissance supérieure (+7,6% vs +5% secteur) et sa qualité d'actifs. Le P/E à 32,8x reflète une prime de 56% vs la médiane (21x). Thales se traite à 16,6x EV/EBITDA vs une médiane peers de 14,2x (+17%), et à 32,8x P/E vs 21x (+56%). La prime est justifiée par une croissance organique supérieure (+7,6% vs +5% peers) et une qualité de portefeuille (carnet de commandes à 2x le CA). Une convergence vers la médiane impliquerait un downside de 15%, peu probable sans choc sectoriel. Thales capitalise sur un carnet de commandes record de 42,3Md€ fin 2025, avec un mix logiciel/services passant de 55% à 60% du CA d'ici 2027 La marge EBITDA devrait atteindre 17,5% en 2027 grâce à l'effet volume sur les segments Aérospatial (+8% YoY) et Sécurité (+10% YoY) Le ND/EBITDA à 0,5x offre une capacité de rachat de 3,5Md€ ou de distribution de dividendes à 3,5%. Thales S.A. bénéficie d'une croissance organique soutenue (+7,6% en 2025) et d'une marge EBITDA en rebond (+2,5pts vs 2024) grâce à son mix logiciel et services. La société affiche une solidité financière avec un ND/EBITDA à 0,5x et un ROIC de 20,3%.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HO.PA  ·  EUR  ·  Au 9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267,30 EUR</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267,30 EUR</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224,23 EUR</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+1,5 %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Cours stable de +1,5 % sur 12 mois</a:t>
            </a:r>
          </a:p>
        </p:txBody>
      </p:sp>
      <p:pic>
        <p:nvPicPr>
          <p:cNvPr id="34" name="Picture 33" descr="image.png"/>
          <p:cNvPicPr>
            <a:picLocks noChangeAspect="1"/>
          </p:cNvPicPr>
          <p:nvPr/>
        </p:nvPicPr>
        <p:blipFill>
          <a:blip r:embed="rId2"/>
          <a:stretch>
            <a:fillRect/>
          </a:stretch>
        </p:blipFill>
        <p:spPr>
          <a:xfrm>
            <a:off x="367200" y="2102400"/>
            <a:ext cx="8413200" cy="1828800"/>
          </a:xfrm>
          <a:prstGeom prst="rect">
            <a:avLst/>
          </a:prstGeom>
        </p:spPr>
      </p:pic>
      <p:sp>
        <p:nvSpPr>
          <p:cNvPr id="35" name="Rectangle 34"/>
          <p:cNvSpPr/>
          <p:nvPr/>
        </p:nvSpPr>
        <p:spPr>
          <a:xfrm>
            <a:off x="367200" y="4158000"/>
            <a:ext cx="8413200" cy="6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7200" y="4158000"/>
            <a:ext cx="792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200" y="4186800"/>
            <a:ext cx="8298000" cy="612000"/>
          </a:xfrm>
          <a:prstGeom prst="rect">
            <a:avLst/>
          </a:prstGeom>
          <a:noFill/>
        </p:spPr>
        <p:txBody>
          <a:bodyPr wrap="square">
            <a:spAutoFit/>
          </a:bodyPr>
          <a:lstStyle/>
          <a:p>
            <a:pPr algn="l"/>
            <a:r>
              <a:rPr sz="850" b="0" i="0">
                <a:solidFill>
                  <a:srgbClr val="555555"/>
                </a:solidFill>
                <a:latin typeface="Calibri"/>
              </a:rPr>
              <a:t>Thales S.A. bénéficie d'une croissance organique soutenue (+7,6% en 2025) et d'une marge EBITDA en rebond (+2,5pts vs 2024) grâce à son mix logiciel et services. La société affiche une solidité financière avec un ND/EBITDA à 0,5x et un ROIC de 20,3%.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Conviction &amp; Thèse d’Investissement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HO.PA  ·  FinSight IA  ·  Rapport 9 avril 2026</a:t>
            </a:r>
          </a:p>
        </p:txBody>
      </p:sp>
      <p:sp>
        <p:nvSpPr>
          <p:cNvPr id="17" name="Rectangle 16"/>
          <p:cNvSpPr/>
          <p:nvPr/>
        </p:nvSpPr>
        <p:spPr>
          <a:xfrm>
            <a:off x="324000" y="827999"/>
            <a:ext cx="2700000" cy="1260000"/>
          </a:xfrm>
          <a:prstGeom prst="rect">
            <a:avLst/>
          </a:prstGeom>
          <a:solidFill>
            <a:srgbClr val="E8F5E9"/>
          </a:solidFill>
          <a:ln w="2540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000" y="864000"/>
            <a:ext cx="2700000" cy="396000"/>
          </a:xfrm>
          <a:prstGeom prst="rect">
            <a:avLst/>
          </a:prstGeom>
          <a:noFill/>
        </p:spPr>
        <p:txBody>
          <a:bodyPr wrap="square">
            <a:spAutoFit/>
          </a:bodyPr>
          <a:lstStyle/>
          <a:p>
            <a:pPr algn="ctr"/>
            <a:r>
              <a:rPr sz="3600" b="1" i="0">
                <a:solidFill>
                  <a:srgbClr val="1A7A4A"/>
                </a:solidFill>
                <a:latin typeface="Calibri"/>
              </a:rPr>
              <a:t>BUY</a:t>
            </a:r>
          </a:p>
        </p:txBody>
      </p:sp>
      <p:sp>
        <p:nvSpPr>
          <p:cNvPr id="19" name="TextBox 18"/>
          <p:cNvSpPr txBox="1"/>
          <p:nvPr/>
        </p:nvSpPr>
        <p:spPr>
          <a:xfrm>
            <a:off x="324000" y="1278000"/>
            <a:ext cx="2700000" cy="198000"/>
          </a:xfrm>
          <a:prstGeom prst="rect">
            <a:avLst/>
          </a:prstGeom>
          <a:noFill/>
        </p:spPr>
        <p:txBody>
          <a:bodyPr wrap="square">
            <a:spAutoFit/>
          </a:bodyPr>
          <a:lstStyle/>
          <a:p>
            <a:pPr algn="ctr"/>
            <a:r>
              <a:rPr sz="1100" b="0" i="0">
                <a:solidFill>
                  <a:srgbClr val="555555"/>
                </a:solidFill>
                <a:latin typeface="Calibri"/>
              </a:rPr>
              <a:t>Conviction : 78%</a:t>
            </a:r>
          </a:p>
        </p:txBody>
      </p:sp>
      <p:sp>
        <p:nvSpPr>
          <p:cNvPr id="20" name="TextBox 19"/>
          <p:cNvSpPr txBox="1"/>
          <p:nvPr/>
        </p:nvSpPr>
        <p:spPr>
          <a:xfrm>
            <a:off x="324000" y="1494000"/>
            <a:ext cx="2700000" cy="198000"/>
          </a:xfrm>
          <a:prstGeom prst="rect">
            <a:avLst/>
          </a:prstGeom>
          <a:noFill/>
        </p:spPr>
        <p:txBody>
          <a:bodyPr wrap="square">
            <a:spAutoFit/>
          </a:bodyPr>
          <a:lstStyle/>
          <a:p>
            <a:pPr algn="ctr"/>
            <a:r>
              <a:rPr sz="850" b="0" i="0">
                <a:solidFill>
                  <a:srgbClr val="555555"/>
                </a:solidFill>
                <a:latin typeface="Calibri"/>
              </a:rPr>
              <a:t>9 avril 2026</a:t>
            </a:r>
          </a:p>
        </p:txBody>
      </p:sp>
      <p:sp>
        <p:nvSpPr>
          <p:cNvPr id="21" name="Rectangle 20"/>
          <p:cNvSpPr/>
          <p:nvPr/>
        </p:nvSpPr>
        <p:spPr>
          <a:xfrm>
            <a:off x="324000" y="2196000"/>
            <a:ext cx="2700000" cy="1980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2196000"/>
            <a:ext cx="2106000" cy="19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051999"/>
            <a:ext cx="2700000" cy="136800"/>
          </a:xfrm>
          <a:prstGeom prst="rect">
            <a:avLst/>
          </a:prstGeom>
          <a:noFill/>
        </p:spPr>
        <p:txBody>
          <a:bodyPr wrap="square">
            <a:spAutoFit/>
          </a:bodyPr>
          <a:lstStyle/>
          <a:p>
            <a:pPr algn="l"/>
            <a:r>
              <a:rPr sz="700" b="1" i="0">
                <a:solidFill>
                  <a:srgbClr val="1B3A6B"/>
                </a:solidFill>
                <a:latin typeface="Calibri"/>
              </a:rPr>
              <a:t>NIVEAU DE CONVICTION</a:t>
            </a:r>
          </a:p>
        </p:txBody>
      </p:sp>
      <p:sp>
        <p:nvSpPr>
          <p:cNvPr id="24" name="Rectangle 23"/>
          <p:cNvSpPr/>
          <p:nvPr/>
        </p:nvSpPr>
        <p:spPr>
          <a:xfrm>
            <a:off x="324000" y="2520000"/>
            <a:ext cx="2700000" cy="27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00" y="2538000"/>
            <a:ext cx="2628000" cy="234000"/>
          </a:xfrm>
          <a:prstGeom prst="rect">
            <a:avLst/>
          </a:prstGeom>
          <a:noFill/>
        </p:spPr>
        <p:txBody>
          <a:bodyPr wrap="square">
            <a:spAutoFit/>
          </a:bodyPr>
          <a:lstStyle/>
          <a:p>
            <a:pPr algn="l"/>
            <a:r>
              <a:rPr sz="850" b="1" i="0">
                <a:solidFill>
                  <a:srgbClr val="1A7A4A"/>
                </a:solidFill>
                <a:latin typeface="Calibri"/>
              </a:rPr>
              <a:t>Delta conviction : +28% vs Avocat du Diable</a:t>
            </a:r>
          </a:p>
        </p:txBody>
      </p:sp>
      <p:sp>
        <p:nvSpPr>
          <p:cNvPr id="26" name="Rectangle 25"/>
          <p:cNvSpPr/>
          <p:nvPr/>
        </p:nvSpPr>
        <p:spPr>
          <a:xfrm>
            <a:off x="3311999" y="827999"/>
            <a:ext cx="5472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66000" y="846000"/>
            <a:ext cx="5400000" cy="162000"/>
          </a:xfrm>
          <a:prstGeom prst="rect">
            <a:avLst/>
          </a:prstGeom>
          <a:noFill/>
        </p:spPr>
        <p:txBody>
          <a:bodyPr wrap="square">
            <a:spAutoFit/>
          </a:bodyPr>
          <a:lstStyle/>
          <a:p>
            <a:pPr algn="l"/>
            <a:r>
              <a:rPr sz="800" b="1" i="0">
                <a:solidFill>
                  <a:srgbClr val="FFFFFF"/>
                </a:solidFill>
                <a:latin typeface="Calibri"/>
              </a:rPr>
              <a:t>THÈSE D’INVESTISSEMENT</a:t>
            </a:r>
          </a:p>
        </p:txBody>
      </p:sp>
      <p:sp>
        <p:nvSpPr>
          <p:cNvPr id="28" name="Rectangle 27"/>
          <p:cNvSpPr/>
          <p:nvPr/>
        </p:nvSpPr>
        <p:spPr>
          <a:xfrm>
            <a:off x="3311999" y="1062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01999" y="1080000"/>
            <a:ext cx="5346000" cy="270000"/>
          </a:xfrm>
          <a:prstGeom prst="rect">
            <a:avLst/>
          </a:prstGeom>
          <a:noFill/>
        </p:spPr>
        <p:txBody>
          <a:bodyPr wrap="square">
            <a:spAutoFit/>
          </a:bodyPr>
          <a:lstStyle/>
          <a:p>
            <a:pPr algn="l"/>
            <a:r>
              <a:rPr sz="850" b="0" i="0">
                <a:solidFill>
                  <a:srgbClr val="555555"/>
                </a:solidFill>
                <a:latin typeface="Calibri"/>
              </a:rPr>
              <a:t>Thales capitalise sur un carnet de commandes record de 42,3Md€ fin 2025, avec un mix logiciel/services passant de 55% à 60% du CA d'ici 2027</a:t>
            </a:r>
          </a:p>
        </p:txBody>
      </p:sp>
      <p:sp>
        <p:nvSpPr>
          <p:cNvPr id="30" name="Rectangle 29"/>
          <p:cNvSpPr/>
          <p:nvPr/>
        </p:nvSpPr>
        <p:spPr>
          <a:xfrm>
            <a:off x="3311999" y="1404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999" y="1422000"/>
            <a:ext cx="5346000" cy="270000"/>
          </a:xfrm>
          <a:prstGeom prst="rect">
            <a:avLst/>
          </a:prstGeom>
          <a:noFill/>
        </p:spPr>
        <p:txBody>
          <a:bodyPr wrap="square">
            <a:spAutoFit/>
          </a:bodyPr>
          <a:lstStyle/>
          <a:p>
            <a:pPr algn="l"/>
            <a:r>
              <a:rPr sz="850" b="0" i="0">
                <a:solidFill>
                  <a:srgbClr val="555555"/>
                </a:solidFill>
                <a:latin typeface="Calibri"/>
              </a:rPr>
              <a:t>La marge EBITDA devrait atteindre 17,5% en 2027 grâce à l'effet volume sur les segments Aérospatial (+8% YoY) et Sécurité (+10% YoY)</a:t>
            </a:r>
          </a:p>
        </p:txBody>
      </p:sp>
      <p:sp>
        <p:nvSpPr>
          <p:cNvPr id="32" name="Rectangle 31"/>
          <p:cNvSpPr/>
          <p:nvPr/>
        </p:nvSpPr>
        <p:spPr>
          <a:xfrm>
            <a:off x="3311999" y="1746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1999" y="1764000"/>
            <a:ext cx="5346000" cy="270000"/>
          </a:xfrm>
          <a:prstGeom prst="rect">
            <a:avLst/>
          </a:prstGeom>
          <a:noFill/>
        </p:spPr>
        <p:txBody>
          <a:bodyPr wrap="square">
            <a:spAutoFit/>
          </a:bodyPr>
          <a:lstStyle/>
          <a:p>
            <a:pPr algn="l"/>
            <a:r>
              <a:rPr sz="850" b="0" i="0">
                <a:solidFill>
                  <a:srgbClr val="555555"/>
                </a:solidFill>
                <a:latin typeface="Calibri"/>
              </a:rPr>
              <a:t>Le ND/EBITDA à 0,5x offre une capacité de rachat de 3,5Md€ ou de distribution de dividendes à 3,5%.</a:t>
            </a:r>
          </a:p>
        </p:txBody>
      </p:sp>
      <p:sp>
        <p:nvSpPr>
          <p:cNvPr id="34" name="Rectangle 33"/>
          <p:cNvSpPr/>
          <p:nvPr/>
        </p:nvSpPr>
        <p:spPr>
          <a:xfrm>
            <a:off x="3311999" y="2196000"/>
            <a:ext cx="26640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66000" y="2214000"/>
            <a:ext cx="2592000" cy="144000"/>
          </a:xfrm>
          <a:prstGeom prst="rect">
            <a:avLst/>
          </a:prstGeom>
          <a:noFill/>
        </p:spPr>
        <p:txBody>
          <a:bodyPr wrap="square">
            <a:spAutoFit/>
          </a:bodyPr>
          <a:lstStyle/>
          <a:p>
            <a:pPr algn="l"/>
            <a:r>
              <a:rPr sz="750" b="1" i="0">
                <a:solidFill>
                  <a:srgbClr val="FFFFFF"/>
                </a:solidFill>
                <a:latin typeface="Calibri"/>
              </a:rPr>
              <a:t>CATALYSEURS BULLS</a:t>
            </a:r>
          </a:p>
        </p:txBody>
      </p:sp>
      <p:sp>
        <p:nvSpPr>
          <p:cNvPr id="36" name="TextBox 35"/>
          <p:cNvSpPr txBox="1"/>
          <p:nvPr/>
        </p:nvSpPr>
        <p:spPr>
          <a:xfrm>
            <a:off x="3401999" y="2412000"/>
            <a:ext cx="2556000" cy="234000"/>
          </a:xfrm>
          <a:prstGeom prst="rect">
            <a:avLst/>
          </a:prstGeom>
          <a:noFill/>
        </p:spPr>
        <p:txBody>
          <a:bodyPr wrap="square">
            <a:spAutoFit/>
          </a:bodyPr>
          <a:lstStyle/>
          <a:p>
            <a:pPr algn="l"/>
            <a:r>
              <a:rPr sz="700" b="0" i="0">
                <a:solidFill>
                  <a:srgbClr val="555555"/>
                </a:solidFill>
                <a:latin typeface="Calibri"/>
              </a:rPr>
              <a:t>• Croissance organique +7,6% en 2025 portée par l'aérospatial et la cybersécurité | Horizon 2026-2027</a:t>
            </a:r>
          </a:p>
        </p:txBody>
      </p:sp>
      <p:sp>
        <p:nvSpPr>
          <p:cNvPr id="37" name="TextBox 36"/>
          <p:cNvSpPr txBox="1"/>
          <p:nvPr/>
        </p:nvSpPr>
        <p:spPr>
          <a:xfrm>
            <a:off x="3401999" y="2671200"/>
            <a:ext cx="2556000" cy="234000"/>
          </a:xfrm>
          <a:prstGeom prst="rect">
            <a:avLst/>
          </a:prstGeom>
          <a:noFill/>
        </p:spPr>
        <p:txBody>
          <a:bodyPr wrap="square">
            <a:spAutoFit/>
          </a:bodyPr>
          <a:lstStyle/>
          <a:p>
            <a:pPr algn="l"/>
            <a:r>
              <a:rPr sz="700" b="0" i="0">
                <a:solidFill>
                  <a:srgbClr val="555555"/>
                </a:solidFill>
                <a:latin typeface="Calibri"/>
              </a:rPr>
              <a:t>• Marge EBITDA à 17,5% en 2027 grâce à l'effet volume sur les logiciels | Horizon 2027</a:t>
            </a:r>
          </a:p>
        </p:txBody>
      </p:sp>
      <p:sp>
        <p:nvSpPr>
          <p:cNvPr id="38" name="Rectangle 37"/>
          <p:cNvSpPr/>
          <p:nvPr/>
        </p:nvSpPr>
        <p:spPr>
          <a:xfrm>
            <a:off x="6120000" y="2196000"/>
            <a:ext cx="24480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56000" y="2214000"/>
            <a:ext cx="2376000" cy="144000"/>
          </a:xfrm>
          <a:prstGeom prst="rect">
            <a:avLst/>
          </a:prstGeom>
          <a:noFill/>
        </p:spPr>
        <p:txBody>
          <a:bodyPr wrap="square">
            <a:spAutoFit/>
          </a:bodyPr>
          <a:lstStyle/>
          <a:p>
            <a:pPr algn="l"/>
            <a:r>
              <a:rPr sz="750" b="1" i="0">
                <a:solidFill>
                  <a:srgbClr val="FFFFFF"/>
                </a:solidFill>
                <a:latin typeface="Calibri"/>
              </a:rPr>
              <a:t>RISQUES BEARS</a:t>
            </a:r>
          </a:p>
        </p:txBody>
      </p:sp>
      <p:sp>
        <p:nvSpPr>
          <p:cNvPr id="40" name="TextBox 39"/>
          <p:cNvSpPr txBox="1"/>
          <p:nvPr/>
        </p:nvSpPr>
        <p:spPr>
          <a:xfrm>
            <a:off x="6156000" y="2412000"/>
            <a:ext cx="2376000" cy="234000"/>
          </a:xfrm>
          <a:prstGeom prst="rect">
            <a:avLst/>
          </a:prstGeom>
          <a:noFill/>
        </p:spPr>
        <p:txBody>
          <a:bodyPr wrap="square">
            <a:spAutoFit/>
          </a:bodyPr>
          <a:lstStyle/>
          <a:p>
            <a:pPr algn="l"/>
            <a:r>
              <a:rPr sz="700" b="0" i="0">
                <a:solidFill>
                  <a:srgbClr val="555555"/>
                </a:solidFill>
                <a:latin typeface="Calibri"/>
              </a:rPr>
              <a:t>• Risque de retard sur les programmes militaires en Europe | Impact -1,2Md€ CA potentiel | Horizon</a:t>
            </a:r>
          </a:p>
        </p:txBody>
      </p:sp>
      <p:sp>
        <p:nvSpPr>
          <p:cNvPr id="41" name="TextBox 40"/>
          <p:cNvSpPr txBox="1"/>
          <p:nvPr/>
        </p:nvSpPr>
        <p:spPr>
          <a:xfrm>
            <a:off x="6156000" y="2671200"/>
            <a:ext cx="2376000" cy="234000"/>
          </a:xfrm>
          <a:prstGeom prst="rect">
            <a:avLst/>
          </a:prstGeom>
          <a:noFill/>
        </p:spPr>
        <p:txBody>
          <a:bodyPr wrap="square">
            <a:spAutoFit/>
          </a:bodyPr>
          <a:lstStyle/>
          <a:p>
            <a:pPr algn="l"/>
            <a:r>
              <a:rPr sz="700" b="0" i="0">
                <a:solidFill>
                  <a:srgbClr val="555555"/>
                </a:solidFill>
                <a:latin typeface="Calibri"/>
              </a:rPr>
              <a:t>• Concurrence accrue des acteurs chinois sur les systèmes embarqués | Pression -8% sur les prix |</a:t>
            </a:r>
          </a:p>
        </p:txBody>
      </p:sp>
      <p:sp>
        <p:nvSpPr>
          <p:cNvPr id="42" name="Rectangle 41"/>
          <p:cNvSpPr/>
          <p:nvPr/>
        </p:nvSpPr>
        <p:spPr>
          <a:xfrm>
            <a:off x="3311999" y="3038400"/>
            <a:ext cx="5472000" cy="3960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11999" y="30384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01999" y="3056400"/>
            <a:ext cx="5310000" cy="360000"/>
          </a:xfrm>
          <a:prstGeom prst="rect">
            <a:avLst/>
          </a:prstGeom>
          <a:noFill/>
        </p:spPr>
        <p:txBody>
          <a:bodyPr wrap="square">
            <a:spAutoFit/>
          </a:bodyPr>
          <a:lstStyle/>
          <a:p>
            <a:pPr algn="l"/>
            <a:r>
              <a:rPr sz="750" b="0" i="0">
                <a:solidFill>
                  <a:srgbClr val="7A5000"/>
                </a:solidFill>
                <a:latin typeface="Calibri"/>
              </a:rPr>
              <a:t>⚠ Conditions d’invalidation : Macro: Récession en Europe réduisant les budgets déf  ·  Sectoriel: Concurrence accrue des acteurs chinois sur le</a:t>
            </a:r>
          </a:p>
        </p:txBody>
      </p:sp>
      <p:sp>
        <p:nvSpPr>
          <p:cNvPr id="45" name="TextBox 44"/>
          <p:cNvSpPr txBox="1"/>
          <p:nvPr/>
        </p:nvSpPr>
        <p:spPr>
          <a:xfrm>
            <a:off x="324000" y="4662000"/>
            <a:ext cx="8496000" cy="125999"/>
          </a:xfrm>
          <a:prstGeom prst="rect">
            <a:avLst/>
          </a:prstGeom>
          <a:noFill/>
        </p:spPr>
        <p:txBody>
          <a:bodyPr wrap="square">
            <a:spAutoFit/>
          </a:bodyPr>
          <a:lstStyle/>
          <a:p>
            <a:pPr algn="l"/>
            <a:r>
              <a:rPr sz="700" b="0" i="0">
                <a:solidFill>
                  <a:srgbClr val="555555"/>
                </a:solidFill>
                <a:latin typeface="Calibri"/>
              </a:rPr>
              <a:t>FinSight IA genere cette analyse a un instant T. Pour le suivi dans le temps, comparer les rapports successifs. La conviction reflete les donnees disponibles a la date d'analyse.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