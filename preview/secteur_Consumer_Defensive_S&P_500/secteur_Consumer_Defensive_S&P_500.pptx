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Consumer Defensive</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NEUTRE</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27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B06000"/>
                </a:solidFill>
              </a:rPr>
              <a:t>● NEUTRE</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17.4x  ·  Croissance med. : +5.6 %  ·  Marge EBITDA med. : 18.7 %  ·  Score moyen : 58/100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Pricing Power</a:t>
            </a:r>
          </a:p>
        </p:txBody>
      </p:sp>
      <p:sp>
        <p:nvSpPr>
          <p:cNvPr id="24" name="TextBox 23"/>
          <p:cNvSpPr txBox="1"/>
          <p:nvPr/>
        </p:nvSpPr>
        <p:spPr>
          <a:xfrm>
            <a:off x="468000" y="1853999"/>
            <a:ext cx="3851999" cy="306000"/>
          </a:xfrm>
          <a:prstGeom prst="rect">
            <a:avLst/>
          </a:prstGeom>
          <a:noFill/>
        </p:spPr>
        <p:txBody>
          <a:bodyPr wrap="square">
            <a:spAutoFit/>
          </a:bodyPr>
          <a:lstStyle/>
          <a:p>
            <a:pPr algn="l"/>
            <a:r>
              <a:rPr sz="750" b="0" i="0">
                <a:solidFill>
                  <a:srgbClr val="555555"/>
                </a:solidFill>
              </a:rPr>
              <a:t>Capacité a répercuter l'inflation des intrants — les leaders de marque maintiennent des marges brutes &gt; 40 %.</a:t>
            </a:r>
          </a:p>
        </p:txBody>
      </p:sp>
      <p:sp>
        <p:nvSpPr>
          <p:cNvPr id="25" name="Rectangle 24"/>
          <p:cNvSpPr/>
          <p:nvPr/>
        </p:nvSpPr>
        <p:spPr>
          <a:xfrm>
            <a:off x="324000" y="2268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268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286000"/>
            <a:ext cx="3851999" cy="198000"/>
          </a:xfrm>
          <a:prstGeom prst="rect">
            <a:avLst/>
          </a:prstGeom>
          <a:noFill/>
        </p:spPr>
        <p:txBody>
          <a:bodyPr wrap="square">
            <a:spAutoFit/>
          </a:bodyPr>
          <a:lstStyle/>
          <a:p>
            <a:pPr algn="l"/>
            <a:r>
              <a:rPr sz="850" b="1" i="0">
                <a:solidFill>
                  <a:srgbClr val="1B3A6B"/>
                </a:solidFill>
              </a:rPr>
              <a:t>Marches Emergents</a:t>
            </a:r>
          </a:p>
        </p:txBody>
      </p:sp>
      <p:sp>
        <p:nvSpPr>
          <p:cNvPr id="28" name="TextBox 27"/>
          <p:cNvSpPr txBox="1"/>
          <p:nvPr/>
        </p:nvSpPr>
        <p:spPr>
          <a:xfrm>
            <a:off x="468000" y="2466000"/>
            <a:ext cx="3851999" cy="306000"/>
          </a:xfrm>
          <a:prstGeom prst="rect">
            <a:avLst/>
          </a:prstGeom>
          <a:noFill/>
        </p:spPr>
        <p:txBody>
          <a:bodyPr wrap="square">
            <a:spAutoFit/>
          </a:bodyPr>
          <a:lstStyle/>
          <a:p>
            <a:pPr algn="l"/>
            <a:r>
              <a:rPr sz="750" b="0" i="0">
                <a:solidFill>
                  <a:srgbClr val="555555"/>
                </a:solidFill>
              </a:rPr>
              <a:t>Croissance de la classe moyenne en Afrique et Asie du Sud-Est — expansion a double chiffre.</a:t>
            </a:r>
          </a:p>
        </p:txBody>
      </p:sp>
      <p:sp>
        <p:nvSpPr>
          <p:cNvPr id="29" name="Rectangle 28"/>
          <p:cNvSpPr/>
          <p:nvPr/>
        </p:nvSpPr>
        <p:spPr>
          <a:xfrm>
            <a:off x="324000" y="2880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2880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898000"/>
            <a:ext cx="3851999" cy="198000"/>
          </a:xfrm>
          <a:prstGeom prst="rect">
            <a:avLst/>
          </a:prstGeom>
          <a:noFill/>
        </p:spPr>
        <p:txBody>
          <a:bodyPr wrap="square">
            <a:spAutoFit/>
          </a:bodyPr>
          <a:lstStyle/>
          <a:p>
            <a:pPr algn="l"/>
            <a:r>
              <a:rPr sz="850" b="1" i="0">
                <a:solidFill>
                  <a:srgbClr val="1B3A6B"/>
                </a:solidFill>
              </a:rPr>
              <a:t>Innovation Produit</a:t>
            </a:r>
          </a:p>
        </p:txBody>
      </p:sp>
      <p:sp>
        <p:nvSpPr>
          <p:cNvPr id="32" name="TextBox 31"/>
          <p:cNvSpPr txBox="1"/>
          <p:nvPr/>
        </p:nvSpPr>
        <p:spPr>
          <a:xfrm>
            <a:off x="468000" y="3078000"/>
            <a:ext cx="3851999" cy="306000"/>
          </a:xfrm>
          <a:prstGeom prst="rect">
            <a:avLst/>
          </a:prstGeom>
          <a:noFill/>
        </p:spPr>
        <p:txBody>
          <a:bodyPr wrap="square">
            <a:spAutoFit/>
          </a:bodyPr>
          <a:lstStyle/>
          <a:p>
            <a:pPr algn="l"/>
            <a:r>
              <a:rPr sz="750" b="0" i="0">
                <a:solidFill>
                  <a:srgbClr val="555555"/>
                </a:solidFill>
              </a:rPr>
              <a:t>Premiumisation et bio — capture de valeur additionnelle sur les segments porteurs.</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Guerre des Prix</a:t>
            </a:r>
          </a:p>
        </p:txBody>
      </p:sp>
      <p:sp>
        <p:nvSpPr>
          <p:cNvPr id="38" name="TextBox 37"/>
          <p:cNvSpPr txBox="1"/>
          <p:nvPr/>
        </p:nvSpPr>
        <p:spPr>
          <a:xfrm>
            <a:off x="4860000" y="1853999"/>
            <a:ext cx="3851999" cy="306000"/>
          </a:xfrm>
          <a:prstGeom prst="rect">
            <a:avLst/>
          </a:prstGeom>
          <a:noFill/>
        </p:spPr>
        <p:txBody>
          <a:bodyPr wrap="square">
            <a:spAutoFit/>
          </a:bodyPr>
          <a:lstStyle/>
          <a:p>
            <a:pPr algn="l"/>
            <a:r>
              <a:rPr sz="750" b="0" i="0">
                <a:solidFill>
                  <a:srgbClr val="555555"/>
                </a:solidFill>
              </a:rPr>
              <a:t>Pression des distributeurs (Leclerc, Lidl) sur les prix fournisseurs — erosion des marges lors des négociations.</a:t>
            </a:r>
          </a:p>
        </p:txBody>
      </p:sp>
      <p:sp>
        <p:nvSpPr>
          <p:cNvPr id="39" name="Rectangle 38"/>
          <p:cNvSpPr/>
          <p:nvPr/>
        </p:nvSpPr>
        <p:spPr>
          <a:xfrm>
            <a:off x="4716000" y="2268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268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286000"/>
            <a:ext cx="3851999" cy="198000"/>
          </a:xfrm>
          <a:prstGeom prst="rect">
            <a:avLst/>
          </a:prstGeom>
          <a:noFill/>
        </p:spPr>
        <p:txBody>
          <a:bodyPr wrap="square">
            <a:spAutoFit/>
          </a:bodyPr>
          <a:lstStyle/>
          <a:p>
            <a:pPr algn="l"/>
            <a:r>
              <a:rPr sz="850" b="1" i="0">
                <a:solidFill>
                  <a:srgbClr val="A82020"/>
                </a:solidFill>
              </a:rPr>
              <a:t>Destockage</a:t>
            </a:r>
          </a:p>
        </p:txBody>
      </p:sp>
      <p:sp>
        <p:nvSpPr>
          <p:cNvPr id="42" name="TextBox 41"/>
          <p:cNvSpPr txBox="1"/>
          <p:nvPr/>
        </p:nvSpPr>
        <p:spPr>
          <a:xfrm>
            <a:off x="4860000" y="2466000"/>
            <a:ext cx="3851999" cy="306000"/>
          </a:xfrm>
          <a:prstGeom prst="rect">
            <a:avLst/>
          </a:prstGeom>
          <a:noFill/>
        </p:spPr>
        <p:txBody>
          <a:bodyPr wrap="square">
            <a:spAutoFit/>
          </a:bodyPr>
          <a:lstStyle/>
          <a:p>
            <a:pPr algn="l"/>
            <a:r>
              <a:rPr sz="750" b="0" i="0">
                <a:solidFill>
                  <a:srgbClr val="555555"/>
                </a:solidFill>
              </a:rPr>
              <a:t>Reduction des stocks en distribution — impact sur volumes T1-T2 2026.</a:t>
            </a:r>
          </a:p>
        </p:txBody>
      </p:sp>
      <p:sp>
        <p:nvSpPr>
          <p:cNvPr id="43" name="Rectangle 42"/>
          <p:cNvSpPr/>
          <p:nvPr/>
        </p:nvSpPr>
        <p:spPr>
          <a:xfrm>
            <a:off x="4716000" y="2880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2880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2898000"/>
            <a:ext cx="3851999" cy="198000"/>
          </a:xfrm>
          <a:prstGeom prst="rect">
            <a:avLst/>
          </a:prstGeom>
          <a:noFill/>
        </p:spPr>
        <p:txBody>
          <a:bodyPr wrap="square">
            <a:spAutoFit/>
          </a:bodyPr>
          <a:lstStyle/>
          <a:p>
            <a:pPr algn="l"/>
            <a:r>
              <a:rPr sz="850" b="1" i="0">
                <a:solidFill>
                  <a:srgbClr val="A82020"/>
                </a:solidFill>
              </a:rPr>
              <a:t>Substitution MDD</a:t>
            </a:r>
          </a:p>
        </p:txBody>
      </p:sp>
      <p:sp>
        <p:nvSpPr>
          <p:cNvPr id="46" name="TextBox 45"/>
          <p:cNvSpPr txBox="1"/>
          <p:nvPr/>
        </p:nvSpPr>
        <p:spPr>
          <a:xfrm>
            <a:off x="4860000" y="3078000"/>
            <a:ext cx="3851999" cy="306000"/>
          </a:xfrm>
          <a:prstGeom prst="rect">
            <a:avLst/>
          </a:prstGeom>
          <a:noFill/>
        </p:spPr>
        <p:txBody>
          <a:bodyPr wrap="square">
            <a:spAutoFit/>
          </a:bodyPr>
          <a:lstStyle/>
          <a:p>
            <a:pPr algn="l"/>
            <a:r>
              <a:rPr sz="750" b="0" i="0">
                <a:solidFill>
                  <a:srgbClr val="555555"/>
                </a:solidFill>
              </a:rPr>
              <a:t>Parts de marche des marques distributeurs en hausse de 2-3 pts — pression structurelle.</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17.4x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+5.6 %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18.7 %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+3.8 %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Presentation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Societes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detailles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Presentation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Presentation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Consommation Defensive regroupe les producteurs et distributeurs de biens essentiels — alimentation, boissons, hygiene-beaute. Modèle résilient par nature, il offre une protection en periode de recession tout en beneficiant du pricing power des marques leaders.</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CLES</a:t>
            </a:r>
          </a:p>
        </p:txBody>
      </p:sp>
      <p:sp>
        <p:nvSpPr>
          <p:cNvPr id="20" name="Rectangle 19"/>
          <p:cNvSpPr/>
          <p:nvPr/>
        </p:nvSpPr>
        <p:spPr>
          <a:xfrm>
            <a:off x="468000" y="2898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Pricing Power</a:t>
            </a:r>
          </a:p>
        </p:txBody>
      </p:sp>
      <p:sp>
        <p:nvSpPr>
          <p:cNvPr id="22" name="TextBox 21"/>
          <p:cNvSpPr txBox="1"/>
          <p:nvPr/>
        </p:nvSpPr>
        <p:spPr>
          <a:xfrm>
            <a:off x="576000" y="3060000"/>
            <a:ext cx="4428000" cy="306000"/>
          </a:xfrm>
          <a:prstGeom prst="rect">
            <a:avLst/>
          </a:prstGeom>
          <a:noFill/>
        </p:spPr>
        <p:txBody>
          <a:bodyPr wrap="square">
            <a:spAutoFit/>
          </a:bodyPr>
          <a:lstStyle/>
          <a:p>
            <a:pPr algn="l"/>
            <a:r>
              <a:rPr sz="750" b="0" i="0">
                <a:solidFill>
                  <a:srgbClr val="555555"/>
                </a:solidFill>
              </a:rPr>
              <a:t>Capacité a répercuter l'inflation des intrants — les leaders de marque maintiennent des marges brutes &gt; 40 %.</a:t>
            </a:r>
          </a:p>
        </p:txBody>
      </p:sp>
      <p:sp>
        <p:nvSpPr>
          <p:cNvPr id="23" name="Rectangle 22"/>
          <p:cNvSpPr/>
          <p:nvPr/>
        </p:nvSpPr>
        <p:spPr>
          <a:xfrm>
            <a:off x="468000" y="3384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384000"/>
            <a:ext cx="4428000" cy="162000"/>
          </a:xfrm>
          <a:prstGeom prst="rect">
            <a:avLst/>
          </a:prstGeom>
          <a:noFill/>
        </p:spPr>
        <p:txBody>
          <a:bodyPr wrap="square">
            <a:spAutoFit/>
          </a:bodyPr>
          <a:lstStyle/>
          <a:p>
            <a:pPr algn="l"/>
            <a:r>
              <a:rPr sz="800" b="1" i="0">
                <a:solidFill>
                  <a:srgbClr val="1B3A6B"/>
                </a:solidFill>
              </a:rPr>
              <a:t>Marches Emergents</a:t>
            </a:r>
          </a:p>
        </p:txBody>
      </p:sp>
      <p:sp>
        <p:nvSpPr>
          <p:cNvPr id="25" name="TextBox 24"/>
          <p:cNvSpPr txBox="1"/>
          <p:nvPr/>
        </p:nvSpPr>
        <p:spPr>
          <a:xfrm>
            <a:off x="576000" y="3546000"/>
            <a:ext cx="4428000" cy="306000"/>
          </a:xfrm>
          <a:prstGeom prst="rect">
            <a:avLst/>
          </a:prstGeom>
          <a:noFill/>
        </p:spPr>
        <p:txBody>
          <a:bodyPr wrap="square">
            <a:spAutoFit/>
          </a:bodyPr>
          <a:lstStyle/>
          <a:p>
            <a:pPr algn="l"/>
            <a:r>
              <a:rPr sz="750" b="0" i="0">
                <a:solidFill>
                  <a:srgbClr val="555555"/>
                </a:solidFill>
              </a:rPr>
              <a:t>Croissance de la classe moyenne en Afrique et Asie du Sud-Est — expansion a double chiffre.</a:t>
            </a:r>
          </a:p>
        </p:txBody>
      </p:sp>
      <p:sp>
        <p:nvSpPr>
          <p:cNvPr id="26" name="Rectangle 25"/>
          <p:cNvSpPr/>
          <p:nvPr/>
        </p:nvSpPr>
        <p:spPr>
          <a:xfrm>
            <a:off x="468000" y="3870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870000"/>
            <a:ext cx="4428000" cy="162000"/>
          </a:xfrm>
          <a:prstGeom prst="rect">
            <a:avLst/>
          </a:prstGeom>
          <a:noFill/>
        </p:spPr>
        <p:txBody>
          <a:bodyPr wrap="square">
            <a:spAutoFit/>
          </a:bodyPr>
          <a:lstStyle/>
          <a:p>
            <a:pPr algn="l"/>
            <a:r>
              <a:rPr sz="800" b="1" i="0">
                <a:solidFill>
                  <a:srgbClr val="1B3A6B"/>
                </a:solidFill>
              </a:rPr>
              <a:t>Innovation Produit</a:t>
            </a:r>
          </a:p>
        </p:txBody>
      </p:sp>
      <p:sp>
        <p:nvSpPr>
          <p:cNvPr id="28" name="TextBox 27"/>
          <p:cNvSpPr txBox="1"/>
          <p:nvPr/>
        </p:nvSpPr>
        <p:spPr>
          <a:xfrm>
            <a:off x="576000" y="4031999"/>
            <a:ext cx="4428000" cy="306000"/>
          </a:xfrm>
          <a:prstGeom prst="rect">
            <a:avLst/>
          </a:prstGeom>
          <a:noFill/>
        </p:spPr>
        <p:txBody>
          <a:bodyPr wrap="square">
            <a:spAutoFit/>
          </a:bodyPr>
          <a:lstStyle/>
          <a:p>
            <a:pPr algn="l"/>
            <a:r>
              <a:rPr sz="750" b="0" i="0">
                <a:solidFill>
                  <a:srgbClr val="555555"/>
                </a:solidFill>
              </a:rPr>
              <a:t>Premiumisation et bio — capture de valeur additionnelle sur les segments porteurs.</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Metrique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Org. Growth</a:t>
                      </a:r>
                    </a:p>
                  </a:txBody>
                  <a:tcPr>
                    <a:noFill/>
                  </a:tcPr>
                </a:tc>
                <a:tc>
                  <a:txBody>
                    <a:bodyPr/>
                    <a:lstStyle/>
                    <a:p>
                      <a:pPr algn="ctr"/>
                      <a:r>
                        <a:rPr sz="750" b="0">
                          <a:solidFill>
                            <a:srgbClr val="1A1A1A"/>
                          </a:solidFill>
                        </a:rPr>
                        <a:t>+3,8 %</a:t>
                      </a:r>
                    </a:p>
                  </a:txBody>
                  <a:tcPr>
                    <a:noFill/>
                  </a:tcPr>
                </a:tc>
                <a:tc>
                  <a:txBody>
                    <a:bodyPr/>
                    <a:lstStyle/>
                    <a:p>
                      <a:pPr algn="ctr"/>
                      <a:r>
                        <a:rPr sz="750" b="0">
                          <a:solidFill>
                            <a:srgbClr val="1A1A1A"/>
                          </a:solidFill>
                        </a:rPr>
                        <a:t>Sain</a:t>
                      </a:r>
                    </a:p>
                  </a:txBody>
                  <a:tcPr>
                    <a:noFill/>
                  </a:tcPr>
                </a:tc>
              </a:tr>
              <a:tr h="208799">
                <a:tc>
                  <a:txBody>
                    <a:bodyPr/>
                    <a:lstStyle/>
                    <a:p>
                      <a:pPr algn="ctr"/>
                      <a:r>
                        <a:rPr sz="750" b="0">
                          <a:solidFill>
                            <a:srgbClr val="1A1A1A"/>
                          </a:solidFill>
                        </a:rPr>
                        <a:t>Gross Margin</a:t>
                      </a:r>
                    </a:p>
                  </a:txBody>
                  <a:tcPr>
                    <a:solidFill>
                      <a:srgbClr val="F5F7FA"/>
                    </a:solidFill>
                  </a:tcPr>
                </a:tc>
                <a:tc>
                  <a:txBody>
                    <a:bodyPr/>
                    <a:lstStyle/>
                    <a:p>
                      <a:pPr algn="ctr"/>
                      <a:r>
                        <a:rPr sz="750" b="0">
                          <a:solidFill>
                            <a:srgbClr val="1A1A1A"/>
                          </a:solidFill>
                        </a:rPr>
                        <a:t>42 %</a:t>
                      </a:r>
                    </a:p>
                  </a:txBody>
                  <a:tcPr>
                    <a:solidFill>
                      <a:srgbClr val="F5F7FA"/>
                    </a:solidFill>
                  </a:tcPr>
                </a:tc>
                <a:tc>
                  <a:txBody>
                    <a:bodyPr/>
                    <a:lstStyle/>
                    <a:p>
                      <a:pPr algn="ctr"/>
                      <a:r>
                        <a:rPr sz="750" b="0">
                          <a:solidFill>
                            <a:srgbClr val="1A1A1A"/>
                          </a:solidFill>
                        </a:rPr>
                        <a:t>Stable</a:t>
                      </a:r>
                    </a:p>
                  </a:txBody>
                  <a:tcPr>
                    <a:solidFill>
                      <a:srgbClr val="F5F7FA"/>
                    </a:solidFill>
                  </a:tcPr>
                </a:tc>
              </a:tr>
              <a:tr h="208799">
                <a:tc>
                  <a:txBody>
                    <a:bodyPr/>
                    <a:lstStyle/>
                    <a:p>
                      <a:pPr algn="ctr"/>
                      <a:r>
                        <a:rPr sz="750" b="0">
                          <a:solidFill>
                            <a:srgbClr val="1A1A1A"/>
                          </a:solidFill>
                        </a:rPr>
                        <a:t>FCF Yield</a:t>
                      </a:r>
                    </a:p>
                  </a:txBody>
                  <a:tcPr>
                    <a:noFill/>
                  </a:tcPr>
                </a:tc>
                <a:tc>
                  <a:txBody>
                    <a:bodyPr/>
                    <a:lstStyle/>
                    <a:p>
                      <a:pPr algn="ctr"/>
                      <a:r>
                        <a:rPr sz="750" b="0">
                          <a:solidFill>
                            <a:srgbClr val="1A1A1A"/>
                          </a:solidFill>
                        </a:rPr>
                        <a:t>4,2 %</a:t>
                      </a:r>
                    </a:p>
                  </a:txBody>
                  <a:tcPr>
                    <a:noFill/>
                  </a:tcPr>
                </a:tc>
                <a:tc>
                  <a:txBody>
                    <a:bodyPr/>
                    <a:lstStyle/>
                    <a:p>
                      <a:pPr algn="ctr"/>
                      <a:r>
                        <a:rPr sz="750" b="0">
                          <a:solidFill>
                            <a:srgbClr val="1A1A1A"/>
                          </a:solidFill>
                        </a:rPr>
                        <a:t>Attractif</a:t>
                      </a:r>
                    </a:p>
                  </a:txBody>
                  <a:tcPr>
                    <a:noFill/>
                  </a:tcPr>
                </a:tc>
              </a:tr>
              <a:tr h="208799">
                <a:tc>
                  <a:txBody>
                    <a:bodyPr/>
                    <a:lstStyle/>
                    <a:p>
                      <a:pPr algn="ctr"/>
                      <a:r>
                        <a:rPr sz="750" b="0">
                          <a:solidFill>
                            <a:srgbClr val="1A1A1A"/>
                          </a:solidFill>
                        </a:rPr>
                        <a:t>Div. Yield</a:t>
                      </a:r>
                    </a:p>
                  </a:txBody>
                  <a:tcPr>
                    <a:solidFill>
                      <a:srgbClr val="F5F7FA"/>
                    </a:solidFill>
                  </a:tcPr>
                </a:tc>
                <a:tc>
                  <a:txBody>
                    <a:bodyPr/>
                    <a:lstStyle/>
                    <a:p>
                      <a:pPr algn="ctr"/>
                      <a:r>
                        <a:rPr sz="750" b="0">
                          <a:solidFill>
                            <a:srgbClr val="1A1A1A"/>
                          </a:solidFill>
                        </a:rPr>
                        <a:t>2,8 %</a:t>
                      </a:r>
                    </a:p>
                  </a:txBody>
                  <a:tcPr>
                    <a:solidFill>
                      <a:srgbClr val="F5F7FA"/>
                    </a:solidFill>
                  </a:tcPr>
                </a:tc>
                <a:tc>
                  <a:txBody>
                    <a:bodyPr/>
                    <a:lstStyle/>
                    <a:p>
                      <a:pPr algn="ctr"/>
                      <a:r>
                        <a:rPr sz="750" b="0">
                          <a:solidFill>
                            <a:srgbClr val="1A1A1A"/>
                          </a:solidFill>
                        </a:rPr>
                        <a:t>Stable</a:t>
                      </a:r>
                    </a:p>
                  </a:txBody>
                  <a:tcPr>
                    <a:solidFill>
                      <a:srgbClr val="F5F7FA"/>
                    </a:solidFill>
                  </a:tcPr>
                </a:tc>
              </a:tr>
              <a:tr h="208799">
                <a:tc>
                  <a:txBody>
                    <a:bodyPr/>
                    <a:lstStyle/>
                    <a:p>
                      <a:pPr algn="ctr"/>
                      <a:r>
                        <a:rPr sz="750" b="0">
                          <a:solidFill>
                            <a:srgbClr val="1A1A1A"/>
                          </a:solidFill>
                        </a:rPr>
                        <a:t>Elasticite Prix</a:t>
                      </a:r>
                    </a:p>
                  </a:txBody>
                  <a:tcPr>
                    <a:noFill/>
                  </a:tcPr>
                </a:tc>
                <a:tc>
                  <a:txBody>
                    <a:bodyPr/>
                    <a:lstStyle/>
                    <a:p>
                      <a:pPr algn="ctr"/>
                      <a:r>
                        <a:rPr sz="750" b="0">
                          <a:solidFill>
                            <a:srgbClr val="1A1A1A"/>
                          </a:solidFill>
                        </a:rPr>
                        <a:t>-0,4</a:t>
                      </a:r>
                    </a:p>
                  </a:txBody>
                  <a:tcPr>
                    <a:noFill/>
                  </a:tcPr>
                </a:tc>
                <a:tc>
                  <a:txBody>
                    <a:bodyPr/>
                    <a:lstStyle/>
                    <a:p>
                      <a:pPr algn="ctr"/>
                      <a:r>
                        <a:rPr sz="750" b="0">
                          <a:solidFill>
                            <a:srgbClr val="1A1A1A"/>
                          </a:solidFill>
                        </a:rPr>
                        <a:t>Faible</a:t>
                      </a:r>
                    </a:p>
                  </a:txBody>
                  <a:tcPr>
                    <a:noFill/>
                  </a:tcPr>
                </a:tc>
              </a:tr>
              <a:tr h="208805">
                <a:tc>
                  <a:txBody>
                    <a:bodyPr/>
                    <a:lstStyle/>
                    <a:p>
                      <a:pPr algn="ctr"/>
                      <a:r>
                        <a:rPr sz="750" b="0">
                          <a:solidFill>
                            <a:srgbClr val="1A1A1A"/>
                          </a:solidFill>
                        </a:rPr>
                        <a:t>Market Share</a:t>
                      </a:r>
                    </a:p>
                  </a:txBody>
                  <a:tcPr>
                    <a:solidFill>
                      <a:srgbClr val="F5F7FA"/>
                    </a:solidFill>
                  </a:tcPr>
                </a:tc>
                <a:tc>
                  <a:txBody>
                    <a:bodyPr/>
                    <a:lstStyle/>
                    <a:p>
                      <a:pPr algn="ctr"/>
                      <a:r>
                        <a:rPr sz="750" b="0">
                          <a:solidFill>
                            <a:srgbClr val="1A1A1A"/>
                          </a:solidFill>
                        </a:rPr>
                        <a:t>+0,3 pt</a:t>
                      </a:r>
                    </a:p>
                  </a:txBody>
                  <a:tcPr>
                    <a:solidFill>
                      <a:srgbClr val="F5F7FA"/>
                    </a:solidFill>
                  </a:tcPr>
                </a:tc>
                <a:tc>
                  <a:txBody>
                    <a:bodyPr/>
                    <a:lstStyle/>
                    <a:p>
                      <a:pPr algn="ctr"/>
                      <a:r>
                        <a:rPr sz="750" b="0">
                          <a:solidFill>
                            <a:srgbClr val="1A1A1A"/>
                          </a:solidFill>
                        </a:rPr>
                        <a:t>Gain</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Societe</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Philip Morris Intern</a:t>
                      </a:r>
                    </a:p>
                  </a:txBody>
                  <a:tcPr>
                    <a:noFill/>
                  </a:tcPr>
                </a:tc>
                <a:tc>
                  <a:txBody>
                    <a:bodyPr/>
                    <a:lstStyle/>
                    <a:p>
                      <a:pPr algn="ctr"/>
                      <a:r>
                        <a:rPr sz="750" b="0">
                          <a:solidFill>
                            <a:srgbClr val="1A1A1A"/>
                          </a:solidFill>
                        </a:rPr>
                        <a:t>16.0x</a:t>
                      </a:r>
                    </a:p>
                  </a:txBody>
                  <a:tcPr>
                    <a:noFill/>
                  </a:tcPr>
                </a:tc>
                <a:tc>
                  <a:txBody>
                    <a:bodyPr/>
                    <a:lstStyle/>
                    <a:p>
                      <a:pPr algn="ctr"/>
                      <a:r>
                        <a:rPr sz="750" b="0">
                          <a:solidFill>
                            <a:srgbClr val="1A1A1A"/>
                          </a:solidFill>
                        </a:rPr>
                        <a:t>7.4x</a:t>
                      </a:r>
                    </a:p>
                  </a:txBody>
                  <a:tcPr>
                    <a:noFill/>
                  </a:tcPr>
                </a:tc>
                <a:tc>
                  <a:txBody>
                    <a:bodyPr/>
                    <a:lstStyle/>
                    <a:p>
                      <a:pPr algn="ctr"/>
                      <a:r>
                        <a:rPr sz="750" b="0">
                          <a:solidFill>
                            <a:srgbClr val="1A1A1A"/>
                          </a:solidFill>
                        </a:rPr>
                        <a:t>22.7x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46.1 %</a:t>
                      </a:r>
                    </a:p>
                  </a:txBody>
                  <a:tcPr>
                    <a:noFill/>
                  </a:tcPr>
                </a:tc>
                <a:tc>
                  <a:txBody>
                    <a:bodyPr/>
                    <a:lstStyle/>
                    <a:p>
                      <a:pPr algn="ctr"/>
                      <a:r>
                        <a:rPr sz="750" b="0">
                          <a:solidFill>
                            <a:srgbClr val="1A1A1A"/>
                          </a:solidFill>
                        </a:rPr>
                        <a:t>0.0 %</a:t>
                      </a:r>
                    </a:p>
                  </a:txBody>
                  <a:tcPr>
                    <a:noFill/>
                  </a:tcPr>
                </a:tc>
              </a:tr>
              <a:tr h="198000">
                <a:tc>
                  <a:txBody>
                    <a:bodyPr/>
                    <a:lstStyle/>
                    <a:p>
                      <a:pPr algn="ctr"/>
                      <a:r>
                        <a:rPr sz="750" b="0">
                          <a:solidFill>
                            <a:srgbClr val="1A1A1A"/>
                          </a:solidFill>
                        </a:rPr>
                        <a:t>The Coca-Cola Compan</a:t>
                      </a:r>
                    </a:p>
                  </a:txBody>
                  <a:tcPr>
                    <a:solidFill>
                      <a:srgbClr val="F5F7FA"/>
                    </a:solidFill>
                  </a:tcPr>
                </a:tc>
                <a:tc>
                  <a:txBody>
                    <a:bodyPr/>
                    <a:lstStyle/>
                    <a:p>
                      <a:pPr algn="ctr"/>
                      <a:r>
                        <a:rPr sz="750" b="0">
                          <a:solidFill>
                            <a:srgbClr val="1A1A1A"/>
                          </a:solidFill>
                        </a:rPr>
                        <a:t>22.1x</a:t>
                      </a:r>
                    </a:p>
                  </a:txBody>
                  <a:tcPr>
                    <a:solidFill>
                      <a:srgbClr val="F5F7FA"/>
                    </a:solidFill>
                  </a:tcPr>
                </a:tc>
                <a:tc>
                  <a:txBody>
                    <a:bodyPr/>
                    <a:lstStyle/>
                    <a:p>
                      <a:pPr algn="ctr"/>
                      <a:r>
                        <a:rPr sz="750" b="0">
                          <a:solidFill>
                            <a:srgbClr val="1A1A1A"/>
                          </a:solidFill>
                        </a:rPr>
                        <a:t>7.4x</a:t>
                      </a:r>
                    </a:p>
                  </a:txBody>
                  <a:tcPr>
                    <a:solidFill>
                      <a:srgbClr val="F5F7FA"/>
                    </a:solidFill>
                  </a:tcPr>
                </a:tc>
                <a:tc>
                  <a:txBody>
                    <a:bodyPr/>
                    <a:lstStyle/>
                    <a:p>
                      <a:pPr algn="ctr"/>
                      <a:r>
                        <a:rPr sz="750" b="0">
                          <a:solidFill>
                            <a:srgbClr val="1A1A1A"/>
                          </a:solidFill>
                        </a:rPr>
                        <a:t>25.0x</a:t>
                      </a:r>
                    </a:p>
                  </a:txBody>
                  <a:tcPr>
                    <a:solidFill>
                      <a:srgbClr val="F5F7FA"/>
                    </a:solidFill>
                  </a:tcPr>
                </a:tc>
                <a:tc>
                  <a:txBody>
                    <a:bodyPr/>
                    <a:lstStyle/>
                    <a:p>
                      <a:pPr algn="ctr"/>
                      <a:r>
                        <a:rPr sz="750" b="0">
                          <a:solidFill>
                            <a:srgbClr val="1A1A1A"/>
                          </a:solidFill>
                        </a:rPr>
                        <a:t>61.6 %</a:t>
                      </a:r>
                    </a:p>
                  </a:txBody>
                  <a:tcPr>
                    <a:solidFill>
                      <a:srgbClr val="F5F7FA"/>
                    </a:solidFill>
                  </a:tcPr>
                </a:tc>
                <a:tc>
                  <a:txBody>
                    <a:bodyPr/>
                    <a:lstStyle/>
                    <a:p>
                      <a:pPr algn="ctr"/>
                      <a:r>
                        <a:rPr sz="750" b="0">
                          <a:solidFill>
                            <a:srgbClr val="1A1A1A"/>
                          </a:solidFill>
                        </a:rPr>
                        <a:t>33.5 %</a:t>
                      </a:r>
                    </a:p>
                  </a:txBody>
                  <a:tcPr>
                    <a:solidFill>
                      <a:srgbClr val="F5F7FA"/>
                    </a:solidFill>
                  </a:tcPr>
                </a:tc>
                <a:tc>
                  <a:txBody>
                    <a:bodyPr/>
                    <a:lstStyle/>
                    <a:p>
                      <a:pPr algn="ctr"/>
                      <a:r>
                        <a:rPr sz="750" b="0">
                          <a:solidFill>
                            <a:srgbClr val="1A1A1A"/>
                          </a:solidFill>
                        </a:rPr>
                        <a:t>43.3 %</a:t>
                      </a:r>
                    </a:p>
                  </a:txBody>
                  <a:tcPr>
                    <a:solidFill>
                      <a:srgbClr val="F5F7FA"/>
                    </a:solidFill>
                  </a:tcPr>
                </a:tc>
              </a:tr>
              <a:tr h="198000">
                <a:tc>
                  <a:txBody>
                    <a:bodyPr/>
                    <a:lstStyle/>
                    <a:p>
                      <a:pPr algn="ctr"/>
                      <a:r>
                        <a:rPr sz="750" b="0">
                          <a:solidFill>
                            <a:srgbClr val="1A1A1A"/>
                          </a:solidFill>
                        </a:rPr>
                        <a:t>The Procter &amp; Gamble</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4.2x</a:t>
                      </a:r>
                    </a:p>
                  </a:txBody>
                  <a:tcPr>
                    <a:noFill/>
                  </a:tcPr>
                </a:tc>
                <a:tc>
                  <a:txBody>
                    <a:bodyPr/>
                    <a:lstStyle/>
                    <a:p>
                      <a:pPr algn="ctr"/>
                      <a:r>
                        <a:rPr sz="750" b="0">
                          <a:solidFill>
                            <a:srgbClr val="1A1A1A"/>
                          </a:solidFill>
                        </a:rPr>
                        <a:t>21.3x</a:t>
                      </a:r>
                    </a:p>
                  </a:txBody>
                  <a:tcPr>
                    <a:noFill/>
                  </a:tcPr>
                </a:tc>
                <a:tc>
                  <a:txBody>
                    <a:bodyPr/>
                    <a:lstStyle/>
                    <a:p>
                      <a:pPr algn="ctr"/>
                      <a:r>
                        <a:rPr sz="750" b="0">
                          <a:solidFill>
                            <a:srgbClr val="1A1A1A"/>
                          </a:solidFill>
                        </a:rPr>
                        <a:t>51.2 %</a:t>
                      </a:r>
                    </a:p>
                  </a:txBody>
                  <a:tcPr>
                    <a:noFill/>
                  </a:tcPr>
                </a:tc>
                <a:tc>
                  <a:txBody>
                    <a:bodyPr/>
                    <a:lstStyle/>
                    <a:p>
                      <a:pPr algn="ctr"/>
                      <a:r>
                        <a:rPr sz="750" b="0">
                          <a:solidFill>
                            <a:srgbClr val="1A1A1A"/>
                          </a:solidFill>
                        </a:rPr>
                        <a:t>29.0 %</a:t>
                      </a:r>
                    </a:p>
                  </a:txBody>
                  <a:tcPr>
                    <a:noFill/>
                  </a:tcPr>
                </a:tc>
                <a:tc>
                  <a:txBody>
                    <a:bodyPr/>
                    <a:lstStyle/>
                    <a:p>
                      <a:pPr algn="ctr"/>
                      <a:r>
                        <a:rPr sz="750" b="0">
                          <a:solidFill>
                            <a:srgbClr val="1A1A1A"/>
                          </a:solidFill>
                        </a:rPr>
                        <a:t>31.6 %</a:t>
                      </a:r>
                    </a:p>
                  </a:txBody>
                  <a:tcPr>
                    <a:noFill/>
                  </a:tcPr>
                </a:tc>
              </a:tr>
              <a:tr h="198000">
                <a:tc>
                  <a:txBody>
                    <a:bodyPr/>
                    <a:lstStyle/>
                    <a:p>
                      <a:pPr algn="ctr"/>
                      <a:r>
                        <a:rPr sz="750" b="0">
                          <a:solidFill>
                            <a:srgbClr val="1A1A1A"/>
                          </a:solidFill>
                        </a:rPr>
                        <a:t>PepsiCo, Inc.</a:t>
                      </a:r>
                    </a:p>
                  </a:txBody>
                  <a:tcPr>
                    <a:solidFill>
                      <a:srgbClr val="F5F7FA"/>
                    </a:solidFill>
                  </a:tcPr>
                </a:tc>
                <a:tc>
                  <a:txBody>
                    <a:bodyPr/>
                    <a:lstStyle/>
                    <a:p>
                      <a:pPr algn="ctr"/>
                      <a:r>
                        <a:rPr sz="750" b="0">
                          <a:solidFill>
                            <a:srgbClr val="1A1A1A"/>
                          </a:solidFill>
                        </a:rPr>
                        <a:t>13.7x</a:t>
                      </a:r>
                    </a:p>
                  </a:txBody>
                  <a:tcPr>
                    <a:solidFill>
                      <a:srgbClr val="F5F7FA"/>
                    </a:solidFill>
                  </a:tcPr>
                </a:tc>
                <a:tc>
                  <a:txBody>
                    <a:bodyPr/>
                    <a:lstStyle/>
                    <a:p>
                      <a:pPr algn="ctr"/>
                      <a:r>
                        <a:rPr sz="750" b="0">
                          <a:solidFill>
                            <a:srgbClr val="1A1A1A"/>
                          </a:solidFill>
                        </a:rPr>
                        <a:t>2.7x</a:t>
                      </a:r>
                    </a:p>
                  </a:txBody>
                  <a:tcPr>
                    <a:solidFill>
                      <a:srgbClr val="F5F7FA"/>
                    </a:solidFill>
                  </a:tcPr>
                </a:tc>
                <a:tc>
                  <a:txBody>
                    <a:bodyPr/>
                    <a:lstStyle/>
                    <a:p>
                      <a:pPr algn="ctr"/>
                      <a:r>
                        <a:rPr sz="750" b="0">
                          <a:solidFill>
                            <a:srgbClr val="1A1A1A"/>
                          </a:solidFill>
                        </a:rPr>
                        <a:t>25.6x</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19.3 %</a:t>
                      </a:r>
                    </a:p>
                  </a:txBody>
                  <a:tcPr>
                    <a:solidFill>
                      <a:srgbClr val="F5F7FA"/>
                    </a:solidFill>
                  </a:tcPr>
                </a:tc>
                <a:tc>
                  <a:txBody>
                    <a:bodyPr/>
                    <a:lstStyle/>
                    <a:p>
                      <a:pPr algn="ctr"/>
                      <a:r>
                        <a:rPr sz="750" b="0">
                          <a:solidFill>
                            <a:srgbClr val="1A1A1A"/>
                          </a:solidFill>
                        </a:rPr>
                        <a:t>42.8 %</a:t>
                      </a:r>
                    </a:p>
                  </a:txBody>
                  <a:tcPr>
                    <a:solidFill>
                      <a:srgbClr val="F5F7FA"/>
                    </a:solidFill>
                  </a:tcPr>
                </a:tc>
              </a:tr>
              <a:tr h="198000">
                <a:tc>
                  <a:txBody>
                    <a:bodyPr/>
                    <a:lstStyle/>
                    <a:p>
                      <a:pPr algn="ctr"/>
                      <a:r>
                        <a:rPr sz="750" b="0">
                          <a:solidFill>
                            <a:srgbClr val="1A1A1A"/>
                          </a:solidFill>
                        </a:rPr>
                        <a:t>Mondelez Internation</a:t>
                      </a:r>
                    </a:p>
                  </a:txBody>
                  <a:tcPr>
                    <a:noFill/>
                  </a:tcPr>
                </a:tc>
                <a:tc>
                  <a:txBody>
                    <a:bodyPr/>
                    <a:lstStyle/>
                    <a:p>
                      <a:pPr algn="ctr"/>
                      <a:r>
                        <a:rPr sz="750" b="0">
                          <a:solidFill>
                            <a:srgbClr val="1A1A1A"/>
                          </a:solidFill>
                        </a:rPr>
                        <a:t>18.8x</a:t>
                      </a:r>
                    </a:p>
                  </a:txBody>
                  <a:tcPr>
                    <a:noFill/>
                  </a:tcPr>
                </a:tc>
                <a:tc>
                  <a:txBody>
                    <a:bodyPr/>
                    <a:lstStyle/>
                    <a:p>
                      <a:pPr algn="ctr"/>
                      <a:r>
                        <a:rPr sz="750" b="0">
                          <a:solidFill>
                            <a:srgbClr val="1A1A1A"/>
                          </a:solidFill>
                        </a:rPr>
                        <a:t>2.4x</a:t>
                      </a:r>
                    </a:p>
                  </a:txBody>
                  <a:tcPr>
                    <a:noFill/>
                  </a:tcPr>
                </a:tc>
                <a:tc>
                  <a:txBody>
                    <a:bodyPr/>
                    <a:lstStyle/>
                    <a:p>
                      <a:pPr algn="ctr"/>
                      <a:r>
                        <a:rPr sz="750" b="0">
                          <a:solidFill>
                            <a:srgbClr val="1A1A1A"/>
                          </a:solidFill>
                        </a:rPr>
                        <a:t>30.9x</a:t>
                      </a:r>
                    </a:p>
                  </a:txBody>
                  <a:tcPr>
                    <a:noFill/>
                  </a:tcPr>
                </a:tc>
                <a:tc>
                  <a:txBody>
                    <a:bodyPr/>
                    <a:lstStyle/>
                    <a:p>
                      <a:pPr algn="ctr"/>
                      <a:r>
                        <a:rPr sz="750" b="0">
                          <a:solidFill>
                            <a:srgbClr val="1A1A1A"/>
                          </a:solidFill>
                        </a:rPr>
                        <a:t>28.4 %</a:t>
                      </a:r>
                    </a:p>
                  </a:txBody>
                  <a:tcPr>
                    <a:noFill/>
                  </a:tcPr>
                </a:tc>
                <a:tc>
                  <a:txBody>
                    <a:bodyPr/>
                    <a:lstStyle/>
                    <a:p>
                      <a:pPr algn="ctr"/>
                      <a:r>
                        <a:rPr sz="750" b="0">
                          <a:solidFill>
                            <a:srgbClr val="1A1A1A"/>
                          </a:solidFill>
                        </a:rPr>
                        <a:t>12.9 %</a:t>
                      </a:r>
                    </a:p>
                  </a:txBody>
                  <a:tcPr>
                    <a:noFill/>
                  </a:tcPr>
                </a:tc>
                <a:tc>
                  <a:txBody>
                    <a:bodyPr/>
                    <a:lstStyle/>
                    <a:p>
                      <a:pPr algn="ctr"/>
                      <a:r>
                        <a:rPr sz="750" b="0">
                          <a:solidFill>
                            <a:srgbClr val="1A1A1A"/>
                          </a:solidFill>
                        </a:rPr>
                        <a:t>9.3 %</a:t>
                      </a:r>
                    </a:p>
                  </a:txBody>
                  <a:tcPr>
                    <a:noFill/>
                  </a:tcPr>
                </a:tc>
              </a:tr>
              <a:tr h="198000">
                <a:tc>
                  <a:txBody>
                    <a:bodyPr/>
                    <a:lstStyle/>
                    <a:p>
                      <a:pPr algn="ctr"/>
                      <a:r>
                        <a:rPr sz="750" b="0">
                          <a:solidFill>
                            <a:srgbClr val="1A1A1A"/>
                          </a:solidFill>
                        </a:rPr>
                        <a:t>Walmart Inc.</a:t>
                      </a:r>
                    </a:p>
                  </a:txBody>
                  <a:tcPr>
                    <a:solidFill>
                      <a:srgbClr val="F5F7FA"/>
                    </a:solidFill>
                  </a:tcPr>
                </a:tc>
                <a:tc>
                  <a:txBody>
                    <a:bodyPr/>
                    <a:lstStyle/>
                    <a:p>
                      <a:pPr algn="ctr"/>
                      <a:r>
                        <a:rPr sz="750" b="0">
                          <a:solidFill>
                            <a:srgbClr val="1A1A1A"/>
                          </a:solidFill>
                        </a:rPr>
                        <a:t>23.6x</a:t>
                      </a:r>
                    </a:p>
                  </a:txBody>
                  <a:tcPr>
                    <a:solidFill>
                      <a:srgbClr val="F5F7FA"/>
                    </a:solidFill>
                  </a:tcPr>
                </a:tc>
                <a:tc>
                  <a:txBody>
                    <a:bodyPr/>
                    <a:lstStyle/>
                    <a:p>
                      <a:pPr algn="ctr"/>
                      <a:r>
                        <a:rPr sz="750" b="0">
                          <a:solidFill>
                            <a:srgbClr val="1A1A1A"/>
                          </a:solidFill>
                        </a:rPr>
                        <a:t>1.5x</a:t>
                      </a:r>
                    </a:p>
                  </a:txBody>
                  <a:tcPr>
                    <a:solidFill>
                      <a:srgbClr val="F5F7FA"/>
                    </a:solidFill>
                  </a:tcPr>
                </a:tc>
                <a:tc>
                  <a:txBody>
                    <a:bodyPr/>
                    <a:lstStyle/>
                    <a:p>
                      <a:pPr algn="ctr"/>
                      <a:r>
                        <a:rPr sz="750" b="0">
                          <a:solidFill>
                            <a:srgbClr val="1A1A1A"/>
                          </a:solidFill>
                        </a:rPr>
                        <a:t>45.4x</a:t>
                      </a:r>
                    </a:p>
                  </a:txBody>
                  <a:tcPr>
                    <a:solidFill>
                      <a:srgbClr val="F5F7FA"/>
                    </a:solidFill>
                  </a:tcPr>
                </a:tc>
                <a:tc>
                  <a:txBody>
                    <a:bodyPr/>
                    <a:lstStyle/>
                    <a:p>
                      <a:pPr algn="ctr"/>
                      <a:r>
                        <a:rPr sz="750" b="0">
                          <a:solidFill>
                            <a:srgbClr val="1A1A1A"/>
                          </a:solidFill>
                        </a:rPr>
                        <a:t>24.9 %</a:t>
                      </a:r>
                    </a:p>
                  </a:txBody>
                  <a:tcPr>
                    <a:solidFill>
                      <a:srgbClr val="F5F7FA"/>
                    </a:solidFill>
                  </a:tcPr>
                </a:tc>
                <a:tc>
                  <a:txBody>
                    <a:bodyPr/>
                    <a:lstStyle/>
                    <a:p>
                      <a:pPr algn="ctr"/>
                      <a:r>
                        <a:rPr sz="750" b="0">
                          <a:solidFill>
                            <a:srgbClr val="1A1A1A"/>
                          </a:solidFill>
                        </a:rPr>
                        <a:t>6.2 %</a:t>
                      </a:r>
                    </a:p>
                  </a:txBody>
                  <a:tcPr>
                    <a:solidFill>
                      <a:srgbClr val="F5F7FA"/>
                    </a:solidFill>
                  </a:tcPr>
                </a:tc>
                <a:tc>
                  <a:txBody>
                    <a:bodyPr/>
                    <a:lstStyle/>
                    <a:p>
                      <a:pPr algn="ctr"/>
                      <a:r>
                        <a:rPr sz="750" b="0">
                          <a:solidFill>
                            <a:srgbClr val="1A1A1A"/>
                          </a:solidFill>
                        </a:rPr>
                        <a:t>21.8 %</a:t>
                      </a:r>
                    </a:p>
                  </a:txBody>
                  <a:tcPr>
                    <a:solidFill>
                      <a:srgbClr val="F5F7FA"/>
                    </a:solidFill>
                  </a:tcPr>
                </a:tc>
              </a:tr>
              <a:tr h="198000">
                <a:tc>
                  <a:txBody>
                    <a:bodyPr/>
                    <a:lstStyle/>
                    <a:p>
                      <a:pPr algn="ctr"/>
                      <a:r>
                        <a:rPr sz="750" b="0">
                          <a:solidFill>
                            <a:srgbClr val="1A1A1A"/>
                          </a:solidFill>
                        </a:rPr>
                        <a:t>General Mills, Inc.</a:t>
                      </a:r>
                    </a:p>
                  </a:txBody>
                  <a:tcPr>
                    <a:noFill/>
                  </a:tcPr>
                </a:tc>
                <a:tc>
                  <a:txBody>
                    <a:bodyPr/>
                    <a:lstStyle/>
                    <a:p>
                      <a:pPr algn="ctr"/>
                      <a:r>
                        <a:rPr sz="750" b="0">
                          <a:solidFill>
                            <a:srgbClr val="1A1A1A"/>
                          </a:solidFill>
                        </a:rPr>
                        <a:t>9.8x</a:t>
                      </a:r>
                    </a:p>
                  </a:txBody>
                  <a:tcPr>
                    <a:noFill/>
                  </a:tcPr>
                </a:tc>
                <a:tc>
                  <a:txBody>
                    <a:bodyPr/>
                    <a:lstStyle/>
                    <a:p>
                      <a:pPr algn="ctr"/>
                      <a:r>
                        <a:rPr sz="750" b="0">
                          <a:solidFill>
                            <a:srgbClr val="1A1A1A"/>
                          </a:solidFill>
                        </a:rPr>
                        <a:t>1.8x</a:t>
                      </a:r>
                    </a:p>
                  </a:txBody>
                  <a:tcPr>
                    <a:noFill/>
                  </a:tcPr>
                </a:tc>
                <a:tc>
                  <a:txBody>
                    <a:bodyPr/>
                    <a:lstStyle/>
                    <a:p>
                      <a:pPr algn="ctr"/>
                      <a:r>
                        <a:rPr sz="750" b="0">
                          <a:solidFill>
                            <a:srgbClr val="1A1A1A"/>
                          </a:solidFill>
                        </a:rPr>
                        <a:t>9.0x</a:t>
                      </a:r>
                    </a:p>
                  </a:txBody>
                  <a:tcPr>
                    <a:noFill/>
                  </a:tcPr>
                </a:tc>
                <a:tc>
                  <a:txBody>
                    <a:bodyPr/>
                    <a:lstStyle/>
                    <a:p>
                      <a:pPr algn="ctr"/>
                      <a:r>
                        <a:rPr sz="750" b="0">
                          <a:solidFill>
                            <a:srgbClr val="1A1A1A"/>
                          </a:solidFill>
                        </a:rPr>
                        <a:t>33.1 %</a:t>
                      </a:r>
                    </a:p>
                  </a:txBody>
                  <a:tcPr>
                    <a:noFill/>
                  </a:tcPr>
                </a:tc>
                <a:tc>
                  <a:txBody>
                    <a:bodyPr/>
                    <a:lstStyle/>
                    <a:p>
                      <a:pPr algn="ctr"/>
                      <a:r>
                        <a:rPr sz="750" b="0">
                          <a:solidFill>
                            <a:srgbClr val="1A1A1A"/>
                          </a:solidFill>
                        </a:rPr>
                        <a:t>18.1 %</a:t>
                      </a:r>
                    </a:p>
                  </a:txBody>
                  <a:tcPr>
                    <a:noFill/>
                  </a:tcPr>
                </a:tc>
                <a:tc>
                  <a:txBody>
                    <a:bodyPr/>
                    <a:lstStyle/>
                    <a:p>
                      <a:pPr algn="ctr"/>
                      <a:r>
                        <a:rPr sz="750" b="0">
                          <a:solidFill>
                            <a:srgbClr val="1A1A1A"/>
                          </a:solidFill>
                        </a:rPr>
                        <a:t>23.6 %</a:t>
                      </a:r>
                    </a:p>
                  </a:txBody>
                  <a:tcPr>
                    <a:noFill/>
                  </a:tcPr>
                </a:tc>
              </a:tr>
              <a:tr h="198000">
                <a:tc>
                  <a:txBody>
                    <a:bodyPr/>
                    <a:lstStyle/>
                    <a:p>
                      <a:pPr algn="ctr"/>
                      <a:r>
                        <a:rPr sz="750" b="0">
                          <a:solidFill>
                            <a:srgbClr val="1A1A1A"/>
                          </a:solidFill>
                        </a:rPr>
                        <a:t>Costco Wholesale Cor</a:t>
                      </a:r>
                    </a:p>
                  </a:txBody>
                  <a:tcPr>
                    <a:solidFill>
                      <a:srgbClr val="F5F7FA"/>
                    </a:solidFill>
                  </a:tcPr>
                </a:tc>
                <a:tc>
                  <a:txBody>
                    <a:bodyPr/>
                    <a:lstStyle/>
                    <a:p>
                      <a:pPr algn="ctr"/>
                      <a:r>
                        <a:rPr sz="750" b="0">
                          <a:solidFill>
                            <a:srgbClr val="1A1A1A"/>
                          </a:solidFill>
                        </a:rPr>
                        <a:t>31.6x</a:t>
                      </a:r>
                    </a:p>
                  </a:txBody>
                  <a:tcPr>
                    <a:solidFill>
                      <a:srgbClr val="F5F7FA"/>
                    </a:solidFill>
                  </a:tcPr>
                </a:tc>
                <a:tc>
                  <a:txBody>
                    <a:bodyPr/>
                    <a:lstStyle/>
                    <a:p>
                      <a:pPr algn="ctr"/>
                      <a:r>
                        <a:rPr sz="750" b="0">
                          <a:solidFill>
                            <a:srgbClr val="1A1A1A"/>
                          </a:solidFill>
                        </a:rPr>
                        <a:t>1.5x</a:t>
                      </a:r>
                    </a:p>
                  </a:txBody>
                  <a:tcPr>
                    <a:solidFill>
                      <a:srgbClr val="F5F7FA"/>
                    </a:solidFill>
                  </a:tcPr>
                </a:tc>
                <a:tc>
                  <a:txBody>
                    <a:bodyPr/>
                    <a:lstStyle/>
                    <a:p>
                      <a:pPr algn="ctr"/>
                      <a:r>
                        <a:rPr sz="750" b="0">
                          <a:solidFill>
                            <a:srgbClr val="1A1A1A"/>
                          </a:solidFill>
                        </a:rPr>
                        <a:t>51.2x</a:t>
                      </a:r>
                    </a:p>
                  </a:txBody>
                  <a:tcPr>
                    <a:solidFill>
                      <a:srgbClr val="F5F7FA"/>
                    </a:solidFill>
                  </a:tcPr>
                </a:tc>
                <a:tc>
                  <a:txBody>
                    <a:bodyPr/>
                    <a:lstStyle/>
                    <a:p>
                      <a:pPr algn="ctr"/>
                      <a:r>
                        <a:rPr sz="750" b="0">
                          <a:solidFill>
                            <a:srgbClr val="1A1A1A"/>
                          </a:solidFill>
                        </a:rPr>
                        <a:t>12.9 %</a:t>
                      </a:r>
                    </a:p>
                  </a:txBody>
                  <a:tcPr>
                    <a:solidFill>
                      <a:srgbClr val="F5F7FA"/>
                    </a:solidFill>
                  </a:tcPr>
                </a:tc>
                <a:tc>
                  <a:txBody>
                    <a:bodyPr/>
                    <a:lstStyle/>
                    <a:p>
                      <a:pPr algn="ctr"/>
                      <a:r>
                        <a:rPr sz="750" b="0">
                          <a:solidFill>
                            <a:srgbClr val="1A1A1A"/>
                          </a:solidFill>
                        </a:rPr>
                        <a:t>4.7 %</a:t>
                      </a:r>
                    </a:p>
                  </a:txBody>
                  <a:tcPr>
                    <a:solidFill>
                      <a:srgbClr val="F5F7FA"/>
                    </a:solidFill>
                  </a:tcPr>
                </a:tc>
                <a:tc>
                  <a:txBody>
                    <a:bodyPr/>
                    <a:lstStyle/>
                    <a:p>
                      <a:pPr algn="ctr"/>
                      <a:r>
                        <a:rPr sz="750" b="0">
                          <a:solidFill>
                            <a:srgbClr val="1A1A1A"/>
                          </a:solidFill>
                        </a:rPr>
                        <a:t>29.7 %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17.4x</a:t>
                      </a:r>
                    </a:p>
                  </a:txBody>
                  <a:tcPr>
                    <a:noFill/>
                  </a:tcPr>
                </a:tc>
                <a:tc>
                  <a:txBody>
                    <a:bodyPr/>
                    <a:lstStyle/>
                    <a:p>
                      <a:pPr algn="ctr"/>
                      <a:r>
                        <a:rPr sz="750" b="0">
                          <a:solidFill>
                            <a:srgbClr val="1A1A1A"/>
                          </a:solidFill>
                        </a:rPr>
                        <a:t>2.5x</a:t>
                      </a:r>
                    </a:p>
                  </a:txBody>
                  <a:tcPr>
                    <a:noFill/>
                  </a:tcPr>
                </a:tc>
                <a:tc>
                  <a:txBody>
                    <a:bodyPr/>
                    <a:lstStyle/>
                    <a:p>
                      <a:pPr algn="ctr"/>
                      <a:r>
                        <a:rPr sz="750" b="0">
                          <a:solidFill>
                            <a:srgbClr val="1A1A1A"/>
                          </a:solidFill>
                        </a:rPr>
                        <a:t>25.3x</a:t>
                      </a:r>
                    </a:p>
                  </a:txBody>
                  <a:tcPr>
                    <a:noFill/>
                  </a:tcPr>
                </a:tc>
                <a:tc>
                  <a:txBody>
                    <a:bodyPr/>
                    <a:lstStyle/>
                    <a:p>
                      <a:pPr algn="ctr"/>
                      <a:r>
                        <a:rPr sz="750" b="0">
                          <a:solidFill>
                            <a:srgbClr val="1A1A1A"/>
                          </a:solidFill>
                        </a:rPr>
                        <a:t>42.2 %</a:t>
                      </a:r>
                    </a:p>
                  </a:txBody>
                  <a:tcPr>
                    <a:noFill/>
                  </a:tcPr>
                </a:tc>
                <a:tc>
                  <a:txBody>
                    <a:bodyPr/>
                    <a:lstStyle/>
                    <a:p>
                      <a:pPr algn="ctr"/>
                      <a:r>
                        <a:rPr sz="750" b="0">
                          <a:solidFill>
                            <a:srgbClr val="1A1A1A"/>
                          </a:solidFill>
                        </a:rPr>
                        <a:t>18.7 %</a:t>
                      </a:r>
                    </a:p>
                  </a:txBody>
                  <a:tcPr>
                    <a:noFill/>
                  </a:tcPr>
                </a:tc>
                <a:tc>
                  <a:txBody>
                    <a:bodyPr/>
                    <a:lstStyle/>
                    <a:p>
                      <a:pPr algn="ctr"/>
                      <a:r>
                        <a:rPr sz="750" b="0">
                          <a:solidFill>
                            <a:srgbClr val="1A1A1A"/>
                          </a:solidFill>
                        </a:rPr>
                        <a:t>29.7 %</a:t>
                      </a:r>
                    </a:p>
                  </a:txBody>
                  <a:tcPr>
                    <a:noFill/>
                  </a:tcPr>
                </a:tc>
              </a:tr>
            </a:tbl>
          </a:graphicData>
        </a:graphic>
      </p:graphicFrame>
      <p:sp>
        <p:nvSpPr>
          <p:cNvPr id="16" name="Rectangle 15"/>
          <p:cNvSpPr/>
          <p:nvPr/>
        </p:nvSpPr>
        <p:spPr>
          <a:xfrm>
            <a:off x="324000" y="3780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80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798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4068000"/>
            <a:ext cx="8352000" cy="720000"/>
          </a:xfrm>
          <a:prstGeom prst="rect">
            <a:avLst/>
          </a:prstGeom>
          <a:noFill/>
        </p:spPr>
        <p:txBody>
          <a:bodyPr wrap="square">
            <a:spAutoFit/>
          </a:bodyPr>
          <a:lstStyle/>
          <a:p>
            <a:pPr algn="l"/>
            <a:r>
              <a:rPr sz="850" b="0" i="0">
                <a:solidFill>
                  <a:srgbClr val="555555"/>
                </a:solidFill>
              </a:rPr>
              <a:t>La médiane EV/EBITDA sectorielle s etablit a 17.4x LTM. Philip Morris Intern (16.0x) se distingue comme le leader de qualité, combine a une marge EBITDA de 46.1 % et une croissance de +6.8 %. La dispersion des multiples revele la hétérogénéité des profils au sein du secteur Consumer Defensive — une lecture croisee P/E vs EV/EBITDA permet d'isoler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Drivers de croissance &amp; sensibilite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Pricing Power Marques</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Leaders de catégorie maintiennent +3-5 % de hausse tarifaire annuelle</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Expansion Emergents</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Croissance volumes a 2 chiffres en Afrique et Asie du Sud-Est</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Pression Distribution</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Négociations annuelles de plus en plus defavorables</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Saturation Matures</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Volumes stagnants en Europe — croissance principalement par prix</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NEUTRE</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58/100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5.4 %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720000"/>
          </a:xfrm>
          <a:prstGeom prst="rect">
            <a:avLst/>
          </a:prstGeom>
          <a:noFill/>
        </p:spPr>
        <p:txBody>
          <a:bodyPr wrap="square">
            <a:spAutoFit/>
          </a:bodyPr>
          <a:lstStyle/>
          <a:p>
            <a:pPr algn="ctr"/>
            <a:r>
              <a:rPr sz="800" b="0" i="0">
                <a:solidFill>
                  <a:srgbClr val="2A5298"/>
                </a:solidFill>
              </a:rPr>
              <a:t>Secteur défensif | résilient en recession, sous-performant en expansion</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Societes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Societes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Consumer Defensive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PM</a:t>
                      </a:r>
                    </a:p>
                  </a:txBody>
                  <a:tcPr>
                    <a:noFill/>
                  </a:tcPr>
                </a:tc>
                <a:tc>
                  <a:txBody>
                    <a:bodyPr/>
                    <a:lstStyle/>
                    <a:p>
                      <a:pPr algn="ctr"/>
                      <a:r>
                        <a:rPr sz="750" b="0">
                          <a:solidFill>
                            <a:srgbClr val="1A1A1A"/>
                          </a:solidFill>
                        </a:rPr>
                        <a:t>Philip Morris Inte</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164.74</a:t>
                      </a:r>
                    </a:p>
                  </a:txBody>
                  <a:tcPr>
                    <a:noFill/>
                  </a:tcPr>
                </a:tc>
                <a:tc>
                  <a:txBody>
                    <a:bodyPr/>
                    <a:lstStyle/>
                    <a:p>
                      <a:pPr algn="ctr"/>
                      <a:r>
                        <a:rPr sz="750" b="0">
                          <a:solidFill>
                            <a:srgbClr val="1A1A1A"/>
                          </a:solidFill>
                        </a:rPr>
                        <a:t>16.0x</a:t>
                      </a:r>
                    </a:p>
                  </a:txBody>
                  <a:tcPr>
                    <a:noFill/>
                  </a:tcPr>
                </a:tc>
                <a:tc>
                  <a:txBody>
                    <a:bodyPr/>
                    <a:lstStyle/>
                    <a:p>
                      <a:pPr algn="ctr"/>
                      <a:r>
                        <a:rPr sz="750" b="0">
                          <a:solidFill>
                            <a:srgbClr val="1A1A1A"/>
                          </a:solidFill>
                        </a:rPr>
                        <a:t>46.1 %</a:t>
                      </a:r>
                    </a:p>
                  </a:txBody>
                  <a:tcPr>
                    <a:noFill/>
                  </a:tcPr>
                </a:tc>
                <a:tc>
                  <a:txBody>
                    <a:bodyPr/>
                    <a:lstStyle/>
                    <a:p>
                      <a:pPr algn="ctr"/>
                      <a:r>
                        <a:rPr sz="750" b="0">
                          <a:solidFill>
                            <a:srgbClr val="1A1A1A"/>
                          </a:solidFill>
                        </a:rPr>
                        <a:t>+6.8 %</a:t>
                      </a:r>
                    </a:p>
                  </a:txBody>
                  <a:tcPr>
                    <a:noFill/>
                  </a:tcPr>
                </a:tc>
                <a:tc>
                  <a:txBody>
                    <a:bodyPr/>
                    <a:lstStyle/>
                    <a:p>
                      <a:pPr algn="ctr"/>
                      <a:r>
                        <a:rPr sz="750" b="0">
                          <a:solidFill>
                            <a:srgbClr val="1A1A1A"/>
                          </a:solidFill>
                        </a:rPr>
                        <a:t>+7.6 %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KO</a:t>
                      </a:r>
                    </a:p>
                  </a:txBody>
                  <a:tcPr>
                    <a:solidFill>
                      <a:srgbClr val="F5F7FA"/>
                    </a:solidFill>
                  </a:tcPr>
                </a:tc>
                <a:tc>
                  <a:txBody>
                    <a:bodyPr/>
                    <a:lstStyle/>
                    <a:p>
                      <a:pPr algn="ctr"/>
                      <a:r>
                        <a:rPr sz="750" b="0">
                          <a:solidFill>
                            <a:srgbClr val="1A1A1A"/>
                          </a:solidFill>
                        </a:rPr>
                        <a:t>The Coca-Cola Comp</a:t>
                      </a:r>
                    </a:p>
                  </a:txBody>
                  <a:tcPr>
                    <a:solidFill>
                      <a:srgbClr val="F5F7FA"/>
                    </a:solidFill>
                  </a:tcPr>
                </a:tc>
                <a:tc>
                  <a:txBody>
                    <a:bodyPr/>
                    <a:lstStyle/>
                    <a:p>
                      <a:pPr algn="ctr"/>
                      <a:r>
                        <a:rPr sz="750" b="0">
                          <a:solidFill>
                            <a:srgbClr val="1A1A1A"/>
                          </a:solidFill>
                        </a:rPr>
                        <a:t>65/100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75.915</a:t>
                      </a:r>
                    </a:p>
                  </a:txBody>
                  <a:tcPr>
                    <a:solidFill>
                      <a:srgbClr val="F5F7FA"/>
                    </a:solidFill>
                  </a:tcPr>
                </a:tc>
                <a:tc>
                  <a:txBody>
                    <a:bodyPr/>
                    <a:lstStyle/>
                    <a:p>
                      <a:pPr algn="ctr"/>
                      <a:r>
                        <a:rPr sz="750" b="0">
                          <a:solidFill>
                            <a:srgbClr val="1A1A1A"/>
                          </a:solidFill>
                        </a:rPr>
                        <a:t>22.1x</a:t>
                      </a:r>
                    </a:p>
                  </a:txBody>
                  <a:tcPr>
                    <a:solidFill>
                      <a:srgbClr val="F5F7FA"/>
                    </a:solidFill>
                  </a:tcPr>
                </a:tc>
                <a:tc>
                  <a:txBody>
                    <a:bodyPr/>
                    <a:lstStyle/>
                    <a:p>
                      <a:pPr algn="ctr"/>
                      <a:r>
                        <a:rPr sz="750" b="0">
                          <a:solidFill>
                            <a:srgbClr val="1A1A1A"/>
                          </a:solidFill>
                        </a:rPr>
                        <a:t>33.5 %</a:t>
                      </a:r>
                    </a:p>
                  </a:txBody>
                  <a:tcPr>
                    <a:solidFill>
                      <a:srgbClr val="F5F7FA"/>
                    </a:solidFill>
                  </a:tcPr>
                </a:tc>
                <a:tc>
                  <a:txBody>
                    <a:bodyPr/>
                    <a:lstStyle/>
                    <a:p>
                      <a:pPr algn="ctr"/>
                      <a:r>
                        <a:rPr sz="750" b="0">
                          <a:solidFill>
                            <a:srgbClr val="1A1A1A"/>
                          </a:solidFill>
                        </a:rPr>
                        <a:t>+2.4 %</a:t>
                      </a:r>
                    </a:p>
                  </a:txBody>
                  <a:tcPr>
                    <a:solidFill>
                      <a:srgbClr val="F5F7FA"/>
                    </a:solidFill>
                  </a:tcPr>
                </a:tc>
                <a:tc>
                  <a:txBody>
                    <a:bodyPr/>
                    <a:lstStyle/>
                    <a:p>
                      <a:pPr algn="ctr"/>
                      <a:r>
                        <a:rPr sz="750" b="0">
                          <a:solidFill>
                            <a:srgbClr val="1A1A1A"/>
                          </a:solidFill>
                        </a:rPr>
                        <a:t>+8.4 %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PG</a:t>
                      </a:r>
                    </a:p>
                  </a:txBody>
                  <a:tcPr>
                    <a:noFill/>
                  </a:tcPr>
                </a:tc>
                <a:tc>
                  <a:txBody>
                    <a:bodyPr/>
                    <a:lstStyle/>
                    <a:p>
                      <a:pPr algn="ctr"/>
                      <a:r>
                        <a:rPr sz="750" b="0">
                          <a:solidFill>
                            <a:srgbClr val="1A1A1A"/>
                          </a:solidFill>
                        </a:rPr>
                        <a:t>The Procter &amp; Gamb</a:t>
                      </a:r>
                    </a:p>
                  </a:txBody>
                  <a:tcPr>
                    <a:noFill/>
                  </a:tcPr>
                </a:tc>
                <a:tc>
                  <a:txBody>
                    <a:bodyPr/>
                    <a:lstStyle/>
                    <a:p>
                      <a:pPr algn="ctr"/>
                      <a:r>
                        <a:rPr sz="750" b="0">
                          <a:solidFill>
                            <a:srgbClr val="1A1A1A"/>
                          </a:solidFill>
                        </a:rPr>
                        <a:t>63/100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143.7</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29.0 %</a:t>
                      </a:r>
                    </a:p>
                  </a:txBody>
                  <a:tcPr>
                    <a:noFill/>
                  </a:tcPr>
                </a:tc>
                <a:tc>
                  <a:txBody>
                    <a:bodyPr/>
                    <a:lstStyle/>
                    <a:p>
                      <a:pPr algn="ctr"/>
                      <a:r>
                        <a:rPr sz="750" b="0">
                          <a:solidFill>
                            <a:srgbClr val="1A1A1A"/>
                          </a:solidFill>
                        </a:rPr>
                        <a:t>+1.5 %</a:t>
                      </a:r>
                    </a:p>
                  </a:txBody>
                  <a:tcPr>
                    <a:noFill/>
                  </a:tcPr>
                </a:tc>
                <a:tc>
                  <a:txBody>
                    <a:bodyPr/>
                    <a:lstStyle/>
                    <a:p>
                      <a:pPr algn="ctr"/>
                      <a:r>
                        <a:rPr sz="750" b="0">
                          <a:solidFill>
                            <a:srgbClr val="1A1A1A"/>
                          </a:solidFill>
                        </a:rPr>
                        <a:t>-12.9 %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PEP</a:t>
                      </a:r>
                    </a:p>
                  </a:txBody>
                  <a:tcPr>
                    <a:solidFill>
                      <a:srgbClr val="F5F7FA"/>
                    </a:solidFill>
                  </a:tcPr>
                </a:tc>
                <a:tc>
                  <a:txBody>
                    <a:bodyPr/>
                    <a:lstStyle/>
                    <a:p>
                      <a:pPr algn="ctr"/>
                      <a:r>
                        <a:rPr sz="750" b="0">
                          <a:solidFill>
                            <a:srgbClr val="1A1A1A"/>
                          </a:solidFill>
                        </a:rPr>
                        <a:t>PepsiCo, Inc.</a:t>
                      </a:r>
                    </a:p>
                  </a:txBody>
                  <a:tcPr>
                    <a:solidFill>
                      <a:srgbClr val="F5F7FA"/>
                    </a:solidFill>
                  </a:tcPr>
                </a:tc>
                <a:tc>
                  <a:txBody>
                    <a:bodyPr/>
                    <a:lstStyle/>
                    <a:p>
                      <a:pPr algn="ctr"/>
                      <a:r>
                        <a:rPr sz="750" b="0">
                          <a:solidFill>
                            <a:srgbClr val="1A1A1A"/>
                          </a:solidFill>
                        </a:rPr>
                        <a:t>59/100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153.33</a:t>
                      </a:r>
                    </a:p>
                  </a:txBody>
                  <a:tcPr>
                    <a:solidFill>
                      <a:srgbClr val="F5F7FA"/>
                    </a:solidFill>
                  </a:tcPr>
                </a:tc>
                <a:tc>
                  <a:txBody>
                    <a:bodyPr/>
                    <a:lstStyle/>
                    <a:p>
                      <a:pPr algn="ctr"/>
                      <a:r>
                        <a:rPr sz="750" b="0">
                          <a:solidFill>
                            <a:srgbClr val="1A1A1A"/>
                          </a:solidFill>
                        </a:rPr>
                        <a:t>13.7x</a:t>
                      </a:r>
                    </a:p>
                  </a:txBody>
                  <a:tcPr>
                    <a:solidFill>
                      <a:srgbClr val="F5F7FA"/>
                    </a:solidFill>
                  </a:tcPr>
                </a:tc>
                <a:tc>
                  <a:txBody>
                    <a:bodyPr/>
                    <a:lstStyle/>
                    <a:p>
                      <a:pPr algn="ctr"/>
                      <a:r>
                        <a:rPr sz="750" b="0">
                          <a:solidFill>
                            <a:srgbClr val="1A1A1A"/>
                          </a:solidFill>
                        </a:rPr>
                        <a:t>19.3 %</a:t>
                      </a:r>
                    </a:p>
                  </a:txBody>
                  <a:tcPr>
                    <a:solidFill>
                      <a:srgbClr val="F5F7FA"/>
                    </a:solidFill>
                  </a:tcPr>
                </a:tc>
                <a:tc>
                  <a:txBody>
                    <a:bodyPr/>
                    <a:lstStyle/>
                    <a:p>
                      <a:pPr algn="ctr"/>
                      <a:r>
                        <a:rPr sz="750" b="0">
                          <a:solidFill>
                            <a:srgbClr val="1A1A1A"/>
                          </a:solidFill>
                        </a:rPr>
                        <a:t>+5.6 %</a:t>
                      </a:r>
                    </a:p>
                  </a:txBody>
                  <a:tcPr>
                    <a:solidFill>
                      <a:srgbClr val="F5F7FA"/>
                    </a:solidFill>
                  </a:tcPr>
                </a:tc>
                <a:tc>
                  <a:txBody>
                    <a:bodyPr/>
                    <a:lstStyle/>
                    <a:p>
                      <a:pPr algn="ctr"/>
                      <a:r>
                        <a:rPr sz="750" b="0">
                          <a:solidFill>
                            <a:srgbClr val="1A1A1A"/>
                          </a:solidFill>
                        </a:rPr>
                        <a:t>+2.5 %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MDLZ</a:t>
                      </a:r>
                    </a:p>
                  </a:txBody>
                  <a:tcPr>
                    <a:noFill/>
                  </a:tcPr>
                </a:tc>
                <a:tc>
                  <a:txBody>
                    <a:bodyPr/>
                    <a:lstStyle/>
                    <a:p>
                      <a:pPr algn="ctr"/>
                      <a:r>
                        <a:rPr sz="750" b="0">
                          <a:solidFill>
                            <a:srgbClr val="1A1A1A"/>
                          </a:solidFill>
                        </a:rPr>
                        <a:t>Mondelez Internati</a:t>
                      </a:r>
                    </a:p>
                  </a:txBody>
                  <a:tcPr>
                    <a:noFill/>
                  </a:tcPr>
                </a:tc>
                <a:tc>
                  <a:txBody>
                    <a:bodyPr/>
                    <a:lstStyle/>
                    <a:p>
                      <a:pPr algn="ctr"/>
                      <a:r>
                        <a:rPr sz="750" b="0">
                          <a:solidFill>
                            <a:srgbClr val="1A1A1A"/>
                          </a:solidFill>
                        </a:rPr>
                        <a:t>56/100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58.37</a:t>
                      </a:r>
                    </a:p>
                  </a:txBody>
                  <a:tcPr>
                    <a:noFill/>
                  </a:tcPr>
                </a:tc>
                <a:tc>
                  <a:txBody>
                    <a:bodyPr/>
                    <a:lstStyle/>
                    <a:p>
                      <a:pPr algn="ctr"/>
                      <a:r>
                        <a:rPr sz="750" b="0">
                          <a:solidFill>
                            <a:srgbClr val="1A1A1A"/>
                          </a:solidFill>
                        </a:rPr>
                        <a:t>18.8x</a:t>
                      </a:r>
                    </a:p>
                  </a:txBody>
                  <a:tcPr>
                    <a:noFill/>
                  </a:tcPr>
                </a:tc>
                <a:tc>
                  <a:txBody>
                    <a:bodyPr/>
                    <a:lstStyle/>
                    <a:p>
                      <a:pPr algn="ctr"/>
                      <a:r>
                        <a:rPr sz="750" b="0">
                          <a:solidFill>
                            <a:srgbClr val="1A1A1A"/>
                          </a:solidFill>
                        </a:rPr>
                        <a:t>12.9 %</a:t>
                      </a:r>
                    </a:p>
                  </a:txBody>
                  <a:tcPr>
                    <a:noFill/>
                  </a:tcPr>
                </a:tc>
                <a:tc>
                  <a:txBody>
                    <a:bodyPr/>
                    <a:lstStyle/>
                    <a:p>
                      <a:pPr algn="ctr"/>
                      <a:r>
                        <a:rPr sz="750" b="0">
                          <a:solidFill>
                            <a:srgbClr val="1A1A1A"/>
                          </a:solidFill>
                        </a:rPr>
                        <a:t>+9.3 %</a:t>
                      </a:r>
                    </a:p>
                  </a:txBody>
                  <a:tcPr>
                    <a:noFill/>
                  </a:tcPr>
                </a:tc>
                <a:tc>
                  <a:txBody>
                    <a:bodyPr/>
                    <a:lstStyle/>
                    <a:p>
                      <a:pPr algn="ctr"/>
                      <a:r>
                        <a:rPr sz="750" b="0">
                          <a:solidFill>
                            <a:srgbClr val="1A1A1A"/>
                          </a:solidFill>
                        </a:rPr>
                        <a:t>-13.5 %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WMT</a:t>
                      </a:r>
                    </a:p>
                  </a:txBody>
                  <a:tcPr>
                    <a:solidFill>
                      <a:srgbClr val="F5F7FA"/>
                    </a:solidFill>
                  </a:tcPr>
                </a:tc>
                <a:tc>
                  <a:txBody>
                    <a:bodyPr/>
                    <a:lstStyle/>
                    <a:p>
                      <a:pPr algn="ctr"/>
                      <a:r>
                        <a:rPr sz="750" b="0">
                          <a:solidFill>
                            <a:srgbClr val="1A1A1A"/>
                          </a:solidFill>
                        </a:rPr>
                        <a:t>Walmart Inc.</a:t>
                      </a:r>
                    </a:p>
                  </a:txBody>
                  <a:tcPr>
                    <a:solidFill>
                      <a:srgbClr val="F5F7FA"/>
                    </a:solidFill>
                  </a:tcPr>
                </a:tc>
                <a:tc>
                  <a:txBody>
                    <a:bodyPr/>
                    <a:lstStyle/>
                    <a:p>
                      <a:pPr algn="ctr"/>
                      <a:r>
                        <a:rPr sz="750" b="0">
                          <a:solidFill>
                            <a:srgbClr val="1A1A1A"/>
                          </a:solidFill>
                        </a:rPr>
                        <a:t>50/100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123.455</a:t>
                      </a:r>
                    </a:p>
                  </a:txBody>
                  <a:tcPr>
                    <a:solidFill>
                      <a:srgbClr val="F5F7FA"/>
                    </a:solidFill>
                  </a:tcPr>
                </a:tc>
                <a:tc>
                  <a:txBody>
                    <a:bodyPr/>
                    <a:lstStyle/>
                    <a:p>
                      <a:pPr algn="ctr"/>
                      <a:r>
                        <a:rPr sz="750" b="0">
                          <a:solidFill>
                            <a:srgbClr val="1A1A1A"/>
                          </a:solidFill>
                        </a:rPr>
                        <a:t>23.6x</a:t>
                      </a:r>
                    </a:p>
                  </a:txBody>
                  <a:tcPr>
                    <a:solidFill>
                      <a:srgbClr val="F5F7FA"/>
                    </a:solidFill>
                  </a:tcPr>
                </a:tc>
                <a:tc>
                  <a:txBody>
                    <a:bodyPr/>
                    <a:lstStyle/>
                    <a:p>
                      <a:pPr algn="ctr"/>
                      <a:r>
                        <a:rPr sz="750" b="0">
                          <a:solidFill>
                            <a:srgbClr val="1A1A1A"/>
                          </a:solidFill>
                        </a:rPr>
                        <a:t>6.2 %</a:t>
                      </a:r>
                    </a:p>
                  </a:txBody>
                  <a:tcPr>
                    <a:solidFill>
                      <a:srgbClr val="F5F7FA"/>
                    </a:solidFill>
                  </a:tcPr>
                </a:tc>
                <a:tc>
                  <a:txBody>
                    <a:bodyPr/>
                    <a:lstStyle/>
                    <a:p>
                      <a:pPr algn="ctr"/>
                      <a:r>
                        <a:rPr sz="750" b="0">
                          <a:solidFill>
                            <a:srgbClr val="1A1A1A"/>
                          </a:solidFill>
                        </a:rPr>
                        <a:t>+5.6 %</a:t>
                      </a:r>
                    </a:p>
                  </a:txBody>
                  <a:tcPr>
                    <a:solidFill>
                      <a:srgbClr val="F5F7FA"/>
                    </a:solidFill>
                  </a:tcPr>
                </a:tc>
                <a:tc>
                  <a:txBody>
                    <a:bodyPr/>
                    <a:lstStyle/>
                    <a:p>
                      <a:pPr algn="ctr"/>
                      <a:r>
                        <a:rPr sz="750" b="0">
                          <a:solidFill>
                            <a:srgbClr val="1A1A1A"/>
                          </a:solidFill>
                        </a:rPr>
                        <a:t>+36.0 %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GIS</a:t>
                      </a:r>
                    </a:p>
                  </a:txBody>
                  <a:tcPr>
                    <a:noFill/>
                  </a:tcPr>
                </a:tc>
                <a:tc>
                  <a:txBody>
                    <a:bodyPr/>
                    <a:lstStyle/>
                    <a:p>
                      <a:pPr algn="ctr"/>
                      <a:r>
                        <a:rPr sz="750" b="0">
                          <a:solidFill>
                            <a:srgbClr val="1A1A1A"/>
                          </a:solidFill>
                        </a:rPr>
                        <a:t>General Mills, Inc</a:t>
                      </a:r>
                    </a:p>
                  </a:txBody>
                  <a:tcPr>
                    <a:noFill/>
                  </a:tcPr>
                </a:tc>
                <a:tc>
                  <a:txBody>
                    <a:bodyPr/>
                    <a:lstStyle/>
                    <a:p>
                      <a:pPr algn="ctr"/>
                      <a:r>
                        <a:rPr sz="750" b="0">
                          <a:solidFill>
                            <a:srgbClr val="1A1A1A"/>
                          </a:solidFill>
                        </a:rPr>
                        <a:t>50/100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36.66</a:t>
                      </a:r>
                    </a:p>
                  </a:txBody>
                  <a:tcPr>
                    <a:noFill/>
                  </a:tcPr>
                </a:tc>
                <a:tc>
                  <a:txBody>
                    <a:bodyPr/>
                    <a:lstStyle/>
                    <a:p>
                      <a:pPr algn="ctr"/>
                      <a:r>
                        <a:rPr sz="750" b="0">
                          <a:solidFill>
                            <a:srgbClr val="1A1A1A"/>
                          </a:solidFill>
                        </a:rPr>
                        <a:t>9.8x</a:t>
                      </a:r>
                    </a:p>
                  </a:txBody>
                  <a:tcPr>
                    <a:noFill/>
                  </a:tcPr>
                </a:tc>
                <a:tc>
                  <a:txBody>
                    <a:bodyPr/>
                    <a:lstStyle/>
                    <a:p>
                      <a:pPr algn="ctr"/>
                      <a:r>
                        <a:rPr sz="750" b="0">
                          <a:solidFill>
                            <a:srgbClr val="1A1A1A"/>
                          </a:solidFill>
                        </a:rPr>
                        <a:t>18.1 %</a:t>
                      </a:r>
                    </a:p>
                  </a:txBody>
                  <a:tcPr>
                    <a:noFill/>
                  </a:tcPr>
                </a:tc>
                <a:tc>
                  <a:txBody>
                    <a:bodyPr/>
                    <a:lstStyle/>
                    <a:p>
                      <a:pPr algn="ctr"/>
                      <a:r>
                        <a:rPr sz="750" b="0">
                          <a:solidFill>
                            <a:srgbClr val="1A1A1A"/>
                          </a:solidFill>
                        </a:rPr>
                        <a:t>-8.4 %</a:t>
                      </a:r>
                    </a:p>
                  </a:txBody>
                  <a:tcPr>
                    <a:noFill/>
                  </a:tcPr>
                </a:tc>
                <a:tc>
                  <a:txBody>
                    <a:bodyPr/>
                    <a:lstStyle/>
                    <a:p>
                      <a:pPr algn="ctr"/>
                      <a:r>
                        <a:rPr sz="750" b="0">
                          <a:solidFill>
                            <a:srgbClr val="1A1A1A"/>
                          </a:solidFill>
                        </a:rPr>
                        <a:t>-36.4 %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COST</a:t>
                      </a:r>
                    </a:p>
                  </a:txBody>
                  <a:tcPr>
                    <a:solidFill>
                      <a:srgbClr val="F5F7FA"/>
                    </a:solidFill>
                  </a:tcPr>
                </a:tc>
                <a:tc>
                  <a:txBody>
                    <a:bodyPr/>
                    <a:lstStyle/>
                    <a:p>
                      <a:pPr algn="ctr"/>
                      <a:r>
                        <a:rPr sz="750" b="0">
                          <a:solidFill>
                            <a:srgbClr val="1A1A1A"/>
                          </a:solidFill>
                        </a:rPr>
                        <a:t>Costco Wholesale C</a:t>
                      </a:r>
                    </a:p>
                  </a:txBody>
                  <a:tcPr>
                    <a:solidFill>
                      <a:srgbClr val="F5F7FA"/>
                    </a:solidFill>
                  </a:tcPr>
                </a:tc>
                <a:tc>
                  <a:txBody>
                    <a:bodyPr/>
                    <a:lstStyle/>
                    <a:p>
                      <a:pPr algn="ctr"/>
                      <a:r>
                        <a:rPr sz="750" b="0">
                          <a:solidFill>
                            <a:srgbClr val="1A1A1A"/>
                          </a:solidFill>
                        </a:rPr>
                        <a:t>46/100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983.15</a:t>
                      </a:r>
                    </a:p>
                  </a:txBody>
                  <a:tcPr>
                    <a:solidFill>
                      <a:srgbClr val="F5F7FA"/>
                    </a:solidFill>
                  </a:tcPr>
                </a:tc>
                <a:tc>
                  <a:txBody>
                    <a:bodyPr/>
                    <a:lstStyle/>
                    <a:p>
                      <a:pPr algn="ctr"/>
                      <a:r>
                        <a:rPr sz="750" b="0">
                          <a:solidFill>
                            <a:srgbClr val="1A1A1A"/>
                          </a:solidFill>
                        </a:rPr>
                        <a:t>31.6x</a:t>
                      </a:r>
                    </a:p>
                  </a:txBody>
                  <a:tcPr>
                    <a:solidFill>
                      <a:srgbClr val="F5F7FA"/>
                    </a:solidFill>
                  </a:tcPr>
                </a:tc>
                <a:tc>
                  <a:txBody>
                    <a:bodyPr/>
                    <a:lstStyle/>
                    <a:p>
                      <a:pPr algn="ctr"/>
                      <a:r>
                        <a:rPr sz="750" b="0">
                          <a:solidFill>
                            <a:srgbClr val="1A1A1A"/>
                          </a:solidFill>
                        </a:rPr>
                        <a:t>4.7 %</a:t>
                      </a:r>
                    </a:p>
                  </a:txBody>
                  <a:tcPr>
                    <a:solidFill>
                      <a:srgbClr val="F5F7FA"/>
                    </a:solidFill>
                  </a:tcPr>
                </a:tc>
                <a:tc>
                  <a:txBody>
                    <a:bodyPr/>
                    <a:lstStyle/>
                    <a:p>
                      <a:pPr algn="ctr"/>
                      <a:r>
                        <a:rPr sz="750" b="0">
                          <a:solidFill>
                            <a:srgbClr val="1A1A1A"/>
                          </a:solidFill>
                        </a:rPr>
                        <a:t>+9.2 %</a:t>
                      </a:r>
                    </a:p>
                  </a:txBody>
                  <a:tcPr>
                    <a:solidFill>
                      <a:srgbClr val="F5F7FA"/>
                    </a:solidFill>
                  </a:tcPr>
                </a:tc>
                <a:tc>
                  <a:txBody>
                    <a:bodyPr/>
                    <a:lstStyle/>
                    <a:p>
                      <a:pPr algn="ctr"/>
                      <a:r>
                        <a:rPr sz="750" b="0">
                          <a:solidFill>
                            <a:srgbClr val="1A1A1A"/>
                          </a:solidFill>
                        </a:rPr>
                        <a:t>+5.0 %</a:t>
                      </a:r>
                    </a:p>
                  </a:txBody>
                  <a:tcPr>
                    <a:solidFill>
                      <a:srgbClr val="F5F7FA"/>
                    </a:solidFill>
                  </a:tcPr>
                </a:tc>
              </a:tr>
            </a:tbl>
          </a:graphicData>
        </a:graphic>
      </p:graphicFrame>
      <p:sp>
        <p:nvSpPr>
          <p:cNvPr id="16" name="Rectangle 15"/>
          <p:cNvSpPr/>
          <p:nvPr/>
        </p:nvSpPr>
        <p:spPr>
          <a:xfrm>
            <a:off x="324000" y="3348000"/>
            <a:ext cx="8496000" cy="144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348000"/>
            <a:ext cx="36000" cy="14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01999"/>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636000"/>
            <a:ext cx="8280000" cy="1080000"/>
          </a:xfrm>
          <a:prstGeom prst="rect">
            <a:avLst/>
          </a:prstGeom>
          <a:noFill/>
        </p:spPr>
        <p:txBody>
          <a:bodyPr wrap="square">
            <a:spAutoFit/>
          </a:bodyPr>
          <a:lstStyle/>
          <a:p>
            <a:pPr algn="l"/>
            <a:r>
              <a:rPr sz="850" b="0" i="0">
                <a:solidFill>
                  <a:srgbClr val="555555"/>
                </a:solidFill>
              </a:rPr>
              <a:t>Le secteur Consumer Defensive presente 2 BUY / 6 HOLD / 0 SELL sur 8 valeurs analysées. Philip Morris Internat (score 71/100) constitue le coeur offensif recommande — fondamentaux solides et visibilite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Chaque point = une societe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KO domine le quadrant Premium Justifie — valorisation élevée (22.1x) soutenue par 61.6 % de marge brute.
GIS se positionne en zone Opportunite — EV/EBITDA de 9.8x sous la médiane sectorielle de 17.4x.
La médiane sectorielle ressort a 17.4x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PM</a:t>
                      </a:r>
                    </a:p>
                  </a:txBody>
                  <a:tcPr>
                    <a:noFill/>
                  </a:tcPr>
                </a:tc>
                <a:tc>
                  <a:txBody>
                    <a:bodyPr/>
                    <a:lstStyle/>
                    <a:p>
                      <a:pPr algn="ctr"/>
                      <a:r>
                        <a:rPr sz="750" b="0">
                          <a:solidFill>
                            <a:srgbClr val="1A1A1A"/>
                          </a:solidFill>
                        </a:rPr>
                        <a:t>Philip Morris Inte</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18</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KO</a:t>
                      </a:r>
                    </a:p>
                  </a:txBody>
                  <a:tcPr>
                    <a:solidFill>
                      <a:srgbClr val="F5F7FA"/>
                    </a:solidFill>
                  </a:tcPr>
                </a:tc>
                <a:tc>
                  <a:txBody>
                    <a:bodyPr/>
                    <a:lstStyle/>
                    <a:p>
                      <a:pPr algn="ctr"/>
                      <a:r>
                        <a:rPr sz="750" b="0">
                          <a:solidFill>
                            <a:srgbClr val="1A1A1A"/>
                          </a:solidFill>
                        </a:rPr>
                        <a:t>The Coca-Cola Comp</a:t>
                      </a:r>
                    </a:p>
                  </a:txBody>
                  <a:tcPr>
                    <a:solidFill>
                      <a:srgbClr val="F5F7FA"/>
                    </a:solidFill>
                  </a:tcPr>
                </a:tc>
                <a:tc>
                  <a:txBody>
                    <a:bodyPr/>
                    <a:lstStyle/>
                    <a:p>
                      <a:pPr algn="ctr"/>
                      <a:r>
                        <a:rPr sz="750" b="0">
                          <a:solidFill>
                            <a:srgbClr val="1A1A1A"/>
                          </a:solidFill>
                        </a:rPr>
                        <a:t>65/100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14</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PG</a:t>
                      </a:r>
                    </a:p>
                  </a:txBody>
                  <a:tcPr>
                    <a:noFill/>
                  </a:tcPr>
                </a:tc>
                <a:tc>
                  <a:txBody>
                    <a:bodyPr/>
                    <a:lstStyle/>
                    <a:p>
                      <a:pPr algn="ctr"/>
                      <a:r>
                        <a:rPr sz="750" b="0">
                          <a:solidFill>
                            <a:srgbClr val="1A1A1A"/>
                          </a:solidFill>
                        </a:rPr>
                        <a:t>The Procter &amp; Gamb</a:t>
                      </a:r>
                    </a:p>
                  </a:txBody>
                  <a:tcPr>
                    <a:noFill/>
                  </a:tcPr>
                </a:tc>
                <a:tc>
                  <a:txBody>
                    <a:bodyPr/>
                    <a:lstStyle/>
                    <a:p>
                      <a:pPr algn="ctr"/>
                      <a:r>
                        <a:rPr sz="750" b="0">
                          <a:solidFill>
                            <a:srgbClr val="1A1A1A"/>
                          </a:solidFill>
                        </a:rPr>
                        <a:t>63/100</a:t>
                      </a:r>
                    </a:p>
                  </a:txBody>
                  <a:tcPr>
                    <a:noFill/>
                  </a:tcPr>
                </a:tc>
                <a:tc>
                  <a:txBody>
                    <a:bodyPr/>
                    <a:lstStyle/>
                    <a:p>
                      <a:pPr algn="ctr"/>
                      <a:r>
                        <a:rPr sz="750" b="0">
                          <a:solidFill>
                            <a:srgbClr val="1A1A1A"/>
                          </a:solidFill>
                        </a:rPr>
                        <a:t>14</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10</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PEP</a:t>
                      </a:r>
                    </a:p>
                  </a:txBody>
                  <a:tcPr>
                    <a:solidFill>
                      <a:srgbClr val="F5F7FA"/>
                    </a:solidFill>
                  </a:tcPr>
                </a:tc>
                <a:tc>
                  <a:txBody>
                    <a:bodyPr/>
                    <a:lstStyle/>
                    <a:p>
                      <a:pPr algn="ctr"/>
                      <a:r>
                        <a:rPr sz="750" b="0">
                          <a:solidFill>
                            <a:srgbClr val="1A1A1A"/>
                          </a:solidFill>
                        </a:rPr>
                        <a:t>PepsiCo, Inc.</a:t>
                      </a:r>
                    </a:p>
                  </a:txBody>
                  <a:tcPr>
                    <a:solidFill>
                      <a:srgbClr val="F5F7FA"/>
                    </a:solidFill>
                  </a:tcPr>
                </a:tc>
                <a:tc>
                  <a:txBody>
                    <a:bodyPr/>
                    <a:lstStyle/>
                    <a:p>
                      <a:pPr algn="ctr"/>
                      <a:r>
                        <a:rPr sz="750" b="0">
                          <a:solidFill>
                            <a:srgbClr val="1A1A1A"/>
                          </a:solidFill>
                        </a:rPr>
                        <a:t>59/100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MDLZ</a:t>
                      </a:r>
                    </a:p>
                  </a:txBody>
                  <a:tcPr>
                    <a:noFill/>
                  </a:tcPr>
                </a:tc>
                <a:tc>
                  <a:txBody>
                    <a:bodyPr/>
                    <a:lstStyle/>
                    <a:p>
                      <a:pPr algn="ctr"/>
                      <a:r>
                        <a:rPr sz="750" b="0">
                          <a:solidFill>
                            <a:srgbClr val="1A1A1A"/>
                          </a:solidFill>
                        </a:rPr>
                        <a:t>Mondelez Internati</a:t>
                      </a:r>
                    </a:p>
                  </a:txBody>
                  <a:tcPr>
                    <a:noFill/>
                  </a:tcPr>
                </a:tc>
                <a:tc>
                  <a:txBody>
                    <a:bodyPr/>
                    <a:lstStyle/>
                    <a:p>
                      <a:pPr algn="ctr"/>
                      <a:r>
                        <a:rPr sz="750" b="0">
                          <a:solidFill>
                            <a:srgbClr val="1A1A1A"/>
                          </a:solidFill>
                        </a:rPr>
                        <a:t>56/100</a:t>
                      </a:r>
                    </a:p>
                  </a:txBody>
                  <a:tcPr>
                    <a:noFill/>
                  </a:tcPr>
                </a:tc>
                <a:tc>
                  <a:txBody>
                    <a:bodyPr/>
                    <a:lstStyle/>
                    <a:p>
                      <a:pPr algn="ctr"/>
                      <a:r>
                        <a:rPr sz="750" b="0">
                          <a:solidFill>
                            <a:srgbClr val="1A1A1A"/>
                          </a:solidFill>
                        </a:rPr>
                        <a:t>9</a:t>
                      </a:r>
                    </a:p>
                  </a:txBody>
                  <a:tcPr>
                    <a:noFill/>
                  </a:tcPr>
                </a:tc>
                <a:tc>
                  <a:txBody>
                    <a:bodyPr/>
                    <a:lstStyle/>
                    <a:p>
                      <a:pPr algn="ctr"/>
                      <a:r>
                        <a:rPr sz="750" b="0">
                          <a:solidFill>
                            <a:srgbClr val="1A1A1A"/>
                          </a:solidFill>
                        </a:rPr>
                        <a:t>21</a:t>
                      </a:r>
                    </a:p>
                  </a:txBody>
                  <a:tcPr>
                    <a:noFill/>
                  </a:tcPr>
                </a:tc>
                <a:tc>
                  <a:txBody>
                    <a:bodyPr/>
                    <a:lstStyle/>
                    <a:p>
                      <a:pPr algn="ctr"/>
                      <a:r>
                        <a:rPr sz="750" b="0">
                          <a:solidFill>
                            <a:srgbClr val="1A1A1A"/>
                          </a:solidFill>
                        </a:rPr>
                        <a:t>15</a:t>
                      </a:r>
                    </a:p>
                  </a:txBody>
                  <a:tcPr>
                    <a:noFill/>
                  </a:tcPr>
                </a:tc>
                <a:tc>
                  <a:txBody>
                    <a:bodyPr/>
                    <a:lstStyle/>
                    <a:p>
                      <a:pPr algn="ctr"/>
                      <a:r>
                        <a:rPr sz="750" b="0">
                          <a:solidFill>
                            <a:srgbClr val="1A1A1A"/>
                          </a:solidFill>
                        </a:rPr>
                        <a:t>10</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WMT</a:t>
                      </a:r>
                    </a:p>
                  </a:txBody>
                  <a:tcPr>
                    <a:solidFill>
                      <a:srgbClr val="F5F7FA"/>
                    </a:solidFill>
                  </a:tcPr>
                </a:tc>
                <a:tc>
                  <a:txBody>
                    <a:bodyPr/>
                    <a:lstStyle/>
                    <a:p>
                      <a:pPr algn="ctr"/>
                      <a:r>
                        <a:rPr sz="750" b="0">
                          <a:solidFill>
                            <a:srgbClr val="1A1A1A"/>
                          </a:solidFill>
                        </a:rPr>
                        <a:t>Walmart Inc.</a:t>
                      </a:r>
                    </a:p>
                  </a:txBody>
                  <a:tcPr>
                    <a:solidFill>
                      <a:srgbClr val="F5F7FA"/>
                    </a:solidFill>
                  </a:tcPr>
                </a:tc>
                <a:tc>
                  <a:txBody>
                    <a:bodyPr/>
                    <a:lstStyle/>
                    <a:p>
                      <a:pPr algn="ctr"/>
                      <a:r>
                        <a:rPr sz="750" b="0">
                          <a:solidFill>
                            <a:srgbClr val="1A1A1A"/>
                          </a:solidFill>
                        </a:rPr>
                        <a:t>50/100</a:t>
                      </a:r>
                    </a:p>
                  </a:txBody>
                  <a:tcPr>
                    <a:solidFill>
                      <a:srgbClr val="F5F7FA"/>
                    </a:solidFill>
                  </a:tcPr>
                </a:tc>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GIS</a:t>
                      </a:r>
                    </a:p>
                  </a:txBody>
                  <a:tcPr>
                    <a:noFill/>
                  </a:tcPr>
                </a:tc>
                <a:tc>
                  <a:txBody>
                    <a:bodyPr/>
                    <a:lstStyle/>
                    <a:p>
                      <a:pPr algn="ctr"/>
                      <a:r>
                        <a:rPr sz="750" b="0">
                          <a:solidFill>
                            <a:srgbClr val="1A1A1A"/>
                          </a:solidFill>
                        </a:rPr>
                        <a:t>General Mills, Inc</a:t>
                      </a:r>
                    </a:p>
                  </a:txBody>
                  <a:tcPr>
                    <a:noFill/>
                  </a:tcPr>
                </a:tc>
                <a:tc>
                  <a:txBody>
                    <a:bodyPr/>
                    <a:lstStyle/>
                    <a:p>
                      <a:pPr algn="ctr"/>
                      <a:r>
                        <a:rPr sz="750" b="0">
                          <a:solidFill>
                            <a:srgbClr val="1A1A1A"/>
                          </a:solidFill>
                        </a:rPr>
                        <a:t>50/100</a:t>
                      </a:r>
                    </a:p>
                  </a:txBody>
                  <a:tcPr>
                    <a:noFill/>
                  </a:tcPr>
                </a:tc>
                <a:tc>
                  <a:txBody>
                    <a:bodyPr/>
                    <a:lstStyle/>
                    <a:p>
                      <a:pPr algn="ctr"/>
                      <a:r>
                        <a:rPr sz="750" b="0">
                          <a:solidFill>
                            <a:srgbClr val="1A1A1A"/>
                          </a:solidFill>
                        </a:rPr>
                        <a:t>20</a:t>
                      </a:r>
                    </a:p>
                  </a:txBody>
                  <a:tcPr>
                    <a:noFill/>
                  </a:tcPr>
                </a:tc>
                <a:tc>
                  <a:txBody>
                    <a:bodyPr/>
                    <a:lstStyle/>
                    <a:p>
                      <a:pPr algn="ctr"/>
                      <a:r>
                        <a:rPr sz="750" b="0">
                          <a:solidFill>
                            <a:srgbClr val="1A1A1A"/>
                          </a:solidFill>
                        </a:rPr>
                        <a:t>3</a:t>
                      </a:r>
                    </a:p>
                  </a:txBody>
                  <a:tcPr>
                    <a:noFill/>
                  </a:tcPr>
                </a:tc>
                <a:tc>
                  <a:txBody>
                    <a:bodyPr/>
                    <a:lstStyle/>
                    <a:p>
                      <a:pPr algn="ctr"/>
                      <a:r>
                        <a:rPr sz="750" b="0">
                          <a:solidFill>
                            <a:srgbClr val="1A1A1A"/>
                          </a:solidFill>
                        </a:rPr>
                        <a:t>19</a:t>
                      </a:r>
                    </a:p>
                  </a:txBody>
                  <a:tcPr>
                    <a:noFill/>
                  </a:tcPr>
                </a:tc>
                <a:tc>
                  <a:txBody>
                    <a:bodyPr/>
                    <a:lstStyle/>
                    <a:p>
                      <a:pPr algn="ctr"/>
                      <a:r>
                        <a:rPr sz="750" b="0">
                          <a:solidFill>
                            <a:srgbClr val="1A1A1A"/>
                          </a:solidFill>
                        </a:rPr>
                        <a:t>6</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COST</a:t>
                      </a:r>
                    </a:p>
                  </a:txBody>
                  <a:tcPr>
                    <a:solidFill>
                      <a:srgbClr val="F5F7FA"/>
                    </a:solidFill>
                  </a:tcPr>
                </a:tc>
                <a:tc>
                  <a:txBody>
                    <a:bodyPr/>
                    <a:lstStyle/>
                    <a:p>
                      <a:pPr algn="ctr"/>
                      <a:r>
                        <a:rPr sz="750" b="0">
                          <a:solidFill>
                            <a:srgbClr val="1A1A1A"/>
                          </a:solidFill>
                        </a:rPr>
                        <a:t>Costco Wholesale C</a:t>
                      </a:r>
                    </a:p>
                  </a:txBody>
                  <a:tcPr>
                    <a:solidFill>
                      <a:srgbClr val="F5F7FA"/>
                    </a:solidFill>
                  </a:tcPr>
                </a:tc>
                <a:tc>
                  <a:txBody>
                    <a:bodyPr/>
                    <a:lstStyle/>
                    <a:p>
                      <a:pPr algn="ctr"/>
                      <a:r>
                        <a:rPr sz="750" b="0">
                          <a:solidFill>
                            <a:srgbClr val="1A1A1A"/>
                          </a:solidFill>
                        </a:rPr>
                        <a:t>46/100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21</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HOLD</a:t>
                      </a:r>
                    </a:p>
                  </a:txBody>
                  <a:tcPr>
                    <a:solidFill>
                      <a:srgbClr val="F5F7FA"/>
                    </a:solidFill>
                  </a:tcPr>
                </a:tc>
              </a:tr>
            </a:tbl>
          </a:graphicData>
        </a:graphic>
      </p:graphicFrame>
      <p:sp>
        <p:nvSpPr>
          <p:cNvPr id="16" name="Rectangle 15"/>
          <p:cNvSpPr/>
          <p:nvPr/>
        </p:nvSpPr>
        <p:spPr>
          <a:xfrm>
            <a:off x="324000" y="3456000"/>
            <a:ext cx="8496000"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3474000"/>
            <a:ext cx="8352000" cy="216000"/>
          </a:xfrm>
          <a:prstGeom prst="rect">
            <a:avLst/>
          </a:prstGeom>
          <a:noFill/>
        </p:spPr>
        <p:txBody>
          <a:bodyPr wrap="square">
            <a:spAutoFit/>
          </a:bodyPr>
          <a:lstStyle/>
          <a:p>
            <a:pPr algn="l"/>
            <a:r>
              <a:rPr sz="750" b="0" i="0">
                <a:solidFill>
                  <a:srgbClr val="FFFFFF"/>
                </a:solidFill>
              </a:rPr>
              <a:t>LECTURE : Score &gt;= 75 = fort  ·  50-74 = moyen  ·  &lt; 50 = faible  ·  Ponderaion : Value 25 % · Growth 25 % · Quality 25 % · Momentum 25 %</a:t>
            </a:r>
          </a:p>
        </p:txBody>
      </p:sp>
      <p:sp>
        <p:nvSpPr>
          <p:cNvPr id="18" name="Rectangle 17"/>
          <p:cNvSpPr/>
          <p:nvPr/>
        </p:nvSpPr>
        <p:spPr>
          <a:xfrm>
            <a:off x="324000" y="3744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74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3761999"/>
            <a:ext cx="8316000" cy="216000"/>
          </a:xfrm>
          <a:prstGeom prst="rect">
            <a:avLst/>
          </a:prstGeom>
          <a:noFill/>
        </p:spPr>
        <p:txBody>
          <a:bodyPr wrap="square">
            <a:spAutoFit/>
          </a:bodyPr>
          <a:lstStyle/>
          <a:p>
            <a:pPr algn="l"/>
            <a:r>
              <a:rPr sz="850" b="1" i="0">
                <a:solidFill>
                  <a:srgbClr val="FFFFFF"/>
                </a:solidFill>
              </a:rPr>
              <a:t>SYNTHESE SCORES</a:t>
            </a:r>
          </a:p>
        </p:txBody>
      </p:sp>
      <p:sp>
        <p:nvSpPr>
          <p:cNvPr id="21" name="TextBox 20"/>
          <p:cNvSpPr txBox="1"/>
          <p:nvPr/>
        </p:nvSpPr>
        <p:spPr>
          <a:xfrm>
            <a:off x="396000" y="4031999"/>
            <a:ext cx="8352000" cy="684000"/>
          </a:xfrm>
          <a:prstGeom prst="rect">
            <a:avLst/>
          </a:prstGeom>
          <a:noFill/>
        </p:spPr>
        <p:txBody>
          <a:bodyPr wrap="square">
            <a:spAutoFit/>
          </a:bodyPr>
          <a:lstStyle/>
          <a:p>
            <a:pPr algn="l"/>
            <a:r>
              <a:rPr sz="850" b="0" i="0">
                <a:solidFill>
                  <a:srgbClr val="555555"/>
                </a:solidFill>
              </a:rPr>
              <a:t>Philip Morris Internat presente le profil le plus equilibre du secteur (71/100) avec des scores Value=13, Growth=18, Quality=25, Momentum=13. La dispersion des scores entre les 8 sociétés reflete des profils hétérogènes — une allocation selective privilegiant les leaders qualitatifs est recommandee dans la configuration sectorielle actuelle.</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PM</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Philip Morris Intern</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198</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16.0x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46.1 %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2.5</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Capacité a répercuter l'inflation des intrants — les leaders de marque maintiennent des marges brutes &gt; 40 %.</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Pression des distributeurs (Leclerc, Lidl) sur les prix fournisseurs — erosion des marges lors des négociations.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KO</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The Coca-Cola Compan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91</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22.1x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33.5 %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2.5</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Croissance de la classe moyenne en Afrique et Asie du Sud-Est — expansion a double chiffre.</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Reduction des stocks en distribution — impact sur volumes T1-T2 2026.</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PG</a:t>
            </a:r>
          </a:p>
        </p:txBody>
      </p:sp>
      <p:sp>
        <p:nvSpPr>
          <p:cNvPr id="72" name="Rectangle 71"/>
          <p:cNvSpPr/>
          <p:nvPr/>
        </p:nvSpPr>
        <p:spPr>
          <a:xfrm>
            <a:off x="7992000" y="972000"/>
            <a:ext cx="792000" cy="25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HOLD</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The Procter &amp; Gamble</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155</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+8 %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14.4x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29.0 %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2.5</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Premiumisation et bio — capture de valeur additionnelle sur les segments porteurs.</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Parts de marche des marques distributeurs en hausse de 2-3 pts — pression structurelle.</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(17.4x)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3 acteur(s) se detachent nettement du reste du secteur, creant une prime de valorisation significative vs la médiane de 17.4x.
3 societe(s) se traitent sous la médiane — potentiellement les meilleures asymetries risque/rendement sous reserve de catalyseurs fondamentaux.
La dispersion des multiples est caracteristique d'un secteur Consumer Defensive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negatif + sentiment negatif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definie par la convergence de 3 signaux : décote &gt; 10 % vs DCF Base · momentum 52W negatif · sentiment FinBERT negatif.</a:t>
            </a:r>
          </a:p>
        </p:txBody>
      </p:sp>
      <p:graphicFrame>
        <p:nvGraphicFramePr>
          <p:cNvPr id="18" name="Table 17"/>
          <p:cNvGraphicFramePr>
            <a:graphicFrameLocks noGrp="1"/>
          </p:cNvGraphicFramePr>
          <p:nvPr/>
        </p:nvGraphicFramePr>
        <p:xfrm>
          <a:off x="324000" y="1260000"/>
          <a:ext cx="8495997" cy="18144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201600">
                <a:tc>
                  <a:txBody>
                    <a:bodyPr/>
                    <a:lstStyle/>
                    <a:p>
                      <a:pPr algn="ctr"/>
                      <a:r>
                        <a:rPr sz="750" b="0">
                          <a:solidFill>
                            <a:srgbClr val="1A1A1A"/>
                          </a:solidFill>
                        </a:rPr>
                        <a:t>PM</a:t>
                      </a:r>
                    </a:p>
                  </a:txBody>
                  <a:tcPr>
                    <a:noFill/>
                  </a:tcPr>
                </a:tc>
                <a:tc>
                  <a:txBody>
                    <a:bodyPr/>
                    <a:lstStyle/>
                    <a:p>
                      <a:pPr algn="ctr"/>
                      <a:r>
                        <a:rPr sz="750" b="0">
                          <a:solidFill>
                            <a:srgbClr val="1A1A1A"/>
                          </a:solidFill>
                        </a:rPr>
                        <a:t>Philip Morris In</a:t>
                      </a:r>
                    </a:p>
                  </a:txBody>
                  <a:tcPr>
                    <a:noFill/>
                  </a:tcPr>
                </a:tc>
                <a:tc>
                  <a:txBody>
                    <a:bodyPr/>
                    <a:lstStyle/>
                    <a:p>
                      <a:pPr algn="ctr"/>
                      <a:r>
                        <a:rPr sz="750" b="0">
                          <a:solidFill>
                            <a:srgbClr val="1A1A1A"/>
                          </a:solidFill>
                        </a:rPr>
                        <a:t>164.74</a:t>
                      </a:r>
                    </a:p>
                  </a:txBody>
                  <a:tcPr>
                    <a:noFill/>
                  </a:tcPr>
                </a:tc>
                <a:tc>
                  <a:txBody>
                    <a:bodyPr/>
                    <a:lstStyle/>
                    <a:p>
                      <a:pPr algn="ctr"/>
                      <a:r>
                        <a:rPr sz="750" b="0">
                          <a:solidFill>
                            <a:srgbClr val="1A1A1A"/>
                          </a:solidFill>
                        </a:rPr>
                        <a:t>189.5</a:t>
                      </a:r>
                    </a:p>
                  </a:txBody>
                  <a:tcPr>
                    <a:noFill/>
                  </a:tcPr>
                </a:tc>
                <a:tc>
                  <a:txBody>
                    <a:bodyPr/>
                    <a:lstStyle/>
                    <a:p>
                      <a:pPr algn="ctr"/>
                      <a:r>
                        <a:rPr sz="750" b="0">
                          <a:solidFill>
                            <a:srgbClr val="1A1A1A"/>
                          </a:solidFill>
                        </a:rPr>
                        <a:t>&lt; 156.5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201600">
                <a:tc>
                  <a:txBody>
                    <a:bodyPr/>
                    <a:lstStyle/>
                    <a:p>
                      <a:pPr algn="ctr"/>
                      <a:r>
                        <a:rPr sz="750" b="0">
                          <a:solidFill>
                            <a:srgbClr val="1A1A1A"/>
                          </a:solidFill>
                        </a:rPr>
                        <a:t>KO</a:t>
                      </a:r>
                    </a:p>
                  </a:txBody>
                  <a:tcPr>
                    <a:solidFill>
                      <a:srgbClr val="F5F7FA"/>
                    </a:solidFill>
                  </a:tcPr>
                </a:tc>
                <a:tc>
                  <a:txBody>
                    <a:bodyPr/>
                    <a:lstStyle/>
                    <a:p>
                      <a:pPr algn="ctr"/>
                      <a:r>
                        <a:rPr sz="750" b="0">
                          <a:solidFill>
                            <a:srgbClr val="1A1A1A"/>
                          </a:solidFill>
                        </a:rPr>
                        <a:t>The Coca-Cola Co</a:t>
                      </a:r>
                    </a:p>
                  </a:txBody>
                  <a:tcPr>
                    <a:solidFill>
                      <a:srgbClr val="F5F7FA"/>
                    </a:solidFill>
                  </a:tcPr>
                </a:tc>
                <a:tc>
                  <a:txBody>
                    <a:bodyPr/>
                    <a:lstStyle/>
                    <a:p>
                      <a:pPr algn="ctr"/>
                      <a:r>
                        <a:rPr sz="750" b="0">
                          <a:solidFill>
                            <a:srgbClr val="1A1A1A"/>
                          </a:solidFill>
                        </a:rPr>
                        <a:t>75.915</a:t>
                      </a:r>
                    </a:p>
                  </a:txBody>
                  <a:tcPr>
                    <a:solidFill>
                      <a:srgbClr val="F5F7FA"/>
                    </a:solidFill>
                  </a:tcPr>
                </a:tc>
                <a:tc>
                  <a:txBody>
                    <a:bodyPr/>
                    <a:lstStyle/>
                    <a:p>
                      <a:pPr algn="ctr"/>
                      <a:r>
                        <a:rPr sz="750" b="0">
                          <a:solidFill>
                            <a:srgbClr val="1A1A1A"/>
                          </a:solidFill>
                        </a:rPr>
                        <a:t>87.3</a:t>
                      </a:r>
                    </a:p>
                  </a:txBody>
                  <a:tcPr>
                    <a:solidFill>
                      <a:srgbClr val="F5F7FA"/>
                    </a:solidFill>
                  </a:tcPr>
                </a:tc>
                <a:tc>
                  <a:txBody>
                    <a:bodyPr/>
                    <a:lstStyle/>
                    <a:p>
                      <a:pPr algn="ctr"/>
                      <a:r>
                        <a:rPr sz="750" b="0">
                          <a:solidFill>
                            <a:srgbClr val="1A1A1A"/>
                          </a:solidFill>
                        </a:rPr>
                        <a:t>&lt; 72.1</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201600">
                <a:tc>
                  <a:txBody>
                    <a:bodyPr/>
                    <a:lstStyle/>
                    <a:p>
                      <a:pPr algn="ctr"/>
                      <a:r>
                        <a:rPr sz="750" b="0">
                          <a:solidFill>
                            <a:srgbClr val="1A1A1A"/>
                          </a:solidFill>
                        </a:rPr>
                        <a:t>PG</a:t>
                      </a:r>
                    </a:p>
                  </a:txBody>
                  <a:tcPr>
                    <a:noFill/>
                  </a:tcPr>
                </a:tc>
                <a:tc>
                  <a:txBody>
                    <a:bodyPr/>
                    <a:lstStyle/>
                    <a:p>
                      <a:pPr algn="ctr"/>
                      <a:r>
                        <a:rPr sz="750" b="0">
                          <a:solidFill>
                            <a:srgbClr val="1A1A1A"/>
                          </a:solidFill>
                        </a:rPr>
                        <a:t>The Procter &amp; Ga</a:t>
                      </a:r>
                    </a:p>
                  </a:txBody>
                  <a:tcPr>
                    <a:noFill/>
                  </a:tcPr>
                </a:tc>
                <a:tc>
                  <a:txBody>
                    <a:bodyPr/>
                    <a:lstStyle/>
                    <a:p>
                      <a:pPr algn="ctr"/>
                      <a:r>
                        <a:rPr sz="750" b="0">
                          <a:solidFill>
                            <a:srgbClr val="1A1A1A"/>
                          </a:solidFill>
                        </a:rPr>
                        <a:t>143.7</a:t>
                      </a:r>
                    </a:p>
                  </a:txBody>
                  <a:tcPr>
                    <a:noFill/>
                  </a:tcPr>
                </a:tc>
                <a:tc>
                  <a:txBody>
                    <a:bodyPr/>
                    <a:lstStyle/>
                    <a:p>
                      <a:pPr algn="ctr"/>
                      <a:r>
                        <a:rPr sz="750" b="0">
                          <a:solidFill>
                            <a:srgbClr val="1A1A1A"/>
                          </a:solidFill>
                        </a:rPr>
                        <a:t>165.3</a:t>
                      </a:r>
                    </a:p>
                  </a:txBody>
                  <a:tcPr>
                    <a:noFill/>
                  </a:tcPr>
                </a:tc>
                <a:tc>
                  <a:txBody>
                    <a:bodyPr/>
                    <a:lstStyle/>
                    <a:p>
                      <a:pPr algn="ctr"/>
                      <a:r>
                        <a:rPr sz="750" b="0">
                          <a:solidFill>
                            <a:srgbClr val="1A1A1A"/>
                          </a:solidFill>
                        </a:rPr>
                        <a:t>&lt; 136.5</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201600">
                <a:tc>
                  <a:txBody>
                    <a:bodyPr/>
                    <a:lstStyle/>
                    <a:p>
                      <a:pPr algn="ctr"/>
                      <a:r>
                        <a:rPr sz="750" b="0">
                          <a:solidFill>
                            <a:srgbClr val="1A1A1A"/>
                          </a:solidFill>
                        </a:rPr>
                        <a:t>PEP</a:t>
                      </a:r>
                    </a:p>
                  </a:txBody>
                  <a:tcPr>
                    <a:solidFill>
                      <a:srgbClr val="F5F7FA"/>
                    </a:solidFill>
                  </a:tcPr>
                </a:tc>
                <a:tc>
                  <a:txBody>
                    <a:bodyPr/>
                    <a:lstStyle/>
                    <a:p>
                      <a:pPr algn="ctr"/>
                      <a:r>
                        <a:rPr sz="750" b="0">
                          <a:solidFill>
                            <a:srgbClr val="1A1A1A"/>
                          </a:solidFill>
                        </a:rPr>
                        <a:t>PepsiCo, Inc.</a:t>
                      </a:r>
                    </a:p>
                  </a:txBody>
                  <a:tcPr>
                    <a:solidFill>
                      <a:srgbClr val="F5F7FA"/>
                    </a:solidFill>
                  </a:tcPr>
                </a:tc>
                <a:tc>
                  <a:txBody>
                    <a:bodyPr/>
                    <a:lstStyle/>
                    <a:p>
                      <a:pPr algn="ctr"/>
                      <a:r>
                        <a:rPr sz="750" b="0">
                          <a:solidFill>
                            <a:srgbClr val="1A1A1A"/>
                          </a:solidFill>
                        </a:rPr>
                        <a:t>153.33</a:t>
                      </a:r>
                    </a:p>
                  </a:txBody>
                  <a:tcPr>
                    <a:solidFill>
                      <a:srgbClr val="F5F7FA"/>
                    </a:solidFill>
                  </a:tcPr>
                </a:tc>
                <a:tc>
                  <a:txBody>
                    <a:bodyPr/>
                    <a:lstStyle/>
                    <a:p>
                      <a:pPr algn="ctr"/>
                      <a:r>
                        <a:rPr sz="750" b="0">
                          <a:solidFill>
                            <a:srgbClr val="1A1A1A"/>
                          </a:solidFill>
                        </a:rPr>
                        <a:t>176.3</a:t>
                      </a:r>
                    </a:p>
                  </a:txBody>
                  <a:tcPr>
                    <a:solidFill>
                      <a:srgbClr val="F5F7FA"/>
                    </a:solidFill>
                  </a:tcPr>
                </a:tc>
                <a:tc>
                  <a:txBody>
                    <a:bodyPr/>
                    <a:lstStyle/>
                    <a:p>
                      <a:pPr algn="ctr"/>
                      <a:r>
                        <a:rPr sz="750" b="0">
                          <a:solidFill>
                            <a:srgbClr val="1A1A1A"/>
                          </a:solidFill>
                        </a:rPr>
                        <a:t>&lt; 145.7</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201600">
                <a:tc>
                  <a:txBody>
                    <a:bodyPr/>
                    <a:lstStyle/>
                    <a:p>
                      <a:pPr algn="ctr"/>
                      <a:r>
                        <a:rPr sz="750" b="0">
                          <a:solidFill>
                            <a:srgbClr val="1A1A1A"/>
                          </a:solidFill>
                        </a:rPr>
                        <a:t>MDLZ</a:t>
                      </a:r>
                    </a:p>
                  </a:txBody>
                  <a:tcPr>
                    <a:noFill/>
                  </a:tcPr>
                </a:tc>
                <a:tc>
                  <a:txBody>
                    <a:bodyPr/>
                    <a:lstStyle/>
                    <a:p>
                      <a:pPr algn="ctr"/>
                      <a:r>
                        <a:rPr sz="750" b="0">
                          <a:solidFill>
                            <a:srgbClr val="1A1A1A"/>
                          </a:solidFill>
                        </a:rPr>
                        <a:t>Mondelez Interna</a:t>
                      </a:r>
                    </a:p>
                  </a:txBody>
                  <a:tcPr>
                    <a:noFill/>
                  </a:tcPr>
                </a:tc>
                <a:tc>
                  <a:txBody>
                    <a:bodyPr/>
                    <a:lstStyle/>
                    <a:p>
                      <a:pPr algn="ctr"/>
                      <a:r>
                        <a:rPr sz="750" b="0">
                          <a:solidFill>
                            <a:srgbClr val="1A1A1A"/>
                          </a:solidFill>
                        </a:rPr>
                        <a:t>58.37</a:t>
                      </a:r>
                    </a:p>
                  </a:txBody>
                  <a:tcPr>
                    <a:noFill/>
                  </a:tcPr>
                </a:tc>
                <a:tc>
                  <a:txBody>
                    <a:bodyPr/>
                    <a:lstStyle/>
                    <a:p>
                      <a:pPr algn="ctr"/>
                      <a:r>
                        <a:rPr sz="750" b="0">
                          <a:solidFill>
                            <a:srgbClr val="1A1A1A"/>
                          </a:solidFill>
                        </a:rPr>
                        <a:t>67.1</a:t>
                      </a:r>
                    </a:p>
                  </a:txBody>
                  <a:tcPr>
                    <a:noFill/>
                  </a:tcPr>
                </a:tc>
                <a:tc>
                  <a:txBody>
                    <a:bodyPr/>
                    <a:lstStyle/>
                    <a:p>
                      <a:pPr algn="ctr"/>
                      <a:r>
                        <a:rPr sz="750" b="0">
                          <a:solidFill>
                            <a:srgbClr val="1A1A1A"/>
                          </a:solidFill>
                        </a:rPr>
                        <a:t>&lt; 55.5</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201600">
                <a:tc>
                  <a:txBody>
                    <a:bodyPr/>
                    <a:lstStyle/>
                    <a:p>
                      <a:pPr algn="ctr"/>
                      <a:r>
                        <a:rPr sz="750" b="0">
                          <a:solidFill>
                            <a:srgbClr val="1A1A1A"/>
                          </a:solidFill>
                        </a:rPr>
                        <a:t>WMT</a:t>
                      </a:r>
                    </a:p>
                  </a:txBody>
                  <a:tcPr>
                    <a:solidFill>
                      <a:srgbClr val="F5F7FA"/>
                    </a:solidFill>
                  </a:tcPr>
                </a:tc>
                <a:tc>
                  <a:txBody>
                    <a:bodyPr/>
                    <a:lstStyle/>
                    <a:p>
                      <a:pPr algn="ctr"/>
                      <a:r>
                        <a:rPr sz="750" b="0">
                          <a:solidFill>
                            <a:srgbClr val="1A1A1A"/>
                          </a:solidFill>
                        </a:rPr>
                        <a:t>Walmart Inc.</a:t>
                      </a:r>
                    </a:p>
                  </a:txBody>
                  <a:tcPr>
                    <a:solidFill>
                      <a:srgbClr val="F5F7FA"/>
                    </a:solidFill>
                  </a:tcPr>
                </a:tc>
                <a:tc>
                  <a:txBody>
                    <a:bodyPr/>
                    <a:lstStyle/>
                    <a:p>
                      <a:pPr algn="ctr"/>
                      <a:r>
                        <a:rPr sz="750" b="0">
                          <a:solidFill>
                            <a:srgbClr val="1A1A1A"/>
                          </a:solidFill>
                        </a:rPr>
                        <a:t>123.455</a:t>
                      </a:r>
                    </a:p>
                  </a:txBody>
                  <a:tcPr>
                    <a:solidFill>
                      <a:srgbClr val="F5F7FA"/>
                    </a:solidFill>
                  </a:tcPr>
                </a:tc>
                <a:tc>
                  <a:txBody>
                    <a:bodyPr/>
                    <a:lstStyle/>
                    <a:p>
                      <a:pPr algn="ctr"/>
                      <a:r>
                        <a:rPr sz="750" b="0">
                          <a:solidFill>
                            <a:srgbClr val="1A1A1A"/>
                          </a:solidFill>
                        </a:rPr>
                        <a:t>142.0</a:t>
                      </a:r>
                    </a:p>
                  </a:txBody>
                  <a:tcPr>
                    <a:solidFill>
                      <a:srgbClr val="F5F7FA"/>
                    </a:solidFill>
                  </a:tcPr>
                </a:tc>
                <a:tc>
                  <a:txBody>
                    <a:bodyPr/>
                    <a:lstStyle/>
                    <a:p>
                      <a:pPr algn="ctr"/>
                      <a:r>
                        <a:rPr sz="750" b="0">
                          <a:solidFill>
                            <a:srgbClr val="1A1A1A"/>
                          </a:solidFill>
                        </a:rPr>
                        <a:t>&lt; 117.3</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201600">
                <a:tc>
                  <a:txBody>
                    <a:bodyPr/>
                    <a:lstStyle/>
                    <a:p>
                      <a:pPr algn="ctr"/>
                      <a:r>
                        <a:rPr sz="750" b="0">
                          <a:solidFill>
                            <a:srgbClr val="1A1A1A"/>
                          </a:solidFill>
                        </a:rPr>
                        <a:t>GIS</a:t>
                      </a:r>
                    </a:p>
                  </a:txBody>
                  <a:tcPr>
                    <a:noFill/>
                  </a:tcPr>
                </a:tc>
                <a:tc>
                  <a:txBody>
                    <a:bodyPr/>
                    <a:lstStyle/>
                    <a:p>
                      <a:pPr algn="ctr"/>
                      <a:r>
                        <a:rPr sz="750" b="0">
                          <a:solidFill>
                            <a:srgbClr val="1A1A1A"/>
                          </a:solidFill>
                        </a:rPr>
                        <a:t>General Mills, I</a:t>
                      </a:r>
                    </a:p>
                  </a:txBody>
                  <a:tcPr>
                    <a:noFill/>
                  </a:tcPr>
                </a:tc>
                <a:tc>
                  <a:txBody>
                    <a:bodyPr/>
                    <a:lstStyle/>
                    <a:p>
                      <a:pPr algn="ctr"/>
                      <a:r>
                        <a:rPr sz="750" b="0">
                          <a:solidFill>
                            <a:srgbClr val="1A1A1A"/>
                          </a:solidFill>
                        </a:rPr>
                        <a:t>36.66</a:t>
                      </a:r>
                    </a:p>
                  </a:txBody>
                  <a:tcPr>
                    <a:noFill/>
                  </a:tcPr>
                </a:tc>
                <a:tc>
                  <a:txBody>
                    <a:bodyPr/>
                    <a:lstStyle/>
                    <a:p>
                      <a:pPr algn="ctr"/>
                      <a:r>
                        <a:rPr sz="750" b="0">
                          <a:solidFill>
                            <a:srgbClr val="1A1A1A"/>
                          </a:solidFill>
                        </a:rPr>
                        <a:t>42.2</a:t>
                      </a:r>
                    </a:p>
                  </a:txBody>
                  <a:tcPr>
                    <a:noFill/>
                  </a:tcPr>
                </a:tc>
                <a:tc>
                  <a:txBody>
                    <a:bodyPr/>
                    <a:lstStyle/>
                    <a:p>
                      <a:pPr algn="ctr"/>
                      <a:r>
                        <a:rPr sz="750" b="0">
                          <a:solidFill>
                            <a:srgbClr val="1A1A1A"/>
                          </a:solidFill>
                        </a:rPr>
                        <a:t>&lt; 34.8</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201600">
                <a:tc>
                  <a:txBody>
                    <a:bodyPr/>
                    <a:lstStyle/>
                    <a:p>
                      <a:pPr algn="ctr"/>
                      <a:r>
                        <a:rPr sz="750" b="0">
                          <a:solidFill>
                            <a:srgbClr val="1A1A1A"/>
                          </a:solidFill>
                        </a:rPr>
                        <a:t>COST</a:t>
                      </a:r>
                    </a:p>
                  </a:txBody>
                  <a:tcPr>
                    <a:solidFill>
                      <a:srgbClr val="F5F7FA"/>
                    </a:solidFill>
                  </a:tcPr>
                </a:tc>
                <a:tc>
                  <a:txBody>
                    <a:bodyPr/>
                    <a:lstStyle/>
                    <a:p>
                      <a:pPr algn="ctr"/>
                      <a:r>
                        <a:rPr sz="750" b="0">
                          <a:solidFill>
                            <a:srgbClr val="1A1A1A"/>
                          </a:solidFill>
                        </a:rPr>
                        <a:t>Costco Wholesale</a:t>
                      </a:r>
                    </a:p>
                  </a:txBody>
                  <a:tcPr>
                    <a:solidFill>
                      <a:srgbClr val="F5F7FA"/>
                    </a:solidFill>
                  </a:tcPr>
                </a:tc>
                <a:tc>
                  <a:txBody>
                    <a:bodyPr/>
                    <a:lstStyle/>
                    <a:p>
                      <a:pPr algn="ctr"/>
                      <a:r>
                        <a:rPr sz="750" b="0">
                          <a:solidFill>
                            <a:srgbClr val="1A1A1A"/>
                          </a:solidFill>
                        </a:rPr>
                        <a:t>983.15</a:t>
                      </a:r>
                    </a:p>
                  </a:txBody>
                  <a:tcPr>
                    <a:solidFill>
                      <a:srgbClr val="F5F7FA"/>
                    </a:solidFill>
                  </a:tcPr>
                </a:tc>
                <a:tc>
                  <a:txBody>
                    <a:bodyPr/>
                    <a:lstStyle/>
                    <a:p>
                      <a:pPr algn="ctr"/>
                      <a:r>
                        <a:rPr sz="750" b="0">
                          <a:solidFill>
                            <a:srgbClr val="1A1A1A"/>
                          </a:solidFill>
                        </a:rPr>
                        <a:t>1130.6</a:t>
                      </a:r>
                    </a:p>
                  </a:txBody>
                  <a:tcPr>
                    <a:solidFill>
                      <a:srgbClr val="F5F7FA"/>
                    </a:solidFill>
                  </a:tcPr>
                </a:tc>
                <a:tc>
                  <a:txBody>
                    <a:bodyPr/>
                    <a:lstStyle/>
                    <a:p>
                      <a:pPr algn="ctr"/>
                      <a:r>
                        <a:rPr sz="750" b="0">
                          <a:solidFill>
                            <a:srgbClr val="1A1A1A"/>
                          </a:solidFill>
                        </a:rPr>
                        <a:t>&lt; 934.0</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bl>
          </a:graphicData>
        </a:graphic>
      </p:graphicFrame>
      <p:sp>
        <p:nvSpPr>
          <p:cNvPr id="19" name="Rectangle 18"/>
          <p:cNvSpPr/>
          <p:nvPr/>
        </p:nvSpPr>
        <p:spPr>
          <a:xfrm>
            <a:off x="324000" y="2916000"/>
            <a:ext cx="8496000" cy="1007999"/>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2916000"/>
            <a:ext cx="36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2951999"/>
            <a:ext cx="8316000" cy="216000"/>
          </a:xfrm>
          <a:prstGeom prst="rect">
            <a:avLst/>
          </a:prstGeom>
          <a:noFill/>
        </p:spPr>
        <p:txBody>
          <a:bodyPr wrap="square">
            <a:spAutoFit/>
          </a:bodyPr>
          <a:lstStyle/>
          <a:p>
            <a:pPr algn="l"/>
            <a:r>
              <a:rPr sz="850" b="1" i="0">
                <a:solidFill>
                  <a:srgbClr val="B06000"/>
                </a:solidFill>
              </a:rPr>
              <a:t>NOTE METHODOLOGIQUE</a:t>
            </a:r>
          </a:p>
        </p:txBody>
      </p:sp>
      <p:sp>
        <p:nvSpPr>
          <p:cNvPr id="22" name="TextBox 21"/>
          <p:cNvSpPr txBox="1"/>
          <p:nvPr/>
        </p:nvSpPr>
        <p:spPr>
          <a:xfrm>
            <a:off x="468000" y="3186000"/>
            <a:ext cx="8316000" cy="720000"/>
          </a:xfrm>
          <a:prstGeom prst="rect">
            <a:avLst/>
          </a:prstGeom>
          <a:noFill/>
        </p:spPr>
        <p:txBody>
          <a:bodyPr wrap="square">
            <a:spAutoFit/>
          </a:bodyPr>
          <a:lstStyle/>
          <a:p>
            <a:pPr algn="l"/>
            <a:r>
              <a:rPr sz="800" b="0" i="0">
                <a:solidFill>
                  <a:srgbClr val="555555"/>
                </a:solidFill>
              </a:rPr>
              <a:t>La probabilite de rendement positif a 12 mois est calculee sur des configurations similaires identifiees en backtesting sur données historiques (2010-2024). Elle ne constitue pas une garantie de performance future. Le DCF Base est estime a partir du WACC median sectoriel et d'un taux de croissance terminal cohérent avec les drivers sectoriels.</a:t>
            </a:r>
          </a:p>
        </p:txBody>
      </p:sp>
      <p:sp>
        <p:nvSpPr>
          <p:cNvPr id="23" name="Rectangle 22"/>
          <p:cNvSpPr/>
          <p:nvPr/>
        </p:nvSpPr>
        <p:spPr>
          <a:xfrm>
            <a:off x="32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000" y="4086000"/>
            <a:ext cx="2592000" cy="360000"/>
          </a:xfrm>
          <a:prstGeom prst="rect">
            <a:avLst/>
          </a:prstGeom>
          <a:noFill/>
        </p:spPr>
        <p:txBody>
          <a:bodyPr wrap="square">
            <a:spAutoFit/>
          </a:bodyPr>
          <a:lstStyle/>
          <a:p>
            <a:pPr algn="l"/>
            <a:r>
              <a:rPr sz="2000" b="1" i="0">
                <a:solidFill>
                  <a:srgbClr val="1B3A6B"/>
                </a:solidFill>
              </a:rPr>
              <a:t>68 %</a:t>
            </a:r>
          </a:p>
        </p:txBody>
      </p:sp>
      <p:sp>
        <p:nvSpPr>
          <p:cNvPr id="26" name="TextBox 25"/>
          <p:cNvSpPr txBox="1"/>
          <p:nvPr/>
        </p:nvSpPr>
        <p:spPr>
          <a:xfrm>
            <a:off x="432000" y="4428000"/>
            <a:ext cx="2592000" cy="162000"/>
          </a:xfrm>
          <a:prstGeom prst="rect">
            <a:avLst/>
          </a:prstGeom>
          <a:noFill/>
        </p:spPr>
        <p:txBody>
          <a:bodyPr wrap="square">
            <a:spAutoFit/>
          </a:bodyPr>
          <a:lstStyle/>
          <a:p>
            <a:pPr algn="l"/>
            <a:r>
              <a:rPr sz="750" b="0" i="0">
                <a:solidFill>
                  <a:srgbClr val="555555"/>
                </a:solidFill>
              </a:rPr>
              <a:t>Proba. rendement +</a:t>
            </a:r>
          </a:p>
        </p:txBody>
      </p:sp>
      <p:sp>
        <p:nvSpPr>
          <p:cNvPr id="27" name="TextBox 26"/>
          <p:cNvSpPr txBox="1"/>
          <p:nvPr/>
        </p:nvSpPr>
        <p:spPr>
          <a:xfrm>
            <a:off x="432000" y="4572000"/>
            <a:ext cx="2592000" cy="144000"/>
          </a:xfrm>
          <a:prstGeom prst="rect">
            <a:avLst/>
          </a:prstGeom>
          <a:noFill/>
        </p:spPr>
        <p:txBody>
          <a:bodyPr wrap="square">
            <a:spAutoFit/>
          </a:bodyPr>
          <a:lstStyle/>
          <a:p>
            <a:pPr algn="l"/>
            <a:r>
              <a:rPr sz="700" b="0" i="0">
                <a:solidFill>
                  <a:srgbClr val="AAAAAA"/>
                </a:solidFill>
              </a:rPr>
              <a:t>historique 12 mois</a:t>
            </a:r>
          </a:p>
        </p:txBody>
      </p:sp>
      <p:sp>
        <p:nvSpPr>
          <p:cNvPr id="28" name="Rectangle 27"/>
          <p:cNvSpPr/>
          <p:nvPr/>
        </p:nvSpPr>
        <p:spPr>
          <a:xfrm>
            <a:off x="320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0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2000" y="4086000"/>
            <a:ext cx="2592000" cy="360000"/>
          </a:xfrm>
          <a:prstGeom prst="rect">
            <a:avLst/>
          </a:prstGeom>
          <a:noFill/>
        </p:spPr>
        <p:txBody>
          <a:bodyPr wrap="square">
            <a:spAutoFit/>
          </a:bodyPr>
          <a:lstStyle/>
          <a:p>
            <a:pPr algn="l"/>
            <a:r>
              <a:rPr sz="2000" b="1" i="0">
                <a:solidFill>
                  <a:srgbClr val="1B3A6B"/>
                </a:solidFill>
              </a:rPr>
              <a:t>2 / 8</a:t>
            </a:r>
          </a:p>
        </p:txBody>
      </p:sp>
      <p:sp>
        <p:nvSpPr>
          <p:cNvPr id="31" name="TextBox 30"/>
          <p:cNvSpPr txBox="1"/>
          <p:nvPr/>
        </p:nvSpPr>
        <p:spPr>
          <a:xfrm>
            <a:off x="3312000" y="4428000"/>
            <a:ext cx="2592000" cy="162000"/>
          </a:xfrm>
          <a:prstGeom prst="rect">
            <a:avLst/>
          </a:prstGeom>
          <a:noFill/>
        </p:spPr>
        <p:txBody>
          <a:bodyPr wrap="square">
            <a:spAutoFit/>
          </a:bodyPr>
          <a:lstStyle/>
          <a:p>
            <a:pPr algn="l"/>
            <a:r>
              <a:rPr sz="750" b="0" i="0">
                <a:solidFill>
                  <a:srgbClr val="555555"/>
                </a:solidFill>
              </a:rPr>
              <a:t>Societes en zone</a:t>
            </a:r>
          </a:p>
        </p:txBody>
      </p:sp>
      <p:sp>
        <p:nvSpPr>
          <p:cNvPr id="32" name="TextBox 31"/>
          <p:cNvSpPr txBox="1"/>
          <p:nvPr/>
        </p:nvSpPr>
        <p:spPr>
          <a:xfrm>
            <a:off x="3312000" y="4572000"/>
            <a:ext cx="2592000" cy="144000"/>
          </a:xfrm>
          <a:prstGeom prst="rect">
            <a:avLst/>
          </a:prstGeom>
          <a:noFill/>
        </p:spPr>
        <p:txBody>
          <a:bodyPr wrap="square">
            <a:spAutoFit/>
          </a:bodyPr>
          <a:lstStyle/>
          <a:p>
            <a:pPr algn="l"/>
            <a:r>
              <a:rPr sz="700" b="0" i="0">
                <a:solidFill>
                  <a:srgbClr val="AAAAAA"/>
                </a:solidFill>
              </a:rPr>
              <a:t>recommandation BUY</a:t>
            </a:r>
          </a:p>
        </p:txBody>
      </p:sp>
      <p:sp>
        <p:nvSpPr>
          <p:cNvPr id="33" name="Rectangle 32"/>
          <p:cNvSpPr/>
          <p:nvPr/>
        </p:nvSpPr>
        <p:spPr>
          <a:xfrm>
            <a:off x="6083999"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83999"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4086000"/>
            <a:ext cx="2592000" cy="360000"/>
          </a:xfrm>
          <a:prstGeom prst="rect">
            <a:avLst/>
          </a:prstGeom>
          <a:noFill/>
        </p:spPr>
        <p:txBody>
          <a:bodyPr wrap="square">
            <a:spAutoFit/>
          </a:bodyPr>
          <a:lstStyle/>
          <a:p>
            <a:pPr algn="l"/>
            <a:r>
              <a:rPr sz="2000" b="1" i="0">
                <a:solidFill>
                  <a:srgbClr val="1B3A6B"/>
                </a:solidFill>
              </a:rPr>
              <a:t>-10 %</a:t>
            </a:r>
          </a:p>
        </p:txBody>
      </p:sp>
      <p:sp>
        <p:nvSpPr>
          <p:cNvPr id="36" name="TextBox 35"/>
          <p:cNvSpPr txBox="1"/>
          <p:nvPr/>
        </p:nvSpPr>
        <p:spPr>
          <a:xfrm>
            <a:off x="6192000" y="4428000"/>
            <a:ext cx="2592000" cy="162000"/>
          </a:xfrm>
          <a:prstGeom prst="rect">
            <a:avLst/>
          </a:prstGeom>
          <a:noFill/>
        </p:spPr>
        <p:txBody>
          <a:bodyPr wrap="square">
            <a:spAutoFit/>
          </a:bodyPr>
          <a:lstStyle/>
          <a:p>
            <a:pPr algn="l"/>
            <a:r>
              <a:rPr sz="750" b="0" i="0">
                <a:solidFill>
                  <a:srgbClr val="555555"/>
                </a:solidFill>
              </a:rPr>
              <a:t>Décote DCF min.</a:t>
            </a:r>
          </a:p>
        </p:txBody>
      </p:sp>
      <p:sp>
        <p:nvSpPr>
          <p:cNvPr id="37" name="TextBox 36"/>
          <p:cNvSpPr txBox="1"/>
          <p:nvPr/>
        </p:nvSpPr>
        <p:spPr>
          <a:xfrm>
            <a:off x="6192000" y="4572000"/>
            <a:ext cx="2592000" cy="144000"/>
          </a:xfrm>
          <a:prstGeom prst="rect">
            <a:avLst/>
          </a:prstGeom>
          <a:noFill/>
        </p:spPr>
        <p:txBody>
          <a:bodyPr wrap="square">
            <a:spAutoFit/>
          </a:bodyPr>
          <a:lstStyle/>
          <a:p>
            <a:pPr algn="l"/>
            <a:r>
              <a:rPr sz="700" b="0" i="0">
                <a:solidFill>
                  <a:srgbClr val="AAAAAA"/>
                </a:solidFill>
              </a:rPr>
              <a:t>seuil d'activation</a:t>
            </a:r>
          </a:p>
        </p:txBody>
      </p:sp>
      <p:sp>
        <p:nvSpPr>
          <p:cNvPr id="38" name="Rectangle 3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These contraire  ·  Protocole Avocat du Diable</a:t>
            </a:r>
          </a:p>
        </p:txBody>
      </p:sp>
      <p:sp>
        <p:nvSpPr>
          <p:cNvPr id="15" name="Rectangle 14"/>
          <p:cNvSpPr/>
          <p:nvPr/>
        </p:nvSpPr>
        <p:spPr>
          <a:xfrm>
            <a:off x="324000"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Guerre des Prix</a:t>
            </a:r>
          </a:p>
        </p:txBody>
      </p:sp>
      <p:sp>
        <p:nvSpPr>
          <p:cNvPr id="18" name="TextBox 17"/>
          <p:cNvSpPr txBox="1"/>
          <p:nvPr/>
        </p:nvSpPr>
        <p:spPr>
          <a:xfrm>
            <a:off x="396000" y="1188000"/>
            <a:ext cx="2520000" cy="1620000"/>
          </a:xfrm>
          <a:prstGeom prst="rect">
            <a:avLst/>
          </a:prstGeom>
          <a:noFill/>
        </p:spPr>
        <p:txBody>
          <a:bodyPr wrap="square">
            <a:spAutoFit/>
          </a:bodyPr>
          <a:lstStyle/>
          <a:p>
            <a:pPr algn="l"/>
            <a:r>
              <a:rPr sz="850" b="0" i="0">
                <a:solidFill>
                  <a:srgbClr val="555555"/>
                </a:solidFill>
              </a:rPr>
              <a:t>Pression des distributeurs (Leclerc, Lidl) sur les prix fournisseurs — erosion des marges lors des négociations.</a:t>
            </a:r>
          </a:p>
        </p:txBody>
      </p:sp>
      <p:sp>
        <p:nvSpPr>
          <p:cNvPr id="19" name="Rectangle 18"/>
          <p:cNvSpPr/>
          <p:nvPr/>
        </p:nvSpPr>
        <p:spPr>
          <a:xfrm>
            <a:off x="3240000"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Destockage</a:t>
            </a:r>
          </a:p>
        </p:txBody>
      </p:sp>
      <p:sp>
        <p:nvSpPr>
          <p:cNvPr id="22" name="TextBox 21"/>
          <p:cNvSpPr txBox="1"/>
          <p:nvPr/>
        </p:nvSpPr>
        <p:spPr>
          <a:xfrm>
            <a:off x="3311999" y="1188000"/>
            <a:ext cx="2520000" cy="1620000"/>
          </a:xfrm>
          <a:prstGeom prst="rect">
            <a:avLst/>
          </a:prstGeom>
          <a:noFill/>
        </p:spPr>
        <p:txBody>
          <a:bodyPr wrap="square">
            <a:spAutoFit/>
          </a:bodyPr>
          <a:lstStyle/>
          <a:p>
            <a:pPr algn="l"/>
            <a:r>
              <a:rPr sz="850" b="0" i="0">
                <a:solidFill>
                  <a:srgbClr val="555555"/>
                </a:solidFill>
              </a:rPr>
              <a:t>Reduction des stocks en distribution — impact sur volumes T1-T2 2026.</a:t>
            </a:r>
          </a:p>
        </p:txBody>
      </p:sp>
      <p:sp>
        <p:nvSpPr>
          <p:cNvPr id="23" name="Rectangle 22"/>
          <p:cNvSpPr/>
          <p:nvPr/>
        </p:nvSpPr>
        <p:spPr>
          <a:xfrm>
            <a:off x="6155999"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Substitution MDD</a:t>
            </a:r>
          </a:p>
        </p:txBody>
      </p:sp>
      <p:sp>
        <p:nvSpPr>
          <p:cNvPr id="26" name="TextBox 25"/>
          <p:cNvSpPr txBox="1"/>
          <p:nvPr/>
        </p:nvSpPr>
        <p:spPr>
          <a:xfrm>
            <a:off x="6227999" y="1188000"/>
            <a:ext cx="2520000" cy="1620000"/>
          </a:xfrm>
          <a:prstGeom prst="rect">
            <a:avLst/>
          </a:prstGeom>
          <a:noFill/>
        </p:spPr>
        <p:txBody>
          <a:bodyPr wrap="square">
            <a:spAutoFit/>
          </a:bodyPr>
          <a:lstStyle/>
          <a:p>
            <a:pPr algn="l"/>
            <a:r>
              <a:rPr sz="850" b="0" i="0">
                <a:solidFill>
                  <a:srgbClr val="555555"/>
                </a:solidFill>
              </a:rPr>
              <a:t>Parts de marche des marques distributeurs en hausse de 2-3 pts — pression structurelle.</a:t>
            </a:r>
          </a:p>
        </p:txBody>
      </p:sp>
      <p:sp>
        <p:nvSpPr>
          <p:cNvPr id="27" name="TextBox 26"/>
          <p:cNvSpPr txBox="1"/>
          <p:nvPr/>
        </p:nvSpPr>
        <p:spPr>
          <a:xfrm>
            <a:off x="324000" y="2951999"/>
            <a:ext cx="8496000" cy="216000"/>
          </a:xfrm>
          <a:prstGeom prst="rect">
            <a:avLst/>
          </a:prstGeom>
          <a:noFill/>
        </p:spPr>
        <p:txBody>
          <a:bodyPr wrap="square">
            <a:spAutoFit/>
          </a:bodyPr>
          <a:lstStyle/>
          <a:p>
            <a:pPr algn="l"/>
            <a:r>
              <a:rPr sz="900" b="1" i="0">
                <a:solidFill>
                  <a:srgbClr val="1B3A6B"/>
                </a:solidFill>
              </a:rPr>
              <a:t>Conditions d'invalidation de la these</a:t>
            </a:r>
          </a:p>
        </p:txBody>
      </p:sp>
      <p:graphicFrame>
        <p:nvGraphicFramePr>
          <p:cNvPr id="28" name="Table 27"/>
          <p:cNvGraphicFramePr>
            <a:graphicFrameLocks noGrp="1"/>
          </p:cNvGraphicFramePr>
          <p:nvPr/>
        </p:nvGraphicFramePr>
        <p:xfrm>
          <a:off x="324000" y="3204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profonde &gt; 3 trimestres</a:t>
                      </a:r>
                    </a:p>
                  </a:txBody>
                  <a:tcPr>
                    <a:noFill/>
                  </a:tcPr>
                </a:tc>
                <a:tc>
                  <a:txBody>
                    <a:bodyPr/>
                    <a:lstStyle/>
                    <a:p>
                      <a:pPr algn="ctr"/>
                      <a:r>
                        <a:rPr sz="800" b="0">
                          <a:solidFill>
                            <a:srgbClr val="1A1A1A"/>
                          </a:solidFill>
                        </a:rPr>
                        <a:t>9-12 mois</a:t>
                      </a:r>
                    </a:p>
                  </a:txBody>
                  <a:tcPr>
                    <a:noFill/>
                  </a:tcPr>
                </a:tc>
              </a:tr>
              <a:tr h="223200">
                <a:tc>
                  <a:txBody>
                    <a:bodyPr/>
                    <a:lstStyle/>
                    <a:p>
                      <a:pPr algn="ctr"/>
                      <a:r>
                        <a:rPr sz="800" b="0">
                          <a:solidFill>
                            <a:srgbClr val="1A1A1A"/>
                          </a:solidFill>
                        </a:rPr>
                        <a:t>Distribution</a:t>
                      </a:r>
                    </a:p>
                  </a:txBody>
                  <a:tcPr>
                    <a:solidFill>
                      <a:srgbClr val="F5F7FA"/>
                    </a:solidFill>
                  </a:tcPr>
                </a:tc>
                <a:tc>
                  <a:txBody>
                    <a:bodyPr/>
                    <a:lstStyle/>
                    <a:p>
                      <a:pPr algn="ctr"/>
                      <a:r>
                        <a:rPr sz="800" b="0">
                          <a:solidFill>
                            <a:srgbClr val="1A1A1A"/>
                          </a:solidFill>
                        </a:rPr>
                        <a:t>Perte &gt; 15 % référencements top 3</a:t>
                      </a:r>
                    </a:p>
                  </a:txBody>
                  <a:tcPr>
                    <a:solidFill>
                      <a:srgbClr val="F5F7FA"/>
                    </a:solidFill>
                  </a:tcPr>
                </a:tc>
                <a:tc>
                  <a:txBody>
                    <a:bodyPr/>
                    <a:lstStyle/>
                    <a:p>
                      <a:pPr algn="ctr"/>
                      <a:r>
                        <a:rPr sz="800" b="0">
                          <a:solidFill>
                            <a:srgbClr val="1A1A1A"/>
                          </a:solidFill>
                        </a:rPr>
                        <a:t>6-9 mois</a:t>
                      </a:r>
                    </a:p>
                  </a:txBody>
                  <a:tcPr>
                    <a:solidFill>
                      <a:srgbClr val="F5F7FA"/>
                    </a:solidFill>
                  </a:tcPr>
                </a:tc>
              </a:tr>
              <a:tr h="223200">
                <a:tc>
                  <a:txBody>
                    <a:bodyPr/>
                    <a:lstStyle/>
                    <a:p>
                      <a:pPr algn="ctr"/>
                      <a:r>
                        <a:rPr sz="800" b="0">
                          <a:solidFill>
                            <a:srgbClr val="1A1A1A"/>
                          </a:solidFill>
                        </a:rPr>
                        <a:t>MDD</a:t>
                      </a:r>
                    </a:p>
                  </a:txBody>
                  <a:tcPr>
                    <a:noFill/>
                  </a:tcPr>
                </a:tc>
                <a:tc>
                  <a:txBody>
                    <a:bodyPr/>
                    <a:lstStyle/>
                    <a:p>
                      <a:pPr algn="ctr"/>
                      <a:r>
                        <a:rPr sz="800" b="0">
                          <a:solidFill>
                            <a:srgbClr val="1A1A1A"/>
                          </a:solidFill>
                        </a:rPr>
                        <a:t>Part MDD &gt; 45 % en valeur</a:t>
                      </a:r>
                    </a:p>
                  </a:txBody>
                  <a:tcPr>
                    <a:noFill/>
                  </a:tcPr>
                </a:tc>
                <a:tc>
                  <a:txBody>
                    <a:bodyPr/>
                    <a:lstStyle/>
                    <a:p>
                      <a:pPr algn="ctr"/>
                      <a:r>
                        <a:rPr sz="800" b="0">
                          <a:solidFill>
                            <a:srgbClr val="1A1A1A"/>
                          </a:solidFill>
                        </a:rPr>
                        <a:t>12-18 mois</a:t>
                      </a:r>
                    </a:p>
                  </a:txBody>
                  <a:tcPr>
                    <a:noFill/>
                  </a:tcPr>
                </a:tc>
              </a:tr>
              <a:tr h="223200">
                <a:tc>
                  <a:txBody>
                    <a:bodyPr/>
                    <a:lstStyle/>
                    <a:p>
                      <a:pPr algn="ctr"/>
                      <a:r>
                        <a:rPr sz="800" b="0">
                          <a:solidFill>
                            <a:srgbClr val="1A1A1A"/>
                          </a:solidFill>
                        </a:rPr>
                        <a:t>Réglementaire</a:t>
                      </a:r>
                    </a:p>
                  </a:txBody>
                  <a:tcPr>
                    <a:solidFill>
                      <a:srgbClr val="F5F7FA"/>
                    </a:solidFill>
                  </a:tcPr>
                </a:tc>
                <a:tc>
                  <a:txBody>
                    <a:bodyPr/>
                    <a:lstStyle/>
                    <a:p>
                      <a:pPr algn="ctr"/>
                      <a:r>
                        <a:rPr sz="800" b="0">
                          <a:solidFill>
                            <a:srgbClr val="1A1A1A"/>
                          </a:solidFill>
                        </a:rPr>
                        <a:t>Taxe nutritionnelle majeure</a:t>
                      </a:r>
                    </a:p>
                  </a:txBody>
                  <a:tcPr>
                    <a:solidFill>
                      <a:srgbClr val="F5F7FA"/>
                    </a:solidFill>
                  </a:tcPr>
                </a:tc>
                <a:tc>
                  <a:txBody>
                    <a:bodyPr/>
                    <a:lstStyle/>
                    <a:p>
                      <a:pPr algn="ctr"/>
                      <a:r>
                        <a:rPr sz="800" b="0">
                          <a:solidFill>
                            <a:srgbClr val="1A1A1A"/>
                          </a:solidFill>
                        </a:rPr>
                        <a:t>12-24 mois</a:t>
                      </a:r>
                    </a:p>
                  </a:txBody>
                  <a:tcPr>
                    <a:solidFill>
                      <a:srgbClr val="F5F7FA"/>
                    </a:solidFill>
                  </a:tcPr>
                </a:tc>
              </a:tr>
            </a:tbl>
          </a:graphicData>
        </a:graphic>
      </p:graphicFrame>
      <p:sp>
        <p:nvSpPr>
          <p:cNvPr id="29" name="Rectangle 2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Marche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semantique FinBERT  ·  Articles recents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Negatif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Themes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Pricing Power — Capacité a répercuter l'inflation des intrants — les leaders de marque maintiennent des marges brutes &gt; 40 %.</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Guerre des Prix — Pression des distributeurs (Leclerc, Lidl) sur les prix fournisseurs — erosion des marges lors des négociations.</a:t>
            </a:r>
          </a:p>
        </p:txBody>
      </p:sp>
      <p:sp>
        <p:nvSpPr>
          <p:cNvPr id="36" name="Rectangle 35"/>
          <p:cNvSpPr/>
          <p:nvPr/>
        </p:nvSpPr>
        <p:spPr>
          <a:xfrm>
            <a:off x="324000" y="2664000"/>
            <a:ext cx="8496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827999"/>
          </a:xfrm>
          <a:prstGeom prst="rect">
            <a:avLst/>
          </a:prstGeom>
          <a:noFill/>
        </p:spPr>
        <p:txBody>
          <a:bodyPr wrap="square">
            <a:spAutoFit/>
          </a:bodyPr>
          <a:lstStyle/>
          <a:p>
            <a:pPr algn="l"/>
            <a:r>
              <a:rPr sz="850" b="0" i="0">
                <a:solidFill>
                  <a:srgbClr val="555555"/>
                </a:solidFill>
              </a:rPr>
              <a:t>Le sentiment agrégé sur le secteur Consumer Defensive S&amp;P 500 ressort neutre (0.00). La dispersion est forte — les leaders sectoriels tirent le sentiment vers le haut tandis que les valeurs en restructuration drainent la composante negative. Cette hétérogénéité valide une approche selective plut que directionelle sur le secteur.</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collectees</a:t>
                      </a:r>
                    </a:p>
                  </a:txBody>
                  <a:tcPr>
                    <a:solidFill>
                      <a:srgbClr val="1B3A6B"/>
                    </a:solidFill>
                  </a:tcPr>
                </a:tc>
                <a:tc>
                  <a:txBody>
                    <a:bodyPr/>
                    <a:lstStyle/>
                    <a:p>
                      <a:pPr algn="ctr"/>
                      <a:r>
                        <a:rPr sz="800" b="1">
                          <a:solidFill>
                            <a:srgbClr val="FFFFFF"/>
                          </a:solidFill>
                        </a:rPr>
                        <a:t>Frequence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etats financiers LTM</a:t>
                      </a:r>
                    </a:p>
                  </a:txBody>
                  <a:tcPr>
                    <a:noFill/>
                  </a:tcPr>
                </a:tc>
                <a:tc>
                  <a:txBody>
                    <a:bodyPr/>
                    <a:lstStyle/>
                    <a:p>
                      <a:pPr algn="ctr"/>
                      <a:r>
                        <a:rPr sz="750" b="0">
                          <a:solidFill>
                            <a:srgbClr val="1A1A1A"/>
                          </a:solidFill>
                        </a:rPr>
                        <a:t>Temps reel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calcules, scoring multifactoriel</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These contraire, conviction delta</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coherence, flags erreur</a:t>
                      </a:r>
                    </a:p>
                  </a:txBody>
                  <a:tcPr>
                    <a:solidFill>
                      <a:srgbClr val="F5F7FA"/>
                    </a:solidFill>
                  </a:tcPr>
                </a:tc>
                <a:tc>
                  <a:txBody>
                    <a:bodyPr/>
                    <a:lstStyle/>
                    <a:p>
                      <a:pPr algn="ctr"/>
                      <a:r>
                        <a:rPr sz="750" b="0">
                          <a:solidFill>
                            <a:srgbClr val="1A1A1A"/>
                          </a:solidFill>
                        </a:rPr>
                        <a:t>Systematique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financieres historiques sont issues de sources publiques et peuvent presenter des delais ou inexactitudes. Les previsions sont basees sur le consensus et les modèles internes FinSight IA — elles ne constituent pas des engagements. La méthodologie de scoring est soumise a des biais inherents a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genere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400000" cy="3671999"/>
          </a:xfrm>
          <a:prstGeom prst="rect">
            <a:avLst/>
          </a:prstGeom>
        </p:spPr>
      </p:pic>
      <p:sp>
        <p:nvSpPr>
          <p:cNvPr id="16" name="Rectangle 15"/>
          <p:cNvSpPr/>
          <p:nvPr/>
        </p:nvSpPr>
        <p:spPr>
          <a:xfrm>
            <a:off x="5903999" y="827999"/>
            <a:ext cx="2916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 SOCIETES</a:t>
            </a:r>
          </a:p>
        </p:txBody>
      </p:sp>
      <p:sp>
        <p:nvSpPr>
          <p:cNvPr id="19" name="Rectangle 18"/>
          <p:cNvSpPr/>
          <p:nvPr/>
        </p:nvSpPr>
        <p:spPr>
          <a:xfrm>
            <a:off x="5940000" y="1177200"/>
            <a:ext cx="180000" cy="10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80000"/>
          </a:xfrm>
          <a:prstGeom prst="rect">
            <a:avLst/>
          </a:prstGeom>
          <a:noFill/>
        </p:spPr>
        <p:txBody>
          <a:bodyPr wrap="square">
            <a:spAutoFit/>
          </a:bodyPr>
          <a:lstStyle/>
          <a:p>
            <a:pPr algn="l"/>
            <a:r>
              <a:rPr sz="750" b="1" i="0">
                <a:solidFill>
                  <a:srgbClr val="1B3A6B"/>
                </a:solidFill>
              </a:rPr>
              <a:t>WMT  —  Walmart Inc.</a:t>
            </a:r>
          </a:p>
        </p:txBody>
      </p:sp>
      <p:sp>
        <p:nvSpPr>
          <p:cNvPr id="21" name="TextBox 20"/>
          <p:cNvSpPr txBox="1"/>
          <p:nvPr/>
        </p:nvSpPr>
        <p:spPr>
          <a:xfrm>
            <a:off x="6192000" y="1314000"/>
            <a:ext cx="2556000" cy="162000"/>
          </a:xfrm>
          <a:prstGeom prst="rect">
            <a:avLst/>
          </a:prstGeom>
          <a:noFill/>
        </p:spPr>
        <p:txBody>
          <a:bodyPr wrap="square">
            <a:spAutoFit/>
          </a:bodyPr>
          <a:lstStyle/>
          <a:p>
            <a:pPr algn="l"/>
            <a:r>
              <a:rPr sz="700" b="0" i="0">
                <a:solidFill>
                  <a:srgbClr val="555555"/>
                </a:solidFill>
              </a:rPr>
              <a:t>Score 50/100  ·  HOLD</a:t>
            </a:r>
          </a:p>
        </p:txBody>
      </p:sp>
      <p:sp>
        <p:nvSpPr>
          <p:cNvPr id="22" name="Rectangle 21"/>
          <p:cNvSpPr/>
          <p:nvPr/>
        </p:nvSpPr>
        <p:spPr>
          <a:xfrm>
            <a:off x="5940000" y="1507950"/>
            <a:ext cx="180000" cy="10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464749"/>
            <a:ext cx="2556000" cy="180000"/>
          </a:xfrm>
          <a:prstGeom prst="rect">
            <a:avLst/>
          </a:prstGeom>
          <a:noFill/>
        </p:spPr>
        <p:txBody>
          <a:bodyPr wrap="square">
            <a:spAutoFit/>
          </a:bodyPr>
          <a:lstStyle/>
          <a:p>
            <a:pPr algn="l"/>
            <a:r>
              <a:rPr sz="750" b="1" i="0">
                <a:solidFill>
                  <a:srgbClr val="1B3A6B"/>
                </a:solidFill>
              </a:rPr>
              <a:t>COST  —  Costco Wholesale Corporation</a:t>
            </a:r>
          </a:p>
        </p:txBody>
      </p:sp>
      <p:sp>
        <p:nvSpPr>
          <p:cNvPr id="24" name="TextBox 23"/>
          <p:cNvSpPr txBox="1"/>
          <p:nvPr/>
        </p:nvSpPr>
        <p:spPr>
          <a:xfrm>
            <a:off x="6192000" y="1644749"/>
            <a:ext cx="2556000" cy="162000"/>
          </a:xfrm>
          <a:prstGeom prst="rect">
            <a:avLst/>
          </a:prstGeom>
          <a:noFill/>
        </p:spPr>
        <p:txBody>
          <a:bodyPr wrap="square">
            <a:spAutoFit/>
          </a:bodyPr>
          <a:lstStyle/>
          <a:p>
            <a:pPr algn="l"/>
            <a:r>
              <a:rPr sz="700" b="0" i="0">
                <a:solidFill>
                  <a:srgbClr val="555555"/>
                </a:solidFill>
              </a:rPr>
              <a:t>Score 46/100  ·  SELL</a:t>
            </a:r>
          </a:p>
        </p:txBody>
      </p:sp>
      <p:sp>
        <p:nvSpPr>
          <p:cNvPr id="25" name="Rectangle 24"/>
          <p:cNvSpPr/>
          <p:nvPr/>
        </p:nvSpPr>
        <p:spPr>
          <a:xfrm>
            <a:off x="5940000" y="1838700"/>
            <a:ext cx="180000" cy="10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795500"/>
            <a:ext cx="2556000" cy="180000"/>
          </a:xfrm>
          <a:prstGeom prst="rect">
            <a:avLst/>
          </a:prstGeom>
          <a:noFill/>
        </p:spPr>
        <p:txBody>
          <a:bodyPr wrap="square">
            <a:spAutoFit/>
          </a:bodyPr>
          <a:lstStyle/>
          <a:p>
            <a:pPr algn="l"/>
            <a:r>
              <a:rPr sz="750" b="1" i="0">
                <a:solidFill>
                  <a:srgbClr val="1B3A6B"/>
                </a:solidFill>
              </a:rPr>
              <a:t>PG  —  The Procter &amp; Gamble Company</a:t>
            </a:r>
          </a:p>
        </p:txBody>
      </p:sp>
      <p:sp>
        <p:nvSpPr>
          <p:cNvPr id="27" name="TextBox 26"/>
          <p:cNvSpPr txBox="1"/>
          <p:nvPr/>
        </p:nvSpPr>
        <p:spPr>
          <a:xfrm>
            <a:off x="6192000" y="1975500"/>
            <a:ext cx="2556000" cy="162000"/>
          </a:xfrm>
          <a:prstGeom prst="rect">
            <a:avLst/>
          </a:prstGeom>
          <a:noFill/>
        </p:spPr>
        <p:txBody>
          <a:bodyPr wrap="square">
            <a:spAutoFit/>
          </a:bodyPr>
          <a:lstStyle/>
          <a:p>
            <a:pPr algn="l"/>
            <a:r>
              <a:rPr sz="700" b="0" i="0">
                <a:solidFill>
                  <a:srgbClr val="555555"/>
                </a:solidFill>
              </a:rPr>
              <a:t>Score 63/100  ·  HOLD</a:t>
            </a:r>
          </a:p>
        </p:txBody>
      </p:sp>
      <p:sp>
        <p:nvSpPr>
          <p:cNvPr id="28" name="Rectangle 27"/>
          <p:cNvSpPr/>
          <p:nvPr/>
        </p:nvSpPr>
        <p:spPr>
          <a:xfrm>
            <a:off x="5940000" y="2169450"/>
            <a:ext cx="180000" cy="10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126250"/>
            <a:ext cx="2556000" cy="180000"/>
          </a:xfrm>
          <a:prstGeom prst="rect">
            <a:avLst/>
          </a:prstGeom>
          <a:noFill/>
        </p:spPr>
        <p:txBody>
          <a:bodyPr wrap="square">
            <a:spAutoFit/>
          </a:bodyPr>
          <a:lstStyle/>
          <a:p>
            <a:pPr algn="l"/>
            <a:r>
              <a:rPr sz="750" b="1" i="0">
                <a:solidFill>
                  <a:srgbClr val="1B3A6B"/>
                </a:solidFill>
              </a:rPr>
              <a:t>KO  —  The Coca-Cola Company</a:t>
            </a:r>
          </a:p>
        </p:txBody>
      </p:sp>
      <p:sp>
        <p:nvSpPr>
          <p:cNvPr id="30" name="TextBox 29"/>
          <p:cNvSpPr txBox="1"/>
          <p:nvPr/>
        </p:nvSpPr>
        <p:spPr>
          <a:xfrm>
            <a:off x="6192000" y="2306250"/>
            <a:ext cx="2556000" cy="162000"/>
          </a:xfrm>
          <a:prstGeom prst="rect">
            <a:avLst/>
          </a:prstGeom>
          <a:noFill/>
        </p:spPr>
        <p:txBody>
          <a:bodyPr wrap="square">
            <a:spAutoFit/>
          </a:bodyPr>
          <a:lstStyle/>
          <a:p>
            <a:pPr algn="l"/>
            <a:r>
              <a:rPr sz="700" b="0" i="0">
                <a:solidFill>
                  <a:srgbClr val="555555"/>
                </a:solidFill>
              </a:rPr>
              <a:t>Score 65/100  ·  HOLD</a:t>
            </a:r>
          </a:p>
        </p:txBody>
      </p:sp>
      <p:sp>
        <p:nvSpPr>
          <p:cNvPr id="31" name="Rectangle 30"/>
          <p:cNvSpPr/>
          <p:nvPr/>
        </p:nvSpPr>
        <p:spPr>
          <a:xfrm>
            <a:off x="5940000" y="2500200"/>
            <a:ext cx="180000" cy="10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456999"/>
            <a:ext cx="2556000" cy="180000"/>
          </a:xfrm>
          <a:prstGeom prst="rect">
            <a:avLst/>
          </a:prstGeom>
          <a:noFill/>
        </p:spPr>
        <p:txBody>
          <a:bodyPr wrap="square">
            <a:spAutoFit/>
          </a:bodyPr>
          <a:lstStyle/>
          <a:p>
            <a:pPr algn="l"/>
            <a:r>
              <a:rPr sz="750" b="1" i="0">
                <a:solidFill>
                  <a:srgbClr val="1B3A6B"/>
                </a:solidFill>
              </a:rPr>
              <a:t>PM  —  Philip Morris International </a:t>
            </a:r>
          </a:p>
        </p:txBody>
      </p:sp>
      <p:sp>
        <p:nvSpPr>
          <p:cNvPr id="33" name="TextBox 32"/>
          <p:cNvSpPr txBox="1"/>
          <p:nvPr/>
        </p:nvSpPr>
        <p:spPr>
          <a:xfrm>
            <a:off x="6192000" y="2636999"/>
            <a:ext cx="2556000" cy="162000"/>
          </a:xfrm>
          <a:prstGeom prst="rect">
            <a:avLst/>
          </a:prstGeom>
          <a:noFill/>
        </p:spPr>
        <p:txBody>
          <a:bodyPr wrap="square">
            <a:spAutoFit/>
          </a:bodyPr>
          <a:lstStyle/>
          <a:p>
            <a:pPr algn="l"/>
            <a:r>
              <a:rPr sz="700" b="0" i="0">
                <a:solidFill>
                  <a:srgbClr val="555555"/>
                </a:solidFill>
              </a:rPr>
              <a:t>Score 71/100  ·  BUY</a:t>
            </a:r>
          </a:p>
        </p:txBody>
      </p:sp>
      <p:sp>
        <p:nvSpPr>
          <p:cNvPr id="34" name="Rectangle 33"/>
          <p:cNvSpPr/>
          <p:nvPr/>
        </p:nvSpPr>
        <p:spPr>
          <a:xfrm>
            <a:off x="5940000" y="2830950"/>
            <a:ext cx="180000" cy="108000"/>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2787750"/>
            <a:ext cx="2556000" cy="180000"/>
          </a:xfrm>
          <a:prstGeom prst="rect">
            <a:avLst/>
          </a:prstGeom>
          <a:noFill/>
        </p:spPr>
        <p:txBody>
          <a:bodyPr wrap="square">
            <a:spAutoFit/>
          </a:bodyPr>
          <a:lstStyle/>
          <a:p>
            <a:pPr algn="l"/>
            <a:r>
              <a:rPr sz="750" b="1" i="0">
                <a:solidFill>
                  <a:srgbClr val="1B3A6B"/>
                </a:solidFill>
              </a:rPr>
              <a:t>PEP  —  PepsiCo, Inc.</a:t>
            </a:r>
          </a:p>
        </p:txBody>
      </p:sp>
      <p:sp>
        <p:nvSpPr>
          <p:cNvPr id="36" name="TextBox 35"/>
          <p:cNvSpPr txBox="1"/>
          <p:nvPr/>
        </p:nvSpPr>
        <p:spPr>
          <a:xfrm>
            <a:off x="6192000" y="2967750"/>
            <a:ext cx="2556000" cy="162000"/>
          </a:xfrm>
          <a:prstGeom prst="rect">
            <a:avLst/>
          </a:prstGeom>
          <a:noFill/>
        </p:spPr>
        <p:txBody>
          <a:bodyPr wrap="square">
            <a:spAutoFit/>
          </a:bodyPr>
          <a:lstStyle/>
          <a:p>
            <a:pPr algn="l"/>
            <a:r>
              <a:rPr sz="700" b="0" i="0">
                <a:solidFill>
                  <a:srgbClr val="555555"/>
                </a:solidFill>
              </a:rPr>
              <a:t>Score 59/100  ·  HOLD</a:t>
            </a:r>
          </a:p>
        </p:txBody>
      </p:sp>
      <p:sp>
        <p:nvSpPr>
          <p:cNvPr id="37" name="Rectangle 36"/>
          <p:cNvSpPr/>
          <p:nvPr/>
        </p:nvSpPr>
        <p:spPr>
          <a:xfrm>
            <a:off x="5940000" y="3161699"/>
            <a:ext cx="180000" cy="108000"/>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118500"/>
            <a:ext cx="2556000" cy="180000"/>
          </a:xfrm>
          <a:prstGeom prst="rect">
            <a:avLst/>
          </a:prstGeom>
          <a:noFill/>
        </p:spPr>
        <p:txBody>
          <a:bodyPr wrap="square">
            <a:spAutoFit/>
          </a:bodyPr>
          <a:lstStyle/>
          <a:p>
            <a:pPr algn="l"/>
            <a:r>
              <a:rPr sz="750" b="1" i="0">
                <a:solidFill>
                  <a:srgbClr val="1B3A6B"/>
                </a:solidFill>
              </a:rPr>
              <a:t>MDLZ  —  Mondelez International, Inc.</a:t>
            </a:r>
          </a:p>
        </p:txBody>
      </p:sp>
      <p:sp>
        <p:nvSpPr>
          <p:cNvPr id="39" name="TextBox 38"/>
          <p:cNvSpPr txBox="1"/>
          <p:nvPr/>
        </p:nvSpPr>
        <p:spPr>
          <a:xfrm>
            <a:off x="6192000" y="3298500"/>
            <a:ext cx="2556000" cy="162000"/>
          </a:xfrm>
          <a:prstGeom prst="rect">
            <a:avLst/>
          </a:prstGeom>
          <a:noFill/>
        </p:spPr>
        <p:txBody>
          <a:bodyPr wrap="square">
            <a:spAutoFit/>
          </a:bodyPr>
          <a:lstStyle/>
          <a:p>
            <a:pPr algn="l"/>
            <a:r>
              <a:rPr sz="700" b="0" i="0">
                <a:solidFill>
                  <a:srgbClr val="555555"/>
                </a:solidFill>
              </a:rPr>
              <a:t>Score 56/100  ·  HOLD</a:t>
            </a:r>
          </a:p>
        </p:txBody>
      </p:sp>
      <p:sp>
        <p:nvSpPr>
          <p:cNvPr id="40" name="Rectangle 39"/>
          <p:cNvSpPr/>
          <p:nvPr/>
        </p:nvSpPr>
        <p:spPr>
          <a:xfrm>
            <a:off x="5940000" y="3492449"/>
            <a:ext cx="180000" cy="108000"/>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3449249"/>
            <a:ext cx="2556000" cy="180000"/>
          </a:xfrm>
          <a:prstGeom prst="rect">
            <a:avLst/>
          </a:prstGeom>
          <a:noFill/>
        </p:spPr>
        <p:txBody>
          <a:bodyPr wrap="square">
            <a:spAutoFit/>
          </a:bodyPr>
          <a:lstStyle/>
          <a:p>
            <a:pPr algn="l"/>
            <a:r>
              <a:rPr sz="750" b="1" i="0">
                <a:solidFill>
                  <a:srgbClr val="1B3A6B"/>
                </a:solidFill>
              </a:rPr>
              <a:t>GIS  —  General Mills, Inc.</a:t>
            </a:r>
          </a:p>
        </p:txBody>
      </p:sp>
      <p:sp>
        <p:nvSpPr>
          <p:cNvPr id="42" name="TextBox 41"/>
          <p:cNvSpPr txBox="1"/>
          <p:nvPr/>
        </p:nvSpPr>
        <p:spPr>
          <a:xfrm>
            <a:off x="6192000" y="3629249"/>
            <a:ext cx="2556000" cy="162000"/>
          </a:xfrm>
          <a:prstGeom prst="rect">
            <a:avLst/>
          </a:prstGeom>
          <a:noFill/>
        </p:spPr>
        <p:txBody>
          <a:bodyPr wrap="square">
            <a:spAutoFit/>
          </a:bodyPr>
          <a:lstStyle/>
          <a:p>
            <a:pPr algn="l"/>
            <a:r>
              <a:rPr sz="700" b="0" i="0">
                <a:solidFill>
                  <a:srgbClr val="555555"/>
                </a:solidFill>
              </a:rPr>
              <a:t>Score 50/100  ·  HOLD</a:t>
            </a:r>
          </a:p>
        </p:txBody>
      </p:sp>
      <p:sp>
        <p:nvSpPr>
          <p:cNvPr id="43" name="Rectangle 42"/>
          <p:cNvSpPr/>
          <p:nvPr/>
        </p:nvSpPr>
        <p:spPr>
          <a:xfrm>
            <a:off x="5903999" y="378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816000"/>
            <a:ext cx="2808000" cy="180000"/>
          </a:xfrm>
          <a:prstGeom prst="rect">
            <a:avLst/>
          </a:prstGeom>
          <a:noFill/>
        </p:spPr>
        <p:txBody>
          <a:bodyPr wrap="square">
            <a:spAutoFit/>
          </a:bodyPr>
          <a:lstStyle/>
          <a:p>
            <a:pPr algn="l"/>
            <a:r>
              <a:rPr sz="750" b="1" i="0">
                <a:solidFill>
                  <a:srgbClr val="1B3A6B"/>
                </a:solidFill>
              </a:rPr>
              <a:t>LECTURE ANALYTIQUE</a:t>
            </a:r>
          </a:p>
        </p:txBody>
      </p:sp>
      <p:sp>
        <p:nvSpPr>
          <p:cNvPr id="45" name="TextBox 44"/>
          <p:cNvSpPr txBox="1"/>
          <p:nvPr/>
        </p:nvSpPr>
        <p:spPr>
          <a:xfrm>
            <a:off x="5976000" y="4014000"/>
            <a:ext cx="2808000" cy="612000"/>
          </a:xfrm>
          <a:prstGeom prst="rect">
            <a:avLst/>
          </a:prstGeom>
          <a:noFill/>
        </p:spPr>
        <p:txBody>
          <a:bodyPr wrap="square">
            <a:spAutoFit/>
          </a:bodyPr>
          <a:lstStyle/>
          <a:p>
            <a:pPr algn="l"/>
            <a:r>
              <a:rPr sz="700" b="0" i="0">
                <a:solidFill>
                  <a:srgbClr val="555555"/>
                </a:solidFill>
              </a:rPr>
              <a:t>Sur 52 semaines, WMT affiche la meilleure performance (+36%) tandis que GIS est en retard (-36%). La dispersion des trajectoires illustre la bifurcation sectorielle. Le momentum 52W est integre dans le score FinSight comme signal de confirmation.</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