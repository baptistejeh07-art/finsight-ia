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17.4x  ·  Croissance med. : +5.6 %  ·  Marge EBITDA med. : 18.7 %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+5.6 %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18.7 %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+3.8 %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Pricing Power</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Marches Emergents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Innovation Produit</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Philip Morris Intern</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7.4x</a:t>
                      </a:r>
                    </a:p>
                  </a:txBody>
                  <a:tcPr>
                    <a:noFill/>
                  </a:tcPr>
                </a:tc>
                <a:tc>
                  <a:txBody>
                    <a:bodyPr/>
                    <a:lstStyle/>
                    <a:p>
                      <a:pPr algn="ctr"/>
                      <a:r>
                        <a:rPr sz="750" b="0">
                          <a:solidFill>
                            <a:srgbClr val="1A1A1A"/>
                          </a:solidFill>
                        </a:rPr>
                        <a:t>22.6x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0.0 %</a:t>
                      </a:r>
                    </a:p>
                  </a:txBody>
                  <a:tcPr>
                    <a:noFill/>
                  </a:tcPr>
                </a:tc>
              </a:tr>
              <a:tr h="198000">
                <a:tc>
                  <a:txBody>
                    <a:bodyPr/>
                    <a:lstStyle/>
                    <a:p>
                      <a:pPr algn="ctr"/>
                      <a:r>
                        <a:rPr sz="750" b="0">
                          <a:solidFill>
                            <a:srgbClr val="1A1A1A"/>
                          </a:solidFill>
                        </a:rPr>
                        <a:t>The Coca-Cola Compan</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7.4x</a:t>
                      </a:r>
                    </a:p>
                  </a:txBody>
                  <a:tcPr>
                    <a:solidFill>
                      <a:srgbClr val="F5F7FA"/>
                    </a:solidFill>
                  </a:tcPr>
                </a:tc>
                <a:tc>
                  <a:txBody>
                    <a:bodyPr/>
                    <a:lstStyle/>
                    <a:p>
                      <a:pPr algn="ctr"/>
                      <a:r>
                        <a:rPr sz="750" b="0">
                          <a:solidFill>
                            <a:srgbClr val="1A1A1A"/>
                          </a:solidFill>
                        </a:rPr>
                        <a:t>24.9x</a:t>
                      </a:r>
                    </a:p>
                  </a:txBody>
                  <a:tcPr>
                    <a:solidFill>
                      <a:srgbClr val="F5F7FA"/>
                    </a:solidFill>
                  </a:tcPr>
                </a:tc>
                <a:tc>
                  <a:txBody>
                    <a:bodyPr/>
                    <a:lstStyle/>
                    <a:p>
                      <a:pPr algn="ctr"/>
                      <a:r>
                        <a:rPr sz="750" b="0">
                          <a:solidFill>
                            <a:srgbClr val="1A1A1A"/>
                          </a:solidFill>
                        </a:rPr>
                        <a:t>61.6 %</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43.3 %</a:t>
                      </a:r>
                    </a:p>
                  </a:txBody>
                  <a:tcPr>
                    <a:solidFill>
                      <a:srgbClr val="F5F7FA"/>
                    </a:solidFill>
                  </a:tcPr>
                </a:tc>
              </a:tr>
              <a:tr h="198000">
                <a:tc>
                  <a:txBody>
                    <a:bodyPr/>
                    <a:lstStyle/>
                    <a:p>
                      <a:pPr algn="ctr"/>
                      <a:r>
                        <a:rPr sz="750" b="0">
                          <a:solidFill>
                            <a:srgbClr val="1A1A1A"/>
                          </a:solidFill>
                        </a:rPr>
                        <a:t>The Procter &amp; Gamble</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21.2x</a:t>
                      </a:r>
                    </a:p>
                  </a:txBody>
                  <a:tcPr>
                    <a:noFill/>
                  </a:tcPr>
                </a:tc>
                <a:tc>
                  <a:txBody>
                    <a:bodyPr/>
                    <a:lstStyle/>
                    <a:p>
                      <a:pPr algn="ctr"/>
                      <a:r>
                        <a:rPr sz="750" b="0">
                          <a:solidFill>
                            <a:srgbClr val="1A1A1A"/>
                          </a:solidFill>
                        </a:rPr>
                        <a:t>51.2 %</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31.6 %</a:t>
                      </a:r>
                    </a:p>
                  </a:txBody>
                  <a:tcPr>
                    <a:noFill/>
                  </a:tcPr>
                </a:tc>
              </a:tr>
              <a:tr h="198000">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2.7x</a:t>
                      </a:r>
                    </a:p>
                  </a:txBody>
                  <a:tcPr>
                    <a:solidFill>
                      <a:srgbClr val="F5F7FA"/>
                    </a:solidFill>
                  </a:tcPr>
                </a:tc>
                <a:tc>
                  <a:txBody>
                    <a:bodyPr/>
                    <a:lstStyle/>
                    <a:p>
                      <a:pPr algn="ctr"/>
                      <a:r>
                        <a:rPr sz="750" b="0">
                          <a:solidFill>
                            <a:srgbClr val="1A1A1A"/>
                          </a:solidFill>
                        </a:rPr>
                        <a:t>25.6x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42.8 %</a:t>
                      </a:r>
                    </a:p>
                  </a:txBody>
                  <a:tcPr>
                    <a:solidFill>
                      <a:srgbClr val="F5F7FA"/>
                    </a:solidFill>
                  </a:tcPr>
                </a:tc>
              </a:tr>
              <a:tr h="198000">
                <a:tc>
                  <a:txBody>
                    <a:bodyPr/>
                    <a:lstStyle/>
                    <a:p>
                      <a:pPr algn="ctr"/>
                      <a:r>
                        <a:rPr sz="750" b="0">
                          <a:solidFill>
                            <a:srgbClr val="1A1A1A"/>
                          </a:solidFill>
                        </a:rPr>
                        <a:t>Mondelez Internation</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30.8x</a:t>
                      </a:r>
                    </a:p>
                  </a:txBody>
                  <a:tcPr>
                    <a:noFill/>
                  </a:tcPr>
                </a:tc>
                <a:tc>
                  <a:txBody>
                    <a:bodyPr/>
                    <a:lstStyle/>
                    <a:p>
                      <a:pPr algn="ctr"/>
                      <a:r>
                        <a:rPr sz="750" b="0">
                          <a:solidFill>
                            <a:srgbClr val="1A1A1A"/>
                          </a:solidFill>
                        </a:rPr>
                        <a:t>28.4 %</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r>
              <a:tr h="198000">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45.2x</a:t>
                      </a:r>
                    </a:p>
                  </a:txBody>
                  <a:tcPr>
                    <a:solidFill>
                      <a:srgbClr val="F5F7FA"/>
                    </a:solidFill>
                  </a:tcPr>
                </a:tc>
                <a:tc>
                  <a:txBody>
                    <a:bodyPr/>
                    <a:lstStyle/>
                    <a:p>
                      <a:pPr algn="ctr"/>
                      <a:r>
                        <a:rPr sz="750" b="0">
                          <a:solidFill>
                            <a:srgbClr val="1A1A1A"/>
                          </a:solidFill>
                        </a:rPr>
                        <a:t>24.9 %</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21.8 %</a:t>
                      </a:r>
                    </a:p>
                  </a:txBody>
                  <a:tcPr>
                    <a:solidFill>
                      <a:srgbClr val="F5F7FA"/>
                    </a:solidFill>
                  </a:tcPr>
                </a:tc>
              </a:tr>
              <a:tr h="198000">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1.8x</a:t>
                      </a:r>
                    </a:p>
                  </a:txBody>
                  <a:tcPr>
                    <a:noFill/>
                  </a:tcPr>
                </a:tc>
                <a:tc>
                  <a:txBody>
                    <a:bodyPr/>
                    <a:lstStyle/>
                    <a:p>
                      <a:pPr algn="ctr"/>
                      <a:r>
                        <a:rPr sz="750" b="0">
                          <a:solidFill>
                            <a:srgbClr val="1A1A1A"/>
                          </a:solidFill>
                        </a:rPr>
                        <a:t>8.9x</a:t>
                      </a:r>
                    </a:p>
                  </a:txBody>
                  <a:tcPr>
                    <a:noFill/>
                  </a:tcPr>
                </a:tc>
                <a:tc>
                  <a:txBody>
                    <a:bodyPr/>
                    <a:lstStyle/>
                    <a:p>
                      <a:pPr algn="ctr"/>
                      <a:r>
                        <a:rPr sz="750" b="0">
                          <a:solidFill>
                            <a:srgbClr val="1A1A1A"/>
                          </a:solidFill>
                        </a:rPr>
                        <a:t>33.1 %</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23.6 %</a:t>
                      </a:r>
                    </a:p>
                  </a:txBody>
                  <a:tcPr>
                    <a:noFill/>
                  </a:tcPr>
                </a:tc>
              </a:tr>
              <a:tr h="198000">
                <a:tc>
                  <a:txBody>
                    <a:bodyPr/>
                    <a:lstStyle/>
                    <a:p>
                      <a:pPr algn="ctr"/>
                      <a:r>
                        <a:rPr sz="750" b="0">
                          <a:solidFill>
                            <a:srgbClr val="1A1A1A"/>
                          </a:solidFill>
                        </a:rPr>
                        <a:t>Costco Wholesale Cor</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51.1x</a:t>
                      </a:r>
                    </a:p>
                  </a:txBody>
                  <a:tcPr>
                    <a:solidFill>
                      <a:srgbClr val="F5F7FA"/>
                    </a:solidFill>
                  </a:tcPr>
                </a:tc>
                <a:tc>
                  <a:txBody>
                    <a:bodyPr/>
                    <a:lstStyle/>
                    <a:p>
                      <a:pPr algn="ctr"/>
                      <a:r>
                        <a:rPr sz="750" b="0">
                          <a:solidFill>
                            <a:srgbClr val="1A1A1A"/>
                          </a:solidFill>
                        </a:rPr>
                        <a:t>12.9 %</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29.7 %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2.5x</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42.2 %</a:t>
                      </a:r>
                    </a:p>
                  </a:txBody>
                  <a:tcPr>
                    <a:noFill/>
                  </a:tcPr>
                </a:tc>
                <a:tc>
                  <a:txBody>
                    <a:bodyPr/>
                    <a:lstStyle/>
                    <a:p>
                      <a:pPr algn="ctr"/>
                      <a:r>
                        <a:rPr sz="750" b="0">
                          <a:solidFill>
                            <a:srgbClr val="1A1A1A"/>
                          </a:solidFill>
                        </a:rPr>
                        <a:t>18.7 %</a:t>
                      </a:r>
                    </a:p>
                  </a:txBody>
                  <a:tcPr>
                    <a:noFill/>
                  </a:tcPr>
                </a:tc>
                <a:tc>
                  <a:txBody>
                    <a:bodyPr/>
                    <a:lstStyle/>
                    <a:p>
                      <a:pPr algn="ctr"/>
                      <a:r>
                        <a:rPr sz="750" b="0">
                          <a:solidFill>
                            <a:srgbClr val="1A1A1A"/>
                          </a:solidFill>
                        </a:rPr>
                        <a:t>29.7 %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17.4x LTM. Philip Morris Intern (16.0x) se distingue comme le leader de qualité, combine a une marge EBITDA de 46.1 % et une croissance de +6.8 %.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5.4 %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164.24</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+6.8 %</a:t>
                      </a:r>
                    </a:p>
                  </a:txBody>
                  <a:tcPr>
                    <a:noFill/>
                  </a:tcPr>
                </a:tc>
                <a:tc>
                  <a:txBody>
                    <a:bodyPr/>
                    <a:lstStyle/>
                    <a:p>
                      <a:pPr algn="ctr"/>
                      <a:r>
                        <a:rPr sz="750" b="0">
                          <a:solidFill>
                            <a:srgbClr val="1A1A1A"/>
                          </a:solidFill>
                        </a:rPr>
                        <a:t>+7.6 %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75.755</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+2.4 %</a:t>
                      </a:r>
                    </a:p>
                  </a:txBody>
                  <a:tcPr>
                    <a:solidFill>
                      <a:srgbClr val="F5F7FA"/>
                    </a:solidFill>
                  </a:tcPr>
                </a:tc>
                <a:tc>
                  <a:txBody>
                    <a:bodyPr/>
                    <a:lstStyle/>
                    <a:p>
                      <a:pPr algn="ctr"/>
                      <a:r>
                        <a:rPr sz="750" b="0">
                          <a:solidFill>
                            <a:srgbClr val="1A1A1A"/>
                          </a:solidFill>
                        </a:rPr>
                        <a:t>+8.4 %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143.42</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+1.5 %</a:t>
                      </a:r>
                    </a:p>
                  </a:txBody>
                  <a:tcPr>
                    <a:noFill/>
                  </a:tcPr>
                </a:tc>
                <a:tc>
                  <a:txBody>
                    <a:bodyPr/>
                    <a:lstStyle/>
                    <a:p>
                      <a:pPr algn="ctr"/>
                      <a:r>
                        <a:rPr sz="750" b="0">
                          <a:solidFill>
                            <a:srgbClr val="1A1A1A"/>
                          </a:solidFill>
                        </a:rPr>
                        <a:t>-12.9 %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153.395</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+2.5 %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58.175</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c>
                  <a:txBody>
                    <a:bodyPr/>
                    <a:lstStyle/>
                    <a:p>
                      <a:pPr algn="ctr"/>
                      <a:r>
                        <a:rPr sz="750" b="0">
                          <a:solidFill>
                            <a:srgbClr val="1A1A1A"/>
                          </a:solidFill>
                        </a:rPr>
                        <a:t>-13.5 %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122.94</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+36.0 %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36.575</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-8.4 %</a:t>
                      </a:r>
                    </a:p>
                  </a:txBody>
                  <a:tcPr>
                    <a:noFill/>
                  </a:tcPr>
                </a:tc>
                <a:tc>
                  <a:txBody>
                    <a:bodyPr/>
                    <a:lstStyle/>
                    <a:p>
                      <a:pPr algn="ctr"/>
                      <a:r>
                        <a:rPr sz="750" b="0">
                          <a:solidFill>
                            <a:srgbClr val="1A1A1A"/>
                          </a:solidFill>
                        </a:rPr>
                        <a:t>-36.4 %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981.285</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+9.2 %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2 BUY / 6 HOLD / 0 SELL sur 8 valeurs analysées. Philip Morris Internat (score 71/100)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KO domine le quadrant Premium Justifie — valorisation élevée (22.1x) soutenue par 61.6 % de marge brute.
GIS se positionne en zone Opportunite — EV/EBITDA de 9.8x sous la médiane sectorielle de 17.4x.
La médiane sectorielle ressort a 17.4x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3</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6</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Philip Morris Internat presente le profil le plus equilibre du secteur (71/100) avec des scores Value=13, Growth=18,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PM</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Philip Morris Intern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197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16.0x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46.1 %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KO</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The Coca-Cola Compan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91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22.1x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33.5 %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PG</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 Procter &amp; Gamble</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29.0 %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(17.4x)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17.4x.
3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8144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a:t>
                      </a:r>
                    </a:p>
                  </a:txBody>
                  <a:tcPr>
                    <a:noFill/>
                  </a:tcPr>
                </a:tc>
                <a:tc>
                  <a:txBody>
                    <a:bodyPr/>
                    <a:lstStyle/>
                    <a:p>
                      <a:pPr algn="ctr"/>
                      <a:r>
                        <a:rPr sz="750" b="0">
                          <a:solidFill>
                            <a:srgbClr val="1A1A1A"/>
                          </a:solidFill>
                        </a:rPr>
                        <a:t>164.24</a:t>
                      </a:r>
                    </a:p>
                  </a:txBody>
                  <a:tcPr>
                    <a:noFill/>
                  </a:tcPr>
                </a:tc>
                <a:tc>
                  <a:txBody>
                    <a:bodyPr/>
                    <a:lstStyle/>
                    <a:p>
                      <a:pPr algn="ctr"/>
                      <a:r>
                        <a:rPr sz="750" b="0">
                          <a:solidFill>
                            <a:srgbClr val="1A1A1A"/>
                          </a:solidFill>
                        </a:rPr>
                        <a:t>188.9</a:t>
                      </a:r>
                    </a:p>
                  </a:txBody>
                  <a:tcPr>
                    <a:noFill/>
                  </a:tcPr>
                </a:tc>
                <a:tc>
                  <a:txBody>
                    <a:bodyPr/>
                    <a:lstStyle/>
                    <a:p>
                      <a:pPr algn="ctr"/>
                      <a:r>
                        <a:rPr sz="750" b="0">
                          <a:solidFill>
                            <a:srgbClr val="1A1A1A"/>
                          </a:solidFill>
                        </a:rPr>
                        <a:t>&lt; 156.0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a:t>
                      </a:r>
                    </a:p>
                  </a:txBody>
                  <a:tcPr>
                    <a:solidFill>
                      <a:srgbClr val="F5F7FA"/>
                    </a:solidFill>
                  </a:tcPr>
                </a:tc>
                <a:tc>
                  <a:txBody>
                    <a:bodyPr/>
                    <a:lstStyle/>
                    <a:p>
                      <a:pPr algn="ctr"/>
                      <a:r>
                        <a:rPr sz="750" b="0">
                          <a:solidFill>
                            <a:srgbClr val="1A1A1A"/>
                          </a:solidFill>
                        </a:rPr>
                        <a:t>75.755</a:t>
                      </a:r>
                    </a:p>
                  </a:txBody>
                  <a:tcPr>
                    <a:solidFill>
                      <a:srgbClr val="F5F7FA"/>
                    </a:solidFill>
                  </a:tcPr>
                </a:tc>
                <a:tc>
                  <a:txBody>
                    <a:bodyPr/>
                    <a:lstStyle/>
                    <a:p>
                      <a:pPr algn="ctr"/>
                      <a:r>
                        <a:rPr sz="750" b="0">
                          <a:solidFill>
                            <a:srgbClr val="1A1A1A"/>
                          </a:solidFill>
                        </a:rPr>
                        <a:t>87.1</a:t>
                      </a:r>
                    </a:p>
                  </a:txBody>
                  <a:tcPr>
                    <a:solidFill>
                      <a:srgbClr val="F5F7FA"/>
                    </a:solidFill>
                  </a:tcPr>
                </a:tc>
                <a:tc>
                  <a:txBody>
                    <a:bodyPr/>
                    <a:lstStyle/>
                    <a:p>
                      <a:pPr algn="ctr"/>
                      <a:r>
                        <a:rPr sz="750" b="0">
                          <a:solidFill>
                            <a:srgbClr val="1A1A1A"/>
                          </a:solidFill>
                        </a:rPr>
                        <a:t>&lt; 72.0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a:t>
                      </a:r>
                    </a:p>
                  </a:txBody>
                  <a:tcPr>
                    <a:noFill/>
                  </a:tcPr>
                </a:tc>
                <a:tc>
                  <a:txBody>
                    <a:bodyPr/>
                    <a:lstStyle/>
                    <a:p>
                      <a:pPr algn="ctr"/>
                      <a:r>
                        <a:rPr sz="750" b="0">
                          <a:solidFill>
                            <a:srgbClr val="1A1A1A"/>
                          </a:solidFill>
                        </a:rPr>
                        <a:t>143.42</a:t>
                      </a:r>
                    </a:p>
                  </a:txBody>
                  <a:tcPr>
                    <a:noFill/>
                  </a:tcPr>
                </a:tc>
                <a:tc>
                  <a:txBody>
                    <a:bodyPr/>
                    <a:lstStyle/>
                    <a:p>
                      <a:pPr algn="ctr"/>
                      <a:r>
                        <a:rPr sz="750" b="0">
                          <a:solidFill>
                            <a:srgbClr val="1A1A1A"/>
                          </a:solidFill>
                        </a:rPr>
                        <a:t>164.9</a:t>
                      </a:r>
                    </a:p>
                  </a:txBody>
                  <a:tcPr>
                    <a:noFill/>
                  </a:tcPr>
                </a:tc>
                <a:tc>
                  <a:txBody>
                    <a:bodyPr/>
                    <a:lstStyle/>
                    <a:p>
                      <a:pPr algn="ctr"/>
                      <a:r>
                        <a:rPr sz="750" b="0">
                          <a:solidFill>
                            <a:srgbClr val="1A1A1A"/>
                          </a:solidFill>
                        </a:rPr>
                        <a:t>&lt; 136.2</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153.395</a:t>
                      </a:r>
                    </a:p>
                  </a:txBody>
                  <a:tcPr>
                    <a:solidFill>
                      <a:srgbClr val="F5F7FA"/>
                    </a:solidFill>
                  </a:tcPr>
                </a:tc>
                <a:tc>
                  <a:txBody>
                    <a:bodyPr/>
                    <a:lstStyle/>
                    <a:p>
                      <a:pPr algn="ctr"/>
                      <a:r>
                        <a:rPr sz="750" b="0">
                          <a:solidFill>
                            <a:srgbClr val="1A1A1A"/>
                          </a:solidFill>
                        </a:rPr>
                        <a:t>176.4</a:t>
                      </a:r>
                    </a:p>
                  </a:txBody>
                  <a:tcPr>
                    <a:solidFill>
                      <a:srgbClr val="F5F7FA"/>
                    </a:solidFill>
                  </a:tcPr>
                </a:tc>
                <a:tc>
                  <a:txBody>
                    <a:bodyPr/>
                    <a:lstStyle/>
                    <a:p>
                      <a:pPr algn="ctr"/>
                      <a:r>
                        <a:rPr sz="750" b="0">
                          <a:solidFill>
                            <a:srgbClr val="1A1A1A"/>
                          </a:solidFill>
                        </a:rPr>
                        <a:t>&lt; 145.7</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a:t>
                      </a:r>
                    </a:p>
                  </a:txBody>
                  <a:tcPr>
                    <a:noFill/>
                  </a:tcPr>
                </a:tc>
                <a:tc>
                  <a:txBody>
                    <a:bodyPr/>
                    <a:lstStyle/>
                    <a:p>
                      <a:pPr algn="ctr"/>
                      <a:r>
                        <a:rPr sz="750" b="0">
                          <a:solidFill>
                            <a:srgbClr val="1A1A1A"/>
                          </a:solidFill>
                        </a:rPr>
                        <a:t>58.175</a:t>
                      </a:r>
                    </a:p>
                  </a:txBody>
                  <a:tcPr>
                    <a:noFill/>
                  </a:tcPr>
                </a:tc>
                <a:tc>
                  <a:txBody>
                    <a:bodyPr/>
                    <a:lstStyle/>
                    <a:p>
                      <a:pPr algn="ctr"/>
                      <a:r>
                        <a:rPr sz="750" b="0">
                          <a:solidFill>
                            <a:srgbClr val="1A1A1A"/>
                          </a:solidFill>
                        </a:rPr>
                        <a:t>66.9</a:t>
                      </a:r>
                    </a:p>
                  </a:txBody>
                  <a:tcPr>
                    <a:noFill/>
                  </a:tcPr>
                </a:tc>
                <a:tc>
                  <a:txBody>
                    <a:bodyPr/>
                    <a:lstStyle/>
                    <a:p>
                      <a:pPr algn="ctr"/>
                      <a:r>
                        <a:rPr sz="750" b="0">
                          <a:solidFill>
                            <a:srgbClr val="1A1A1A"/>
                          </a:solidFill>
                        </a:rPr>
                        <a:t>&lt; 55.3</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122.94</a:t>
                      </a:r>
                    </a:p>
                  </a:txBody>
                  <a:tcPr>
                    <a:solidFill>
                      <a:srgbClr val="F5F7FA"/>
                    </a:solidFill>
                  </a:tcPr>
                </a:tc>
                <a:tc>
                  <a:txBody>
                    <a:bodyPr/>
                    <a:lstStyle/>
                    <a:p>
                      <a:pPr algn="ctr"/>
                      <a:r>
                        <a:rPr sz="750" b="0">
                          <a:solidFill>
                            <a:srgbClr val="1A1A1A"/>
                          </a:solidFill>
                        </a:rPr>
                        <a:t>141.4</a:t>
                      </a:r>
                    </a:p>
                  </a:txBody>
                  <a:tcPr>
                    <a:solidFill>
                      <a:srgbClr val="F5F7FA"/>
                    </a:solidFill>
                  </a:tcPr>
                </a:tc>
                <a:tc>
                  <a:txBody>
                    <a:bodyPr/>
                    <a:lstStyle/>
                    <a:p>
                      <a:pPr algn="ctr"/>
                      <a:r>
                        <a:rPr sz="750" b="0">
                          <a:solidFill>
                            <a:srgbClr val="1A1A1A"/>
                          </a:solidFill>
                        </a:rPr>
                        <a:t>&lt; 116.8</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a:t>
                      </a:r>
                    </a:p>
                  </a:txBody>
                  <a:tcPr>
                    <a:noFill/>
                  </a:tcPr>
                </a:tc>
                <a:tc>
                  <a:txBody>
                    <a:bodyPr/>
                    <a:lstStyle/>
                    <a:p>
                      <a:pPr algn="ctr"/>
                      <a:r>
                        <a:rPr sz="750" b="0">
                          <a:solidFill>
                            <a:srgbClr val="1A1A1A"/>
                          </a:solidFill>
                        </a:rPr>
                        <a:t>36.575</a:t>
                      </a:r>
                    </a:p>
                  </a:txBody>
                  <a:tcPr>
                    <a:noFill/>
                  </a:tcPr>
                </a:tc>
                <a:tc>
                  <a:txBody>
                    <a:bodyPr/>
                    <a:lstStyle/>
                    <a:p>
                      <a:pPr algn="ctr"/>
                      <a:r>
                        <a:rPr sz="750" b="0">
                          <a:solidFill>
                            <a:srgbClr val="1A1A1A"/>
                          </a:solidFill>
                        </a:rPr>
                        <a:t>42.1</a:t>
                      </a:r>
                    </a:p>
                  </a:txBody>
                  <a:tcPr>
                    <a:noFill/>
                  </a:tcPr>
                </a:tc>
                <a:tc>
                  <a:txBody>
                    <a:bodyPr/>
                    <a:lstStyle/>
                    <a:p>
                      <a:pPr algn="ctr"/>
                      <a:r>
                        <a:rPr sz="750" b="0">
                          <a:solidFill>
                            <a:srgbClr val="1A1A1A"/>
                          </a:solidFill>
                        </a:rPr>
                        <a:t>&lt; 34.7</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a:t>
                      </a:r>
                    </a:p>
                  </a:txBody>
                  <a:tcPr>
                    <a:solidFill>
                      <a:srgbClr val="F5F7FA"/>
                    </a:solidFill>
                  </a:tcPr>
                </a:tc>
                <a:tc>
                  <a:txBody>
                    <a:bodyPr/>
                    <a:lstStyle/>
                    <a:p>
                      <a:pPr algn="ctr"/>
                      <a:r>
                        <a:rPr sz="750" b="0">
                          <a:solidFill>
                            <a:srgbClr val="1A1A1A"/>
                          </a:solidFill>
                        </a:rPr>
                        <a:t>981.285</a:t>
                      </a:r>
                    </a:p>
                  </a:txBody>
                  <a:tcPr>
                    <a:solidFill>
                      <a:srgbClr val="F5F7FA"/>
                    </a:solidFill>
                  </a:tcPr>
                </a:tc>
                <a:tc>
                  <a:txBody>
                    <a:bodyPr/>
                    <a:lstStyle/>
                    <a:p>
                      <a:pPr algn="ctr"/>
                      <a:r>
                        <a:rPr sz="750" b="0">
                          <a:solidFill>
                            <a:srgbClr val="1A1A1A"/>
                          </a:solidFill>
                        </a:rPr>
                        <a:t>1128.5</a:t>
                      </a:r>
                    </a:p>
                  </a:txBody>
                  <a:tcPr>
                    <a:solidFill>
                      <a:srgbClr val="F5F7FA"/>
                    </a:solidFill>
                  </a:tcPr>
                </a:tc>
                <a:tc>
                  <a:txBody>
                    <a:bodyPr/>
                    <a:lstStyle/>
                    <a:p>
                      <a:pPr algn="ctr"/>
                      <a:r>
                        <a:rPr sz="750" b="0">
                          <a:solidFill>
                            <a:srgbClr val="1A1A1A"/>
                          </a:solidFill>
                        </a:rPr>
                        <a:t>&lt; 932.2</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2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77200"/>
            <a:ext cx="180000" cy="10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80000"/>
          </a:xfrm>
          <a:prstGeom prst="rect">
            <a:avLst/>
          </a:prstGeom>
          <a:noFill/>
        </p:spPr>
        <p:txBody>
          <a:bodyPr wrap="square">
            <a:spAutoFit/>
          </a:bodyPr>
          <a:lstStyle/>
          <a:p>
            <a:pPr algn="l"/>
            <a:r>
              <a:rPr sz="750" b="1" i="0">
                <a:solidFill>
                  <a:srgbClr val="1B3A6B"/>
                </a:solidFill>
              </a:rPr>
              <a:t>WMT  —  Walmart Inc.</a:t>
            </a:r>
          </a:p>
        </p:txBody>
      </p:sp>
      <p:sp>
        <p:nvSpPr>
          <p:cNvPr id="21" name="TextBox 20"/>
          <p:cNvSpPr txBox="1"/>
          <p:nvPr/>
        </p:nvSpPr>
        <p:spPr>
          <a:xfrm>
            <a:off x="6192000" y="1314000"/>
            <a:ext cx="2556000" cy="162000"/>
          </a:xfrm>
          <a:prstGeom prst="rect">
            <a:avLst/>
          </a:prstGeom>
          <a:noFill/>
        </p:spPr>
        <p:txBody>
          <a:bodyPr wrap="square">
            <a:spAutoFit/>
          </a:bodyPr>
          <a:lstStyle/>
          <a:p>
            <a:pPr algn="l"/>
            <a:r>
              <a:rPr sz="700" b="0" i="0">
                <a:solidFill>
                  <a:srgbClr val="555555"/>
                </a:solidFill>
              </a:rPr>
              <a:t>Score 50/100  ·  HOLD</a:t>
            </a:r>
          </a:p>
        </p:txBody>
      </p:sp>
      <p:sp>
        <p:nvSpPr>
          <p:cNvPr id="22" name="Rectangle 21"/>
          <p:cNvSpPr/>
          <p:nvPr/>
        </p:nvSpPr>
        <p:spPr>
          <a:xfrm>
            <a:off x="5940000" y="1507950"/>
            <a:ext cx="180000" cy="10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464749"/>
            <a:ext cx="2556000" cy="180000"/>
          </a:xfrm>
          <a:prstGeom prst="rect">
            <a:avLst/>
          </a:prstGeom>
          <a:noFill/>
        </p:spPr>
        <p:txBody>
          <a:bodyPr wrap="square">
            <a:spAutoFit/>
          </a:bodyPr>
          <a:lstStyle/>
          <a:p>
            <a:pPr algn="l"/>
            <a:r>
              <a:rPr sz="750" b="1" i="0">
                <a:solidFill>
                  <a:srgbClr val="1B3A6B"/>
                </a:solidFill>
              </a:rPr>
              <a:t>COST  —  Costco Wholesale Corporation</a:t>
            </a:r>
          </a:p>
        </p:txBody>
      </p:sp>
      <p:sp>
        <p:nvSpPr>
          <p:cNvPr id="24" name="TextBox 23"/>
          <p:cNvSpPr txBox="1"/>
          <p:nvPr/>
        </p:nvSpPr>
        <p:spPr>
          <a:xfrm>
            <a:off x="6192000" y="1644749"/>
            <a:ext cx="2556000" cy="162000"/>
          </a:xfrm>
          <a:prstGeom prst="rect">
            <a:avLst/>
          </a:prstGeom>
          <a:noFill/>
        </p:spPr>
        <p:txBody>
          <a:bodyPr wrap="square">
            <a:spAutoFit/>
          </a:bodyPr>
          <a:lstStyle/>
          <a:p>
            <a:pPr algn="l"/>
            <a:r>
              <a:rPr sz="700" b="0" i="0">
                <a:solidFill>
                  <a:srgbClr val="555555"/>
                </a:solidFill>
              </a:rPr>
              <a:t>Score 46/100  ·  SELL</a:t>
            </a:r>
          </a:p>
        </p:txBody>
      </p:sp>
      <p:sp>
        <p:nvSpPr>
          <p:cNvPr id="25" name="Rectangle 24"/>
          <p:cNvSpPr/>
          <p:nvPr/>
        </p:nvSpPr>
        <p:spPr>
          <a:xfrm>
            <a:off x="5940000" y="1838700"/>
            <a:ext cx="180000" cy="10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795500"/>
            <a:ext cx="2556000" cy="180000"/>
          </a:xfrm>
          <a:prstGeom prst="rect">
            <a:avLst/>
          </a:prstGeom>
          <a:noFill/>
        </p:spPr>
        <p:txBody>
          <a:bodyPr wrap="square">
            <a:spAutoFit/>
          </a:bodyPr>
          <a:lstStyle/>
          <a:p>
            <a:pPr algn="l"/>
            <a:r>
              <a:rPr sz="750" b="1" i="0">
                <a:solidFill>
                  <a:srgbClr val="1B3A6B"/>
                </a:solidFill>
              </a:rPr>
              <a:t>PG  —  The Procter &amp; Gamble Company</a:t>
            </a:r>
          </a:p>
        </p:txBody>
      </p:sp>
      <p:sp>
        <p:nvSpPr>
          <p:cNvPr id="27" name="TextBox 26"/>
          <p:cNvSpPr txBox="1"/>
          <p:nvPr/>
        </p:nvSpPr>
        <p:spPr>
          <a:xfrm>
            <a:off x="6192000" y="1975500"/>
            <a:ext cx="2556000" cy="162000"/>
          </a:xfrm>
          <a:prstGeom prst="rect">
            <a:avLst/>
          </a:prstGeom>
          <a:noFill/>
        </p:spPr>
        <p:txBody>
          <a:bodyPr wrap="square">
            <a:spAutoFit/>
          </a:bodyPr>
          <a:lstStyle/>
          <a:p>
            <a:pPr algn="l"/>
            <a:r>
              <a:rPr sz="700" b="0" i="0">
                <a:solidFill>
                  <a:srgbClr val="555555"/>
                </a:solidFill>
              </a:rPr>
              <a:t>Score 63/100  ·  HOLD</a:t>
            </a:r>
          </a:p>
        </p:txBody>
      </p:sp>
      <p:sp>
        <p:nvSpPr>
          <p:cNvPr id="28" name="Rectangle 27"/>
          <p:cNvSpPr/>
          <p:nvPr/>
        </p:nvSpPr>
        <p:spPr>
          <a:xfrm>
            <a:off x="5940000" y="2169450"/>
            <a:ext cx="180000" cy="10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126250"/>
            <a:ext cx="2556000" cy="180000"/>
          </a:xfrm>
          <a:prstGeom prst="rect">
            <a:avLst/>
          </a:prstGeom>
          <a:noFill/>
        </p:spPr>
        <p:txBody>
          <a:bodyPr wrap="square">
            <a:spAutoFit/>
          </a:bodyPr>
          <a:lstStyle/>
          <a:p>
            <a:pPr algn="l"/>
            <a:r>
              <a:rPr sz="750" b="1" i="0">
                <a:solidFill>
                  <a:srgbClr val="1B3A6B"/>
                </a:solidFill>
              </a:rPr>
              <a:t>KO  —  The Coca-Cola Company</a:t>
            </a:r>
          </a:p>
        </p:txBody>
      </p:sp>
      <p:sp>
        <p:nvSpPr>
          <p:cNvPr id="30" name="TextBox 29"/>
          <p:cNvSpPr txBox="1"/>
          <p:nvPr/>
        </p:nvSpPr>
        <p:spPr>
          <a:xfrm>
            <a:off x="6192000" y="2306250"/>
            <a:ext cx="2556000" cy="162000"/>
          </a:xfrm>
          <a:prstGeom prst="rect">
            <a:avLst/>
          </a:prstGeom>
          <a:noFill/>
        </p:spPr>
        <p:txBody>
          <a:bodyPr wrap="square">
            <a:spAutoFit/>
          </a:bodyPr>
          <a:lstStyle/>
          <a:p>
            <a:pPr algn="l"/>
            <a:r>
              <a:rPr sz="700" b="0" i="0">
                <a:solidFill>
                  <a:srgbClr val="555555"/>
                </a:solidFill>
              </a:rPr>
              <a:t>Score 65/100  ·  HOLD</a:t>
            </a:r>
          </a:p>
        </p:txBody>
      </p:sp>
      <p:sp>
        <p:nvSpPr>
          <p:cNvPr id="31" name="Rectangle 30"/>
          <p:cNvSpPr/>
          <p:nvPr/>
        </p:nvSpPr>
        <p:spPr>
          <a:xfrm>
            <a:off x="5940000" y="2500200"/>
            <a:ext cx="180000" cy="10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456999"/>
            <a:ext cx="2556000" cy="180000"/>
          </a:xfrm>
          <a:prstGeom prst="rect">
            <a:avLst/>
          </a:prstGeom>
          <a:noFill/>
        </p:spPr>
        <p:txBody>
          <a:bodyPr wrap="square">
            <a:spAutoFit/>
          </a:bodyPr>
          <a:lstStyle/>
          <a:p>
            <a:pPr algn="l"/>
            <a:r>
              <a:rPr sz="750" b="1" i="0">
                <a:solidFill>
                  <a:srgbClr val="1B3A6B"/>
                </a:solidFill>
              </a:rPr>
              <a:t>PM  —  Philip Morris International </a:t>
            </a:r>
          </a:p>
        </p:txBody>
      </p:sp>
      <p:sp>
        <p:nvSpPr>
          <p:cNvPr id="33" name="TextBox 32"/>
          <p:cNvSpPr txBox="1"/>
          <p:nvPr/>
        </p:nvSpPr>
        <p:spPr>
          <a:xfrm>
            <a:off x="6192000" y="2636999"/>
            <a:ext cx="2556000" cy="162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2830950"/>
            <a:ext cx="180000" cy="108000"/>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2787750"/>
            <a:ext cx="2556000" cy="180000"/>
          </a:xfrm>
          <a:prstGeom prst="rect">
            <a:avLst/>
          </a:prstGeom>
          <a:noFill/>
        </p:spPr>
        <p:txBody>
          <a:bodyPr wrap="square">
            <a:spAutoFit/>
          </a:bodyPr>
          <a:lstStyle/>
          <a:p>
            <a:pPr algn="l"/>
            <a:r>
              <a:rPr sz="750" b="1" i="0">
                <a:solidFill>
                  <a:srgbClr val="1B3A6B"/>
                </a:solidFill>
              </a:rPr>
              <a:t>PEP  —  PepsiCo, Inc.</a:t>
            </a:r>
          </a:p>
        </p:txBody>
      </p:sp>
      <p:sp>
        <p:nvSpPr>
          <p:cNvPr id="36" name="TextBox 35"/>
          <p:cNvSpPr txBox="1"/>
          <p:nvPr/>
        </p:nvSpPr>
        <p:spPr>
          <a:xfrm>
            <a:off x="6192000" y="2967750"/>
            <a:ext cx="2556000" cy="162000"/>
          </a:xfrm>
          <a:prstGeom prst="rect">
            <a:avLst/>
          </a:prstGeom>
          <a:noFill/>
        </p:spPr>
        <p:txBody>
          <a:bodyPr wrap="square">
            <a:spAutoFit/>
          </a:bodyPr>
          <a:lstStyle/>
          <a:p>
            <a:pPr algn="l"/>
            <a:r>
              <a:rPr sz="700" b="0" i="0">
                <a:solidFill>
                  <a:srgbClr val="555555"/>
                </a:solidFill>
              </a:rPr>
              <a:t>Score 59/100  ·  HOLD</a:t>
            </a:r>
          </a:p>
        </p:txBody>
      </p:sp>
      <p:sp>
        <p:nvSpPr>
          <p:cNvPr id="37" name="Rectangle 36"/>
          <p:cNvSpPr/>
          <p:nvPr/>
        </p:nvSpPr>
        <p:spPr>
          <a:xfrm>
            <a:off x="5940000" y="3161699"/>
            <a:ext cx="180000" cy="108000"/>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118500"/>
            <a:ext cx="2556000" cy="180000"/>
          </a:xfrm>
          <a:prstGeom prst="rect">
            <a:avLst/>
          </a:prstGeom>
          <a:noFill/>
        </p:spPr>
        <p:txBody>
          <a:bodyPr wrap="square">
            <a:spAutoFit/>
          </a:bodyPr>
          <a:lstStyle/>
          <a:p>
            <a:pPr algn="l"/>
            <a:r>
              <a:rPr sz="750" b="1" i="0">
                <a:solidFill>
                  <a:srgbClr val="1B3A6B"/>
                </a:solidFill>
              </a:rPr>
              <a:t>MDLZ  —  Mondelez International, Inc.</a:t>
            </a:r>
          </a:p>
        </p:txBody>
      </p:sp>
      <p:sp>
        <p:nvSpPr>
          <p:cNvPr id="39" name="TextBox 38"/>
          <p:cNvSpPr txBox="1"/>
          <p:nvPr/>
        </p:nvSpPr>
        <p:spPr>
          <a:xfrm>
            <a:off x="6192000" y="3298500"/>
            <a:ext cx="2556000" cy="162000"/>
          </a:xfrm>
          <a:prstGeom prst="rect">
            <a:avLst/>
          </a:prstGeom>
          <a:noFill/>
        </p:spPr>
        <p:txBody>
          <a:bodyPr wrap="square">
            <a:spAutoFit/>
          </a:bodyPr>
          <a:lstStyle/>
          <a:p>
            <a:pPr algn="l"/>
            <a:r>
              <a:rPr sz="700" b="0" i="0">
                <a:solidFill>
                  <a:srgbClr val="555555"/>
                </a:solidFill>
              </a:rPr>
              <a:t>Score 56/100  ·  HOLD</a:t>
            </a:r>
          </a:p>
        </p:txBody>
      </p:sp>
      <p:sp>
        <p:nvSpPr>
          <p:cNvPr id="40" name="Rectangle 39"/>
          <p:cNvSpPr/>
          <p:nvPr/>
        </p:nvSpPr>
        <p:spPr>
          <a:xfrm>
            <a:off x="5940000" y="3492449"/>
            <a:ext cx="180000" cy="108000"/>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3449249"/>
            <a:ext cx="2556000" cy="180000"/>
          </a:xfrm>
          <a:prstGeom prst="rect">
            <a:avLst/>
          </a:prstGeom>
          <a:noFill/>
        </p:spPr>
        <p:txBody>
          <a:bodyPr wrap="square">
            <a:spAutoFit/>
          </a:bodyPr>
          <a:lstStyle/>
          <a:p>
            <a:pPr algn="l"/>
            <a:r>
              <a:rPr sz="750" b="1" i="0">
                <a:solidFill>
                  <a:srgbClr val="1B3A6B"/>
                </a:solidFill>
              </a:rPr>
              <a:t>GIS  —  General Mills, Inc.</a:t>
            </a:r>
          </a:p>
        </p:txBody>
      </p:sp>
      <p:sp>
        <p:nvSpPr>
          <p:cNvPr id="42" name="TextBox 41"/>
          <p:cNvSpPr txBox="1"/>
          <p:nvPr/>
        </p:nvSpPr>
        <p:spPr>
          <a:xfrm>
            <a:off x="6192000" y="3629249"/>
            <a:ext cx="2556000" cy="162000"/>
          </a:xfrm>
          <a:prstGeom prst="rect">
            <a:avLst/>
          </a:prstGeom>
          <a:noFill/>
        </p:spPr>
        <p:txBody>
          <a:bodyPr wrap="square">
            <a:spAutoFit/>
          </a:bodyPr>
          <a:lstStyle/>
          <a:p>
            <a:pPr algn="l"/>
            <a:r>
              <a:rPr sz="700" b="0" i="0">
                <a:solidFill>
                  <a:srgbClr val="555555"/>
                </a:solidFill>
              </a:rPr>
              <a:t>Score 50/100  ·  HOLD</a:t>
            </a:r>
          </a:p>
        </p:txBody>
      </p:sp>
      <p:sp>
        <p:nvSpPr>
          <p:cNvPr id="43" name="Rectangle 42"/>
          <p:cNvSpPr/>
          <p:nvPr/>
        </p:nvSpPr>
        <p:spPr>
          <a:xfrm>
            <a:off x="5903999" y="378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816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014000"/>
            <a:ext cx="2808000" cy="612000"/>
          </a:xfrm>
          <a:prstGeom prst="rect">
            <a:avLst/>
          </a:prstGeom>
          <a:noFill/>
        </p:spPr>
        <p:txBody>
          <a:bodyPr wrap="square">
            <a:spAutoFit/>
          </a:bodyPr>
          <a:lstStyle/>
          <a:p>
            <a:pPr algn="l"/>
            <a:r>
              <a:rPr sz="700" b="0" i="0">
                <a:solidFill>
                  <a:srgbClr val="555555"/>
                </a:solidFill>
              </a:rPr>
              <a:t>Sur 52 semaines, WMT affiche la meilleure performance (+36%) tandis que GIS est en retard (-36%).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