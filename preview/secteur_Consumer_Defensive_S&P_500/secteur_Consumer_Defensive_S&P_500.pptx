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Consumer Defensive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6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27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6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11.8x  ·  Croissance med. : +8.8 %  ·  Marge EBITDA med. : 22.0 %  ·  Score moyen : 58/100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Pricing Power</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Marches Emergents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Innovation Produit</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Guerre des Prix</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Destockage</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Substitution MDD</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11.8x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+8.8 %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22.0 %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+12.5 %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6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3420000"/>
          </a:xfrm>
          <a:prstGeom prst="rect">
            <a:avLst/>
          </a:prstGeom>
          <a:noFill/>
        </p:spPr>
        <p:txBody>
          <a:bodyPr wrap="square">
            <a:spAutoFit/>
          </a:bodyPr>
          <a:lstStyle/>
          <a:p>
            <a:pPr algn="l"/>
            <a:r>
              <a:rPr sz="900" b="0" i="0">
                <a:solidFill>
                  <a:srgbClr val="555555"/>
                </a:solidFill>
              </a:rPr>
              <a:t>Le secteur Consommation Defensive regroupe les producteurs et distributeurs de biens essentiels — alimentation, boissons, hygiene-beaute. Modèle résilient par nature, il offre une protection en periode de recession tout en beneficiant du pricing power des marques leaders.</a:t>
            </a:r>
          </a:p>
        </p:txBody>
      </p:sp>
      <p:graphicFrame>
        <p:nvGraphicFramePr>
          <p:cNvPr id="18" name="Table 17"/>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Org. Growth</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Sain</a:t>
                      </a:r>
                    </a:p>
                  </a:txBody>
                  <a:tcPr>
                    <a:noFill/>
                  </a:tcPr>
                </a:tc>
              </a:tr>
              <a:tr h="208799">
                <a:tc>
                  <a:txBody>
                    <a:bodyPr/>
                    <a:lstStyle/>
                    <a:p>
                      <a:pPr algn="ctr"/>
                      <a:r>
                        <a:rPr sz="750" b="0">
                          <a:solidFill>
                            <a:srgbClr val="1A1A1A"/>
                          </a:solidFill>
                        </a:rPr>
                        <a:t>Gross Margin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FCF Yield</a:t>
                      </a:r>
                    </a:p>
                  </a:txBody>
                  <a:tcPr>
                    <a:noFill/>
                  </a:tcPr>
                </a:tc>
                <a:tc>
                  <a:txBody>
                    <a:bodyPr/>
                    <a:lstStyle/>
                    <a:p>
                      <a:pPr algn="ctr"/>
                      <a:r>
                        <a:rPr sz="750" b="0">
                          <a:solidFill>
                            <a:srgbClr val="1A1A1A"/>
                          </a:solidFill>
                        </a:rPr>
                        <a:t>4,2 %</a:t>
                      </a:r>
                    </a:p>
                  </a:txBody>
                  <a:tcPr>
                    <a:noFill/>
                  </a:tcPr>
                </a:tc>
                <a:tc>
                  <a:txBody>
                    <a:bodyPr/>
                    <a:lstStyle/>
                    <a:p>
                      <a:pPr algn="ctr"/>
                      <a:r>
                        <a:rPr sz="750" b="0">
                          <a:solidFill>
                            <a:srgbClr val="1A1A1A"/>
                          </a:solidFill>
                        </a:rPr>
                        <a:t>Attractif</a:t>
                      </a:r>
                    </a:p>
                  </a:txBody>
                  <a:tcPr>
                    <a:noFill/>
                  </a:tcPr>
                </a:tc>
              </a:tr>
              <a:tr h="208799">
                <a:tc>
                  <a:txBody>
                    <a:bodyPr/>
                    <a:lstStyle/>
                    <a:p>
                      <a:pPr algn="ctr"/>
                      <a:r>
                        <a:rPr sz="750" b="0">
                          <a:solidFill>
                            <a:srgbClr val="1A1A1A"/>
                          </a:solidFill>
                        </a:rPr>
                        <a:t>Div. Yield</a:t>
                      </a:r>
                    </a:p>
                  </a:txBody>
                  <a:tcPr>
                    <a:solidFill>
                      <a:srgbClr val="F5F7FA"/>
                    </a:solidFill>
                  </a:tcPr>
                </a:tc>
                <a:tc>
                  <a:txBody>
                    <a:bodyPr/>
                    <a:lstStyle/>
                    <a:p>
                      <a:pPr algn="ctr"/>
                      <a:r>
                        <a:rPr sz="750" b="0">
                          <a:solidFill>
                            <a:srgbClr val="1A1A1A"/>
                          </a:solidFill>
                        </a:rPr>
                        <a:t>2,8 %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Elasticite Prix</a:t>
                      </a:r>
                    </a:p>
                  </a:txBody>
                  <a:tcPr>
                    <a:noFill/>
                  </a:tcPr>
                </a:tc>
                <a:tc>
                  <a:txBody>
                    <a:bodyPr/>
                    <a:lstStyle/>
                    <a:p>
                      <a:pPr algn="ctr"/>
                      <a:r>
                        <a:rPr sz="750" b="0">
                          <a:solidFill>
                            <a:srgbClr val="1A1A1A"/>
                          </a:solidFill>
                        </a:rPr>
                        <a:t>-0,4</a:t>
                      </a:r>
                    </a:p>
                  </a:txBody>
                  <a:tcPr>
                    <a:noFill/>
                  </a:tcPr>
                </a:tc>
                <a:tc>
                  <a:txBody>
                    <a:bodyPr/>
                    <a:lstStyle/>
                    <a:p>
                      <a:pPr algn="ctr"/>
                      <a:r>
                        <a:rPr sz="750" b="0">
                          <a:solidFill>
                            <a:srgbClr val="1A1A1A"/>
                          </a:solidFill>
                        </a:rPr>
                        <a:t>Faible</a:t>
                      </a:r>
                    </a:p>
                  </a:txBody>
                  <a:tcPr>
                    <a:noFill/>
                  </a:tcPr>
                </a:tc>
              </a:tr>
              <a:tr h="208805">
                <a:tc>
                  <a:txBody>
                    <a:bodyPr/>
                    <a:lstStyle/>
                    <a:p>
                      <a:pPr algn="ctr"/>
                      <a:r>
                        <a:rPr sz="750" b="0">
                          <a:solidFill>
                            <a:srgbClr val="1A1A1A"/>
                          </a:solidFill>
                        </a:rPr>
                        <a:t>Market Share</a:t>
                      </a:r>
                    </a:p>
                  </a:txBody>
                  <a:tcPr>
                    <a:solidFill>
                      <a:srgbClr val="F5F7FA"/>
                    </a:solidFill>
                  </a:tcPr>
                </a:tc>
                <a:tc>
                  <a:txBody>
                    <a:bodyPr/>
                    <a:lstStyle/>
                    <a:p>
                      <a:pPr algn="ctr"/>
                      <a:r>
                        <a:rPr sz="750" b="0">
                          <a:solidFill>
                            <a:srgbClr val="1A1A1A"/>
                          </a:solidFill>
                        </a:rPr>
                        <a:t>+0,3 pt</a:t>
                      </a:r>
                    </a:p>
                  </a:txBody>
                  <a:tcPr>
                    <a:solidFill>
                      <a:srgbClr val="F5F7FA"/>
                    </a:solidFill>
                  </a:tcPr>
                </a:tc>
                <a:tc>
                  <a:txBody>
                    <a:bodyPr/>
                    <a:lstStyle/>
                    <a:p>
                      <a:pPr algn="ctr"/>
                      <a:r>
                        <a:rPr sz="750" b="0">
                          <a:solidFill>
                            <a:srgbClr val="1A1A1A"/>
                          </a:solidFill>
                        </a:rPr>
                        <a:t>Gain</a:t>
                      </a:r>
                    </a:p>
                  </a:txBody>
                  <a:tcPr>
                    <a:solidFill>
                      <a:srgbClr val="F5F7FA"/>
                    </a:solidFill>
                  </a:tcPr>
                </a:tc>
              </a:tr>
            </a:tbl>
          </a:graphicData>
        </a:graphic>
      </p:graphicFrame>
      <p:sp>
        <p:nvSpPr>
          <p:cNvPr id="19" name="Rectangle 1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Comparaison multiples LTM — 6 sociétés vs médiane sectorielle</a:t>
            </a:r>
          </a:p>
        </p:txBody>
      </p:sp>
      <p:graphicFrame>
        <p:nvGraphicFramePr>
          <p:cNvPr id="15" name="Table 14"/>
          <p:cNvGraphicFramePr>
            <a:graphicFrameLocks noGrp="1"/>
          </p:cNvGraphicFramePr>
          <p:nvPr/>
        </p:nvGraphicFramePr>
        <p:xfrm>
          <a:off x="324000" y="900000"/>
          <a:ext cx="8495998" cy="1584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Consumer Defensive C</a:t>
                      </a:r>
                    </a:p>
                  </a:txBody>
                  <a:tcPr>
                    <a:noFill/>
                  </a:tcPr>
                </a:tc>
                <a:tc>
                  <a:txBody>
                    <a:bodyPr/>
                    <a:lstStyle/>
                    <a:p>
                      <a:pPr algn="ctr"/>
                      <a:r>
                        <a:rPr sz="750" b="0">
                          <a:solidFill>
                            <a:srgbClr val="1A1A1A"/>
                          </a:solidFill>
                        </a:rPr>
                        <a:t>15.5x</a:t>
                      </a:r>
                    </a:p>
                  </a:txBody>
                  <a:tcPr>
                    <a:noFill/>
                  </a:tcPr>
                </a:tc>
                <a:tc>
                  <a:txBody>
                    <a:bodyPr/>
                    <a:lstStyle/>
                    <a:p>
                      <a:pPr algn="ctr"/>
                      <a:r>
                        <a:rPr sz="750" b="0">
                          <a:solidFill>
                            <a:srgbClr val="1A1A1A"/>
                          </a:solidFill>
                        </a:rPr>
                        <a:t>4.0x</a:t>
                      </a:r>
                    </a:p>
                  </a:txBody>
                  <a:tcPr>
                    <a:noFill/>
                  </a:tcPr>
                </a:tc>
                <a:tc>
                  <a:txBody>
                    <a:bodyPr/>
                    <a:lstStyle/>
                    <a:p>
                      <a:pPr algn="ctr"/>
                      <a:r>
                        <a:rPr sz="750" b="0">
                          <a:solidFill>
                            <a:srgbClr val="1A1A1A"/>
                          </a:solidFill>
                        </a:rPr>
                        <a:t>25.0x</a:t>
                      </a:r>
                    </a:p>
                  </a:txBody>
                  <a:tcPr>
                    <a:noFill/>
                  </a:tcPr>
                </a:tc>
                <a:tc>
                  <a:txBody>
                    <a:bodyPr/>
                    <a:lstStyle/>
                    <a:p>
                      <a:pPr algn="ctr"/>
                      <a:r>
                        <a:rPr sz="750" b="0">
                          <a:solidFill>
                            <a:srgbClr val="1A1A1A"/>
                          </a:solidFill>
                        </a:rPr>
                        <a:t>42.5 %</a:t>
                      </a:r>
                    </a:p>
                  </a:txBody>
                  <a:tcPr>
                    <a:noFill/>
                  </a:tcPr>
                </a:tc>
                <a:tc>
                  <a:txBody>
                    <a:bodyPr/>
                    <a:lstStyle/>
                    <a:p>
                      <a:pPr algn="ctr"/>
                      <a:r>
                        <a:rPr sz="750" b="0">
                          <a:solidFill>
                            <a:srgbClr val="1A1A1A"/>
                          </a:solidFill>
                        </a:rPr>
                        <a:t>24.0 %</a:t>
                      </a:r>
                    </a:p>
                  </a:txBody>
                  <a:tcPr>
                    <a:noFill/>
                  </a:tcPr>
                </a:tc>
                <a:tc>
                  <a:txBody>
                    <a:bodyPr/>
                    <a:lstStyle/>
                    <a:p>
                      <a:pPr algn="ctr"/>
                      <a:r>
                        <a:rPr sz="750" b="0">
                          <a:solidFill>
                            <a:srgbClr val="1A1A1A"/>
                          </a:solidFill>
                        </a:rPr>
                        <a:t>20.0 %</a:t>
                      </a:r>
                    </a:p>
                  </a:txBody>
                  <a:tcPr>
                    <a:noFill/>
                  </a:tcPr>
                </a:tc>
              </a:tr>
              <a:tr h="198000">
                <a:tc>
                  <a:txBody>
                    <a:bodyPr/>
                    <a:lstStyle/>
                    <a:p>
                      <a:pPr algn="ctr"/>
                      <a:r>
                        <a:rPr sz="750" b="0">
                          <a:solidFill>
                            <a:srgbClr val="1A1A1A"/>
                          </a:solidFill>
                        </a:rPr>
                        <a:t>Consumer Defensive C</a:t>
                      </a:r>
                    </a:p>
                  </a:txBody>
                  <a:tcPr>
                    <a:solidFill>
                      <a:srgbClr val="F5F7FA"/>
                    </a:solidFill>
                  </a:tcPr>
                </a:tc>
                <a:tc>
                  <a:txBody>
                    <a:bodyPr/>
                    <a:lstStyle/>
                    <a:p>
                      <a:pPr algn="ctr"/>
                      <a:r>
                        <a:rPr sz="750" b="0">
                          <a:solidFill>
                            <a:srgbClr val="1A1A1A"/>
                          </a:solidFill>
                        </a:rPr>
                        <a:t>14.0x</a:t>
                      </a:r>
                    </a:p>
                  </a:txBody>
                  <a:tcPr>
                    <a:solidFill>
                      <a:srgbClr val="F5F7FA"/>
                    </a:solidFill>
                  </a:tcPr>
                </a:tc>
                <a:tc>
                  <a:txBody>
                    <a:bodyPr/>
                    <a:lstStyle/>
                    <a:p>
                      <a:pPr algn="ctr"/>
                      <a:r>
                        <a:rPr sz="750" b="0">
                          <a:solidFill>
                            <a:srgbClr val="1A1A1A"/>
                          </a:solidFill>
                        </a:rPr>
                        <a:t>3.6x</a:t>
                      </a:r>
                    </a:p>
                  </a:txBody>
                  <a:tcPr>
                    <a:solidFill>
                      <a:srgbClr val="F5F7FA"/>
                    </a:solidFill>
                  </a:tcPr>
                </a:tc>
                <a:tc>
                  <a:txBody>
                    <a:bodyPr/>
                    <a:lstStyle/>
                    <a:p>
                      <a:pPr algn="ctr"/>
                      <a:r>
                        <a:rPr sz="750" b="0">
                          <a:solidFill>
                            <a:srgbClr val="1A1A1A"/>
                          </a:solidFill>
                        </a:rPr>
                        <a:t>23.0x</a:t>
                      </a:r>
                    </a:p>
                  </a:txBody>
                  <a:tcPr>
                    <a:solidFill>
                      <a:srgbClr val="F5F7FA"/>
                    </a:solidFill>
                  </a:tcPr>
                </a:tc>
                <a:tc>
                  <a:txBody>
                    <a:bodyPr/>
                    <a:lstStyle/>
                    <a:p>
                      <a:pPr algn="ctr"/>
                      <a:r>
                        <a:rPr sz="750" b="0">
                          <a:solidFill>
                            <a:srgbClr val="1A1A1A"/>
                          </a:solidFill>
                        </a:rPr>
                        <a:t>42.0 %</a:t>
                      </a:r>
                    </a:p>
                  </a:txBody>
                  <a:tcPr>
                    <a:solidFill>
                      <a:srgbClr val="F5F7FA"/>
                    </a:solidFill>
                  </a:tcPr>
                </a:tc>
                <a:tc>
                  <a:txBody>
                    <a:bodyPr/>
                    <a:lstStyle/>
                    <a:p>
                      <a:pPr algn="ctr"/>
                      <a:r>
                        <a:rPr sz="750" b="0">
                          <a:solidFill>
                            <a:srgbClr val="1A1A1A"/>
                          </a:solidFill>
                        </a:rPr>
                        <a:t>23.2 %</a:t>
                      </a:r>
                    </a:p>
                  </a:txBody>
                  <a:tcPr>
                    <a:solidFill>
                      <a:srgbClr val="F5F7FA"/>
                    </a:solidFill>
                  </a:tcPr>
                </a:tc>
                <a:tc>
                  <a:txBody>
                    <a:bodyPr/>
                    <a:lstStyle/>
                    <a:p>
                      <a:pPr algn="ctr"/>
                      <a:r>
                        <a:rPr sz="750" b="0">
                          <a:solidFill>
                            <a:srgbClr val="1A1A1A"/>
                          </a:solidFill>
                        </a:rPr>
                        <a:t>19.0 %</a:t>
                      </a:r>
                    </a:p>
                  </a:txBody>
                  <a:tcPr>
                    <a:solidFill>
                      <a:srgbClr val="F5F7FA"/>
                    </a:solidFill>
                  </a:tcPr>
                </a:tc>
              </a:tr>
              <a:tr h="198000">
                <a:tc>
                  <a:txBody>
                    <a:bodyPr/>
                    <a:lstStyle/>
                    <a:p>
                      <a:pPr algn="ctr"/>
                      <a:r>
                        <a:rPr sz="750" b="0">
                          <a:solidFill>
                            <a:srgbClr val="1A1A1A"/>
                          </a:solidFill>
                        </a:rPr>
                        <a:t>Consumer Defensive C</a:t>
                      </a:r>
                    </a:p>
                  </a:txBody>
                  <a:tcPr>
                    <a:noFill/>
                  </a:tcPr>
                </a:tc>
                <a:tc>
                  <a:txBody>
                    <a:bodyPr/>
                    <a:lstStyle/>
                    <a:p>
                      <a:pPr algn="ctr"/>
                      <a:r>
                        <a:rPr sz="750" b="0">
                          <a:solidFill>
                            <a:srgbClr val="1A1A1A"/>
                          </a:solidFill>
                        </a:rPr>
                        <a:t>12.5x</a:t>
                      </a:r>
                    </a:p>
                  </a:txBody>
                  <a:tcPr>
                    <a:noFill/>
                  </a:tcPr>
                </a:tc>
                <a:tc>
                  <a:txBody>
                    <a:bodyPr/>
                    <a:lstStyle/>
                    <a:p>
                      <a:pPr algn="ctr"/>
                      <a:r>
                        <a:rPr sz="750" b="0">
                          <a:solidFill>
                            <a:srgbClr val="1A1A1A"/>
                          </a:solidFill>
                        </a:rPr>
                        <a:t>3.2x</a:t>
                      </a:r>
                    </a:p>
                  </a:txBody>
                  <a:tcPr>
                    <a:noFill/>
                  </a:tcPr>
                </a:tc>
                <a:tc>
                  <a:txBody>
                    <a:bodyPr/>
                    <a:lstStyle/>
                    <a:p>
                      <a:pPr algn="ctr"/>
                      <a:r>
                        <a:rPr sz="750" b="0">
                          <a:solidFill>
                            <a:srgbClr val="1A1A1A"/>
                          </a:solidFill>
                        </a:rPr>
                        <a:t>21.0x</a:t>
                      </a:r>
                    </a:p>
                  </a:txBody>
                  <a:tcPr>
                    <a:noFill/>
                  </a:tcPr>
                </a:tc>
                <a:tc>
                  <a:txBody>
                    <a:bodyPr/>
                    <a:lstStyle/>
                    <a:p>
                      <a:pPr algn="ctr"/>
                      <a:r>
                        <a:rPr sz="750" b="0">
                          <a:solidFill>
                            <a:srgbClr val="1A1A1A"/>
                          </a:solidFill>
                        </a:rPr>
                        <a:t>41.5 %</a:t>
                      </a:r>
                    </a:p>
                  </a:txBody>
                  <a:tcPr>
                    <a:noFill/>
                  </a:tcPr>
                </a:tc>
                <a:tc>
                  <a:txBody>
                    <a:bodyPr/>
                    <a:lstStyle/>
                    <a:p>
                      <a:pPr algn="ctr"/>
                      <a:r>
                        <a:rPr sz="750" b="0">
                          <a:solidFill>
                            <a:srgbClr val="1A1A1A"/>
                          </a:solidFill>
                        </a:rPr>
                        <a:t>22.4 %</a:t>
                      </a:r>
                    </a:p>
                  </a:txBody>
                  <a:tcPr>
                    <a:noFill/>
                  </a:tcPr>
                </a:tc>
                <a:tc>
                  <a:txBody>
                    <a:bodyPr/>
                    <a:lstStyle/>
                    <a:p>
                      <a:pPr algn="ctr"/>
                      <a:r>
                        <a:rPr sz="750" b="0">
                          <a:solidFill>
                            <a:srgbClr val="1A1A1A"/>
                          </a:solidFill>
                        </a:rPr>
                        <a:t>18.0 %</a:t>
                      </a:r>
                    </a:p>
                  </a:txBody>
                  <a:tcPr>
                    <a:noFill/>
                  </a:tcPr>
                </a:tc>
              </a:tr>
              <a:tr h="198000">
                <a:tc>
                  <a:txBody>
                    <a:bodyPr/>
                    <a:lstStyle/>
                    <a:p>
                      <a:pPr algn="ctr"/>
                      <a:r>
                        <a:rPr sz="750" b="0">
                          <a:solidFill>
                            <a:srgbClr val="1A1A1A"/>
                          </a:solidFill>
                        </a:rPr>
                        <a:t>Consumer Defensive C</a:t>
                      </a:r>
                    </a:p>
                  </a:txBody>
                  <a:tcPr>
                    <a:solidFill>
                      <a:srgbClr val="F5F7FA"/>
                    </a:solidFill>
                  </a:tcPr>
                </a:tc>
                <a:tc>
                  <a:txBody>
                    <a:bodyPr/>
                    <a:lstStyle/>
                    <a:p>
                      <a:pPr algn="ctr"/>
                      <a:r>
                        <a:rPr sz="750" b="0">
                          <a:solidFill>
                            <a:srgbClr val="1A1A1A"/>
                          </a:solidFill>
                        </a:rPr>
                        <a:t>11.0x</a:t>
                      </a:r>
                    </a:p>
                  </a:txBody>
                  <a:tcPr>
                    <a:solidFill>
                      <a:srgbClr val="F5F7FA"/>
                    </a:solidFill>
                  </a:tcPr>
                </a:tc>
                <a:tc>
                  <a:txBody>
                    <a:bodyPr/>
                    <a:lstStyle/>
                    <a:p>
                      <a:pPr algn="ctr"/>
                      <a:r>
                        <a:rPr sz="750" b="0">
                          <a:solidFill>
                            <a:srgbClr val="1A1A1A"/>
                          </a:solidFill>
                        </a:rPr>
                        <a:t>2.8x</a:t>
                      </a:r>
                    </a:p>
                  </a:txBody>
                  <a:tcPr>
                    <a:solidFill>
                      <a:srgbClr val="F5F7FA"/>
                    </a:solidFill>
                  </a:tcPr>
                </a:tc>
                <a:tc>
                  <a:txBody>
                    <a:bodyPr/>
                    <a:lstStyle/>
                    <a:p>
                      <a:pPr algn="ctr"/>
                      <a:r>
                        <a:rPr sz="750" b="0">
                          <a:solidFill>
                            <a:srgbClr val="1A1A1A"/>
                          </a:solidFill>
                        </a:rPr>
                        <a:t>19.0x</a:t>
                      </a:r>
                    </a:p>
                  </a:txBody>
                  <a:tcPr>
                    <a:solidFill>
                      <a:srgbClr val="F5F7FA"/>
                    </a:solidFill>
                  </a:tcPr>
                </a:tc>
                <a:tc>
                  <a:txBody>
                    <a:bodyPr/>
                    <a:lstStyle/>
                    <a:p>
                      <a:pPr algn="ctr"/>
                      <a:r>
                        <a:rPr sz="750" b="0">
                          <a:solidFill>
                            <a:srgbClr val="1A1A1A"/>
                          </a:solidFill>
                        </a:rPr>
                        <a:t>41.0 %</a:t>
                      </a:r>
                    </a:p>
                  </a:txBody>
                  <a:tcPr>
                    <a:solidFill>
                      <a:srgbClr val="F5F7FA"/>
                    </a:solidFill>
                  </a:tcPr>
                </a:tc>
                <a:tc>
                  <a:txBody>
                    <a:bodyPr/>
                    <a:lstStyle/>
                    <a:p>
                      <a:pPr algn="ctr"/>
                      <a:r>
                        <a:rPr sz="750" b="0">
                          <a:solidFill>
                            <a:srgbClr val="1A1A1A"/>
                          </a:solidFill>
                        </a:rPr>
                        <a:t>21.6 %</a:t>
                      </a:r>
                    </a:p>
                  </a:txBody>
                  <a:tcPr>
                    <a:solidFill>
                      <a:srgbClr val="F5F7FA"/>
                    </a:solidFill>
                  </a:tcPr>
                </a:tc>
                <a:tc>
                  <a:txBody>
                    <a:bodyPr/>
                    <a:lstStyle/>
                    <a:p>
                      <a:pPr algn="ctr"/>
                      <a:r>
                        <a:rPr sz="750" b="0">
                          <a:solidFill>
                            <a:srgbClr val="1A1A1A"/>
                          </a:solidFill>
                        </a:rPr>
                        <a:t>17.0 %</a:t>
                      </a:r>
                    </a:p>
                  </a:txBody>
                  <a:tcPr>
                    <a:solidFill>
                      <a:srgbClr val="F5F7FA"/>
                    </a:solidFill>
                  </a:tcPr>
                </a:tc>
              </a:tr>
              <a:tr h="198000">
                <a:tc>
                  <a:txBody>
                    <a:bodyPr/>
                    <a:lstStyle/>
                    <a:p>
                      <a:pPr algn="ctr"/>
                      <a:r>
                        <a:rPr sz="750" b="0">
                          <a:solidFill>
                            <a:srgbClr val="1A1A1A"/>
                          </a:solidFill>
                        </a:rPr>
                        <a:t>Consumer Defensive C</a:t>
                      </a:r>
                    </a:p>
                  </a:txBody>
                  <a:tcPr>
                    <a:noFill/>
                  </a:tcPr>
                </a:tc>
                <a:tc>
                  <a:txBody>
                    <a:bodyPr/>
                    <a:lstStyle/>
                    <a:p>
                      <a:pPr algn="ctr"/>
                      <a:r>
                        <a:rPr sz="750" b="0">
                          <a:solidFill>
                            <a:srgbClr val="1A1A1A"/>
                          </a:solidFill>
                        </a:rPr>
                        <a:t>9.5x</a:t>
                      </a:r>
                    </a:p>
                  </a:txBody>
                  <a:tcPr>
                    <a:noFill/>
                  </a:tcPr>
                </a:tc>
                <a:tc>
                  <a:txBody>
                    <a:bodyPr/>
                    <a:lstStyle/>
                    <a:p>
                      <a:pPr algn="ctr"/>
                      <a:r>
                        <a:rPr sz="750" b="0">
                          <a:solidFill>
                            <a:srgbClr val="1A1A1A"/>
                          </a:solidFill>
                        </a:rPr>
                        <a:t>2.4x</a:t>
                      </a:r>
                    </a:p>
                  </a:txBody>
                  <a:tcPr>
                    <a:noFill/>
                  </a:tcPr>
                </a:tc>
                <a:tc>
                  <a:txBody>
                    <a:bodyPr/>
                    <a:lstStyle/>
                    <a:p>
                      <a:pPr algn="ctr"/>
                      <a:r>
                        <a:rPr sz="750" b="0">
                          <a:solidFill>
                            <a:srgbClr val="1A1A1A"/>
                          </a:solidFill>
                        </a:rPr>
                        <a:t>17.0x</a:t>
                      </a:r>
                    </a:p>
                  </a:txBody>
                  <a:tcPr>
                    <a:noFill/>
                  </a:tcPr>
                </a:tc>
                <a:tc>
                  <a:txBody>
                    <a:bodyPr/>
                    <a:lstStyle/>
                    <a:p>
                      <a:pPr algn="ctr"/>
                      <a:r>
                        <a:rPr sz="750" b="0">
                          <a:solidFill>
                            <a:srgbClr val="1A1A1A"/>
                          </a:solidFill>
                        </a:rPr>
                        <a:t>40.5 %</a:t>
                      </a:r>
                    </a:p>
                  </a:txBody>
                  <a:tcPr>
                    <a:noFill/>
                  </a:tcPr>
                </a:tc>
                <a:tc>
                  <a:txBody>
                    <a:bodyPr/>
                    <a:lstStyle/>
                    <a:p>
                      <a:pPr algn="ctr"/>
                      <a:r>
                        <a:rPr sz="750" b="0">
                          <a:solidFill>
                            <a:srgbClr val="1A1A1A"/>
                          </a:solidFill>
                        </a:rPr>
                        <a:t>20.8 %</a:t>
                      </a:r>
                    </a:p>
                  </a:txBody>
                  <a:tcPr>
                    <a:noFill/>
                  </a:tcPr>
                </a:tc>
                <a:tc>
                  <a:txBody>
                    <a:bodyPr/>
                    <a:lstStyle/>
                    <a:p>
                      <a:pPr algn="ctr"/>
                      <a:r>
                        <a:rPr sz="750" b="0">
                          <a:solidFill>
                            <a:srgbClr val="1A1A1A"/>
                          </a:solidFill>
                        </a:rPr>
                        <a:t>16.0 %</a:t>
                      </a:r>
                    </a:p>
                  </a:txBody>
                  <a:tcPr>
                    <a:noFill/>
                  </a:tcPr>
                </a:tc>
              </a:tr>
              <a:tr h="198000">
                <a:tc>
                  <a:txBody>
                    <a:bodyPr/>
                    <a:lstStyle/>
                    <a:p>
                      <a:pPr algn="ctr"/>
                      <a:r>
                        <a:rPr sz="750" b="0">
                          <a:solidFill>
                            <a:srgbClr val="1A1A1A"/>
                          </a:solidFill>
                        </a:rPr>
                        <a:t>Consumer Defensive C</a:t>
                      </a:r>
                    </a:p>
                  </a:txBody>
                  <a:tcPr>
                    <a:solidFill>
                      <a:srgbClr val="F5F7FA"/>
                    </a:solidFill>
                  </a:tcPr>
                </a:tc>
                <a:tc>
                  <a:txBody>
                    <a:bodyPr/>
                    <a:lstStyle/>
                    <a:p>
                      <a:pPr algn="ctr"/>
                      <a:r>
                        <a:rPr sz="750" b="0">
                          <a:solidFill>
                            <a:srgbClr val="1A1A1A"/>
                          </a:solidFill>
                        </a:rPr>
                        <a:t>8.0x</a:t>
                      </a:r>
                    </a:p>
                  </a:txBody>
                  <a:tcPr>
                    <a:solidFill>
                      <a:srgbClr val="F5F7FA"/>
                    </a:solidFill>
                  </a:tcPr>
                </a:tc>
                <a:tc>
                  <a:txBody>
                    <a:bodyPr/>
                    <a:lstStyle/>
                    <a:p>
                      <a:pPr algn="ctr"/>
                      <a:r>
                        <a:rPr sz="750" b="0">
                          <a:solidFill>
                            <a:srgbClr val="1A1A1A"/>
                          </a:solidFill>
                        </a:rPr>
                        <a:t>2.0x</a:t>
                      </a:r>
                    </a:p>
                  </a:txBody>
                  <a:tcPr>
                    <a:solidFill>
                      <a:srgbClr val="F5F7FA"/>
                    </a:solidFill>
                  </a:tcPr>
                </a:tc>
                <a:tc>
                  <a:txBody>
                    <a:bodyPr/>
                    <a:lstStyle/>
                    <a:p>
                      <a:pPr algn="ctr"/>
                      <a:r>
                        <a:rPr sz="750" b="0">
                          <a:solidFill>
                            <a:srgbClr val="1A1A1A"/>
                          </a:solidFill>
                        </a:rPr>
                        <a:t>15.0x</a:t>
                      </a:r>
                    </a:p>
                  </a:txBody>
                  <a:tcPr>
                    <a:solidFill>
                      <a:srgbClr val="F5F7FA"/>
                    </a:solidFill>
                  </a:tcPr>
                </a:tc>
                <a:tc>
                  <a:txBody>
                    <a:bodyPr/>
                    <a:lstStyle/>
                    <a:p>
                      <a:pPr algn="ctr"/>
                      <a:r>
                        <a:rPr sz="750" b="0">
                          <a:solidFill>
                            <a:srgbClr val="1A1A1A"/>
                          </a:solidFill>
                        </a:rPr>
                        <a:t>40.0 %</a:t>
                      </a:r>
                    </a:p>
                  </a:txBody>
                  <a:tcPr>
                    <a:solidFill>
                      <a:srgbClr val="F5F7FA"/>
                    </a:solidFill>
                  </a:tcPr>
                </a:tc>
                <a:tc>
                  <a:txBody>
                    <a:bodyPr/>
                    <a:lstStyle/>
                    <a:p>
                      <a:pPr algn="ctr"/>
                      <a:r>
                        <a:rPr sz="750" b="0">
                          <a:solidFill>
                            <a:srgbClr val="1A1A1A"/>
                          </a:solidFill>
                        </a:rPr>
                        <a:t>20.0 %</a:t>
                      </a:r>
                    </a:p>
                  </a:txBody>
                  <a:tcPr>
                    <a:solidFill>
                      <a:srgbClr val="F5F7FA"/>
                    </a:solidFill>
                  </a:tcPr>
                </a:tc>
                <a:tc>
                  <a:txBody>
                    <a:bodyPr/>
                    <a:lstStyle/>
                    <a:p>
                      <a:pPr algn="ctr"/>
                      <a:r>
                        <a:rPr sz="750" b="0">
                          <a:solidFill>
                            <a:srgbClr val="1A1A1A"/>
                          </a:solidFill>
                        </a:rPr>
                        <a:t>15.0 %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11.8x</a:t>
                      </a:r>
                    </a:p>
                  </a:txBody>
                  <a:tcPr>
                    <a:noFill/>
                  </a:tcPr>
                </a:tc>
                <a:tc>
                  <a:txBody>
                    <a:bodyPr/>
                    <a:lstStyle/>
                    <a:p>
                      <a:pPr algn="ctr"/>
                      <a:r>
                        <a:rPr sz="750" b="0">
                          <a:solidFill>
                            <a:srgbClr val="1A1A1A"/>
                          </a:solidFill>
                        </a:rPr>
                        <a:t>3.0x</a:t>
                      </a:r>
                    </a:p>
                  </a:txBody>
                  <a:tcPr>
                    <a:noFill/>
                  </a:tcPr>
                </a:tc>
                <a:tc>
                  <a:txBody>
                    <a:bodyPr/>
                    <a:lstStyle/>
                    <a:p>
                      <a:pPr algn="ctr"/>
                      <a:r>
                        <a:rPr sz="750" b="0">
                          <a:solidFill>
                            <a:srgbClr val="1A1A1A"/>
                          </a:solidFill>
                        </a:rPr>
                        <a:t>20.0x</a:t>
                      </a:r>
                    </a:p>
                  </a:txBody>
                  <a:tcPr>
                    <a:noFill/>
                  </a:tcPr>
                </a:tc>
                <a:tc>
                  <a:txBody>
                    <a:bodyPr/>
                    <a:lstStyle/>
                    <a:p>
                      <a:pPr algn="ctr"/>
                      <a:r>
                        <a:rPr sz="750" b="0">
                          <a:solidFill>
                            <a:srgbClr val="1A1A1A"/>
                          </a:solidFill>
                        </a:rPr>
                        <a:t>41.2 %</a:t>
                      </a:r>
                    </a:p>
                  </a:txBody>
                  <a:tcPr>
                    <a:noFill/>
                  </a:tcPr>
                </a:tc>
                <a:tc>
                  <a:txBody>
                    <a:bodyPr/>
                    <a:lstStyle/>
                    <a:p>
                      <a:pPr algn="ctr"/>
                      <a:r>
                        <a:rPr sz="750" b="0">
                          <a:solidFill>
                            <a:srgbClr val="1A1A1A"/>
                          </a:solidFill>
                        </a:rPr>
                        <a:t>22.0 %</a:t>
                      </a:r>
                    </a:p>
                  </a:txBody>
                  <a:tcPr>
                    <a:noFill/>
                  </a:tcPr>
                </a:tc>
                <a:tc>
                  <a:txBody>
                    <a:bodyPr/>
                    <a:lstStyle/>
                    <a:p>
                      <a:pPr algn="ctr"/>
                      <a:r>
                        <a:rPr sz="750" b="0">
                          <a:solidFill>
                            <a:srgbClr val="1A1A1A"/>
                          </a:solidFill>
                        </a:rPr>
                        <a:t>17.5 %</a:t>
                      </a:r>
                    </a:p>
                  </a:txBody>
                  <a:tcPr>
                    <a:noFill/>
                  </a:tcPr>
                </a:tc>
              </a:tr>
            </a:tbl>
          </a:graphicData>
        </a:graphic>
      </p:graphicFrame>
      <p:sp>
        <p:nvSpPr>
          <p:cNvPr id="16" name="Rectangle 15"/>
          <p:cNvSpPr/>
          <p:nvPr/>
        </p:nvSpPr>
        <p:spPr>
          <a:xfrm>
            <a:off x="324000" y="3780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798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4068000"/>
            <a:ext cx="8352000" cy="720000"/>
          </a:xfrm>
          <a:prstGeom prst="rect">
            <a:avLst/>
          </a:prstGeom>
          <a:noFill/>
        </p:spPr>
        <p:txBody>
          <a:bodyPr wrap="square">
            <a:spAutoFit/>
          </a:bodyPr>
          <a:lstStyle/>
          <a:p>
            <a:pPr algn="l"/>
            <a:r>
              <a:rPr sz="850" b="0" i="0">
                <a:solidFill>
                  <a:srgbClr val="555555"/>
                </a:solidFill>
              </a:rPr>
              <a:t>La médiane EV/EBITDA sectorielle s etablit a 11.8x LTM. Consumer Defensive C (15.5x) se distingue comme le leader de qualité, combine a une marge EBITDA de 24.0 % et une croissance de +12.5 %. La dispersion des multiples revele la hétérogénéité des profils au sein du secteur Consumer Defensive — une lecture croisee P/E vs EV/EBITDA permet d'isoler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Drivers de croissance &amp; sensibilite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Pricing Power Marques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Leaders de catégorie maintiennent +3-5 % de hausse tarifaire annuelle</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Emergents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Croissance volumes a 2 chiffres en Afrique et Asie du Sud-Est</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Pression Distribution</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Négociations annuelles de plus en plus defavorables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Saturation Matures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Volumes stagnants en Europe — croissance principalement par prix</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58/100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8.9 %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défensif | résilient en recession, sous-performant en expansion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6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6 sociétés analysées  ·  Consumer Defensive  ·  S&amp;P 500  ·  Tri par score FinSight decroissant</a:t>
            </a:r>
          </a:p>
        </p:txBody>
      </p:sp>
      <p:graphicFrame>
        <p:nvGraphicFramePr>
          <p:cNvPr id="15" name="Table 14"/>
          <p:cNvGraphicFramePr>
            <a:graphicFrameLocks noGrp="1"/>
          </p:cNvGraphicFramePr>
          <p:nvPr/>
        </p:nvGraphicFramePr>
        <p:xfrm>
          <a:off x="324000" y="900000"/>
          <a:ext cx="8495998" cy="14112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CON6</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68/100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130</a:t>
                      </a:r>
                    </a:p>
                  </a:txBody>
                  <a:tcPr>
                    <a:noFill/>
                  </a:tcPr>
                </a:tc>
                <a:tc>
                  <a:txBody>
                    <a:bodyPr/>
                    <a:lstStyle/>
                    <a:p>
                      <a:pPr algn="ctr"/>
                      <a:r>
                        <a:rPr sz="750" b="0">
                          <a:solidFill>
                            <a:srgbClr val="1A1A1A"/>
                          </a:solidFill>
                        </a:rPr>
                        <a:t>15.5x</a:t>
                      </a:r>
                    </a:p>
                  </a:txBody>
                  <a:tcPr>
                    <a:noFill/>
                  </a:tcPr>
                </a:tc>
                <a:tc>
                  <a:txBody>
                    <a:bodyPr/>
                    <a:lstStyle/>
                    <a:p>
                      <a:pPr algn="ctr"/>
                      <a:r>
                        <a:rPr sz="750" b="0">
                          <a:solidFill>
                            <a:srgbClr val="1A1A1A"/>
                          </a:solidFill>
                        </a:rPr>
                        <a:t>24.0 %</a:t>
                      </a:r>
                    </a:p>
                  </a:txBody>
                  <a:tcPr>
                    <a:noFill/>
                  </a:tcPr>
                </a:tc>
                <a:tc>
                  <a:txBody>
                    <a:bodyPr/>
                    <a:lstStyle/>
                    <a:p>
                      <a:pPr algn="ctr"/>
                      <a:r>
                        <a:rPr sz="750" b="0">
                          <a:solidFill>
                            <a:srgbClr val="1A1A1A"/>
                          </a:solidFill>
                        </a:rPr>
                        <a:t>+12.5 %</a:t>
                      </a:r>
                    </a:p>
                  </a:txBody>
                  <a:tcPr>
                    <a:noFill/>
                  </a:tcPr>
                </a:tc>
                <a:tc>
                  <a:txBody>
                    <a:bodyPr/>
                    <a:lstStyle/>
                    <a:p>
                      <a:pPr algn="ctr"/>
                      <a:r>
                        <a:rPr sz="750" b="0">
                          <a:solidFill>
                            <a:srgbClr val="1A1A1A"/>
                          </a:solidFill>
                        </a:rPr>
                        <a:t>+20.0 %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CON5</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64/100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120</a:t>
                      </a:r>
                    </a:p>
                  </a:txBody>
                  <a:tcPr>
                    <a:solidFill>
                      <a:srgbClr val="F5F7FA"/>
                    </a:solidFill>
                  </a:tcPr>
                </a:tc>
                <a:tc>
                  <a:txBody>
                    <a:bodyPr/>
                    <a:lstStyle/>
                    <a:p>
                      <a:pPr algn="ctr"/>
                      <a:r>
                        <a:rPr sz="750" b="0">
                          <a:solidFill>
                            <a:srgbClr val="1A1A1A"/>
                          </a:solidFill>
                        </a:rPr>
                        <a:t>14.0x</a:t>
                      </a:r>
                    </a:p>
                  </a:txBody>
                  <a:tcPr>
                    <a:solidFill>
                      <a:srgbClr val="F5F7FA"/>
                    </a:solidFill>
                  </a:tcPr>
                </a:tc>
                <a:tc>
                  <a:txBody>
                    <a:bodyPr/>
                    <a:lstStyle/>
                    <a:p>
                      <a:pPr algn="ctr"/>
                      <a:r>
                        <a:rPr sz="750" b="0">
                          <a:solidFill>
                            <a:srgbClr val="1A1A1A"/>
                          </a:solidFill>
                        </a:rPr>
                        <a:t>23.2 %</a:t>
                      </a:r>
                    </a:p>
                  </a:txBody>
                  <a:tcPr>
                    <a:solidFill>
                      <a:srgbClr val="F5F7FA"/>
                    </a:solidFill>
                  </a:tcPr>
                </a:tc>
                <a:tc>
                  <a:txBody>
                    <a:bodyPr/>
                    <a:lstStyle/>
                    <a:p>
                      <a:pPr algn="ctr"/>
                      <a:r>
                        <a:rPr sz="750" b="0">
                          <a:solidFill>
                            <a:srgbClr val="1A1A1A"/>
                          </a:solidFill>
                        </a:rPr>
                        <a:t>+11.0 %</a:t>
                      </a:r>
                    </a:p>
                  </a:txBody>
                  <a:tcPr>
                    <a:solidFill>
                      <a:srgbClr val="F5F7FA"/>
                    </a:solidFill>
                  </a:tcPr>
                </a:tc>
                <a:tc>
                  <a:txBody>
                    <a:bodyPr/>
                    <a:lstStyle/>
                    <a:p>
                      <a:pPr algn="ctr"/>
                      <a:r>
                        <a:rPr sz="750" b="0">
                          <a:solidFill>
                            <a:srgbClr val="1A1A1A"/>
                          </a:solidFill>
                        </a:rPr>
                        <a:t>+17.0 %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CON4</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60/100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110</a:t>
                      </a:r>
                    </a:p>
                  </a:txBody>
                  <a:tcPr>
                    <a:noFill/>
                  </a:tcPr>
                </a:tc>
                <a:tc>
                  <a:txBody>
                    <a:bodyPr/>
                    <a:lstStyle/>
                    <a:p>
                      <a:pPr algn="ctr"/>
                      <a:r>
                        <a:rPr sz="750" b="0">
                          <a:solidFill>
                            <a:srgbClr val="1A1A1A"/>
                          </a:solidFill>
                        </a:rPr>
                        <a:t>12.5x</a:t>
                      </a:r>
                    </a:p>
                  </a:txBody>
                  <a:tcPr>
                    <a:noFill/>
                  </a:tcPr>
                </a:tc>
                <a:tc>
                  <a:txBody>
                    <a:bodyPr/>
                    <a:lstStyle/>
                    <a:p>
                      <a:pPr algn="ctr"/>
                      <a:r>
                        <a:rPr sz="750" b="0">
                          <a:solidFill>
                            <a:srgbClr val="1A1A1A"/>
                          </a:solidFill>
                        </a:rPr>
                        <a:t>22.4 %</a:t>
                      </a:r>
                    </a:p>
                  </a:txBody>
                  <a:tcPr>
                    <a:noFill/>
                  </a:tcPr>
                </a:tc>
                <a:tc>
                  <a:txBody>
                    <a:bodyPr/>
                    <a:lstStyle/>
                    <a:p>
                      <a:pPr algn="ctr"/>
                      <a:r>
                        <a:rPr sz="750" b="0">
                          <a:solidFill>
                            <a:srgbClr val="1A1A1A"/>
                          </a:solidFill>
                        </a:rPr>
                        <a:t>+9.5 %</a:t>
                      </a:r>
                    </a:p>
                  </a:txBody>
                  <a:tcPr>
                    <a:noFill/>
                  </a:tcPr>
                </a:tc>
                <a:tc>
                  <a:txBody>
                    <a:bodyPr/>
                    <a:lstStyle/>
                    <a:p>
                      <a:pPr algn="ctr"/>
                      <a:r>
                        <a:rPr sz="750" b="0">
                          <a:solidFill>
                            <a:srgbClr val="1A1A1A"/>
                          </a:solidFill>
                        </a:rPr>
                        <a:t>+14.0 %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CON3</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56/100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100</a:t>
                      </a:r>
                    </a:p>
                  </a:txBody>
                  <a:tcPr>
                    <a:solidFill>
                      <a:srgbClr val="F5F7FA"/>
                    </a:solidFill>
                  </a:tcPr>
                </a:tc>
                <a:tc>
                  <a:txBody>
                    <a:bodyPr/>
                    <a:lstStyle/>
                    <a:p>
                      <a:pPr algn="ctr"/>
                      <a:r>
                        <a:rPr sz="750" b="0">
                          <a:solidFill>
                            <a:srgbClr val="1A1A1A"/>
                          </a:solidFill>
                        </a:rPr>
                        <a:t>11.0x</a:t>
                      </a:r>
                    </a:p>
                  </a:txBody>
                  <a:tcPr>
                    <a:solidFill>
                      <a:srgbClr val="F5F7FA"/>
                    </a:solidFill>
                  </a:tcPr>
                </a:tc>
                <a:tc>
                  <a:txBody>
                    <a:bodyPr/>
                    <a:lstStyle/>
                    <a:p>
                      <a:pPr algn="ctr"/>
                      <a:r>
                        <a:rPr sz="750" b="0">
                          <a:solidFill>
                            <a:srgbClr val="1A1A1A"/>
                          </a:solidFill>
                        </a:rPr>
                        <a:t>21.6 %</a:t>
                      </a:r>
                    </a:p>
                  </a:txBody>
                  <a:tcPr>
                    <a:solidFill>
                      <a:srgbClr val="F5F7FA"/>
                    </a:solidFill>
                  </a:tcPr>
                </a:tc>
                <a:tc>
                  <a:txBody>
                    <a:bodyPr/>
                    <a:lstStyle/>
                    <a:p>
                      <a:pPr algn="ctr"/>
                      <a:r>
                        <a:rPr sz="750" b="0">
                          <a:solidFill>
                            <a:srgbClr val="1A1A1A"/>
                          </a:solidFill>
                        </a:rPr>
                        <a:t>+8.0 %</a:t>
                      </a:r>
                    </a:p>
                  </a:txBody>
                  <a:tcPr>
                    <a:solidFill>
                      <a:srgbClr val="F5F7FA"/>
                    </a:solidFill>
                  </a:tcPr>
                </a:tc>
                <a:tc>
                  <a:txBody>
                    <a:bodyPr/>
                    <a:lstStyle/>
                    <a:p>
                      <a:pPr algn="ctr"/>
                      <a:r>
                        <a:rPr sz="750" b="0">
                          <a:solidFill>
                            <a:srgbClr val="1A1A1A"/>
                          </a:solidFill>
                        </a:rPr>
                        <a:t>+11.0 %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CON2</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52/100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90</a:t>
                      </a:r>
                    </a:p>
                  </a:txBody>
                  <a:tcPr>
                    <a:noFill/>
                  </a:tcPr>
                </a:tc>
                <a:tc>
                  <a:txBody>
                    <a:bodyPr/>
                    <a:lstStyle/>
                    <a:p>
                      <a:pPr algn="ctr"/>
                      <a:r>
                        <a:rPr sz="750" b="0">
                          <a:solidFill>
                            <a:srgbClr val="1A1A1A"/>
                          </a:solidFill>
                        </a:rPr>
                        <a:t>9.5x</a:t>
                      </a:r>
                    </a:p>
                  </a:txBody>
                  <a:tcPr>
                    <a:noFill/>
                  </a:tcPr>
                </a:tc>
                <a:tc>
                  <a:txBody>
                    <a:bodyPr/>
                    <a:lstStyle/>
                    <a:p>
                      <a:pPr algn="ctr"/>
                      <a:r>
                        <a:rPr sz="750" b="0">
                          <a:solidFill>
                            <a:srgbClr val="1A1A1A"/>
                          </a:solidFill>
                        </a:rPr>
                        <a:t>20.8 %</a:t>
                      </a:r>
                    </a:p>
                  </a:txBody>
                  <a:tcPr>
                    <a:noFill/>
                  </a:tcPr>
                </a:tc>
                <a:tc>
                  <a:txBody>
                    <a:bodyPr/>
                    <a:lstStyle/>
                    <a:p>
                      <a:pPr algn="ctr"/>
                      <a:r>
                        <a:rPr sz="750" b="0">
                          <a:solidFill>
                            <a:srgbClr val="1A1A1A"/>
                          </a:solidFill>
                        </a:rPr>
                        <a:t>+6.5 %</a:t>
                      </a:r>
                    </a:p>
                  </a:txBody>
                  <a:tcPr>
                    <a:noFill/>
                  </a:tcPr>
                </a:tc>
                <a:tc>
                  <a:txBody>
                    <a:bodyPr/>
                    <a:lstStyle/>
                    <a:p>
                      <a:pPr algn="ctr"/>
                      <a:r>
                        <a:rPr sz="750" b="0">
                          <a:solidFill>
                            <a:srgbClr val="1A1A1A"/>
                          </a:solidFill>
                        </a:rPr>
                        <a:t>+8.0 %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CON1</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48/100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80</a:t>
                      </a:r>
                    </a:p>
                  </a:txBody>
                  <a:tcPr>
                    <a:solidFill>
                      <a:srgbClr val="F5F7FA"/>
                    </a:solidFill>
                  </a:tcPr>
                </a:tc>
                <a:tc>
                  <a:txBody>
                    <a:bodyPr/>
                    <a:lstStyle/>
                    <a:p>
                      <a:pPr algn="ctr"/>
                      <a:r>
                        <a:rPr sz="750" b="0">
                          <a:solidFill>
                            <a:srgbClr val="1A1A1A"/>
                          </a:solidFill>
                        </a:rPr>
                        <a:t>8.0x</a:t>
                      </a:r>
                    </a:p>
                  </a:txBody>
                  <a:tcPr>
                    <a:solidFill>
                      <a:srgbClr val="F5F7FA"/>
                    </a:solidFill>
                  </a:tcPr>
                </a:tc>
                <a:tc>
                  <a:txBody>
                    <a:bodyPr/>
                    <a:lstStyle/>
                    <a:p>
                      <a:pPr algn="ctr"/>
                      <a:r>
                        <a:rPr sz="750" b="0">
                          <a:solidFill>
                            <a:srgbClr val="1A1A1A"/>
                          </a:solidFill>
                        </a:rPr>
                        <a:t>20.0 %</a:t>
                      </a:r>
                    </a:p>
                  </a:txBody>
                  <a:tcPr>
                    <a:solidFill>
                      <a:srgbClr val="F5F7FA"/>
                    </a:solidFill>
                  </a:tcPr>
                </a:tc>
                <a:tc>
                  <a:txBody>
                    <a:bodyPr/>
                    <a:lstStyle/>
                    <a:p>
                      <a:pPr algn="ctr"/>
                      <a:r>
                        <a:rPr sz="750" b="0">
                          <a:solidFill>
                            <a:srgbClr val="1A1A1A"/>
                          </a:solidFill>
                        </a:rPr>
                        <a:t>+5.0 %</a:t>
                      </a:r>
                    </a:p>
                  </a:txBody>
                  <a:tcPr>
                    <a:solidFill>
                      <a:srgbClr val="F5F7FA"/>
                    </a:solidFill>
                  </a:tcPr>
                </a:tc>
                <a:tc>
                  <a:txBody>
                    <a:bodyPr/>
                    <a:lstStyle/>
                    <a:p>
                      <a:pPr algn="ctr"/>
                      <a:r>
                        <a:rPr sz="750" b="0">
                          <a:solidFill>
                            <a:srgbClr val="1A1A1A"/>
                          </a:solidFill>
                        </a:rPr>
                        <a:t>+5.0 %</a:t>
                      </a:r>
                    </a:p>
                  </a:txBody>
                  <a:tcPr>
                    <a:solidFill>
                      <a:srgbClr val="F5F7FA"/>
                    </a:solidFill>
                  </a:tcPr>
                </a:tc>
              </a:tr>
            </a:tbl>
          </a:graphicData>
        </a:graphic>
      </p:graphicFrame>
      <p:sp>
        <p:nvSpPr>
          <p:cNvPr id="16" name="Rectangle 15"/>
          <p:cNvSpPr/>
          <p:nvPr/>
        </p:nvSpPr>
        <p:spPr>
          <a:xfrm>
            <a:off x="324000" y="3348000"/>
            <a:ext cx="8496000" cy="14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48000"/>
            <a:ext cx="36000" cy="14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01999"/>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636000"/>
            <a:ext cx="8280000" cy="1080000"/>
          </a:xfrm>
          <a:prstGeom prst="rect">
            <a:avLst/>
          </a:prstGeom>
          <a:noFill/>
        </p:spPr>
        <p:txBody>
          <a:bodyPr wrap="square">
            <a:spAutoFit/>
          </a:bodyPr>
          <a:lstStyle/>
          <a:p>
            <a:pPr algn="l"/>
            <a:r>
              <a:rPr sz="850" b="0" i="0">
                <a:solidFill>
                  <a:srgbClr val="555555"/>
                </a:solidFill>
              </a:rPr>
              <a:t>Le secteur Consumer Defensive presente 1 BUY / 5 HOLD / 0 SELL sur 6 valeurs analysées. Consumer Defensive Cor (score 68/100) constitue le coeur offensif recommande — fondamentaux solides et visibilite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CON6 domine le quadrant Premium Justifie — valorisation élevée (15.5x) soutenue par 42.5 % de marge brute.
CON1 se positionne en zone Opportunite — EV/EBITDA de 8.0x sous la médiane sectorielle de 11.8x.
La médiane sectorielle ressort a 11.8x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4112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CON6</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68/100</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CON5</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64/100</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CON4</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60/100</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CON3</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56/100</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CON2</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52/100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CON1</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48/100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bl>
          </a:graphicData>
        </a:graphic>
      </p:graphicFrame>
      <p:sp>
        <p:nvSpPr>
          <p:cNvPr id="16" name="Rectangle 15"/>
          <p:cNvSpPr/>
          <p:nvPr/>
        </p:nvSpPr>
        <p:spPr>
          <a:xfrm>
            <a:off x="324000" y="34560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34740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Ponderaion : Value 25 % · Growth 25 % · Quality 25 % · Momentum 25 %</a:t>
            </a:r>
          </a:p>
        </p:txBody>
      </p:sp>
      <p:sp>
        <p:nvSpPr>
          <p:cNvPr id="18" name="Rectangle 17"/>
          <p:cNvSpPr/>
          <p:nvPr/>
        </p:nvSpPr>
        <p:spPr>
          <a:xfrm>
            <a:off x="324000" y="3744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74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761999"/>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4031999"/>
            <a:ext cx="8352000" cy="684000"/>
          </a:xfrm>
          <a:prstGeom prst="rect">
            <a:avLst/>
          </a:prstGeom>
          <a:noFill/>
        </p:spPr>
        <p:txBody>
          <a:bodyPr wrap="square">
            <a:spAutoFit/>
          </a:bodyPr>
          <a:lstStyle/>
          <a:p>
            <a:pPr algn="l"/>
            <a:r>
              <a:rPr sz="850" b="0" i="0">
                <a:solidFill>
                  <a:srgbClr val="555555"/>
                </a:solidFill>
              </a:rPr>
              <a:t>Consumer Defensive Cor presente le profil le plus equilibre du secteur (68/100) avec des scores Value=17, Growth=17, Quality=17, Momentum=17. La dispersion des scores entre les 6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CON6</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Consumer Defensive 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156</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15.5x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24.0 %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3.3</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CON5</a:t>
            </a:r>
          </a:p>
        </p:txBody>
      </p:sp>
      <p:sp>
        <p:nvSpPr>
          <p:cNvPr id="45" name="Rectangle 44"/>
          <p:cNvSpPr/>
          <p:nvPr/>
        </p:nvSpPr>
        <p:spPr>
          <a:xfrm>
            <a:off x="511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HOLD</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Consumer Defensive C</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130</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14.0x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23.2 %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3.2</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CON4</a:t>
            </a:r>
          </a:p>
        </p:txBody>
      </p:sp>
      <p:sp>
        <p:nvSpPr>
          <p:cNvPr id="72" name="Rectangle 71"/>
          <p:cNvSpPr/>
          <p:nvPr/>
        </p:nvSpPr>
        <p:spPr>
          <a:xfrm>
            <a:off x="799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HOLD</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Consumer Defensive 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119</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12.5x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22.4 %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3.1</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(11.8x)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2 acteur(s) se detachent nettement du reste du secteur, creant une prime de valorisation significative vs la médiane de 11.8x.
2 societe(s) se traitent sous la médiane — potentiellement les meilleures asymetries risque/rendement sous reserve de catalyseurs fondamentaux.
La dispersion des multiples est caracteristique d'un secteur Consumer Defensive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 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negatif + sentiment negatif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definie par la convergence de 3 signaux : décote &gt; 10 % vs DCF Base · momentum 52W negatif · sentiment FinBERT negatif.</a:t>
            </a:r>
          </a:p>
        </p:txBody>
      </p:sp>
      <p:graphicFrame>
        <p:nvGraphicFramePr>
          <p:cNvPr id="18" name="Table 17"/>
          <p:cNvGraphicFramePr>
            <a:graphicFrameLocks noGrp="1"/>
          </p:cNvGraphicFramePr>
          <p:nvPr/>
        </p:nvGraphicFramePr>
        <p:xfrm>
          <a:off x="324000" y="1260000"/>
          <a:ext cx="8495997" cy="14112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201600">
                <a:tc>
                  <a:txBody>
                    <a:bodyPr/>
                    <a:lstStyle/>
                    <a:p>
                      <a:pPr algn="ctr"/>
                      <a:r>
                        <a:rPr sz="750" b="0">
                          <a:solidFill>
                            <a:srgbClr val="1A1A1A"/>
                          </a:solidFill>
                        </a:rPr>
                        <a:t>CON6</a:t>
                      </a:r>
                    </a:p>
                  </a:txBody>
                  <a:tcPr>
                    <a:noFill/>
                  </a:tcPr>
                </a:tc>
                <a:tc>
                  <a:txBody>
                    <a:bodyPr/>
                    <a:lstStyle/>
                    <a:p>
                      <a:pPr algn="ctr"/>
                      <a:r>
                        <a:rPr sz="750" b="0">
                          <a:solidFill>
                            <a:srgbClr val="1A1A1A"/>
                          </a:solidFill>
                        </a:rPr>
                        <a:t>Consumer Defensi</a:t>
                      </a:r>
                    </a:p>
                  </a:txBody>
                  <a:tcPr>
                    <a:noFill/>
                  </a:tcPr>
                </a:tc>
                <a:tc>
                  <a:txBody>
                    <a:bodyPr/>
                    <a:lstStyle/>
                    <a:p>
                      <a:pPr algn="ctr"/>
                      <a:r>
                        <a:rPr sz="750" b="0">
                          <a:solidFill>
                            <a:srgbClr val="1A1A1A"/>
                          </a:solidFill>
                        </a:rPr>
                        <a:t>130</a:t>
                      </a:r>
                    </a:p>
                  </a:txBody>
                  <a:tcPr>
                    <a:noFill/>
                  </a:tcPr>
                </a:tc>
                <a:tc>
                  <a:txBody>
                    <a:bodyPr/>
                    <a:lstStyle/>
                    <a:p>
                      <a:pPr algn="ctr"/>
                      <a:r>
                        <a:rPr sz="750" b="0">
                          <a:solidFill>
                            <a:srgbClr val="1A1A1A"/>
                          </a:solidFill>
                        </a:rPr>
                        <a:t>149.5</a:t>
                      </a:r>
                    </a:p>
                  </a:txBody>
                  <a:tcPr>
                    <a:noFill/>
                  </a:tcPr>
                </a:tc>
                <a:tc>
                  <a:txBody>
                    <a:bodyPr/>
                    <a:lstStyle/>
                    <a:p>
                      <a:pPr algn="ctr"/>
                      <a:r>
                        <a:rPr sz="750" b="0">
                          <a:solidFill>
                            <a:srgbClr val="1A1A1A"/>
                          </a:solidFill>
                        </a:rPr>
                        <a:t>&lt; 123.5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201600">
                <a:tc>
                  <a:txBody>
                    <a:bodyPr/>
                    <a:lstStyle/>
                    <a:p>
                      <a:pPr algn="ctr"/>
                      <a:r>
                        <a:rPr sz="750" b="0">
                          <a:solidFill>
                            <a:srgbClr val="1A1A1A"/>
                          </a:solidFill>
                        </a:rPr>
                        <a:t>CON5</a:t>
                      </a:r>
                    </a:p>
                  </a:txBody>
                  <a:tcPr>
                    <a:solidFill>
                      <a:srgbClr val="F5F7FA"/>
                    </a:solidFill>
                  </a:tcPr>
                </a:tc>
                <a:tc>
                  <a:txBody>
                    <a:bodyPr/>
                    <a:lstStyle/>
                    <a:p>
                      <a:pPr algn="ctr"/>
                      <a:r>
                        <a:rPr sz="750" b="0">
                          <a:solidFill>
                            <a:srgbClr val="1A1A1A"/>
                          </a:solidFill>
                        </a:rPr>
                        <a:t>Consumer Defensi</a:t>
                      </a:r>
                    </a:p>
                  </a:txBody>
                  <a:tcPr>
                    <a:solidFill>
                      <a:srgbClr val="F5F7FA"/>
                    </a:solidFill>
                  </a:tcPr>
                </a:tc>
                <a:tc>
                  <a:txBody>
                    <a:bodyPr/>
                    <a:lstStyle/>
                    <a:p>
                      <a:pPr algn="ctr"/>
                      <a:r>
                        <a:rPr sz="750" b="0">
                          <a:solidFill>
                            <a:srgbClr val="1A1A1A"/>
                          </a:solidFill>
                        </a:rPr>
                        <a:t>120</a:t>
                      </a:r>
                    </a:p>
                  </a:txBody>
                  <a:tcPr>
                    <a:solidFill>
                      <a:srgbClr val="F5F7FA"/>
                    </a:solidFill>
                  </a:tcPr>
                </a:tc>
                <a:tc>
                  <a:txBody>
                    <a:bodyPr/>
                    <a:lstStyle/>
                    <a:p>
                      <a:pPr algn="ctr"/>
                      <a:r>
                        <a:rPr sz="750" b="0">
                          <a:solidFill>
                            <a:srgbClr val="1A1A1A"/>
                          </a:solidFill>
                        </a:rPr>
                        <a:t>138.0</a:t>
                      </a:r>
                    </a:p>
                  </a:txBody>
                  <a:tcPr>
                    <a:solidFill>
                      <a:srgbClr val="F5F7FA"/>
                    </a:solidFill>
                  </a:tcPr>
                </a:tc>
                <a:tc>
                  <a:txBody>
                    <a:bodyPr/>
                    <a:lstStyle/>
                    <a:p>
                      <a:pPr algn="ctr"/>
                      <a:r>
                        <a:rPr sz="750" b="0">
                          <a:solidFill>
                            <a:srgbClr val="1A1A1A"/>
                          </a:solidFill>
                        </a:rPr>
                        <a:t>&lt; 114.0</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CON4</a:t>
                      </a:r>
                    </a:p>
                  </a:txBody>
                  <a:tcPr>
                    <a:noFill/>
                  </a:tcPr>
                </a:tc>
                <a:tc>
                  <a:txBody>
                    <a:bodyPr/>
                    <a:lstStyle/>
                    <a:p>
                      <a:pPr algn="ctr"/>
                      <a:r>
                        <a:rPr sz="750" b="0">
                          <a:solidFill>
                            <a:srgbClr val="1A1A1A"/>
                          </a:solidFill>
                        </a:rPr>
                        <a:t>Consumer Defensi</a:t>
                      </a:r>
                    </a:p>
                  </a:txBody>
                  <a:tcPr>
                    <a:noFill/>
                  </a:tcPr>
                </a:tc>
                <a:tc>
                  <a:txBody>
                    <a:bodyPr/>
                    <a:lstStyle/>
                    <a:p>
                      <a:pPr algn="ctr"/>
                      <a:r>
                        <a:rPr sz="750" b="0">
                          <a:solidFill>
                            <a:srgbClr val="1A1A1A"/>
                          </a:solidFill>
                        </a:rPr>
                        <a:t>110</a:t>
                      </a:r>
                    </a:p>
                  </a:txBody>
                  <a:tcPr>
                    <a:noFill/>
                  </a:tcPr>
                </a:tc>
                <a:tc>
                  <a:txBody>
                    <a:bodyPr/>
                    <a:lstStyle/>
                    <a:p>
                      <a:pPr algn="ctr"/>
                      <a:r>
                        <a:rPr sz="750" b="0">
                          <a:solidFill>
                            <a:srgbClr val="1A1A1A"/>
                          </a:solidFill>
                        </a:rPr>
                        <a:t>126.5</a:t>
                      </a:r>
                    </a:p>
                  </a:txBody>
                  <a:tcPr>
                    <a:noFill/>
                  </a:tcPr>
                </a:tc>
                <a:tc>
                  <a:txBody>
                    <a:bodyPr/>
                    <a:lstStyle/>
                    <a:p>
                      <a:pPr algn="ctr"/>
                      <a:r>
                        <a:rPr sz="750" b="0">
                          <a:solidFill>
                            <a:srgbClr val="1A1A1A"/>
                          </a:solidFill>
                        </a:rPr>
                        <a:t>&lt; 104.5</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CON3</a:t>
                      </a:r>
                    </a:p>
                  </a:txBody>
                  <a:tcPr>
                    <a:solidFill>
                      <a:srgbClr val="F5F7FA"/>
                    </a:solidFill>
                  </a:tcPr>
                </a:tc>
                <a:tc>
                  <a:txBody>
                    <a:bodyPr/>
                    <a:lstStyle/>
                    <a:p>
                      <a:pPr algn="ctr"/>
                      <a:r>
                        <a:rPr sz="750" b="0">
                          <a:solidFill>
                            <a:srgbClr val="1A1A1A"/>
                          </a:solidFill>
                        </a:rPr>
                        <a:t>Consumer Defensi</a:t>
                      </a:r>
                    </a:p>
                  </a:txBody>
                  <a:tcPr>
                    <a:solidFill>
                      <a:srgbClr val="F5F7FA"/>
                    </a:solidFill>
                  </a:tcPr>
                </a:tc>
                <a:tc>
                  <a:txBody>
                    <a:bodyPr/>
                    <a:lstStyle/>
                    <a:p>
                      <a:pPr algn="ctr"/>
                      <a:r>
                        <a:rPr sz="750" b="0">
                          <a:solidFill>
                            <a:srgbClr val="1A1A1A"/>
                          </a:solidFill>
                        </a:rPr>
                        <a:t>100</a:t>
                      </a:r>
                    </a:p>
                  </a:txBody>
                  <a:tcPr>
                    <a:solidFill>
                      <a:srgbClr val="F5F7FA"/>
                    </a:solidFill>
                  </a:tcPr>
                </a:tc>
                <a:tc>
                  <a:txBody>
                    <a:bodyPr/>
                    <a:lstStyle/>
                    <a:p>
                      <a:pPr algn="ctr"/>
                      <a:r>
                        <a:rPr sz="750" b="0">
                          <a:solidFill>
                            <a:srgbClr val="1A1A1A"/>
                          </a:solidFill>
                        </a:rPr>
                        <a:t>115.0</a:t>
                      </a:r>
                    </a:p>
                  </a:txBody>
                  <a:tcPr>
                    <a:solidFill>
                      <a:srgbClr val="F5F7FA"/>
                    </a:solidFill>
                  </a:tcPr>
                </a:tc>
                <a:tc>
                  <a:txBody>
                    <a:bodyPr/>
                    <a:lstStyle/>
                    <a:p>
                      <a:pPr algn="ctr"/>
                      <a:r>
                        <a:rPr sz="750" b="0">
                          <a:solidFill>
                            <a:srgbClr val="1A1A1A"/>
                          </a:solidFill>
                        </a:rPr>
                        <a:t>&lt; 95.0</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CON2</a:t>
                      </a:r>
                    </a:p>
                  </a:txBody>
                  <a:tcPr>
                    <a:noFill/>
                  </a:tcPr>
                </a:tc>
                <a:tc>
                  <a:txBody>
                    <a:bodyPr/>
                    <a:lstStyle/>
                    <a:p>
                      <a:pPr algn="ctr"/>
                      <a:r>
                        <a:rPr sz="750" b="0">
                          <a:solidFill>
                            <a:srgbClr val="1A1A1A"/>
                          </a:solidFill>
                        </a:rPr>
                        <a:t>Consumer Defensi</a:t>
                      </a:r>
                    </a:p>
                  </a:txBody>
                  <a:tcPr>
                    <a:noFill/>
                  </a:tcPr>
                </a:tc>
                <a:tc>
                  <a:txBody>
                    <a:bodyPr/>
                    <a:lstStyle/>
                    <a:p>
                      <a:pPr algn="ctr"/>
                      <a:r>
                        <a:rPr sz="750" b="0">
                          <a:solidFill>
                            <a:srgbClr val="1A1A1A"/>
                          </a:solidFill>
                        </a:rPr>
                        <a:t>90</a:t>
                      </a:r>
                    </a:p>
                  </a:txBody>
                  <a:tcPr>
                    <a:noFill/>
                  </a:tcPr>
                </a:tc>
                <a:tc>
                  <a:txBody>
                    <a:bodyPr/>
                    <a:lstStyle/>
                    <a:p>
                      <a:pPr algn="ctr"/>
                      <a:r>
                        <a:rPr sz="750" b="0">
                          <a:solidFill>
                            <a:srgbClr val="1A1A1A"/>
                          </a:solidFill>
                        </a:rPr>
                        <a:t>103.5</a:t>
                      </a:r>
                    </a:p>
                  </a:txBody>
                  <a:tcPr>
                    <a:noFill/>
                  </a:tcPr>
                </a:tc>
                <a:tc>
                  <a:txBody>
                    <a:bodyPr/>
                    <a:lstStyle/>
                    <a:p>
                      <a:pPr algn="ctr"/>
                      <a:r>
                        <a:rPr sz="750" b="0">
                          <a:solidFill>
                            <a:srgbClr val="1A1A1A"/>
                          </a:solidFill>
                        </a:rPr>
                        <a:t>&lt; 85.5</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CON1</a:t>
                      </a:r>
                    </a:p>
                  </a:txBody>
                  <a:tcPr>
                    <a:solidFill>
                      <a:srgbClr val="F5F7FA"/>
                    </a:solidFill>
                  </a:tcPr>
                </a:tc>
                <a:tc>
                  <a:txBody>
                    <a:bodyPr/>
                    <a:lstStyle/>
                    <a:p>
                      <a:pPr algn="ctr"/>
                      <a:r>
                        <a:rPr sz="750" b="0">
                          <a:solidFill>
                            <a:srgbClr val="1A1A1A"/>
                          </a:solidFill>
                        </a:rPr>
                        <a:t>Consumer Defensi</a:t>
                      </a:r>
                    </a:p>
                  </a:txBody>
                  <a:tcPr>
                    <a:solidFill>
                      <a:srgbClr val="F5F7FA"/>
                    </a:solidFill>
                  </a:tcPr>
                </a:tc>
                <a:tc>
                  <a:txBody>
                    <a:bodyPr/>
                    <a:lstStyle/>
                    <a:p>
                      <a:pPr algn="ctr"/>
                      <a:r>
                        <a:rPr sz="750" b="0">
                          <a:solidFill>
                            <a:srgbClr val="1A1A1A"/>
                          </a:solidFill>
                        </a:rPr>
                        <a:t>80</a:t>
                      </a:r>
                    </a:p>
                  </a:txBody>
                  <a:tcPr>
                    <a:solidFill>
                      <a:srgbClr val="F5F7FA"/>
                    </a:solidFill>
                  </a:tcPr>
                </a:tc>
                <a:tc>
                  <a:txBody>
                    <a:bodyPr/>
                    <a:lstStyle/>
                    <a:p>
                      <a:pPr algn="ctr"/>
                      <a:r>
                        <a:rPr sz="750" b="0">
                          <a:solidFill>
                            <a:srgbClr val="1A1A1A"/>
                          </a:solidFill>
                        </a:rPr>
                        <a:t>92.0</a:t>
                      </a:r>
                    </a:p>
                  </a:txBody>
                  <a:tcPr>
                    <a:solidFill>
                      <a:srgbClr val="F5F7FA"/>
                    </a:solidFill>
                  </a:tcPr>
                </a:tc>
                <a:tc>
                  <a:txBody>
                    <a:bodyPr/>
                    <a:lstStyle/>
                    <a:p>
                      <a:pPr algn="ctr"/>
                      <a:r>
                        <a:rPr sz="750" b="0">
                          <a:solidFill>
                            <a:srgbClr val="1A1A1A"/>
                          </a:solidFill>
                        </a:rPr>
                        <a:t>&lt; 76.0</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bl>
          </a:graphicData>
        </a:graphic>
      </p:graphicFrame>
      <p:sp>
        <p:nvSpPr>
          <p:cNvPr id="19" name="Rectangle 18"/>
          <p:cNvSpPr/>
          <p:nvPr/>
        </p:nvSpPr>
        <p:spPr>
          <a:xfrm>
            <a:off x="324000" y="2916000"/>
            <a:ext cx="8496000" cy="1007999"/>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2916000"/>
            <a:ext cx="36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2951999"/>
            <a:ext cx="8316000" cy="216000"/>
          </a:xfrm>
          <a:prstGeom prst="rect">
            <a:avLst/>
          </a:prstGeom>
          <a:noFill/>
        </p:spPr>
        <p:txBody>
          <a:bodyPr wrap="square">
            <a:spAutoFit/>
          </a:bodyPr>
          <a:lstStyle/>
          <a:p>
            <a:pPr algn="l"/>
            <a:r>
              <a:rPr sz="850" b="1" i="0">
                <a:solidFill>
                  <a:srgbClr val="B06000"/>
                </a:solidFill>
              </a:rPr>
              <a:t>NOTE METHODOLOGIQUE</a:t>
            </a:r>
          </a:p>
        </p:txBody>
      </p:sp>
      <p:sp>
        <p:nvSpPr>
          <p:cNvPr id="22" name="TextBox 21"/>
          <p:cNvSpPr txBox="1"/>
          <p:nvPr/>
        </p:nvSpPr>
        <p:spPr>
          <a:xfrm>
            <a:off x="468000" y="3186000"/>
            <a:ext cx="8316000" cy="720000"/>
          </a:xfrm>
          <a:prstGeom prst="rect">
            <a:avLst/>
          </a:prstGeom>
          <a:noFill/>
        </p:spPr>
        <p:txBody>
          <a:bodyPr wrap="square">
            <a:spAutoFit/>
          </a:bodyPr>
          <a:lstStyle/>
          <a:p>
            <a:pPr algn="l"/>
            <a:r>
              <a:rPr sz="800" b="0" i="0">
                <a:solidFill>
                  <a:srgbClr val="555555"/>
                </a:solidFill>
              </a:rPr>
              <a:t>La probabilite de rendement positif a 12 mois est calculee sur des configurations similaires identifiees en backtesting sur données historiques (2010-2024). Elle ne constitue pas une garantie de performance future. Le DCF Base est estime a partir du WACC median sectoriel et d'un taux de croissance terminal cohérent avec les drivers sectoriels.</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1 / 6</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 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Guerre des Prix</a:t>
            </a:r>
          </a:p>
        </p:txBody>
      </p:sp>
      <p:sp>
        <p:nvSpPr>
          <p:cNvPr id="18" name="TextBox 17"/>
          <p:cNvSpPr txBox="1"/>
          <p:nvPr/>
        </p:nvSpPr>
        <p:spPr>
          <a:xfrm>
            <a:off x="396000" y="1188000"/>
            <a:ext cx="2520000" cy="1620000"/>
          </a:xfrm>
          <a:prstGeom prst="rect">
            <a:avLst/>
          </a:prstGeom>
          <a:noFill/>
        </p:spPr>
        <p:txBody>
          <a:bodyPr wrap="square">
            <a:spAutoFit/>
          </a:bodyPr>
          <a:lstStyle/>
          <a:p>
            <a:pPr algn="l"/>
            <a:r>
              <a:rPr sz="850" b="0" i="0">
                <a:solidFill>
                  <a:srgbClr val="555555"/>
                </a:solidFill>
              </a:rPr>
              <a:t>Pression des distributeurs (Leclerc, Lidl) sur les prix fournisseurs — erosion des marges lors des négociations.</a:t>
            </a:r>
          </a:p>
        </p:txBody>
      </p:sp>
      <p:sp>
        <p:nvSpPr>
          <p:cNvPr id="19" name="Rectangle 18"/>
          <p:cNvSpPr/>
          <p:nvPr/>
        </p:nvSpPr>
        <p:spPr>
          <a:xfrm>
            <a:off x="3240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Destockage</a:t>
            </a:r>
          </a:p>
        </p:txBody>
      </p:sp>
      <p:sp>
        <p:nvSpPr>
          <p:cNvPr id="22" name="TextBox 21"/>
          <p:cNvSpPr txBox="1"/>
          <p:nvPr/>
        </p:nvSpPr>
        <p:spPr>
          <a:xfrm>
            <a:off x="3311999" y="1188000"/>
            <a:ext cx="2520000" cy="1620000"/>
          </a:xfrm>
          <a:prstGeom prst="rect">
            <a:avLst/>
          </a:prstGeom>
          <a:noFill/>
        </p:spPr>
        <p:txBody>
          <a:bodyPr wrap="square">
            <a:spAutoFit/>
          </a:bodyPr>
          <a:lstStyle/>
          <a:p>
            <a:pPr algn="l"/>
            <a:r>
              <a:rPr sz="850" b="0" i="0">
                <a:solidFill>
                  <a:srgbClr val="555555"/>
                </a:solidFill>
              </a:rPr>
              <a:t>Reduction des stocks en distribution — impact sur volumes T1-T2 2026.</a:t>
            </a:r>
          </a:p>
        </p:txBody>
      </p:sp>
      <p:sp>
        <p:nvSpPr>
          <p:cNvPr id="23" name="Rectangle 22"/>
          <p:cNvSpPr/>
          <p:nvPr/>
        </p:nvSpPr>
        <p:spPr>
          <a:xfrm>
            <a:off x="6155999"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Substitution MDD</a:t>
            </a:r>
          </a:p>
        </p:txBody>
      </p:sp>
      <p:sp>
        <p:nvSpPr>
          <p:cNvPr id="26" name="TextBox 25"/>
          <p:cNvSpPr txBox="1"/>
          <p:nvPr/>
        </p:nvSpPr>
        <p:spPr>
          <a:xfrm>
            <a:off x="6227999" y="1188000"/>
            <a:ext cx="2520000" cy="1620000"/>
          </a:xfrm>
          <a:prstGeom prst="rect">
            <a:avLst/>
          </a:prstGeom>
          <a:noFill/>
        </p:spPr>
        <p:txBody>
          <a:bodyPr wrap="square">
            <a:spAutoFit/>
          </a:bodyPr>
          <a:lstStyle/>
          <a:p>
            <a:pPr algn="l"/>
            <a:r>
              <a:rPr sz="850" b="0" i="0">
                <a:solidFill>
                  <a:srgbClr val="555555"/>
                </a:solidFill>
              </a:rPr>
              <a:t>Parts de marche des marques distributeurs en hausse de 2-3 pts — pression structurelle.</a:t>
            </a:r>
          </a:p>
        </p:txBody>
      </p:sp>
      <p:sp>
        <p:nvSpPr>
          <p:cNvPr id="27" name="TextBox 26"/>
          <p:cNvSpPr txBox="1"/>
          <p:nvPr/>
        </p:nvSpPr>
        <p:spPr>
          <a:xfrm>
            <a:off x="324000" y="2951999"/>
            <a:ext cx="8496000" cy="216000"/>
          </a:xfrm>
          <a:prstGeom prst="rect">
            <a:avLst/>
          </a:prstGeom>
          <a:noFill/>
        </p:spPr>
        <p:txBody>
          <a:bodyPr wrap="square">
            <a:spAutoFit/>
          </a:bodyPr>
          <a:lstStyle/>
          <a:p>
            <a:pPr algn="l"/>
            <a:r>
              <a:rPr sz="900" b="1" i="0">
                <a:solidFill>
                  <a:srgbClr val="1B3A6B"/>
                </a:solidFill>
              </a:rPr>
              <a:t>Conditions d'invalidation de la these</a:t>
            </a:r>
          </a:p>
        </p:txBody>
      </p:sp>
      <p:graphicFrame>
        <p:nvGraphicFramePr>
          <p:cNvPr id="28" name="Table 27"/>
          <p:cNvGraphicFramePr>
            <a:graphicFrameLocks noGrp="1"/>
          </p:cNvGraphicFramePr>
          <p:nvPr/>
        </p:nvGraphicFramePr>
        <p:xfrm>
          <a:off x="324000" y="3204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profonde &gt; 3 trimestres</a:t>
                      </a:r>
                    </a:p>
                  </a:txBody>
                  <a:tcPr>
                    <a:noFill/>
                  </a:tcPr>
                </a:tc>
                <a:tc>
                  <a:txBody>
                    <a:bodyPr/>
                    <a:lstStyle/>
                    <a:p>
                      <a:pPr algn="ctr"/>
                      <a:r>
                        <a:rPr sz="800" b="0">
                          <a:solidFill>
                            <a:srgbClr val="1A1A1A"/>
                          </a:solidFill>
                        </a:rPr>
                        <a:t>9-12 mois</a:t>
                      </a:r>
                    </a:p>
                  </a:txBody>
                  <a:tcPr>
                    <a:noFill/>
                  </a:tcPr>
                </a:tc>
              </a:tr>
              <a:tr h="223200">
                <a:tc>
                  <a:txBody>
                    <a:bodyPr/>
                    <a:lstStyle/>
                    <a:p>
                      <a:pPr algn="ctr"/>
                      <a:r>
                        <a:rPr sz="800" b="0">
                          <a:solidFill>
                            <a:srgbClr val="1A1A1A"/>
                          </a:solidFill>
                        </a:rPr>
                        <a:t>Distribution</a:t>
                      </a:r>
                    </a:p>
                  </a:txBody>
                  <a:tcPr>
                    <a:solidFill>
                      <a:srgbClr val="F5F7FA"/>
                    </a:solidFill>
                  </a:tcPr>
                </a:tc>
                <a:tc>
                  <a:txBody>
                    <a:bodyPr/>
                    <a:lstStyle/>
                    <a:p>
                      <a:pPr algn="ctr"/>
                      <a:r>
                        <a:rPr sz="800" b="0">
                          <a:solidFill>
                            <a:srgbClr val="1A1A1A"/>
                          </a:solidFill>
                        </a:rPr>
                        <a:t>Perte &gt; 15 % référencements top 3</a:t>
                      </a:r>
                    </a:p>
                  </a:txBody>
                  <a:tcPr>
                    <a:solidFill>
                      <a:srgbClr val="F5F7FA"/>
                    </a:solidFill>
                  </a:tcPr>
                </a:tc>
                <a:tc>
                  <a:txBody>
                    <a:bodyPr/>
                    <a:lstStyle/>
                    <a:p>
                      <a:pPr algn="ctr"/>
                      <a:r>
                        <a:rPr sz="800" b="0">
                          <a:solidFill>
                            <a:srgbClr val="1A1A1A"/>
                          </a:solidFill>
                        </a:rPr>
                        <a:t>6-9 mois</a:t>
                      </a:r>
                    </a:p>
                  </a:txBody>
                  <a:tcPr>
                    <a:solidFill>
                      <a:srgbClr val="F5F7FA"/>
                    </a:solidFill>
                  </a:tcPr>
                </a:tc>
              </a:tr>
              <a:tr h="223200">
                <a:tc>
                  <a:txBody>
                    <a:bodyPr/>
                    <a:lstStyle/>
                    <a:p>
                      <a:pPr algn="ctr"/>
                      <a:r>
                        <a:rPr sz="800" b="0">
                          <a:solidFill>
                            <a:srgbClr val="1A1A1A"/>
                          </a:solidFill>
                        </a:rPr>
                        <a:t>MDD</a:t>
                      </a:r>
                    </a:p>
                  </a:txBody>
                  <a:tcPr>
                    <a:noFill/>
                  </a:tcPr>
                </a:tc>
                <a:tc>
                  <a:txBody>
                    <a:bodyPr/>
                    <a:lstStyle/>
                    <a:p>
                      <a:pPr algn="ctr"/>
                      <a:r>
                        <a:rPr sz="800" b="0">
                          <a:solidFill>
                            <a:srgbClr val="1A1A1A"/>
                          </a:solidFill>
                        </a:rPr>
                        <a:t>Part MDD &gt; 45 % en valeur</a:t>
                      </a:r>
                    </a:p>
                  </a:txBody>
                  <a:tcPr>
                    <a:noFill/>
                  </a:tcPr>
                </a:tc>
                <a:tc>
                  <a:txBody>
                    <a:bodyPr/>
                    <a:lstStyle/>
                    <a:p>
                      <a:pPr algn="ctr"/>
                      <a:r>
                        <a:rPr sz="800" b="0">
                          <a:solidFill>
                            <a:srgbClr val="1A1A1A"/>
                          </a:solidFill>
                        </a:rPr>
                        <a:t>12-18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Taxe nutritionnelle majeure</a:t>
                      </a:r>
                    </a:p>
                  </a:txBody>
                  <a:tcPr>
                    <a:solidFill>
                      <a:srgbClr val="F5F7FA"/>
                    </a:solidFill>
                  </a:tcPr>
                </a:tc>
                <a:tc>
                  <a:txBody>
                    <a:bodyPr/>
                    <a:lstStyle/>
                    <a:p>
                      <a:pPr algn="ctr"/>
                      <a:r>
                        <a:rPr sz="800" b="0">
                          <a:solidFill>
                            <a:srgbClr val="1A1A1A"/>
                          </a:solidFill>
                        </a:rPr>
                        <a:t>12-24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Articles recents  ·  6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0.18</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 positif modere</a:t>
            </a:r>
          </a:p>
        </p:txBody>
      </p:sp>
      <p:sp>
        <p:nvSpPr>
          <p:cNvPr id="20" name="Rectangle 19"/>
          <p:cNvSpPr/>
          <p:nvPr/>
        </p:nvSpPr>
        <p:spPr>
          <a:xfrm>
            <a:off x="2412000" y="900000"/>
            <a:ext cx="599999"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1 articles (17 %)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3 articles (50 %)</a:t>
            </a:r>
          </a:p>
        </p:txBody>
      </p:sp>
      <p:sp>
        <p:nvSpPr>
          <p:cNvPr id="26" name="Rectangle 25"/>
          <p:cNvSpPr/>
          <p:nvPr/>
        </p:nvSpPr>
        <p:spPr>
          <a:xfrm>
            <a:off x="2412000" y="1548000"/>
            <a:ext cx="1199999"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Negatif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(33 %)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Pricing Power — Capacité a répercuter l'inflation des intrants — les leaders de marque maintiennent des marges brutes &gt; 40 %.</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Guerre des Prix — Pression des distributeurs (Leclerc, Lidl) sur les prix fournisseurs — erosion des marges lors des négociations.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Consumer Defensive S&amp;P 500 ressort legerement positif (0.18).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Indexe a 100 au debut de la periode</a:t>
            </a:r>
          </a:p>
        </p:txBody>
      </p:sp>
      <p:pic>
        <p:nvPicPr>
          <p:cNvPr id="15" name="Picture 14" descr="image.png"/>
          <p:cNvPicPr>
            <a:picLocks noChangeAspect="1"/>
          </p:cNvPicPr>
          <p:nvPr/>
        </p:nvPicPr>
        <p:blipFill>
          <a:blip r:embed="rId2"/>
          <a:stretch>
            <a:fillRect/>
          </a:stretch>
        </p:blipFill>
        <p:spPr>
          <a:xfrm>
            <a:off x="540000" y="827999"/>
            <a:ext cx="8063999" cy="3671999"/>
          </a:xfrm>
          <a:prstGeom prst="rect">
            <a:avLst/>
          </a:prstGeom>
        </p:spPr>
      </p:pic>
      <p:sp>
        <p:nvSpPr>
          <p:cNvPr id="16" name="Rectangle 1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