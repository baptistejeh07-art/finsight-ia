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Technology</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SURPONDÉRER</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08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1A7A4A"/>
                </a:solidFill>
              </a:rPr>
              <a:t>● SURPONDÉRER</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24.4x  ·  Croissance med. : +22.7 %  ·  Marge EBITDA med. : 46.8 %  ·  Score moyen : 77/100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Adoption IA</a:t>
            </a:r>
          </a:p>
        </p:txBody>
      </p:sp>
      <p:sp>
        <p:nvSpPr>
          <p:cNvPr id="24" name="TextBox 23"/>
          <p:cNvSpPr txBox="1"/>
          <p:nvPr/>
        </p:nvSpPr>
        <p:spPr>
          <a:xfrm>
            <a:off x="468000" y="1853999"/>
            <a:ext cx="3851999" cy="450000"/>
          </a:xfrm>
          <a:prstGeom prst="rect">
            <a:avLst/>
          </a:prstGeom>
          <a:noFill/>
        </p:spPr>
        <p:txBody>
          <a:bodyPr wrap="square">
            <a:spAutoFit/>
          </a:bodyPr>
          <a:lstStyle/>
          <a:p>
            <a:pPr algn="l"/>
            <a:r>
              <a:rPr sz="750" b="0" i="0">
                <a:solidFill>
                  <a:srgbClr val="555555"/>
                </a:solidFill>
              </a:rPr>
              <a:t>L'accélération de l'adoption des solutions d'IA générative par les entreprises booste les revenus des fournisseurs de puces et de logiciels.</a:t>
            </a:r>
          </a:p>
        </p:txBody>
      </p:sp>
      <p:sp>
        <p:nvSpPr>
          <p:cNvPr id="25" name="Rectangle 24"/>
          <p:cNvSpPr/>
          <p:nvPr/>
        </p:nvSpPr>
        <p:spPr>
          <a:xfrm>
            <a:off x="324000" y="2484000"/>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484000"/>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501999"/>
            <a:ext cx="3851999" cy="198000"/>
          </a:xfrm>
          <a:prstGeom prst="rect">
            <a:avLst/>
          </a:prstGeom>
          <a:noFill/>
        </p:spPr>
        <p:txBody>
          <a:bodyPr wrap="square">
            <a:spAutoFit/>
          </a:bodyPr>
          <a:lstStyle/>
          <a:p>
            <a:pPr algn="l"/>
            <a:r>
              <a:rPr sz="850" b="1" i="0">
                <a:solidFill>
                  <a:srgbClr val="1B3A6B"/>
                </a:solidFill>
              </a:rPr>
              <a:t>Cloud Migration</a:t>
            </a:r>
          </a:p>
        </p:txBody>
      </p:sp>
      <p:sp>
        <p:nvSpPr>
          <p:cNvPr id="28" name="TextBox 27"/>
          <p:cNvSpPr txBox="1"/>
          <p:nvPr/>
        </p:nvSpPr>
        <p:spPr>
          <a:xfrm>
            <a:off x="468000" y="2681999"/>
            <a:ext cx="3851999" cy="450000"/>
          </a:xfrm>
          <a:prstGeom prst="rect">
            <a:avLst/>
          </a:prstGeom>
          <a:noFill/>
        </p:spPr>
        <p:txBody>
          <a:bodyPr wrap="square">
            <a:spAutoFit/>
          </a:bodyPr>
          <a:lstStyle/>
          <a:p>
            <a:pPr algn="l"/>
            <a:r>
              <a:rPr sz="750" b="0" i="0">
                <a:solidFill>
                  <a:srgbClr val="555555"/>
                </a:solidFill>
              </a:rPr>
              <a:t>La migration continue vers le cloud et les services SaaS maintient une croissance organique élevée pour les géants technologiques.</a:t>
            </a:r>
          </a:p>
        </p:txBody>
      </p:sp>
      <p:sp>
        <p:nvSpPr>
          <p:cNvPr id="29" name="Rectangle 28"/>
          <p:cNvSpPr/>
          <p:nvPr/>
        </p:nvSpPr>
        <p:spPr>
          <a:xfrm>
            <a:off x="324000" y="3311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3311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330000"/>
            <a:ext cx="3851999" cy="198000"/>
          </a:xfrm>
          <a:prstGeom prst="rect">
            <a:avLst/>
          </a:prstGeom>
          <a:noFill/>
        </p:spPr>
        <p:txBody>
          <a:bodyPr wrap="square">
            <a:spAutoFit/>
          </a:bodyPr>
          <a:lstStyle/>
          <a:p>
            <a:pPr algn="l"/>
            <a:r>
              <a:rPr sz="850" b="1" i="0">
                <a:solidFill>
                  <a:srgbClr val="1B3A6B"/>
                </a:solidFill>
              </a:rPr>
              <a:t>Cybersécurité</a:t>
            </a:r>
          </a:p>
        </p:txBody>
      </p:sp>
      <p:sp>
        <p:nvSpPr>
          <p:cNvPr id="32" name="TextBox 31"/>
          <p:cNvSpPr txBox="1"/>
          <p:nvPr/>
        </p:nvSpPr>
        <p:spPr>
          <a:xfrm>
            <a:off x="468000" y="3510000"/>
            <a:ext cx="3851999" cy="450000"/>
          </a:xfrm>
          <a:prstGeom prst="rect">
            <a:avLst/>
          </a:prstGeom>
          <a:noFill/>
        </p:spPr>
        <p:txBody>
          <a:bodyPr wrap="square">
            <a:spAutoFit/>
          </a:bodyPr>
          <a:lstStyle/>
          <a:p>
            <a:pPr algn="l"/>
            <a:r>
              <a:rPr sz="750" b="0" i="0">
                <a:solidFill>
                  <a:srgbClr val="555555"/>
                </a:solidFill>
              </a:rPr>
              <a:t>L'augmentation des cybermenaces et les réglementations strictes stimulent la demande pour des solutions de sécurité avancées.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Régulation</a:t>
            </a:r>
          </a:p>
        </p:txBody>
      </p:sp>
      <p:sp>
        <p:nvSpPr>
          <p:cNvPr id="38" name="TextBox 37"/>
          <p:cNvSpPr txBox="1"/>
          <p:nvPr/>
        </p:nvSpPr>
        <p:spPr>
          <a:xfrm>
            <a:off x="4860000" y="1853999"/>
            <a:ext cx="3851999" cy="450000"/>
          </a:xfrm>
          <a:prstGeom prst="rect">
            <a:avLst/>
          </a:prstGeom>
          <a:noFill/>
        </p:spPr>
        <p:txBody>
          <a:bodyPr wrap="square">
            <a:spAutoFit/>
          </a:bodyPr>
          <a:lstStyle/>
          <a:p>
            <a:pPr algn="l"/>
            <a:r>
              <a:rPr sz="750" b="0" i="0">
                <a:solidFill>
                  <a:srgbClr val="555555"/>
                </a:solidFill>
              </a:rPr>
              <a:t>Les enquêtes antitrust et les nouvelles lois sur la data (ex : DMA en Europe) pourraient peser sur les marges des géants technologiques.</a:t>
            </a:r>
          </a:p>
        </p:txBody>
      </p:sp>
      <p:sp>
        <p:nvSpPr>
          <p:cNvPr id="39" name="Rectangle 38"/>
          <p:cNvSpPr/>
          <p:nvPr/>
        </p:nvSpPr>
        <p:spPr>
          <a:xfrm>
            <a:off x="4716000" y="2484000"/>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484000"/>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501999"/>
            <a:ext cx="3851999" cy="198000"/>
          </a:xfrm>
          <a:prstGeom prst="rect">
            <a:avLst/>
          </a:prstGeom>
          <a:noFill/>
        </p:spPr>
        <p:txBody>
          <a:bodyPr wrap="square">
            <a:spAutoFit/>
          </a:bodyPr>
          <a:lstStyle/>
          <a:p>
            <a:pPr algn="l"/>
            <a:r>
              <a:rPr sz="850" b="1" i="0">
                <a:solidFill>
                  <a:srgbClr val="A82020"/>
                </a:solidFill>
              </a:rPr>
              <a:t>Concurrence</a:t>
            </a:r>
          </a:p>
        </p:txBody>
      </p:sp>
      <p:sp>
        <p:nvSpPr>
          <p:cNvPr id="42" name="TextBox 41"/>
          <p:cNvSpPr txBox="1"/>
          <p:nvPr/>
        </p:nvSpPr>
        <p:spPr>
          <a:xfrm>
            <a:off x="4860000" y="2681999"/>
            <a:ext cx="3851999" cy="450000"/>
          </a:xfrm>
          <a:prstGeom prst="rect">
            <a:avLst/>
          </a:prstGeom>
          <a:noFill/>
        </p:spPr>
        <p:txBody>
          <a:bodyPr wrap="square">
            <a:spAutoFit/>
          </a:bodyPr>
          <a:lstStyle/>
          <a:p>
            <a:pPr algn="l"/>
            <a:r>
              <a:rPr sz="750" b="0" i="0">
                <a:solidFill>
                  <a:srgbClr val="555555"/>
                </a:solidFill>
              </a:rPr>
              <a:t>La montée en puissance des acteurs chinois (ex : Huawei, ByteDance) menace les parts de marché des entreprises occidentales.</a:t>
            </a:r>
          </a:p>
        </p:txBody>
      </p:sp>
      <p:sp>
        <p:nvSpPr>
          <p:cNvPr id="43" name="Rectangle 42"/>
          <p:cNvSpPr/>
          <p:nvPr/>
        </p:nvSpPr>
        <p:spPr>
          <a:xfrm>
            <a:off x="4716000" y="3311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3311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3330000"/>
            <a:ext cx="3851999" cy="198000"/>
          </a:xfrm>
          <a:prstGeom prst="rect">
            <a:avLst/>
          </a:prstGeom>
          <a:noFill/>
        </p:spPr>
        <p:txBody>
          <a:bodyPr wrap="square">
            <a:spAutoFit/>
          </a:bodyPr>
          <a:lstStyle/>
          <a:p>
            <a:pPr algn="l"/>
            <a:r>
              <a:rPr sz="850" b="1" i="0">
                <a:solidFill>
                  <a:srgbClr val="A82020"/>
                </a:solidFill>
              </a:rPr>
              <a:t>Volatilité</a:t>
            </a:r>
          </a:p>
        </p:txBody>
      </p:sp>
      <p:sp>
        <p:nvSpPr>
          <p:cNvPr id="46" name="TextBox 45"/>
          <p:cNvSpPr txBox="1"/>
          <p:nvPr/>
        </p:nvSpPr>
        <p:spPr>
          <a:xfrm>
            <a:off x="4860000" y="3510000"/>
            <a:ext cx="3851999" cy="450000"/>
          </a:xfrm>
          <a:prstGeom prst="rect">
            <a:avLst/>
          </a:prstGeom>
          <a:noFill/>
        </p:spPr>
        <p:txBody>
          <a:bodyPr wrap="square">
            <a:spAutoFit/>
          </a:bodyPr>
          <a:lstStyle/>
          <a:p>
            <a:pPr algn="l"/>
            <a:r>
              <a:rPr sz="750" b="0" i="0">
                <a:solidFill>
                  <a:srgbClr val="555555"/>
                </a:solidFill>
              </a:rPr>
              <a:t>Les cycles de surchauffe des valorisations technologiques rendent le secteur sensible aux corrections brutales.</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24.4x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+22.7 %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46.8 %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+67.3 %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900" b="0" i="0">
                <a:solidFill>
                  <a:srgbClr val="555555"/>
                </a:solidFill>
              </a:rPr>
              <a:t>Le secteur Technology affiche une valorisation élevée avec un multiple EV/EBITDA médian de 24.4x, reflétant une forte croissance des revenus (+22.7%) et une marge EBITDA robuste de 46.8%, soutenue par des leaders comme NVIDIA et Alphabet qui capitalisent sur l'IA et le cloud.</a:t>
            </a:r>
          </a:p>
        </p:txBody>
      </p:sp>
      <p:sp>
        <p:nvSpPr>
          <p:cNvPr id="18" name="Rectangle 17"/>
          <p:cNvSpPr/>
          <p:nvPr/>
        </p:nvSpPr>
        <p:spPr>
          <a:xfrm>
            <a:off x="396000" y="2700000"/>
            <a:ext cx="4788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6000" y="2718000"/>
            <a:ext cx="4788000" cy="144000"/>
          </a:xfrm>
          <a:prstGeom prst="rect">
            <a:avLst/>
          </a:prstGeom>
          <a:noFill/>
        </p:spPr>
        <p:txBody>
          <a:bodyPr wrap="square">
            <a:spAutoFit/>
          </a:bodyPr>
          <a:lstStyle/>
          <a:p>
            <a:pPr algn="ctr"/>
            <a:r>
              <a:rPr sz="800" b="1" i="0">
                <a:solidFill>
                  <a:srgbClr val="FFFFFF"/>
                </a:solidFill>
              </a:rPr>
              <a:t>CATALYSEURS CLES</a:t>
            </a:r>
          </a:p>
        </p:txBody>
      </p:sp>
      <p:sp>
        <p:nvSpPr>
          <p:cNvPr id="20" name="Rectangle 19"/>
          <p:cNvSpPr/>
          <p:nvPr/>
        </p:nvSpPr>
        <p:spPr>
          <a:xfrm>
            <a:off x="486000" y="289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000" y="2898000"/>
            <a:ext cx="4500000" cy="162000"/>
          </a:xfrm>
          <a:prstGeom prst="rect">
            <a:avLst/>
          </a:prstGeom>
          <a:noFill/>
        </p:spPr>
        <p:txBody>
          <a:bodyPr wrap="square">
            <a:spAutoFit/>
          </a:bodyPr>
          <a:lstStyle/>
          <a:p>
            <a:pPr algn="l"/>
            <a:r>
              <a:rPr sz="850" b="1" i="0">
                <a:solidFill>
                  <a:srgbClr val="1B3A6B"/>
                </a:solidFill>
              </a:rPr>
              <a:t>Adoption IA</a:t>
            </a:r>
          </a:p>
        </p:txBody>
      </p:sp>
      <p:sp>
        <p:nvSpPr>
          <p:cNvPr id="22" name="TextBox 21"/>
          <p:cNvSpPr txBox="1"/>
          <p:nvPr/>
        </p:nvSpPr>
        <p:spPr>
          <a:xfrm>
            <a:off x="594000" y="3060000"/>
            <a:ext cx="4500000" cy="378000"/>
          </a:xfrm>
          <a:prstGeom prst="rect">
            <a:avLst/>
          </a:prstGeom>
          <a:noFill/>
        </p:spPr>
        <p:txBody>
          <a:bodyPr wrap="square">
            <a:spAutoFit/>
          </a:bodyPr>
          <a:lstStyle/>
          <a:p>
            <a:pPr algn="l"/>
            <a:r>
              <a:rPr sz="800" b="0" i="0">
                <a:solidFill>
                  <a:srgbClr val="555555"/>
                </a:solidFill>
              </a:rPr>
              <a:t>L'accélération de l'adoption des solutions d'IA générative par les entreprises booste les revenus des fournisseurs de puces et de logiciels.</a:t>
            </a:r>
          </a:p>
        </p:txBody>
      </p:sp>
      <p:sp>
        <p:nvSpPr>
          <p:cNvPr id="23" name="Rectangle 22"/>
          <p:cNvSpPr/>
          <p:nvPr/>
        </p:nvSpPr>
        <p:spPr>
          <a:xfrm>
            <a:off x="486000" y="343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000" y="3438000"/>
            <a:ext cx="4500000" cy="162000"/>
          </a:xfrm>
          <a:prstGeom prst="rect">
            <a:avLst/>
          </a:prstGeom>
          <a:noFill/>
        </p:spPr>
        <p:txBody>
          <a:bodyPr wrap="square">
            <a:spAutoFit/>
          </a:bodyPr>
          <a:lstStyle/>
          <a:p>
            <a:pPr algn="l"/>
            <a:r>
              <a:rPr sz="850" b="1" i="0">
                <a:solidFill>
                  <a:srgbClr val="1B3A6B"/>
                </a:solidFill>
              </a:rPr>
              <a:t>Cloud Migration</a:t>
            </a:r>
          </a:p>
        </p:txBody>
      </p:sp>
      <p:sp>
        <p:nvSpPr>
          <p:cNvPr id="25" name="TextBox 24"/>
          <p:cNvSpPr txBox="1"/>
          <p:nvPr/>
        </p:nvSpPr>
        <p:spPr>
          <a:xfrm>
            <a:off x="594000" y="3600000"/>
            <a:ext cx="4500000" cy="378000"/>
          </a:xfrm>
          <a:prstGeom prst="rect">
            <a:avLst/>
          </a:prstGeom>
          <a:noFill/>
        </p:spPr>
        <p:txBody>
          <a:bodyPr wrap="square">
            <a:spAutoFit/>
          </a:bodyPr>
          <a:lstStyle/>
          <a:p>
            <a:pPr algn="l"/>
            <a:r>
              <a:rPr sz="800" b="0" i="0">
                <a:solidFill>
                  <a:srgbClr val="555555"/>
                </a:solidFill>
              </a:rPr>
              <a:t>La migration continue vers le cloud et les services SaaS maintient une croissance organique élevée pour les géants technologiques.</a:t>
            </a:r>
          </a:p>
        </p:txBody>
      </p:sp>
      <p:sp>
        <p:nvSpPr>
          <p:cNvPr id="26" name="Rectangle 25"/>
          <p:cNvSpPr/>
          <p:nvPr/>
        </p:nvSpPr>
        <p:spPr>
          <a:xfrm>
            <a:off x="486000" y="3978000"/>
            <a:ext cx="28800" cy="48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000" y="3978000"/>
            <a:ext cx="4500000" cy="162000"/>
          </a:xfrm>
          <a:prstGeom prst="rect">
            <a:avLst/>
          </a:prstGeom>
          <a:noFill/>
        </p:spPr>
        <p:txBody>
          <a:bodyPr wrap="square">
            <a:spAutoFit/>
          </a:bodyPr>
          <a:lstStyle/>
          <a:p>
            <a:pPr algn="l"/>
            <a:r>
              <a:rPr sz="850" b="1" i="0">
                <a:solidFill>
                  <a:srgbClr val="1B3A6B"/>
                </a:solidFill>
              </a:rPr>
              <a:t>Cybersécurité</a:t>
            </a:r>
          </a:p>
        </p:txBody>
      </p:sp>
      <p:sp>
        <p:nvSpPr>
          <p:cNvPr id="28" name="TextBox 27"/>
          <p:cNvSpPr txBox="1"/>
          <p:nvPr/>
        </p:nvSpPr>
        <p:spPr>
          <a:xfrm>
            <a:off x="594000" y="4140000"/>
            <a:ext cx="4500000" cy="378000"/>
          </a:xfrm>
          <a:prstGeom prst="rect">
            <a:avLst/>
          </a:prstGeom>
          <a:noFill/>
        </p:spPr>
        <p:txBody>
          <a:bodyPr wrap="square">
            <a:spAutoFit/>
          </a:bodyPr>
          <a:lstStyle/>
          <a:p>
            <a:pPr algn="l"/>
            <a:r>
              <a:rPr sz="800" b="0" i="0">
                <a:solidFill>
                  <a:srgbClr val="555555"/>
                </a:solidFill>
              </a:rPr>
              <a:t>L'augmentation des cybermenaces et les réglementations strictes stimulent la demande pour des solutions de sécurité avancées.</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EV/EBITDA</a:t>
                      </a:r>
                    </a:p>
                  </a:txBody>
                  <a:tcPr>
                    <a:noFill/>
                  </a:tcPr>
                </a:tc>
                <a:tc>
                  <a:txBody>
                    <a:bodyPr/>
                    <a:lstStyle/>
                    <a:p>
                      <a:pPr algn="ctr"/>
                      <a:r>
                        <a:rPr sz="750" b="0">
                          <a:solidFill>
                            <a:srgbClr val="1A1A1A"/>
                          </a:solidFill>
                        </a:rPr>
                        <a:t>24.4x</a:t>
                      </a:r>
                    </a:p>
                  </a:txBody>
                  <a:tcPr>
                    <a:noFill/>
                  </a:tcPr>
                </a:tc>
                <a:tc>
                  <a:txBody>
                    <a:bodyPr/>
                    <a:lstStyle/>
                    <a:p>
                      <a:pPr algn="ctr"/>
                      <a:r>
                        <a:rPr sz="750" b="0">
                          <a:solidFill>
                            <a:srgbClr val="1A1A1A"/>
                          </a:solidFill>
                        </a:rPr>
                        <a:t>Médiane secteur</a:t>
                      </a:r>
                    </a:p>
                  </a:txBody>
                  <a:tcPr>
                    <a:noFill/>
                  </a:tcPr>
                </a:tc>
              </a:tr>
              <a:tr h="208799">
                <a:tc>
                  <a:txBody>
                    <a:bodyPr/>
                    <a:lstStyle/>
                    <a:p>
                      <a:pPr algn="ctr"/>
                      <a:r>
                        <a:rPr sz="750" b="0">
                          <a:solidFill>
                            <a:srgbClr val="1A1A1A"/>
                          </a:solidFill>
                        </a:rPr>
                        <a:t>Mg EBITDA</a:t>
                      </a:r>
                    </a:p>
                  </a:txBody>
                  <a:tcPr>
                    <a:solidFill>
                      <a:srgbClr val="F5F7FA"/>
                    </a:solidFill>
                  </a:tcPr>
                </a:tc>
                <a:tc>
                  <a:txBody>
                    <a:bodyPr/>
                    <a:lstStyle/>
                    <a:p>
                      <a:pPr algn="ctr"/>
                      <a:r>
                        <a:rPr sz="750" b="0">
                          <a:solidFill>
                            <a:srgbClr val="1A1A1A"/>
                          </a:solidFill>
                        </a:rPr>
                        <a:t>46.8 %</a:t>
                      </a:r>
                    </a:p>
                  </a:txBody>
                  <a:tcPr>
                    <a:solidFill>
                      <a:srgbClr val="F5F7FA"/>
                    </a:solidFill>
                  </a:tcPr>
                </a:tc>
                <a:tc>
                  <a:txBody>
                    <a:bodyPr/>
                    <a:lstStyle/>
                    <a:p>
                      <a:pPr algn="ctr"/>
                      <a:r>
                        <a:rPr sz="750" b="0">
                          <a:solidFill>
                            <a:srgbClr val="1A1A1A"/>
                          </a:solidFill>
                        </a:rPr>
                        <a:t>LTM</a:t>
                      </a:r>
                    </a:p>
                  </a:txBody>
                  <a:tcPr>
                    <a:solidFill>
                      <a:srgbClr val="F5F7FA"/>
                    </a:solidFill>
                  </a:tcPr>
                </a:tc>
              </a:tr>
              <a:tr h="208799">
                <a:tc>
                  <a:txBody>
                    <a:bodyPr/>
                    <a:lstStyle/>
                    <a:p>
                      <a:pPr algn="ctr"/>
                      <a:r>
                        <a:rPr sz="750" b="0">
                          <a:solidFill>
                            <a:srgbClr val="1A1A1A"/>
                          </a:solidFill>
                        </a:rPr>
                        <a:t>Croissance</a:t>
                      </a:r>
                    </a:p>
                  </a:txBody>
                  <a:tcPr>
                    <a:noFill/>
                  </a:tcPr>
                </a:tc>
                <a:tc>
                  <a:txBody>
                    <a:bodyPr/>
                    <a:lstStyle/>
                    <a:p>
                      <a:pPr algn="ctr"/>
                      <a:r>
                        <a:rPr sz="750" b="0">
                          <a:solidFill>
                            <a:srgbClr val="1A1A1A"/>
                          </a:solidFill>
                        </a:rPr>
                        <a:t>+22.7 %</a:t>
                      </a:r>
                    </a:p>
                  </a:txBody>
                  <a:tcPr>
                    <a:noFill/>
                  </a:tcPr>
                </a:tc>
                <a:tc>
                  <a:txBody>
                    <a:bodyPr/>
                    <a:lstStyle/>
                    <a:p>
                      <a:pPr algn="ctr"/>
                      <a:r>
                        <a:rPr sz="750" b="0">
                          <a:solidFill>
                            <a:srgbClr val="1A1A1A"/>
                          </a:solidFill>
                        </a:rPr>
                        <a:t>YoY</a:t>
                      </a:r>
                    </a:p>
                  </a:txBody>
                  <a:tcPr>
                    <a:noFill/>
                  </a:tcPr>
                </a:tc>
              </a:tr>
              <a:tr h="208799">
                <a:tc>
                  <a:txBody>
                    <a:bodyPr/>
                    <a:lstStyle/>
                    <a:p>
                      <a:pPr algn="ctr"/>
                      <a:r>
                        <a:rPr sz="750" b="0">
                          <a:solidFill>
                            <a:srgbClr val="1A1A1A"/>
                          </a:solidFill>
                        </a:rPr>
                        <a:t>Momentum</a:t>
                      </a:r>
                    </a:p>
                  </a:txBody>
                  <a:tcPr>
                    <a:solidFill>
                      <a:srgbClr val="F5F7FA"/>
                    </a:solidFill>
                  </a:tcPr>
                </a:tc>
                <a:tc>
                  <a:txBody>
                    <a:bodyPr/>
                    <a:lstStyle/>
                    <a:p>
                      <a:pPr algn="ctr"/>
                      <a:r>
                        <a:rPr sz="750" b="0">
                          <a:solidFill>
                            <a:srgbClr val="1A1A1A"/>
                          </a:solidFill>
                        </a:rPr>
                        <a:t>+67.3 %</a:t>
                      </a:r>
                    </a:p>
                  </a:txBody>
                  <a:tcPr>
                    <a:solidFill>
                      <a:srgbClr val="F5F7FA"/>
                    </a:solidFill>
                  </a:tcPr>
                </a:tc>
                <a:tc>
                  <a:txBody>
                    <a:bodyPr/>
                    <a:lstStyle/>
                    <a:p>
                      <a:pPr algn="ctr"/>
                      <a:r>
                        <a:rPr sz="750" b="0">
                          <a:solidFill>
                            <a:srgbClr val="1A1A1A"/>
                          </a:solidFill>
                        </a:rPr>
                        <a:t>52W</a:t>
                      </a:r>
                    </a:p>
                  </a:txBody>
                  <a:tcPr>
                    <a:solidFill>
                      <a:srgbClr val="F5F7FA"/>
                    </a:solidFill>
                  </a:tcPr>
                </a:tc>
              </a:tr>
              <a:tr h="208799">
                <a:tc>
                  <a:txBody>
                    <a:bodyPr/>
                    <a:lstStyle/>
                    <a:p>
                      <a:pPr algn="ctr"/>
                      <a:r>
                        <a:rPr sz="750" b="0">
                          <a:solidFill>
                            <a:srgbClr val="1A1A1A"/>
                          </a:solidFill>
                        </a:rPr>
                        <a:t>Score Moyen</a:t>
                      </a:r>
                    </a:p>
                  </a:txBody>
                  <a:tcPr>
                    <a:noFill/>
                  </a:tcPr>
                </a:tc>
                <a:tc>
                  <a:txBody>
                    <a:bodyPr/>
                    <a:lstStyle/>
                    <a:p>
                      <a:pPr algn="ctr"/>
                      <a:r>
                        <a:rPr sz="750" b="0">
                          <a:solidFill>
                            <a:srgbClr val="1A1A1A"/>
                          </a:solidFill>
                        </a:rPr>
                        <a:t>77/100</a:t>
                      </a:r>
                    </a:p>
                  </a:txBody>
                  <a:tcPr>
                    <a:noFill/>
                  </a:tcPr>
                </a:tc>
                <a:tc>
                  <a:txBody>
                    <a:bodyPr/>
                    <a:lstStyle/>
                    <a:p>
                      <a:pPr algn="ctr"/>
                      <a:r>
                        <a:rPr sz="750" b="0">
                          <a:solidFill>
                            <a:srgbClr val="1A1A1A"/>
                          </a:solidFill>
                        </a:rPr>
                        <a:t>FinSight</a:t>
                      </a:r>
                    </a:p>
                  </a:txBody>
                  <a:tcPr>
                    <a:noFill/>
                  </a:tcPr>
                </a:tc>
              </a:tr>
              <a:tr h="208805">
                <a:tc>
                  <a:txBody>
                    <a:bodyPr/>
                    <a:lstStyle/>
                    <a:p>
                      <a:pPr algn="ctr"/>
                      <a:r>
                        <a:rPr sz="750" b="0">
                          <a:solidFill>
                            <a:srgbClr val="1A1A1A"/>
                          </a:solidFill>
                        </a:rPr>
                        <a:t>Nb Societes</a:t>
                      </a:r>
                    </a:p>
                  </a:txBody>
                  <a:tcPr>
                    <a:solidFill>
                      <a:srgbClr val="F5F7FA"/>
                    </a:solidFill>
                  </a:tcPr>
                </a:tc>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Analysees</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Societe</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Alphabet Inc.</a:t>
                      </a:r>
                    </a:p>
                  </a:txBody>
                  <a:tcPr>
                    <a:noFill/>
                  </a:tcPr>
                </a:tc>
                <a:tc>
                  <a:txBody>
                    <a:bodyPr/>
                    <a:lstStyle/>
                    <a:p>
                      <a:pPr algn="ctr"/>
                      <a:r>
                        <a:rPr sz="750" b="0">
                          <a:solidFill>
                            <a:srgbClr val="1A1A1A"/>
                          </a:solidFill>
                        </a:rPr>
                        <a:t>24.2x</a:t>
                      </a:r>
                    </a:p>
                  </a:txBody>
                  <a:tcPr>
                    <a:noFill/>
                  </a:tcPr>
                </a:tc>
                <a:tc>
                  <a:txBody>
                    <a:bodyPr/>
                    <a:lstStyle/>
                    <a:p>
                      <a:pPr algn="ctr"/>
                      <a:r>
                        <a:rPr sz="750" b="0">
                          <a:solidFill>
                            <a:srgbClr val="1A1A1A"/>
                          </a:solidFill>
                        </a:rPr>
                        <a:t>9.0x</a:t>
                      </a:r>
                    </a:p>
                  </a:txBody>
                  <a:tcPr>
                    <a:noFill/>
                  </a:tcPr>
                </a:tc>
                <a:tc>
                  <a:txBody>
                    <a:bodyPr/>
                    <a:lstStyle/>
                    <a:p>
                      <a:pPr algn="ctr"/>
                      <a:r>
                        <a:rPr sz="750" b="0">
                          <a:solidFill>
                            <a:srgbClr val="1A1A1A"/>
                          </a:solidFill>
                        </a:rPr>
                        <a:t>29.5x</a:t>
                      </a:r>
                    </a:p>
                  </a:txBody>
                  <a:tcPr>
                    <a:noFill/>
                  </a:tcPr>
                </a:tc>
                <a:tc>
                  <a:txBody>
                    <a:bodyPr/>
                    <a:lstStyle/>
                    <a:p>
                      <a:pPr algn="ctr"/>
                      <a:r>
                        <a:rPr sz="750" b="0">
                          <a:solidFill>
                            <a:srgbClr val="1A1A1A"/>
                          </a:solidFill>
                        </a:rPr>
                        <a:t>59.7 %</a:t>
                      </a:r>
                    </a:p>
                  </a:txBody>
                  <a:tcPr>
                    <a:noFill/>
                  </a:tcPr>
                </a:tc>
                <a:tc>
                  <a:txBody>
                    <a:bodyPr/>
                    <a:lstStyle/>
                    <a:p>
                      <a:pPr algn="ctr"/>
                      <a:r>
                        <a:rPr sz="750" b="0">
                          <a:solidFill>
                            <a:srgbClr val="1A1A1A"/>
                          </a:solidFill>
                        </a:rPr>
                        <a:t>37.3 %</a:t>
                      </a:r>
                    </a:p>
                  </a:txBody>
                  <a:tcPr>
                    <a:noFill/>
                  </a:tcPr>
                </a:tc>
                <a:tc>
                  <a:txBody>
                    <a:bodyPr/>
                    <a:lstStyle/>
                    <a:p>
                      <a:pPr algn="ctr"/>
                      <a:r>
                        <a:rPr sz="750" b="0">
                          <a:solidFill>
                            <a:srgbClr val="1A1A1A"/>
                          </a:solidFill>
                        </a:rPr>
                        <a:t>35.7 %</a:t>
                      </a:r>
                    </a:p>
                  </a:txBody>
                  <a:tcPr>
                    <a:noFill/>
                  </a:tcPr>
                </a:tc>
              </a:tr>
              <a:tr h="198000">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32.1x</a:t>
                      </a:r>
                    </a:p>
                  </a:txBody>
                  <a:tcPr>
                    <a:solidFill>
                      <a:srgbClr val="F5F7FA"/>
                    </a:solidFill>
                  </a:tcPr>
                </a:tc>
                <a:tc>
                  <a:txBody>
                    <a:bodyPr/>
                    <a:lstStyle/>
                    <a:p>
                      <a:pPr algn="ctr"/>
                      <a:r>
                        <a:rPr sz="750" b="0">
                          <a:solidFill>
                            <a:srgbClr val="1A1A1A"/>
                          </a:solidFill>
                        </a:rPr>
                        <a:t>19.8x</a:t>
                      </a:r>
                    </a:p>
                  </a:txBody>
                  <a:tcPr>
                    <a:solidFill>
                      <a:srgbClr val="F5F7FA"/>
                    </a:solidFill>
                  </a:tcPr>
                </a:tc>
                <a:tc>
                  <a:txBody>
                    <a:bodyPr/>
                    <a:lstStyle/>
                    <a:p>
                      <a:pPr algn="ctr"/>
                      <a:r>
                        <a:rPr sz="750" b="0">
                          <a:solidFill>
                            <a:srgbClr val="1A1A1A"/>
                          </a:solidFill>
                        </a:rPr>
                        <a:t>37.1x</a:t>
                      </a:r>
                    </a:p>
                  </a:txBody>
                  <a:tcPr>
                    <a:solidFill>
                      <a:srgbClr val="F5F7FA"/>
                    </a:solidFill>
                  </a:tcPr>
                </a:tc>
                <a:tc>
                  <a:txBody>
                    <a:bodyPr/>
                    <a:lstStyle/>
                    <a:p>
                      <a:pPr algn="ctr"/>
                      <a:r>
                        <a:rPr sz="750" b="0">
                          <a:solidFill>
                            <a:srgbClr val="1A1A1A"/>
                          </a:solidFill>
                        </a:rPr>
                        <a:t>71.1 %</a:t>
                      </a:r>
                    </a:p>
                  </a:txBody>
                  <a:tcPr>
                    <a:solidFill>
                      <a:srgbClr val="F5F7FA"/>
                    </a:solidFill>
                  </a:tcPr>
                </a:tc>
                <a:tc>
                  <a:txBody>
                    <a:bodyPr/>
                    <a:lstStyle/>
                    <a:p>
                      <a:pPr algn="ctr"/>
                      <a:r>
                        <a:rPr sz="750" b="0">
                          <a:solidFill>
                            <a:srgbClr val="1A1A1A"/>
                          </a:solidFill>
                        </a:rPr>
                        <a:t>61.7 %</a:t>
                      </a:r>
                    </a:p>
                  </a:txBody>
                  <a:tcPr>
                    <a:solidFill>
                      <a:srgbClr val="F5F7FA"/>
                    </a:solidFill>
                  </a:tcPr>
                </a:tc>
                <a:tc>
                  <a:txBody>
                    <a:bodyPr/>
                    <a:lstStyle/>
                    <a:p>
                      <a:pPr algn="ctr"/>
                      <a:r>
                        <a:rPr sz="750" b="0">
                          <a:solidFill>
                            <a:srgbClr val="1A1A1A"/>
                          </a:solidFill>
                        </a:rPr>
                        <a:t>101.5 %</a:t>
                      </a:r>
                    </a:p>
                  </a:txBody>
                  <a:tcPr>
                    <a:solidFill>
                      <a:srgbClr val="F5F7FA"/>
                    </a:solidFill>
                  </a:tcPr>
                </a:tc>
              </a:tr>
              <a:tr h="198000">
                <a:tc>
                  <a:txBody>
                    <a:bodyPr/>
                    <a:lstStyle/>
                    <a:p>
                      <a:pPr algn="ctr"/>
                      <a:r>
                        <a:rPr sz="750" b="0">
                          <a:solidFill>
                            <a:srgbClr val="1A1A1A"/>
                          </a:solidFill>
                        </a:rPr>
                        <a:t>Apple Inc.</a:t>
                      </a:r>
                    </a:p>
                  </a:txBody>
                  <a:tcPr>
                    <a:noFill/>
                  </a:tcPr>
                </a:tc>
                <a:tc>
                  <a:txBody>
                    <a:bodyPr/>
                    <a:lstStyle/>
                    <a:p>
                      <a:pPr algn="ctr"/>
                      <a:r>
                        <a:rPr sz="750" b="0">
                          <a:solidFill>
                            <a:srgbClr val="1A1A1A"/>
                          </a:solidFill>
                        </a:rPr>
                        <a:t>24.5x</a:t>
                      </a:r>
                    </a:p>
                  </a:txBody>
                  <a:tcPr>
                    <a:noFill/>
                  </a:tcPr>
                </a:tc>
                <a:tc>
                  <a:txBody>
                    <a:bodyPr/>
                    <a:lstStyle/>
                    <a:p>
                      <a:pPr algn="ctr"/>
                      <a:r>
                        <a:rPr sz="750" b="0">
                          <a:solidFill>
                            <a:srgbClr val="1A1A1A"/>
                          </a:solidFill>
                        </a:rPr>
                        <a:t>8.6x</a:t>
                      </a:r>
                    </a:p>
                  </a:txBody>
                  <a:tcPr>
                    <a:noFill/>
                  </a:tcPr>
                </a:tc>
                <a:tc>
                  <a:txBody>
                    <a:bodyPr/>
                    <a:lstStyle/>
                    <a:p>
                      <a:pPr algn="ctr"/>
                      <a:r>
                        <a:rPr sz="750" b="0">
                          <a:solidFill>
                            <a:srgbClr val="1A1A1A"/>
                          </a:solidFill>
                        </a:rPr>
                        <a:t>32.5x</a:t>
                      </a:r>
                    </a:p>
                  </a:txBody>
                  <a:tcPr>
                    <a:noFill/>
                  </a:tcPr>
                </a:tc>
                <a:tc>
                  <a:txBody>
                    <a:bodyPr/>
                    <a:lstStyle/>
                    <a:p>
                      <a:pPr algn="ctr"/>
                      <a:r>
                        <a:rPr sz="750" b="0">
                          <a:solidFill>
                            <a:srgbClr val="1A1A1A"/>
                          </a:solidFill>
                        </a:rPr>
                        <a:t>47.3 %</a:t>
                      </a:r>
                    </a:p>
                  </a:txBody>
                  <a:tcPr>
                    <a:noFill/>
                  </a:tcPr>
                </a:tc>
                <a:tc>
                  <a:txBody>
                    <a:bodyPr/>
                    <a:lstStyle/>
                    <a:p>
                      <a:pPr algn="ctr"/>
                      <a:r>
                        <a:rPr sz="750" b="0">
                          <a:solidFill>
                            <a:srgbClr val="1A1A1A"/>
                          </a:solidFill>
                        </a:rPr>
                        <a:t>35.1 %</a:t>
                      </a:r>
                    </a:p>
                  </a:txBody>
                  <a:tcPr>
                    <a:noFill/>
                  </a:tcPr>
                </a:tc>
                <a:tc>
                  <a:txBody>
                    <a:bodyPr/>
                    <a:lstStyle/>
                    <a:p>
                      <a:pPr algn="ctr"/>
                      <a:r>
                        <a:rPr sz="750" b="0">
                          <a:solidFill>
                            <a:srgbClr val="1A1A1A"/>
                          </a:solidFill>
                        </a:rPr>
                        <a:t>152.0 %</a:t>
                      </a:r>
                    </a:p>
                  </a:txBody>
                  <a:tcPr>
                    <a:noFill/>
                  </a:tcPr>
                </a:tc>
              </a:tr>
              <a:tr h="198000">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19.7x</a:t>
                      </a:r>
                    </a:p>
                  </a:txBody>
                  <a:tcPr>
                    <a:solidFill>
                      <a:srgbClr val="F5F7FA"/>
                    </a:solidFill>
                  </a:tcPr>
                </a:tc>
                <a:tc>
                  <a:txBody>
                    <a:bodyPr/>
                    <a:lstStyle/>
                    <a:p>
                      <a:pPr algn="ctr"/>
                      <a:r>
                        <a:rPr sz="750" b="0">
                          <a:solidFill>
                            <a:srgbClr val="1A1A1A"/>
                          </a:solidFill>
                        </a:rPr>
                        <a:t>8.4x</a:t>
                      </a:r>
                    </a:p>
                  </a:txBody>
                  <a:tcPr>
                    <a:solidFill>
                      <a:srgbClr val="F5F7FA"/>
                    </a:solidFill>
                  </a:tcPr>
                </a:tc>
                <a:tc>
                  <a:txBody>
                    <a:bodyPr/>
                    <a:lstStyle/>
                    <a:p>
                      <a:pPr algn="ctr"/>
                      <a:r>
                        <a:rPr sz="750" b="0">
                          <a:solidFill>
                            <a:srgbClr val="1A1A1A"/>
                          </a:solidFill>
                        </a:rPr>
                        <a:t>25.9x</a:t>
                      </a:r>
                    </a:p>
                  </a:txBody>
                  <a:tcPr>
                    <a:solidFill>
                      <a:srgbClr val="F5F7FA"/>
                    </a:solidFill>
                  </a:tcPr>
                </a:tc>
                <a:tc>
                  <a:txBody>
                    <a:bodyPr/>
                    <a:lstStyle/>
                    <a:p>
                      <a:pPr algn="ctr"/>
                      <a:r>
                        <a:rPr sz="750" b="0">
                          <a:solidFill>
                            <a:srgbClr val="1A1A1A"/>
                          </a:solidFill>
                        </a:rPr>
                        <a:t>67.1 %</a:t>
                      </a:r>
                    </a:p>
                  </a:txBody>
                  <a:tcPr>
                    <a:solidFill>
                      <a:srgbClr val="F5F7FA"/>
                    </a:solidFill>
                  </a:tcPr>
                </a:tc>
                <a:tc>
                  <a:txBody>
                    <a:bodyPr/>
                    <a:lstStyle/>
                    <a:p>
                      <a:pPr algn="ctr"/>
                      <a:r>
                        <a:rPr sz="750" b="0">
                          <a:solidFill>
                            <a:srgbClr val="1A1A1A"/>
                          </a:solidFill>
                        </a:rPr>
                        <a:t>42.8 %</a:t>
                      </a:r>
                    </a:p>
                  </a:txBody>
                  <a:tcPr>
                    <a:solidFill>
                      <a:srgbClr val="F5F7FA"/>
                    </a:solidFill>
                  </a:tcPr>
                </a:tc>
                <a:tc>
                  <a:txBody>
                    <a:bodyPr/>
                    <a:lstStyle/>
                    <a:p>
                      <a:pPr algn="ctr"/>
                      <a:r>
                        <a:rPr sz="750" b="0">
                          <a:solidFill>
                            <a:srgbClr val="1A1A1A"/>
                          </a:solidFill>
                        </a:rPr>
                        <a:t>57.6 %</a:t>
                      </a:r>
                    </a:p>
                  </a:txBody>
                  <a:tcPr>
                    <a:solidFill>
                      <a:srgbClr val="F5F7FA"/>
                    </a:solidFill>
                  </a:tcPr>
                </a:tc>
              </a:tr>
              <a:tr h="198000">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16.0x</a:t>
                      </a:r>
                    </a:p>
                  </a:txBody>
                  <a:tcPr>
                    <a:noFill/>
                  </a:tcPr>
                </a:tc>
                <a:tc>
                  <a:txBody>
                    <a:bodyPr/>
                    <a:lstStyle/>
                    <a:p>
                      <a:pPr algn="ctr"/>
                      <a:r>
                        <a:rPr sz="750" b="0">
                          <a:solidFill>
                            <a:srgbClr val="1A1A1A"/>
                          </a:solidFill>
                        </a:rPr>
                        <a:t>9.2x</a:t>
                      </a:r>
                    </a:p>
                  </a:txBody>
                  <a:tcPr>
                    <a:noFill/>
                  </a:tcPr>
                </a:tc>
                <a:tc>
                  <a:txBody>
                    <a:bodyPr/>
                    <a:lstStyle/>
                    <a:p>
                      <a:pPr algn="ctr"/>
                      <a:r>
                        <a:rPr sz="750" b="0">
                          <a:solidFill>
                            <a:srgbClr val="1A1A1A"/>
                          </a:solidFill>
                        </a:rPr>
                        <a:t>23.4x</a:t>
                      </a:r>
                    </a:p>
                  </a:txBody>
                  <a:tcPr>
                    <a:noFill/>
                  </a:tcPr>
                </a:tc>
                <a:tc>
                  <a:txBody>
                    <a:bodyPr/>
                    <a:lstStyle/>
                    <a:p>
                      <a:pPr algn="ctr"/>
                      <a:r>
                        <a:rPr sz="750" b="0">
                          <a:solidFill>
                            <a:srgbClr val="1A1A1A"/>
                          </a:solidFill>
                        </a:rPr>
                        <a:t>68.6 %</a:t>
                      </a:r>
                    </a:p>
                  </a:txBody>
                  <a:tcPr>
                    <a:noFill/>
                  </a:tcPr>
                </a:tc>
                <a:tc>
                  <a:txBody>
                    <a:bodyPr/>
                    <a:lstStyle/>
                    <a:p>
                      <a:pPr algn="ctr"/>
                      <a:r>
                        <a:rPr sz="750" b="0">
                          <a:solidFill>
                            <a:srgbClr val="1A1A1A"/>
                          </a:solidFill>
                        </a:rPr>
                        <a:t>57.4 %</a:t>
                      </a:r>
                    </a:p>
                  </a:txBody>
                  <a:tcPr>
                    <a:noFill/>
                  </a:tcPr>
                </a:tc>
                <a:tc>
                  <a:txBody>
                    <a:bodyPr/>
                    <a:lstStyle/>
                    <a:p>
                      <a:pPr algn="ctr"/>
                      <a:r>
                        <a:rPr sz="750" b="0">
                          <a:solidFill>
                            <a:srgbClr val="1A1A1A"/>
                          </a:solidFill>
                        </a:rPr>
                        <a:t>34.4 %</a:t>
                      </a:r>
                    </a:p>
                  </a:txBody>
                  <a:tcPr>
                    <a:noFill/>
                  </a:tcPr>
                </a:tc>
              </a:tr>
              <a:tr h="198000">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14.3x</a:t>
                      </a:r>
                    </a:p>
                  </a:txBody>
                  <a:tcPr>
                    <a:solidFill>
                      <a:srgbClr val="F5F7FA"/>
                    </a:solidFill>
                  </a:tcPr>
                </a:tc>
                <a:tc>
                  <a:txBody>
                    <a:bodyPr/>
                    <a:lstStyle/>
                    <a:p>
                      <a:pPr algn="ctr"/>
                      <a:r>
                        <a:rPr sz="750" b="0">
                          <a:solidFill>
                            <a:srgbClr val="1A1A1A"/>
                          </a:solidFill>
                        </a:rPr>
                        <a:t>7.3x</a:t>
                      </a:r>
                    </a:p>
                  </a:txBody>
                  <a:tcPr>
                    <a:solidFill>
                      <a:srgbClr val="F5F7FA"/>
                    </a:solidFill>
                  </a:tcPr>
                </a:tc>
                <a:tc>
                  <a:txBody>
                    <a:bodyPr/>
                    <a:lstStyle/>
                    <a:p>
                      <a:pPr algn="ctr"/>
                      <a:r>
                        <a:rPr sz="750" b="0">
                          <a:solidFill>
                            <a:srgbClr val="1A1A1A"/>
                          </a:solidFill>
                        </a:rPr>
                        <a:t>26.3x</a:t>
                      </a:r>
                    </a:p>
                  </a:txBody>
                  <a:tcPr>
                    <a:solidFill>
                      <a:srgbClr val="F5F7FA"/>
                    </a:solidFill>
                  </a:tcPr>
                </a:tc>
                <a:tc>
                  <a:txBody>
                    <a:bodyPr/>
                    <a:lstStyle/>
                    <a:p>
                      <a:pPr algn="ctr"/>
                      <a:r>
                        <a:rPr sz="750" b="0">
                          <a:solidFill>
                            <a:srgbClr val="1A1A1A"/>
                          </a:solidFill>
                        </a:rPr>
                        <a:t>82.0 %</a:t>
                      </a:r>
                    </a:p>
                  </a:txBody>
                  <a:tcPr>
                    <a:solidFill>
                      <a:srgbClr val="F5F7FA"/>
                    </a:solidFill>
                  </a:tcPr>
                </a:tc>
                <a:tc>
                  <a:txBody>
                    <a:bodyPr/>
                    <a:lstStyle/>
                    <a:p>
                      <a:pPr algn="ctr"/>
                      <a:r>
                        <a:rPr sz="750" b="0">
                          <a:solidFill>
                            <a:srgbClr val="1A1A1A"/>
                          </a:solidFill>
                        </a:rPr>
                        <a:t>50.7 %</a:t>
                      </a:r>
                    </a:p>
                  </a:txBody>
                  <a:tcPr>
                    <a:solidFill>
                      <a:srgbClr val="F5F7FA"/>
                    </a:solidFill>
                  </a:tcPr>
                </a:tc>
                <a:tc>
                  <a:txBody>
                    <a:bodyPr/>
                    <a:lstStyle/>
                    <a:p>
                      <a:pPr algn="ctr"/>
                      <a:r>
                        <a:rPr sz="750" b="0">
                          <a:solidFill>
                            <a:srgbClr val="1A1A1A"/>
                          </a:solidFill>
                        </a:rPr>
                        <a:t>30.2 %</a:t>
                      </a:r>
                    </a:p>
                  </a:txBody>
                  <a:tcPr>
                    <a:solidFill>
                      <a:srgbClr val="F5F7FA"/>
                    </a:solidFill>
                  </a:tcPr>
                </a:tc>
              </a:tr>
              <a:tr h="198000">
                <a:tc>
                  <a:txBody>
                    <a:bodyPr/>
                    <a:lstStyle/>
                    <a:p>
                      <a:pPr algn="ctr"/>
                      <a:r>
                        <a:rPr sz="750" b="0">
                          <a:solidFill>
                            <a:srgbClr val="1A1A1A"/>
                          </a:solidFill>
                        </a:rPr>
                        <a:t>Broadcom Inc.</a:t>
                      </a:r>
                    </a:p>
                  </a:txBody>
                  <a:tcPr>
                    <a:noFill/>
                  </a:tcPr>
                </a:tc>
                <a:tc>
                  <a:txBody>
                    <a:bodyPr/>
                    <a:lstStyle/>
                    <a:p>
                      <a:pPr algn="ctr"/>
                      <a:r>
                        <a:rPr sz="750" b="0">
                          <a:solidFill>
                            <a:srgbClr val="1A1A1A"/>
                          </a:solidFill>
                        </a:rPr>
                        <a:t>43.9x</a:t>
                      </a:r>
                    </a:p>
                  </a:txBody>
                  <a:tcPr>
                    <a:noFill/>
                  </a:tcPr>
                </a:tc>
                <a:tc>
                  <a:txBody>
                    <a:bodyPr/>
                    <a:lstStyle/>
                    <a:p>
                      <a:pPr algn="ctr"/>
                      <a:r>
                        <a:rPr sz="750" b="0">
                          <a:solidFill>
                            <a:srgbClr val="1A1A1A"/>
                          </a:solidFill>
                        </a:rPr>
                        <a:t>23.9x</a:t>
                      </a:r>
                    </a:p>
                  </a:txBody>
                  <a:tcPr>
                    <a:noFill/>
                  </a:tcPr>
                </a:tc>
                <a:tc>
                  <a:txBody>
                    <a:bodyPr/>
                    <a:lstStyle/>
                    <a:p>
                      <a:pPr algn="ctr"/>
                      <a:r>
                        <a:rPr sz="750" b="0">
                          <a:solidFill>
                            <a:srgbClr val="1A1A1A"/>
                          </a:solidFill>
                        </a:rPr>
                        <a:t>68.4x</a:t>
                      </a:r>
                    </a:p>
                  </a:txBody>
                  <a:tcPr>
                    <a:noFill/>
                  </a:tcPr>
                </a:tc>
                <a:tc>
                  <a:txBody>
                    <a:bodyPr/>
                    <a:lstStyle/>
                    <a:p>
                      <a:pPr algn="ctr"/>
                      <a:r>
                        <a:rPr sz="750" b="0">
                          <a:solidFill>
                            <a:srgbClr val="1A1A1A"/>
                          </a:solidFill>
                        </a:rPr>
                        <a:t>76.7 %</a:t>
                      </a:r>
                    </a:p>
                  </a:txBody>
                  <a:tcPr>
                    <a:noFill/>
                  </a:tcPr>
                </a:tc>
                <a:tc>
                  <a:txBody>
                    <a:bodyPr/>
                    <a:lstStyle/>
                    <a:p>
                      <a:pPr algn="ctr"/>
                      <a:r>
                        <a:rPr sz="750" b="0">
                          <a:solidFill>
                            <a:srgbClr val="1A1A1A"/>
                          </a:solidFill>
                        </a:rPr>
                        <a:t>54.5 %</a:t>
                      </a:r>
                    </a:p>
                  </a:txBody>
                  <a:tcPr>
                    <a:noFill/>
                  </a:tcPr>
                </a:tc>
                <a:tc>
                  <a:txBody>
                    <a:bodyPr/>
                    <a:lstStyle/>
                    <a:p>
                      <a:pPr algn="ctr"/>
                      <a:r>
                        <a:rPr sz="750" b="0">
                          <a:solidFill>
                            <a:srgbClr val="1A1A1A"/>
                          </a:solidFill>
                        </a:rPr>
                        <a:t>33.4 %</a:t>
                      </a:r>
                    </a:p>
                  </a:txBody>
                  <a:tcPr>
                    <a:noFill/>
                  </a:tcPr>
                </a:tc>
              </a:tr>
              <a:tr h="198000">
                <a:tc>
                  <a:txBody>
                    <a:bodyPr/>
                    <a:lstStyle/>
                    <a:p>
                      <a:pPr algn="ctr"/>
                      <a:r>
                        <a:rPr sz="750" b="0">
                          <a:solidFill>
                            <a:srgbClr val="1A1A1A"/>
                          </a:solidFill>
                        </a:rPr>
                        <a:t>Advanced Micro Devices, Inc.</a:t>
                      </a:r>
                    </a:p>
                  </a:txBody>
                  <a:tcPr>
                    <a:solidFill>
                      <a:srgbClr val="F5F7FA"/>
                    </a:solidFill>
                  </a:tcPr>
                </a:tc>
                <a:tc>
                  <a:txBody>
                    <a:bodyPr/>
                    <a:lstStyle/>
                    <a:p>
                      <a:pPr algn="ctr"/>
                      <a:r>
                        <a:rPr sz="750" b="0">
                          <a:solidFill>
                            <a:srgbClr val="1A1A1A"/>
                          </a:solidFill>
                        </a:rPr>
                        <a:t>52.6x</a:t>
                      </a:r>
                    </a:p>
                  </a:txBody>
                  <a:tcPr>
                    <a:solidFill>
                      <a:srgbClr val="F5F7FA"/>
                    </a:solidFill>
                  </a:tcPr>
                </a:tc>
                <a:tc>
                  <a:txBody>
                    <a:bodyPr/>
                    <a:lstStyle/>
                    <a:p>
                      <a:pPr algn="ctr"/>
                      <a:r>
                        <a:rPr sz="750" b="0">
                          <a:solidFill>
                            <a:srgbClr val="1A1A1A"/>
                          </a:solidFill>
                        </a:rPr>
                        <a:t>10.2x</a:t>
                      </a:r>
                    </a:p>
                  </a:txBody>
                  <a:tcPr>
                    <a:solidFill>
                      <a:srgbClr val="F5F7FA"/>
                    </a:solidFill>
                  </a:tcPr>
                </a:tc>
                <a:tc>
                  <a:txBody>
                    <a:bodyPr/>
                    <a:lstStyle/>
                    <a:p>
                      <a:pPr algn="ctr"/>
                      <a:r>
                        <a:rPr sz="750" b="0">
                          <a:solidFill>
                            <a:srgbClr val="1A1A1A"/>
                          </a:solidFill>
                        </a:rPr>
                        <a:t>89.1x</a:t>
                      </a:r>
                    </a:p>
                  </a:txBody>
                  <a:tcPr>
                    <a:solidFill>
                      <a:srgbClr val="F5F7FA"/>
                    </a:solidFill>
                  </a:tcPr>
                </a:tc>
                <a:tc>
                  <a:txBody>
                    <a:bodyPr/>
                    <a:lstStyle/>
                    <a:p>
                      <a:pPr algn="ctr"/>
                      <a:r>
                        <a:rPr sz="750" b="0">
                          <a:solidFill>
                            <a:srgbClr val="1A1A1A"/>
                          </a:solidFill>
                        </a:rPr>
                        <a:t>52.5 %</a:t>
                      </a:r>
                    </a:p>
                  </a:txBody>
                  <a:tcPr>
                    <a:solidFill>
                      <a:srgbClr val="F5F7FA"/>
                    </a:solidFill>
                  </a:tcPr>
                </a:tc>
                <a:tc>
                  <a:txBody>
                    <a:bodyPr/>
                    <a:lstStyle/>
                    <a:p>
                      <a:pPr algn="ctr"/>
                      <a:r>
                        <a:rPr sz="750" b="0">
                          <a:solidFill>
                            <a:srgbClr val="1A1A1A"/>
                          </a:solidFill>
                        </a:rPr>
                        <a:t>19.5 %</a:t>
                      </a:r>
                    </a:p>
                  </a:txBody>
                  <a:tcPr>
                    <a:solidFill>
                      <a:srgbClr val="F5F7FA"/>
                    </a:solidFill>
                  </a:tcPr>
                </a:tc>
                <a:tc>
                  <a:txBody>
                    <a:bodyPr/>
                    <a:lstStyle/>
                    <a:p>
                      <a:pPr algn="ctr"/>
                      <a:r>
                        <a:rPr sz="750" b="0">
                          <a:solidFill>
                            <a:srgbClr val="1A1A1A"/>
                          </a:solidFill>
                        </a:rPr>
                        <a:t>7.1 %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24.4x</a:t>
                      </a:r>
                    </a:p>
                  </a:txBody>
                  <a:tcPr>
                    <a:noFill/>
                  </a:tcPr>
                </a:tc>
                <a:tc>
                  <a:txBody>
                    <a:bodyPr/>
                    <a:lstStyle/>
                    <a:p>
                      <a:pPr algn="ctr"/>
                      <a:r>
                        <a:rPr sz="750" b="0">
                          <a:solidFill>
                            <a:srgbClr val="1A1A1A"/>
                          </a:solidFill>
                        </a:rPr>
                        <a:t>9.1x</a:t>
                      </a:r>
                    </a:p>
                  </a:txBody>
                  <a:tcPr>
                    <a:noFill/>
                  </a:tcPr>
                </a:tc>
                <a:tc>
                  <a:txBody>
                    <a:bodyPr/>
                    <a:lstStyle/>
                    <a:p>
                      <a:pPr algn="ctr"/>
                      <a:r>
                        <a:rPr sz="750" b="0">
                          <a:solidFill>
                            <a:srgbClr val="1A1A1A"/>
                          </a:solidFill>
                        </a:rPr>
                        <a:t>31.0x</a:t>
                      </a:r>
                    </a:p>
                  </a:txBody>
                  <a:tcPr>
                    <a:noFill/>
                  </a:tcPr>
                </a:tc>
                <a:tc>
                  <a:txBody>
                    <a:bodyPr/>
                    <a:lstStyle/>
                    <a:p>
                      <a:pPr algn="ctr"/>
                      <a:r>
                        <a:rPr sz="750" b="0">
                          <a:solidFill>
                            <a:srgbClr val="1A1A1A"/>
                          </a:solidFill>
                        </a:rPr>
                        <a:t>67.8 %</a:t>
                      </a:r>
                    </a:p>
                  </a:txBody>
                  <a:tcPr>
                    <a:noFill/>
                  </a:tcPr>
                </a:tc>
                <a:tc>
                  <a:txBody>
                    <a:bodyPr/>
                    <a:lstStyle/>
                    <a:p>
                      <a:pPr algn="ctr"/>
                      <a:r>
                        <a:rPr sz="750" b="0">
                          <a:solidFill>
                            <a:srgbClr val="1A1A1A"/>
                          </a:solidFill>
                        </a:rPr>
                        <a:t>46.8 %</a:t>
                      </a:r>
                    </a:p>
                  </a:txBody>
                  <a:tcPr>
                    <a:noFill/>
                  </a:tcPr>
                </a:tc>
                <a:tc>
                  <a:txBody>
                    <a:bodyPr/>
                    <a:lstStyle/>
                    <a:p>
                      <a:pPr algn="ctr"/>
                      <a:r>
                        <a:rPr sz="750" b="0">
                          <a:solidFill>
                            <a:srgbClr val="1A1A1A"/>
                          </a:solidFill>
                        </a:rPr>
                        <a:t>35.0 %</a:t>
                      </a:r>
                    </a:p>
                  </a:txBody>
                  <a:tcPr>
                    <a:noFill/>
                  </a:tcPr>
                </a:tc>
              </a:tr>
            </a:tbl>
          </a:graphicData>
        </a:graphic>
      </p:graphicFrame>
      <p:sp>
        <p:nvSpPr>
          <p:cNvPr id="16" name="Rectangle 15"/>
          <p:cNvSpPr/>
          <p:nvPr/>
        </p:nvSpPr>
        <p:spPr>
          <a:xfrm>
            <a:off x="324000" y="3131999"/>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131999"/>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150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420000"/>
            <a:ext cx="8352000" cy="720000"/>
          </a:xfrm>
          <a:prstGeom prst="rect">
            <a:avLst/>
          </a:prstGeom>
          <a:noFill/>
        </p:spPr>
        <p:txBody>
          <a:bodyPr wrap="square">
            <a:spAutoFit/>
          </a:bodyPr>
          <a:lstStyle/>
          <a:p>
            <a:pPr algn="l"/>
            <a:r>
              <a:rPr sz="850" b="0" i="0">
                <a:solidFill>
                  <a:srgbClr val="555555"/>
                </a:solidFill>
              </a:rPr>
              <a:t>La mediane EV/EBITDA sectorielle s etablit a 24.4x LTM. Alphabet Inc. (24.2x) se distingue comme le leader de qualite, combine a une marge EBITDA de 37.3 % et une croissance de +18.0 %. La dispersion des multiples revele l heterogeneite des profils au sein du secteur Technology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Demande IA</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La demande en puces spécialisées (ex : GPU NVIDIA) et en outils d'IA générative (ex : Google Vertex AI) devrait rester soutenue jusqu'en 2025.</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Marges Cloud</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L'amélioration des marges dans le cloud (ex : AWS, Azure) grâce à l'optimisation des coûts et à l'échelle d'exploitation.</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Coûts Énergétiques</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La hausse des coûts énergétiques pour les data centers pourrait éroder les marges des hyperscalers.</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Taux d'intérêt</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Un environnement de taux élevés augmente le coût du capital et réduit l'appétit pour les valorisations premium du secteur.</a:t>
            </a:r>
          </a:p>
        </p:txBody>
      </p:sp>
      <p:sp>
        <p:nvSpPr>
          <p:cNvPr id="35" name="Rectangle 34"/>
          <p:cNvSpPr/>
          <p:nvPr/>
        </p:nvSpPr>
        <p:spPr>
          <a:xfrm>
            <a:off x="5976000" y="900000"/>
            <a:ext cx="2844000" cy="39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SURPONDÉRER</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77/100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11.4 %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Le secteur est en phase de maturité avancée mais reste porté par des innovations disruptives comme l'IA, avec un risque de surréaction des valorisations.</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E67E22"/>
                </a:solidFill>
              </a:rPr>
              <a:t>Regime : Volatile</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18%  (Faible)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Technology  ·  S&amp;P 500  ·  Tri par score FinSight decroissant</a:t>
            </a:r>
          </a:p>
        </p:txBody>
      </p:sp>
      <p:graphicFrame>
        <p:nvGraphicFramePr>
          <p:cNvPr id="15" name="Table 14"/>
          <p:cNvGraphicFramePr>
            <a:graphicFrameLocks noGrp="1"/>
          </p:cNvGraphicFramePr>
          <p:nvPr/>
        </p:nvGraphicFramePr>
        <p:xfrm>
          <a:off x="324000" y="900000"/>
          <a:ext cx="8495998" cy="16200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00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0000">
                <a:tc>
                  <a:txBody>
                    <a:bodyPr/>
                    <a:lstStyle/>
                    <a:p>
                      <a:pPr algn="ctr"/>
                      <a:r>
                        <a:rPr sz="750" b="0">
                          <a:solidFill>
                            <a:srgbClr val="1A1A1A"/>
                          </a:solidFill>
                        </a:rPr>
                        <a:t>1</a:t>
                      </a:r>
                    </a:p>
                  </a:txBody>
                  <a:tcPr>
                    <a:noFill/>
                  </a:tcPr>
                </a:tc>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85/100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318.4</a:t>
                      </a:r>
                    </a:p>
                  </a:txBody>
                  <a:tcPr>
                    <a:noFill/>
                  </a:tcPr>
                </a:tc>
                <a:tc>
                  <a:txBody>
                    <a:bodyPr/>
                    <a:lstStyle/>
                    <a:p>
                      <a:pPr algn="ctr"/>
                      <a:r>
                        <a:rPr sz="750" b="0">
                          <a:solidFill>
                            <a:srgbClr val="1A1A1A"/>
                          </a:solidFill>
                        </a:rPr>
                        <a:t>24.2x</a:t>
                      </a:r>
                    </a:p>
                  </a:txBody>
                  <a:tcPr>
                    <a:noFill/>
                  </a:tcPr>
                </a:tc>
                <a:tc>
                  <a:txBody>
                    <a:bodyPr/>
                    <a:lstStyle/>
                    <a:p>
                      <a:pPr algn="ctr"/>
                      <a:r>
                        <a:rPr sz="750" b="0">
                          <a:solidFill>
                            <a:srgbClr val="1A1A1A"/>
                          </a:solidFill>
                        </a:rPr>
                        <a:t>37.3 %</a:t>
                      </a:r>
                    </a:p>
                  </a:txBody>
                  <a:tcPr>
                    <a:noFill/>
                  </a:tcPr>
                </a:tc>
                <a:tc>
                  <a:txBody>
                    <a:bodyPr/>
                    <a:lstStyle/>
                    <a:p>
                      <a:pPr algn="ctr"/>
                      <a:r>
                        <a:rPr sz="750" b="0">
                          <a:solidFill>
                            <a:srgbClr val="1A1A1A"/>
                          </a:solidFill>
                        </a:rPr>
                        <a:t>+18.0 %</a:t>
                      </a:r>
                    </a:p>
                  </a:txBody>
                  <a:tcPr>
                    <a:noFill/>
                  </a:tcPr>
                </a:tc>
                <a:tc>
                  <a:txBody>
                    <a:bodyPr/>
                    <a:lstStyle/>
                    <a:p>
                      <a:pPr algn="ctr"/>
                      <a:r>
                        <a:rPr sz="750" b="0">
                          <a:solidFill>
                            <a:srgbClr val="1A1A1A"/>
                          </a:solidFill>
                        </a:rPr>
                        <a:t>+107.3 %</a:t>
                      </a:r>
                    </a:p>
                  </a:txBody>
                  <a:tcPr>
                    <a:noFill/>
                  </a:tcPr>
                </a:tc>
              </a:tr>
              <a:tr h="1800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81/100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181.805</a:t>
                      </a:r>
                    </a:p>
                  </a:txBody>
                  <a:tcPr>
                    <a:solidFill>
                      <a:srgbClr val="F5F7FA"/>
                    </a:solidFill>
                  </a:tcPr>
                </a:tc>
                <a:tc>
                  <a:txBody>
                    <a:bodyPr/>
                    <a:lstStyle/>
                    <a:p>
                      <a:pPr algn="ctr"/>
                      <a:r>
                        <a:rPr sz="750" b="0">
                          <a:solidFill>
                            <a:srgbClr val="1A1A1A"/>
                          </a:solidFill>
                        </a:rPr>
                        <a:t>32.1x</a:t>
                      </a:r>
                    </a:p>
                  </a:txBody>
                  <a:tcPr>
                    <a:solidFill>
                      <a:srgbClr val="F5F7FA"/>
                    </a:solidFill>
                  </a:tcPr>
                </a:tc>
                <a:tc>
                  <a:txBody>
                    <a:bodyPr/>
                    <a:lstStyle/>
                    <a:p>
                      <a:pPr algn="ctr"/>
                      <a:r>
                        <a:rPr sz="750" b="0">
                          <a:solidFill>
                            <a:srgbClr val="1A1A1A"/>
                          </a:solidFill>
                        </a:rPr>
                        <a:t>61.7 %</a:t>
                      </a:r>
                    </a:p>
                  </a:txBody>
                  <a:tcPr>
                    <a:solidFill>
                      <a:srgbClr val="F5F7FA"/>
                    </a:solidFill>
                  </a:tcPr>
                </a:tc>
                <a:tc>
                  <a:txBody>
                    <a:bodyPr/>
                    <a:lstStyle/>
                    <a:p>
                      <a:pPr algn="ctr"/>
                      <a:r>
                        <a:rPr sz="750" b="0">
                          <a:solidFill>
                            <a:srgbClr val="1A1A1A"/>
                          </a:solidFill>
                        </a:rPr>
                        <a:t>+73.2 %</a:t>
                      </a:r>
                    </a:p>
                  </a:txBody>
                  <a:tcPr>
                    <a:solidFill>
                      <a:srgbClr val="F5F7FA"/>
                    </a:solidFill>
                  </a:tcPr>
                </a:tc>
                <a:tc>
                  <a:txBody>
                    <a:bodyPr/>
                    <a:lstStyle/>
                    <a:p>
                      <a:pPr algn="ctr"/>
                      <a:r>
                        <a:rPr sz="750" b="0">
                          <a:solidFill>
                            <a:srgbClr val="1A1A1A"/>
                          </a:solidFill>
                        </a:rPr>
                        <a:t>+84.5 %</a:t>
                      </a:r>
                    </a:p>
                  </a:txBody>
                  <a:tcPr>
                    <a:solidFill>
                      <a:srgbClr val="F5F7FA"/>
                    </a:solidFill>
                  </a:tcPr>
                </a:tc>
              </a:tr>
              <a:tr h="180000">
                <a:tc>
                  <a:txBody>
                    <a:bodyPr/>
                    <a:lstStyle/>
                    <a:p>
                      <a:pPr algn="ctr"/>
                      <a:r>
                        <a:rPr sz="750" b="0">
                          <a:solidFill>
                            <a:srgbClr val="1A1A1A"/>
                          </a:solidFill>
                        </a:rPr>
                        <a:t>3</a:t>
                      </a:r>
                    </a:p>
                  </a:txBody>
                  <a:tcPr>
                    <a:noFill/>
                  </a:tcPr>
                </a:tc>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78/100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257.255</a:t>
                      </a:r>
                    </a:p>
                  </a:txBody>
                  <a:tcPr>
                    <a:noFill/>
                  </a:tcPr>
                </a:tc>
                <a:tc>
                  <a:txBody>
                    <a:bodyPr/>
                    <a:lstStyle/>
                    <a:p>
                      <a:pPr algn="ctr"/>
                      <a:r>
                        <a:rPr sz="750" b="0">
                          <a:solidFill>
                            <a:srgbClr val="1A1A1A"/>
                          </a:solidFill>
                        </a:rPr>
                        <a:t>24.5x</a:t>
                      </a:r>
                    </a:p>
                  </a:txBody>
                  <a:tcPr>
                    <a:noFill/>
                  </a:tcPr>
                </a:tc>
                <a:tc>
                  <a:txBody>
                    <a:bodyPr/>
                    <a:lstStyle/>
                    <a:p>
                      <a:pPr algn="ctr"/>
                      <a:r>
                        <a:rPr sz="750" b="0">
                          <a:solidFill>
                            <a:srgbClr val="1A1A1A"/>
                          </a:solidFill>
                        </a:rPr>
                        <a:t>35.1 %</a:t>
                      </a:r>
                    </a:p>
                  </a:txBody>
                  <a:tcPr>
                    <a:noFill/>
                  </a:tcPr>
                </a:tc>
                <a:tc>
                  <a:txBody>
                    <a:bodyPr/>
                    <a:lstStyle/>
                    <a:p>
                      <a:pPr algn="ctr"/>
                      <a:r>
                        <a:rPr sz="750" b="0">
                          <a:solidFill>
                            <a:srgbClr val="1A1A1A"/>
                          </a:solidFill>
                        </a:rPr>
                        <a:t>+15.7 %</a:t>
                      </a:r>
                    </a:p>
                  </a:txBody>
                  <a:tcPr>
                    <a:noFill/>
                  </a:tcPr>
                </a:tc>
                <a:tc>
                  <a:txBody>
                    <a:bodyPr/>
                    <a:lstStyle/>
                    <a:p>
                      <a:pPr algn="ctr"/>
                      <a:r>
                        <a:rPr sz="750" b="0">
                          <a:solidFill>
                            <a:srgbClr val="1A1A1A"/>
                          </a:solidFill>
                        </a:rPr>
                        <a:t>+50.1 %</a:t>
                      </a:r>
                    </a:p>
                  </a:txBody>
                  <a:tcPr>
                    <a:noFill/>
                  </a:tcPr>
                </a:tc>
              </a:tr>
              <a:tr h="1800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77/100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144.3399</a:t>
                      </a:r>
                    </a:p>
                  </a:txBody>
                  <a:tcPr>
                    <a:solidFill>
                      <a:srgbClr val="F5F7FA"/>
                    </a:solidFill>
                  </a:tcPr>
                </a:tc>
                <a:tc>
                  <a:txBody>
                    <a:bodyPr/>
                    <a:lstStyle/>
                    <a:p>
                      <a:pPr algn="ctr"/>
                      <a:r>
                        <a:rPr sz="750" b="0">
                          <a:solidFill>
                            <a:srgbClr val="1A1A1A"/>
                          </a:solidFill>
                        </a:rPr>
                        <a:t>19.7x</a:t>
                      </a:r>
                    </a:p>
                  </a:txBody>
                  <a:tcPr>
                    <a:solidFill>
                      <a:srgbClr val="F5F7FA"/>
                    </a:solidFill>
                  </a:tcPr>
                </a:tc>
                <a:tc>
                  <a:txBody>
                    <a:bodyPr/>
                    <a:lstStyle/>
                    <a:p>
                      <a:pPr algn="ctr"/>
                      <a:r>
                        <a:rPr sz="750" b="0">
                          <a:solidFill>
                            <a:srgbClr val="1A1A1A"/>
                          </a:solidFill>
                        </a:rPr>
                        <a:t>42.8 %</a:t>
                      </a:r>
                    </a:p>
                  </a:txBody>
                  <a:tcPr>
                    <a:solidFill>
                      <a:srgbClr val="F5F7FA"/>
                    </a:solidFill>
                  </a:tcPr>
                </a:tc>
                <a:tc>
                  <a:txBody>
                    <a:bodyPr/>
                    <a:lstStyle/>
                    <a:p>
                      <a:pPr algn="ctr"/>
                      <a:r>
                        <a:rPr sz="750" b="0">
                          <a:solidFill>
                            <a:srgbClr val="1A1A1A"/>
                          </a:solidFill>
                        </a:rPr>
                        <a:t>+21.7 %</a:t>
                      </a:r>
                    </a:p>
                  </a:txBody>
                  <a:tcPr>
                    <a:solidFill>
                      <a:srgbClr val="F5F7FA"/>
                    </a:solidFill>
                  </a:tcPr>
                </a:tc>
                <a:tc>
                  <a:txBody>
                    <a:bodyPr/>
                    <a:lstStyle/>
                    <a:p>
                      <a:pPr algn="ctr"/>
                      <a:r>
                        <a:rPr sz="750" b="0">
                          <a:solidFill>
                            <a:srgbClr val="1A1A1A"/>
                          </a:solidFill>
                        </a:rPr>
                        <a:t>+16.9 %</a:t>
                      </a:r>
                    </a:p>
                  </a:txBody>
                  <a:tcPr>
                    <a:solidFill>
                      <a:srgbClr val="F5F7FA"/>
                    </a:solidFill>
                  </a:tcPr>
                </a:tc>
              </a:tr>
              <a:tr h="180000">
                <a:tc>
                  <a:txBody>
                    <a:bodyPr/>
                    <a:lstStyle/>
                    <a:p>
                      <a:pPr algn="ctr"/>
                      <a:r>
                        <a:rPr sz="750" b="0">
                          <a:solidFill>
                            <a:srgbClr val="1A1A1A"/>
                          </a:solidFill>
                        </a:rPr>
                        <a:t>5</a:t>
                      </a:r>
                    </a:p>
                  </a:txBody>
                  <a:tcPr>
                    <a:noFill/>
                  </a:tcPr>
                </a:tc>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76/100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374.47</a:t>
                      </a:r>
                    </a:p>
                  </a:txBody>
                  <a:tcPr>
                    <a:noFill/>
                  </a:tcPr>
                </a:tc>
                <a:tc>
                  <a:txBody>
                    <a:bodyPr/>
                    <a:lstStyle/>
                    <a:p>
                      <a:pPr algn="ctr"/>
                      <a:r>
                        <a:rPr sz="750" b="0">
                          <a:solidFill>
                            <a:srgbClr val="1A1A1A"/>
                          </a:solidFill>
                        </a:rPr>
                        <a:t>16.0x</a:t>
                      </a:r>
                    </a:p>
                  </a:txBody>
                  <a:tcPr>
                    <a:noFill/>
                  </a:tcPr>
                </a:tc>
                <a:tc>
                  <a:txBody>
                    <a:bodyPr/>
                    <a:lstStyle/>
                    <a:p>
                      <a:pPr algn="ctr"/>
                      <a:r>
                        <a:rPr sz="750" b="0">
                          <a:solidFill>
                            <a:srgbClr val="1A1A1A"/>
                          </a:solidFill>
                        </a:rPr>
                        <a:t>57.4 %</a:t>
                      </a:r>
                    </a:p>
                  </a:txBody>
                  <a:tcPr>
                    <a:noFill/>
                  </a:tcPr>
                </a:tc>
                <a:tc>
                  <a:txBody>
                    <a:bodyPr/>
                    <a:lstStyle/>
                    <a:p>
                      <a:pPr algn="ctr"/>
                      <a:r>
                        <a:rPr sz="750" b="0">
                          <a:solidFill>
                            <a:srgbClr val="1A1A1A"/>
                          </a:solidFill>
                        </a:rPr>
                        <a:t>+16.7 %</a:t>
                      </a:r>
                    </a:p>
                  </a:txBody>
                  <a:tcPr>
                    <a:noFill/>
                  </a:tcPr>
                </a:tc>
                <a:tc>
                  <a:txBody>
                    <a:bodyPr/>
                    <a:lstStyle/>
                    <a:p>
                      <a:pPr algn="ctr"/>
                      <a:r>
                        <a:rPr sz="750" b="0">
                          <a:solidFill>
                            <a:srgbClr val="1A1A1A"/>
                          </a:solidFill>
                        </a:rPr>
                        <a:t>+5.2 %</a:t>
                      </a:r>
                    </a:p>
                  </a:txBody>
                  <a:tcPr>
                    <a:noFill/>
                  </a:tcPr>
                </a:tc>
              </a:tr>
              <a:tr h="1800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76/100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616.975</a:t>
                      </a:r>
                    </a:p>
                  </a:txBody>
                  <a:tcPr>
                    <a:solidFill>
                      <a:srgbClr val="F5F7FA"/>
                    </a:solidFill>
                  </a:tcPr>
                </a:tc>
                <a:tc>
                  <a:txBody>
                    <a:bodyPr/>
                    <a:lstStyle/>
                    <a:p>
                      <a:pPr algn="ctr"/>
                      <a:r>
                        <a:rPr sz="750" b="0">
                          <a:solidFill>
                            <a:srgbClr val="1A1A1A"/>
                          </a:solidFill>
                        </a:rPr>
                        <a:t>14.3x</a:t>
                      </a:r>
                    </a:p>
                  </a:txBody>
                  <a:tcPr>
                    <a:solidFill>
                      <a:srgbClr val="F5F7FA"/>
                    </a:solidFill>
                  </a:tcPr>
                </a:tc>
                <a:tc>
                  <a:txBody>
                    <a:bodyPr/>
                    <a:lstStyle/>
                    <a:p>
                      <a:pPr algn="ctr"/>
                      <a:r>
                        <a:rPr sz="750" b="0">
                          <a:solidFill>
                            <a:srgbClr val="1A1A1A"/>
                          </a:solidFill>
                        </a:rPr>
                        <a:t>50.7 %</a:t>
                      </a:r>
                    </a:p>
                  </a:txBody>
                  <a:tcPr>
                    <a:solidFill>
                      <a:srgbClr val="F5F7FA"/>
                    </a:solidFill>
                  </a:tcPr>
                </a:tc>
                <a:tc>
                  <a:txBody>
                    <a:bodyPr/>
                    <a:lstStyle/>
                    <a:p>
                      <a:pPr algn="ctr"/>
                      <a:r>
                        <a:rPr sz="750" b="0">
                          <a:solidFill>
                            <a:srgbClr val="1A1A1A"/>
                          </a:solidFill>
                        </a:rPr>
                        <a:t>+23.8 %</a:t>
                      </a:r>
                    </a:p>
                  </a:txBody>
                  <a:tcPr>
                    <a:solidFill>
                      <a:srgbClr val="F5F7FA"/>
                    </a:solidFill>
                  </a:tcPr>
                </a:tc>
                <a:tc>
                  <a:txBody>
                    <a:bodyPr/>
                    <a:lstStyle/>
                    <a:p>
                      <a:pPr algn="ctr"/>
                      <a:r>
                        <a:rPr sz="750" b="0">
                          <a:solidFill>
                            <a:srgbClr val="1A1A1A"/>
                          </a:solidFill>
                        </a:rPr>
                        <a:t>+12.3 %</a:t>
                      </a:r>
                    </a:p>
                  </a:txBody>
                  <a:tcPr>
                    <a:solidFill>
                      <a:srgbClr val="F5F7FA"/>
                    </a:solidFill>
                  </a:tcPr>
                </a:tc>
              </a:tr>
              <a:tr h="180000">
                <a:tc>
                  <a:txBody>
                    <a:bodyPr/>
                    <a:lstStyle/>
                    <a:p>
                      <a:pPr algn="ctr"/>
                      <a:r>
                        <a:rPr sz="750" b="0">
                          <a:solidFill>
                            <a:srgbClr val="1A1A1A"/>
                          </a:solidFill>
                        </a:rPr>
                        <a:t>7</a:t>
                      </a:r>
                    </a:p>
                  </a:txBody>
                  <a:tcPr>
                    <a:noFill/>
                  </a:tcPr>
                </a:tc>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75/100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351.54</a:t>
                      </a:r>
                    </a:p>
                  </a:txBody>
                  <a:tcPr>
                    <a:noFill/>
                  </a:tcPr>
                </a:tc>
                <a:tc>
                  <a:txBody>
                    <a:bodyPr/>
                    <a:lstStyle/>
                    <a:p>
                      <a:pPr algn="ctr"/>
                      <a:r>
                        <a:rPr sz="750" b="0">
                          <a:solidFill>
                            <a:srgbClr val="1A1A1A"/>
                          </a:solidFill>
                        </a:rPr>
                        <a:t>43.9x</a:t>
                      </a:r>
                    </a:p>
                  </a:txBody>
                  <a:tcPr>
                    <a:noFill/>
                  </a:tcPr>
                </a:tc>
                <a:tc>
                  <a:txBody>
                    <a:bodyPr/>
                    <a:lstStyle/>
                    <a:p>
                      <a:pPr algn="ctr"/>
                      <a:r>
                        <a:rPr sz="750" b="0">
                          <a:solidFill>
                            <a:srgbClr val="1A1A1A"/>
                          </a:solidFill>
                        </a:rPr>
                        <a:t>54.5 %</a:t>
                      </a:r>
                    </a:p>
                  </a:txBody>
                  <a:tcPr>
                    <a:noFill/>
                  </a:tcPr>
                </a:tc>
                <a:tc>
                  <a:txBody>
                    <a:bodyPr/>
                    <a:lstStyle/>
                    <a:p>
                      <a:pPr algn="ctr"/>
                      <a:r>
                        <a:rPr sz="750" b="0">
                          <a:solidFill>
                            <a:srgbClr val="1A1A1A"/>
                          </a:solidFill>
                        </a:rPr>
                        <a:t>+29.5 %</a:t>
                      </a:r>
                    </a:p>
                  </a:txBody>
                  <a:tcPr>
                    <a:noFill/>
                  </a:tcPr>
                </a:tc>
                <a:tc>
                  <a:txBody>
                    <a:bodyPr/>
                    <a:lstStyle/>
                    <a:p>
                      <a:pPr algn="ctr"/>
                      <a:r>
                        <a:rPr sz="750" b="0">
                          <a:solidFill>
                            <a:srgbClr val="1A1A1A"/>
                          </a:solidFill>
                        </a:rPr>
                        <a:t>+101.5 %</a:t>
                      </a:r>
                    </a:p>
                  </a:txBody>
                  <a:tcPr>
                    <a:noFill/>
                  </a:tcPr>
                </a:tc>
              </a:tr>
              <a:tr h="1800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I</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232.56</a:t>
                      </a:r>
                    </a:p>
                  </a:txBody>
                  <a:tcPr>
                    <a:solidFill>
                      <a:srgbClr val="F5F7FA"/>
                    </a:solidFill>
                  </a:tcPr>
                </a:tc>
                <a:tc>
                  <a:txBody>
                    <a:bodyPr/>
                    <a:lstStyle/>
                    <a:p>
                      <a:pPr algn="ctr"/>
                      <a:r>
                        <a:rPr sz="750" b="0">
                          <a:solidFill>
                            <a:srgbClr val="1A1A1A"/>
                          </a:solidFill>
                        </a:rPr>
                        <a:t>52.6x</a:t>
                      </a:r>
                    </a:p>
                  </a:txBody>
                  <a:tcPr>
                    <a:solidFill>
                      <a:srgbClr val="F5F7FA"/>
                    </a:solidFill>
                  </a:tcPr>
                </a:tc>
                <a:tc>
                  <a:txBody>
                    <a:bodyPr/>
                    <a:lstStyle/>
                    <a:p>
                      <a:pPr algn="ctr"/>
                      <a:r>
                        <a:rPr sz="750" b="0">
                          <a:solidFill>
                            <a:srgbClr val="1A1A1A"/>
                          </a:solidFill>
                        </a:rPr>
                        <a:t>19.5 %</a:t>
                      </a:r>
                    </a:p>
                  </a:txBody>
                  <a:tcPr>
                    <a:solidFill>
                      <a:srgbClr val="F5F7FA"/>
                    </a:solidFill>
                  </a:tcPr>
                </a:tc>
                <a:tc>
                  <a:txBody>
                    <a:bodyPr/>
                    <a:lstStyle/>
                    <a:p>
                      <a:pPr algn="ctr"/>
                      <a:r>
                        <a:rPr sz="750" b="0">
                          <a:solidFill>
                            <a:srgbClr val="1A1A1A"/>
                          </a:solidFill>
                        </a:rPr>
                        <a:t>+34.1 %</a:t>
                      </a:r>
                    </a:p>
                  </a:txBody>
                  <a:tcPr>
                    <a:solidFill>
                      <a:srgbClr val="F5F7FA"/>
                    </a:solidFill>
                  </a:tcPr>
                </a:tc>
                <a:tc>
                  <a:txBody>
                    <a:bodyPr/>
                    <a:lstStyle/>
                    <a:p>
                      <a:pPr algn="ctr"/>
                      <a:r>
                        <a:rPr sz="750" b="0">
                          <a:solidFill>
                            <a:srgbClr val="1A1A1A"/>
                          </a:solidFill>
                        </a:rPr>
                        <a:t>+181.5 %</a:t>
                      </a:r>
                    </a:p>
                  </a:txBody>
                  <a:tcPr>
                    <a:solidFill>
                      <a:srgbClr val="F5F7FA"/>
                    </a:solidFill>
                  </a:tcPr>
                </a:tc>
              </a:tr>
            </a:tbl>
          </a:graphicData>
        </a:graphic>
      </p:graphicFrame>
      <p:sp>
        <p:nvSpPr>
          <p:cNvPr id="16" name="Rectangle 15"/>
          <p:cNvSpPr/>
          <p:nvPr/>
        </p:nvSpPr>
        <p:spPr>
          <a:xfrm>
            <a:off x="324000" y="2951999"/>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51999"/>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0060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257999"/>
            <a:ext cx="8280000" cy="1260000"/>
          </a:xfrm>
          <a:prstGeom prst="rect">
            <a:avLst/>
          </a:prstGeom>
          <a:noFill/>
        </p:spPr>
        <p:txBody>
          <a:bodyPr wrap="square">
            <a:spAutoFit/>
          </a:bodyPr>
          <a:lstStyle/>
          <a:p>
            <a:pPr algn="l"/>
            <a:r>
              <a:rPr sz="850" b="0" i="0">
                <a:solidFill>
                  <a:srgbClr val="555555"/>
                </a:solidFill>
              </a:rPr>
              <a:t>Le secteur Technology presente 8 BUY / 0 HOLD / 0 SELL sur 8 valeurs analysées. Alphabet Inc. (score 85/100)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Classement EV/EBITDA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acteur  ·  Tri croissant  ·  Vert = sous mediane (opportunite relative)  ·  Top 15</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ORCL offre la meilleure asymetrie — EV/EBITDA de 19.7x sous la mediane de 24.4x avec un score FinSight de 77/100.
NVDA traite en prime (32.1x vs mediane 24.4x) — verifier si la croissance justifie ce multiple.
Mediane sectorielle : 24.4x. Les barres vertes sous cette ligne sont les candidats privilegies a analyser via Analyse Societe individuelle (DCF, WACC, scenarios).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85/100</a:t>
                      </a:r>
                    </a:p>
                  </a:txBody>
                  <a:tcPr>
                    <a:noFill/>
                  </a:tcPr>
                </a:tc>
                <a:tc>
                  <a:txBody>
                    <a:bodyPr/>
                    <a:lstStyle/>
                    <a:p>
                      <a:pPr algn="ctr"/>
                      <a:r>
                        <a:rPr sz="750" b="0">
                          <a:solidFill>
                            <a:srgbClr val="1A1A1A"/>
                          </a:solidFill>
                        </a:rPr>
                        <a:t>10</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81/100</a:t>
                      </a:r>
                    </a:p>
                  </a:txBody>
                  <a:tcPr>
                    <a:solidFill>
                      <a:srgbClr val="F5F7FA"/>
                    </a:solidFill>
                  </a:tcPr>
                </a:tc>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24</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78/100</a:t>
                      </a:r>
                    </a:p>
                  </a:txBody>
                  <a:tcPr>
                    <a:noFill/>
                  </a:tcPr>
                </a:tc>
                <a:tc>
                  <a:txBody>
                    <a:bodyPr/>
                    <a:lstStyle/>
                    <a:p>
                      <a:pPr algn="ctr"/>
                      <a:r>
                        <a:rPr sz="750" b="0">
                          <a:solidFill>
                            <a:srgbClr val="1A1A1A"/>
                          </a:solidFill>
                        </a:rPr>
                        <a:t>8</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19</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77/100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76/100</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12</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76/100</a:t>
                      </a:r>
                    </a:p>
                  </a:txBody>
                  <a:tcPr>
                    <a:solidFill>
                      <a:srgbClr val="F5F7FA"/>
                    </a:solidFill>
                  </a:tcPr>
                </a:tc>
                <a:tc>
                  <a:txBody>
                    <a:bodyPr/>
                    <a:lstStyle/>
                    <a:p>
                      <a:pPr algn="ctr"/>
                      <a:r>
                        <a:rPr sz="750" b="0">
                          <a:solidFill>
                            <a:srgbClr val="1A1A1A"/>
                          </a:solidFill>
                        </a:rPr>
                        <a:t>11</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13</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75/100</a:t>
                      </a:r>
                    </a:p>
                  </a:txBody>
                  <a:tcPr>
                    <a:noFill/>
                  </a:tcPr>
                </a:tc>
                <a:tc>
                  <a:txBody>
                    <a:bodyPr/>
                    <a:lstStyle/>
                    <a:p>
                      <a:pPr algn="ctr"/>
                      <a:r>
                        <a:rPr sz="750" b="0">
                          <a:solidFill>
                            <a:srgbClr val="1A1A1A"/>
                          </a:solidFill>
                        </a:rPr>
                        <a:t>0</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I</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0</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20</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BUY</a:t>
                      </a:r>
                    </a:p>
                  </a:txBody>
                  <a:tcPr>
                    <a:solidFill>
                      <a:srgbClr val="F5F7FA"/>
                    </a:solidFill>
                  </a:tcPr>
                </a:tc>
              </a:tr>
            </a:tbl>
          </a:graphicData>
        </a:graphic>
      </p:graphicFrame>
      <p:sp>
        <p:nvSpPr>
          <p:cNvPr id="16" name="Rectangle 15"/>
          <p:cNvSpPr/>
          <p:nvPr/>
        </p:nvSpPr>
        <p:spPr>
          <a:xfrm>
            <a:off x="324000" y="32184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218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236400"/>
            <a:ext cx="8352000" cy="216000"/>
          </a:xfrm>
          <a:prstGeom prst="rect">
            <a:avLst/>
          </a:prstGeom>
          <a:noFill/>
        </p:spPr>
        <p:txBody>
          <a:bodyPr wrap="square">
            <a:spAutoFit/>
          </a:bodyPr>
          <a:lstStyle/>
          <a:p>
            <a:pPr algn="l"/>
            <a:r>
              <a:rPr sz="750" b="1" i="0">
                <a:solidFill>
                  <a:srgbClr val="FFFFFF"/>
                </a:solidFill>
              </a:rPr>
              <a:t>SYNTHESE SCORES  ·  Score &gt;= 75 = fort  ·  50-74 = moyen  ·  &lt; 50 = faible  ·  Ponderations : Value / Growth / Quality / Momentum = 25 % chacun</a:t>
            </a:r>
          </a:p>
        </p:txBody>
      </p:sp>
      <p:sp>
        <p:nvSpPr>
          <p:cNvPr id="19" name="TextBox 18"/>
          <p:cNvSpPr txBox="1"/>
          <p:nvPr/>
        </p:nvSpPr>
        <p:spPr>
          <a:xfrm>
            <a:off x="396000" y="3524399"/>
            <a:ext cx="8352000" cy="1260000"/>
          </a:xfrm>
          <a:prstGeom prst="rect">
            <a:avLst/>
          </a:prstGeom>
          <a:noFill/>
        </p:spPr>
        <p:txBody>
          <a:bodyPr wrap="square">
            <a:spAutoFit/>
          </a:bodyPr>
          <a:lstStyle/>
          <a:p>
            <a:pPr algn="l"/>
            <a:r>
              <a:rPr sz="850" b="0" i="0">
                <a:solidFill>
                  <a:srgbClr val="555555"/>
                </a:solidFill>
              </a:rPr>
              <a:t>Alphabet Inc. presente le profil le plus equilibre du secteur (85/100) avec des scores Value=10, Growth=25, Quality=25, Momentum=25. La dispersion des scores entre les 8 societes reflete des profils heterogenes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GOOGL</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Alphabet Inc.</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382</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24.2x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37.3 %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L'accélération de l'adoption des solutions d'IA générative par les entreprises booste les revenus des fournisseurs de puces et de logiciels.</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Les enquêtes antitrust et les nouvelles lois sur la data (ex : DMA en Europe) pourraient peser sur les marges des géants technologiques.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NVDA</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NVIDIA Corporation</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218</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32.1x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61.7 %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La migration continue vers le cloud et les services SaaS maintient une croissance organique élevée pour les géants technologiques.</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La montée en puissance des acteurs chinois (ex : Huawei, ByteDance) menace les parts de marché des entreprises occidentales.</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AAPL</a:t>
            </a:r>
          </a:p>
        </p:txBody>
      </p:sp>
      <p:sp>
        <p:nvSpPr>
          <p:cNvPr id="72" name="Rectangle 71"/>
          <p:cNvSpPr/>
          <p:nvPr/>
        </p:nvSpPr>
        <p:spPr>
          <a:xfrm>
            <a:off x="799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BUY</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Apple Inc.</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309</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24.5x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35.1 %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L'augmentation des cybermenaces et les réglementations strictes stimulent la demande pour des solutions de sécurité avancées.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Les cycles de surchauffe des valorisations technologiques rendent le secteur sensible aux corrections brutales.</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(24.4x)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3 acteur(s) se detachent nettement du reste du secteur, creant une prime de valorisation significative vs la médiane de 24.4x.
3 societe(s) se traitent sous la médiane — potentiellement les meilleures asymetries risque/rendement sous reserve de catalyseurs fondamentaux.
La dispersion des multiples est caracteristique d'un secteur Technology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6848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87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 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87200">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318.4</a:t>
                      </a:r>
                    </a:p>
                  </a:txBody>
                  <a:tcPr>
                    <a:noFill/>
                  </a:tcPr>
                </a:tc>
                <a:tc>
                  <a:txBody>
                    <a:bodyPr/>
                    <a:lstStyle/>
                    <a:p>
                      <a:pPr algn="ctr"/>
                      <a:r>
                        <a:rPr sz="750" b="0">
                          <a:solidFill>
                            <a:srgbClr val="1A1A1A"/>
                          </a:solidFill>
                        </a:rPr>
                        <a:t>366.2</a:t>
                      </a:r>
                    </a:p>
                  </a:txBody>
                  <a:tcPr>
                    <a:noFill/>
                  </a:tcPr>
                </a:tc>
                <a:tc>
                  <a:txBody>
                    <a:bodyPr/>
                    <a:lstStyle/>
                    <a:p>
                      <a:pPr algn="ctr"/>
                      <a:r>
                        <a:rPr sz="750" b="0">
                          <a:solidFill>
                            <a:srgbClr val="1A1A1A"/>
                          </a:solidFill>
                        </a:rPr>
                        <a:t>&lt; 302.5</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181.805</a:t>
                      </a:r>
                    </a:p>
                  </a:txBody>
                  <a:tcPr>
                    <a:solidFill>
                      <a:srgbClr val="F5F7FA"/>
                    </a:solidFill>
                  </a:tcPr>
                </a:tc>
                <a:tc>
                  <a:txBody>
                    <a:bodyPr/>
                    <a:lstStyle/>
                    <a:p>
                      <a:pPr algn="ctr"/>
                      <a:r>
                        <a:rPr sz="750" b="0">
                          <a:solidFill>
                            <a:srgbClr val="1A1A1A"/>
                          </a:solidFill>
                        </a:rPr>
                        <a:t>209.1</a:t>
                      </a:r>
                    </a:p>
                  </a:txBody>
                  <a:tcPr>
                    <a:solidFill>
                      <a:srgbClr val="F5F7FA"/>
                    </a:solidFill>
                  </a:tcPr>
                </a:tc>
                <a:tc>
                  <a:txBody>
                    <a:bodyPr/>
                    <a:lstStyle/>
                    <a:p>
                      <a:pPr algn="ctr"/>
                      <a:r>
                        <a:rPr sz="750" b="0">
                          <a:solidFill>
                            <a:srgbClr val="1A1A1A"/>
                          </a:solidFill>
                        </a:rPr>
                        <a:t>&lt; 172.7</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257.255</a:t>
                      </a:r>
                    </a:p>
                  </a:txBody>
                  <a:tcPr>
                    <a:noFill/>
                  </a:tcPr>
                </a:tc>
                <a:tc>
                  <a:txBody>
                    <a:bodyPr/>
                    <a:lstStyle/>
                    <a:p>
                      <a:pPr algn="ctr"/>
                      <a:r>
                        <a:rPr sz="750" b="0">
                          <a:solidFill>
                            <a:srgbClr val="1A1A1A"/>
                          </a:solidFill>
                        </a:rPr>
                        <a:t>295.8</a:t>
                      </a:r>
                    </a:p>
                  </a:txBody>
                  <a:tcPr>
                    <a:noFill/>
                  </a:tcPr>
                </a:tc>
                <a:tc>
                  <a:txBody>
                    <a:bodyPr/>
                    <a:lstStyle/>
                    <a:p>
                      <a:pPr algn="ctr"/>
                      <a:r>
                        <a:rPr sz="750" b="0">
                          <a:solidFill>
                            <a:srgbClr val="1A1A1A"/>
                          </a:solidFill>
                        </a:rPr>
                        <a:t>&lt; 244.4</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144.3399</a:t>
                      </a:r>
                    </a:p>
                  </a:txBody>
                  <a:tcPr>
                    <a:solidFill>
                      <a:srgbClr val="F5F7FA"/>
                    </a:solidFill>
                  </a:tcPr>
                </a:tc>
                <a:tc>
                  <a:txBody>
                    <a:bodyPr/>
                    <a:lstStyle/>
                    <a:p>
                      <a:pPr algn="ctr"/>
                      <a:r>
                        <a:rPr sz="750" b="0">
                          <a:solidFill>
                            <a:srgbClr val="1A1A1A"/>
                          </a:solidFill>
                        </a:rPr>
                        <a:t>166.0</a:t>
                      </a:r>
                    </a:p>
                  </a:txBody>
                  <a:tcPr>
                    <a:solidFill>
                      <a:srgbClr val="F5F7FA"/>
                    </a:solidFill>
                  </a:tcPr>
                </a:tc>
                <a:tc>
                  <a:txBody>
                    <a:bodyPr/>
                    <a:lstStyle/>
                    <a:p>
                      <a:pPr algn="ctr"/>
                      <a:r>
                        <a:rPr sz="750" b="0">
                          <a:solidFill>
                            <a:srgbClr val="1A1A1A"/>
                          </a:solidFill>
                        </a:rPr>
                        <a:t>&lt; 137.1</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374.47</a:t>
                      </a:r>
                    </a:p>
                  </a:txBody>
                  <a:tcPr>
                    <a:noFill/>
                  </a:tcPr>
                </a:tc>
                <a:tc>
                  <a:txBody>
                    <a:bodyPr/>
                    <a:lstStyle/>
                    <a:p>
                      <a:pPr algn="ctr"/>
                      <a:r>
                        <a:rPr sz="750" b="0">
                          <a:solidFill>
                            <a:srgbClr val="1A1A1A"/>
                          </a:solidFill>
                        </a:rPr>
                        <a:t>430.6</a:t>
                      </a:r>
                    </a:p>
                  </a:txBody>
                  <a:tcPr>
                    <a:noFill/>
                  </a:tcPr>
                </a:tc>
                <a:tc>
                  <a:txBody>
                    <a:bodyPr/>
                    <a:lstStyle/>
                    <a:p>
                      <a:pPr algn="ctr"/>
                      <a:r>
                        <a:rPr sz="750" b="0">
                          <a:solidFill>
                            <a:srgbClr val="1A1A1A"/>
                          </a:solidFill>
                        </a:rPr>
                        <a:t>&lt; 355.7</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616.975</a:t>
                      </a:r>
                    </a:p>
                  </a:txBody>
                  <a:tcPr>
                    <a:solidFill>
                      <a:srgbClr val="F5F7FA"/>
                    </a:solidFill>
                  </a:tcPr>
                </a:tc>
                <a:tc>
                  <a:txBody>
                    <a:bodyPr/>
                    <a:lstStyle/>
                    <a:p>
                      <a:pPr algn="ctr"/>
                      <a:r>
                        <a:rPr sz="750" b="0">
                          <a:solidFill>
                            <a:srgbClr val="1A1A1A"/>
                          </a:solidFill>
                        </a:rPr>
                        <a:t>709.5</a:t>
                      </a:r>
                    </a:p>
                  </a:txBody>
                  <a:tcPr>
                    <a:solidFill>
                      <a:srgbClr val="F5F7FA"/>
                    </a:solidFill>
                  </a:tcPr>
                </a:tc>
                <a:tc>
                  <a:txBody>
                    <a:bodyPr/>
                    <a:lstStyle/>
                    <a:p>
                      <a:pPr algn="ctr"/>
                      <a:r>
                        <a:rPr sz="750" b="0">
                          <a:solidFill>
                            <a:srgbClr val="1A1A1A"/>
                          </a:solidFill>
                        </a:rPr>
                        <a:t>&lt; 586.1</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87200">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351.54</a:t>
                      </a:r>
                    </a:p>
                  </a:txBody>
                  <a:tcPr>
                    <a:noFill/>
                  </a:tcPr>
                </a:tc>
                <a:tc>
                  <a:txBody>
                    <a:bodyPr/>
                    <a:lstStyle/>
                    <a:p>
                      <a:pPr algn="ctr"/>
                      <a:r>
                        <a:rPr sz="750" b="0">
                          <a:solidFill>
                            <a:srgbClr val="1A1A1A"/>
                          </a:solidFill>
                        </a:rPr>
                        <a:t>404.3</a:t>
                      </a:r>
                    </a:p>
                  </a:txBody>
                  <a:tcPr>
                    <a:noFill/>
                  </a:tcPr>
                </a:tc>
                <a:tc>
                  <a:txBody>
                    <a:bodyPr/>
                    <a:lstStyle/>
                    <a:p>
                      <a:pPr algn="ctr"/>
                      <a:r>
                        <a:rPr sz="750" b="0">
                          <a:solidFill>
                            <a:srgbClr val="1A1A1A"/>
                          </a:solidFill>
                        </a:rPr>
                        <a:t>&lt; 334.0</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a:t>
                      </a:r>
                    </a:p>
                  </a:txBody>
                  <a:tcPr>
                    <a:solidFill>
                      <a:srgbClr val="F5F7FA"/>
                    </a:solidFill>
                  </a:tcPr>
                </a:tc>
                <a:tc>
                  <a:txBody>
                    <a:bodyPr/>
                    <a:lstStyle/>
                    <a:p>
                      <a:pPr algn="ctr"/>
                      <a:r>
                        <a:rPr sz="750" b="0">
                          <a:solidFill>
                            <a:srgbClr val="1A1A1A"/>
                          </a:solidFill>
                        </a:rPr>
                        <a:t>232.56</a:t>
                      </a:r>
                    </a:p>
                  </a:txBody>
                  <a:tcPr>
                    <a:solidFill>
                      <a:srgbClr val="F5F7FA"/>
                    </a:solidFill>
                  </a:tcPr>
                </a:tc>
                <a:tc>
                  <a:txBody>
                    <a:bodyPr/>
                    <a:lstStyle/>
                    <a:p>
                      <a:pPr algn="ctr"/>
                      <a:r>
                        <a:rPr sz="750" b="0">
                          <a:solidFill>
                            <a:srgbClr val="1A1A1A"/>
                          </a:solidFill>
                        </a:rPr>
                        <a:t>267.4</a:t>
                      </a:r>
                    </a:p>
                  </a:txBody>
                  <a:tcPr>
                    <a:solidFill>
                      <a:srgbClr val="F5F7FA"/>
                    </a:solidFill>
                  </a:tcPr>
                </a:tc>
                <a:tc>
                  <a:txBody>
                    <a:bodyPr/>
                    <a:lstStyle/>
                    <a:p>
                      <a:pPr algn="ctr"/>
                      <a:r>
                        <a:rPr sz="750" b="0">
                          <a:solidFill>
                            <a:srgbClr val="1A1A1A"/>
                          </a:solidFill>
                        </a:rPr>
                        <a:t>&lt; 220.9</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bl>
          </a:graphicData>
        </a:graphic>
      </p:graphicFrame>
      <p:sp>
        <p:nvSpPr>
          <p:cNvPr id="19" name="Rectangle 18"/>
          <p:cNvSpPr/>
          <p:nvPr/>
        </p:nvSpPr>
        <p:spPr>
          <a:xfrm>
            <a:off x="324000" y="3124800"/>
            <a:ext cx="8496000" cy="90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124800"/>
            <a:ext cx="36000" cy="90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153600"/>
            <a:ext cx="8316000" cy="180000"/>
          </a:xfrm>
          <a:prstGeom prst="rect">
            <a:avLst/>
          </a:prstGeom>
          <a:noFill/>
        </p:spPr>
        <p:txBody>
          <a:bodyPr wrap="square">
            <a:spAutoFit/>
          </a:bodyPr>
          <a:lstStyle/>
          <a:p>
            <a:pPr algn="l"/>
            <a:r>
              <a:rPr sz="750" b="1" i="0">
                <a:solidFill>
                  <a:srgbClr val="B06000"/>
                </a:solidFill>
              </a:rPr>
              <a:t>NOTE METHODOLOGIQUE</a:t>
            </a:r>
          </a:p>
        </p:txBody>
      </p:sp>
      <p:sp>
        <p:nvSpPr>
          <p:cNvPr id="22" name="TextBox 21"/>
          <p:cNvSpPr txBox="1"/>
          <p:nvPr/>
        </p:nvSpPr>
        <p:spPr>
          <a:xfrm>
            <a:off x="468000" y="3340800"/>
            <a:ext cx="8316000" cy="666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Régulation</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Les enquêtes antitrust et les nouvelles lois sur la data (ex : DMA en Europe) pourraient peser sur les marges des géants technologiques.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Concurrence</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La montée en puissance des acteurs chinois (ex : Huawei, ByteDance) menace les parts de marché des entreprises occidentales.</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Volatilité</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Les cycles de surchauffe des valorisations technologiques rendent le secteur sensible aux corrections brutales.</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confirmee — 2 trimestres négatifs</a:t>
                      </a:r>
                    </a:p>
                  </a:txBody>
                  <a:tcPr>
                    <a:noFill/>
                  </a:tcPr>
                </a:tc>
                <a:tc>
                  <a:txBody>
                    <a:bodyPr/>
                    <a:lstStyle/>
                    <a:p>
                      <a:pPr algn="ctr"/>
                      <a:r>
                        <a:rPr sz="800" b="0">
                          <a:solidFill>
                            <a:srgbClr val="1A1A1A"/>
                          </a:solidFill>
                        </a:rPr>
                        <a:t>6-9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Score moyen &lt; 62 — degradation generalisee</a:t>
                      </a:r>
                    </a:p>
                  </a:txBody>
                  <a:tcPr>
                    <a:solidFill>
                      <a:srgbClr val="F5F7FA"/>
                    </a:solidFill>
                  </a:tcPr>
                </a:tc>
                <a:tc>
                  <a:txBody>
                    <a:bodyPr/>
                    <a:lstStyle/>
                    <a:p>
                      <a:pPr algn="ctr"/>
                      <a:r>
                        <a:rPr sz="800" b="0">
                          <a:solidFill>
                            <a:srgbClr val="1A1A1A"/>
                          </a:solidFill>
                        </a:rPr>
                        <a:t>6-12 mois</a:t>
                      </a:r>
                    </a:p>
                  </a:txBody>
                  <a:tcPr>
                    <a:solidFill>
                      <a:srgbClr val="F5F7FA"/>
                    </a:solidFill>
                  </a:tcPr>
                </a:tc>
              </a:tr>
              <a:tr h="223200">
                <a:tc>
                  <a:txBody>
                    <a:bodyPr/>
                    <a:lstStyle/>
                    <a:p>
                      <a:pPr algn="ctr"/>
                      <a:r>
                        <a:rPr sz="800" b="0">
                          <a:solidFill>
                            <a:srgbClr val="1A1A1A"/>
                          </a:solidFill>
                        </a:rPr>
                        <a:t>Fondamental</a:t>
                      </a:r>
                    </a:p>
                  </a:txBody>
                  <a:tcPr>
                    <a:noFill/>
                  </a:tcPr>
                </a:tc>
                <a:tc>
                  <a:txBody>
                    <a:bodyPr/>
                    <a:lstStyle/>
                    <a:p>
                      <a:pPr algn="ctr"/>
                      <a:r>
                        <a:rPr sz="800" b="0">
                          <a:solidFill>
                            <a:srgbClr val="1A1A1A"/>
                          </a:solidFill>
                        </a:rPr>
                        <a:t>Revision baissiere EPS &gt; 15 %</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Reglementaire</a:t>
                      </a:r>
                    </a:p>
                  </a:txBody>
                  <a:tcPr>
                    <a:solidFill>
                      <a:srgbClr val="F5F7FA"/>
                    </a:solidFill>
                  </a:tcPr>
                </a:tc>
                <a:tc>
                  <a:txBody>
                    <a:bodyPr/>
                    <a:lstStyle/>
                    <a:p>
                      <a:pPr algn="ctr"/>
                      <a:r>
                        <a:rPr sz="800" b="0">
                          <a:solidFill>
                            <a:srgbClr val="1A1A1A"/>
                          </a:solidFill>
                        </a:rPr>
                        <a:t>Mesures restrictives majeures</a:t>
                      </a:r>
                    </a:p>
                  </a:txBody>
                  <a:tcPr>
                    <a:solidFill>
                      <a:srgbClr val="F5F7FA"/>
                    </a:solidFill>
                  </a:tcPr>
                </a:tc>
                <a:tc>
                  <a:txBody>
                    <a:bodyPr/>
                    <a:lstStyle/>
                    <a:p>
                      <a:pPr algn="ctr"/>
                      <a:r>
                        <a:rPr sz="800" b="0">
                          <a:solidFill>
                            <a:srgbClr val="1A1A1A"/>
                          </a:solidFill>
                        </a:rPr>
                        <a:t>Variable</a:t>
                      </a:r>
                    </a:p>
                  </a:txBody>
                  <a:tcPr>
                    <a:solidFill>
                      <a:srgbClr val="F5F7FA"/>
                    </a:solidFill>
                  </a:tcPr>
                </a:tc>
              </a:tr>
            </a:tbl>
          </a:graphicData>
        </a:graphic>
      </p:graphicFrame>
      <p:sp>
        <p:nvSpPr>
          <p:cNvPr id="29" name="TextBox 28"/>
          <p:cNvSpPr txBox="1"/>
          <p:nvPr/>
        </p:nvSpPr>
        <p:spPr>
          <a:xfrm>
            <a:off x="324000" y="3708000"/>
            <a:ext cx="8496000" cy="198000"/>
          </a:xfrm>
          <a:prstGeom prst="rect">
            <a:avLst/>
          </a:prstGeom>
          <a:noFill/>
        </p:spPr>
        <p:txBody>
          <a:bodyPr wrap="square">
            <a:spAutoFit/>
          </a:bodyPr>
          <a:lstStyle/>
          <a:p>
            <a:pPr algn="l"/>
            <a:r>
              <a:rPr sz="850" b="1" i="0">
                <a:solidFill>
                  <a:srgbClr val="1B3A6B"/>
                </a:solidFill>
              </a:rPr>
              <a:t>Sante financiere agregee du secteur</a:t>
            </a:r>
          </a:p>
        </p:txBody>
      </p:sp>
      <p:sp>
        <p:nvSpPr>
          <p:cNvPr id="30" name="Rectangle 29"/>
          <p:cNvSpPr/>
          <p:nvPr/>
        </p:nvSpPr>
        <p:spPr>
          <a:xfrm>
            <a:off x="324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24000"/>
            <a:ext cx="36000" cy="79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3960000"/>
            <a:ext cx="2538000" cy="360000"/>
          </a:xfrm>
          <a:prstGeom prst="rect">
            <a:avLst/>
          </a:prstGeom>
          <a:noFill/>
        </p:spPr>
        <p:txBody>
          <a:bodyPr wrap="square">
            <a:spAutoFit/>
          </a:bodyPr>
          <a:lstStyle/>
          <a:p>
            <a:pPr algn="l"/>
            <a:r>
              <a:rPr sz="2200" b="1" i="0">
                <a:solidFill>
                  <a:srgbClr val="1B3A6B"/>
                </a:solidFill>
              </a:rPr>
              <a:t>N/D</a:t>
            </a:r>
          </a:p>
        </p:txBody>
      </p:sp>
      <p:sp>
        <p:nvSpPr>
          <p:cNvPr id="33" name="TextBox 32"/>
          <p:cNvSpPr txBox="1"/>
          <p:nvPr/>
        </p:nvSpPr>
        <p:spPr>
          <a:xfrm>
            <a:off x="413999" y="4338000"/>
            <a:ext cx="2538000" cy="162000"/>
          </a:xfrm>
          <a:prstGeom prst="rect">
            <a:avLst/>
          </a:prstGeom>
          <a:noFill/>
        </p:spPr>
        <p:txBody>
          <a:bodyPr wrap="square">
            <a:spAutoFit/>
          </a:bodyPr>
          <a:lstStyle/>
          <a:p>
            <a:pPr algn="l"/>
            <a:r>
              <a:rPr sz="850" b="0" i="0">
                <a:solidFill>
                  <a:srgbClr val="555555"/>
                </a:solidFill>
              </a:rPr>
              <a:t>ND/EBITDA median</a:t>
            </a:r>
          </a:p>
        </p:txBody>
      </p:sp>
      <p:sp>
        <p:nvSpPr>
          <p:cNvPr id="34" name="TextBox 33"/>
          <p:cNvSpPr txBox="1"/>
          <p:nvPr/>
        </p:nvSpPr>
        <p:spPr>
          <a:xfrm>
            <a:off x="413999" y="4500000"/>
            <a:ext cx="2538000" cy="144000"/>
          </a:xfrm>
          <a:prstGeom prst="rect">
            <a:avLst/>
          </a:prstGeom>
          <a:noFill/>
        </p:spPr>
        <p:txBody>
          <a:bodyPr wrap="square">
            <a:spAutoFit/>
          </a:bodyPr>
          <a:lstStyle/>
          <a:p>
            <a:pPr algn="l"/>
            <a:r>
              <a:rPr sz="800" b="0" i="0">
                <a:solidFill>
                  <a:srgbClr val="AAAAAA"/>
                </a:solidFill>
              </a:rPr>
              <a:t>levier sectoriel</a:t>
            </a:r>
          </a:p>
        </p:txBody>
      </p:sp>
      <p:sp>
        <p:nvSpPr>
          <p:cNvPr id="35" name="Rectangle 34"/>
          <p:cNvSpPr/>
          <p:nvPr/>
        </p:nvSpPr>
        <p:spPr>
          <a:xfrm>
            <a:off x="3276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24000"/>
            <a:ext cx="36000" cy="79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3960000"/>
            <a:ext cx="2538000" cy="360000"/>
          </a:xfrm>
          <a:prstGeom prst="rect">
            <a:avLst/>
          </a:prstGeom>
          <a:noFill/>
        </p:spPr>
        <p:txBody>
          <a:bodyPr wrap="square">
            <a:spAutoFit/>
          </a:bodyPr>
          <a:lstStyle/>
          <a:p>
            <a:pPr algn="l"/>
            <a:r>
              <a:rPr sz="2200" b="1" i="0">
                <a:solidFill>
                  <a:srgbClr val="1B3A6B"/>
                </a:solidFill>
              </a:rPr>
              <a:t>1.4%</a:t>
            </a:r>
          </a:p>
        </p:txBody>
      </p:sp>
      <p:sp>
        <p:nvSpPr>
          <p:cNvPr id="38" name="TextBox 37"/>
          <p:cNvSpPr txBox="1"/>
          <p:nvPr/>
        </p:nvSpPr>
        <p:spPr>
          <a:xfrm>
            <a:off x="3366000" y="4338000"/>
            <a:ext cx="2538000" cy="162000"/>
          </a:xfrm>
          <a:prstGeom prst="rect">
            <a:avLst/>
          </a:prstGeom>
          <a:noFill/>
        </p:spPr>
        <p:txBody>
          <a:bodyPr wrap="square">
            <a:spAutoFit/>
          </a:bodyPr>
          <a:lstStyle/>
          <a:p>
            <a:pPr algn="l"/>
            <a:r>
              <a:rPr sz="850" b="0" i="0">
                <a:solidFill>
                  <a:srgbClr val="555555"/>
                </a:solidFill>
              </a:rPr>
              <a:t>FCF Yield median</a:t>
            </a:r>
          </a:p>
        </p:txBody>
      </p:sp>
      <p:sp>
        <p:nvSpPr>
          <p:cNvPr id="39" name="TextBox 38"/>
          <p:cNvSpPr txBox="1"/>
          <p:nvPr/>
        </p:nvSpPr>
        <p:spPr>
          <a:xfrm>
            <a:off x="3366000" y="4500000"/>
            <a:ext cx="2538000" cy="144000"/>
          </a:xfrm>
          <a:prstGeom prst="rect">
            <a:avLst/>
          </a:prstGeom>
          <a:noFill/>
        </p:spPr>
        <p:txBody>
          <a:bodyPr wrap="square">
            <a:spAutoFit/>
          </a:bodyPr>
          <a:lstStyle/>
          <a:p>
            <a:pPr algn="l"/>
            <a:r>
              <a:rPr sz="800" b="0" i="0">
                <a:solidFill>
                  <a:srgbClr val="AAAAAA"/>
                </a:solidFill>
              </a:rPr>
              <a:t>generation cash</a:t>
            </a:r>
          </a:p>
        </p:txBody>
      </p:sp>
      <p:sp>
        <p:nvSpPr>
          <p:cNvPr id="40" name="Rectangle 39"/>
          <p:cNvSpPr/>
          <p:nvPr/>
        </p:nvSpPr>
        <p:spPr>
          <a:xfrm>
            <a:off x="6228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24000"/>
            <a:ext cx="36000" cy="79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3960000"/>
            <a:ext cx="2538000" cy="360000"/>
          </a:xfrm>
          <a:prstGeom prst="rect">
            <a:avLst/>
          </a:prstGeom>
          <a:noFill/>
        </p:spPr>
        <p:txBody>
          <a:bodyPr wrap="square">
            <a:spAutoFit/>
          </a:bodyPr>
          <a:lstStyle/>
          <a:p>
            <a:pPr algn="l"/>
            <a:r>
              <a:rPr sz="2200" b="1" i="0">
                <a:solidFill>
                  <a:srgbClr val="1B3A6B"/>
                </a:solidFill>
              </a:rPr>
              <a:t>76/100</a:t>
            </a:r>
          </a:p>
        </p:txBody>
      </p:sp>
      <p:sp>
        <p:nvSpPr>
          <p:cNvPr id="43" name="TextBox 42"/>
          <p:cNvSpPr txBox="1"/>
          <p:nvPr/>
        </p:nvSpPr>
        <p:spPr>
          <a:xfrm>
            <a:off x="6318000" y="4338000"/>
            <a:ext cx="2538000" cy="162000"/>
          </a:xfrm>
          <a:prstGeom prst="rect">
            <a:avLst/>
          </a:prstGeom>
          <a:noFill/>
        </p:spPr>
        <p:txBody>
          <a:bodyPr wrap="square">
            <a:spAutoFit/>
          </a:bodyPr>
          <a:lstStyle/>
          <a:p>
            <a:pPr algn="l"/>
            <a:r>
              <a:rPr sz="850" b="0" i="0">
                <a:solidFill>
                  <a:srgbClr val="555555"/>
                </a:solidFill>
              </a:rPr>
              <a:t>Score sante moyen</a:t>
            </a:r>
          </a:p>
        </p:txBody>
      </p:sp>
      <p:sp>
        <p:nvSpPr>
          <p:cNvPr id="44" name="TextBox 43"/>
          <p:cNvSpPr txBox="1"/>
          <p:nvPr/>
        </p:nvSpPr>
        <p:spPr>
          <a:xfrm>
            <a:off x="6318000" y="4500000"/>
            <a:ext cx="2538000" cy="144000"/>
          </a:xfrm>
          <a:prstGeom prst="rect">
            <a:avLst/>
          </a:prstGeom>
          <a:noFill/>
        </p:spPr>
        <p:txBody>
          <a:bodyPr wrap="square">
            <a:spAutoFit/>
          </a:bodyPr>
          <a:lstStyle/>
          <a:p>
            <a:pPr algn="l"/>
            <a:r>
              <a:rPr sz="800" b="0" i="0">
                <a:solidFill>
                  <a:srgbClr val="AAAAAA"/>
                </a:solidFill>
              </a:rPr>
              <a:t>solidite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Adoption IA — L'accélération de l'adoption des solutions d'IA générative par les entreprises booste les</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Régulation — Les enquêtes antitrust et les nouvelles lois sur la data (ex : DMA en Europe) pourraient</a:t>
            </a:r>
          </a:p>
        </p:txBody>
      </p:sp>
      <p:sp>
        <p:nvSpPr>
          <p:cNvPr id="36" name="Rectangle 35"/>
          <p:cNvSpPr/>
          <p:nvPr/>
        </p:nvSpPr>
        <p:spPr>
          <a:xfrm>
            <a:off x="324000" y="2664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1620000"/>
          </a:xfrm>
          <a:prstGeom prst="rect">
            <a:avLst/>
          </a:prstGeom>
          <a:noFill/>
        </p:spPr>
        <p:txBody>
          <a:bodyPr wrap="square">
            <a:spAutoFit/>
          </a:bodyPr>
          <a:lstStyle/>
          <a:p>
            <a:pPr algn="l"/>
            <a:r>
              <a:rPr sz="850" b="0" i="0">
                <a:solidFill>
                  <a:srgbClr val="555555"/>
                </a:solidFill>
              </a:rPr>
              <a:t>Le sentiment agrégé FinBERT sur le secteur Technology (S&amp;P 500) ressort neutre (0.00), avec 25% d'articles a tonalité positive sur 8 analysés. La dispersion inter-valeurs est prononcée : NVDA (+0.00) porte la composante haussière tandis que AMD (+0.00) reflète les pressions structurelles. Cette hétérogénéité valide une approche sélective plutôt que directionnelle sur le secteur — le sentiment moyen masque des situations fondamentalement différentes entre leaders et retardataires. La composante thématique (catalyseurs vs risques) suggère que les flux narratifs restent équilibrés, reflétant une phase de transition sectorielle. Le suivi du ratio Positif/Négatif dans les prochaines semaines constitue un indicateur avancé pour anticiper les rotations sectorielles.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AMD  +182%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MSFT  +5%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176 pts — 8 valeur(s) positives vs 0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