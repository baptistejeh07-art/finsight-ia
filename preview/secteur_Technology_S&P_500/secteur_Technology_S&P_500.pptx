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21.7x  ·  Croissance med. : +19.9 %  ·  Marge EBITDA med. : 46.8 %  ·  Score moyen : 76/100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accélérée de l'IA</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Les modèles d'IA générative comme ceux de NVIDIA et Google transforment les pipelines de revenus des entreprises technologiques avec des contrats récurrents à forte marge.</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Transition vers le cloud</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La migration des infrastructures IT vers le cloud public (AWS, Azure, GCP) génère des revenus récurrents et des marges EBITDA en expansion pour les hyperscalers.</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Monétisation des données</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Les plateformes comme Meta et Google capitalisent sur les données utilisateurs via des algorithmes publicitaires ciblés, boostant les revenus par utilisateur.</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Régulation antitrust</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enquêtes des autorités (UE, USA) pourraient imposer des amendes ou des restrictions opérationnelles, impactant les marges des géants technologiques.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Concurrence accrue en IA</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L'émergence de nouveaux acteurs (startups, géants asiatiques) menace les positions dominantes de NVIDIA et Google dans les infrastructures IA.</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Cycles de dépenses IT</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Un ralentissement économique pourrait réduire les budgets IT des entreprises, affectant les revenus des fournisseurs de logiciels et services cloud.</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21.7x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+49.2 %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affiche une valorisation réévaluée avec un multiple EV/EBITDA médian à 21.7x, reflétant une prime pour des marges EBITDA exceptionnelles de 46.8% et une croissance organique des revenus de près de 20%, tirée par l'IA générative et le cloud hyperscale.</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accélérée de l'IA</a:t>
            </a:r>
          </a:p>
        </p:txBody>
      </p:sp>
      <p:sp>
        <p:nvSpPr>
          <p:cNvPr id="22" name="TextBox 21"/>
          <p:cNvSpPr txBox="1"/>
          <p:nvPr/>
        </p:nvSpPr>
        <p:spPr>
          <a:xfrm>
            <a:off x="576000" y="3060000"/>
            <a:ext cx="4428000" cy="396000"/>
          </a:xfrm>
          <a:prstGeom prst="rect">
            <a:avLst/>
          </a:prstGeom>
          <a:noFill/>
        </p:spPr>
        <p:txBody>
          <a:bodyPr wrap="square">
            <a:spAutoFit/>
          </a:bodyPr>
          <a:lstStyle/>
          <a:p>
            <a:pPr algn="l"/>
            <a:r>
              <a:rPr sz="750" b="0" i="0">
                <a:solidFill>
                  <a:srgbClr val="555555"/>
                </a:solidFill>
              </a:rPr>
              <a:t>Les modèles d'IA générative comme ceux de NVIDIA et Google transforment les pipelines de revenus des entreprises technologiques avec des contrats récurrents à forte marge.</a:t>
            </a:r>
          </a:p>
        </p:txBody>
      </p:sp>
      <p:sp>
        <p:nvSpPr>
          <p:cNvPr id="23" name="Rectangle 22"/>
          <p:cNvSpPr/>
          <p:nvPr/>
        </p:nvSpPr>
        <p:spPr>
          <a:xfrm>
            <a:off x="468000" y="3420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420000"/>
            <a:ext cx="4428000" cy="162000"/>
          </a:xfrm>
          <a:prstGeom prst="rect">
            <a:avLst/>
          </a:prstGeom>
          <a:noFill/>
        </p:spPr>
        <p:txBody>
          <a:bodyPr wrap="square">
            <a:spAutoFit/>
          </a:bodyPr>
          <a:lstStyle/>
          <a:p>
            <a:pPr algn="l"/>
            <a:r>
              <a:rPr sz="800" b="1" i="0">
                <a:solidFill>
                  <a:srgbClr val="1B3A6B"/>
                </a:solidFill>
              </a:rPr>
              <a:t>Transition vers le cloud</a:t>
            </a:r>
          </a:p>
        </p:txBody>
      </p:sp>
      <p:sp>
        <p:nvSpPr>
          <p:cNvPr id="25" name="TextBox 24"/>
          <p:cNvSpPr txBox="1"/>
          <p:nvPr/>
        </p:nvSpPr>
        <p:spPr>
          <a:xfrm>
            <a:off x="576000" y="3581999"/>
            <a:ext cx="4428000" cy="396000"/>
          </a:xfrm>
          <a:prstGeom prst="rect">
            <a:avLst/>
          </a:prstGeom>
          <a:noFill/>
        </p:spPr>
        <p:txBody>
          <a:bodyPr wrap="square">
            <a:spAutoFit/>
          </a:bodyPr>
          <a:lstStyle/>
          <a:p>
            <a:pPr algn="l"/>
            <a:r>
              <a:rPr sz="750" b="0" i="0">
                <a:solidFill>
                  <a:srgbClr val="555555"/>
                </a:solidFill>
              </a:rPr>
              <a:t>La migration des infrastructures IT vers le cloud public (AWS, Azure, GCP) génère des revenus récurrents et des marges EBITDA en expansion pour les hyperscalers.</a:t>
            </a:r>
          </a:p>
        </p:txBody>
      </p:sp>
      <p:sp>
        <p:nvSpPr>
          <p:cNvPr id="26" name="Rectangle 25"/>
          <p:cNvSpPr/>
          <p:nvPr/>
        </p:nvSpPr>
        <p:spPr>
          <a:xfrm>
            <a:off x="468000" y="3942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942000"/>
            <a:ext cx="4428000" cy="162000"/>
          </a:xfrm>
          <a:prstGeom prst="rect">
            <a:avLst/>
          </a:prstGeom>
          <a:noFill/>
        </p:spPr>
        <p:txBody>
          <a:bodyPr wrap="square">
            <a:spAutoFit/>
          </a:bodyPr>
          <a:lstStyle/>
          <a:p>
            <a:pPr algn="l"/>
            <a:r>
              <a:rPr sz="800" b="1" i="0">
                <a:solidFill>
                  <a:srgbClr val="1B3A6B"/>
                </a:solidFill>
              </a:rPr>
              <a:t>Monétisation des données</a:t>
            </a:r>
          </a:p>
        </p:txBody>
      </p:sp>
      <p:sp>
        <p:nvSpPr>
          <p:cNvPr id="28" name="TextBox 27"/>
          <p:cNvSpPr txBox="1"/>
          <p:nvPr/>
        </p:nvSpPr>
        <p:spPr>
          <a:xfrm>
            <a:off x="576000" y="4104000"/>
            <a:ext cx="4428000" cy="396000"/>
          </a:xfrm>
          <a:prstGeom prst="rect">
            <a:avLst/>
          </a:prstGeom>
          <a:noFill/>
        </p:spPr>
        <p:txBody>
          <a:bodyPr wrap="square">
            <a:spAutoFit/>
          </a:bodyPr>
          <a:lstStyle/>
          <a:p>
            <a:pPr algn="l"/>
            <a:r>
              <a:rPr sz="750" b="0" i="0">
                <a:solidFill>
                  <a:srgbClr val="555555"/>
                </a:solidFill>
              </a:rPr>
              <a:t>Les plateformes comme Meta et Google capitalisent sur les données utilisateurs via des algorithmes publicitaires ciblés, boostant les revenus par utilisateur.</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+19.9 %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+49.2 %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27.5x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19.5x</a:t>
                      </a:r>
                    </a:p>
                  </a:txBody>
                  <a:tcPr>
                    <a:solidFill>
                      <a:srgbClr val="F5F7FA"/>
                    </a:solidFill>
                  </a:tcPr>
                </a:tc>
                <a:tc>
                  <a:txBody>
                    <a:bodyPr/>
                    <a:lstStyle/>
                    <a:p>
                      <a:pPr algn="ctr"/>
                      <a:r>
                        <a:rPr sz="750" b="0">
                          <a:solidFill>
                            <a:srgbClr val="1A1A1A"/>
                          </a:solidFill>
                        </a:rPr>
                        <a:t>35.9x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24.6x</a:t>
                      </a:r>
                    </a:p>
                  </a:txBody>
                  <a:tcPr>
                    <a:noFill/>
                  </a:tcPr>
                </a:tc>
                <a:tc>
                  <a:txBody>
                    <a:bodyPr/>
                    <a:lstStyle/>
                    <a:p>
                      <a:pPr algn="ctr"/>
                      <a:r>
                        <a:rPr sz="750" b="0">
                          <a:solidFill>
                            <a:srgbClr val="1A1A1A"/>
                          </a:solidFill>
                        </a:rPr>
                        <a:t>82.0 %</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30.2 %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8.7x</a:t>
                      </a:r>
                    </a:p>
                  </a:txBody>
                  <a:tcPr>
                    <a:solidFill>
                      <a:srgbClr val="F5F7FA"/>
                    </a:solidFill>
                  </a:tcPr>
                </a:tc>
                <a:tc>
                  <a:txBody>
                    <a:bodyPr/>
                    <a:lstStyle/>
                    <a:p>
                      <a:pPr algn="ctr"/>
                      <a:r>
                        <a:rPr sz="750" b="0">
                          <a:solidFill>
                            <a:srgbClr val="1A1A1A"/>
                          </a:solidFill>
                        </a:rPr>
                        <a:t>32.4x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9.1x</a:t>
                      </a:r>
                    </a:p>
                  </a:txBody>
                  <a:tcPr>
                    <a:noFill/>
                  </a:tcPr>
                </a:tc>
                <a:tc>
                  <a:txBody>
                    <a:bodyPr/>
                    <a:lstStyle/>
                    <a:p>
                      <a:pPr algn="ctr"/>
                      <a:r>
                        <a:rPr sz="750" b="0">
                          <a:solidFill>
                            <a:srgbClr val="1A1A1A"/>
                          </a:solidFill>
                        </a:rPr>
                        <a:t>23.1x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2.3x</a:t>
                      </a:r>
                    </a:p>
                  </a:txBody>
                  <a:tcPr>
                    <a:solidFill>
                      <a:srgbClr val="F5F7FA"/>
                    </a:solidFill>
                  </a:tcPr>
                </a:tc>
                <a:tc>
                  <a:txBody>
                    <a:bodyPr/>
                    <a:lstStyle/>
                    <a:p>
                      <a:pPr algn="ctr"/>
                      <a:r>
                        <a:rPr sz="750" b="0">
                          <a:solidFill>
                            <a:srgbClr val="1A1A1A"/>
                          </a:solidFill>
                        </a:rPr>
                        <a:t>61.0x</a:t>
                      </a:r>
                    </a:p>
                  </a:txBody>
                  <a:tcPr>
                    <a:solidFill>
                      <a:srgbClr val="F5F7FA"/>
                    </a:solidFill>
                  </a:tcPr>
                </a:tc>
                <a:tc>
                  <a:txBody>
                    <a:bodyPr/>
                    <a:lstStyle/>
                    <a:p>
                      <a:pPr algn="ctr"/>
                      <a:r>
                        <a:rPr sz="750" b="0">
                          <a:solidFill>
                            <a:srgbClr val="1A1A1A"/>
                          </a:solidFill>
                        </a:rPr>
                        <a:t>76.7 %</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33.4 %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8.5x</a:t>
                      </a:r>
                    </a:p>
                  </a:txBody>
                  <a:tcPr>
                    <a:noFill/>
                  </a:tcPr>
                </a:tc>
                <a:tc>
                  <a:txBody>
                    <a:bodyPr/>
                    <a:lstStyle/>
                    <a:p>
                      <a:pPr algn="ctr"/>
                      <a:r>
                        <a:rPr sz="750" b="0">
                          <a:solidFill>
                            <a:srgbClr val="1A1A1A"/>
                          </a:solidFill>
                        </a:rPr>
                        <a:t>26.0x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9.7x</a:t>
                      </a:r>
                    </a:p>
                  </a:txBody>
                  <a:tcPr>
                    <a:solidFill>
                      <a:srgbClr val="F5F7FA"/>
                    </a:solidFill>
                  </a:tcPr>
                </a:tc>
                <a:tc>
                  <a:txBody>
                    <a:bodyPr/>
                    <a:lstStyle/>
                    <a:p>
                      <a:pPr algn="ctr"/>
                      <a:r>
                        <a:rPr sz="750" b="0">
                          <a:solidFill>
                            <a:srgbClr val="1A1A1A"/>
                          </a:solidFill>
                        </a:rPr>
                        <a:t>80.5x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8.7x</a:t>
                      </a:r>
                    </a:p>
                  </a:txBody>
                  <a:tcPr>
                    <a:noFill/>
                  </a:tcPr>
                </a:tc>
                <a:tc>
                  <a:txBody>
                    <a:bodyPr/>
                    <a:lstStyle/>
                    <a:p>
                      <a:pPr algn="ctr"/>
                      <a:r>
                        <a:rPr sz="750" b="0">
                          <a:solidFill>
                            <a:srgbClr val="1A1A1A"/>
                          </a:solidFill>
                        </a:rPr>
                        <a:t>29.9x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21.7x LTM. Alphabet Inc. (23.6x)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Croissance des revenus cloud</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Les revenus du cloud public devraient croître de 25% en 2024, portés par l'adoption de l'IA et des outils DevOps.</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des marges publicitaires</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L'amélioration des algorithmes de ciblage (ex: Google Ads, Meta) augmente le ROI des annonceurs, soutenant les marges EBITDA.</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énergétiques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La hausse des coûts énergétiques pour les data centers (notamment en Europe) pourrait comprimer les marges des hyperscalers.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Saturation du marché smartphone</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La croissance des revenus hardware (ex: smartphones) ralentit, limitant le potentiel de valorisation des écosystèmes mobiles comme Apple ou Samsung.</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76/100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est en phase de maturation avancée avec une croissance supérieure au PIB, mais des signes de surchauffe apparaissent sur les valorisations des acteurs IA.</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(Moderee)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+97.3 %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+72.6 %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+23.8 %</a:t>
                      </a:r>
                    </a:p>
                  </a:txBody>
                  <a:tcPr>
                    <a:noFill/>
                  </a:tcPr>
                </a:tc>
                <a:tc>
                  <a:txBody>
                    <a:bodyPr/>
                    <a:lstStyle/>
                    <a:p>
                      <a:pPr algn="ctr"/>
                      <a:r>
                        <a:rPr sz="750" b="0">
                          <a:solidFill>
                            <a:srgbClr val="1A1A1A"/>
                          </a:solidFill>
                        </a:rPr>
                        <a:t>+9.0 %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+25.8 %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-1.0 %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+16.4 %</a:t>
                      </a:r>
                    </a:p>
                  </a:txBody>
                  <a:tcPr>
                    <a:solidFill>
                      <a:srgbClr val="F5F7FA"/>
                    </a:solidFill>
                  </a:tcPr>
                </a:tc>
                <a:tc>
                  <a:txBody>
                    <a:bodyPr/>
                    <a:lstStyle/>
                    <a:p>
                      <a:pPr algn="ctr"/>
                      <a:r>
                        <a:rPr sz="750" b="0">
                          <a:solidFill>
                            <a:srgbClr val="1A1A1A"/>
                          </a:solidFill>
                        </a:rPr>
                        <a:t>+103.6 %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+5.8 %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+124.1 %</a:t>
                      </a:r>
                    </a:p>
                  </a:txBody>
                  <a:tcPr>
                    <a:solidFill>
                      <a:srgbClr val="F5F7FA"/>
                    </a:solidFill>
                  </a:tcPr>
                </a:tc>
              </a:tr>
            </a:tbl>
          </a:graphicData>
        </a:graphic>
      </p:graphicFrame>
      <p:sp>
        <p:nvSpPr>
          <p:cNvPr id="16" name="Rectangle 15"/>
          <p:cNvSpPr/>
          <p:nvPr/>
        </p:nvSpPr>
        <p:spPr>
          <a:xfrm>
            <a:off x="324000" y="28943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943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948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200399"/>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25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(31.7x) soutenue par 71.1 % de marge brute.
AVGO se positionne en zone Opportunite — EV/EBITDA de 4.3x sous la médiane sectorielle de 21.7x.
La médiane sectorielle ressort a 21.7x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22</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58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58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876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164400"/>
            <a:ext cx="8352000" cy="1260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Value=11,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357</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23.6x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Les modèles d'IA générative comme ceux de NVIDIA et Google transforment les pipelines de revenus des entreprises technologiques avec des contrats récurrents à f</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enquêtes des autorités (UE, USA) pourraient imposer des amendes ou des restrictions opérationnelles, impactant les marges des géants technologiques.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31.7x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La migration des infrastructures IT vers le cloud public (AWS, Azure, GCP) génère des revenus récurrents et des marges EBITDA en expansion pour les hyperscalers</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L'émergence de nouveaux acteurs (startups, géants asiatiques) menace les positions dominantes de NVIDIA et Google dans les infrastructures IA.</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META</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Meta Platforms,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695</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50.7 %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Les plateformes comme Meta et Google capitalisent sur les données utilisateurs via des algorithmes publicitaires ciblés, boostant les revenus par utilisateur.</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Un ralentissement économique pourrait réduire les budgets IT des entreprises, affectant les revenus des fournisseurs de logiciels et services cloud.</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(21.7x)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2 acteur(s) se detachent nettement du reste du secteur, creant une prime de valorisation significative vs la médiane de 21.7x.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342.0</a:t>
                      </a:r>
                    </a:p>
                  </a:txBody>
                  <a:tcPr>
                    <a:noFill/>
                  </a:tcPr>
                </a:tc>
                <a:tc>
                  <a:txBody>
                    <a:bodyPr/>
                    <a:lstStyle/>
                    <a:p>
                      <a:pPr algn="ctr"/>
                      <a:r>
                        <a:rPr sz="750" b="0">
                          <a:solidFill>
                            <a:srgbClr val="1A1A1A"/>
                          </a:solidFill>
                        </a:rPr>
                        <a:t>&lt; 282.5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202.1</a:t>
                      </a:r>
                    </a:p>
                  </a:txBody>
                  <a:tcPr>
                    <a:solidFill>
                      <a:srgbClr val="F5F7FA"/>
                    </a:solidFill>
                  </a:tcPr>
                </a:tc>
                <a:tc>
                  <a:txBody>
                    <a:bodyPr/>
                    <a:lstStyle/>
                    <a:p>
                      <a:pPr algn="ctr"/>
                      <a:r>
                        <a:rPr sz="750" b="0">
                          <a:solidFill>
                            <a:srgbClr val="1A1A1A"/>
                          </a:solidFill>
                        </a:rPr>
                        <a:t>&lt; 167.0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666.1</a:t>
                      </a:r>
                    </a:p>
                  </a:txBody>
                  <a:tcPr>
                    <a:noFill/>
                  </a:tcPr>
                </a:tc>
                <a:tc>
                  <a:txBody>
                    <a:bodyPr/>
                    <a:lstStyle/>
                    <a:p>
                      <a:pPr algn="ctr"/>
                      <a:r>
                        <a:rPr sz="750" b="0">
                          <a:solidFill>
                            <a:srgbClr val="1A1A1A"/>
                          </a:solidFill>
                        </a:rPr>
                        <a:t>&lt; 550.3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294.0</a:t>
                      </a:r>
                    </a:p>
                  </a:txBody>
                  <a:tcPr>
                    <a:solidFill>
                      <a:srgbClr val="F5F7FA"/>
                    </a:solidFill>
                  </a:tcPr>
                </a:tc>
                <a:tc>
                  <a:txBody>
                    <a:bodyPr/>
                    <a:lstStyle/>
                    <a:p>
                      <a:pPr algn="ctr"/>
                      <a:r>
                        <a:rPr sz="750" b="0">
                          <a:solidFill>
                            <a:srgbClr val="1A1A1A"/>
                          </a:solidFill>
                        </a:rPr>
                        <a:t>&lt; 242.8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424.8</a:t>
                      </a:r>
                    </a:p>
                  </a:txBody>
                  <a:tcPr>
                    <a:noFill/>
                  </a:tcPr>
                </a:tc>
                <a:tc>
                  <a:txBody>
                    <a:bodyPr/>
                    <a:lstStyle/>
                    <a:p>
                      <a:pPr algn="ctr"/>
                      <a:r>
                        <a:rPr sz="750" b="0">
                          <a:solidFill>
                            <a:srgbClr val="1A1A1A"/>
                          </a:solidFill>
                        </a:rPr>
                        <a:t>&lt; 350.9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360.5</a:t>
                      </a:r>
                    </a:p>
                  </a:txBody>
                  <a:tcPr>
                    <a:solidFill>
                      <a:srgbClr val="F5F7FA"/>
                    </a:solidFill>
                  </a:tcPr>
                </a:tc>
                <a:tc>
                  <a:txBody>
                    <a:bodyPr/>
                    <a:lstStyle/>
                    <a:p>
                      <a:pPr algn="ctr"/>
                      <a:r>
                        <a:rPr sz="750" b="0">
                          <a:solidFill>
                            <a:srgbClr val="1A1A1A"/>
                          </a:solidFill>
                        </a:rPr>
                        <a:t>&lt; 297.8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167.0</a:t>
                      </a:r>
                    </a:p>
                  </a:txBody>
                  <a:tcPr>
                    <a:noFill/>
                  </a:tcPr>
                </a:tc>
                <a:tc>
                  <a:txBody>
                    <a:bodyPr/>
                    <a:lstStyle/>
                    <a:p>
                      <a:pPr algn="ctr"/>
                      <a:r>
                        <a:rPr sz="750" b="0">
                          <a:solidFill>
                            <a:srgbClr val="1A1A1A"/>
                          </a:solidFill>
                        </a:rPr>
                        <a:t>&lt; 138.0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241.7</a:t>
                      </a:r>
                    </a:p>
                  </a:txBody>
                  <a:tcPr>
                    <a:solidFill>
                      <a:srgbClr val="F5F7FA"/>
                    </a:solidFill>
                  </a:tcPr>
                </a:tc>
                <a:tc>
                  <a:txBody>
                    <a:bodyPr/>
                    <a:lstStyle/>
                    <a:p>
                      <a:pPr algn="ctr"/>
                      <a:r>
                        <a:rPr sz="750" b="0">
                          <a:solidFill>
                            <a:srgbClr val="1A1A1A"/>
                          </a:solidFill>
                        </a:rPr>
                        <a:t>&lt; 199.7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50000"/>
            <a:ext cx="8496000" cy="126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50000"/>
            <a:ext cx="36000" cy="12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78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66000"/>
            <a:ext cx="8316000" cy="102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Régulation antitrust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enquêtes des autorités (UE, USA) pourraient imposer des amendes ou des restrictions opérationnelles, impactant les marges des géants technologiques.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Concurrence accrue en IA</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L'émergence de nouveaux acteurs (startups, géants asiatiques) menace les positions dominantes de NVIDIA et Google dans les infrastructures IA.</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Cycles de dépenses IT</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Un ralentissement économique pourrait réduire les budgets IT des entreprises, affectant les revenus des fournisseurs de logiciels et services cloud.</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61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80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96000"/>
            <a:ext cx="36000" cy="55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4014000"/>
            <a:ext cx="2538000" cy="270000"/>
          </a:xfrm>
          <a:prstGeom prst="rect">
            <a:avLst/>
          </a:prstGeom>
          <a:noFill/>
        </p:spPr>
        <p:txBody>
          <a:bodyPr wrap="square">
            <a:spAutoFit/>
          </a:bodyPr>
          <a:lstStyle/>
          <a:p>
            <a:pPr algn="l"/>
            <a:r>
              <a:rPr sz="1800" b="1" i="0">
                <a:solidFill>
                  <a:srgbClr val="1B3A6B"/>
                </a:solidFill>
              </a:rPr>
              <a:t>N/D</a:t>
            </a:r>
          </a:p>
        </p:txBody>
      </p:sp>
      <p:sp>
        <p:nvSpPr>
          <p:cNvPr id="33" name="TextBox 32"/>
          <p:cNvSpPr txBox="1"/>
          <p:nvPr/>
        </p:nvSpPr>
        <p:spPr>
          <a:xfrm>
            <a:off x="413999" y="4284000"/>
            <a:ext cx="2538000" cy="144000"/>
          </a:xfrm>
          <a:prstGeom prst="rect">
            <a:avLst/>
          </a:prstGeom>
          <a:noFill/>
        </p:spPr>
        <p:txBody>
          <a:bodyPr wrap="square">
            <a:spAutoFit/>
          </a:bodyPr>
          <a:lstStyle/>
          <a:p>
            <a:pPr algn="l"/>
            <a:r>
              <a:rPr sz="750" b="0" i="0">
                <a:solidFill>
                  <a:srgbClr val="555555"/>
                </a:solidFill>
              </a:rPr>
              <a:t>ND/EBITDA median</a:t>
            </a:r>
          </a:p>
        </p:txBody>
      </p:sp>
      <p:sp>
        <p:nvSpPr>
          <p:cNvPr id="34" name="TextBox 33"/>
          <p:cNvSpPr txBox="1"/>
          <p:nvPr/>
        </p:nvSpPr>
        <p:spPr>
          <a:xfrm>
            <a:off x="413999" y="4428000"/>
            <a:ext cx="2538000" cy="125999"/>
          </a:xfrm>
          <a:prstGeom prst="rect">
            <a:avLst/>
          </a:prstGeom>
          <a:noFill/>
        </p:spPr>
        <p:txBody>
          <a:bodyPr wrap="square">
            <a:spAutoFit/>
          </a:bodyPr>
          <a:lstStyle/>
          <a:p>
            <a:pPr algn="l"/>
            <a:r>
              <a:rPr sz="700" b="0" i="0">
                <a:solidFill>
                  <a:srgbClr val="AAAAAA"/>
                </a:solidFill>
              </a:rPr>
              <a:t>levier sectoriel</a:t>
            </a:r>
          </a:p>
        </p:txBody>
      </p:sp>
      <p:sp>
        <p:nvSpPr>
          <p:cNvPr id="35" name="Rectangle 34"/>
          <p:cNvSpPr/>
          <p:nvPr/>
        </p:nvSpPr>
        <p:spPr>
          <a:xfrm>
            <a:off x="3276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96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4014000"/>
            <a:ext cx="2538000" cy="270000"/>
          </a:xfrm>
          <a:prstGeom prst="rect">
            <a:avLst/>
          </a:prstGeom>
          <a:noFill/>
        </p:spPr>
        <p:txBody>
          <a:bodyPr wrap="square">
            <a:spAutoFit/>
          </a:bodyPr>
          <a:lstStyle/>
          <a:p>
            <a:pPr algn="l"/>
            <a:r>
              <a:rPr sz="1800" b="1" i="0">
                <a:solidFill>
                  <a:srgbClr val="1B3A6B"/>
                </a:solidFill>
              </a:rPr>
              <a:t>1.5%</a:t>
            </a:r>
          </a:p>
        </p:txBody>
      </p:sp>
      <p:sp>
        <p:nvSpPr>
          <p:cNvPr id="38" name="TextBox 37"/>
          <p:cNvSpPr txBox="1"/>
          <p:nvPr/>
        </p:nvSpPr>
        <p:spPr>
          <a:xfrm>
            <a:off x="3366000" y="4284000"/>
            <a:ext cx="2538000" cy="144000"/>
          </a:xfrm>
          <a:prstGeom prst="rect">
            <a:avLst/>
          </a:prstGeom>
          <a:noFill/>
        </p:spPr>
        <p:txBody>
          <a:bodyPr wrap="square">
            <a:spAutoFit/>
          </a:bodyPr>
          <a:lstStyle/>
          <a:p>
            <a:pPr algn="l"/>
            <a:r>
              <a:rPr sz="750" b="0" i="0">
                <a:solidFill>
                  <a:srgbClr val="555555"/>
                </a:solidFill>
              </a:rPr>
              <a:t>FCF Yield median</a:t>
            </a:r>
          </a:p>
        </p:txBody>
      </p:sp>
      <p:sp>
        <p:nvSpPr>
          <p:cNvPr id="39" name="TextBox 38"/>
          <p:cNvSpPr txBox="1"/>
          <p:nvPr/>
        </p:nvSpPr>
        <p:spPr>
          <a:xfrm>
            <a:off x="3366000" y="4428000"/>
            <a:ext cx="2538000" cy="125999"/>
          </a:xfrm>
          <a:prstGeom prst="rect">
            <a:avLst/>
          </a:prstGeom>
          <a:noFill/>
        </p:spPr>
        <p:txBody>
          <a:bodyPr wrap="square">
            <a:spAutoFit/>
          </a:bodyPr>
          <a:lstStyle/>
          <a:p>
            <a:pPr algn="l"/>
            <a:r>
              <a:rPr sz="700" b="0" i="0">
                <a:solidFill>
                  <a:srgbClr val="AAAAAA"/>
                </a:solidFill>
              </a:rPr>
              <a:t>generation cash</a:t>
            </a:r>
          </a:p>
        </p:txBody>
      </p:sp>
      <p:sp>
        <p:nvSpPr>
          <p:cNvPr id="40" name="Rectangle 39"/>
          <p:cNvSpPr/>
          <p:nvPr/>
        </p:nvSpPr>
        <p:spPr>
          <a:xfrm>
            <a:off x="6228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96000"/>
            <a:ext cx="36000" cy="55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4014000"/>
            <a:ext cx="2538000" cy="270000"/>
          </a:xfrm>
          <a:prstGeom prst="rect">
            <a:avLst/>
          </a:prstGeom>
          <a:noFill/>
        </p:spPr>
        <p:txBody>
          <a:bodyPr wrap="square">
            <a:spAutoFit/>
          </a:bodyPr>
          <a:lstStyle/>
          <a:p>
            <a:pPr algn="l"/>
            <a:r>
              <a:rPr sz="1800" b="1" i="0">
                <a:solidFill>
                  <a:srgbClr val="1B3A6B"/>
                </a:solidFill>
              </a:rPr>
              <a:t>75/100</a:t>
            </a:r>
          </a:p>
        </p:txBody>
      </p:sp>
      <p:sp>
        <p:nvSpPr>
          <p:cNvPr id="43" name="TextBox 42"/>
          <p:cNvSpPr txBox="1"/>
          <p:nvPr/>
        </p:nvSpPr>
        <p:spPr>
          <a:xfrm>
            <a:off x="6318000" y="4284000"/>
            <a:ext cx="2538000" cy="144000"/>
          </a:xfrm>
          <a:prstGeom prst="rect">
            <a:avLst/>
          </a:prstGeom>
          <a:noFill/>
        </p:spPr>
        <p:txBody>
          <a:bodyPr wrap="square">
            <a:spAutoFit/>
          </a:bodyPr>
          <a:lstStyle/>
          <a:p>
            <a:pPr algn="l"/>
            <a:r>
              <a:rPr sz="750" b="0" i="0">
                <a:solidFill>
                  <a:srgbClr val="555555"/>
                </a:solidFill>
              </a:rPr>
              <a:t>Score sante moyen</a:t>
            </a:r>
          </a:p>
        </p:txBody>
      </p:sp>
      <p:sp>
        <p:nvSpPr>
          <p:cNvPr id="44" name="TextBox 43"/>
          <p:cNvSpPr txBox="1"/>
          <p:nvPr/>
        </p:nvSpPr>
        <p:spPr>
          <a:xfrm>
            <a:off x="6318000" y="4428000"/>
            <a:ext cx="2538000" cy="125999"/>
          </a:xfrm>
          <a:prstGeom prst="rect">
            <a:avLst/>
          </a:prstGeom>
          <a:noFill/>
        </p:spPr>
        <p:txBody>
          <a:bodyPr wrap="square">
            <a:spAutoFit/>
          </a:bodyPr>
          <a:lstStyle/>
          <a:p>
            <a:pPr algn="l"/>
            <a:r>
              <a:rPr sz="7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accélérée de l'IA — Les modèles d'IA générative comme ceux de NVIDIA et Google transforment les pipelines de revenus des entreprises technologiques avec des con</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Régulation antitrust — Les enquêtes des autorités (UE, USA) pourraient imposer des amendes ou des restrictions opérationnelles, impactant les marges des géants tec</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+124%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-1%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125 pts — 7 valeur(s) positives vs 1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