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02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21.7x  ·  Croissance med. : +19.9 %  ·  Marge EBITDA med. : 46.8 %  ·  Score moyen : 76/100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accélérée de l'IA générative</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Les dépenses en infrastructures cloud et en puces spécialisées (GPU/TPU) explosent, dopant les revenus des leaders comme NVIDIA et Alphabet.</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Monétisation des données utilisateurs</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Les plateformes comme Meta et Google renforcent leurs revenus publicitaires grâce à l'amélioration des algorithmes de ciblage.</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Transition vers le SaaS et l'abonnement</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Les entreprises accélèrent leur migration vers des modèles récurrents, stabilisant les flux de trésorerie.</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Régulation antitrust</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Les enquêtes et amendes potentielles (ex : Digital Markets Act en Europe) pourraient peser sur les marges des géants technologiques.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Cycles de R&amp;D coûteux</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Les investissements massifs en IA et en semi-conducteurs pourraient ne pas se traduire par des retours immédiats.</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Sensibilité aux taux d'intérêt</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Une remontée durable des taux pourrait réduire l'attractivité des valorisations élevées du secteur.</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21.7x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+49.2 %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affiche une valorisation premium avec un multiple EV/EBITDA médian de 21.7x, reflétant une croissance organique soutenue (+19.9%) et une rentabilité opérationnelle robuste (marge EBITDA de 46.8%), bien au-dessus des moyennes historiques. Les géants du cloud et de l'IA (GOOGL, NVDA, META) captent cette dynamique avec des performances boursières exceptionnelles sur 52 semaines (+49.2%).</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Adoption accélérée de l'IA générative</a:t>
            </a:r>
          </a:p>
        </p:txBody>
      </p:sp>
      <p:sp>
        <p:nvSpPr>
          <p:cNvPr id="22" name="TextBox 21"/>
          <p:cNvSpPr txBox="1"/>
          <p:nvPr/>
        </p:nvSpPr>
        <p:spPr>
          <a:xfrm>
            <a:off x="576000" y="3060000"/>
            <a:ext cx="4428000" cy="396000"/>
          </a:xfrm>
          <a:prstGeom prst="rect">
            <a:avLst/>
          </a:prstGeom>
          <a:noFill/>
        </p:spPr>
        <p:txBody>
          <a:bodyPr wrap="square">
            <a:spAutoFit/>
          </a:bodyPr>
          <a:lstStyle/>
          <a:p>
            <a:pPr algn="l"/>
            <a:r>
              <a:rPr sz="750" b="0" i="0">
                <a:solidFill>
                  <a:srgbClr val="555555"/>
                </a:solidFill>
              </a:rPr>
              <a:t>Les dépenses en infrastructures cloud et en puces spécialisées (GPU/TPU) explosent, dopant les revenus des leaders comme NVIDIA et Alphabet.</a:t>
            </a:r>
          </a:p>
        </p:txBody>
      </p:sp>
      <p:sp>
        <p:nvSpPr>
          <p:cNvPr id="23" name="Rectangle 22"/>
          <p:cNvSpPr/>
          <p:nvPr/>
        </p:nvSpPr>
        <p:spPr>
          <a:xfrm>
            <a:off x="468000" y="3420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420000"/>
            <a:ext cx="4428000" cy="162000"/>
          </a:xfrm>
          <a:prstGeom prst="rect">
            <a:avLst/>
          </a:prstGeom>
          <a:noFill/>
        </p:spPr>
        <p:txBody>
          <a:bodyPr wrap="square">
            <a:spAutoFit/>
          </a:bodyPr>
          <a:lstStyle/>
          <a:p>
            <a:pPr algn="l"/>
            <a:r>
              <a:rPr sz="800" b="1" i="0">
                <a:solidFill>
                  <a:srgbClr val="1B3A6B"/>
                </a:solidFill>
              </a:rPr>
              <a:t>Monétisation des données utilisateurs</a:t>
            </a:r>
          </a:p>
        </p:txBody>
      </p:sp>
      <p:sp>
        <p:nvSpPr>
          <p:cNvPr id="25" name="TextBox 24"/>
          <p:cNvSpPr txBox="1"/>
          <p:nvPr/>
        </p:nvSpPr>
        <p:spPr>
          <a:xfrm>
            <a:off x="576000" y="3581999"/>
            <a:ext cx="4428000" cy="396000"/>
          </a:xfrm>
          <a:prstGeom prst="rect">
            <a:avLst/>
          </a:prstGeom>
          <a:noFill/>
        </p:spPr>
        <p:txBody>
          <a:bodyPr wrap="square">
            <a:spAutoFit/>
          </a:bodyPr>
          <a:lstStyle/>
          <a:p>
            <a:pPr algn="l"/>
            <a:r>
              <a:rPr sz="750" b="0" i="0">
                <a:solidFill>
                  <a:srgbClr val="555555"/>
                </a:solidFill>
              </a:rPr>
              <a:t>Les plateformes comme Meta et Google renforcent leurs revenus publicitaires grâce à l'amélioration des algorithmes de ciblage.</a:t>
            </a:r>
          </a:p>
        </p:txBody>
      </p:sp>
      <p:sp>
        <p:nvSpPr>
          <p:cNvPr id="26" name="Rectangle 25"/>
          <p:cNvSpPr/>
          <p:nvPr/>
        </p:nvSpPr>
        <p:spPr>
          <a:xfrm>
            <a:off x="468000" y="3942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942000"/>
            <a:ext cx="4428000" cy="162000"/>
          </a:xfrm>
          <a:prstGeom prst="rect">
            <a:avLst/>
          </a:prstGeom>
          <a:noFill/>
        </p:spPr>
        <p:txBody>
          <a:bodyPr wrap="square">
            <a:spAutoFit/>
          </a:bodyPr>
          <a:lstStyle/>
          <a:p>
            <a:pPr algn="l"/>
            <a:r>
              <a:rPr sz="800" b="1" i="0">
                <a:solidFill>
                  <a:srgbClr val="1B3A6B"/>
                </a:solidFill>
              </a:rPr>
              <a:t>Transition vers le SaaS et l'abonnement</a:t>
            </a:r>
          </a:p>
        </p:txBody>
      </p:sp>
      <p:sp>
        <p:nvSpPr>
          <p:cNvPr id="28" name="TextBox 27"/>
          <p:cNvSpPr txBox="1"/>
          <p:nvPr/>
        </p:nvSpPr>
        <p:spPr>
          <a:xfrm>
            <a:off x="576000" y="4104000"/>
            <a:ext cx="4428000" cy="396000"/>
          </a:xfrm>
          <a:prstGeom prst="rect">
            <a:avLst/>
          </a:prstGeom>
          <a:noFill/>
        </p:spPr>
        <p:txBody>
          <a:bodyPr wrap="square">
            <a:spAutoFit/>
          </a:bodyPr>
          <a:lstStyle/>
          <a:p>
            <a:pPr algn="l"/>
            <a:r>
              <a:rPr sz="750" b="0" i="0">
                <a:solidFill>
                  <a:srgbClr val="555555"/>
                </a:solidFill>
              </a:rPr>
              <a:t>Les entreprises accélèrent leur migration vers des modèles récurrents, stabilisant les flux de trésorerie.</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46.8 %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+19.9 %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+49.2 %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Societes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Analysees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27.5x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19.5x</a:t>
                      </a:r>
                    </a:p>
                  </a:txBody>
                  <a:tcPr>
                    <a:solidFill>
                      <a:srgbClr val="F5F7FA"/>
                    </a:solidFill>
                  </a:tcPr>
                </a:tc>
                <a:tc>
                  <a:txBody>
                    <a:bodyPr/>
                    <a:lstStyle/>
                    <a:p>
                      <a:pPr algn="ctr"/>
                      <a:r>
                        <a:rPr sz="750" b="0">
                          <a:solidFill>
                            <a:srgbClr val="1A1A1A"/>
                          </a:solidFill>
                        </a:rPr>
                        <a:t>35.9x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7.3x</a:t>
                      </a:r>
                    </a:p>
                  </a:txBody>
                  <a:tcPr>
                    <a:noFill/>
                  </a:tcPr>
                </a:tc>
                <a:tc>
                  <a:txBody>
                    <a:bodyPr/>
                    <a:lstStyle/>
                    <a:p>
                      <a:pPr algn="ctr"/>
                      <a:r>
                        <a:rPr sz="750" b="0">
                          <a:solidFill>
                            <a:srgbClr val="1A1A1A"/>
                          </a:solidFill>
                        </a:rPr>
                        <a:t>24.6x</a:t>
                      </a:r>
                    </a:p>
                  </a:txBody>
                  <a:tcPr>
                    <a:noFill/>
                  </a:tcPr>
                </a:tc>
                <a:tc>
                  <a:txBody>
                    <a:bodyPr/>
                    <a:lstStyle/>
                    <a:p>
                      <a:pPr algn="ctr"/>
                      <a:r>
                        <a:rPr sz="750" b="0">
                          <a:solidFill>
                            <a:srgbClr val="1A1A1A"/>
                          </a:solidFill>
                        </a:rPr>
                        <a:t>82.0 %</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30.2 %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8.7x</a:t>
                      </a:r>
                    </a:p>
                  </a:txBody>
                  <a:tcPr>
                    <a:solidFill>
                      <a:srgbClr val="F5F7FA"/>
                    </a:solidFill>
                  </a:tcPr>
                </a:tc>
                <a:tc>
                  <a:txBody>
                    <a:bodyPr/>
                    <a:lstStyle/>
                    <a:p>
                      <a:pPr algn="ctr"/>
                      <a:r>
                        <a:rPr sz="750" b="0">
                          <a:solidFill>
                            <a:srgbClr val="1A1A1A"/>
                          </a:solidFill>
                        </a:rPr>
                        <a:t>32.4x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9.1x</a:t>
                      </a:r>
                    </a:p>
                  </a:txBody>
                  <a:tcPr>
                    <a:noFill/>
                  </a:tcPr>
                </a:tc>
                <a:tc>
                  <a:txBody>
                    <a:bodyPr/>
                    <a:lstStyle/>
                    <a:p>
                      <a:pPr algn="ctr"/>
                      <a:r>
                        <a:rPr sz="750" b="0">
                          <a:solidFill>
                            <a:srgbClr val="1A1A1A"/>
                          </a:solidFill>
                        </a:rPr>
                        <a:t>23.1x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2.3x</a:t>
                      </a:r>
                    </a:p>
                  </a:txBody>
                  <a:tcPr>
                    <a:solidFill>
                      <a:srgbClr val="F5F7FA"/>
                    </a:solidFill>
                  </a:tcPr>
                </a:tc>
                <a:tc>
                  <a:txBody>
                    <a:bodyPr/>
                    <a:lstStyle/>
                    <a:p>
                      <a:pPr algn="ctr"/>
                      <a:r>
                        <a:rPr sz="750" b="0">
                          <a:solidFill>
                            <a:srgbClr val="1A1A1A"/>
                          </a:solidFill>
                        </a:rPr>
                        <a:t>61.0x</a:t>
                      </a:r>
                    </a:p>
                  </a:txBody>
                  <a:tcPr>
                    <a:solidFill>
                      <a:srgbClr val="F5F7FA"/>
                    </a:solidFill>
                  </a:tcPr>
                </a:tc>
                <a:tc>
                  <a:txBody>
                    <a:bodyPr/>
                    <a:lstStyle/>
                    <a:p>
                      <a:pPr algn="ctr"/>
                      <a:r>
                        <a:rPr sz="750" b="0">
                          <a:solidFill>
                            <a:srgbClr val="1A1A1A"/>
                          </a:solidFill>
                        </a:rPr>
                        <a:t>76.7 %</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33.4 %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8.5x</a:t>
                      </a:r>
                    </a:p>
                  </a:txBody>
                  <a:tcPr>
                    <a:noFill/>
                  </a:tcPr>
                </a:tc>
                <a:tc>
                  <a:txBody>
                    <a:bodyPr/>
                    <a:lstStyle/>
                    <a:p>
                      <a:pPr algn="ctr"/>
                      <a:r>
                        <a:rPr sz="750" b="0">
                          <a:solidFill>
                            <a:srgbClr val="1A1A1A"/>
                          </a:solidFill>
                        </a:rPr>
                        <a:t>26.0x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9.7x</a:t>
                      </a:r>
                    </a:p>
                  </a:txBody>
                  <a:tcPr>
                    <a:solidFill>
                      <a:srgbClr val="F5F7FA"/>
                    </a:solidFill>
                  </a:tcPr>
                </a:tc>
                <a:tc>
                  <a:txBody>
                    <a:bodyPr/>
                    <a:lstStyle/>
                    <a:p>
                      <a:pPr algn="ctr"/>
                      <a:r>
                        <a:rPr sz="750" b="0">
                          <a:solidFill>
                            <a:srgbClr val="1A1A1A"/>
                          </a:solidFill>
                        </a:rPr>
                        <a:t>80.5x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8.7x</a:t>
                      </a:r>
                    </a:p>
                  </a:txBody>
                  <a:tcPr>
                    <a:noFill/>
                  </a:tcPr>
                </a:tc>
                <a:tc>
                  <a:txBody>
                    <a:bodyPr/>
                    <a:lstStyle/>
                    <a:p>
                      <a:pPr algn="ctr"/>
                      <a:r>
                        <a:rPr sz="750" b="0">
                          <a:solidFill>
                            <a:srgbClr val="1A1A1A"/>
                          </a:solidFill>
                        </a:rPr>
                        <a:t>29.9x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21.7x LTM. Alphabet Inc. (23.6x)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Croissance des revenus cloud</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La demande en services cloud (AWS, Azure, GCP) reste insatiable, avec une croissance annuelle à deux chiffres soutenue.</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des marchés adjacents</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Les acteurs technologiques pénètrent de nouveaux segments (santé, finance, automobile) via des acquisitions stratégiques.</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Concurrence accrue en IA</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L'entrée de nouveaux acteurs (startups, hyperscalers chinois) pourrait fragmenter les parts de marché.</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Ralentissement des dépenses IT</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Un contexte macroéconomique dégradé (récession, inflation) pourrait freiner les budgets des entreprises en logiciels.</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76/100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se situe en phase de maturité avancée avec des poches de croissance disruptive (IA, cloud), mais des signes de surchauffe sur certains segments.</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A82020"/>
                </a:solidFill>
              </a:rPr>
              <a:t>Regime : Bear</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34%  (Moderee)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+97.3 %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+72.6 %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+23.8 %</a:t>
                      </a:r>
                    </a:p>
                  </a:txBody>
                  <a:tcPr>
                    <a:noFill/>
                  </a:tcPr>
                </a:tc>
                <a:tc>
                  <a:txBody>
                    <a:bodyPr/>
                    <a:lstStyle/>
                    <a:p>
                      <a:pPr algn="ctr"/>
                      <a:r>
                        <a:rPr sz="750" b="0">
                          <a:solidFill>
                            <a:srgbClr val="1A1A1A"/>
                          </a:solidFill>
                        </a:rPr>
                        <a:t>+9.0 %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+25.8 %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-1.0 %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+16.4 %</a:t>
                      </a:r>
                    </a:p>
                  </a:txBody>
                  <a:tcPr>
                    <a:solidFill>
                      <a:srgbClr val="F5F7FA"/>
                    </a:solidFill>
                  </a:tcPr>
                </a:tc>
                <a:tc>
                  <a:txBody>
                    <a:bodyPr/>
                    <a:lstStyle/>
                    <a:p>
                      <a:pPr algn="ctr"/>
                      <a:r>
                        <a:rPr sz="750" b="0">
                          <a:solidFill>
                            <a:srgbClr val="1A1A1A"/>
                          </a:solidFill>
                        </a:rPr>
                        <a:t>+103.6 %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+5.8 %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+124.1 %</a:t>
                      </a:r>
                    </a:p>
                  </a:txBody>
                  <a:tcPr>
                    <a:solidFill>
                      <a:srgbClr val="F5F7FA"/>
                    </a:solidFill>
                  </a:tcPr>
                </a:tc>
              </a:tr>
            </a:tbl>
          </a:graphicData>
        </a:graphic>
      </p:graphicFrame>
      <p:sp>
        <p:nvSpPr>
          <p:cNvPr id="16" name="Rectangle 15"/>
          <p:cNvSpPr/>
          <p:nvPr/>
        </p:nvSpPr>
        <p:spPr>
          <a:xfrm>
            <a:off x="324000" y="28943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943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948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200399"/>
            <a:ext cx="8280000" cy="126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Top 25 par score FinSight</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(31.7x) soutenue par 71.1 % de marge brute.
AVGO se positionne en zone Opportunite — EV/EBITDA de 4.3x sous la médiane sectorielle de 21.7x.
La médiane sectorielle ressort a 21.7x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22</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8584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58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2876400"/>
            <a:ext cx="8352000" cy="216000"/>
          </a:xfrm>
          <a:prstGeom prst="rect">
            <a:avLst/>
          </a:prstGeom>
          <a:noFill/>
        </p:spPr>
        <p:txBody>
          <a:bodyPr wrap="square">
            <a:spAutoFit/>
          </a:bodyPr>
          <a:lstStyle/>
          <a:p>
            <a:pPr algn="l"/>
            <a:r>
              <a:rPr sz="750" b="1" i="0">
                <a:solidFill>
                  <a:srgbClr val="FFFFFF"/>
                </a:solidFill>
              </a:rPr>
              <a:t>SYNTHESE SCORES  ·  Score &gt;= 75 = fort  ·  50-74 = moyen  ·  &lt; 50 = faible  ·  Ponderations : Value / Growth / Quality / Momentum = 25 % chacun</a:t>
            </a:r>
          </a:p>
        </p:txBody>
      </p:sp>
      <p:sp>
        <p:nvSpPr>
          <p:cNvPr id="19" name="TextBox 18"/>
          <p:cNvSpPr txBox="1"/>
          <p:nvPr/>
        </p:nvSpPr>
        <p:spPr>
          <a:xfrm>
            <a:off x="396000" y="3164400"/>
            <a:ext cx="8352000" cy="1260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Value=11, Growth=25, Quality=25, Momentum=25. La dispersion des scores entre les 8 societes reflete des profils heterogenes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357</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23.6x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Les dépenses en infrastructures cloud et en puces spécialisées (GPU/TPU) explosent, dopant les revenus des leaders comme NVIDIA et Alphabet.</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Les enquêtes et amendes potentielles (ex : Digital Markets Act en Europe) pourraient peser sur les marges des géants technologiques.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31.7x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Les plateformes comme Meta et Google renforcent leurs revenus publicitaires grâce à l'amélioration des algorithmes de ciblage.</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Les investissements massifs en IA et en semi-conducteurs pourraient ne pas se traduire par des retours immédiats.</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META</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Meta Platforms,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695</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50.7 %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Les entreprises accélèrent leur migration vers des modèles récurrents, stabilisant les flux de trésorerie.</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Une remontée durable des taux pourrait réduire l'attractivité des valorisations élevées du secteur.</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(21.7x)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2 acteur(s) se detachent nettement du reste du secteur, creant une prime de valorisation significative vs la médiane de 21.7x.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342.0</a:t>
                      </a:r>
                    </a:p>
                  </a:txBody>
                  <a:tcPr>
                    <a:noFill/>
                  </a:tcPr>
                </a:tc>
                <a:tc>
                  <a:txBody>
                    <a:bodyPr/>
                    <a:lstStyle/>
                    <a:p>
                      <a:pPr algn="ctr"/>
                      <a:r>
                        <a:rPr sz="750" b="0">
                          <a:solidFill>
                            <a:srgbClr val="1A1A1A"/>
                          </a:solidFill>
                        </a:rPr>
                        <a:t>&lt; 282.5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202.1</a:t>
                      </a:r>
                    </a:p>
                  </a:txBody>
                  <a:tcPr>
                    <a:solidFill>
                      <a:srgbClr val="F5F7FA"/>
                    </a:solidFill>
                  </a:tcPr>
                </a:tc>
                <a:tc>
                  <a:txBody>
                    <a:bodyPr/>
                    <a:lstStyle/>
                    <a:p>
                      <a:pPr algn="ctr"/>
                      <a:r>
                        <a:rPr sz="750" b="0">
                          <a:solidFill>
                            <a:srgbClr val="1A1A1A"/>
                          </a:solidFill>
                        </a:rPr>
                        <a:t>&lt; 167.0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666.1</a:t>
                      </a:r>
                    </a:p>
                  </a:txBody>
                  <a:tcPr>
                    <a:noFill/>
                  </a:tcPr>
                </a:tc>
                <a:tc>
                  <a:txBody>
                    <a:bodyPr/>
                    <a:lstStyle/>
                    <a:p>
                      <a:pPr algn="ctr"/>
                      <a:r>
                        <a:rPr sz="750" b="0">
                          <a:solidFill>
                            <a:srgbClr val="1A1A1A"/>
                          </a:solidFill>
                        </a:rPr>
                        <a:t>&lt; 550.3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294.0</a:t>
                      </a:r>
                    </a:p>
                  </a:txBody>
                  <a:tcPr>
                    <a:solidFill>
                      <a:srgbClr val="F5F7FA"/>
                    </a:solidFill>
                  </a:tcPr>
                </a:tc>
                <a:tc>
                  <a:txBody>
                    <a:bodyPr/>
                    <a:lstStyle/>
                    <a:p>
                      <a:pPr algn="ctr"/>
                      <a:r>
                        <a:rPr sz="750" b="0">
                          <a:solidFill>
                            <a:srgbClr val="1A1A1A"/>
                          </a:solidFill>
                        </a:rPr>
                        <a:t>&lt; 242.8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424.8</a:t>
                      </a:r>
                    </a:p>
                  </a:txBody>
                  <a:tcPr>
                    <a:noFill/>
                  </a:tcPr>
                </a:tc>
                <a:tc>
                  <a:txBody>
                    <a:bodyPr/>
                    <a:lstStyle/>
                    <a:p>
                      <a:pPr algn="ctr"/>
                      <a:r>
                        <a:rPr sz="750" b="0">
                          <a:solidFill>
                            <a:srgbClr val="1A1A1A"/>
                          </a:solidFill>
                        </a:rPr>
                        <a:t>&lt; 350.9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360.5</a:t>
                      </a:r>
                    </a:p>
                  </a:txBody>
                  <a:tcPr>
                    <a:solidFill>
                      <a:srgbClr val="F5F7FA"/>
                    </a:solidFill>
                  </a:tcPr>
                </a:tc>
                <a:tc>
                  <a:txBody>
                    <a:bodyPr/>
                    <a:lstStyle/>
                    <a:p>
                      <a:pPr algn="ctr"/>
                      <a:r>
                        <a:rPr sz="750" b="0">
                          <a:solidFill>
                            <a:srgbClr val="1A1A1A"/>
                          </a:solidFill>
                        </a:rPr>
                        <a:t>&lt; 297.8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167.0</a:t>
                      </a:r>
                    </a:p>
                  </a:txBody>
                  <a:tcPr>
                    <a:noFill/>
                  </a:tcPr>
                </a:tc>
                <a:tc>
                  <a:txBody>
                    <a:bodyPr/>
                    <a:lstStyle/>
                    <a:p>
                      <a:pPr algn="ctr"/>
                      <a:r>
                        <a:rPr sz="750" b="0">
                          <a:solidFill>
                            <a:srgbClr val="1A1A1A"/>
                          </a:solidFill>
                        </a:rPr>
                        <a:t>&lt; 138.0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241.7</a:t>
                      </a:r>
                    </a:p>
                  </a:txBody>
                  <a:tcPr>
                    <a:solidFill>
                      <a:srgbClr val="F5F7FA"/>
                    </a:solidFill>
                  </a:tcPr>
                </a:tc>
                <a:tc>
                  <a:txBody>
                    <a:bodyPr/>
                    <a:lstStyle/>
                    <a:p>
                      <a:pPr algn="ctr"/>
                      <a:r>
                        <a:rPr sz="750" b="0">
                          <a:solidFill>
                            <a:srgbClr val="1A1A1A"/>
                          </a:solidFill>
                        </a:rPr>
                        <a:t>&lt; 199.7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50000"/>
            <a:ext cx="8496000" cy="126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50000"/>
            <a:ext cx="36000" cy="12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78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66000"/>
            <a:ext cx="8316000" cy="1026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Régulation antitrust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Les enquêtes et amendes potentielles (ex : Digital Markets Act en Europe) pourraient peser sur les marges des géants technologiques.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Cycles de R&amp;D coûteux</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Les investissements massifs en IA et en semi-conducteurs pourraient ne pas se traduire par des retours immédiats.</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Sensibilité aux taux d'intérêt</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Une remontée durable des taux pourrait réduire l'attractivité des valorisations élevées du secteur.</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confirmee — 2 trimestres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61 — degradation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Revision baissiere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Reglementaire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80000"/>
            <a:ext cx="8496000" cy="198000"/>
          </a:xfrm>
          <a:prstGeom prst="rect">
            <a:avLst/>
          </a:prstGeom>
          <a:noFill/>
        </p:spPr>
        <p:txBody>
          <a:bodyPr wrap="square">
            <a:spAutoFit/>
          </a:bodyPr>
          <a:lstStyle/>
          <a:p>
            <a:pPr algn="l"/>
            <a:r>
              <a:rPr sz="850" b="1" i="0">
                <a:solidFill>
                  <a:srgbClr val="1B3A6B"/>
                </a:solidFill>
              </a:rPr>
              <a:t>Sante financiere agregee du secteur</a:t>
            </a:r>
          </a:p>
        </p:txBody>
      </p:sp>
      <p:sp>
        <p:nvSpPr>
          <p:cNvPr id="30" name="Rectangle 29"/>
          <p:cNvSpPr/>
          <p:nvPr/>
        </p:nvSpPr>
        <p:spPr>
          <a:xfrm>
            <a:off x="324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96000"/>
            <a:ext cx="36000" cy="55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4014000"/>
            <a:ext cx="2538000" cy="270000"/>
          </a:xfrm>
          <a:prstGeom prst="rect">
            <a:avLst/>
          </a:prstGeom>
          <a:noFill/>
        </p:spPr>
        <p:txBody>
          <a:bodyPr wrap="square">
            <a:spAutoFit/>
          </a:bodyPr>
          <a:lstStyle/>
          <a:p>
            <a:pPr algn="l"/>
            <a:r>
              <a:rPr sz="1800" b="1" i="0">
                <a:solidFill>
                  <a:srgbClr val="1B3A6B"/>
                </a:solidFill>
              </a:rPr>
              <a:t>N/D</a:t>
            </a:r>
          </a:p>
        </p:txBody>
      </p:sp>
      <p:sp>
        <p:nvSpPr>
          <p:cNvPr id="33" name="TextBox 32"/>
          <p:cNvSpPr txBox="1"/>
          <p:nvPr/>
        </p:nvSpPr>
        <p:spPr>
          <a:xfrm>
            <a:off x="413999" y="4284000"/>
            <a:ext cx="2538000" cy="144000"/>
          </a:xfrm>
          <a:prstGeom prst="rect">
            <a:avLst/>
          </a:prstGeom>
          <a:noFill/>
        </p:spPr>
        <p:txBody>
          <a:bodyPr wrap="square">
            <a:spAutoFit/>
          </a:bodyPr>
          <a:lstStyle/>
          <a:p>
            <a:pPr algn="l"/>
            <a:r>
              <a:rPr sz="750" b="0" i="0">
                <a:solidFill>
                  <a:srgbClr val="555555"/>
                </a:solidFill>
              </a:rPr>
              <a:t>ND/EBITDA median</a:t>
            </a:r>
          </a:p>
        </p:txBody>
      </p:sp>
      <p:sp>
        <p:nvSpPr>
          <p:cNvPr id="34" name="TextBox 33"/>
          <p:cNvSpPr txBox="1"/>
          <p:nvPr/>
        </p:nvSpPr>
        <p:spPr>
          <a:xfrm>
            <a:off x="413999" y="4428000"/>
            <a:ext cx="2538000" cy="125999"/>
          </a:xfrm>
          <a:prstGeom prst="rect">
            <a:avLst/>
          </a:prstGeom>
          <a:noFill/>
        </p:spPr>
        <p:txBody>
          <a:bodyPr wrap="square">
            <a:spAutoFit/>
          </a:bodyPr>
          <a:lstStyle/>
          <a:p>
            <a:pPr algn="l"/>
            <a:r>
              <a:rPr sz="700" b="0" i="0">
                <a:solidFill>
                  <a:srgbClr val="AAAAAA"/>
                </a:solidFill>
              </a:rPr>
              <a:t>levier sectoriel</a:t>
            </a:r>
          </a:p>
        </p:txBody>
      </p:sp>
      <p:sp>
        <p:nvSpPr>
          <p:cNvPr id="35" name="Rectangle 34"/>
          <p:cNvSpPr/>
          <p:nvPr/>
        </p:nvSpPr>
        <p:spPr>
          <a:xfrm>
            <a:off x="3276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96000"/>
            <a:ext cx="36000" cy="55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4014000"/>
            <a:ext cx="2538000" cy="270000"/>
          </a:xfrm>
          <a:prstGeom prst="rect">
            <a:avLst/>
          </a:prstGeom>
          <a:noFill/>
        </p:spPr>
        <p:txBody>
          <a:bodyPr wrap="square">
            <a:spAutoFit/>
          </a:bodyPr>
          <a:lstStyle/>
          <a:p>
            <a:pPr algn="l"/>
            <a:r>
              <a:rPr sz="1800" b="1" i="0">
                <a:solidFill>
                  <a:srgbClr val="1B3A6B"/>
                </a:solidFill>
              </a:rPr>
              <a:t>1.5%</a:t>
            </a:r>
          </a:p>
        </p:txBody>
      </p:sp>
      <p:sp>
        <p:nvSpPr>
          <p:cNvPr id="38" name="TextBox 37"/>
          <p:cNvSpPr txBox="1"/>
          <p:nvPr/>
        </p:nvSpPr>
        <p:spPr>
          <a:xfrm>
            <a:off x="3366000" y="4284000"/>
            <a:ext cx="2538000" cy="144000"/>
          </a:xfrm>
          <a:prstGeom prst="rect">
            <a:avLst/>
          </a:prstGeom>
          <a:noFill/>
        </p:spPr>
        <p:txBody>
          <a:bodyPr wrap="square">
            <a:spAutoFit/>
          </a:bodyPr>
          <a:lstStyle/>
          <a:p>
            <a:pPr algn="l"/>
            <a:r>
              <a:rPr sz="750" b="0" i="0">
                <a:solidFill>
                  <a:srgbClr val="555555"/>
                </a:solidFill>
              </a:rPr>
              <a:t>FCF Yield median</a:t>
            </a:r>
          </a:p>
        </p:txBody>
      </p:sp>
      <p:sp>
        <p:nvSpPr>
          <p:cNvPr id="39" name="TextBox 38"/>
          <p:cNvSpPr txBox="1"/>
          <p:nvPr/>
        </p:nvSpPr>
        <p:spPr>
          <a:xfrm>
            <a:off x="3366000" y="4428000"/>
            <a:ext cx="2538000" cy="125999"/>
          </a:xfrm>
          <a:prstGeom prst="rect">
            <a:avLst/>
          </a:prstGeom>
          <a:noFill/>
        </p:spPr>
        <p:txBody>
          <a:bodyPr wrap="square">
            <a:spAutoFit/>
          </a:bodyPr>
          <a:lstStyle/>
          <a:p>
            <a:pPr algn="l"/>
            <a:r>
              <a:rPr sz="700" b="0" i="0">
                <a:solidFill>
                  <a:srgbClr val="AAAAAA"/>
                </a:solidFill>
              </a:rPr>
              <a:t>generation cash</a:t>
            </a:r>
          </a:p>
        </p:txBody>
      </p:sp>
      <p:sp>
        <p:nvSpPr>
          <p:cNvPr id="40" name="Rectangle 39"/>
          <p:cNvSpPr/>
          <p:nvPr/>
        </p:nvSpPr>
        <p:spPr>
          <a:xfrm>
            <a:off x="6228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96000"/>
            <a:ext cx="36000" cy="55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4014000"/>
            <a:ext cx="2538000" cy="270000"/>
          </a:xfrm>
          <a:prstGeom prst="rect">
            <a:avLst/>
          </a:prstGeom>
          <a:noFill/>
        </p:spPr>
        <p:txBody>
          <a:bodyPr wrap="square">
            <a:spAutoFit/>
          </a:bodyPr>
          <a:lstStyle/>
          <a:p>
            <a:pPr algn="l"/>
            <a:r>
              <a:rPr sz="1800" b="1" i="0">
                <a:solidFill>
                  <a:srgbClr val="1B3A6B"/>
                </a:solidFill>
              </a:rPr>
              <a:t>75/100</a:t>
            </a:r>
          </a:p>
        </p:txBody>
      </p:sp>
      <p:sp>
        <p:nvSpPr>
          <p:cNvPr id="43" name="TextBox 42"/>
          <p:cNvSpPr txBox="1"/>
          <p:nvPr/>
        </p:nvSpPr>
        <p:spPr>
          <a:xfrm>
            <a:off x="6318000" y="4284000"/>
            <a:ext cx="2538000" cy="144000"/>
          </a:xfrm>
          <a:prstGeom prst="rect">
            <a:avLst/>
          </a:prstGeom>
          <a:noFill/>
        </p:spPr>
        <p:txBody>
          <a:bodyPr wrap="square">
            <a:spAutoFit/>
          </a:bodyPr>
          <a:lstStyle/>
          <a:p>
            <a:pPr algn="l"/>
            <a:r>
              <a:rPr sz="750" b="0" i="0">
                <a:solidFill>
                  <a:srgbClr val="555555"/>
                </a:solidFill>
              </a:rPr>
              <a:t>Score sante moyen</a:t>
            </a:r>
          </a:p>
        </p:txBody>
      </p:sp>
      <p:sp>
        <p:nvSpPr>
          <p:cNvPr id="44" name="TextBox 43"/>
          <p:cNvSpPr txBox="1"/>
          <p:nvPr/>
        </p:nvSpPr>
        <p:spPr>
          <a:xfrm>
            <a:off x="6318000" y="4428000"/>
            <a:ext cx="2538000" cy="125999"/>
          </a:xfrm>
          <a:prstGeom prst="rect">
            <a:avLst/>
          </a:prstGeom>
          <a:noFill/>
        </p:spPr>
        <p:txBody>
          <a:bodyPr wrap="square">
            <a:spAutoFit/>
          </a:bodyPr>
          <a:lstStyle/>
          <a:p>
            <a:pPr algn="l"/>
            <a:r>
              <a:rPr sz="700" b="0" i="0">
                <a:solidFill>
                  <a:srgbClr val="AAAAAA"/>
                </a:solidFill>
              </a:rPr>
              <a:t>solidite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accélérée de l'IA générative — Les dépenses en infrastructures cloud et en puces spécialisées (GPU/TPU) explosent, dopant les revenus des leaders comme NVIDIA et Alphabet.</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Régulation antitrust — Les enquêtes et amendes potentielles (ex : Digital Markets Act en Europe) pourraient peser sur les marges des géants technologiques.</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Technology (S&amp;P 500) ressort neutre (0.00), avec 25% d'articles a tonalité positive sur 8 analysés. La dispersion inter-valeurs est prononcée : NVDA (+0.00) porte la composante haussière tandis que AMD (+0.00) reflète les pressions structurelles. Cette hétérogénéité valide une approche sélective plutôt que directionnelle sur le secteur — le sentiment moyen masque des situations fondamentalement différentes entre leaders et retardataires. La composante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+124%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MSFT  -1%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125 pts — 7 valeur(s) positives vs 1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