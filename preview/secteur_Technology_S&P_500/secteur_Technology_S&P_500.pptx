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20.5x  ·  Croissance med. : +19.9 %  ·  Marge EBITDA med. : 46.8 %  ·  Score moyen : 75/100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IA Generative</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Modernisation SI Publics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Cloud Hybride Souverainete</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Ralentissement Budgets IT</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Durcissement AI Act</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Pression Tarifaire US/Asie</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20.5x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+27.2 %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regroupe les entreprises actives dans les logiciels, les services informatiques, les semi-conducteurs et les equipements telecom. Porte par la transformation digitale des entreprises et l'adoption de l'IA generative, ce secteur affiche des multiples de valorisation parmi les plus élevés du marche, justifies par des perspectives de croissance supérieures et des marges en expansion.</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IA Generative</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Modernisation SI Publics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Cloud Hybride Souverainete</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Rule of 40</a:t>
                      </a:r>
                    </a:p>
                  </a:txBody>
                  <a:tcPr>
                    <a:noFill/>
                  </a:tcPr>
                </a:tc>
                <a:tc>
                  <a:txBody>
                    <a:bodyPr/>
                    <a:lstStyle/>
                    <a:p>
                      <a:pPr algn="ctr"/>
                      <a:r>
                        <a:rPr sz="750" b="0">
                          <a:solidFill>
                            <a:srgbClr val="1A1A1A"/>
                          </a:solidFill>
                        </a:rPr>
                        <a:t>42</a:t>
                      </a:r>
                    </a:p>
                  </a:txBody>
                  <a:tcPr>
                    <a:noFill/>
                  </a:tcPr>
                </a:tc>
                <a:tc>
                  <a:txBody>
                    <a:bodyPr/>
                    <a:lstStyle/>
                    <a:p>
                      <a:pPr algn="ctr"/>
                      <a:r>
                        <a:rPr sz="750" b="0">
                          <a:solidFill>
                            <a:srgbClr val="1A1A1A"/>
                          </a:solidFill>
                        </a:rPr>
                        <a:t>Sain &gt; 40</a:t>
                      </a:r>
                    </a:p>
                  </a:txBody>
                  <a:tcPr>
                    <a:noFill/>
                  </a:tcPr>
                </a:tc>
              </a:tr>
              <a:tr h="208799">
                <a:tc>
                  <a:txBody>
                    <a:bodyPr/>
                    <a:lstStyle/>
                    <a:p>
                      <a:pPr algn="ctr"/>
                      <a:r>
                        <a:rPr sz="750" b="0">
                          <a:solidFill>
                            <a:srgbClr val="1A1A1A"/>
                          </a:solidFill>
                        </a:rPr>
                        <a:t>NRR median</a:t>
                      </a:r>
                    </a:p>
                  </a:txBody>
                  <a:tcPr>
                    <a:solidFill>
                      <a:srgbClr val="F5F7FA"/>
                    </a:solidFill>
                  </a:tcPr>
                </a:tc>
                <a:tc>
                  <a:txBody>
                    <a:bodyPr/>
                    <a:lstStyle/>
                    <a:p>
                      <a:pPr algn="ctr"/>
                      <a:r>
                        <a:rPr sz="750" b="0">
                          <a:solidFill>
                            <a:srgbClr val="1A1A1A"/>
                          </a:solidFill>
                        </a:rPr>
                        <a:t>108 %</a:t>
                      </a:r>
                    </a:p>
                  </a:txBody>
                  <a:tcPr>
                    <a:solidFill>
                      <a:srgbClr val="F5F7FA"/>
                    </a:solidFill>
                  </a:tcPr>
                </a:tc>
                <a:tc>
                  <a:txBody>
                    <a:bodyPr/>
                    <a:lstStyle/>
                    <a:p>
                      <a:pPr algn="ctr"/>
                      <a:r>
                        <a:rPr sz="750" b="0">
                          <a:solidFill>
                            <a:srgbClr val="1A1A1A"/>
                          </a:solidFill>
                        </a:rPr>
                        <a:t>Retention solide</a:t>
                      </a:r>
                    </a:p>
                  </a:txBody>
                  <a:tcPr>
                    <a:solidFill>
                      <a:srgbClr val="F5F7FA"/>
                    </a:solidFill>
                  </a:tcPr>
                </a:tc>
              </a:tr>
              <a:tr h="208799">
                <a:tc>
                  <a:txBody>
                    <a:bodyPr/>
                    <a:lstStyle/>
                    <a:p>
                      <a:pPr algn="ctr"/>
                      <a:r>
                        <a:rPr sz="750" b="0">
                          <a:solidFill>
                            <a:srgbClr val="1A1A1A"/>
                          </a:solidFill>
                        </a:rPr>
                        <a:t>Cloud Mix</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En hausse</a:t>
                      </a:r>
                    </a:p>
                  </a:txBody>
                  <a:tcPr>
                    <a:noFill/>
                  </a:tcPr>
                </a:tc>
              </a:tr>
              <a:tr h="208799">
                <a:tc>
                  <a:txBody>
                    <a:bodyPr/>
                    <a:lstStyle/>
                    <a:p>
                      <a:pPr algn="ctr"/>
                      <a:r>
                        <a:rPr sz="750" b="0">
                          <a:solidFill>
                            <a:srgbClr val="1A1A1A"/>
                          </a:solidFill>
                        </a:rPr>
                        <a:t>R&amp;D/Rev.</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Investi</a:t>
                      </a:r>
                    </a:p>
                  </a:txBody>
                  <a:tcPr>
                    <a:solidFill>
                      <a:srgbClr val="F5F7FA"/>
                    </a:solidFill>
                  </a:tcPr>
                </a:tc>
              </a:tr>
              <a:tr h="208799">
                <a:tc>
                  <a:txBody>
                    <a:bodyPr/>
                    <a:lstStyle/>
                    <a:p>
                      <a:pPr algn="ctr"/>
                      <a:r>
                        <a:rPr sz="750" b="0">
                          <a:solidFill>
                            <a:srgbClr val="1A1A1A"/>
                          </a:solidFill>
                        </a:rPr>
                        <a:t>ARR Growth</a:t>
                      </a:r>
                    </a:p>
                  </a:txBody>
                  <a:tcPr>
                    <a:noFill/>
                  </a:tcPr>
                </a:tc>
                <a:tc>
                  <a:txBody>
                    <a:bodyPr/>
                    <a:lstStyle/>
                    <a:p>
                      <a:pPr algn="ctr"/>
                      <a:r>
                        <a:rPr sz="750" b="0">
                          <a:solidFill>
                            <a:srgbClr val="1A1A1A"/>
                          </a:solidFill>
                        </a:rPr>
                        <a:t>+24 %</a:t>
                      </a:r>
                    </a:p>
                  </a:txBody>
                  <a:tcPr>
                    <a:noFill/>
                  </a:tcPr>
                </a:tc>
                <a:tc>
                  <a:txBody>
                    <a:bodyPr/>
                    <a:lstStyle/>
                    <a:p>
                      <a:pPr algn="ctr"/>
                      <a:r>
                        <a:rPr sz="750" b="0">
                          <a:solidFill>
                            <a:srgbClr val="1A1A1A"/>
                          </a:solidFill>
                        </a:rPr>
                        <a:t>Acceleration</a:t>
                      </a:r>
                    </a:p>
                  </a:txBody>
                  <a:tcPr>
                    <a:noFill/>
                  </a:tcPr>
                </a:tc>
              </a:tr>
              <a:tr h="208805">
                <a:tc>
                  <a:txBody>
                    <a:bodyPr/>
                    <a:lstStyle/>
                    <a:p>
                      <a:pPr algn="ctr"/>
                      <a:r>
                        <a:rPr sz="750" b="0">
                          <a:solidFill>
                            <a:srgbClr val="1A1A1A"/>
                          </a:solidFill>
                        </a:rPr>
                        <a:t>Churn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8.1x</a:t>
                      </a:r>
                    </a:p>
                  </a:txBody>
                  <a:tcPr>
                    <a:noFill/>
                  </a:tcPr>
                </a:tc>
                <a:tc>
                  <a:txBody>
                    <a:bodyPr/>
                    <a:lstStyle/>
                    <a:p>
                      <a:pPr algn="ctr"/>
                      <a:r>
                        <a:rPr sz="750" b="0">
                          <a:solidFill>
                            <a:srgbClr val="1A1A1A"/>
                          </a:solidFill>
                        </a:rPr>
                        <a:t>25.4x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30.2x</a:t>
                      </a:r>
                    </a:p>
                  </a:txBody>
                  <a:tcPr>
                    <a:solidFill>
                      <a:srgbClr val="F5F7FA"/>
                    </a:solidFill>
                  </a:tcPr>
                </a:tc>
                <a:tc>
                  <a:txBody>
                    <a:bodyPr/>
                    <a:lstStyle/>
                    <a:p>
                      <a:pPr algn="ctr"/>
                      <a:r>
                        <a:rPr sz="750" b="0">
                          <a:solidFill>
                            <a:srgbClr val="1A1A1A"/>
                          </a:solidFill>
                        </a:rPr>
                        <a:t>18.6x</a:t>
                      </a:r>
                    </a:p>
                  </a:txBody>
                  <a:tcPr>
                    <a:solidFill>
                      <a:srgbClr val="F5F7FA"/>
                    </a:solidFill>
                  </a:tcPr>
                </a:tc>
                <a:tc>
                  <a:txBody>
                    <a:bodyPr/>
                    <a:lstStyle/>
                    <a:p>
                      <a:pPr algn="ctr"/>
                      <a:r>
                        <a:rPr sz="750" b="0">
                          <a:solidFill>
                            <a:srgbClr val="1A1A1A"/>
                          </a:solidFill>
                        </a:rPr>
                        <a:t>34.1x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22.3x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13.1x</a:t>
                      </a:r>
                    </a:p>
                  </a:txBody>
                  <a:tcPr>
                    <a:solidFill>
                      <a:srgbClr val="F5F7FA"/>
                    </a:solidFill>
                  </a:tcPr>
                </a:tc>
                <a:tc>
                  <a:txBody>
                    <a:bodyPr/>
                    <a:lstStyle/>
                    <a:p>
                      <a:pPr algn="ctr"/>
                      <a:r>
                        <a:rPr sz="750" b="0">
                          <a:solidFill>
                            <a:srgbClr val="1A1A1A"/>
                          </a:solidFill>
                        </a:rPr>
                        <a:t>6.6x</a:t>
                      </a:r>
                    </a:p>
                  </a:txBody>
                  <a:tcPr>
                    <a:solidFill>
                      <a:srgbClr val="F5F7FA"/>
                    </a:solidFill>
                  </a:tcPr>
                </a:tc>
                <a:tc>
                  <a:txBody>
                    <a:bodyPr/>
                    <a:lstStyle/>
                    <a:p>
                      <a:pPr algn="ctr"/>
                      <a:r>
                        <a:rPr sz="750" b="0">
                          <a:solidFill>
                            <a:srgbClr val="1A1A1A"/>
                          </a:solidFill>
                        </a:rPr>
                        <a:t>22.4x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19.3x</a:t>
                      </a:r>
                    </a:p>
                  </a:txBody>
                  <a:tcPr>
                    <a:noFill/>
                  </a:tcPr>
                </a:tc>
                <a:tc>
                  <a:txBody>
                    <a:bodyPr/>
                    <a:lstStyle/>
                    <a:p>
                      <a:pPr algn="ctr"/>
                      <a:r>
                        <a:rPr sz="750" b="0">
                          <a:solidFill>
                            <a:srgbClr val="1A1A1A"/>
                          </a:solidFill>
                        </a:rPr>
                        <a:t>8.3x</a:t>
                      </a:r>
                    </a:p>
                  </a:txBody>
                  <a:tcPr>
                    <a:noFill/>
                  </a:tcPr>
                </a:tc>
                <a:tc>
                  <a:txBody>
                    <a:bodyPr/>
                    <a:lstStyle/>
                    <a:p>
                      <a:pPr algn="ctr"/>
                      <a:r>
                        <a:rPr sz="750" b="0">
                          <a:solidFill>
                            <a:srgbClr val="1A1A1A"/>
                          </a:solidFill>
                        </a:rPr>
                        <a:t>25.1x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24.0x</a:t>
                      </a:r>
                    </a:p>
                  </a:txBody>
                  <a:tcPr>
                    <a:solidFill>
                      <a:srgbClr val="F5F7FA"/>
                    </a:solidFill>
                  </a:tcPr>
                </a:tc>
                <a:tc>
                  <a:txBody>
                    <a:bodyPr/>
                    <a:lstStyle/>
                    <a:p>
                      <a:pPr algn="ctr"/>
                      <a:r>
                        <a:rPr sz="750" b="0">
                          <a:solidFill>
                            <a:srgbClr val="1A1A1A"/>
                          </a:solidFill>
                        </a:rPr>
                        <a:t>8.4x</a:t>
                      </a:r>
                    </a:p>
                  </a:txBody>
                  <a:tcPr>
                    <a:solidFill>
                      <a:srgbClr val="F5F7FA"/>
                    </a:solidFill>
                  </a:tcPr>
                </a:tc>
                <a:tc>
                  <a:txBody>
                    <a:bodyPr/>
                    <a:lstStyle/>
                    <a:p>
                      <a:pPr algn="ctr"/>
                      <a:r>
                        <a:rPr sz="750" b="0">
                          <a:solidFill>
                            <a:srgbClr val="1A1A1A"/>
                          </a:solidFill>
                        </a:rPr>
                        <a:t>31.5x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4.1x</a:t>
                      </a:r>
                    </a:p>
                  </a:txBody>
                  <a:tcPr>
                    <a:noFill/>
                  </a:tcPr>
                </a:tc>
                <a:tc>
                  <a:txBody>
                    <a:bodyPr/>
                    <a:lstStyle/>
                    <a:p>
                      <a:pPr algn="ctr"/>
                      <a:r>
                        <a:rPr sz="750" b="0">
                          <a:solidFill>
                            <a:srgbClr val="1A1A1A"/>
                          </a:solidFill>
                        </a:rPr>
                        <a:t>2.2x</a:t>
                      </a:r>
                    </a:p>
                  </a:txBody>
                  <a:tcPr>
                    <a:noFill/>
                  </a:tcPr>
                </a:tc>
                <a:tc>
                  <a:txBody>
                    <a:bodyPr/>
                    <a:lstStyle/>
                    <a:p>
                      <a:pPr algn="ctr"/>
                      <a:r>
                        <a:rPr sz="750" b="0">
                          <a:solidFill>
                            <a:srgbClr val="1A1A1A"/>
                          </a:solidFill>
                        </a:rPr>
                        <a:t>58.5x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47.9x</a:t>
                      </a:r>
                    </a:p>
                  </a:txBody>
                  <a:tcPr>
                    <a:solidFill>
                      <a:srgbClr val="F5F7FA"/>
                    </a:solidFill>
                  </a:tcPr>
                </a:tc>
                <a:tc>
                  <a:txBody>
                    <a:bodyPr/>
                    <a:lstStyle/>
                    <a:p>
                      <a:pPr algn="ctr"/>
                      <a:r>
                        <a:rPr sz="750" b="0">
                          <a:solidFill>
                            <a:srgbClr val="1A1A1A"/>
                          </a:solidFill>
                        </a:rPr>
                        <a:t>9.3x</a:t>
                      </a:r>
                    </a:p>
                  </a:txBody>
                  <a:tcPr>
                    <a:solidFill>
                      <a:srgbClr val="F5F7FA"/>
                    </a:solidFill>
                  </a:tcPr>
                </a:tc>
                <a:tc>
                  <a:txBody>
                    <a:bodyPr/>
                    <a:lstStyle/>
                    <a:p>
                      <a:pPr algn="ctr"/>
                      <a:r>
                        <a:rPr sz="750" b="0">
                          <a:solidFill>
                            <a:srgbClr val="1A1A1A"/>
                          </a:solidFill>
                        </a:rPr>
                        <a:t>77.4x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20.5x</a:t>
                      </a:r>
                    </a:p>
                  </a:txBody>
                  <a:tcPr>
                    <a:noFill/>
                  </a:tcPr>
                </a:tc>
                <a:tc>
                  <a:txBody>
                    <a:bodyPr/>
                    <a:lstStyle/>
                    <a:p>
                      <a:pPr algn="ctr"/>
                      <a:r>
                        <a:rPr sz="750" b="0">
                          <a:solidFill>
                            <a:srgbClr val="1A1A1A"/>
                          </a:solidFill>
                        </a:rPr>
                        <a:t>8.4x</a:t>
                      </a:r>
                    </a:p>
                  </a:txBody>
                  <a:tcPr>
                    <a:noFill/>
                  </a:tcPr>
                </a:tc>
                <a:tc>
                  <a:txBody>
                    <a:bodyPr/>
                    <a:lstStyle/>
                    <a:p>
                      <a:pPr algn="ctr"/>
                      <a:r>
                        <a:rPr sz="750" b="0">
                          <a:solidFill>
                            <a:srgbClr val="1A1A1A"/>
                          </a:solidFill>
                        </a:rPr>
                        <a:t>28.4x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20.5x LTM. Alphabet Inc. (21.7x)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Intelligence Artificielle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Adoption entreprises +42 % en 2026 — premier driver de depenses IT</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Cloud Hybride Souverain</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Contraintes souverainete données — migration vers solutions EU acceleree par NIS2</a:t>
            </a:r>
          </a:p>
        </p:txBody>
      </p:sp>
      <p:sp>
        <p:nvSpPr>
          <p:cNvPr id="25" name="Rectangle 24"/>
          <p:cNvSpPr/>
          <p:nvPr/>
        </p:nvSpPr>
        <p:spPr>
          <a:xfrm>
            <a:off x="324000" y="2736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1A7A4A"/>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Modernisation SI Publics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Plans gouvernementaux 2026-2028 — budgets numeriques confirmes 6 Etats EU</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Sensibilite Taux</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Compression multiples si taux &gt; 4,5 % — impact modere sur FCF structurel</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75/100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en phase d'expansion | porté par l'IA et le cloud souverain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274.34</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+79.5 %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167.52</a:t>
                      </a:r>
                    </a:p>
                  </a:txBody>
                  <a:tcPr>
                    <a:solidFill>
                      <a:srgbClr val="F5F7FA"/>
                    </a:solidFill>
                  </a:tcPr>
                </a:tc>
                <a:tc>
                  <a:txBody>
                    <a:bodyPr/>
                    <a:lstStyle/>
                    <a:p>
                      <a:pPr algn="ctr"/>
                      <a:r>
                        <a:rPr sz="750" b="0">
                          <a:solidFill>
                            <a:srgbClr val="1A1A1A"/>
                          </a:solidFill>
                        </a:rPr>
                        <a:t>30.2x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+42.2 %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356.77</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-2.9 %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525.72</a:t>
                      </a:r>
                    </a:p>
                  </a:txBody>
                  <a:tcPr>
                    <a:solidFill>
                      <a:srgbClr val="F5F7FA"/>
                    </a:solidFill>
                  </a:tcPr>
                </a:tc>
                <a:tc>
                  <a:txBody>
                    <a:bodyPr/>
                    <a:lstStyle/>
                    <a:p>
                      <a:pPr algn="ctr"/>
                      <a:r>
                        <a:rPr sz="750" b="0">
                          <a:solidFill>
                            <a:srgbClr val="1A1A1A"/>
                          </a:solidFill>
                        </a:rPr>
                        <a:t>13.1x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-4.1 %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139.66</a:t>
                      </a:r>
                    </a:p>
                  </a:txBody>
                  <a:tcPr>
                    <a:noFill/>
                  </a:tcPr>
                </a:tc>
                <a:tc>
                  <a:txBody>
                    <a:bodyPr/>
                    <a:lstStyle/>
                    <a:p>
                      <a:pPr algn="ctr"/>
                      <a:r>
                        <a:rPr sz="750" b="0">
                          <a:solidFill>
                            <a:srgbClr val="1A1A1A"/>
                          </a:solidFill>
                        </a:rPr>
                        <a:t>19.3x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-3.4 %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248.8</a:t>
                      </a:r>
                    </a:p>
                  </a:txBody>
                  <a:tcPr>
                    <a:solidFill>
                      <a:srgbClr val="F5F7FA"/>
                    </a:solidFill>
                  </a:tcPr>
                </a:tc>
                <a:tc>
                  <a:txBody>
                    <a:bodyPr/>
                    <a:lstStyle/>
                    <a:p>
                      <a:pPr algn="ctr"/>
                      <a:r>
                        <a:rPr sz="750" b="0">
                          <a:solidFill>
                            <a:srgbClr val="1A1A1A"/>
                          </a:solidFill>
                        </a:rPr>
                        <a:t>24.0x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+12.3 %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300.68</a:t>
                      </a:r>
                    </a:p>
                  </a:txBody>
                  <a:tcPr>
                    <a:noFill/>
                  </a:tcPr>
                </a:tc>
                <a:tc>
                  <a:txBody>
                    <a:bodyPr/>
                    <a:lstStyle/>
                    <a:p>
                      <a:pPr algn="ctr"/>
                      <a:r>
                        <a:rPr sz="750" b="0">
                          <a:solidFill>
                            <a:srgbClr val="1A1A1A"/>
                          </a:solidFill>
                        </a:rPr>
                        <a:t>4.1x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+16.4 %</a:t>
                      </a:r>
                    </a:p>
                  </a:txBody>
                  <a:tcPr>
                    <a:noFill/>
                  </a:tcPr>
                </a:tc>
                <a:tc>
                  <a:txBody>
                    <a:bodyPr/>
                    <a:lstStyle/>
                    <a:p>
                      <a:pPr algn="ctr"/>
                      <a:r>
                        <a:rPr sz="750" b="0">
                          <a:solidFill>
                            <a:srgbClr val="1A1A1A"/>
                          </a:solidFill>
                        </a:rPr>
                        <a:t>+62.4 %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201.99</a:t>
                      </a:r>
                    </a:p>
                  </a:txBody>
                  <a:tcPr>
                    <a:solidFill>
                      <a:srgbClr val="F5F7FA"/>
                    </a:solidFill>
                  </a:tcPr>
                </a:tc>
                <a:tc>
                  <a:txBody>
                    <a:bodyPr/>
                    <a:lstStyle/>
                    <a:p>
                      <a:pPr algn="ctr"/>
                      <a:r>
                        <a:rPr sz="750" b="0">
                          <a:solidFill>
                            <a:srgbClr val="1A1A1A"/>
                          </a:solidFill>
                        </a:rPr>
                        <a:t>47.9x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+76.8 %</a:t>
                      </a:r>
                    </a:p>
                  </a:txBody>
                  <a:tcPr>
                    <a:solidFill>
                      <a:srgbClr val="F5F7FA"/>
                    </a:solidFill>
                  </a:tcPr>
                </a:tc>
              </a:tr>
            </a:tbl>
          </a:graphicData>
        </a:graphic>
      </p:graphicFrame>
      <p:sp>
        <p:nvSpPr>
          <p:cNvPr id="16" name="Rectangle 15"/>
          <p:cNvSpPr/>
          <p:nvPr/>
        </p:nvSpPr>
        <p:spPr>
          <a:xfrm>
            <a:off x="324000" y="28224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224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76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128400"/>
            <a:ext cx="8280000" cy="90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(30.2x) soutenue par 71.1 % de marge brute.
AVGO se positionne en zone Opportunite — EV/EBITDA de 4.1x sous la médiane sectorielle de 20.5x.
La médiane sectorielle ressort a 20.5x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18</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11</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9</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23</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224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28404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Pondération : Value 25 % · Growth 25 % · Quality 25 % · Momentum 25 %</a:t>
            </a:r>
          </a:p>
        </p:txBody>
      </p:sp>
      <p:sp>
        <p:nvSpPr>
          <p:cNvPr id="18" name="Rectangle 17"/>
          <p:cNvSpPr/>
          <p:nvPr/>
        </p:nvSpPr>
        <p:spPr>
          <a:xfrm>
            <a:off x="324000" y="31104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110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128400"/>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3398400"/>
            <a:ext cx="8352000" cy="684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Value=12, Growth=25, Quality=25, Momentum=23.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329</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21.7x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201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30.2x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MSFT</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Microsoft Corporatio</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428</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15.3x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57.4 %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(20.5x)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20.5x.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274.34</a:t>
                      </a:r>
                    </a:p>
                  </a:txBody>
                  <a:tcPr>
                    <a:noFill/>
                  </a:tcPr>
                </a:tc>
                <a:tc>
                  <a:txBody>
                    <a:bodyPr/>
                    <a:lstStyle/>
                    <a:p>
                      <a:pPr algn="ctr"/>
                      <a:r>
                        <a:rPr sz="750" b="0">
                          <a:solidFill>
                            <a:srgbClr val="1A1A1A"/>
                          </a:solidFill>
                        </a:rPr>
                        <a:t>315.5</a:t>
                      </a:r>
                    </a:p>
                  </a:txBody>
                  <a:tcPr>
                    <a:noFill/>
                  </a:tcPr>
                </a:tc>
                <a:tc>
                  <a:txBody>
                    <a:bodyPr/>
                    <a:lstStyle/>
                    <a:p>
                      <a:pPr algn="ctr"/>
                      <a:r>
                        <a:rPr sz="750" b="0">
                          <a:solidFill>
                            <a:srgbClr val="1A1A1A"/>
                          </a:solidFill>
                        </a:rPr>
                        <a:t>&lt; 260.6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167.52</a:t>
                      </a:r>
                    </a:p>
                  </a:txBody>
                  <a:tcPr>
                    <a:solidFill>
                      <a:srgbClr val="F5F7FA"/>
                    </a:solidFill>
                  </a:tcPr>
                </a:tc>
                <a:tc>
                  <a:txBody>
                    <a:bodyPr/>
                    <a:lstStyle/>
                    <a:p>
                      <a:pPr algn="ctr"/>
                      <a:r>
                        <a:rPr sz="750" b="0">
                          <a:solidFill>
                            <a:srgbClr val="1A1A1A"/>
                          </a:solidFill>
                        </a:rPr>
                        <a:t>192.6</a:t>
                      </a:r>
                    </a:p>
                  </a:txBody>
                  <a:tcPr>
                    <a:solidFill>
                      <a:srgbClr val="F5F7FA"/>
                    </a:solidFill>
                  </a:tcPr>
                </a:tc>
                <a:tc>
                  <a:txBody>
                    <a:bodyPr/>
                    <a:lstStyle/>
                    <a:p>
                      <a:pPr algn="ctr"/>
                      <a:r>
                        <a:rPr sz="750" b="0">
                          <a:solidFill>
                            <a:srgbClr val="1A1A1A"/>
                          </a:solidFill>
                        </a:rPr>
                        <a:t>&lt; 159.1</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356.77</a:t>
                      </a:r>
                    </a:p>
                  </a:txBody>
                  <a:tcPr>
                    <a:noFill/>
                  </a:tcPr>
                </a:tc>
                <a:tc>
                  <a:txBody>
                    <a:bodyPr/>
                    <a:lstStyle/>
                    <a:p>
                      <a:pPr algn="ctr"/>
                      <a:r>
                        <a:rPr sz="750" b="0">
                          <a:solidFill>
                            <a:srgbClr val="1A1A1A"/>
                          </a:solidFill>
                        </a:rPr>
                        <a:t>410.3</a:t>
                      </a:r>
                    </a:p>
                  </a:txBody>
                  <a:tcPr>
                    <a:noFill/>
                  </a:tcPr>
                </a:tc>
                <a:tc>
                  <a:txBody>
                    <a:bodyPr/>
                    <a:lstStyle/>
                    <a:p>
                      <a:pPr algn="ctr"/>
                      <a:r>
                        <a:rPr sz="750" b="0">
                          <a:solidFill>
                            <a:srgbClr val="1A1A1A"/>
                          </a:solidFill>
                        </a:rPr>
                        <a:t>&lt; 338.9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525.72</a:t>
                      </a:r>
                    </a:p>
                  </a:txBody>
                  <a:tcPr>
                    <a:solidFill>
                      <a:srgbClr val="F5F7FA"/>
                    </a:solidFill>
                  </a:tcPr>
                </a:tc>
                <a:tc>
                  <a:txBody>
                    <a:bodyPr/>
                    <a:lstStyle/>
                    <a:p>
                      <a:pPr algn="ctr"/>
                      <a:r>
                        <a:rPr sz="750" b="0">
                          <a:solidFill>
                            <a:srgbClr val="1A1A1A"/>
                          </a:solidFill>
                        </a:rPr>
                        <a:t>604.6</a:t>
                      </a:r>
                    </a:p>
                  </a:txBody>
                  <a:tcPr>
                    <a:solidFill>
                      <a:srgbClr val="F5F7FA"/>
                    </a:solidFill>
                  </a:tcPr>
                </a:tc>
                <a:tc>
                  <a:txBody>
                    <a:bodyPr/>
                    <a:lstStyle/>
                    <a:p>
                      <a:pPr algn="ctr"/>
                      <a:r>
                        <a:rPr sz="750" b="0">
                          <a:solidFill>
                            <a:srgbClr val="1A1A1A"/>
                          </a:solidFill>
                        </a:rPr>
                        <a:t>&lt; 499.4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139.66</a:t>
                      </a:r>
                    </a:p>
                  </a:txBody>
                  <a:tcPr>
                    <a:noFill/>
                  </a:tcPr>
                </a:tc>
                <a:tc>
                  <a:txBody>
                    <a:bodyPr/>
                    <a:lstStyle/>
                    <a:p>
                      <a:pPr algn="ctr"/>
                      <a:r>
                        <a:rPr sz="750" b="0">
                          <a:solidFill>
                            <a:srgbClr val="1A1A1A"/>
                          </a:solidFill>
                        </a:rPr>
                        <a:t>160.6</a:t>
                      </a:r>
                    </a:p>
                  </a:txBody>
                  <a:tcPr>
                    <a:noFill/>
                  </a:tcPr>
                </a:tc>
                <a:tc>
                  <a:txBody>
                    <a:bodyPr/>
                    <a:lstStyle/>
                    <a:p>
                      <a:pPr algn="ctr"/>
                      <a:r>
                        <a:rPr sz="750" b="0">
                          <a:solidFill>
                            <a:srgbClr val="1A1A1A"/>
                          </a:solidFill>
                        </a:rPr>
                        <a:t>&lt; 132.7</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248.8</a:t>
                      </a:r>
                    </a:p>
                  </a:txBody>
                  <a:tcPr>
                    <a:solidFill>
                      <a:srgbClr val="F5F7FA"/>
                    </a:solidFill>
                  </a:tcPr>
                </a:tc>
                <a:tc>
                  <a:txBody>
                    <a:bodyPr/>
                    <a:lstStyle/>
                    <a:p>
                      <a:pPr algn="ctr"/>
                      <a:r>
                        <a:rPr sz="750" b="0">
                          <a:solidFill>
                            <a:srgbClr val="1A1A1A"/>
                          </a:solidFill>
                        </a:rPr>
                        <a:t>286.1</a:t>
                      </a:r>
                    </a:p>
                  </a:txBody>
                  <a:tcPr>
                    <a:solidFill>
                      <a:srgbClr val="F5F7FA"/>
                    </a:solidFill>
                  </a:tcPr>
                </a:tc>
                <a:tc>
                  <a:txBody>
                    <a:bodyPr/>
                    <a:lstStyle/>
                    <a:p>
                      <a:pPr algn="ctr"/>
                      <a:r>
                        <a:rPr sz="750" b="0">
                          <a:solidFill>
                            <a:srgbClr val="1A1A1A"/>
                          </a:solidFill>
                        </a:rPr>
                        <a:t>&lt; 236.4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300.68</a:t>
                      </a:r>
                    </a:p>
                  </a:txBody>
                  <a:tcPr>
                    <a:noFill/>
                  </a:tcPr>
                </a:tc>
                <a:tc>
                  <a:txBody>
                    <a:bodyPr/>
                    <a:lstStyle/>
                    <a:p>
                      <a:pPr algn="ctr"/>
                      <a:r>
                        <a:rPr sz="750" b="0">
                          <a:solidFill>
                            <a:srgbClr val="1A1A1A"/>
                          </a:solidFill>
                        </a:rPr>
                        <a:t>345.8</a:t>
                      </a:r>
                    </a:p>
                  </a:txBody>
                  <a:tcPr>
                    <a:noFill/>
                  </a:tcPr>
                </a:tc>
                <a:tc>
                  <a:txBody>
                    <a:bodyPr/>
                    <a:lstStyle/>
                    <a:p>
                      <a:pPr algn="ctr"/>
                      <a:r>
                        <a:rPr sz="750" b="0">
                          <a:solidFill>
                            <a:srgbClr val="1A1A1A"/>
                          </a:solidFill>
                        </a:rPr>
                        <a:t>&lt; 285.6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201.99</a:t>
                      </a:r>
                    </a:p>
                  </a:txBody>
                  <a:tcPr>
                    <a:solidFill>
                      <a:srgbClr val="F5F7FA"/>
                    </a:solidFill>
                  </a:tcPr>
                </a:tc>
                <a:tc>
                  <a:txBody>
                    <a:bodyPr/>
                    <a:lstStyle/>
                    <a:p>
                      <a:pPr algn="ctr"/>
                      <a:r>
                        <a:rPr sz="750" b="0">
                          <a:solidFill>
                            <a:srgbClr val="1A1A1A"/>
                          </a:solidFill>
                        </a:rPr>
                        <a:t>232.3</a:t>
                      </a:r>
                    </a:p>
                  </a:txBody>
                  <a:tcPr>
                    <a:solidFill>
                      <a:srgbClr val="F5F7FA"/>
                    </a:solidFill>
                  </a:tcPr>
                </a:tc>
                <a:tc>
                  <a:txBody>
                    <a:bodyPr/>
                    <a:lstStyle/>
                    <a:p>
                      <a:pPr algn="ctr"/>
                      <a:r>
                        <a:rPr sz="750" b="0">
                          <a:solidFill>
                            <a:srgbClr val="1A1A1A"/>
                          </a:solidFill>
                        </a:rPr>
                        <a:t>&lt; 191.9</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14000"/>
            <a:ext cx="8496000" cy="576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14000"/>
            <a:ext cx="36000" cy="57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42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30000"/>
            <a:ext cx="8316000" cy="324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8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Ralentissement Budgets 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Recession européenne confirmee entraînerait une reduction des budgets IT de 12-18 %, pénalisant les prestataires de services.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Durcissement AI Act</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Surcout de mise en conformite estime a 8-12 % du CA pour les editeurs de logiciels IA — impact marges 2027.</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Pression Tarifaire US/Asie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Acteurs americains et asiatiques agressifs sur les segments logiciels standardises — guerre des prix bas de gamme.</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UE confirmee — contraction PIB &gt; 1,5 %</a:t>
                      </a:r>
                    </a:p>
                  </a:txBody>
                  <a:tcPr>
                    <a:noFill/>
                  </a:tcPr>
                </a:tc>
                <a:tc>
                  <a:txBody>
                    <a:bodyPr/>
                    <a:lstStyle/>
                    <a:p>
                      <a:pPr algn="ctr"/>
                      <a:r>
                        <a:rPr sz="800" b="0">
                          <a:solidFill>
                            <a:srgbClr val="1A1A1A"/>
                          </a:solidFill>
                        </a:rPr>
                        <a:t>6-12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Reduction budgets IT &gt; 15 % grands comptes</a:t>
                      </a:r>
                    </a:p>
                  </a:txBody>
                  <a:tcPr>
                    <a:solidFill>
                      <a:srgbClr val="F5F7FA"/>
                    </a:solidFill>
                  </a:tcPr>
                </a:tc>
                <a:tc>
                  <a:txBody>
                    <a:bodyPr/>
                    <a:lstStyle/>
                    <a:p>
                      <a:pPr algn="ctr"/>
                      <a:r>
                        <a:rPr sz="800" b="0">
                          <a:solidFill>
                            <a:srgbClr val="1A1A1A"/>
                          </a:solidFill>
                        </a:rPr>
                        <a:t>12-18 mois</a:t>
                      </a:r>
                    </a:p>
                  </a:txBody>
                  <a:tcPr>
                    <a:solidFill>
                      <a:srgbClr val="F5F7FA"/>
                    </a:solidFill>
                  </a:tcPr>
                </a:tc>
              </a:tr>
              <a:tr h="223200">
                <a:tc>
                  <a:txBody>
                    <a:bodyPr/>
                    <a:lstStyle/>
                    <a:p>
                      <a:pPr algn="ctr"/>
                      <a:r>
                        <a:rPr sz="800" b="0">
                          <a:solidFill>
                            <a:srgbClr val="1A1A1A"/>
                          </a:solidFill>
                        </a:rPr>
                        <a:t>Réglementaire</a:t>
                      </a:r>
                    </a:p>
                  </a:txBody>
                  <a:tcPr>
                    <a:noFill/>
                  </a:tcPr>
                </a:tc>
                <a:tc>
                  <a:txBody>
                    <a:bodyPr/>
                    <a:lstStyle/>
                    <a:p>
                      <a:pPr algn="ctr"/>
                      <a:r>
                        <a:rPr sz="800" b="0">
                          <a:solidFill>
                            <a:srgbClr val="1A1A1A"/>
                          </a:solidFill>
                        </a:rPr>
                        <a:t>AI Act surcoût conformite &gt; 15 % CA</a:t>
                      </a:r>
                    </a:p>
                  </a:txBody>
                  <a:tcPr>
                    <a:noFill/>
                  </a:tcPr>
                </a:tc>
                <a:tc>
                  <a:txBody>
                    <a:bodyPr/>
                    <a:lstStyle/>
                    <a:p>
                      <a:pPr algn="ctr"/>
                      <a:r>
                        <a:rPr sz="800" b="0">
                          <a:solidFill>
                            <a:srgbClr val="1A1A1A"/>
                          </a:solidFill>
                        </a:rPr>
                        <a:t>18-24 mois</a:t>
                      </a:r>
                    </a:p>
                  </a:txBody>
                  <a:tcPr>
                    <a:noFill/>
                  </a:tcPr>
                </a:tc>
              </a:tr>
              <a:tr h="223200">
                <a:tc>
                  <a:txBody>
                    <a:bodyPr/>
                    <a:lstStyle/>
                    <a:p>
                      <a:pPr algn="ctr"/>
                      <a:r>
                        <a:rPr sz="800" b="0">
                          <a:solidFill>
                            <a:srgbClr val="1A1A1A"/>
                          </a:solidFill>
                        </a:rPr>
                        <a:t>Fondamental</a:t>
                      </a:r>
                    </a:p>
                  </a:txBody>
                  <a:tcPr>
                    <a:solidFill>
                      <a:srgbClr val="F5F7FA"/>
                    </a:solidFill>
                  </a:tcPr>
                </a:tc>
                <a:tc>
                  <a:txBody>
                    <a:bodyPr/>
                    <a:lstStyle/>
                    <a:p>
                      <a:pPr algn="ctr"/>
                      <a:r>
                        <a:rPr sz="800" b="0">
                          <a:solidFill>
                            <a:srgbClr val="1A1A1A"/>
                          </a:solidFill>
                        </a:rPr>
                        <a:t>Revision baissiere EPS &gt; 20 % sur 2 trimestres</a:t>
                      </a:r>
                    </a:p>
                  </a:txBody>
                  <a:tcPr>
                    <a:solidFill>
                      <a:srgbClr val="F5F7FA"/>
                    </a:solidFill>
                  </a:tcPr>
                </a:tc>
                <a:tc>
                  <a:txBody>
                    <a:bodyPr/>
                    <a:lstStyle/>
                    <a:p>
                      <a:pPr algn="ctr"/>
                      <a:r>
                        <a:rPr sz="800" b="0">
                          <a:solidFill>
                            <a:srgbClr val="1A1A1A"/>
                          </a:solidFill>
                        </a:rPr>
                        <a:t>6-9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IA Generative — Acceleration des mandats IA dans les grands comptes europeens — contrats pluriannuels en hausse de 38 % sur T1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Ralentissement Budgets IT — Recession européenne confirmee entraînerait une reduction des budgets IT de 12-18 %, pénalisant les prestataires de services.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Technology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GOOGL  +80%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META  -4%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84 pts — 5 valeur(s) positives vs 3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