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25.1x  ·  Croissance med. : +22.7 %  ·  Marge EBITDA med. : 46.8 %  ·  Score moyen : 77/100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IA Générative</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L'adoption accélérée de l'IA générative par les entreprises et les consommateurs crée une demande structurelle pour les infrastructures cloud et les puces spécialisées comme celles de NVDA.</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Cloud Hybride</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La migration continue des entreprises vers des solutions cloud hybrides, notamment portées par GOOGL avec sa suite Workspace et ses outils d'IA intégrés, stimule la croissance récurrente.</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Écosystème Apple</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L'écosystème fermé d'AAPL, combinant matériel, logiciels et services, renforce la fidélisation des utilisateurs et génère des marges élevées sur les services récurrents.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 Antitrust</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aux États-Unis et en Europe, notamment contre GOOGL et AAPL, pourraient entraîner des amendes ou des restrictions opérationnelles limitant la croissance.</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Concurrence Chinoise</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montée en puissance des acteurs chinois comme Huawei ou ByteDance dans les semi-conducteurs et le cloud menace les parts de marché des leaders occidentaux.</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Cycles de Consommation</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Un ralentissement économique pourrait réduire les dépenses des entreprises en technologies, impactant directement les revenus des licences logicielles et des services cloud.</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25.1x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+22.7 %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+67.3 %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080000"/>
          </a:xfrm>
          <a:prstGeom prst="rect">
            <a:avLst/>
          </a:prstGeom>
          <a:noFill/>
        </p:spPr>
        <p:txBody>
          <a:bodyPr wrap="square">
            <a:spAutoFit/>
          </a:bodyPr>
          <a:lstStyle/>
          <a:p>
            <a:pPr algn="l"/>
            <a:r>
              <a:rPr sz="900" b="0" i="0">
                <a:solidFill>
                  <a:srgbClr val="555555"/>
                </a:solidFill>
              </a:rPr>
              <a:t>Le secteur Technology affiche une valorisation élevée avec un multiple EV/EBITDA médian de 25.1x, reflétant une forte croissance des revenus (+22.7%) et une marge EBITDA robuste à 46.8%, soutenue par des leaders comme GOOGL, NVDA et AAPL dont les scores dépassent 75/100. Cette dynamique est amplifiée par un momentum à 52 semaines de +67.3%, indiquant une surperformance structurelle du secteur malgré des valorisations déjà premium.</a:t>
            </a:r>
          </a:p>
        </p:txBody>
      </p:sp>
      <p:sp>
        <p:nvSpPr>
          <p:cNvPr id="18" name="Rectangle 17"/>
          <p:cNvSpPr/>
          <p:nvPr/>
        </p:nvSpPr>
        <p:spPr>
          <a:xfrm>
            <a:off x="396000" y="2160000"/>
            <a:ext cx="4788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2178000"/>
            <a:ext cx="4788000" cy="144000"/>
          </a:xfrm>
          <a:prstGeom prst="rect">
            <a:avLst/>
          </a:prstGeom>
          <a:noFill/>
        </p:spPr>
        <p:txBody>
          <a:bodyPr wrap="square">
            <a:spAutoFit/>
          </a:bodyPr>
          <a:lstStyle/>
          <a:p>
            <a:pPr algn="ctr"/>
            <a:r>
              <a:rPr sz="800" b="1" i="0">
                <a:solidFill>
                  <a:srgbClr val="FFFFFF"/>
                </a:solidFill>
              </a:rPr>
              <a:t>CATALYSEURS CLES</a:t>
            </a:r>
          </a:p>
        </p:txBody>
      </p:sp>
      <p:sp>
        <p:nvSpPr>
          <p:cNvPr id="20" name="Rectangle 19"/>
          <p:cNvSpPr/>
          <p:nvPr/>
        </p:nvSpPr>
        <p:spPr>
          <a:xfrm>
            <a:off x="486000" y="235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000" y="2358000"/>
            <a:ext cx="4500000" cy="162000"/>
          </a:xfrm>
          <a:prstGeom prst="rect">
            <a:avLst/>
          </a:prstGeom>
          <a:noFill/>
        </p:spPr>
        <p:txBody>
          <a:bodyPr wrap="square">
            <a:spAutoFit/>
          </a:bodyPr>
          <a:lstStyle/>
          <a:p>
            <a:pPr algn="l"/>
            <a:r>
              <a:rPr sz="850" b="1" i="0">
                <a:solidFill>
                  <a:srgbClr val="1B3A6B"/>
                </a:solidFill>
              </a:rPr>
              <a:t>IA Générative</a:t>
            </a:r>
          </a:p>
        </p:txBody>
      </p:sp>
      <p:sp>
        <p:nvSpPr>
          <p:cNvPr id="22" name="TextBox 21"/>
          <p:cNvSpPr txBox="1"/>
          <p:nvPr/>
        </p:nvSpPr>
        <p:spPr>
          <a:xfrm>
            <a:off x="594000" y="2520000"/>
            <a:ext cx="4500000" cy="378000"/>
          </a:xfrm>
          <a:prstGeom prst="rect">
            <a:avLst/>
          </a:prstGeom>
          <a:noFill/>
        </p:spPr>
        <p:txBody>
          <a:bodyPr wrap="square">
            <a:spAutoFit/>
          </a:bodyPr>
          <a:lstStyle/>
          <a:p>
            <a:pPr algn="l"/>
            <a:r>
              <a:rPr sz="800" b="0" i="0">
                <a:solidFill>
                  <a:srgbClr val="555555"/>
                </a:solidFill>
              </a:rPr>
              <a:t>L'adoption accélérée de l'IA générative par les entreprises et les consommateurs crée une demande structurelle pour les infrastructures cloud et les puces spécialisées comme celles de NVDA.</a:t>
            </a:r>
          </a:p>
        </p:txBody>
      </p:sp>
      <p:sp>
        <p:nvSpPr>
          <p:cNvPr id="23" name="Rectangle 22"/>
          <p:cNvSpPr/>
          <p:nvPr/>
        </p:nvSpPr>
        <p:spPr>
          <a:xfrm>
            <a:off x="486000" y="289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000" y="2898000"/>
            <a:ext cx="4500000" cy="162000"/>
          </a:xfrm>
          <a:prstGeom prst="rect">
            <a:avLst/>
          </a:prstGeom>
          <a:noFill/>
        </p:spPr>
        <p:txBody>
          <a:bodyPr wrap="square">
            <a:spAutoFit/>
          </a:bodyPr>
          <a:lstStyle/>
          <a:p>
            <a:pPr algn="l"/>
            <a:r>
              <a:rPr sz="850" b="1" i="0">
                <a:solidFill>
                  <a:srgbClr val="1B3A6B"/>
                </a:solidFill>
              </a:rPr>
              <a:t>Cloud Hybride</a:t>
            </a:r>
          </a:p>
        </p:txBody>
      </p:sp>
      <p:sp>
        <p:nvSpPr>
          <p:cNvPr id="25" name="TextBox 24"/>
          <p:cNvSpPr txBox="1"/>
          <p:nvPr/>
        </p:nvSpPr>
        <p:spPr>
          <a:xfrm>
            <a:off x="594000" y="3060000"/>
            <a:ext cx="4500000" cy="378000"/>
          </a:xfrm>
          <a:prstGeom prst="rect">
            <a:avLst/>
          </a:prstGeom>
          <a:noFill/>
        </p:spPr>
        <p:txBody>
          <a:bodyPr wrap="square">
            <a:spAutoFit/>
          </a:bodyPr>
          <a:lstStyle/>
          <a:p>
            <a:pPr algn="l"/>
            <a:r>
              <a:rPr sz="800" b="0" i="0">
                <a:solidFill>
                  <a:srgbClr val="555555"/>
                </a:solidFill>
              </a:rPr>
              <a:t>La migration continue des entreprises vers des solutions cloud hybrides, notamment portées par GOOGL avec sa suite Workspace et ses outils d'IA intégrés, stimule la croissance récurrente.</a:t>
            </a:r>
          </a:p>
        </p:txBody>
      </p:sp>
      <p:sp>
        <p:nvSpPr>
          <p:cNvPr id="26" name="Rectangle 25"/>
          <p:cNvSpPr/>
          <p:nvPr/>
        </p:nvSpPr>
        <p:spPr>
          <a:xfrm>
            <a:off x="486000" y="343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000" y="3438000"/>
            <a:ext cx="4500000" cy="162000"/>
          </a:xfrm>
          <a:prstGeom prst="rect">
            <a:avLst/>
          </a:prstGeom>
          <a:noFill/>
        </p:spPr>
        <p:txBody>
          <a:bodyPr wrap="square">
            <a:spAutoFit/>
          </a:bodyPr>
          <a:lstStyle/>
          <a:p>
            <a:pPr algn="l"/>
            <a:r>
              <a:rPr sz="850" b="1" i="0">
                <a:solidFill>
                  <a:srgbClr val="1B3A6B"/>
                </a:solidFill>
              </a:rPr>
              <a:t>Écosystème Apple</a:t>
            </a:r>
          </a:p>
        </p:txBody>
      </p:sp>
      <p:sp>
        <p:nvSpPr>
          <p:cNvPr id="28" name="TextBox 27"/>
          <p:cNvSpPr txBox="1"/>
          <p:nvPr/>
        </p:nvSpPr>
        <p:spPr>
          <a:xfrm>
            <a:off x="594000" y="3600000"/>
            <a:ext cx="4500000" cy="378000"/>
          </a:xfrm>
          <a:prstGeom prst="rect">
            <a:avLst/>
          </a:prstGeom>
          <a:noFill/>
        </p:spPr>
        <p:txBody>
          <a:bodyPr wrap="square">
            <a:spAutoFit/>
          </a:bodyPr>
          <a:lstStyle/>
          <a:p>
            <a:pPr algn="l"/>
            <a:r>
              <a:rPr sz="800" b="0" i="0">
                <a:solidFill>
                  <a:srgbClr val="555555"/>
                </a:solidFill>
              </a:rPr>
              <a:t>L'écosystème fermé d'AAPL, combinant matériel, logiciels et services, renforce la fidélisation des utilisateurs et génère des marges élevées sur les services récurrents.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+22.7 %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+67.3 %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9.4x</a:t>
                      </a:r>
                    </a:p>
                  </a:txBody>
                  <a:tcPr>
                    <a:noFill/>
                  </a:tcPr>
                </a:tc>
                <a:tc>
                  <a:txBody>
                    <a:bodyPr/>
                    <a:lstStyle/>
                    <a:p>
                      <a:pPr algn="ctr"/>
                      <a:r>
                        <a:rPr sz="750" b="0">
                          <a:solidFill>
                            <a:srgbClr val="1A1A1A"/>
                          </a:solidFill>
                        </a:rPr>
                        <a:t>29.3x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32.8x</a:t>
                      </a:r>
                    </a:p>
                  </a:txBody>
                  <a:tcPr>
                    <a:solidFill>
                      <a:srgbClr val="F5F7FA"/>
                    </a:solidFill>
                  </a:tcPr>
                </a:tc>
                <a:tc>
                  <a:txBody>
                    <a:bodyPr/>
                    <a:lstStyle/>
                    <a:p>
                      <a:pPr algn="ctr"/>
                      <a:r>
                        <a:rPr sz="750" b="0">
                          <a:solidFill>
                            <a:srgbClr val="1A1A1A"/>
                          </a:solidFill>
                        </a:rPr>
                        <a:t>20.3x</a:t>
                      </a:r>
                    </a:p>
                  </a:txBody>
                  <a:tcPr>
                    <a:solidFill>
                      <a:srgbClr val="F5F7FA"/>
                    </a:solidFill>
                  </a:tcPr>
                </a:tc>
                <a:tc>
                  <a:txBody>
                    <a:bodyPr/>
                    <a:lstStyle/>
                    <a:p>
                      <a:pPr algn="ctr"/>
                      <a:r>
                        <a:rPr sz="750" b="0">
                          <a:solidFill>
                            <a:srgbClr val="1A1A1A"/>
                          </a:solidFill>
                        </a:rPr>
                        <a:t>37.2x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32.8x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19.7x</a:t>
                      </a:r>
                    </a:p>
                  </a:txBody>
                  <a:tcPr>
                    <a:solidFill>
                      <a:srgbClr val="F5F7FA"/>
                    </a:solidFill>
                  </a:tcPr>
                </a:tc>
                <a:tc>
                  <a:txBody>
                    <a:bodyPr/>
                    <a:lstStyle/>
                    <a:p>
                      <a:pPr algn="ctr"/>
                      <a:r>
                        <a:rPr sz="750" b="0">
                          <a:solidFill>
                            <a:srgbClr val="1A1A1A"/>
                          </a:solidFill>
                        </a:rPr>
                        <a:t>8.5x</a:t>
                      </a:r>
                    </a:p>
                  </a:txBody>
                  <a:tcPr>
                    <a:solidFill>
                      <a:srgbClr val="F5F7FA"/>
                    </a:solidFill>
                  </a:tcPr>
                </a:tc>
                <a:tc>
                  <a:txBody>
                    <a:bodyPr/>
                    <a:lstStyle/>
                    <a:p>
                      <a:pPr algn="ctr"/>
                      <a:r>
                        <a:rPr sz="750" b="0">
                          <a:solidFill>
                            <a:srgbClr val="1A1A1A"/>
                          </a:solidFill>
                        </a:rPr>
                        <a:t>25.8x</a:t>
                      </a:r>
                    </a:p>
                  </a:txBody>
                  <a:tcPr>
                    <a:solidFill>
                      <a:srgbClr val="F5F7FA"/>
                    </a:solidFill>
                  </a:tcPr>
                </a:tc>
                <a:tc>
                  <a:txBody>
                    <a:bodyPr/>
                    <a:lstStyle/>
                    <a:p>
                      <a:pPr algn="ctr"/>
                      <a:r>
                        <a:rPr sz="750" b="0">
                          <a:solidFill>
                            <a:srgbClr val="1A1A1A"/>
                          </a:solidFill>
                        </a:rPr>
                        <a:t>67.1 %</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57.6 %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9.2x</a:t>
                      </a:r>
                    </a:p>
                  </a:txBody>
                  <a:tcPr>
                    <a:noFill/>
                  </a:tcPr>
                </a:tc>
                <a:tc>
                  <a:txBody>
                    <a:bodyPr/>
                    <a:lstStyle/>
                    <a:p>
                      <a:pPr algn="ctr"/>
                      <a:r>
                        <a:rPr sz="750" b="0">
                          <a:solidFill>
                            <a:srgbClr val="1A1A1A"/>
                          </a:solidFill>
                        </a:rPr>
                        <a:t>23.4x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15.2x</a:t>
                      </a:r>
                    </a:p>
                  </a:txBody>
                  <a:tcPr>
                    <a:solidFill>
                      <a:srgbClr val="F5F7FA"/>
                    </a:solidFill>
                  </a:tcPr>
                </a:tc>
                <a:tc>
                  <a:txBody>
                    <a:bodyPr/>
                    <a:lstStyle/>
                    <a:p>
                      <a:pPr algn="ctr"/>
                      <a:r>
                        <a:rPr sz="750" b="0">
                          <a:solidFill>
                            <a:srgbClr val="1A1A1A"/>
                          </a:solidFill>
                        </a:rPr>
                        <a:t>7.7x</a:t>
                      </a:r>
                    </a:p>
                  </a:txBody>
                  <a:tcPr>
                    <a:solidFill>
                      <a:srgbClr val="F5F7FA"/>
                    </a:solidFill>
                  </a:tcPr>
                </a:tc>
                <a:tc>
                  <a:txBody>
                    <a:bodyPr/>
                    <a:lstStyle/>
                    <a:p>
                      <a:pPr algn="ctr"/>
                      <a:r>
                        <a:rPr sz="750" b="0">
                          <a:solidFill>
                            <a:srgbClr val="1A1A1A"/>
                          </a:solidFill>
                        </a:rPr>
                        <a:t>26.0x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46.0x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55.1x</a:t>
                      </a:r>
                    </a:p>
                  </a:txBody>
                  <a:tcPr>
                    <a:solidFill>
                      <a:srgbClr val="F5F7FA"/>
                    </a:solidFill>
                  </a:tcPr>
                </a:tc>
                <a:tc>
                  <a:txBody>
                    <a:bodyPr/>
                    <a:lstStyle/>
                    <a:p>
                      <a:pPr algn="ctr"/>
                      <a:r>
                        <a:rPr sz="750" b="0">
                          <a:solidFill>
                            <a:srgbClr val="1A1A1A"/>
                          </a:solidFill>
                        </a:rPr>
                        <a:t>10.7x</a:t>
                      </a:r>
                    </a:p>
                  </a:txBody>
                  <a:tcPr>
                    <a:solidFill>
                      <a:srgbClr val="F5F7FA"/>
                    </a:solidFill>
                  </a:tcPr>
                </a:tc>
                <a:tc>
                  <a:txBody>
                    <a:bodyPr/>
                    <a:lstStyle/>
                    <a:p>
                      <a:pPr algn="ctr"/>
                      <a:r>
                        <a:rPr sz="750" b="0">
                          <a:solidFill>
                            <a:srgbClr val="1A1A1A"/>
                          </a:solidFill>
                        </a:rPr>
                        <a:t>88.5x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9.3x</a:t>
                      </a:r>
                    </a:p>
                  </a:txBody>
                  <a:tcPr>
                    <a:noFill/>
                  </a:tcPr>
                </a:tc>
                <a:tc>
                  <a:txBody>
                    <a:bodyPr/>
                    <a:lstStyle/>
                    <a:p>
                      <a:pPr algn="ctr"/>
                      <a:r>
                        <a:rPr sz="750" b="0">
                          <a:solidFill>
                            <a:srgbClr val="1A1A1A"/>
                          </a:solidFill>
                        </a:rPr>
                        <a:t>31.0x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mediane EV/EBITDA sectorielle s etablit a 25.1x LTM. Alphabet Inc. (25.2x)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Adoption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L'intégration de l'IA dans les workflows métiers et les produits grand public devrait continuer à booster les revenus des acteurs comme NVDA et GOOGL.</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Marges Services</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L'augmentation de la part des services récurrents dans les revenus totaux, notamment pour AAPL et GOOGL, améliore la visibilité et la rentabilité.</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Énergétiques</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La hausse des coûts énergétiques pour les data centers pourrait peser sur les marges des hyperscalers comme GOOGL et AAPL.</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Saturation Marché</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La saturation des marchés matures pour les smartphones et les PC pourrait limiter la croissance organique des revenus pour des acteurs comme AAPL.</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77/100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Technology se situe en phase de maturité avancée avec des sous-secteurs comme l'IA et le cloud en hypercroissance, mais des signaux de ralentissement apparaissent dans les segments hardware.</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(Modérée)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317.32</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+107.3 %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81/100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182.08</a:t>
                      </a:r>
                    </a:p>
                  </a:txBody>
                  <a:tcPr>
                    <a:solidFill>
                      <a:srgbClr val="F5F7FA"/>
                    </a:solidFill>
                  </a:tcPr>
                </a:tc>
                <a:tc>
                  <a:txBody>
                    <a:bodyPr/>
                    <a:lstStyle/>
                    <a:p>
                      <a:pPr algn="ctr"/>
                      <a:r>
                        <a:rPr sz="750" b="0">
                          <a:solidFill>
                            <a:srgbClr val="1A1A1A"/>
                          </a:solidFill>
                        </a:rPr>
                        <a:t>32.8x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+84.5 %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258.9</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+50.1 %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143.66</a:t>
                      </a:r>
                    </a:p>
                  </a:txBody>
                  <a:tcPr>
                    <a:solidFill>
                      <a:srgbClr val="F5F7FA"/>
                    </a:solidFill>
                  </a:tcPr>
                </a:tc>
                <a:tc>
                  <a:txBody>
                    <a:bodyPr/>
                    <a:lstStyle/>
                    <a:p>
                      <a:pPr algn="ctr"/>
                      <a:r>
                        <a:rPr sz="750" b="0">
                          <a:solidFill>
                            <a:srgbClr val="1A1A1A"/>
                          </a:solidFill>
                        </a:rPr>
                        <a:t>19.7x</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+16.9 %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374.33</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+5.2 %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612.42</a:t>
                      </a:r>
                    </a:p>
                  </a:txBody>
                  <a:tcPr>
                    <a:solidFill>
                      <a:srgbClr val="F5F7FA"/>
                    </a:solidFill>
                  </a:tcPr>
                </a:tc>
                <a:tc>
                  <a:txBody>
                    <a:bodyPr/>
                    <a:lstStyle/>
                    <a:p>
                      <a:pPr algn="ctr"/>
                      <a:r>
                        <a:rPr sz="750" b="0">
                          <a:solidFill>
                            <a:srgbClr val="1A1A1A"/>
                          </a:solidFill>
                        </a:rPr>
                        <a:t>15.2x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+12.3 %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350.63</a:t>
                      </a:r>
                    </a:p>
                  </a:txBody>
                  <a:tcPr>
                    <a:noFill/>
                  </a:tcPr>
                </a:tc>
                <a:tc>
                  <a:txBody>
                    <a:bodyPr/>
                    <a:lstStyle/>
                    <a:p>
                      <a:pPr algn="ctr"/>
                      <a:r>
                        <a:rPr sz="750" b="0">
                          <a:solidFill>
                            <a:srgbClr val="1A1A1A"/>
                          </a:solidFill>
                        </a:rPr>
                        <a:t>46.0x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+29.5 %</a:t>
                      </a:r>
                    </a:p>
                  </a:txBody>
                  <a:tcPr>
                    <a:noFill/>
                  </a:tcPr>
                </a:tc>
                <a:tc>
                  <a:txBody>
                    <a:bodyPr/>
                    <a:lstStyle/>
                    <a:p>
                      <a:pPr algn="ctr"/>
                      <a:r>
                        <a:rPr sz="750" b="0">
                          <a:solidFill>
                            <a:srgbClr val="1A1A1A"/>
                          </a:solidFill>
                        </a:rPr>
                        <a:t>+101.5 %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231.82</a:t>
                      </a:r>
                    </a:p>
                  </a:txBody>
                  <a:tcPr>
                    <a:solidFill>
                      <a:srgbClr val="F5F7FA"/>
                    </a:solidFill>
                  </a:tcPr>
                </a:tc>
                <a:tc>
                  <a:txBody>
                    <a:bodyPr/>
                    <a:lstStyle/>
                    <a:p>
                      <a:pPr algn="ctr"/>
                      <a:r>
                        <a:rPr sz="750" b="0">
                          <a:solidFill>
                            <a:srgbClr val="1A1A1A"/>
                          </a:solidFill>
                        </a:rPr>
                        <a:t>55.1x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+181.5 %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mediane (opportunite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ORCL offre la meilleure asymetrie — EV/EBITDA de 19.7x sous la mediane de 25.1x avec un score FinSight de 77/100.
NVDA traite en prime (32.8x vs mediane 25.1x) — verifier si la croissance justifie ce multiple.
Mediane sectorielle : 25.1x. Les barres vertes sous cette ligne sont les candidats privilegies a analyser via Analyse Societe individuelle (DCF, WACC, scenarios).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81/100</a:t>
                      </a:r>
                    </a:p>
                  </a:txBody>
                  <a:tcPr>
                    <a:solidFill>
                      <a:srgbClr val="F5F7FA"/>
                    </a:solidFill>
                  </a:tcPr>
                </a:tc>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24</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Value=10,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381</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25.2x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L'adoption accélérée de l'IA générative par les entreprises et les consommateurs crée une demande structurelle pour les infrastructures cloud et les puces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aux États-Unis et en Europe, notamment contre GOOGL et AAPL, pourraient entraîner des amendes ou des restrictions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32.8x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La migration continue des entreprises vers des solutions cloud hybrides, notamment portées par GOOGL avec sa suite Workspace et ses outils d'IA intégrés,</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montée en puissance des acteurs chinois comme Huawei ou ByteDance dans les semi-conducteurs et le cloud menace les parts de marché des leaders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AAPL</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Apple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311</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25.0x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35.1 %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L'écosystème fermé d'AAPL, combinant matériel, logiciels et services, renforce la fidélisation des utilisateurs et génère des marges élevées sur les services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Un ralentissement économique pourrait réduire les dépenses des entreprises en technologies, impactant directement les revenus des licences</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(25.1x)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25.1x.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317.32</a:t>
                      </a:r>
                    </a:p>
                  </a:txBody>
                  <a:tcPr>
                    <a:noFill/>
                  </a:tcPr>
                </a:tc>
                <a:tc>
                  <a:txBody>
                    <a:bodyPr/>
                    <a:lstStyle/>
                    <a:p>
                      <a:pPr algn="ctr"/>
                      <a:r>
                        <a:rPr sz="750" b="0">
                          <a:solidFill>
                            <a:srgbClr val="1A1A1A"/>
                          </a:solidFill>
                        </a:rPr>
                        <a:t>364.9</a:t>
                      </a:r>
                    </a:p>
                  </a:txBody>
                  <a:tcPr>
                    <a:noFill/>
                  </a:tcPr>
                </a:tc>
                <a:tc>
                  <a:txBody>
                    <a:bodyPr/>
                    <a:lstStyle/>
                    <a:p>
                      <a:pPr algn="ctr"/>
                      <a:r>
                        <a:rPr sz="750" b="0">
                          <a:solidFill>
                            <a:srgbClr val="1A1A1A"/>
                          </a:solidFill>
                        </a:rPr>
                        <a:t>&lt; 301.5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182.08</a:t>
                      </a:r>
                    </a:p>
                  </a:txBody>
                  <a:tcPr>
                    <a:solidFill>
                      <a:srgbClr val="F5F7FA"/>
                    </a:solidFill>
                  </a:tcPr>
                </a:tc>
                <a:tc>
                  <a:txBody>
                    <a:bodyPr/>
                    <a:lstStyle/>
                    <a:p>
                      <a:pPr algn="ctr"/>
                      <a:r>
                        <a:rPr sz="750" b="0">
                          <a:solidFill>
                            <a:srgbClr val="1A1A1A"/>
                          </a:solidFill>
                        </a:rPr>
                        <a:t>209.4</a:t>
                      </a:r>
                    </a:p>
                  </a:txBody>
                  <a:tcPr>
                    <a:solidFill>
                      <a:srgbClr val="F5F7FA"/>
                    </a:solidFill>
                  </a:tcPr>
                </a:tc>
                <a:tc>
                  <a:txBody>
                    <a:bodyPr/>
                    <a:lstStyle/>
                    <a:p>
                      <a:pPr algn="ctr"/>
                      <a:r>
                        <a:rPr sz="750" b="0">
                          <a:solidFill>
                            <a:srgbClr val="1A1A1A"/>
                          </a:solidFill>
                        </a:rPr>
                        <a:t>&lt; 173.0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258.9</a:t>
                      </a:r>
                    </a:p>
                  </a:txBody>
                  <a:tcPr>
                    <a:noFill/>
                  </a:tcPr>
                </a:tc>
                <a:tc>
                  <a:txBody>
                    <a:bodyPr/>
                    <a:lstStyle/>
                    <a:p>
                      <a:pPr algn="ctr"/>
                      <a:r>
                        <a:rPr sz="750" b="0">
                          <a:solidFill>
                            <a:srgbClr val="1A1A1A"/>
                          </a:solidFill>
                        </a:rPr>
                        <a:t>297.7</a:t>
                      </a:r>
                    </a:p>
                  </a:txBody>
                  <a:tcPr>
                    <a:noFill/>
                  </a:tcPr>
                </a:tc>
                <a:tc>
                  <a:txBody>
                    <a:bodyPr/>
                    <a:lstStyle/>
                    <a:p>
                      <a:pPr algn="ctr"/>
                      <a:r>
                        <a:rPr sz="750" b="0">
                          <a:solidFill>
                            <a:srgbClr val="1A1A1A"/>
                          </a:solidFill>
                        </a:rPr>
                        <a:t>&lt; 246.0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143.66</a:t>
                      </a:r>
                    </a:p>
                  </a:txBody>
                  <a:tcPr>
                    <a:solidFill>
                      <a:srgbClr val="F5F7FA"/>
                    </a:solidFill>
                  </a:tcPr>
                </a:tc>
                <a:tc>
                  <a:txBody>
                    <a:bodyPr/>
                    <a:lstStyle/>
                    <a:p>
                      <a:pPr algn="ctr"/>
                      <a:r>
                        <a:rPr sz="750" b="0">
                          <a:solidFill>
                            <a:srgbClr val="1A1A1A"/>
                          </a:solidFill>
                        </a:rPr>
                        <a:t>165.2</a:t>
                      </a:r>
                    </a:p>
                  </a:txBody>
                  <a:tcPr>
                    <a:solidFill>
                      <a:srgbClr val="F5F7FA"/>
                    </a:solidFill>
                  </a:tcPr>
                </a:tc>
                <a:tc>
                  <a:txBody>
                    <a:bodyPr/>
                    <a:lstStyle/>
                    <a:p>
                      <a:pPr algn="ctr"/>
                      <a:r>
                        <a:rPr sz="750" b="0">
                          <a:solidFill>
                            <a:srgbClr val="1A1A1A"/>
                          </a:solidFill>
                        </a:rPr>
                        <a:t>&lt; 136.5</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374.33</a:t>
                      </a:r>
                    </a:p>
                  </a:txBody>
                  <a:tcPr>
                    <a:noFill/>
                  </a:tcPr>
                </a:tc>
                <a:tc>
                  <a:txBody>
                    <a:bodyPr/>
                    <a:lstStyle/>
                    <a:p>
                      <a:pPr algn="ctr"/>
                      <a:r>
                        <a:rPr sz="750" b="0">
                          <a:solidFill>
                            <a:srgbClr val="1A1A1A"/>
                          </a:solidFill>
                        </a:rPr>
                        <a:t>430.5</a:t>
                      </a:r>
                    </a:p>
                  </a:txBody>
                  <a:tcPr>
                    <a:noFill/>
                  </a:tcPr>
                </a:tc>
                <a:tc>
                  <a:txBody>
                    <a:bodyPr/>
                    <a:lstStyle/>
                    <a:p>
                      <a:pPr algn="ctr"/>
                      <a:r>
                        <a:rPr sz="750" b="0">
                          <a:solidFill>
                            <a:srgbClr val="1A1A1A"/>
                          </a:solidFill>
                        </a:rPr>
                        <a:t>&lt; 355.6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612.42</a:t>
                      </a:r>
                    </a:p>
                  </a:txBody>
                  <a:tcPr>
                    <a:solidFill>
                      <a:srgbClr val="F5F7FA"/>
                    </a:solidFill>
                  </a:tcPr>
                </a:tc>
                <a:tc>
                  <a:txBody>
                    <a:bodyPr/>
                    <a:lstStyle/>
                    <a:p>
                      <a:pPr algn="ctr"/>
                      <a:r>
                        <a:rPr sz="750" b="0">
                          <a:solidFill>
                            <a:srgbClr val="1A1A1A"/>
                          </a:solidFill>
                        </a:rPr>
                        <a:t>704.3</a:t>
                      </a:r>
                    </a:p>
                  </a:txBody>
                  <a:tcPr>
                    <a:solidFill>
                      <a:srgbClr val="F5F7FA"/>
                    </a:solidFill>
                  </a:tcPr>
                </a:tc>
                <a:tc>
                  <a:txBody>
                    <a:bodyPr/>
                    <a:lstStyle/>
                    <a:p>
                      <a:pPr algn="ctr"/>
                      <a:r>
                        <a:rPr sz="750" b="0">
                          <a:solidFill>
                            <a:srgbClr val="1A1A1A"/>
                          </a:solidFill>
                        </a:rPr>
                        <a:t>&lt; 581.8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350.63</a:t>
                      </a:r>
                    </a:p>
                  </a:txBody>
                  <a:tcPr>
                    <a:noFill/>
                  </a:tcPr>
                </a:tc>
                <a:tc>
                  <a:txBody>
                    <a:bodyPr/>
                    <a:lstStyle/>
                    <a:p>
                      <a:pPr algn="ctr"/>
                      <a:r>
                        <a:rPr sz="750" b="0">
                          <a:solidFill>
                            <a:srgbClr val="1A1A1A"/>
                          </a:solidFill>
                        </a:rPr>
                        <a:t>403.2</a:t>
                      </a:r>
                    </a:p>
                  </a:txBody>
                  <a:tcPr>
                    <a:noFill/>
                  </a:tcPr>
                </a:tc>
                <a:tc>
                  <a:txBody>
                    <a:bodyPr/>
                    <a:lstStyle/>
                    <a:p>
                      <a:pPr algn="ctr"/>
                      <a:r>
                        <a:rPr sz="750" b="0">
                          <a:solidFill>
                            <a:srgbClr val="1A1A1A"/>
                          </a:solidFill>
                        </a:rPr>
                        <a:t>&lt; 333.1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231.82</a:t>
                      </a:r>
                    </a:p>
                  </a:txBody>
                  <a:tcPr>
                    <a:solidFill>
                      <a:srgbClr val="F5F7FA"/>
                    </a:solidFill>
                  </a:tcPr>
                </a:tc>
                <a:tc>
                  <a:txBody>
                    <a:bodyPr/>
                    <a:lstStyle/>
                    <a:p>
                      <a:pPr algn="ctr"/>
                      <a:r>
                        <a:rPr sz="750" b="0">
                          <a:solidFill>
                            <a:srgbClr val="1A1A1A"/>
                          </a:solidFill>
                        </a:rPr>
                        <a:t>266.6</a:t>
                      </a:r>
                    </a:p>
                  </a:txBody>
                  <a:tcPr>
                    <a:solidFill>
                      <a:srgbClr val="F5F7FA"/>
                    </a:solidFill>
                  </a:tcPr>
                </a:tc>
                <a:tc>
                  <a:txBody>
                    <a:bodyPr/>
                    <a:lstStyle/>
                    <a:p>
                      <a:pPr algn="ctr"/>
                      <a:r>
                        <a:rPr sz="750" b="0">
                          <a:solidFill>
                            <a:srgbClr val="1A1A1A"/>
                          </a:solidFill>
                        </a:rPr>
                        <a:t>&lt; 220.2</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 Antitrust</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aux États-Unis et en Europe, notamment contre GOOGL et AAPL, pourraient entraîner des amendes ou des restrictions opérationnelles limitant la croissance.</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Concurrence Chinoise</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montée en puissance des acteurs chinois comme Huawei ou ByteDance dans les semi-conducteurs et le cloud menace les parts de marché des leaders occidentaux.</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Cycles de Consommation</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Un ralentissement économique pourrait réduire les dépenses des entreprises en technologies, impactant directement les revenus des licences logicielles et des services cloud.</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62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median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1.4%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median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generation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76/100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sante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IA Générative — L'adoption accélérée de l'IA générative par les entreprises et les consommateurs crée une</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Antitrust — Les enquêtes antitrust aux États-Unis et en Europe, notamment contre GOOGL et AAPL,</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176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