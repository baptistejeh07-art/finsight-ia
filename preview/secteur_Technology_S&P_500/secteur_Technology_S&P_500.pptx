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21.7x  ·  Croissance med. : +19.9 %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accélérée de l'IA générative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Les dépenses en infrastructures cloud et en GPU explosent, portées par des entreprises comme NVIDIA qui capitalisent sur la demande en calcul haute performance.</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Monétisation des données et publicité ciblée</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Les géants comme META et GOOGL bénéficient de l'augmentation des budgets publicitaires digitaux, dopés par l'essor du commerce en ligne et des réseaux sociaux.</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Innovation continue dans les semi-conducteurs</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La course à la miniaturisation et à l'efficacité énergétique des puces renforce la position des leaders comme NVIDIA, malgré les tensions géopolitiques sur les chaînes d'approvisionnement.</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 antitrust</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et amendes potentielles contre les GAFAM pourraient peser sur les marges et limiter les acquisitions stratégiques.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 accrue en Chine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La montée en puissance des acteurs locaux comme Huawei ou ByteDance menace la part de marché des entreprises américaines sur le marché asiatique.</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Cycles de surinvestissement</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La course aux infrastructures cloud et à l'IA pourrait entraîner une bulle spéculative, avec un risque de correction brutale des valorisations.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+49.2 %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élevée avec un multiple EV/EBITDA médian de 21.7x, reflétant une forte confiance des investisseurs dans la résilience des marges (46.8% de marge EBITDA) et la croissance des revenus (+19.9%). Cette dynamique est soutenue par des acteurs comme GOOGL, NVDA et META, dont les scores respectifs de 86, 80 et 76 soulignent leur position dominante dans l'IA, les semi-conducteurs et les réseaux sociaux.</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accélérée de l'IA générative</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Les dépenses en infrastructures cloud et en GPU explosent, portées par des entreprises comme NVIDIA qui capitalisent sur la demande en calcul haute performance.</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Monétisation des données et publicité ciblée</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Les géants comme META et GOOGL bénéficient de l'augmentation des budgets publicitaires digitaux, dopés par l'essor du commerce en ligne et des réseaux sociaux.</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Innovation continue dans les semi-conducteurs</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La course à la miniaturisation et à l'efficacité énergétique des puces renforce la position des leaders comme NVIDIA, malgré les tensions géopolitiques sur les chaînes d'approvisionnement.</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+19.9 %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+49.2 %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27.5x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19.5x</a:t>
                      </a:r>
                    </a:p>
                  </a:txBody>
                  <a:tcPr>
                    <a:solidFill>
                      <a:srgbClr val="F5F7FA"/>
                    </a:solidFill>
                  </a:tcPr>
                </a:tc>
                <a:tc>
                  <a:txBody>
                    <a:bodyPr/>
                    <a:lstStyle/>
                    <a:p>
                      <a:pPr algn="ctr"/>
                      <a:r>
                        <a:rPr sz="750" b="0">
                          <a:solidFill>
                            <a:srgbClr val="1A1A1A"/>
                          </a:solidFill>
                        </a:rPr>
                        <a:t>35.9x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24.6x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8.7x</a:t>
                      </a:r>
                    </a:p>
                  </a:txBody>
                  <a:tcPr>
                    <a:solidFill>
                      <a:srgbClr val="F5F7FA"/>
                    </a:solidFill>
                  </a:tcPr>
                </a:tc>
                <a:tc>
                  <a:txBody>
                    <a:bodyPr/>
                    <a:lstStyle/>
                    <a:p>
                      <a:pPr algn="ctr"/>
                      <a:r>
                        <a:rPr sz="750" b="0">
                          <a:solidFill>
                            <a:srgbClr val="1A1A1A"/>
                          </a:solidFill>
                        </a:rPr>
                        <a:t>32.4x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9.1x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61.0x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26.0x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9.7x</a:t>
                      </a:r>
                    </a:p>
                  </a:txBody>
                  <a:tcPr>
                    <a:solidFill>
                      <a:srgbClr val="F5F7FA"/>
                    </a:solidFill>
                  </a:tcPr>
                </a:tc>
                <a:tc>
                  <a:txBody>
                    <a:bodyPr/>
                    <a:lstStyle/>
                    <a:p>
                      <a:pPr algn="ctr"/>
                      <a:r>
                        <a:rPr sz="750" b="0">
                          <a:solidFill>
                            <a:srgbClr val="1A1A1A"/>
                          </a:solidFill>
                        </a:rPr>
                        <a:t>80.5x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21.7x LTM. Alphabet Inc. (23.6x)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Croissance des revenus cloud</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L'adoption massive du SaaS et des solutions hybrides par les entreprises devrait maintenir une croissance à deux chiffres des revenus cloud.</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des marges EBITDA</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L'automatisation des processus et l'effet de levier opérationnel devraient permettre une amélioration continue des marges, notamment pour les acteurs matures.</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énergétiques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 hausse des prix de l'électricité et la pression pour des data centers plus verts pourraient éroder les marges des acteurs les plus énergivores.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Taux d'intérêt élevés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Un environnement de taux durablement élevés pénalise les valorisations des entreprises à forte croissance, dont les flux de trésorerie futurs sont actualisés à un taux plus élevé.</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Technology semble en phase de maturité avancée, avec une croissance soutenue mais des signaux de ralentissement possible dans certains segments comme les semi-conducteurs.</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+97.3 %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+72.6 %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+9.0 %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+25.8 %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-1.0 %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+103.6 %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+5.8 %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+124.1 %</a:t>
                      </a:r>
                    </a:p>
                  </a:txBody>
                  <a:tcPr>
                    <a:solidFill>
                      <a:srgbClr val="F5F7FA"/>
                    </a:solidFill>
                  </a:tcPr>
                </a:tc>
              </a:tr>
            </a:tbl>
          </a:graphicData>
        </a:graphic>
      </p:graphicFrame>
      <p:sp>
        <p:nvSpPr>
          <p:cNvPr id="16" name="Rectangle 15"/>
          <p:cNvSpPr/>
          <p:nvPr/>
        </p:nvSpPr>
        <p:spPr>
          <a:xfrm>
            <a:off x="324000" y="28943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943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948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003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(31.7x) soutenue par 71.1 % de marge brute.
AVGO se positionne en zone Opportunite — EV/EBITDA de 4.3x sous la médiane sectorielle de 21.7x.
La médiane sectorielle ressort a 21.7x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357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Les dépenses en infrastructures cloud et en GPU explosent, portées par des entreprises comme NVIDIA qui capitalisent sur la demande en calcul haute performance.</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et amendes potentielles contre les GAFAM pourraient peser sur les marges et limiter les acquisitions stratégiques.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31.7x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Les géants comme META et GOOGL bénéficient de l'augmentation des budgets publicitaires digitaux, dopés par l'essor du commerce en ligne et des réseaux sociaux.</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La montée en puissance des acteurs locaux comme Huawei ou ByteDance menace la part de marché des entreprises américaines sur le marché asiatique.</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695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La course à la miniaturisation et à l'efficacité énergétique des puces renforce la position des leaders comme NVIDIA, malgré les tensions géopolitiques sur les </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La course aux infrastructures cloud et à l'IA pourrait entraîner une bulle spéculative, avec un risque de correction brutale des valorisations.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21.7x.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342.0</a:t>
                      </a:r>
                    </a:p>
                  </a:txBody>
                  <a:tcPr>
                    <a:noFill/>
                  </a:tcPr>
                </a:tc>
                <a:tc>
                  <a:txBody>
                    <a:bodyPr/>
                    <a:lstStyle/>
                    <a:p>
                      <a:pPr algn="ctr"/>
                      <a:r>
                        <a:rPr sz="750" b="0">
                          <a:solidFill>
                            <a:srgbClr val="1A1A1A"/>
                          </a:solidFill>
                        </a:rPr>
                        <a:t>&lt; 282.5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202.1</a:t>
                      </a:r>
                    </a:p>
                  </a:txBody>
                  <a:tcPr>
                    <a:solidFill>
                      <a:srgbClr val="F5F7FA"/>
                    </a:solidFill>
                  </a:tcPr>
                </a:tc>
                <a:tc>
                  <a:txBody>
                    <a:bodyPr/>
                    <a:lstStyle/>
                    <a:p>
                      <a:pPr algn="ctr"/>
                      <a:r>
                        <a:rPr sz="750" b="0">
                          <a:solidFill>
                            <a:srgbClr val="1A1A1A"/>
                          </a:solidFill>
                        </a:rPr>
                        <a:t>&lt; 167.0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666.1</a:t>
                      </a:r>
                    </a:p>
                  </a:txBody>
                  <a:tcPr>
                    <a:noFill/>
                  </a:tcPr>
                </a:tc>
                <a:tc>
                  <a:txBody>
                    <a:bodyPr/>
                    <a:lstStyle/>
                    <a:p>
                      <a:pPr algn="ctr"/>
                      <a:r>
                        <a:rPr sz="750" b="0">
                          <a:solidFill>
                            <a:srgbClr val="1A1A1A"/>
                          </a:solidFill>
                        </a:rPr>
                        <a:t>&lt; 550.3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294.0</a:t>
                      </a:r>
                    </a:p>
                  </a:txBody>
                  <a:tcPr>
                    <a:solidFill>
                      <a:srgbClr val="F5F7FA"/>
                    </a:solidFill>
                  </a:tcPr>
                </a:tc>
                <a:tc>
                  <a:txBody>
                    <a:bodyPr/>
                    <a:lstStyle/>
                    <a:p>
                      <a:pPr algn="ctr"/>
                      <a:r>
                        <a:rPr sz="750" b="0">
                          <a:solidFill>
                            <a:srgbClr val="1A1A1A"/>
                          </a:solidFill>
                        </a:rPr>
                        <a:t>&lt; 242.8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424.8</a:t>
                      </a:r>
                    </a:p>
                  </a:txBody>
                  <a:tcPr>
                    <a:noFill/>
                  </a:tcPr>
                </a:tc>
                <a:tc>
                  <a:txBody>
                    <a:bodyPr/>
                    <a:lstStyle/>
                    <a:p>
                      <a:pPr algn="ctr"/>
                      <a:r>
                        <a:rPr sz="750" b="0">
                          <a:solidFill>
                            <a:srgbClr val="1A1A1A"/>
                          </a:solidFill>
                        </a:rPr>
                        <a:t>&lt; 350.9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360.5</a:t>
                      </a:r>
                    </a:p>
                  </a:txBody>
                  <a:tcPr>
                    <a:solidFill>
                      <a:srgbClr val="F5F7FA"/>
                    </a:solidFill>
                  </a:tcPr>
                </a:tc>
                <a:tc>
                  <a:txBody>
                    <a:bodyPr/>
                    <a:lstStyle/>
                    <a:p>
                      <a:pPr algn="ctr"/>
                      <a:r>
                        <a:rPr sz="750" b="0">
                          <a:solidFill>
                            <a:srgbClr val="1A1A1A"/>
                          </a:solidFill>
                        </a:rPr>
                        <a:t>&lt; 297.8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167.0</a:t>
                      </a:r>
                    </a:p>
                  </a:txBody>
                  <a:tcPr>
                    <a:noFill/>
                  </a:tcPr>
                </a:tc>
                <a:tc>
                  <a:txBody>
                    <a:bodyPr/>
                    <a:lstStyle/>
                    <a:p>
                      <a:pPr algn="ctr"/>
                      <a:r>
                        <a:rPr sz="750" b="0">
                          <a:solidFill>
                            <a:srgbClr val="1A1A1A"/>
                          </a:solidFill>
                        </a:rPr>
                        <a:t>&lt; 138.0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241.7</a:t>
                      </a:r>
                    </a:p>
                  </a:txBody>
                  <a:tcPr>
                    <a:solidFill>
                      <a:srgbClr val="F5F7FA"/>
                    </a:solidFill>
                  </a:tcPr>
                </a:tc>
                <a:tc>
                  <a:txBody>
                    <a:bodyPr/>
                    <a:lstStyle/>
                    <a:p>
                      <a:pPr algn="ctr"/>
                      <a:r>
                        <a:rPr sz="750" b="0">
                          <a:solidFill>
                            <a:srgbClr val="1A1A1A"/>
                          </a:solidFill>
                        </a:rPr>
                        <a:t>&lt; 199.7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 antitrust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et amendes potentielles contre les GAFAM pourraient peser sur les marges et limiter les acquisitions stratégiques.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 accrue en Chine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La montée en puissance des acteurs locaux comme Huawei ou ByteDance menace la part de marché des entreprises américaines sur le marché asiatique.</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Cycles de surinvestissement</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La course aux infrastructures cloud et à l'IA pourrait entraîner une bulle spéculative, avec un risque de correction brutale des valorisations.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1.5%</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75/100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accélérée de l'IA générative — Les dépenses en infrastructures cloud et en GPU explosent, portées par des entreprises comme NVIDIA qui capitalisent sur la demande en calcu</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antitrust — Les enquêtes et amendes potentielles contre les GAFAM pourraient peser sur les marges et limiter les acquisitions stratégiques.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+124%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-1%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125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