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31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20.4x  ·  Croissance med. : +19.9 %  ·  Marge EBITDA med. : 46.8 %  ·  Score moyen : 75/100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IA Generative</a:t>
            </a:r>
          </a:p>
        </p:txBody>
      </p:sp>
      <p:sp>
        <p:nvSpPr>
          <p:cNvPr id="24" name="TextBox 23"/>
          <p:cNvSpPr txBox="1"/>
          <p:nvPr/>
        </p:nvSpPr>
        <p:spPr>
          <a:xfrm>
            <a:off x="468000" y="1853999"/>
            <a:ext cx="3851999"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25" name="Rectangle 24"/>
          <p:cNvSpPr/>
          <p:nvPr/>
        </p:nvSpPr>
        <p:spPr>
          <a:xfrm>
            <a:off x="324000" y="2268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268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286000"/>
            <a:ext cx="3851999" cy="198000"/>
          </a:xfrm>
          <a:prstGeom prst="rect">
            <a:avLst/>
          </a:prstGeom>
          <a:noFill/>
        </p:spPr>
        <p:txBody>
          <a:bodyPr wrap="square">
            <a:spAutoFit/>
          </a:bodyPr>
          <a:lstStyle/>
          <a:p>
            <a:pPr algn="l"/>
            <a:r>
              <a:rPr sz="850" b="1" i="0">
                <a:solidFill>
                  <a:srgbClr val="1B3A6B"/>
                </a:solidFill>
              </a:rPr>
              <a:t>Modernisation SI Publics</a:t>
            </a:r>
          </a:p>
        </p:txBody>
      </p:sp>
      <p:sp>
        <p:nvSpPr>
          <p:cNvPr id="28" name="TextBox 27"/>
          <p:cNvSpPr txBox="1"/>
          <p:nvPr/>
        </p:nvSpPr>
        <p:spPr>
          <a:xfrm>
            <a:off x="468000" y="2466000"/>
            <a:ext cx="3851999"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9" name="Rectangle 28"/>
          <p:cNvSpPr/>
          <p:nvPr/>
        </p:nvSpPr>
        <p:spPr>
          <a:xfrm>
            <a:off x="324000" y="2880000"/>
            <a:ext cx="36000" cy="5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2880000"/>
            <a:ext cx="4068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898000"/>
            <a:ext cx="3851999" cy="198000"/>
          </a:xfrm>
          <a:prstGeom prst="rect">
            <a:avLst/>
          </a:prstGeom>
          <a:noFill/>
        </p:spPr>
        <p:txBody>
          <a:bodyPr wrap="square">
            <a:spAutoFit/>
          </a:bodyPr>
          <a:lstStyle/>
          <a:p>
            <a:pPr algn="l"/>
            <a:r>
              <a:rPr sz="850" b="1" i="0">
                <a:solidFill>
                  <a:srgbClr val="1B3A6B"/>
                </a:solidFill>
              </a:rPr>
              <a:t>Cloud Hybride Souverainete</a:t>
            </a:r>
          </a:p>
        </p:txBody>
      </p:sp>
      <p:sp>
        <p:nvSpPr>
          <p:cNvPr id="32" name="TextBox 31"/>
          <p:cNvSpPr txBox="1"/>
          <p:nvPr/>
        </p:nvSpPr>
        <p:spPr>
          <a:xfrm>
            <a:off x="468000" y="3078000"/>
            <a:ext cx="3851999"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Ralentissement Budgets IT</a:t>
            </a:r>
          </a:p>
        </p:txBody>
      </p:sp>
      <p:sp>
        <p:nvSpPr>
          <p:cNvPr id="38" name="TextBox 37"/>
          <p:cNvSpPr txBox="1"/>
          <p:nvPr/>
        </p:nvSpPr>
        <p:spPr>
          <a:xfrm>
            <a:off x="4860000" y="1853999"/>
            <a:ext cx="3851999" cy="306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39" name="Rectangle 38"/>
          <p:cNvSpPr/>
          <p:nvPr/>
        </p:nvSpPr>
        <p:spPr>
          <a:xfrm>
            <a:off x="4716000" y="2268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268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286000"/>
            <a:ext cx="3851999" cy="198000"/>
          </a:xfrm>
          <a:prstGeom prst="rect">
            <a:avLst/>
          </a:prstGeom>
          <a:noFill/>
        </p:spPr>
        <p:txBody>
          <a:bodyPr wrap="square">
            <a:spAutoFit/>
          </a:bodyPr>
          <a:lstStyle/>
          <a:p>
            <a:pPr algn="l"/>
            <a:r>
              <a:rPr sz="850" b="1" i="0">
                <a:solidFill>
                  <a:srgbClr val="A82020"/>
                </a:solidFill>
              </a:rPr>
              <a:t>Durcissement AI Act</a:t>
            </a:r>
          </a:p>
        </p:txBody>
      </p:sp>
      <p:sp>
        <p:nvSpPr>
          <p:cNvPr id="42" name="TextBox 41"/>
          <p:cNvSpPr txBox="1"/>
          <p:nvPr/>
        </p:nvSpPr>
        <p:spPr>
          <a:xfrm>
            <a:off x="4860000" y="2466000"/>
            <a:ext cx="3851999" cy="306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43" name="Rectangle 42"/>
          <p:cNvSpPr/>
          <p:nvPr/>
        </p:nvSpPr>
        <p:spPr>
          <a:xfrm>
            <a:off x="4716000" y="2880000"/>
            <a:ext cx="36000" cy="5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2880000"/>
            <a:ext cx="4068000" cy="5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2898000"/>
            <a:ext cx="3851999" cy="198000"/>
          </a:xfrm>
          <a:prstGeom prst="rect">
            <a:avLst/>
          </a:prstGeom>
          <a:noFill/>
        </p:spPr>
        <p:txBody>
          <a:bodyPr wrap="square">
            <a:spAutoFit/>
          </a:bodyPr>
          <a:lstStyle/>
          <a:p>
            <a:pPr algn="l"/>
            <a:r>
              <a:rPr sz="850" b="1" i="0">
                <a:solidFill>
                  <a:srgbClr val="A82020"/>
                </a:solidFill>
              </a:rPr>
              <a:t>Pression Tarifaire US/Asie</a:t>
            </a:r>
          </a:p>
        </p:txBody>
      </p:sp>
      <p:sp>
        <p:nvSpPr>
          <p:cNvPr id="46" name="TextBox 45"/>
          <p:cNvSpPr txBox="1"/>
          <p:nvPr/>
        </p:nvSpPr>
        <p:spPr>
          <a:xfrm>
            <a:off x="4860000" y="3078000"/>
            <a:ext cx="3851999" cy="306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20.4x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+30.2 %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regroupe les entreprises actives dans les logiciels, les services informatiques, les semi-conducteurs et les equipements telecom. Porte par la transformation digitale des entreprises et l'adoption de l'IA generative, ce secteur affiche des multiples de valorisation parmi les plus élevés du marche, justifies par des perspectives de croissance supérieures et des marges en expansion.</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Adoption IA Generative</a:t>
            </a:r>
          </a:p>
        </p:txBody>
      </p:sp>
      <p:sp>
        <p:nvSpPr>
          <p:cNvPr id="22" name="TextBox 21"/>
          <p:cNvSpPr txBox="1"/>
          <p:nvPr/>
        </p:nvSpPr>
        <p:spPr>
          <a:xfrm>
            <a:off x="576000" y="3060000"/>
            <a:ext cx="4428000" cy="306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a:t>
            </a:r>
          </a:p>
        </p:txBody>
      </p:sp>
      <p:sp>
        <p:nvSpPr>
          <p:cNvPr id="23" name="Rectangle 22"/>
          <p:cNvSpPr/>
          <p:nvPr/>
        </p:nvSpPr>
        <p:spPr>
          <a:xfrm>
            <a:off x="468000" y="3384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384000"/>
            <a:ext cx="4428000" cy="162000"/>
          </a:xfrm>
          <a:prstGeom prst="rect">
            <a:avLst/>
          </a:prstGeom>
          <a:noFill/>
        </p:spPr>
        <p:txBody>
          <a:bodyPr wrap="square">
            <a:spAutoFit/>
          </a:bodyPr>
          <a:lstStyle/>
          <a:p>
            <a:pPr algn="l"/>
            <a:r>
              <a:rPr sz="800" b="1" i="0">
                <a:solidFill>
                  <a:srgbClr val="1B3A6B"/>
                </a:solidFill>
              </a:rPr>
              <a:t>Modernisation SI Publics</a:t>
            </a:r>
          </a:p>
        </p:txBody>
      </p:sp>
      <p:sp>
        <p:nvSpPr>
          <p:cNvPr id="25" name="TextBox 24"/>
          <p:cNvSpPr txBox="1"/>
          <p:nvPr/>
        </p:nvSpPr>
        <p:spPr>
          <a:xfrm>
            <a:off x="576000" y="3546000"/>
            <a:ext cx="4428000" cy="306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26" name="Rectangle 25"/>
          <p:cNvSpPr/>
          <p:nvPr/>
        </p:nvSpPr>
        <p:spPr>
          <a:xfrm>
            <a:off x="468000" y="3870000"/>
            <a:ext cx="288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870000"/>
            <a:ext cx="4428000" cy="162000"/>
          </a:xfrm>
          <a:prstGeom prst="rect">
            <a:avLst/>
          </a:prstGeom>
          <a:noFill/>
        </p:spPr>
        <p:txBody>
          <a:bodyPr wrap="square">
            <a:spAutoFit/>
          </a:bodyPr>
          <a:lstStyle/>
          <a:p>
            <a:pPr algn="l"/>
            <a:r>
              <a:rPr sz="800" b="1" i="0">
                <a:solidFill>
                  <a:srgbClr val="1B3A6B"/>
                </a:solidFill>
              </a:rPr>
              <a:t>Cloud Hybride Souverainete</a:t>
            </a:r>
          </a:p>
        </p:txBody>
      </p:sp>
      <p:sp>
        <p:nvSpPr>
          <p:cNvPr id="28" name="TextBox 27"/>
          <p:cNvSpPr txBox="1"/>
          <p:nvPr/>
        </p:nvSpPr>
        <p:spPr>
          <a:xfrm>
            <a:off x="576000" y="4031999"/>
            <a:ext cx="4428000" cy="306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Rule of 40</a:t>
                      </a:r>
                    </a:p>
                  </a:txBody>
                  <a:tcPr>
                    <a:noFill/>
                  </a:tcPr>
                </a:tc>
                <a:tc>
                  <a:txBody>
                    <a:bodyPr/>
                    <a:lstStyle/>
                    <a:p>
                      <a:pPr algn="ctr"/>
                      <a:r>
                        <a:rPr sz="750" b="0">
                          <a:solidFill>
                            <a:srgbClr val="1A1A1A"/>
                          </a:solidFill>
                        </a:rPr>
                        <a:t>42</a:t>
                      </a:r>
                    </a:p>
                  </a:txBody>
                  <a:tcPr>
                    <a:noFill/>
                  </a:tcPr>
                </a:tc>
                <a:tc>
                  <a:txBody>
                    <a:bodyPr/>
                    <a:lstStyle/>
                    <a:p>
                      <a:pPr algn="ctr"/>
                      <a:r>
                        <a:rPr sz="750" b="0">
                          <a:solidFill>
                            <a:srgbClr val="1A1A1A"/>
                          </a:solidFill>
                        </a:rPr>
                        <a:t>Sain &gt; 40</a:t>
                      </a:r>
                    </a:p>
                  </a:txBody>
                  <a:tcPr>
                    <a:noFill/>
                  </a:tcPr>
                </a:tc>
              </a:tr>
              <a:tr h="208799">
                <a:tc>
                  <a:txBody>
                    <a:bodyPr/>
                    <a:lstStyle/>
                    <a:p>
                      <a:pPr algn="ctr"/>
                      <a:r>
                        <a:rPr sz="750" b="0">
                          <a:solidFill>
                            <a:srgbClr val="1A1A1A"/>
                          </a:solidFill>
                        </a:rPr>
                        <a:t>NRR median</a:t>
                      </a:r>
                    </a:p>
                  </a:txBody>
                  <a:tcPr>
                    <a:solidFill>
                      <a:srgbClr val="F5F7FA"/>
                    </a:solidFill>
                  </a:tcPr>
                </a:tc>
                <a:tc>
                  <a:txBody>
                    <a:bodyPr/>
                    <a:lstStyle/>
                    <a:p>
                      <a:pPr algn="ctr"/>
                      <a:r>
                        <a:rPr sz="750" b="0">
                          <a:solidFill>
                            <a:srgbClr val="1A1A1A"/>
                          </a:solidFill>
                        </a:rPr>
                        <a:t>108 %</a:t>
                      </a:r>
                    </a:p>
                  </a:txBody>
                  <a:tcPr>
                    <a:solidFill>
                      <a:srgbClr val="F5F7FA"/>
                    </a:solidFill>
                  </a:tcPr>
                </a:tc>
                <a:tc>
                  <a:txBody>
                    <a:bodyPr/>
                    <a:lstStyle/>
                    <a:p>
                      <a:pPr algn="ctr"/>
                      <a:r>
                        <a:rPr sz="750" b="0">
                          <a:solidFill>
                            <a:srgbClr val="1A1A1A"/>
                          </a:solidFill>
                        </a:rPr>
                        <a:t>Retention solide</a:t>
                      </a:r>
                    </a:p>
                  </a:txBody>
                  <a:tcPr>
                    <a:solidFill>
                      <a:srgbClr val="F5F7FA"/>
                    </a:solidFill>
                  </a:tcPr>
                </a:tc>
              </a:tr>
              <a:tr h="208799">
                <a:tc>
                  <a:txBody>
                    <a:bodyPr/>
                    <a:lstStyle/>
                    <a:p>
                      <a:pPr algn="ctr"/>
                      <a:r>
                        <a:rPr sz="750" b="0">
                          <a:solidFill>
                            <a:srgbClr val="1A1A1A"/>
                          </a:solidFill>
                        </a:rPr>
                        <a:t>Cloud Mix</a:t>
                      </a:r>
                    </a:p>
                  </a:txBody>
                  <a:tcPr>
                    <a:noFill/>
                  </a:tcPr>
                </a:tc>
                <a:tc>
                  <a:txBody>
                    <a:bodyPr/>
                    <a:lstStyle/>
                    <a:p>
                      <a:pPr algn="ctr"/>
                      <a:r>
                        <a:rPr sz="750" b="0">
                          <a:solidFill>
                            <a:srgbClr val="1A1A1A"/>
                          </a:solidFill>
                        </a:rPr>
                        <a:t>38 %</a:t>
                      </a:r>
                    </a:p>
                  </a:txBody>
                  <a:tcPr>
                    <a:noFill/>
                  </a:tcPr>
                </a:tc>
                <a:tc>
                  <a:txBody>
                    <a:bodyPr/>
                    <a:lstStyle/>
                    <a:p>
                      <a:pPr algn="ctr"/>
                      <a:r>
                        <a:rPr sz="750" b="0">
                          <a:solidFill>
                            <a:srgbClr val="1A1A1A"/>
                          </a:solidFill>
                        </a:rPr>
                        <a:t>En hausse</a:t>
                      </a:r>
                    </a:p>
                  </a:txBody>
                  <a:tcPr>
                    <a:noFill/>
                  </a:tcPr>
                </a:tc>
              </a:tr>
              <a:tr h="208799">
                <a:tc>
                  <a:txBody>
                    <a:bodyPr/>
                    <a:lstStyle/>
                    <a:p>
                      <a:pPr algn="ctr"/>
                      <a:r>
                        <a:rPr sz="750" b="0">
                          <a:solidFill>
                            <a:srgbClr val="1A1A1A"/>
                          </a:solidFill>
                        </a:rPr>
                        <a:t>R&amp;D/Rev.</a:t>
                      </a:r>
                    </a:p>
                  </a:txBody>
                  <a:tcPr>
                    <a:solidFill>
                      <a:srgbClr val="F5F7FA"/>
                    </a:solidFill>
                  </a:tcPr>
                </a:tc>
                <a:tc>
                  <a:txBody>
                    <a:bodyPr/>
                    <a:lstStyle/>
                    <a:p>
                      <a:pPr algn="ctr"/>
                      <a:r>
                        <a:rPr sz="750" b="0">
                          <a:solidFill>
                            <a:srgbClr val="1A1A1A"/>
                          </a:solidFill>
                        </a:rPr>
                        <a:t>12 %</a:t>
                      </a:r>
                    </a:p>
                  </a:txBody>
                  <a:tcPr>
                    <a:solidFill>
                      <a:srgbClr val="F5F7FA"/>
                    </a:solidFill>
                  </a:tcPr>
                </a:tc>
                <a:tc>
                  <a:txBody>
                    <a:bodyPr/>
                    <a:lstStyle/>
                    <a:p>
                      <a:pPr algn="ctr"/>
                      <a:r>
                        <a:rPr sz="750" b="0">
                          <a:solidFill>
                            <a:srgbClr val="1A1A1A"/>
                          </a:solidFill>
                        </a:rPr>
                        <a:t>Investi</a:t>
                      </a:r>
                    </a:p>
                  </a:txBody>
                  <a:tcPr>
                    <a:solidFill>
                      <a:srgbClr val="F5F7FA"/>
                    </a:solidFill>
                  </a:tcPr>
                </a:tc>
              </a:tr>
              <a:tr h="208799">
                <a:tc>
                  <a:txBody>
                    <a:bodyPr/>
                    <a:lstStyle/>
                    <a:p>
                      <a:pPr algn="ctr"/>
                      <a:r>
                        <a:rPr sz="750" b="0">
                          <a:solidFill>
                            <a:srgbClr val="1A1A1A"/>
                          </a:solidFill>
                        </a:rPr>
                        <a:t>ARR Growth</a:t>
                      </a:r>
                    </a:p>
                  </a:txBody>
                  <a:tcPr>
                    <a:noFill/>
                  </a:tcPr>
                </a:tc>
                <a:tc>
                  <a:txBody>
                    <a:bodyPr/>
                    <a:lstStyle/>
                    <a:p>
                      <a:pPr algn="ctr"/>
                      <a:r>
                        <a:rPr sz="750" b="0">
                          <a:solidFill>
                            <a:srgbClr val="1A1A1A"/>
                          </a:solidFill>
                        </a:rPr>
                        <a:t>+24 %</a:t>
                      </a:r>
                    </a:p>
                  </a:txBody>
                  <a:tcPr>
                    <a:noFill/>
                  </a:tcPr>
                </a:tc>
                <a:tc>
                  <a:txBody>
                    <a:bodyPr/>
                    <a:lstStyle/>
                    <a:p>
                      <a:pPr algn="ctr"/>
                      <a:r>
                        <a:rPr sz="750" b="0">
                          <a:solidFill>
                            <a:srgbClr val="1A1A1A"/>
                          </a:solidFill>
                        </a:rPr>
                        <a:t>Acceleration</a:t>
                      </a:r>
                    </a:p>
                  </a:txBody>
                  <a:tcPr>
                    <a:noFill/>
                  </a:tcPr>
                </a:tc>
              </a:tr>
              <a:tr h="208805">
                <a:tc>
                  <a:txBody>
                    <a:bodyPr/>
                    <a:lstStyle/>
                    <a:p>
                      <a:pPr algn="ctr"/>
                      <a:r>
                        <a:rPr sz="750" b="0">
                          <a:solidFill>
                            <a:srgbClr val="1A1A1A"/>
                          </a:solidFill>
                        </a:rPr>
                        <a:t>Churn</a:t>
                      </a:r>
                    </a:p>
                  </a:txBody>
                  <a:tcPr>
                    <a:solidFill>
                      <a:srgbClr val="F5F7FA"/>
                    </a:solidFill>
                  </a:tcPr>
                </a:tc>
                <a:tc>
                  <a:txBody>
                    <a:bodyPr/>
                    <a:lstStyle/>
                    <a:p>
                      <a:pPr algn="ctr"/>
                      <a:r>
                        <a:rPr sz="750" b="0">
                          <a:solidFill>
                            <a:srgbClr val="1A1A1A"/>
                          </a:solidFill>
                        </a:rPr>
                        <a:t>4,2 %</a:t>
                      </a:r>
                    </a:p>
                  </a:txBody>
                  <a:tcPr>
                    <a:solidFill>
                      <a:srgbClr val="F5F7FA"/>
                    </a:solidFill>
                  </a:tcPr>
                </a:tc>
                <a:tc>
                  <a:txBody>
                    <a:bodyPr/>
                    <a:lstStyle/>
                    <a:p>
                      <a:pPr algn="ctr"/>
                      <a:r>
                        <a:rPr sz="750" b="0">
                          <a:solidFill>
                            <a:srgbClr val="1A1A1A"/>
                          </a:solidFill>
                        </a:rPr>
                        <a:t>Stable</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8.1x</a:t>
                      </a:r>
                    </a:p>
                  </a:txBody>
                  <a:tcPr>
                    <a:noFill/>
                  </a:tcPr>
                </a:tc>
                <a:tc>
                  <a:txBody>
                    <a:bodyPr/>
                    <a:lstStyle/>
                    <a:p>
                      <a:pPr algn="ctr"/>
                      <a:r>
                        <a:rPr sz="750" b="0">
                          <a:solidFill>
                            <a:srgbClr val="1A1A1A"/>
                          </a:solidFill>
                        </a:rPr>
                        <a:t>26.6x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18.4x</a:t>
                      </a:r>
                    </a:p>
                  </a:txBody>
                  <a:tcPr>
                    <a:solidFill>
                      <a:srgbClr val="F5F7FA"/>
                    </a:solidFill>
                  </a:tcPr>
                </a:tc>
                <a:tc>
                  <a:txBody>
                    <a:bodyPr/>
                    <a:lstStyle/>
                    <a:p>
                      <a:pPr algn="ctr"/>
                      <a:r>
                        <a:rPr sz="750" b="0">
                          <a:solidFill>
                            <a:srgbClr val="1A1A1A"/>
                          </a:solidFill>
                        </a:rPr>
                        <a:t>35.3x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6.8x</a:t>
                      </a:r>
                    </a:p>
                  </a:txBody>
                  <a:tcPr>
                    <a:solidFill>
                      <a:srgbClr val="F5F7FA"/>
                    </a:solidFill>
                  </a:tcPr>
                </a:tc>
                <a:tc>
                  <a:txBody>
                    <a:bodyPr/>
                    <a:lstStyle/>
                    <a:p>
                      <a:pPr algn="ctr"/>
                      <a:r>
                        <a:rPr sz="750" b="0">
                          <a:solidFill>
                            <a:srgbClr val="1A1A1A"/>
                          </a:solidFill>
                        </a:rPr>
                        <a:t>24.3x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8.2x</a:t>
                      </a:r>
                    </a:p>
                  </a:txBody>
                  <a:tcPr>
                    <a:noFill/>
                  </a:tcPr>
                </a:tc>
                <a:tc>
                  <a:txBody>
                    <a:bodyPr/>
                    <a:lstStyle/>
                    <a:p>
                      <a:pPr algn="ctr"/>
                      <a:r>
                        <a:rPr sz="750" b="0">
                          <a:solidFill>
                            <a:srgbClr val="1A1A1A"/>
                          </a:solidFill>
                        </a:rPr>
                        <a:t>26.2x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23.8x</a:t>
                      </a:r>
                    </a:p>
                  </a:txBody>
                  <a:tcPr>
                    <a:solidFill>
                      <a:srgbClr val="F5F7FA"/>
                    </a:solidFill>
                  </a:tcPr>
                </a:tc>
                <a:tc>
                  <a:txBody>
                    <a:bodyPr/>
                    <a:lstStyle/>
                    <a:p>
                      <a:pPr algn="ctr"/>
                      <a:r>
                        <a:rPr sz="750" b="0">
                          <a:solidFill>
                            <a:srgbClr val="1A1A1A"/>
                          </a:solidFill>
                        </a:rPr>
                        <a:t>8.4x</a:t>
                      </a:r>
                    </a:p>
                  </a:txBody>
                  <a:tcPr>
                    <a:solidFill>
                      <a:srgbClr val="F5F7FA"/>
                    </a:solidFill>
                  </a:tcPr>
                </a:tc>
                <a:tc>
                  <a:txBody>
                    <a:bodyPr/>
                    <a:lstStyle/>
                    <a:p>
                      <a:pPr algn="ctr"/>
                      <a:r>
                        <a:rPr sz="750" b="0">
                          <a:solidFill>
                            <a:srgbClr val="1A1A1A"/>
                          </a:solidFill>
                        </a:rPr>
                        <a:t>32.1x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2.2x</a:t>
                      </a:r>
                    </a:p>
                  </a:txBody>
                  <a:tcPr>
                    <a:noFill/>
                  </a:tcPr>
                </a:tc>
                <a:tc>
                  <a:txBody>
                    <a:bodyPr/>
                    <a:lstStyle/>
                    <a:p>
                      <a:pPr algn="ctr"/>
                      <a:r>
                        <a:rPr sz="750" b="0">
                          <a:solidFill>
                            <a:srgbClr val="1A1A1A"/>
                          </a:solidFill>
                        </a:rPr>
                        <a:t>60.0x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9.0x</a:t>
                      </a:r>
                    </a:p>
                  </a:txBody>
                  <a:tcPr>
                    <a:solidFill>
                      <a:srgbClr val="F5F7FA"/>
                    </a:solidFill>
                  </a:tcPr>
                </a:tc>
                <a:tc>
                  <a:txBody>
                    <a:bodyPr/>
                    <a:lstStyle/>
                    <a:p>
                      <a:pPr algn="ctr"/>
                      <a:r>
                        <a:rPr sz="750" b="0">
                          <a:solidFill>
                            <a:srgbClr val="1A1A1A"/>
                          </a:solidFill>
                        </a:rPr>
                        <a:t>77.6x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20.4x</a:t>
                      </a:r>
                    </a:p>
                  </a:txBody>
                  <a:tcPr>
                    <a:noFill/>
                  </a:tcPr>
                </a:tc>
                <a:tc>
                  <a:txBody>
                    <a:bodyPr/>
                    <a:lstStyle/>
                    <a:p>
                      <a:pPr algn="ctr"/>
                      <a:r>
                        <a:rPr sz="750" b="0">
                          <a:solidFill>
                            <a:srgbClr val="1A1A1A"/>
                          </a:solidFill>
                        </a:rPr>
                        <a:t>8.3x</a:t>
                      </a:r>
                    </a:p>
                  </a:txBody>
                  <a:tcPr>
                    <a:noFill/>
                  </a:tcPr>
                </a:tc>
                <a:tc>
                  <a:txBody>
                    <a:bodyPr/>
                    <a:lstStyle/>
                    <a:p>
                      <a:pPr algn="ctr"/>
                      <a:r>
                        <a:rPr sz="750" b="0">
                          <a:solidFill>
                            <a:srgbClr val="1A1A1A"/>
                          </a:solidFill>
                        </a:rPr>
                        <a:t>29.4x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20.4x LTM. Alphabet Inc. (21.6x)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Intelligence Artificielle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Adoption entreprises +42 % en 2026 — premier driver de depenses IT</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Cloud Hybride Souverain</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Contraintes souverainete données — migration vers solutions EU acceleree par NIS2</a:t>
            </a:r>
          </a:p>
        </p:txBody>
      </p:sp>
      <p:sp>
        <p:nvSpPr>
          <p:cNvPr id="25" name="Rectangle 24"/>
          <p:cNvSpPr/>
          <p:nvPr/>
        </p:nvSpPr>
        <p:spPr>
          <a:xfrm>
            <a:off x="324000" y="2736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1A7A4A"/>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Modernisation SI Publics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Plans gouvernementaux 2026-2028 — budgets numeriques confirmes 6 Etats EU</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Sensibilite Taux</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Compression multiples si taux &gt; 4,5 % — impact modere sur FCF structurel</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75/100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720000"/>
          </a:xfrm>
          <a:prstGeom prst="rect">
            <a:avLst/>
          </a:prstGeom>
          <a:noFill/>
        </p:spPr>
        <p:txBody>
          <a:bodyPr wrap="square">
            <a:spAutoFit/>
          </a:bodyPr>
          <a:lstStyle/>
          <a:p>
            <a:pPr algn="ctr"/>
            <a:r>
              <a:rPr sz="800" b="0" i="0">
                <a:solidFill>
                  <a:srgbClr val="2A5298"/>
                </a:solidFill>
              </a:rPr>
              <a:t>Secteur en phase d'expansion | porté par l'IA et le cloud souverain</a:t>
            </a:r>
          </a:p>
        </p:txBody>
      </p:sp>
      <p:sp>
        <p:nvSpPr>
          <p:cNvPr id="44" name="Rectangle 4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287.22</a:t>
                      </a:r>
                    </a:p>
                  </a:txBody>
                  <a:tcPr>
                    <a:noFill/>
                  </a:tcPr>
                </a:tc>
                <a:tc>
                  <a:txBody>
                    <a:bodyPr/>
                    <a:lstStyle/>
                    <a:p>
                      <a:pPr algn="ctr"/>
                      <a:r>
                        <a:rPr sz="750" b="0">
                          <a:solidFill>
                            <a:srgbClr val="1A1A1A"/>
                          </a:solidFill>
                        </a:rPr>
                        <a:t>21.6x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173.54</a:t>
                      </a:r>
                    </a:p>
                  </a:txBody>
                  <a:tcPr>
                    <a:solidFill>
                      <a:srgbClr val="F5F7FA"/>
                    </a:solidFill>
                  </a:tcPr>
                </a:tc>
                <a:tc>
                  <a:txBody>
                    <a:bodyPr/>
                    <a:lstStyle/>
                    <a:p>
                      <a:pPr algn="ctr"/>
                      <a:r>
                        <a:rPr sz="750" b="0">
                          <a:solidFill>
                            <a:srgbClr val="1A1A1A"/>
                          </a:solidFill>
                        </a:rPr>
                        <a:t>29.7x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+50.0 %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369.595</a:t>
                      </a:r>
                    </a:p>
                  </a:txBody>
                  <a:tcPr>
                    <a:noFill/>
                  </a:tcPr>
                </a:tc>
                <a:tc>
                  <a:txBody>
                    <a:bodyPr/>
                    <a:lstStyle/>
                    <a:p>
                      <a:pPr algn="ctr"/>
                      <a:r>
                        <a:rPr sz="750" b="0">
                          <a:solidFill>
                            <a:srgbClr val="1A1A1A"/>
                          </a:solidFill>
                        </a:rPr>
                        <a:t>15.4x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-6.1 %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571.0</a:t>
                      </a:r>
                    </a:p>
                  </a:txBody>
                  <a:tcPr>
                    <a:solidFill>
                      <a:srgbClr val="F5F7FA"/>
                    </a:solidFill>
                  </a:tcPr>
                </a:tc>
                <a:tc>
                  <a:txBody>
                    <a:bodyPr/>
                    <a:lstStyle/>
                    <a:p>
                      <a:pPr algn="ctr"/>
                      <a:r>
                        <a:rPr sz="750" b="0">
                          <a:solidFill>
                            <a:srgbClr val="1A1A1A"/>
                          </a:solidFill>
                        </a:rPr>
                        <a:t>13.3x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-8.5 %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146.01</a:t>
                      </a:r>
                    </a:p>
                  </a:txBody>
                  <a:tcPr>
                    <a:noFill/>
                  </a:tcPr>
                </a:tc>
                <a:tc>
                  <a:txBody>
                    <a:bodyPr/>
                    <a:lstStyle/>
                    <a:p>
                      <a:pPr algn="ctr"/>
                      <a:r>
                        <a:rPr sz="750" b="0">
                          <a:solidFill>
                            <a:srgbClr val="1A1A1A"/>
                          </a:solidFill>
                        </a:rPr>
                        <a:t>19.2x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-2.2 %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253.51</a:t>
                      </a:r>
                    </a:p>
                  </a:txBody>
                  <a:tcPr>
                    <a:solidFill>
                      <a:srgbClr val="F5F7FA"/>
                    </a:solidFill>
                  </a:tcPr>
                </a:tc>
                <a:tc>
                  <a:txBody>
                    <a:bodyPr/>
                    <a:lstStyle/>
                    <a:p>
                      <a:pPr algn="ctr"/>
                      <a:r>
                        <a:rPr sz="750" b="0">
                          <a:solidFill>
                            <a:srgbClr val="1A1A1A"/>
                          </a:solidFill>
                        </a:rPr>
                        <a:t>23.8x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+10.5 %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307.645</a:t>
                      </a:r>
                    </a:p>
                  </a:txBody>
                  <a:tcPr>
                    <a:noFill/>
                  </a:tcPr>
                </a:tc>
                <a:tc>
                  <a:txBody>
                    <a:bodyPr/>
                    <a:lstStyle/>
                    <a:p>
                      <a:pPr algn="ctr"/>
                      <a:r>
                        <a:rPr sz="750" b="0">
                          <a:solidFill>
                            <a:srgbClr val="1A1A1A"/>
                          </a:solidFill>
                        </a:rPr>
                        <a:t>4.0x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+16.4 %</a:t>
                      </a:r>
                    </a:p>
                  </a:txBody>
                  <a:tcPr>
                    <a:noFill/>
                  </a:tcPr>
                </a:tc>
                <a:tc>
                  <a:txBody>
                    <a:bodyPr/>
                    <a:lstStyle/>
                    <a:p>
                      <a:pPr algn="ctr"/>
                      <a:r>
                        <a:rPr sz="750" b="0">
                          <a:solidFill>
                            <a:srgbClr val="1A1A1A"/>
                          </a:solidFill>
                        </a:rPr>
                        <a:t>+74.1 %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202.5681</a:t>
                      </a:r>
                    </a:p>
                  </a:txBody>
                  <a:tcPr>
                    <a:solidFill>
                      <a:srgbClr val="F5F7FA"/>
                    </a:solidFill>
                  </a:tcPr>
                </a:tc>
                <a:tc>
                  <a:txBody>
                    <a:bodyPr/>
                    <a:lstStyle/>
                    <a:p>
                      <a:pPr algn="ctr"/>
                      <a:r>
                        <a:rPr sz="750" b="0">
                          <a:solidFill>
                            <a:srgbClr val="1A1A1A"/>
                          </a:solidFill>
                        </a:rPr>
                        <a:t>46.4x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+90.7 %</a:t>
                      </a:r>
                    </a:p>
                  </a:txBody>
                  <a:tcPr>
                    <a:solidFill>
                      <a:srgbClr val="F5F7FA"/>
                    </a:solidFill>
                  </a:tcPr>
                </a:tc>
              </a:tr>
            </a:tbl>
          </a:graphicData>
        </a:graphic>
      </p:graphicFrame>
      <p:sp>
        <p:nvSpPr>
          <p:cNvPr id="16" name="Rectangle 15"/>
          <p:cNvSpPr/>
          <p:nvPr/>
        </p:nvSpPr>
        <p:spPr>
          <a:xfrm>
            <a:off x="324000" y="28224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22400"/>
            <a:ext cx="360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876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128400"/>
            <a:ext cx="8280000" cy="90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Chaque point = une societe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(29.7x) soutenue par 71.1 % de marge brute.
AVGO se positionne en zone Opportunite — EV/EBITDA de 4.0x sous la médiane sectorielle de 20.4x.
La médiane sectorielle ressort a 20.4x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19</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74/100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10</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74/100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73/100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73/100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22400"/>
            <a:ext cx="8496000"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2840400"/>
            <a:ext cx="8352000" cy="216000"/>
          </a:xfrm>
          <a:prstGeom prst="rect">
            <a:avLst/>
          </a:prstGeom>
          <a:noFill/>
        </p:spPr>
        <p:txBody>
          <a:bodyPr wrap="square">
            <a:spAutoFit/>
          </a:bodyPr>
          <a:lstStyle/>
          <a:p>
            <a:pPr algn="l"/>
            <a:r>
              <a:rPr sz="750" b="0" i="0">
                <a:solidFill>
                  <a:srgbClr val="FFFFFF"/>
                </a:solidFill>
              </a:rPr>
              <a:t>LECTURE : Score &gt;= 75 = fort  ·  50-74 = moyen  ·  &lt; 50 = faible  ·  Pondération : Value 25 % · Growth 25 % · Quality 25 % · Momentum 25 %</a:t>
            </a:r>
          </a:p>
        </p:txBody>
      </p:sp>
      <p:sp>
        <p:nvSpPr>
          <p:cNvPr id="18" name="Rectangle 17"/>
          <p:cNvSpPr/>
          <p:nvPr/>
        </p:nvSpPr>
        <p:spPr>
          <a:xfrm>
            <a:off x="324000" y="31104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110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3128400"/>
            <a:ext cx="8316000" cy="216000"/>
          </a:xfrm>
          <a:prstGeom prst="rect">
            <a:avLst/>
          </a:prstGeom>
          <a:noFill/>
        </p:spPr>
        <p:txBody>
          <a:bodyPr wrap="square">
            <a:spAutoFit/>
          </a:bodyPr>
          <a:lstStyle/>
          <a:p>
            <a:pPr algn="l"/>
            <a:r>
              <a:rPr sz="850" b="1" i="0">
                <a:solidFill>
                  <a:srgbClr val="FFFFFF"/>
                </a:solidFill>
              </a:rPr>
              <a:t>SYNTHESE SCORES</a:t>
            </a:r>
          </a:p>
        </p:txBody>
      </p:sp>
      <p:sp>
        <p:nvSpPr>
          <p:cNvPr id="21" name="TextBox 20"/>
          <p:cNvSpPr txBox="1"/>
          <p:nvPr/>
        </p:nvSpPr>
        <p:spPr>
          <a:xfrm>
            <a:off x="396000" y="3398400"/>
            <a:ext cx="8352000" cy="6840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Value=11, Growth=25, Quality=25, Momentum=23. La dispersion des scores entre les 8 sociétés reflete des profils hétérogènes — une allocation selective privilegiant les leaders qualitatifs est recommandee dans la configuration sectorielle actuelle.</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345</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21.6x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2.5</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Acceleration des mandats IA dans les grands comptes europeens — contrats pluriannuels en hausse de 38 % sur T1 2026.</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Recession européenne confirmee entraînerait une reduction des budgets IT de 12-18 %, pénalisant les prestataires de services.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208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29.7x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2.5</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Plans d'investissement gouvernementaux 2026-2028 — budgets numeriques confirmes pour 6 Etats membres EU.</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Surcout de mise en conformite estime a 8-12 % du CA pour les editeurs de logiciels IA — impact marges 2027.</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MSFT</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Microsoft Corporatio</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444</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15.4x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57.4 %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2.5</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Contraintes réglementaires sur les données — migration vers solutions EU portee par NIS2 et DORA.</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Acteurs americains et asiatiques agressifs sur les segments logiciels standardises — guerre des prix bas de gamme.</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(20.4x)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20.4x.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287.22</a:t>
                      </a:r>
                    </a:p>
                  </a:txBody>
                  <a:tcPr>
                    <a:noFill/>
                  </a:tcPr>
                </a:tc>
                <a:tc>
                  <a:txBody>
                    <a:bodyPr/>
                    <a:lstStyle/>
                    <a:p>
                      <a:pPr algn="ctr"/>
                      <a:r>
                        <a:rPr sz="750" b="0">
                          <a:solidFill>
                            <a:srgbClr val="1A1A1A"/>
                          </a:solidFill>
                        </a:rPr>
                        <a:t>330.3</a:t>
                      </a:r>
                    </a:p>
                  </a:txBody>
                  <a:tcPr>
                    <a:noFill/>
                  </a:tcPr>
                </a:tc>
                <a:tc>
                  <a:txBody>
                    <a:bodyPr/>
                    <a:lstStyle/>
                    <a:p>
                      <a:pPr algn="ctr"/>
                      <a:r>
                        <a:rPr sz="750" b="0">
                          <a:solidFill>
                            <a:srgbClr val="1A1A1A"/>
                          </a:solidFill>
                        </a:rPr>
                        <a:t>&lt; 272.9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173.54</a:t>
                      </a:r>
                    </a:p>
                  </a:txBody>
                  <a:tcPr>
                    <a:solidFill>
                      <a:srgbClr val="F5F7FA"/>
                    </a:solidFill>
                  </a:tcPr>
                </a:tc>
                <a:tc>
                  <a:txBody>
                    <a:bodyPr/>
                    <a:lstStyle/>
                    <a:p>
                      <a:pPr algn="ctr"/>
                      <a:r>
                        <a:rPr sz="750" b="0">
                          <a:solidFill>
                            <a:srgbClr val="1A1A1A"/>
                          </a:solidFill>
                        </a:rPr>
                        <a:t>199.6</a:t>
                      </a:r>
                    </a:p>
                  </a:txBody>
                  <a:tcPr>
                    <a:solidFill>
                      <a:srgbClr val="F5F7FA"/>
                    </a:solidFill>
                  </a:tcPr>
                </a:tc>
                <a:tc>
                  <a:txBody>
                    <a:bodyPr/>
                    <a:lstStyle/>
                    <a:p>
                      <a:pPr algn="ctr"/>
                      <a:r>
                        <a:rPr sz="750" b="0">
                          <a:solidFill>
                            <a:srgbClr val="1A1A1A"/>
                          </a:solidFill>
                        </a:rPr>
                        <a:t>&lt; 164.9</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369.595</a:t>
                      </a:r>
                    </a:p>
                  </a:txBody>
                  <a:tcPr>
                    <a:noFill/>
                  </a:tcPr>
                </a:tc>
                <a:tc>
                  <a:txBody>
                    <a:bodyPr/>
                    <a:lstStyle/>
                    <a:p>
                      <a:pPr algn="ctr"/>
                      <a:r>
                        <a:rPr sz="750" b="0">
                          <a:solidFill>
                            <a:srgbClr val="1A1A1A"/>
                          </a:solidFill>
                        </a:rPr>
                        <a:t>425.0</a:t>
                      </a:r>
                    </a:p>
                  </a:txBody>
                  <a:tcPr>
                    <a:noFill/>
                  </a:tcPr>
                </a:tc>
                <a:tc>
                  <a:txBody>
                    <a:bodyPr/>
                    <a:lstStyle/>
                    <a:p>
                      <a:pPr algn="ctr"/>
                      <a:r>
                        <a:rPr sz="750" b="0">
                          <a:solidFill>
                            <a:srgbClr val="1A1A1A"/>
                          </a:solidFill>
                        </a:rPr>
                        <a:t>&lt; 351.1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571.0</a:t>
                      </a:r>
                    </a:p>
                  </a:txBody>
                  <a:tcPr>
                    <a:solidFill>
                      <a:srgbClr val="F5F7FA"/>
                    </a:solidFill>
                  </a:tcPr>
                </a:tc>
                <a:tc>
                  <a:txBody>
                    <a:bodyPr/>
                    <a:lstStyle/>
                    <a:p>
                      <a:pPr algn="ctr"/>
                      <a:r>
                        <a:rPr sz="750" b="0">
                          <a:solidFill>
                            <a:srgbClr val="1A1A1A"/>
                          </a:solidFill>
                        </a:rPr>
                        <a:t>656.6</a:t>
                      </a:r>
                    </a:p>
                  </a:txBody>
                  <a:tcPr>
                    <a:solidFill>
                      <a:srgbClr val="F5F7FA"/>
                    </a:solidFill>
                  </a:tcPr>
                </a:tc>
                <a:tc>
                  <a:txBody>
                    <a:bodyPr/>
                    <a:lstStyle/>
                    <a:p>
                      <a:pPr algn="ctr"/>
                      <a:r>
                        <a:rPr sz="750" b="0">
                          <a:solidFill>
                            <a:srgbClr val="1A1A1A"/>
                          </a:solidFill>
                        </a:rPr>
                        <a:t>&lt; 542.4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146.01</a:t>
                      </a:r>
                    </a:p>
                  </a:txBody>
                  <a:tcPr>
                    <a:noFill/>
                  </a:tcPr>
                </a:tc>
                <a:tc>
                  <a:txBody>
                    <a:bodyPr/>
                    <a:lstStyle/>
                    <a:p>
                      <a:pPr algn="ctr"/>
                      <a:r>
                        <a:rPr sz="750" b="0">
                          <a:solidFill>
                            <a:srgbClr val="1A1A1A"/>
                          </a:solidFill>
                        </a:rPr>
                        <a:t>167.9</a:t>
                      </a:r>
                    </a:p>
                  </a:txBody>
                  <a:tcPr>
                    <a:noFill/>
                  </a:tcPr>
                </a:tc>
                <a:tc>
                  <a:txBody>
                    <a:bodyPr/>
                    <a:lstStyle/>
                    <a:p>
                      <a:pPr algn="ctr"/>
                      <a:r>
                        <a:rPr sz="750" b="0">
                          <a:solidFill>
                            <a:srgbClr val="1A1A1A"/>
                          </a:solidFill>
                        </a:rPr>
                        <a:t>&lt; 138.7</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253.51</a:t>
                      </a:r>
                    </a:p>
                  </a:txBody>
                  <a:tcPr>
                    <a:solidFill>
                      <a:srgbClr val="F5F7FA"/>
                    </a:solidFill>
                  </a:tcPr>
                </a:tc>
                <a:tc>
                  <a:txBody>
                    <a:bodyPr/>
                    <a:lstStyle/>
                    <a:p>
                      <a:pPr algn="ctr"/>
                      <a:r>
                        <a:rPr sz="750" b="0">
                          <a:solidFill>
                            <a:srgbClr val="1A1A1A"/>
                          </a:solidFill>
                        </a:rPr>
                        <a:t>291.5</a:t>
                      </a:r>
                    </a:p>
                  </a:txBody>
                  <a:tcPr>
                    <a:solidFill>
                      <a:srgbClr val="F5F7FA"/>
                    </a:solidFill>
                  </a:tcPr>
                </a:tc>
                <a:tc>
                  <a:txBody>
                    <a:bodyPr/>
                    <a:lstStyle/>
                    <a:p>
                      <a:pPr algn="ctr"/>
                      <a:r>
                        <a:rPr sz="750" b="0">
                          <a:solidFill>
                            <a:srgbClr val="1A1A1A"/>
                          </a:solidFill>
                        </a:rPr>
                        <a:t>&lt; 240.8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307.645</a:t>
                      </a:r>
                    </a:p>
                  </a:txBody>
                  <a:tcPr>
                    <a:noFill/>
                  </a:tcPr>
                </a:tc>
                <a:tc>
                  <a:txBody>
                    <a:bodyPr/>
                    <a:lstStyle/>
                    <a:p>
                      <a:pPr algn="ctr"/>
                      <a:r>
                        <a:rPr sz="750" b="0">
                          <a:solidFill>
                            <a:srgbClr val="1A1A1A"/>
                          </a:solidFill>
                        </a:rPr>
                        <a:t>353.8</a:t>
                      </a:r>
                    </a:p>
                  </a:txBody>
                  <a:tcPr>
                    <a:noFill/>
                  </a:tcPr>
                </a:tc>
                <a:tc>
                  <a:txBody>
                    <a:bodyPr/>
                    <a:lstStyle/>
                    <a:p>
                      <a:pPr algn="ctr"/>
                      <a:r>
                        <a:rPr sz="750" b="0">
                          <a:solidFill>
                            <a:srgbClr val="1A1A1A"/>
                          </a:solidFill>
                        </a:rPr>
                        <a:t>&lt; 292.3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202.5681</a:t>
                      </a:r>
                    </a:p>
                  </a:txBody>
                  <a:tcPr>
                    <a:solidFill>
                      <a:srgbClr val="F5F7FA"/>
                    </a:solidFill>
                  </a:tcPr>
                </a:tc>
                <a:tc>
                  <a:txBody>
                    <a:bodyPr/>
                    <a:lstStyle/>
                    <a:p>
                      <a:pPr algn="ctr"/>
                      <a:r>
                        <a:rPr sz="750" b="0">
                          <a:solidFill>
                            <a:srgbClr val="1A1A1A"/>
                          </a:solidFill>
                        </a:rPr>
                        <a:t>233.0</a:t>
                      </a:r>
                    </a:p>
                  </a:txBody>
                  <a:tcPr>
                    <a:solidFill>
                      <a:srgbClr val="F5F7FA"/>
                    </a:solidFill>
                  </a:tcPr>
                </a:tc>
                <a:tc>
                  <a:txBody>
                    <a:bodyPr/>
                    <a:lstStyle/>
                    <a:p>
                      <a:pPr algn="ctr"/>
                      <a:r>
                        <a:rPr sz="750" b="0">
                          <a:solidFill>
                            <a:srgbClr val="1A1A1A"/>
                          </a:solidFill>
                        </a:rPr>
                        <a:t>&lt; 192.4</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14000"/>
            <a:ext cx="8496000" cy="576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14000"/>
            <a:ext cx="36000" cy="57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42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12000"/>
            <a:ext cx="8316000" cy="378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32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000" y="4086000"/>
            <a:ext cx="2592000" cy="360000"/>
          </a:xfrm>
          <a:prstGeom prst="rect">
            <a:avLst/>
          </a:prstGeom>
          <a:noFill/>
        </p:spPr>
        <p:txBody>
          <a:bodyPr wrap="square">
            <a:spAutoFit/>
          </a:bodyPr>
          <a:lstStyle/>
          <a:p>
            <a:pPr algn="l"/>
            <a:r>
              <a:rPr sz="2000" b="1" i="0">
                <a:solidFill>
                  <a:srgbClr val="1B3A6B"/>
                </a:solidFill>
              </a:rPr>
              <a:t>68 %</a:t>
            </a:r>
          </a:p>
        </p:txBody>
      </p:sp>
      <p:sp>
        <p:nvSpPr>
          <p:cNvPr id="26" name="TextBox 25"/>
          <p:cNvSpPr txBox="1"/>
          <p:nvPr/>
        </p:nvSpPr>
        <p:spPr>
          <a:xfrm>
            <a:off x="432000" y="4428000"/>
            <a:ext cx="2592000" cy="162000"/>
          </a:xfrm>
          <a:prstGeom prst="rect">
            <a:avLst/>
          </a:prstGeom>
          <a:noFill/>
        </p:spPr>
        <p:txBody>
          <a:bodyPr wrap="square">
            <a:spAutoFit/>
          </a:bodyPr>
          <a:lstStyle/>
          <a:p>
            <a:pPr algn="l"/>
            <a:r>
              <a:rPr sz="750" b="0" i="0">
                <a:solidFill>
                  <a:srgbClr val="555555"/>
                </a:solidFill>
              </a:rPr>
              <a:t>Proba. rendement +</a:t>
            </a:r>
          </a:p>
        </p:txBody>
      </p:sp>
      <p:sp>
        <p:nvSpPr>
          <p:cNvPr id="27" name="TextBox 26"/>
          <p:cNvSpPr txBox="1"/>
          <p:nvPr/>
        </p:nvSpPr>
        <p:spPr>
          <a:xfrm>
            <a:off x="432000" y="4572000"/>
            <a:ext cx="2592000" cy="144000"/>
          </a:xfrm>
          <a:prstGeom prst="rect">
            <a:avLst/>
          </a:prstGeom>
          <a:noFill/>
        </p:spPr>
        <p:txBody>
          <a:bodyPr wrap="square">
            <a:spAutoFit/>
          </a:bodyPr>
          <a:lstStyle/>
          <a:p>
            <a:pPr algn="l"/>
            <a:r>
              <a:rPr sz="700" b="0" i="0">
                <a:solidFill>
                  <a:srgbClr val="AAAAAA"/>
                </a:solidFill>
              </a:rPr>
              <a:t>historique 12 mois</a:t>
            </a:r>
          </a:p>
        </p:txBody>
      </p:sp>
      <p:sp>
        <p:nvSpPr>
          <p:cNvPr id="28" name="Rectangle 27"/>
          <p:cNvSpPr/>
          <p:nvPr/>
        </p:nvSpPr>
        <p:spPr>
          <a:xfrm>
            <a:off x="3204000"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4000"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2000" y="4086000"/>
            <a:ext cx="2592000" cy="360000"/>
          </a:xfrm>
          <a:prstGeom prst="rect">
            <a:avLst/>
          </a:prstGeom>
          <a:noFill/>
        </p:spPr>
        <p:txBody>
          <a:bodyPr wrap="square">
            <a:spAutoFit/>
          </a:bodyPr>
          <a:lstStyle/>
          <a:p>
            <a:pPr algn="l"/>
            <a:r>
              <a:rPr sz="2000" b="1" i="0">
                <a:solidFill>
                  <a:srgbClr val="1B3A6B"/>
                </a:solidFill>
              </a:rPr>
              <a:t>8 / 8</a:t>
            </a:r>
          </a:p>
        </p:txBody>
      </p:sp>
      <p:sp>
        <p:nvSpPr>
          <p:cNvPr id="31" name="TextBox 30"/>
          <p:cNvSpPr txBox="1"/>
          <p:nvPr/>
        </p:nvSpPr>
        <p:spPr>
          <a:xfrm>
            <a:off x="3312000" y="4428000"/>
            <a:ext cx="2592000" cy="162000"/>
          </a:xfrm>
          <a:prstGeom prst="rect">
            <a:avLst/>
          </a:prstGeom>
          <a:noFill/>
        </p:spPr>
        <p:txBody>
          <a:bodyPr wrap="square">
            <a:spAutoFit/>
          </a:bodyPr>
          <a:lstStyle/>
          <a:p>
            <a:pPr algn="l"/>
            <a:r>
              <a:rPr sz="750" b="0" i="0">
                <a:solidFill>
                  <a:srgbClr val="555555"/>
                </a:solidFill>
              </a:rPr>
              <a:t>Societes en zone</a:t>
            </a:r>
          </a:p>
        </p:txBody>
      </p:sp>
      <p:sp>
        <p:nvSpPr>
          <p:cNvPr id="32" name="TextBox 31"/>
          <p:cNvSpPr txBox="1"/>
          <p:nvPr/>
        </p:nvSpPr>
        <p:spPr>
          <a:xfrm>
            <a:off x="3312000" y="4572000"/>
            <a:ext cx="2592000" cy="144000"/>
          </a:xfrm>
          <a:prstGeom prst="rect">
            <a:avLst/>
          </a:prstGeom>
          <a:noFill/>
        </p:spPr>
        <p:txBody>
          <a:bodyPr wrap="square">
            <a:spAutoFit/>
          </a:bodyPr>
          <a:lstStyle/>
          <a:p>
            <a:pPr algn="l"/>
            <a:r>
              <a:rPr sz="700" b="0" i="0">
                <a:solidFill>
                  <a:srgbClr val="AAAAAA"/>
                </a:solidFill>
              </a:rPr>
              <a:t>recommandation BUY</a:t>
            </a:r>
          </a:p>
        </p:txBody>
      </p:sp>
      <p:sp>
        <p:nvSpPr>
          <p:cNvPr id="33" name="Rectangle 32"/>
          <p:cNvSpPr/>
          <p:nvPr/>
        </p:nvSpPr>
        <p:spPr>
          <a:xfrm>
            <a:off x="6083999" y="4068000"/>
            <a:ext cx="2772000" cy="7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3999" y="4068000"/>
            <a:ext cx="36000" cy="720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4086000"/>
            <a:ext cx="2592000" cy="360000"/>
          </a:xfrm>
          <a:prstGeom prst="rect">
            <a:avLst/>
          </a:prstGeom>
          <a:noFill/>
        </p:spPr>
        <p:txBody>
          <a:bodyPr wrap="square">
            <a:spAutoFit/>
          </a:bodyPr>
          <a:lstStyle/>
          <a:p>
            <a:pPr algn="l"/>
            <a:r>
              <a:rPr sz="2000" b="1" i="0">
                <a:solidFill>
                  <a:srgbClr val="1B3A6B"/>
                </a:solidFill>
              </a:rPr>
              <a:t>-10 %</a:t>
            </a:r>
          </a:p>
        </p:txBody>
      </p:sp>
      <p:sp>
        <p:nvSpPr>
          <p:cNvPr id="36" name="TextBox 35"/>
          <p:cNvSpPr txBox="1"/>
          <p:nvPr/>
        </p:nvSpPr>
        <p:spPr>
          <a:xfrm>
            <a:off x="6192000" y="4428000"/>
            <a:ext cx="2592000" cy="162000"/>
          </a:xfrm>
          <a:prstGeom prst="rect">
            <a:avLst/>
          </a:prstGeom>
          <a:noFill/>
        </p:spPr>
        <p:txBody>
          <a:bodyPr wrap="square">
            <a:spAutoFit/>
          </a:bodyPr>
          <a:lstStyle/>
          <a:p>
            <a:pPr algn="l"/>
            <a:r>
              <a:rPr sz="750" b="0" i="0">
                <a:solidFill>
                  <a:srgbClr val="555555"/>
                </a:solidFill>
              </a:rPr>
              <a:t>Décote DCF min.</a:t>
            </a:r>
          </a:p>
        </p:txBody>
      </p:sp>
      <p:sp>
        <p:nvSpPr>
          <p:cNvPr id="37" name="TextBox 36"/>
          <p:cNvSpPr txBox="1"/>
          <p:nvPr/>
        </p:nvSpPr>
        <p:spPr>
          <a:xfrm>
            <a:off x="6192000" y="4572000"/>
            <a:ext cx="2592000" cy="144000"/>
          </a:xfrm>
          <a:prstGeom prst="rect">
            <a:avLst/>
          </a:prstGeom>
          <a:noFill/>
        </p:spPr>
        <p:txBody>
          <a:bodyPr wrap="square">
            <a:spAutoFit/>
          </a:bodyPr>
          <a:lstStyle/>
          <a:p>
            <a:pPr algn="l"/>
            <a:r>
              <a:rPr sz="700" b="0" i="0">
                <a:solidFill>
                  <a:srgbClr val="AAAAAA"/>
                </a:solidFill>
              </a:rPr>
              <a:t>seuil d'activation</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Ralentissement Budgets IT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Recession européenne confirmee entraînerait une reduction des budgets IT de 12-18 %, pénalisant les prestataires de services.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Durcissement AI Act</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Surcout de mise en conformite estime a 8-12 % du CA pour les editeurs de logiciels IA — impact marges 2027.</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Pression Tarifaire US/Asie</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Acteurs americains et asiatiques agressifs sur les segments logiciels standardises — guerre des prix bas de gamme.</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UE confirmee — contraction PIB &gt; 1,5 %</a:t>
                      </a:r>
                    </a:p>
                  </a:txBody>
                  <a:tcPr>
                    <a:noFill/>
                  </a:tcPr>
                </a:tc>
                <a:tc>
                  <a:txBody>
                    <a:bodyPr/>
                    <a:lstStyle/>
                    <a:p>
                      <a:pPr algn="ctr"/>
                      <a:r>
                        <a:rPr sz="800" b="0">
                          <a:solidFill>
                            <a:srgbClr val="1A1A1A"/>
                          </a:solidFill>
                        </a:rPr>
                        <a:t>6-12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Reduction budgets IT &gt; 15 % grands comptes</a:t>
                      </a:r>
                    </a:p>
                  </a:txBody>
                  <a:tcPr>
                    <a:solidFill>
                      <a:srgbClr val="F5F7FA"/>
                    </a:solidFill>
                  </a:tcPr>
                </a:tc>
                <a:tc>
                  <a:txBody>
                    <a:bodyPr/>
                    <a:lstStyle/>
                    <a:p>
                      <a:pPr algn="ctr"/>
                      <a:r>
                        <a:rPr sz="800" b="0">
                          <a:solidFill>
                            <a:srgbClr val="1A1A1A"/>
                          </a:solidFill>
                        </a:rPr>
                        <a:t>12-18 mois</a:t>
                      </a:r>
                    </a:p>
                  </a:txBody>
                  <a:tcPr>
                    <a:solidFill>
                      <a:srgbClr val="F5F7FA"/>
                    </a:solidFill>
                  </a:tcPr>
                </a:tc>
              </a:tr>
              <a:tr h="223200">
                <a:tc>
                  <a:txBody>
                    <a:bodyPr/>
                    <a:lstStyle/>
                    <a:p>
                      <a:pPr algn="ctr"/>
                      <a:r>
                        <a:rPr sz="800" b="0">
                          <a:solidFill>
                            <a:srgbClr val="1A1A1A"/>
                          </a:solidFill>
                        </a:rPr>
                        <a:t>Réglementaire</a:t>
                      </a:r>
                    </a:p>
                  </a:txBody>
                  <a:tcPr>
                    <a:noFill/>
                  </a:tcPr>
                </a:tc>
                <a:tc>
                  <a:txBody>
                    <a:bodyPr/>
                    <a:lstStyle/>
                    <a:p>
                      <a:pPr algn="ctr"/>
                      <a:r>
                        <a:rPr sz="800" b="0">
                          <a:solidFill>
                            <a:srgbClr val="1A1A1A"/>
                          </a:solidFill>
                        </a:rPr>
                        <a:t>AI Act surcoût conformite &gt; 15 % CA</a:t>
                      </a:r>
                    </a:p>
                  </a:txBody>
                  <a:tcPr>
                    <a:noFill/>
                  </a:tcPr>
                </a:tc>
                <a:tc>
                  <a:txBody>
                    <a:bodyPr/>
                    <a:lstStyle/>
                    <a:p>
                      <a:pPr algn="ctr"/>
                      <a:r>
                        <a:rPr sz="800" b="0">
                          <a:solidFill>
                            <a:srgbClr val="1A1A1A"/>
                          </a:solidFill>
                        </a:rPr>
                        <a:t>18-24 mois</a:t>
                      </a:r>
                    </a:p>
                  </a:txBody>
                  <a:tcPr>
                    <a:noFill/>
                  </a:tcPr>
                </a:tc>
              </a:tr>
              <a:tr h="223200">
                <a:tc>
                  <a:txBody>
                    <a:bodyPr/>
                    <a:lstStyle/>
                    <a:p>
                      <a:pPr algn="ctr"/>
                      <a:r>
                        <a:rPr sz="800" b="0">
                          <a:solidFill>
                            <a:srgbClr val="1A1A1A"/>
                          </a:solidFill>
                        </a:rPr>
                        <a:t>Fondamental</a:t>
                      </a:r>
                    </a:p>
                  </a:txBody>
                  <a:tcPr>
                    <a:solidFill>
                      <a:srgbClr val="F5F7FA"/>
                    </a:solidFill>
                  </a:tcPr>
                </a:tc>
                <a:tc>
                  <a:txBody>
                    <a:bodyPr/>
                    <a:lstStyle/>
                    <a:p>
                      <a:pPr algn="ctr"/>
                      <a:r>
                        <a:rPr sz="800" b="0">
                          <a:solidFill>
                            <a:srgbClr val="1A1A1A"/>
                          </a:solidFill>
                        </a:rPr>
                        <a:t>Revision baissiere EPS &gt; 20 % sur 2 trimestres</a:t>
                      </a:r>
                    </a:p>
                  </a:txBody>
                  <a:tcPr>
                    <a:solidFill>
                      <a:srgbClr val="F5F7FA"/>
                    </a:solidFill>
                  </a:tcPr>
                </a:tc>
                <a:tc>
                  <a:txBody>
                    <a:bodyPr/>
                    <a:lstStyle/>
                    <a:p>
                      <a:pPr algn="ctr"/>
                      <a:r>
                        <a:rPr sz="800" b="0">
                          <a:solidFill>
                            <a:srgbClr val="1A1A1A"/>
                          </a:solidFill>
                        </a:rPr>
                        <a:t>6-9 mois</a:t>
                      </a:r>
                    </a:p>
                  </a:txBody>
                  <a:tcPr>
                    <a:solidFill>
                      <a:srgbClr val="F5F7FA"/>
                    </a:solidFill>
                  </a:tcPr>
                </a:tc>
              </a:tr>
            </a:tbl>
          </a:graphicData>
        </a:graphic>
      </p:graphicFrame>
      <p:sp>
        <p:nvSpPr>
          <p:cNvPr id="29" name="Rectangle 2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IA Generative — Acceleration des mandats IA dans les grands comptes europeens — contrats pluriannuels en hausse de 38 % sur T1 2026.</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Ralentissement Budgets IT — Recession européenne confirmee entraînerait une reduction des budgets IT de 12-18 %, pénalisant les prestataires de services.</a:t>
            </a:r>
          </a:p>
        </p:txBody>
      </p:sp>
      <p:sp>
        <p:nvSpPr>
          <p:cNvPr id="36" name="Rectangle 35"/>
          <p:cNvSpPr/>
          <p:nvPr/>
        </p:nvSpPr>
        <p:spPr>
          <a:xfrm>
            <a:off x="324000" y="2664000"/>
            <a:ext cx="8496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827999"/>
          </a:xfrm>
          <a:prstGeom prst="rect">
            <a:avLst/>
          </a:prstGeom>
          <a:noFill/>
        </p:spPr>
        <p:txBody>
          <a:bodyPr wrap="square">
            <a:spAutoFit/>
          </a:bodyPr>
          <a:lstStyle/>
          <a:p>
            <a:pPr algn="l"/>
            <a:r>
              <a:rPr sz="850" b="0" i="0">
                <a:solidFill>
                  <a:srgbClr val="555555"/>
                </a:solidFill>
              </a:rPr>
              <a:t>Le sentiment agrégé sur le secteur Technology S&amp;P 500 ressort neutre (0.00). La dispersion est forte — les leaders sectoriels tirent le sentiment vers le haut tandis que les valeurs en restructuration drainent la composante negative. Cette hétérogénéité valide une approche selective plut que directionelle sur le secteur.</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+91%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META  -8%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99 pts — 5 valeur(s) positives vs 3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