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24.1x  ·  Croissance med. : +22.7 %  ·  Marge EBITDA med. : 46.8 %  ·  Score moyen : 78/100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accélérée de l'IA</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dépenses en infrastructures cloud et GPU explosent avec une demande insatiable pour les modèles d'IA, soutenant les revenus récurrents des acteurs comme NVDA et GOOGL.</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Transition vers l'edge computing</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 décentralisation des calculs vers les appareils locaux (smartphones, IoT) crée de nouveaux relais de croissance pour les fournisseurs de puces et logiciels.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Réglementation favorable aux géants</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cadres antitrust aux États-Unis et en Europe semblent moins restrictifs que prévu pour les leaders technologiques, limitant les risques de démantèlement.</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Surcapacité dans les semi-conducteurs</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Une correction brutale des commandes de puces pourrait impacter les marges des fabricants comme NVDA, déjà exposés à des cycles de demande très volatils.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 accrue en cloud</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Les hyperscalers (AWS, Azure) et les acteurs chinois (Alibaba, Tencent) grignotent des parts de marché, pesant sur les prix des services cloud.</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Risque géopolitique</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tensions commerciales USA-Chine et les restrictions à l'export de technologies critiques pourraient perturber les chaînes d'approvisionnement des leaders technologiques.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24.1x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+22.7 %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+67.3 %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élevée avec un multiple EV/EBITDA médian de 24.1x, reflétant une prime pour la croissance structurelle et l'innovation, notamment dans l'IA générative et les semi-conducteurs avancés. Les marges EBITDA à 46.8% confirment la capacité des leaders à capter la valeur ajoutée malgré des coûts R&amp;D élevés.</a:t>
            </a:r>
          </a:p>
        </p:txBody>
      </p:sp>
      <p:sp>
        <p:nvSpPr>
          <p:cNvPr id="18" name="Rectangle 17"/>
          <p:cNvSpPr/>
          <p:nvPr/>
        </p:nvSpPr>
        <p:spPr>
          <a:xfrm>
            <a:off x="396000" y="2700000"/>
            <a:ext cx="4788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8000" y="2718000"/>
            <a:ext cx="4644000" cy="144000"/>
          </a:xfrm>
          <a:prstGeom prst="rect">
            <a:avLst/>
          </a:prstGeom>
          <a:noFill/>
        </p:spPr>
        <p:txBody>
          <a:bodyPr wrap="square">
            <a:spAutoFit/>
          </a:bodyPr>
          <a:lstStyle/>
          <a:p>
            <a:pPr algn="ctr"/>
            <a:r>
              <a:rPr sz="750" b="1" i="0">
                <a:solidFill>
                  <a:srgbClr val="FFFFFF"/>
                </a:solidFill>
              </a:rPr>
              <a:t>CATALYSEURS CLÉS</a:t>
            </a:r>
          </a:p>
        </p:txBody>
      </p:sp>
      <p:sp>
        <p:nvSpPr>
          <p:cNvPr id="20" name="Rectangle 19"/>
          <p:cNvSpPr/>
          <p:nvPr/>
        </p:nvSpPr>
        <p:spPr>
          <a:xfrm>
            <a:off x="486000" y="289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000" y="2898000"/>
            <a:ext cx="4500000" cy="162000"/>
          </a:xfrm>
          <a:prstGeom prst="rect">
            <a:avLst/>
          </a:prstGeom>
          <a:noFill/>
        </p:spPr>
        <p:txBody>
          <a:bodyPr wrap="square">
            <a:spAutoFit/>
          </a:bodyPr>
          <a:lstStyle/>
          <a:p>
            <a:pPr algn="l"/>
            <a:r>
              <a:rPr sz="800" b="1" i="0">
                <a:solidFill>
                  <a:srgbClr val="1B3A6B"/>
                </a:solidFill>
              </a:rPr>
              <a:t>Adoption accélérée de l'IA</a:t>
            </a:r>
          </a:p>
        </p:txBody>
      </p:sp>
      <p:sp>
        <p:nvSpPr>
          <p:cNvPr id="22" name="TextBox 21"/>
          <p:cNvSpPr txBox="1"/>
          <p:nvPr/>
        </p:nvSpPr>
        <p:spPr>
          <a:xfrm>
            <a:off x="594000" y="3060000"/>
            <a:ext cx="4500000" cy="378000"/>
          </a:xfrm>
          <a:prstGeom prst="rect">
            <a:avLst/>
          </a:prstGeom>
          <a:noFill/>
        </p:spPr>
        <p:txBody>
          <a:bodyPr wrap="square">
            <a:spAutoFit/>
          </a:bodyPr>
          <a:lstStyle/>
          <a:p>
            <a:pPr algn="l"/>
            <a:r>
              <a:rPr sz="750" b="0" i="0">
                <a:solidFill>
                  <a:srgbClr val="555555"/>
                </a:solidFill>
              </a:rPr>
              <a:t>Les dépenses en infrastructures cloud et GPU explosent avec une demande insatiable pour les modèles d'IA, soutenant les revenus récurrents des acteurs comme NVDA et GOOGL.</a:t>
            </a:r>
          </a:p>
        </p:txBody>
      </p:sp>
      <p:sp>
        <p:nvSpPr>
          <p:cNvPr id="23" name="Rectangle 22"/>
          <p:cNvSpPr/>
          <p:nvPr/>
        </p:nvSpPr>
        <p:spPr>
          <a:xfrm>
            <a:off x="486000" y="343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000" y="3438000"/>
            <a:ext cx="4500000" cy="162000"/>
          </a:xfrm>
          <a:prstGeom prst="rect">
            <a:avLst/>
          </a:prstGeom>
          <a:noFill/>
        </p:spPr>
        <p:txBody>
          <a:bodyPr wrap="square">
            <a:spAutoFit/>
          </a:bodyPr>
          <a:lstStyle/>
          <a:p>
            <a:pPr algn="l"/>
            <a:r>
              <a:rPr sz="800" b="1" i="0">
                <a:solidFill>
                  <a:srgbClr val="1B3A6B"/>
                </a:solidFill>
              </a:rPr>
              <a:t>Transition vers l'edge computing</a:t>
            </a:r>
          </a:p>
        </p:txBody>
      </p:sp>
      <p:sp>
        <p:nvSpPr>
          <p:cNvPr id="25" name="TextBox 24"/>
          <p:cNvSpPr txBox="1"/>
          <p:nvPr/>
        </p:nvSpPr>
        <p:spPr>
          <a:xfrm>
            <a:off x="594000" y="3600000"/>
            <a:ext cx="4500000" cy="378000"/>
          </a:xfrm>
          <a:prstGeom prst="rect">
            <a:avLst/>
          </a:prstGeom>
          <a:noFill/>
        </p:spPr>
        <p:txBody>
          <a:bodyPr wrap="square">
            <a:spAutoFit/>
          </a:bodyPr>
          <a:lstStyle/>
          <a:p>
            <a:pPr algn="l"/>
            <a:r>
              <a:rPr sz="750" b="0" i="0">
                <a:solidFill>
                  <a:srgbClr val="555555"/>
                </a:solidFill>
              </a:rPr>
              <a:t>La décentralisation des calculs vers les appareils locaux (smartphones, IoT) crée de nouveaux relais de croissance pour les fournisseurs de puces et logiciels.</a:t>
            </a:r>
          </a:p>
        </p:txBody>
      </p:sp>
      <p:sp>
        <p:nvSpPr>
          <p:cNvPr id="26" name="Rectangle 25"/>
          <p:cNvSpPr/>
          <p:nvPr/>
        </p:nvSpPr>
        <p:spPr>
          <a:xfrm>
            <a:off x="486000" y="397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000" y="3978000"/>
            <a:ext cx="4500000" cy="162000"/>
          </a:xfrm>
          <a:prstGeom prst="rect">
            <a:avLst/>
          </a:prstGeom>
          <a:noFill/>
        </p:spPr>
        <p:txBody>
          <a:bodyPr wrap="square">
            <a:spAutoFit/>
          </a:bodyPr>
          <a:lstStyle/>
          <a:p>
            <a:pPr algn="l"/>
            <a:r>
              <a:rPr sz="800" b="1" i="0">
                <a:solidFill>
                  <a:srgbClr val="1B3A6B"/>
                </a:solidFill>
              </a:rPr>
              <a:t>Réglementation favorable aux géants</a:t>
            </a:r>
          </a:p>
        </p:txBody>
      </p:sp>
      <p:sp>
        <p:nvSpPr>
          <p:cNvPr id="28" name="TextBox 27"/>
          <p:cNvSpPr txBox="1"/>
          <p:nvPr/>
        </p:nvSpPr>
        <p:spPr>
          <a:xfrm>
            <a:off x="594000" y="4140000"/>
            <a:ext cx="4500000" cy="378000"/>
          </a:xfrm>
          <a:prstGeom prst="rect">
            <a:avLst/>
          </a:prstGeom>
          <a:noFill/>
        </p:spPr>
        <p:txBody>
          <a:bodyPr wrap="square">
            <a:spAutoFit/>
          </a:bodyPr>
          <a:lstStyle/>
          <a:p>
            <a:pPr algn="l"/>
            <a:r>
              <a:rPr sz="750" b="0" i="0">
                <a:solidFill>
                  <a:srgbClr val="555555"/>
                </a:solidFill>
              </a:rPr>
              <a:t>Les cadres antitrust aux États-Unis et en Europe semblent moins restrictifs que prévu pour les leaders technologiques, limitant les risques de démantèlement.</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24.1x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+22.7 %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+67.3 %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23.4x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27.8x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32.0x</a:t>
                      </a:r>
                    </a:p>
                  </a:txBody>
                  <a:tcPr>
                    <a:solidFill>
                      <a:srgbClr val="F5F7FA"/>
                    </a:solidFill>
                  </a:tcPr>
                </a:tc>
                <a:tc>
                  <a:txBody>
                    <a:bodyPr/>
                    <a:lstStyle/>
                    <a:p>
                      <a:pPr algn="ctr"/>
                      <a:r>
                        <a:rPr sz="750" b="0">
                          <a:solidFill>
                            <a:srgbClr val="1A1A1A"/>
                          </a:solidFill>
                        </a:rPr>
                        <a:t>19.7x</a:t>
                      </a:r>
                    </a:p>
                  </a:txBody>
                  <a:tcPr>
                    <a:solidFill>
                      <a:srgbClr val="F5F7FA"/>
                    </a:solidFill>
                  </a:tcPr>
                </a:tc>
                <a:tc>
                  <a:txBody>
                    <a:bodyPr/>
                    <a:lstStyle/>
                    <a:p>
                      <a:pPr algn="ctr"/>
                      <a:r>
                        <a:rPr sz="750" b="0">
                          <a:solidFill>
                            <a:srgbClr val="1A1A1A"/>
                          </a:solidFill>
                        </a:rPr>
                        <a:t>36.3x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24.7x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32.7x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14.3x</a:t>
                      </a:r>
                    </a:p>
                  </a:txBody>
                  <a:tcPr>
                    <a:solidFill>
                      <a:srgbClr val="F5F7FA"/>
                    </a:solidFill>
                  </a:tcPr>
                </a:tc>
                <a:tc>
                  <a:txBody>
                    <a:bodyPr/>
                    <a:lstStyle/>
                    <a:p>
                      <a:pPr algn="ctr"/>
                      <a:r>
                        <a:rPr sz="750" b="0">
                          <a:solidFill>
                            <a:srgbClr val="1A1A1A"/>
                          </a:solidFill>
                        </a:rPr>
                        <a:t>7.2x</a:t>
                      </a:r>
                    </a:p>
                  </a:txBody>
                  <a:tcPr>
                    <a:solidFill>
                      <a:srgbClr val="F5F7FA"/>
                    </a:solidFill>
                  </a:tcPr>
                </a:tc>
                <a:tc>
                  <a:txBody>
                    <a:bodyPr/>
                    <a:lstStyle/>
                    <a:p>
                      <a:pPr algn="ctr"/>
                      <a:r>
                        <a:rPr sz="750" b="0">
                          <a:solidFill>
                            <a:srgbClr val="1A1A1A"/>
                          </a:solidFill>
                        </a:rPr>
                        <a:t>24.4x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9.2x</a:t>
                      </a:r>
                    </a:p>
                  </a:txBody>
                  <a:tcPr>
                    <a:noFill/>
                  </a:tcPr>
                </a:tc>
                <a:tc>
                  <a:txBody>
                    <a:bodyPr/>
                    <a:lstStyle/>
                    <a:p>
                      <a:pPr algn="ctr"/>
                      <a:r>
                        <a:rPr sz="750" b="0">
                          <a:solidFill>
                            <a:srgbClr val="1A1A1A"/>
                          </a:solidFill>
                        </a:rPr>
                        <a:t>23.3x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20.0x</a:t>
                      </a:r>
                    </a:p>
                  </a:txBody>
                  <a:tcPr>
                    <a:solidFill>
                      <a:srgbClr val="F5F7FA"/>
                    </a:solidFill>
                  </a:tcPr>
                </a:tc>
                <a:tc>
                  <a:txBody>
                    <a:bodyPr/>
                    <a:lstStyle/>
                    <a:p>
                      <a:pPr algn="ctr"/>
                      <a:r>
                        <a:rPr sz="750" b="0">
                          <a:solidFill>
                            <a:srgbClr val="1A1A1A"/>
                          </a:solidFill>
                        </a:rPr>
                        <a:t>8.6x</a:t>
                      </a:r>
                    </a:p>
                  </a:txBody>
                  <a:tcPr>
                    <a:solidFill>
                      <a:srgbClr val="F5F7FA"/>
                    </a:solidFill>
                  </a:tcPr>
                </a:tc>
                <a:tc>
                  <a:txBody>
                    <a:bodyPr/>
                    <a:lstStyle/>
                    <a:p>
                      <a:pPr algn="ctr"/>
                      <a:r>
                        <a:rPr sz="750" b="0">
                          <a:solidFill>
                            <a:srgbClr val="1A1A1A"/>
                          </a:solidFill>
                        </a:rPr>
                        <a:t>26.1x</a:t>
                      </a:r>
                    </a:p>
                  </a:txBody>
                  <a:tcPr>
                    <a:solidFill>
                      <a:srgbClr val="F5F7FA"/>
                    </a:solidFill>
                  </a:tcPr>
                </a:tc>
                <a:tc>
                  <a:txBody>
                    <a:bodyPr/>
                    <a:lstStyle/>
                    <a:p>
                      <a:pPr algn="ctr"/>
                      <a:r>
                        <a:rPr sz="750" b="0">
                          <a:solidFill>
                            <a:srgbClr val="1A1A1A"/>
                          </a:solidFill>
                        </a:rPr>
                        <a:t>67.1 %</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57.6 %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41.4x</a:t>
                      </a:r>
                    </a:p>
                  </a:txBody>
                  <a:tcPr>
                    <a:noFill/>
                  </a:tcPr>
                </a:tc>
                <a:tc>
                  <a:txBody>
                    <a:bodyPr/>
                    <a:lstStyle/>
                    <a:p>
                      <a:pPr algn="ctr"/>
                      <a:r>
                        <a:rPr sz="750" b="0">
                          <a:solidFill>
                            <a:srgbClr val="1A1A1A"/>
                          </a:solidFill>
                        </a:rPr>
                        <a:t>22.6x</a:t>
                      </a:r>
                    </a:p>
                  </a:txBody>
                  <a:tcPr>
                    <a:noFill/>
                  </a:tcPr>
                </a:tc>
                <a:tc>
                  <a:txBody>
                    <a:bodyPr/>
                    <a:lstStyle/>
                    <a:p>
                      <a:pPr algn="ctr"/>
                      <a:r>
                        <a:rPr sz="750" b="0">
                          <a:solidFill>
                            <a:srgbClr val="1A1A1A"/>
                          </a:solidFill>
                        </a:rPr>
                        <a:t>61.3x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51.6x</a:t>
                      </a:r>
                    </a:p>
                  </a:txBody>
                  <a:tcPr>
                    <a:solidFill>
                      <a:srgbClr val="F5F7FA"/>
                    </a:solidFill>
                  </a:tcPr>
                </a:tc>
                <a:tc>
                  <a:txBody>
                    <a:bodyPr/>
                    <a:lstStyle/>
                    <a:p>
                      <a:pPr algn="ctr"/>
                      <a:r>
                        <a:rPr sz="750" b="0">
                          <a:solidFill>
                            <a:srgbClr val="1A1A1A"/>
                          </a:solidFill>
                        </a:rPr>
                        <a:t>10.0x</a:t>
                      </a:r>
                    </a:p>
                  </a:txBody>
                  <a:tcPr>
                    <a:solidFill>
                      <a:srgbClr val="F5F7FA"/>
                    </a:solidFill>
                  </a:tcPr>
                </a:tc>
                <a:tc>
                  <a:txBody>
                    <a:bodyPr/>
                    <a:lstStyle/>
                    <a:p>
                      <a:pPr algn="ctr"/>
                      <a:r>
                        <a:rPr sz="750" b="0">
                          <a:solidFill>
                            <a:srgbClr val="1A1A1A"/>
                          </a:solidFill>
                        </a:rPr>
                        <a:t>84.4x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24.1x</a:t>
                      </a:r>
                    </a:p>
                  </a:txBody>
                  <a:tcPr>
                    <a:noFill/>
                  </a:tcPr>
                </a:tc>
                <a:tc>
                  <a:txBody>
                    <a:bodyPr/>
                    <a:lstStyle/>
                    <a:p>
                      <a:pPr algn="ctr"/>
                      <a:r>
                        <a:rPr sz="750" b="0">
                          <a:solidFill>
                            <a:srgbClr val="1A1A1A"/>
                          </a:solidFill>
                        </a:rPr>
                        <a:t>9.0x</a:t>
                      </a:r>
                    </a:p>
                  </a:txBody>
                  <a:tcPr>
                    <a:noFill/>
                  </a:tcPr>
                </a:tc>
                <a:tc>
                  <a:txBody>
                    <a:bodyPr/>
                    <a:lstStyle/>
                    <a:p>
                      <a:pPr algn="ctr"/>
                      <a:r>
                        <a:rPr sz="750" b="0">
                          <a:solidFill>
                            <a:srgbClr val="1A1A1A"/>
                          </a:solidFill>
                        </a:rPr>
                        <a:t>30.3x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24.1x LTM. Alphabet Inc. (23.4x)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cloud</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Les abonnements SaaS et les services managés en cloud progressent à un rythme soutenu, dopés par la migration des entreprises vers des modèles hybrides.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des écosystèmes fermés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plateformes intégrées (iOS, Android, Windows) renforcent leur emprise sur les utilisateurs finaux, verrouillant les revenus publicitaires et les commissions.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 des data centers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L'explosion de la consommation électrique des centres de données pèse sur les marges des hyperscalers, malgré les gains d'efficacité énergétique.</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du marché des smartphones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Le renouvellement des terminaux ralentit dans les marchés matures, limitant la croissance organique des géants comme AAPL et GOOGL.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est en phase de maturité avancée pour les segments hardware, mais reste dans une dynamique de croissance pour les services logiciels et l'IA.</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(Modérée)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299.99</a:t>
                      </a:r>
                    </a:p>
                  </a:txBody>
                  <a:tcPr>
                    <a:noFill/>
                  </a:tcPr>
                </a:tc>
                <a:tc>
                  <a:txBody>
                    <a:bodyPr/>
                    <a:lstStyle/>
                    <a:p>
                      <a:pPr algn="ctr"/>
                      <a:r>
                        <a:rPr sz="750" b="0">
                          <a:solidFill>
                            <a:srgbClr val="1A1A1A"/>
                          </a:solidFill>
                        </a:rPr>
                        <a:t>23.4x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+107.3 %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82/100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177.64</a:t>
                      </a:r>
                    </a:p>
                  </a:txBody>
                  <a:tcPr>
                    <a:solidFill>
                      <a:srgbClr val="F5F7FA"/>
                    </a:solidFill>
                  </a:tcPr>
                </a:tc>
                <a:tc>
                  <a:txBody>
                    <a:bodyPr/>
                    <a:lstStyle/>
                    <a:p>
                      <a:pPr algn="ctr"/>
                      <a:r>
                        <a:rPr sz="750" b="0">
                          <a:solidFill>
                            <a:srgbClr val="1A1A1A"/>
                          </a:solidFill>
                        </a:rPr>
                        <a:t>32.0x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+84.5 %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258.86</a:t>
                      </a:r>
                    </a:p>
                  </a:txBody>
                  <a:tcPr>
                    <a:noFill/>
                  </a:tcPr>
                </a:tc>
                <a:tc>
                  <a:txBody>
                    <a:bodyPr/>
                    <a:lstStyle/>
                    <a:p>
                      <a:pPr algn="ctr"/>
                      <a:r>
                        <a:rPr sz="750" b="0">
                          <a:solidFill>
                            <a:srgbClr val="1A1A1A"/>
                          </a:solidFill>
                        </a:rPr>
                        <a:t>24.7x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+50.1 %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573.02</a:t>
                      </a:r>
                    </a:p>
                  </a:txBody>
                  <a:tcPr>
                    <a:solidFill>
                      <a:srgbClr val="F5F7FA"/>
                    </a:solidFill>
                  </a:tcPr>
                </a:tc>
                <a:tc>
                  <a:txBody>
                    <a:bodyPr/>
                    <a:lstStyle/>
                    <a:p>
                      <a:pPr algn="ctr"/>
                      <a:r>
                        <a:rPr sz="750" b="0">
                          <a:solidFill>
                            <a:srgbClr val="1A1A1A"/>
                          </a:solidFill>
                        </a:rPr>
                        <a:t>14.3x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+12.3 %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372.88</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+5.2 %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145.54</a:t>
                      </a:r>
                    </a:p>
                  </a:txBody>
                  <a:tcPr>
                    <a:solidFill>
                      <a:srgbClr val="F5F7FA"/>
                    </a:solidFill>
                  </a:tcPr>
                </a:tc>
                <a:tc>
                  <a:txBody>
                    <a:bodyPr/>
                    <a:lstStyle/>
                    <a:p>
                      <a:pPr algn="ctr"/>
                      <a:r>
                        <a:rPr sz="750" b="0">
                          <a:solidFill>
                            <a:srgbClr val="1A1A1A"/>
                          </a:solidFill>
                        </a:rPr>
                        <a:t>20.0x</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+16.9 %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314.43</a:t>
                      </a:r>
                    </a:p>
                  </a:txBody>
                  <a:tcPr>
                    <a:noFill/>
                  </a:tcPr>
                </a:tc>
                <a:tc>
                  <a:txBody>
                    <a:bodyPr/>
                    <a:lstStyle/>
                    <a:p>
                      <a:pPr algn="ctr"/>
                      <a:r>
                        <a:rPr sz="750" b="0">
                          <a:solidFill>
                            <a:srgbClr val="1A1A1A"/>
                          </a:solidFill>
                        </a:rPr>
                        <a:t>41.4x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+29.5 %</a:t>
                      </a:r>
                    </a:p>
                  </a:txBody>
                  <a:tcPr>
                    <a:noFill/>
                  </a:tcPr>
                </a:tc>
                <a:tc>
                  <a:txBody>
                    <a:bodyPr/>
                    <a:lstStyle/>
                    <a:p>
                      <a:pPr algn="ctr"/>
                      <a:r>
                        <a:rPr sz="750" b="0">
                          <a:solidFill>
                            <a:srgbClr val="1A1A1A"/>
                          </a:solidFill>
                        </a:rPr>
                        <a:t>+101.5 %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220.18</a:t>
                      </a:r>
                    </a:p>
                  </a:txBody>
                  <a:tcPr>
                    <a:solidFill>
                      <a:srgbClr val="F5F7FA"/>
                    </a:solidFill>
                  </a:tcPr>
                </a:tc>
                <a:tc>
                  <a:txBody>
                    <a:bodyPr/>
                    <a:lstStyle/>
                    <a:p>
                      <a:pPr algn="ctr"/>
                      <a:r>
                        <a:rPr sz="750" b="0">
                          <a:solidFill>
                            <a:srgbClr val="1A1A1A"/>
                          </a:solidFill>
                        </a:rPr>
                        <a:t>51.6x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+181.5 %</a:t>
                      </a:r>
                    </a:p>
                  </a:txBody>
                  <a:tcPr>
                    <a:solidFill>
                      <a:srgbClr val="F5F7FA"/>
                    </a:solidFill>
                  </a:tcPr>
                </a:tc>
              </a:tr>
            </a:tbl>
          </a:graphicData>
        </a:graphic>
      </p:graphicFrame>
      <p:sp>
        <p:nvSpPr>
          <p:cNvPr id="16" name="Rectangle 15"/>
          <p:cNvSpPr/>
          <p:nvPr/>
        </p:nvSpPr>
        <p:spPr>
          <a:xfrm>
            <a:off x="324000" y="2772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772000"/>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260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078000"/>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15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(32.0x) soutenue par 71.1 % de marge brute.
ORCL se positionne en zone Opportunite — EV/EBITDA de 20.0x sous la médiane sectorielle de 24.1x.
La médiane sectorielle ressort a 24.1x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82/100</a:t>
                      </a:r>
                    </a:p>
                  </a:txBody>
                  <a:tcPr>
                    <a:solidFill>
                      <a:srgbClr val="F5F7FA"/>
                    </a:solidFill>
                  </a:tcPr>
                </a:tc>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24</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966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66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984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272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360</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23.4x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dépenses en infrastructures cloud et GPU explosent avec une demande insatiable pour les modèles d'IA, soutenant les revenus récurrents des acteurs comme NVDA et GOOGL.</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Une correction brutale des commandes de puces pourrait impacter les marges des fabricants comme NVDA, déjà exposés à des cycles de demande très volatils.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213</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32.0x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 décentralisation des calculs vers les appareils locaux (smartphones, IoT) crée de nouveaux relais de croissance pour les fournisseurs de puces et logiciels.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Les hyperscalers (AWS, Azure) et les acteurs chinois (Alibaba, Tencent) grignotent des parts de marché, pesant sur les prix des services cloud.</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AAPL</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Apple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311</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24.7x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35.1 %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cadres antitrust aux États-Unis et en Europe semblent moins restrictifs que prévu pour les leaders technologiques, limitant les risques de démantèlement.</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tensions commerciales USA-Chine et les restrictions à l'export de technologies critiques pourraient perturber les chaînes d'approvisionnement des leaders technologiques.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(24.1x)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24.1x.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299.99</a:t>
                      </a:r>
                    </a:p>
                  </a:txBody>
                  <a:tcPr>
                    <a:noFill/>
                  </a:tcPr>
                </a:tc>
                <a:tc>
                  <a:txBody>
                    <a:bodyPr/>
                    <a:lstStyle/>
                    <a:p>
                      <a:pPr algn="ctr"/>
                      <a:r>
                        <a:rPr sz="750" b="0">
                          <a:solidFill>
                            <a:srgbClr val="1A1A1A"/>
                          </a:solidFill>
                        </a:rPr>
                        <a:t>345.0</a:t>
                      </a:r>
                    </a:p>
                  </a:txBody>
                  <a:tcPr>
                    <a:noFill/>
                  </a:tcPr>
                </a:tc>
                <a:tc>
                  <a:txBody>
                    <a:bodyPr/>
                    <a:lstStyle/>
                    <a:p>
                      <a:pPr algn="ctr"/>
                      <a:r>
                        <a:rPr sz="750" b="0">
                          <a:solidFill>
                            <a:srgbClr val="1A1A1A"/>
                          </a:solidFill>
                        </a:rPr>
                        <a:t>&lt; 285.0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177.64</a:t>
                      </a:r>
                    </a:p>
                  </a:txBody>
                  <a:tcPr>
                    <a:solidFill>
                      <a:srgbClr val="F5F7FA"/>
                    </a:solidFill>
                  </a:tcPr>
                </a:tc>
                <a:tc>
                  <a:txBody>
                    <a:bodyPr/>
                    <a:lstStyle/>
                    <a:p>
                      <a:pPr algn="ctr"/>
                      <a:r>
                        <a:rPr sz="750" b="0">
                          <a:solidFill>
                            <a:srgbClr val="1A1A1A"/>
                          </a:solidFill>
                        </a:rPr>
                        <a:t>204.3</a:t>
                      </a:r>
                    </a:p>
                  </a:txBody>
                  <a:tcPr>
                    <a:solidFill>
                      <a:srgbClr val="F5F7FA"/>
                    </a:solidFill>
                  </a:tcPr>
                </a:tc>
                <a:tc>
                  <a:txBody>
                    <a:bodyPr/>
                    <a:lstStyle/>
                    <a:p>
                      <a:pPr algn="ctr"/>
                      <a:r>
                        <a:rPr sz="750" b="0">
                          <a:solidFill>
                            <a:srgbClr val="1A1A1A"/>
                          </a:solidFill>
                        </a:rPr>
                        <a:t>&lt; 168.8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258.86</a:t>
                      </a:r>
                    </a:p>
                  </a:txBody>
                  <a:tcPr>
                    <a:noFill/>
                  </a:tcPr>
                </a:tc>
                <a:tc>
                  <a:txBody>
                    <a:bodyPr/>
                    <a:lstStyle/>
                    <a:p>
                      <a:pPr algn="ctr"/>
                      <a:r>
                        <a:rPr sz="750" b="0">
                          <a:solidFill>
                            <a:srgbClr val="1A1A1A"/>
                          </a:solidFill>
                        </a:rPr>
                        <a:t>297.7</a:t>
                      </a:r>
                    </a:p>
                  </a:txBody>
                  <a:tcPr>
                    <a:noFill/>
                  </a:tcPr>
                </a:tc>
                <a:tc>
                  <a:txBody>
                    <a:bodyPr/>
                    <a:lstStyle/>
                    <a:p>
                      <a:pPr algn="ctr"/>
                      <a:r>
                        <a:rPr sz="750" b="0">
                          <a:solidFill>
                            <a:srgbClr val="1A1A1A"/>
                          </a:solidFill>
                        </a:rPr>
                        <a:t>&lt; 245.9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573.02</a:t>
                      </a:r>
                    </a:p>
                  </a:txBody>
                  <a:tcPr>
                    <a:solidFill>
                      <a:srgbClr val="F5F7FA"/>
                    </a:solidFill>
                  </a:tcPr>
                </a:tc>
                <a:tc>
                  <a:txBody>
                    <a:bodyPr/>
                    <a:lstStyle/>
                    <a:p>
                      <a:pPr algn="ctr"/>
                      <a:r>
                        <a:rPr sz="750" b="0">
                          <a:solidFill>
                            <a:srgbClr val="1A1A1A"/>
                          </a:solidFill>
                        </a:rPr>
                        <a:t>659.0</a:t>
                      </a:r>
                    </a:p>
                  </a:txBody>
                  <a:tcPr>
                    <a:solidFill>
                      <a:srgbClr val="F5F7FA"/>
                    </a:solidFill>
                  </a:tcPr>
                </a:tc>
                <a:tc>
                  <a:txBody>
                    <a:bodyPr/>
                    <a:lstStyle/>
                    <a:p>
                      <a:pPr algn="ctr"/>
                      <a:r>
                        <a:rPr sz="750" b="0">
                          <a:solidFill>
                            <a:srgbClr val="1A1A1A"/>
                          </a:solidFill>
                        </a:rPr>
                        <a:t>&lt; 544.4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372.88</a:t>
                      </a:r>
                    </a:p>
                  </a:txBody>
                  <a:tcPr>
                    <a:noFill/>
                  </a:tcPr>
                </a:tc>
                <a:tc>
                  <a:txBody>
                    <a:bodyPr/>
                    <a:lstStyle/>
                    <a:p>
                      <a:pPr algn="ctr"/>
                      <a:r>
                        <a:rPr sz="750" b="0">
                          <a:solidFill>
                            <a:srgbClr val="1A1A1A"/>
                          </a:solidFill>
                        </a:rPr>
                        <a:t>428.8</a:t>
                      </a:r>
                    </a:p>
                  </a:txBody>
                  <a:tcPr>
                    <a:noFill/>
                  </a:tcPr>
                </a:tc>
                <a:tc>
                  <a:txBody>
                    <a:bodyPr/>
                    <a:lstStyle/>
                    <a:p>
                      <a:pPr algn="ctr"/>
                      <a:r>
                        <a:rPr sz="750" b="0">
                          <a:solidFill>
                            <a:srgbClr val="1A1A1A"/>
                          </a:solidFill>
                        </a:rPr>
                        <a:t>&lt; 354.2</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145.54</a:t>
                      </a:r>
                    </a:p>
                  </a:txBody>
                  <a:tcPr>
                    <a:solidFill>
                      <a:srgbClr val="F5F7FA"/>
                    </a:solidFill>
                  </a:tcPr>
                </a:tc>
                <a:tc>
                  <a:txBody>
                    <a:bodyPr/>
                    <a:lstStyle/>
                    <a:p>
                      <a:pPr algn="ctr"/>
                      <a:r>
                        <a:rPr sz="750" b="0">
                          <a:solidFill>
                            <a:srgbClr val="1A1A1A"/>
                          </a:solidFill>
                        </a:rPr>
                        <a:t>167.4</a:t>
                      </a:r>
                    </a:p>
                  </a:txBody>
                  <a:tcPr>
                    <a:solidFill>
                      <a:srgbClr val="F5F7FA"/>
                    </a:solidFill>
                  </a:tcPr>
                </a:tc>
                <a:tc>
                  <a:txBody>
                    <a:bodyPr/>
                    <a:lstStyle/>
                    <a:p>
                      <a:pPr algn="ctr"/>
                      <a:r>
                        <a:rPr sz="750" b="0">
                          <a:solidFill>
                            <a:srgbClr val="1A1A1A"/>
                          </a:solidFill>
                        </a:rPr>
                        <a:t>&lt; 138.3</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314.43</a:t>
                      </a:r>
                    </a:p>
                  </a:txBody>
                  <a:tcPr>
                    <a:noFill/>
                  </a:tcPr>
                </a:tc>
                <a:tc>
                  <a:txBody>
                    <a:bodyPr/>
                    <a:lstStyle/>
                    <a:p>
                      <a:pPr algn="ctr"/>
                      <a:r>
                        <a:rPr sz="750" b="0">
                          <a:solidFill>
                            <a:srgbClr val="1A1A1A"/>
                          </a:solidFill>
                        </a:rPr>
                        <a:t>361.6</a:t>
                      </a:r>
                    </a:p>
                  </a:txBody>
                  <a:tcPr>
                    <a:noFill/>
                  </a:tcPr>
                </a:tc>
                <a:tc>
                  <a:txBody>
                    <a:bodyPr/>
                    <a:lstStyle/>
                    <a:p>
                      <a:pPr algn="ctr"/>
                      <a:r>
                        <a:rPr sz="750" b="0">
                          <a:solidFill>
                            <a:srgbClr val="1A1A1A"/>
                          </a:solidFill>
                        </a:rPr>
                        <a:t>&lt; 298.7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220.18</a:t>
                      </a:r>
                    </a:p>
                  </a:txBody>
                  <a:tcPr>
                    <a:solidFill>
                      <a:srgbClr val="F5F7FA"/>
                    </a:solidFill>
                  </a:tcPr>
                </a:tc>
                <a:tc>
                  <a:txBody>
                    <a:bodyPr/>
                    <a:lstStyle/>
                    <a:p>
                      <a:pPr algn="ctr"/>
                      <a:r>
                        <a:rPr sz="750" b="0">
                          <a:solidFill>
                            <a:srgbClr val="1A1A1A"/>
                          </a:solidFill>
                        </a:rPr>
                        <a:t>253.2</a:t>
                      </a:r>
                    </a:p>
                  </a:txBody>
                  <a:tcPr>
                    <a:solidFill>
                      <a:srgbClr val="F5F7FA"/>
                    </a:solidFill>
                  </a:tcPr>
                </a:tc>
                <a:tc>
                  <a:txBody>
                    <a:bodyPr/>
                    <a:lstStyle/>
                    <a:p>
                      <a:pPr algn="ctr"/>
                      <a:r>
                        <a:rPr sz="750" b="0">
                          <a:solidFill>
                            <a:srgbClr val="1A1A1A"/>
                          </a:solidFill>
                        </a:rPr>
                        <a:t>&lt; 209.2</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052800"/>
            <a:ext cx="8496000" cy="144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052800"/>
            <a:ext cx="36000" cy="144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0816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268800"/>
            <a:ext cx="8316000" cy="120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Surcapacité dans les semi-conducteurs</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Une correction brutale des commandes de puces pourrait impacter les marges des fabricants comme NVDA, déjà exposés à des cycles de demande très volatils.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 accrue en cloud</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Les hyperscalers (AWS, Azure) et les acteurs chinois (Alibaba, Tencent) grignotent des parts de marché, pesant sur les prix des services cloud.</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Risque géopolitique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tensions commerciales USA-Chine et les restrictions à l'export de technologies critiques pourraient perturber les chaînes d'approvisionnement des leaders technologiques.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63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median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1.5%</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median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generation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76/100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sante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accélérée de l'IA — Les dépenses en infrastructures cloud et GPU explosent avec une demande insatiable pour les modèles d'IA, soutenant les revenus récurrents des acteurs comme NVD</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Surcapacité dans les semi-conducteurs — Une correction brutale des commandes de puces pourrait impacter les marges des fabricants comme NVDA, déjà exposés à des cycles de demande très volatils.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+182%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176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