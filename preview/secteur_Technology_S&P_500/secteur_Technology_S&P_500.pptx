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Technology</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S&amp;P 500  ·  8 sociétés analysées</a:t>
            </a:r>
          </a:p>
        </p:txBody>
      </p:sp>
      <p:sp>
        <p:nvSpPr>
          <p:cNvPr id="7" name="Rectangle 6"/>
          <p:cNvSpPr/>
          <p:nvPr/>
        </p:nvSpPr>
        <p:spPr>
          <a:xfrm>
            <a:off x="3276000" y="3311999"/>
            <a:ext cx="255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SURPONDÉRER</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31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S&amp;P 500  ·  8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1A7A4A"/>
                </a:solidFill>
              </a:rPr>
              <a:t>● SURPONDÉRER</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20.4x  ·  Croissance med. : +19.9 %  ·  Marge EBITDA med. : 46.8 %  ·  Score moyen : 75/100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Adoption IA Generative</a:t>
            </a:r>
          </a:p>
        </p:txBody>
      </p:sp>
      <p:sp>
        <p:nvSpPr>
          <p:cNvPr id="24" name="TextBox 23"/>
          <p:cNvSpPr txBox="1"/>
          <p:nvPr/>
        </p:nvSpPr>
        <p:spPr>
          <a:xfrm>
            <a:off x="468000" y="1853999"/>
            <a:ext cx="3851999" cy="306000"/>
          </a:xfrm>
          <a:prstGeom prst="rect">
            <a:avLst/>
          </a:prstGeom>
          <a:noFill/>
        </p:spPr>
        <p:txBody>
          <a:bodyPr wrap="square">
            <a:spAutoFit/>
          </a:bodyPr>
          <a:lstStyle/>
          <a:p>
            <a:pPr algn="l"/>
            <a:r>
              <a:rPr sz="750" b="0" i="0">
                <a:solidFill>
                  <a:srgbClr val="555555"/>
                </a:solidFill>
              </a:rPr>
              <a:t>Acceleration des mandats IA dans les grands comptes europeens — contrats pluriannuels en hausse de 38 % sur T1 2026.</a:t>
            </a:r>
          </a:p>
        </p:txBody>
      </p:sp>
      <p:sp>
        <p:nvSpPr>
          <p:cNvPr id="25" name="Rectangle 24"/>
          <p:cNvSpPr/>
          <p:nvPr/>
        </p:nvSpPr>
        <p:spPr>
          <a:xfrm>
            <a:off x="324000" y="2268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268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286000"/>
            <a:ext cx="3851999" cy="198000"/>
          </a:xfrm>
          <a:prstGeom prst="rect">
            <a:avLst/>
          </a:prstGeom>
          <a:noFill/>
        </p:spPr>
        <p:txBody>
          <a:bodyPr wrap="square">
            <a:spAutoFit/>
          </a:bodyPr>
          <a:lstStyle/>
          <a:p>
            <a:pPr algn="l"/>
            <a:r>
              <a:rPr sz="850" b="1" i="0">
                <a:solidFill>
                  <a:srgbClr val="1B3A6B"/>
                </a:solidFill>
              </a:rPr>
              <a:t>Modernisation SI Publics</a:t>
            </a:r>
          </a:p>
        </p:txBody>
      </p:sp>
      <p:sp>
        <p:nvSpPr>
          <p:cNvPr id="28" name="TextBox 27"/>
          <p:cNvSpPr txBox="1"/>
          <p:nvPr/>
        </p:nvSpPr>
        <p:spPr>
          <a:xfrm>
            <a:off x="468000" y="2466000"/>
            <a:ext cx="3851999" cy="306000"/>
          </a:xfrm>
          <a:prstGeom prst="rect">
            <a:avLst/>
          </a:prstGeom>
          <a:noFill/>
        </p:spPr>
        <p:txBody>
          <a:bodyPr wrap="square">
            <a:spAutoFit/>
          </a:bodyPr>
          <a:lstStyle/>
          <a:p>
            <a:pPr algn="l"/>
            <a:r>
              <a:rPr sz="750" b="0" i="0">
                <a:solidFill>
                  <a:srgbClr val="555555"/>
                </a:solidFill>
              </a:rPr>
              <a:t>Plans d'investissement gouvernementaux 2026-2028 — budgets numeriques confirmes pour 6 Etats membres EU.</a:t>
            </a:r>
          </a:p>
        </p:txBody>
      </p:sp>
      <p:sp>
        <p:nvSpPr>
          <p:cNvPr id="29" name="Rectangle 28"/>
          <p:cNvSpPr/>
          <p:nvPr/>
        </p:nvSpPr>
        <p:spPr>
          <a:xfrm>
            <a:off x="324000" y="2880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2880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2898000"/>
            <a:ext cx="3851999" cy="198000"/>
          </a:xfrm>
          <a:prstGeom prst="rect">
            <a:avLst/>
          </a:prstGeom>
          <a:noFill/>
        </p:spPr>
        <p:txBody>
          <a:bodyPr wrap="square">
            <a:spAutoFit/>
          </a:bodyPr>
          <a:lstStyle/>
          <a:p>
            <a:pPr algn="l"/>
            <a:r>
              <a:rPr sz="850" b="1" i="0">
                <a:solidFill>
                  <a:srgbClr val="1B3A6B"/>
                </a:solidFill>
              </a:rPr>
              <a:t>Cloud Hybride Souverainete</a:t>
            </a:r>
          </a:p>
        </p:txBody>
      </p:sp>
      <p:sp>
        <p:nvSpPr>
          <p:cNvPr id="32" name="TextBox 31"/>
          <p:cNvSpPr txBox="1"/>
          <p:nvPr/>
        </p:nvSpPr>
        <p:spPr>
          <a:xfrm>
            <a:off x="468000" y="3078000"/>
            <a:ext cx="3851999" cy="306000"/>
          </a:xfrm>
          <a:prstGeom prst="rect">
            <a:avLst/>
          </a:prstGeom>
          <a:noFill/>
        </p:spPr>
        <p:txBody>
          <a:bodyPr wrap="square">
            <a:spAutoFit/>
          </a:bodyPr>
          <a:lstStyle/>
          <a:p>
            <a:pPr algn="l"/>
            <a:r>
              <a:rPr sz="750" b="0" i="0">
                <a:solidFill>
                  <a:srgbClr val="555555"/>
                </a:solidFill>
              </a:rPr>
              <a:t>Contraintes réglementaires sur les données — migration vers solutions EU portee par NIS2 et DORA.</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Ralentissement Budgets IT</a:t>
            </a:r>
          </a:p>
        </p:txBody>
      </p:sp>
      <p:sp>
        <p:nvSpPr>
          <p:cNvPr id="38" name="TextBox 37"/>
          <p:cNvSpPr txBox="1"/>
          <p:nvPr/>
        </p:nvSpPr>
        <p:spPr>
          <a:xfrm>
            <a:off x="4860000" y="1853999"/>
            <a:ext cx="3851999" cy="306000"/>
          </a:xfrm>
          <a:prstGeom prst="rect">
            <a:avLst/>
          </a:prstGeom>
          <a:noFill/>
        </p:spPr>
        <p:txBody>
          <a:bodyPr wrap="square">
            <a:spAutoFit/>
          </a:bodyPr>
          <a:lstStyle/>
          <a:p>
            <a:pPr algn="l"/>
            <a:r>
              <a:rPr sz="750" b="0" i="0">
                <a:solidFill>
                  <a:srgbClr val="555555"/>
                </a:solidFill>
              </a:rPr>
              <a:t>Recession européenne confirmee entraînerait une reduction des budgets IT de 12-18 %, pénalisant les prestataires de services.</a:t>
            </a:r>
          </a:p>
        </p:txBody>
      </p:sp>
      <p:sp>
        <p:nvSpPr>
          <p:cNvPr id="39" name="Rectangle 38"/>
          <p:cNvSpPr/>
          <p:nvPr/>
        </p:nvSpPr>
        <p:spPr>
          <a:xfrm>
            <a:off x="4716000" y="2268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268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286000"/>
            <a:ext cx="3851999" cy="198000"/>
          </a:xfrm>
          <a:prstGeom prst="rect">
            <a:avLst/>
          </a:prstGeom>
          <a:noFill/>
        </p:spPr>
        <p:txBody>
          <a:bodyPr wrap="square">
            <a:spAutoFit/>
          </a:bodyPr>
          <a:lstStyle/>
          <a:p>
            <a:pPr algn="l"/>
            <a:r>
              <a:rPr sz="850" b="1" i="0">
                <a:solidFill>
                  <a:srgbClr val="A82020"/>
                </a:solidFill>
              </a:rPr>
              <a:t>Durcissement AI Act</a:t>
            </a:r>
          </a:p>
        </p:txBody>
      </p:sp>
      <p:sp>
        <p:nvSpPr>
          <p:cNvPr id="42" name="TextBox 41"/>
          <p:cNvSpPr txBox="1"/>
          <p:nvPr/>
        </p:nvSpPr>
        <p:spPr>
          <a:xfrm>
            <a:off x="4860000" y="2466000"/>
            <a:ext cx="3851999" cy="306000"/>
          </a:xfrm>
          <a:prstGeom prst="rect">
            <a:avLst/>
          </a:prstGeom>
          <a:noFill/>
        </p:spPr>
        <p:txBody>
          <a:bodyPr wrap="square">
            <a:spAutoFit/>
          </a:bodyPr>
          <a:lstStyle/>
          <a:p>
            <a:pPr algn="l"/>
            <a:r>
              <a:rPr sz="750" b="0" i="0">
                <a:solidFill>
                  <a:srgbClr val="555555"/>
                </a:solidFill>
              </a:rPr>
              <a:t>Surcout de mise en conformite estime a 8-12 % du CA pour les editeurs de logiciels IA — impact marges 2027.</a:t>
            </a:r>
          </a:p>
        </p:txBody>
      </p:sp>
      <p:sp>
        <p:nvSpPr>
          <p:cNvPr id="43" name="Rectangle 42"/>
          <p:cNvSpPr/>
          <p:nvPr/>
        </p:nvSpPr>
        <p:spPr>
          <a:xfrm>
            <a:off x="4716000" y="2880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2880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2898000"/>
            <a:ext cx="3851999" cy="198000"/>
          </a:xfrm>
          <a:prstGeom prst="rect">
            <a:avLst/>
          </a:prstGeom>
          <a:noFill/>
        </p:spPr>
        <p:txBody>
          <a:bodyPr wrap="square">
            <a:spAutoFit/>
          </a:bodyPr>
          <a:lstStyle/>
          <a:p>
            <a:pPr algn="l"/>
            <a:r>
              <a:rPr sz="850" b="1" i="0">
                <a:solidFill>
                  <a:srgbClr val="A82020"/>
                </a:solidFill>
              </a:rPr>
              <a:t>Pression Tarifaire US/Asie</a:t>
            </a:r>
          </a:p>
        </p:txBody>
      </p:sp>
      <p:sp>
        <p:nvSpPr>
          <p:cNvPr id="46" name="TextBox 45"/>
          <p:cNvSpPr txBox="1"/>
          <p:nvPr/>
        </p:nvSpPr>
        <p:spPr>
          <a:xfrm>
            <a:off x="4860000" y="3078000"/>
            <a:ext cx="3851999" cy="306000"/>
          </a:xfrm>
          <a:prstGeom prst="rect">
            <a:avLst/>
          </a:prstGeom>
          <a:noFill/>
        </p:spPr>
        <p:txBody>
          <a:bodyPr wrap="square">
            <a:spAutoFit/>
          </a:bodyPr>
          <a:lstStyle/>
          <a:p>
            <a:pPr algn="l"/>
            <a:r>
              <a:rPr sz="750" b="0" i="0">
                <a:solidFill>
                  <a:srgbClr val="555555"/>
                </a:solidFill>
              </a:rPr>
              <a:t>Acteurs americains et asiatiques agressifs sur les segments logiciels standardises — guerre des prix bas de gamme.</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20.4x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marche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+19.9 %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46.8 %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+30.2 %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S&amp;P 500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Présentation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Sociétés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8 sociétés · Scatter valorisation · Scores FinSight détaillés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Synthese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Présentation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positionnement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Présentation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Caractéristiques structurelles &amp; métriques de référence</a:t>
            </a:r>
          </a:p>
        </p:txBody>
      </p:sp>
      <p:sp>
        <p:nvSpPr>
          <p:cNvPr id="15" name="Rectangle 14"/>
          <p:cNvSpPr/>
          <p:nvPr/>
        </p:nvSpPr>
        <p:spPr>
          <a:xfrm>
            <a:off x="324000" y="900000"/>
            <a:ext cx="4932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6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4716000" cy="1620000"/>
          </a:xfrm>
          <a:prstGeom prst="rect">
            <a:avLst/>
          </a:prstGeom>
          <a:noFill/>
        </p:spPr>
        <p:txBody>
          <a:bodyPr wrap="square">
            <a:spAutoFit/>
          </a:bodyPr>
          <a:lstStyle/>
          <a:p>
            <a:pPr algn="l"/>
            <a:r>
              <a:rPr sz="1200" b="0" i="0">
                <a:solidFill>
                  <a:srgbClr val="555555"/>
                </a:solidFill>
              </a:rPr>
              <a:t>Le secteur Technology regroupe les entreprises actives dans les logiciels, les services informatiques, les semi-conducteurs et les equipements telecom. Porte par la transformation digitale des entreprises et l'adoption de l'IA generative, ce secteur affiche des multiples de valorisation parmi les plus élevés du marche, justifies par des perspectives de croissance supérieures et des marges en expansion.</a:t>
            </a:r>
          </a:p>
        </p:txBody>
      </p:sp>
      <p:sp>
        <p:nvSpPr>
          <p:cNvPr id="18" name="Rectangle 17"/>
          <p:cNvSpPr/>
          <p:nvPr/>
        </p:nvSpPr>
        <p:spPr>
          <a:xfrm>
            <a:off x="468000" y="2700000"/>
            <a:ext cx="4680000" cy="16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2718000"/>
            <a:ext cx="4500000" cy="144000"/>
          </a:xfrm>
          <a:prstGeom prst="rect">
            <a:avLst/>
          </a:prstGeom>
          <a:noFill/>
        </p:spPr>
        <p:txBody>
          <a:bodyPr wrap="square">
            <a:spAutoFit/>
          </a:bodyPr>
          <a:lstStyle/>
          <a:p>
            <a:pPr algn="l"/>
            <a:r>
              <a:rPr sz="750" b="1" i="0">
                <a:solidFill>
                  <a:srgbClr val="FFFFFF"/>
                </a:solidFill>
              </a:rPr>
              <a:t>CATALYSEURS CLÉS</a:t>
            </a:r>
          </a:p>
        </p:txBody>
      </p:sp>
      <p:sp>
        <p:nvSpPr>
          <p:cNvPr id="20" name="Rectangle 19"/>
          <p:cNvSpPr/>
          <p:nvPr/>
        </p:nvSpPr>
        <p:spPr>
          <a:xfrm>
            <a:off x="468000" y="2898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00" y="2898000"/>
            <a:ext cx="4428000" cy="162000"/>
          </a:xfrm>
          <a:prstGeom prst="rect">
            <a:avLst/>
          </a:prstGeom>
          <a:noFill/>
        </p:spPr>
        <p:txBody>
          <a:bodyPr wrap="square">
            <a:spAutoFit/>
          </a:bodyPr>
          <a:lstStyle/>
          <a:p>
            <a:pPr algn="l"/>
            <a:r>
              <a:rPr sz="800" b="1" i="0">
                <a:solidFill>
                  <a:srgbClr val="1B3A6B"/>
                </a:solidFill>
              </a:rPr>
              <a:t>Adoption IA Generative</a:t>
            </a:r>
          </a:p>
        </p:txBody>
      </p:sp>
      <p:sp>
        <p:nvSpPr>
          <p:cNvPr id="22" name="TextBox 21"/>
          <p:cNvSpPr txBox="1"/>
          <p:nvPr/>
        </p:nvSpPr>
        <p:spPr>
          <a:xfrm>
            <a:off x="576000" y="3060000"/>
            <a:ext cx="4428000" cy="306000"/>
          </a:xfrm>
          <a:prstGeom prst="rect">
            <a:avLst/>
          </a:prstGeom>
          <a:noFill/>
        </p:spPr>
        <p:txBody>
          <a:bodyPr wrap="square">
            <a:spAutoFit/>
          </a:bodyPr>
          <a:lstStyle/>
          <a:p>
            <a:pPr algn="l"/>
            <a:r>
              <a:rPr sz="750" b="0" i="0">
                <a:solidFill>
                  <a:srgbClr val="555555"/>
                </a:solidFill>
              </a:rPr>
              <a:t>Acceleration des mandats IA dans les grands comptes europeens — contrats pluriannuels en hausse de 38 % sur T1</a:t>
            </a:r>
          </a:p>
        </p:txBody>
      </p:sp>
      <p:sp>
        <p:nvSpPr>
          <p:cNvPr id="23" name="Rectangle 22"/>
          <p:cNvSpPr/>
          <p:nvPr/>
        </p:nvSpPr>
        <p:spPr>
          <a:xfrm>
            <a:off x="468000" y="3384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00" y="3384000"/>
            <a:ext cx="4428000" cy="162000"/>
          </a:xfrm>
          <a:prstGeom prst="rect">
            <a:avLst/>
          </a:prstGeom>
          <a:noFill/>
        </p:spPr>
        <p:txBody>
          <a:bodyPr wrap="square">
            <a:spAutoFit/>
          </a:bodyPr>
          <a:lstStyle/>
          <a:p>
            <a:pPr algn="l"/>
            <a:r>
              <a:rPr sz="800" b="1" i="0">
                <a:solidFill>
                  <a:srgbClr val="1B3A6B"/>
                </a:solidFill>
              </a:rPr>
              <a:t>Modernisation SI Publics</a:t>
            </a:r>
          </a:p>
        </p:txBody>
      </p:sp>
      <p:sp>
        <p:nvSpPr>
          <p:cNvPr id="25" name="TextBox 24"/>
          <p:cNvSpPr txBox="1"/>
          <p:nvPr/>
        </p:nvSpPr>
        <p:spPr>
          <a:xfrm>
            <a:off x="576000" y="3546000"/>
            <a:ext cx="4428000" cy="306000"/>
          </a:xfrm>
          <a:prstGeom prst="rect">
            <a:avLst/>
          </a:prstGeom>
          <a:noFill/>
        </p:spPr>
        <p:txBody>
          <a:bodyPr wrap="square">
            <a:spAutoFit/>
          </a:bodyPr>
          <a:lstStyle/>
          <a:p>
            <a:pPr algn="l"/>
            <a:r>
              <a:rPr sz="750" b="0" i="0">
                <a:solidFill>
                  <a:srgbClr val="555555"/>
                </a:solidFill>
              </a:rPr>
              <a:t>Plans d'investissement gouvernementaux 2026-2028 — budgets numeriques confirmes pour 6 Etats membres EU.</a:t>
            </a:r>
          </a:p>
        </p:txBody>
      </p:sp>
      <p:sp>
        <p:nvSpPr>
          <p:cNvPr id="26" name="Rectangle 25"/>
          <p:cNvSpPr/>
          <p:nvPr/>
        </p:nvSpPr>
        <p:spPr>
          <a:xfrm>
            <a:off x="468000" y="3870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00" y="3870000"/>
            <a:ext cx="4428000" cy="162000"/>
          </a:xfrm>
          <a:prstGeom prst="rect">
            <a:avLst/>
          </a:prstGeom>
          <a:noFill/>
        </p:spPr>
        <p:txBody>
          <a:bodyPr wrap="square">
            <a:spAutoFit/>
          </a:bodyPr>
          <a:lstStyle/>
          <a:p>
            <a:pPr algn="l"/>
            <a:r>
              <a:rPr sz="800" b="1" i="0">
                <a:solidFill>
                  <a:srgbClr val="1B3A6B"/>
                </a:solidFill>
              </a:rPr>
              <a:t>Cloud Hybride Souverainete</a:t>
            </a:r>
          </a:p>
        </p:txBody>
      </p:sp>
      <p:sp>
        <p:nvSpPr>
          <p:cNvPr id="28" name="TextBox 27"/>
          <p:cNvSpPr txBox="1"/>
          <p:nvPr/>
        </p:nvSpPr>
        <p:spPr>
          <a:xfrm>
            <a:off x="576000" y="4031999"/>
            <a:ext cx="4428000" cy="306000"/>
          </a:xfrm>
          <a:prstGeom prst="rect">
            <a:avLst/>
          </a:prstGeom>
          <a:noFill/>
        </p:spPr>
        <p:txBody>
          <a:bodyPr wrap="square">
            <a:spAutoFit/>
          </a:bodyPr>
          <a:lstStyle/>
          <a:p>
            <a:pPr algn="l"/>
            <a:r>
              <a:rPr sz="750" b="0" i="0">
                <a:solidFill>
                  <a:srgbClr val="555555"/>
                </a:solidFill>
              </a:rPr>
              <a:t>Contraintes réglementaires sur les données — migration vers solutions EU portee par NIS2 et DORA.</a:t>
            </a:r>
          </a:p>
        </p:txBody>
      </p:sp>
      <p:graphicFrame>
        <p:nvGraphicFramePr>
          <p:cNvPr id="29" name="Table 28"/>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Métrique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Rule of 40</a:t>
                      </a:r>
                    </a:p>
                  </a:txBody>
                  <a:tcPr>
                    <a:noFill/>
                  </a:tcPr>
                </a:tc>
                <a:tc>
                  <a:txBody>
                    <a:bodyPr/>
                    <a:lstStyle/>
                    <a:p>
                      <a:pPr algn="ctr"/>
                      <a:r>
                        <a:rPr sz="750" b="0">
                          <a:solidFill>
                            <a:srgbClr val="1A1A1A"/>
                          </a:solidFill>
                        </a:rPr>
                        <a:t>42</a:t>
                      </a:r>
                    </a:p>
                  </a:txBody>
                  <a:tcPr>
                    <a:noFill/>
                  </a:tcPr>
                </a:tc>
                <a:tc>
                  <a:txBody>
                    <a:bodyPr/>
                    <a:lstStyle/>
                    <a:p>
                      <a:pPr algn="ctr"/>
                      <a:r>
                        <a:rPr sz="750" b="0">
                          <a:solidFill>
                            <a:srgbClr val="1A1A1A"/>
                          </a:solidFill>
                        </a:rPr>
                        <a:t>Sain &gt; 40</a:t>
                      </a:r>
                    </a:p>
                  </a:txBody>
                  <a:tcPr>
                    <a:noFill/>
                  </a:tcPr>
                </a:tc>
              </a:tr>
              <a:tr h="208799">
                <a:tc>
                  <a:txBody>
                    <a:bodyPr/>
                    <a:lstStyle/>
                    <a:p>
                      <a:pPr algn="ctr"/>
                      <a:r>
                        <a:rPr sz="750" b="0">
                          <a:solidFill>
                            <a:srgbClr val="1A1A1A"/>
                          </a:solidFill>
                        </a:rPr>
                        <a:t>NRR median</a:t>
                      </a:r>
                    </a:p>
                  </a:txBody>
                  <a:tcPr>
                    <a:solidFill>
                      <a:srgbClr val="F5F7FA"/>
                    </a:solidFill>
                  </a:tcPr>
                </a:tc>
                <a:tc>
                  <a:txBody>
                    <a:bodyPr/>
                    <a:lstStyle/>
                    <a:p>
                      <a:pPr algn="ctr"/>
                      <a:r>
                        <a:rPr sz="750" b="0">
                          <a:solidFill>
                            <a:srgbClr val="1A1A1A"/>
                          </a:solidFill>
                        </a:rPr>
                        <a:t>108 %</a:t>
                      </a:r>
                    </a:p>
                  </a:txBody>
                  <a:tcPr>
                    <a:solidFill>
                      <a:srgbClr val="F5F7FA"/>
                    </a:solidFill>
                  </a:tcPr>
                </a:tc>
                <a:tc>
                  <a:txBody>
                    <a:bodyPr/>
                    <a:lstStyle/>
                    <a:p>
                      <a:pPr algn="ctr"/>
                      <a:r>
                        <a:rPr sz="750" b="0">
                          <a:solidFill>
                            <a:srgbClr val="1A1A1A"/>
                          </a:solidFill>
                        </a:rPr>
                        <a:t>Retention solide</a:t>
                      </a:r>
                    </a:p>
                  </a:txBody>
                  <a:tcPr>
                    <a:solidFill>
                      <a:srgbClr val="F5F7FA"/>
                    </a:solidFill>
                  </a:tcPr>
                </a:tc>
              </a:tr>
              <a:tr h="208799">
                <a:tc>
                  <a:txBody>
                    <a:bodyPr/>
                    <a:lstStyle/>
                    <a:p>
                      <a:pPr algn="ctr"/>
                      <a:r>
                        <a:rPr sz="750" b="0">
                          <a:solidFill>
                            <a:srgbClr val="1A1A1A"/>
                          </a:solidFill>
                        </a:rPr>
                        <a:t>Cloud Mix</a:t>
                      </a:r>
                    </a:p>
                  </a:txBody>
                  <a:tcPr>
                    <a:noFill/>
                  </a:tcPr>
                </a:tc>
                <a:tc>
                  <a:txBody>
                    <a:bodyPr/>
                    <a:lstStyle/>
                    <a:p>
                      <a:pPr algn="ctr"/>
                      <a:r>
                        <a:rPr sz="750" b="0">
                          <a:solidFill>
                            <a:srgbClr val="1A1A1A"/>
                          </a:solidFill>
                        </a:rPr>
                        <a:t>38 %</a:t>
                      </a:r>
                    </a:p>
                  </a:txBody>
                  <a:tcPr>
                    <a:noFill/>
                  </a:tcPr>
                </a:tc>
                <a:tc>
                  <a:txBody>
                    <a:bodyPr/>
                    <a:lstStyle/>
                    <a:p>
                      <a:pPr algn="ctr"/>
                      <a:r>
                        <a:rPr sz="750" b="0">
                          <a:solidFill>
                            <a:srgbClr val="1A1A1A"/>
                          </a:solidFill>
                        </a:rPr>
                        <a:t>En hausse</a:t>
                      </a:r>
                    </a:p>
                  </a:txBody>
                  <a:tcPr>
                    <a:noFill/>
                  </a:tcPr>
                </a:tc>
              </a:tr>
              <a:tr h="208799">
                <a:tc>
                  <a:txBody>
                    <a:bodyPr/>
                    <a:lstStyle/>
                    <a:p>
                      <a:pPr algn="ctr"/>
                      <a:r>
                        <a:rPr sz="750" b="0">
                          <a:solidFill>
                            <a:srgbClr val="1A1A1A"/>
                          </a:solidFill>
                        </a:rPr>
                        <a:t>R&amp;D/Rev.</a:t>
                      </a:r>
                    </a:p>
                  </a:txBody>
                  <a:tcPr>
                    <a:solidFill>
                      <a:srgbClr val="F5F7FA"/>
                    </a:solidFill>
                  </a:tcPr>
                </a:tc>
                <a:tc>
                  <a:txBody>
                    <a:bodyPr/>
                    <a:lstStyle/>
                    <a:p>
                      <a:pPr algn="ctr"/>
                      <a:r>
                        <a:rPr sz="750" b="0">
                          <a:solidFill>
                            <a:srgbClr val="1A1A1A"/>
                          </a:solidFill>
                        </a:rPr>
                        <a:t>12 %</a:t>
                      </a:r>
                    </a:p>
                  </a:txBody>
                  <a:tcPr>
                    <a:solidFill>
                      <a:srgbClr val="F5F7FA"/>
                    </a:solidFill>
                  </a:tcPr>
                </a:tc>
                <a:tc>
                  <a:txBody>
                    <a:bodyPr/>
                    <a:lstStyle/>
                    <a:p>
                      <a:pPr algn="ctr"/>
                      <a:r>
                        <a:rPr sz="750" b="0">
                          <a:solidFill>
                            <a:srgbClr val="1A1A1A"/>
                          </a:solidFill>
                        </a:rPr>
                        <a:t>Investi</a:t>
                      </a:r>
                    </a:p>
                  </a:txBody>
                  <a:tcPr>
                    <a:solidFill>
                      <a:srgbClr val="F5F7FA"/>
                    </a:solidFill>
                  </a:tcPr>
                </a:tc>
              </a:tr>
              <a:tr h="208799">
                <a:tc>
                  <a:txBody>
                    <a:bodyPr/>
                    <a:lstStyle/>
                    <a:p>
                      <a:pPr algn="ctr"/>
                      <a:r>
                        <a:rPr sz="750" b="0">
                          <a:solidFill>
                            <a:srgbClr val="1A1A1A"/>
                          </a:solidFill>
                        </a:rPr>
                        <a:t>ARR Growth</a:t>
                      </a:r>
                    </a:p>
                  </a:txBody>
                  <a:tcPr>
                    <a:noFill/>
                  </a:tcPr>
                </a:tc>
                <a:tc>
                  <a:txBody>
                    <a:bodyPr/>
                    <a:lstStyle/>
                    <a:p>
                      <a:pPr algn="ctr"/>
                      <a:r>
                        <a:rPr sz="750" b="0">
                          <a:solidFill>
                            <a:srgbClr val="1A1A1A"/>
                          </a:solidFill>
                        </a:rPr>
                        <a:t>+24 %</a:t>
                      </a:r>
                    </a:p>
                  </a:txBody>
                  <a:tcPr>
                    <a:noFill/>
                  </a:tcPr>
                </a:tc>
                <a:tc>
                  <a:txBody>
                    <a:bodyPr/>
                    <a:lstStyle/>
                    <a:p>
                      <a:pPr algn="ctr"/>
                      <a:r>
                        <a:rPr sz="750" b="0">
                          <a:solidFill>
                            <a:srgbClr val="1A1A1A"/>
                          </a:solidFill>
                        </a:rPr>
                        <a:t>Acceleration</a:t>
                      </a:r>
                    </a:p>
                  </a:txBody>
                  <a:tcPr>
                    <a:noFill/>
                  </a:tcPr>
                </a:tc>
              </a:tr>
              <a:tr h="208805">
                <a:tc>
                  <a:txBody>
                    <a:bodyPr/>
                    <a:lstStyle/>
                    <a:p>
                      <a:pPr algn="ctr"/>
                      <a:r>
                        <a:rPr sz="750" b="0">
                          <a:solidFill>
                            <a:srgbClr val="1A1A1A"/>
                          </a:solidFill>
                        </a:rPr>
                        <a:t>Churn</a:t>
                      </a:r>
                    </a:p>
                  </a:txBody>
                  <a:tcPr>
                    <a:solidFill>
                      <a:srgbClr val="F5F7FA"/>
                    </a:solidFill>
                  </a:tcPr>
                </a:tc>
                <a:tc>
                  <a:txBody>
                    <a:bodyPr/>
                    <a:lstStyle/>
                    <a:p>
                      <a:pPr algn="ctr"/>
                      <a:r>
                        <a:rPr sz="750" b="0">
                          <a:solidFill>
                            <a:srgbClr val="1A1A1A"/>
                          </a:solidFill>
                        </a:rPr>
                        <a:t>4,2 %</a:t>
                      </a:r>
                    </a:p>
                  </a:txBody>
                  <a:tcPr>
                    <a:solidFill>
                      <a:srgbClr val="F5F7FA"/>
                    </a:solidFill>
                  </a:tcPr>
                </a:tc>
                <a:tc>
                  <a:txBody>
                    <a:bodyPr/>
                    <a:lstStyle/>
                    <a:p>
                      <a:pPr algn="ctr"/>
                      <a:r>
                        <a:rPr sz="750" b="0">
                          <a:solidFill>
                            <a:srgbClr val="1A1A1A"/>
                          </a:solidFill>
                        </a:rPr>
                        <a:t>Stable</a:t>
                      </a:r>
                    </a:p>
                  </a:txBody>
                  <a:tcPr>
                    <a:solidFill>
                      <a:srgbClr val="F5F7FA"/>
                    </a:solidFill>
                  </a:tcPr>
                </a:tc>
              </a:tr>
            </a:tbl>
          </a:graphicData>
        </a:graphic>
      </p:graphicFrame>
      <p:sp>
        <p:nvSpPr>
          <p:cNvPr id="30" name="Rectangle 2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Comparaison multiples LTM — 8 sociétés vs médiane sectorielle</a:t>
            </a:r>
          </a:p>
        </p:txBody>
      </p:sp>
      <p:graphicFrame>
        <p:nvGraphicFramePr>
          <p:cNvPr id="15" name="Table 14"/>
          <p:cNvGraphicFramePr>
            <a:graphicFrameLocks noGrp="1"/>
          </p:cNvGraphicFramePr>
          <p:nvPr/>
        </p:nvGraphicFramePr>
        <p:xfrm>
          <a:off x="324000" y="900000"/>
          <a:ext cx="8495998" cy="1980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Société</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Alphabet Inc.</a:t>
                      </a:r>
                    </a:p>
                  </a:txBody>
                  <a:tcPr>
                    <a:noFill/>
                  </a:tcPr>
                </a:tc>
                <a:tc>
                  <a:txBody>
                    <a:bodyPr/>
                    <a:lstStyle/>
                    <a:p>
                      <a:pPr algn="ctr"/>
                      <a:r>
                        <a:rPr sz="750" b="0">
                          <a:solidFill>
                            <a:srgbClr val="1A1A1A"/>
                          </a:solidFill>
                        </a:rPr>
                        <a:t>21.6x</a:t>
                      </a:r>
                    </a:p>
                  </a:txBody>
                  <a:tcPr>
                    <a:noFill/>
                  </a:tcPr>
                </a:tc>
                <a:tc>
                  <a:txBody>
                    <a:bodyPr/>
                    <a:lstStyle/>
                    <a:p>
                      <a:pPr algn="ctr"/>
                      <a:r>
                        <a:rPr sz="750" b="0">
                          <a:solidFill>
                            <a:srgbClr val="1A1A1A"/>
                          </a:solidFill>
                        </a:rPr>
                        <a:t>8.1x</a:t>
                      </a:r>
                    </a:p>
                  </a:txBody>
                  <a:tcPr>
                    <a:noFill/>
                  </a:tcPr>
                </a:tc>
                <a:tc>
                  <a:txBody>
                    <a:bodyPr/>
                    <a:lstStyle/>
                    <a:p>
                      <a:pPr algn="ctr"/>
                      <a:r>
                        <a:rPr sz="750" b="0">
                          <a:solidFill>
                            <a:srgbClr val="1A1A1A"/>
                          </a:solidFill>
                        </a:rPr>
                        <a:t>26.6x</a:t>
                      </a:r>
                    </a:p>
                  </a:txBody>
                  <a:tcPr>
                    <a:noFill/>
                  </a:tcPr>
                </a:tc>
                <a:tc>
                  <a:txBody>
                    <a:bodyPr/>
                    <a:lstStyle/>
                    <a:p>
                      <a:pPr algn="ctr"/>
                      <a:r>
                        <a:rPr sz="750" b="0">
                          <a:solidFill>
                            <a:srgbClr val="1A1A1A"/>
                          </a:solidFill>
                        </a:rPr>
                        <a:t>59.7 %</a:t>
                      </a:r>
                    </a:p>
                  </a:txBody>
                  <a:tcPr>
                    <a:noFill/>
                  </a:tcPr>
                </a:tc>
                <a:tc>
                  <a:txBody>
                    <a:bodyPr/>
                    <a:lstStyle/>
                    <a:p>
                      <a:pPr algn="ctr"/>
                      <a:r>
                        <a:rPr sz="750" b="0">
                          <a:solidFill>
                            <a:srgbClr val="1A1A1A"/>
                          </a:solidFill>
                        </a:rPr>
                        <a:t>37.3 %</a:t>
                      </a:r>
                    </a:p>
                  </a:txBody>
                  <a:tcPr>
                    <a:noFill/>
                  </a:tcPr>
                </a:tc>
                <a:tc>
                  <a:txBody>
                    <a:bodyPr/>
                    <a:lstStyle/>
                    <a:p>
                      <a:pPr algn="ctr"/>
                      <a:r>
                        <a:rPr sz="750" b="0">
                          <a:solidFill>
                            <a:srgbClr val="1A1A1A"/>
                          </a:solidFill>
                        </a:rPr>
                        <a:t>35.7 %</a:t>
                      </a:r>
                    </a:p>
                  </a:txBody>
                  <a:tcPr>
                    <a:noFill/>
                  </a:tcPr>
                </a:tc>
              </a:tr>
              <a:tr h="198000">
                <a:tc>
                  <a:txBody>
                    <a:bodyPr/>
                    <a:lstStyle/>
                    <a:p>
                      <a:pPr algn="ctr"/>
                      <a:r>
                        <a:rPr sz="750" b="0">
                          <a:solidFill>
                            <a:srgbClr val="1A1A1A"/>
                          </a:solidFill>
                        </a:rPr>
                        <a:t>NVIDIA Corporation</a:t>
                      </a:r>
                    </a:p>
                  </a:txBody>
                  <a:tcPr>
                    <a:solidFill>
                      <a:srgbClr val="F5F7FA"/>
                    </a:solidFill>
                  </a:tcPr>
                </a:tc>
                <a:tc>
                  <a:txBody>
                    <a:bodyPr/>
                    <a:lstStyle/>
                    <a:p>
                      <a:pPr algn="ctr"/>
                      <a:r>
                        <a:rPr sz="750" b="0">
                          <a:solidFill>
                            <a:srgbClr val="1A1A1A"/>
                          </a:solidFill>
                        </a:rPr>
                        <a:t>29.7x</a:t>
                      </a:r>
                    </a:p>
                  </a:txBody>
                  <a:tcPr>
                    <a:solidFill>
                      <a:srgbClr val="F5F7FA"/>
                    </a:solidFill>
                  </a:tcPr>
                </a:tc>
                <a:tc>
                  <a:txBody>
                    <a:bodyPr/>
                    <a:lstStyle/>
                    <a:p>
                      <a:pPr algn="ctr"/>
                      <a:r>
                        <a:rPr sz="750" b="0">
                          <a:solidFill>
                            <a:srgbClr val="1A1A1A"/>
                          </a:solidFill>
                        </a:rPr>
                        <a:t>18.4x</a:t>
                      </a:r>
                    </a:p>
                  </a:txBody>
                  <a:tcPr>
                    <a:solidFill>
                      <a:srgbClr val="F5F7FA"/>
                    </a:solidFill>
                  </a:tcPr>
                </a:tc>
                <a:tc>
                  <a:txBody>
                    <a:bodyPr/>
                    <a:lstStyle/>
                    <a:p>
                      <a:pPr algn="ctr"/>
                      <a:r>
                        <a:rPr sz="750" b="0">
                          <a:solidFill>
                            <a:srgbClr val="1A1A1A"/>
                          </a:solidFill>
                        </a:rPr>
                        <a:t>35.5x</a:t>
                      </a:r>
                    </a:p>
                  </a:txBody>
                  <a:tcPr>
                    <a:solidFill>
                      <a:srgbClr val="F5F7FA"/>
                    </a:solidFill>
                  </a:tcPr>
                </a:tc>
                <a:tc>
                  <a:txBody>
                    <a:bodyPr/>
                    <a:lstStyle/>
                    <a:p>
                      <a:pPr algn="ctr"/>
                      <a:r>
                        <a:rPr sz="750" b="0">
                          <a:solidFill>
                            <a:srgbClr val="1A1A1A"/>
                          </a:solidFill>
                        </a:rPr>
                        <a:t>71.1 %</a:t>
                      </a:r>
                    </a:p>
                  </a:txBody>
                  <a:tcPr>
                    <a:solidFill>
                      <a:srgbClr val="F5F7FA"/>
                    </a:solidFill>
                  </a:tcPr>
                </a:tc>
                <a:tc>
                  <a:txBody>
                    <a:bodyPr/>
                    <a:lstStyle/>
                    <a:p>
                      <a:pPr algn="ctr"/>
                      <a:r>
                        <a:rPr sz="750" b="0">
                          <a:solidFill>
                            <a:srgbClr val="1A1A1A"/>
                          </a:solidFill>
                        </a:rPr>
                        <a:t>61.7 %</a:t>
                      </a:r>
                    </a:p>
                  </a:txBody>
                  <a:tcPr>
                    <a:solidFill>
                      <a:srgbClr val="F5F7FA"/>
                    </a:solidFill>
                  </a:tcPr>
                </a:tc>
                <a:tc>
                  <a:txBody>
                    <a:bodyPr/>
                    <a:lstStyle/>
                    <a:p>
                      <a:pPr algn="ctr"/>
                      <a:r>
                        <a:rPr sz="750" b="0">
                          <a:solidFill>
                            <a:srgbClr val="1A1A1A"/>
                          </a:solidFill>
                        </a:rPr>
                        <a:t>101.5 %</a:t>
                      </a:r>
                    </a:p>
                  </a:txBody>
                  <a:tcPr>
                    <a:solidFill>
                      <a:srgbClr val="F5F7FA"/>
                    </a:solidFill>
                  </a:tcPr>
                </a:tc>
              </a:tr>
              <a:tr h="198000">
                <a:tc>
                  <a:txBody>
                    <a:bodyPr/>
                    <a:lstStyle/>
                    <a:p>
                      <a:pPr algn="ctr"/>
                      <a:r>
                        <a:rPr sz="750" b="0">
                          <a:solidFill>
                            <a:srgbClr val="1A1A1A"/>
                          </a:solidFill>
                        </a:rPr>
                        <a:t>Microsoft Corporation</a:t>
                      </a:r>
                    </a:p>
                  </a:txBody>
                  <a:tcPr>
                    <a:noFill/>
                  </a:tcPr>
                </a:tc>
                <a:tc>
                  <a:txBody>
                    <a:bodyPr/>
                    <a:lstStyle/>
                    <a:p>
                      <a:pPr algn="ctr"/>
                      <a:r>
                        <a:rPr sz="750" b="0">
                          <a:solidFill>
                            <a:srgbClr val="1A1A1A"/>
                          </a:solidFill>
                        </a:rPr>
                        <a:t>15.4x</a:t>
                      </a:r>
                    </a:p>
                  </a:txBody>
                  <a:tcPr>
                    <a:noFill/>
                  </a:tcPr>
                </a:tc>
                <a:tc>
                  <a:txBody>
                    <a:bodyPr/>
                    <a:lstStyle/>
                    <a:p>
                      <a:pPr algn="ctr"/>
                      <a:r>
                        <a:rPr sz="750" b="0">
                          <a:solidFill>
                            <a:srgbClr val="1A1A1A"/>
                          </a:solidFill>
                        </a:rPr>
                        <a:t>8.8x</a:t>
                      </a:r>
                    </a:p>
                  </a:txBody>
                  <a:tcPr>
                    <a:noFill/>
                  </a:tcPr>
                </a:tc>
                <a:tc>
                  <a:txBody>
                    <a:bodyPr/>
                    <a:lstStyle/>
                    <a:p>
                      <a:pPr algn="ctr"/>
                      <a:r>
                        <a:rPr sz="750" b="0">
                          <a:solidFill>
                            <a:srgbClr val="1A1A1A"/>
                          </a:solidFill>
                        </a:rPr>
                        <a:t>23.2x</a:t>
                      </a:r>
                    </a:p>
                  </a:txBody>
                  <a:tcPr>
                    <a:noFill/>
                  </a:tcPr>
                </a:tc>
                <a:tc>
                  <a:txBody>
                    <a:bodyPr/>
                    <a:lstStyle/>
                    <a:p>
                      <a:pPr algn="ctr"/>
                      <a:r>
                        <a:rPr sz="750" b="0">
                          <a:solidFill>
                            <a:srgbClr val="1A1A1A"/>
                          </a:solidFill>
                        </a:rPr>
                        <a:t>68.6 %</a:t>
                      </a:r>
                    </a:p>
                  </a:txBody>
                  <a:tcPr>
                    <a:noFill/>
                  </a:tcPr>
                </a:tc>
                <a:tc>
                  <a:txBody>
                    <a:bodyPr/>
                    <a:lstStyle/>
                    <a:p>
                      <a:pPr algn="ctr"/>
                      <a:r>
                        <a:rPr sz="750" b="0">
                          <a:solidFill>
                            <a:srgbClr val="1A1A1A"/>
                          </a:solidFill>
                        </a:rPr>
                        <a:t>57.4 %</a:t>
                      </a:r>
                    </a:p>
                  </a:txBody>
                  <a:tcPr>
                    <a:noFill/>
                  </a:tcPr>
                </a:tc>
                <a:tc>
                  <a:txBody>
                    <a:bodyPr/>
                    <a:lstStyle/>
                    <a:p>
                      <a:pPr algn="ctr"/>
                      <a:r>
                        <a:rPr sz="750" b="0">
                          <a:solidFill>
                            <a:srgbClr val="1A1A1A"/>
                          </a:solidFill>
                        </a:rPr>
                        <a:t>34.4 %</a:t>
                      </a:r>
                    </a:p>
                  </a:txBody>
                  <a:tcPr>
                    <a:noFill/>
                  </a:tcPr>
                </a:tc>
              </a:tr>
              <a:tr h="198000">
                <a:tc>
                  <a:txBody>
                    <a:bodyPr/>
                    <a:lstStyle/>
                    <a:p>
                      <a:pPr algn="ctr"/>
                      <a:r>
                        <a:rPr sz="750" b="0">
                          <a:solidFill>
                            <a:srgbClr val="1A1A1A"/>
                          </a:solidFill>
                        </a:rPr>
                        <a:t>Meta Platforms, Inc.</a:t>
                      </a:r>
                    </a:p>
                  </a:txBody>
                  <a:tcPr>
                    <a:solidFill>
                      <a:srgbClr val="F5F7FA"/>
                    </a:solidFill>
                  </a:tcPr>
                </a:tc>
                <a:tc>
                  <a:txBody>
                    <a:bodyPr/>
                    <a:lstStyle/>
                    <a:p>
                      <a:pPr algn="ctr"/>
                      <a:r>
                        <a:rPr sz="750" b="0">
                          <a:solidFill>
                            <a:srgbClr val="1A1A1A"/>
                          </a:solidFill>
                        </a:rPr>
                        <a:t>13.3x</a:t>
                      </a:r>
                    </a:p>
                  </a:txBody>
                  <a:tcPr>
                    <a:solidFill>
                      <a:srgbClr val="F5F7FA"/>
                    </a:solidFill>
                  </a:tcPr>
                </a:tc>
                <a:tc>
                  <a:txBody>
                    <a:bodyPr/>
                    <a:lstStyle/>
                    <a:p>
                      <a:pPr algn="ctr"/>
                      <a:r>
                        <a:rPr sz="750" b="0">
                          <a:solidFill>
                            <a:srgbClr val="1A1A1A"/>
                          </a:solidFill>
                        </a:rPr>
                        <a:t>6.8x</a:t>
                      </a:r>
                    </a:p>
                  </a:txBody>
                  <a:tcPr>
                    <a:solidFill>
                      <a:srgbClr val="F5F7FA"/>
                    </a:solidFill>
                  </a:tcPr>
                </a:tc>
                <a:tc>
                  <a:txBody>
                    <a:bodyPr/>
                    <a:lstStyle/>
                    <a:p>
                      <a:pPr algn="ctr"/>
                      <a:r>
                        <a:rPr sz="750" b="0">
                          <a:solidFill>
                            <a:srgbClr val="1A1A1A"/>
                          </a:solidFill>
                        </a:rPr>
                        <a:t>24.4x</a:t>
                      </a:r>
                    </a:p>
                  </a:txBody>
                  <a:tcPr>
                    <a:solidFill>
                      <a:srgbClr val="F5F7FA"/>
                    </a:solidFill>
                  </a:tcPr>
                </a:tc>
                <a:tc>
                  <a:txBody>
                    <a:bodyPr/>
                    <a:lstStyle/>
                    <a:p>
                      <a:pPr algn="ctr"/>
                      <a:r>
                        <a:rPr sz="750" b="0">
                          <a:solidFill>
                            <a:srgbClr val="1A1A1A"/>
                          </a:solidFill>
                        </a:rPr>
                        <a:t>82.0 %</a:t>
                      </a:r>
                    </a:p>
                  </a:txBody>
                  <a:tcPr>
                    <a:solidFill>
                      <a:srgbClr val="F5F7FA"/>
                    </a:solidFill>
                  </a:tcPr>
                </a:tc>
                <a:tc>
                  <a:txBody>
                    <a:bodyPr/>
                    <a:lstStyle/>
                    <a:p>
                      <a:pPr algn="ctr"/>
                      <a:r>
                        <a:rPr sz="750" b="0">
                          <a:solidFill>
                            <a:srgbClr val="1A1A1A"/>
                          </a:solidFill>
                        </a:rPr>
                        <a:t>50.7 %</a:t>
                      </a:r>
                    </a:p>
                  </a:txBody>
                  <a:tcPr>
                    <a:solidFill>
                      <a:srgbClr val="F5F7FA"/>
                    </a:solidFill>
                  </a:tcPr>
                </a:tc>
                <a:tc>
                  <a:txBody>
                    <a:bodyPr/>
                    <a:lstStyle/>
                    <a:p>
                      <a:pPr algn="ctr"/>
                      <a:r>
                        <a:rPr sz="750" b="0">
                          <a:solidFill>
                            <a:srgbClr val="1A1A1A"/>
                          </a:solidFill>
                        </a:rPr>
                        <a:t>30.2 %</a:t>
                      </a:r>
                    </a:p>
                  </a:txBody>
                  <a:tcPr>
                    <a:solidFill>
                      <a:srgbClr val="F5F7FA"/>
                    </a:solidFill>
                  </a:tcPr>
                </a:tc>
              </a:tr>
              <a:tr h="198000">
                <a:tc>
                  <a:txBody>
                    <a:bodyPr/>
                    <a:lstStyle/>
                    <a:p>
                      <a:pPr algn="ctr"/>
                      <a:r>
                        <a:rPr sz="750" b="0">
                          <a:solidFill>
                            <a:srgbClr val="1A1A1A"/>
                          </a:solidFill>
                        </a:rPr>
                        <a:t>Broadcom Inc.</a:t>
                      </a:r>
                    </a:p>
                  </a:txBody>
                  <a:tcPr>
                    <a:noFill/>
                  </a:tcPr>
                </a:tc>
                <a:tc>
                  <a:txBody>
                    <a:bodyPr/>
                    <a:lstStyle/>
                    <a:p>
                      <a:pPr algn="ctr"/>
                      <a:r>
                        <a:rPr sz="750" b="0">
                          <a:solidFill>
                            <a:srgbClr val="1A1A1A"/>
                          </a:solidFill>
                        </a:rPr>
                        <a:t>4.0x</a:t>
                      </a:r>
                    </a:p>
                  </a:txBody>
                  <a:tcPr>
                    <a:noFill/>
                  </a:tcPr>
                </a:tc>
                <a:tc>
                  <a:txBody>
                    <a:bodyPr/>
                    <a:lstStyle/>
                    <a:p>
                      <a:pPr algn="ctr"/>
                      <a:r>
                        <a:rPr sz="750" b="0">
                          <a:solidFill>
                            <a:srgbClr val="1A1A1A"/>
                          </a:solidFill>
                        </a:rPr>
                        <a:t>2.2x</a:t>
                      </a:r>
                    </a:p>
                  </a:txBody>
                  <a:tcPr>
                    <a:noFill/>
                  </a:tcPr>
                </a:tc>
                <a:tc>
                  <a:txBody>
                    <a:bodyPr/>
                    <a:lstStyle/>
                    <a:p>
                      <a:pPr algn="ctr"/>
                      <a:r>
                        <a:rPr sz="750" b="0">
                          <a:solidFill>
                            <a:srgbClr val="1A1A1A"/>
                          </a:solidFill>
                        </a:rPr>
                        <a:t>60.3x</a:t>
                      </a:r>
                    </a:p>
                  </a:txBody>
                  <a:tcPr>
                    <a:noFill/>
                  </a:tcPr>
                </a:tc>
                <a:tc>
                  <a:txBody>
                    <a:bodyPr/>
                    <a:lstStyle/>
                    <a:p>
                      <a:pPr algn="ctr"/>
                      <a:r>
                        <a:rPr sz="750" b="0">
                          <a:solidFill>
                            <a:srgbClr val="1A1A1A"/>
                          </a:solidFill>
                        </a:rPr>
                        <a:t>76.7 %</a:t>
                      </a:r>
                    </a:p>
                  </a:txBody>
                  <a:tcPr>
                    <a:noFill/>
                  </a:tcPr>
                </a:tc>
                <a:tc>
                  <a:txBody>
                    <a:bodyPr/>
                    <a:lstStyle/>
                    <a:p>
                      <a:pPr algn="ctr"/>
                      <a:r>
                        <a:rPr sz="750" b="0">
                          <a:solidFill>
                            <a:srgbClr val="1A1A1A"/>
                          </a:solidFill>
                        </a:rPr>
                        <a:t>54.5 %</a:t>
                      </a:r>
                    </a:p>
                  </a:txBody>
                  <a:tcPr>
                    <a:noFill/>
                  </a:tcPr>
                </a:tc>
                <a:tc>
                  <a:txBody>
                    <a:bodyPr/>
                    <a:lstStyle/>
                    <a:p>
                      <a:pPr algn="ctr"/>
                      <a:r>
                        <a:rPr sz="750" b="0">
                          <a:solidFill>
                            <a:srgbClr val="1A1A1A"/>
                          </a:solidFill>
                        </a:rPr>
                        <a:t>33.4 %</a:t>
                      </a:r>
                    </a:p>
                  </a:txBody>
                  <a:tcPr>
                    <a:noFill/>
                  </a:tcPr>
                </a:tc>
              </a:tr>
              <a:tr h="198000">
                <a:tc>
                  <a:txBody>
                    <a:bodyPr/>
                    <a:lstStyle/>
                    <a:p>
                      <a:pPr algn="ctr"/>
                      <a:r>
                        <a:rPr sz="750" b="0">
                          <a:solidFill>
                            <a:srgbClr val="1A1A1A"/>
                          </a:solidFill>
                        </a:rPr>
                        <a:t>Oracle Corporation</a:t>
                      </a:r>
                    </a:p>
                  </a:txBody>
                  <a:tcPr>
                    <a:solidFill>
                      <a:srgbClr val="F5F7FA"/>
                    </a:solidFill>
                  </a:tcPr>
                </a:tc>
                <a:tc>
                  <a:txBody>
                    <a:bodyPr/>
                    <a:lstStyle/>
                    <a:p>
                      <a:pPr algn="ctr"/>
                      <a:r>
                        <a:rPr sz="750" b="0">
                          <a:solidFill>
                            <a:srgbClr val="1A1A1A"/>
                          </a:solidFill>
                        </a:rPr>
                        <a:t>19.2x</a:t>
                      </a:r>
                    </a:p>
                  </a:txBody>
                  <a:tcPr>
                    <a:solidFill>
                      <a:srgbClr val="F5F7FA"/>
                    </a:solidFill>
                  </a:tcPr>
                </a:tc>
                <a:tc>
                  <a:txBody>
                    <a:bodyPr/>
                    <a:lstStyle/>
                    <a:p>
                      <a:pPr algn="ctr"/>
                      <a:r>
                        <a:rPr sz="750" b="0">
                          <a:solidFill>
                            <a:srgbClr val="1A1A1A"/>
                          </a:solidFill>
                        </a:rPr>
                        <a:t>8.2x</a:t>
                      </a:r>
                    </a:p>
                  </a:txBody>
                  <a:tcPr>
                    <a:solidFill>
                      <a:srgbClr val="F5F7FA"/>
                    </a:solidFill>
                  </a:tcPr>
                </a:tc>
                <a:tc>
                  <a:txBody>
                    <a:bodyPr/>
                    <a:lstStyle/>
                    <a:p>
                      <a:pPr algn="ctr"/>
                      <a:r>
                        <a:rPr sz="750" b="0">
                          <a:solidFill>
                            <a:srgbClr val="1A1A1A"/>
                          </a:solidFill>
                        </a:rPr>
                        <a:t>26.4x</a:t>
                      </a:r>
                    </a:p>
                  </a:txBody>
                  <a:tcPr>
                    <a:solidFill>
                      <a:srgbClr val="F5F7FA"/>
                    </a:solidFill>
                  </a:tcPr>
                </a:tc>
                <a:tc>
                  <a:txBody>
                    <a:bodyPr/>
                    <a:lstStyle/>
                    <a:p>
                      <a:pPr algn="ctr"/>
                      <a:r>
                        <a:rPr sz="750" b="0">
                          <a:solidFill>
                            <a:srgbClr val="1A1A1A"/>
                          </a:solidFill>
                        </a:rPr>
                        <a:t>67.1 %</a:t>
                      </a:r>
                    </a:p>
                  </a:txBody>
                  <a:tcPr>
                    <a:solidFill>
                      <a:srgbClr val="F5F7FA"/>
                    </a:solidFill>
                  </a:tcPr>
                </a:tc>
                <a:tc>
                  <a:txBody>
                    <a:bodyPr/>
                    <a:lstStyle/>
                    <a:p>
                      <a:pPr algn="ctr"/>
                      <a:r>
                        <a:rPr sz="750" b="0">
                          <a:solidFill>
                            <a:srgbClr val="1A1A1A"/>
                          </a:solidFill>
                        </a:rPr>
                        <a:t>42.8 %</a:t>
                      </a:r>
                    </a:p>
                  </a:txBody>
                  <a:tcPr>
                    <a:solidFill>
                      <a:srgbClr val="F5F7FA"/>
                    </a:solidFill>
                  </a:tcPr>
                </a:tc>
                <a:tc>
                  <a:txBody>
                    <a:bodyPr/>
                    <a:lstStyle/>
                    <a:p>
                      <a:pPr algn="ctr"/>
                      <a:r>
                        <a:rPr sz="750" b="0">
                          <a:solidFill>
                            <a:srgbClr val="1A1A1A"/>
                          </a:solidFill>
                        </a:rPr>
                        <a:t>57.6 %</a:t>
                      </a:r>
                    </a:p>
                  </a:txBody>
                  <a:tcPr>
                    <a:solidFill>
                      <a:srgbClr val="F5F7FA"/>
                    </a:solidFill>
                  </a:tcPr>
                </a:tc>
              </a:tr>
              <a:tr h="198000">
                <a:tc>
                  <a:txBody>
                    <a:bodyPr/>
                    <a:lstStyle/>
                    <a:p>
                      <a:pPr algn="ctr"/>
                      <a:r>
                        <a:rPr sz="750" b="0">
                          <a:solidFill>
                            <a:srgbClr val="1A1A1A"/>
                          </a:solidFill>
                        </a:rPr>
                        <a:t>Apple Inc.</a:t>
                      </a:r>
                    </a:p>
                  </a:txBody>
                  <a:tcPr>
                    <a:noFill/>
                  </a:tcPr>
                </a:tc>
                <a:tc>
                  <a:txBody>
                    <a:bodyPr/>
                    <a:lstStyle/>
                    <a:p>
                      <a:pPr algn="ctr"/>
                      <a:r>
                        <a:rPr sz="750" b="0">
                          <a:solidFill>
                            <a:srgbClr val="1A1A1A"/>
                          </a:solidFill>
                        </a:rPr>
                        <a:t>23.8x</a:t>
                      </a:r>
                    </a:p>
                  </a:txBody>
                  <a:tcPr>
                    <a:noFill/>
                  </a:tcPr>
                </a:tc>
                <a:tc>
                  <a:txBody>
                    <a:bodyPr/>
                    <a:lstStyle/>
                    <a:p>
                      <a:pPr algn="ctr"/>
                      <a:r>
                        <a:rPr sz="750" b="0">
                          <a:solidFill>
                            <a:srgbClr val="1A1A1A"/>
                          </a:solidFill>
                        </a:rPr>
                        <a:t>8.4x</a:t>
                      </a:r>
                    </a:p>
                  </a:txBody>
                  <a:tcPr>
                    <a:noFill/>
                  </a:tcPr>
                </a:tc>
                <a:tc>
                  <a:txBody>
                    <a:bodyPr/>
                    <a:lstStyle/>
                    <a:p>
                      <a:pPr algn="ctr"/>
                      <a:r>
                        <a:rPr sz="750" b="0">
                          <a:solidFill>
                            <a:srgbClr val="1A1A1A"/>
                          </a:solidFill>
                        </a:rPr>
                        <a:t>32.2x</a:t>
                      </a:r>
                    </a:p>
                  </a:txBody>
                  <a:tcPr>
                    <a:noFill/>
                  </a:tcPr>
                </a:tc>
                <a:tc>
                  <a:txBody>
                    <a:bodyPr/>
                    <a:lstStyle/>
                    <a:p>
                      <a:pPr algn="ctr"/>
                      <a:r>
                        <a:rPr sz="750" b="0">
                          <a:solidFill>
                            <a:srgbClr val="1A1A1A"/>
                          </a:solidFill>
                        </a:rPr>
                        <a:t>47.3 %</a:t>
                      </a:r>
                    </a:p>
                  </a:txBody>
                  <a:tcPr>
                    <a:noFill/>
                  </a:tcPr>
                </a:tc>
                <a:tc>
                  <a:txBody>
                    <a:bodyPr/>
                    <a:lstStyle/>
                    <a:p>
                      <a:pPr algn="ctr"/>
                      <a:r>
                        <a:rPr sz="750" b="0">
                          <a:solidFill>
                            <a:srgbClr val="1A1A1A"/>
                          </a:solidFill>
                        </a:rPr>
                        <a:t>35.1 %</a:t>
                      </a:r>
                    </a:p>
                  </a:txBody>
                  <a:tcPr>
                    <a:noFill/>
                  </a:tcPr>
                </a:tc>
                <a:tc>
                  <a:txBody>
                    <a:bodyPr/>
                    <a:lstStyle/>
                    <a:p>
                      <a:pPr algn="ctr"/>
                      <a:r>
                        <a:rPr sz="750" b="0">
                          <a:solidFill>
                            <a:srgbClr val="1A1A1A"/>
                          </a:solidFill>
                        </a:rPr>
                        <a:t>152.0 %</a:t>
                      </a:r>
                    </a:p>
                  </a:txBody>
                  <a:tcPr>
                    <a:noFill/>
                  </a:tcPr>
                </a:tc>
              </a:tr>
              <a:tr h="198000">
                <a:tc>
                  <a:txBody>
                    <a:bodyPr/>
                    <a:lstStyle/>
                    <a:p>
                      <a:pPr algn="ctr"/>
                      <a:r>
                        <a:rPr sz="750" b="0">
                          <a:solidFill>
                            <a:srgbClr val="1A1A1A"/>
                          </a:solidFill>
                        </a:rPr>
                        <a:t>Advanced Micro Devices, Inc.</a:t>
                      </a:r>
                    </a:p>
                  </a:txBody>
                  <a:tcPr>
                    <a:solidFill>
                      <a:srgbClr val="F5F7FA"/>
                    </a:solidFill>
                  </a:tcPr>
                </a:tc>
                <a:tc>
                  <a:txBody>
                    <a:bodyPr/>
                    <a:lstStyle/>
                    <a:p>
                      <a:pPr algn="ctr"/>
                      <a:r>
                        <a:rPr sz="750" b="0">
                          <a:solidFill>
                            <a:srgbClr val="1A1A1A"/>
                          </a:solidFill>
                        </a:rPr>
                        <a:t>46.4x</a:t>
                      </a:r>
                    </a:p>
                  </a:txBody>
                  <a:tcPr>
                    <a:solidFill>
                      <a:srgbClr val="F5F7FA"/>
                    </a:solidFill>
                  </a:tcPr>
                </a:tc>
                <a:tc>
                  <a:txBody>
                    <a:bodyPr/>
                    <a:lstStyle/>
                    <a:p>
                      <a:pPr algn="ctr"/>
                      <a:r>
                        <a:rPr sz="750" b="0">
                          <a:solidFill>
                            <a:srgbClr val="1A1A1A"/>
                          </a:solidFill>
                        </a:rPr>
                        <a:t>9.0x</a:t>
                      </a:r>
                    </a:p>
                  </a:txBody>
                  <a:tcPr>
                    <a:solidFill>
                      <a:srgbClr val="F5F7FA"/>
                    </a:solidFill>
                  </a:tcPr>
                </a:tc>
                <a:tc>
                  <a:txBody>
                    <a:bodyPr/>
                    <a:lstStyle/>
                    <a:p>
                      <a:pPr algn="ctr"/>
                      <a:r>
                        <a:rPr sz="750" b="0">
                          <a:solidFill>
                            <a:srgbClr val="1A1A1A"/>
                          </a:solidFill>
                        </a:rPr>
                        <a:t>77.9x</a:t>
                      </a:r>
                    </a:p>
                  </a:txBody>
                  <a:tcPr>
                    <a:solidFill>
                      <a:srgbClr val="F5F7FA"/>
                    </a:solidFill>
                  </a:tcPr>
                </a:tc>
                <a:tc>
                  <a:txBody>
                    <a:bodyPr/>
                    <a:lstStyle/>
                    <a:p>
                      <a:pPr algn="ctr"/>
                      <a:r>
                        <a:rPr sz="750" b="0">
                          <a:solidFill>
                            <a:srgbClr val="1A1A1A"/>
                          </a:solidFill>
                        </a:rPr>
                        <a:t>52.5 %</a:t>
                      </a:r>
                    </a:p>
                  </a:txBody>
                  <a:tcPr>
                    <a:solidFill>
                      <a:srgbClr val="F5F7FA"/>
                    </a:solidFill>
                  </a:tcPr>
                </a:tc>
                <a:tc>
                  <a:txBody>
                    <a:bodyPr/>
                    <a:lstStyle/>
                    <a:p>
                      <a:pPr algn="ctr"/>
                      <a:r>
                        <a:rPr sz="750" b="0">
                          <a:solidFill>
                            <a:srgbClr val="1A1A1A"/>
                          </a:solidFill>
                        </a:rPr>
                        <a:t>19.5 %</a:t>
                      </a:r>
                    </a:p>
                  </a:txBody>
                  <a:tcPr>
                    <a:solidFill>
                      <a:srgbClr val="F5F7FA"/>
                    </a:solidFill>
                  </a:tcPr>
                </a:tc>
                <a:tc>
                  <a:txBody>
                    <a:bodyPr/>
                    <a:lstStyle/>
                    <a:p>
                      <a:pPr algn="ctr"/>
                      <a:r>
                        <a:rPr sz="750" b="0">
                          <a:solidFill>
                            <a:srgbClr val="1A1A1A"/>
                          </a:solidFill>
                        </a:rPr>
                        <a:t>7.1 %</a:t>
                      </a:r>
                    </a:p>
                  </a:txBody>
                  <a:tcPr>
                    <a:solidFill>
                      <a:srgbClr val="F5F7FA"/>
                    </a:solidFill>
                  </a:tcPr>
                </a:tc>
              </a:tr>
              <a:tr h="198000">
                <a:tc>
                  <a:txBody>
                    <a:bodyPr/>
                    <a:lstStyle/>
                    <a:p>
                      <a:pPr algn="ctr"/>
                      <a:r>
                        <a:rPr sz="750" b="0">
                          <a:solidFill>
                            <a:srgbClr val="1A1A1A"/>
                          </a:solidFill>
                        </a:rPr>
                        <a:t>MEDIANE</a:t>
                      </a:r>
                    </a:p>
                  </a:txBody>
                  <a:tcPr>
                    <a:noFill/>
                  </a:tcPr>
                </a:tc>
                <a:tc>
                  <a:txBody>
                    <a:bodyPr/>
                    <a:lstStyle/>
                    <a:p>
                      <a:pPr algn="ctr"/>
                      <a:r>
                        <a:rPr sz="750" b="0">
                          <a:solidFill>
                            <a:srgbClr val="1A1A1A"/>
                          </a:solidFill>
                        </a:rPr>
                        <a:t>20.4x</a:t>
                      </a:r>
                    </a:p>
                  </a:txBody>
                  <a:tcPr>
                    <a:noFill/>
                  </a:tcPr>
                </a:tc>
                <a:tc>
                  <a:txBody>
                    <a:bodyPr/>
                    <a:lstStyle/>
                    <a:p>
                      <a:pPr algn="ctr"/>
                      <a:r>
                        <a:rPr sz="750" b="0">
                          <a:solidFill>
                            <a:srgbClr val="1A1A1A"/>
                          </a:solidFill>
                        </a:rPr>
                        <a:t>8.3x</a:t>
                      </a:r>
                    </a:p>
                  </a:txBody>
                  <a:tcPr>
                    <a:noFill/>
                  </a:tcPr>
                </a:tc>
                <a:tc>
                  <a:txBody>
                    <a:bodyPr/>
                    <a:lstStyle/>
                    <a:p>
                      <a:pPr algn="ctr"/>
                      <a:r>
                        <a:rPr sz="750" b="0">
                          <a:solidFill>
                            <a:srgbClr val="1A1A1A"/>
                          </a:solidFill>
                        </a:rPr>
                        <a:t>29.4x</a:t>
                      </a:r>
                    </a:p>
                  </a:txBody>
                  <a:tcPr>
                    <a:noFill/>
                  </a:tcPr>
                </a:tc>
                <a:tc>
                  <a:txBody>
                    <a:bodyPr/>
                    <a:lstStyle/>
                    <a:p>
                      <a:pPr algn="ctr"/>
                      <a:r>
                        <a:rPr sz="750" b="0">
                          <a:solidFill>
                            <a:srgbClr val="1A1A1A"/>
                          </a:solidFill>
                        </a:rPr>
                        <a:t>67.8 %</a:t>
                      </a:r>
                    </a:p>
                  </a:txBody>
                  <a:tcPr>
                    <a:noFill/>
                  </a:tcPr>
                </a:tc>
                <a:tc>
                  <a:txBody>
                    <a:bodyPr/>
                    <a:lstStyle/>
                    <a:p>
                      <a:pPr algn="ctr"/>
                      <a:r>
                        <a:rPr sz="750" b="0">
                          <a:solidFill>
                            <a:srgbClr val="1A1A1A"/>
                          </a:solidFill>
                        </a:rPr>
                        <a:t>46.8 %</a:t>
                      </a:r>
                    </a:p>
                  </a:txBody>
                  <a:tcPr>
                    <a:noFill/>
                  </a:tcPr>
                </a:tc>
                <a:tc>
                  <a:txBody>
                    <a:bodyPr/>
                    <a:lstStyle/>
                    <a:p>
                      <a:pPr algn="ctr"/>
                      <a:r>
                        <a:rPr sz="750" b="0">
                          <a:solidFill>
                            <a:srgbClr val="1A1A1A"/>
                          </a:solidFill>
                        </a:rPr>
                        <a:t>35.0 %</a:t>
                      </a:r>
                    </a:p>
                  </a:txBody>
                  <a:tcPr>
                    <a:noFill/>
                  </a:tcPr>
                </a:tc>
              </a:tr>
            </a:tbl>
          </a:graphicData>
        </a:graphic>
      </p:graphicFrame>
      <p:sp>
        <p:nvSpPr>
          <p:cNvPr id="16" name="Rectangle 15"/>
          <p:cNvSpPr/>
          <p:nvPr/>
        </p:nvSpPr>
        <p:spPr>
          <a:xfrm>
            <a:off x="324000" y="2988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988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006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3276000"/>
            <a:ext cx="8352000" cy="720000"/>
          </a:xfrm>
          <a:prstGeom prst="rect">
            <a:avLst/>
          </a:prstGeom>
          <a:noFill/>
        </p:spPr>
        <p:txBody>
          <a:bodyPr wrap="square">
            <a:spAutoFit/>
          </a:bodyPr>
          <a:lstStyle/>
          <a:p>
            <a:pPr algn="l"/>
            <a:r>
              <a:rPr sz="850" b="0" i="0">
                <a:solidFill>
                  <a:srgbClr val="555555"/>
                </a:solidFill>
              </a:rPr>
              <a:t>La mediane EV/EBITDA sectorielle s etablit a 20.4x LTM. Alphabet Inc. (21.6x) se distingue comme le leader de qualite, combine a une marge EBITDA de 37.3 % et une croissance de +18.0 %. La dispersion des multiples revele l heterogeneite des profils au sein du secteur Technology — une lecture croisee P/E vs EV/EBITDA permet d 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Drivers de croissance &amp; sensibilité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Intelligence Artificielle</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Adoption entreprises +42 % en 2026 — premier driver de depenses IT</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Cloud Hybride Souverain</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Contraintes souverainete données — migration vers solutions EU acceleree par NIS2</a:t>
            </a:r>
          </a:p>
        </p:txBody>
      </p:sp>
      <p:sp>
        <p:nvSpPr>
          <p:cNvPr id="25" name="Rectangle 24"/>
          <p:cNvSpPr/>
          <p:nvPr/>
        </p:nvSpPr>
        <p:spPr>
          <a:xfrm>
            <a:off x="324000" y="2736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1A7A4A"/>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Modernisation SI Publics</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Plans gouvernementaux 2026-2028 — budgets numeriques confirmes 6 Etats EU</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Sensibilite Taux</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Compression multiples si taux &gt; 4,5 % — impact modere sur FCF structurel</a:t>
            </a:r>
          </a:p>
        </p:txBody>
      </p:sp>
      <p:sp>
        <p:nvSpPr>
          <p:cNvPr id="35" name="Rectangle 34"/>
          <p:cNvSpPr/>
          <p:nvPr/>
        </p:nvSpPr>
        <p:spPr>
          <a:xfrm>
            <a:off x="5976000" y="900000"/>
            <a:ext cx="2844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SURPONDÉRER</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75/100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median : 11.5 %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720000"/>
          </a:xfrm>
          <a:prstGeom prst="rect">
            <a:avLst/>
          </a:prstGeom>
          <a:noFill/>
        </p:spPr>
        <p:txBody>
          <a:bodyPr wrap="square">
            <a:spAutoFit/>
          </a:bodyPr>
          <a:lstStyle/>
          <a:p>
            <a:pPr algn="ctr"/>
            <a:r>
              <a:rPr sz="800" b="0" i="0">
                <a:solidFill>
                  <a:srgbClr val="2A5298"/>
                </a:solidFill>
              </a:rPr>
              <a:t>Secteur en phase d'expansion | porté par l'IA et le cloud souverain</a:t>
            </a:r>
          </a:p>
        </p:txBody>
      </p:sp>
      <p:sp>
        <p:nvSpPr>
          <p:cNvPr id="44" name="Rectangle 43"/>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Sociétés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8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Sociétés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8 sociétés analysées  ·  Technology  ·  S&amp;P 500  ·  Tri par score FinSight decroissant</a:t>
            </a:r>
          </a:p>
        </p:txBody>
      </p:sp>
      <p:graphicFrame>
        <p:nvGraphicFramePr>
          <p:cNvPr id="15" name="Table 14"/>
          <p:cNvGraphicFramePr>
            <a:graphicFrameLocks noGrp="1"/>
          </p:cNvGraphicFramePr>
          <p:nvPr/>
        </p:nvGraphicFramePr>
        <p:xfrm>
          <a:off x="324000" y="900000"/>
          <a:ext cx="8495998" cy="18144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2016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201600">
                <a:tc>
                  <a:txBody>
                    <a:bodyPr/>
                    <a:lstStyle/>
                    <a:p>
                      <a:pPr algn="ctr"/>
                      <a:r>
                        <a:rPr sz="750" b="0">
                          <a:solidFill>
                            <a:srgbClr val="1A1A1A"/>
                          </a:solidFill>
                        </a:rPr>
                        <a:t>1</a:t>
                      </a:r>
                    </a:p>
                  </a:txBody>
                  <a:tcPr>
                    <a:noFill/>
                  </a:tcPr>
                </a:tc>
                <a:tc>
                  <a:txBody>
                    <a:bodyPr/>
                    <a:lstStyle/>
                    <a:p>
                      <a:pPr algn="ctr"/>
                      <a:r>
                        <a:rPr sz="750" b="0">
                          <a:solidFill>
                            <a:srgbClr val="1A1A1A"/>
                          </a:solidFill>
                        </a:rPr>
                        <a:t>GOOGL</a:t>
                      </a:r>
                    </a:p>
                  </a:txBody>
                  <a:tcPr>
                    <a:noFill/>
                  </a:tcPr>
                </a:tc>
                <a:tc>
                  <a:txBody>
                    <a:bodyPr/>
                    <a:lstStyle/>
                    <a:p>
                      <a:pPr algn="ctr"/>
                      <a:r>
                        <a:rPr sz="750" b="0">
                          <a:solidFill>
                            <a:srgbClr val="1A1A1A"/>
                          </a:solidFill>
                        </a:rPr>
                        <a:t>Alphabet Inc.</a:t>
                      </a:r>
                    </a:p>
                  </a:txBody>
                  <a:tcPr>
                    <a:noFill/>
                  </a:tcPr>
                </a:tc>
                <a:tc>
                  <a:txBody>
                    <a:bodyPr/>
                    <a:lstStyle/>
                    <a:p>
                      <a:pPr algn="ctr"/>
                      <a:r>
                        <a:rPr sz="750" b="0">
                          <a:solidFill>
                            <a:srgbClr val="1A1A1A"/>
                          </a:solidFill>
                        </a:rPr>
                        <a:t>85/100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287.56</a:t>
                      </a:r>
                    </a:p>
                  </a:txBody>
                  <a:tcPr>
                    <a:noFill/>
                  </a:tcPr>
                </a:tc>
                <a:tc>
                  <a:txBody>
                    <a:bodyPr/>
                    <a:lstStyle/>
                    <a:p>
                      <a:pPr algn="ctr"/>
                      <a:r>
                        <a:rPr sz="750" b="0">
                          <a:solidFill>
                            <a:srgbClr val="1A1A1A"/>
                          </a:solidFill>
                        </a:rPr>
                        <a:t>21.6x</a:t>
                      </a:r>
                    </a:p>
                  </a:txBody>
                  <a:tcPr>
                    <a:noFill/>
                  </a:tcPr>
                </a:tc>
                <a:tc>
                  <a:txBody>
                    <a:bodyPr/>
                    <a:lstStyle/>
                    <a:p>
                      <a:pPr algn="ctr"/>
                      <a:r>
                        <a:rPr sz="750" b="0">
                          <a:solidFill>
                            <a:srgbClr val="1A1A1A"/>
                          </a:solidFill>
                        </a:rPr>
                        <a:t>37.3 %</a:t>
                      </a:r>
                    </a:p>
                  </a:txBody>
                  <a:tcPr>
                    <a:noFill/>
                  </a:tcPr>
                </a:tc>
                <a:tc>
                  <a:txBody>
                    <a:bodyPr/>
                    <a:lstStyle/>
                    <a:p>
                      <a:pPr algn="ctr"/>
                      <a:r>
                        <a:rPr sz="750" b="0">
                          <a:solidFill>
                            <a:srgbClr val="1A1A1A"/>
                          </a:solidFill>
                        </a:rPr>
                        <a:t>+18.0 %</a:t>
                      </a:r>
                    </a:p>
                  </a:txBody>
                  <a:tcPr>
                    <a:noFill/>
                  </a:tcPr>
                </a:tc>
                <a:tc>
                  <a:txBody>
                    <a:bodyPr/>
                    <a:lstStyle/>
                    <a:p>
                      <a:pPr algn="ctr"/>
                      <a:r>
                        <a:rPr sz="750" b="0">
                          <a:solidFill>
                            <a:srgbClr val="1A1A1A"/>
                          </a:solidFill>
                        </a:rPr>
                        <a:t>+74.1 %</a:t>
                      </a:r>
                    </a:p>
                  </a:txBody>
                  <a:tcPr>
                    <a:noFill/>
                  </a:tcPr>
                </a:tc>
              </a:tr>
              <a:tr h="2016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NVDA</a:t>
                      </a:r>
                    </a:p>
                  </a:txBody>
                  <a:tcPr>
                    <a:solidFill>
                      <a:srgbClr val="F5F7FA"/>
                    </a:solidFill>
                  </a:tcPr>
                </a:tc>
                <a:tc>
                  <a:txBody>
                    <a:bodyPr/>
                    <a:lstStyle/>
                    <a:p>
                      <a:pPr algn="ctr"/>
                      <a:r>
                        <a:rPr sz="750" b="0">
                          <a:solidFill>
                            <a:srgbClr val="1A1A1A"/>
                          </a:solidFill>
                        </a:rPr>
                        <a:t>NVIDIA Corporation</a:t>
                      </a:r>
                    </a:p>
                  </a:txBody>
                  <a:tcPr>
                    <a:solidFill>
                      <a:srgbClr val="F5F7FA"/>
                    </a:solidFill>
                  </a:tcPr>
                </a:tc>
                <a:tc>
                  <a:txBody>
                    <a:bodyPr/>
                    <a:lstStyle/>
                    <a:p>
                      <a:pPr algn="ctr"/>
                      <a:r>
                        <a:rPr sz="750" b="0">
                          <a:solidFill>
                            <a:srgbClr val="1A1A1A"/>
                          </a:solidFill>
                        </a:rPr>
                        <a:t>77/100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174.4</a:t>
                      </a:r>
                    </a:p>
                  </a:txBody>
                  <a:tcPr>
                    <a:solidFill>
                      <a:srgbClr val="F5F7FA"/>
                    </a:solidFill>
                  </a:tcPr>
                </a:tc>
                <a:tc>
                  <a:txBody>
                    <a:bodyPr/>
                    <a:lstStyle/>
                    <a:p>
                      <a:pPr algn="ctr"/>
                      <a:r>
                        <a:rPr sz="750" b="0">
                          <a:solidFill>
                            <a:srgbClr val="1A1A1A"/>
                          </a:solidFill>
                        </a:rPr>
                        <a:t>29.7x</a:t>
                      </a:r>
                    </a:p>
                  </a:txBody>
                  <a:tcPr>
                    <a:solidFill>
                      <a:srgbClr val="F5F7FA"/>
                    </a:solidFill>
                  </a:tcPr>
                </a:tc>
                <a:tc>
                  <a:txBody>
                    <a:bodyPr/>
                    <a:lstStyle/>
                    <a:p>
                      <a:pPr algn="ctr"/>
                      <a:r>
                        <a:rPr sz="750" b="0">
                          <a:solidFill>
                            <a:srgbClr val="1A1A1A"/>
                          </a:solidFill>
                        </a:rPr>
                        <a:t>61.7 %</a:t>
                      </a:r>
                    </a:p>
                  </a:txBody>
                  <a:tcPr>
                    <a:solidFill>
                      <a:srgbClr val="F5F7FA"/>
                    </a:solidFill>
                  </a:tcPr>
                </a:tc>
                <a:tc>
                  <a:txBody>
                    <a:bodyPr/>
                    <a:lstStyle/>
                    <a:p>
                      <a:pPr algn="ctr"/>
                      <a:r>
                        <a:rPr sz="750" b="0">
                          <a:solidFill>
                            <a:srgbClr val="1A1A1A"/>
                          </a:solidFill>
                        </a:rPr>
                        <a:t>+73.2 %</a:t>
                      </a:r>
                    </a:p>
                  </a:txBody>
                  <a:tcPr>
                    <a:solidFill>
                      <a:srgbClr val="F5F7FA"/>
                    </a:solidFill>
                  </a:tcPr>
                </a:tc>
                <a:tc>
                  <a:txBody>
                    <a:bodyPr/>
                    <a:lstStyle/>
                    <a:p>
                      <a:pPr algn="ctr"/>
                      <a:r>
                        <a:rPr sz="750" b="0">
                          <a:solidFill>
                            <a:srgbClr val="1A1A1A"/>
                          </a:solidFill>
                        </a:rPr>
                        <a:t>+50.0 %</a:t>
                      </a:r>
                    </a:p>
                  </a:txBody>
                  <a:tcPr>
                    <a:solidFill>
                      <a:srgbClr val="F5F7FA"/>
                    </a:solidFill>
                  </a:tcPr>
                </a:tc>
              </a:tr>
              <a:tr h="201600">
                <a:tc>
                  <a:txBody>
                    <a:bodyPr/>
                    <a:lstStyle/>
                    <a:p>
                      <a:pPr algn="ctr"/>
                      <a:r>
                        <a:rPr sz="750" b="0">
                          <a:solidFill>
                            <a:srgbClr val="1A1A1A"/>
                          </a:solidFill>
                        </a:rPr>
                        <a:t>3</a:t>
                      </a:r>
                    </a:p>
                  </a:txBody>
                  <a:tcPr>
                    <a:noFill/>
                  </a:tcPr>
                </a:tc>
                <a:tc>
                  <a:txBody>
                    <a:bodyPr/>
                    <a:lstStyle/>
                    <a:p>
                      <a:pPr algn="ctr"/>
                      <a:r>
                        <a:rPr sz="750" b="0">
                          <a:solidFill>
                            <a:srgbClr val="1A1A1A"/>
                          </a:solidFill>
                        </a:rPr>
                        <a:t>MSFT</a:t>
                      </a:r>
                    </a:p>
                  </a:txBody>
                  <a:tcPr>
                    <a:noFill/>
                  </a:tcPr>
                </a:tc>
                <a:tc>
                  <a:txBody>
                    <a:bodyPr/>
                    <a:lstStyle/>
                    <a:p>
                      <a:pPr algn="ctr"/>
                      <a:r>
                        <a:rPr sz="750" b="0">
                          <a:solidFill>
                            <a:srgbClr val="1A1A1A"/>
                          </a:solidFill>
                        </a:rPr>
                        <a:t>Microsoft Corporation</a:t>
                      </a:r>
                    </a:p>
                  </a:txBody>
                  <a:tcPr>
                    <a:noFill/>
                  </a:tcPr>
                </a:tc>
                <a:tc>
                  <a:txBody>
                    <a:bodyPr/>
                    <a:lstStyle/>
                    <a:p>
                      <a:pPr algn="ctr"/>
                      <a:r>
                        <a:rPr sz="750" b="0">
                          <a:solidFill>
                            <a:srgbClr val="1A1A1A"/>
                          </a:solidFill>
                        </a:rPr>
                        <a:t>74/100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370.17</a:t>
                      </a:r>
                    </a:p>
                  </a:txBody>
                  <a:tcPr>
                    <a:noFill/>
                  </a:tcPr>
                </a:tc>
                <a:tc>
                  <a:txBody>
                    <a:bodyPr/>
                    <a:lstStyle/>
                    <a:p>
                      <a:pPr algn="ctr"/>
                      <a:r>
                        <a:rPr sz="750" b="0">
                          <a:solidFill>
                            <a:srgbClr val="1A1A1A"/>
                          </a:solidFill>
                        </a:rPr>
                        <a:t>15.4x</a:t>
                      </a:r>
                    </a:p>
                  </a:txBody>
                  <a:tcPr>
                    <a:noFill/>
                  </a:tcPr>
                </a:tc>
                <a:tc>
                  <a:txBody>
                    <a:bodyPr/>
                    <a:lstStyle/>
                    <a:p>
                      <a:pPr algn="ctr"/>
                      <a:r>
                        <a:rPr sz="750" b="0">
                          <a:solidFill>
                            <a:srgbClr val="1A1A1A"/>
                          </a:solidFill>
                        </a:rPr>
                        <a:t>57.4 %</a:t>
                      </a:r>
                    </a:p>
                  </a:txBody>
                  <a:tcPr>
                    <a:noFill/>
                  </a:tcPr>
                </a:tc>
                <a:tc>
                  <a:txBody>
                    <a:bodyPr/>
                    <a:lstStyle/>
                    <a:p>
                      <a:pPr algn="ctr"/>
                      <a:r>
                        <a:rPr sz="750" b="0">
                          <a:solidFill>
                            <a:srgbClr val="1A1A1A"/>
                          </a:solidFill>
                        </a:rPr>
                        <a:t>+16.7 %</a:t>
                      </a:r>
                    </a:p>
                  </a:txBody>
                  <a:tcPr>
                    <a:noFill/>
                  </a:tcPr>
                </a:tc>
                <a:tc>
                  <a:txBody>
                    <a:bodyPr/>
                    <a:lstStyle/>
                    <a:p>
                      <a:pPr algn="ctr"/>
                      <a:r>
                        <a:rPr sz="750" b="0">
                          <a:solidFill>
                            <a:srgbClr val="1A1A1A"/>
                          </a:solidFill>
                        </a:rPr>
                        <a:t>-6.1 %</a:t>
                      </a:r>
                    </a:p>
                  </a:txBody>
                  <a:tcPr>
                    <a:noFill/>
                  </a:tcPr>
                </a:tc>
              </a:tr>
              <a:tr h="2016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META</a:t>
                      </a:r>
                    </a:p>
                  </a:txBody>
                  <a:tcPr>
                    <a:solidFill>
                      <a:srgbClr val="F5F7FA"/>
                    </a:solidFill>
                  </a:tcPr>
                </a:tc>
                <a:tc>
                  <a:txBody>
                    <a:bodyPr/>
                    <a:lstStyle/>
                    <a:p>
                      <a:pPr algn="ctr"/>
                      <a:r>
                        <a:rPr sz="750" b="0">
                          <a:solidFill>
                            <a:srgbClr val="1A1A1A"/>
                          </a:solidFill>
                        </a:rPr>
                        <a:t>Meta Platforms, Inc.</a:t>
                      </a:r>
                    </a:p>
                  </a:txBody>
                  <a:tcPr>
                    <a:solidFill>
                      <a:srgbClr val="F5F7FA"/>
                    </a:solidFill>
                  </a:tcPr>
                </a:tc>
                <a:tc>
                  <a:txBody>
                    <a:bodyPr/>
                    <a:lstStyle/>
                    <a:p>
                      <a:pPr algn="ctr"/>
                      <a:r>
                        <a:rPr sz="750" b="0">
                          <a:solidFill>
                            <a:srgbClr val="1A1A1A"/>
                          </a:solidFill>
                        </a:rPr>
                        <a:t>74/100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572.13</a:t>
                      </a:r>
                    </a:p>
                  </a:txBody>
                  <a:tcPr>
                    <a:solidFill>
                      <a:srgbClr val="F5F7FA"/>
                    </a:solidFill>
                  </a:tcPr>
                </a:tc>
                <a:tc>
                  <a:txBody>
                    <a:bodyPr/>
                    <a:lstStyle/>
                    <a:p>
                      <a:pPr algn="ctr"/>
                      <a:r>
                        <a:rPr sz="750" b="0">
                          <a:solidFill>
                            <a:srgbClr val="1A1A1A"/>
                          </a:solidFill>
                        </a:rPr>
                        <a:t>13.3x</a:t>
                      </a:r>
                    </a:p>
                  </a:txBody>
                  <a:tcPr>
                    <a:solidFill>
                      <a:srgbClr val="F5F7FA"/>
                    </a:solidFill>
                  </a:tcPr>
                </a:tc>
                <a:tc>
                  <a:txBody>
                    <a:bodyPr/>
                    <a:lstStyle/>
                    <a:p>
                      <a:pPr algn="ctr"/>
                      <a:r>
                        <a:rPr sz="750" b="0">
                          <a:solidFill>
                            <a:srgbClr val="1A1A1A"/>
                          </a:solidFill>
                        </a:rPr>
                        <a:t>50.7 %</a:t>
                      </a:r>
                    </a:p>
                  </a:txBody>
                  <a:tcPr>
                    <a:solidFill>
                      <a:srgbClr val="F5F7FA"/>
                    </a:solidFill>
                  </a:tcPr>
                </a:tc>
                <a:tc>
                  <a:txBody>
                    <a:bodyPr/>
                    <a:lstStyle/>
                    <a:p>
                      <a:pPr algn="ctr"/>
                      <a:r>
                        <a:rPr sz="750" b="0">
                          <a:solidFill>
                            <a:srgbClr val="1A1A1A"/>
                          </a:solidFill>
                        </a:rPr>
                        <a:t>+23.8 %</a:t>
                      </a:r>
                    </a:p>
                  </a:txBody>
                  <a:tcPr>
                    <a:solidFill>
                      <a:srgbClr val="F5F7FA"/>
                    </a:solidFill>
                  </a:tcPr>
                </a:tc>
                <a:tc>
                  <a:txBody>
                    <a:bodyPr/>
                    <a:lstStyle/>
                    <a:p>
                      <a:pPr algn="ctr"/>
                      <a:r>
                        <a:rPr sz="750" b="0">
                          <a:solidFill>
                            <a:srgbClr val="1A1A1A"/>
                          </a:solidFill>
                        </a:rPr>
                        <a:t>-8.5 %</a:t>
                      </a:r>
                    </a:p>
                  </a:txBody>
                  <a:tcPr>
                    <a:solidFill>
                      <a:srgbClr val="F5F7FA"/>
                    </a:solidFill>
                  </a:tcPr>
                </a:tc>
              </a:tr>
              <a:tr h="201600">
                <a:tc>
                  <a:txBody>
                    <a:bodyPr/>
                    <a:lstStyle/>
                    <a:p>
                      <a:pPr algn="ctr"/>
                      <a:r>
                        <a:rPr sz="750" b="0">
                          <a:solidFill>
                            <a:srgbClr val="1A1A1A"/>
                          </a:solidFill>
                        </a:rPr>
                        <a:t>5</a:t>
                      </a:r>
                    </a:p>
                  </a:txBody>
                  <a:tcPr>
                    <a:noFill/>
                  </a:tcPr>
                </a:tc>
                <a:tc>
                  <a:txBody>
                    <a:bodyPr/>
                    <a:lstStyle/>
                    <a:p>
                      <a:pPr algn="ctr"/>
                      <a:r>
                        <a:rPr sz="750" b="0">
                          <a:solidFill>
                            <a:srgbClr val="1A1A1A"/>
                          </a:solidFill>
                        </a:rPr>
                        <a:t>AVGO</a:t>
                      </a:r>
                    </a:p>
                  </a:txBody>
                  <a:tcPr>
                    <a:noFill/>
                  </a:tcPr>
                </a:tc>
                <a:tc>
                  <a:txBody>
                    <a:bodyPr/>
                    <a:lstStyle/>
                    <a:p>
                      <a:pPr algn="ctr"/>
                      <a:r>
                        <a:rPr sz="750" b="0">
                          <a:solidFill>
                            <a:srgbClr val="1A1A1A"/>
                          </a:solidFill>
                        </a:rPr>
                        <a:t>Broadcom Inc.</a:t>
                      </a:r>
                    </a:p>
                  </a:txBody>
                  <a:tcPr>
                    <a:noFill/>
                  </a:tcPr>
                </a:tc>
                <a:tc>
                  <a:txBody>
                    <a:bodyPr/>
                    <a:lstStyle/>
                    <a:p>
                      <a:pPr algn="ctr"/>
                      <a:r>
                        <a:rPr sz="750" b="0">
                          <a:solidFill>
                            <a:srgbClr val="1A1A1A"/>
                          </a:solidFill>
                        </a:rPr>
                        <a:t>73/100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309.51</a:t>
                      </a:r>
                    </a:p>
                  </a:txBody>
                  <a:tcPr>
                    <a:noFill/>
                  </a:tcPr>
                </a:tc>
                <a:tc>
                  <a:txBody>
                    <a:bodyPr/>
                    <a:lstStyle/>
                    <a:p>
                      <a:pPr algn="ctr"/>
                      <a:r>
                        <a:rPr sz="750" b="0">
                          <a:solidFill>
                            <a:srgbClr val="1A1A1A"/>
                          </a:solidFill>
                        </a:rPr>
                        <a:t>4.0x</a:t>
                      </a:r>
                    </a:p>
                  </a:txBody>
                  <a:tcPr>
                    <a:noFill/>
                  </a:tcPr>
                </a:tc>
                <a:tc>
                  <a:txBody>
                    <a:bodyPr/>
                    <a:lstStyle/>
                    <a:p>
                      <a:pPr algn="ctr"/>
                      <a:r>
                        <a:rPr sz="750" b="0">
                          <a:solidFill>
                            <a:srgbClr val="1A1A1A"/>
                          </a:solidFill>
                        </a:rPr>
                        <a:t>54.5 %</a:t>
                      </a:r>
                    </a:p>
                  </a:txBody>
                  <a:tcPr>
                    <a:noFill/>
                  </a:tcPr>
                </a:tc>
                <a:tc>
                  <a:txBody>
                    <a:bodyPr/>
                    <a:lstStyle/>
                    <a:p>
                      <a:pPr algn="ctr"/>
                      <a:r>
                        <a:rPr sz="750" b="0">
                          <a:solidFill>
                            <a:srgbClr val="1A1A1A"/>
                          </a:solidFill>
                        </a:rPr>
                        <a:t>+16.4 %</a:t>
                      </a:r>
                    </a:p>
                  </a:txBody>
                  <a:tcPr>
                    <a:noFill/>
                  </a:tcPr>
                </a:tc>
                <a:tc>
                  <a:txBody>
                    <a:bodyPr/>
                    <a:lstStyle/>
                    <a:p>
                      <a:pPr algn="ctr"/>
                      <a:r>
                        <a:rPr sz="750" b="0">
                          <a:solidFill>
                            <a:srgbClr val="1A1A1A"/>
                          </a:solidFill>
                        </a:rPr>
                        <a:t>+74.1 %</a:t>
                      </a:r>
                    </a:p>
                  </a:txBody>
                  <a:tcPr>
                    <a:noFill/>
                  </a:tcPr>
                </a:tc>
              </a:tr>
              <a:tr h="2016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ORCL</a:t>
                      </a:r>
                    </a:p>
                  </a:txBody>
                  <a:tcPr>
                    <a:solidFill>
                      <a:srgbClr val="F5F7FA"/>
                    </a:solidFill>
                  </a:tcPr>
                </a:tc>
                <a:tc>
                  <a:txBody>
                    <a:bodyPr/>
                    <a:lstStyle/>
                    <a:p>
                      <a:pPr algn="ctr"/>
                      <a:r>
                        <a:rPr sz="750" b="0">
                          <a:solidFill>
                            <a:srgbClr val="1A1A1A"/>
                          </a:solidFill>
                        </a:rPr>
                        <a:t>Oracle Corporation</a:t>
                      </a:r>
                    </a:p>
                  </a:txBody>
                  <a:tcPr>
                    <a:solidFill>
                      <a:srgbClr val="F5F7FA"/>
                    </a:solidFill>
                  </a:tcPr>
                </a:tc>
                <a:tc>
                  <a:txBody>
                    <a:bodyPr/>
                    <a:lstStyle/>
                    <a:p>
                      <a:pPr algn="ctr"/>
                      <a:r>
                        <a:rPr sz="750" b="0">
                          <a:solidFill>
                            <a:srgbClr val="1A1A1A"/>
                          </a:solidFill>
                        </a:rPr>
                        <a:t>73/100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147.11</a:t>
                      </a:r>
                    </a:p>
                  </a:txBody>
                  <a:tcPr>
                    <a:solidFill>
                      <a:srgbClr val="F5F7FA"/>
                    </a:solidFill>
                  </a:tcPr>
                </a:tc>
                <a:tc>
                  <a:txBody>
                    <a:bodyPr/>
                    <a:lstStyle/>
                    <a:p>
                      <a:pPr algn="ctr"/>
                      <a:r>
                        <a:rPr sz="750" b="0">
                          <a:solidFill>
                            <a:srgbClr val="1A1A1A"/>
                          </a:solidFill>
                        </a:rPr>
                        <a:t>19.2x</a:t>
                      </a:r>
                    </a:p>
                  </a:txBody>
                  <a:tcPr>
                    <a:solidFill>
                      <a:srgbClr val="F5F7FA"/>
                    </a:solidFill>
                  </a:tcPr>
                </a:tc>
                <a:tc>
                  <a:txBody>
                    <a:bodyPr/>
                    <a:lstStyle/>
                    <a:p>
                      <a:pPr algn="ctr"/>
                      <a:r>
                        <a:rPr sz="750" b="0">
                          <a:solidFill>
                            <a:srgbClr val="1A1A1A"/>
                          </a:solidFill>
                        </a:rPr>
                        <a:t>42.8 %</a:t>
                      </a:r>
                    </a:p>
                  </a:txBody>
                  <a:tcPr>
                    <a:solidFill>
                      <a:srgbClr val="F5F7FA"/>
                    </a:solidFill>
                  </a:tcPr>
                </a:tc>
                <a:tc>
                  <a:txBody>
                    <a:bodyPr/>
                    <a:lstStyle/>
                    <a:p>
                      <a:pPr algn="ctr"/>
                      <a:r>
                        <a:rPr sz="750" b="0">
                          <a:solidFill>
                            <a:srgbClr val="1A1A1A"/>
                          </a:solidFill>
                        </a:rPr>
                        <a:t>+21.7 %</a:t>
                      </a:r>
                    </a:p>
                  </a:txBody>
                  <a:tcPr>
                    <a:solidFill>
                      <a:srgbClr val="F5F7FA"/>
                    </a:solidFill>
                  </a:tcPr>
                </a:tc>
                <a:tc>
                  <a:txBody>
                    <a:bodyPr/>
                    <a:lstStyle/>
                    <a:p>
                      <a:pPr algn="ctr"/>
                      <a:r>
                        <a:rPr sz="750" b="0">
                          <a:solidFill>
                            <a:srgbClr val="1A1A1A"/>
                          </a:solidFill>
                        </a:rPr>
                        <a:t>-2.2 %</a:t>
                      </a:r>
                    </a:p>
                  </a:txBody>
                  <a:tcPr>
                    <a:solidFill>
                      <a:srgbClr val="F5F7FA"/>
                    </a:solidFill>
                  </a:tcPr>
                </a:tc>
              </a:tr>
              <a:tr h="201600">
                <a:tc>
                  <a:txBody>
                    <a:bodyPr/>
                    <a:lstStyle/>
                    <a:p>
                      <a:pPr algn="ctr"/>
                      <a:r>
                        <a:rPr sz="750" b="0">
                          <a:solidFill>
                            <a:srgbClr val="1A1A1A"/>
                          </a:solidFill>
                        </a:rPr>
                        <a:t>7</a:t>
                      </a:r>
                    </a:p>
                  </a:txBody>
                  <a:tcPr>
                    <a:noFill/>
                  </a:tcPr>
                </a:tc>
                <a:tc>
                  <a:txBody>
                    <a:bodyPr/>
                    <a:lstStyle/>
                    <a:p>
                      <a:pPr algn="ctr"/>
                      <a:r>
                        <a:rPr sz="750" b="0">
                          <a:solidFill>
                            <a:srgbClr val="1A1A1A"/>
                          </a:solidFill>
                        </a:rPr>
                        <a:t>AAPL</a:t>
                      </a:r>
                    </a:p>
                  </a:txBody>
                  <a:tcPr>
                    <a:noFill/>
                  </a:tcPr>
                </a:tc>
                <a:tc>
                  <a:txBody>
                    <a:bodyPr/>
                    <a:lstStyle/>
                    <a:p>
                      <a:pPr algn="ctr"/>
                      <a:r>
                        <a:rPr sz="750" b="0">
                          <a:solidFill>
                            <a:srgbClr val="1A1A1A"/>
                          </a:solidFill>
                        </a:rPr>
                        <a:t>Apple Inc.</a:t>
                      </a:r>
                    </a:p>
                  </a:txBody>
                  <a:tcPr>
                    <a:noFill/>
                  </a:tcPr>
                </a:tc>
                <a:tc>
                  <a:txBody>
                    <a:bodyPr/>
                    <a:lstStyle/>
                    <a:p>
                      <a:pPr algn="ctr"/>
                      <a:r>
                        <a:rPr sz="750" b="0">
                          <a:solidFill>
                            <a:srgbClr val="1A1A1A"/>
                          </a:solidFill>
                        </a:rPr>
                        <a:t>72/100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253.79</a:t>
                      </a:r>
                    </a:p>
                  </a:txBody>
                  <a:tcPr>
                    <a:noFill/>
                  </a:tcPr>
                </a:tc>
                <a:tc>
                  <a:txBody>
                    <a:bodyPr/>
                    <a:lstStyle/>
                    <a:p>
                      <a:pPr algn="ctr"/>
                      <a:r>
                        <a:rPr sz="750" b="0">
                          <a:solidFill>
                            <a:srgbClr val="1A1A1A"/>
                          </a:solidFill>
                        </a:rPr>
                        <a:t>23.8x</a:t>
                      </a:r>
                    </a:p>
                  </a:txBody>
                  <a:tcPr>
                    <a:noFill/>
                  </a:tcPr>
                </a:tc>
                <a:tc>
                  <a:txBody>
                    <a:bodyPr/>
                    <a:lstStyle/>
                    <a:p>
                      <a:pPr algn="ctr"/>
                      <a:r>
                        <a:rPr sz="750" b="0">
                          <a:solidFill>
                            <a:srgbClr val="1A1A1A"/>
                          </a:solidFill>
                        </a:rPr>
                        <a:t>35.1 %</a:t>
                      </a:r>
                    </a:p>
                  </a:txBody>
                  <a:tcPr>
                    <a:noFill/>
                  </a:tcPr>
                </a:tc>
                <a:tc>
                  <a:txBody>
                    <a:bodyPr/>
                    <a:lstStyle/>
                    <a:p>
                      <a:pPr algn="ctr"/>
                      <a:r>
                        <a:rPr sz="750" b="0">
                          <a:solidFill>
                            <a:srgbClr val="1A1A1A"/>
                          </a:solidFill>
                        </a:rPr>
                        <a:t>+15.7 %</a:t>
                      </a:r>
                    </a:p>
                  </a:txBody>
                  <a:tcPr>
                    <a:noFill/>
                  </a:tcPr>
                </a:tc>
                <a:tc>
                  <a:txBody>
                    <a:bodyPr/>
                    <a:lstStyle/>
                    <a:p>
                      <a:pPr algn="ctr"/>
                      <a:r>
                        <a:rPr sz="750" b="0">
                          <a:solidFill>
                            <a:srgbClr val="1A1A1A"/>
                          </a:solidFill>
                        </a:rPr>
                        <a:t>+10.5 %</a:t>
                      </a:r>
                    </a:p>
                  </a:txBody>
                  <a:tcPr>
                    <a:noFill/>
                  </a:tcPr>
                </a:tc>
              </a:tr>
              <a:tr h="201600">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AMD</a:t>
                      </a:r>
                    </a:p>
                  </a:txBody>
                  <a:tcPr>
                    <a:solidFill>
                      <a:srgbClr val="F5F7FA"/>
                    </a:solidFill>
                  </a:tcPr>
                </a:tc>
                <a:tc>
                  <a:txBody>
                    <a:bodyPr/>
                    <a:lstStyle/>
                    <a:p>
                      <a:pPr algn="ctr"/>
                      <a:r>
                        <a:rPr sz="750" b="0">
                          <a:solidFill>
                            <a:srgbClr val="1A1A1A"/>
                          </a:solidFill>
                        </a:rPr>
                        <a:t>Advanced Micro Devices, I</a:t>
                      </a:r>
                    </a:p>
                  </a:txBody>
                  <a:tcPr>
                    <a:solidFill>
                      <a:srgbClr val="F5F7FA"/>
                    </a:solidFill>
                  </a:tcPr>
                </a:tc>
                <a:tc>
                  <a:txBody>
                    <a:bodyPr/>
                    <a:lstStyle/>
                    <a:p>
                      <a:pPr algn="ctr"/>
                      <a:r>
                        <a:rPr sz="750" b="0">
                          <a:solidFill>
                            <a:srgbClr val="1A1A1A"/>
                          </a:solidFill>
                        </a:rPr>
                        <a:t>70/100</a:t>
                      </a:r>
                    </a:p>
                  </a:txBody>
                  <a:tcPr>
                    <a:solidFill>
                      <a:srgbClr val="F5F7FA"/>
                    </a:solidFill>
                  </a:tcPr>
                </a:tc>
                <a:tc>
                  <a:txBody>
                    <a:bodyPr/>
                    <a:lstStyle/>
                    <a:p>
                      <a:pPr algn="ctr"/>
                      <a:r>
                        <a:rPr sz="750" b="0">
                          <a:solidFill>
                            <a:srgbClr val="1A1A1A"/>
                          </a:solidFill>
                        </a:rPr>
                        <a:t>BUY</a:t>
                      </a:r>
                    </a:p>
                  </a:txBody>
                  <a:tcPr>
                    <a:solidFill>
                      <a:srgbClr val="F5F7FA"/>
                    </a:solidFill>
                  </a:tcPr>
                </a:tc>
                <a:tc>
                  <a:txBody>
                    <a:bodyPr/>
                    <a:lstStyle/>
                    <a:p>
                      <a:pPr algn="ctr"/>
                      <a:r>
                        <a:rPr sz="750" b="0">
                          <a:solidFill>
                            <a:srgbClr val="1A1A1A"/>
                          </a:solidFill>
                        </a:rPr>
                        <a:t>203.43</a:t>
                      </a:r>
                    </a:p>
                  </a:txBody>
                  <a:tcPr>
                    <a:solidFill>
                      <a:srgbClr val="F5F7FA"/>
                    </a:solidFill>
                  </a:tcPr>
                </a:tc>
                <a:tc>
                  <a:txBody>
                    <a:bodyPr/>
                    <a:lstStyle/>
                    <a:p>
                      <a:pPr algn="ctr"/>
                      <a:r>
                        <a:rPr sz="750" b="0">
                          <a:solidFill>
                            <a:srgbClr val="1A1A1A"/>
                          </a:solidFill>
                        </a:rPr>
                        <a:t>46.4x</a:t>
                      </a:r>
                    </a:p>
                  </a:txBody>
                  <a:tcPr>
                    <a:solidFill>
                      <a:srgbClr val="F5F7FA"/>
                    </a:solidFill>
                  </a:tcPr>
                </a:tc>
                <a:tc>
                  <a:txBody>
                    <a:bodyPr/>
                    <a:lstStyle/>
                    <a:p>
                      <a:pPr algn="ctr"/>
                      <a:r>
                        <a:rPr sz="750" b="0">
                          <a:solidFill>
                            <a:srgbClr val="1A1A1A"/>
                          </a:solidFill>
                        </a:rPr>
                        <a:t>19.5 %</a:t>
                      </a:r>
                    </a:p>
                  </a:txBody>
                  <a:tcPr>
                    <a:solidFill>
                      <a:srgbClr val="F5F7FA"/>
                    </a:solidFill>
                  </a:tcPr>
                </a:tc>
                <a:tc>
                  <a:txBody>
                    <a:bodyPr/>
                    <a:lstStyle/>
                    <a:p>
                      <a:pPr algn="ctr"/>
                      <a:r>
                        <a:rPr sz="750" b="0">
                          <a:solidFill>
                            <a:srgbClr val="1A1A1A"/>
                          </a:solidFill>
                        </a:rPr>
                        <a:t>+34.1 %</a:t>
                      </a:r>
                    </a:p>
                  </a:txBody>
                  <a:tcPr>
                    <a:solidFill>
                      <a:srgbClr val="F5F7FA"/>
                    </a:solidFill>
                  </a:tcPr>
                </a:tc>
                <a:tc>
                  <a:txBody>
                    <a:bodyPr/>
                    <a:lstStyle/>
                    <a:p>
                      <a:pPr algn="ctr"/>
                      <a:r>
                        <a:rPr sz="750" b="0">
                          <a:solidFill>
                            <a:srgbClr val="1A1A1A"/>
                          </a:solidFill>
                        </a:rPr>
                        <a:t>+90.7 %</a:t>
                      </a:r>
                    </a:p>
                  </a:txBody>
                  <a:tcPr>
                    <a:solidFill>
                      <a:srgbClr val="F5F7FA"/>
                    </a:solidFill>
                  </a:tcPr>
                </a:tc>
              </a:tr>
            </a:tbl>
          </a:graphicData>
        </a:graphic>
      </p:graphicFrame>
      <p:sp>
        <p:nvSpPr>
          <p:cNvPr id="16" name="Rectangle 15"/>
          <p:cNvSpPr/>
          <p:nvPr/>
        </p:nvSpPr>
        <p:spPr>
          <a:xfrm>
            <a:off x="324000" y="2822400"/>
            <a:ext cx="8496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22400"/>
            <a:ext cx="360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2876400"/>
            <a:ext cx="8280000" cy="216000"/>
          </a:xfrm>
          <a:prstGeom prst="rect">
            <a:avLst/>
          </a:prstGeom>
          <a:noFill/>
        </p:spPr>
        <p:txBody>
          <a:bodyPr wrap="square">
            <a:spAutoFit/>
          </a:bodyPr>
          <a:lstStyle/>
          <a:p>
            <a:pPr algn="l"/>
            <a:r>
              <a:rPr sz="900" b="1" i="0">
                <a:solidFill>
                  <a:srgbClr val="1B3A6B"/>
                </a:solidFill>
              </a:rPr>
              <a:t>Lecture analytique — Ce que la cartographie revele</a:t>
            </a:r>
          </a:p>
        </p:txBody>
      </p:sp>
      <p:sp>
        <p:nvSpPr>
          <p:cNvPr id="19" name="TextBox 18"/>
          <p:cNvSpPr txBox="1"/>
          <p:nvPr/>
        </p:nvSpPr>
        <p:spPr>
          <a:xfrm>
            <a:off x="468000" y="3128400"/>
            <a:ext cx="8280000" cy="900000"/>
          </a:xfrm>
          <a:prstGeom prst="rect">
            <a:avLst/>
          </a:prstGeom>
          <a:noFill/>
        </p:spPr>
        <p:txBody>
          <a:bodyPr wrap="square">
            <a:spAutoFit/>
          </a:bodyPr>
          <a:lstStyle/>
          <a:p>
            <a:pPr algn="l"/>
            <a:r>
              <a:rPr sz="850" b="0" i="0">
                <a:solidFill>
                  <a:srgbClr val="555555"/>
                </a:solidFill>
              </a:rPr>
              <a:t>Le secteur Technology presente 8 BUY / 0 HOLD / 0 SELL sur 8 valeurs analysées. Alphabet Inc. (score 85/100) constitue le coeur offensif recommande — fondamentaux solides et visibilité supérieure sur les revenus. La répartition des recommandations reflete un positionnement selectif cohérent avec la phase sectorielle actuelle. Les catalyseurs identifies — resultats trimestriels, guidance annuel, operations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vs Croissance Revenue YoY  ·  4 quadrants  ·  Chaque point = une societe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NVDA domine le quadrant Premium Justifie — valorisation élevée (29.7x) soutenue par 71.1 % de marge brute.
AVGO se positionne en zone Opportunite — EV/EBITDA de 4.0x sous la médiane sectorielle de 20.4x.
La médiane sectorielle ressort a 20.4x — les acteurs en dessous offrent potentiellement les meilleures asymetries risque/rendement.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18144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Societe</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01600">
                <a:tc>
                  <a:txBody>
                    <a:bodyPr/>
                    <a:lstStyle/>
                    <a:p>
                      <a:pPr algn="ctr"/>
                      <a:r>
                        <a:rPr sz="750" b="0">
                          <a:solidFill>
                            <a:srgbClr val="1A1A1A"/>
                          </a:solidFill>
                        </a:rPr>
                        <a:t>GOOGL</a:t>
                      </a:r>
                    </a:p>
                  </a:txBody>
                  <a:tcPr>
                    <a:noFill/>
                  </a:tcPr>
                </a:tc>
                <a:tc>
                  <a:txBody>
                    <a:bodyPr/>
                    <a:lstStyle/>
                    <a:p>
                      <a:pPr algn="ctr"/>
                      <a:r>
                        <a:rPr sz="750" b="0">
                          <a:solidFill>
                            <a:srgbClr val="1A1A1A"/>
                          </a:solidFill>
                        </a:rPr>
                        <a:t>Alphabet Inc.</a:t>
                      </a:r>
                    </a:p>
                  </a:txBody>
                  <a:tcPr>
                    <a:noFill/>
                  </a:tcPr>
                </a:tc>
                <a:tc>
                  <a:txBody>
                    <a:bodyPr/>
                    <a:lstStyle/>
                    <a:p>
                      <a:pPr algn="ctr"/>
                      <a:r>
                        <a:rPr sz="750" b="0">
                          <a:solidFill>
                            <a:srgbClr val="1A1A1A"/>
                          </a:solidFill>
                        </a:rPr>
                        <a:t>85/100</a:t>
                      </a:r>
                    </a:p>
                  </a:txBody>
                  <a:tcPr>
                    <a:noFill/>
                  </a:tcPr>
                </a:tc>
                <a:tc>
                  <a:txBody>
                    <a:bodyPr/>
                    <a:lstStyle/>
                    <a:p>
                      <a:pPr algn="ctr"/>
                      <a:r>
                        <a:rPr sz="750" b="0">
                          <a:solidFill>
                            <a:srgbClr val="1A1A1A"/>
                          </a:solidFill>
                        </a:rPr>
                        <a:t>11</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23</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NVDA</a:t>
                      </a:r>
                    </a:p>
                  </a:txBody>
                  <a:tcPr>
                    <a:solidFill>
                      <a:srgbClr val="F5F7FA"/>
                    </a:solidFill>
                  </a:tcPr>
                </a:tc>
                <a:tc>
                  <a:txBody>
                    <a:bodyPr/>
                    <a:lstStyle/>
                    <a:p>
                      <a:pPr algn="ctr"/>
                      <a:r>
                        <a:rPr sz="750" b="0">
                          <a:solidFill>
                            <a:srgbClr val="1A1A1A"/>
                          </a:solidFill>
                        </a:rPr>
                        <a:t>NVIDIA Corporation</a:t>
                      </a:r>
                    </a:p>
                  </a:txBody>
                  <a:tcPr>
                    <a:solidFill>
                      <a:srgbClr val="F5F7FA"/>
                    </a:solidFill>
                  </a:tcPr>
                </a:tc>
                <a:tc>
                  <a:txBody>
                    <a:bodyPr/>
                    <a:lstStyle/>
                    <a:p>
                      <a:pPr algn="ctr"/>
                      <a:r>
                        <a:rPr sz="750" b="0">
                          <a:solidFill>
                            <a:srgbClr val="1A1A1A"/>
                          </a:solidFill>
                        </a:rPr>
                        <a:t>77/100</a:t>
                      </a:r>
                    </a:p>
                  </a:txBody>
                  <a:tcPr>
                    <a:solidFill>
                      <a:srgbClr val="F5F7FA"/>
                    </a:solidFill>
                  </a:tcPr>
                </a:tc>
                <a:tc>
                  <a:txBody>
                    <a:bodyPr/>
                    <a:lstStyle/>
                    <a:p>
                      <a:pPr algn="ctr"/>
                      <a:r>
                        <a:rPr sz="750" b="0">
                          <a:solidFill>
                            <a:srgbClr val="1A1A1A"/>
                          </a:solidFill>
                        </a:rPr>
                        <a:t>7</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19</a:t>
                      </a:r>
                    </a:p>
                  </a:txBody>
                  <a:tcPr>
                    <a:solidFill>
                      <a:srgbClr val="F5F7FA"/>
                    </a:solidFill>
                  </a:tcPr>
                </a:tc>
                <a:tc>
                  <a:txBody>
                    <a:bodyPr/>
                    <a:lstStyle/>
                    <a:p>
                      <a:pPr algn="ctr"/>
                      <a:r>
                        <a:rPr sz="750" b="0">
                          <a:solidFill>
                            <a:srgbClr val="1A1A1A"/>
                          </a:solidFill>
                        </a:rPr>
                        <a:t>BUY</a:t>
                      </a:r>
                    </a:p>
                  </a:txBody>
                  <a:tcPr>
                    <a:solidFill>
                      <a:srgbClr val="F5F7FA"/>
                    </a:solidFill>
                  </a:tcPr>
                </a:tc>
              </a:tr>
              <a:tr h="201600">
                <a:tc>
                  <a:txBody>
                    <a:bodyPr/>
                    <a:lstStyle/>
                    <a:p>
                      <a:pPr algn="ctr"/>
                      <a:r>
                        <a:rPr sz="750" b="0">
                          <a:solidFill>
                            <a:srgbClr val="1A1A1A"/>
                          </a:solidFill>
                        </a:rPr>
                        <a:t>MSFT</a:t>
                      </a:r>
                    </a:p>
                  </a:txBody>
                  <a:tcPr>
                    <a:noFill/>
                  </a:tcPr>
                </a:tc>
                <a:tc>
                  <a:txBody>
                    <a:bodyPr/>
                    <a:lstStyle/>
                    <a:p>
                      <a:pPr algn="ctr"/>
                      <a:r>
                        <a:rPr sz="750" b="0">
                          <a:solidFill>
                            <a:srgbClr val="1A1A1A"/>
                          </a:solidFill>
                        </a:rPr>
                        <a:t>Microsoft Corporation</a:t>
                      </a:r>
                    </a:p>
                  </a:txBody>
                  <a:tcPr>
                    <a:noFill/>
                  </a:tcPr>
                </a:tc>
                <a:tc>
                  <a:txBody>
                    <a:bodyPr/>
                    <a:lstStyle/>
                    <a:p>
                      <a:pPr algn="ctr"/>
                      <a:r>
                        <a:rPr sz="750" b="0">
                          <a:solidFill>
                            <a:srgbClr val="1A1A1A"/>
                          </a:solidFill>
                        </a:rPr>
                        <a:t>74/100</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11</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META</a:t>
                      </a:r>
                    </a:p>
                  </a:txBody>
                  <a:tcPr>
                    <a:solidFill>
                      <a:srgbClr val="F5F7FA"/>
                    </a:solidFill>
                  </a:tcPr>
                </a:tc>
                <a:tc>
                  <a:txBody>
                    <a:bodyPr/>
                    <a:lstStyle/>
                    <a:p>
                      <a:pPr algn="ctr"/>
                      <a:r>
                        <a:rPr sz="750" b="0">
                          <a:solidFill>
                            <a:srgbClr val="1A1A1A"/>
                          </a:solidFill>
                        </a:rPr>
                        <a:t>Meta Platforms, Inc.</a:t>
                      </a:r>
                    </a:p>
                  </a:txBody>
                  <a:tcPr>
                    <a:solidFill>
                      <a:srgbClr val="F5F7FA"/>
                    </a:solidFill>
                  </a:tcPr>
                </a:tc>
                <a:tc>
                  <a:txBody>
                    <a:bodyPr/>
                    <a:lstStyle/>
                    <a:p>
                      <a:pPr algn="ctr"/>
                      <a:r>
                        <a:rPr sz="750" b="0">
                          <a:solidFill>
                            <a:srgbClr val="1A1A1A"/>
                          </a:solidFill>
                        </a:rPr>
                        <a:t>74/100</a:t>
                      </a:r>
                    </a:p>
                  </a:txBody>
                  <a:tcPr>
                    <a:solidFill>
                      <a:srgbClr val="F5F7FA"/>
                    </a:solidFill>
                  </a:tcPr>
                </a:tc>
                <a:tc>
                  <a:txBody>
                    <a:bodyPr/>
                    <a:lstStyle/>
                    <a:p>
                      <a:pPr algn="ctr"/>
                      <a:r>
                        <a:rPr sz="750" b="0">
                          <a:solidFill>
                            <a:srgbClr val="1A1A1A"/>
                          </a:solidFill>
                        </a:rPr>
                        <a:t>12</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10</a:t>
                      </a:r>
                    </a:p>
                  </a:txBody>
                  <a:tcPr>
                    <a:solidFill>
                      <a:srgbClr val="F5F7FA"/>
                    </a:solidFill>
                  </a:tcPr>
                </a:tc>
                <a:tc>
                  <a:txBody>
                    <a:bodyPr/>
                    <a:lstStyle/>
                    <a:p>
                      <a:pPr algn="ctr"/>
                      <a:r>
                        <a:rPr sz="750" b="0">
                          <a:solidFill>
                            <a:srgbClr val="1A1A1A"/>
                          </a:solidFill>
                        </a:rPr>
                        <a:t>BUY</a:t>
                      </a:r>
                    </a:p>
                  </a:txBody>
                  <a:tcPr>
                    <a:solidFill>
                      <a:srgbClr val="F5F7FA"/>
                    </a:solidFill>
                  </a:tcPr>
                </a:tc>
              </a:tr>
              <a:tr h="201600">
                <a:tc>
                  <a:txBody>
                    <a:bodyPr/>
                    <a:lstStyle/>
                    <a:p>
                      <a:pPr algn="ctr"/>
                      <a:r>
                        <a:rPr sz="750" b="0">
                          <a:solidFill>
                            <a:srgbClr val="1A1A1A"/>
                          </a:solidFill>
                        </a:rPr>
                        <a:t>AVGO</a:t>
                      </a:r>
                    </a:p>
                  </a:txBody>
                  <a:tcPr>
                    <a:noFill/>
                  </a:tcPr>
                </a:tc>
                <a:tc>
                  <a:txBody>
                    <a:bodyPr/>
                    <a:lstStyle/>
                    <a:p>
                      <a:pPr algn="ctr"/>
                      <a:r>
                        <a:rPr sz="750" b="0">
                          <a:solidFill>
                            <a:srgbClr val="1A1A1A"/>
                          </a:solidFill>
                        </a:rPr>
                        <a:t>Broadcom Inc.</a:t>
                      </a:r>
                    </a:p>
                  </a:txBody>
                  <a:tcPr>
                    <a:noFill/>
                  </a:tcPr>
                </a:tc>
                <a:tc>
                  <a:txBody>
                    <a:bodyPr/>
                    <a:lstStyle/>
                    <a:p>
                      <a:pPr algn="ctr"/>
                      <a:r>
                        <a:rPr sz="750" b="0">
                          <a:solidFill>
                            <a:srgbClr val="1A1A1A"/>
                          </a:solidFill>
                        </a:rPr>
                        <a:t>73/100</a:t>
                      </a:r>
                    </a:p>
                  </a:txBody>
                  <a:tcPr>
                    <a:noFill/>
                  </a:tcPr>
                </a:tc>
                <a:tc>
                  <a:txBody>
                    <a:bodyPr/>
                    <a:lstStyle/>
                    <a:p>
                      <a:pPr algn="ctr"/>
                      <a:r>
                        <a:rPr sz="750" b="0">
                          <a:solidFill>
                            <a:srgbClr val="1A1A1A"/>
                          </a:solidFill>
                        </a:rPr>
                        <a:t>0</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23</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ORCL</a:t>
                      </a:r>
                    </a:p>
                  </a:txBody>
                  <a:tcPr>
                    <a:solidFill>
                      <a:srgbClr val="F5F7FA"/>
                    </a:solidFill>
                  </a:tcPr>
                </a:tc>
                <a:tc>
                  <a:txBody>
                    <a:bodyPr/>
                    <a:lstStyle/>
                    <a:p>
                      <a:pPr algn="ctr"/>
                      <a:r>
                        <a:rPr sz="750" b="0">
                          <a:solidFill>
                            <a:srgbClr val="1A1A1A"/>
                          </a:solidFill>
                        </a:rPr>
                        <a:t>Oracle Corporation</a:t>
                      </a:r>
                    </a:p>
                  </a:txBody>
                  <a:tcPr>
                    <a:solidFill>
                      <a:srgbClr val="F5F7FA"/>
                    </a:solidFill>
                  </a:tcPr>
                </a:tc>
                <a:tc>
                  <a:txBody>
                    <a:bodyPr/>
                    <a:lstStyle/>
                    <a:p>
                      <a:pPr algn="ctr"/>
                      <a:r>
                        <a:rPr sz="750" b="0">
                          <a:solidFill>
                            <a:srgbClr val="1A1A1A"/>
                          </a:solidFill>
                        </a:rPr>
                        <a:t>73/100</a:t>
                      </a:r>
                    </a:p>
                  </a:txBody>
                  <a:tcPr>
                    <a:solidFill>
                      <a:srgbClr val="F5F7FA"/>
                    </a:solidFill>
                  </a:tcPr>
                </a:tc>
                <a:tc>
                  <a:txBody>
                    <a:bodyPr/>
                    <a:lstStyle/>
                    <a:p>
                      <a:pPr algn="ctr"/>
                      <a:r>
                        <a:rPr sz="750" b="0">
                          <a:solidFill>
                            <a:srgbClr val="1A1A1A"/>
                          </a:solidFill>
                        </a:rPr>
                        <a:t>11</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11</a:t>
                      </a:r>
                    </a:p>
                  </a:txBody>
                  <a:tcPr>
                    <a:solidFill>
                      <a:srgbClr val="F5F7FA"/>
                    </a:solidFill>
                  </a:tcPr>
                </a:tc>
                <a:tc>
                  <a:txBody>
                    <a:bodyPr/>
                    <a:lstStyle/>
                    <a:p>
                      <a:pPr algn="ctr"/>
                      <a:r>
                        <a:rPr sz="750" b="0">
                          <a:solidFill>
                            <a:srgbClr val="1A1A1A"/>
                          </a:solidFill>
                        </a:rPr>
                        <a:t>BUY</a:t>
                      </a:r>
                    </a:p>
                  </a:txBody>
                  <a:tcPr>
                    <a:solidFill>
                      <a:srgbClr val="F5F7FA"/>
                    </a:solidFill>
                  </a:tcPr>
                </a:tc>
              </a:tr>
              <a:tr h="201600">
                <a:tc>
                  <a:txBody>
                    <a:bodyPr/>
                    <a:lstStyle/>
                    <a:p>
                      <a:pPr algn="ctr"/>
                      <a:r>
                        <a:rPr sz="750" b="0">
                          <a:solidFill>
                            <a:srgbClr val="1A1A1A"/>
                          </a:solidFill>
                        </a:rPr>
                        <a:t>AAPL</a:t>
                      </a:r>
                    </a:p>
                  </a:txBody>
                  <a:tcPr>
                    <a:noFill/>
                  </a:tcPr>
                </a:tc>
                <a:tc>
                  <a:txBody>
                    <a:bodyPr/>
                    <a:lstStyle/>
                    <a:p>
                      <a:pPr algn="ctr"/>
                      <a:r>
                        <a:rPr sz="750" b="0">
                          <a:solidFill>
                            <a:srgbClr val="1A1A1A"/>
                          </a:solidFill>
                        </a:rPr>
                        <a:t>Apple Inc.</a:t>
                      </a:r>
                    </a:p>
                  </a:txBody>
                  <a:tcPr>
                    <a:noFill/>
                  </a:tcPr>
                </a:tc>
                <a:tc>
                  <a:txBody>
                    <a:bodyPr/>
                    <a:lstStyle/>
                    <a:p>
                      <a:pPr algn="ctr"/>
                      <a:r>
                        <a:rPr sz="750" b="0">
                          <a:solidFill>
                            <a:srgbClr val="1A1A1A"/>
                          </a:solidFill>
                        </a:rPr>
                        <a:t>72/100</a:t>
                      </a:r>
                    </a:p>
                  </a:txBody>
                  <a:tcPr>
                    <a:noFill/>
                  </a:tcPr>
                </a:tc>
                <a:tc>
                  <a:txBody>
                    <a:bodyPr/>
                    <a:lstStyle/>
                    <a:p>
                      <a:pPr algn="ctr"/>
                      <a:r>
                        <a:rPr sz="750" b="0">
                          <a:solidFill>
                            <a:srgbClr val="1A1A1A"/>
                          </a:solidFill>
                        </a:rPr>
                        <a:t>8</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AMD</a:t>
                      </a:r>
                    </a:p>
                  </a:txBody>
                  <a:tcPr>
                    <a:solidFill>
                      <a:srgbClr val="F5F7FA"/>
                    </a:solidFill>
                  </a:tcPr>
                </a:tc>
                <a:tc>
                  <a:txBody>
                    <a:bodyPr/>
                    <a:lstStyle/>
                    <a:p>
                      <a:pPr algn="ctr"/>
                      <a:r>
                        <a:rPr sz="750" b="0">
                          <a:solidFill>
                            <a:srgbClr val="1A1A1A"/>
                          </a:solidFill>
                        </a:rPr>
                        <a:t>Advanced Micro Devices, I</a:t>
                      </a:r>
                    </a:p>
                  </a:txBody>
                  <a:tcPr>
                    <a:solidFill>
                      <a:srgbClr val="F5F7FA"/>
                    </a:solidFill>
                  </a:tcPr>
                </a:tc>
                <a:tc>
                  <a:txBody>
                    <a:bodyPr/>
                    <a:lstStyle/>
                    <a:p>
                      <a:pPr algn="ctr"/>
                      <a:r>
                        <a:rPr sz="750" b="0">
                          <a:solidFill>
                            <a:srgbClr val="1A1A1A"/>
                          </a:solidFill>
                        </a:rPr>
                        <a:t>70/100</a:t>
                      </a:r>
                    </a:p>
                  </a:txBody>
                  <a:tcPr>
                    <a:solidFill>
                      <a:srgbClr val="F5F7FA"/>
                    </a:solidFill>
                  </a:tcPr>
                </a:tc>
                <a:tc>
                  <a:txBody>
                    <a:bodyPr/>
                    <a:lstStyle/>
                    <a:p>
                      <a:pPr algn="ctr"/>
                      <a:r>
                        <a:rPr sz="750" b="0">
                          <a:solidFill>
                            <a:srgbClr val="1A1A1A"/>
                          </a:solidFill>
                        </a:rPr>
                        <a:t>0</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20</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BUY</a:t>
                      </a:r>
                    </a:p>
                  </a:txBody>
                  <a:tcPr>
                    <a:solidFill>
                      <a:srgbClr val="F5F7FA"/>
                    </a:solidFill>
                  </a:tcPr>
                </a:tc>
              </a:tr>
            </a:tbl>
          </a:graphicData>
        </a:graphic>
      </p:graphicFrame>
      <p:sp>
        <p:nvSpPr>
          <p:cNvPr id="16" name="Rectangle 15"/>
          <p:cNvSpPr/>
          <p:nvPr/>
        </p:nvSpPr>
        <p:spPr>
          <a:xfrm>
            <a:off x="324000" y="2822400"/>
            <a:ext cx="8496000"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2840400"/>
            <a:ext cx="8352000" cy="216000"/>
          </a:xfrm>
          <a:prstGeom prst="rect">
            <a:avLst/>
          </a:prstGeom>
          <a:noFill/>
        </p:spPr>
        <p:txBody>
          <a:bodyPr wrap="square">
            <a:spAutoFit/>
          </a:bodyPr>
          <a:lstStyle/>
          <a:p>
            <a:pPr algn="l"/>
            <a:r>
              <a:rPr sz="750" b="0" i="0">
                <a:solidFill>
                  <a:srgbClr val="FFFFFF"/>
                </a:solidFill>
              </a:rPr>
              <a:t>LECTURE : Score &gt;= 75 = fort  ·  50-74 = moyen  ·  &lt; 50 = faible  ·  Pondération : Value 25 % · Growth 25 % · Quality 25 % · Momentum 25 %</a:t>
            </a:r>
          </a:p>
        </p:txBody>
      </p:sp>
      <p:sp>
        <p:nvSpPr>
          <p:cNvPr id="18" name="Rectangle 17"/>
          <p:cNvSpPr/>
          <p:nvPr/>
        </p:nvSpPr>
        <p:spPr>
          <a:xfrm>
            <a:off x="324000" y="31104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1104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000" y="3128400"/>
            <a:ext cx="8316000" cy="216000"/>
          </a:xfrm>
          <a:prstGeom prst="rect">
            <a:avLst/>
          </a:prstGeom>
          <a:noFill/>
        </p:spPr>
        <p:txBody>
          <a:bodyPr wrap="square">
            <a:spAutoFit/>
          </a:bodyPr>
          <a:lstStyle/>
          <a:p>
            <a:pPr algn="l"/>
            <a:r>
              <a:rPr sz="850" b="1" i="0">
                <a:solidFill>
                  <a:srgbClr val="FFFFFF"/>
                </a:solidFill>
              </a:rPr>
              <a:t>SYNTHESE SCORES</a:t>
            </a:r>
          </a:p>
        </p:txBody>
      </p:sp>
      <p:sp>
        <p:nvSpPr>
          <p:cNvPr id="21" name="TextBox 20"/>
          <p:cNvSpPr txBox="1"/>
          <p:nvPr/>
        </p:nvSpPr>
        <p:spPr>
          <a:xfrm>
            <a:off x="396000" y="3398400"/>
            <a:ext cx="8352000" cy="684000"/>
          </a:xfrm>
          <a:prstGeom prst="rect">
            <a:avLst/>
          </a:prstGeom>
          <a:noFill/>
        </p:spPr>
        <p:txBody>
          <a:bodyPr wrap="square">
            <a:spAutoFit/>
          </a:bodyPr>
          <a:lstStyle/>
          <a:p>
            <a:pPr algn="l"/>
            <a:r>
              <a:rPr sz="850" b="0" i="0">
                <a:solidFill>
                  <a:srgbClr val="555555"/>
                </a:solidFill>
              </a:rPr>
              <a:t>Alphabet Inc. presente le profil le plus equilibre du secteur (85/100) avec des scores Value=11, Growth=25, Quality=25, Momentum=23. La dispersion des scores entre les 8 sociétés reflete des profils hétérogènes — une allocation selective privilegiant les leaders qualitatifs est recommandee dans la configuration sectorielle actuelle.</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Societes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GOOGL</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Alphabet Inc.</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345</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21.6x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37.3 %</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Acceleration des mandats IA dans les grands comptes europeens — contrats pluriannuels en hausse de 38 % sur T1 2026.</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Recession européenne confirmee entraînerait une reduction des budgets IT de 12-18 %, pénalisant les prestataires de services.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NVDA</a:t>
            </a:r>
          </a:p>
        </p:txBody>
      </p:sp>
      <p:sp>
        <p:nvSpPr>
          <p:cNvPr id="45" name="Rectangle 44"/>
          <p:cNvSpPr/>
          <p:nvPr/>
        </p:nvSpPr>
        <p:spPr>
          <a:xfrm>
            <a:off x="511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BUY</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NVIDIA Corporation</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209</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EV/EBITDA</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29.7x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61.7 %</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Altman Z</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Plans d'investissement gouvernementaux 2026-2028 — budgets numeriques confirmes pour 6 Etats membres EU.</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Surcout de mise en conformite estime a 8-12 % du CA pour les editeurs de logiciels IA — impact marges 2027.</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MSFT</a:t>
            </a:r>
          </a:p>
        </p:txBody>
      </p:sp>
      <p:sp>
        <p:nvSpPr>
          <p:cNvPr id="72" name="Rectangle 71"/>
          <p:cNvSpPr/>
          <p:nvPr/>
        </p:nvSpPr>
        <p:spPr>
          <a:xfrm>
            <a:off x="799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BUY</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Microsoft Corporatio</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444</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15.4x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57.4 %</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Contraintes réglementaires sur les données — migration vers solutions EU portee par NIS2 et DORA.</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Acteurs americains et asiatiques agressifs sur les segments logiciels standardises — guerre des prix bas de gamme.</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societe vs médiane sectorielle (20.4x)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bimodale — 3 acteur(s) se detachent nettement du reste du secteur, creant une prime de valorisation significative vs la médiane de 20.4x.
3 societe(s) se traitent sous la médiane — potentiellement les meilleures asymetries risque/rendement sous reserve de catalyseurs fondamentaux.
La dispersion des multiples est caracteristique d'un secteur Technology en phase de differentiation — les investisseurs selectifs peuvent exploiter cet ecart.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négatif + sentiment négatif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définie par la convergence de 3 signaux : décote &gt; 10 % vs DCF Base · momentum 52W négatif · sentiment FinBERT négatif.</a:t>
            </a:r>
          </a:p>
        </p:txBody>
      </p:sp>
      <p:graphicFrame>
        <p:nvGraphicFramePr>
          <p:cNvPr id="18" name="Table 17"/>
          <p:cNvGraphicFramePr>
            <a:graphicFrameLocks noGrp="1"/>
          </p:cNvGraphicFramePr>
          <p:nvPr/>
        </p:nvGraphicFramePr>
        <p:xfrm>
          <a:off x="324000" y="1260000"/>
          <a:ext cx="8495997" cy="17820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1980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198000">
                <a:tc>
                  <a:txBody>
                    <a:bodyPr/>
                    <a:lstStyle/>
                    <a:p>
                      <a:pPr algn="ctr"/>
                      <a:r>
                        <a:rPr sz="750" b="0">
                          <a:solidFill>
                            <a:srgbClr val="1A1A1A"/>
                          </a:solidFill>
                        </a:rPr>
                        <a:t>GOOGL</a:t>
                      </a:r>
                    </a:p>
                  </a:txBody>
                  <a:tcPr>
                    <a:noFill/>
                  </a:tcPr>
                </a:tc>
                <a:tc>
                  <a:txBody>
                    <a:bodyPr/>
                    <a:lstStyle/>
                    <a:p>
                      <a:pPr algn="ctr"/>
                      <a:r>
                        <a:rPr sz="750" b="0">
                          <a:solidFill>
                            <a:srgbClr val="1A1A1A"/>
                          </a:solidFill>
                        </a:rPr>
                        <a:t>Alphabet Inc.</a:t>
                      </a:r>
                    </a:p>
                  </a:txBody>
                  <a:tcPr>
                    <a:noFill/>
                  </a:tcPr>
                </a:tc>
                <a:tc>
                  <a:txBody>
                    <a:bodyPr/>
                    <a:lstStyle/>
                    <a:p>
                      <a:pPr algn="ctr"/>
                      <a:r>
                        <a:rPr sz="750" b="0">
                          <a:solidFill>
                            <a:srgbClr val="1A1A1A"/>
                          </a:solidFill>
                        </a:rPr>
                        <a:t>287.56</a:t>
                      </a:r>
                    </a:p>
                  </a:txBody>
                  <a:tcPr>
                    <a:noFill/>
                  </a:tcPr>
                </a:tc>
                <a:tc>
                  <a:txBody>
                    <a:bodyPr/>
                    <a:lstStyle/>
                    <a:p>
                      <a:pPr algn="ctr"/>
                      <a:r>
                        <a:rPr sz="750" b="0">
                          <a:solidFill>
                            <a:srgbClr val="1A1A1A"/>
                          </a:solidFill>
                        </a:rPr>
                        <a:t>330.7</a:t>
                      </a:r>
                    </a:p>
                  </a:txBody>
                  <a:tcPr>
                    <a:noFill/>
                  </a:tcPr>
                </a:tc>
                <a:tc>
                  <a:txBody>
                    <a:bodyPr/>
                    <a:lstStyle/>
                    <a:p>
                      <a:pPr algn="ctr"/>
                      <a:r>
                        <a:rPr sz="750" b="0">
                          <a:solidFill>
                            <a:srgbClr val="1A1A1A"/>
                          </a:solidFill>
                        </a:rPr>
                        <a:t>&lt; 273.2</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98000">
                <a:tc>
                  <a:txBody>
                    <a:bodyPr/>
                    <a:lstStyle/>
                    <a:p>
                      <a:pPr algn="ctr"/>
                      <a:r>
                        <a:rPr sz="750" b="0">
                          <a:solidFill>
                            <a:srgbClr val="1A1A1A"/>
                          </a:solidFill>
                        </a:rPr>
                        <a:t>NVDA</a:t>
                      </a:r>
                    </a:p>
                  </a:txBody>
                  <a:tcPr>
                    <a:solidFill>
                      <a:srgbClr val="F5F7FA"/>
                    </a:solidFill>
                  </a:tcPr>
                </a:tc>
                <a:tc>
                  <a:txBody>
                    <a:bodyPr/>
                    <a:lstStyle/>
                    <a:p>
                      <a:pPr algn="ctr"/>
                      <a:r>
                        <a:rPr sz="750" b="0">
                          <a:solidFill>
                            <a:srgbClr val="1A1A1A"/>
                          </a:solidFill>
                        </a:rPr>
                        <a:t>NVIDIA Corporation</a:t>
                      </a:r>
                    </a:p>
                  </a:txBody>
                  <a:tcPr>
                    <a:solidFill>
                      <a:srgbClr val="F5F7FA"/>
                    </a:solidFill>
                  </a:tcPr>
                </a:tc>
                <a:tc>
                  <a:txBody>
                    <a:bodyPr/>
                    <a:lstStyle/>
                    <a:p>
                      <a:pPr algn="ctr"/>
                      <a:r>
                        <a:rPr sz="750" b="0">
                          <a:solidFill>
                            <a:srgbClr val="1A1A1A"/>
                          </a:solidFill>
                        </a:rPr>
                        <a:t>174.4</a:t>
                      </a:r>
                    </a:p>
                  </a:txBody>
                  <a:tcPr>
                    <a:solidFill>
                      <a:srgbClr val="F5F7FA"/>
                    </a:solidFill>
                  </a:tcPr>
                </a:tc>
                <a:tc>
                  <a:txBody>
                    <a:bodyPr/>
                    <a:lstStyle/>
                    <a:p>
                      <a:pPr algn="ctr"/>
                      <a:r>
                        <a:rPr sz="750" b="0">
                          <a:solidFill>
                            <a:srgbClr val="1A1A1A"/>
                          </a:solidFill>
                        </a:rPr>
                        <a:t>200.6</a:t>
                      </a:r>
                    </a:p>
                  </a:txBody>
                  <a:tcPr>
                    <a:solidFill>
                      <a:srgbClr val="F5F7FA"/>
                    </a:solidFill>
                  </a:tcPr>
                </a:tc>
                <a:tc>
                  <a:txBody>
                    <a:bodyPr/>
                    <a:lstStyle/>
                    <a:p>
                      <a:pPr algn="ctr"/>
                      <a:r>
                        <a:rPr sz="750" b="0">
                          <a:solidFill>
                            <a:srgbClr val="1A1A1A"/>
                          </a:solidFill>
                        </a:rPr>
                        <a:t>&lt; 165.7</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98000">
                <a:tc>
                  <a:txBody>
                    <a:bodyPr/>
                    <a:lstStyle/>
                    <a:p>
                      <a:pPr algn="ctr"/>
                      <a:r>
                        <a:rPr sz="750" b="0">
                          <a:solidFill>
                            <a:srgbClr val="1A1A1A"/>
                          </a:solidFill>
                        </a:rPr>
                        <a:t>MSFT</a:t>
                      </a:r>
                    </a:p>
                  </a:txBody>
                  <a:tcPr>
                    <a:noFill/>
                  </a:tcPr>
                </a:tc>
                <a:tc>
                  <a:txBody>
                    <a:bodyPr/>
                    <a:lstStyle/>
                    <a:p>
                      <a:pPr algn="ctr"/>
                      <a:r>
                        <a:rPr sz="750" b="0">
                          <a:solidFill>
                            <a:srgbClr val="1A1A1A"/>
                          </a:solidFill>
                        </a:rPr>
                        <a:t>Microsoft Corporation</a:t>
                      </a:r>
                    </a:p>
                  </a:txBody>
                  <a:tcPr>
                    <a:noFill/>
                  </a:tcPr>
                </a:tc>
                <a:tc>
                  <a:txBody>
                    <a:bodyPr/>
                    <a:lstStyle/>
                    <a:p>
                      <a:pPr algn="ctr"/>
                      <a:r>
                        <a:rPr sz="750" b="0">
                          <a:solidFill>
                            <a:srgbClr val="1A1A1A"/>
                          </a:solidFill>
                        </a:rPr>
                        <a:t>370.17</a:t>
                      </a:r>
                    </a:p>
                  </a:txBody>
                  <a:tcPr>
                    <a:noFill/>
                  </a:tcPr>
                </a:tc>
                <a:tc>
                  <a:txBody>
                    <a:bodyPr/>
                    <a:lstStyle/>
                    <a:p>
                      <a:pPr algn="ctr"/>
                      <a:r>
                        <a:rPr sz="750" b="0">
                          <a:solidFill>
                            <a:srgbClr val="1A1A1A"/>
                          </a:solidFill>
                        </a:rPr>
                        <a:t>425.7</a:t>
                      </a:r>
                    </a:p>
                  </a:txBody>
                  <a:tcPr>
                    <a:noFill/>
                  </a:tcPr>
                </a:tc>
                <a:tc>
                  <a:txBody>
                    <a:bodyPr/>
                    <a:lstStyle/>
                    <a:p>
                      <a:pPr algn="ctr"/>
                      <a:r>
                        <a:rPr sz="750" b="0">
                          <a:solidFill>
                            <a:srgbClr val="1A1A1A"/>
                          </a:solidFill>
                        </a:rPr>
                        <a:t>&lt; 351.7</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98000">
                <a:tc>
                  <a:txBody>
                    <a:bodyPr/>
                    <a:lstStyle/>
                    <a:p>
                      <a:pPr algn="ctr"/>
                      <a:r>
                        <a:rPr sz="750" b="0">
                          <a:solidFill>
                            <a:srgbClr val="1A1A1A"/>
                          </a:solidFill>
                        </a:rPr>
                        <a:t>META</a:t>
                      </a:r>
                    </a:p>
                  </a:txBody>
                  <a:tcPr>
                    <a:solidFill>
                      <a:srgbClr val="F5F7FA"/>
                    </a:solidFill>
                  </a:tcPr>
                </a:tc>
                <a:tc>
                  <a:txBody>
                    <a:bodyPr/>
                    <a:lstStyle/>
                    <a:p>
                      <a:pPr algn="ctr"/>
                      <a:r>
                        <a:rPr sz="750" b="0">
                          <a:solidFill>
                            <a:srgbClr val="1A1A1A"/>
                          </a:solidFill>
                        </a:rPr>
                        <a:t>Meta Platforms, Inc.</a:t>
                      </a:r>
                    </a:p>
                  </a:txBody>
                  <a:tcPr>
                    <a:solidFill>
                      <a:srgbClr val="F5F7FA"/>
                    </a:solidFill>
                  </a:tcPr>
                </a:tc>
                <a:tc>
                  <a:txBody>
                    <a:bodyPr/>
                    <a:lstStyle/>
                    <a:p>
                      <a:pPr algn="ctr"/>
                      <a:r>
                        <a:rPr sz="750" b="0">
                          <a:solidFill>
                            <a:srgbClr val="1A1A1A"/>
                          </a:solidFill>
                        </a:rPr>
                        <a:t>572.13</a:t>
                      </a:r>
                    </a:p>
                  </a:txBody>
                  <a:tcPr>
                    <a:solidFill>
                      <a:srgbClr val="F5F7FA"/>
                    </a:solidFill>
                  </a:tcPr>
                </a:tc>
                <a:tc>
                  <a:txBody>
                    <a:bodyPr/>
                    <a:lstStyle/>
                    <a:p>
                      <a:pPr algn="ctr"/>
                      <a:r>
                        <a:rPr sz="750" b="0">
                          <a:solidFill>
                            <a:srgbClr val="1A1A1A"/>
                          </a:solidFill>
                        </a:rPr>
                        <a:t>657.9</a:t>
                      </a:r>
                    </a:p>
                  </a:txBody>
                  <a:tcPr>
                    <a:solidFill>
                      <a:srgbClr val="F5F7FA"/>
                    </a:solidFill>
                  </a:tcPr>
                </a:tc>
                <a:tc>
                  <a:txBody>
                    <a:bodyPr/>
                    <a:lstStyle/>
                    <a:p>
                      <a:pPr algn="ctr"/>
                      <a:r>
                        <a:rPr sz="750" b="0">
                          <a:solidFill>
                            <a:srgbClr val="1A1A1A"/>
                          </a:solidFill>
                        </a:rPr>
                        <a:t>&lt; 543.5</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98000">
                <a:tc>
                  <a:txBody>
                    <a:bodyPr/>
                    <a:lstStyle/>
                    <a:p>
                      <a:pPr algn="ctr"/>
                      <a:r>
                        <a:rPr sz="750" b="0">
                          <a:solidFill>
                            <a:srgbClr val="1A1A1A"/>
                          </a:solidFill>
                        </a:rPr>
                        <a:t>AVGO</a:t>
                      </a:r>
                    </a:p>
                  </a:txBody>
                  <a:tcPr>
                    <a:noFill/>
                  </a:tcPr>
                </a:tc>
                <a:tc>
                  <a:txBody>
                    <a:bodyPr/>
                    <a:lstStyle/>
                    <a:p>
                      <a:pPr algn="ctr"/>
                      <a:r>
                        <a:rPr sz="750" b="0">
                          <a:solidFill>
                            <a:srgbClr val="1A1A1A"/>
                          </a:solidFill>
                        </a:rPr>
                        <a:t>Broadcom Inc.</a:t>
                      </a:r>
                    </a:p>
                  </a:txBody>
                  <a:tcPr>
                    <a:noFill/>
                  </a:tcPr>
                </a:tc>
                <a:tc>
                  <a:txBody>
                    <a:bodyPr/>
                    <a:lstStyle/>
                    <a:p>
                      <a:pPr algn="ctr"/>
                      <a:r>
                        <a:rPr sz="750" b="0">
                          <a:solidFill>
                            <a:srgbClr val="1A1A1A"/>
                          </a:solidFill>
                        </a:rPr>
                        <a:t>309.51</a:t>
                      </a:r>
                    </a:p>
                  </a:txBody>
                  <a:tcPr>
                    <a:noFill/>
                  </a:tcPr>
                </a:tc>
                <a:tc>
                  <a:txBody>
                    <a:bodyPr/>
                    <a:lstStyle/>
                    <a:p>
                      <a:pPr algn="ctr"/>
                      <a:r>
                        <a:rPr sz="750" b="0">
                          <a:solidFill>
                            <a:srgbClr val="1A1A1A"/>
                          </a:solidFill>
                        </a:rPr>
                        <a:t>355.9</a:t>
                      </a:r>
                    </a:p>
                  </a:txBody>
                  <a:tcPr>
                    <a:noFill/>
                  </a:tcPr>
                </a:tc>
                <a:tc>
                  <a:txBody>
                    <a:bodyPr/>
                    <a:lstStyle/>
                    <a:p>
                      <a:pPr algn="ctr"/>
                      <a:r>
                        <a:rPr sz="750" b="0">
                          <a:solidFill>
                            <a:srgbClr val="1A1A1A"/>
                          </a:solidFill>
                        </a:rPr>
                        <a:t>&lt; 294.0</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98000">
                <a:tc>
                  <a:txBody>
                    <a:bodyPr/>
                    <a:lstStyle/>
                    <a:p>
                      <a:pPr algn="ctr"/>
                      <a:r>
                        <a:rPr sz="750" b="0">
                          <a:solidFill>
                            <a:srgbClr val="1A1A1A"/>
                          </a:solidFill>
                        </a:rPr>
                        <a:t>ORCL</a:t>
                      </a:r>
                    </a:p>
                  </a:txBody>
                  <a:tcPr>
                    <a:solidFill>
                      <a:srgbClr val="F5F7FA"/>
                    </a:solidFill>
                  </a:tcPr>
                </a:tc>
                <a:tc>
                  <a:txBody>
                    <a:bodyPr/>
                    <a:lstStyle/>
                    <a:p>
                      <a:pPr algn="ctr"/>
                      <a:r>
                        <a:rPr sz="750" b="0">
                          <a:solidFill>
                            <a:srgbClr val="1A1A1A"/>
                          </a:solidFill>
                        </a:rPr>
                        <a:t>Oracle Corporation</a:t>
                      </a:r>
                    </a:p>
                  </a:txBody>
                  <a:tcPr>
                    <a:solidFill>
                      <a:srgbClr val="F5F7FA"/>
                    </a:solidFill>
                  </a:tcPr>
                </a:tc>
                <a:tc>
                  <a:txBody>
                    <a:bodyPr/>
                    <a:lstStyle/>
                    <a:p>
                      <a:pPr algn="ctr"/>
                      <a:r>
                        <a:rPr sz="750" b="0">
                          <a:solidFill>
                            <a:srgbClr val="1A1A1A"/>
                          </a:solidFill>
                        </a:rPr>
                        <a:t>147.11</a:t>
                      </a:r>
                    </a:p>
                  </a:txBody>
                  <a:tcPr>
                    <a:solidFill>
                      <a:srgbClr val="F5F7FA"/>
                    </a:solidFill>
                  </a:tcPr>
                </a:tc>
                <a:tc>
                  <a:txBody>
                    <a:bodyPr/>
                    <a:lstStyle/>
                    <a:p>
                      <a:pPr algn="ctr"/>
                      <a:r>
                        <a:rPr sz="750" b="0">
                          <a:solidFill>
                            <a:srgbClr val="1A1A1A"/>
                          </a:solidFill>
                        </a:rPr>
                        <a:t>169.2</a:t>
                      </a:r>
                    </a:p>
                  </a:txBody>
                  <a:tcPr>
                    <a:solidFill>
                      <a:srgbClr val="F5F7FA"/>
                    </a:solidFill>
                  </a:tcPr>
                </a:tc>
                <a:tc>
                  <a:txBody>
                    <a:bodyPr/>
                    <a:lstStyle/>
                    <a:p>
                      <a:pPr algn="ctr"/>
                      <a:r>
                        <a:rPr sz="750" b="0">
                          <a:solidFill>
                            <a:srgbClr val="1A1A1A"/>
                          </a:solidFill>
                        </a:rPr>
                        <a:t>&lt; 139.8</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r h="198000">
                <a:tc>
                  <a:txBody>
                    <a:bodyPr/>
                    <a:lstStyle/>
                    <a:p>
                      <a:pPr algn="ctr"/>
                      <a:r>
                        <a:rPr sz="750" b="0">
                          <a:solidFill>
                            <a:srgbClr val="1A1A1A"/>
                          </a:solidFill>
                        </a:rPr>
                        <a:t>AAPL</a:t>
                      </a:r>
                    </a:p>
                  </a:txBody>
                  <a:tcPr>
                    <a:noFill/>
                  </a:tcPr>
                </a:tc>
                <a:tc>
                  <a:txBody>
                    <a:bodyPr/>
                    <a:lstStyle/>
                    <a:p>
                      <a:pPr algn="ctr"/>
                      <a:r>
                        <a:rPr sz="750" b="0">
                          <a:solidFill>
                            <a:srgbClr val="1A1A1A"/>
                          </a:solidFill>
                        </a:rPr>
                        <a:t>Apple Inc.</a:t>
                      </a:r>
                    </a:p>
                  </a:txBody>
                  <a:tcPr>
                    <a:noFill/>
                  </a:tcPr>
                </a:tc>
                <a:tc>
                  <a:txBody>
                    <a:bodyPr/>
                    <a:lstStyle/>
                    <a:p>
                      <a:pPr algn="ctr"/>
                      <a:r>
                        <a:rPr sz="750" b="0">
                          <a:solidFill>
                            <a:srgbClr val="1A1A1A"/>
                          </a:solidFill>
                        </a:rPr>
                        <a:t>253.79</a:t>
                      </a:r>
                    </a:p>
                  </a:txBody>
                  <a:tcPr>
                    <a:noFill/>
                  </a:tcPr>
                </a:tc>
                <a:tc>
                  <a:txBody>
                    <a:bodyPr/>
                    <a:lstStyle/>
                    <a:p>
                      <a:pPr algn="ctr"/>
                      <a:r>
                        <a:rPr sz="750" b="0">
                          <a:solidFill>
                            <a:srgbClr val="1A1A1A"/>
                          </a:solidFill>
                        </a:rPr>
                        <a:t>291.9</a:t>
                      </a:r>
                    </a:p>
                  </a:txBody>
                  <a:tcPr>
                    <a:noFill/>
                  </a:tcPr>
                </a:tc>
                <a:tc>
                  <a:txBody>
                    <a:bodyPr/>
                    <a:lstStyle/>
                    <a:p>
                      <a:pPr algn="ctr"/>
                      <a:r>
                        <a:rPr sz="750" b="0">
                          <a:solidFill>
                            <a:srgbClr val="1A1A1A"/>
                          </a:solidFill>
                        </a:rPr>
                        <a:t>&lt; 241.1</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98000">
                <a:tc>
                  <a:txBody>
                    <a:bodyPr/>
                    <a:lstStyle/>
                    <a:p>
                      <a:pPr algn="ctr"/>
                      <a:r>
                        <a:rPr sz="750" b="0">
                          <a:solidFill>
                            <a:srgbClr val="1A1A1A"/>
                          </a:solidFill>
                        </a:rPr>
                        <a:t>AMD</a:t>
                      </a:r>
                    </a:p>
                  </a:txBody>
                  <a:tcPr>
                    <a:solidFill>
                      <a:srgbClr val="F5F7FA"/>
                    </a:solidFill>
                  </a:tcPr>
                </a:tc>
                <a:tc>
                  <a:txBody>
                    <a:bodyPr/>
                    <a:lstStyle/>
                    <a:p>
                      <a:pPr algn="ctr"/>
                      <a:r>
                        <a:rPr sz="750" b="0">
                          <a:solidFill>
                            <a:srgbClr val="1A1A1A"/>
                          </a:solidFill>
                        </a:rPr>
                        <a:t>Advanced Micro Devices, </a:t>
                      </a:r>
                    </a:p>
                  </a:txBody>
                  <a:tcPr>
                    <a:solidFill>
                      <a:srgbClr val="F5F7FA"/>
                    </a:solidFill>
                  </a:tcPr>
                </a:tc>
                <a:tc>
                  <a:txBody>
                    <a:bodyPr/>
                    <a:lstStyle/>
                    <a:p>
                      <a:pPr algn="ctr"/>
                      <a:r>
                        <a:rPr sz="750" b="0">
                          <a:solidFill>
                            <a:srgbClr val="1A1A1A"/>
                          </a:solidFill>
                        </a:rPr>
                        <a:t>203.43</a:t>
                      </a:r>
                    </a:p>
                  </a:txBody>
                  <a:tcPr>
                    <a:solidFill>
                      <a:srgbClr val="F5F7FA"/>
                    </a:solidFill>
                  </a:tcPr>
                </a:tc>
                <a:tc>
                  <a:txBody>
                    <a:bodyPr/>
                    <a:lstStyle/>
                    <a:p>
                      <a:pPr algn="ctr"/>
                      <a:r>
                        <a:rPr sz="750" b="0">
                          <a:solidFill>
                            <a:srgbClr val="1A1A1A"/>
                          </a:solidFill>
                        </a:rPr>
                        <a:t>233.9</a:t>
                      </a:r>
                    </a:p>
                  </a:txBody>
                  <a:tcPr>
                    <a:solidFill>
                      <a:srgbClr val="F5F7FA"/>
                    </a:solidFill>
                  </a:tcPr>
                </a:tc>
                <a:tc>
                  <a:txBody>
                    <a:bodyPr/>
                    <a:lstStyle/>
                    <a:p>
                      <a:pPr algn="ctr"/>
                      <a:r>
                        <a:rPr sz="750" b="0">
                          <a:solidFill>
                            <a:srgbClr val="1A1A1A"/>
                          </a:solidFill>
                        </a:rPr>
                        <a:t>&lt; 193.3</a:t>
                      </a:r>
                    </a:p>
                  </a:txBody>
                  <a:tcPr>
                    <a:solidFill>
                      <a:srgbClr val="F5F7FA"/>
                    </a:solidFill>
                  </a:tcPr>
                </a:tc>
                <a:tc>
                  <a:txBody>
                    <a:bodyPr/>
                    <a:lstStyle/>
                    <a:p>
                      <a:pPr algn="ctr"/>
                      <a:r>
                        <a:rPr sz="750" b="0">
                          <a:solidFill>
                            <a:srgbClr val="1A1A1A"/>
                          </a:solidFill>
                        </a:rPr>
                        <a:t>Entree attractive</a:t>
                      </a:r>
                    </a:p>
                  </a:txBody>
                  <a:tcPr>
                    <a:solidFill>
                      <a:srgbClr val="F5F7FA"/>
                    </a:solidFill>
                  </a:tcPr>
                </a:tc>
                <a:tc>
                  <a:txBody>
                    <a:bodyPr/>
                    <a:lstStyle/>
                    <a:p>
                      <a:pPr algn="ctr"/>
                      <a:r>
                        <a:rPr sz="750" b="0">
                          <a:solidFill>
                            <a:srgbClr val="1A1A1A"/>
                          </a:solidFill>
                        </a:rPr>
                        <a:t>~68 %</a:t>
                      </a:r>
                    </a:p>
                  </a:txBody>
                  <a:tcPr>
                    <a:solidFill>
                      <a:srgbClr val="F5F7FA"/>
                    </a:solidFill>
                  </a:tcPr>
                </a:tc>
              </a:tr>
            </a:tbl>
          </a:graphicData>
        </a:graphic>
      </p:graphicFrame>
      <p:sp>
        <p:nvSpPr>
          <p:cNvPr id="19" name="Rectangle 18"/>
          <p:cNvSpPr/>
          <p:nvPr/>
        </p:nvSpPr>
        <p:spPr>
          <a:xfrm>
            <a:off x="324000" y="3114000"/>
            <a:ext cx="8496000" cy="576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3114000"/>
            <a:ext cx="36000" cy="57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3142800"/>
            <a:ext cx="8316000" cy="180000"/>
          </a:xfrm>
          <a:prstGeom prst="rect">
            <a:avLst/>
          </a:prstGeom>
          <a:noFill/>
        </p:spPr>
        <p:txBody>
          <a:bodyPr wrap="square">
            <a:spAutoFit/>
          </a:bodyPr>
          <a:lstStyle/>
          <a:p>
            <a:pPr algn="l"/>
            <a:r>
              <a:rPr sz="800" b="1" i="0">
                <a:solidFill>
                  <a:srgbClr val="B06000"/>
                </a:solidFill>
              </a:rPr>
              <a:t>NOTE METHODOLOGIQUE</a:t>
            </a:r>
          </a:p>
        </p:txBody>
      </p:sp>
      <p:sp>
        <p:nvSpPr>
          <p:cNvPr id="22" name="TextBox 21"/>
          <p:cNvSpPr txBox="1"/>
          <p:nvPr/>
        </p:nvSpPr>
        <p:spPr>
          <a:xfrm>
            <a:off x="468000" y="3312000"/>
            <a:ext cx="8316000" cy="378000"/>
          </a:xfrm>
          <a:prstGeom prst="rect">
            <a:avLst/>
          </a:prstGeom>
          <a:noFill/>
        </p:spPr>
        <p:txBody>
          <a:bodyPr wrap="square">
            <a:spAutoFit/>
          </a:bodyPr>
          <a:lstStyle/>
          <a:p>
            <a:pPr algn="l"/>
            <a:r>
              <a:rPr sz="750" b="0" i="0">
                <a:solidFill>
                  <a:srgbClr val="555555"/>
                </a:solidFill>
              </a:rPr>
              <a:t>La probabilite de rendement positif a 12 mois est calculee sur des configurations similaires identifiees en backtesting sur donnees historiques (2010-2024). Elle ne constitue pas une garantie de performance future.</a:t>
            </a:r>
          </a:p>
        </p:txBody>
      </p:sp>
      <p:sp>
        <p:nvSpPr>
          <p:cNvPr id="23" name="Rectangle 22"/>
          <p:cNvSpPr/>
          <p:nvPr/>
        </p:nvSpPr>
        <p:spPr>
          <a:xfrm>
            <a:off x="32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2000" y="4086000"/>
            <a:ext cx="2592000" cy="360000"/>
          </a:xfrm>
          <a:prstGeom prst="rect">
            <a:avLst/>
          </a:prstGeom>
          <a:noFill/>
        </p:spPr>
        <p:txBody>
          <a:bodyPr wrap="square">
            <a:spAutoFit/>
          </a:bodyPr>
          <a:lstStyle/>
          <a:p>
            <a:pPr algn="l"/>
            <a:r>
              <a:rPr sz="2000" b="1" i="0">
                <a:solidFill>
                  <a:srgbClr val="1B3A6B"/>
                </a:solidFill>
              </a:rPr>
              <a:t>68 %</a:t>
            </a:r>
          </a:p>
        </p:txBody>
      </p:sp>
      <p:sp>
        <p:nvSpPr>
          <p:cNvPr id="26" name="TextBox 25"/>
          <p:cNvSpPr txBox="1"/>
          <p:nvPr/>
        </p:nvSpPr>
        <p:spPr>
          <a:xfrm>
            <a:off x="432000" y="4428000"/>
            <a:ext cx="2592000" cy="162000"/>
          </a:xfrm>
          <a:prstGeom prst="rect">
            <a:avLst/>
          </a:prstGeom>
          <a:noFill/>
        </p:spPr>
        <p:txBody>
          <a:bodyPr wrap="square">
            <a:spAutoFit/>
          </a:bodyPr>
          <a:lstStyle/>
          <a:p>
            <a:pPr algn="l"/>
            <a:r>
              <a:rPr sz="750" b="0" i="0">
                <a:solidFill>
                  <a:srgbClr val="555555"/>
                </a:solidFill>
              </a:rPr>
              <a:t>Proba. rendement +</a:t>
            </a:r>
          </a:p>
        </p:txBody>
      </p:sp>
      <p:sp>
        <p:nvSpPr>
          <p:cNvPr id="27" name="TextBox 26"/>
          <p:cNvSpPr txBox="1"/>
          <p:nvPr/>
        </p:nvSpPr>
        <p:spPr>
          <a:xfrm>
            <a:off x="432000" y="4572000"/>
            <a:ext cx="2592000" cy="144000"/>
          </a:xfrm>
          <a:prstGeom prst="rect">
            <a:avLst/>
          </a:prstGeom>
          <a:noFill/>
        </p:spPr>
        <p:txBody>
          <a:bodyPr wrap="square">
            <a:spAutoFit/>
          </a:bodyPr>
          <a:lstStyle/>
          <a:p>
            <a:pPr algn="l"/>
            <a:r>
              <a:rPr sz="700" b="0" i="0">
                <a:solidFill>
                  <a:srgbClr val="AAAAAA"/>
                </a:solidFill>
              </a:rPr>
              <a:t>historique 12 mois</a:t>
            </a:r>
          </a:p>
        </p:txBody>
      </p:sp>
      <p:sp>
        <p:nvSpPr>
          <p:cNvPr id="28" name="Rectangle 27"/>
          <p:cNvSpPr/>
          <p:nvPr/>
        </p:nvSpPr>
        <p:spPr>
          <a:xfrm>
            <a:off x="320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12000" y="4086000"/>
            <a:ext cx="2592000" cy="360000"/>
          </a:xfrm>
          <a:prstGeom prst="rect">
            <a:avLst/>
          </a:prstGeom>
          <a:noFill/>
        </p:spPr>
        <p:txBody>
          <a:bodyPr wrap="square">
            <a:spAutoFit/>
          </a:bodyPr>
          <a:lstStyle/>
          <a:p>
            <a:pPr algn="l"/>
            <a:r>
              <a:rPr sz="2000" b="1" i="0">
                <a:solidFill>
                  <a:srgbClr val="1B3A6B"/>
                </a:solidFill>
              </a:rPr>
              <a:t>8 / 8</a:t>
            </a:r>
          </a:p>
        </p:txBody>
      </p:sp>
      <p:sp>
        <p:nvSpPr>
          <p:cNvPr id="31" name="TextBox 30"/>
          <p:cNvSpPr txBox="1"/>
          <p:nvPr/>
        </p:nvSpPr>
        <p:spPr>
          <a:xfrm>
            <a:off x="3312000" y="4428000"/>
            <a:ext cx="2592000" cy="162000"/>
          </a:xfrm>
          <a:prstGeom prst="rect">
            <a:avLst/>
          </a:prstGeom>
          <a:noFill/>
        </p:spPr>
        <p:txBody>
          <a:bodyPr wrap="square">
            <a:spAutoFit/>
          </a:bodyPr>
          <a:lstStyle/>
          <a:p>
            <a:pPr algn="l"/>
            <a:r>
              <a:rPr sz="750" b="0" i="0">
                <a:solidFill>
                  <a:srgbClr val="555555"/>
                </a:solidFill>
              </a:rPr>
              <a:t>Societes en zone</a:t>
            </a:r>
          </a:p>
        </p:txBody>
      </p:sp>
      <p:sp>
        <p:nvSpPr>
          <p:cNvPr id="32" name="TextBox 31"/>
          <p:cNvSpPr txBox="1"/>
          <p:nvPr/>
        </p:nvSpPr>
        <p:spPr>
          <a:xfrm>
            <a:off x="3312000" y="4572000"/>
            <a:ext cx="2592000" cy="144000"/>
          </a:xfrm>
          <a:prstGeom prst="rect">
            <a:avLst/>
          </a:prstGeom>
          <a:noFill/>
        </p:spPr>
        <p:txBody>
          <a:bodyPr wrap="square">
            <a:spAutoFit/>
          </a:bodyPr>
          <a:lstStyle/>
          <a:p>
            <a:pPr algn="l"/>
            <a:r>
              <a:rPr sz="700" b="0" i="0">
                <a:solidFill>
                  <a:srgbClr val="AAAAAA"/>
                </a:solidFill>
              </a:rPr>
              <a:t>recommandation BUY</a:t>
            </a:r>
          </a:p>
        </p:txBody>
      </p:sp>
      <p:sp>
        <p:nvSpPr>
          <p:cNvPr id="33" name="Rectangle 32"/>
          <p:cNvSpPr/>
          <p:nvPr/>
        </p:nvSpPr>
        <p:spPr>
          <a:xfrm>
            <a:off x="6083999"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3999"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2000" y="4086000"/>
            <a:ext cx="2592000" cy="360000"/>
          </a:xfrm>
          <a:prstGeom prst="rect">
            <a:avLst/>
          </a:prstGeom>
          <a:noFill/>
        </p:spPr>
        <p:txBody>
          <a:bodyPr wrap="square">
            <a:spAutoFit/>
          </a:bodyPr>
          <a:lstStyle/>
          <a:p>
            <a:pPr algn="l"/>
            <a:r>
              <a:rPr sz="2000" b="1" i="0">
                <a:solidFill>
                  <a:srgbClr val="1B3A6B"/>
                </a:solidFill>
              </a:rPr>
              <a:t>-10 %</a:t>
            </a:r>
          </a:p>
        </p:txBody>
      </p:sp>
      <p:sp>
        <p:nvSpPr>
          <p:cNvPr id="36" name="TextBox 35"/>
          <p:cNvSpPr txBox="1"/>
          <p:nvPr/>
        </p:nvSpPr>
        <p:spPr>
          <a:xfrm>
            <a:off x="6192000" y="4428000"/>
            <a:ext cx="2592000" cy="162000"/>
          </a:xfrm>
          <a:prstGeom prst="rect">
            <a:avLst/>
          </a:prstGeom>
          <a:noFill/>
        </p:spPr>
        <p:txBody>
          <a:bodyPr wrap="square">
            <a:spAutoFit/>
          </a:bodyPr>
          <a:lstStyle/>
          <a:p>
            <a:pPr algn="l"/>
            <a:r>
              <a:rPr sz="750" b="0" i="0">
                <a:solidFill>
                  <a:srgbClr val="555555"/>
                </a:solidFill>
              </a:rPr>
              <a:t>Décote DCF min.</a:t>
            </a:r>
          </a:p>
        </p:txBody>
      </p:sp>
      <p:sp>
        <p:nvSpPr>
          <p:cNvPr id="37" name="TextBox 36"/>
          <p:cNvSpPr txBox="1"/>
          <p:nvPr/>
        </p:nvSpPr>
        <p:spPr>
          <a:xfrm>
            <a:off x="6192000" y="4572000"/>
            <a:ext cx="2592000" cy="144000"/>
          </a:xfrm>
          <a:prstGeom prst="rect">
            <a:avLst/>
          </a:prstGeom>
          <a:noFill/>
        </p:spPr>
        <p:txBody>
          <a:bodyPr wrap="square">
            <a:spAutoFit/>
          </a:bodyPr>
          <a:lstStyle/>
          <a:p>
            <a:pPr algn="l"/>
            <a:r>
              <a:rPr sz="700" b="0" i="0">
                <a:solidFill>
                  <a:srgbClr val="AAAAAA"/>
                </a:solidFill>
              </a:rPr>
              <a:t>seuil d'activation</a:t>
            </a:r>
          </a:p>
        </p:txBody>
      </p:sp>
      <p:sp>
        <p:nvSpPr>
          <p:cNvPr id="38" name="Rectangle 3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Thèse contraire  ·  Protocole Avocat du Diable</a:t>
            </a:r>
          </a:p>
        </p:txBody>
      </p:sp>
      <p:sp>
        <p:nvSpPr>
          <p:cNvPr id="15" name="Rectangle 14"/>
          <p:cNvSpPr/>
          <p:nvPr/>
        </p:nvSpPr>
        <p:spPr>
          <a:xfrm>
            <a:off x="324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Ralentissement Budgets IT</a:t>
            </a:r>
          </a:p>
        </p:txBody>
      </p:sp>
      <p:sp>
        <p:nvSpPr>
          <p:cNvPr id="18" name="TextBox 17"/>
          <p:cNvSpPr txBox="1"/>
          <p:nvPr/>
        </p:nvSpPr>
        <p:spPr>
          <a:xfrm>
            <a:off x="396000" y="1188000"/>
            <a:ext cx="2520000" cy="792000"/>
          </a:xfrm>
          <a:prstGeom prst="rect">
            <a:avLst/>
          </a:prstGeom>
          <a:noFill/>
        </p:spPr>
        <p:txBody>
          <a:bodyPr wrap="square">
            <a:spAutoFit/>
          </a:bodyPr>
          <a:lstStyle/>
          <a:p>
            <a:pPr algn="l"/>
            <a:r>
              <a:rPr sz="850" b="0" i="0">
                <a:solidFill>
                  <a:srgbClr val="555555"/>
                </a:solidFill>
              </a:rPr>
              <a:t>Recession européenne confirmee entraînerait une reduction des budgets IT de 12-18 %, pénalisant les prestataires de services.</a:t>
            </a:r>
          </a:p>
        </p:txBody>
      </p:sp>
      <p:sp>
        <p:nvSpPr>
          <p:cNvPr id="19" name="Rectangle 18"/>
          <p:cNvSpPr/>
          <p:nvPr/>
        </p:nvSpPr>
        <p:spPr>
          <a:xfrm>
            <a:off x="3240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Durcissement AI Act</a:t>
            </a:r>
          </a:p>
        </p:txBody>
      </p:sp>
      <p:sp>
        <p:nvSpPr>
          <p:cNvPr id="22" name="TextBox 21"/>
          <p:cNvSpPr txBox="1"/>
          <p:nvPr/>
        </p:nvSpPr>
        <p:spPr>
          <a:xfrm>
            <a:off x="3311999" y="1188000"/>
            <a:ext cx="2520000" cy="792000"/>
          </a:xfrm>
          <a:prstGeom prst="rect">
            <a:avLst/>
          </a:prstGeom>
          <a:noFill/>
        </p:spPr>
        <p:txBody>
          <a:bodyPr wrap="square">
            <a:spAutoFit/>
          </a:bodyPr>
          <a:lstStyle/>
          <a:p>
            <a:pPr algn="l"/>
            <a:r>
              <a:rPr sz="850" b="0" i="0">
                <a:solidFill>
                  <a:srgbClr val="555555"/>
                </a:solidFill>
              </a:rPr>
              <a:t>Surcout de mise en conformite estime a 8-12 % du CA pour les editeurs de logiciels IA — impact marges 2027.</a:t>
            </a:r>
          </a:p>
        </p:txBody>
      </p:sp>
      <p:sp>
        <p:nvSpPr>
          <p:cNvPr id="23" name="Rectangle 22"/>
          <p:cNvSpPr/>
          <p:nvPr/>
        </p:nvSpPr>
        <p:spPr>
          <a:xfrm>
            <a:off x="6155999"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Pression Tarifaire US/Asie</a:t>
            </a:r>
          </a:p>
        </p:txBody>
      </p:sp>
      <p:sp>
        <p:nvSpPr>
          <p:cNvPr id="26" name="TextBox 25"/>
          <p:cNvSpPr txBox="1"/>
          <p:nvPr/>
        </p:nvSpPr>
        <p:spPr>
          <a:xfrm>
            <a:off x="6227999" y="1188000"/>
            <a:ext cx="2520000" cy="792000"/>
          </a:xfrm>
          <a:prstGeom prst="rect">
            <a:avLst/>
          </a:prstGeom>
          <a:noFill/>
        </p:spPr>
        <p:txBody>
          <a:bodyPr wrap="square">
            <a:spAutoFit/>
          </a:bodyPr>
          <a:lstStyle/>
          <a:p>
            <a:pPr algn="l"/>
            <a:r>
              <a:rPr sz="850" b="0" i="0">
                <a:solidFill>
                  <a:srgbClr val="555555"/>
                </a:solidFill>
              </a:rPr>
              <a:t>Acteurs americains et asiatiques agressifs sur les segments logiciels standardises — guerre des prix bas de gamme.</a:t>
            </a:r>
          </a:p>
        </p:txBody>
      </p:sp>
      <p:sp>
        <p:nvSpPr>
          <p:cNvPr id="27" name="TextBox 26"/>
          <p:cNvSpPr txBox="1"/>
          <p:nvPr/>
        </p:nvSpPr>
        <p:spPr>
          <a:xfrm>
            <a:off x="324000" y="2196000"/>
            <a:ext cx="8496000" cy="216000"/>
          </a:xfrm>
          <a:prstGeom prst="rect">
            <a:avLst/>
          </a:prstGeom>
          <a:noFill/>
        </p:spPr>
        <p:txBody>
          <a:bodyPr wrap="square">
            <a:spAutoFit/>
          </a:bodyPr>
          <a:lstStyle/>
          <a:p>
            <a:pPr algn="l"/>
            <a:r>
              <a:rPr sz="900" b="1" i="0">
                <a:solidFill>
                  <a:srgbClr val="1B3A6B"/>
                </a:solidFill>
              </a:rPr>
              <a:t>Conditions d'invalidation de la thèse</a:t>
            </a:r>
          </a:p>
        </p:txBody>
      </p:sp>
      <p:graphicFrame>
        <p:nvGraphicFramePr>
          <p:cNvPr id="28" name="Table 27"/>
          <p:cNvGraphicFramePr>
            <a:graphicFrameLocks noGrp="1"/>
          </p:cNvGraphicFramePr>
          <p:nvPr/>
        </p:nvGraphicFramePr>
        <p:xfrm>
          <a:off x="324000" y="2448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Macro</a:t>
                      </a:r>
                    </a:p>
                  </a:txBody>
                  <a:tcPr>
                    <a:noFill/>
                  </a:tcPr>
                </a:tc>
                <a:tc>
                  <a:txBody>
                    <a:bodyPr/>
                    <a:lstStyle/>
                    <a:p>
                      <a:pPr algn="ctr"/>
                      <a:r>
                        <a:rPr sz="800" b="0">
                          <a:solidFill>
                            <a:srgbClr val="1A1A1A"/>
                          </a:solidFill>
                        </a:rPr>
                        <a:t>Recession UE confirmee — contraction PIB &gt; 1,5 %</a:t>
                      </a:r>
                    </a:p>
                  </a:txBody>
                  <a:tcPr>
                    <a:noFill/>
                  </a:tcPr>
                </a:tc>
                <a:tc>
                  <a:txBody>
                    <a:bodyPr/>
                    <a:lstStyle/>
                    <a:p>
                      <a:pPr algn="ctr"/>
                      <a:r>
                        <a:rPr sz="800" b="0">
                          <a:solidFill>
                            <a:srgbClr val="1A1A1A"/>
                          </a:solidFill>
                        </a:rPr>
                        <a:t>6-12 mois</a:t>
                      </a:r>
                    </a:p>
                  </a:txBody>
                  <a:tcPr>
                    <a:noFill/>
                  </a:tcPr>
                </a:tc>
              </a:tr>
              <a:tr h="223200">
                <a:tc>
                  <a:txBody>
                    <a:bodyPr/>
                    <a:lstStyle/>
                    <a:p>
                      <a:pPr algn="ctr"/>
                      <a:r>
                        <a:rPr sz="800" b="0">
                          <a:solidFill>
                            <a:srgbClr val="1A1A1A"/>
                          </a:solidFill>
                        </a:rPr>
                        <a:t>Sectoriel</a:t>
                      </a:r>
                    </a:p>
                  </a:txBody>
                  <a:tcPr>
                    <a:solidFill>
                      <a:srgbClr val="F5F7FA"/>
                    </a:solidFill>
                  </a:tcPr>
                </a:tc>
                <a:tc>
                  <a:txBody>
                    <a:bodyPr/>
                    <a:lstStyle/>
                    <a:p>
                      <a:pPr algn="ctr"/>
                      <a:r>
                        <a:rPr sz="800" b="0">
                          <a:solidFill>
                            <a:srgbClr val="1A1A1A"/>
                          </a:solidFill>
                        </a:rPr>
                        <a:t>Reduction budgets IT &gt; 15 % grands comptes</a:t>
                      </a:r>
                    </a:p>
                  </a:txBody>
                  <a:tcPr>
                    <a:solidFill>
                      <a:srgbClr val="F5F7FA"/>
                    </a:solidFill>
                  </a:tcPr>
                </a:tc>
                <a:tc>
                  <a:txBody>
                    <a:bodyPr/>
                    <a:lstStyle/>
                    <a:p>
                      <a:pPr algn="ctr"/>
                      <a:r>
                        <a:rPr sz="800" b="0">
                          <a:solidFill>
                            <a:srgbClr val="1A1A1A"/>
                          </a:solidFill>
                        </a:rPr>
                        <a:t>12-18 mois</a:t>
                      </a:r>
                    </a:p>
                  </a:txBody>
                  <a:tcPr>
                    <a:solidFill>
                      <a:srgbClr val="F5F7FA"/>
                    </a:solidFill>
                  </a:tcPr>
                </a:tc>
              </a:tr>
              <a:tr h="223200">
                <a:tc>
                  <a:txBody>
                    <a:bodyPr/>
                    <a:lstStyle/>
                    <a:p>
                      <a:pPr algn="ctr"/>
                      <a:r>
                        <a:rPr sz="800" b="0">
                          <a:solidFill>
                            <a:srgbClr val="1A1A1A"/>
                          </a:solidFill>
                        </a:rPr>
                        <a:t>Réglementaire</a:t>
                      </a:r>
                    </a:p>
                  </a:txBody>
                  <a:tcPr>
                    <a:noFill/>
                  </a:tcPr>
                </a:tc>
                <a:tc>
                  <a:txBody>
                    <a:bodyPr/>
                    <a:lstStyle/>
                    <a:p>
                      <a:pPr algn="ctr"/>
                      <a:r>
                        <a:rPr sz="800" b="0">
                          <a:solidFill>
                            <a:srgbClr val="1A1A1A"/>
                          </a:solidFill>
                        </a:rPr>
                        <a:t>AI Act surcoût conformite &gt; 15 % CA</a:t>
                      </a:r>
                    </a:p>
                  </a:txBody>
                  <a:tcPr>
                    <a:noFill/>
                  </a:tcPr>
                </a:tc>
                <a:tc>
                  <a:txBody>
                    <a:bodyPr/>
                    <a:lstStyle/>
                    <a:p>
                      <a:pPr algn="ctr"/>
                      <a:r>
                        <a:rPr sz="800" b="0">
                          <a:solidFill>
                            <a:srgbClr val="1A1A1A"/>
                          </a:solidFill>
                        </a:rPr>
                        <a:t>18-24 mois</a:t>
                      </a:r>
                    </a:p>
                  </a:txBody>
                  <a:tcPr>
                    <a:noFill/>
                  </a:tcPr>
                </a:tc>
              </a:tr>
              <a:tr h="223200">
                <a:tc>
                  <a:txBody>
                    <a:bodyPr/>
                    <a:lstStyle/>
                    <a:p>
                      <a:pPr algn="ctr"/>
                      <a:r>
                        <a:rPr sz="800" b="0">
                          <a:solidFill>
                            <a:srgbClr val="1A1A1A"/>
                          </a:solidFill>
                        </a:rPr>
                        <a:t>Fondamental</a:t>
                      </a:r>
                    </a:p>
                  </a:txBody>
                  <a:tcPr>
                    <a:solidFill>
                      <a:srgbClr val="F5F7FA"/>
                    </a:solidFill>
                  </a:tcPr>
                </a:tc>
                <a:tc>
                  <a:txBody>
                    <a:bodyPr/>
                    <a:lstStyle/>
                    <a:p>
                      <a:pPr algn="ctr"/>
                      <a:r>
                        <a:rPr sz="800" b="0">
                          <a:solidFill>
                            <a:srgbClr val="1A1A1A"/>
                          </a:solidFill>
                        </a:rPr>
                        <a:t>Revision baissiere EPS &gt; 20 % sur 2 trimestres</a:t>
                      </a:r>
                    </a:p>
                  </a:txBody>
                  <a:tcPr>
                    <a:solidFill>
                      <a:srgbClr val="F5F7FA"/>
                    </a:solidFill>
                  </a:tcPr>
                </a:tc>
                <a:tc>
                  <a:txBody>
                    <a:bodyPr/>
                    <a:lstStyle/>
                    <a:p>
                      <a:pPr algn="ctr"/>
                      <a:r>
                        <a:rPr sz="800" b="0">
                          <a:solidFill>
                            <a:srgbClr val="1A1A1A"/>
                          </a:solidFill>
                        </a:rPr>
                        <a:t>6-9 mois</a:t>
                      </a:r>
                    </a:p>
                  </a:txBody>
                  <a:tcPr>
                    <a:solidFill>
                      <a:srgbClr val="F5F7FA"/>
                    </a:solidFill>
                  </a:tcPr>
                </a:tc>
              </a:tr>
            </a:tbl>
          </a:graphicData>
        </a:graphic>
      </p:graphicFrame>
      <p:sp>
        <p:nvSpPr>
          <p:cNvPr id="29" name="Rectangle 2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Marché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Articles récents  ·  8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0.00</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a:t>
            </a:r>
          </a:p>
        </p:txBody>
      </p:sp>
      <p:sp>
        <p:nvSpPr>
          <p:cNvPr id="20" name="Rectangle 19"/>
          <p:cNvSpPr/>
          <p:nvPr/>
        </p:nvSpPr>
        <p:spPr>
          <a:xfrm>
            <a:off x="2412000" y="900000"/>
            <a:ext cx="900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2 articles (25 %)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4 articles (50 %)</a:t>
            </a:r>
          </a:p>
        </p:txBody>
      </p:sp>
      <p:sp>
        <p:nvSpPr>
          <p:cNvPr id="26" name="Rectangle 25"/>
          <p:cNvSpPr/>
          <p:nvPr/>
        </p:nvSpPr>
        <p:spPr>
          <a:xfrm>
            <a:off x="2412000" y="1548000"/>
            <a:ext cx="900000"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Négatif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2 articles (25 %)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Thèmes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Adoption IA Generative — Acceleration des mandats IA dans les grands comptes europeens — contrats pluriannuels en hausse de 38 % sur T1 2026.</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Ralentissement Budgets IT — Recession européenne confirmee entraînerait une reduction des budgets IT de 12-18 %, pénalisant les prestataires de services.</a:t>
            </a:r>
          </a:p>
        </p:txBody>
      </p:sp>
      <p:sp>
        <p:nvSpPr>
          <p:cNvPr id="36" name="Rectangle 35"/>
          <p:cNvSpPr/>
          <p:nvPr/>
        </p:nvSpPr>
        <p:spPr>
          <a:xfrm>
            <a:off x="324000" y="2664000"/>
            <a:ext cx="8496000" cy="115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827999"/>
          </a:xfrm>
          <a:prstGeom prst="rect">
            <a:avLst/>
          </a:prstGeom>
          <a:noFill/>
        </p:spPr>
        <p:txBody>
          <a:bodyPr wrap="square">
            <a:spAutoFit/>
          </a:bodyPr>
          <a:lstStyle/>
          <a:p>
            <a:pPr algn="l"/>
            <a:r>
              <a:rPr sz="850" b="0" i="0">
                <a:solidFill>
                  <a:srgbClr val="555555"/>
                </a:solidFill>
              </a:rPr>
              <a:t>Le sentiment agrégé sur le secteur Technology S&amp;P 500 ressort neutre (0.00). La dispersion est forte — les leaders sectoriels tirent le sentiment vers le haut tandis que les valeurs en restructuration drainent la composante negative. Cette hétérogénéité valide une approche selective plut que directionelle sur le secteur.</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Sources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complete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collectées</a:t>
                      </a:r>
                    </a:p>
                  </a:txBody>
                  <a:tcPr>
                    <a:solidFill>
                      <a:srgbClr val="1B3A6B"/>
                    </a:solidFill>
                  </a:tcPr>
                </a:tc>
                <a:tc>
                  <a:txBody>
                    <a:bodyPr/>
                    <a:lstStyle/>
                    <a:p>
                      <a:pPr algn="ctr"/>
                      <a:r>
                        <a:rPr sz="800" b="1">
                          <a:solidFill>
                            <a:srgbClr val="FFFFFF"/>
                          </a:solidFill>
                        </a:rPr>
                        <a:t>Fréquence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états financiers LTM</a:t>
                      </a:r>
                    </a:p>
                  </a:txBody>
                  <a:tcPr>
                    <a:noFill/>
                  </a:tcPr>
                </a:tc>
                <a:tc>
                  <a:txBody>
                    <a:bodyPr/>
                    <a:lstStyle/>
                    <a:p>
                      <a:pPr algn="ctr"/>
                      <a:r>
                        <a:rPr sz="750" b="0">
                          <a:solidFill>
                            <a:srgbClr val="1A1A1A"/>
                          </a:solidFill>
                        </a:rPr>
                        <a:t>Temps réel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calculés, scoring multifactoriel</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Thèse contraire, conviction delta</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cohérence, flags erreur</a:t>
                      </a:r>
                    </a:p>
                  </a:txBody>
                  <a:tcPr>
                    <a:solidFill>
                      <a:srgbClr val="F5F7FA"/>
                    </a:solidFill>
                  </a:tcPr>
                </a:tc>
                <a:tc>
                  <a:txBody>
                    <a:bodyPr/>
                    <a:lstStyle/>
                    <a:p>
                      <a:pPr algn="ctr"/>
                      <a:r>
                        <a:rPr sz="750" b="0">
                          <a:solidFill>
                            <a:srgbClr val="1A1A1A"/>
                          </a:solidFill>
                        </a:rPr>
                        <a:t>Systématique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financières historiques sont issues de sources publiques et peuvent présenter des délais ou inexactitudes. Les prévisions sont basées sur le consensus et les modèles internes FinSight IA — elles ne constituent pas des engagements. La méthodologie de scoring est soumise à des biais inhérents à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généré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Boursiere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Technology  ·  S&amp;P 500  ·  Indexe a 100 au debut de la periode</a:t>
            </a:r>
          </a:p>
        </p:txBody>
      </p:sp>
      <p:pic>
        <p:nvPicPr>
          <p:cNvPr id="15" name="Picture 14" descr="image.png"/>
          <p:cNvPicPr>
            <a:picLocks noChangeAspect="1"/>
          </p:cNvPicPr>
          <p:nvPr/>
        </p:nvPicPr>
        <p:blipFill>
          <a:blip r:embed="rId2"/>
          <a:stretch>
            <a:fillRect/>
          </a:stretch>
        </p:blipFill>
        <p:spPr>
          <a:xfrm>
            <a:off x="324000" y="827999"/>
            <a:ext cx="5940000" cy="3671999"/>
          </a:xfrm>
          <a:prstGeom prst="rect">
            <a:avLst/>
          </a:prstGeom>
        </p:spPr>
      </p:pic>
      <p:sp>
        <p:nvSpPr>
          <p:cNvPr id="16" name="Rectangle 15"/>
          <p:cNvSpPr/>
          <p:nvPr/>
        </p:nvSpPr>
        <p:spPr>
          <a:xfrm>
            <a:off x="6336000" y="827999"/>
            <a:ext cx="2448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000" y="827999"/>
            <a:ext cx="2448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8000" y="846000"/>
            <a:ext cx="2340000" cy="198000"/>
          </a:xfrm>
          <a:prstGeom prst="rect">
            <a:avLst/>
          </a:prstGeom>
          <a:noFill/>
        </p:spPr>
        <p:txBody>
          <a:bodyPr wrap="square">
            <a:spAutoFit/>
          </a:bodyPr>
          <a:lstStyle/>
          <a:p>
            <a:pPr algn="l"/>
            <a:r>
              <a:rPr sz="800" b="1" i="0">
                <a:solidFill>
                  <a:srgbClr val="FFFFFF"/>
                </a:solidFill>
              </a:rPr>
              <a:t>LECTURE ANALYTIQUE</a:t>
            </a:r>
          </a:p>
        </p:txBody>
      </p:sp>
      <p:sp>
        <p:nvSpPr>
          <p:cNvPr id="19" name="TextBox 18"/>
          <p:cNvSpPr txBox="1"/>
          <p:nvPr/>
        </p:nvSpPr>
        <p:spPr>
          <a:xfrm>
            <a:off x="6408000" y="1152000"/>
            <a:ext cx="2304000" cy="324000"/>
          </a:xfrm>
          <a:prstGeom prst="rect">
            <a:avLst/>
          </a:prstGeom>
          <a:noFill/>
        </p:spPr>
        <p:txBody>
          <a:bodyPr wrap="square">
            <a:spAutoFit/>
          </a:bodyPr>
          <a:lstStyle/>
          <a:p>
            <a:pPr algn="l"/>
            <a:r>
              <a:rPr sz="700" b="1" i="0">
                <a:solidFill>
                  <a:srgbClr val="1B3A6B"/>
                </a:solidFill>
              </a:rPr>
              <a:t>MEILLEURE PERFORMANCE</a:t>
            </a:r>
          </a:p>
        </p:txBody>
      </p:sp>
      <p:sp>
        <p:nvSpPr>
          <p:cNvPr id="20" name="TextBox 19"/>
          <p:cNvSpPr txBox="1"/>
          <p:nvPr/>
        </p:nvSpPr>
        <p:spPr>
          <a:xfrm>
            <a:off x="6408000" y="1314000"/>
            <a:ext cx="2304000" cy="324000"/>
          </a:xfrm>
          <a:prstGeom prst="rect">
            <a:avLst/>
          </a:prstGeom>
          <a:noFill/>
        </p:spPr>
        <p:txBody>
          <a:bodyPr wrap="square">
            <a:spAutoFit/>
          </a:bodyPr>
          <a:lstStyle/>
          <a:p>
            <a:pPr algn="l"/>
            <a:r>
              <a:rPr sz="900" b="1" i="0">
                <a:solidFill>
                  <a:srgbClr val="1B3A6B"/>
                </a:solidFill>
              </a:rPr>
              <a:t>AMD  +91%  sur 52 semaines</a:t>
            </a:r>
          </a:p>
        </p:txBody>
      </p:sp>
      <p:sp>
        <p:nvSpPr>
          <p:cNvPr id="21" name="TextBox 20"/>
          <p:cNvSpPr txBox="1"/>
          <p:nvPr/>
        </p:nvSpPr>
        <p:spPr>
          <a:xfrm>
            <a:off x="6408000" y="1655999"/>
            <a:ext cx="2304000" cy="324000"/>
          </a:xfrm>
          <a:prstGeom prst="rect">
            <a:avLst/>
          </a:prstGeom>
          <a:noFill/>
        </p:spPr>
        <p:txBody>
          <a:bodyPr wrap="square">
            <a:spAutoFit/>
          </a:bodyPr>
          <a:lstStyle/>
          <a:p>
            <a:pPr algn="l"/>
            <a:r>
              <a:rPr sz="700" b="1" i="0">
                <a:solidFill>
                  <a:srgbClr val="1B3A6B"/>
                </a:solidFill>
              </a:rPr>
              <a:t>PIRE PERFORMANCE</a:t>
            </a:r>
          </a:p>
        </p:txBody>
      </p:sp>
      <p:sp>
        <p:nvSpPr>
          <p:cNvPr id="22" name="TextBox 21"/>
          <p:cNvSpPr txBox="1"/>
          <p:nvPr/>
        </p:nvSpPr>
        <p:spPr>
          <a:xfrm>
            <a:off x="6408000" y="1818000"/>
            <a:ext cx="2304000" cy="324000"/>
          </a:xfrm>
          <a:prstGeom prst="rect">
            <a:avLst/>
          </a:prstGeom>
          <a:noFill/>
        </p:spPr>
        <p:txBody>
          <a:bodyPr wrap="square">
            <a:spAutoFit/>
          </a:bodyPr>
          <a:lstStyle/>
          <a:p>
            <a:pPr algn="l"/>
            <a:r>
              <a:rPr sz="900" b="1" i="0">
                <a:solidFill>
                  <a:srgbClr val="A82020"/>
                </a:solidFill>
              </a:rPr>
              <a:t>META  -8%  sur 52 semaines</a:t>
            </a:r>
          </a:p>
        </p:txBody>
      </p:sp>
      <p:sp>
        <p:nvSpPr>
          <p:cNvPr id="23" name="TextBox 22"/>
          <p:cNvSpPr txBox="1"/>
          <p:nvPr/>
        </p:nvSpPr>
        <p:spPr>
          <a:xfrm>
            <a:off x="6408000" y="2196000"/>
            <a:ext cx="2304000" cy="324000"/>
          </a:xfrm>
          <a:prstGeom prst="rect">
            <a:avLst/>
          </a:prstGeom>
          <a:noFill/>
        </p:spPr>
        <p:txBody>
          <a:bodyPr wrap="square">
            <a:spAutoFit/>
          </a:bodyPr>
          <a:lstStyle/>
          <a:p>
            <a:pPr algn="l"/>
            <a:r>
              <a:rPr sz="700" b="1" i="0">
                <a:solidFill>
                  <a:srgbClr val="1B3A6B"/>
                </a:solidFill>
              </a:rPr>
              <a:t>DISPERSION</a:t>
            </a:r>
          </a:p>
        </p:txBody>
      </p:sp>
      <p:sp>
        <p:nvSpPr>
          <p:cNvPr id="24" name="TextBox 23"/>
          <p:cNvSpPr txBox="1"/>
          <p:nvPr/>
        </p:nvSpPr>
        <p:spPr>
          <a:xfrm>
            <a:off x="6408000" y="2358000"/>
            <a:ext cx="2304000" cy="324000"/>
          </a:xfrm>
          <a:prstGeom prst="rect">
            <a:avLst/>
          </a:prstGeom>
          <a:noFill/>
        </p:spPr>
        <p:txBody>
          <a:bodyPr wrap="square">
            <a:spAutoFit/>
          </a:bodyPr>
          <a:lstStyle/>
          <a:p>
            <a:pPr algn="l"/>
            <a:r>
              <a:rPr sz="800" b="0" i="0">
                <a:solidFill>
                  <a:srgbClr val="555555"/>
                </a:solidFill>
              </a:rPr>
              <a:t>Écart 99 pts — 5 valeur(s) positives vs 3 négatives.</a:t>
            </a:r>
          </a:p>
        </p:txBody>
      </p:sp>
      <p:sp>
        <p:nvSpPr>
          <p:cNvPr id="25" name="TextBox 24"/>
          <p:cNvSpPr txBox="1"/>
          <p:nvPr/>
        </p:nvSpPr>
        <p:spPr>
          <a:xfrm>
            <a:off x="6408000" y="2772000"/>
            <a:ext cx="2304000" cy="324000"/>
          </a:xfrm>
          <a:prstGeom prst="rect">
            <a:avLst/>
          </a:prstGeom>
          <a:noFill/>
        </p:spPr>
        <p:txBody>
          <a:bodyPr wrap="square">
            <a:spAutoFit/>
          </a:bodyPr>
          <a:lstStyle/>
          <a:p>
            <a:pPr algn="l"/>
            <a:r>
              <a:rPr sz="700" b="1" i="0">
                <a:solidFill>
                  <a:srgbClr val="1B3A6B"/>
                </a:solidFill>
              </a:rPr>
              <a:t>INTERPRETATION</a:t>
            </a:r>
          </a:p>
        </p:txBody>
      </p:sp>
      <p:sp>
        <p:nvSpPr>
          <p:cNvPr id="26" name="TextBox 25"/>
          <p:cNvSpPr txBox="1"/>
          <p:nvPr/>
        </p:nvSpPr>
        <p:spPr>
          <a:xfrm>
            <a:off x="6408000" y="2934000"/>
            <a:ext cx="2304000" cy="324000"/>
          </a:xfrm>
          <a:prstGeom prst="rect">
            <a:avLst/>
          </a:prstGeom>
          <a:noFill/>
        </p:spPr>
        <p:txBody>
          <a:bodyPr wrap="square">
            <a:spAutoFit/>
          </a:bodyPr>
          <a:lstStyle/>
          <a:p>
            <a:pPr algn="l"/>
            <a:r>
              <a:rPr sz="750" b="0" i="0">
                <a:solidFill>
                  <a:srgbClr val="555555"/>
                </a:solidFill>
              </a:rPr>
              <a:t>La dispersion des trajectoires reflète la bifurcation sectorielle : certains acteurs captent l'essentiel de la creation de valeur tandis que d'autres subissent des sorties de capitaux structurelles.</a:t>
            </a:r>
          </a:p>
        </p:txBody>
      </p:sp>
      <p:sp>
        <p:nvSpPr>
          <p:cNvPr id="27" name="TextBox 26"/>
          <p:cNvSpPr txBox="1"/>
          <p:nvPr/>
        </p:nvSpPr>
        <p:spPr>
          <a:xfrm>
            <a:off x="6408000" y="3366000"/>
            <a:ext cx="2304000" cy="324000"/>
          </a:xfrm>
          <a:prstGeom prst="rect">
            <a:avLst/>
          </a:prstGeom>
          <a:noFill/>
        </p:spPr>
        <p:txBody>
          <a:bodyPr wrap="square">
            <a:spAutoFit/>
          </a:bodyPr>
          <a:lstStyle/>
          <a:p>
            <a:pPr algn="l"/>
            <a:r>
              <a:rPr sz="750" b="0" i="0">
                <a:solidFill>
                  <a:srgbClr val="555555"/>
                </a:solidFill>
              </a:rPr>
              <a:t>Le momentum 52W est intégré dans le score FinSight comme signal de confirmation de la thèse d'investissement.</a:t>
            </a:r>
          </a:p>
        </p:txBody>
      </p:sp>
      <p:sp>
        <p:nvSpPr>
          <p:cNvPr id="28" name="Rectangle 2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