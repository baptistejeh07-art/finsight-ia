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6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54000"/>
            <a:ext cx="4320000" cy="432000"/>
          </a:xfrm>
          <a:prstGeom prst="rect">
            <a:avLst/>
          </a:prstGeom>
          <a:noFill/>
        </p:spPr>
        <p:txBody>
          <a:bodyPr wrap="square">
            <a:spAutoFit/>
          </a:bodyPr>
          <a:lstStyle/>
          <a:p>
            <a:pPr algn="l"/>
            <a:r>
              <a:rPr sz="1200" b="1" i="0">
                <a:solidFill>
                  <a:srgbClr val="FFFFFF"/>
                </a:solidFill>
              </a:rPr>
              <a:t>FinSight IA</a:t>
            </a:r>
          </a:p>
        </p:txBody>
      </p:sp>
      <p:sp>
        <p:nvSpPr>
          <p:cNvPr id="4" name="TextBox 3"/>
          <p:cNvSpPr txBox="1"/>
          <p:nvPr/>
        </p:nvSpPr>
        <p:spPr>
          <a:xfrm>
            <a:off x="0" y="90000"/>
            <a:ext cx="9072000" cy="360000"/>
          </a:xfrm>
          <a:prstGeom prst="rect">
            <a:avLst/>
          </a:prstGeom>
          <a:noFill/>
        </p:spPr>
        <p:txBody>
          <a:bodyPr wrap="square">
            <a:spAutoFit/>
          </a:bodyPr>
          <a:lstStyle/>
          <a:p>
            <a:pPr algn="r"/>
            <a:r>
              <a:rPr sz="950" b="0" i="0">
                <a:solidFill>
                  <a:srgbClr val="AAAAAA"/>
                </a:solidFill>
              </a:rPr>
              <a:t>Pitchbook  —  Analyse Sectorielle</a:t>
            </a:r>
          </a:p>
        </p:txBody>
      </p:sp>
      <p:sp>
        <p:nvSpPr>
          <p:cNvPr id="5" name="TextBox 4"/>
          <p:cNvSpPr txBox="1"/>
          <p:nvPr/>
        </p:nvSpPr>
        <p:spPr>
          <a:xfrm>
            <a:off x="0" y="1620000"/>
            <a:ext cx="9144000" cy="1080000"/>
          </a:xfrm>
          <a:prstGeom prst="rect">
            <a:avLst/>
          </a:prstGeom>
          <a:noFill/>
        </p:spPr>
        <p:txBody>
          <a:bodyPr wrap="square">
            <a:spAutoFit/>
          </a:bodyPr>
          <a:lstStyle/>
          <a:p>
            <a:pPr algn="ctr"/>
            <a:r>
              <a:rPr sz="3800" b="1" i="0">
                <a:solidFill>
                  <a:srgbClr val="1B3A6B"/>
                </a:solidFill>
              </a:rPr>
              <a:t>Technology</a:t>
            </a:r>
          </a:p>
        </p:txBody>
      </p:sp>
      <p:sp>
        <p:nvSpPr>
          <p:cNvPr id="6" name="TextBox 5"/>
          <p:cNvSpPr txBox="1"/>
          <p:nvPr/>
        </p:nvSpPr>
        <p:spPr>
          <a:xfrm>
            <a:off x="0" y="2808000"/>
            <a:ext cx="9144000" cy="360000"/>
          </a:xfrm>
          <a:prstGeom prst="rect">
            <a:avLst/>
          </a:prstGeom>
          <a:noFill/>
        </p:spPr>
        <p:txBody>
          <a:bodyPr wrap="square">
            <a:spAutoFit/>
          </a:bodyPr>
          <a:lstStyle/>
          <a:p>
            <a:pPr algn="ctr"/>
            <a:r>
              <a:rPr sz="1200" b="0" i="0">
                <a:solidFill>
                  <a:srgbClr val="555555"/>
                </a:solidFill>
              </a:rPr>
              <a:t>S&amp;P 500  ·  8 sociétés analysées</a:t>
            </a:r>
          </a:p>
        </p:txBody>
      </p:sp>
      <p:sp>
        <p:nvSpPr>
          <p:cNvPr id="7" name="Rectangle 6"/>
          <p:cNvSpPr/>
          <p:nvPr/>
        </p:nvSpPr>
        <p:spPr>
          <a:xfrm>
            <a:off x="3276000" y="3311999"/>
            <a:ext cx="255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76000" y="3348000"/>
            <a:ext cx="2556000" cy="432000"/>
          </a:xfrm>
          <a:prstGeom prst="rect">
            <a:avLst/>
          </a:prstGeom>
          <a:noFill/>
        </p:spPr>
        <p:txBody>
          <a:bodyPr wrap="square">
            <a:spAutoFit/>
          </a:bodyPr>
          <a:lstStyle/>
          <a:p>
            <a:pPr algn="ctr"/>
            <a:r>
              <a:rPr sz="1300" b="1" i="0">
                <a:solidFill>
                  <a:srgbClr val="FFFFFF"/>
                </a:solidFill>
              </a:rPr>
              <a:t>● SURPONDÉRER</a:t>
            </a:r>
          </a:p>
        </p:txBody>
      </p:sp>
      <p:sp>
        <p:nvSpPr>
          <p:cNvPr id="9" name="Rectangle 8"/>
          <p:cNvSpPr/>
          <p:nvPr/>
        </p:nvSpPr>
        <p:spPr>
          <a:xfrm>
            <a:off x="0" y="4896000"/>
            <a:ext cx="9144000" cy="25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4000" y="4914000"/>
            <a:ext cx="3600000" cy="180000"/>
          </a:xfrm>
          <a:prstGeom prst="rect">
            <a:avLst/>
          </a:prstGeom>
          <a:noFill/>
        </p:spPr>
        <p:txBody>
          <a:bodyPr wrap="square">
            <a:spAutoFit/>
          </a:bodyPr>
          <a:lstStyle/>
          <a:p>
            <a:pPr algn="l"/>
            <a:r>
              <a:rPr sz="750" b="0" i="0">
                <a:solidFill>
                  <a:srgbClr val="555555"/>
                </a:solidFill>
              </a:rPr>
              <a:t>Rapport confidentiel</a:t>
            </a:r>
          </a:p>
        </p:txBody>
      </p:sp>
      <p:sp>
        <p:nvSpPr>
          <p:cNvPr id="11" name="TextBox 10"/>
          <p:cNvSpPr txBox="1"/>
          <p:nvPr/>
        </p:nvSpPr>
        <p:spPr>
          <a:xfrm>
            <a:off x="0" y="4914000"/>
            <a:ext cx="8784000" cy="180000"/>
          </a:xfrm>
          <a:prstGeom prst="rect">
            <a:avLst/>
          </a:prstGeom>
          <a:noFill/>
        </p:spPr>
        <p:txBody>
          <a:bodyPr wrap="square">
            <a:spAutoFit/>
          </a:bodyPr>
          <a:lstStyle/>
          <a:p>
            <a:pPr algn="r"/>
            <a:r>
              <a:rPr sz="750" b="0" i="0">
                <a:solidFill>
                  <a:srgbClr val="555555"/>
                </a:solidFill>
              </a:rPr>
              <a:t>09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Executive Summary</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S&amp;P 500  ·  8 sociétés analysées</a:t>
            </a:r>
          </a:p>
        </p:txBody>
      </p:sp>
      <p:sp>
        <p:nvSpPr>
          <p:cNvPr id="15" name="Rectangle 14"/>
          <p:cNvSpPr/>
          <p:nvPr/>
        </p:nvSpPr>
        <p:spPr>
          <a:xfrm>
            <a:off x="324000" y="864000"/>
            <a:ext cx="8496000" cy="3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64000"/>
            <a:ext cx="36000" cy="39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882000"/>
            <a:ext cx="1152000" cy="360000"/>
          </a:xfrm>
          <a:prstGeom prst="rect">
            <a:avLst/>
          </a:prstGeom>
          <a:noFill/>
        </p:spPr>
        <p:txBody>
          <a:bodyPr wrap="square">
            <a:spAutoFit/>
          </a:bodyPr>
          <a:lstStyle/>
          <a:p>
            <a:pPr algn="l"/>
            <a:r>
              <a:rPr sz="1100" b="1" i="0">
                <a:solidFill>
                  <a:srgbClr val="1A7A4A"/>
                </a:solidFill>
              </a:rPr>
              <a:t>● SURPONDÉRER</a:t>
            </a:r>
          </a:p>
        </p:txBody>
      </p:sp>
      <p:sp>
        <p:nvSpPr>
          <p:cNvPr id="18" name="TextBox 17"/>
          <p:cNvSpPr txBox="1"/>
          <p:nvPr/>
        </p:nvSpPr>
        <p:spPr>
          <a:xfrm>
            <a:off x="1655999" y="900000"/>
            <a:ext cx="7128000" cy="324000"/>
          </a:xfrm>
          <a:prstGeom prst="rect">
            <a:avLst/>
          </a:prstGeom>
          <a:noFill/>
        </p:spPr>
        <p:txBody>
          <a:bodyPr wrap="square">
            <a:spAutoFit/>
          </a:bodyPr>
          <a:lstStyle/>
          <a:p>
            <a:pPr algn="l"/>
            <a:r>
              <a:rPr sz="850" b="0" i="0">
                <a:solidFill>
                  <a:srgbClr val="1B3A6B"/>
                </a:solidFill>
              </a:rPr>
              <a:t>EV/EBITDA med. : 25.1x  ·  Croissance med. : +22.7 %  ·  Marge EBITDA med. : 46.8 %  ·  Score moyen : 77/100</a:t>
            </a:r>
          </a:p>
        </p:txBody>
      </p:sp>
      <p:sp>
        <p:nvSpPr>
          <p:cNvPr id="19" name="Rectangle 18"/>
          <p:cNvSpPr/>
          <p:nvPr/>
        </p:nvSpPr>
        <p:spPr>
          <a:xfrm>
            <a:off x="324000" y="1332000"/>
            <a:ext cx="410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4000" y="1350000"/>
            <a:ext cx="4104000" cy="216000"/>
          </a:xfrm>
          <a:prstGeom prst="rect">
            <a:avLst/>
          </a:prstGeom>
          <a:noFill/>
        </p:spPr>
        <p:txBody>
          <a:bodyPr wrap="square">
            <a:spAutoFit/>
          </a:bodyPr>
          <a:lstStyle/>
          <a:p>
            <a:pPr algn="ctr"/>
            <a:r>
              <a:rPr sz="850" b="1" i="0">
                <a:solidFill>
                  <a:srgbClr val="FFFFFF"/>
                </a:solidFill>
              </a:rPr>
              <a:t>CATALYSEURS SECTORIELS</a:t>
            </a:r>
          </a:p>
        </p:txBody>
      </p:sp>
      <p:sp>
        <p:nvSpPr>
          <p:cNvPr id="21" name="Rectangle 20"/>
          <p:cNvSpPr/>
          <p:nvPr/>
        </p:nvSpPr>
        <p:spPr>
          <a:xfrm>
            <a:off x="324000" y="1655999"/>
            <a:ext cx="36000" cy="72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0000" y="1655999"/>
            <a:ext cx="4068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8000" y="1673999"/>
            <a:ext cx="3851999" cy="198000"/>
          </a:xfrm>
          <a:prstGeom prst="rect">
            <a:avLst/>
          </a:prstGeom>
          <a:noFill/>
        </p:spPr>
        <p:txBody>
          <a:bodyPr wrap="square">
            <a:spAutoFit/>
          </a:bodyPr>
          <a:lstStyle/>
          <a:p>
            <a:pPr algn="l"/>
            <a:r>
              <a:rPr sz="850" b="1" i="0">
                <a:solidFill>
                  <a:srgbClr val="1B3A6B"/>
                </a:solidFill>
              </a:rPr>
              <a:t>Adoption de l'IA</a:t>
            </a:r>
          </a:p>
        </p:txBody>
      </p:sp>
      <p:sp>
        <p:nvSpPr>
          <p:cNvPr id="24" name="TextBox 23"/>
          <p:cNvSpPr txBox="1"/>
          <p:nvPr/>
        </p:nvSpPr>
        <p:spPr>
          <a:xfrm>
            <a:off x="468000" y="1853999"/>
            <a:ext cx="3851999" cy="450000"/>
          </a:xfrm>
          <a:prstGeom prst="rect">
            <a:avLst/>
          </a:prstGeom>
          <a:noFill/>
        </p:spPr>
        <p:txBody>
          <a:bodyPr wrap="square">
            <a:spAutoFit/>
          </a:bodyPr>
          <a:lstStyle/>
          <a:p>
            <a:pPr algn="l"/>
            <a:r>
              <a:rPr sz="750" b="0" i="0">
                <a:solidFill>
                  <a:srgbClr val="555555"/>
                </a:solidFill>
              </a:rPr>
              <a:t>L'IA générative et les modèles de langage transforment les workflows des entreprises, créant une demande structurelle pour les semi-conducteurs et les solutions cloud.</a:t>
            </a:r>
          </a:p>
        </p:txBody>
      </p:sp>
      <p:sp>
        <p:nvSpPr>
          <p:cNvPr id="25" name="Rectangle 24"/>
          <p:cNvSpPr/>
          <p:nvPr/>
        </p:nvSpPr>
        <p:spPr>
          <a:xfrm>
            <a:off x="324000" y="2484000"/>
            <a:ext cx="36000" cy="72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0000" y="2484000"/>
            <a:ext cx="4068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8000" y="2501999"/>
            <a:ext cx="3851999" cy="198000"/>
          </a:xfrm>
          <a:prstGeom prst="rect">
            <a:avLst/>
          </a:prstGeom>
          <a:noFill/>
        </p:spPr>
        <p:txBody>
          <a:bodyPr wrap="square">
            <a:spAutoFit/>
          </a:bodyPr>
          <a:lstStyle/>
          <a:p>
            <a:pPr algn="l"/>
            <a:r>
              <a:rPr sz="850" b="1" i="0">
                <a:solidFill>
                  <a:srgbClr val="1B3A6B"/>
                </a:solidFill>
              </a:rPr>
              <a:t>Transition vers le cloud</a:t>
            </a:r>
          </a:p>
        </p:txBody>
      </p:sp>
      <p:sp>
        <p:nvSpPr>
          <p:cNvPr id="28" name="TextBox 27"/>
          <p:cNvSpPr txBox="1"/>
          <p:nvPr/>
        </p:nvSpPr>
        <p:spPr>
          <a:xfrm>
            <a:off x="468000" y="2681999"/>
            <a:ext cx="3851999" cy="450000"/>
          </a:xfrm>
          <a:prstGeom prst="rect">
            <a:avLst/>
          </a:prstGeom>
          <a:noFill/>
        </p:spPr>
        <p:txBody>
          <a:bodyPr wrap="square">
            <a:spAutoFit/>
          </a:bodyPr>
          <a:lstStyle/>
          <a:p>
            <a:pPr algn="l"/>
            <a:r>
              <a:rPr sz="750" b="0" i="0">
                <a:solidFill>
                  <a:srgbClr val="555555"/>
                </a:solidFill>
              </a:rPr>
              <a:t>Les entreprises accélèrent leur migration vers des infrastructures cloud hybrides, boostant les revenus récurrents des fournisseurs comme GOOGL et AAPL.</a:t>
            </a:r>
          </a:p>
        </p:txBody>
      </p:sp>
      <p:sp>
        <p:nvSpPr>
          <p:cNvPr id="29" name="Rectangle 28"/>
          <p:cNvSpPr/>
          <p:nvPr/>
        </p:nvSpPr>
        <p:spPr>
          <a:xfrm>
            <a:off x="324000" y="3311999"/>
            <a:ext cx="36000" cy="72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60000" y="3311999"/>
            <a:ext cx="4068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8000" y="3330000"/>
            <a:ext cx="3851999" cy="198000"/>
          </a:xfrm>
          <a:prstGeom prst="rect">
            <a:avLst/>
          </a:prstGeom>
          <a:noFill/>
        </p:spPr>
        <p:txBody>
          <a:bodyPr wrap="square">
            <a:spAutoFit/>
          </a:bodyPr>
          <a:lstStyle/>
          <a:p>
            <a:pPr algn="l"/>
            <a:r>
              <a:rPr sz="850" b="1" i="0">
                <a:solidFill>
                  <a:srgbClr val="1B3A6B"/>
                </a:solidFill>
              </a:rPr>
              <a:t>Innovation dans les GPU</a:t>
            </a:r>
          </a:p>
        </p:txBody>
      </p:sp>
      <p:sp>
        <p:nvSpPr>
          <p:cNvPr id="32" name="TextBox 31"/>
          <p:cNvSpPr txBox="1"/>
          <p:nvPr/>
        </p:nvSpPr>
        <p:spPr>
          <a:xfrm>
            <a:off x="468000" y="3510000"/>
            <a:ext cx="3851999" cy="450000"/>
          </a:xfrm>
          <a:prstGeom prst="rect">
            <a:avLst/>
          </a:prstGeom>
          <a:noFill/>
        </p:spPr>
        <p:txBody>
          <a:bodyPr wrap="square">
            <a:spAutoFit/>
          </a:bodyPr>
          <a:lstStyle/>
          <a:p>
            <a:pPr algn="l"/>
            <a:r>
              <a:rPr sz="750" b="0" i="0">
                <a:solidFill>
                  <a:srgbClr val="555555"/>
                </a:solidFill>
              </a:rPr>
              <a:t>NVDA domine le marché des GPU pour l'IA et le calcul haute performance, avec une part de marché en croissance malgré des pressions concurrentielles.</a:t>
            </a:r>
          </a:p>
        </p:txBody>
      </p:sp>
      <p:sp>
        <p:nvSpPr>
          <p:cNvPr id="33" name="Rectangle 32"/>
          <p:cNvSpPr/>
          <p:nvPr/>
        </p:nvSpPr>
        <p:spPr>
          <a:xfrm>
            <a:off x="4716000" y="1332000"/>
            <a:ext cx="4104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716000" y="1350000"/>
            <a:ext cx="4104000" cy="216000"/>
          </a:xfrm>
          <a:prstGeom prst="rect">
            <a:avLst/>
          </a:prstGeom>
          <a:noFill/>
        </p:spPr>
        <p:txBody>
          <a:bodyPr wrap="square">
            <a:spAutoFit/>
          </a:bodyPr>
          <a:lstStyle/>
          <a:p>
            <a:pPr algn="ctr"/>
            <a:r>
              <a:rPr sz="850" b="1" i="0">
                <a:solidFill>
                  <a:srgbClr val="FFFFFF"/>
                </a:solidFill>
              </a:rPr>
              <a:t>RISQUES PRINCIPAUX</a:t>
            </a:r>
          </a:p>
        </p:txBody>
      </p:sp>
      <p:sp>
        <p:nvSpPr>
          <p:cNvPr id="35" name="Rectangle 34"/>
          <p:cNvSpPr/>
          <p:nvPr/>
        </p:nvSpPr>
        <p:spPr>
          <a:xfrm>
            <a:off x="4716000" y="1655999"/>
            <a:ext cx="36000" cy="72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752000" y="1655999"/>
            <a:ext cx="4068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860000" y="1673999"/>
            <a:ext cx="3851999" cy="198000"/>
          </a:xfrm>
          <a:prstGeom prst="rect">
            <a:avLst/>
          </a:prstGeom>
          <a:noFill/>
        </p:spPr>
        <p:txBody>
          <a:bodyPr wrap="square">
            <a:spAutoFit/>
          </a:bodyPr>
          <a:lstStyle/>
          <a:p>
            <a:pPr algn="l"/>
            <a:r>
              <a:rPr sz="850" b="1" i="0">
                <a:solidFill>
                  <a:srgbClr val="A82020"/>
                </a:solidFill>
              </a:rPr>
              <a:t>Régulation</a:t>
            </a:r>
          </a:p>
        </p:txBody>
      </p:sp>
      <p:sp>
        <p:nvSpPr>
          <p:cNvPr id="38" name="TextBox 37"/>
          <p:cNvSpPr txBox="1"/>
          <p:nvPr/>
        </p:nvSpPr>
        <p:spPr>
          <a:xfrm>
            <a:off x="4860000" y="1853999"/>
            <a:ext cx="3851999" cy="450000"/>
          </a:xfrm>
          <a:prstGeom prst="rect">
            <a:avLst/>
          </a:prstGeom>
          <a:noFill/>
        </p:spPr>
        <p:txBody>
          <a:bodyPr wrap="square">
            <a:spAutoFit/>
          </a:bodyPr>
          <a:lstStyle/>
          <a:p>
            <a:pPr algn="l"/>
            <a:r>
              <a:rPr sz="750" b="0" i="0">
                <a:solidFill>
                  <a:srgbClr val="555555"/>
                </a:solidFill>
              </a:rPr>
              <a:t>Les enquêtes antitrust aux États-Unis et en Europe pourraient entraîner des amendes ou des restrictions opérationnelles pour les géants technologiques.</a:t>
            </a:r>
          </a:p>
        </p:txBody>
      </p:sp>
      <p:sp>
        <p:nvSpPr>
          <p:cNvPr id="39" name="Rectangle 38"/>
          <p:cNvSpPr/>
          <p:nvPr/>
        </p:nvSpPr>
        <p:spPr>
          <a:xfrm>
            <a:off x="4716000" y="2484000"/>
            <a:ext cx="36000" cy="72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752000" y="2484000"/>
            <a:ext cx="4068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860000" y="2501999"/>
            <a:ext cx="3851999" cy="198000"/>
          </a:xfrm>
          <a:prstGeom prst="rect">
            <a:avLst/>
          </a:prstGeom>
          <a:noFill/>
        </p:spPr>
        <p:txBody>
          <a:bodyPr wrap="square">
            <a:spAutoFit/>
          </a:bodyPr>
          <a:lstStyle/>
          <a:p>
            <a:pPr algn="l"/>
            <a:r>
              <a:rPr sz="850" b="1" i="0">
                <a:solidFill>
                  <a:srgbClr val="A82020"/>
                </a:solidFill>
              </a:rPr>
              <a:t>Sensibilité aux taux</a:t>
            </a:r>
          </a:p>
        </p:txBody>
      </p:sp>
      <p:sp>
        <p:nvSpPr>
          <p:cNvPr id="42" name="TextBox 41"/>
          <p:cNvSpPr txBox="1"/>
          <p:nvPr/>
        </p:nvSpPr>
        <p:spPr>
          <a:xfrm>
            <a:off x="4860000" y="2681999"/>
            <a:ext cx="3851999" cy="450000"/>
          </a:xfrm>
          <a:prstGeom prst="rect">
            <a:avLst/>
          </a:prstGeom>
          <a:noFill/>
        </p:spPr>
        <p:txBody>
          <a:bodyPr wrap="square">
            <a:spAutoFit/>
          </a:bodyPr>
          <a:lstStyle/>
          <a:p>
            <a:pPr algn="l"/>
            <a:r>
              <a:rPr sz="750" b="0" i="0">
                <a:solidFill>
                  <a:srgbClr val="555555"/>
                </a:solidFill>
              </a:rPr>
              <a:t>La hausse des taux d'intérêt augmente le coût du capital, pesant sur les valorisations des entreprises à forte croissance mais peu rentables.</a:t>
            </a:r>
          </a:p>
        </p:txBody>
      </p:sp>
      <p:sp>
        <p:nvSpPr>
          <p:cNvPr id="43" name="Rectangle 42"/>
          <p:cNvSpPr/>
          <p:nvPr/>
        </p:nvSpPr>
        <p:spPr>
          <a:xfrm>
            <a:off x="4716000" y="3311999"/>
            <a:ext cx="36000" cy="72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752000" y="3311999"/>
            <a:ext cx="4068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860000" y="3330000"/>
            <a:ext cx="3851999" cy="198000"/>
          </a:xfrm>
          <a:prstGeom prst="rect">
            <a:avLst/>
          </a:prstGeom>
          <a:noFill/>
        </p:spPr>
        <p:txBody>
          <a:bodyPr wrap="square">
            <a:spAutoFit/>
          </a:bodyPr>
          <a:lstStyle/>
          <a:p>
            <a:pPr algn="l"/>
            <a:r>
              <a:rPr sz="850" b="1" i="0">
                <a:solidFill>
                  <a:srgbClr val="A82020"/>
                </a:solidFill>
              </a:rPr>
              <a:t>Concurrence en IA</a:t>
            </a:r>
          </a:p>
        </p:txBody>
      </p:sp>
      <p:sp>
        <p:nvSpPr>
          <p:cNvPr id="46" name="TextBox 45"/>
          <p:cNvSpPr txBox="1"/>
          <p:nvPr/>
        </p:nvSpPr>
        <p:spPr>
          <a:xfrm>
            <a:off x="4860000" y="3510000"/>
            <a:ext cx="3851999" cy="450000"/>
          </a:xfrm>
          <a:prstGeom prst="rect">
            <a:avLst/>
          </a:prstGeom>
          <a:noFill/>
        </p:spPr>
        <p:txBody>
          <a:bodyPr wrap="square">
            <a:spAutoFit/>
          </a:bodyPr>
          <a:lstStyle/>
          <a:p>
            <a:pPr algn="l"/>
            <a:r>
              <a:rPr sz="750" b="0" i="0">
                <a:solidFill>
                  <a:srgbClr val="555555"/>
                </a:solidFill>
              </a:rPr>
              <a:t>Les acteurs chinois (comme Huawei ou Baidu) gagnent du terrain dans l'IA, menaçant la domination des entreprises américaines sur ce segment.</a:t>
            </a:r>
          </a:p>
        </p:txBody>
      </p:sp>
      <p:sp>
        <p:nvSpPr>
          <p:cNvPr id="47" name="Rectangle 46"/>
          <p:cNvSpPr/>
          <p:nvPr/>
        </p:nvSpPr>
        <p:spPr>
          <a:xfrm>
            <a:off x="324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324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32000" y="4338000"/>
            <a:ext cx="1872000" cy="324000"/>
          </a:xfrm>
          <a:prstGeom prst="rect">
            <a:avLst/>
          </a:prstGeom>
          <a:noFill/>
        </p:spPr>
        <p:txBody>
          <a:bodyPr wrap="square">
            <a:spAutoFit/>
          </a:bodyPr>
          <a:lstStyle/>
          <a:p>
            <a:pPr algn="l"/>
            <a:r>
              <a:rPr sz="2000" b="1" i="0">
                <a:solidFill>
                  <a:srgbClr val="1B3A6B"/>
                </a:solidFill>
              </a:rPr>
              <a:t>25.1x</a:t>
            </a:r>
          </a:p>
        </p:txBody>
      </p:sp>
      <p:sp>
        <p:nvSpPr>
          <p:cNvPr id="50" name="TextBox 49"/>
          <p:cNvSpPr txBox="1"/>
          <p:nvPr/>
        </p:nvSpPr>
        <p:spPr>
          <a:xfrm>
            <a:off x="432000" y="4644000"/>
            <a:ext cx="1872000" cy="144000"/>
          </a:xfrm>
          <a:prstGeom prst="rect">
            <a:avLst/>
          </a:prstGeom>
          <a:noFill/>
        </p:spPr>
        <p:txBody>
          <a:bodyPr wrap="square">
            <a:spAutoFit/>
          </a:bodyPr>
          <a:lstStyle/>
          <a:p>
            <a:pPr algn="l"/>
            <a:r>
              <a:rPr sz="750" b="0" i="0">
                <a:solidFill>
                  <a:srgbClr val="555555"/>
                </a:solidFill>
              </a:rPr>
              <a:t>EV/EBITDA med.</a:t>
            </a:r>
          </a:p>
        </p:txBody>
      </p:sp>
      <p:sp>
        <p:nvSpPr>
          <p:cNvPr id="51" name="TextBox 50"/>
          <p:cNvSpPr txBox="1"/>
          <p:nvPr/>
        </p:nvSpPr>
        <p:spPr>
          <a:xfrm>
            <a:off x="432000" y="4788000"/>
            <a:ext cx="1872000" cy="125999"/>
          </a:xfrm>
          <a:prstGeom prst="rect">
            <a:avLst/>
          </a:prstGeom>
          <a:noFill/>
        </p:spPr>
        <p:txBody>
          <a:bodyPr wrap="square">
            <a:spAutoFit/>
          </a:bodyPr>
          <a:lstStyle/>
          <a:p>
            <a:pPr algn="l"/>
            <a:r>
              <a:rPr sz="700" b="0" i="0">
                <a:solidFill>
                  <a:srgbClr val="AAAAAA"/>
                </a:solidFill>
              </a:rPr>
              <a:t>vs marche EU</a:t>
            </a:r>
          </a:p>
        </p:txBody>
      </p:sp>
      <p:sp>
        <p:nvSpPr>
          <p:cNvPr id="52" name="Rectangle 51"/>
          <p:cNvSpPr/>
          <p:nvPr/>
        </p:nvSpPr>
        <p:spPr>
          <a:xfrm>
            <a:off x="2448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2448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2556000" y="4338000"/>
            <a:ext cx="1872000" cy="324000"/>
          </a:xfrm>
          <a:prstGeom prst="rect">
            <a:avLst/>
          </a:prstGeom>
          <a:noFill/>
        </p:spPr>
        <p:txBody>
          <a:bodyPr wrap="square">
            <a:spAutoFit/>
          </a:bodyPr>
          <a:lstStyle/>
          <a:p>
            <a:pPr algn="l"/>
            <a:r>
              <a:rPr sz="2000" b="1" i="0">
                <a:solidFill>
                  <a:srgbClr val="1B3A6B"/>
                </a:solidFill>
              </a:rPr>
              <a:t>+22.7 %</a:t>
            </a:r>
          </a:p>
        </p:txBody>
      </p:sp>
      <p:sp>
        <p:nvSpPr>
          <p:cNvPr id="55" name="TextBox 54"/>
          <p:cNvSpPr txBox="1"/>
          <p:nvPr/>
        </p:nvSpPr>
        <p:spPr>
          <a:xfrm>
            <a:off x="2556000" y="4644000"/>
            <a:ext cx="1872000" cy="144000"/>
          </a:xfrm>
          <a:prstGeom prst="rect">
            <a:avLst/>
          </a:prstGeom>
          <a:noFill/>
        </p:spPr>
        <p:txBody>
          <a:bodyPr wrap="square">
            <a:spAutoFit/>
          </a:bodyPr>
          <a:lstStyle/>
          <a:p>
            <a:pPr algn="l"/>
            <a:r>
              <a:rPr sz="750" b="0" i="0">
                <a:solidFill>
                  <a:srgbClr val="555555"/>
                </a:solidFill>
              </a:rPr>
              <a:t>Croissance Rev. med.</a:t>
            </a:r>
          </a:p>
        </p:txBody>
      </p:sp>
      <p:sp>
        <p:nvSpPr>
          <p:cNvPr id="56" name="TextBox 55"/>
          <p:cNvSpPr txBox="1"/>
          <p:nvPr/>
        </p:nvSpPr>
        <p:spPr>
          <a:xfrm>
            <a:off x="2556000" y="4788000"/>
            <a:ext cx="1872000" cy="125999"/>
          </a:xfrm>
          <a:prstGeom prst="rect">
            <a:avLst/>
          </a:prstGeom>
          <a:noFill/>
        </p:spPr>
        <p:txBody>
          <a:bodyPr wrap="square">
            <a:spAutoFit/>
          </a:bodyPr>
          <a:lstStyle/>
          <a:p>
            <a:pPr algn="l"/>
            <a:r>
              <a:rPr sz="700" b="0" i="0">
                <a:solidFill>
                  <a:srgbClr val="AAAAAA"/>
                </a:solidFill>
              </a:rPr>
              <a:t>YoY sectoriel</a:t>
            </a:r>
          </a:p>
        </p:txBody>
      </p:sp>
      <p:sp>
        <p:nvSpPr>
          <p:cNvPr id="57" name="Rectangle 56"/>
          <p:cNvSpPr/>
          <p:nvPr/>
        </p:nvSpPr>
        <p:spPr>
          <a:xfrm>
            <a:off x="4572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572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680000" y="4338000"/>
            <a:ext cx="1872000" cy="324000"/>
          </a:xfrm>
          <a:prstGeom prst="rect">
            <a:avLst/>
          </a:prstGeom>
          <a:noFill/>
        </p:spPr>
        <p:txBody>
          <a:bodyPr wrap="square">
            <a:spAutoFit/>
          </a:bodyPr>
          <a:lstStyle/>
          <a:p>
            <a:pPr algn="l"/>
            <a:r>
              <a:rPr sz="2000" b="1" i="0">
                <a:solidFill>
                  <a:srgbClr val="1B3A6B"/>
                </a:solidFill>
              </a:rPr>
              <a:t>46.8 %</a:t>
            </a:r>
          </a:p>
        </p:txBody>
      </p:sp>
      <p:sp>
        <p:nvSpPr>
          <p:cNvPr id="60" name="TextBox 59"/>
          <p:cNvSpPr txBox="1"/>
          <p:nvPr/>
        </p:nvSpPr>
        <p:spPr>
          <a:xfrm>
            <a:off x="4680000" y="4644000"/>
            <a:ext cx="1872000" cy="144000"/>
          </a:xfrm>
          <a:prstGeom prst="rect">
            <a:avLst/>
          </a:prstGeom>
          <a:noFill/>
        </p:spPr>
        <p:txBody>
          <a:bodyPr wrap="square">
            <a:spAutoFit/>
          </a:bodyPr>
          <a:lstStyle/>
          <a:p>
            <a:pPr algn="l"/>
            <a:r>
              <a:rPr sz="750" b="0" i="0">
                <a:solidFill>
                  <a:srgbClr val="555555"/>
                </a:solidFill>
              </a:rPr>
              <a:t>Marge EBITDA med.</a:t>
            </a:r>
          </a:p>
        </p:txBody>
      </p:sp>
      <p:sp>
        <p:nvSpPr>
          <p:cNvPr id="61" name="TextBox 60"/>
          <p:cNvSpPr txBox="1"/>
          <p:nvPr/>
        </p:nvSpPr>
        <p:spPr>
          <a:xfrm>
            <a:off x="4680000" y="4788000"/>
            <a:ext cx="1872000" cy="125999"/>
          </a:xfrm>
          <a:prstGeom prst="rect">
            <a:avLst/>
          </a:prstGeom>
          <a:noFill/>
        </p:spPr>
        <p:txBody>
          <a:bodyPr wrap="square">
            <a:spAutoFit/>
          </a:bodyPr>
          <a:lstStyle/>
          <a:p>
            <a:pPr algn="l"/>
            <a:r>
              <a:rPr sz="700" b="0" i="0">
                <a:solidFill>
                  <a:srgbClr val="AAAAAA"/>
                </a:solidFill>
              </a:rPr>
              <a:t>LTM sectorielle</a:t>
            </a:r>
          </a:p>
        </p:txBody>
      </p:sp>
      <p:sp>
        <p:nvSpPr>
          <p:cNvPr id="62" name="Rectangle 61"/>
          <p:cNvSpPr/>
          <p:nvPr/>
        </p:nvSpPr>
        <p:spPr>
          <a:xfrm>
            <a:off x="6696000" y="4320000"/>
            <a:ext cx="2052000" cy="61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696000" y="4320000"/>
            <a:ext cx="36000" cy="61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804000" y="4338000"/>
            <a:ext cx="1872000" cy="324000"/>
          </a:xfrm>
          <a:prstGeom prst="rect">
            <a:avLst/>
          </a:prstGeom>
          <a:noFill/>
        </p:spPr>
        <p:txBody>
          <a:bodyPr wrap="square">
            <a:spAutoFit/>
          </a:bodyPr>
          <a:lstStyle/>
          <a:p>
            <a:pPr algn="l"/>
            <a:r>
              <a:rPr sz="2000" b="1" i="0">
                <a:solidFill>
                  <a:srgbClr val="1B3A6B"/>
                </a:solidFill>
              </a:rPr>
              <a:t>+67.3 %</a:t>
            </a:r>
          </a:p>
        </p:txBody>
      </p:sp>
      <p:sp>
        <p:nvSpPr>
          <p:cNvPr id="65" name="TextBox 64"/>
          <p:cNvSpPr txBox="1"/>
          <p:nvPr/>
        </p:nvSpPr>
        <p:spPr>
          <a:xfrm>
            <a:off x="6804000" y="4644000"/>
            <a:ext cx="1872000" cy="144000"/>
          </a:xfrm>
          <a:prstGeom prst="rect">
            <a:avLst/>
          </a:prstGeom>
          <a:noFill/>
        </p:spPr>
        <p:txBody>
          <a:bodyPr wrap="square">
            <a:spAutoFit/>
          </a:bodyPr>
          <a:lstStyle/>
          <a:p>
            <a:pPr algn="l"/>
            <a:r>
              <a:rPr sz="750" b="0" i="0">
                <a:solidFill>
                  <a:srgbClr val="555555"/>
                </a:solidFill>
              </a:rPr>
              <a:t>Momentum 52W med.</a:t>
            </a:r>
          </a:p>
        </p:txBody>
      </p:sp>
      <p:sp>
        <p:nvSpPr>
          <p:cNvPr id="66" name="TextBox 65"/>
          <p:cNvSpPr txBox="1"/>
          <p:nvPr/>
        </p:nvSpPr>
        <p:spPr>
          <a:xfrm>
            <a:off x="6804000" y="4788000"/>
            <a:ext cx="1872000" cy="125999"/>
          </a:xfrm>
          <a:prstGeom prst="rect">
            <a:avLst/>
          </a:prstGeom>
          <a:noFill/>
        </p:spPr>
        <p:txBody>
          <a:bodyPr wrap="square">
            <a:spAutoFit/>
          </a:bodyPr>
          <a:lstStyle/>
          <a:p>
            <a:pPr algn="l"/>
            <a:r>
              <a:rPr sz="700" b="0" i="0">
                <a:solidFill>
                  <a:srgbClr val="AAAAAA"/>
                </a:solidFill>
              </a:rPr>
              <a:t>Performance relative</a:t>
            </a:r>
          </a:p>
        </p:txBody>
      </p:sp>
      <p:sp>
        <p:nvSpPr>
          <p:cNvPr id="67" name="Rectangle 66"/>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Sommaire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S&amp;P 500  ·  Structure de l'analyse — 20 slides</a:t>
            </a:r>
          </a:p>
        </p:txBody>
      </p:sp>
      <p:sp>
        <p:nvSpPr>
          <p:cNvPr id="15" name="Rectangle 14"/>
          <p:cNvSpPr/>
          <p:nvPr/>
        </p:nvSpPr>
        <p:spPr>
          <a:xfrm>
            <a:off x="324000" y="936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36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4000" y="1044000"/>
            <a:ext cx="684000" cy="576000"/>
          </a:xfrm>
          <a:prstGeom prst="rect">
            <a:avLst/>
          </a:prstGeom>
          <a:noFill/>
        </p:spPr>
        <p:txBody>
          <a:bodyPr wrap="square">
            <a:spAutoFit/>
          </a:bodyPr>
          <a:lstStyle/>
          <a:p>
            <a:pPr algn="ctr"/>
            <a:r>
              <a:rPr sz="2000" b="1" i="0">
                <a:solidFill>
                  <a:srgbClr val="FFFFFF"/>
                </a:solidFill>
              </a:rPr>
              <a:t>01</a:t>
            </a:r>
          </a:p>
        </p:txBody>
      </p:sp>
      <p:sp>
        <p:nvSpPr>
          <p:cNvPr id="18" name="TextBox 17"/>
          <p:cNvSpPr txBox="1"/>
          <p:nvPr/>
        </p:nvSpPr>
        <p:spPr>
          <a:xfrm>
            <a:off x="1116000" y="1008000"/>
            <a:ext cx="6588000" cy="288000"/>
          </a:xfrm>
          <a:prstGeom prst="rect">
            <a:avLst/>
          </a:prstGeom>
          <a:noFill/>
        </p:spPr>
        <p:txBody>
          <a:bodyPr wrap="square">
            <a:spAutoFit/>
          </a:bodyPr>
          <a:lstStyle/>
          <a:p>
            <a:pPr algn="l"/>
            <a:r>
              <a:rPr sz="1100" b="1" i="0">
                <a:solidFill>
                  <a:srgbClr val="1B3A6B"/>
                </a:solidFill>
              </a:rPr>
              <a:t>Présentation du Secteur</a:t>
            </a:r>
          </a:p>
        </p:txBody>
      </p:sp>
      <p:sp>
        <p:nvSpPr>
          <p:cNvPr id="19" name="TextBox 18"/>
          <p:cNvSpPr txBox="1"/>
          <p:nvPr/>
        </p:nvSpPr>
        <p:spPr>
          <a:xfrm>
            <a:off x="1116000" y="1332000"/>
            <a:ext cx="6588000" cy="288000"/>
          </a:xfrm>
          <a:prstGeom prst="rect">
            <a:avLst/>
          </a:prstGeom>
          <a:noFill/>
        </p:spPr>
        <p:txBody>
          <a:bodyPr wrap="square">
            <a:spAutoFit/>
          </a:bodyPr>
          <a:lstStyle/>
          <a:p>
            <a:pPr algn="l"/>
            <a:r>
              <a:rPr sz="800" b="0" i="0">
                <a:solidFill>
                  <a:srgbClr val="555555"/>
                </a:solidFill>
              </a:rPr>
              <a:t>Caractéristiques structurelles · Ratios comparatifs · Positionnement cycle</a:t>
            </a:r>
          </a:p>
        </p:txBody>
      </p:sp>
      <p:sp>
        <p:nvSpPr>
          <p:cNvPr id="20" name="TextBox 19"/>
          <p:cNvSpPr txBox="1"/>
          <p:nvPr/>
        </p:nvSpPr>
        <p:spPr>
          <a:xfrm>
            <a:off x="8352000" y="1116000"/>
            <a:ext cx="468000" cy="432000"/>
          </a:xfrm>
          <a:prstGeom prst="rect">
            <a:avLst/>
          </a:prstGeom>
          <a:noFill/>
        </p:spPr>
        <p:txBody>
          <a:bodyPr wrap="square">
            <a:spAutoFit/>
          </a:bodyPr>
          <a:lstStyle/>
          <a:p>
            <a:pPr algn="r"/>
            <a:r>
              <a:rPr sz="800" b="0" i="0">
                <a:solidFill>
                  <a:srgbClr val="AAAAAA"/>
                </a:solidFill>
              </a:rPr>
              <a:t>p. 5–7</a:t>
            </a:r>
          </a:p>
        </p:txBody>
      </p:sp>
      <p:sp>
        <p:nvSpPr>
          <p:cNvPr id="21" name="Rectangle 20"/>
          <p:cNvSpPr/>
          <p:nvPr/>
        </p:nvSpPr>
        <p:spPr>
          <a:xfrm>
            <a:off x="324000" y="1872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1872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1980000"/>
            <a:ext cx="684000" cy="576000"/>
          </a:xfrm>
          <a:prstGeom prst="rect">
            <a:avLst/>
          </a:prstGeom>
          <a:noFill/>
        </p:spPr>
        <p:txBody>
          <a:bodyPr wrap="square">
            <a:spAutoFit/>
          </a:bodyPr>
          <a:lstStyle/>
          <a:p>
            <a:pPr algn="ctr"/>
            <a:r>
              <a:rPr sz="2000" b="1" i="0">
                <a:solidFill>
                  <a:srgbClr val="FFFFFF"/>
                </a:solidFill>
              </a:rPr>
              <a:t>02</a:t>
            </a:r>
          </a:p>
        </p:txBody>
      </p:sp>
      <p:sp>
        <p:nvSpPr>
          <p:cNvPr id="24" name="TextBox 23"/>
          <p:cNvSpPr txBox="1"/>
          <p:nvPr/>
        </p:nvSpPr>
        <p:spPr>
          <a:xfrm>
            <a:off x="1116000" y="1944000"/>
            <a:ext cx="6588000" cy="288000"/>
          </a:xfrm>
          <a:prstGeom prst="rect">
            <a:avLst/>
          </a:prstGeom>
          <a:noFill/>
        </p:spPr>
        <p:txBody>
          <a:bodyPr wrap="square">
            <a:spAutoFit/>
          </a:bodyPr>
          <a:lstStyle/>
          <a:p>
            <a:pPr algn="l"/>
            <a:r>
              <a:rPr sz="1100" b="1" i="0">
                <a:solidFill>
                  <a:srgbClr val="1B3A6B"/>
                </a:solidFill>
              </a:rPr>
              <a:t>Cartographie des Sociétés</a:t>
            </a:r>
          </a:p>
        </p:txBody>
      </p:sp>
      <p:sp>
        <p:nvSpPr>
          <p:cNvPr id="25" name="TextBox 24"/>
          <p:cNvSpPr txBox="1"/>
          <p:nvPr/>
        </p:nvSpPr>
        <p:spPr>
          <a:xfrm>
            <a:off x="1116000" y="2268000"/>
            <a:ext cx="6588000" cy="288000"/>
          </a:xfrm>
          <a:prstGeom prst="rect">
            <a:avLst/>
          </a:prstGeom>
          <a:noFill/>
        </p:spPr>
        <p:txBody>
          <a:bodyPr wrap="square">
            <a:spAutoFit/>
          </a:bodyPr>
          <a:lstStyle/>
          <a:p>
            <a:pPr algn="l"/>
            <a:r>
              <a:rPr sz="800" b="0" i="0">
                <a:solidFill>
                  <a:srgbClr val="555555"/>
                </a:solidFill>
              </a:rPr>
              <a:t>8 sociétés · Scatter valorisation · Scores FinSight détaillés</a:t>
            </a:r>
          </a:p>
        </p:txBody>
      </p:sp>
      <p:sp>
        <p:nvSpPr>
          <p:cNvPr id="26" name="TextBox 25"/>
          <p:cNvSpPr txBox="1"/>
          <p:nvPr/>
        </p:nvSpPr>
        <p:spPr>
          <a:xfrm>
            <a:off x="8352000" y="2052000"/>
            <a:ext cx="468000" cy="432000"/>
          </a:xfrm>
          <a:prstGeom prst="rect">
            <a:avLst/>
          </a:prstGeom>
          <a:noFill/>
        </p:spPr>
        <p:txBody>
          <a:bodyPr wrap="square">
            <a:spAutoFit/>
          </a:bodyPr>
          <a:lstStyle/>
          <a:p>
            <a:pPr algn="r"/>
            <a:r>
              <a:rPr sz="800" b="0" i="0">
                <a:solidFill>
                  <a:srgbClr val="AAAAAA"/>
                </a:solidFill>
              </a:rPr>
              <a:t>p. 9–11</a:t>
            </a:r>
          </a:p>
        </p:txBody>
      </p:sp>
      <p:sp>
        <p:nvSpPr>
          <p:cNvPr id="27" name="Rectangle 26"/>
          <p:cNvSpPr/>
          <p:nvPr/>
        </p:nvSpPr>
        <p:spPr>
          <a:xfrm>
            <a:off x="324000" y="2808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24000" y="2808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2916000"/>
            <a:ext cx="684000" cy="576000"/>
          </a:xfrm>
          <a:prstGeom prst="rect">
            <a:avLst/>
          </a:prstGeom>
          <a:noFill/>
        </p:spPr>
        <p:txBody>
          <a:bodyPr wrap="square">
            <a:spAutoFit/>
          </a:bodyPr>
          <a:lstStyle/>
          <a:p>
            <a:pPr algn="ctr"/>
            <a:r>
              <a:rPr sz="2000" b="1" i="0">
                <a:solidFill>
                  <a:srgbClr val="FFFFFF"/>
                </a:solidFill>
              </a:rPr>
              <a:t>03</a:t>
            </a:r>
          </a:p>
        </p:txBody>
      </p:sp>
      <p:sp>
        <p:nvSpPr>
          <p:cNvPr id="30" name="TextBox 29"/>
          <p:cNvSpPr txBox="1"/>
          <p:nvPr/>
        </p:nvSpPr>
        <p:spPr>
          <a:xfrm>
            <a:off x="1116000" y="2880000"/>
            <a:ext cx="6588000" cy="288000"/>
          </a:xfrm>
          <a:prstGeom prst="rect">
            <a:avLst/>
          </a:prstGeom>
          <a:noFill/>
        </p:spPr>
        <p:txBody>
          <a:bodyPr wrap="square">
            <a:spAutoFit/>
          </a:bodyPr>
          <a:lstStyle/>
          <a:p>
            <a:pPr algn="l"/>
            <a:r>
              <a:rPr sz="1100" b="1" i="0">
                <a:solidFill>
                  <a:srgbClr val="1B3A6B"/>
                </a:solidFill>
              </a:rPr>
              <a:t>Top 3 &amp; Valorisations</a:t>
            </a:r>
          </a:p>
        </p:txBody>
      </p:sp>
      <p:sp>
        <p:nvSpPr>
          <p:cNvPr id="31" name="TextBox 30"/>
          <p:cNvSpPr txBox="1"/>
          <p:nvPr/>
        </p:nvSpPr>
        <p:spPr>
          <a:xfrm>
            <a:off x="1116000" y="3204000"/>
            <a:ext cx="6588000" cy="288000"/>
          </a:xfrm>
          <a:prstGeom prst="rect">
            <a:avLst/>
          </a:prstGeom>
          <a:noFill/>
        </p:spPr>
        <p:txBody>
          <a:bodyPr wrap="square">
            <a:spAutoFit/>
          </a:bodyPr>
          <a:lstStyle/>
          <a:p>
            <a:pPr algn="l"/>
            <a:r>
              <a:rPr sz="800" b="0" i="0">
                <a:solidFill>
                  <a:srgbClr val="555555"/>
                </a:solidFill>
              </a:rPr>
              <a:t>Synthese Top 3 · Distribution EV/EBITDA · Zone d'entree optimale</a:t>
            </a:r>
          </a:p>
        </p:txBody>
      </p:sp>
      <p:sp>
        <p:nvSpPr>
          <p:cNvPr id="32" name="TextBox 31"/>
          <p:cNvSpPr txBox="1"/>
          <p:nvPr/>
        </p:nvSpPr>
        <p:spPr>
          <a:xfrm>
            <a:off x="8352000" y="2988000"/>
            <a:ext cx="468000" cy="432000"/>
          </a:xfrm>
          <a:prstGeom prst="rect">
            <a:avLst/>
          </a:prstGeom>
          <a:noFill/>
        </p:spPr>
        <p:txBody>
          <a:bodyPr wrap="square">
            <a:spAutoFit/>
          </a:bodyPr>
          <a:lstStyle/>
          <a:p>
            <a:pPr algn="r"/>
            <a:r>
              <a:rPr sz="800" b="0" i="0">
                <a:solidFill>
                  <a:srgbClr val="AAAAAA"/>
                </a:solidFill>
              </a:rPr>
              <a:t>p. 13–15</a:t>
            </a:r>
          </a:p>
        </p:txBody>
      </p:sp>
      <p:sp>
        <p:nvSpPr>
          <p:cNvPr id="33" name="Rectangle 32"/>
          <p:cNvSpPr/>
          <p:nvPr/>
        </p:nvSpPr>
        <p:spPr>
          <a:xfrm>
            <a:off x="324000" y="3744000"/>
            <a:ext cx="8496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24000" y="3744000"/>
            <a:ext cx="684000" cy="79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4000" y="3852000"/>
            <a:ext cx="684000" cy="576000"/>
          </a:xfrm>
          <a:prstGeom prst="rect">
            <a:avLst/>
          </a:prstGeom>
          <a:noFill/>
        </p:spPr>
        <p:txBody>
          <a:bodyPr wrap="square">
            <a:spAutoFit/>
          </a:bodyPr>
          <a:lstStyle/>
          <a:p>
            <a:pPr algn="ctr"/>
            <a:r>
              <a:rPr sz="2000" b="1" i="0">
                <a:solidFill>
                  <a:srgbClr val="FFFFFF"/>
                </a:solidFill>
              </a:rPr>
              <a:t>04</a:t>
            </a:r>
          </a:p>
        </p:txBody>
      </p:sp>
      <p:sp>
        <p:nvSpPr>
          <p:cNvPr id="36" name="TextBox 35"/>
          <p:cNvSpPr txBox="1"/>
          <p:nvPr/>
        </p:nvSpPr>
        <p:spPr>
          <a:xfrm>
            <a:off x="1116000" y="3816000"/>
            <a:ext cx="6588000" cy="288000"/>
          </a:xfrm>
          <a:prstGeom prst="rect">
            <a:avLst/>
          </a:prstGeom>
          <a:noFill/>
        </p:spPr>
        <p:txBody>
          <a:bodyPr wrap="square">
            <a:spAutoFit/>
          </a:bodyPr>
          <a:lstStyle/>
          <a:p>
            <a:pPr algn="l"/>
            <a:r>
              <a:rPr sz="1100" b="1" i="0">
                <a:solidFill>
                  <a:srgbClr val="1B3A6B"/>
                </a:solidFill>
              </a:rPr>
              <a:t>Risques, Sentiment &amp; Méthodologie</a:t>
            </a:r>
          </a:p>
        </p:txBody>
      </p:sp>
      <p:sp>
        <p:nvSpPr>
          <p:cNvPr id="37" name="TextBox 36"/>
          <p:cNvSpPr txBox="1"/>
          <p:nvPr/>
        </p:nvSpPr>
        <p:spPr>
          <a:xfrm>
            <a:off x="1116000" y="4140000"/>
            <a:ext cx="6588000" cy="288000"/>
          </a:xfrm>
          <a:prstGeom prst="rect">
            <a:avLst/>
          </a:prstGeom>
          <a:noFill/>
        </p:spPr>
        <p:txBody>
          <a:bodyPr wrap="square">
            <a:spAutoFit/>
          </a:bodyPr>
          <a:lstStyle/>
          <a:p>
            <a:pPr algn="l"/>
            <a:r>
              <a:rPr sz="800" b="0" i="0">
                <a:solidFill>
                  <a:srgbClr val="555555"/>
                </a:solidFill>
              </a:rPr>
              <a:t>Conditions d'invalidation · FinBERT · Sources &amp; data lineage</a:t>
            </a:r>
          </a:p>
        </p:txBody>
      </p:sp>
      <p:sp>
        <p:nvSpPr>
          <p:cNvPr id="38" name="TextBox 37"/>
          <p:cNvSpPr txBox="1"/>
          <p:nvPr/>
        </p:nvSpPr>
        <p:spPr>
          <a:xfrm>
            <a:off x="8352000" y="3924000"/>
            <a:ext cx="468000" cy="432000"/>
          </a:xfrm>
          <a:prstGeom prst="rect">
            <a:avLst/>
          </a:prstGeom>
          <a:noFill/>
        </p:spPr>
        <p:txBody>
          <a:bodyPr wrap="square">
            <a:spAutoFit/>
          </a:bodyPr>
          <a:lstStyle/>
          <a:p>
            <a:pPr algn="r"/>
            <a:r>
              <a:rPr sz="800" b="0" i="0">
                <a:solidFill>
                  <a:srgbClr val="AAAAAA"/>
                </a:solidFill>
              </a:rPr>
              <a:t>p. 17–19</a:t>
            </a:r>
          </a:p>
        </p:txBody>
      </p:sp>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01</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Présentation du Secteur</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Caractéristiques structurelles, ratios comparatifs &amp; positionnement cycle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Présentation du Secteur</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Caractéristiques structurelles &amp; métriques de référence</a:t>
            </a:r>
          </a:p>
        </p:txBody>
      </p:sp>
      <p:sp>
        <p:nvSpPr>
          <p:cNvPr id="15" name="Rectangle 14"/>
          <p:cNvSpPr/>
          <p:nvPr/>
        </p:nvSpPr>
        <p:spPr>
          <a:xfrm>
            <a:off x="324000" y="900000"/>
            <a:ext cx="4932000" cy="360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360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972000"/>
            <a:ext cx="4716000" cy="1080000"/>
          </a:xfrm>
          <a:prstGeom prst="rect">
            <a:avLst/>
          </a:prstGeom>
          <a:noFill/>
        </p:spPr>
        <p:txBody>
          <a:bodyPr wrap="square">
            <a:spAutoFit/>
          </a:bodyPr>
          <a:lstStyle/>
          <a:p>
            <a:pPr algn="l"/>
            <a:r>
              <a:rPr sz="900" b="0" i="0">
                <a:solidFill>
                  <a:srgbClr val="555555"/>
                </a:solidFill>
              </a:rPr>
              <a:t>Le secteur Technology affiche une valorisation élevée avec un multiple EV/EBITDA médian de 25.1x, reflétant une forte croissance des revenus (+22.7%) et une marge EBITDA robuste (46.8%), soutenues par l'adoption accélérée de l'IA et des infrastructures cloud. Les leaders comme GOOGL, NVDA et AAPL bénéficient d'un momentum haussier sur 52 semaines (+67.3%), illustrant leur dominance dans des niches à forte valeur ajoutée.</a:t>
            </a:r>
          </a:p>
        </p:txBody>
      </p:sp>
      <p:sp>
        <p:nvSpPr>
          <p:cNvPr id="18" name="Rectangle 17"/>
          <p:cNvSpPr/>
          <p:nvPr/>
        </p:nvSpPr>
        <p:spPr>
          <a:xfrm>
            <a:off x="396000" y="2160000"/>
            <a:ext cx="4788000" cy="162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6000" y="2178000"/>
            <a:ext cx="4788000" cy="144000"/>
          </a:xfrm>
          <a:prstGeom prst="rect">
            <a:avLst/>
          </a:prstGeom>
          <a:noFill/>
        </p:spPr>
        <p:txBody>
          <a:bodyPr wrap="square">
            <a:spAutoFit/>
          </a:bodyPr>
          <a:lstStyle/>
          <a:p>
            <a:pPr algn="ctr"/>
            <a:r>
              <a:rPr sz="800" b="1" i="0">
                <a:solidFill>
                  <a:srgbClr val="FFFFFF"/>
                </a:solidFill>
              </a:rPr>
              <a:t>CATALYSEURS CLES</a:t>
            </a:r>
          </a:p>
        </p:txBody>
      </p:sp>
      <p:sp>
        <p:nvSpPr>
          <p:cNvPr id="20" name="Rectangle 19"/>
          <p:cNvSpPr/>
          <p:nvPr/>
        </p:nvSpPr>
        <p:spPr>
          <a:xfrm>
            <a:off x="486000" y="2358000"/>
            <a:ext cx="28800" cy="48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000" y="2358000"/>
            <a:ext cx="4500000" cy="162000"/>
          </a:xfrm>
          <a:prstGeom prst="rect">
            <a:avLst/>
          </a:prstGeom>
          <a:noFill/>
        </p:spPr>
        <p:txBody>
          <a:bodyPr wrap="square">
            <a:spAutoFit/>
          </a:bodyPr>
          <a:lstStyle/>
          <a:p>
            <a:pPr algn="l"/>
            <a:r>
              <a:rPr sz="850" b="1" i="0">
                <a:solidFill>
                  <a:srgbClr val="1B3A6B"/>
                </a:solidFill>
              </a:rPr>
              <a:t>Adoption de l'IA</a:t>
            </a:r>
          </a:p>
        </p:txBody>
      </p:sp>
      <p:sp>
        <p:nvSpPr>
          <p:cNvPr id="22" name="TextBox 21"/>
          <p:cNvSpPr txBox="1"/>
          <p:nvPr/>
        </p:nvSpPr>
        <p:spPr>
          <a:xfrm>
            <a:off x="594000" y="2520000"/>
            <a:ext cx="4500000" cy="378000"/>
          </a:xfrm>
          <a:prstGeom prst="rect">
            <a:avLst/>
          </a:prstGeom>
          <a:noFill/>
        </p:spPr>
        <p:txBody>
          <a:bodyPr wrap="square">
            <a:spAutoFit/>
          </a:bodyPr>
          <a:lstStyle/>
          <a:p>
            <a:pPr algn="l"/>
            <a:r>
              <a:rPr sz="800" b="0" i="0">
                <a:solidFill>
                  <a:srgbClr val="555555"/>
                </a:solidFill>
              </a:rPr>
              <a:t>L'IA générative et les modèles de langage transforment les workflows des entreprises, créant une demande structurelle pour les semi-conducteurs et les solutions cloud.</a:t>
            </a:r>
          </a:p>
        </p:txBody>
      </p:sp>
      <p:sp>
        <p:nvSpPr>
          <p:cNvPr id="23" name="Rectangle 22"/>
          <p:cNvSpPr/>
          <p:nvPr/>
        </p:nvSpPr>
        <p:spPr>
          <a:xfrm>
            <a:off x="486000" y="2898000"/>
            <a:ext cx="28800" cy="48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000" y="2898000"/>
            <a:ext cx="4500000" cy="162000"/>
          </a:xfrm>
          <a:prstGeom prst="rect">
            <a:avLst/>
          </a:prstGeom>
          <a:noFill/>
        </p:spPr>
        <p:txBody>
          <a:bodyPr wrap="square">
            <a:spAutoFit/>
          </a:bodyPr>
          <a:lstStyle/>
          <a:p>
            <a:pPr algn="l"/>
            <a:r>
              <a:rPr sz="850" b="1" i="0">
                <a:solidFill>
                  <a:srgbClr val="1B3A6B"/>
                </a:solidFill>
              </a:rPr>
              <a:t>Transition vers le cloud</a:t>
            </a:r>
          </a:p>
        </p:txBody>
      </p:sp>
      <p:sp>
        <p:nvSpPr>
          <p:cNvPr id="25" name="TextBox 24"/>
          <p:cNvSpPr txBox="1"/>
          <p:nvPr/>
        </p:nvSpPr>
        <p:spPr>
          <a:xfrm>
            <a:off x="594000" y="3060000"/>
            <a:ext cx="4500000" cy="378000"/>
          </a:xfrm>
          <a:prstGeom prst="rect">
            <a:avLst/>
          </a:prstGeom>
          <a:noFill/>
        </p:spPr>
        <p:txBody>
          <a:bodyPr wrap="square">
            <a:spAutoFit/>
          </a:bodyPr>
          <a:lstStyle/>
          <a:p>
            <a:pPr algn="l"/>
            <a:r>
              <a:rPr sz="800" b="0" i="0">
                <a:solidFill>
                  <a:srgbClr val="555555"/>
                </a:solidFill>
              </a:rPr>
              <a:t>Les entreprises accélèrent leur migration vers des infrastructures cloud hybrides, boostant les revenus récurrents des fournisseurs comme GOOGL et AAPL.</a:t>
            </a:r>
          </a:p>
        </p:txBody>
      </p:sp>
      <p:sp>
        <p:nvSpPr>
          <p:cNvPr id="26" name="Rectangle 25"/>
          <p:cNvSpPr/>
          <p:nvPr/>
        </p:nvSpPr>
        <p:spPr>
          <a:xfrm>
            <a:off x="486000" y="3438000"/>
            <a:ext cx="28800" cy="48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94000" y="3438000"/>
            <a:ext cx="4500000" cy="162000"/>
          </a:xfrm>
          <a:prstGeom prst="rect">
            <a:avLst/>
          </a:prstGeom>
          <a:noFill/>
        </p:spPr>
        <p:txBody>
          <a:bodyPr wrap="square">
            <a:spAutoFit/>
          </a:bodyPr>
          <a:lstStyle/>
          <a:p>
            <a:pPr algn="l"/>
            <a:r>
              <a:rPr sz="850" b="1" i="0">
                <a:solidFill>
                  <a:srgbClr val="1B3A6B"/>
                </a:solidFill>
              </a:rPr>
              <a:t>Innovation dans les GPU</a:t>
            </a:r>
          </a:p>
        </p:txBody>
      </p:sp>
      <p:sp>
        <p:nvSpPr>
          <p:cNvPr id="28" name="TextBox 27"/>
          <p:cNvSpPr txBox="1"/>
          <p:nvPr/>
        </p:nvSpPr>
        <p:spPr>
          <a:xfrm>
            <a:off x="594000" y="3600000"/>
            <a:ext cx="4500000" cy="378000"/>
          </a:xfrm>
          <a:prstGeom prst="rect">
            <a:avLst/>
          </a:prstGeom>
          <a:noFill/>
        </p:spPr>
        <p:txBody>
          <a:bodyPr wrap="square">
            <a:spAutoFit/>
          </a:bodyPr>
          <a:lstStyle/>
          <a:p>
            <a:pPr algn="l"/>
            <a:r>
              <a:rPr sz="800" b="0" i="0">
                <a:solidFill>
                  <a:srgbClr val="555555"/>
                </a:solidFill>
              </a:rPr>
              <a:t>NVDA domine le marché des GPU pour l'IA et le calcul haute performance, avec une part de marché en croissance malgré des pressions concurrentielles.</a:t>
            </a:r>
          </a:p>
        </p:txBody>
      </p:sp>
      <p:graphicFrame>
        <p:nvGraphicFramePr>
          <p:cNvPr id="29" name="Table 28"/>
          <p:cNvGraphicFramePr>
            <a:graphicFrameLocks noGrp="1"/>
          </p:cNvGraphicFramePr>
          <p:nvPr/>
        </p:nvGraphicFramePr>
        <p:xfrm>
          <a:off x="5436000" y="900000"/>
          <a:ext cx="3383999" cy="1461599"/>
        </p:xfrm>
        <a:graphic>
          <a:graphicData uri="http://schemas.openxmlformats.org/drawingml/2006/table">
            <a:tbl>
              <a:tblPr firstRow="1" bandRow="1">
                <a:tableStyleId>{5C22544A-7EE6-4342-B048-85BDC9FD1C3A}</a:tableStyleId>
              </a:tblPr>
              <a:tblGrid>
                <a:gridCol w="1259999"/>
                <a:gridCol w="900000"/>
                <a:gridCol w="1224000"/>
              </a:tblGrid>
              <a:tr h="208799">
                <a:tc>
                  <a:txBody>
                    <a:bodyPr/>
                    <a:lstStyle/>
                    <a:p>
                      <a:pPr algn="ctr"/>
                      <a:r>
                        <a:rPr sz="750" b="1">
                          <a:solidFill>
                            <a:srgbClr val="FFFFFF"/>
                          </a:solidFill>
                        </a:rPr>
                        <a:t>Métrique</a:t>
                      </a:r>
                    </a:p>
                  </a:txBody>
                  <a:tcPr>
                    <a:solidFill>
                      <a:srgbClr val="1B3A6B"/>
                    </a:solidFill>
                  </a:tcPr>
                </a:tc>
                <a:tc>
                  <a:txBody>
                    <a:bodyPr/>
                    <a:lstStyle/>
                    <a:p>
                      <a:pPr algn="ctr"/>
                      <a:r>
                        <a:rPr sz="750" b="1">
                          <a:solidFill>
                            <a:srgbClr val="FFFFFF"/>
                          </a:solidFill>
                        </a:rPr>
                        <a:t>Valeur</a:t>
                      </a:r>
                    </a:p>
                  </a:txBody>
                  <a:tcPr>
                    <a:solidFill>
                      <a:srgbClr val="1B3A6B"/>
                    </a:solidFill>
                  </a:tcPr>
                </a:tc>
                <a:tc>
                  <a:txBody>
                    <a:bodyPr/>
                    <a:lstStyle/>
                    <a:p>
                      <a:pPr algn="ctr"/>
                      <a:r>
                        <a:rPr sz="750" b="1">
                          <a:solidFill>
                            <a:srgbClr val="FFFFFF"/>
                          </a:solidFill>
                        </a:rPr>
                        <a:t>Lecture</a:t>
                      </a:r>
                    </a:p>
                  </a:txBody>
                  <a:tcPr>
                    <a:solidFill>
                      <a:srgbClr val="1B3A6B"/>
                    </a:solidFill>
                  </a:tcPr>
                </a:tc>
              </a:tr>
              <a:tr h="208799">
                <a:tc>
                  <a:txBody>
                    <a:bodyPr/>
                    <a:lstStyle/>
                    <a:p>
                      <a:pPr algn="ctr"/>
                      <a:r>
                        <a:rPr sz="750" b="0">
                          <a:solidFill>
                            <a:srgbClr val="1A1A1A"/>
                          </a:solidFill>
                        </a:rPr>
                        <a:t>EV/EBITDA</a:t>
                      </a:r>
                    </a:p>
                  </a:txBody>
                  <a:tcPr>
                    <a:noFill/>
                  </a:tcPr>
                </a:tc>
                <a:tc>
                  <a:txBody>
                    <a:bodyPr/>
                    <a:lstStyle/>
                    <a:p>
                      <a:pPr algn="ctr"/>
                      <a:r>
                        <a:rPr sz="750" b="0">
                          <a:solidFill>
                            <a:srgbClr val="1A1A1A"/>
                          </a:solidFill>
                        </a:rPr>
                        <a:t>25.1x</a:t>
                      </a:r>
                    </a:p>
                  </a:txBody>
                  <a:tcPr>
                    <a:noFill/>
                  </a:tcPr>
                </a:tc>
                <a:tc>
                  <a:txBody>
                    <a:bodyPr/>
                    <a:lstStyle/>
                    <a:p>
                      <a:pPr algn="ctr"/>
                      <a:r>
                        <a:rPr sz="750" b="0">
                          <a:solidFill>
                            <a:srgbClr val="1A1A1A"/>
                          </a:solidFill>
                        </a:rPr>
                        <a:t>Médiane secteur</a:t>
                      </a:r>
                    </a:p>
                  </a:txBody>
                  <a:tcPr>
                    <a:noFill/>
                  </a:tcPr>
                </a:tc>
              </a:tr>
              <a:tr h="208799">
                <a:tc>
                  <a:txBody>
                    <a:bodyPr/>
                    <a:lstStyle/>
                    <a:p>
                      <a:pPr algn="ctr"/>
                      <a:r>
                        <a:rPr sz="750" b="0">
                          <a:solidFill>
                            <a:srgbClr val="1A1A1A"/>
                          </a:solidFill>
                        </a:rPr>
                        <a:t>Mg EBITDA</a:t>
                      </a:r>
                    </a:p>
                  </a:txBody>
                  <a:tcPr>
                    <a:solidFill>
                      <a:srgbClr val="F5F7FA"/>
                    </a:solidFill>
                  </a:tcPr>
                </a:tc>
                <a:tc>
                  <a:txBody>
                    <a:bodyPr/>
                    <a:lstStyle/>
                    <a:p>
                      <a:pPr algn="ctr"/>
                      <a:r>
                        <a:rPr sz="750" b="0">
                          <a:solidFill>
                            <a:srgbClr val="1A1A1A"/>
                          </a:solidFill>
                        </a:rPr>
                        <a:t>46.8 %</a:t>
                      </a:r>
                    </a:p>
                  </a:txBody>
                  <a:tcPr>
                    <a:solidFill>
                      <a:srgbClr val="F5F7FA"/>
                    </a:solidFill>
                  </a:tcPr>
                </a:tc>
                <a:tc>
                  <a:txBody>
                    <a:bodyPr/>
                    <a:lstStyle/>
                    <a:p>
                      <a:pPr algn="ctr"/>
                      <a:r>
                        <a:rPr sz="750" b="0">
                          <a:solidFill>
                            <a:srgbClr val="1A1A1A"/>
                          </a:solidFill>
                        </a:rPr>
                        <a:t>LTM</a:t>
                      </a:r>
                    </a:p>
                  </a:txBody>
                  <a:tcPr>
                    <a:solidFill>
                      <a:srgbClr val="F5F7FA"/>
                    </a:solidFill>
                  </a:tcPr>
                </a:tc>
              </a:tr>
              <a:tr h="208799">
                <a:tc>
                  <a:txBody>
                    <a:bodyPr/>
                    <a:lstStyle/>
                    <a:p>
                      <a:pPr algn="ctr"/>
                      <a:r>
                        <a:rPr sz="750" b="0">
                          <a:solidFill>
                            <a:srgbClr val="1A1A1A"/>
                          </a:solidFill>
                        </a:rPr>
                        <a:t>Croissance</a:t>
                      </a:r>
                    </a:p>
                  </a:txBody>
                  <a:tcPr>
                    <a:noFill/>
                  </a:tcPr>
                </a:tc>
                <a:tc>
                  <a:txBody>
                    <a:bodyPr/>
                    <a:lstStyle/>
                    <a:p>
                      <a:pPr algn="ctr"/>
                      <a:r>
                        <a:rPr sz="750" b="0">
                          <a:solidFill>
                            <a:srgbClr val="1A1A1A"/>
                          </a:solidFill>
                        </a:rPr>
                        <a:t>+22.7 %</a:t>
                      </a:r>
                    </a:p>
                  </a:txBody>
                  <a:tcPr>
                    <a:noFill/>
                  </a:tcPr>
                </a:tc>
                <a:tc>
                  <a:txBody>
                    <a:bodyPr/>
                    <a:lstStyle/>
                    <a:p>
                      <a:pPr algn="ctr"/>
                      <a:r>
                        <a:rPr sz="750" b="0">
                          <a:solidFill>
                            <a:srgbClr val="1A1A1A"/>
                          </a:solidFill>
                        </a:rPr>
                        <a:t>YoY</a:t>
                      </a:r>
                    </a:p>
                  </a:txBody>
                  <a:tcPr>
                    <a:noFill/>
                  </a:tcPr>
                </a:tc>
              </a:tr>
              <a:tr h="208799">
                <a:tc>
                  <a:txBody>
                    <a:bodyPr/>
                    <a:lstStyle/>
                    <a:p>
                      <a:pPr algn="ctr"/>
                      <a:r>
                        <a:rPr sz="750" b="0">
                          <a:solidFill>
                            <a:srgbClr val="1A1A1A"/>
                          </a:solidFill>
                        </a:rPr>
                        <a:t>Momentum</a:t>
                      </a:r>
                    </a:p>
                  </a:txBody>
                  <a:tcPr>
                    <a:solidFill>
                      <a:srgbClr val="F5F7FA"/>
                    </a:solidFill>
                  </a:tcPr>
                </a:tc>
                <a:tc>
                  <a:txBody>
                    <a:bodyPr/>
                    <a:lstStyle/>
                    <a:p>
                      <a:pPr algn="ctr"/>
                      <a:r>
                        <a:rPr sz="750" b="0">
                          <a:solidFill>
                            <a:srgbClr val="1A1A1A"/>
                          </a:solidFill>
                        </a:rPr>
                        <a:t>+67.3 %</a:t>
                      </a:r>
                    </a:p>
                  </a:txBody>
                  <a:tcPr>
                    <a:solidFill>
                      <a:srgbClr val="F5F7FA"/>
                    </a:solidFill>
                  </a:tcPr>
                </a:tc>
                <a:tc>
                  <a:txBody>
                    <a:bodyPr/>
                    <a:lstStyle/>
                    <a:p>
                      <a:pPr algn="ctr"/>
                      <a:r>
                        <a:rPr sz="750" b="0">
                          <a:solidFill>
                            <a:srgbClr val="1A1A1A"/>
                          </a:solidFill>
                        </a:rPr>
                        <a:t>52W</a:t>
                      </a:r>
                    </a:p>
                  </a:txBody>
                  <a:tcPr>
                    <a:solidFill>
                      <a:srgbClr val="F5F7FA"/>
                    </a:solidFill>
                  </a:tcPr>
                </a:tc>
              </a:tr>
              <a:tr h="208799">
                <a:tc>
                  <a:txBody>
                    <a:bodyPr/>
                    <a:lstStyle/>
                    <a:p>
                      <a:pPr algn="ctr"/>
                      <a:r>
                        <a:rPr sz="750" b="0">
                          <a:solidFill>
                            <a:srgbClr val="1A1A1A"/>
                          </a:solidFill>
                        </a:rPr>
                        <a:t>Score Moyen</a:t>
                      </a:r>
                    </a:p>
                  </a:txBody>
                  <a:tcPr>
                    <a:noFill/>
                  </a:tcPr>
                </a:tc>
                <a:tc>
                  <a:txBody>
                    <a:bodyPr/>
                    <a:lstStyle/>
                    <a:p>
                      <a:pPr algn="ctr"/>
                      <a:r>
                        <a:rPr sz="750" b="0">
                          <a:solidFill>
                            <a:srgbClr val="1A1A1A"/>
                          </a:solidFill>
                        </a:rPr>
                        <a:t>77/100</a:t>
                      </a:r>
                    </a:p>
                  </a:txBody>
                  <a:tcPr>
                    <a:noFill/>
                  </a:tcPr>
                </a:tc>
                <a:tc>
                  <a:txBody>
                    <a:bodyPr/>
                    <a:lstStyle/>
                    <a:p>
                      <a:pPr algn="ctr"/>
                      <a:r>
                        <a:rPr sz="750" b="0">
                          <a:solidFill>
                            <a:srgbClr val="1A1A1A"/>
                          </a:solidFill>
                        </a:rPr>
                        <a:t>FinSight</a:t>
                      </a:r>
                    </a:p>
                  </a:txBody>
                  <a:tcPr>
                    <a:noFill/>
                  </a:tcPr>
                </a:tc>
              </a:tr>
              <a:tr h="208805">
                <a:tc>
                  <a:txBody>
                    <a:bodyPr/>
                    <a:lstStyle/>
                    <a:p>
                      <a:pPr algn="ctr"/>
                      <a:r>
                        <a:rPr sz="750" b="0">
                          <a:solidFill>
                            <a:srgbClr val="1A1A1A"/>
                          </a:solidFill>
                        </a:rPr>
                        <a:t>Nb Societes</a:t>
                      </a:r>
                    </a:p>
                  </a:txBody>
                  <a:tcPr>
                    <a:solidFill>
                      <a:srgbClr val="F5F7FA"/>
                    </a:solidFill>
                  </a:tcPr>
                </a:tc>
                <a:tc>
                  <a:txBody>
                    <a:bodyPr/>
                    <a:lstStyle/>
                    <a:p>
                      <a:pPr algn="ctr"/>
                      <a:r>
                        <a:rPr sz="750" b="0">
                          <a:solidFill>
                            <a:srgbClr val="1A1A1A"/>
                          </a:solidFill>
                        </a:rPr>
                        <a:t>8</a:t>
                      </a:r>
                    </a:p>
                  </a:txBody>
                  <a:tcPr>
                    <a:solidFill>
                      <a:srgbClr val="F5F7FA"/>
                    </a:solidFill>
                  </a:tcPr>
                </a:tc>
                <a:tc>
                  <a:txBody>
                    <a:bodyPr/>
                    <a:lstStyle/>
                    <a:p>
                      <a:pPr algn="ctr"/>
                      <a:r>
                        <a:rPr sz="750" b="0">
                          <a:solidFill>
                            <a:srgbClr val="1A1A1A"/>
                          </a:solidFill>
                        </a:rPr>
                        <a:t>Analysees</a:t>
                      </a:r>
                    </a:p>
                  </a:txBody>
                  <a:tcPr>
                    <a:solidFill>
                      <a:srgbClr val="F5F7FA"/>
                    </a:solidFill>
                  </a:tcPr>
                </a:tc>
              </a:tr>
            </a:tbl>
          </a:graphicData>
        </a:graphic>
      </p:graphicFrame>
      <p:sp>
        <p:nvSpPr>
          <p:cNvPr id="30" name="Rectangle 2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Ratios Comparatifs Sectoriels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Comparaison multiples LTM — 8 sociétés vs médiane sectorielle</a:t>
            </a:r>
          </a:p>
        </p:txBody>
      </p:sp>
      <p:graphicFrame>
        <p:nvGraphicFramePr>
          <p:cNvPr id="15" name="Table 14"/>
          <p:cNvGraphicFramePr>
            <a:graphicFrameLocks noGrp="1"/>
          </p:cNvGraphicFramePr>
          <p:nvPr/>
        </p:nvGraphicFramePr>
        <p:xfrm>
          <a:off x="324000" y="900000"/>
          <a:ext cx="8495998" cy="1980000"/>
        </p:xfrm>
        <a:graphic>
          <a:graphicData uri="http://schemas.openxmlformats.org/drawingml/2006/table">
            <a:tbl>
              <a:tblPr firstRow="1" bandRow="1">
                <a:tableStyleId>{5C22544A-7EE6-4342-B048-85BDC9FD1C3A}</a:tableStyleId>
              </a:tblPr>
              <a:tblGrid>
                <a:gridCol w="1800000"/>
                <a:gridCol w="1080000"/>
                <a:gridCol w="1007999"/>
                <a:gridCol w="1007999"/>
                <a:gridCol w="1152000"/>
                <a:gridCol w="1224000"/>
                <a:gridCol w="1224000"/>
              </a:tblGrid>
              <a:tr h="198000">
                <a:tc>
                  <a:txBody>
                    <a:bodyPr/>
                    <a:lstStyle/>
                    <a:p>
                      <a:pPr algn="ctr"/>
                      <a:r>
                        <a:rPr sz="800" b="1">
                          <a:solidFill>
                            <a:srgbClr val="FFFFFF"/>
                          </a:solidFill>
                        </a:rPr>
                        <a:t>Societe</a:t>
                      </a:r>
                    </a:p>
                  </a:txBody>
                  <a:tcPr>
                    <a:solidFill>
                      <a:srgbClr val="1B3A6B"/>
                    </a:solidFill>
                  </a:tcPr>
                </a:tc>
                <a:tc>
                  <a:txBody>
                    <a:bodyPr/>
                    <a:lstStyle/>
                    <a:p>
                      <a:pPr algn="ctr"/>
                      <a:r>
                        <a:rPr sz="800" b="1">
                          <a:solidFill>
                            <a:srgbClr val="FFFFFF"/>
                          </a:solidFill>
                        </a:rPr>
                        <a:t>EV/EBITDA</a:t>
                      </a:r>
                    </a:p>
                  </a:txBody>
                  <a:tcPr>
                    <a:solidFill>
                      <a:srgbClr val="1B3A6B"/>
                    </a:solidFill>
                  </a:tcPr>
                </a:tc>
                <a:tc>
                  <a:txBody>
                    <a:bodyPr/>
                    <a:lstStyle/>
                    <a:p>
                      <a:pPr algn="ctr"/>
                      <a:r>
                        <a:rPr sz="800" b="1">
                          <a:solidFill>
                            <a:srgbClr val="FFFFFF"/>
                          </a:solidFill>
                        </a:rPr>
                        <a:t>EV/Rev.</a:t>
                      </a:r>
                    </a:p>
                  </a:txBody>
                  <a:tcPr>
                    <a:solidFill>
                      <a:srgbClr val="1B3A6B"/>
                    </a:solidFill>
                  </a:tcPr>
                </a:tc>
                <a:tc>
                  <a:txBody>
                    <a:bodyPr/>
                    <a:lstStyle/>
                    <a:p>
                      <a:pPr algn="ctr"/>
                      <a:r>
                        <a:rPr sz="800" b="1">
                          <a:solidFill>
                            <a:srgbClr val="FFFFFF"/>
                          </a:solidFill>
                        </a:rPr>
                        <a:t>P/E</a:t>
                      </a:r>
                    </a:p>
                  </a:txBody>
                  <a:tcPr>
                    <a:solidFill>
                      <a:srgbClr val="1B3A6B"/>
                    </a:solidFill>
                  </a:tcPr>
                </a:tc>
                <a:tc>
                  <a:txBody>
                    <a:bodyPr/>
                    <a:lstStyle/>
                    <a:p>
                      <a:pPr algn="ctr"/>
                      <a:r>
                        <a:rPr sz="800" b="1">
                          <a:solidFill>
                            <a:srgbClr val="FFFFFF"/>
                          </a:solidFill>
                        </a:rPr>
                        <a:t>Mg Brute</a:t>
                      </a:r>
                    </a:p>
                  </a:txBody>
                  <a:tcPr>
                    <a:solidFill>
                      <a:srgbClr val="1B3A6B"/>
                    </a:solidFill>
                  </a:tcPr>
                </a:tc>
                <a:tc>
                  <a:txBody>
                    <a:bodyPr/>
                    <a:lstStyle/>
                    <a:p>
                      <a:pPr algn="ctr"/>
                      <a:r>
                        <a:rPr sz="800" b="1">
                          <a:solidFill>
                            <a:srgbClr val="FFFFFF"/>
                          </a:solidFill>
                        </a:rPr>
                        <a:t>Mg EBITDA</a:t>
                      </a:r>
                    </a:p>
                  </a:txBody>
                  <a:tcPr>
                    <a:solidFill>
                      <a:srgbClr val="1B3A6B"/>
                    </a:solidFill>
                  </a:tcPr>
                </a:tc>
                <a:tc>
                  <a:txBody>
                    <a:bodyPr/>
                    <a:lstStyle/>
                    <a:p>
                      <a:pPr algn="ctr"/>
                      <a:r>
                        <a:rPr sz="800" b="1">
                          <a:solidFill>
                            <a:srgbClr val="FFFFFF"/>
                          </a:solidFill>
                        </a:rPr>
                        <a:t>ROE</a:t>
                      </a:r>
                    </a:p>
                  </a:txBody>
                  <a:tcPr>
                    <a:solidFill>
                      <a:srgbClr val="1B3A6B"/>
                    </a:solidFill>
                  </a:tcPr>
                </a:tc>
              </a:tr>
              <a:tr h="198000">
                <a:tc>
                  <a:txBody>
                    <a:bodyPr/>
                    <a:lstStyle/>
                    <a:p>
                      <a:pPr algn="ctr"/>
                      <a:r>
                        <a:rPr sz="750" b="0">
                          <a:solidFill>
                            <a:srgbClr val="1A1A1A"/>
                          </a:solidFill>
                        </a:rPr>
                        <a:t>Alphabet Inc.</a:t>
                      </a:r>
                    </a:p>
                  </a:txBody>
                  <a:tcPr>
                    <a:noFill/>
                  </a:tcPr>
                </a:tc>
                <a:tc>
                  <a:txBody>
                    <a:bodyPr/>
                    <a:lstStyle/>
                    <a:p>
                      <a:pPr algn="ctr"/>
                      <a:r>
                        <a:rPr sz="750" b="0">
                          <a:solidFill>
                            <a:srgbClr val="1A1A1A"/>
                          </a:solidFill>
                        </a:rPr>
                        <a:t>25.2x</a:t>
                      </a:r>
                    </a:p>
                  </a:txBody>
                  <a:tcPr>
                    <a:noFill/>
                  </a:tcPr>
                </a:tc>
                <a:tc>
                  <a:txBody>
                    <a:bodyPr/>
                    <a:lstStyle/>
                    <a:p>
                      <a:pPr algn="ctr"/>
                      <a:r>
                        <a:rPr sz="750" b="0">
                          <a:solidFill>
                            <a:srgbClr val="1A1A1A"/>
                          </a:solidFill>
                        </a:rPr>
                        <a:t>9.4x</a:t>
                      </a:r>
                    </a:p>
                  </a:txBody>
                  <a:tcPr>
                    <a:noFill/>
                  </a:tcPr>
                </a:tc>
                <a:tc>
                  <a:txBody>
                    <a:bodyPr/>
                    <a:lstStyle/>
                    <a:p>
                      <a:pPr algn="ctr"/>
                      <a:r>
                        <a:rPr sz="750" b="0">
                          <a:solidFill>
                            <a:srgbClr val="1A1A1A"/>
                          </a:solidFill>
                        </a:rPr>
                        <a:t>29.3x</a:t>
                      </a:r>
                    </a:p>
                  </a:txBody>
                  <a:tcPr>
                    <a:noFill/>
                  </a:tcPr>
                </a:tc>
                <a:tc>
                  <a:txBody>
                    <a:bodyPr/>
                    <a:lstStyle/>
                    <a:p>
                      <a:pPr algn="ctr"/>
                      <a:r>
                        <a:rPr sz="750" b="0">
                          <a:solidFill>
                            <a:srgbClr val="1A1A1A"/>
                          </a:solidFill>
                        </a:rPr>
                        <a:t>59.7 %</a:t>
                      </a:r>
                    </a:p>
                  </a:txBody>
                  <a:tcPr>
                    <a:noFill/>
                  </a:tcPr>
                </a:tc>
                <a:tc>
                  <a:txBody>
                    <a:bodyPr/>
                    <a:lstStyle/>
                    <a:p>
                      <a:pPr algn="ctr"/>
                      <a:r>
                        <a:rPr sz="750" b="0">
                          <a:solidFill>
                            <a:srgbClr val="1A1A1A"/>
                          </a:solidFill>
                        </a:rPr>
                        <a:t>37.3 %</a:t>
                      </a:r>
                    </a:p>
                  </a:txBody>
                  <a:tcPr>
                    <a:noFill/>
                  </a:tcPr>
                </a:tc>
                <a:tc>
                  <a:txBody>
                    <a:bodyPr/>
                    <a:lstStyle/>
                    <a:p>
                      <a:pPr algn="ctr"/>
                      <a:r>
                        <a:rPr sz="750" b="0">
                          <a:solidFill>
                            <a:srgbClr val="1A1A1A"/>
                          </a:solidFill>
                        </a:rPr>
                        <a:t>35.7 %</a:t>
                      </a:r>
                    </a:p>
                  </a:txBody>
                  <a:tcPr>
                    <a:noFill/>
                  </a:tcPr>
                </a:tc>
              </a:tr>
              <a:tr h="198000">
                <a:tc>
                  <a:txBody>
                    <a:bodyPr/>
                    <a:lstStyle/>
                    <a:p>
                      <a:pPr algn="ctr"/>
                      <a:r>
                        <a:rPr sz="750" b="0">
                          <a:solidFill>
                            <a:srgbClr val="1A1A1A"/>
                          </a:solidFill>
                        </a:rPr>
                        <a:t>NVIDIA Corporation</a:t>
                      </a:r>
                    </a:p>
                  </a:txBody>
                  <a:tcPr>
                    <a:solidFill>
                      <a:srgbClr val="F5F7FA"/>
                    </a:solidFill>
                  </a:tcPr>
                </a:tc>
                <a:tc>
                  <a:txBody>
                    <a:bodyPr/>
                    <a:lstStyle/>
                    <a:p>
                      <a:pPr algn="ctr"/>
                      <a:r>
                        <a:rPr sz="750" b="0">
                          <a:solidFill>
                            <a:srgbClr val="1A1A1A"/>
                          </a:solidFill>
                        </a:rPr>
                        <a:t>32.8x</a:t>
                      </a:r>
                    </a:p>
                  </a:txBody>
                  <a:tcPr>
                    <a:solidFill>
                      <a:srgbClr val="F5F7FA"/>
                    </a:solidFill>
                  </a:tcPr>
                </a:tc>
                <a:tc>
                  <a:txBody>
                    <a:bodyPr/>
                    <a:lstStyle/>
                    <a:p>
                      <a:pPr algn="ctr"/>
                      <a:r>
                        <a:rPr sz="750" b="0">
                          <a:solidFill>
                            <a:srgbClr val="1A1A1A"/>
                          </a:solidFill>
                        </a:rPr>
                        <a:t>20.3x</a:t>
                      </a:r>
                    </a:p>
                  </a:txBody>
                  <a:tcPr>
                    <a:solidFill>
                      <a:srgbClr val="F5F7FA"/>
                    </a:solidFill>
                  </a:tcPr>
                </a:tc>
                <a:tc>
                  <a:txBody>
                    <a:bodyPr/>
                    <a:lstStyle/>
                    <a:p>
                      <a:pPr algn="ctr"/>
                      <a:r>
                        <a:rPr sz="750" b="0">
                          <a:solidFill>
                            <a:srgbClr val="1A1A1A"/>
                          </a:solidFill>
                        </a:rPr>
                        <a:t>37.2x</a:t>
                      </a:r>
                    </a:p>
                  </a:txBody>
                  <a:tcPr>
                    <a:solidFill>
                      <a:srgbClr val="F5F7FA"/>
                    </a:solidFill>
                  </a:tcPr>
                </a:tc>
                <a:tc>
                  <a:txBody>
                    <a:bodyPr/>
                    <a:lstStyle/>
                    <a:p>
                      <a:pPr algn="ctr"/>
                      <a:r>
                        <a:rPr sz="750" b="0">
                          <a:solidFill>
                            <a:srgbClr val="1A1A1A"/>
                          </a:solidFill>
                        </a:rPr>
                        <a:t>71.1 %</a:t>
                      </a:r>
                    </a:p>
                  </a:txBody>
                  <a:tcPr>
                    <a:solidFill>
                      <a:srgbClr val="F5F7FA"/>
                    </a:solidFill>
                  </a:tcPr>
                </a:tc>
                <a:tc>
                  <a:txBody>
                    <a:bodyPr/>
                    <a:lstStyle/>
                    <a:p>
                      <a:pPr algn="ctr"/>
                      <a:r>
                        <a:rPr sz="750" b="0">
                          <a:solidFill>
                            <a:srgbClr val="1A1A1A"/>
                          </a:solidFill>
                        </a:rPr>
                        <a:t>61.7 %</a:t>
                      </a:r>
                    </a:p>
                  </a:txBody>
                  <a:tcPr>
                    <a:solidFill>
                      <a:srgbClr val="F5F7FA"/>
                    </a:solidFill>
                  </a:tcPr>
                </a:tc>
                <a:tc>
                  <a:txBody>
                    <a:bodyPr/>
                    <a:lstStyle/>
                    <a:p>
                      <a:pPr algn="ctr"/>
                      <a:r>
                        <a:rPr sz="750" b="0">
                          <a:solidFill>
                            <a:srgbClr val="1A1A1A"/>
                          </a:solidFill>
                        </a:rPr>
                        <a:t>101.5 %</a:t>
                      </a:r>
                    </a:p>
                  </a:txBody>
                  <a:tcPr>
                    <a:solidFill>
                      <a:srgbClr val="F5F7FA"/>
                    </a:solidFill>
                  </a:tcPr>
                </a:tc>
              </a:tr>
              <a:tr h="198000">
                <a:tc>
                  <a:txBody>
                    <a:bodyPr/>
                    <a:lstStyle/>
                    <a:p>
                      <a:pPr algn="ctr"/>
                      <a:r>
                        <a:rPr sz="750" b="0">
                          <a:solidFill>
                            <a:srgbClr val="1A1A1A"/>
                          </a:solidFill>
                        </a:rPr>
                        <a:t>Apple Inc.</a:t>
                      </a:r>
                    </a:p>
                  </a:txBody>
                  <a:tcPr>
                    <a:noFill/>
                  </a:tcPr>
                </a:tc>
                <a:tc>
                  <a:txBody>
                    <a:bodyPr/>
                    <a:lstStyle/>
                    <a:p>
                      <a:pPr algn="ctr"/>
                      <a:r>
                        <a:rPr sz="750" b="0">
                          <a:solidFill>
                            <a:srgbClr val="1A1A1A"/>
                          </a:solidFill>
                        </a:rPr>
                        <a:t>25.0x</a:t>
                      </a:r>
                    </a:p>
                  </a:txBody>
                  <a:tcPr>
                    <a:noFill/>
                  </a:tcPr>
                </a:tc>
                <a:tc>
                  <a:txBody>
                    <a:bodyPr/>
                    <a:lstStyle/>
                    <a:p>
                      <a:pPr algn="ctr"/>
                      <a:r>
                        <a:rPr sz="750" b="0">
                          <a:solidFill>
                            <a:srgbClr val="1A1A1A"/>
                          </a:solidFill>
                        </a:rPr>
                        <a:t>8.8x</a:t>
                      </a:r>
                    </a:p>
                  </a:txBody>
                  <a:tcPr>
                    <a:noFill/>
                  </a:tcPr>
                </a:tc>
                <a:tc>
                  <a:txBody>
                    <a:bodyPr/>
                    <a:lstStyle/>
                    <a:p>
                      <a:pPr algn="ctr"/>
                      <a:r>
                        <a:rPr sz="750" b="0">
                          <a:solidFill>
                            <a:srgbClr val="1A1A1A"/>
                          </a:solidFill>
                        </a:rPr>
                        <a:t>32.8x</a:t>
                      </a:r>
                    </a:p>
                  </a:txBody>
                  <a:tcPr>
                    <a:noFill/>
                  </a:tcPr>
                </a:tc>
                <a:tc>
                  <a:txBody>
                    <a:bodyPr/>
                    <a:lstStyle/>
                    <a:p>
                      <a:pPr algn="ctr"/>
                      <a:r>
                        <a:rPr sz="750" b="0">
                          <a:solidFill>
                            <a:srgbClr val="1A1A1A"/>
                          </a:solidFill>
                        </a:rPr>
                        <a:t>47.3 %</a:t>
                      </a:r>
                    </a:p>
                  </a:txBody>
                  <a:tcPr>
                    <a:noFill/>
                  </a:tcPr>
                </a:tc>
                <a:tc>
                  <a:txBody>
                    <a:bodyPr/>
                    <a:lstStyle/>
                    <a:p>
                      <a:pPr algn="ctr"/>
                      <a:r>
                        <a:rPr sz="750" b="0">
                          <a:solidFill>
                            <a:srgbClr val="1A1A1A"/>
                          </a:solidFill>
                        </a:rPr>
                        <a:t>35.1 %</a:t>
                      </a:r>
                    </a:p>
                  </a:txBody>
                  <a:tcPr>
                    <a:noFill/>
                  </a:tcPr>
                </a:tc>
                <a:tc>
                  <a:txBody>
                    <a:bodyPr/>
                    <a:lstStyle/>
                    <a:p>
                      <a:pPr algn="ctr"/>
                      <a:r>
                        <a:rPr sz="750" b="0">
                          <a:solidFill>
                            <a:srgbClr val="1A1A1A"/>
                          </a:solidFill>
                        </a:rPr>
                        <a:t>152.0 %</a:t>
                      </a:r>
                    </a:p>
                  </a:txBody>
                  <a:tcPr>
                    <a:noFill/>
                  </a:tcPr>
                </a:tc>
              </a:tr>
              <a:tr h="198000">
                <a:tc>
                  <a:txBody>
                    <a:bodyPr/>
                    <a:lstStyle/>
                    <a:p>
                      <a:pPr algn="ctr"/>
                      <a:r>
                        <a:rPr sz="750" b="0">
                          <a:solidFill>
                            <a:srgbClr val="1A1A1A"/>
                          </a:solidFill>
                        </a:rPr>
                        <a:t>Oracle Corporation</a:t>
                      </a:r>
                    </a:p>
                  </a:txBody>
                  <a:tcPr>
                    <a:solidFill>
                      <a:srgbClr val="F5F7FA"/>
                    </a:solidFill>
                  </a:tcPr>
                </a:tc>
                <a:tc>
                  <a:txBody>
                    <a:bodyPr/>
                    <a:lstStyle/>
                    <a:p>
                      <a:pPr algn="ctr"/>
                      <a:r>
                        <a:rPr sz="750" b="0">
                          <a:solidFill>
                            <a:srgbClr val="1A1A1A"/>
                          </a:solidFill>
                        </a:rPr>
                        <a:t>19.7x</a:t>
                      </a:r>
                    </a:p>
                  </a:txBody>
                  <a:tcPr>
                    <a:solidFill>
                      <a:srgbClr val="F5F7FA"/>
                    </a:solidFill>
                  </a:tcPr>
                </a:tc>
                <a:tc>
                  <a:txBody>
                    <a:bodyPr/>
                    <a:lstStyle/>
                    <a:p>
                      <a:pPr algn="ctr"/>
                      <a:r>
                        <a:rPr sz="750" b="0">
                          <a:solidFill>
                            <a:srgbClr val="1A1A1A"/>
                          </a:solidFill>
                        </a:rPr>
                        <a:t>8.5x</a:t>
                      </a:r>
                    </a:p>
                  </a:txBody>
                  <a:tcPr>
                    <a:solidFill>
                      <a:srgbClr val="F5F7FA"/>
                    </a:solidFill>
                  </a:tcPr>
                </a:tc>
                <a:tc>
                  <a:txBody>
                    <a:bodyPr/>
                    <a:lstStyle/>
                    <a:p>
                      <a:pPr algn="ctr"/>
                      <a:r>
                        <a:rPr sz="750" b="0">
                          <a:solidFill>
                            <a:srgbClr val="1A1A1A"/>
                          </a:solidFill>
                        </a:rPr>
                        <a:t>25.8x</a:t>
                      </a:r>
                    </a:p>
                  </a:txBody>
                  <a:tcPr>
                    <a:solidFill>
                      <a:srgbClr val="F5F7FA"/>
                    </a:solidFill>
                  </a:tcPr>
                </a:tc>
                <a:tc>
                  <a:txBody>
                    <a:bodyPr/>
                    <a:lstStyle/>
                    <a:p>
                      <a:pPr algn="ctr"/>
                      <a:r>
                        <a:rPr sz="750" b="0">
                          <a:solidFill>
                            <a:srgbClr val="1A1A1A"/>
                          </a:solidFill>
                        </a:rPr>
                        <a:t>67.1 %</a:t>
                      </a:r>
                    </a:p>
                  </a:txBody>
                  <a:tcPr>
                    <a:solidFill>
                      <a:srgbClr val="F5F7FA"/>
                    </a:solidFill>
                  </a:tcPr>
                </a:tc>
                <a:tc>
                  <a:txBody>
                    <a:bodyPr/>
                    <a:lstStyle/>
                    <a:p>
                      <a:pPr algn="ctr"/>
                      <a:r>
                        <a:rPr sz="750" b="0">
                          <a:solidFill>
                            <a:srgbClr val="1A1A1A"/>
                          </a:solidFill>
                        </a:rPr>
                        <a:t>42.8 %</a:t>
                      </a:r>
                    </a:p>
                  </a:txBody>
                  <a:tcPr>
                    <a:solidFill>
                      <a:srgbClr val="F5F7FA"/>
                    </a:solidFill>
                  </a:tcPr>
                </a:tc>
                <a:tc>
                  <a:txBody>
                    <a:bodyPr/>
                    <a:lstStyle/>
                    <a:p>
                      <a:pPr algn="ctr"/>
                      <a:r>
                        <a:rPr sz="750" b="0">
                          <a:solidFill>
                            <a:srgbClr val="1A1A1A"/>
                          </a:solidFill>
                        </a:rPr>
                        <a:t>57.6 %</a:t>
                      </a:r>
                    </a:p>
                  </a:txBody>
                  <a:tcPr>
                    <a:solidFill>
                      <a:srgbClr val="F5F7FA"/>
                    </a:solidFill>
                  </a:tcPr>
                </a:tc>
              </a:tr>
              <a:tr h="198000">
                <a:tc>
                  <a:txBody>
                    <a:bodyPr/>
                    <a:lstStyle/>
                    <a:p>
                      <a:pPr algn="ctr"/>
                      <a:r>
                        <a:rPr sz="750" b="0">
                          <a:solidFill>
                            <a:srgbClr val="1A1A1A"/>
                          </a:solidFill>
                        </a:rPr>
                        <a:t>Microsoft Corporation</a:t>
                      </a:r>
                    </a:p>
                  </a:txBody>
                  <a:tcPr>
                    <a:noFill/>
                  </a:tcPr>
                </a:tc>
                <a:tc>
                  <a:txBody>
                    <a:bodyPr/>
                    <a:lstStyle/>
                    <a:p>
                      <a:pPr algn="ctr"/>
                      <a:r>
                        <a:rPr sz="750" b="0">
                          <a:solidFill>
                            <a:srgbClr val="1A1A1A"/>
                          </a:solidFill>
                        </a:rPr>
                        <a:t>16.1x</a:t>
                      </a:r>
                    </a:p>
                  </a:txBody>
                  <a:tcPr>
                    <a:noFill/>
                  </a:tcPr>
                </a:tc>
                <a:tc>
                  <a:txBody>
                    <a:bodyPr/>
                    <a:lstStyle/>
                    <a:p>
                      <a:pPr algn="ctr"/>
                      <a:r>
                        <a:rPr sz="750" b="0">
                          <a:solidFill>
                            <a:srgbClr val="1A1A1A"/>
                          </a:solidFill>
                        </a:rPr>
                        <a:t>9.2x</a:t>
                      </a:r>
                    </a:p>
                  </a:txBody>
                  <a:tcPr>
                    <a:noFill/>
                  </a:tcPr>
                </a:tc>
                <a:tc>
                  <a:txBody>
                    <a:bodyPr/>
                    <a:lstStyle/>
                    <a:p>
                      <a:pPr algn="ctr"/>
                      <a:r>
                        <a:rPr sz="750" b="0">
                          <a:solidFill>
                            <a:srgbClr val="1A1A1A"/>
                          </a:solidFill>
                        </a:rPr>
                        <a:t>23.4x</a:t>
                      </a:r>
                    </a:p>
                  </a:txBody>
                  <a:tcPr>
                    <a:noFill/>
                  </a:tcPr>
                </a:tc>
                <a:tc>
                  <a:txBody>
                    <a:bodyPr/>
                    <a:lstStyle/>
                    <a:p>
                      <a:pPr algn="ctr"/>
                      <a:r>
                        <a:rPr sz="750" b="0">
                          <a:solidFill>
                            <a:srgbClr val="1A1A1A"/>
                          </a:solidFill>
                        </a:rPr>
                        <a:t>68.6 %</a:t>
                      </a:r>
                    </a:p>
                  </a:txBody>
                  <a:tcPr>
                    <a:noFill/>
                  </a:tcPr>
                </a:tc>
                <a:tc>
                  <a:txBody>
                    <a:bodyPr/>
                    <a:lstStyle/>
                    <a:p>
                      <a:pPr algn="ctr"/>
                      <a:r>
                        <a:rPr sz="750" b="0">
                          <a:solidFill>
                            <a:srgbClr val="1A1A1A"/>
                          </a:solidFill>
                        </a:rPr>
                        <a:t>57.4 %</a:t>
                      </a:r>
                    </a:p>
                  </a:txBody>
                  <a:tcPr>
                    <a:noFill/>
                  </a:tcPr>
                </a:tc>
                <a:tc>
                  <a:txBody>
                    <a:bodyPr/>
                    <a:lstStyle/>
                    <a:p>
                      <a:pPr algn="ctr"/>
                      <a:r>
                        <a:rPr sz="750" b="0">
                          <a:solidFill>
                            <a:srgbClr val="1A1A1A"/>
                          </a:solidFill>
                        </a:rPr>
                        <a:t>34.4 %</a:t>
                      </a:r>
                    </a:p>
                  </a:txBody>
                  <a:tcPr>
                    <a:noFill/>
                  </a:tcPr>
                </a:tc>
              </a:tr>
              <a:tr h="198000">
                <a:tc>
                  <a:txBody>
                    <a:bodyPr/>
                    <a:lstStyle/>
                    <a:p>
                      <a:pPr algn="ctr"/>
                      <a:r>
                        <a:rPr sz="750" b="0">
                          <a:solidFill>
                            <a:srgbClr val="1A1A1A"/>
                          </a:solidFill>
                        </a:rPr>
                        <a:t>Meta Platforms, Inc.</a:t>
                      </a:r>
                    </a:p>
                  </a:txBody>
                  <a:tcPr>
                    <a:solidFill>
                      <a:srgbClr val="F5F7FA"/>
                    </a:solidFill>
                  </a:tcPr>
                </a:tc>
                <a:tc>
                  <a:txBody>
                    <a:bodyPr/>
                    <a:lstStyle/>
                    <a:p>
                      <a:pPr algn="ctr"/>
                      <a:r>
                        <a:rPr sz="750" b="0">
                          <a:solidFill>
                            <a:srgbClr val="1A1A1A"/>
                          </a:solidFill>
                        </a:rPr>
                        <a:t>15.2x</a:t>
                      </a:r>
                    </a:p>
                  </a:txBody>
                  <a:tcPr>
                    <a:solidFill>
                      <a:srgbClr val="F5F7FA"/>
                    </a:solidFill>
                  </a:tcPr>
                </a:tc>
                <a:tc>
                  <a:txBody>
                    <a:bodyPr/>
                    <a:lstStyle/>
                    <a:p>
                      <a:pPr algn="ctr"/>
                      <a:r>
                        <a:rPr sz="750" b="0">
                          <a:solidFill>
                            <a:srgbClr val="1A1A1A"/>
                          </a:solidFill>
                        </a:rPr>
                        <a:t>7.7x</a:t>
                      </a:r>
                    </a:p>
                  </a:txBody>
                  <a:tcPr>
                    <a:solidFill>
                      <a:srgbClr val="F5F7FA"/>
                    </a:solidFill>
                  </a:tcPr>
                </a:tc>
                <a:tc>
                  <a:txBody>
                    <a:bodyPr/>
                    <a:lstStyle/>
                    <a:p>
                      <a:pPr algn="ctr"/>
                      <a:r>
                        <a:rPr sz="750" b="0">
                          <a:solidFill>
                            <a:srgbClr val="1A1A1A"/>
                          </a:solidFill>
                        </a:rPr>
                        <a:t>26.0x</a:t>
                      </a:r>
                    </a:p>
                  </a:txBody>
                  <a:tcPr>
                    <a:solidFill>
                      <a:srgbClr val="F5F7FA"/>
                    </a:solidFill>
                  </a:tcPr>
                </a:tc>
                <a:tc>
                  <a:txBody>
                    <a:bodyPr/>
                    <a:lstStyle/>
                    <a:p>
                      <a:pPr algn="ctr"/>
                      <a:r>
                        <a:rPr sz="750" b="0">
                          <a:solidFill>
                            <a:srgbClr val="1A1A1A"/>
                          </a:solidFill>
                        </a:rPr>
                        <a:t>82.0 %</a:t>
                      </a:r>
                    </a:p>
                  </a:txBody>
                  <a:tcPr>
                    <a:solidFill>
                      <a:srgbClr val="F5F7FA"/>
                    </a:solidFill>
                  </a:tcPr>
                </a:tc>
                <a:tc>
                  <a:txBody>
                    <a:bodyPr/>
                    <a:lstStyle/>
                    <a:p>
                      <a:pPr algn="ctr"/>
                      <a:r>
                        <a:rPr sz="750" b="0">
                          <a:solidFill>
                            <a:srgbClr val="1A1A1A"/>
                          </a:solidFill>
                        </a:rPr>
                        <a:t>50.7 %</a:t>
                      </a:r>
                    </a:p>
                  </a:txBody>
                  <a:tcPr>
                    <a:solidFill>
                      <a:srgbClr val="F5F7FA"/>
                    </a:solidFill>
                  </a:tcPr>
                </a:tc>
                <a:tc>
                  <a:txBody>
                    <a:bodyPr/>
                    <a:lstStyle/>
                    <a:p>
                      <a:pPr algn="ctr"/>
                      <a:r>
                        <a:rPr sz="750" b="0">
                          <a:solidFill>
                            <a:srgbClr val="1A1A1A"/>
                          </a:solidFill>
                        </a:rPr>
                        <a:t>30.2 %</a:t>
                      </a:r>
                    </a:p>
                  </a:txBody>
                  <a:tcPr>
                    <a:solidFill>
                      <a:srgbClr val="F5F7FA"/>
                    </a:solidFill>
                  </a:tcPr>
                </a:tc>
              </a:tr>
              <a:tr h="198000">
                <a:tc>
                  <a:txBody>
                    <a:bodyPr/>
                    <a:lstStyle/>
                    <a:p>
                      <a:pPr algn="ctr"/>
                      <a:r>
                        <a:rPr sz="750" b="0">
                          <a:solidFill>
                            <a:srgbClr val="1A1A1A"/>
                          </a:solidFill>
                        </a:rPr>
                        <a:t>Broadcom Inc.</a:t>
                      </a:r>
                    </a:p>
                  </a:txBody>
                  <a:tcPr>
                    <a:noFill/>
                  </a:tcPr>
                </a:tc>
                <a:tc>
                  <a:txBody>
                    <a:bodyPr/>
                    <a:lstStyle/>
                    <a:p>
                      <a:pPr algn="ctr"/>
                      <a:r>
                        <a:rPr sz="750" b="0">
                          <a:solidFill>
                            <a:srgbClr val="1A1A1A"/>
                          </a:solidFill>
                        </a:rPr>
                        <a:t>46.0x</a:t>
                      </a:r>
                    </a:p>
                  </a:txBody>
                  <a:tcPr>
                    <a:noFill/>
                  </a:tcPr>
                </a:tc>
                <a:tc>
                  <a:txBody>
                    <a:bodyPr/>
                    <a:lstStyle/>
                    <a:p>
                      <a:pPr algn="ctr"/>
                      <a:r>
                        <a:rPr sz="750" b="0">
                          <a:solidFill>
                            <a:srgbClr val="1A1A1A"/>
                          </a:solidFill>
                        </a:rPr>
                        <a:t>25.1x</a:t>
                      </a:r>
                    </a:p>
                  </a:txBody>
                  <a:tcPr>
                    <a:noFill/>
                  </a:tcPr>
                </a:tc>
                <a:tc>
                  <a:txBody>
                    <a:bodyPr/>
                    <a:lstStyle/>
                    <a:p>
                      <a:pPr algn="ctr"/>
                      <a:r>
                        <a:rPr sz="750" b="0">
                          <a:solidFill>
                            <a:srgbClr val="1A1A1A"/>
                          </a:solidFill>
                        </a:rPr>
                        <a:t>68.5x</a:t>
                      </a:r>
                    </a:p>
                  </a:txBody>
                  <a:tcPr>
                    <a:noFill/>
                  </a:tcPr>
                </a:tc>
                <a:tc>
                  <a:txBody>
                    <a:bodyPr/>
                    <a:lstStyle/>
                    <a:p>
                      <a:pPr algn="ctr"/>
                      <a:r>
                        <a:rPr sz="750" b="0">
                          <a:solidFill>
                            <a:srgbClr val="1A1A1A"/>
                          </a:solidFill>
                        </a:rPr>
                        <a:t>76.7 %</a:t>
                      </a:r>
                    </a:p>
                  </a:txBody>
                  <a:tcPr>
                    <a:noFill/>
                  </a:tcPr>
                </a:tc>
                <a:tc>
                  <a:txBody>
                    <a:bodyPr/>
                    <a:lstStyle/>
                    <a:p>
                      <a:pPr algn="ctr"/>
                      <a:r>
                        <a:rPr sz="750" b="0">
                          <a:solidFill>
                            <a:srgbClr val="1A1A1A"/>
                          </a:solidFill>
                        </a:rPr>
                        <a:t>54.5 %</a:t>
                      </a:r>
                    </a:p>
                  </a:txBody>
                  <a:tcPr>
                    <a:noFill/>
                  </a:tcPr>
                </a:tc>
                <a:tc>
                  <a:txBody>
                    <a:bodyPr/>
                    <a:lstStyle/>
                    <a:p>
                      <a:pPr algn="ctr"/>
                      <a:r>
                        <a:rPr sz="750" b="0">
                          <a:solidFill>
                            <a:srgbClr val="1A1A1A"/>
                          </a:solidFill>
                        </a:rPr>
                        <a:t>33.4 %</a:t>
                      </a:r>
                    </a:p>
                  </a:txBody>
                  <a:tcPr>
                    <a:noFill/>
                  </a:tcPr>
                </a:tc>
              </a:tr>
              <a:tr h="198000">
                <a:tc>
                  <a:txBody>
                    <a:bodyPr/>
                    <a:lstStyle/>
                    <a:p>
                      <a:pPr algn="ctr"/>
                      <a:r>
                        <a:rPr sz="750" b="0">
                          <a:solidFill>
                            <a:srgbClr val="1A1A1A"/>
                          </a:solidFill>
                        </a:rPr>
                        <a:t>Advanced Micro Devices, Inc.</a:t>
                      </a:r>
                    </a:p>
                  </a:txBody>
                  <a:tcPr>
                    <a:solidFill>
                      <a:srgbClr val="F5F7FA"/>
                    </a:solidFill>
                  </a:tcPr>
                </a:tc>
                <a:tc>
                  <a:txBody>
                    <a:bodyPr/>
                    <a:lstStyle/>
                    <a:p>
                      <a:pPr algn="ctr"/>
                      <a:r>
                        <a:rPr sz="750" b="0">
                          <a:solidFill>
                            <a:srgbClr val="1A1A1A"/>
                          </a:solidFill>
                        </a:rPr>
                        <a:t>55.1x</a:t>
                      </a:r>
                    </a:p>
                  </a:txBody>
                  <a:tcPr>
                    <a:solidFill>
                      <a:srgbClr val="F5F7FA"/>
                    </a:solidFill>
                  </a:tcPr>
                </a:tc>
                <a:tc>
                  <a:txBody>
                    <a:bodyPr/>
                    <a:lstStyle/>
                    <a:p>
                      <a:pPr algn="ctr"/>
                      <a:r>
                        <a:rPr sz="750" b="0">
                          <a:solidFill>
                            <a:srgbClr val="1A1A1A"/>
                          </a:solidFill>
                        </a:rPr>
                        <a:t>10.7x</a:t>
                      </a:r>
                    </a:p>
                  </a:txBody>
                  <a:tcPr>
                    <a:solidFill>
                      <a:srgbClr val="F5F7FA"/>
                    </a:solidFill>
                  </a:tcPr>
                </a:tc>
                <a:tc>
                  <a:txBody>
                    <a:bodyPr/>
                    <a:lstStyle/>
                    <a:p>
                      <a:pPr algn="ctr"/>
                      <a:r>
                        <a:rPr sz="750" b="0">
                          <a:solidFill>
                            <a:srgbClr val="1A1A1A"/>
                          </a:solidFill>
                        </a:rPr>
                        <a:t>88.5x</a:t>
                      </a:r>
                    </a:p>
                  </a:txBody>
                  <a:tcPr>
                    <a:solidFill>
                      <a:srgbClr val="F5F7FA"/>
                    </a:solidFill>
                  </a:tcPr>
                </a:tc>
                <a:tc>
                  <a:txBody>
                    <a:bodyPr/>
                    <a:lstStyle/>
                    <a:p>
                      <a:pPr algn="ctr"/>
                      <a:r>
                        <a:rPr sz="750" b="0">
                          <a:solidFill>
                            <a:srgbClr val="1A1A1A"/>
                          </a:solidFill>
                        </a:rPr>
                        <a:t>52.5 %</a:t>
                      </a:r>
                    </a:p>
                  </a:txBody>
                  <a:tcPr>
                    <a:solidFill>
                      <a:srgbClr val="F5F7FA"/>
                    </a:solidFill>
                  </a:tcPr>
                </a:tc>
                <a:tc>
                  <a:txBody>
                    <a:bodyPr/>
                    <a:lstStyle/>
                    <a:p>
                      <a:pPr algn="ctr"/>
                      <a:r>
                        <a:rPr sz="750" b="0">
                          <a:solidFill>
                            <a:srgbClr val="1A1A1A"/>
                          </a:solidFill>
                        </a:rPr>
                        <a:t>19.5 %</a:t>
                      </a:r>
                    </a:p>
                  </a:txBody>
                  <a:tcPr>
                    <a:solidFill>
                      <a:srgbClr val="F5F7FA"/>
                    </a:solidFill>
                  </a:tcPr>
                </a:tc>
                <a:tc>
                  <a:txBody>
                    <a:bodyPr/>
                    <a:lstStyle/>
                    <a:p>
                      <a:pPr algn="ctr"/>
                      <a:r>
                        <a:rPr sz="750" b="0">
                          <a:solidFill>
                            <a:srgbClr val="1A1A1A"/>
                          </a:solidFill>
                        </a:rPr>
                        <a:t>7.1 %</a:t>
                      </a:r>
                    </a:p>
                  </a:txBody>
                  <a:tcPr>
                    <a:solidFill>
                      <a:srgbClr val="F5F7FA"/>
                    </a:solidFill>
                  </a:tcPr>
                </a:tc>
              </a:tr>
              <a:tr h="198000">
                <a:tc>
                  <a:txBody>
                    <a:bodyPr/>
                    <a:lstStyle/>
                    <a:p>
                      <a:pPr algn="ctr"/>
                      <a:r>
                        <a:rPr sz="750" b="0">
                          <a:solidFill>
                            <a:srgbClr val="1A1A1A"/>
                          </a:solidFill>
                        </a:rPr>
                        <a:t>MEDIANE</a:t>
                      </a:r>
                    </a:p>
                  </a:txBody>
                  <a:tcPr>
                    <a:noFill/>
                  </a:tcPr>
                </a:tc>
                <a:tc>
                  <a:txBody>
                    <a:bodyPr/>
                    <a:lstStyle/>
                    <a:p>
                      <a:pPr algn="ctr"/>
                      <a:r>
                        <a:rPr sz="750" b="0">
                          <a:solidFill>
                            <a:srgbClr val="1A1A1A"/>
                          </a:solidFill>
                        </a:rPr>
                        <a:t>25.1x</a:t>
                      </a:r>
                    </a:p>
                  </a:txBody>
                  <a:tcPr>
                    <a:noFill/>
                  </a:tcPr>
                </a:tc>
                <a:tc>
                  <a:txBody>
                    <a:bodyPr/>
                    <a:lstStyle/>
                    <a:p>
                      <a:pPr algn="ctr"/>
                      <a:r>
                        <a:rPr sz="750" b="0">
                          <a:solidFill>
                            <a:srgbClr val="1A1A1A"/>
                          </a:solidFill>
                        </a:rPr>
                        <a:t>9.3x</a:t>
                      </a:r>
                    </a:p>
                  </a:txBody>
                  <a:tcPr>
                    <a:noFill/>
                  </a:tcPr>
                </a:tc>
                <a:tc>
                  <a:txBody>
                    <a:bodyPr/>
                    <a:lstStyle/>
                    <a:p>
                      <a:pPr algn="ctr"/>
                      <a:r>
                        <a:rPr sz="750" b="0">
                          <a:solidFill>
                            <a:srgbClr val="1A1A1A"/>
                          </a:solidFill>
                        </a:rPr>
                        <a:t>31.0x</a:t>
                      </a:r>
                    </a:p>
                  </a:txBody>
                  <a:tcPr>
                    <a:noFill/>
                  </a:tcPr>
                </a:tc>
                <a:tc>
                  <a:txBody>
                    <a:bodyPr/>
                    <a:lstStyle/>
                    <a:p>
                      <a:pPr algn="ctr"/>
                      <a:r>
                        <a:rPr sz="750" b="0">
                          <a:solidFill>
                            <a:srgbClr val="1A1A1A"/>
                          </a:solidFill>
                        </a:rPr>
                        <a:t>67.8 %</a:t>
                      </a:r>
                    </a:p>
                  </a:txBody>
                  <a:tcPr>
                    <a:noFill/>
                  </a:tcPr>
                </a:tc>
                <a:tc>
                  <a:txBody>
                    <a:bodyPr/>
                    <a:lstStyle/>
                    <a:p>
                      <a:pPr algn="ctr"/>
                      <a:r>
                        <a:rPr sz="750" b="0">
                          <a:solidFill>
                            <a:srgbClr val="1A1A1A"/>
                          </a:solidFill>
                        </a:rPr>
                        <a:t>46.8 %</a:t>
                      </a:r>
                    </a:p>
                  </a:txBody>
                  <a:tcPr>
                    <a:noFill/>
                  </a:tcPr>
                </a:tc>
                <a:tc>
                  <a:txBody>
                    <a:bodyPr/>
                    <a:lstStyle/>
                    <a:p>
                      <a:pPr algn="ctr"/>
                      <a:r>
                        <a:rPr sz="750" b="0">
                          <a:solidFill>
                            <a:srgbClr val="1A1A1A"/>
                          </a:solidFill>
                        </a:rPr>
                        <a:t>35.0 %</a:t>
                      </a:r>
                    </a:p>
                  </a:txBody>
                  <a:tcPr>
                    <a:noFill/>
                  </a:tcPr>
                </a:tc>
              </a:tr>
            </a:tbl>
          </a:graphicData>
        </a:graphic>
      </p:graphicFrame>
      <p:sp>
        <p:nvSpPr>
          <p:cNvPr id="16" name="Rectangle 15"/>
          <p:cNvSpPr/>
          <p:nvPr/>
        </p:nvSpPr>
        <p:spPr>
          <a:xfrm>
            <a:off x="324000" y="3131999"/>
            <a:ext cx="8496000" cy="1007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131999"/>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6000" y="3150000"/>
            <a:ext cx="8352000" cy="216000"/>
          </a:xfrm>
          <a:prstGeom prst="rect">
            <a:avLst/>
          </a:prstGeom>
          <a:noFill/>
        </p:spPr>
        <p:txBody>
          <a:bodyPr wrap="square">
            <a:spAutoFit/>
          </a:bodyPr>
          <a:lstStyle/>
          <a:p>
            <a:pPr algn="l"/>
            <a:r>
              <a:rPr sz="850" b="1" i="0">
                <a:solidFill>
                  <a:srgbClr val="FFFFFF"/>
                </a:solidFill>
              </a:rPr>
              <a:t>LECTURE ANALYTIQUE</a:t>
            </a:r>
          </a:p>
        </p:txBody>
      </p:sp>
      <p:sp>
        <p:nvSpPr>
          <p:cNvPr id="19" name="TextBox 18"/>
          <p:cNvSpPr txBox="1"/>
          <p:nvPr/>
        </p:nvSpPr>
        <p:spPr>
          <a:xfrm>
            <a:off x="396000" y="3420000"/>
            <a:ext cx="8352000" cy="720000"/>
          </a:xfrm>
          <a:prstGeom prst="rect">
            <a:avLst/>
          </a:prstGeom>
          <a:noFill/>
        </p:spPr>
        <p:txBody>
          <a:bodyPr wrap="square">
            <a:spAutoFit/>
          </a:bodyPr>
          <a:lstStyle/>
          <a:p>
            <a:pPr algn="l"/>
            <a:r>
              <a:rPr sz="850" b="0" i="0">
                <a:solidFill>
                  <a:srgbClr val="555555"/>
                </a:solidFill>
              </a:rPr>
              <a:t>La mediane EV/EBITDA sectorielle s etablit a 25.1x LTM. Alphabet Inc. (25.2x) se distingue comme le leader de qualite, combine a une marge EBITDA de 37.3 % et une croissance de +18.0 %. La dispersion des multiples revele l heterogeneite des profils au sein du secteur Technology — une lecture croisee P/E vs EV/EBITDA permet d isoler les effets de structure de capital et les distorsions comptables.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Positionnement dans le Cycle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Drivers de croissance &amp; sensibilité macro</a:t>
            </a:r>
          </a:p>
        </p:txBody>
      </p:sp>
      <p:sp>
        <p:nvSpPr>
          <p:cNvPr id="15" name="Rectangle 14"/>
          <p:cNvSpPr/>
          <p:nvPr/>
        </p:nvSpPr>
        <p:spPr>
          <a:xfrm>
            <a:off x="324000" y="900000"/>
            <a:ext cx="36000" cy="68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0000" y="900000"/>
            <a:ext cx="5400000" cy="684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72000"/>
            <a:ext cx="288000" cy="288000"/>
          </a:xfrm>
          <a:prstGeom prst="rect">
            <a:avLst/>
          </a:prstGeom>
          <a:noFill/>
        </p:spPr>
        <p:txBody>
          <a:bodyPr wrap="square">
            <a:spAutoFit/>
          </a:bodyPr>
          <a:lstStyle/>
          <a:p>
            <a:pPr algn="l"/>
            <a:r>
              <a:rPr sz="1400" b="1" i="0">
                <a:solidFill>
                  <a:srgbClr val="1A7A4A"/>
                </a:solidFill>
              </a:rPr>
              <a:t>▲</a:t>
            </a:r>
          </a:p>
        </p:txBody>
      </p:sp>
      <p:sp>
        <p:nvSpPr>
          <p:cNvPr id="18" name="TextBox 17"/>
          <p:cNvSpPr txBox="1"/>
          <p:nvPr/>
        </p:nvSpPr>
        <p:spPr>
          <a:xfrm>
            <a:off x="756000" y="954000"/>
            <a:ext cx="4932000" cy="251999"/>
          </a:xfrm>
          <a:prstGeom prst="rect">
            <a:avLst/>
          </a:prstGeom>
          <a:noFill/>
        </p:spPr>
        <p:txBody>
          <a:bodyPr wrap="square">
            <a:spAutoFit/>
          </a:bodyPr>
          <a:lstStyle/>
          <a:p>
            <a:pPr algn="l"/>
            <a:r>
              <a:rPr sz="1000" b="1" i="0">
                <a:solidFill>
                  <a:srgbClr val="1B3A6B"/>
                </a:solidFill>
              </a:rPr>
              <a:t>Demande IA</a:t>
            </a:r>
          </a:p>
        </p:txBody>
      </p:sp>
      <p:sp>
        <p:nvSpPr>
          <p:cNvPr id="19" name="TextBox 18"/>
          <p:cNvSpPr txBox="1"/>
          <p:nvPr/>
        </p:nvSpPr>
        <p:spPr>
          <a:xfrm>
            <a:off x="756000" y="1242000"/>
            <a:ext cx="4932000" cy="288000"/>
          </a:xfrm>
          <a:prstGeom prst="rect">
            <a:avLst/>
          </a:prstGeom>
          <a:noFill/>
        </p:spPr>
        <p:txBody>
          <a:bodyPr wrap="square">
            <a:spAutoFit/>
          </a:bodyPr>
          <a:lstStyle/>
          <a:p>
            <a:pPr algn="l"/>
            <a:r>
              <a:rPr sz="800" b="0" i="0">
                <a:solidFill>
                  <a:srgbClr val="555555"/>
                </a:solidFill>
              </a:rPr>
              <a:t>La demande en solutions d'IA explose, avec une croissance annuelle composée (CAGR) estimée à +35% d'ici 2027 pour les infrastructures et logiciels.</a:t>
            </a:r>
          </a:p>
        </p:txBody>
      </p:sp>
      <p:sp>
        <p:nvSpPr>
          <p:cNvPr id="20" name="Rectangle 19"/>
          <p:cNvSpPr/>
          <p:nvPr/>
        </p:nvSpPr>
        <p:spPr>
          <a:xfrm>
            <a:off x="324000" y="1818000"/>
            <a:ext cx="36000" cy="68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60000" y="1818000"/>
            <a:ext cx="5400000" cy="684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96000" y="1890000"/>
            <a:ext cx="288000" cy="288000"/>
          </a:xfrm>
          <a:prstGeom prst="rect">
            <a:avLst/>
          </a:prstGeom>
          <a:noFill/>
        </p:spPr>
        <p:txBody>
          <a:bodyPr wrap="square">
            <a:spAutoFit/>
          </a:bodyPr>
          <a:lstStyle/>
          <a:p>
            <a:pPr algn="l"/>
            <a:r>
              <a:rPr sz="1400" b="1" i="0">
                <a:solidFill>
                  <a:srgbClr val="1A7A4A"/>
                </a:solidFill>
              </a:rPr>
              <a:t>▲</a:t>
            </a:r>
          </a:p>
        </p:txBody>
      </p:sp>
      <p:sp>
        <p:nvSpPr>
          <p:cNvPr id="23" name="TextBox 22"/>
          <p:cNvSpPr txBox="1"/>
          <p:nvPr/>
        </p:nvSpPr>
        <p:spPr>
          <a:xfrm>
            <a:off x="756000" y="1872000"/>
            <a:ext cx="4932000" cy="251999"/>
          </a:xfrm>
          <a:prstGeom prst="rect">
            <a:avLst/>
          </a:prstGeom>
          <a:noFill/>
        </p:spPr>
        <p:txBody>
          <a:bodyPr wrap="square">
            <a:spAutoFit/>
          </a:bodyPr>
          <a:lstStyle/>
          <a:p>
            <a:pPr algn="l"/>
            <a:r>
              <a:rPr sz="1000" b="1" i="0">
                <a:solidFill>
                  <a:srgbClr val="1B3A6B"/>
                </a:solidFill>
              </a:rPr>
              <a:t>Marges cloud</a:t>
            </a:r>
          </a:p>
        </p:txBody>
      </p:sp>
      <p:sp>
        <p:nvSpPr>
          <p:cNvPr id="24" name="TextBox 23"/>
          <p:cNvSpPr txBox="1"/>
          <p:nvPr/>
        </p:nvSpPr>
        <p:spPr>
          <a:xfrm>
            <a:off x="756000" y="2160000"/>
            <a:ext cx="4932000" cy="288000"/>
          </a:xfrm>
          <a:prstGeom prst="rect">
            <a:avLst/>
          </a:prstGeom>
          <a:noFill/>
        </p:spPr>
        <p:txBody>
          <a:bodyPr wrap="square">
            <a:spAutoFit/>
          </a:bodyPr>
          <a:lstStyle/>
          <a:p>
            <a:pPr algn="l"/>
            <a:r>
              <a:rPr sz="800" b="0" i="0">
                <a:solidFill>
                  <a:srgbClr val="555555"/>
                </a:solidFill>
              </a:rPr>
              <a:t>Les marges des services cloud (AWS, Azure, Google Cloud) continuent de s'améliorer grâce aux économies d'échelle et à l'augmentation des prix.</a:t>
            </a:r>
          </a:p>
        </p:txBody>
      </p:sp>
      <p:sp>
        <p:nvSpPr>
          <p:cNvPr id="25" name="Rectangle 24"/>
          <p:cNvSpPr/>
          <p:nvPr/>
        </p:nvSpPr>
        <p:spPr>
          <a:xfrm>
            <a:off x="324000" y="2736000"/>
            <a:ext cx="36000" cy="68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0000" y="2736000"/>
            <a:ext cx="5400000" cy="684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96000" y="2808000"/>
            <a:ext cx="288000" cy="288000"/>
          </a:xfrm>
          <a:prstGeom prst="rect">
            <a:avLst/>
          </a:prstGeom>
          <a:noFill/>
        </p:spPr>
        <p:txBody>
          <a:bodyPr wrap="square">
            <a:spAutoFit/>
          </a:bodyPr>
          <a:lstStyle/>
          <a:p>
            <a:pPr algn="l"/>
            <a:r>
              <a:rPr sz="1400" b="1" i="0">
                <a:solidFill>
                  <a:srgbClr val="A82020"/>
                </a:solidFill>
              </a:rPr>
              <a:t>▼</a:t>
            </a:r>
          </a:p>
        </p:txBody>
      </p:sp>
      <p:sp>
        <p:nvSpPr>
          <p:cNvPr id="28" name="TextBox 27"/>
          <p:cNvSpPr txBox="1"/>
          <p:nvPr/>
        </p:nvSpPr>
        <p:spPr>
          <a:xfrm>
            <a:off x="756000" y="2790000"/>
            <a:ext cx="4932000" cy="251999"/>
          </a:xfrm>
          <a:prstGeom prst="rect">
            <a:avLst/>
          </a:prstGeom>
          <a:noFill/>
        </p:spPr>
        <p:txBody>
          <a:bodyPr wrap="square">
            <a:spAutoFit/>
          </a:bodyPr>
          <a:lstStyle/>
          <a:p>
            <a:pPr algn="l"/>
            <a:r>
              <a:rPr sz="1000" b="1" i="0">
                <a:solidFill>
                  <a:srgbClr val="1B3A6B"/>
                </a:solidFill>
              </a:rPr>
              <a:t>Coûts R&amp;D</a:t>
            </a:r>
          </a:p>
        </p:txBody>
      </p:sp>
      <p:sp>
        <p:nvSpPr>
          <p:cNvPr id="29" name="TextBox 28"/>
          <p:cNvSpPr txBox="1"/>
          <p:nvPr/>
        </p:nvSpPr>
        <p:spPr>
          <a:xfrm>
            <a:off x="756000" y="3077999"/>
            <a:ext cx="4932000" cy="288000"/>
          </a:xfrm>
          <a:prstGeom prst="rect">
            <a:avLst/>
          </a:prstGeom>
          <a:noFill/>
        </p:spPr>
        <p:txBody>
          <a:bodyPr wrap="square">
            <a:spAutoFit/>
          </a:bodyPr>
          <a:lstStyle/>
          <a:p>
            <a:pPr algn="l"/>
            <a:r>
              <a:rPr sz="800" b="0" i="0">
                <a:solidFill>
                  <a:srgbClr val="555555"/>
                </a:solidFill>
              </a:rPr>
              <a:t>Les dépenses en R&amp;D pour l'IA et les semi-conducteurs pourraient peser sur les marges si la concurrence s'intensifie ou si les cycles de production s'allongent.</a:t>
            </a:r>
          </a:p>
        </p:txBody>
      </p:sp>
      <p:sp>
        <p:nvSpPr>
          <p:cNvPr id="30" name="Rectangle 29"/>
          <p:cNvSpPr/>
          <p:nvPr/>
        </p:nvSpPr>
        <p:spPr>
          <a:xfrm>
            <a:off x="324000" y="3653999"/>
            <a:ext cx="36000" cy="68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0000" y="3653999"/>
            <a:ext cx="5400000" cy="684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96000" y="3725999"/>
            <a:ext cx="288000" cy="288000"/>
          </a:xfrm>
          <a:prstGeom prst="rect">
            <a:avLst/>
          </a:prstGeom>
          <a:noFill/>
        </p:spPr>
        <p:txBody>
          <a:bodyPr wrap="square">
            <a:spAutoFit/>
          </a:bodyPr>
          <a:lstStyle/>
          <a:p>
            <a:pPr algn="l"/>
            <a:r>
              <a:rPr sz="1400" b="1" i="0">
                <a:solidFill>
                  <a:srgbClr val="A82020"/>
                </a:solidFill>
              </a:rPr>
              <a:t>▼</a:t>
            </a:r>
          </a:p>
        </p:txBody>
      </p:sp>
      <p:sp>
        <p:nvSpPr>
          <p:cNvPr id="33" name="TextBox 32"/>
          <p:cNvSpPr txBox="1"/>
          <p:nvPr/>
        </p:nvSpPr>
        <p:spPr>
          <a:xfrm>
            <a:off x="756000" y="3707999"/>
            <a:ext cx="4932000" cy="251999"/>
          </a:xfrm>
          <a:prstGeom prst="rect">
            <a:avLst/>
          </a:prstGeom>
          <a:noFill/>
        </p:spPr>
        <p:txBody>
          <a:bodyPr wrap="square">
            <a:spAutoFit/>
          </a:bodyPr>
          <a:lstStyle/>
          <a:p>
            <a:pPr algn="l"/>
            <a:r>
              <a:rPr sz="1000" b="1" i="0">
                <a:solidFill>
                  <a:srgbClr val="1B3A6B"/>
                </a:solidFill>
              </a:rPr>
              <a:t>Cybersécurité</a:t>
            </a:r>
          </a:p>
        </p:txBody>
      </p:sp>
      <p:sp>
        <p:nvSpPr>
          <p:cNvPr id="34" name="TextBox 33"/>
          <p:cNvSpPr txBox="1"/>
          <p:nvPr/>
        </p:nvSpPr>
        <p:spPr>
          <a:xfrm>
            <a:off x="756000" y="3995999"/>
            <a:ext cx="4932000" cy="288000"/>
          </a:xfrm>
          <a:prstGeom prst="rect">
            <a:avLst/>
          </a:prstGeom>
          <a:noFill/>
        </p:spPr>
        <p:txBody>
          <a:bodyPr wrap="square">
            <a:spAutoFit/>
          </a:bodyPr>
          <a:lstStyle/>
          <a:p>
            <a:pPr algn="l"/>
            <a:r>
              <a:rPr sz="800" b="0" i="0">
                <a:solidFill>
                  <a:srgbClr val="555555"/>
                </a:solidFill>
              </a:rPr>
              <a:t>Les cyberattaques croissantes obligent les entreprises à investir davantage dans la sécurité, augmentant leurs coûts opérationnels sans garantie de ROI immédiat.</a:t>
            </a:r>
          </a:p>
        </p:txBody>
      </p:sp>
      <p:sp>
        <p:nvSpPr>
          <p:cNvPr id="35" name="Rectangle 34"/>
          <p:cNvSpPr/>
          <p:nvPr/>
        </p:nvSpPr>
        <p:spPr>
          <a:xfrm>
            <a:off x="5976000" y="900000"/>
            <a:ext cx="2844000" cy="392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976000" y="1044000"/>
            <a:ext cx="2844000" cy="251999"/>
          </a:xfrm>
          <a:prstGeom prst="rect">
            <a:avLst/>
          </a:prstGeom>
          <a:noFill/>
        </p:spPr>
        <p:txBody>
          <a:bodyPr wrap="square">
            <a:spAutoFit/>
          </a:bodyPr>
          <a:lstStyle/>
          <a:p>
            <a:pPr algn="ctr"/>
            <a:r>
              <a:rPr sz="850" b="1" i="0">
                <a:solidFill>
                  <a:srgbClr val="1B3A6B"/>
                </a:solidFill>
              </a:rPr>
              <a:t>SIGNAL SECTORIEL</a:t>
            </a:r>
          </a:p>
        </p:txBody>
      </p:sp>
      <p:sp>
        <p:nvSpPr>
          <p:cNvPr id="37" name="Rectangle 36"/>
          <p:cNvSpPr/>
          <p:nvPr/>
        </p:nvSpPr>
        <p:spPr>
          <a:xfrm>
            <a:off x="6300000" y="1404000"/>
            <a:ext cx="219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300000" y="1440000"/>
            <a:ext cx="2196000" cy="432000"/>
          </a:xfrm>
          <a:prstGeom prst="rect">
            <a:avLst/>
          </a:prstGeom>
          <a:noFill/>
        </p:spPr>
        <p:txBody>
          <a:bodyPr wrap="square">
            <a:spAutoFit/>
          </a:bodyPr>
          <a:lstStyle/>
          <a:p>
            <a:pPr algn="ctr"/>
            <a:r>
              <a:rPr sz="1200" b="1" i="0">
                <a:solidFill>
                  <a:srgbClr val="FFFFFF"/>
                </a:solidFill>
              </a:rPr>
              <a:t>● SURPONDÉRER</a:t>
            </a:r>
          </a:p>
        </p:txBody>
      </p:sp>
      <p:sp>
        <p:nvSpPr>
          <p:cNvPr id="39" name="TextBox 38"/>
          <p:cNvSpPr txBox="1"/>
          <p:nvPr/>
        </p:nvSpPr>
        <p:spPr>
          <a:xfrm>
            <a:off x="5976000" y="2015999"/>
            <a:ext cx="2844000" cy="216000"/>
          </a:xfrm>
          <a:prstGeom prst="rect">
            <a:avLst/>
          </a:prstGeom>
          <a:noFill/>
        </p:spPr>
        <p:txBody>
          <a:bodyPr wrap="square">
            <a:spAutoFit/>
          </a:bodyPr>
          <a:lstStyle/>
          <a:p>
            <a:pPr algn="ctr"/>
            <a:r>
              <a:rPr sz="800" b="0" i="0">
                <a:solidFill>
                  <a:srgbClr val="555555"/>
                </a:solidFill>
              </a:rPr>
              <a:t>Score moyen FinSight</a:t>
            </a:r>
          </a:p>
        </p:txBody>
      </p:sp>
      <p:sp>
        <p:nvSpPr>
          <p:cNvPr id="40" name="TextBox 39"/>
          <p:cNvSpPr txBox="1"/>
          <p:nvPr/>
        </p:nvSpPr>
        <p:spPr>
          <a:xfrm>
            <a:off x="5976000" y="2232000"/>
            <a:ext cx="2844000" cy="468000"/>
          </a:xfrm>
          <a:prstGeom prst="rect">
            <a:avLst/>
          </a:prstGeom>
          <a:noFill/>
        </p:spPr>
        <p:txBody>
          <a:bodyPr wrap="square">
            <a:spAutoFit/>
          </a:bodyPr>
          <a:lstStyle/>
          <a:p>
            <a:pPr algn="ctr"/>
            <a:r>
              <a:rPr sz="2800" b="1" i="0">
                <a:solidFill>
                  <a:srgbClr val="1B3A6B"/>
                </a:solidFill>
              </a:rPr>
              <a:t>77/100</a:t>
            </a:r>
          </a:p>
        </p:txBody>
      </p:sp>
      <p:sp>
        <p:nvSpPr>
          <p:cNvPr id="41" name="TextBox 40"/>
          <p:cNvSpPr txBox="1"/>
          <p:nvPr/>
        </p:nvSpPr>
        <p:spPr>
          <a:xfrm>
            <a:off x="5976000" y="2808000"/>
            <a:ext cx="2844000" cy="251999"/>
          </a:xfrm>
          <a:prstGeom prst="rect">
            <a:avLst/>
          </a:prstGeom>
          <a:noFill/>
        </p:spPr>
        <p:txBody>
          <a:bodyPr wrap="square">
            <a:spAutoFit/>
          </a:bodyPr>
          <a:lstStyle/>
          <a:p>
            <a:pPr algn="ctr"/>
            <a:r>
              <a:rPr sz="800" b="0" i="0">
                <a:solidFill>
                  <a:srgbClr val="555555"/>
                </a:solidFill>
              </a:rPr>
              <a:t>WACC median : 11.4 %</a:t>
            </a:r>
          </a:p>
        </p:txBody>
      </p:sp>
      <p:sp>
        <p:nvSpPr>
          <p:cNvPr id="42" name="TextBox 41"/>
          <p:cNvSpPr txBox="1"/>
          <p:nvPr/>
        </p:nvSpPr>
        <p:spPr>
          <a:xfrm>
            <a:off x="5976000" y="3096000"/>
            <a:ext cx="2844000" cy="216000"/>
          </a:xfrm>
          <a:prstGeom prst="rect">
            <a:avLst/>
          </a:prstGeom>
          <a:noFill/>
        </p:spPr>
        <p:txBody>
          <a:bodyPr wrap="square">
            <a:spAutoFit/>
          </a:bodyPr>
          <a:lstStyle/>
          <a:p>
            <a:pPr algn="ctr"/>
            <a:r>
              <a:rPr sz="800" b="0" i="0">
                <a:solidFill>
                  <a:srgbClr val="AAAAAA"/>
                </a:solidFill>
              </a:rPr>
              <a:t>Horizon : 12 mois</a:t>
            </a:r>
          </a:p>
        </p:txBody>
      </p:sp>
      <p:sp>
        <p:nvSpPr>
          <p:cNvPr id="43" name="TextBox 42"/>
          <p:cNvSpPr txBox="1"/>
          <p:nvPr/>
        </p:nvSpPr>
        <p:spPr>
          <a:xfrm>
            <a:off x="5976000" y="3456000"/>
            <a:ext cx="2844000" cy="540000"/>
          </a:xfrm>
          <a:prstGeom prst="rect">
            <a:avLst/>
          </a:prstGeom>
          <a:noFill/>
        </p:spPr>
        <p:txBody>
          <a:bodyPr wrap="square">
            <a:spAutoFit/>
          </a:bodyPr>
          <a:lstStyle/>
          <a:p>
            <a:pPr algn="ctr"/>
            <a:r>
              <a:rPr sz="800" b="0" i="0">
                <a:solidFill>
                  <a:srgbClr val="2A5298"/>
                </a:solidFill>
              </a:rPr>
              <a:t>Le secteur se situe en phase de maturité avancée pour les segments traditionnels (smartphones, PC), mais en phase d'expansion disruptive pour l'IA, le cloud et les semi-conducteurs.</a:t>
            </a:r>
          </a:p>
        </p:txBody>
      </p:sp>
      <p:sp>
        <p:nvSpPr>
          <p:cNvPr id="44" name="Rectangle 43"/>
          <p:cNvSpPr/>
          <p:nvPr/>
        </p:nvSpPr>
        <p:spPr>
          <a:xfrm>
            <a:off x="6083999" y="4031999"/>
            <a:ext cx="2628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976000" y="4086000"/>
            <a:ext cx="2844000" cy="180000"/>
          </a:xfrm>
          <a:prstGeom prst="rect">
            <a:avLst/>
          </a:prstGeom>
          <a:noFill/>
        </p:spPr>
        <p:txBody>
          <a:bodyPr wrap="square">
            <a:spAutoFit/>
          </a:bodyPr>
          <a:lstStyle/>
          <a:p>
            <a:pPr algn="ctr"/>
            <a:r>
              <a:rPr sz="700" b="1" i="0">
                <a:solidFill>
                  <a:srgbClr val="AAAAAA"/>
                </a:solidFill>
              </a:rPr>
              <a:t>CONTEXTE MACRO</a:t>
            </a:r>
          </a:p>
        </p:txBody>
      </p:sp>
      <p:sp>
        <p:nvSpPr>
          <p:cNvPr id="46" name="TextBox 45"/>
          <p:cNvSpPr txBox="1"/>
          <p:nvPr/>
        </p:nvSpPr>
        <p:spPr>
          <a:xfrm>
            <a:off x="5976000" y="4266000"/>
            <a:ext cx="2844000" cy="198000"/>
          </a:xfrm>
          <a:prstGeom prst="rect">
            <a:avLst/>
          </a:prstGeom>
          <a:noFill/>
        </p:spPr>
        <p:txBody>
          <a:bodyPr wrap="square">
            <a:spAutoFit/>
          </a:bodyPr>
          <a:lstStyle/>
          <a:p>
            <a:pPr algn="ctr"/>
            <a:r>
              <a:rPr sz="850" b="1" i="0">
                <a:solidFill>
                  <a:srgbClr val="A82020"/>
                </a:solidFill>
              </a:rPr>
              <a:t>Regime : Bear</a:t>
            </a:r>
          </a:p>
        </p:txBody>
      </p:sp>
      <p:sp>
        <p:nvSpPr>
          <p:cNvPr id="47" name="TextBox 46"/>
          <p:cNvSpPr txBox="1"/>
          <p:nvPr/>
        </p:nvSpPr>
        <p:spPr>
          <a:xfrm>
            <a:off x="5976000" y="4482000"/>
            <a:ext cx="2844000" cy="180000"/>
          </a:xfrm>
          <a:prstGeom prst="rect">
            <a:avLst/>
          </a:prstGeom>
          <a:noFill/>
        </p:spPr>
        <p:txBody>
          <a:bodyPr wrap="square">
            <a:spAutoFit/>
          </a:bodyPr>
          <a:lstStyle/>
          <a:p>
            <a:pPr algn="ctr"/>
            <a:r>
              <a:rPr sz="750" b="0" i="0">
                <a:solidFill>
                  <a:srgbClr val="555555"/>
                </a:solidFill>
              </a:rPr>
              <a:t>Rec. 6M : 34%  (Modérée)</a:t>
            </a:r>
          </a:p>
        </p:txBody>
      </p:sp>
      <p:sp>
        <p:nvSpPr>
          <p:cNvPr id="48" name="Rectangle 47"/>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02</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Cartographie des Sociétés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8 sociétés analysées — scores FinSight, scatter &amp; décomposition</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Cartographie des Sociétés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8 sociétés analysées  ·  Technology  ·  S&amp;P 500  ·  Tri par score FinSight decroissant</a:t>
            </a:r>
          </a:p>
        </p:txBody>
      </p:sp>
      <p:graphicFrame>
        <p:nvGraphicFramePr>
          <p:cNvPr id="15" name="Table 14"/>
          <p:cNvGraphicFramePr>
            <a:graphicFrameLocks noGrp="1"/>
          </p:cNvGraphicFramePr>
          <p:nvPr/>
        </p:nvGraphicFramePr>
        <p:xfrm>
          <a:off x="324000" y="900000"/>
          <a:ext cx="8495998" cy="1620000"/>
        </p:xfrm>
        <a:graphic>
          <a:graphicData uri="http://schemas.openxmlformats.org/drawingml/2006/table">
            <a:tbl>
              <a:tblPr firstRow="1" bandRow="1">
                <a:tableStyleId>{5C22544A-7EE6-4342-B048-85BDC9FD1C3A}</a:tableStyleId>
              </a:tblPr>
              <a:tblGrid>
                <a:gridCol w="288000"/>
                <a:gridCol w="648000"/>
                <a:gridCol w="1440000"/>
                <a:gridCol w="720000"/>
                <a:gridCol w="648000"/>
                <a:gridCol w="720000"/>
                <a:gridCol w="864000"/>
                <a:gridCol w="1007999"/>
                <a:gridCol w="1007999"/>
                <a:gridCol w="1152000"/>
              </a:tblGrid>
              <a:tr h="180000">
                <a:tc>
                  <a:txBody>
                    <a:bodyPr/>
                    <a:lstStyle/>
                    <a:p>
                      <a:pPr algn="ctr"/>
                      <a:r>
                        <a:rPr sz="750" b="1">
                          <a:solidFill>
                            <a:srgbClr val="FFFFFF"/>
                          </a:solidFill>
                        </a:rPr>
                        <a:t>#</a:t>
                      </a:r>
                    </a:p>
                  </a:txBody>
                  <a:tcPr>
                    <a:solidFill>
                      <a:srgbClr val="1B3A6B"/>
                    </a:solidFill>
                  </a:tcPr>
                </a:tc>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Société</a:t>
                      </a:r>
                    </a:p>
                  </a:txBody>
                  <a:tcPr>
                    <a:solidFill>
                      <a:srgbClr val="1B3A6B"/>
                    </a:solidFill>
                  </a:tcPr>
                </a:tc>
                <a:tc>
                  <a:txBody>
                    <a:bodyPr/>
                    <a:lstStyle/>
                    <a:p>
                      <a:pPr algn="ctr"/>
                      <a:r>
                        <a:rPr sz="750" b="1">
                          <a:solidFill>
                            <a:srgbClr val="FFFFFF"/>
                          </a:solidFill>
                        </a:rPr>
                        <a:t>Score</a:t>
                      </a:r>
                    </a:p>
                  </a:txBody>
                  <a:tcPr>
                    <a:solidFill>
                      <a:srgbClr val="1B3A6B"/>
                    </a:solidFill>
                  </a:tcPr>
                </a:tc>
                <a:tc>
                  <a:txBody>
                    <a:bodyPr/>
                    <a:lstStyle/>
                    <a:p>
                      <a:pPr algn="ctr"/>
                      <a:r>
                        <a:rPr sz="750" b="1">
                          <a:solidFill>
                            <a:srgbClr val="FFFFFF"/>
                          </a:solidFill>
                        </a:rPr>
                        <a:t>Reco</a:t>
                      </a:r>
                    </a:p>
                  </a:txBody>
                  <a:tcPr>
                    <a:solidFill>
                      <a:srgbClr val="1B3A6B"/>
                    </a:solidFill>
                  </a:tcPr>
                </a:tc>
                <a:tc>
                  <a:txBody>
                    <a:bodyPr/>
                    <a:lstStyle/>
                    <a:p>
                      <a:pPr algn="ctr"/>
                      <a:r>
                        <a:rPr sz="750" b="1">
                          <a:solidFill>
                            <a:srgbClr val="FFFFFF"/>
                          </a:solidFill>
                        </a:rPr>
                        <a:t>Cours</a:t>
                      </a:r>
                    </a:p>
                  </a:txBody>
                  <a:tcPr>
                    <a:solidFill>
                      <a:srgbClr val="1B3A6B"/>
                    </a:solidFill>
                  </a:tcPr>
                </a:tc>
                <a:tc>
                  <a:txBody>
                    <a:bodyPr/>
                    <a:lstStyle/>
                    <a:p>
                      <a:pPr algn="ctr"/>
                      <a:r>
                        <a:rPr sz="750" b="1">
                          <a:solidFill>
                            <a:srgbClr val="FFFFFF"/>
                          </a:solidFill>
                        </a:rPr>
                        <a:t>EV/EBITDA</a:t>
                      </a:r>
                    </a:p>
                  </a:txBody>
                  <a:tcPr>
                    <a:solidFill>
                      <a:srgbClr val="1B3A6B"/>
                    </a:solidFill>
                  </a:tcPr>
                </a:tc>
                <a:tc>
                  <a:txBody>
                    <a:bodyPr/>
                    <a:lstStyle/>
                    <a:p>
                      <a:pPr algn="ctr"/>
                      <a:r>
                        <a:rPr sz="750" b="1">
                          <a:solidFill>
                            <a:srgbClr val="FFFFFF"/>
                          </a:solidFill>
                        </a:rPr>
                        <a:t>Mg EBITDA</a:t>
                      </a:r>
                    </a:p>
                  </a:txBody>
                  <a:tcPr>
                    <a:solidFill>
                      <a:srgbClr val="1B3A6B"/>
                    </a:solidFill>
                  </a:tcPr>
                </a:tc>
                <a:tc>
                  <a:txBody>
                    <a:bodyPr/>
                    <a:lstStyle/>
                    <a:p>
                      <a:pPr algn="ctr"/>
                      <a:r>
                        <a:rPr sz="750" b="1">
                          <a:solidFill>
                            <a:srgbClr val="FFFFFF"/>
                          </a:solidFill>
                        </a:rPr>
                        <a:t>Croissance</a:t>
                      </a:r>
                    </a:p>
                  </a:txBody>
                  <a:tcPr>
                    <a:solidFill>
                      <a:srgbClr val="1B3A6B"/>
                    </a:solidFill>
                  </a:tcPr>
                </a:tc>
                <a:tc>
                  <a:txBody>
                    <a:bodyPr/>
                    <a:lstStyle/>
                    <a:p>
                      <a:pPr algn="ctr"/>
                      <a:r>
                        <a:rPr sz="750" b="1">
                          <a:solidFill>
                            <a:srgbClr val="FFFFFF"/>
                          </a:solidFill>
                        </a:rPr>
                        <a:t>Momentum</a:t>
                      </a:r>
                    </a:p>
                  </a:txBody>
                  <a:tcPr>
                    <a:solidFill>
                      <a:srgbClr val="1B3A6B"/>
                    </a:solidFill>
                  </a:tcPr>
                </a:tc>
              </a:tr>
              <a:tr h="180000">
                <a:tc>
                  <a:txBody>
                    <a:bodyPr/>
                    <a:lstStyle/>
                    <a:p>
                      <a:pPr algn="ctr"/>
                      <a:r>
                        <a:rPr sz="750" b="0">
                          <a:solidFill>
                            <a:srgbClr val="1A1A1A"/>
                          </a:solidFill>
                        </a:rPr>
                        <a:t>1</a:t>
                      </a:r>
                    </a:p>
                  </a:txBody>
                  <a:tcPr>
                    <a:noFill/>
                  </a:tcPr>
                </a:tc>
                <a:tc>
                  <a:txBody>
                    <a:bodyPr/>
                    <a:lstStyle/>
                    <a:p>
                      <a:pPr algn="ctr"/>
                      <a:r>
                        <a:rPr sz="750" b="0">
                          <a:solidFill>
                            <a:srgbClr val="1A1A1A"/>
                          </a:solidFill>
                        </a:rPr>
                        <a:t>GOOGL</a:t>
                      </a:r>
                    </a:p>
                  </a:txBody>
                  <a:tcPr>
                    <a:noFill/>
                  </a:tcPr>
                </a:tc>
                <a:tc>
                  <a:txBody>
                    <a:bodyPr/>
                    <a:lstStyle/>
                    <a:p>
                      <a:pPr algn="ctr"/>
                      <a:r>
                        <a:rPr sz="750" b="0">
                          <a:solidFill>
                            <a:srgbClr val="1A1A1A"/>
                          </a:solidFill>
                        </a:rPr>
                        <a:t>Alphabet Inc.</a:t>
                      </a:r>
                    </a:p>
                  </a:txBody>
                  <a:tcPr>
                    <a:noFill/>
                  </a:tcPr>
                </a:tc>
                <a:tc>
                  <a:txBody>
                    <a:bodyPr/>
                    <a:lstStyle/>
                    <a:p>
                      <a:pPr algn="ctr"/>
                      <a:r>
                        <a:rPr sz="750" b="0">
                          <a:solidFill>
                            <a:srgbClr val="1A1A1A"/>
                          </a:solidFill>
                        </a:rPr>
                        <a:t>85/100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317.32</a:t>
                      </a:r>
                    </a:p>
                  </a:txBody>
                  <a:tcPr>
                    <a:noFill/>
                  </a:tcPr>
                </a:tc>
                <a:tc>
                  <a:txBody>
                    <a:bodyPr/>
                    <a:lstStyle/>
                    <a:p>
                      <a:pPr algn="ctr"/>
                      <a:r>
                        <a:rPr sz="750" b="0">
                          <a:solidFill>
                            <a:srgbClr val="1A1A1A"/>
                          </a:solidFill>
                        </a:rPr>
                        <a:t>25.2x</a:t>
                      </a:r>
                    </a:p>
                  </a:txBody>
                  <a:tcPr>
                    <a:noFill/>
                  </a:tcPr>
                </a:tc>
                <a:tc>
                  <a:txBody>
                    <a:bodyPr/>
                    <a:lstStyle/>
                    <a:p>
                      <a:pPr algn="ctr"/>
                      <a:r>
                        <a:rPr sz="750" b="0">
                          <a:solidFill>
                            <a:srgbClr val="1A1A1A"/>
                          </a:solidFill>
                        </a:rPr>
                        <a:t>37.3 %</a:t>
                      </a:r>
                    </a:p>
                  </a:txBody>
                  <a:tcPr>
                    <a:noFill/>
                  </a:tcPr>
                </a:tc>
                <a:tc>
                  <a:txBody>
                    <a:bodyPr/>
                    <a:lstStyle/>
                    <a:p>
                      <a:pPr algn="ctr"/>
                      <a:r>
                        <a:rPr sz="750" b="0">
                          <a:solidFill>
                            <a:srgbClr val="1A1A1A"/>
                          </a:solidFill>
                        </a:rPr>
                        <a:t>+18.0 %</a:t>
                      </a:r>
                    </a:p>
                  </a:txBody>
                  <a:tcPr>
                    <a:noFill/>
                  </a:tcPr>
                </a:tc>
                <a:tc>
                  <a:txBody>
                    <a:bodyPr/>
                    <a:lstStyle/>
                    <a:p>
                      <a:pPr algn="ctr"/>
                      <a:r>
                        <a:rPr sz="750" b="0">
                          <a:solidFill>
                            <a:srgbClr val="1A1A1A"/>
                          </a:solidFill>
                        </a:rPr>
                        <a:t>+107.3 %</a:t>
                      </a:r>
                    </a:p>
                  </a:txBody>
                  <a:tcPr>
                    <a:noFill/>
                  </a:tcPr>
                </a:tc>
              </a:tr>
              <a:tr h="180000">
                <a:tc>
                  <a:txBody>
                    <a:bodyPr/>
                    <a:lstStyle/>
                    <a:p>
                      <a:pPr algn="ctr"/>
                      <a:r>
                        <a:rPr sz="750" b="0">
                          <a:solidFill>
                            <a:srgbClr val="1A1A1A"/>
                          </a:solidFill>
                        </a:rPr>
                        <a:t>2</a:t>
                      </a:r>
                    </a:p>
                  </a:txBody>
                  <a:tcPr>
                    <a:solidFill>
                      <a:srgbClr val="F5F7FA"/>
                    </a:solidFill>
                  </a:tcPr>
                </a:tc>
                <a:tc>
                  <a:txBody>
                    <a:bodyPr/>
                    <a:lstStyle/>
                    <a:p>
                      <a:pPr algn="ctr"/>
                      <a:r>
                        <a:rPr sz="750" b="0">
                          <a:solidFill>
                            <a:srgbClr val="1A1A1A"/>
                          </a:solidFill>
                        </a:rPr>
                        <a:t>NVDA</a:t>
                      </a:r>
                    </a:p>
                  </a:txBody>
                  <a:tcPr>
                    <a:solidFill>
                      <a:srgbClr val="F5F7FA"/>
                    </a:solidFill>
                  </a:tcPr>
                </a:tc>
                <a:tc>
                  <a:txBody>
                    <a:bodyPr/>
                    <a:lstStyle/>
                    <a:p>
                      <a:pPr algn="ctr"/>
                      <a:r>
                        <a:rPr sz="750" b="0">
                          <a:solidFill>
                            <a:srgbClr val="1A1A1A"/>
                          </a:solidFill>
                        </a:rPr>
                        <a:t>NVIDIA Corporation</a:t>
                      </a:r>
                    </a:p>
                  </a:txBody>
                  <a:tcPr>
                    <a:solidFill>
                      <a:srgbClr val="F5F7FA"/>
                    </a:solidFill>
                  </a:tcPr>
                </a:tc>
                <a:tc>
                  <a:txBody>
                    <a:bodyPr/>
                    <a:lstStyle/>
                    <a:p>
                      <a:pPr algn="ctr"/>
                      <a:r>
                        <a:rPr sz="750" b="0">
                          <a:solidFill>
                            <a:srgbClr val="1A1A1A"/>
                          </a:solidFill>
                        </a:rPr>
                        <a:t>81/100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182.08</a:t>
                      </a:r>
                    </a:p>
                  </a:txBody>
                  <a:tcPr>
                    <a:solidFill>
                      <a:srgbClr val="F5F7FA"/>
                    </a:solidFill>
                  </a:tcPr>
                </a:tc>
                <a:tc>
                  <a:txBody>
                    <a:bodyPr/>
                    <a:lstStyle/>
                    <a:p>
                      <a:pPr algn="ctr"/>
                      <a:r>
                        <a:rPr sz="750" b="0">
                          <a:solidFill>
                            <a:srgbClr val="1A1A1A"/>
                          </a:solidFill>
                        </a:rPr>
                        <a:t>32.8x</a:t>
                      </a:r>
                    </a:p>
                  </a:txBody>
                  <a:tcPr>
                    <a:solidFill>
                      <a:srgbClr val="F5F7FA"/>
                    </a:solidFill>
                  </a:tcPr>
                </a:tc>
                <a:tc>
                  <a:txBody>
                    <a:bodyPr/>
                    <a:lstStyle/>
                    <a:p>
                      <a:pPr algn="ctr"/>
                      <a:r>
                        <a:rPr sz="750" b="0">
                          <a:solidFill>
                            <a:srgbClr val="1A1A1A"/>
                          </a:solidFill>
                        </a:rPr>
                        <a:t>61.7 %</a:t>
                      </a:r>
                    </a:p>
                  </a:txBody>
                  <a:tcPr>
                    <a:solidFill>
                      <a:srgbClr val="F5F7FA"/>
                    </a:solidFill>
                  </a:tcPr>
                </a:tc>
                <a:tc>
                  <a:txBody>
                    <a:bodyPr/>
                    <a:lstStyle/>
                    <a:p>
                      <a:pPr algn="ctr"/>
                      <a:r>
                        <a:rPr sz="750" b="0">
                          <a:solidFill>
                            <a:srgbClr val="1A1A1A"/>
                          </a:solidFill>
                        </a:rPr>
                        <a:t>+73.2 %</a:t>
                      </a:r>
                    </a:p>
                  </a:txBody>
                  <a:tcPr>
                    <a:solidFill>
                      <a:srgbClr val="F5F7FA"/>
                    </a:solidFill>
                  </a:tcPr>
                </a:tc>
                <a:tc>
                  <a:txBody>
                    <a:bodyPr/>
                    <a:lstStyle/>
                    <a:p>
                      <a:pPr algn="ctr"/>
                      <a:r>
                        <a:rPr sz="750" b="0">
                          <a:solidFill>
                            <a:srgbClr val="1A1A1A"/>
                          </a:solidFill>
                        </a:rPr>
                        <a:t>+84.5 %</a:t>
                      </a:r>
                    </a:p>
                  </a:txBody>
                  <a:tcPr>
                    <a:solidFill>
                      <a:srgbClr val="F5F7FA"/>
                    </a:solidFill>
                  </a:tcPr>
                </a:tc>
              </a:tr>
              <a:tr h="180000">
                <a:tc>
                  <a:txBody>
                    <a:bodyPr/>
                    <a:lstStyle/>
                    <a:p>
                      <a:pPr algn="ctr"/>
                      <a:r>
                        <a:rPr sz="750" b="0">
                          <a:solidFill>
                            <a:srgbClr val="1A1A1A"/>
                          </a:solidFill>
                        </a:rPr>
                        <a:t>3</a:t>
                      </a:r>
                    </a:p>
                  </a:txBody>
                  <a:tcPr>
                    <a:noFill/>
                  </a:tcPr>
                </a:tc>
                <a:tc>
                  <a:txBody>
                    <a:bodyPr/>
                    <a:lstStyle/>
                    <a:p>
                      <a:pPr algn="ctr"/>
                      <a:r>
                        <a:rPr sz="750" b="0">
                          <a:solidFill>
                            <a:srgbClr val="1A1A1A"/>
                          </a:solidFill>
                        </a:rPr>
                        <a:t>AAPL</a:t>
                      </a:r>
                    </a:p>
                  </a:txBody>
                  <a:tcPr>
                    <a:noFill/>
                  </a:tcPr>
                </a:tc>
                <a:tc>
                  <a:txBody>
                    <a:bodyPr/>
                    <a:lstStyle/>
                    <a:p>
                      <a:pPr algn="ctr"/>
                      <a:r>
                        <a:rPr sz="750" b="0">
                          <a:solidFill>
                            <a:srgbClr val="1A1A1A"/>
                          </a:solidFill>
                        </a:rPr>
                        <a:t>Apple Inc.</a:t>
                      </a:r>
                    </a:p>
                  </a:txBody>
                  <a:tcPr>
                    <a:noFill/>
                  </a:tcPr>
                </a:tc>
                <a:tc>
                  <a:txBody>
                    <a:bodyPr/>
                    <a:lstStyle/>
                    <a:p>
                      <a:pPr algn="ctr"/>
                      <a:r>
                        <a:rPr sz="750" b="0">
                          <a:solidFill>
                            <a:srgbClr val="1A1A1A"/>
                          </a:solidFill>
                        </a:rPr>
                        <a:t>78/100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258.9</a:t>
                      </a:r>
                    </a:p>
                  </a:txBody>
                  <a:tcPr>
                    <a:noFill/>
                  </a:tcPr>
                </a:tc>
                <a:tc>
                  <a:txBody>
                    <a:bodyPr/>
                    <a:lstStyle/>
                    <a:p>
                      <a:pPr algn="ctr"/>
                      <a:r>
                        <a:rPr sz="750" b="0">
                          <a:solidFill>
                            <a:srgbClr val="1A1A1A"/>
                          </a:solidFill>
                        </a:rPr>
                        <a:t>25.0x</a:t>
                      </a:r>
                    </a:p>
                  </a:txBody>
                  <a:tcPr>
                    <a:noFill/>
                  </a:tcPr>
                </a:tc>
                <a:tc>
                  <a:txBody>
                    <a:bodyPr/>
                    <a:lstStyle/>
                    <a:p>
                      <a:pPr algn="ctr"/>
                      <a:r>
                        <a:rPr sz="750" b="0">
                          <a:solidFill>
                            <a:srgbClr val="1A1A1A"/>
                          </a:solidFill>
                        </a:rPr>
                        <a:t>35.1 %</a:t>
                      </a:r>
                    </a:p>
                  </a:txBody>
                  <a:tcPr>
                    <a:noFill/>
                  </a:tcPr>
                </a:tc>
                <a:tc>
                  <a:txBody>
                    <a:bodyPr/>
                    <a:lstStyle/>
                    <a:p>
                      <a:pPr algn="ctr"/>
                      <a:r>
                        <a:rPr sz="750" b="0">
                          <a:solidFill>
                            <a:srgbClr val="1A1A1A"/>
                          </a:solidFill>
                        </a:rPr>
                        <a:t>+15.7 %</a:t>
                      </a:r>
                    </a:p>
                  </a:txBody>
                  <a:tcPr>
                    <a:noFill/>
                  </a:tcPr>
                </a:tc>
                <a:tc>
                  <a:txBody>
                    <a:bodyPr/>
                    <a:lstStyle/>
                    <a:p>
                      <a:pPr algn="ctr"/>
                      <a:r>
                        <a:rPr sz="750" b="0">
                          <a:solidFill>
                            <a:srgbClr val="1A1A1A"/>
                          </a:solidFill>
                        </a:rPr>
                        <a:t>+50.1 %</a:t>
                      </a:r>
                    </a:p>
                  </a:txBody>
                  <a:tcPr>
                    <a:noFill/>
                  </a:tcPr>
                </a:tc>
              </a:tr>
              <a:tr h="180000">
                <a:tc>
                  <a:txBody>
                    <a:bodyPr/>
                    <a:lstStyle/>
                    <a:p>
                      <a:pPr algn="ctr"/>
                      <a:r>
                        <a:rPr sz="750" b="0">
                          <a:solidFill>
                            <a:srgbClr val="1A1A1A"/>
                          </a:solidFill>
                        </a:rPr>
                        <a:t>4</a:t>
                      </a:r>
                    </a:p>
                  </a:txBody>
                  <a:tcPr>
                    <a:solidFill>
                      <a:srgbClr val="F5F7FA"/>
                    </a:solidFill>
                  </a:tcPr>
                </a:tc>
                <a:tc>
                  <a:txBody>
                    <a:bodyPr/>
                    <a:lstStyle/>
                    <a:p>
                      <a:pPr algn="ctr"/>
                      <a:r>
                        <a:rPr sz="750" b="0">
                          <a:solidFill>
                            <a:srgbClr val="1A1A1A"/>
                          </a:solidFill>
                        </a:rPr>
                        <a:t>ORCL</a:t>
                      </a:r>
                    </a:p>
                  </a:txBody>
                  <a:tcPr>
                    <a:solidFill>
                      <a:srgbClr val="F5F7FA"/>
                    </a:solidFill>
                  </a:tcPr>
                </a:tc>
                <a:tc>
                  <a:txBody>
                    <a:bodyPr/>
                    <a:lstStyle/>
                    <a:p>
                      <a:pPr algn="ctr"/>
                      <a:r>
                        <a:rPr sz="750" b="0">
                          <a:solidFill>
                            <a:srgbClr val="1A1A1A"/>
                          </a:solidFill>
                        </a:rPr>
                        <a:t>Oracle Corporation</a:t>
                      </a:r>
                    </a:p>
                  </a:txBody>
                  <a:tcPr>
                    <a:solidFill>
                      <a:srgbClr val="F5F7FA"/>
                    </a:solidFill>
                  </a:tcPr>
                </a:tc>
                <a:tc>
                  <a:txBody>
                    <a:bodyPr/>
                    <a:lstStyle/>
                    <a:p>
                      <a:pPr algn="ctr"/>
                      <a:r>
                        <a:rPr sz="750" b="0">
                          <a:solidFill>
                            <a:srgbClr val="1A1A1A"/>
                          </a:solidFill>
                        </a:rPr>
                        <a:t>77/100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143.66</a:t>
                      </a:r>
                    </a:p>
                  </a:txBody>
                  <a:tcPr>
                    <a:solidFill>
                      <a:srgbClr val="F5F7FA"/>
                    </a:solidFill>
                  </a:tcPr>
                </a:tc>
                <a:tc>
                  <a:txBody>
                    <a:bodyPr/>
                    <a:lstStyle/>
                    <a:p>
                      <a:pPr algn="ctr"/>
                      <a:r>
                        <a:rPr sz="750" b="0">
                          <a:solidFill>
                            <a:srgbClr val="1A1A1A"/>
                          </a:solidFill>
                        </a:rPr>
                        <a:t>19.7x</a:t>
                      </a:r>
                    </a:p>
                  </a:txBody>
                  <a:tcPr>
                    <a:solidFill>
                      <a:srgbClr val="F5F7FA"/>
                    </a:solidFill>
                  </a:tcPr>
                </a:tc>
                <a:tc>
                  <a:txBody>
                    <a:bodyPr/>
                    <a:lstStyle/>
                    <a:p>
                      <a:pPr algn="ctr"/>
                      <a:r>
                        <a:rPr sz="750" b="0">
                          <a:solidFill>
                            <a:srgbClr val="1A1A1A"/>
                          </a:solidFill>
                        </a:rPr>
                        <a:t>42.8 %</a:t>
                      </a:r>
                    </a:p>
                  </a:txBody>
                  <a:tcPr>
                    <a:solidFill>
                      <a:srgbClr val="F5F7FA"/>
                    </a:solidFill>
                  </a:tcPr>
                </a:tc>
                <a:tc>
                  <a:txBody>
                    <a:bodyPr/>
                    <a:lstStyle/>
                    <a:p>
                      <a:pPr algn="ctr"/>
                      <a:r>
                        <a:rPr sz="750" b="0">
                          <a:solidFill>
                            <a:srgbClr val="1A1A1A"/>
                          </a:solidFill>
                        </a:rPr>
                        <a:t>+21.7 %</a:t>
                      </a:r>
                    </a:p>
                  </a:txBody>
                  <a:tcPr>
                    <a:solidFill>
                      <a:srgbClr val="F5F7FA"/>
                    </a:solidFill>
                  </a:tcPr>
                </a:tc>
                <a:tc>
                  <a:txBody>
                    <a:bodyPr/>
                    <a:lstStyle/>
                    <a:p>
                      <a:pPr algn="ctr"/>
                      <a:r>
                        <a:rPr sz="750" b="0">
                          <a:solidFill>
                            <a:srgbClr val="1A1A1A"/>
                          </a:solidFill>
                        </a:rPr>
                        <a:t>+16.9 %</a:t>
                      </a:r>
                    </a:p>
                  </a:txBody>
                  <a:tcPr>
                    <a:solidFill>
                      <a:srgbClr val="F5F7FA"/>
                    </a:solidFill>
                  </a:tcPr>
                </a:tc>
              </a:tr>
              <a:tr h="180000">
                <a:tc>
                  <a:txBody>
                    <a:bodyPr/>
                    <a:lstStyle/>
                    <a:p>
                      <a:pPr algn="ctr"/>
                      <a:r>
                        <a:rPr sz="750" b="0">
                          <a:solidFill>
                            <a:srgbClr val="1A1A1A"/>
                          </a:solidFill>
                        </a:rPr>
                        <a:t>5</a:t>
                      </a:r>
                    </a:p>
                  </a:txBody>
                  <a:tcPr>
                    <a:noFill/>
                  </a:tcPr>
                </a:tc>
                <a:tc>
                  <a:txBody>
                    <a:bodyPr/>
                    <a:lstStyle/>
                    <a:p>
                      <a:pPr algn="ctr"/>
                      <a:r>
                        <a:rPr sz="750" b="0">
                          <a:solidFill>
                            <a:srgbClr val="1A1A1A"/>
                          </a:solidFill>
                        </a:rPr>
                        <a:t>MSFT</a:t>
                      </a:r>
                    </a:p>
                  </a:txBody>
                  <a:tcPr>
                    <a:noFill/>
                  </a:tcPr>
                </a:tc>
                <a:tc>
                  <a:txBody>
                    <a:bodyPr/>
                    <a:lstStyle/>
                    <a:p>
                      <a:pPr algn="ctr"/>
                      <a:r>
                        <a:rPr sz="750" b="0">
                          <a:solidFill>
                            <a:srgbClr val="1A1A1A"/>
                          </a:solidFill>
                        </a:rPr>
                        <a:t>Microsoft Corporation</a:t>
                      </a:r>
                    </a:p>
                  </a:txBody>
                  <a:tcPr>
                    <a:noFill/>
                  </a:tcPr>
                </a:tc>
                <a:tc>
                  <a:txBody>
                    <a:bodyPr/>
                    <a:lstStyle/>
                    <a:p>
                      <a:pPr algn="ctr"/>
                      <a:r>
                        <a:rPr sz="750" b="0">
                          <a:solidFill>
                            <a:srgbClr val="1A1A1A"/>
                          </a:solidFill>
                        </a:rPr>
                        <a:t>76/100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374.33</a:t>
                      </a:r>
                    </a:p>
                  </a:txBody>
                  <a:tcPr>
                    <a:noFill/>
                  </a:tcPr>
                </a:tc>
                <a:tc>
                  <a:txBody>
                    <a:bodyPr/>
                    <a:lstStyle/>
                    <a:p>
                      <a:pPr algn="ctr"/>
                      <a:r>
                        <a:rPr sz="750" b="0">
                          <a:solidFill>
                            <a:srgbClr val="1A1A1A"/>
                          </a:solidFill>
                        </a:rPr>
                        <a:t>16.1x</a:t>
                      </a:r>
                    </a:p>
                  </a:txBody>
                  <a:tcPr>
                    <a:noFill/>
                  </a:tcPr>
                </a:tc>
                <a:tc>
                  <a:txBody>
                    <a:bodyPr/>
                    <a:lstStyle/>
                    <a:p>
                      <a:pPr algn="ctr"/>
                      <a:r>
                        <a:rPr sz="750" b="0">
                          <a:solidFill>
                            <a:srgbClr val="1A1A1A"/>
                          </a:solidFill>
                        </a:rPr>
                        <a:t>57.4 %</a:t>
                      </a:r>
                    </a:p>
                  </a:txBody>
                  <a:tcPr>
                    <a:noFill/>
                  </a:tcPr>
                </a:tc>
                <a:tc>
                  <a:txBody>
                    <a:bodyPr/>
                    <a:lstStyle/>
                    <a:p>
                      <a:pPr algn="ctr"/>
                      <a:r>
                        <a:rPr sz="750" b="0">
                          <a:solidFill>
                            <a:srgbClr val="1A1A1A"/>
                          </a:solidFill>
                        </a:rPr>
                        <a:t>+16.7 %</a:t>
                      </a:r>
                    </a:p>
                  </a:txBody>
                  <a:tcPr>
                    <a:noFill/>
                  </a:tcPr>
                </a:tc>
                <a:tc>
                  <a:txBody>
                    <a:bodyPr/>
                    <a:lstStyle/>
                    <a:p>
                      <a:pPr algn="ctr"/>
                      <a:r>
                        <a:rPr sz="750" b="0">
                          <a:solidFill>
                            <a:srgbClr val="1A1A1A"/>
                          </a:solidFill>
                        </a:rPr>
                        <a:t>+5.2 %</a:t>
                      </a:r>
                    </a:p>
                  </a:txBody>
                  <a:tcPr>
                    <a:noFill/>
                  </a:tcPr>
                </a:tc>
              </a:tr>
              <a:tr h="180000">
                <a:tc>
                  <a:txBody>
                    <a:bodyPr/>
                    <a:lstStyle/>
                    <a:p>
                      <a:pPr algn="ctr"/>
                      <a:r>
                        <a:rPr sz="750" b="0">
                          <a:solidFill>
                            <a:srgbClr val="1A1A1A"/>
                          </a:solidFill>
                        </a:rPr>
                        <a:t>6</a:t>
                      </a:r>
                    </a:p>
                  </a:txBody>
                  <a:tcPr>
                    <a:solidFill>
                      <a:srgbClr val="F5F7FA"/>
                    </a:solidFill>
                  </a:tcPr>
                </a:tc>
                <a:tc>
                  <a:txBody>
                    <a:bodyPr/>
                    <a:lstStyle/>
                    <a:p>
                      <a:pPr algn="ctr"/>
                      <a:r>
                        <a:rPr sz="750" b="0">
                          <a:solidFill>
                            <a:srgbClr val="1A1A1A"/>
                          </a:solidFill>
                        </a:rPr>
                        <a:t>META</a:t>
                      </a:r>
                    </a:p>
                  </a:txBody>
                  <a:tcPr>
                    <a:solidFill>
                      <a:srgbClr val="F5F7FA"/>
                    </a:solidFill>
                  </a:tcPr>
                </a:tc>
                <a:tc>
                  <a:txBody>
                    <a:bodyPr/>
                    <a:lstStyle/>
                    <a:p>
                      <a:pPr algn="ctr"/>
                      <a:r>
                        <a:rPr sz="750" b="0">
                          <a:solidFill>
                            <a:srgbClr val="1A1A1A"/>
                          </a:solidFill>
                        </a:rPr>
                        <a:t>Meta Platforms, Inc.</a:t>
                      </a:r>
                    </a:p>
                  </a:txBody>
                  <a:tcPr>
                    <a:solidFill>
                      <a:srgbClr val="F5F7FA"/>
                    </a:solidFill>
                  </a:tcPr>
                </a:tc>
                <a:tc>
                  <a:txBody>
                    <a:bodyPr/>
                    <a:lstStyle/>
                    <a:p>
                      <a:pPr algn="ctr"/>
                      <a:r>
                        <a:rPr sz="750" b="0">
                          <a:solidFill>
                            <a:srgbClr val="1A1A1A"/>
                          </a:solidFill>
                        </a:rPr>
                        <a:t>76/100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612.42</a:t>
                      </a:r>
                    </a:p>
                  </a:txBody>
                  <a:tcPr>
                    <a:solidFill>
                      <a:srgbClr val="F5F7FA"/>
                    </a:solidFill>
                  </a:tcPr>
                </a:tc>
                <a:tc>
                  <a:txBody>
                    <a:bodyPr/>
                    <a:lstStyle/>
                    <a:p>
                      <a:pPr algn="ctr"/>
                      <a:r>
                        <a:rPr sz="750" b="0">
                          <a:solidFill>
                            <a:srgbClr val="1A1A1A"/>
                          </a:solidFill>
                        </a:rPr>
                        <a:t>15.2x</a:t>
                      </a:r>
                    </a:p>
                  </a:txBody>
                  <a:tcPr>
                    <a:solidFill>
                      <a:srgbClr val="F5F7FA"/>
                    </a:solidFill>
                  </a:tcPr>
                </a:tc>
                <a:tc>
                  <a:txBody>
                    <a:bodyPr/>
                    <a:lstStyle/>
                    <a:p>
                      <a:pPr algn="ctr"/>
                      <a:r>
                        <a:rPr sz="750" b="0">
                          <a:solidFill>
                            <a:srgbClr val="1A1A1A"/>
                          </a:solidFill>
                        </a:rPr>
                        <a:t>50.7 %</a:t>
                      </a:r>
                    </a:p>
                  </a:txBody>
                  <a:tcPr>
                    <a:solidFill>
                      <a:srgbClr val="F5F7FA"/>
                    </a:solidFill>
                  </a:tcPr>
                </a:tc>
                <a:tc>
                  <a:txBody>
                    <a:bodyPr/>
                    <a:lstStyle/>
                    <a:p>
                      <a:pPr algn="ctr"/>
                      <a:r>
                        <a:rPr sz="750" b="0">
                          <a:solidFill>
                            <a:srgbClr val="1A1A1A"/>
                          </a:solidFill>
                        </a:rPr>
                        <a:t>+23.8 %</a:t>
                      </a:r>
                    </a:p>
                  </a:txBody>
                  <a:tcPr>
                    <a:solidFill>
                      <a:srgbClr val="F5F7FA"/>
                    </a:solidFill>
                  </a:tcPr>
                </a:tc>
                <a:tc>
                  <a:txBody>
                    <a:bodyPr/>
                    <a:lstStyle/>
                    <a:p>
                      <a:pPr algn="ctr"/>
                      <a:r>
                        <a:rPr sz="750" b="0">
                          <a:solidFill>
                            <a:srgbClr val="1A1A1A"/>
                          </a:solidFill>
                        </a:rPr>
                        <a:t>+12.3 %</a:t>
                      </a:r>
                    </a:p>
                  </a:txBody>
                  <a:tcPr>
                    <a:solidFill>
                      <a:srgbClr val="F5F7FA"/>
                    </a:solidFill>
                  </a:tcPr>
                </a:tc>
              </a:tr>
              <a:tr h="180000">
                <a:tc>
                  <a:txBody>
                    <a:bodyPr/>
                    <a:lstStyle/>
                    <a:p>
                      <a:pPr algn="ctr"/>
                      <a:r>
                        <a:rPr sz="750" b="0">
                          <a:solidFill>
                            <a:srgbClr val="1A1A1A"/>
                          </a:solidFill>
                        </a:rPr>
                        <a:t>7</a:t>
                      </a:r>
                    </a:p>
                  </a:txBody>
                  <a:tcPr>
                    <a:noFill/>
                  </a:tcPr>
                </a:tc>
                <a:tc>
                  <a:txBody>
                    <a:bodyPr/>
                    <a:lstStyle/>
                    <a:p>
                      <a:pPr algn="ctr"/>
                      <a:r>
                        <a:rPr sz="750" b="0">
                          <a:solidFill>
                            <a:srgbClr val="1A1A1A"/>
                          </a:solidFill>
                        </a:rPr>
                        <a:t>AVGO</a:t>
                      </a:r>
                    </a:p>
                  </a:txBody>
                  <a:tcPr>
                    <a:noFill/>
                  </a:tcPr>
                </a:tc>
                <a:tc>
                  <a:txBody>
                    <a:bodyPr/>
                    <a:lstStyle/>
                    <a:p>
                      <a:pPr algn="ctr"/>
                      <a:r>
                        <a:rPr sz="750" b="0">
                          <a:solidFill>
                            <a:srgbClr val="1A1A1A"/>
                          </a:solidFill>
                        </a:rPr>
                        <a:t>Broadcom Inc.</a:t>
                      </a:r>
                    </a:p>
                  </a:txBody>
                  <a:tcPr>
                    <a:noFill/>
                  </a:tcPr>
                </a:tc>
                <a:tc>
                  <a:txBody>
                    <a:bodyPr/>
                    <a:lstStyle/>
                    <a:p>
                      <a:pPr algn="ctr"/>
                      <a:r>
                        <a:rPr sz="750" b="0">
                          <a:solidFill>
                            <a:srgbClr val="1A1A1A"/>
                          </a:solidFill>
                        </a:rPr>
                        <a:t>75/100</a:t>
                      </a:r>
                    </a:p>
                  </a:txBody>
                  <a:tcPr>
                    <a:noFill/>
                  </a:tcPr>
                </a:tc>
                <a:tc>
                  <a:txBody>
                    <a:bodyPr/>
                    <a:lstStyle/>
                    <a:p>
                      <a:pPr algn="ctr"/>
                      <a:r>
                        <a:rPr sz="750" b="0">
                          <a:solidFill>
                            <a:srgbClr val="1A1A1A"/>
                          </a:solidFill>
                        </a:rPr>
                        <a:t>BUY</a:t>
                      </a:r>
                    </a:p>
                  </a:txBody>
                  <a:tcPr>
                    <a:noFill/>
                  </a:tcPr>
                </a:tc>
                <a:tc>
                  <a:txBody>
                    <a:bodyPr/>
                    <a:lstStyle/>
                    <a:p>
                      <a:pPr algn="ctr"/>
                      <a:r>
                        <a:rPr sz="750" b="0">
                          <a:solidFill>
                            <a:srgbClr val="1A1A1A"/>
                          </a:solidFill>
                        </a:rPr>
                        <a:t>350.63</a:t>
                      </a:r>
                    </a:p>
                  </a:txBody>
                  <a:tcPr>
                    <a:noFill/>
                  </a:tcPr>
                </a:tc>
                <a:tc>
                  <a:txBody>
                    <a:bodyPr/>
                    <a:lstStyle/>
                    <a:p>
                      <a:pPr algn="ctr"/>
                      <a:r>
                        <a:rPr sz="750" b="0">
                          <a:solidFill>
                            <a:srgbClr val="1A1A1A"/>
                          </a:solidFill>
                        </a:rPr>
                        <a:t>46.0x</a:t>
                      </a:r>
                    </a:p>
                  </a:txBody>
                  <a:tcPr>
                    <a:noFill/>
                  </a:tcPr>
                </a:tc>
                <a:tc>
                  <a:txBody>
                    <a:bodyPr/>
                    <a:lstStyle/>
                    <a:p>
                      <a:pPr algn="ctr"/>
                      <a:r>
                        <a:rPr sz="750" b="0">
                          <a:solidFill>
                            <a:srgbClr val="1A1A1A"/>
                          </a:solidFill>
                        </a:rPr>
                        <a:t>54.5 %</a:t>
                      </a:r>
                    </a:p>
                  </a:txBody>
                  <a:tcPr>
                    <a:noFill/>
                  </a:tcPr>
                </a:tc>
                <a:tc>
                  <a:txBody>
                    <a:bodyPr/>
                    <a:lstStyle/>
                    <a:p>
                      <a:pPr algn="ctr"/>
                      <a:r>
                        <a:rPr sz="750" b="0">
                          <a:solidFill>
                            <a:srgbClr val="1A1A1A"/>
                          </a:solidFill>
                        </a:rPr>
                        <a:t>+29.5 %</a:t>
                      </a:r>
                    </a:p>
                  </a:txBody>
                  <a:tcPr>
                    <a:noFill/>
                  </a:tcPr>
                </a:tc>
                <a:tc>
                  <a:txBody>
                    <a:bodyPr/>
                    <a:lstStyle/>
                    <a:p>
                      <a:pPr algn="ctr"/>
                      <a:r>
                        <a:rPr sz="750" b="0">
                          <a:solidFill>
                            <a:srgbClr val="1A1A1A"/>
                          </a:solidFill>
                        </a:rPr>
                        <a:t>+101.5 %</a:t>
                      </a:r>
                    </a:p>
                  </a:txBody>
                  <a:tcPr>
                    <a:noFill/>
                  </a:tcPr>
                </a:tc>
              </a:tr>
              <a:tr h="180000">
                <a:tc>
                  <a:txBody>
                    <a:bodyPr/>
                    <a:lstStyle/>
                    <a:p>
                      <a:pPr algn="ctr"/>
                      <a:r>
                        <a:rPr sz="750" b="0">
                          <a:solidFill>
                            <a:srgbClr val="1A1A1A"/>
                          </a:solidFill>
                        </a:rPr>
                        <a:t>8</a:t>
                      </a:r>
                    </a:p>
                  </a:txBody>
                  <a:tcPr>
                    <a:solidFill>
                      <a:srgbClr val="F5F7FA"/>
                    </a:solidFill>
                  </a:tcPr>
                </a:tc>
                <a:tc>
                  <a:txBody>
                    <a:bodyPr/>
                    <a:lstStyle/>
                    <a:p>
                      <a:pPr algn="ctr"/>
                      <a:r>
                        <a:rPr sz="750" b="0">
                          <a:solidFill>
                            <a:srgbClr val="1A1A1A"/>
                          </a:solidFill>
                        </a:rPr>
                        <a:t>AMD</a:t>
                      </a:r>
                    </a:p>
                  </a:txBody>
                  <a:tcPr>
                    <a:solidFill>
                      <a:srgbClr val="F5F7FA"/>
                    </a:solidFill>
                  </a:tcPr>
                </a:tc>
                <a:tc>
                  <a:txBody>
                    <a:bodyPr/>
                    <a:lstStyle/>
                    <a:p>
                      <a:pPr algn="ctr"/>
                      <a:r>
                        <a:rPr sz="750" b="0">
                          <a:solidFill>
                            <a:srgbClr val="1A1A1A"/>
                          </a:solidFill>
                        </a:rPr>
                        <a:t>Advanced Micro Devices, I</a:t>
                      </a:r>
                    </a:p>
                  </a:txBody>
                  <a:tcPr>
                    <a:solidFill>
                      <a:srgbClr val="F5F7FA"/>
                    </a:solidFill>
                  </a:tcPr>
                </a:tc>
                <a:tc>
                  <a:txBody>
                    <a:bodyPr/>
                    <a:lstStyle/>
                    <a:p>
                      <a:pPr algn="ctr"/>
                      <a:r>
                        <a:rPr sz="750" b="0">
                          <a:solidFill>
                            <a:srgbClr val="1A1A1A"/>
                          </a:solidFill>
                        </a:rPr>
                        <a:t>70/100</a:t>
                      </a:r>
                    </a:p>
                  </a:txBody>
                  <a:tcPr>
                    <a:solidFill>
                      <a:srgbClr val="F5F7FA"/>
                    </a:solidFill>
                  </a:tcPr>
                </a:tc>
                <a:tc>
                  <a:txBody>
                    <a:bodyPr/>
                    <a:lstStyle/>
                    <a:p>
                      <a:pPr algn="ctr"/>
                      <a:r>
                        <a:rPr sz="750" b="0">
                          <a:solidFill>
                            <a:srgbClr val="1A1A1A"/>
                          </a:solidFill>
                        </a:rPr>
                        <a:t>BUY</a:t>
                      </a:r>
                    </a:p>
                  </a:txBody>
                  <a:tcPr>
                    <a:solidFill>
                      <a:srgbClr val="F5F7FA"/>
                    </a:solidFill>
                  </a:tcPr>
                </a:tc>
                <a:tc>
                  <a:txBody>
                    <a:bodyPr/>
                    <a:lstStyle/>
                    <a:p>
                      <a:pPr algn="ctr"/>
                      <a:r>
                        <a:rPr sz="750" b="0">
                          <a:solidFill>
                            <a:srgbClr val="1A1A1A"/>
                          </a:solidFill>
                        </a:rPr>
                        <a:t>231.82</a:t>
                      </a:r>
                    </a:p>
                  </a:txBody>
                  <a:tcPr>
                    <a:solidFill>
                      <a:srgbClr val="F5F7FA"/>
                    </a:solidFill>
                  </a:tcPr>
                </a:tc>
                <a:tc>
                  <a:txBody>
                    <a:bodyPr/>
                    <a:lstStyle/>
                    <a:p>
                      <a:pPr algn="ctr"/>
                      <a:r>
                        <a:rPr sz="750" b="0">
                          <a:solidFill>
                            <a:srgbClr val="1A1A1A"/>
                          </a:solidFill>
                        </a:rPr>
                        <a:t>55.1x</a:t>
                      </a:r>
                    </a:p>
                  </a:txBody>
                  <a:tcPr>
                    <a:solidFill>
                      <a:srgbClr val="F5F7FA"/>
                    </a:solidFill>
                  </a:tcPr>
                </a:tc>
                <a:tc>
                  <a:txBody>
                    <a:bodyPr/>
                    <a:lstStyle/>
                    <a:p>
                      <a:pPr algn="ctr"/>
                      <a:r>
                        <a:rPr sz="750" b="0">
                          <a:solidFill>
                            <a:srgbClr val="1A1A1A"/>
                          </a:solidFill>
                        </a:rPr>
                        <a:t>19.5 %</a:t>
                      </a:r>
                    </a:p>
                  </a:txBody>
                  <a:tcPr>
                    <a:solidFill>
                      <a:srgbClr val="F5F7FA"/>
                    </a:solidFill>
                  </a:tcPr>
                </a:tc>
                <a:tc>
                  <a:txBody>
                    <a:bodyPr/>
                    <a:lstStyle/>
                    <a:p>
                      <a:pPr algn="ctr"/>
                      <a:r>
                        <a:rPr sz="750" b="0">
                          <a:solidFill>
                            <a:srgbClr val="1A1A1A"/>
                          </a:solidFill>
                        </a:rPr>
                        <a:t>+34.1 %</a:t>
                      </a:r>
                    </a:p>
                  </a:txBody>
                  <a:tcPr>
                    <a:solidFill>
                      <a:srgbClr val="F5F7FA"/>
                    </a:solidFill>
                  </a:tcPr>
                </a:tc>
                <a:tc>
                  <a:txBody>
                    <a:bodyPr/>
                    <a:lstStyle/>
                    <a:p>
                      <a:pPr algn="ctr"/>
                      <a:r>
                        <a:rPr sz="750" b="0">
                          <a:solidFill>
                            <a:srgbClr val="1A1A1A"/>
                          </a:solidFill>
                        </a:rPr>
                        <a:t>+181.5 %</a:t>
                      </a:r>
                    </a:p>
                  </a:txBody>
                  <a:tcPr>
                    <a:solidFill>
                      <a:srgbClr val="F5F7FA"/>
                    </a:solidFill>
                  </a:tcPr>
                </a:tc>
              </a:tr>
            </a:tbl>
          </a:graphicData>
        </a:graphic>
      </p:graphicFrame>
      <p:sp>
        <p:nvSpPr>
          <p:cNvPr id="16" name="Rectangle 15"/>
          <p:cNvSpPr/>
          <p:nvPr/>
        </p:nvSpPr>
        <p:spPr>
          <a:xfrm>
            <a:off x="324000" y="2951999"/>
            <a:ext cx="8496000" cy="16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951999"/>
            <a:ext cx="36000" cy="162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8000" y="3006000"/>
            <a:ext cx="8280000" cy="216000"/>
          </a:xfrm>
          <a:prstGeom prst="rect">
            <a:avLst/>
          </a:prstGeom>
          <a:noFill/>
        </p:spPr>
        <p:txBody>
          <a:bodyPr wrap="square">
            <a:spAutoFit/>
          </a:bodyPr>
          <a:lstStyle/>
          <a:p>
            <a:pPr algn="l"/>
            <a:r>
              <a:rPr sz="900" b="1" i="0">
                <a:solidFill>
                  <a:srgbClr val="1B3A6B"/>
                </a:solidFill>
              </a:rPr>
              <a:t>Lecture analytique — Ce que la cartographie revele</a:t>
            </a:r>
          </a:p>
        </p:txBody>
      </p:sp>
      <p:sp>
        <p:nvSpPr>
          <p:cNvPr id="19" name="TextBox 18"/>
          <p:cNvSpPr txBox="1"/>
          <p:nvPr/>
        </p:nvSpPr>
        <p:spPr>
          <a:xfrm>
            <a:off x="468000" y="3257999"/>
            <a:ext cx="8280000" cy="1260000"/>
          </a:xfrm>
          <a:prstGeom prst="rect">
            <a:avLst/>
          </a:prstGeom>
          <a:noFill/>
        </p:spPr>
        <p:txBody>
          <a:bodyPr wrap="square">
            <a:spAutoFit/>
          </a:bodyPr>
          <a:lstStyle/>
          <a:p>
            <a:pPr algn="l"/>
            <a:r>
              <a:rPr sz="850" b="0" i="0">
                <a:solidFill>
                  <a:srgbClr val="555555"/>
                </a:solidFill>
              </a:rPr>
              <a:t>Le secteur Technology presente 8 BUY / 0 HOLD / 0 SELL sur 8 valeurs analysées. Alphabet Inc. (score 85/100) constitue le coeur offensif recommande — fondamentaux solides et visibilité supérieure sur les revenus. La répartition des recommandations reflete un positionnement selectif cohérent avec la phase sectorielle actuelle. Les catalyseurs identifies — resultats trimestriels, guidance annuel, operations M&amp;A — constituent les événements cles a surveiller pour un renforcement conditionnel des positions.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Classement EV/EBITDA</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par acteur  ·  Tri croissant  ·  Vert = sous mediane (opportunite relative)  ·  Top 15</a:t>
            </a:r>
          </a:p>
        </p:txBody>
      </p:sp>
      <p:pic>
        <p:nvPicPr>
          <p:cNvPr id="15" name="Picture 14" descr="image.png"/>
          <p:cNvPicPr>
            <a:picLocks noChangeAspect="1"/>
          </p:cNvPicPr>
          <p:nvPr/>
        </p:nvPicPr>
        <p:blipFill>
          <a:blip r:embed="rId2"/>
          <a:stretch>
            <a:fillRect/>
          </a:stretch>
        </p:blipFill>
        <p:spPr>
          <a:xfrm>
            <a:off x="324000" y="827999"/>
            <a:ext cx="5292000" cy="4104000"/>
          </a:xfrm>
          <a:prstGeom prst="rect">
            <a:avLst/>
          </a:prstGeom>
        </p:spPr>
      </p:pic>
      <p:sp>
        <p:nvSpPr>
          <p:cNvPr id="16" name="Rectangle 15"/>
          <p:cNvSpPr/>
          <p:nvPr/>
        </p:nvSpPr>
        <p:spPr>
          <a:xfrm>
            <a:off x="5796000" y="827999"/>
            <a:ext cx="3024000" cy="410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796000" y="827999"/>
            <a:ext cx="302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68000" y="846000"/>
            <a:ext cx="2916000" cy="216000"/>
          </a:xfrm>
          <a:prstGeom prst="rect">
            <a:avLst/>
          </a:prstGeom>
          <a:noFill/>
        </p:spPr>
        <p:txBody>
          <a:bodyPr wrap="square">
            <a:spAutoFit/>
          </a:bodyPr>
          <a:lstStyle/>
          <a:p>
            <a:pPr algn="l"/>
            <a:r>
              <a:rPr sz="850" b="1" i="0">
                <a:solidFill>
                  <a:srgbClr val="FFFFFF"/>
                </a:solidFill>
              </a:rPr>
              <a:t>CE QUE LE GRAPHIQUE REVELE</a:t>
            </a:r>
          </a:p>
        </p:txBody>
      </p:sp>
      <p:sp>
        <p:nvSpPr>
          <p:cNvPr id="19" name="TextBox 18"/>
          <p:cNvSpPr txBox="1"/>
          <p:nvPr/>
        </p:nvSpPr>
        <p:spPr>
          <a:xfrm>
            <a:off x="5868000" y="1116000"/>
            <a:ext cx="2880000" cy="3780000"/>
          </a:xfrm>
          <a:prstGeom prst="rect">
            <a:avLst/>
          </a:prstGeom>
          <a:noFill/>
        </p:spPr>
        <p:txBody>
          <a:bodyPr wrap="square">
            <a:spAutoFit/>
          </a:bodyPr>
          <a:lstStyle/>
          <a:p>
            <a:pPr algn="l"/>
            <a:r>
              <a:rPr sz="850" b="0" i="0">
                <a:solidFill>
                  <a:srgbClr val="555555"/>
                </a:solidFill>
              </a:rPr>
              <a:t>ORCL offre la meilleure asymetrie — EV/EBITDA de 19.7x sous la mediane de 25.1x avec un score FinSight de 77/100.
NVDA traite en prime (32.8x vs mediane 25.1x) — verifier si la croissance justifie ce multiple.
Mediane sectorielle : 25.1x. Les barres vertes sous cette ligne sont les candidats privilegies a analyser via Analyse Societe individuelle (DCF, WACC, scenarios).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Scores FinSight Detailles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Décomposition par dimension  ·  Value · Growth · Quality · Momentum  ·  Score 0-100</a:t>
            </a:r>
          </a:p>
        </p:txBody>
      </p:sp>
      <p:graphicFrame>
        <p:nvGraphicFramePr>
          <p:cNvPr id="15" name="Table 14"/>
          <p:cNvGraphicFramePr>
            <a:graphicFrameLocks noGrp="1"/>
          </p:cNvGraphicFramePr>
          <p:nvPr/>
        </p:nvGraphicFramePr>
        <p:xfrm>
          <a:off x="324000" y="900000"/>
          <a:ext cx="8495997" cy="2332800"/>
        </p:xfrm>
        <a:graphic>
          <a:graphicData uri="http://schemas.openxmlformats.org/drawingml/2006/table">
            <a:tbl>
              <a:tblPr firstRow="1" bandRow="1">
                <a:tableStyleId>{5C22544A-7EE6-4342-B048-85BDC9FD1C3A}</a:tableStyleId>
              </a:tblPr>
              <a:tblGrid>
                <a:gridCol w="783041"/>
                <a:gridCol w="1761843"/>
                <a:gridCol w="1174562"/>
                <a:gridCol w="861345"/>
                <a:gridCol w="861345"/>
                <a:gridCol w="1096258"/>
                <a:gridCol w="1174562"/>
                <a:gridCol w="783041"/>
              </a:tblGrid>
              <a:tr h="259200">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Societe</a:t>
                      </a:r>
                    </a:p>
                  </a:txBody>
                  <a:tcPr>
                    <a:solidFill>
                      <a:srgbClr val="1B3A6B"/>
                    </a:solidFill>
                  </a:tcPr>
                </a:tc>
                <a:tc>
                  <a:txBody>
                    <a:bodyPr/>
                    <a:lstStyle/>
                    <a:p>
                      <a:pPr algn="ctr"/>
                      <a:r>
                        <a:rPr sz="750" b="1">
                          <a:solidFill>
                            <a:srgbClr val="FFFFFF"/>
                          </a:solidFill>
                        </a:rPr>
                        <a:t>Score Global</a:t>
                      </a:r>
                    </a:p>
                  </a:txBody>
                  <a:tcPr>
                    <a:solidFill>
                      <a:srgbClr val="1B3A6B"/>
                    </a:solidFill>
                  </a:tcPr>
                </a:tc>
                <a:tc>
                  <a:txBody>
                    <a:bodyPr/>
                    <a:lstStyle/>
                    <a:p>
                      <a:pPr algn="ctr"/>
                      <a:r>
                        <a:rPr sz="750" b="1">
                          <a:solidFill>
                            <a:srgbClr val="FFFFFF"/>
                          </a:solidFill>
                        </a:rPr>
                        <a:t>Value</a:t>
                      </a:r>
                    </a:p>
                  </a:txBody>
                  <a:tcPr>
                    <a:solidFill>
                      <a:srgbClr val="1B3A6B"/>
                    </a:solidFill>
                  </a:tcPr>
                </a:tc>
                <a:tc>
                  <a:txBody>
                    <a:bodyPr/>
                    <a:lstStyle/>
                    <a:p>
                      <a:pPr algn="ctr"/>
                      <a:r>
                        <a:rPr sz="750" b="1">
                          <a:solidFill>
                            <a:srgbClr val="FFFFFF"/>
                          </a:solidFill>
                        </a:rPr>
                        <a:t>Growth</a:t>
                      </a:r>
                    </a:p>
                  </a:txBody>
                  <a:tcPr>
                    <a:solidFill>
                      <a:srgbClr val="1B3A6B"/>
                    </a:solidFill>
                  </a:tcPr>
                </a:tc>
                <a:tc>
                  <a:txBody>
                    <a:bodyPr/>
                    <a:lstStyle/>
                    <a:p>
                      <a:pPr algn="ctr"/>
                      <a:r>
                        <a:rPr sz="750" b="1">
                          <a:solidFill>
                            <a:srgbClr val="FFFFFF"/>
                          </a:solidFill>
                        </a:rPr>
                        <a:t>Quality</a:t>
                      </a:r>
                    </a:p>
                  </a:txBody>
                  <a:tcPr>
                    <a:solidFill>
                      <a:srgbClr val="1B3A6B"/>
                    </a:solidFill>
                  </a:tcPr>
                </a:tc>
                <a:tc>
                  <a:txBody>
                    <a:bodyPr/>
                    <a:lstStyle/>
                    <a:p>
                      <a:pPr algn="ctr"/>
                      <a:r>
                        <a:rPr sz="750" b="1">
                          <a:solidFill>
                            <a:srgbClr val="FFFFFF"/>
                          </a:solidFill>
                        </a:rPr>
                        <a:t>Momentum</a:t>
                      </a:r>
                    </a:p>
                  </a:txBody>
                  <a:tcPr>
                    <a:solidFill>
                      <a:srgbClr val="1B3A6B"/>
                    </a:solidFill>
                  </a:tcPr>
                </a:tc>
                <a:tc>
                  <a:txBody>
                    <a:bodyPr/>
                    <a:lstStyle/>
                    <a:p>
                      <a:pPr algn="ctr"/>
                      <a:r>
                        <a:rPr sz="750" b="1">
                          <a:solidFill>
                            <a:srgbClr val="FFFFFF"/>
                          </a:solidFill>
                        </a:rPr>
                        <a:t>Reco</a:t>
                      </a:r>
                    </a:p>
                  </a:txBody>
                  <a:tcPr>
                    <a:solidFill>
                      <a:srgbClr val="1B3A6B"/>
                    </a:solidFill>
                  </a:tcPr>
                </a:tc>
              </a:tr>
              <a:tr h="259200">
                <a:tc>
                  <a:txBody>
                    <a:bodyPr/>
                    <a:lstStyle/>
                    <a:p>
                      <a:pPr algn="ctr"/>
                      <a:r>
                        <a:rPr sz="750" b="0">
                          <a:solidFill>
                            <a:srgbClr val="1A1A1A"/>
                          </a:solidFill>
                        </a:rPr>
                        <a:t>GOOGL</a:t>
                      </a:r>
                    </a:p>
                  </a:txBody>
                  <a:tcPr>
                    <a:noFill/>
                  </a:tcPr>
                </a:tc>
                <a:tc>
                  <a:txBody>
                    <a:bodyPr/>
                    <a:lstStyle/>
                    <a:p>
                      <a:pPr algn="ctr"/>
                      <a:r>
                        <a:rPr sz="750" b="0">
                          <a:solidFill>
                            <a:srgbClr val="1A1A1A"/>
                          </a:solidFill>
                        </a:rPr>
                        <a:t>Alphabet Inc.</a:t>
                      </a:r>
                    </a:p>
                  </a:txBody>
                  <a:tcPr>
                    <a:noFill/>
                  </a:tcPr>
                </a:tc>
                <a:tc>
                  <a:txBody>
                    <a:bodyPr/>
                    <a:lstStyle/>
                    <a:p>
                      <a:pPr algn="ctr"/>
                      <a:r>
                        <a:rPr sz="750" b="0">
                          <a:solidFill>
                            <a:srgbClr val="1A1A1A"/>
                          </a:solidFill>
                        </a:rPr>
                        <a:t>85/100</a:t>
                      </a:r>
                    </a:p>
                  </a:txBody>
                  <a:tcPr>
                    <a:noFill/>
                  </a:tcPr>
                </a:tc>
                <a:tc>
                  <a:txBody>
                    <a:bodyPr/>
                    <a:lstStyle/>
                    <a:p>
                      <a:pPr algn="ctr"/>
                      <a:r>
                        <a:rPr sz="750" b="0">
                          <a:solidFill>
                            <a:srgbClr val="1A1A1A"/>
                          </a:solidFill>
                        </a:rPr>
                        <a:t>10</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BUY</a:t>
                      </a:r>
                    </a:p>
                  </a:txBody>
                  <a:tcPr>
                    <a:noFill/>
                  </a:tcPr>
                </a:tc>
              </a:tr>
              <a:tr h="259200">
                <a:tc>
                  <a:txBody>
                    <a:bodyPr/>
                    <a:lstStyle/>
                    <a:p>
                      <a:pPr algn="ctr"/>
                      <a:r>
                        <a:rPr sz="750" b="0">
                          <a:solidFill>
                            <a:srgbClr val="1A1A1A"/>
                          </a:solidFill>
                        </a:rPr>
                        <a:t>NVDA</a:t>
                      </a:r>
                    </a:p>
                  </a:txBody>
                  <a:tcPr>
                    <a:solidFill>
                      <a:srgbClr val="F5F7FA"/>
                    </a:solidFill>
                  </a:tcPr>
                </a:tc>
                <a:tc>
                  <a:txBody>
                    <a:bodyPr/>
                    <a:lstStyle/>
                    <a:p>
                      <a:pPr algn="ctr"/>
                      <a:r>
                        <a:rPr sz="750" b="0">
                          <a:solidFill>
                            <a:srgbClr val="1A1A1A"/>
                          </a:solidFill>
                        </a:rPr>
                        <a:t>NVIDIA Corporation</a:t>
                      </a:r>
                    </a:p>
                  </a:txBody>
                  <a:tcPr>
                    <a:solidFill>
                      <a:srgbClr val="F5F7FA"/>
                    </a:solidFill>
                  </a:tcPr>
                </a:tc>
                <a:tc>
                  <a:txBody>
                    <a:bodyPr/>
                    <a:lstStyle/>
                    <a:p>
                      <a:pPr algn="ctr"/>
                      <a:r>
                        <a:rPr sz="750" b="0">
                          <a:solidFill>
                            <a:srgbClr val="1A1A1A"/>
                          </a:solidFill>
                        </a:rPr>
                        <a:t>81/100</a:t>
                      </a:r>
                    </a:p>
                  </a:txBody>
                  <a:tcPr>
                    <a:solidFill>
                      <a:srgbClr val="F5F7FA"/>
                    </a:solidFill>
                  </a:tcPr>
                </a:tc>
                <a:tc>
                  <a:txBody>
                    <a:bodyPr/>
                    <a:lstStyle/>
                    <a:p>
                      <a:pPr algn="ctr"/>
                      <a:r>
                        <a:rPr sz="750" b="0">
                          <a:solidFill>
                            <a:srgbClr val="1A1A1A"/>
                          </a:solidFill>
                        </a:rPr>
                        <a:t>6</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24</a:t>
                      </a:r>
                    </a:p>
                  </a:txBody>
                  <a:tcPr>
                    <a:solidFill>
                      <a:srgbClr val="F5F7FA"/>
                    </a:solidFill>
                  </a:tcPr>
                </a:tc>
                <a:tc>
                  <a:txBody>
                    <a:bodyPr/>
                    <a:lstStyle/>
                    <a:p>
                      <a:pPr algn="ctr"/>
                      <a:r>
                        <a:rPr sz="750" b="0">
                          <a:solidFill>
                            <a:srgbClr val="1A1A1A"/>
                          </a:solidFill>
                        </a:rPr>
                        <a:t>BUY</a:t>
                      </a:r>
                    </a:p>
                  </a:txBody>
                  <a:tcPr>
                    <a:solidFill>
                      <a:srgbClr val="F5F7FA"/>
                    </a:solidFill>
                  </a:tcPr>
                </a:tc>
              </a:tr>
              <a:tr h="259200">
                <a:tc>
                  <a:txBody>
                    <a:bodyPr/>
                    <a:lstStyle/>
                    <a:p>
                      <a:pPr algn="ctr"/>
                      <a:r>
                        <a:rPr sz="750" b="0">
                          <a:solidFill>
                            <a:srgbClr val="1A1A1A"/>
                          </a:solidFill>
                        </a:rPr>
                        <a:t>AAPL</a:t>
                      </a:r>
                    </a:p>
                  </a:txBody>
                  <a:tcPr>
                    <a:noFill/>
                  </a:tcPr>
                </a:tc>
                <a:tc>
                  <a:txBody>
                    <a:bodyPr/>
                    <a:lstStyle/>
                    <a:p>
                      <a:pPr algn="ctr"/>
                      <a:r>
                        <a:rPr sz="750" b="0">
                          <a:solidFill>
                            <a:srgbClr val="1A1A1A"/>
                          </a:solidFill>
                        </a:rPr>
                        <a:t>Apple Inc.</a:t>
                      </a:r>
                    </a:p>
                  </a:txBody>
                  <a:tcPr>
                    <a:noFill/>
                  </a:tcPr>
                </a:tc>
                <a:tc>
                  <a:txBody>
                    <a:bodyPr/>
                    <a:lstStyle/>
                    <a:p>
                      <a:pPr algn="ctr"/>
                      <a:r>
                        <a:rPr sz="750" b="0">
                          <a:solidFill>
                            <a:srgbClr val="1A1A1A"/>
                          </a:solidFill>
                        </a:rPr>
                        <a:t>78/100</a:t>
                      </a:r>
                    </a:p>
                  </a:txBody>
                  <a:tcPr>
                    <a:noFill/>
                  </a:tcPr>
                </a:tc>
                <a:tc>
                  <a:txBody>
                    <a:bodyPr/>
                    <a:lstStyle/>
                    <a:p>
                      <a:pPr algn="ctr"/>
                      <a:r>
                        <a:rPr sz="750" b="0">
                          <a:solidFill>
                            <a:srgbClr val="1A1A1A"/>
                          </a:solidFill>
                        </a:rPr>
                        <a:t>8</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19</a:t>
                      </a:r>
                    </a:p>
                  </a:txBody>
                  <a:tcPr>
                    <a:noFill/>
                  </a:tcPr>
                </a:tc>
                <a:tc>
                  <a:txBody>
                    <a:bodyPr/>
                    <a:lstStyle/>
                    <a:p>
                      <a:pPr algn="ctr"/>
                      <a:r>
                        <a:rPr sz="750" b="0">
                          <a:solidFill>
                            <a:srgbClr val="1A1A1A"/>
                          </a:solidFill>
                        </a:rPr>
                        <a:t>BUY</a:t>
                      </a:r>
                    </a:p>
                  </a:txBody>
                  <a:tcPr>
                    <a:noFill/>
                  </a:tcPr>
                </a:tc>
              </a:tr>
              <a:tr h="259200">
                <a:tc>
                  <a:txBody>
                    <a:bodyPr/>
                    <a:lstStyle/>
                    <a:p>
                      <a:pPr algn="ctr"/>
                      <a:r>
                        <a:rPr sz="750" b="0">
                          <a:solidFill>
                            <a:srgbClr val="1A1A1A"/>
                          </a:solidFill>
                        </a:rPr>
                        <a:t>ORCL</a:t>
                      </a:r>
                    </a:p>
                  </a:txBody>
                  <a:tcPr>
                    <a:solidFill>
                      <a:srgbClr val="F5F7FA"/>
                    </a:solidFill>
                  </a:tcPr>
                </a:tc>
                <a:tc>
                  <a:txBody>
                    <a:bodyPr/>
                    <a:lstStyle/>
                    <a:p>
                      <a:pPr algn="ctr"/>
                      <a:r>
                        <a:rPr sz="750" b="0">
                          <a:solidFill>
                            <a:srgbClr val="1A1A1A"/>
                          </a:solidFill>
                        </a:rPr>
                        <a:t>Oracle Corporation</a:t>
                      </a:r>
                    </a:p>
                  </a:txBody>
                  <a:tcPr>
                    <a:solidFill>
                      <a:srgbClr val="F5F7FA"/>
                    </a:solidFill>
                  </a:tcPr>
                </a:tc>
                <a:tc>
                  <a:txBody>
                    <a:bodyPr/>
                    <a:lstStyle/>
                    <a:p>
                      <a:pPr algn="ctr"/>
                      <a:r>
                        <a:rPr sz="750" b="0">
                          <a:solidFill>
                            <a:srgbClr val="1A1A1A"/>
                          </a:solidFill>
                        </a:rPr>
                        <a:t>77/100</a:t>
                      </a:r>
                    </a:p>
                  </a:txBody>
                  <a:tcPr>
                    <a:solidFill>
                      <a:srgbClr val="F5F7FA"/>
                    </a:solidFill>
                  </a:tcPr>
                </a:tc>
                <a:tc>
                  <a:txBody>
                    <a:bodyPr/>
                    <a:lstStyle/>
                    <a:p>
                      <a:pPr algn="ctr"/>
                      <a:r>
                        <a:rPr sz="750" b="0">
                          <a:solidFill>
                            <a:srgbClr val="1A1A1A"/>
                          </a:solidFill>
                        </a:rPr>
                        <a:t>12</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14</a:t>
                      </a:r>
                    </a:p>
                  </a:txBody>
                  <a:tcPr>
                    <a:solidFill>
                      <a:srgbClr val="F5F7FA"/>
                    </a:solidFill>
                  </a:tcPr>
                </a:tc>
                <a:tc>
                  <a:txBody>
                    <a:bodyPr/>
                    <a:lstStyle/>
                    <a:p>
                      <a:pPr algn="ctr"/>
                      <a:r>
                        <a:rPr sz="750" b="0">
                          <a:solidFill>
                            <a:srgbClr val="1A1A1A"/>
                          </a:solidFill>
                        </a:rPr>
                        <a:t>BUY</a:t>
                      </a:r>
                    </a:p>
                  </a:txBody>
                  <a:tcPr>
                    <a:solidFill>
                      <a:srgbClr val="F5F7FA"/>
                    </a:solidFill>
                  </a:tcPr>
                </a:tc>
              </a:tr>
              <a:tr h="259200">
                <a:tc>
                  <a:txBody>
                    <a:bodyPr/>
                    <a:lstStyle/>
                    <a:p>
                      <a:pPr algn="ctr"/>
                      <a:r>
                        <a:rPr sz="750" b="0">
                          <a:solidFill>
                            <a:srgbClr val="1A1A1A"/>
                          </a:solidFill>
                        </a:rPr>
                        <a:t>MSFT</a:t>
                      </a:r>
                    </a:p>
                  </a:txBody>
                  <a:tcPr>
                    <a:noFill/>
                  </a:tcPr>
                </a:tc>
                <a:tc>
                  <a:txBody>
                    <a:bodyPr/>
                    <a:lstStyle/>
                    <a:p>
                      <a:pPr algn="ctr"/>
                      <a:r>
                        <a:rPr sz="750" b="0">
                          <a:solidFill>
                            <a:srgbClr val="1A1A1A"/>
                          </a:solidFill>
                        </a:rPr>
                        <a:t>Microsoft Corporation</a:t>
                      </a:r>
                    </a:p>
                  </a:txBody>
                  <a:tcPr>
                    <a:noFill/>
                  </a:tcPr>
                </a:tc>
                <a:tc>
                  <a:txBody>
                    <a:bodyPr/>
                    <a:lstStyle/>
                    <a:p>
                      <a:pPr algn="ctr"/>
                      <a:r>
                        <a:rPr sz="750" b="0">
                          <a:solidFill>
                            <a:srgbClr val="1A1A1A"/>
                          </a:solidFill>
                        </a:rPr>
                        <a:t>76/100</a:t>
                      </a:r>
                    </a:p>
                  </a:txBody>
                  <a:tcPr>
                    <a:noFill/>
                  </a:tcPr>
                </a:tc>
                <a:tc>
                  <a:txBody>
                    <a:bodyPr/>
                    <a:lstStyle/>
                    <a:p>
                      <a:pPr algn="ctr"/>
                      <a:r>
                        <a:rPr sz="750" b="0">
                          <a:solidFill>
                            <a:srgbClr val="1A1A1A"/>
                          </a:solidFill>
                        </a:rPr>
                        <a:t>13</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12</a:t>
                      </a:r>
                    </a:p>
                  </a:txBody>
                  <a:tcPr>
                    <a:noFill/>
                  </a:tcPr>
                </a:tc>
                <a:tc>
                  <a:txBody>
                    <a:bodyPr/>
                    <a:lstStyle/>
                    <a:p>
                      <a:pPr algn="ctr"/>
                      <a:r>
                        <a:rPr sz="750" b="0">
                          <a:solidFill>
                            <a:srgbClr val="1A1A1A"/>
                          </a:solidFill>
                        </a:rPr>
                        <a:t>BUY</a:t>
                      </a:r>
                    </a:p>
                  </a:txBody>
                  <a:tcPr>
                    <a:noFill/>
                  </a:tcPr>
                </a:tc>
              </a:tr>
              <a:tr h="259200">
                <a:tc>
                  <a:txBody>
                    <a:bodyPr/>
                    <a:lstStyle/>
                    <a:p>
                      <a:pPr algn="ctr"/>
                      <a:r>
                        <a:rPr sz="750" b="0">
                          <a:solidFill>
                            <a:srgbClr val="1A1A1A"/>
                          </a:solidFill>
                        </a:rPr>
                        <a:t>META</a:t>
                      </a:r>
                    </a:p>
                  </a:txBody>
                  <a:tcPr>
                    <a:solidFill>
                      <a:srgbClr val="F5F7FA"/>
                    </a:solidFill>
                  </a:tcPr>
                </a:tc>
                <a:tc>
                  <a:txBody>
                    <a:bodyPr/>
                    <a:lstStyle/>
                    <a:p>
                      <a:pPr algn="ctr"/>
                      <a:r>
                        <a:rPr sz="750" b="0">
                          <a:solidFill>
                            <a:srgbClr val="1A1A1A"/>
                          </a:solidFill>
                        </a:rPr>
                        <a:t>Meta Platforms, Inc.</a:t>
                      </a:r>
                    </a:p>
                  </a:txBody>
                  <a:tcPr>
                    <a:solidFill>
                      <a:srgbClr val="F5F7FA"/>
                    </a:solidFill>
                  </a:tcPr>
                </a:tc>
                <a:tc>
                  <a:txBody>
                    <a:bodyPr/>
                    <a:lstStyle/>
                    <a:p>
                      <a:pPr algn="ctr"/>
                      <a:r>
                        <a:rPr sz="750" b="0">
                          <a:solidFill>
                            <a:srgbClr val="1A1A1A"/>
                          </a:solidFill>
                        </a:rPr>
                        <a:t>76/100</a:t>
                      </a:r>
                    </a:p>
                  </a:txBody>
                  <a:tcPr>
                    <a:solidFill>
                      <a:srgbClr val="F5F7FA"/>
                    </a:solidFill>
                  </a:tcPr>
                </a:tc>
                <a:tc>
                  <a:txBody>
                    <a:bodyPr/>
                    <a:lstStyle/>
                    <a:p>
                      <a:pPr algn="ctr"/>
                      <a:r>
                        <a:rPr sz="750" b="0">
                          <a:solidFill>
                            <a:srgbClr val="1A1A1A"/>
                          </a:solidFill>
                        </a:rPr>
                        <a:t>12</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13</a:t>
                      </a:r>
                    </a:p>
                  </a:txBody>
                  <a:tcPr>
                    <a:solidFill>
                      <a:srgbClr val="F5F7FA"/>
                    </a:solidFill>
                  </a:tcPr>
                </a:tc>
                <a:tc>
                  <a:txBody>
                    <a:bodyPr/>
                    <a:lstStyle/>
                    <a:p>
                      <a:pPr algn="ctr"/>
                      <a:r>
                        <a:rPr sz="750" b="0">
                          <a:solidFill>
                            <a:srgbClr val="1A1A1A"/>
                          </a:solidFill>
                        </a:rPr>
                        <a:t>BUY</a:t>
                      </a:r>
                    </a:p>
                  </a:txBody>
                  <a:tcPr>
                    <a:solidFill>
                      <a:srgbClr val="F5F7FA"/>
                    </a:solidFill>
                  </a:tcPr>
                </a:tc>
              </a:tr>
              <a:tr h="259200">
                <a:tc>
                  <a:txBody>
                    <a:bodyPr/>
                    <a:lstStyle/>
                    <a:p>
                      <a:pPr algn="ctr"/>
                      <a:r>
                        <a:rPr sz="750" b="0">
                          <a:solidFill>
                            <a:srgbClr val="1A1A1A"/>
                          </a:solidFill>
                        </a:rPr>
                        <a:t>AVGO</a:t>
                      </a:r>
                    </a:p>
                  </a:txBody>
                  <a:tcPr>
                    <a:noFill/>
                  </a:tcPr>
                </a:tc>
                <a:tc>
                  <a:txBody>
                    <a:bodyPr/>
                    <a:lstStyle/>
                    <a:p>
                      <a:pPr algn="ctr"/>
                      <a:r>
                        <a:rPr sz="750" b="0">
                          <a:solidFill>
                            <a:srgbClr val="1A1A1A"/>
                          </a:solidFill>
                        </a:rPr>
                        <a:t>Broadcom Inc.</a:t>
                      </a:r>
                    </a:p>
                  </a:txBody>
                  <a:tcPr>
                    <a:noFill/>
                  </a:tcPr>
                </a:tc>
                <a:tc>
                  <a:txBody>
                    <a:bodyPr/>
                    <a:lstStyle/>
                    <a:p>
                      <a:pPr algn="ctr"/>
                      <a:r>
                        <a:rPr sz="750" b="0">
                          <a:solidFill>
                            <a:srgbClr val="1A1A1A"/>
                          </a:solidFill>
                        </a:rPr>
                        <a:t>75/100</a:t>
                      </a:r>
                    </a:p>
                  </a:txBody>
                  <a:tcPr>
                    <a:noFill/>
                  </a:tcPr>
                </a:tc>
                <a:tc>
                  <a:txBody>
                    <a:bodyPr/>
                    <a:lstStyle/>
                    <a:p>
                      <a:pPr algn="ctr"/>
                      <a:r>
                        <a:rPr sz="750" b="0">
                          <a:solidFill>
                            <a:srgbClr val="1A1A1A"/>
                          </a:solidFill>
                        </a:rPr>
                        <a:t>0</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25</a:t>
                      </a:r>
                    </a:p>
                  </a:txBody>
                  <a:tcPr>
                    <a:noFill/>
                  </a:tcPr>
                </a:tc>
                <a:tc>
                  <a:txBody>
                    <a:bodyPr/>
                    <a:lstStyle/>
                    <a:p>
                      <a:pPr algn="ctr"/>
                      <a:r>
                        <a:rPr sz="750" b="0">
                          <a:solidFill>
                            <a:srgbClr val="1A1A1A"/>
                          </a:solidFill>
                        </a:rPr>
                        <a:t>BUY</a:t>
                      </a:r>
                    </a:p>
                  </a:txBody>
                  <a:tcPr>
                    <a:noFill/>
                  </a:tcPr>
                </a:tc>
              </a:tr>
              <a:tr h="259200">
                <a:tc>
                  <a:txBody>
                    <a:bodyPr/>
                    <a:lstStyle/>
                    <a:p>
                      <a:pPr algn="ctr"/>
                      <a:r>
                        <a:rPr sz="750" b="0">
                          <a:solidFill>
                            <a:srgbClr val="1A1A1A"/>
                          </a:solidFill>
                        </a:rPr>
                        <a:t>AMD</a:t>
                      </a:r>
                    </a:p>
                  </a:txBody>
                  <a:tcPr>
                    <a:solidFill>
                      <a:srgbClr val="F5F7FA"/>
                    </a:solidFill>
                  </a:tcPr>
                </a:tc>
                <a:tc>
                  <a:txBody>
                    <a:bodyPr/>
                    <a:lstStyle/>
                    <a:p>
                      <a:pPr algn="ctr"/>
                      <a:r>
                        <a:rPr sz="750" b="0">
                          <a:solidFill>
                            <a:srgbClr val="1A1A1A"/>
                          </a:solidFill>
                        </a:rPr>
                        <a:t>Advanced Micro Devices, I</a:t>
                      </a:r>
                    </a:p>
                  </a:txBody>
                  <a:tcPr>
                    <a:solidFill>
                      <a:srgbClr val="F5F7FA"/>
                    </a:solidFill>
                  </a:tcPr>
                </a:tc>
                <a:tc>
                  <a:txBody>
                    <a:bodyPr/>
                    <a:lstStyle/>
                    <a:p>
                      <a:pPr algn="ctr"/>
                      <a:r>
                        <a:rPr sz="750" b="0">
                          <a:solidFill>
                            <a:srgbClr val="1A1A1A"/>
                          </a:solidFill>
                        </a:rPr>
                        <a:t>70/100</a:t>
                      </a:r>
                    </a:p>
                  </a:txBody>
                  <a:tcPr>
                    <a:solidFill>
                      <a:srgbClr val="F5F7FA"/>
                    </a:solidFill>
                  </a:tcPr>
                </a:tc>
                <a:tc>
                  <a:txBody>
                    <a:bodyPr/>
                    <a:lstStyle/>
                    <a:p>
                      <a:pPr algn="ctr"/>
                      <a:r>
                        <a:rPr sz="750" b="0">
                          <a:solidFill>
                            <a:srgbClr val="1A1A1A"/>
                          </a:solidFill>
                        </a:rPr>
                        <a:t>0</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20</a:t>
                      </a:r>
                    </a:p>
                  </a:txBody>
                  <a:tcPr>
                    <a:solidFill>
                      <a:srgbClr val="F5F7FA"/>
                    </a:solidFill>
                  </a:tcPr>
                </a:tc>
                <a:tc>
                  <a:txBody>
                    <a:bodyPr/>
                    <a:lstStyle/>
                    <a:p>
                      <a:pPr algn="ctr"/>
                      <a:r>
                        <a:rPr sz="750" b="0">
                          <a:solidFill>
                            <a:srgbClr val="1A1A1A"/>
                          </a:solidFill>
                        </a:rPr>
                        <a:t>25</a:t>
                      </a:r>
                    </a:p>
                  </a:txBody>
                  <a:tcPr>
                    <a:solidFill>
                      <a:srgbClr val="F5F7FA"/>
                    </a:solidFill>
                  </a:tcPr>
                </a:tc>
                <a:tc>
                  <a:txBody>
                    <a:bodyPr/>
                    <a:lstStyle/>
                    <a:p>
                      <a:pPr algn="ctr"/>
                      <a:r>
                        <a:rPr sz="750" b="0">
                          <a:solidFill>
                            <a:srgbClr val="1A1A1A"/>
                          </a:solidFill>
                        </a:rPr>
                        <a:t>BUY</a:t>
                      </a:r>
                    </a:p>
                  </a:txBody>
                  <a:tcPr>
                    <a:solidFill>
                      <a:srgbClr val="F5F7FA"/>
                    </a:solidFill>
                  </a:tcPr>
                </a:tc>
              </a:tr>
            </a:tbl>
          </a:graphicData>
        </a:graphic>
      </p:graphicFrame>
      <p:sp>
        <p:nvSpPr>
          <p:cNvPr id="16" name="Rectangle 15"/>
          <p:cNvSpPr/>
          <p:nvPr/>
        </p:nvSpPr>
        <p:spPr>
          <a:xfrm>
            <a:off x="324000" y="3358800"/>
            <a:ext cx="8496000" cy="15012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3588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6000" y="3376800"/>
            <a:ext cx="8352000" cy="216000"/>
          </a:xfrm>
          <a:prstGeom prst="rect">
            <a:avLst/>
          </a:prstGeom>
          <a:noFill/>
        </p:spPr>
        <p:txBody>
          <a:bodyPr wrap="square">
            <a:spAutoFit/>
          </a:bodyPr>
          <a:lstStyle/>
          <a:p>
            <a:pPr algn="l"/>
            <a:r>
              <a:rPr sz="750" b="1" i="0">
                <a:solidFill>
                  <a:srgbClr val="FFFFFF"/>
                </a:solidFill>
              </a:rPr>
              <a:t>SYNTHESE SCORES  ·  Score &gt;= 75 = fort  ·  50-74 = moyen  ·  &lt; 50 = faible  ·  Ponderations : Value / Growth / Quality / Momentum = 25 % chacun</a:t>
            </a:r>
          </a:p>
        </p:txBody>
      </p:sp>
      <p:sp>
        <p:nvSpPr>
          <p:cNvPr id="19" name="TextBox 18"/>
          <p:cNvSpPr txBox="1"/>
          <p:nvPr/>
        </p:nvSpPr>
        <p:spPr>
          <a:xfrm>
            <a:off x="396000" y="3664800"/>
            <a:ext cx="8352000" cy="1141200"/>
          </a:xfrm>
          <a:prstGeom prst="rect">
            <a:avLst/>
          </a:prstGeom>
          <a:noFill/>
        </p:spPr>
        <p:txBody>
          <a:bodyPr wrap="square">
            <a:spAutoFit/>
          </a:bodyPr>
          <a:lstStyle/>
          <a:p>
            <a:pPr algn="l"/>
            <a:r>
              <a:rPr sz="850" b="0" i="0">
                <a:solidFill>
                  <a:srgbClr val="555555"/>
                </a:solidFill>
              </a:rPr>
              <a:t>Alphabet Inc. presente le profil le plus equilibre du secteur (85/100) avec des scores Value=10, Growth=25, Quality=25, Momentum=25. La dispersion des scores entre les 8 societes reflete des profils heterogenes — une allocation selective privilegiant les leaders qualitatifs est recommandee dans la configuration sectorielle actuelle.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03</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Top 3 &amp; Valorisations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Synthese Top 3, distribution EV/EBITDA &amp; zone d'entree optimale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Top 3 Societes — Synthese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detaillee  ·  Top 3 par score FinSight  ·  Catalyseurs &amp; risques identifies</a:t>
            </a:r>
          </a:p>
        </p:txBody>
      </p:sp>
      <p:sp>
        <p:nvSpPr>
          <p:cNvPr id="15" name="Rectangle 14"/>
          <p:cNvSpPr/>
          <p:nvPr/>
        </p:nvSpPr>
        <p:spPr>
          <a:xfrm>
            <a:off x="324000"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8000" y="972000"/>
            <a:ext cx="1655999" cy="288000"/>
          </a:xfrm>
          <a:prstGeom prst="rect">
            <a:avLst/>
          </a:prstGeom>
          <a:noFill/>
        </p:spPr>
        <p:txBody>
          <a:bodyPr wrap="square">
            <a:spAutoFit/>
          </a:bodyPr>
          <a:lstStyle/>
          <a:p>
            <a:pPr algn="l"/>
            <a:r>
              <a:rPr sz="1300" b="1" i="0">
                <a:solidFill>
                  <a:srgbClr val="1B3A6B"/>
                </a:solidFill>
              </a:rPr>
              <a:t>GOOGL</a:t>
            </a:r>
          </a:p>
        </p:txBody>
      </p:sp>
      <p:sp>
        <p:nvSpPr>
          <p:cNvPr id="18" name="Rectangle 17"/>
          <p:cNvSpPr/>
          <p:nvPr/>
        </p:nvSpPr>
        <p:spPr>
          <a:xfrm>
            <a:off x="223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232000" y="979200"/>
            <a:ext cx="792000" cy="234000"/>
          </a:xfrm>
          <a:prstGeom prst="rect">
            <a:avLst/>
          </a:prstGeom>
          <a:noFill/>
        </p:spPr>
        <p:txBody>
          <a:bodyPr wrap="square">
            <a:spAutoFit/>
          </a:bodyPr>
          <a:lstStyle/>
          <a:p>
            <a:pPr algn="ctr"/>
            <a:r>
              <a:rPr sz="900" b="1" i="0">
                <a:solidFill>
                  <a:srgbClr val="FFFFFF"/>
                </a:solidFill>
              </a:rPr>
              <a:t>BUY</a:t>
            </a:r>
          </a:p>
        </p:txBody>
      </p:sp>
      <p:sp>
        <p:nvSpPr>
          <p:cNvPr id="20" name="TextBox 19"/>
          <p:cNvSpPr txBox="1"/>
          <p:nvPr/>
        </p:nvSpPr>
        <p:spPr>
          <a:xfrm>
            <a:off x="468000" y="1260000"/>
            <a:ext cx="2556000" cy="180000"/>
          </a:xfrm>
          <a:prstGeom prst="rect">
            <a:avLst/>
          </a:prstGeom>
          <a:noFill/>
        </p:spPr>
        <p:txBody>
          <a:bodyPr wrap="square">
            <a:spAutoFit/>
          </a:bodyPr>
          <a:lstStyle/>
          <a:p>
            <a:pPr algn="l"/>
            <a:r>
              <a:rPr sz="800" b="0" i="0">
                <a:solidFill>
                  <a:srgbClr val="555555"/>
                </a:solidFill>
              </a:rPr>
              <a:t>Alphabet Inc.</a:t>
            </a:r>
          </a:p>
        </p:txBody>
      </p:sp>
      <p:sp>
        <p:nvSpPr>
          <p:cNvPr id="21" name="Rectangle 20"/>
          <p:cNvSpPr/>
          <p:nvPr/>
        </p:nvSpPr>
        <p:spPr>
          <a:xfrm>
            <a:off x="468000"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3999" y="1548000"/>
            <a:ext cx="1368000" cy="216000"/>
          </a:xfrm>
          <a:prstGeom prst="rect">
            <a:avLst/>
          </a:prstGeom>
          <a:noFill/>
        </p:spPr>
        <p:txBody>
          <a:bodyPr wrap="square">
            <a:spAutoFit/>
          </a:bodyPr>
          <a:lstStyle/>
          <a:p>
            <a:pPr algn="l"/>
            <a:r>
              <a:rPr sz="900" b="1" i="0">
                <a:solidFill>
                  <a:srgbClr val="FFFFFF"/>
                </a:solidFill>
              </a:rPr>
              <a:t>Cible : 381</a:t>
            </a:r>
          </a:p>
        </p:txBody>
      </p:sp>
      <p:sp>
        <p:nvSpPr>
          <p:cNvPr id="23" name="TextBox 22"/>
          <p:cNvSpPr txBox="1"/>
          <p:nvPr/>
        </p:nvSpPr>
        <p:spPr>
          <a:xfrm>
            <a:off x="1908000"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24" name="TextBox 23"/>
          <p:cNvSpPr txBox="1"/>
          <p:nvPr/>
        </p:nvSpPr>
        <p:spPr>
          <a:xfrm>
            <a:off x="468000"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25" name="Rectangle 24"/>
          <p:cNvSpPr/>
          <p:nvPr/>
        </p:nvSpPr>
        <p:spPr>
          <a:xfrm>
            <a:off x="468000"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2214000"/>
            <a:ext cx="1368000" cy="223200"/>
          </a:xfrm>
          <a:prstGeom prst="rect">
            <a:avLst/>
          </a:prstGeom>
          <a:noFill/>
        </p:spPr>
        <p:txBody>
          <a:bodyPr wrap="square">
            <a:spAutoFit/>
          </a:bodyPr>
          <a:lstStyle/>
          <a:p>
            <a:pPr algn="l"/>
            <a:r>
              <a:rPr sz="800" b="0" i="0">
                <a:solidFill>
                  <a:srgbClr val="555555"/>
                </a:solidFill>
              </a:rPr>
              <a:t>EV/EBITDA</a:t>
            </a:r>
          </a:p>
        </p:txBody>
      </p:sp>
      <p:sp>
        <p:nvSpPr>
          <p:cNvPr id="27" name="TextBox 26"/>
          <p:cNvSpPr txBox="1"/>
          <p:nvPr/>
        </p:nvSpPr>
        <p:spPr>
          <a:xfrm>
            <a:off x="1908000" y="2214000"/>
            <a:ext cx="1080000" cy="223200"/>
          </a:xfrm>
          <a:prstGeom prst="rect">
            <a:avLst/>
          </a:prstGeom>
          <a:noFill/>
        </p:spPr>
        <p:txBody>
          <a:bodyPr wrap="square">
            <a:spAutoFit/>
          </a:bodyPr>
          <a:lstStyle/>
          <a:p>
            <a:pPr algn="r"/>
            <a:r>
              <a:rPr sz="850" b="1" i="0">
                <a:solidFill>
                  <a:srgbClr val="1B3A6B"/>
                </a:solidFill>
              </a:rPr>
              <a:t>25.2x</a:t>
            </a:r>
          </a:p>
        </p:txBody>
      </p:sp>
      <p:sp>
        <p:nvSpPr>
          <p:cNvPr id="28" name="Rectangle 27"/>
          <p:cNvSpPr/>
          <p:nvPr/>
        </p:nvSpPr>
        <p:spPr>
          <a:xfrm>
            <a:off x="468000"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3999"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30" name="TextBox 29"/>
          <p:cNvSpPr txBox="1"/>
          <p:nvPr/>
        </p:nvSpPr>
        <p:spPr>
          <a:xfrm>
            <a:off x="1908000" y="2484000"/>
            <a:ext cx="1080000" cy="223200"/>
          </a:xfrm>
          <a:prstGeom prst="rect">
            <a:avLst/>
          </a:prstGeom>
          <a:noFill/>
        </p:spPr>
        <p:txBody>
          <a:bodyPr wrap="square">
            <a:spAutoFit/>
          </a:bodyPr>
          <a:lstStyle/>
          <a:p>
            <a:pPr algn="r"/>
            <a:r>
              <a:rPr sz="850" b="1" i="0">
                <a:solidFill>
                  <a:srgbClr val="1B3A6B"/>
                </a:solidFill>
              </a:rPr>
              <a:t>37.3 %</a:t>
            </a:r>
          </a:p>
        </p:txBody>
      </p:sp>
      <p:sp>
        <p:nvSpPr>
          <p:cNvPr id="31" name="Rectangle 30"/>
          <p:cNvSpPr/>
          <p:nvPr/>
        </p:nvSpPr>
        <p:spPr>
          <a:xfrm>
            <a:off x="468000"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2754000"/>
            <a:ext cx="1368000" cy="223200"/>
          </a:xfrm>
          <a:prstGeom prst="rect">
            <a:avLst/>
          </a:prstGeom>
          <a:noFill/>
        </p:spPr>
        <p:txBody>
          <a:bodyPr wrap="square">
            <a:spAutoFit/>
          </a:bodyPr>
          <a:lstStyle/>
          <a:p>
            <a:pPr algn="l"/>
            <a:r>
              <a:rPr sz="800" b="0" i="0">
                <a:solidFill>
                  <a:srgbClr val="555555"/>
                </a:solidFill>
              </a:rPr>
              <a:t>Altman Z</a:t>
            </a:r>
          </a:p>
        </p:txBody>
      </p:sp>
      <p:sp>
        <p:nvSpPr>
          <p:cNvPr id="33" name="TextBox 32"/>
          <p:cNvSpPr txBox="1"/>
          <p:nvPr/>
        </p:nvSpPr>
        <p:spPr>
          <a:xfrm>
            <a:off x="1908000" y="2754000"/>
            <a:ext cx="1080000" cy="223200"/>
          </a:xfrm>
          <a:prstGeom prst="rect">
            <a:avLst/>
          </a:prstGeom>
          <a:noFill/>
        </p:spPr>
        <p:txBody>
          <a:bodyPr wrap="square">
            <a:spAutoFit/>
          </a:bodyPr>
          <a:lstStyle/>
          <a:p>
            <a:pPr algn="r"/>
            <a:r>
              <a:rPr sz="850" b="1" i="0">
                <a:solidFill>
                  <a:srgbClr val="1B3A6B"/>
                </a:solidFill>
              </a:rPr>
              <a:t>—</a:t>
            </a:r>
          </a:p>
        </p:txBody>
      </p:sp>
      <p:sp>
        <p:nvSpPr>
          <p:cNvPr id="34" name="TextBox 33"/>
          <p:cNvSpPr txBox="1"/>
          <p:nvPr/>
        </p:nvSpPr>
        <p:spPr>
          <a:xfrm>
            <a:off x="468000"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35" name="Rectangle 34"/>
          <p:cNvSpPr/>
          <p:nvPr/>
        </p:nvSpPr>
        <p:spPr>
          <a:xfrm>
            <a:off x="468000"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68000"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0000" y="3258000"/>
            <a:ext cx="2412000" cy="450000"/>
          </a:xfrm>
          <a:prstGeom prst="rect">
            <a:avLst/>
          </a:prstGeom>
          <a:noFill/>
        </p:spPr>
        <p:txBody>
          <a:bodyPr wrap="square">
            <a:spAutoFit/>
          </a:bodyPr>
          <a:lstStyle/>
          <a:p>
            <a:pPr algn="l"/>
            <a:r>
              <a:rPr sz="750" b="0" i="0">
                <a:solidFill>
                  <a:srgbClr val="555555"/>
                </a:solidFill>
              </a:rPr>
              <a:t>L'IA générative et les modèles de langage transforment les workflows des entreprises, créant une demande structurelle pour les semi-conducteurs et les</a:t>
            </a:r>
          </a:p>
        </p:txBody>
      </p:sp>
      <p:sp>
        <p:nvSpPr>
          <p:cNvPr id="38" name="TextBox 37"/>
          <p:cNvSpPr txBox="1"/>
          <p:nvPr/>
        </p:nvSpPr>
        <p:spPr>
          <a:xfrm>
            <a:off x="468000"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39" name="Rectangle 38"/>
          <p:cNvSpPr/>
          <p:nvPr/>
        </p:nvSpPr>
        <p:spPr>
          <a:xfrm>
            <a:off x="468000"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68000"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0000" y="4014000"/>
            <a:ext cx="2412000" cy="450000"/>
          </a:xfrm>
          <a:prstGeom prst="rect">
            <a:avLst/>
          </a:prstGeom>
          <a:noFill/>
        </p:spPr>
        <p:txBody>
          <a:bodyPr wrap="square">
            <a:spAutoFit/>
          </a:bodyPr>
          <a:lstStyle/>
          <a:p>
            <a:pPr algn="l"/>
            <a:r>
              <a:rPr sz="750" b="0" i="0">
                <a:solidFill>
                  <a:srgbClr val="555555"/>
                </a:solidFill>
              </a:rPr>
              <a:t>Les enquêtes antitrust aux États-Unis et en Europe pourraient entraîner des amendes ou des restrictions opérationnelles pour les géants</a:t>
            </a:r>
          </a:p>
        </p:txBody>
      </p:sp>
      <p:sp>
        <p:nvSpPr>
          <p:cNvPr id="42" name="Rectangle 41"/>
          <p:cNvSpPr/>
          <p:nvPr/>
        </p:nvSpPr>
        <p:spPr>
          <a:xfrm>
            <a:off x="3204000"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204000"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348000" y="972000"/>
            <a:ext cx="1655999" cy="288000"/>
          </a:xfrm>
          <a:prstGeom prst="rect">
            <a:avLst/>
          </a:prstGeom>
          <a:noFill/>
        </p:spPr>
        <p:txBody>
          <a:bodyPr wrap="square">
            <a:spAutoFit/>
          </a:bodyPr>
          <a:lstStyle/>
          <a:p>
            <a:pPr algn="l"/>
            <a:r>
              <a:rPr sz="1300" b="1" i="0">
                <a:solidFill>
                  <a:srgbClr val="1B3A6B"/>
                </a:solidFill>
              </a:rPr>
              <a:t>NVDA</a:t>
            </a:r>
          </a:p>
        </p:txBody>
      </p:sp>
      <p:sp>
        <p:nvSpPr>
          <p:cNvPr id="45" name="Rectangle 44"/>
          <p:cNvSpPr/>
          <p:nvPr/>
        </p:nvSpPr>
        <p:spPr>
          <a:xfrm>
            <a:off x="511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112000" y="979200"/>
            <a:ext cx="792000" cy="234000"/>
          </a:xfrm>
          <a:prstGeom prst="rect">
            <a:avLst/>
          </a:prstGeom>
          <a:noFill/>
        </p:spPr>
        <p:txBody>
          <a:bodyPr wrap="square">
            <a:spAutoFit/>
          </a:bodyPr>
          <a:lstStyle/>
          <a:p>
            <a:pPr algn="ctr"/>
            <a:r>
              <a:rPr sz="900" b="1" i="0">
                <a:solidFill>
                  <a:srgbClr val="FFFFFF"/>
                </a:solidFill>
              </a:rPr>
              <a:t>BUY</a:t>
            </a:r>
          </a:p>
        </p:txBody>
      </p:sp>
      <p:sp>
        <p:nvSpPr>
          <p:cNvPr id="47" name="TextBox 46"/>
          <p:cNvSpPr txBox="1"/>
          <p:nvPr/>
        </p:nvSpPr>
        <p:spPr>
          <a:xfrm>
            <a:off x="3348000" y="1260000"/>
            <a:ext cx="2556000" cy="180000"/>
          </a:xfrm>
          <a:prstGeom prst="rect">
            <a:avLst/>
          </a:prstGeom>
          <a:noFill/>
        </p:spPr>
        <p:txBody>
          <a:bodyPr wrap="square">
            <a:spAutoFit/>
          </a:bodyPr>
          <a:lstStyle/>
          <a:p>
            <a:pPr algn="l"/>
            <a:r>
              <a:rPr sz="800" b="0" i="0">
                <a:solidFill>
                  <a:srgbClr val="555555"/>
                </a:solidFill>
              </a:rPr>
              <a:t>NVIDIA Corporation</a:t>
            </a:r>
          </a:p>
        </p:txBody>
      </p:sp>
      <p:sp>
        <p:nvSpPr>
          <p:cNvPr id="48" name="Rectangle 47"/>
          <p:cNvSpPr/>
          <p:nvPr/>
        </p:nvSpPr>
        <p:spPr>
          <a:xfrm>
            <a:off x="3348000"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384000" y="1548000"/>
            <a:ext cx="1368000" cy="216000"/>
          </a:xfrm>
          <a:prstGeom prst="rect">
            <a:avLst/>
          </a:prstGeom>
          <a:noFill/>
        </p:spPr>
        <p:txBody>
          <a:bodyPr wrap="square">
            <a:spAutoFit/>
          </a:bodyPr>
          <a:lstStyle/>
          <a:p>
            <a:pPr algn="l"/>
            <a:r>
              <a:rPr sz="900" b="1" i="0">
                <a:solidFill>
                  <a:srgbClr val="FFFFFF"/>
                </a:solidFill>
              </a:rPr>
              <a:t>Cible : 218</a:t>
            </a:r>
          </a:p>
        </p:txBody>
      </p:sp>
      <p:sp>
        <p:nvSpPr>
          <p:cNvPr id="50" name="TextBox 49"/>
          <p:cNvSpPr txBox="1"/>
          <p:nvPr/>
        </p:nvSpPr>
        <p:spPr>
          <a:xfrm>
            <a:off x="4788000"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51" name="TextBox 50"/>
          <p:cNvSpPr txBox="1"/>
          <p:nvPr/>
        </p:nvSpPr>
        <p:spPr>
          <a:xfrm>
            <a:off x="3348000"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52" name="Rectangle 51"/>
          <p:cNvSpPr/>
          <p:nvPr/>
        </p:nvSpPr>
        <p:spPr>
          <a:xfrm>
            <a:off x="3348000"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384000" y="2214000"/>
            <a:ext cx="1368000" cy="223200"/>
          </a:xfrm>
          <a:prstGeom prst="rect">
            <a:avLst/>
          </a:prstGeom>
          <a:noFill/>
        </p:spPr>
        <p:txBody>
          <a:bodyPr wrap="square">
            <a:spAutoFit/>
          </a:bodyPr>
          <a:lstStyle/>
          <a:p>
            <a:pPr algn="l"/>
            <a:r>
              <a:rPr sz="800" b="0" i="0">
                <a:solidFill>
                  <a:srgbClr val="555555"/>
                </a:solidFill>
              </a:rPr>
              <a:t>EV/EBITDA</a:t>
            </a:r>
          </a:p>
        </p:txBody>
      </p:sp>
      <p:sp>
        <p:nvSpPr>
          <p:cNvPr id="54" name="TextBox 53"/>
          <p:cNvSpPr txBox="1"/>
          <p:nvPr/>
        </p:nvSpPr>
        <p:spPr>
          <a:xfrm>
            <a:off x="4788000" y="2214000"/>
            <a:ext cx="1080000" cy="223200"/>
          </a:xfrm>
          <a:prstGeom prst="rect">
            <a:avLst/>
          </a:prstGeom>
          <a:noFill/>
        </p:spPr>
        <p:txBody>
          <a:bodyPr wrap="square">
            <a:spAutoFit/>
          </a:bodyPr>
          <a:lstStyle/>
          <a:p>
            <a:pPr algn="r"/>
            <a:r>
              <a:rPr sz="850" b="1" i="0">
                <a:solidFill>
                  <a:srgbClr val="1B3A6B"/>
                </a:solidFill>
              </a:rPr>
              <a:t>32.8x</a:t>
            </a:r>
          </a:p>
        </p:txBody>
      </p:sp>
      <p:sp>
        <p:nvSpPr>
          <p:cNvPr id="55" name="Rectangle 54"/>
          <p:cNvSpPr/>
          <p:nvPr/>
        </p:nvSpPr>
        <p:spPr>
          <a:xfrm>
            <a:off x="3348000"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384000"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57" name="TextBox 56"/>
          <p:cNvSpPr txBox="1"/>
          <p:nvPr/>
        </p:nvSpPr>
        <p:spPr>
          <a:xfrm>
            <a:off x="4788000" y="2484000"/>
            <a:ext cx="1080000" cy="223200"/>
          </a:xfrm>
          <a:prstGeom prst="rect">
            <a:avLst/>
          </a:prstGeom>
          <a:noFill/>
        </p:spPr>
        <p:txBody>
          <a:bodyPr wrap="square">
            <a:spAutoFit/>
          </a:bodyPr>
          <a:lstStyle/>
          <a:p>
            <a:pPr algn="r"/>
            <a:r>
              <a:rPr sz="850" b="1" i="0">
                <a:solidFill>
                  <a:srgbClr val="1B3A6B"/>
                </a:solidFill>
              </a:rPr>
              <a:t>61.7 %</a:t>
            </a:r>
          </a:p>
        </p:txBody>
      </p:sp>
      <p:sp>
        <p:nvSpPr>
          <p:cNvPr id="58" name="Rectangle 57"/>
          <p:cNvSpPr/>
          <p:nvPr/>
        </p:nvSpPr>
        <p:spPr>
          <a:xfrm>
            <a:off x="3348000"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384000" y="2754000"/>
            <a:ext cx="1368000" cy="223200"/>
          </a:xfrm>
          <a:prstGeom prst="rect">
            <a:avLst/>
          </a:prstGeom>
          <a:noFill/>
        </p:spPr>
        <p:txBody>
          <a:bodyPr wrap="square">
            <a:spAutoFit/>
          </a:bodyPr>
          <a:lstStyle/>
          <a:p>
            <a:pPr algn="l"/>
            <a:r>
              <a:rPr sz="800" b="0" i="0">
                <a:solidFill>
                  <a:srgbClr val="555555"/>
                </a:solidFill>
              </a:rPr>
              <a:t>Altman Z</a:t>
            </a:r>
          </a:p>
        </p:txBody>
      </p:sp>
      <p:sp>
        <p:nvSpPr>
          <p:cNvPr id="60" name="TextBox 59"/>
          <p:cNvSpPr txBox="1"/>
          <p:nvPr/>
        </p:nvSpPr>
        <p:spPr>
          <a:xfrm>
            <a:off x="4788000" y="2754000"/>
            <a:ext cx="1080000" cy="223200"/>
          </a:xfrm>
          <a:prstGeom prst="rect">
            <a:avLst/>
          </a:prstGeom>
          <a:noFill/>
        </p:spPr>
        <p:txBody>
          <a:bodyPr wrap="square">
            <a:spAutoFit/>
          </a:bodyPr>
          <a:lstStyle/>
          <a:p>
            <a:pPr algn="r"/>
            <a:r>
              <a:rPr sz="850" b="1" i="0">
                <a:solidFill>
                  <a:srgbClr val="1B3A6B"/>
                </a:solidFill>
              </a:rPr>
              <a:t>—</a:t>
            </a:r>
          </a:p>
        </p:txBody>
      </p:sp>
      <p:sp>
        <p:nvSpPr>
          <p:cNvPr id="61" name="TextBox 60"/>
          <p:cNvSpPr txBox="1"/>
          <p:nvPr/>
        </p:nvSpPr>
        <p:spPr>
          <a:xfrm>
            <a:off x="3348000"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62" name="Rectangle 61"/>
          <p:cNvSpPr/>
          <p:nvPr/>
        </p:nvSpPr>
        <p:spPr>
          <a:xfrm>
            <a:off x="3348000"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3348000"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3420000" y="3258000"/>
            <a:ext cx="2412000" cy="450000"/>
          </a:xfrm>
          <a:prstGeom prst="rect">
            <a:avLst/>
          </a:prstGeom>
          <a:noFill/>
        </p:spPr>
        <p:txBody>
          <a:bodyPr wrap="square">
            <a:spAutoFit/>
          </a:bodyPr>
          <a:lstStyle/>
          <a:p>
            <a:pPr algn="l"/>
            <a:r>
              <a:rPr sz="750" b="0" i="0">
                <a:solidFill>
                  <a:srgbClr val="555555"/>
                </a:solidFill>
              </a:rPr>
              <a:t>Les entreprises accélèrent leur migration vers des infrastructures cloud hybrides, boostant les revenus récurrents des fournisseurs comme GOOGL et AAPL.</a:t>
            </a:r>
          </a:p>
        </p:txBody>
      </p:sp>
      <p:sp>
        <p:nvSpPr>
          <p:cNvPr id="65" name="TextBox 64"/>
          <p:cNvSpPr txBox="1"/>
          <p:nvPr/>
        </p:nvSpPr>
        <p:spPr>
          <a:xfrm>
            <a:off x="3348000"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66" name="Rectangle 65"/>
          <p:cNvSpPr/>
          <p:nvPr/>
        </p:nvSpPr>
        <p:spPr>
          <a:xfrm>
            <a:off x="3348000"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3348000"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420000" y="4014000"/>
            <a:ext cx="2412000" cy="450000"/>
          </a:xfrm>
          <a:prstGeom prst="rect">
            <a:avLst/>
          </a:prstGeom>
          <a:noFill/>
        </p:spPr>
        <p:txBody>
          <a:bodyPr wrap="square">
            <a:spAutoFit/>
          </a:bodyPr>
          <a:lstStyle/>
          <a:p>
            <a:pPr algn="l"/>
            <a:r>
              <a:rPr sz="750" b="0" i="0">
                <a:solidFill>
                  <a:srgbClr val="555555"/>
                </a:solidFill>
              </a:rPr>
              <a:t>La hausse des taux d'intérêt augmente le coût du capital, pesant sur les valorisations des entreprises à forte croissance mais peu rentables.</a:t>
            </a:r>
          </a:p>
        </p:txBody>
      </p:sp>
      <p:sp>
        <p:nvSpPr>
          <p:cNvPr id="69" name="Rectangle 68"/>
          <p:cNvSpPr/>
          <p:nvPr/>
        </p:nvSpPr>
        <p:spPr>
          <a:xfrm>
            <a:off x="6083999" y="900000"/>
            <a:ext cx="2736000" cy="403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6083999" y="900000"/>
            <a:ext cx="36000" cy="403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227999" y="972000"/>
            <a:ext cx="1655999" cy="288000"/>
          </a:xfrm>
          <a:prstGeom prst="rect">
            <a:avLst/>
          </a:prstGeom>
          <a:noFill/>
        </p:spPr>
        <p:txBody>
          <a:bodyPr wrap="square">
            <a:spAutoFit/>
          </a:bodyPr>
          <a:lstStyle/>
          <a:p>
            <a:pPr algn="l"/>
            <a:r>
              <a:rPr sz="1300" b="1" i="0">
                <a:solidFill>
                  <a:srgbClr val="1B3A6B"/>
                </a:solidFill>
              </a:rPr>
              <a:t>AAPL</a:t>
            </a:r>
          </a:p>
        </p:txBody>
      </p:sp>
      <p:sp>
        <p:nvSpPr>
          <p:cNvPr id="72" name="Rectangle 71"/>
          <p:cNvSpPr/>
          <p:nvPr/>
        </p:nvSpPr>
        <p:spPr>
          <a:xfrm>
            <a:off x="7992000" y="972000"/>
            <a:ext cx="792000" cy="251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7992000" y="979200"/>
            <a:ext cx="792000" cy="234000"/>
          </a:xfrm>
          <a:prstGeom prst="rect">
            <a:avLst/>
          </a:prstGeom>
          <a:noFill/>
        </p:spPr>
        <p:txBody>
          <a:bodyPr wrap="square">
            <a:spAutoFit/>
          </a:bodyPr>
          <a:lstStyle/>
          <a:p>
            <a:pPr algn="ctr"/>
            <a:r>
              <a:rPr sz="900" b="1" i="0">
                <a:solidFill>
                  <a:srgbClr val="FFFFFF"/>
                </a:solidFill>
              </a:rPr>
              <a:t>BUY</a:t>
            </a:r>
          </a:p>
        </p:txBody>
      </p:sp>
      <p:sp>
        <p:nvSpPr>
          <p:cNvPr id="74" name="TextBox 73"/>
          <p:cNvSpPr txBox="1"/>
          <p:nvPr/>
        </p:nvSpPr>
        <p:spPr>
          <a:xfrm>
            <a:off x="6227999" y="1260000"/>
            <a:ext cx="2556000" cy="180000"/>
          </a:xfrm>
          <a:prstGeom prst="rect">
            <a:avLst/>
          </a:prstGeom>
          <a:noFill/>
        </p:spPr>
        <p:txBody>
          <a:bodyPr wrap="square">
            <a:spAutoFit/>
          </a:bodyPr>
          <a:lstStyle/>
          <a:p>
            <a:pPr algn="l"/>
            <a:r>
              <a:rPr sz="800" b="0" i="0">
                <a:solidFill>
                  <a:srgbClr val="555555"/>
                </a:solidFill>
              </a:rPr>
              <a:t>Apple Inc.</a:t>
            </a:r>
          </a:p>
        </p:txBody>
      </p:sp>
      <p:sp>
        <p:nvSpPr>
          <p:cNvPr id="75" name="Rectangle 74"/>
          <p:cNvSpPr/>
          <p:nvPr/>
        </p:nvSpPr>
        <p:spPr>
          <a:xfrm>
            <a:off x="6227999" y="1512000"/>
            <a:ext cx="2556000" cy="432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263999" y="1548000"/>
            <a:ext cx="1368000" cy="216000"/>
          </a:xfrm>
          <a:prstGeom prst="rect">
            <a:avLst/>
          </a:prstGeom>
          <a:noFill/>
        </p:spPr>
        <p:txBody>
          <a:bodyPr wrap="square">
            <a:spAutoFit/>
          </a:bodyPr>
          <a:lstStyle/>
          <a:p>
            <a:pPr algn="l"/>
            <a:r>
              <a:rPr sz="900" b="1" i="0">
                <a:solidFill>
                  <a:srgbClr val="FFFFFF"/>
                </a:solidFill>
              </a:rPr>
              <a:t>Cible : 311</a:t>
            </a:r>
          </a:p>
        </p:txBody>
      </p:sp>
      <p:sp>
        <p:nvSpPr>
          <p:cNvPr id="77" name="TextBox 76"/>
          <p:cNvSpPr txBox="1"/>
          <p:nvPr/>
        </p:nvSpPr>
        <p:spPr>
          <a:xfrm>
            <a:off x="7667999" y="1548000"/>
            <a:ext cx="1080000" cy="216000"/>
          </a:xfrm>
          <a:prstGeom prst="rect">
            <a:avLst/>
          </a:prstGeom>
          <a:noFill/>
        </p:spPr>
        <p:txBody>
          <a:bodyPr wrap="square">
            <a:spAutoFit/>
          </a:bodyPr>
          <a:lstStyle/>
          <a:p>
            <a:pPr algn="l"/>
            <a:r>
              <a:rPr sz="900" b="0" i="0">
                <a:solidFill>
                  <a:srgbClr val="FFFFFF"/>
                </a:solidFill>
              </a:rPr>
              <a:t>Upside : +20 %</a:t>
            </a:r>
          </a:p>
        </p:txBody>
      </p:sp>
      <p:sp>
        <p:nvSpPr>
          <p:cNvPr id="78" name="TextBox 77"/>
          <p:cNvSpPr txBox="1"/>
          <p:nvPr/>
        </p:nvSpPr>
        <p:spPr>
          <a:xfrm>
            <a:off x="6227999" y="2015999"/>
            <a:ext cx="2556000" cy="180000"/>
          </a:xfrm>
          <a:prstGeom prst="rect">
            <a:avLst/>
          </a:prstGeom>
          <a:noFill/>
        </p:spPr>
        <p:txBody>
          <a:bodyPr wrap="square">
            <a:spAutoFit/>
          </a:bodyPr>
          <a:lstStyle/>
          <a:p>
            <a:pPr algn="l"/>
            <a:r>
              <a:rPr sz="750" b="1" i="0">
                <a:solidFill>
                  <a:srgbClr val="1B3A6B"/>
                </a:solidFill>
              </a:rPr>
              <a:t>Ratios cles</a:t>
            </a:r>
          </a:p>
        </p:txBody>
      </p:sp>
      <p:sp>
        <p:nvSpPr>
          <p:cNvPr id="79" name="Rectangle 78"/>
          <p:cNvSpPr/>
          <p:nvPr/>
        </p:nvSpPr>
        <p:spPr>
          <a:xfrm>
            <a:off x="6227999" y="219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263999" y="2214000"/>
            <a:ext cx="1368000" cy="223200"/>
          </a:xfrm>
          <a:prstGeom prst="rect">
            <a:avLst/>
          </a:prstGeom>
          <a:noFill/>
        </p:spPr>
        <p:txBody>
          <a:bodyPr wrap="square">
            <a:spAutoFit/>
          </a:bodyPr>
          <a:lstStyle/>
          <a:p>
            <a:pPr algn="l"/>
            <a:r>
              <a:rPr sz="800" b="0" i="0">
                <a:solidFill>
                  <a:srgbClr val="555555"/>
                </a:solidFill>
              </a:rPr>
              <a:t>EV/EBITDA</a:t>
            </a:r>
          </a:p>
        </p:txBody>
      </p:sp>
      <p:sp>
        <p:nvSpPr>
          <p:cNvPr id="81" name="TextBox 80"/>
          <p:cNvSpPr txBox="1"/>
          <p:nvPr/>
        </p:nvSpPr>
        <p:spPr>
          <a:xfrm>
            <a:off x="7667999" y="2214000"/>
            <a:ext cx="1080000" cy="223200"/>
          </a:xfrm>
          <a:prstGeom prst="rect">
            <a:avLst/>
          </a:prstGeom>
          <a:noFill/>
        </p:spPr>
        <p:txBody>
          <a:bodyPr wrap="square">
            <a:spAutoFit/>
          </a:bodyPr>
          <a:lstStyle/>
          <a:p>
            <a:pPr algn="r"/>
            <a:r>
              <a:rPr sz="850" b="1" i="0">
                <a:solidFill>
                  <a:srgbClr val="1B3A6B"/>
                </a:solidFill>
              </a:rPr>
              <a:t>25.0x</a:t>
            </a:r>
          </a:p>
        </p:txBody>
      </p:sp>
      <p:sp>
        <p:nvSpPr>
          <p:cNvPr id="82" name="Rectangle 81"/>
          <p:cNvSpPr/>
          <p:nvPr/>
        </p:nvSpPr>
        <p:spPr>
          <a:xfrm>
            <a:off x="6227999" y="246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6263999" y="2484000"/>
            <a:ext cx="1368000" cy="223200"/>
          </a:xfrm>
          <a:prstGeom prst="rect">
            <a:avLst/>
          </a:prstGeom>
          <a:noFill/>
        </p:spPr>
        <p:txBody>
          <a:bodyPr wrap="square">
            <a:spAutoFit/>
          </a:bodyPr>
          <a:lstStyle/>
          <a:p>
            <a:pPr algn="l"/>
            <a:r>
              <a:rPr sz="800" b="0" i="0">
                <a:solidFill>
                  <a:srgbClr val="555555"/>
                </a:solidFill>
              </a:rPr>
              <a:t>Marge EBITDA</a:t>
            </a:r>
          </a:p>
        </p:txBody>
      </p:sp>
      <p:sp>
        <p:nvSpPr>
          <p:cNvPr id="84" name="TextBox 83"/>
          <p:cNvSpPr txBox="1"/>
          <p:nvPr/>
        </p:nvSpPr>
        <p:spPr>
          <a:xfrm>
            <a:off x="7667999" y="2484000"/>
            <a:ext cx="1080000" cy="223200"/>
          </a:xfrm>
          <a:prstGeom prst="rect">
            <a:avLst/>
          </a:prstGeom>
          <a:noFill/>
        </p:spPr>
        <p:txBody>
          <a:bodyPr wrap="square">
            <a:spAutoFit/>
          </a:bodyPr>
          <a:lstStyle/>
          <a:p>
            <a:pPr algn="r"/>
            <a:r>
              <a:rPr sz="850" b="1" i="0">
                <a:solidFill>
                  <a:srgbClr val="1B3A6B"/>
                </a:solidFill>
              </a:rPr>
              <a:t>35.1 %</a:t>
            </a:r>
          </a:p>
        </p:txBody>
      </p:sp>
      <p:sp>
        <p:nvSpPr>
          <p:cNvPr id="85" name="Rectangle 84"/>
          <p:cNvSpPr/>
          <p:nvPr/>
        </p:nvSpPr>
        <p:spPr>
          <a:xfrm>
            <a:off x="6227999" y="2736000"/>
            <a:ext cx="2556000" cy="2592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6263999" y="2754000"/>
            <a:ext cx="1368000" cy="223200"/>
          </a:xfrm>
          <a:prstGeom prst="rect">
            <a:avLst/>
          </a:prstGeom>
          <a:noFill/>
        </p:spPr>
        <p:txBody>
          <a:bodyPr wrap="square">
            <a:spAutoFit/>
          </a:bodyPr>
          <a:lstStyle/>
          <a:p>
            <a:pPr algn="l"/>
            <a:r>
              <a:rPr sz="800" b="0" i="0">
                <a:solidFill>
                  <a:srgbClr val="555555"/>
                </a:solidFill>
              </a:rPr>
              <a:t>Altman Z</a:t>
            </a:r>
          </a:p>
        </p:txBody>
      </p:sp>
      <p:sp>
        <p:nvSpPr>
          <p:cNvPr id="87" name="TextBox 86"/>
          <p:cNvSpPr txBox="1"/>
          <p:nvPr/>
        </p:nvSpPr>
        <p:spPr>
          <a:xfrm>
            <a:off x="7667999" y="2754000"/>
            <a:ext cx="1080000" cy="223200"/>
          </a:xfrm>
          <a:prstGeom prst="rect">
            <a:avLst/>
          </a:prstGeom>
          <a:noFill/>
        </p:spPr>
        <p:txBody>
          <a:bodyPr wrap="square">
            <a:spAutoFit/>
          </a:bodyPr>
          <a:lstStyle/>
          <a:p>
            <a:pPr algn="r"/>
            <a:r>
              <a:rPr sz="850" b="1" i="0">
                <a:solidFill>
                  <a:srgbClr val="1B3A6B"/>
                </a:solidFill>
              </a:rPr>
              <a:t>—</a:t>
            </a:r>
          </a:p>
        </p:txBody>
      </p:sp>
      <p:sp>
        <p:nvSpPr>
          <p:cNvPr id="88" name="TextBox 87"/>
          <p:cNvSpPr txBox="1"/>
          <p:nvPr/>
        </p:nvSpPr>
        <p:spPr>
          <a:xfrm>
            <a:off x="6227999" y="3060000"/>
            <a:ext cx="2556000" cy="180000"/>
          </a:xfrm>
          <a:prstGeom prst="rect">
            <a:avLst/>
          </a:prstGeom>
          <a:noFill/>
        </p:spPr>
        <p:txBody>
          <a:bodyPr wrap="square">
            <a:spAutoFit/>
          </a:bodyPr>
          <a:lstStyle/>
          <a:p>
            <a:pPr algn="l"/>
            <a:r>
              <a:rPr sz="750" b="1" i="0">
                <a:solidFill>
                  <a:srgbClr val="1A7A4A"/>
                </a:solidFill>
              </a:rPr>
              <a:t>Catalyseur</a:t>
            </a:r>
          </a:p>
        </p:txBody>
      </p:sp>
      <p:sp>
        <p:nvSpPr>
          <p:cNvPr id="89" name="Rectangle 88"/>
          <p:cNvSpPr/>
          <p:nvPr/>
        </p:nvSpPr>
        <p:spPr>
          <a:xfrm>
            <a:off x="6227999" y="3240000"/>
            <a:ext cx="2556000" cy="50399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6227999" y="3240000"/>
            <a:ext cx="36000" cy="503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6300000" y="3258000"/>
            <a:ext cx="2412000" cy="450000"/>
          </a:xfrm>
          <a:prstGeom prst="rect">
            <a:avLst/>
          </a:prstGeom>
          <a:noFill/>
        </p:spPr>
        <p:txBody>
          <a:bodyPr wrap="square">
            <a:spAutoFit/>
          </a:bodyPr>
          <a:lstStyle/>
          <a:p>
            <a:pPr algn="l"/>
            <a:r>
              <a:rPr sz="750" b="0" i="0">
                <a:solidFill>
                  <a:srgbClr val="555555"/>
                </a:solidFill>
              </a:rPr>
              <a:t>NVDA domine le marché des GPU pour l'IA et le calcul haute performance, avec une part de marché en croissance malgré des pressions concurrentielles.</a:t>
            </a:r>
          </a:p>
        </p:txBody>
      </p:sp>
      <p:sp>
        <p:nvSpPr>
          <p:cNvPr id="92" name="TextBox 91"/>
          <p:cNvSpPr txBox="1"/>
          <p:nvPr/>
        </p:nvSpPr>
        <p:spPr>
          <a:xfrm>
            <a:off x="6227999" y="3780000"/>
            <a:ext cx="2556000" cy="180000"/>
          </a:xfrm>
          <a:prstGeom prst="rect">
            <a:avLst/>
          </a:prstGeom>
          <a:noFill/>
        </p:spPr>
        <p:txBody>
          <a:bodyPr wrap="square">
            <a:spAutoFit/>
          </a:bodyPr>
          <a:lstStyle/>
          <a:p>
            <a:pPr algn="l"/>
            <a:r>
              <a:rPr sz="750" b="1" i="0">
                <a:solidFill>
                  <a:srgbClr val="A82020"/>
                </a:solidFill>
              </a:rPr>
              <a:t>Risque principal</a:t>
            </a:r>
          </a:p>
        </p:txBody>
      </p:sp>
      <p:sp>
        <p:nvSpPr>
          <p:cNvPr id="93" name="Rectangle 92"/>
          <p:cNvSpPr/>
          <p:nvPr/>
        </p:nvSpPr>
        <p:spPr>
          <a:xfrm>
            <a:off x="6227999" y="3996000"/>
            <a:ext cx="2556000" cy="503999"/>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6227999" y="3996000"/>
            <a:ext cx="36000" cy="503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300000" y="4014000"/>
            <a:ext cx="2412000" cy="450000"/>
          </a:xfrm>
          <a:prstGeom prst="rect">
            <a:avLst/>
          </a:prstGeom>
          <a:noFill/>
        </p:spPr>
        <p:txBody>
          <a:bodyPr wrap="square">
            <a:spAutoFit/>
          </a:bodyPr>
          <a:lstStyle/>
          <a:p>
            <a:pPr algn="l"/>
            <a:r>
              <a:rPr sz="750" b="0" i="0">
                <a:solidFill>
                  <a:srgbClr val="555555"/>
                </a:solidFill>
              </a:rPr>
              <a:t>Les acteurs chinois (comme Huawei ou Baidu) gagnent du terrain dans l'IA, menaçant la domination des entreprises américaines sur ce segment.</a:t>
            </a:r>
          </a:p>
        </p:txBody>
      </p:sp>
      <p:sp>
        <p:nvSpPr>
          <p:cNvPr id="96" name="Rectangle 95"/>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Distribution des Valorisations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par societe vs médiane sectorielle (25.1x)  ·  Vert = sous médiane  ·  Rouge = prime</a:t>
            </a:r>
          </a:p>
        </p:txBody>
      </p:sp>
      <p:pic>
        <p:nvPicPr>
          <p:cNvPr id="15" name="Picture 14" descr="image.png"/>
          <p:cNvPicPr>
            <a:picLocks noChangeAspect="1"/>
          </p:cNvPicPr>
          <p:nvPr/>
        </p:nvPicPr>
        <p:blipFill>
          <a:blip r:embed="rId2"/>
          <a:stretch>
            <a:fillRect/>
          </a:stretch>
        </p:blipFill>
        <p:spPr>
          <a:xfrm>
            <a:off x="324000" y="827999"/>
            <a:ext cx="5292000" cy="4104000"/>
          </a:xfrm>
          <a:prstGeom prst="rect">
            <a:avLst/>
          </a:prstGeom>
        </p:spPr>
      </p:pic>
      <p:sp>
        <p:nvSpPr>
          <p:cNvPr id="16" name="Rectangle 15"/>
          <p:cNvSpPr/>
          <p:nvPr/>
        </p:nvSpPr>
        <p:spPr>
          <a:xfrm>
            <a:off x="5796000" y="827999"/>
            <a:ext cx="3024000" cy="410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796000" y="827999"/>
            <a:ext cx="3024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68000" y="846000"/>
            <a:ext cx="2916000" cy="216000"/>
          </a:xfrm>
          <a:prstGeom prst="rect">
            <a:avLst/>
          </a:prstGeom>
          <a:noFill/>
        </p:spPr>
        <p:txBody>
          <a:bodyPr wrap="square">
            <a:spAutoFit/>
          </a:bodyPr>
          <a:lstStyle/>
          <a:p>
            <a:pPr algn="l"/>
            <a:r>
              <a:rPr sz="850" b="1" i="0">
                <a:solidFill>
                  <a:srgbClr val="FFFFFF"/>
                </a:solidFill>
              </a:rPr>
              <a:t>CE QUE LE GRAPHIQUE REVELE</a:t>
            </a:r>
          </a:p>
        </p:txBody>
      </p:sp>
      <p:sp>
        <p:nvSpPr>
          <p:cNvPr id="19" name="TextBox 18"/>
          <p:cNvSpPr txBox="1"/>
          <p:nvPr/>
        </p:nvSpPr>
        <p:spPr>
          <a:xfrm>
            <a:off x="5868000" y="1116000"/>
            <a:ext cx="2880000" cy="3780000"/>
          </a:xfrm>
          <a:prstGeom prst="rect">
            <a:avLst/>
          </a:prstGeom>
          <a:noFill/>
        </p:spPr>
        <p:txBody>
          <a:bodyPr wrap="square">
            <a:spAutoFit/>
          </a:bodyPr>
          <a:lstStyle/>
          <a:p>
            <a:pPr algn="l"/>
            <a:r>
              <a:rPr sz="850" b="0" i="0">
                <a:solidFill>
                  <a:srgbClr val="555555"/>
                </a:solidFill>
              </a:rPr>
              <a:t>La distribution est bimodale — 3 acteur(s) se detachent nettement du reste du secteur, creant une prime de valorisation significative vs la médiane de 25.1x.
3 societe(s) se traitent sous la médiane — potentiellement les meilleures asymetries risque/rendement sous reserve de catalyseurs fondamentaux.
La dispersion des multiples est caracteristique d'un secteur Technology en phase de differentiation — les investisseurs selectifs peuvent exploiter cet ecart.</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Zone d'Entree Optimale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Conditions d'entree favorable  ·  Cours &lt; DCF Base x 0,90 + momentum négatif + sentiment négatif</a:t>
            </a:r>
          </a:p>
        </p:txBody>
      </p:sp>
      <p:sp>
        <p:nvSpPr>
          <p:cNvPr id="15" name="Rectangle 14"/>
          <p:cNvSpPr/>
          <p:nvPr/>
        </p:nvSpPr>
        <p:spPr>
          <a:xfrm>
            <a:off x="324000" y="900000"/>
            <a:ext cx="8496000" cy="32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32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17999"/>
            <a:ext cx="8316000" cy="288000"/>
          </a:xfrm>
          <a:prstGeom prst="rect">
            <a:avLst/>
          </a:prstGeom>
          <a:noFill/>
        </p:spPr>
        <p:txBody>
          <a:bodyPr wrap="square">
            <a:spAutoFit/>
          </a:bodyPr>
          <a:lstStyle/>
          <a:p>
            <a:pPr algn="l"/>
            <a:r>
              <a:rPr sz="850" b="0" i="0">
                <a:solidFill>
                  <a:srgbClr val="555555"/>
                </a:solidFill>
              </a:rPr>
              <a:t>La zone d'entree optimale est définie par la convergence de 3 signaux : décote &gt; 10 % vs DCF Base · momentum 52W négatif · sentiment FinBERT négatif.</a:t>
            </a:r>
          </a:p>
        </p:txBody>
      </p:sp>
      <p:graphicFrame>
        <p:nvGraphicFramePr>
          <p:cNvPr id="18" name="Table 17"/>
          <p:cNvGraphicFramePr>
            <a:graphicFrameLocks noGrp="1"/>
          </p:cNvGraphicFramePr>
          <p:nvPr/>
        </p:nvGraphicFramePr>
        <p:xfrm>
          <a:off x="324000" y="1260000"/>
          <a:ext cx="8495997" cy="1684800"/>
        </p:xfrm>
        <a:graphic>
          <a:graphicData uri="http://schemas.openxmlformats.org/drawingml/2006/table">
            <a:tbl>
              <a:tblPr firstRow="1" bandRow="1">
                <a:tableStyleId>{5C22544A-7EE6-4342-B048-85BDC9FD1C3A}</a:tableStyleId>
              </a:tblPr>
              <a:tblGrid>
                <a:gridCol w="765405"/>
                <a:gridCol w="1722162"/>
                <a:gridCol w="1071567"/>
                <a:gridCol w="1224648"/>
                <a:gridCol w="1148108"/>
                <a:gridCol w="1607351"/>
                <a:gridCol w="956756"/>
              </a:tblGrid>
              <a:tr h="187200">
                <a:tc>
                  <a:txBody>
                    <a:bodyPr/>
                    <a:lstStyle/>
                    <a:p>
                      <a:pPr algn="ctr"/>
                      <a:r>
                        <a:rPr sz="750" b="1">
                          <a:solidFill>
                            <a:srgbClr val="FFFFFF"/>
                          </a:solidFill>
                        </a:rPr>
                        <a:t>Ticker</a:t>
                      </a:r>
                    </a:p>
                  </a:txBody>
                  <a:tcPr>
                    <a:solidFill>
                      <a:srgbClr val="1B3A6B"/>
                    </a:solidFill>
                  </a:tcPr>
                </a:tc>
                <a:tc>
                  <a:txBody>
                    <a:bodyPr/>
                    <a:lstStyle/>
                    <a:p>
                      <a:pPr algn="ctr"/>
                      <a:r>
                        <a:rPr sz="750" b="1">
                          <a:solidFill>
                            <a:srgbClr val="FFFFFF"/>
                          </a:solidFill>
                        </a:rPr>
                        <a:t>Societe</a:t>
                      </a:r>
                    </a:p>
                  </a:txBody>
                  <a:tcPr>
                    <a:solidFill>
                      <a:srgbClr val="1B3A6B"/>
                    </a:solidFill>
                  </a:tcPr>
                </a:tc>
                <a:tc>
                  <a:txBody>
                    <a:bodyPr/>
                    <a:lstStyle/>
                    <a:p>
                      <a:pPr algn="ctr"/>
                      <a:r>
                        <a:rPr sz="750" b="1">
                          <a:solidFill>
                            <a:srgbClr val="FFFFFF"/>
                          </a:solidFill>
                        </a:rPr>
                        <a:t>Cours actuel</a:t>
                      </a:r>
                    </a:p>
                  </a:txBody>
                  <a:tcPr>
                    <a:solidFill>
                      <a:srgbClr val="1B3A6B"/>
                    </a:solidFill>
                  </a:tcPr>
                </a:tc>
                <a:tc>
                  <a:txBody>
                    <a:bodyPr/>
                    <a:lstStyle/>
                    <a:p>
                      <a:pPr algn="ctr"/>
                      <a:r>
                        <a:rPr sz="750" b="1">
                          <a:solidFill>
                            <a:srgbClr val="FFFFFF"/>
                          </a:solidFill>
                        </a:rPr>
                        <a:t>DCF Base (est.)</a:t>
                      </a:r>
                    </a:p>
                  </a:txBody>
                  <a:tcPr>
                    <a:solidFill>
                      <a:srgbClr val="1B3A6B"/>
                    </a:solidFill>
                  </a:tcPr>
                </a:tc>
                <a:tc>
                  <a:txBody>
                    <a:bodyPr/>
                    <a:lstStyle/>
                    <a:p>
                      <a:pPr algn="ctr"/>
                      <a:r>
                        <a:rPr sz="750" b="1">
                          <a:solidFill>
                            <a:srgbClr val="FFFFFF"/>
                          </a:solidFill>
                        </a:rPr>
                        <a:t>Zone d achat</a:t>
                      </a:r>
                    </a:p>
                  </a:txBody>
                  <a:tcPr>
                    <a:solidFill>
                      <a:srgbClr val="1B3A6B"/>
                    </a:solidFill>
                  </a:tcPr>
                </a:tc>
                <a:tc>
                  <a:txBody>
                    <a:bodyPr/>
                    <a:lstStyle/>
                    <a:p>
                      <a:pPr algn="ctr"/>
                      <a:r>
                        <a:rPr sz="750" b="1">
                          <a:solidFill>
                            <a:srgbClr val="FFFFFF"/>
                          </a:solidFill>
                        </a:rPr>
                        <a:t>Signal</a:t>
                      </a:r>
                    </a:p>
                  </a:txBody>
                  <a:tcPr>
                    <a:solidFill>
                      <a:srgbClr val="1B3A6B"/>
                    </a:solidFill>
                  </a:tcPr>
                </a:tc>
                <a:tc>
                  <a:txBody>
                    <a:bodyPr/>
                    <a:lstStyle/>
                    <a:p>
                      <a:pPr algn="ctr"/>
                      <a:r>
                        <a:rPr sz="750" b="1">
                          <a:solidFill>
                            <a:srgbClr val="FFFFFF"/>
                          </a:solidFill>
                        </a:rPr>
                        <a:t>Proba. 12M</a:t>
                      </a:r>
                    </a:p>
                  </a:txBody>
                  <a:tcPr>
                    <a:solidFill>
                      <a:srgbClr val="1B3A6B"/>
                    </a:solidFill>
                  </a:tcPr>
                </a:tc>
              </a:tr>
              <a:tr h="187200">
                <a:tc>
                  <a:txBody>
                    <a:bodyPr/>
                    <a:lstStyle/>
                    <a:p>
                      <a:pPr algn="ctr"/>
                      <a:r>
                        <a:rPr sz="750" b="0">
                          <a:solidFill>
                            <a:srgbClr val="1A1A1A"/>
                          </a:solidFill>
                        </a:rPr>
                        <a:t>GOOGL</a:t>
                      </a:r>
                    </a:p>
                  </a:txBody>
                  <a:tcPr>
                    <a:noFill/>
                  </a:tcPr>
                </a:tc>
                <a:tc>
                  <a:txBody>
                    <a:bodyPr/>
                    <a:lstStyle/>
                    <a:p>
                      <a:pPr algn="ctr"/>
                      <a:r>
                        <a:rPr sz="750" b="0">
                          <a:solidFill>
                            <a:srgbClr val="1A1A1A"/>
                          </a:solidFill>
                        </a:rPr>
                        <a:t>Alphabet Inc.</a:t>
                      </a:r>
                    </a:p>
                  </a:txBody>
                  <a:tcPr>
                    <a:noFill/>
                  </a:tcPr>
                </a:tc>
                <a:tc>
                  <a:txBody>
                    <a:bodyPr/>
                    <a:lstStyle/>
                    <a:p>
                      <a:pPr algn="ctr"/>
                      <a:r>
                        <a:rPr sz="750" b="0">
                          <a:solidFill>
                            <a:srgbClr val="1A1A1A"/>
                          </a:solidFill>
                        </a:rPr>
                        <a:t>317.32</a:t>
                      </a:r>
                    </a:p>
                  </a:txBody>
                  <a:tcPr>
                    <a:noFill/>
                  </a:tcPr>
                </a:tc>
                <a:tc>
                  <a:txBody>
                    <a:bodyPr/>
                    <a:lstStyle/>
                    <a:p>
                      <a:pPr algn="ctr"/>
                      <a:r>
                        <a:rPr sz="750" b="0">
                          <a:solidFill>
                            <a:srgbClr val="1A1A1A"/>
                          </a:solidFill>
                        </a:rPr>
                        <a:t>364.9</a:t>
                      </a:r>
                    </a:p>
                  </a:txBody>
                  <a:tcPr>
                    <a:noFill/>
                  </a:tcPr>
                </a:tc>
                <a:tc>
                  <a:txBody>
                    <a:bodyPr/>
                    <a:lstStyle/>
                    <a:p>
                      <a:pPr algn="ctr"/>
                      <a:r>
                        <a:rPr sz="750" b="0">
                          <a:solidFill>
                            <a:srgbClr val="1A1A1A"/>
                          </a:solidFill>
                        </a:rPr>
                        <a:t>&lt; 301.5</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87200">
                <a:tc>
                  <a:txBody>
                    <a:bodyPr/>
                    <a:lstStyle/>
                    <a:p>
                      <a:pPr algn="ctr"/>
                      <a:r>
                        <a:rPr sz="750" b="0">
                          <a:solidFill>
                            <a:srgbClr val="1A1A1A"/>
                          </a:solidFill>
                        </a:rPr>
                        <a:t>NVDA</a:t>
                      </a:r>
                    </a:p>
                  </a:txBody>
                  <a:tcPr>
                    <a:solidFill>
                      <a:srgbClr val="F5F7FA"/>
                    </a:solidFill>
                  </a:tcPr>
                </a:tc>
                <a:tc>
                  <a:txBody>
                    <a:bodyPr/>
                    <a:lstStyle/>
                    <a:p>
                      <a:pPr algn="ctr"/>
                      <a:r>
                        <a:rPr sz="750" b="0">
                          <a:solidFill>
                            <a:srgbClr val="1A1A1A"/>
                          </a:solidFill>
                        </a:rPr>
                        <a:t>NVIDIA Corporation</a:t>
                      </a:r>
                    </a:p>
                  </a:txBody>
                  <a:tcPr>
                    <a:solidFill>
                      <a:srgbClr val="F5F7FA"/>
                    </a:solidFill>
                  </a:tcPr>
                </a:tc>
                <a:tc>
                  <a:txBody>
                    <a:bodyPr/>
                    <a:lstStyle/>
                    <a:p>
                      <a:pPr algn="ctr"/>
                      <a:r>
                        <a:rPr sz="750" b="0">
                          <a:solidFill>
                            <a:srgbClr val="1A1A1A"/>
                          </a:solidFill>
                        </a:rPr>
                        <a:t>182.08</a:t>
                      </a:r>
                    </a:p>
                  </a:txBody>
                  <a:tcPr>
                    <a:solidFill>
                      <a:srgbClr val="F5F7FA"/>
                    </a:solidFill>
                  </a:tcPr>
                </a:tc>
                <a:tc>
                  <a:txBody>
                    <a:bodyPr/>
                    <a:lstStyle/>
                    <a:p>
                      <a:pPr algn="ctr"/>
                      <a:r>
                        <a:rPr sz="750" b="0">
                          <a:solidFill>
                            <a:srgbClr val="1A1A1A"/>
                          </a:solidFill>
                        </a:rPr>
                        <a:t>209.4</a:t>
                      </a:r>
                    </a:p>
                  </a:txBody>
                  <a:tcPr>
                    <a:solidFill>
                      <a:srgbClr val="F5F7FA"/>
                    </a:solidFill>
                  </a:tcPr>
                </a:tc>
                <a:tc>
                  <a:txBody>
                    <a:bodyPr/>
                    <a:lstStyle/>
                    <a:p>
                      <a:pPr algn="ctr"/>
                      <a:r>
                        <a:rPr sz="750" b="0">
                          <a:solidFill>
                            <a:srgbClr val="1A1A1A"/>
                          </a:solidFill>
                        </a:rPr>
                        <a:t>&lt; 173.0</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r h="187200">
                <a:tc>
                  <a:txBody>
                    <a:bodyPr/>
                    <a:lstStyle/>
                    <a:p>
                      <a:pPr algn="ctr"/>
                      <a:r>
                        <a:rPr sz="750" b="0">
                          <a:solidFill>
                            <a:srgbClr val="1A1A1A"/>
                          </a:solidFill>
                        </a:rPr>
                        <a:t>AAPL</a:t>
                      </a:r>
                    </a:p>
                  </a:txBody>
                  <a:tcPr>
                    <a:noFill/>
                  </a:tcPr>
                </a:tc>
                <a:tc>
                  <a:txBody>
                    <a:bodyPr/>
                    <a:lstStyle/>
                    <a:p>
                      <a:pPr algn="ctr"/>
                      <a:r>
                        <a:rPr sz="750" b="0">
                          <a:solidFill>
                            <a:srgbClr val="1A1A1A"/>
                          </a:solidFill>
                        </a:rPr>
                        <a:t>Apple Inc.</a:t>
                      </a:r>
                    </a:p>
                  </a:txBody>
                  <a:tcPr>
                    <a:noFill/>
                  </a:tcPr>
                </a:tc>
                <a:tc>
                  <a:txBody>
                    <a:bodyPr/>
                    <a:lstStyle/>
                    <a:p>
                      <a:pPr algn="ctr"/>
                      <a:r>
                        <a:rPr sz="750" b="0">
                          <a:solidFill>
                            <a:srgbClr val="1A1A1A"/>
                          </a:solidFill>
                        </a:rPr>
                        <a:t>258.9</a:t>
                      </a:r>
                    </a:p>
                  </a:txBody>
                  <a:tcPr>
                    <a:noFill/>
                  </a:tcPr>
                </a:tc>
                <a:tc>
                  <a:txBody>
                    <a:bodyPr/>
                    <a:lstStyle/>
                    <a:p>
                      <a:pPr algn="ctr"/>
                      <a:r>
                        <a:rPr sz="750" b="0">
                          <a:solidFill>
                            <a:srgbClr val="1A1A1A"/>
                          </a:solidFill>
                        </a:rPr>
                        <a:t>297.7</a:t>
                      </a:r>
                    </a:p>
                  </a:txBody>
                  <a:tcPr>
                    <a:noFill/>
                  </a:tcPr>
                </a:tc>
                <a:tc>
                  <a:txBody>
                    <a:bodyPr/>
                    <a:lstStyle/>
                    <a:p>
                      <a:pPr algn="ctr"/>
                      <a:r>
                        <a:rPr sz="750" b="0">
                          <a:solidFill>
                            <a:srgbClr val="1A1A1A"/>
                          </a:solidFill>
                        </a:rPr>
                        <a:t>&lt; 246.0</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87200">
                <a:tc>
                  <a:txBody>
                    <a:bodyPr/>
                    <a:lstStyle/>
                    <a:p>
                      <a:pPr algn="ctr"/>
                      <a:r>
                        <a:rPr sz="750" b="0">
                          <a:solidFill>
                            <a:srgbClr val="1A1A1A"/>
                          </a:solidFill>
                        </a:rPr>
                        <a:t>ORCL</a:t>
                      </a:r>
                    </a:p>
                  </a:txBody>
                  <a:tcPr>
                    <a:solidFill>
                      <a:srgbClr val="F5F7FA"/>
                    </a:solidFill>
                  </a:tcPr>
                </a:tc>
                <a:tc>
                  <a:txBody>
                    <a:bodyPr/>
                    <a:lstStyle/>
                    <a:p>
                      <a:pPr algn="ctr"/>
                      <a:r>
                        <a:rPr sz="750" b="0">
                          <a:solidFill>
                            <a:srgbClr val="1A1A1A"/>
                          </a:solidFill>
                        </a:rPr>
                        <a:t>Oracle Corporation</a:t>
                      </a:r>
                    </a:p>
                  </a:txBody>
                  <a:tcPr>
                    <a:solidFill>
                      <a:srgbClr val="F5F7FA"/>
                    </a:solidFill>
                  </a:tcPr>
                </a:tc>
                <a:tc>
                  <a:txBody>
                    <a:bodyPr/>
                    <a:lstStyle/>
                    <a:p>
                      <a:pPr algn="ctr"/>
                      <a:r>
                        <a:rPr sz="750" b="0">
                          <a:solidFill>
                            <a:srgbClr val="1A1A1A"/>
                          </a:solidFill>
                        </a:rPr>
                        <a:t>143.66</a:t>
                      </a:r>
                    </a:p>
                  </a:txBody>
                  <a:tcPr>
                    <a:solidFill>
                      <a:srgbClr val="F5F7FA"/>
                    </a:solidFill>
                  </a:tcPr>
                </a:tc>
                <a:tc>
                  <a:txBody>
                    <a:bodyPr/>
                    <a:lstStyle/>
                    <a:p>
                      <a:pPr algn="ctr"/>
                      <a:r>
                        <a:rPr sz="750" b="0">
                          <a:solidFill>
                            <a:srgbClr val="1A1A1A"/>
                          </a:solidFill>
                        </a:rPr>
                        <a:t>165.2</a:t>
                      </a:r>
                    </a:p>
                  </a:txBody>
                  <a:tcPr>
                    <a:solidFill>
                      <a:srgbClr val="F5F7FA"/>
                    </a:solidFill>
                  </a:tcPr>
                </a:tc>
                <a:tc>
                  <a:txBody>
                    <a:bodyPr/>
                    <a:lstStyle/>
                    <a:p>
                      <a:pPr algn="ctr"/>
                      <a:r>
                        <a:rPr sz="750" b="0">
                          <a:solidFill>
                            <a:srgbClr val="1A1A1A"/>
                          </a:solidFill>
                        </a:rPr>
                        <a:t>&lt; 136.5</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r h="187200">
                <a:tc>
                  <a:txBody>
                    <a:bodyPr/>
                    <a:lstStyle/>
                    <a:p>
                      <a:pPr algn="ctr"/>
                      <a:r>
                        <a:rPr sz="750" b="0">
                          <a:solidFill>
                            <a:srgbClr val="1A1A1A"/>
                          </a:solidFill>
                        </a:rPr>
                        <a:t>MSFT</a:t>
                      </a:r>
                    </a:p>
                  </a:txBody>
                  <a:tcPr>
                    <a:noFill/>
                  </a:tcPr>
                </a:tc>
                <a:tc>
                  <a:txBody>
                    <a:bodyPr/>
                    <a:lstStyle/>
                    <a:p>
                      <a:pPr algn="ctr"/>
                      <a:r>
                        <a:rPr sz="750" b="0">
                          <a:solidFill>
                            <a:srgbClr val="1A1A1A"/>
                          </a:solidFill>
                        </a:rPr>
                        <a:t>Microsoft Corporation</a:t>
                      </a:r>
                    </a:p>
                  </a:txBody>
                  <a:tcPr>
                    <a:noFill/>
                  </a:tcPr>
                </a:tc>
                <a:tc>
                  <a:txBody>
                    <a:bodyPr/>
                    <a:lstStyle/>
                    <a:p>
                      <a:pPr algn="ctr"/>
                      <a:r>
                        <a:rPr sz="750" b="0">
                          <a:solidFill>
                            <a:srgbClr val="1A1A1A"/>
                          </a:solidFill>
                        </a:rPr>
                        <a:t>374.33</a:t>
                      </a:r>
                    </a:p>
                  </a:txBody>
                  <a:tcPr>
                    <a:noFill/>
                  </a:tcPr>
                </a:tc>
                <a:tc>
                  <a:txBody>
                    <a:bodyPr/>
                    <a:lstStyle/>
                    <a:p>
                      <a:pPr algn="ctr"/>
                      <a:r>
                        <a:rPr sz="750" b="0">
                          <a:solidFill>
                            <a:srgbClr val="1A1A1A"/>
                          </a:solidFill>
                        </a:rPr>
                        <a:t>430.5</a:t>
                      </a:r>
                    </a:p>
                  </a:txBody>
                  <a:tcPr>
                    <a:noFill/>
                  </a:tcPr>
                </a:tc>
                <a:tc>
                  <a:txBody>
                    <a:bodyPr/>
                    <a:lstStyle/>
                    <a:p>
                      <a:pPr algn="ctr"/>
                      <a:r>
                        <a:rPr sz="750" b="0">
                          <a:solidFill>
                            <a:srgbClr val="1A1A1A"/>
                          </a:solidFill>
                        </a:rPr>
                        <a:t>&lt; 355.6</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87200">
                <a:tc>
                  <a:txBody>
                    <a:bodyPr/>
                    <a:lstStyle/>
                    <a:p>
                      <a:pPr algn="ctr"/>
                      <a:r>
                        <a:rPr sz="750" b="0">
                          <a:solidFill>
                            <a:srgbClr val="1A1A1A"/>
                          </a:solidFill>
                        </a:rPr>
                        <a:t>META</a:t>
                      </a:r>
                    </a:p>
                  </a:txBody>
                  <a:tcPr>
                    <a:solidFill>
                      <a:srgbClr val="F5F7FA"/>
                    </a:solidFill>
                  </a:tcPr>
                </a:tc>
                <a:tc>
                  <a:txBody>
                    <a:bodyPr/>
                    <a:lstStyle/>
                    <a:p>
                      <a:pPr algn="ctr"/>
                      <a:r>
                        <a:rPr sz="750" b="0">
                          <a:solidFill>
                            <a:srgbClr val="1A1A1A"/>
                          </a:solidFill>
                        </a:rPr>
                        <a:t>Meta Platforms, Inc.</a:t>
                      </a:r>
                    </a:p>
                  </a:txBody>
                  <a:tcPr>
                    <a:solidFill>
                      <a:srgbClr val="F5F7FA"/>
                    </a:solidFill>
                  </a:tcPr>
                </a:tc>
                <a:tc>
                  <a:txBody>
                    <a:bodyPr/>
                    <a:lstStyle/>
                    <a:p>
                      <a:pPr algn="ctr"/>
                      <a:r>
                        <a:rPr sz="750" b="0">
                          <a:solidFill>
                            <a:srgbClr val="1A1A1A"/>
                          </a:solidFill>
                        </a:rPr>
                        <a:t>612.42</a:t>
                      </a:r>
                    </a:p>
                  </a:txBody>
                  <a:tcPr>
                    <a:solidFill>
                      <a:srgbClr val="F5F7FA"/>
                    </a:solidFill>
                  </a:tcPr>
                </a:tc>
                <a:tc>
                  <a:txBody>
                    <a:bodyPr/>
                    <a:lstStyle/>
                    <a:p>
                      <a:pPr algn="ctr"/>
                      <a:r>
                        <a:rPr sz="750" b="0">
                          <a:solidFill>
                            <a:srgbClr val="1A1A1A"/>
                          </a:solidFill>
                        </a:rPr>
                        <a:t>704.3</a:t>
                      </a:r>
                    </a:p>
                  </a:txBody>
                  <a:tcPr>
                    <a:solidFill>
                      <a:srgbClr val="F5F7FA"/>
                    </a:solidFill>
                  </a:tcPr>
                </a:tc>
                <a:tc>
                  <a:txBody>
                    <a:bodyPr/>
                    <a:lstStyle/>
                    <a:p>
                      <a:pPr algn="ctr"/>
                      <a:r>
                        <a:rPr sz="750" b="0">
                          <a:solidFill>
                            <a:srgbClr val="1A1A1A"/>
                          </a:solidFill>
                        </a:rPr>
                        <a:t>&lt; 581.8</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r h="187200">
                <a:tc>
                  <a:txBody>
                    <a:bodyPr/>
                    <a:lstStyle/>
                    <a:p>
                      <a:pPr algn="ctr"/>
                      <a:r>
                        <a:rPr sz="750" b="0">
                          <a:solidFill>
                            <a:srgbClr val="1A1A1A"/>
                          </a:solidFill>
                        </a:rPr>
                        <a:t>AVGO</a:t>
                      </a:r>
                    </a:p>
                  </a:txBody>
                  <a:tcPr>
                    <a:noFill/>
                  </a:tcPr>
                </a:tc>
                <a:tc>
                  <a:txBody>
                    <a:bodyPr/>
                    <a:lstStyle/>
                    <a:p>
                      <a:pPr algn="ctr"/>
                      <a:r>
                        <a:rPr sz="750" b="0">
                          <a:solidFill>
                            <a:srgbClr val="1A1A1A"/>
                          </a:solidFill>
                        </a:rPr>
                        <a:t>Broadcom Inc.</a:t>
                      </a:r>
                    </a:p>
                  </a:txBody>
                  <a:tcPr>
                    <a:noFill/>
                  </a:tcPr>
                </a:tc>
                <a:tc>
                  <a:txBody>
                    <a:bodyPr/>
                    <a:lstStyle/>
                    <a:p>
                      <a:pPr algn="ctr"/>
                      <a:r>
                        <a:rPr sz="750" b="0">
                          <a:solidFill>
                            <a:srgbClr val="1A1A1A"/>
                          </a:solidFill>
                        </a:rPr>
                        <a:t>350.63</a:t>
                      </a:r>
                    </a:p>
                  </a:txBody>
                  <a:tcPr>
                    <a:noFill/>
                  </a:tcPr>
                </a:tc>
                <a:tc>
                  <a:txBody>
                    <a:bodyPr/>
                    <a:lstStyle/>
                    <a:p>
                      <a:pPr algn="ctr"/>
                      <a:r>
                        <a:rPr sz="750" b="0">
                          <a:solidFill>
                            <a:srgbClr val="1A1A1A"/>
                          </a:solidFill>
                        </a:rPr>
                        <a:t>403.2</a:t>
                      </a:r>
                    </a:p>
                  </a:txBody>
                  <a:tcPr>
                    <a:noFill/>
                  </a:tcPr>
                </a:tc>
                <a:tc>
                  <a:txBody>
                    <a:bodyPr/>
                    <a:lstStyle/>
                    <a:p>
                      <a:pPr algn="ctr"/>
                      <a:r>
                        <a:rPr sz="750" b="0">
                          <a:solidFill>
                            <a:srgbClr val="1A1A1A"/>
                          </a:solidFill>
                        </a:rPr>
                        <a:t>&lt; 333.1</a:t>
                      </a:r>
                    </a:p>
                  </a:txBody>
                  <a:tcPr>
                    <a:noFill/>
                  </a:tcPr>
                </a:tc>
                <a:tc>
                  <a:txBody>
                    <a:bodyPr/>
                    <a:lstStyle/>
                    <a:p>
                      <a:pPr algn="ctr"/>
                      <a:r>
                        <a:rPr sz="750" b="0">
                          <a:solidFill>
                            <a:srgbClr val="1A1A1A"/>
                          </a:solidFill>
                        </a:rPr>
                        <a:t>Entree attractive</a:t>
                      </a:r>
                    </a:p>
                  </a:txBody>
                  <a:tcPr>
                    <a:noFill/>
                  </a:tcPr>
                </a:tc>
                <a:tc>
                  <a:txBody>
                    <a:bodyPr/>
                    <a:lstStyle/>
                    <a:p>
                      <a:pPr algn="ctr"/>
                      <a:r>
                        <a:rPr sz="750" b="0">
                          <a:solidFill>
                            <a:srgbClr val="1A1A1A"/>
                          </a:solidFill>
                        </a:rPr>
                        <a:t>~68 %</a:t>
                      </a:r>
                    </a:p>
                  </a:txBody>
                  <a:tcPr>
                    <a:noFill/>
                  </a:tcPr>
                </a:tc>
              </a:tr>
              <a:tr h="187200">
                <a:tc>
                  <a:txBody>
                    <a:bodyPr/>
                    <a:lstStyle/>
                    <a:p>
                      <a:pPr algn="ctr"/>
                      <a:r>
                        <a:rPr sz="750" b="0">
                          <a:solidFill>
                            <a:srgbClr val="1A1A1A"/>
                          </a:solidFill>
                        </a:rPr>
                        <a:t>AMD</a:t>
                      </a:r>
                    </a:p>
                  </a:txBody>
                  <a:tcPr>
                    <a:solidFill>
                      <a:srgbClr val="F5F7FA"/>
                    </a:solidFill>
                  </a:tcPr>
                </a:tc>
                <a:tc>
                  <a:txBody>
                    <a:bodyPr/>
                    <a:lstStyle/>
                    <a:p>
                      <a:pPr algn="ctr"/>
                      <a:r>
                        <a:rPr sz="750" b="0">
                          <a:solidFill>
                            <a:srgbClr val="1A1A1A"/>
                          </a:solidFill>
                        </a:rPr>
                        <a:t>Advanced Micro Devices, </a:t>
                      </a:r>
                    </a:p>
                  </a:txBody>
                  <a:tcPr>
                    <a:solidFill>
                      <a:srgbClr val="F5F7FA"/>
                    </a:solidFill>
                  </a:tcPr>
                </a:tc>
                <a:tc>
                  <a:txBody>
                    <a:bodyPr/>
                    <a:lstStyle/>
                    <a:p>
                      <a:pPr algn="ctr"/>
                      <a:r>
                        <a:rPr sz="750" b="0">
                          <a:solidFill>
                            <a:srgbClr val="1A1A1A"/>
                          </a:solidFill>
                        </a:rPr>
                        <a:t>231.82</a:t>
                      </a:r>
                    </a:p>
                  </a:txBody>
                  <a:tcPr>
                    <a:solidFill>
                      <a:srgbClr val="F5F7FA"/>
                    </a:solidFill>
                  </a:tcPr>
                </a:tc>
                <a:tc>
                  <a:txBody>
                    <a:bodyPr/>
                    <a:lstStyle/>
                    <a:p>
                      <a:pPr algn="ctr"/>
                      <a:r>
                        <a:rPr sz="750" b="0">
                          <a:solidFill>
                            <a:srgbClr val="1A1A1A"/>
                          </a:solidFill>
                        </a:rPr>
                        <a:t>266.6</a:t>
                      </a:r>
                    </a:p>
                  </a:txBody>
                  <a:tcPr>
                    <a:solidFill>
                      <a:srgbClr val="F5F7FA"/>
                    </a:solidFill>
                  </a:tcPr>
                </a:tc>
                <a:tc>
                  <a:txBody>
                    <a:bodyPr/>
                    <a:lstStyle/>
                    <a:p>
                      <a:pPr algn="ctr"/>
                      <a:r>
                        <a:rPr sz="750" b="0">
                          <a:solidFill>
                            <a:srgbClr val="1A1A1A"/>
                          </a:solidFill>
                        </a:rPr>
                        <a:t>&lt; 220.2</a:t>
                      </a:r>
                    </a:p>
                  </a:txBody>
                  <a:tcPr>
                    <a:solidFill>
                      <a:srgbClr val="F5F7FA"/>
                    </a:solidFill>
                  </a:tcPr>
                </a:tc>
                <a:tc>
                  <a:txBody>
                    <a:bodyPr/>
                    <a:lstStyle/>
                    <a:p>
                      <a:pPr algn="ctr"/>
                      <a:r>
                        <a:rPr sz="750" b="0">
                          <a:solidFill>
                            <a:srgbClr val="1A1A1A"/>
                          </a:solidFill>
                        </a:rPr>
                        <a:t>Entree attractive</a:t>
                      </a:r>
                    </a:p>
                  </a:txBody>
                  <a:tcPr>
                    <a:solidFill>
                      <a:srgbClr val="F5F7FA"/>
                    </a:solidFill>
                  </a:tcPr>
                </a:tc>
                <a:tc>
                  <a:txBody>
                    <a:bodyPr/>
                    <a:lstStyle/>
                    <a:p>
                      <a:pPr algn="ctr"/>
                      <a:r>
                        <a:rPr sz="750" b="0">
                          <a:solidFill>
                            <a:srgbClr val="1A1A1A"/>
                          </a:solidFill>
                        </a:rPr>
                        <a:t>~68 %</a:t>
                      </a:r>
                    </a:p>
                  </a:txBody>
                  <a:tcPr>
                    <a:solidFill>
                      <a:srgbClr val="F5F7FA"/>
                    </a:solidFill>
                  </a:tcPr>
                </a:tc>
              </a:tr>
            </a:tbl>
          </a:graphicData>
        </a:graphic>
      </p:graphicFrame>
      <p:sp>
        <p:nvSpPr>
          <p:cNvPr id="19" name="Rectangle 18"/>
          <p:cNvSpPr/>
          <p:nvPr/>
        </p:nvSpPr>
        <p:spPr>
          <a:xfrm>
            <a:off x="324000" y="3304800"/>
            <a:ext cx="8496000" cy="900000"/>
          </a:xfrm>
          <a:prstGeom prst="rect">
            <a:avLst/>
          </a:prstGeom>
          <a:solidFill>
            <a:srgbClr val="FDF3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24000" y="3304800"/>
            <a:ext cx="36000" cy="90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8000" y="3333600"/>
            <a:ext cx="8316000" cy="180000"/>
          </a:xfrm>
          <a:prstGeom prst="rect">
            <a:avLst/>
          </a:prstGeom>
          <a:noFill/>
        </p:spPr>
        <p:txBody>
          <a:bodyPr wrap="square">
            <a:spAutoFit/>
          </a:bodyPr>
          <a:lstStyle/>
          <a:p>
            <a:pPr algn="l"/>
            <a:r>
              <a:rPr sz="750" b="1" i="0">
                <a:solidFill>
                  <a:srgbClr val="B06000"/>
                </a:solidFill>
              </a:rPr>
              <a:t>NOTE METHODOLOGIQUE</a:t>
            </a:r>
          </a:p>
        </p:txBody>
      </p:sp>
      <p:sp>
        <p:nvSpPr>
          <p:cNvPr id="22" name="TextBox 21"/>
          <p:cNvSpPr txBox="1"/>
          <p:nvPr/>
        </p:nvSpPr>
        <p:spPr>
          <a:xfrm>
            <a:off x="468000" y="3520800"/>
            <a:ext cx="8316000" cy="666000"/>
          </a:xfrm>
          <a:prstGeom prst="rect">
            <a:avLst/>
          </a:prstGeom>
          <a:noFill/>
        </p:spPr>
        <p:txBody>
          <a:bodyPr wrap="square">
            <a:spAutoFit/>
          </a:bodyPr>
          <a:lstStyle/>
          <a:p>
            <a:pPr algn="l"/>
            <a:r>
              <a:rPr sz="750" b="0" i="0">
                <a:solidFill>
                  <a:srgbClr val="555555"/>
                </a:solidFill>
              </a:rPr>
              <a:t>La probabilite de rendement positif a 12 mois est calculee sur des configurations similaires identifiees en backtesting sur donnees historiques (2010-2024). Elle ne constitue pas une garantie de performance future.</a:t>
            </a:r>
          </a:p>
        </p:txBody>
      </p:sp>
      <p:sp>
        <p:nvSpPr>
          <p:cNvPr id="23" name="Rectangle 22"/>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04</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Risques, Sentiment &amp; Méthodologie</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Conditions d'invalidation, FinBERT agrégé &amp; data lineage</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Risques &amp; Conditions d'Invalidation</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des risques structurels  ·  Thèse contraire  ·  Protocole Avocat du Diable</a:t>
            </a:r>
          </a:p>
        </p:txBody>
      </p:sp>
      <p:sp>
        <p:nvSpPr>
          <p:cNvPr id="15" name="Rectangle 14"/>
          <p:cNvSpPr/>
          <p:nvPr/>
        </p:nvSpPr>
        <p:spPr>
          <a:xfrm>
            <a:off x="324000" y="900000"/>
            <a:ext cx="2700000" cy="1152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917999"/>
            <a:ext cx="2520000" cy="216000"/>
          </a:xfrm>
          <a:prstGeom prst="rect">
            <a:avLst/>
          </a:prstGeom>
          <a:noFill/>
        </p:spPr>
        <p:txBody>
          <a:bodyPr wrap="square">
            <a:spAutoFit/>
          </a:bodyPr>
          <a:lstStyle/>
          <a:p>
            <a:pPr algn="l"/>
            <a:r>
              <a:rPr sz="850" b="1" i="0">
                <a:solidFill>
                  <a:srgbClr val="FFFFFF"/>
                </a:solidFill>
              </a:rPr>
              <a:t>Régulation</a:t>
            </a:r>
          </a:p>
        </p:txBody>
      </p:sp>
      <p:sp>
        <p:nvSpPr>
          <p:cNvPr id="18" name="TextBox 17"/>
          <p:cNvSpPr txBox="1"/>
          <p:nvPr/>
        </p:nvSpPr>
        <p:spPr>
          <a:xfrm>
            <a:off x="396000" y="1188000"/>
            <a:ext cx="2520000" cy="792000"/>
          </a:xfrm>
          <a:prstGeom prst="rect">
            <a:avLst/>
          </a:prstGeom>
          <a:noFill/>
        </p:spPr>
        <p:txBody>
          <a:bodyPr wrap="square">
            <a:spAutoFit/>
          </a:bodyPr>
          <a:lstStyle/>
          <a:p>
            <a:pPr algn="l"/>
            <a:r>
              <a:rPr sz="850" b="0" i="0">
                <a:solidFill>
                  <a:srgbClr val="555555"/>
                </a:solidFill>
              </a:rPr>
              <a:t>Les enquêtes antitrust aux États-Unis et en Europe pourraient entraîner des amendes ou des restrictions opérationnelles pour les géants technologiques.</a:t>
            </a:r>
          </a:p>
        </p:txBody>
      </p:sp>
      <p:sp>
        <p:nvSpPr>
          <p:cNvPr id="19" name="Rectangle 18"/>
          <p:cNvSpPr/>
          <p:nvPr/>
        </p:nvSpPr>
        <p:spPr>
          <a:xfrm>
            <a:off x="3240000" y="900000"/>
            <a:ext cx="2700000" cy="1152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240000"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311999" y="917999"/>
            <a:ext cx="2520000" cy="216000"/>
          </a:xfrm>
          <a:prstGeom prst="rect">
            <a:avLst/>
          </a:prstGeom>
          <a:noFill/>
        </p:spPr>
        <p:txBody>
          <a:bodyPr wrap="square">
            <a:spAutoFit/>
          </a:bodyPr>
          <a:lstStyle/>
          <a:p>
            <a:pPr algn="l"/>
            <a:r>
              <a:rPr sz="850" b="1" i="0">
                <a:solidFill>
                  <a:srgbClr val="FFFFFF"/>
                </a:solidFill>
              </a:rPr>
              <a:t>Sensibilité aux taux</a:t>
            </a:r>
          </a:p>
        </p:txBody>
      </p:sp>
      <p:sp>
        <p:nvSpPr>
          <p:cNvPr id="22" name="TextBox 21"/>
          <p:cNvSpPr txBox="1"/>
          <p:nvPr/>
        </p:nvSpPr>
        <p:spPr>
          <a:xfrm>
            <a:off x="3311999" y="1188000"/>
            <a:ext cx="2520000" cy="792000"/>
          </a:xfrm>
          <a:prstGeom prst="rect">
            <a:avLst/>
          </a:prstGeom>
          <a:noFill/>
        </p:spPr>
        <p:txBody>
          <a:bodyPr wrap="square">
            <a:spAutoFit/>
          </a:bodyPr>
          <a:lstStyle/>
          <a:p>
            <a:pPr algn="l"/>
            <a:r>
              <a:rPr sz="850" b="0" i="0">
                <a:solidFill>
                  <a:srgbClr val="555555"/>
                </a:solidFill>
              </a:rPr>
              <a:t>La hausse des taux d'intérêt augmente le coût du capital, pesant sur les valorisations des entreprises à forte croissance mais peu rentables.</a:t>
            </a:r>
          </a:p>
        </p:txBody>
      </p:sp>
      <p:sp>
        <p:nvSpPr>
          <p:cNvPr id="23" name="Rectangle 22"/>
          <p:cNvSpPr/>
          <p:nvPr/>
        </p:nvSpPr>
        <p:spPr>
          <a:xfrm>
            <a:off x="6155999" y="900000"/>
            <a:ext cx="2700000" cy="1152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55999" y="900000"/>
            <a:ext cx="2700000" cy="251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27999" y="917999"/>
            <a:ext cx="2520000" cy="216000"/>
          </a:xfrm>
          <a:prstGeom prst="rect">
            <a:avLst/>
          </a:prstGeom>
          <a:noFill/>
        </p:spPr>
        <p:txBody>
          <a:bodyPr wrap="square">
            <a:spAutoFit/>
          </a:bodyPr>
          <a:lstStyle/>
          <a:p>
            <a:pPr algn="l"/>
            <a:r>
              <a:rPr sz="850" b="1" i="0">
                <a:solidFill>
                  <a:srgbClr val="FFFFFF"/>
                </a:solidFill>
              </a:rPr>
              <a:t>Concurrence en IA</a:t>
            </a:r>
          </a:p>
        </p:txBody>
      </p:sp>
      <p:sp>
        <p:nvSpPr>
          <p:cNvPr id="26" name="TextBox 25"/>
          <p:cNvSpPr txBox="1"/>
          <p:nvPr/>
        </p:nvSpPr>
        <p:spPr>
          <a:xfrm>
            <a:off x="6227999" y="1188000"/>
            <a:ext cx="2520000" cy="792000"/>
          </a:xfrm>
          <a:prstGeom prst="rect">
            <a:avLst/>
          </a:prstGeom>
          <a:noFill/>
        </p:spPr>
        <p:txBody>
          <a:bodyPr wrap="square">
            <a:spAutoFit/>
          </a:bodyPr>
          <a:lstStyle/>
          <a:p>
            <a:pPr algn="l"/>
            <a:r>
              <a:rPr sz="850" b="0" i="0">
                <a:solidFill>
                  <a:srgbClr val="555555"/>
                </a:solidFill>
              </a:rPr>
              <a:t>Les acteurs chinois (comme Huawei ou Baidu) gagnent du terrain dans l'IA, menaçant la domination des entreprises américaines sur ce segment.</a:t>
            </a:r>
          </a:p>
        </p:txBody>
      </p:sp>
      <p:sp>
        <p:nvSpPr>
          <p:cNvPr id="27" name="TextBox 26"/>
          <p:cNvSpPr txBox="1"/>
          <p:nvPr/>
        </p:nvSpPr>
        <p:spPr>
          <a:xfrm>
            <a:off x="324000" y="2196000"/>
            <a:ext cx="8496000" cy="216000"/>
          </a:xfrm>
          <a:prstGeom prst="rect">
            <a:avLst/>
          </a:prstGeom>
          <a:noFill/>
        </p:spPr>
        <p:txBody>
          <a:bodyPr wrap="square">
            <a:spAutoFit/>
          </a:bodyPr>
          <a:lstStyle/>
          <a:p>
            <a:pPr algn="l"/>
            <a:r>
              <a:rPr sz="900" b="1" i="0">
                <a:solidFill>
                  <a:srgbClr val="1B3A6B"/>
                </a:solidFill>
              </a:rPr>
              <a:t>Conditions d'invalidation de la thèse</a:t>
            </a:r>
          </a:p>
        </p:txBody>
      </p:sp>
      <p:graphicFrame>
        <p:nvGraphicFramePr>
          <p:cNvPr id="28" name="Table 27"/>
          <p:cNvGraphicFramePr>
            <a:graphicFrameLocks noGrp="1"/>
          </p:cNvGraphicFramePr>
          <p:nvPr/>
        </p:nvGraphicFramePr>
        <p:xfrm>
          <a:off x="324000" y="2448000"/>
          <a:ext cx="8496000" cy="1116000"/>
        </p:xfrm>
        <a:graphic>
          <a:graphicData uri="http://schemas.openxmlformats.org/drawingml/2006/table">
            <a:tbl>
              <a:tblPr firstRow="1" bandRow="1">
                <a:tableStyleId>{5C22544A-7EE6-4342-B048-85BDC9FD1C3A}</a:tableStyleId>
              </a:tblPr>
              <a:tblGrid>
                <a:gridCol w="1260000"/>
                <a:gridCol w="5940000"/>
                <a:gridCol w="1296000"/>
              </a:tblGrid>
              <a:tr h="223200">
                <a:tc>
                  <a:txBody>
                    <a:bodyPr/>
                    <a:lstStyle/>
                    <a:p>
                      <a:pPr algn="ctr"/>
                      <a:r>
                        <a:rPr sz="800" b="1">
                          <a:solidFill>
                            <a:srgbClr val="FFFFFF"/>
                          </a:solidFill>
                        </a:rPr>
                        <a:t>Axe</a:t>
                      </a:r>
                    </a:p>
                  </a:txBody>
                  <a:tcPr>
                    <a:solidFill>
                      <a:srgbClr val="1B3A6B"/>
                    </a:solidFill>
                  </a:tcPr>
                </a:tc>
                <a:tc>
                  <a:txBody>
                    <a:bodyPr/>
                    <a:lstStyle/>
                    <a:p>
                      <a:pPr algn="ctr"/>
                      <a:r>
                        <a:rPr sz="800" b="1">
                          <a:solidFill>
                            <a:srgbClr val="FFFFFF"/>
                          </a:solidFill>
                        </a:rPr>
                        <a:t>Condition d'invalidation</a:t>
                      </a:r>
                    </a:p>
                  </a:txBody>
                  <a:tcPr>
                    <a:solidFill>
                      <a:srgbClr val="1B3A6B"/>
                    </a:solidFill>
                  </a:tcPr>
                </a:tc>
                <a:tc>
                  <a:txBody>
                    <a:bodyPr/>
                    <a:lstStyle/>
                    <a:p>
                      <a:pPr algn="ctr"/>
                      <a:r>
                        <a:rPr sz="800" b="1">
                          <a:solidFill>
                            <a:srgbClr val="FFFFFF"/>
                          </a:solidFill>
                        </a:rPr>
                        <a:t>Horizon</a:t>
                      </a:r>
                    </a:p>
                  </a:txBody>
                  <a:tcPr>
                    <a:solidFill>
                      <a:srgbClr val="1B3A6B"/>
                    </a:solidFill>
                  </a:tcPr>
                </a:tc>
              </a:tr>
              <a:tr h="223200">
                <a:tc>
                  <a:txBody>
                    <a:bodyPr/>
                    <a:lstStyle/>
                    <a:p>
                      <a:pPr algn="ctr"/>
                      <a:r>
                        <a:rPr sz="800" b="0">
                          <a:solidFill>
                            <a:srgbClr val="1A1A1A"/>
                          </a:solidFill>
                        </a:rPr>
                        <a:t>Macro</a:t>
                      </a:r>
                    </a:p>
                  </a:txBody>
                  <a:tcPr>
                    <a:noFill/>
                  </a:tcPr>
                </a:tc>
                <a:tc>
                  <a:txBody>
                    <a:bodyPr/>
                    <a:lstStyle/>
                    <a:p>
                      <a:pPr algn="ctr"/>
                      <a:r>
                        <a:rPr sz="800" b="0">
                          <a:solidFill>
                            <a:srgbClr val="1A1A1A"/>
                          </a:solidFill>
                        </a:rPr>
                        <a:t>Recession confirmee — 2 trimestres négatifs</a:t>
                      </a:r>
                    </a:p>
                  </a:txBody>
                  <a:tcPr>
                    <a:noFill/>
                  </a:tcPr>
                </a:tc>
                <a:tc>
                  <a:txBody>
                    <a:bodyPr/>
                    <a:lstStyle/>
                    <a:p>
                      <a:pPr algn="ctr"/>
                      <a:r>
                        <a:rPr sz="800" b="0">
                          <a:solidFill>
                            <a:srgbClr val="1A1A1A"/>
                          </a:solidFill>
                        </a:rPr>
                        <a:t>6-9 mois</a:t>
                      </a:r>
                    </a:p>
                  </a:txBody>
                  <a:tcPr>
                    <a:noFill/>
                  </a:tcPr>
                </a:tc>
              </a:tr>
              <a:tr h="223200">
                <a:tc>
                  <a:txBody>
                    <a:bodyPr/>
                    <a:lstStyle/>
                    <a:p>
                      <a:pPr algn="ctr"/>
                      <a:r>
                        <a:rPr sz="800" b="0">
                          <a:solidFill>
                            <a:srgbClr val="1A1A1A"/>
                          </a:solidFill>
                        </a:rPr>
                        <a:t>Sectoriel</a:t>
                      </a:r>
                    </a:p>
                  </a:txBody>
                  <a:tcPr>
                    <a:solidFill>
                      <a:srgbClr val="F5F7FA"/>
                    </a:solidFill>
                  </a:tcPr>
                </a:tc>
                <a:tc>
                  <a:txBody>
                    <a:bodyPr/>
                    <a:lstStyle/>
                    <a:p>
                      <a:pPr algn="ctr"/>
                      <a:r>
                        <a:rPr sz="800" b="0">
                          <a:solidFill>
                            <a:srgbClr val="1A1A1A"/>
                          </a:solidFill>
                        </a:rPr>
                        <a:t>Score moyen &lt; 62 — degradation generalisee</a:t>
                      </a:r>
                    </a:p>
                  </a:txBody>
                  <a:tcPr>
                    <a:solidFill>
                      <a:srgbClr val="F5F7FA"/>
                    </a:solidFill>
                  </a:tcPr>
                </a:tc>
                <a:tc>
                  <a:txBody>
                    <a:bodyPr/>
                    <a:lstStyle/>
                    <a:p>
                      <a:pPr algn="ctr"/>
                      <a:r>
                        <a:rPr sz="800" b="0">
                          <a:solidFill>
                            <a:srgbClr val="1A1A1A"/>
                          </a:solidFill>
                        </a:rPr>
                        <a:t>6-12 mois</a:t>
                      </a:r>
                    </a:p>
                  </a:txBody>
                  <a:tcPr>
                    <a:solidFill>
                      <a:srgbClr val="F5F7FA"/>
                    </a:solidFill>
                  </a:tcPr>
                </a:tc>
              </a:tr>
              <a:tr h="223200">
                <a:tc>
                  <a:txBody>
                    <a:bodyPr/>
                    <a:lstStyle/>
                    <a:p>
                      <a:pPr algn="ctr"/>
                      <a:r>
                        <a:rPr sz="800" b="0">
                          <a:solidFill>
                            <a:srgbClr val="1A1A1A"/>
                          </a:solidFill>
                        </a:rPr>
                        <a:t>Fondamental</a:t>
                      </a:r>
                    </a:p>
                  </a:txBody>
                  <a:tcPr>
                    <a:noFill/>
                  </a:tcPr>
                </a:tc>
                <a:tc>
                  <a:txBody>
                    <a:bodyPr/>
                    <a:lstStyle/>
                    <a:p>
                      <a:pPr algn="ctr"/>
                      <a:r>
                        <a:rPr sz="800" b="0">
                          <a:solidFill>
                            <a:srgbClr val="1A1A1A"/>
                          </a:solidFill>
                        </a:rPr>
                        <a:t>Revision baissiere EPS &gt; 15 %</a:t>
                      </a:r>
                    </a:p>
                  </a:txBody>
                  <a:tcPr>
                    <a:noFill/>
                  </a:tcPr>
                </a:tc>
                <a:tc>
                  <a:txBody>
                    <a:bodyPr/>
                    <a:lstStyle/>
                    <a:p>
                      <a:pPr algn="ctr"/>
                      <a:r>
                        <a:rPr sz="800" b="0">
                          <a:solidFill>
                            <a:srgbClr val="1A1A1A"/>
                          </a:solidFill>
                        </a:rPr>
                        <a:t>3-6 mois</a:t>
                      </a:r>
                    </a:p>
                  </a:txBody>
                  <a:tcPr>
                    <a:noFill/>
                  </a:tcPr>
                </a:tc>
              </a:tr>
              <a:tr h="223200">
                <a:tc>
                  <a:txBody>
                    <a:bodyPr/>
                    <a:lstStyle/>
                    <a:p>
                      <a:pPr algn="ctr"/>
                      <a:r>
                        <a:rPr sz="800" b="0">
                          <a:solidFill>
                            <a:srgbClr val="1A1A1A"/>
                          </a:solidFill>
                        </a:rPr>
                        <a:t>Reglementaire</a:t>
                      </a:r>
                    </a:p>
                  </a:txBody>
                  <a:tcPr>
                    <a:solidFill>
                      <a:srgbClr val="F5F7FA"/>
                    </a:solidFill>
                  </a:tcPr>
                </a:tc>
                <a:tc>
                  <a:txBody>
                    <a:bodyPr/>
                    <a:lstStyle/>
                    <a:p>
                      <a:pPr algn="ctr"/>
                      <a:r>
                        <a:rPr sz="800" b="0">
                          <a:solidFill>
                            <a:srgbClr val="1A1A1A"/>
                          </a:solidFill>
                        </a:rPr>
                        <a:t>Mesures restrictives majeures</a:t>
                      </a:r>
                    </a:p>
                  </a:txBody>
                  <a:tcPr>
                    <a:solidFill>
                      <a:srgbClr val="F5F7FA"/>
                    </a:solidFill>
                  </a:tcPr>
                </a:tc>
                <a:tc>
                  <a:txBody>
                    <a:bodyPr/>
                    <a:lstStyle/>
                    <a:p>
                      <a:pPr algn="ctr"/>
                      <a:r>
                        <a:rPr sz="800" b="0">
                          <a:solidFill>
                            <a:srgbClr val="1A1A1A"/>
                          </a:solidFill>
                        </a:rPr>
                        <a:t>Variable</a:t>
                      </a:r>
                    </a:p>
                  </a:txBody>
                  <a:tcPr>
                    <a:solidFill>
                      <a:srgbClr val="F5F7FA"/>
                    </a:solidFill>
                  </a:tcPr>
                </a:tc>
              </a:tr>
            </a:tbl>
          </a:graphicData>
        </a:graphic>
      </p:graphicFrame>
      <p:sp>
        <p:nvSpPr>
          <p:cNvPr id="29" name="TextBox 28"/>
          <p:cNvSpPr txBox="1"/>
          <p:nvPr/>
        </p:nvSpPr>
        <p:spPr>
          <a:xfrm>
            <a:off x="324000" y="3708000"/>
            <a:ext cx="8496000" cy="198000"/>
          </a:xfrm>
          <a:prstGeom prst="rect">
            <a:avLst/>
          </a:prstGeom>
          <a:noFill/>
        </p:spPr>
        <p:txBody>
          <a:bodyPr wrap="square">
            <a:spAutoFit/>
          </a:bodyPr>
          <a:lstStyle/>
          <a:p>
            <a:pPr algn="l"/>
            <a:r>
              <a:rPr sz="850" b="1" i="0">
                <a:solidFill>
                  <a:srgbClr val="1B3A6B"/>
                </a:solidFill>
              </a:rPr>
              <a:t>Sante financiere agregee du secteur</a:t>
            </a:r>
          </a:p>
        </p:txBody>
      </p:sp>
      <p:sp>
        <p:nvSpPr>
          <p:cNvPr id="30" name="Rectangle 29"/>
          <p:cNvSpPr/>
          <p:nvPr/>
        </p:nvSpPr>
        <p:spPr>
          <a:xfrm>
            <a:off x="324000" y="3924000"/>
            <a:ext cx="2664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24000" y="3924000"/>
            <a:ext cx="36000" cy="792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13999" y="3960000"/>
            <a:ext cx="2538000" cy="360000"/>
          </a:xfrm>
          <a:prstGeom prst="rect">
            <a:avLst/>
          </a:prstGeom>
          <a:noFill/>
        </p:spPr>
        <p:txBody>
          <a:bodyPr wrap="square">
            <a:spAutoFit/>
          </a:bodyPr>
          <a:lstStyle/>
          <a:p>
            <a:pPr algn="l"/>
            <a:r>
              <a:rPr sz="2200" b="1" i="0">
                <a:solidFill>
                  <a:srgbClr val="1B3A6B"/>
                </a:solidFill>
              </a:rPr>
              <a:t>N/D</a:t>
            </a:r>
          </a:p>
        </p:txBody>
      </p:sp>
      <p:sp>
        <p:nvSpPr>
          <p:cNvPr id="33" name="TextBox 32"/>
          <p:cNvSpPr txBox="1"/>
          <p:nvPr/>
        </p:nvSpPr>
        <p:spPr>
          <a:xfrm>
            <a:off x="413999" y="4338000"/>
            <a:ext cx="2538000" cy="162000"/>
          </a:xfrm>
          <a:prstGeom prst="rect">
            <a:avLst/>
          </a:prstGeom>
          <a:noFill/>
        </p:spPr>
        <p:txBody>
          <a:bodyPr wrap="square">
            <a:spAutoFit/>
          </a:bodyPr>
          <a:lstStyle/>
          <a:p>
            <a:pPr algn="l"/>
            <a:r>
              <a:rPr sz="850" b="0" i="0">
                <a:solidFill>
                  <a:srgbClr val="555555"/>
                </a:solidFill>
              </a:rPr>
              <a:t>ND/EBITDA median</a:t>
            </a:r>
          </a:p>
        </p:txBody>
      </p:sp>
      <p:sp>
        <p:nvSpPr>
          <p:cNvPr id="34" name="TextBox 33"/>
          <p:cNvSpPr txBox="1"/>
          <p:nvPr/>
        </p:nvSpPr>
        <p:spPr>
          <a:xfrm>
            <a:off x="413999" y="4500000"/>
            <a:ext cx="2538000" cy="144000"/>
          </a:xfrm>
          <a:prstGeom prst="rect">
            <a:avLst/>
          </a:prstGeom>
          <a:noFill/>
        </p:spPr>
        <p:txBody>
          <a:bodyPr wrap="square">
            <a:spAutoFit/>
          </a:bodyPr>
          <a:lstStyle/>
          <a:p>
            <a:pPr algn="l"/>
            <a:r>
              <a:rPr sz="800" b="0" i="0">
                <a:solidFill>
                  <a:srgbClr val="AAAAAA"/>
                </a:solidFill>
              </a:rPr>
              <a:t>levier sectoriel</a:t>
            </a:r>
          </a:p>
        </p:txBody>
      </p:sp>
      <p:sp>
        <p:nvSpPr>
          <p:cNvPr id="35" name="Rectangle 34"/>
          <p:cNvSpPr/>
          <p:nvPr/>
        </p:nvSpPr>
        <p:spPr>
          <a:xfrm>
            <a:off x="3276000" y="3924000"/>
            <a:ext cx="2664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276000" y="3924000"/>
            <a:ext cx="36000" cy="792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66000" y="3960000"/>
            <a:ext cx="2538000" cy="360000"/>
          </a:xfrm>
          <a:prstGeom prst="rect">
            <a:avLst/>
          </a:prstGeom>
          <a:noFill/>
        </p:spPr>
        <p:txBody>
          <a:bodyPr wrap="square">
            <a:spAutoFit/>
          </a:bodyPr>
          <a:lstStyle/>
          <a:p>
            <a:pPr algn="l"/>
            <a:r>
              <a:rPr sz="2200" b="1" i="0">
                <a:solidFill>
                  <a:srgbClr val="1B3A6B"/>
                </a:solidFill>
              </a:rPr>
              <a:t>1.4%</a:t>
            </a:r>
          </a:p>
        </p:txBody>
      </p:sp>
      <p:sp>
        <p:nvSpPr>
          <p:cNvPr id="38" name="TextBox 37"/>
          <p:cNvSpPr txBox="1"/>
          <p:nvPr/>
        </p:nvSpPr>
        <p:spPr>
          <a:xfrm>
            <a:off x="3366000" y="4338000"/>
            <a:ext cx="2538000" cy="162000"/>
          </a:xfrm>
          <a:prstGeom prst="rect">
            <a:avLst/>
          </a:prstGeom>
          <a:noFill/>
        </p:spPr>
        <p:txBody>
          <a:bodyPr wrap="square">
            <a:spAutoFit/>
          </a:bodyPr>
          <a:lstStyle/>
          <a:p>
            <a:pPr algn="l"/>
            <a:r>
              <a:rPr sz="850" b="0" i="0">
                <a:solidFill>
                  <a:srgbClr val="555555"/>
                </a:solidFill>
              </a:rPr>
              <a:t>FCF Yield median</a:t>
            </a:r>
          </a:p>
        </p:txBody>
      </p:sp>
      <p:sp>
        <p:nvSpPr>
          <p:cNvPr id="39" name="TextBox 38"/>
          <p:cNvSpPr txBox="1"/>
          <p:nvPr/>
        </p:nvSpPr>
        <p:spPr>
          <a:xfrm>
            <a:off x="3366000" y="4500000"/>
            <a:ext cx="2538000" cy="144000"/>
          </a:xfrm>
          <a:prstGeom prst="rect">
            <a:avLst/>
          </a:prstGeom>
          <a:noFill/>
        </p:spPr>
        <p:txBody>
          <a:bodyPr wrap="square">
            <a:spAutoFit/>
          </a:bodyPr>
          <a:lstStyle/>
          <a:p>
            <a:pPr algn="l"/>
            <a:r>
              <a:rPr sz="800" b="0" i="0">
                <a:solidFill>
                  <a:srgbClr val="AAAAAA"/>
                </a:solidFill>
              </a:rPr>
              <a:t>generation cash</a:t>
            </a:r>
          </a:p>
        </p:txBody>
      </p:sp>
      <p:sp>
        <p:nvSpPr>
          <p:cNvPr id="40" name="Rectangle 39"/>
          <p:cNvSpPr/>
          <p:nvPr/>
        </p:nvSpPr>
        <p:spPr>
          <a:xfrm>
            <a:off x="6228000" y="3924000"/>
            <a:ext cx="2664000" cy="79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228000" y="3924000"/>
            <a:ext cx="36000" cy="79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318000" y="3960000"/>
            <a:ext cx="2538000" cy="360000"/>
          </a:xfrm>
          <a:prstGeom prst="rect">
            <a:avLst/>
          </a:prstGeom>
          <a:noFill/>
        </p:spPr>
        <p:txBody>
          <a:bodyPr wrap="square">
            <a:spAutoFit/>
          </a:bodyPr>
          <a:lstStyle/>
          <a:p>
            <a:pPr algn="l"/>
            <a:r>
              <a:rPr sz="2200" b="1" i="0">
                <a:solidFill>
                  <a:srgbClr val="1B3A6B"/>
                </a:solidFill>
              </a:rPr>
              <a:t>76/100</a:t>
            </a:r>
          </a:p>
        </p:txBody>
      </p:sp>
      <p:sp>
        <p:nvSpPr>
          <p:cNvPr id="43" name="TextBox 42"/>
          <p:cNvSpPr txBox="1"/>
          <p:nvPr/>
        </p:nvSpPr>
        <p:spPr>
          <a:xfrm>
            <a:off x="6318000" y="4338000"/>
            <a:ext cx="2538000" cy="162000"/>
          </a:xfrm>
          <a:prstGeom prst="rect">
            <a:avLst/>
          </a:prstGeom>
          <a:noFill/>
        </p:spPr>
        <p:txBody>
          <a:bodyPr wrap="square">
            <a:spAutoFit/>
          </a:bodyPr>
          <a:lstStyle/>
          <a:p>
            <a:pPr algn="l"/>
            <a:r>
              <a:rPr sz="850" b="0" i="0">
                <a:solidFill>
                  <a:srgbClr val="555555"/>
                </a:solidFill>
              </a:rPr>
              <a:t>Score sante moyen</a:t>
            </a:r>
          </a:p>
        </p:txBody>
      </p:sp>
      <p:sp>
        <p:nvSpPr>
          <p:cNvPr id="44" name="TextBox 43"/>
          <p:cNvSpPr txBox="1"/>
          <p:nvPr/>
        </p:nvSpPr>
        <p:spPr>
          <a:xfrm>
            <a:off x="6318000" y="4500000"/>
            <a:ext cx="2538000" cy="144000"/>
          </a:xfrm>
          <a:prstGeom prst="rect">
            <a:avLst/>
          </a:prstGeom>
          <a:noFill/>
        </p:spPr>
        <p:txBody>
          <a:bodyPr wrap="square">
            <a:spAutoFit/>
          </a:bodyPr>
          <a:lstStyle/>
          <a:p>
            <a:pPr algn="l"/>
            <a:r>
              <a:rPr sz="800" b="0" i="0">
                <a:solidFill>
                  <a:srgbClr val="AAAAAA"/>
                </a:solidFill>
              </a:rPr>
              <a:t>solidite bilans</a:t>
            </a:r>
          </a:p>
        </p:txBody>
      </p:sp>
      <p:sp>
        <p:nvSpPr>
          <p:cNvPr id="45" name="Rectangle 44"/>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Sentiment de Marché — FinBERT</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sémantique FinBERT  ·  Articles récents  ·  8 sociétés</a:t>
            </a:r>
          </a:p>
        </p:txBody>
      </p:sp>
      <p:sp>
        <p:nvSpPr>
          <p:cNvPr id="15" name="Rectangle 14"/>
          <p:cNvSpPr/>
          <p:nvPr/>
        </p:nvSpPr>
        <p:spPr>
          <a:xfrm>
            <a:off x="324000" y="900000"/>
            <a:ext cx="1908000" cy="93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36000" cy="936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2000" y="936000"/>
            <a:ext cx="1764000" cy="432000"/>
          </a:xfrm>
          <a:prstGeom prst="rect">
            <a:avLst/>
          </a:prstGeom>
          <a:noFill/>
        </p:spPr>
        <p:txBody>
          <a:bodyPr wrap="square">
            <a:spAutoFit/>
          </a:bodyPr>
          <a:lstStyle/>
          <a:p>
            <a:pPr algn="l"/>
            <a:r>
              <a:rPr sz="2800" b="1" i="0">
                <a:solidFill>
                  <a:srgbClr val="1B3A6B"/>
                </a:solidFill>
              </a:rPr>
              <a:t>0.00</a:t>
            </a:r>
          </a:p>
        </p:txBody>
      </p:sp>
      <p:sp>
        <p:nvSpPr>
          <p:cNvPr id="18" name="TextBox 17"/>
          <p:cNvSpPr txBox="1"/>
          <p:nvPr/>
        </p:nvSpPr>
        <p:spPr>
          <a:xfrm>
            <a:off x="432000" y="1368000"/>
            <a:ext cx="1764000" cy="198000"/>
          </a:xfrm>
          <a:prstGeom prst="rect">
            <a:avLst/>
          </a:prstGeom>
          <a:noFill/>
        </p:spPr>
        <p:txBody>
          <a:bodyPr wrap="square">
            <a:spAutoFit/>
          </a:bodyPr>
          <a:lstStyle/>
          <a:p>
            <a:pPr algn="l"/>
            <a:r>
              <a:rPr sz="750" b="0" i="0">
                <a:solidFill>
                  <a:srgbClr val="555555"/>
                </a:solidFill>
              </a:rPr>
              <a:t>Score agrégé FinBERT</a:t>
            </a:r>
          </a:p>
        </p:txBody>
      </p:sp>
      <p:sp>
        <p:nvSpPr>
          <p:cNvPr id="19" name="TextBox 18"/>
          <p:cNvSpPr txBox="1"/>
          <p:nvPr/>
        </p:nvSpPr>
        <p:spPr>
          <a:xfrm>
            <a:off x="432000" y="1565999"/>
            <a:ext cx="1764000" cy="162000"/>
          </a:xfrm>
          <a:prstGeom prst="rect">
            <a:avLst/>
          </a:prstGeom>
          <a:noFill/>
        </p:spPr>
        <p:txBody>
          <a:bodyPr wrap="square">
            <a:spAutoFit/>
          </a:bodyPr>
          <a:lstStyle/>
          <a:p>
            <a:pPr algn="l"/>
            <a:r>
              <a:rPr sz="750" b="0" i="0">
                <a:solidFill>
                  <a:srgbClr val="AAAAAA"/>
                </a:solidFill>
              </a:rPr>
              <a:t>Neutre</a:t>
            </a:r>
          </a:p>
        </p:txBody>
      </p:sp>
      <p:sp>
        <p:nvSpPr>
          <p:cNvPr id="20" name="Rectangle 19"/>
          <p:cNvSpPr/>
          <p:nvPr/>
        </p:nvSpPr>
        <p:spPr>
          <a:xfrm>
            <a:off x="2412000" y="900000"/>
            <a:ext cx="900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412000" y="917999"/>
            <a:ext cx="900000" cy="216000"/>
          </a:xfrm>
          <a:prstGeom prst="rect">
            <a:avLst/>
          </a:prstGeom>
          <a:noFill/>
        </p:spPr>
        <p:txBody>
          <a:bodyPr wrap="square">
            <a:spAutoFit/>
          </a:bodyPr>
          <a:lstStyle/>
          <a:p>
            <a:pPr algn="l"/>
            <a:r>
              <a:rPr sz="850" b="1" i="0">
                <a:solidFill>
                  <a:srgbClr val="1A1A1A"/>
                </a:solidFill>
              </a:rPr>
              <a:t>Positif</a:t>
            </a:r>
          </a:p>
        </p:txBody>
      </p:sp>
      <p:sp>
        <p:nvSpPr>
          <p:cNvPr id="22" name="TextBox 21"/>
          <p:cNvSpPr txBox="1"/>
          <p:nvPr/>
        </p:nvSpPr>
        <p:spPr>
          <a:xfrm>
            <a:off x="6156000" y="917999"/>
            <a:ext cx="1980000" cy="216000"/>
          </a:xfrm>
          <a:prstGeom prst="rect">
            <a:avLst/>
          </a:prstGeom>
          <a:noFill/>
        </p:spPr>
        <p:txBody>
          <a:bodyPr wrap="square">
            <a:spAutoFit/>
          </a:bodyPr>
          <a:lstStyle/>
          <a:p>
            <a:pPr algn="l"/>
            <a:r>
              <a:rPr sz="850" b="0" i="0">
                <a:solidFill>
                  <a:srgbClr val="555555"/>
                </a:solidFill>
              </a:rPr>
              <a:t>2 articles (25 %)</a:t>
            </a:r>
          </a:p>
        </p:txBody>
      </p:sp>
      <p:sp>
        <p:nvSpPr>
          <p:cNvPr id="23" name="Rectangle 22"/>
          <p:cNvSpPr/>
          <p:nvPr/>
        </p:nvSpPr>
        <p:spPr>
          <a:xfrm>
            <a:off x="2412000" y="1224000"/>
            <a:ext cx="1800000" cy="23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412000" y="1242000"/>
            <a:ext cx="900000" cy="216000"/>
          </a:xfrm>
          <a:prstGeom prst="rect">
            <a:avLst/>
          </a:prstGeom>
          <a:noFill/>
        </p:spPr>
        <p:txBody>
          <a:bodyPr wrap="square">
            <a:spAutoFit/>
          </a:bodyPr>
          <a:lstStyle/>
          <a:p>
            <a:pPr algn="l"/>
            <a:r>
              <a:rPr sz="850" b="1" i="0">
                <a:solidFill>
                  <a:srgbClr val="1A1A1A"/>
                </a:solidFill>
              </a:rPr>
              <a:t>Neutre</a:t>
            </a:r>
          </a:p>
        </p:txBody>
      </p:sp>
      <p:sp>
        <p:nvSpPr>
          <p:cNvPr id="25" name="TextBox 24"/>
          <p:cNvSpPr txBox="1"/>
          <p:nvPr/>
        </p:nvSpPr>
        <p:spPr>
          <a:xfrm>
            <a:off x="6156000" y="1242000"/>
            <a:ext cx="1980000" cy="216000"/>
          </a:xfrm>
          <a:prstGeom prst="rect">
            <a:avLst/>
          </a:prstGeom>
          <a:noFill/>
        </p:spPr>
        <p:txBody>
          <a:bodyPr wrap="square">
            <a:spAutoFit/>
          </a:bodyPr>
          <a:lstStyle/>
          <a:p>
            <a:pPr algn="l"/>
            <a:r>
              <a:rPr sz="850" b="0" i="0">
                <a:solidFill>
                  <a:srgbClr val="555555"/>
                </a:solidFill>
              </a:rPr>
              <a:t>4 articles (50 %)</a:t>
            </a:r>
          </a:p>
        </p:txBody>
      </p:sp>
      <p:sp>
        <p:nvSpPr>
          <p:cNvPr id="26" name="Rectangle 25"/>
          <p:cNvSpPr/>
          <p:nvPr/>
        </p:nvSpPr>
        <p:spPr>
          <a:xfrm>
            <a:off x="2412000" y="1548000"/>
            <a:ext cx="900000" cy="23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412000" y="1565999"/>
            <a:ext cx="900000" cy="216000"/>
          </a:xfrm>
          <a:prstGeom prst="rect">
            <a:avLst/>
          </a:prstGeom>
          <a:noFill/>
        </p:spPr>
        <p:txBody>
          <a:bodyPr wrap="square">
            <a:spAutoFit/>
          </a:bodyPr>
          <a:lstStyle/>
          <a:p>
            <a:pPr algn="l"/>
            <a:r>
              <a:rPr sz="850" b="1" i="0">
                <a:solidFill>
                  <a:srgbClr val="1A1A1A"/>
                </a:solidFill>
              </a:rPr>
              <a:t>Négatif</a:t>
            </a:r>
          </a:p>
        </p:txBody>
      </p:sp>
      <p:sp>
        <p:nvSpPr>
          <p:cNvPr id="28" name="TextBox 27"/>
          <p:cNvSpPr txBox="1"/>
          <p:nvPr/>
        </p:nvSpPr>
        <p:spPr>
          <a:xfrm>
            <a:off x="6156000" y="1565999"/>
            <a:ext cx="1980000" cy="216000"/>
          </a:xfrm>
          <a:prstGeom prst="rect">
            <a:avLst/>
          </a:prstGeom>
          <a:noFill/>
        </p:spPr>
        <p:txBody>
          <a:bodyPr wrap="square">
            <a:spAutoFit/>
          </a:bodyPr>
          <a:lstStyle/>
          <a:p>
            <a:pPr algn="l"/>
            <a:r>
              <a:rPr sz="850" b="0" i="0">
                <a:solidFill>
                  <a:srgbClr val="555555"/>
                </a:solidFill>
              </a:rPr>
              <a:t>2 articles (25 %)</a:t>
            </a:r>
          </a:p>
        </p:txBody>
      </p:sp>
      <p:sp>
        <p:nvSpPr>
          <p:cNvPr id="29" name="TextBox 28"/>
          <p:cNvSpPr txBox="1"/>
          <p:nvPr/>
        </p:nvSpPr>
        <p:spPr>
          <a:xfrm>
            <a:off x="324000" y="1908000"/>
            <a:ext cx="8496000" cy="216000"/>
          </a:xfrm>
          <a:prstGeom prst="rect">
            <a:avLst/>
          </a:prstGeom>
          <a:noFill/>
        </p:spPr>
        <p:txBody>
          <a:bodyPr wrap="square">
            <a:spAutoFit/>
          </a:bodyPr>
          <a:lstStyle/>
          <a:p>
            <a:pPr algn="l"/>
            <a:r>
              <a:rPr sz="850" b="1" i="0">
                <a:solidFill>
                  <a:srgbClr val="1B3A6B"/>
                </a:solidFill>
              </a:rPr>
              <a:t>Thèmes dominants</a:t>
            </a:r>
          </a:p>
        </p:txBody>
      </p:sp>
      <p:sp>
        <p:nvSpPr>
          <p:cNvPr id="30" name="Rectangle 29"/>
          <p:cNvSpPr/>
          <p:nvPr/>
        </p:nvSpPr>
        <p:spPr>
          <a:xfrm>
            <a:off x="324000" y="2124000"/>
            <a:ext cx="4104000" cy="396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24000" y="2124000"/>
            <a:ext cx="36000" cy="39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68000" y="2142000"/>
            <a:ext cx="3851999" cy="360000"/>
          </a:xfrm>
          <a:prstGeom prst="rect">
            <a:avLst/>
          </a:prstGeom>
          <a:noFill/>
        </p:spPr>
        <p:txBody>
          <a:bodyPr wrap="square">
            <a:spAutoFit/>
          </a:bodyPr>
          <a:lstStyle/>
          <a:p>
            <a:pPr algn="l"/>
            <a:r>
              <a:rPr sz="800" b="0" i="0">
                <a:solidFill>
                  <a:srgbClr val="555555"/>
                </a:solidFill>
              </a:rPr>
              <a:t>+ Adoption de l'IA — L'IA générative et les modèles de langage transforment les workflows des entreprises,</a:t>
            </a:r>
          </a:p>
        </p:txBody>
      </p:sp>
      <p:sp>
        <p:nvSpPr>
          <p:cNvPr id="33" name="Rectangle 32"/>
          <p:cNvSpPr/>
          <p:nvPr/>
        </p:nvSpPr>
        <p:spPr>
          <a:xfrm>
            <a:off x="4716000" y="2124000"/>
            <a:ext cx="4104000" cy="396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716000" y="2124000"/>
            <a:ext cx="36000" cy="396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860000" y="2142000"/>
            <a:ext cx="3851999" cy="360000"/>
          </a:xfrm>
          <a:prstGeom prst="rect">
            <a:avLst/>
          </a:prstGeom>
          <a:noFill/>
        </p:spPr>
        <p:txBody>
          <a:bodyPr wrap="square">
            <a:spAutoFit/>
          </a:bodyPr>
          <a:lstStyle/>
          <a:p>
            <a:pPr algn="l"/>
            <a:r>
              <a:rPr sz="800" b="0" i="0">
                <a:solidFill>
                  <a:srgbClr val="555555"/>
                </a:solidFill>
              </a:rPr>
              <a:t>- Régulation — Les enquêtes antitrust aux États-Unis et en Europe pourraient entraîner des amendes ou</a:t>
            </a:r>
          </a:p>
        </p:txBody>
      </p:sp>
      <p:sp>
        <p:nvSpPr>
          <p:cNvPr id="36" name="Rectangle 35"/>
          <p:cNvSpPr/>
          <p:nvPr/>
        </p:nvSpPr>
        <p:spPr>
          <a:xfrm>
            <a:off x="324000" y="2664000"/>
            <a:ext cx="8496000" cy="19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24000" y="2664000"/>
            <a:ext cx="8496000" cy="25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96000" y="2682000"/>
            <a:ext cx="8352000" cy="216000"/>
          </a:xfrm>
          <a:prstGeom prst="rect">
            <a:avLst/>
          </a:prstGeom>
          <a:noFill/>
        </p:spPr>
        <p:txBody>
          <a:bodyPr wrap="square">
            <a:spAutoFit/>
          </a:bodyPr>
          <a:lstStyle/>
          <a:p>
            <a:pPr algn="l"/>
            <a:r>
              <a:rPr sz="850" b="1" i="0">
                <a:solidFill>
                  <a:srgbClr val="FFFFFF"/>
                </a:solidFill>
              </a:rPr>
              <a:t>LECTURE ANALYTIQUE DU SENTIMENT</a:t>
            </a:r>
          </a:p>
        </p:txBody>
      </p:sp>
      <p:sp>
        <p:nvSpPr>
          <p:cNvPr id="39" name="TextBox 38"/>
          <p:cNvSpPr txBox="1"/>
          <p:nvPr/>
        </p:nvSpPr>
        <p:spPr>
          <a:xfrm>
            <a:off x="396000" y="2951999"/>
            <a:ext cx="8352000" cy="1620000"/>
          </a:xfrm>
          <a:prstGeom prst="rect">
            <a:avLst/>
          </a:prstGeom>
          <a:noFill/>
        </p:spPr>
        <p:txBody>
          <a:bodyPr wrap="square">
            <a:spAutoFit/>
          </a:bodyPr>
          <a:lstStyle/>
          <a:p>
            <a:pPr algn="l"/>
            <a:r>
              <a:rPr sz="850" b="0" i="0">
                <a:solidFill>
                  <a:srgbClr val="555555"/>
                </a:solidFill>
              </a:rPr>
              <a:t>Le sentiment agrégé FinBERT sur le secteur Technology (S&amp;P 500) ressort neutre (0.00), avec 25% d'articles a tonalité positive sur 8 analysés. La dispersion inter-valeurs est prononcée : NVDA (+0.00) porte la composante haussière tandis que AMD (+0.00) reflète les pressions structurelles. Cette hétérogénéité valide une approche sélective plutôt que directionnelle sur le secteur — le sentiment moyen masque des situations fondamentalement différentes entre leaders et retardataires. La composante thématique (catalyseurs vs risques) suggère que les flux narratifs restent équilibrés, reflétant une phase de transition sectorielle. Le suivi du ratio Positif/Négatif dans les prochaines semaines constitue un indicateur avancé pour anticiper les rotations sectorielles.</a:t>
            </a:r>
          </a:p>
        </p:txBody>
      </p:sp>
      <p:sp>
        <p:nvSpPr>
          <p:cNvPr id="40" name="Rectangle 3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Performance Boursiere Relative — 52 Semaines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Technology  ·  S&amp;P 500  ·  Indexe a 100 au debut de la periode</a:t>
            </a:r>
          </a:p>
        </p:txBody>
      </p:sp>
      <p:pic>
        <p:nvPicPr>
          <p:cNvPr id="15" name="Picture 14" descr="image.png"/>
          <p:cNvPicPr>
            <a:picLocks noChangeAspect="1"/>
          </p:cNvPicPr>
          <p:nvPr/>
        </p:nvPicPr>
        <p:blipFill>
          <a:blip r:embed="rId2"/>
          <a:stretch>
            <a:fillRect/>
          </a:stretch>
        </p:blipFill>
        <p:spPr>
          <a:xfrm>
            <a:off x="324000" y="827999"/>
            <a:ext cx="5940000" cy="3671999"/>
          </a:xfrm>
          <a:prstGeom prst="rect">
            <a:avLst/>
          </a:prstGeom>
        </p:spPr>
      </p:pic>
      <p:sp>
        <p:nvSpPr>
          <p:cNvPr id="16" name="Rectangle 15"/>
          <p:cNvSpPr/>
          <p:nvPr/>
        </p:nvSpPr>
        <p:spPr>
          <a:xfrm>
            <a:off x="6336000" y="827999"/>
            <a:ext cx="2448000" cy="367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336000" y="827999"/>
            <a:ext cx="2448000" cy="23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8000" y="846000"/>
            <a:ext cx="2340000" cy="198000"/>
          </a:xfrm>
          <a:prstGeom prst="rect">
            <a:avLst/>
          </a:prstGeom>
          <a:noFill/>
        </p:spPr>
        <p:txBody>
          <a:bodyPr wrap="square">
            <a:spAutoFit/>
          </a:bodyPr>
          <a:lstStyle/>
          <a:p>
            <a:pPr algn="l"/>
            <a:r>
              <a:rPr sz="800" b="1" i="0">
                <a:solidFill>
                  <a:srgbClr val="FFFFFF"/>
                </a:solidFill>
              </a:rPr>
              <a:t>LECTURE ANALYTIQUE</a:t>
            </a:r>
          </a:p>
        </p:txBody>
      </p:sp>
      <p:sp>
        <p:nvSpPr>
          <p:cNvPr id="19" name="TextBox 18"/>
          <p:cNvSpPr txBox="1"/>
          <p:nvPr/>
        </p:nvSpPr>
        <p:spPr>
          <a:xfrm>
            <a:off x="6408000" y="1152000"/>
            <a:ext cx="2304000" cy="324000"/>
          </a:xfrm>
          <a:prstGeom prst="rect">
            <a:avLst/>
          </a:prstGeom>
          <a:noFill/>
        </p:spPr>
        <p:txBody>
          <a:bodyPr wrap="square">
            <a:spAutoFit/>
          </a:bodyPr>
          <a:lstStyle/>
          <a:p>
            <a:pPr algn="l"/>
            <a:r>
              <a:rPr sz="700" b="1" i="0">
                <a:solidFill>
                  <a:srgbClr val="1B3A6B"/>
                </a:solidFill>
              </a:rPr>
              <a:t>MEILLEURE PERFORMANCE</a:t>
            </a:r>
          </a:p>
        </p:txBody>
      </p:sp>
      <p:sp>
        <p:nvSpPr>
          <p:cNvPr id="20" name="TextBox 19"/>
          <p:cNvSpPr txBox="1"/>
          <p:nvPr/>
        </p:nvSpPr>
        <p:spPr>
          <a:xfrm>
            <a:off x="6408000" y="1314000"/>
            <a:ext cx="2304000" cy="324000"/>
          </a:xfrm>
          <a:prstGeom prst="rect">
            <a:avLst/>
          </a:prstGeom>
          <a:noFill/>
        </p:spPr>
        <p:txBody>
          <a:bodyPr wrap="square">
            <a:spAutoFit/>
          </a:bodyPr>
          <a:lstStyle/>
          <a:p>
            <a:pPr algn="l"/>
            <a:r>
              <a:rPr sz="900" b="1" i="0">
                <a:solidFill>
                  <a:srgbClr val="1B3A6B"/>
                </a:solidFill>
              </a:rPr>
              <a:t>AMD  +182%  sur 52 semaines</a:t>
            </a:r>
          </a:p>
        </p:txBody>
      </p:sp>
      <p:sp>
        <p:nvSpPr>
          <p:cNvPr id="21" name="TextBox 20"/>
          <p:cNvSpPr txBox="1"/>
          <p:nvPr/>
        </p:nvSpPr>
        <p:spPr>
          <a:xfrm>
            <a:off x="6408000" y="1655999"/>
            <a:ext cx="2304000" cy="324000"/>
          </a:xfrm>
          <a:prstGeom prst="rect">
            <a:avLst/>
          </a:prstGeom>
          <a:noFill/>
        </p:spPr>
        <p:txBody>
          <a:bodyPr wrap="square">
            <a:spAutoFit/>
          </a:bodyPr>
          <a:lstStyle/>
          <a:p>
            <a:pPr algn="l"/>
            <a:r>
              <a:rPr sz="700" b="1" i="0">
                <a:solidFill>
                  <a:srgbClr val="1B3A6B"/>
                </a:solidFill>
              </a:rPr>
              <a:t>PIRE PERFORMANCE</a:t>
            </a:r>
          </a:p>
        </p:txBody>
      </p:sp>
      <p:sp>
        <p:nvSpPr>
          <p:cNvPr id="22" name="TextBox 21"/>
          <p:cNvSpPr txBox="1"/>
          <p:nvPr/>
        </p:nvSpPr>
        <p:spPr>
          <a:xfrm>
            <a:off x="6408000" y="1818000"/>
            <a:ext cx="2304000" cy="324000"/>
          </a:xfrm>
          <a:prstGeom prst="rect">
            <a:avLst/>
          </a:prstGeom>
          <a:noFill/>
        </p:spPr>
        <p:txBody>
          <a:bodyPr wrap="square">
            <a:spAutoFit/>
          </a:bodyPr>
          <a:lstStyle/>
          <a:p>
            <a:pPr algn="l"/>
            <a:r>
              <a:rPr sz="900" b="1" i="0">
                <a:solidFill>
                  <a:srgbClr val="A82020"/>
                </a:solidFill>
              </a:rPr>
              <a:t>MSFT  +5%  sur 52 semaines</a:t>
            </a:r>
          </a:p>
        </p:txBody>
      </p:sp>
      <p:sp>
        <p:nvSpPr>
          <p:cNvPr id="23" name="TextBox 22"/>
          <p:cNvSpPr txBox="1"/>
          <p:nvPr/>
        </p:nvSpPr>
        <p:spPr>
          <a:xfrm>
            <a:off x="6408000" y="2196000"/>
            <a:ext cx="2304000" cy="324000"/>
          </a:xfrm>
          <a:prstGeom prst="rect">
            <a:avLst/>
          </a:prstGeom>
          <a:noFill/>
        </p:spPr>
        <p:txBody>
          <a:bodyPr wrap="square">
            <a:spAutoFit/>
          </a:bodyPr>
          <a:lstStyle/>
          <a:p>
            <a:pPr algn="l"/>
            <a:r>
              <a:rPr sz="700" b="1" i="0">
                <a:solidFill>
                  <a:srgbClr val="1B3A6B"/>
                </a:solidFill>
              </a:rPr>
              <a:t>DISPERSION</a:t>
            </a:r>
          </a:p>
        </p:txBody>
      </p:sp>
      <p:sp>
        <p:nvSpPr>
          <p:cNvPr id="24" name="TextBox 23"/>
          <p:cNvSpPr txBox="1"/>
          <p:nvPr/>
        </p:nvSpPr>
        <p:spPr>
          <a:xfrm>
            <a:off x="6408000" y="2358000"/>
            <a:ext cx="2304000" cy="324000"/>
          </a:xfrm>
          <a:prstGeom prst="rect">
            <a:avLst/>
          </a:prstGeom>
          <a:noFill/>
        </p:spPr>
        <p:txBody>
          <a:bodyPr wrap="square">
            <a:spAutoFit/>
          </a:bodyPr>
          <a:lstStyle/>
          <a:p>
            <a:pPr algn="l"/>
            <a:r>
              <a:rPr sz="800" b="0" i="0">
                <a:solidFill>
                  <a:srgbClr val="555555"/>
                </a:solidFill>
              </a:rPr>
              <a:t>Écart 176 pts — 8 valeur(s) positives vs 0 négatives.</a:t>
            </a:r>
          </a:p>
        </p:txBody>
      </p:sp>
      <p:sp>
        <p:nvSpPr>
          <p:cNvPr id="25" name="TextBox 24"/>
          <p:cNvSpPr txBox="1"/>
          <p:nvPr/>
        </p:nvSpPr>
        <p:spPr>
          <a:xfrm>
            <a:off x="6408000" y="2772000"/>
            <a:ext cx="2304000" cy="324000"/>
          </a:xfrm>
          <a:prstGeom prst="rect">
            <a:avLst/>
          </a:prstGeom>
          <a:noFill/>
        </p:spPr>
        <p:txBody>
          <a:bodyPr wrap="square">
            <a:spAutoFit/>
          </a:bodyPr>
          <a:lstStyle/>
          <a:p>
            <a:pPr algn="l"/>
            <a:r>
              <a:rPr sz="700" b="1" i="0">
                <a:solidFill>
                  <a:srgbClr val="1B3A6B"/>
                </a:solidFill>
              </a:rPr>
              <a:t>INTERPRETATION</a:t>
            </a:r>
          </a:p>
        </p:txBody>
      </p:sp>
      <p:sp>
        <p:nvSpPr>
          <p:cNvPr id="26" name="TextBox 25"/>
          <p:cNvSpPr txBox="1"/>
          <p:nvPr/>
        </p:nvSpPr>
        <p:spPr>
          <a:xfrm>
            <a:off x="6408000" y="2934000"/>
            <a:ext cx="2304000" cy="324000"/>
          </a:xfrm>
          <a:prstGeom prst="rect">
            <a:avLst/>
          </a:prstGeom>
          <a:noFill/>
        </p:spPr>
        <p:txBody>
          <a:bodyPr wrap="square">
            <a:spAutoFit/>
          </a:bodyPr>
          <a:lstStyle/>
          <a:p>
            <a:pPr algn="l"/>
            <a:r>
              <a:rPr sz="750" b="0" i="0">
                <a:solidFill>
                  <a:srgbClr val="555555"/>
                </a:solidFill>
              </a:rPr>
              <a:t>La dispersion des trajectoires reflète la bifurcation sectorielle : certains acteurs captent l'essentiel de la creation de valeur tandis que d'autres subissent des sorties de capitaux structurelles.</a:t>
            </a:r>
          </a:p>
        </p:txBody>
      </p:sp>
      <p:sp>
        <p:nvSpPr>
          <p:cNvPr id="27" name="TextBox 26"/>
          <p:cNvSpPr txBox="1"/>
          <p:nvPr/>
        </p:nvSpPr>
        <p:spPr>
          <a:xfrm>
            <a:off x="6408000" y="3366000"/>
            <a:ext cx="2304000" cy="324000"/>
          </a:xfrm>
          <a:prstGeom prst="rect">
            <a:avLst/>
          </a:prstGeom>
          <a:noFill/>
        </p:spPr>
        <p:txBody>
          <a:bodyPr wrap="square">
            <a:spAutoFit/>
          </a:bodyPr>
          <a:lstStyle/>
          <a:p>
            <a:pPr algn="l"/>
            <a:r>
              <a:rPr sz="750" b="0" i="0">
                <a:solidFill>
                  <a:srgbClr val="555555"/>
                </a:solidFill>
              </a:rPr>
              <a:t>Le momentum 52W est intégré dans le score FinSight comme signal de confirmation de la thèse d'investissement.</a:t>
            </a:r>
          </a:p>
        </p:txBody>
      </p:sp>
      <p:sp>
        <p:nvSpPr>
          <p:cNvPr id="28" name="Rectangle 27"/>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Sources &amp; Méthodologie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Traçabilité complete des données  ·  Data lineage  ·  Agents FinSight IA v1.0</a:t>
            </a:r>
          </a:p>
        </p:txBody>
      </p:sp>
      <p:graphicFrame>
        <p:nvGraphicFramePr>
          <p:cNvPr id="15" name="Table 14"/>
          <p:cNvGraphicFramePr>
            <a:graphicFrameLocks noGrp="1"/>
          </p:cNvGraphicFramePr>
          <p:nvPr/>
        </p:nvGraphicFramePr>
        <p:xfrm>
          <a:off x="324000" y="900000"/>
          <a:ext cx="8495999" cy="1562400"/>
        </p:xfrm>
        <a:graphic>
          <a:graphicData uri="http://schemas.openxmlformats.org/drawingml/2006/table">
            <a:tbl>
              <a:tblPr firstRow="1" bandRow="1">
                <a:tableStyleId>{5C22544A-7EE6-4342-B048-85BDC9FD1C3A}</a:tableStyleId>
              </a:tblPr>
              <a:tblGrid>
                <a:gridCol w="1440000"/>
                <a:gridCol w="1620000"/>
                <a:gridCol w="3780000"/>
                <a:gridCol w="1655999"/>
              </a:tblGrid>
              <a:tr h="223200">
                <a:tc>
                  <a:txBody>
                    <a:bodyPr/>
                    <a:lstStyle/>
                    <a:p>
                      <a:pPr algn="ctr"/>
                      <a:r>
                        <a:rPr sz="800" b="1">
                          <a:solidFill>
                            <a:srgbClr val="FFFFFF"/>
                          </a:solidFill>
                        </a:rPr>
                        <a:t>Agent</a:t>
                      </a:r>
                    </a:p>
                  </a:txBody>
                  <a:tcPr>
                    <a:solidFill>
                      <a:srgbClr val="1B3A6B"/>
                    </a:solidFill>
                  </a:tcPr>
                </a:tc>
                <a:tc>
                  <a:txBody>
                    <a:bodyPr/>
                    <a:lstStyle/>
                    <a:p>
                      <a:pPr algn="ctr"/>
                      <a:r>
                        <a:rPr sz="800" b="1">
                          <a:solidFill>
                            <a:srgbClr val="FFFFFF"/>
                          </a:solidFill>
                        </a:rPr>
                        <a:t>Source données</a:t>
                      </a:r>
                    </a:p>
                  </a:txBody>
                  <a:tcPr>
                    <a:solidFill>
                      <a:srgbClr val="1B3A6B"/>
                    </a:solidFill>
                  </a:tcPr>
                </a:tc>
                <a:tc>
                  <a:txBody>
                    <a:bodyPr/>
                    <a:lstStyle/>
                    <a:p>
                      <a:pPr algn="ctr"/>
                      <a:r>
                        <a:rPr sz="800" b="1">
                          <a:solidFill>
                            <a:srgbClr val="FFFFFF"/>
                          </a:solidFill>
                        </a:rPr>
                        <a:t>Données collectées</a:t>
                      </a:r>
                    </a:p>
                  </a:txBody>
                  <a:tcPr>
                    <a:solidFill>
                      <a:srgbClr val="1B3A6B"/>
                    </a:solidFill>
                  </a:tcPr>
                </a:tc>
                <a:tc>
                  <a:txBody>
                    <a:bodyPr/>
                    <a:lstStyle/>
                    <a:p>
                      <a:pPr algn="ctr"/>
                      <a:r>
                        <a:rPr sz="800" b="1">
                          <a:solidFill>
                            <a:srgbClr val="FFFFFF"/>
                          </a:solidFill>
                        </a:rPr>
                        <a:t>Fréquence</a:t>
                      </a:r>
                    </a:p>
                  </a:txBody>
                  <a:tcPr>
                    <a:solidFill>
                      <a:srgbClr val="1B3A6B"/>
                    </a:solidFill>
                  </a:tcPr>
                </a:tc>
              </a:tr>
              <a:tr h="223200">
                <a:tc>
                  <a:txBody>
                    <a:bodyPr/>
                    <a:lstStyle/>
                    <a:p>
                      <a:pPr algn="ctr"/>
                      <a:r>
                        <a:rPr sz="750" b="0">
                          <a:solidFill>
                            <a:srgbClr val="1A1A1A"/>
                          </a:solidFill>
                        </a:rPr>
                        <a:t>AgentData</a:t>
                      </a:r>
                    </a:p>
                  </a:txBody>
                  <a:tcPr>
                    <a:noFill/>
                  </a:tcPr>
                </a:tc>
                <a:tc>
                  <a:txBody>
                    <a:bodyPr/>
                    <a:lstStyle/>
                    <a:p>
                      <a:pPr algn="ctr"/>
                      <a:r>
                        <a:rPr sz="750" b="0">
                          <a:solidFill>
                            <a:srgbClr val="1A1A1A"/>
                          </a:solidFill>
                        </a:rPr>
                        <a:t>yfinance + FMP</a:t>
                      </a:r>
                    </a:p>
                  </a:txBody>
                  <a:tcPr>
                    <a:noFill/>
                  </a:tcPr>
                </a:tc>
                <a:tc>
                  <a:txBody>
                    <a:bodyPr/>
                    <a:lstStyle/>
                    <a:p>
                      <a:pPr algn="ctr"/>
                      <a:r>
                        <a:rPr sz="750" b="0">
                          <a:solidFill>
                            <a:srgbClr val="1A1A1A"/>
                          </a:solidFill>
                        </a:rPr>
                        <a:t>Cours, ratios, états financiers LTM</a:t>
                      </a:r>
                    </a:p>
                  </a:txBody>
                  <a:tcPr>
                    <a:noFill/>
                  </a:tcPr>
                </a:tc>
                <a:tc>
                  <a:txBody>
                    <a:bodyPr/>
                    <a:lstStyle/>
                    <a:p>
                      <a:pPr algn="ctr"/>
                      <a:r>
                        <a:rPr sz="750" b="0">
                          <a:solidFill>
                            <a:srgbClr val="1A1A1A"/>
                          </a:solidFill>
                        </a:rPr>
                        <a:t>Temps réel / J-1</a:t>
                      </a:r>
                    </a:p>
                  </a:txBody>
                  <a:tcPr>
                    <a:noFill/>
                  </a:tcPr>
                </a:tc>
              </a:tr>
              <a:tr h="223200">
                <a:tc>
                  <a:txBody>
                    <a:bodyPr/>
                    <a:lstStyle/>
                    <a:p>
                      <a:pPr algn="ctr"/>
                      <a:r>
                        <a:rPr sz="750" b="0">
                          <a:solidFill>
                            <a:srgbClr val="1A1A1A"/>
                          </a:solidFill>
                        </a:rPr>
                        <a:t>AgentQuant</a:t>
                      </a:r>
                    </a:p>
                  </a:txBody>
                  <a:tcPr>
                    <a:solidFill>
                      <a:srgbClr val="F5F7FA"/>
                    </a:solidFill>
                  </a:tcPr>
                </a:tc>
                <a:tc>
                  <a:txBody>
                    <a:bodyPr/>
                    <a:lstStyle/>
                    <a:p>
                      <a:pPr algn="ctr"/>
                      <a:r>
                        <a:rPr sz="750" b="0">
                          <a:solidFill>
                            <a:srgbClr val="1A1A1A"/>
                          </a:solidFill>
                        </a:rPr>
                        <a:t>Calcul interne</a:t>
                      </a:r>
                    </a:p>
                  </a:txBody>
                  <a:tcPr>
                    <a:solidFill>
                      <a:srgbClr val="F5F7FA"/>
                    </a:solidFill>
                  </a:tcPr>
                </a:tc>
                <a:tc>
                  <a:txBody>
                    <a:bodyPr/>
                    <a:lstStyle/>
                    <a:p>
                      <a:pPr algn="ctr"/>
                      <a:r>
                        <a:rPr sz="750" b="0">
                          <a:solidFill>
                            <a:srgbClr val="1A1A1A"/>
                          </a:solidFill>
                        </a:rPr>
                        <a:t>Altman Z, Beneish M, scores FinSight</a:t>
                      </a:r>
                    </a:p>
                  </a:txBody>
                  <a:tcPr>
                    <a:solidFill>
                      <a:srgbClr val="F5F7FA"/>
                    </a:solidFill>
                  </a:tcPr>
                </a:tc>
                <a:tc>
                  <a:txBody>
                    <a:bodyPr/>
                    <a:lstStyle/>
                    <a:p>
                      <a:pPr algn="ctr"/>
                      <a:r>
                        <a:rPr sz="750" b="0">
                          <a:solidFill>
                            <a:srgbClr val="1A1A1A"/>
                          </a:solidFill>
                        </a:rPr>
                        <a:t>À la demande</a:t>
                      </a:r>
                    </a:p>
                  </a:txBody>
                  <a:tcPr>
                    <a:solidFill>
                      <a:srgbClr val="F5F7FA"/>
                    </a:solidFill>
                  </a:tcPr>
                </a:tc>
              </a:tr>
              <a:tr h="223200">
                <a:tc>
                  <a:txBody>
                    <a:bodyPr/>
                    <a:lstStyle/>
                    <a:p>
                      <a:pPr algn="ctr"/>
                      <a:r>
                        <a:rPr sz="750" b="0">
                          <a:solidFill>
                            <a:srgbClr val="1A1A1A"/>
                          </a:solidFill>
                        </a:rPr>
                        <a:t>AgentSentiment</a:t>
                      </a:r>
                    </a:p>
                  </a:txBody>
                  <a:tcPr>
                    <a:noFill/>
                  </a:tcPr>
                </a:tc>
                <a:tc>
                  <a:txBody>
                    <a:bodyPr/>
                    <a:lstStyle/>
                    <a:p>
                      <a:pPr algn="ctr"/>
                      <a:r>
                        <a:rPr sz="750" b="0">
                          <a:solidFill>
                            <a:srgbClr val="1A1A1A"/>
                          </a:solidFill>
                        </a:rPr>
                        <a:t>Finnhub + RSS</a:t>
                      </a:r>
                    </a:p>
                  </a:txBody>
                  <a:tcPr>
                    <a:noFill/>
                  </a:tcPr>
                </a:tc>
                <a:tc>
                  <a:txBody>
                    <a:bodyPr/>
                    <a:lstStyle/>
                    <a:p>
                      <a:pPr algn="ctr"/>
                      <a:r>
                        <a:rPr sz="750" b="0">
                          <a:solidFill>
                            <a:srgbClr val="1A1A1A"/>
                          </a:solidFill>
                        </a:rPr>
                        <a:t>Articles presse, scoring FinBERT</a:t>
                      </a:r>
                    </a:p>
                  </a:txBody>
                  <a:tcPr>
                    <a:noFill/>
                  </a:tcPr>
                </a:tc>
                <a:tc>
                  <a:txBody>
                    <a:bodyPr/>
                    <a:lstStyle/>
                    <a:p>
                      <a:pPr algn="ctr"/>
                      <a:r>
                        <a:rPr sz="750" b="0">
                          <a:solidFill>
                            <a:srgbClr val="1A1A1A"/>
                          </a:solidFill>
                        </a:rPr>
                        <a:t>À la demande</a:t>
                      </a:r>
                    </a:p>
                  </a:txBody>
                  <a:tcPr>
                    <a:noFill/>
                  </a:tcPr>
                </a:tc>
              </a:tr>
              <a:tr h="223200">
                <a:tc>
                  <a:txBody>
                    <a:bodyPr/>
                    <a:lstStyle/>
                    <a:p>
                      <a:pPr algn="ctr"/>
                      <a:r>
                        <a:rPr sz="750" b="0">
                          <a:solidFill>
                            <a:srgbClr val="1A1A1A"/>
                          </a:solidFill>
                        </a:rPr>
                        <a:t>AgentSynthese</a:t>
                      </a:r>
                    </a:p>
                  </a:txBody>
                  <a:tcPr>
                    <a:solidFill>
                      <a:srgbClr val="F5F7FA"/>
                    </a:solidFill>
                  </a:tcPr>
                </a:tc>
                <a:tc>
                  <a:txBody>
                    <a:bodyPr/>
                    <a:lstStyle/>
                    <a:p>
                      <a:pPr algn="ctr"/>
                      <a:r>
                        <a:rPr sz="750" b="0">
                          <a:solidFill>
                            <a:srgbClr val="1A1A1A"/>
                          </a:solidFill>
                        </a:rPr>
                        <a:t>Claude Haiku</a:t>
                      </a:r>
                    </a:p>
                  </a:txBody>
                  <a:tcPr>
                    <a:solidFill>
                      <a:srgbClr val="F5F7FA"/>
                    </a:solidFill>
                  </a:tcPr>
                </a:tc>
                <a:tc>
                  <a:txBody>
                    <a:bodyPr/>
                    <a:lstStyle/>
                    <a:p>
                      <a:pPr algn="ctr"/>
                      <a:r>
                        <a:rPr sz="750" b="0">
                          <a:solidFill>
                            <a:srgbClr val="1A1A1A"/>
                          </a:solidFill>
                        </a:rPr>
                        <a:t>Ratios calculés, scoring multifactoriel</a:t>
                      </a:r>
                    </a:p>
                  </a:txBody>
                  <a:tcPr>
                    <a:solidFill>
                      <a:srgbClr val="F5F7FA"/>
                    </a:solidFill>
                  </a:tcPr>
                </a:tc>
                <a:tc>
                  <a:txBody>
                    <a:bodyPr/>
                    <a:lstStyle/>
                    <a:p>
                      <a:pPr algn="ctr"/>
                      <a:r>
                        <a:rPr sz="750" b="0">
                          <a:solidFill>
                            <a:srgbClr val="1A1A1A"/>
                          </a:solidFill>
                        </a:rPr>
                        <a:t>À la demande</a:t>
                      </a:r>
                    </a:p>
                  </a:txBody>
                  <a:tcPr>
                    <a:solidFill>
                      <a:srgbClr val="F5F7FA"/>
                    </a:solidFill>
                  </a:tcPr>
                </a:tc>
              </a:tr>
              <a:tr h="223200">
                <a:tc>
                  <a:txBody>
                    <a:bodyPr/>
                    <a:lstStyle/>
                    <a:p>
                      <a:pPr algn="ctr"/>
                      <a:r>
                        <a:rPr sz="750" b="0">
                          <a:solidFill>
                            <a:srgbClr val="1A1A1A"/>
                          </a:solidFill>
                        </a:rPr>
                        <a:t>AgentDevil</a:t>
                      </a:r>
                    </a:p>
                  </a:txBody>
                  <a:tcPr>
                    <a:noFill/>
                  </a:tcPr>
                </a:tc>
                <a:tc>
                  <a:txBody>
                    <a:bodyPr/>
                    <a:lstStyle/>
                    <a:p>
                      <a:pPr algn="ctr"/>
                      <a:r>
                        <a:rPr sz="750" b="0">
                          <a:solidFill>
                            <a:srgbClr val="1A1A1A"/>
                          </a:solidFill>
                        </a:rPr>
                        <a:t>Claude Haiku</a:t>
                      </a:r>
                    </a:p>
                  </a:txBody>
                  <a:tcPr>
                    <a:noFill/>
                  </a:tcPr>
                </a:tc>
                <a:tc>
                  <a:txBody>
                    <a:bodyPr/>
                    <a:lstStyle/>
                    <a:p>
                      <a:pPr algn="ctr"/>
                      <a:r>
                        <a:rPr sz="750" b="0">
                          <a:solidFill>
                            <a:srgbClr val="1A1A1A"/>
                          </a:solidFill>
                        </a:rPr>
                        <a:t>Thèse contraire, conviction delta</a:t>
                      </a:r>
                    </a:p>
                  </a:txBody>
                  <a:tcPr>
                    <a:noFill/>
                  </a:tcPr>
                </a:tc>
                <a:tc>
                  <a:txBody>
                    <a:bodyPr/>
                    <a:lstStyle/>
                    <a:p>
                      <a:pPr algn="ctr"/>
                      <a:r>
                        <a:rPr sz="750" b="0">
                          <a:solidFill>
                            <a:srgbClr val="1A1A1A"/>
                          </a:solidFill>
                        </a:rPr>
                        <a:t>À la demande</a:t>
                      </a:r>
                    </a:p>
                  </a:txBody>
                  <a:tcPr>
                    <a:noFill/>
                  </a:tcPr>
                </a:tc>
              </a:tr>
              <a:tr h="223200">
                <a:tc>
                  <a:txBody>
                    <a:bodyPr/>
                    <a:lstStyle/>
                    <a:p>
                      <a:pPr algn="ctr"/>
                      <a:r>
                        <a:rPr sz="750" b="0">
                          <a:solidFill>
                            <a:srgbClr val="1A1A1A"/>
                          </a:solidFill>
                        </a:rPr>
                        <a:t>AgentQA</a:t>
                      </a:r>
                    </a:p>
                  </a:txBody>
                  <a:tcPr>
                    <a:solidFill>
                      <a:srgbClr val="F5F7FA"/>
                    </a:solidFill>
                  </a:tcPr>
                </a:tc>
                <a:tc>
                  <a:txBody>
                    <a:bodyPr/>
                    <a:lstStyle/>
                    <a:p>
                      <a:pPr algn="ctr"/>
                      <a:r>
                        <a:rPr sz="750" b="0">
                          <a:solidFill>
                            <a:srgbClr val="1A1A1A"/>
                          </a:solidFill>
                        </a:rPr>
                        <a:t>Python + LLM</a:t>
                      </a:r>
                    </a:p>
                  </a:txBody>
                  <a:tcPr>
                    <a:solidFill>
                      <a:srgbClr val="F5F7FA"/>
                    </a:solidFill>
                  </a:tcPr>
                </a:tc>
                <a:tc>
                  <a:txBody>
                    <a:bodyPr/>
                    <a:lstStyle/>
                    <a:p>
                      <a:pPr algn="ctr"/>
                      <a:r>
                        <a:rPr sz="750" b="0">
                          <a:solidFill>
                            <a:srgbClr val="1A1A1A"/>
                          </a:solidFill>
                        </a:rPr>
                        <a:t>Validation cohérence, flags erreur</a:t>
                      </a:r>
                    </a:p>
                  </a:txBody>
                  <a:tcPr>
                    <a:solidFill>
                      <a:srgbClr val="F5F7FA"/>
                    </a:solidFill>
                  </a:tcPr>
                </a:tc>
                <a:tc>
                  <a:txBody>
                    <a:bodyPr/>
                    <a:lstStyle/>
                    <a:p>
                      <a:pPr algn="ctr"/>
                      <a:r>
                        <a:rPr sz="750" b="0">
                          <a:solidFill>
                            <a:srgbClr val="1A1A1A"/>
                          </a:solidFill>
                        </a:rPr>
                        <a:t>Systématique</a:t>
                      </a:r>
                    </a:p>
                  </a:txBody>
                  <a:tcPr>
                    <a:solidFill>
                      <a:srgbClr val="F5F7FA"/>
                    </a:solidFill>
                  </a:tcPr>
                </a:tc>
              </a:tr>
            </a:tbl>
          </a:graphicData>
        </a:graphic>
      </p:graphicFrame>
      <p:sp>
        <p:nvSpPr>
          <p:cNvPr id="16" name="Rectangle 15"/>
          <p:cNvSpPr/>
          <p:nvPr/>
        </p:nvSpPr>
        <p:spPr>
          <a:xfrm>
            <a:off x="324000" y="3456000"/>
            <a:ext cx="8496000" cy="97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456000"/>
            <a:ext cx="36000" cy="972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8000" y="3491999"/>
            <a:ext cx="8316000" cy="216000"/>
          </a:xfrm>
          <a:prstGeom prst="rect">
            <a:avLst/>
          </a:prstGeom>
          <a:noFill/>
        </p:spPr>
        <p:txBody>
          <a:bodyPr wrap="square">
            <a:spAutoFit/>
          </a:bodyPr>
          <a:lstStyle/>
          <a:p>
            <a:pPr algn="l"/>
            <a:r>
              <a:rPr sz="850" b="1" i="0">
                <a:solidFill>
                  <a:srgbClr val="B06000"/>
                </a:solidFill>
              </a:rPr>
              <a:t>LIMITES &amp; PRÉCAUTIONS</a:t>
            </a:r>
          </a:p>
        </p:txBody>
      </p:sp>
      <p:sp>
        <p:nvSpPr>
          <p:cNvPr id="19" name="TextBox 18"/>
          <p:cNvSpPr txBox="1"/>
          <p:nvPr/>
        </p:nvSpPr>
        <p:spPr>
          <a:xfrm>
            <a:off x="468000" y="3726000"/>
            <a:ext cx="8316000" cy="720000"/>
          </a:xfrm>
          <a:prstGeom prst="rect">
            <a:avLst/>
          </a:prstGeom>
          <a:noFill/>
        </p:spPr>
        <p:txBody>
          <a:bodyPr wrap="square">
            <a:spAutoFit/>
          </a:bodyPr>
          <a:lstStyle/>
          <a:p>
            <a:pPr algn="l"/>
            <a:r>
              <a:rPr sz="800" b="0" i="0">
                <a:solidFill>
                  <a:srgbClr val="555555"/>
                </a:solidFill>
              </a:rPr>
              <a:t>Les données financières historiques sont issues de sources publiques et peuvent présenter des délais ou inexactitudes. Les prévisions sont basées sur le consensus et les modèles internes FinSight IA — elles ne constituent pas des engagements. La méthodologie de scoring est soumise à des biais inhérents à toute approche quantitative.</a:t>
            </a:r>
          </a:p>
        </p:txBody>
      </p:sp>
      <p:sp>
        <p:nvSpPr>
          <p:cNvPr id="20" name="Rectangle 19"/>
          <p:cNvSpPr/>
          <p:nvPr/>
        </p:nvSpPr>
        <p:spPr>
          <a:xfrm>
            <a:off x="324000" y="4428000"/>
            <a:ext cx="8496000" cy="3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96000" y="4446000"/>
            <a:ext cx="8352000" cy="324000"/>
          </a:xfrm>
          <a:prstGeom prst="rect">
            <a:avLst/>
          </a:prstGeom>
          <a:noFill/>
        </p:spPr>
        <p:txBody>
          <a:bodyPr wrap="square">
            <a:spAutoFit/>
          </a:bodyPr>
          <a:lstStyle/>
          <a:p>
            <a:pPr algn="l"/>
            <a:r>
              <a:rPr sz="700" b="0" i="0">
                <a:solidFill>
                  <a:srgbClr val="AAAAAA"/>
                </a:solidFill>
              </a:rPr>
              <a:t>Ce rapport est généré par FinSight IA v1.0. Il ne constitue pas un conseil en investissement au sens de la directive MiFID II (2014/65/UE). Document confidentiel — usage interne uniquement. Toute reproduction ou diffusion est interdite sans autorisation.</a:t>
            </a:r>
          </a:p>
        </p:txBody>
      </p:sp>
      <p:sp>
        <p:nvSpPr>
          <p:cNvPr id="22" name="Rectangle 21"/>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