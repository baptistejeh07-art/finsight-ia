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07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24.4x  ·  Croissance med. : +22.7 %  ·  Marge EBITDA med. : 46.8 %  ·  Score moyen : 78/100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Adoption de l'IA</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L'intégration accélérée de l'IA dans les produits et services des entreprises technologiques stimule la demande et les revenus récurrents.</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Transition vers le cloud</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La migration continue des entreprises vers des solutions cloud hybrides et multi-cloud soutient la croissance des revenus et des marges.</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Innovation hardware</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Les avancées en semi-conducteurs (ex : GPU de NVDA) et en dispositifs connectés (ex : wearables d'AAPL) créent de nouveaux segments de marché.</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Régulation</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Les enquêtes antitrust et les nouvelles lois sur la data (ex : DMA en Europe) pourraient limiter les marges et la croissance des géants technologiques.</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Concurrence</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L'émergence de challengers chinois (ex : Huawei, ByteDance) et de startups disruptives menace les parts de marché des acteurs établis.</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Cybersecurity</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Les failles de sécurité et les coûts croissants liés à la protection des données pèsent sur les marges et la réputation des entreprises.</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24.4x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+22.7 %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+67.3 %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Technology affiche une valorisation élevée avec un multiple EV/EBITDA médian de 24.4x, reflétant une forte croissance des revenus (+22.7%) et une rentabilité exceptionnelle (marge EBITDA de 46.8%), portée par l'adoption massive de l'IA générative et des infrastructures cloud. Les géants comme GOOGL, NVDA et AAPL bénéficient d'une dynamique de momentum à 52 semaines de +67.3%, indiquant une confiance durable des investisseurs dans leur leadership technologique.</a:t>
            </a:r>
          </a:p>
        </p:txBody>
      </p:sp>
      <p:sp>
        <p:nvSpPr>
          <p:cNvPr id="18" name="Rectangle 17"/>
          <p:cNvSpPr/>
          <p:nvPr/>
        </p:nvSpPr>
        <p:spPr>
          <a:xfrm>
            <a:off x="396000" y="2700000"/>
            <a:ext cx="4788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8000" y="2718000"/>
            <a:ext cx="4644000" cy="144000"/>
          </a:xfrm>
          <a:prstGeom prst="rect">
            <a:avLst/>
          </a:prstGeom>
          <a:noFill/>
        </p:spPr>
        <p:txBody>
          <a:bodyPr wrap="square">
            <a:spAutoFit/>
          </a:bodyPr>
          <a:lstStyle/>
          <a:p>
            <a:pPr algn="ctr"/>
            <a:r>
              <a:rPr sz="750" b="1" i="0">
                <a:solidFill>
                  <a:srgbClr val="FFFFFF"/>
                </a:solidFill>
              </a:rPr>
              <a:t>CATALYSEURS CLÉS</a:t>
            </a:r>
          </a:p>
        </p:txBody>
      </p:sp>
      <p:sp>
        <p:nvSpPr>
          <p:cNvPr id="20" name="Rectangle 19"/>
          <p:cNvSpPr/>
          <p:nvPr/>
        </p:nvSpPr>
        <p:spPr>
          <a:xfrm>
            <a:off x="486000" y="2898000"/>
            <a:ext cx="28800" cy="48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000" y="2898000"/>
            <a:ext cx="4500000" cy="162000"/>
          </a:xfrm>
          <a:prstGeom prst="rect">
            <a:avLst/>
          </a:prstGeom>
          <a:noFill/>
        </p:spPr>
        <p:txBody>
          <a:bodyPr wrap="square">
            <a:spAutoFit/>
          </a:bodyPr>
          <a:lstStyle/>
          <a:p>
            <a:pPr algn="l"/>
            <a:r>
              <a:rPr sz="800" b="1" i="0">
                <a:solidFill>
                  <a:srgbClr val="1B3A6B"/>
                </a:solidFill>
              </a:rPr>
              <a:t>Adoption de l'IA</a:t>
            </a:r>
          </a:p>
        </p:txBody>
      </p:sp>
      <p:sp>
        <p:nvSpPr>
          <p:cNvPr id="22" name="TextBox 21"/>
          <p:cNvSpPr txBox="1"/>
          <p:nvPr/>
        </p:nvSpPr>
        <p:spPr>
          <a:xfrm>
            <a:off x="594000" y="3060000"/>
            <a:ext cx="4500000" cy="378000"/>
          </a:xfrm>
          <a:prstGeom prst="rect">
            <a:avLst/>
          </a:prstGeom>
          <a:noFill/>
        </p:spPr>
        <p:txBody>
          <a:bodyPr wrap="square">
            <a:spAutoFit/>
          </a:bodyPr>
          <a:lstStyle/>
          <a:p>
            <a:pPr algn="l"/>
            <a:r>
              <a:rPr sz="750" b="0" i="0">
                <a:solidFill>
                  <a:srgbClr val="555555"/>
                </a:solidFill>
              </a:rPr>
              <a:t>L'intégration accélérée de l'IA dans les produits et services des entreprises technologiques stimule la demande et les revenus récurrents.</a:t>
            </a:r>
          </a:p>
        </p:txBody>
      </p:sp>
      <p:sp>
        <p:nvSpPr>
          <p:cNvPr id="23" name="Rectangle 22"/>
          <p:cNvSpPr/>
          <p:nvPr/>
        </p:nvSpPr>
        <p:spPr>
          <a:xfrm>
            <a:off x="486000" y="3438000"/>
            <a:ext cx="28800" cy="48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000" y="3438000"/>
            <a:ext cx="4500000" cy="162000"/>
          </a:xfrm>
          <a:prstGeom prst="rect">
            <a:avLst/>
          </a:prstGeom>
          <a:noFill/>
        </p:spPr>
        <p:txBody>
          <a:bodyPr wrap="square">
            <a:spAutoFit/>
          </a:bodyPr>
          <a:lstStyle/>
          <a:p>
            <a:pPr algn="l"/>
            <a:r>
              <a:rPr sz="800" b="1" i="0">
                <a:solidFill>
                  <a:srgbClr val="1B3A6B"/>
                </a:solidFill>
              </a:rPr>
              <a:t>Transition vers le cloud</a:t>
            </a:r>
          </a:p>
        </p:txBody>
      </p:sp>
      <p:sp>
        <p:nvSpPr>
          <p:cNvPr id="25" name="TextBox 24"/>
          <p:cNvSpPr txBox="1"/>
          <p:nvPr/>
        </p:nvSpPr>
        <p:spPr>
          <a:xfrm>
            <a:off x="594000" y="3600000"/>
            <a:ext cx="4500000" cy="378000"/>
          </a:xfrm>
          <a:prstGeom prst="rect">
            <a:avLst/>
          </a:prstGeom>
          <a:noFill/>
        </p:spPr>
        <p:txBody>
          <a:bodyPr wrap="square">
            <a:spAutoFit/>
          </a:bodyPr>
          <a:lstStyle/>
          <a:p>
            <a:pPr algn="l"/>
            <a:r>
              <a:rPr sz="750" b="0" i="0">
                <a:solidFill>
                  <a:srgbClr val="555555"/>
                </a:solidFill>
              </a:rPr>
              <a:t>La migration continue des entreprises vers des solutions cloud hybrides et multi-cloud soutient la croissance des revenus et des marges.</a:t>
            </a:r>
          </a:p>
        </p:txBody>
      </p:sp>
      <p:sp>
        <p:nvSpPr>
          <p:cNvPr id="26" name="Rectangle 25"/>
          <p:cNvSpPr/>
          <p:nvPr/>
        </p:nvSpPr>
        <p:spPr>
          <a:xfrm>
            <a:off x="486000" y="3978000"/>
            <a:ext cx="28800" cy="48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000" y="3978000"/>
            <a:ext cx="4500000" cy="162000"/>
          </a:xfrm>
          <a:prstGeom prst="rect">
            <a:avLst/>
          </a:prstGeom>
          <a:noFill/>
        </p:spPr>
        <p:txBody>
          <a:bodyPr wrap="square">
            <a:spAutoFit/>
          </a:bodyPr>
          <a:lstStyle/>
          <a:p>
            <a:pPr algn="l"/>
            <a:r>
              <a:rPr sz="800" b="1" i="0">
                <a:solidFill>
                  <a:srgbClr val="1B3A6B"/>
                </a:solidFill>
              </a:rPr>
              <a:t>Innovation hardware</a:t>
            </a:r>
          </a:p>
        </p:txBody>
      </p:sp>
      <p:sp>
        <p:nvSpPr>
          <p:cNvPr id="28" name="TextBox 27"/>
          <p:cNvSpPr txBox="1"/>
          <p:nvPr/>
        </p:nvSpPr>
        <p:spPr>
          <a:xfrm>
            <a:off x="594000" y="4140000"/>
            <a:ext cx="4500000" cy="378000"/>
          </a:xfrm>
          <a:prstGeom prst="rect">
            <a:avLst/>
          </a:prstGeom>
          <a:noFill/>
        </p:spPr>
        <p:txBody>
          <a:bodyPr wrap="square">
            <a:spAutoFit/>
          </a:bodyPr>
          <a:lstStyle/>
          <a:p>
            <a:pPr algn="l"/>
            <a:r>
              <a:rPr sz="750" b="0" i="0">
                <a:solidFill>
                  <a:srgbClr val="555555"/>
                </a:solidFill>
              </a:rPr>
              <a:t>Les avancées en semi-conducteurs (ex : GPU de NVDA) et en dispositifs connectés (ex : wearables d'AAPL) créent de nouveaux segments de marché.</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24.4x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46.8 %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+22.7 %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+67.3 %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78/100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Societes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Analysees</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23.8x</a:t>
                      </a:r>
                    </a:p>
                  </a:txBody>
                  <a:tcPr>
                    <a:noFill/>
                  </a:tcPr>
                </a:tc>
                <a:tc>
                  <a:txBody>
                    <a:bodyPr/>
                    <a:lstStyle/>
                    <a:p>
                      <a:pPr algn="ctr"/>
                      <a:r>
                        <a:rPr sz="750" b="0">
                          <a:solidFill>
                            <a:srgbClr val="1A1A1A"/>
                          </a:solidFill>
                        </a:rPr>
                        <a:t>8.9x</a:t>
                      </a:r>
                    </a:p>
                  </a:txBody>
                  <a:tcPr>
                    <a:noFill/>
                  </a:tcPr>
                </a:tc>
                <a:tc>
                  <a:txBody>
                    <a:bodyPr/>
                    <a:lstStyle/>
                    <a:p>
                      <a:pPr algn="ctr"/>
                      <a:r>
                        <a:rPr sz="750" b="0">
                          <a:solidFill>
                            <a:srgbClr val="1A1A1A"/>
                          </a:solidFill>
                        </a:rPr>
                        <a:t>28.0x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32.0x</a:t>
                      </a:r>
                    </a:p>
                  </a:txBody>
                  <a:tcPr>
                    <a:solidFill>
                      <a:srgbClr val="F5F7FA"/>
                    </a:solidFill>
                  </a:tcPr>
                </a:tc>
                <a:tc>
                  <a:txBody>
                    <a:bodyPr/>
                    <a:lstStyle/>
                    <a:p>
                      <a:pPr algn="ctr"/>
                      <a:r>
                        <a:rPr sz="750" b="0">
                          <a:solidFill>
                            <a:srgbClr val="1A1A1A"/>
                          </a:solidFill>
                        </a:rPr>
                        <a:t>19.8x</a:t>
                      </a:r>
                    </a:p>
                  </a:txBody>
                  <a:tcPr>
                    <a:solidFill>
                      <a:srgbClr val="F5F7FA"/>
                    </a:solidFill>
                  </a:tcPr>
                </a:tc>
                <a:tc>
                  <a:txBody>
                    <a:bodyPr/>
                    <a:lstStyle/>
                    <a:p>
                      <a:pPr algn="ctr"/>
                      <a:r>
                        <a:rPr sz="750" b="0">
                          <a:solidFill>
                            <a:srgbClr val="1A1A1A"/>
                          </a:solidFill>
                        </a:rPr>
                        <a:t>36.0x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Apple Inc.</a:t>
                      </a:r>
                    </a:p>
                  </a:txBody>
                  <a:tcPr>
                    <a:noFill/>
                  </a:tcPr>
                </a:tc>
                <a:tc>
                  <a:txBody>
                    <a:bodyPr/>
                    <a:lstStyle/>
                    <a:p>
                      <a:pPr algn="ctr"/>
                      <a:r>
                        <a:rPr sz="750" b="0">
                          <a:solidFill>
                            <a:srgbClr val="1A1A1A"/>
                          </a:solidFill>
                        </a:rPr>
                        <a:t>25.0x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31.8x</a:t>
                      </a:r>
                    </a:p>
                  </a:txBody>
                  <a:tcPr>
                    <a:noFill/>
                  </a:tcPr>
                </a:tc>
                <a:tc>
                  <a:txBody>
                    <a:bodyPr/>
                    <a:lstStyle/>
                    <a:p>
                      <a:pPr algn="ctr"/>
                      <a:r>
                        <a:rPr sz="750" b="0">
                          <a:solidFill>
                            <a:srgbClr val="1A1A1A"/>
                          </a:solidFill>
                        </a:rPr>
                        <a:t>47.3 %</a:t>
                      </a:r>
                    </a:p>
                  </a:txBody>
                  <a:tcPr>
                    <a:noFill/>
                  </a:tcPr>
                </a:tc>
                <a:tc>
                  <a:txBody>
                    <a:bodyPr/>
                    <a:lstStyle/>
                    <a:p>
                      <a:pPr algn="ctr"/>
                      <a:r>
                        <a:rPr sz="750" b="0">
                          <a:solidFill>
                            <a:srgbClr val="1A1A1A"/>
                          </a:solidFill>
                        </a:rPr>
                        <a:t>35.1 %</a:t>
                      </a:r>
                    </a:p>
                  </a:txBody>
                  <a:tcPr>
                    <a:noFill/>
                  </a:tcPr>
                </a:tc>
                <a:tc>
                  <a:txBody>
                    <a:bodyPr/>
                    <a:lstStyle/>
                    <a:p>
                      <a:pPr algn="ctr"/>
                      <a:r>
                        <a:rPr sz="750" b="0">
                          <a:solidFill>
                            <a:srgbClr val="1A1A1A"/>
                          </a:solidFill>
                        </a:rPr>
                        <a:t>152.0 %</a:t>
                      </a:r>
                    </a:p>
                  </a:txBody>
                  <a:tcPr>
                    <a:noFill/>
                  </a:tcPr>
                </a:tc>
              </a:tr>
              <a:tr h="198000">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14.3x</a:t>
                      </a:r>
                    </a:p>
                  </a:txBody>
                  <a:tcPr>
                    <a:solidFill>
                      <a:srgbClr val="F5F7FA"/>
                    </a:solidFill>
                  </a:tcPr>
                </a:tc>
                <a:tc>
                  <a:txBody>
                    <a:bodyPr/>
                    <a:lstStyle/>
                    <a:p>
                      <a:pPr algn="ctr"/>
                      <a:r>
                        <a:rPr sz="750" b="0">
                          <a:solidFill>
                            <a:srgbClr val="1A1A1A"/>
                          </a:solidFill>
                        </a:rPr>
                        <a:t>7.2x</a:t>
                      </a:r>
                    </a:p>
                  </a:txBody>
                  <a:tcPr>
                    <a:solidFill>
                      <a:srgbClr val="F5F7FA"/>
                    </a:solidFill>
                  </a:tcPr>
                </a:tc>
                <a:tc>
                  <a:txBody>
                    <a:bodyPr/>
                    <a:lstStyle/>
                    <a:p>
                      <a:pPr algn="ctr"/>
                      <a:r>
                        <a:rPr sz="750" b="0">
                          <a:solidFill>
                            <a:srgbClr val="1A1A1A"/>
                          </a:solidFill>
                        </a:rPr>
                        <a:t>24.2x</a:t>
                      </a:r>
                    </a:p>
                  </a:txBody>
                  <a:tcPr>
                    <a:solidFill>
                      <a:srgbClr val="F5F7FA"/>
                    </a:solidFill>
                  </a:tcPr>
                </a:tc>
                <a:tc>
                  <a:txBody>
                    <a:bodyPr/>
                    <a:lstStyle/>
                    <a:p>
                      <a:pPr algn="ctr"/>
                      <a:r>
                        <a:rPr sz="750" b="0">
                          <a:solidFill>
                            <a:srgbClr val="1A1A1A"/>
                          </a:solidFill>
                        </a:rPr>
                        <a:t>82.0 %</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30.2 %</a:t>
                      </a:r>
                    </a:p>
                  </a:txBody>
                  <a:tcPr>
                    <a:solidFill>
                      <a:srgbClr val="F5F7FA"/>
                    </a:solidFill>
                  </a:tcPr>
                </a:tc>
              </a:tr>
              <a:tr h="198000">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19.9x</a:t>
                      </a:r>
                    </a:p>
                  </a:txBody>
                  <a:tcPr>
                    <a:noFill/>
                  </a:tcPr>
                </a:tc>
                <a:tc>
                  <a:txBody>
                    <a:bodyPr/>
                    <a:lstStyle/>
                    <a:p>
                      <a:pPr algn="ctr"/>
                      <a:r>
                        <a:rPr sz="750" b="0">
                          <a:solidFill>
                            <a:srgbClr val="1A1A1A"/>
                          </a:solidFill>
                        </a:rPr>
                        <a:t>8.5x</a:t>
                      </a:r>
                    </a:p>
                  </a:txBody>
                  <a:tcPr>
                    <a:noFill/>
                  </a:tcPr>
                </a:tc>
                <a:tc>
                  <a:txBody>
                    <a:bodyPr/>
                    <a:lstStyle/>
                    <a:p>
                      <a:pPr algn="ctr"/>
                      <a:r>
                        <a:rPr sz="750" b="0">
                          <a:solidFill>
                            <a:srgbClr val="1A1A1A"/>
                          </a:solidFill>
                        </a:rPr>
                        <a:t>25.6x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57.6 %</a:t>
                      </a:r>
                    </a:p>
                  </a:txBody>
                  <a:tcPr>
                    <a:noFill/>
                  </a:tcPr>
                </a:tc>
              </a:tr>
              <a:tr h="198000">
                <a:tc>
                  <a:txBody>
                    <a:bodyPr/>
                    <a:lstStyle/>
                    <a:p>
                      <a:pPr algn="ctr"/>
                      <a:r>
                        <a:rPr sz="750" b="0">
                          <a:solidFill>
                            <a:srgbClr val="1A1A1A"/>
                          </a:solidFill>
                        </a:rPr>
                        <a:t>Microsoft Corporation</a:t>
                      </a:r>
                    </a:p>
                  </a:txBody>
                  <a:tcPr>
                    <a:solidFill>
                      <a:srgbClr val="F5F7FA"/>
                    </a:solidFill>
                  </a:tcPr>
                </a:tc>
                <a:tc>
                  <a:txBody>
                    <a:bodyPr/>
                    <a:lstStyle/>
                    <a:p>
                      <a:pPr algn="ctr"/>
                      <a:r>
                        <a:rPr sz="750" b="0">
                          <a:solidFill>
                            <a:srgbClr val="1A1A1A"/>
                          </a:solidFill>
                        </a:rPr>
                        <a:t>16.0x</a:t>
                      </a:r>
                    </a:p>
                  </a:txBody>
                  <a:tcPr>
                    <a:solidFill>
                      <a:srgbClr val="F5F7FA"/>
                    </a:solidFill>
                  </a:tcPr>
                </a:tc>
                <a:tc>
                  <a:txBody>
                    <a:bodyPr/>
                    <a:lstStyle/>
                    <a:p>
                      <a:pPr algn="ctr"/>
                      <a:r>
                        <a:rPr sz="750" b="0">
                          <a:solidFill>
                            <a:srgbClr val="1A1A1A"/>
                          </a:solidFill>
                        </a:rPr>
                        <a:t>9.2x</a:t>
                      </a:r>
                    </a:p>
                  </a:txBody>
                  <a:tcPr>
                    <a:solidFill>
                      <a:srgbClr val="F5F7FA"/>
                    </a:solidFill>
                  </a:tcPr>
                </a:tc>
                <a:tc>
                  <a:txBody>
                    <a:bodyPr/>
                    <a:lstStyle/>
                    <a:p>
                      <a:pPr algn="ctr"/>
                      <a:r>
                        <a:rPr sz="750" b="0">
                          <a:solidFill>
                            <a:srgbClr val="1A1A1A"/>
                          </a:solidFill>
                        </a:rPr>
                        <a:t>23.2x</a:t>
                      </a:r>
                    </a:p>
                  </a:txBody>
                  <a:tcPr>
                    <a:solidFill>
                      <a:srgbClr val="F5F7FA"/>
                    </a:solidFill>
                  </a:tcPr>
                </a:tc>
                <a:tc>
                  <a:txBody>
                    <a:bodyPr/>
                    <a:lstStyle/>
                    <a:p>
                      <a:pPr algn="ctr"/>
                      <a:r>
                        <a:rPr sz="750" b="0">
                          <a:solidFill>
                            <a:srgbClr val="1A1A1A"/>
                          </a:solidFill>
                        </a:rPr>
                        <a:t>68.6 %</a:t>
                      </a:r>
                    </a:p>
                  </a:txBody>
                  <a:tcPr>
                    <a:solidFill>
                      <a:srgbClr val="F5F7FA"/>
                    </a:solidFill>
                  </a:tcPr>
                </a:tc>
                <a:tc>
                  <a:txBody>
                    <a:bodyPr/>
                    <a:lstStyle/>
                    <a:p>
                      <a:pPr algn="ctr"/>
                      <a:r>
                        <a:rPr sz="750" b="0">
                          <a:solidFill>
                            <a:srgbClr val="1A1A1A"/>
                          </a:solidFill>
                        </a:rPr>
                        <a:t>57.4 %</a:t>
                      </a:r>
                    </a:p>
                  </a:txBody>
                  <a:tcPr>
                    <a:solidFill>
                      <a:srgbClr val="F5F7FA"/>
                    </a:solidFill>
                  </a:tcPr>
                </a:tc>
                <a:tc>
                  <a:txBody>
                    <a:bodyPr/>
                    <a:lstStyle/>
                    <a:p>
                      <a:pPr algn="ctr"/>
                      <a:r>
                        <a:rPr sz="750" b="0">
                          <a:solidFill>
                            <a:srgbClr val="1A1A1A"/>
                          </a:solidFill>
                        </a:rPr>
                        <a:t>34.4 %</a:t>
                      </a:r>
                    </a:p>
                  </a:txBody>
                  <a:tcPr>
                    <a:solidFill>
                      <a:srgbClr val="F5F7FA"/>
                    </a:solidFill>
                  </a:tcPr>
                </a:tc>
              </a:tr>
              <a:tr h="198000">
                <a:tc>
                  <a:txBody>
                    <a:bodyPr/>
                    <a:lstStyle/>
                    <a:p>
                      <a:pPr algn="ctr"/>
                      <a:r>
                        <a:rPr sz="750" b="0">
                          <a:solidFill>
                            <a:srgbClr val="1A1A1A"/>
                          </a:solidFill>
                        </a:rPr>
                        <a:t>Broadcom Inc.</a:t>
                      </a:r>
                    </a:p>
                  </a:txBody>
                  <a:tcPr>
                    <a:noFill/>
                  </a:tcPr>
                </a:tc>
                <a:tc>
                  <a:txBody>
                    <a:bodyPr/>
                    <a:lstStyle/>
                    <a:p>
                      <a:pPr algn="ctr"/>
                      <a:r>
                        <a:rPr sz="750" b="0">
                          <a:solidFill>
                            <a:srgbClr val="1A1A1A"/>
                          </a:solidFill>
                        </a:rPr>
                        <a:t>41.4x</a:t>
                      </a:r>
                    </a:p>
                  </a:txBody>
                  <a:tcPr>
                    <a:noFill/>
                  </a:tcPr>
                </a:tc>
                <a:tc>
                  <a:txBody>
                    <a:bodyPr/>
                    <a:lstStyle/>
                    <a:p>
                      <a:pPr algn="ctr"/>
                      <a:r>
                        <a:rPr sz="750" b="0">
                          <a:solidFill>
                            <a:srgbClr val="1A1A1A"/>
                          </a:solidFill>
                        </a:rPr>
                        <a:t>22.6x</a:t>
                      </a:r>
                    </a:p>
                  </a:txBody>
                  <a:tcPr>
                    <a:noFill/>
                  </a:tcPr>
                </a:tc>
                <a:tc>
                  <a:txBody>
                    <a:bodyPr/>
                    <a:lstStyle/>
                    <a:p>
                      <a:pPr algn="ctr"/>
                      <a:r>
                        <a:rPr sz="750" b="0">
                          <a:solidFill>
                            <a:srgbClr val="1A1A1A"/>
                          </a:solidFill>
                        </a:rPr>
                        <a:t>64.6x</a:t>
                      </a:r>
                    </a:p>
                  </a:txBody>
                  <a:tcPr>
                    <a:noFill/>
                  </a:tcPr>
                </a:tc>
                <a:tc>
                  <a:txBody>
                    <a:bodyPr/>
                    <a:lstStyle/>
                    <a:p>
                      <a:pPr algn="ctr"/>
                      <a:r>
                        <a:rPr sz="750" b="0">
                          <a:solidFill>
                            <a:srgbClr val="1A1A1A"/>
                          </a:solidFill>
                        </a:rPr>
                        <a:t>76.7 %</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33.4 %</a:t>
                      </a:r>
                    </a:p>
                  </a:txBody>
                  <a:tcPr>
                    <a:noFill/>
                  </a:tcPr>
                </a:tc>
              </a:tr>
              <a:tr h="198000">
                <a:tc>
                  <a:txBody>
                    <a:bodyPr/>
                    <a:lstStyle/>
                    <a:p>
                      <a:pPr algn="ctr"/>
                      <a:r>
                        <a:rPr sz="750" b="0">
                          <a:solidFill>
                            <a:srgbClr val="1A1A1A"/>
                          </a:solidFill>
                        </a:rPr>
                        <a:t>Advanced Micro Devices, Inc.</a:t>
                      </a:r>
                    </a:p>
                  </a:txBody>
                  <a:tcPr>
                    <a:solidFill>
                      <a:srgbClr val="F5F7FA"/>
                    </a:solidFill>
                  </a:tcPr>
                </a:tc>
                <a:tc>
                  <a:txBody>
                    <a:bodyPr/>
                    <a:lstStyle/>
                    <a:p>
                      <a:pPr algn="ctr"/>
                      <a:r>
                        <a:rPr sz="750" b="0">
                          <a:solidFill>
                            <a:srgbClr val="1A1A1A"/>
                          </a:solidFill>
                        </a:rPr>
                        <a:t>52.3x</a:t>
                      </a:r>
                    </a:p>
                  </a:txBody>
                  <a:tcPr>
                    <a:solidFill>
                      <a:srgbClr val="F5F7FA"/>
                    </a:solidFill>
                  </a:tcPr>
                </a:tc>
                <a:tc>
                  <a:txBody>
                    <a:bodyPr/>
                    <a:lstStyle/>
                    <a:p>
                      <a:pPr algn="ctr"/>
                      <a:r>
                        <a:rPr sz="750" b="0">
                          <a:solidFill>
                            <a:srgbClr val="1A1A1A"/>
                          </a:solidFill>
                        </a:rPr>
                        <a:t>10.2x</a:t>
                      </a:r>
                    </a:p>
                  </a:txBody>
                  <a:tcPr>
                    <a:solidFill>
                      <a:srgbClr val="F5F7FA"/>
                    </a:solidFill>
                  </a:tcPr>
                </a:tc>
                <a:tc>
                  <a:txBody>
                    <a:bodyPr/>
                    <a:lstStyle/>
                    <a:p>
                      <a:pPr algn="ctr"/>
                      <a:r>
                        <a:rPr sz="750" b="0">
                          <a:solidFill>
                            <a:srgbClr val="1A1A1A"/>
                          </a:solidFill>
                        </a:rPr>
                        <a:t>83.8x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24.4x</a:t>
                      </a:r>
                    </a:p>
                  </a:txBody>
                  <a:tcPr>
                    <a:noFill/>
                  </a:tcPr>
                </a:tc>
                <a:tc>
                  <a:txBody>
                    <a:bodyPr/>
                    <a:lstStyle/>
                    <a:p>
                      <a:pPr algn="ctr"/>
                      <a:r>
                        <a:rPr sz="750" b="0">
                          <a:solidFill>
                            <a:srgbClr val="1A1A1A"/>
                          </a:solidFill>
                        </a:rPr>
                        <a:t>9.0x</a:t>
                      </a:r>
                    </a:p>
                  </a:txBody>
                  <a:tcPr>
                    <a:noFill/>
                  </a:tcPr>
                </a:tc>
                <a:tc>
                  <a:txBody>
                    <a:bodyPr/>
                    <a:lstStyle/>
                    <a:p>
                      <a:pPr algn="ctr"/>
                      <a:r>
                        <a:rPr sz="750" b="0">
                          <a:solidFill>
                            <a:srgbClr val="1A1A1A"/>
                          </a:solidFill>
                        </a:rPr>
                        <a:t>29.9x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24.4x LTM. Alphabet Inc. (23.8x) se distingue comme le leader de qualite, combine a une marge EBITDA de 37.3 % et une croissance de +18.0 %. La dispersion des multiples revele l heterogeneite des profils au sein du secteur Technology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Demande IA</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L'adoption de l'IA générative dans les entreprises et les consommateurs devrait continuer à croître à un rythme soutenu.</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Expansion géographique</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Les marchés émergents (ex : Inde, Brésil) représentent un potentiel de croissance significatif pour les géants technologiques.</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Coûts énergétiques</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La hausse des coûts énergétiques pour les data centers pourrait éroder les marges, surtout dans un contexte de transition vers le cloud.</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Tensions géopolitiques</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Les restrictions commerciales (ex : sanctions contre la Chine) pourraient perturber les chaînes d'approvisionnement et les ventes.</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78/100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11.4 %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Le secteur est en phase de maturité avancée avec des signes de surchauffe, mais les fondamentaux restent solides grâce à l'innovation constante et à la demande structurelle.</a:t>
            </a:r>
          </a:p>
        </p:txBody>
      </p:sp>
      <p:sp>
        <p:nvSpPr>
          <p:cNvPr id="44" name="Rectangle 43"/>
          <p:cNvSpPr/>
          <p:nvPr/>
        </p:nvSpPr>
        <p:spPr>
          <a:xfrm>
            <a:off x="6083999" y="4031999"/>
            <a:ext cx="2628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6000" y="4086000"/>
            <a:ext cx="2844000" cy="180000"/>
          </a:xfrm>
          <a:prstGeom prst="rect">
            <a:avLst/>
          </a:prstGeom>
          <a:noFill/>
        </p:spPr>
        <p:txBody>
          <a:bodyPr wrap="square">
            <a:spAutoFit/>
          </a:bodyPr>
          <a:lstStyle/>
          <a:p>
            <a:pPr algn="ctr"/>
            <a:r>
              <a:rPr sz="700" b="1" i="0">
                <a:solidFill>
                  <a:srgbClr val="AAAAAA"/>
                </a:solidFill>
              </a:rPr>
              <a:t>CONTEXTE MACRO</a:t>
            </a:r>
          </a:p>
        </p:txBody>
      </p:sp>
      <p:sp>
        <p:nvSpPr>
          <p:cNvPr id="46" name="TextBox 45"/>
          <p:cNvSpPr txBox="1"/>
          <p:nvPr/>
        </p:nvSpPr>
        <p:spPr>
          <a:xfrm>
            <a:off x="5976000" y="4266000"/>
            <a:ext cx="2844000" cy="198000"/>
          </a:xfrm>
          <a:prstGeom prst="rect">
            <a:avLst/>
          </a:prstGeom>
          <a:noFill/>
        </p:spPr>
        <p:txBody>
          <a:bodyPr wrap="square">
            <a:spAutoFit/>
          </a:bodyPr>
          <a:lstStyle/>
          <a:p>
            <a:pPr algn="ctr"/>
            <a:r>
              <a:rPr sz="850" b="1" i="0">
                <a:solidFill>
                  <a:srgbClr val="A82020"/>
                </a:solidFill>
              </a:rPr>
              <a:t>Regime : Bear</a:t>
            </a:r>
          </a:p>
        </p:txBody>
      </p:sp>
      <p:sp>
        <p:nvSpPr>
          <p:cNvPr id="47" name="TextBox 46"/>
          <p:cNvSpPr txBox="1"/>
          <p:nvPr/>
        </p:nvSpPr>
        <p:spPr>
          <a:xfrm>
            <a:off x="5976000" y="4482000"/>
            <a:ext cx="2844000" cy="180000"/>
          </a:xfrm>
          <a:prstGeom prst="rect">
            <a:avLst/>
          </a:prstGeom>
          <a:noFill/>
        </p:spPr>
        <p:txBody>
          <a:bodyPr wrap="square">
            <a:spAutoFit/>
          </a:bodyPr>
          <a:lstStyle/>
          <a:p>
            <a:pPr algn="ctr"/>
            <a:r>
              <a:rPr sz="750" b="0" i="0">
                <a:solidFill>
                  <a:srgbClr val="555555"/>
                </a:solidFill>
              </a:rPr>
              <a:t>Rec. 6M : 34%  (Modérée)</a:t>
            </a:r>
          </a:p>
        </p:txBody>
      </p:sp>
      <p:sp>
        <p:nvSpPr>
          <p:cNvPr id="48" name="Rectangle 4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6200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1800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1800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302.845</a:t>
                      </a:r>
                    </a:p>
                  </a:txBody>
                  <a:tcPr>
                    <a:noFill/>
                  </a:tcPr>
                </a:tc>
                <a:tc>
                  <a:txBody>
                    <a:bodyPr/>
                    <a:lstStyle/>
                    <a:p>
                      <a:pPr algn="ctr"/>
                      <a:r>
                        <a:rPr sz="750" b="0">
                          <a:solidFill>
                            <a:srgbClr val="1A1A1A"/>
                          </a:solidFill>
                        </a:rPr>
                        <a:t>23.8x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+107.3 %</a:t>
                      </a:r>
                    </a:p>
                  </a:txBody>
                  <a:tcPr>
                    <a:noFill/>
                  </a:tcPr>
                </a:tc>
              </a:tr>
              <a:tr h="1800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82/100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176.22</a:t>
                      </a:r>
                    </a:p>
                  </a:txBody>
                  <a:tcPr>
                    <a:solidFill>
                      <a:srgbClr val="F5F7FA"/>
                    </a:solidFill>
                  </a:tcPr>
                </a:tc>
                <a:tc>
                  <a:txBody>
                    <a:bodyPr/>
                    <a:lstStyle/>
                    <a:p>
                      <a:pPr algn="ctr"/>
                      <a:r>
                        <a:rPr sz="750" b="0">
                          <a:solidFill>
                            <a:srgbClr val="1A1A1A"/>
                          </a:solidFill>
                        </a:rPr>
                        <a:t>32.0x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+84.5 %</a:t>
                      </a:r>
                    </a:p>
                  </a:txBody>
                  <a:tcPr>
                    <a:solidFill>
                      <a:srgbClr val="F5F7FA"/>
                    </a:solidFill>
                  </a:tcPr>
                </a:tc>
              </a:tr>
              <a:tr h="180000">
                <a:tc>
                  <a:txBody>
                    <a:bodyPr/>
                    <a:lstStyle/>
                    <a:p>
                      <a:pPr algn="ctr"/>
                      <a:r>
                        <a:rPr sz="750" b="0">
                          <a:solidFill>
                            <a:srgbClr val="1A1A1A"/>
                          </a:solidFill>
                        </a:rPr>
                        <a:t>3</a:t>
                      </a:r>
                    </a:p>
                  </a:txBody>
                  <a:tcPr>
                    <a:noFill/>
                  </a:tcPr>
                </a:tc>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79/100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251.66</a:t>
                      </a:r>
                    </a:p>
                  </a:txBody>
                  <a:tcPr>
                    <a:noFill/>
                  </a:tcPr>
                </a:tc>
                <a:tc>
                  <a:txBody>
                    <a:bodyPr/>
                    <a:lstStyle/>
                    <a:p>
                      <a:pPr algn="ctr"/>
                      <a:r>
                        <a:rPr sz="750" b="0">
                          <a:solidFill>
                            <a:srgbClr val="1A1A1A"/>
                          </a:solidFill>
                        </a:rPr>
                        <a:t>25.0x</a:t>
                      </a:r>
                    </a:p>
                  </a:txBody>
                  <a:tcPr>
                    <a:noFill/>
                  </a:tcPr>
                </a:tc>
                <a:tc>
                  <a:txBody>
                    <a:bodyPr/>
                    <a:lstStyle/>
                    <a:p>
                      <a:pPr algn="ctr"/>
                      <a:r>
                        <a:rPr sz="750" b="0">
                          <a:solidFill>
                            <a:srgbClr val="1A1A1A"/>
                          </a:solidFill>
                        </a:rPr>
                        <a:t>35.1 %</a:t>
                      </a:r>
                    </a:p>
                  </a:txBody>
                  <a:tcPr>
                    <a:noFill/>
                  </a:tcPr>
                </a:tc>
                <a:tc>
                  <a:txBody>
                    <a:bodyPr/>
                    <a:lstStyle/>
                    <a:p>
                      <a:pPr algn="ctr"/>
                      <a:r>
                        <a:rPr sz="750" b="0">
                          <a:solidFill>
                            <a:srgbClr val="1A1A1A"/>
                          </a:solidFill>
                        </a:rPr>
                        <a:t>+15.7 %</a:t>
                      </a:r>
                    </a:p>
                  </a:txBody>
                  <a:tcPr>
                    <a:noFill/>
                  </a:tcPr>
                </a:tc>
                <a:tc>
                  <a:txBody>
                    <a:bodyPr/>
                    <a:lstStyle/>
                    <a:p>
                      <a:pPr algn="ctr"/>
                      <a:r>
                        <a:rPr sz="750" b="0">
                          <a:solidFill>
                            <a:srgbClr val="1A1A1A"/>
                          </a:solidFill>
                        </a:rPr>
                        <a:t>+50.1 %</a:t>
                      </a:r>
                    </a:p>
                  </a:txBody>
                  <a:tcPr>
                    <a:noFill/>
                  </a:tcPr>
                </a:tc>
              </a:tr>
              <a:tr h="1800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77/100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568.4401</a:t>
                      </a:r>
                    </a:p>
                  </a:txBody>
                  <a:tcPr>
                    <a:solidFill>
                      <a:srgbClr val="F5F7FA"/>
                    </a:solidFill>
                  </a:tcPr>
                </a:tc>
                <a:tc>
                  <a:txBody>
                    <a:bodyPr/>
                    <a:lstStyle/>
                    <a:p>
                      <a:pPr algn="ctr"/>
                      <a:r>
                        <a:rPr sz="750" b="0">
                          <a:solidFill>
                            <a:srgbClr val="1A1A1A"/>
                          </a:solidFill>
                        </a:rPr>
                        <a:t>14.3x</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+23.8 %</a:t>
                      </a:r>
                    </a:p>
                  </a:txBody>
                  <a:tcPr>
                    <a:solidFill>
                      <a:srgbClr val="F5F7FA"/>
                    </a:solidFill>
                  </a:tcPr>
                </a:tc>
                <a:tc>
                  <a:txBody>
                    <a:bodyPr/>
                    <a:lstStyle/>
                    <a:p>
                      <a:pPr algn="ctr"/>
                      <a:r>
                        <a:rPr sz="750" b="0">
                          <a:solidFill>
                            <a:srgbClr val="1A1A1A"/>
                          </a:solidFill>
                        </a:rPr>
                        <a:t>+12.3 %</a:t>
                      </a:r>
                    </a:p>
                  </a:txBody>
                  <a:tcPr>
                    <a:solidFill>
                      <a:srgbClr val="F5F7FA"/>
                    </a:solidFill>
                  </a:tcPr>
                </a:tc>
              </a:tr>
              <a:tr h="180000">
                <a:tc>
                  <a:txBody>
                    <a:bodyPr/>
                    <a:lstStyle/>
                    <a:p>
                      <a:pPr algn="ctr"/>
                      <a:r>
                        <a:rPr sz="750" b="0">
                          <a:solidFill>
                            <a:srgbClr val="1A1A1A"/>
                          </a:solidFill>
                        </a:rPr>
                        <a:t>5</a:t>
                      </a:r>
                    </a:p>
                  </a:txBody>
                  <a:tcPr>
                    <a:noFill/>
                  </a:tcPr>
                </a:tc>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77/100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142.655</a:t>
                      </a:r>
                    </a:p>
                  </a:txBody>
                  <a:tcPr>
                    <a:noFill/>
                  </a:tcPr>
                </a:tc>
                <a:tc>
                  <a:txBody>
                    <a:bodyPr/>
                    <a:lstStyle/>
                    <a:p>
                      <a:pPr algn="ctr"/>
                      <a:r>
                        <a:rPr sz="750" b="0">
                          <a:solidFill>
                            <a:srgbClr val="1A1A1A"/>
                          </a:solidFill>
                        </a:rPr>
                        <a:t>19.9x</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+21.7 %</a:t>
                      </a:r>
                    </a:p>
                  </a:txBody>
                  <a:tcPr>
                    <a:noFill/>
                  </a:tcPr>
                </a:tc>
                <a:tc>
                  <a:txBody>
                    <a:bodyPr/>
                    <a:lstStyle/>
                    <a:p>
                      <a:pPr algn="ctr"/>
                      <a:r>
                        <a:rPr sz="750" b="0">
                          <a:solidFill>
                            <a:srgbClr val="1A1A1A"/>
                          </a:solidFill>
                        </a:rPr>
                        <a:t>+16.9 %</a:t>
                      </a:r>
                    </a:p>
                  </a:txBody>
                  <a:tcPr>
                    <a:noFill/>
                  </a:tcPr>
                </a:tc>
              </a:tr>
              <a:tr h="1800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MSFT</a:t>
                      </a:r>
                    </a:p>
                  </a:txBody>
                  <a:tcPr>
                    <a:solidFill>
                      <a:srgbClr val="F5F7FA"/>
                    </a:solidFill>
                  </a:tcPr>
                </a:tc>
                <a:tc>
                  <a:txBody>
                    <a:bodyPr/>
                    <a:lstStyle/>
                    <a:p>
                      <a:pPr algn="ctr"/>
                      <a:r>
                        <a:rPr sz="750" b="0">
                          <a:solidFill>
                            <a:srgbClr val="1A1A1A"/>
                          </a:solidFill>
                        </a:rPr>
                        <a:t>Microsoft Corporation</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370.615</a:t>
                      </a:r>
                    </a:p>
                  </a:txBody>
                  <a:tcPr>
                    <a:solidFill>
                      <a:srgbClr val="F5F7FA"/>
                    </a:solidFill>
                  </a:tcPr>
                </a:tc>
                <a:tc>
                  <a:txBody>
                    <a:bodyPr/>
                    <a:lstStyle/>
                    <a:p>
                      <a:pPr algn="ctr"/>
                      <a:r>
                        <a:rPr sz="750" b="0">
                          <a:solidFill>
                            <a:srgbClr val="1A1A1A"/>
                          </a:solidFill>
                        </a:rPr>
                        <a:t>16.0x</a:t>
                      </a:r>
                    </a:p>
                  </a:txBody>
                  <a:tcPr>
                    <a:solidFill>
                      <a:srgbClr val="F5F7FA"/>
                    </a:solidFill>
                  </a:tcPr>
                </a:tc>
                <a:tc>
                  <a:txBody>
                    <a:bodyPr/>
                    <a:lstStyle/>
                    <a:p>
                      <a:pPr algn="ctr"/>
                      <a:r>
                        <a:rPr sz="750" b="0">
                          <a:solidFill>
                            <a:srgbClr val="1A1A1A"/>
                          </a:solidFill>
                        </a:rPr>
                        <a:t>57.4 %</a:t>
                      </a:r>
                    </a:p>
                  </a:txBody>
                  <a:tcPr>
                    <a:solidFill>
                      <a:srgbClr val="F5F7FA"/>
                    </a:solidFill>
                  </a:tcPr>
                </a:tc>
                <a:tc>
                  <a:txBody>
                    <a:bodyPr/>
                    <a:lstStyle/>
                    <a:p>
                      <a:pPr algn="ctr"/>
                      <a:r>
                        <a:rPr sz="750" b="0">
                          <a:solidFill>
                            <a:srgbClr val="1A1A1A"/>
                          </a:solidFill>
                        </a:rPr>
                        <a:t>+16.7 %</a:t>
                      </a:r>
                    </a:p>
                  </a:txBody>
                  <a:tcPr>
                    <a:solidFill>
                      <a:srgbClr val="F5F7FA"/>
                    </a:solidFill>
                  </a:tcPr>
                </a:tc>
                <a:tc>
                  <a:txBody>
                    <a:bodyPr/>
                    <a:lstStyle/>
                    <a:p>
                      <a:pPr algn="ctr"/>
                      <a:r>
                        <a:rPr sz="750" b="0">
                          <a:solidFill>
                            <a:srgbClr val="1A1A1A"/>
                          </a:solidFill>
                        </a:rPr>
                        <a:t>+5.2 %</a:t>
                      </a:r>
                    </a:p>
                  </a:txBody>
                  <a:tcPr>
                    <a:solidFill>
                      <a:srgbClr val="F5F7FA"/>
                    </a:solidFill>
                  </a:tcPr>
                </a:tc>
              </a:tr>
              <a:tr h="180000">
                <a:tc>
                  <a:txBody>
                    <a:bodyPr/>
                    <a:lstStyle/>
                    <a:p>
                      <a:pPr algn="ctr"/>
                      <a:r>
                        <a:rPr sz="750" b="0">
                          <a:solidFill>
                            <a:srgbClr val="1A1A1A"/>
                          </a:solidFill>
                        </a:rPr>
                        <a:t>7</a:t>
                      </a:r>
                    </a:p>
                  </a:txBody>
                  <a:tcPr>
                    <a:noFill/>
                  </a:tcPr>
                </a:tc>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331.21</a:t>
                      </a:r>
                    </a:p>
                  </a:txBody>
                  <a:tcPr>
                    <a:noFill/>
                  </a:tcPr>
                </a:tc>
                <a:tc>
                  <a:txBody>
                    <a:bodyPr/>
                    <a:lstStyle/>
                    <a:p>
                      <a:pPr algn="ctr"/>
                      <a:r>
                        <a:rPr sz="750" b="0">
                          <a:solidFill>
                            <a:srgbClr val="1A1A1A"/>
                          </a:solidFill>
                        </a:rPr>
                        <a:t>41.4x</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+29.5 %</a:t>
                      </a:r>
                    </a:p>
                  </a:txBody>
                  <a:tcPr>
                    <a:noFill/>
                  </a:tcPr>
                </a:tc>
                <a:tc>
                  <a:txBody>
                    <a:bodyPr/>
                    <a:lstStyle/>
                    <a:p>
                      <a:pPr algn="ctr"/>
                      <a:r>
                        <a:rPr sz="750" b="0">
                          <a:solidFill>
                            <a:srgbClr val="1A1A1A"/>
                          </a:solidFill>
                        </a:rPr>
                        <a:t>+101.5 %</a:t>
                      </a:r>
                    </a:p>
                  </a:txBody>
                  <a:tcPr>
                    <a:noFill/>
                  </a:tcPr>
                </a:tc>
              </a:tr>
              <a:tr h="1800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218.69</a:t>
                      </a:r>
                    </a:p>
                  </a:txBody>
                  <a:tcPr>
                    <a:solidFill>
                      <a:srgbClr val="F5F7FA"/>
                    </a:solidFill>
                  </a:tcPr>
                </a:tc>
                <a:tc>
                  <a:txBody>
                    <a:bodyPr/>
                    <a:lstStyle/>
                    <a:p>
                      <a:pPr algn="ctr"/>
                      <a:r>
                        <a:rPr sz="750" b="0">
                          <a:solidFill>
                            <a:srgbClr val="1A1A1A"/>
                          </a:solidFill>
                        </a:rPr>
                        <a:t>52.3x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+181.5 %</a:t>
                      </a:r>
                    </a:p>
                  </a:txBody>
                  <a:tcPr>
                    <a:solidFill>
                      <a:srgbClr val="F5F7FA"/>
                    </a:solidFill>
                  </a:tcPr>
                </a:tc>
              </a:tr>
            </a:tbl>
          </a:graphicData>
        </a:graphic>
      </p:graphicFrame>
      <p:sp>
        <p:nvSpPr>
          <p:cNvPr id="16" name="Rectangle 15"/>
          <p:cNvSpPr/>
          <p:nvPr/>
        </p:nvSpPr>
        <p:spPr>
          <a:xfrm>
            <a:off x="324000" y="27720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772000"/>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8260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078000"/>
            <a:ext cx="8280000" cy="12600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86/100)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Top 15 par score FinSight</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NVDA domine le quadrant Premium Justifie — valorisation élevée (32.0x) soutenue par 71.1 % de marge brute.
MSFT se positionne en zone Opportunite — EV/EBITDA de 16.0x sous la médiane sectorielle de 24.4x.
La médiane sectorielle ressort a 24.4x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82/100</a:t>
                      </a:r>
                    </a:p>
                  </a:txBody>
                  <a:tcPr>
                    <a:solidFill>
                      <a:srgbClr val="F5F7FA"/>
                    </a:solidFill>
                  </a:tcPr>
                </a:tc>
                <a:tc>
                  <a:txBody>
                    <a:bodyPr/>
                    <a:lstStyle/>
                    <a:p>
                      <a:pPr algn="ctr"/>
                      <a:r>
                        <a:rPr sz="750" b="0">
                          <a:solidFill>
                            <a:srgbClr val="1A1A1A"/>
                          </a:solidFill>
                        </a:rPr>
                        <a:t>7</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24</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79/100</a:t>
                      </a:r>
                    </a:p>
                  </a:txBody>
                  <a:tcPr>
                    <a:noFill/>
                  </a:tcPr>
                </a:tc>
                <a:tc>
                  <a:txBody>
                    <a:bodyPr/>
                    <a:lstStyle/>
                    <a:p>
                      <a:pPr algn="ctr"/>
                      <a:r>
                        <a:rPr sz="750" b="0">
                          <a:solidFill>
                            <a:srgbClr val="1A1A1A"/>
                          </a:solidFill>
                        </a:rPr>
                        <a:t>9</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19</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77/100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77/100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14</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MSFT</a:t>
                      </a:r>
                    </a:p>
                  </a:txBody>
                  <a:tcPr>
                    <a:solidFill>
                      <a:srgbClr val="F5F7FA"/>
                    </a:solidFill>
                  </a:tcPr>
                </a:tc>
                <a:tc>
                  <a:txBody>
                    <a:bodyPr/>
                    <a:lstStyle/>
                    <a:p>
                      <a:pPr algn="ctr"/>
                      <a:r>
                        <a:rPr sz="750" b="0">
                          <a:solidFill>
                            <a:srgbClr val="1A1A1A"/>
                          </a:solidFill>
                        </a:rPr>
                        <a:t>Microsoft Corporation</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0</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29664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664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2984400"/>
            <a:ext cx="8352000" cy="216000"/>
          </a:xfrm>
          <a:prstGeom prst="rect">
            <a:avLst/>
          </a:prstGeom>
          <a:noFill/>
        </p:spPr>
        <p:txBody>
          <a:bodyPr wrap="square">
            <a:spAutoFit/>
          </a:bodyPr>
          <a:lstStyle/>
          <a:p>
            <a:pPr algn="l"/>
            <a:r>
              <a:rPr sz="750" b="1" i="0">
                <a:solidFill>
                  <a:srgbClr val="FFFFFF"/>
                </a:solidFill>
              </a:rPr>
              <a:t>SYNTHESE SCORES  ·  Score &gt;= 75 = fort  ·  50-74 = moyen  ·  &lt; 50 = faible  ·  Ponderations : Value / Growth / Quality / Momentum = 25 % chacun</a:t>
            </a:r>
          </a:p>
        </p:txBody>
      </p:sp>
      <p:sp>
        <p:nvSpPr>
          <p:cNvPr id="19" name="TextBox 18"/>
          <p:cNvSpPr txBox="1"/>
          <p:nvPr/>
        </p:nvSpPr>
        <p:spPr>
          <a:xfrm>
            <a:off x="396000" y="3272400"/>
            <a:ext cx="8352000" cy="1260000"/>
          </a:xfrm>
          <a:prstGeom prst="rect">
            <a:avLst/>
          </a:prstGeom>
          <a:noFill/>
        </p:spPr>
        <p:txBody>
          <a:bodyPr wrap="square">
            <a:spAutoFit/>
          </a:bodyPr>
          <a:lstStyle/>
          <a:p>
            <a:pPr algn="l"/>
            <a:r>
              <a:rPr sz="850" b="0" i="0">
                <a:solidFill>
                  <a:srgbClr val="555555"/>
                </a:solidFill>
              </a:rPr>
              <a:t>Alphabet Inc. presente le profil le plus equilibre du secteur (86/100) avec des scores Value=11, Growth=25, Quality=25, Momentum=25. La dispersion des scores entre les 8 societes reflete des profils heterogenes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363</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23.8x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L'intégration accélérée de l'IA dans les produits et services des entreprises technologiques stimule la demande et les revenus récurrents.</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Les enquêtes antitrust et les nouvelles lois sur la data (ex : DMA en Europe) pourraient limiter les marges et la croissance des géants technologiques.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211</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32.0x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La migration continue des entreprises vers des solutions cloud hybrides et multi-cloud soutient la croissance des revenus et des marges.</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L'émergence de challengers chinois (ex : Huawei, ByteDance) et de startups disruptives menace les parts de marché des acteurs établis.</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AAPL</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Apple Inc.</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302</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25.0x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35.1 %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Les avancées en semi-conducteurs (ex : GPU de NVDA) et en dispositifs connectés (ex : wearables d'AAPL) créent de nouveaux segments de marché.</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Les failles de sécurité et les coûts croissants liés à la protection des données pèsent sur les marges et la réputation des entreprises.</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(24.4x)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3 acteur(s) se detachent nettement du reste du secteur, creant une prime de valorisation significative vs la médiane de 24.4x.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6848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872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872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302.845</a:t>
                      </a:r>
                    </a:p>
                  </a:txBody>
                  <a:tcPr>
                    <a:noFill/>
                  </a:tcPr>
                </a:tc>
                <a:tc>
                  <a:txBody>
                    <a:bodyPr/>
                    <a:lstStyle/>
                    <a:p>
                      <a:pPr algn="ctr"/>
                      <a:r>
                        <a:rPr sz="750" b="0">
                          <a:solidFill>
                            <a:srgbClr val="1A1A1A"/>
                          </a:solidFill>
                        </a:rPr>
                        <a:t>348.3</a:t>
                      </a:r>
                    </a:p>
                  </a:txBody>
                  <a:tcPr>
                    <a:noFill/>
                  </a:tcPr>
                </a:tc>
                <a:tc>
                  <a:txBody>
                    <a:bodyPr/>
                    <a:lstStyle/>
                    <a:p>
                      <a:pPr algn="ctr"/>
                      <a:r>
                        <a:rPr sz="750" b="0">
                          <a:solidFill>
                            <a:srgbClr val="1A1A1A"/>
                          </a:solidFill>
                        </a:rPr>
                        <a:t>&lt; 287.7</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176.22</a:t>
                      </a:r>
                    </a:p>
                  </a:txBody>
                  <a:tcPr>
                    <a:solidFill>
                      <a:srgbClr val="F5F7FA"/>
                    </a:solidFill>
                  </a:tcPr>
                </a:tc>
                <a:tc>
                  <a:txBody>
                    <a:bodyPr/>
                    <a:lstStyle/>
                    <a:p>
                      <a:pPr algn="ctr"/>
                      <a:r>
                        <a:rPr sz="750" b="0">
                          <a:solidFill>
                            <a:srgbClr val="1A1A1A"/>
                          </a:solidFill>
                        </a:rPr>
                        <a:t>202.7</a:t>
                      </a:r>
                    </a:p>
                  </a:txBody>
                  <a:tcPr>
                    <a:solidFill>
                      <a:srgbClr val="F5F7FA"/>
                    </a:solidFill>
                  </a:tcPr>
                </a:tc>
                <a:tc>
                  <a:txBody>
                    <a:bodyPr/>
                    <a:lstStyle/>
                    <a:p>
                      <a:pPr algn="ctr"/>
                      <a:r>
                        <a:rPr sz="750" b="0">
                          <a:solidFill>
                            <a:srgbClr val="1A1A1A"/>
                          </a:solidFill>
                        </a:rPr>
                        <a:t>&lt; 167.4</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251.66</a:t>
                      </a:r>
                    </a:p>
                  </a:txBody>
                  <a:tcPr>
                    <a:noFill/>
                  </a:tcPr>
                </a:tc>
                <a:tc>
                  <a:txBody>
                    <a:bodyPr/>
                    <a:lstStyle/>
                    <a:p>
                      <a:pPr algn="ctr"/>
                      <a:r>
                        <a:rPr sz="750" b="0">
                          <a:solidFill>
                            <a:srgbClr val="1A1A1A"/>
                          </a:solidFill>
                        </a:rPr>
                        <a:t>289.4</a:t>
                      </a:r>
                    </a:p>
                  </a:txBody>
                  <a:tcPr>
                    <a:noFill/>
                  </a:tcPr>
                </a:tc>
                <a:tc>
                  <a:txBody>
                    <a:bodyPr/>
                    <a:lstStyle/>
                    <a:p>
                      <a:pPr algn="ctr"/>
                      <a:r>
                        <a:rPr sz="750" b="0">
                          <a:solidFill>
                            <a:srgbClr val="1A1A1A"/>
                          </a:solidFill>
                        </a:rPr>
                        <a:t>&lt; 239.1</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568.4401</a:t>
                      </a:r>
                    </a:p>
                  </a:txBody>
                  <a:tcPr>
                    <a:solidFill>
                      <a:srgbClr val="F5F7FA"/>
                    </a:solidFill>
                  </a:tcPr>
                </a:tc>
                <a:tc>
                  <a:txBody>
                    <a:bodyPr/>
                    <a:lstStyle/>
                    <a:p>
                      <a:pPr algn="ctr"/>
                      <a:r>
                        <a:rPr sz="750" b="0">
                          <a:solidFill>
                            <a:srgbClr val="1A1A1A"/>
                          </a:solidFill>
                        </a:rPr>
                        <a:t>653.7</a:t>
                      </a:r>
                    </a:p>
                  </a:txBody>
                  <a:tcPr>
                    <a:solidFill>
                      <a:srgbClr val="F5F7FA"/>
                    </a:solidFill>
                  </a:tcPr>
                </a:tc>
                <a:tc>
                  <a:txBody>
                    <a:bodyPr/>
                    <a:lstStyle/>
                    <a:p>
                      <a:pPr algn="ctr"/>
                      <a:r>
                        <a:rPr sz="750" b="0">
                          <a:solidFill>
                            <a:srgbClr val="1A1A1A"/>
                          </a:solidFill>
                        </a:rPr>
                        <a:t>&lt; 540.0</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142.655</a:t>
                      </a:r>
                    </a:p>
                  </a:txBody>
                  <a:tcPr>
                    <a:noFill/>
                  </a:tcPr>
                </a:tc>
                <a:tc>
                  <a:txBody>
                    <a:bodyPr/>
                    <a:lstStyle/>
                    <a:p>
                      <a:pPr algn="ctr"/>
                      <a:r>
                        <a:rPr sz="750" b="0">
                          <a:solidFill>
                            <a:srgbClr val="1A1A1A"/>
                          </a:solidFill>
                        </a:rPr>
                        <a:t>164.1</a:t>
                      </a:r>
                    </a:p>
                  </a:txBody>
                  <a:tcPr>
                    <a:noFill/>
                  </a:tcPr>
                </a:tc>
                <a:tc>
                  <a:txBody>
                    <a:bodyPr/>
                    <a:lstStyle/>
                    <a:p>
                      <a:pPr algn="ctr"/>
                      <a:r>
                        <a:rPr sz="750" b="0">
                          <a:solidFill>
                            <a:srgbClr val="1A1A1A"/>
                          </a:solidFill>
                        </a:rPr>
                        <a:t>&lt; 135.5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MSFT</a:t>
                      </a:r>
                    </a:p>
                  </a:txBody>
                  <a:tcPr>
                    <a:solidFill>
                      <a:srgbClr val="F5F7FA"/>
                    </a:solidFill>
                  </a:tcPr>
                </a:tc>
                <a:tc>
                  <a:txBody>
                    <a:bodyPr/>
                    <a:lstStyle/>
                    <a:p>
                      <a:pPr algn="ctr"/>
                      <a:r>
                        <a:rPr sz="750" b="0">
                          <a:solidFill>
                            <a:srgbClr val="1A1A1A"/>
                          </a:solidFill>
                        </a:rPr>
                        <a:t>Microsoft Corporation</a:t>
                      </a:r>
                    </a:p>
                  </a:txBody>
                  <a:tcPr>
                    <a:solidFill>
                      <a:srgbClr val="F5F7FA"/>
                    </a:solidFill>
                  </a:tcPr>
                </a:tc>
                <a:tc>
                  <a:txBody>
                    <a:bodyPr/>
                    <a:lstStyle/>
                    <a:p>
                      <a:pPr algn="ctr"/>
                      <a:r>
                        <a:rPr sz="750" b="0">
                          <a:solidFill>
                            <a:srgbClr val="1A1A1A"/>
                          </a:solidFill>
                        </a:rPr>
                        <a:t>370.615</a:t>
                      </a:r>
                    </a:p>
                  </a:txBody>
                  <a:tcPr>
                    <a:solidFill>
                      <a:srgbClr val="F5F7FA"/>
                    </a:solidFill>
                  </a:tcPr>
                </a:tc>
                <a:tc>
                  <a:txBody>
                    <a:bodyPr/>
                    <a:lstStyle/>
                    <a:p>
                      <a:pPr algn="ctr"/>
                      <a:r>
                        <a:rPr sz="750" b="0">
                          <a:solidFill>
                            <a:srgbClr val="1A1A1A"/>
                          </a:solidFill>
                        </a:rPr>
                        <a:t>426.2</a:t>
                      </a:r>
                    </a:p>
                  </a:txBody>
                  <a:tcPr>
                    <a:solidFill>
                      <a:srgbClr val="F5F7FA"/>
                    </a:solidFill>
                  </a:tcPr>
                </a:tc>
                <a:tc>
                  <a:txBody>
                    <a:bodyPr/>
                    <a:lstStyle/>
                    <a:p>
                      <a:pPr algn="ctr"/>
                      <a:r>
                        <a:rPr sz="750" b="0">
                          <a:solidFill>
                            <a:srgbClr val="1A1A1A"/>
                          </a:solidFill>
                        </a:rPr>
                        <a:t>&lt; 352.1</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331.21</a:t>
                      </a:r>
                    </a:p>
                  </a:txBody>
                  <a:tcPr>
                    <a:noFill/>
                  </a:tcPr>
                </a:tc>
                <a:tc>
                  <a:txBody>
                    <a:bodyPr/>
                    <a:lstStyle/>
                    <a:p>
                      <a:pPr algn="ctr"/>
                      <a:r>
                        <a:rPr sz="750" b="0">
                          <a:solidFill>
                            <a:srgbClr val="1A1A1A"/>
                          </a:solidFill>
                        </a:rPr>
                        <a:t>380.9</a:t>
                      </a:r>
                    </a:p>
                  </a:txBody>
                  <a:tcPr>
                    <a:noFill/>
                  </a:tcPr>
                </a:tc>
                <a:tc>
                  <a:txBody>
                    <a:bodyPr/>
                    <a:lstStyle/>
                    <a:p>
                      <a:pPr algn="ctr"/>
                      <a:r>
                        <a:rPr sz="750" b="0">
                          <a:solidFill>
                            <a:srgbClr val="1A1A1A"/>
                          </a:solidFill>
                        </a:rPr>
                        <a:t>&lt; 314.6</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a:t>
                      </a:r>
                    </a:p>
                  </a:txBody>
                  <a:tcPr>
                    <a:solidFill>
                      <a:srgbClr val="F5F7FA"/>
                    </a:solidFill>
                  </a:tcPr>
                </a:tc>
                <a:tc>
                  <a:txBody>
                    <a:bodyPr/>
                    <a:lstStyle/>
                    <a:p>
                      <a:pPr algn="ctr"/>
                      <a:r>
                        <a:rPr sz="750" b="0">
                          <a:solidFill>
                            <a:srgbClr val="1A1A1A"/>
                          </a:solidFill>
                        </a:rPr>
                        <a:t>218.69</a:t>
                      </a:r>
                    </a:p>
                  </a:txBody>
                  <a:tcPr>
                    <a:solidFill>
                      <a:srgbClr val="F5F7FA"/>
                    </a:solidFill>
                  </a:tcPr>
                </a:tc>
                <a:tc>
                  <a:txBody>
                    <a:bodyPr/>
                    <a:lstStyle/>
                    <a:p>
                      <a:pPr algn="ctr"/>
                      <a:r>
                        <a:rPr sz="750" b="0">
                          <a:solidFill>
                            <a:srgbClr val="1A1A1A"/>
                          </a:solidFill>
                        </a:rPr>
                        <a:t>251.5</a:t>
                      </a:r>
                    </a:p>
                  </a:txBody>
                  <a:tcPr>
                    <a:solidFill>
                      <a:srgbClr val="F5F7FA"/>
                    </a:solidFill>
                  </a:tcPr>
                </a:tc>
                <a:tc>
                  <a:txBody>
                    <a:bodyPr/>
                    <a:lstStyle/>
                    <a:p>
                      <a:pPr algn="ctr"/>
                      <a:r>
                        <a:rPr sz="750" b="0">
                          <a:solidFill>
                            <a:srgbClr val="1A1A1A"/>
                          </a:solidFill>
                        </a:rPr>
                        <a:t>&lt; 207.8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052800"/>
            <a:ext cx="8496000" cy="144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052800"/>
            <a:ext cx="36000" cy="144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0816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268800"/>
            <a:ext cx="8316000" cy="1206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Régulation</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Les enquêtes antitrust et les nouvelles lois sur la data (ex : DMA en Europe) pourraient limiter les marges et la croissance des géants technologiques.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Concurrence</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L'émergence de challengers chinois (ex : Huawei, ByteDance) et de startups disruptives menace les parts de marché des acteurs établis.</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Cybersecurity</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Les failles de sécurité et les coûts croissants liés à la protection des données pèsent sur les marges et la réputation des entreprises.</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confirmee — 2 trimestres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63 — degradation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Revision baissiere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Reglementaire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08000"/>
            <a:ext cx="8496000" cy="198000"/>
          </a:xfrm>
          <a:prstGeom prst="rect">
            <a:avLst/>
          </a:prstGeom>
          <a:noFill/>
        </p:spPr>
        <p:txBody>
          <a:bodyPr wrap="square">
            <a:spAutoFit/>
          </a:bodyPr>
          <a:lstStyle/>
          <a:p>
            <a:pPr algn="l"/>
            <a:r>
              <a:rPr sz="850" b="1" i="0">
                <a:solidFill>
                  <a:srgbClr val="1B3A6B"/>
                </a:solidFill>
              </a:rPr>
              <a:t>Sante financiere agregee du secteur</a:t>
            </a:r>
          </a:p>
        </p:txBody>
      </p:sp>
      <p:sp>
        <p:nvSpPr>
          <p:cNvPr id="30" name="Rectangle 29"/>
          <p:cNvSpPr/>
          <p:nvPr/>
        </p:nvSpPr>
        <p:spPr>
          <a:xfrm>
            <a:off x="324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24000"/>
            <a:ext cx="36000" cy="79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3960000"/>
            <a:ext cx="2538000" cy="360000"/>
          </a:xfrm>
          <a:prstGeom prst="rect">
            <a:avLst/>
          </a:prstGeom>
          <a:noFill/>
        </p:spPr>
        <p:txBody>
          <a:bodyPr wrap="square">
            <a:spAutoFit/>
          </a:bodyPr>
          <a:lstStyle/>
          <a:p>
            <a:pPr algn="l"/>
            <a:r>
              <a:rPr sz="2200" b="1" i="0">
                <a:solidFill>
                  <a:srgbClr val="1B3A6B"/>
                </a:solidFill>
              </a:rPr>
              <a:t>N/D</a:t>
            </a:r>
          </a:p>
        </p:txBody>
      </p:sp>
      <p:sp>
        <p:nvSpPr>
          <p:cNvPr id="33" name="TextBox 32"/>
          <p:cNvSpPr txBox="1"/>
          <p:nvPr/>
        </p:nvSpPr>
        <p:spPr>
          <a:xfrm>
            <a:off x="413999" y="4338000"/>
            <a:ext cx="2538000" cy="162000"/>
          </a:xfrm>
          <a:prstGeom prst="rect">
            <a:avLst/>
          </a:prstGeom>
          <a:noFill/>
        </p:spPr>
        <p:txBody>
          <a:bodyPr wrap="square">
            <a:spAutoFit/>
          </a:bodyPr>
          <a:lstStyle/>
          <a:p>
            <a:pPr algn="l"/>
            <a:r>
              <a:rPr sz="850" b="0" i="0">
                <a:solidFill>
                  <a:srgbClr val="555555"/>
                </a:solidFill>
              </a:rPr>
              <a:t>ND/EBITDA median</a:t>
            </a:r>
          </a:p>
        </p:txBody>
      </p:sp>
      <p:sp>
        <p:nvSpPr>
          <p:cNvPr id="34" name="TextBox 33"/>
          <p:cNvSpPr txBox="1"/>
          <p:nvPr/>
        </p:nvSpPr>
        <p:spPr>
          <a:xfrm>
            <a:off x="413999" y="4500000"/>
            <a:ext cx="2538000" cy="144000"/>
          </a:xfrm>
          <a:prstGeom prst="rect">
            <a:avLst/>
          </a:prstGeom>
          <a:noFill/>
        </p:spPr>
        <p:txBody>
          <a:bodyPr wrap="square">
            <a:spAutoFit/>
          </a:bodyPr>
          <a:lstStyle/>
          <a:p>
            <a:pPr algn="l"/>
            <a:r>
              <a:rPr sz="800" b="0" i="0">
                <a:solidFill>
                  <a:srgbClr val="AAAAAA"/>
                </a:solidFill>
              </a:rPr>
              <a:t>levier sectoriel</a:t>
            </a:r>
          </a:p>
        </p:txBody>
      </p:sp>
      <p:sp>
        <p:nvSpPr>
          <p:cNvPr id="35" name="Rectangle 34"/>
          <p:cNvSpPr/>
          <p:nvPr/>
        </p:nvSpPr>
        <p:spPr>
          <a:xfrm>
            <a:off x="3276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24000"/>
            <a:ext cx="36000" cy="79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3960000"/>
            <a:ext cx="2538000" cy="360000"/>
          </a:xfrm>
          <a:prstGeom prst="rect">
            <a:avLst/>
          </a:prstGeom>
          <a:noFill/>
        </p:spPr>
        <p:txBody>
          <a:bodyPr wrap="square">
            <a:spAutoFit/>
          </a:bodyPr>
          <a:lstStyle/>
          <a:p>
            <a:pPr algn="l"/>
            <a:r>
              <a:rPr sz="2200" b="1" i="0">
                <a:solidFill>
                  <a:srgbClr val="1B3A6B"/>
                </a:solidFill>
              </a:rPr>
              <a:t>1.5%</a:t>
            </a:r>
          </a:p>
        </p:txBody>
      </p:sp>
      <p:sp>
        <p:nvSpPr>
          <p:cNvPr id="38" name="TextBox 37"/>
          <p:cNvSpPr txBox="1"/>
          <p:nvPr/>
        </p:nvSpPr>
        <p:spPr>
          <a:xfrm>
            <a:off x="3366000" y="4338000"/>
            <a:ext cx="2538000" cy="162000"/>
          </a:xfrm>
          <a:prstGeom prst="rect">
            <a:avLst/>
          </a:prstGeom>
          <a:noFill/>
        </p:spPr>
        <p:txBody>
          <a:bodyPr wrap="square">
            <a:spAutoFit/>
          </a:bodyPr>
          <a:lstStyle/>
          <a:p>
            <a:pPr algn="l"/>
            <a:r>
              <a:rPr sz="850" b="0" i="0">
                <a:solidFill>
                  <a:srgbClr val="555555"/>
                </a:solidFill>
              </a:rPr>
              <a:t>FCF Yield median</a:t>
            </a:r>
          </a:p>
        </p:txBody>
      </p:sp>
      <p:sp>
        <p:nvSpPr>
          <p:cNvPr id="39" name="TextBox 38"/>
          <p:cNvSpPr txBox="1"/>
          <p:nvPr/>
        </p:nvSpPr>
        <p:spPr>
          <a:xfrm>
            <a:off x="3366000" y="4500000"/>
            <a:ext cx="2538000" cy="144000"/>
          </a:xfrm>
          <a:prstGeom prst="rect">
            <a:avLst/>
          </a:prstGeom>
          <a:noFill/>
        </p:spPr>
        <p:txBody>
          <a:bodyPr wrap="square">
            <a:spAutoFit/>
          </a:bodyPr>
          <a:lstStyle/>
          <a:p>
            <a:pPr algn="l"/>
            <a:r>
              <a:rPr sz="800" b="0" i="0">
                <a:solidFill>
                  <a:srgbClr val="AAAAAA"/>
                </a:solidFill>
              </a:rPr>
              <a:t>generation cash</a:t>
            </a:r>
          </a:p>
        </p:txBody>
      </p:sp>
      <p:sp>
        <p:nvSpPr>
          <p:cNvPr id="40" name="Rectangle 39"/>
          <p:cNvSpPr/>
          <p:nvPr/>
        </p:nvSpPr>
        <p:spPr>
          <a:xfrm>
            <a:off x="6228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24000"/>
            <a:ext cx="36000" cy="79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3960000"/>
            <a:ext cx="2538000" cy="360000"/>
          </a:xfrm>
          <a:prstGeom prst="rect">
            <a:avLst/>
          </a:prstGeom>
          <a:noFill/>
        </p:spPr>
        <p:txBody>
          <a:bodyPr wrap="square">
            <a:spAutoFit/>
          </a:bodyPr>
          <a:lstStyle/>
          <a:p>
            <a:pPr algn="l"/>
            <a:r>
              <a:rPr sz="2200" b="1" i="0">
                <a:solidFill>
                  <a:srgbClr val="1B3A6B"/>
                </a:solidFill>
              </a:rPr>
              <a:t>77/100</a:t>
            </a:r>
          </a:p>
        </p:txBody>
      </p:sp>
      <p:sp>
        <p:nvSpPr>
          <p:cNvPr id="43" name="TextBox 42"/>
          <p:cNvSpPr txBox="1"/>
          <p:nvPr/>
        </p:nvSpPr>
        <p:spPr>
          <a:xfrm>
            <a:off x="6318000" y="4338000"/>
            <a:ext cx="2538000" cy="162000"/>
          </a:xfrm>
          <a:prstGeom prst="rect">
            <a:avLst/>
          </a:prstGeom>
          <a:noFill/>
        </p:spPr>
        <p:txBody>
          <a:bodyPr wrap="square">
            <a:spAutoFit/>
          </a:bodyPr>
          <a:lstStyle/>
          <a:p>
            <a:pPr algn="l"/>
            <a:r>
              <a:rPr sz="850" b="0" i="0">
                <a:solidFill>
                  <a:srgbClr val="555555"/>
                </a:solidFill>
              </a:rPr>
              <a:t>Score sante moyen</a:t>
            </a:r>
          </a:p>
        </p:txBody>
      </p:sp>
      <p:sp>
        <p:nvSpPr>
          <p:cNvPr id="44" name="TextBox 43"/>
          <p:cNvSpPr txBox="1"/>
          <p:nvPr/>
        </p:nvSpPr>
        <p:spPr>
          <a:xfrm>
            <a:off x="6318000" y="4500000"/>
            <a:ext cx="2538000" cy="144000"/>
          </a:xfrm>
          <a:prstGeom prst="rect">
            <a:avLst/>
          </a:prstGeom>
          <a:noFill/>
        </p:spPr>
        <p:txBody>
          <a:bodyPr wrap="square">
            <a:spAutoFit/>
          </a:bodyPr>
          <a:lstStyle/>
          <a:p>
            <a:pPr algn="l"/>
            <a:r>
              <a:rPr sz="800" b="0" i="0">
                <a:solidFill>
                  <a:srgbClr val="AAAAAA"/>
                </a:solidFill>
              </a:rPr>
              <a:t>solidite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Adoption de l'IA — L'intégration accélérée de l'IA dans les produits et services des entreprises technologiques stimule la demande et les revenus récurrents.</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Régulation — Les enquêtes antitrust et les nouvelles lois sur la data (ex : DMA en Europe) pourraient limiter les marges et la croissance des géants technologiques.</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Technology (S&amp;P 500) ressort neutre (0.00), avec 25% d'articles a tonalité positive sur 8 analysés. La dispersion inter-valeurs est prononcée : NVDA (+0.00) porte la composante haussière tandis que AMD (+0.00) reflète les pressions structurelles. Cette hétérogénéité valide une approche sélective plutôt que directionnelle sur le secteur — le sentiment moyen masque des situations fondamentalement différentes entre leaders et retardataires. La composante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AMD  +182%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MSFT  +5%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176 pts — 8 valeur(s) positives vs 0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