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31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20.4x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+30.2 %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26.6x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18.4x</a:t>
                      </a:r>
                    </a:p>
                  </a:txBody>
                  <a:tcPr>
                    <a:solidFill>
                      <a:srgbClr val="F5F7FA"/>
                    </a:solidFill>
                  </a:tcPr>
                </a:tc>
                <a:tc>
                  <a:txBody>
                    <a:bodyPr/>
                    <a:lstStyle/>
                    <a:p>
                      <a:pPr algn="ctr"/>
                      <a:r>
                        <a:rPr sz="750" b="0">
                          <a:solidFill>
                            <a:srgbClr val="1A1A1A"/>
                          </a:solidFill>
                        </a:rPr>
                        <a:t>35.5x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23.2x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6.8x</a:t>
                      </a:r>
                    </a:p>
                  </a:txBody>
                  <a:tcPr>
                    <a:solidFill>
                      <a:srgbClr val="F5F7FA"/>
                    </a:solidFill>
                  </a:tcPr>
                </a:tc>
                <a:tc>
                  <a:txBody>
                    <a:bodyPr/>
                    <a:lstStyle/>
                    <a:p>
                      <a:pPr algn="ctr"/>
                      <a:r>
                        <a:rPr sz="750" b="0">
                          <a:solidFill>
                            <a:srgbClr val="1A1A1A"/>
                          </a:solidFill>
                        </a:rPr>
                        <a:t>24.4x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60.3x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8.2x</a:t>
                      </a:r>
                    </a:p>
                  </a:txBody>
                  <a:tcPr>
                    <a:solidFill>
                      <a:srgbClr val="F5F7FA"/>
                    </a:solidFill>
                  </a:tcPr>
                </a:tc>
                <a:tc>
                  <a:txBody>
                    <a:bodyPr/>
                    <a:lstStyle/>
                    <a:p>
                      <a:pPr algn="ctr"/>
                      <a:r>
                        <a:rPr sz="750" b="0">
                          <a:solidFill>
                            <a:srgbClr val="1A1A1A"/>
                          </a:solidFill>
                        </a:rPr>
                        <a:t>26.4x</a:t>
                      </a:r>
                    </a:p>
                  </a:txBody>
                  <a:tcPr>
                    <a:solidFill>
                      <a:srgbClr val="F5F7FA"/>
                    </a:solidFill>
                  </a:tcPr>
                </a:tc>
                <a:tc>
                  <a:txBody>
                    <a:bodyPr/>
                    <a:lstStyle/>
                    <a:p>
                      <a:pPr algn="ctr"/>
                      <a:r>
                        <a:rPr sz="750" b="0">
                          <a:solidFill>
                            <a:srgbClr val="1A1A1A"/>
                          </a:solidFill>
                        </a:rPr>
                        <a:t>67.1 %</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57.6 %</a:t>
                      </a:r>
                    </a:p>
                  </a:txBody>
                  <a:tcPr>
                    <a:solidFill>
                      <a:srgbClr val="F5F7FA"/>
                    </a:solidFill>
                  </a:tcPr>
                </a:tc>
              </a:tr>
              <a:tr h="198000">
                <a:tc>
                  <a:txBody>
                    <a:bodyPr/>
                    <a:lstStyle/>
                    <a:p>
                      <a:pPr algn="ctr"/>
                      <a:r>
                        <a:rPr sz="750" b="0">
                          <a:solidFill>
                            <a:srgbClr val="1A1A1A"/>
                          </a:solidFill>
                        </a:rPr>
                        <a:t>Apple Inc.</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32.2x</a:t>
                      </a:r>
                    </a:p>
                  </a:txBody>
                  <a:tcPr>
                    <a:noFill/>
                  </a:tcPr>
                </a:tc>
                <a:tc>
                  <a:txBody>
                    <a:bodyPr/>
                    <a:lstStyle/>
                    <a:p>
                      <a:pPr algn="ctr"/>
                      <a:r>
                        <a:rPr sz="750" b="0">
                          <a:solidFill>
                            <a:srgbClr val="1A1A1A"/>
                          </a:solidFill>
                        </a:rPr>
                        <a:t>47.3 %</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152.0 %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9.0x</a:t>
                      </a:r>
                    </a:p>
                  </a:txBody>
                  <a:tcPr>
                    <a:solidFill>
                      <a:srgbClr val="F5F7FA"/>
                    </a:solidFill>
                  </a:tcPr>
                </a:tc>
                <a:tc>
                  <a:txBody>
                    <a:bodyPr/>
                    <a:lstStyle/>
                    <a:p>
                      <a:pPr algn="ctr"/>
                      <a:r>
                        <a:rPr sz="750" b="0">
                          <a:solidFill>
                            <a:srgbClr val="1A1A1A"/>
                          </a:solidFill>
                        </a:rPr>
                        <a:t>77.9x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20.4x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29.4x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20.4x LTM. Alphabet Inc. (21.6x)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porté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287.56</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+74.1 %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174.4</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+50.0 %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370.17</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-6.1 %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572.13</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-8.5 %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73/100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309.51</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+74.1 %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147.11</a:t>
                      </a:r>
                    </a:p>
                  </a:txBody>
                  <a:tcPr>
                    <a:solidFill>
                      <a:srgbClr val="F5F7FA"/>
                    </a:solidFill>
                  </a:tcPr>
                </a:tc>
                <a:tc>
                  <a:txBody>
                    <a:bodyPr/>
                    <a:lstStyle/>
                    <a:p>
                      <a:pPr algn="ctr"/>
                      <a:r>
                        <a:rPr sz="750" b="0">
                          <a:solidFill>
                            <a:srgbClr val="1A1A1A"/>
                          </a:solidFill>
                        </a:rPr>
                        <a:t>19.2x</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-2.2 %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72/100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253.79</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+15.7 %</a:t>
                      </a:r>
                    </a:p>
                  </a:txBody>
                  <a:tcPr>
                    <a:noFill/>
                  </a:tcPr>
                </a:tc>
                <a:tc>
                  <a:txBody>
                    <a:bodyPr/>
                    <a:lstStyle/>
                    <a:p>
                      <a:pPr algn="ctr"/>
                      <a:r>
                        <a:rPr sz="750" b="0">
                          <a:solidFill>
                            <a:srgbClr val="1A1A1A"/>
                          </a:solidFill>
                        </a:rPr>
                        <a:t>+10.5 %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203.43</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+90.7 %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85/100)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(29.7x) soutenue par 71.1 % de marge brute.
AVGO se positionne en zone Opportunite — EV/EBITDA de 4.0x sous la médiane sectorielle de 20.4x.
La médiane sectorielle ressort a 20.4x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73/100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72/100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Pondération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(85/100) avec des scores Value=11,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345</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209</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29.7x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444</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20.4x.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287.56</a:t>
                      </a:r>
                    </a:p>
                  </a:txBody>
                  <a:tcPr>
                    <a:noFill/>
                  </a:tcPr>
                </a:tc>
                <a:tc>
                  <a:txBody>
                    <a:bodyPr/>
                    <a:lstStyle/>
                    <a:p>
                      <a:pPr algn="ctr"/>
                      <a:r>
                        <a:rPr sz="750" b="0">
                          <a:solidFill>
                            <a:srgbClr val="1A1A1A"/>
                          </a:solidFill>
                        </a:rPr>
                        <a:t>330.7</a:t>
                      </a:r>
                    </a:p>
                  </a:txBody>
                  <a:tcPr>
                    <a:noFill/>
                  </a:tcPr>
                </a:tc>
                <a:tc>
                  <a:txBody>
                    <a:bodyPr/>
                    <a:lstStyle/>
                    <a:p>
                      <a:pPr algn="ctr"/>
                      <a:r>
                        <a:rPr sz="750" b="0">
                          <a:solidFill>
                            <a:srgbClr val="1A1A1A"/>
                          </a:solidFill>
                        </a:rPr>
                        <a:t>&lt; 273.2</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174.4</a:t>
                      </a:r>
                    </a:p>
                  </a:txBody>
                  <a:tcPr>
                    <a:solidFill>
                      <a:srgbClr val="F5F7FA"/>
                    </a:solidFill>
                  </a:tcPr>
                </a:tc>
                <a:tc>
                  <a:txBody>
                    <a:bodyPr/>
                    <a:lstStyle/>
                    <a:p>
                      <a:pPr algn="ctr"/>
                      <a:r>
                        <a:rPr sz="750" b="0">
                          <a:solidFill>
                            <a:srgbClr val="1A1A1A"/>
                          </a:solidFill>
                        </a:rPr>
                        <a:t>200.6</a:t>
                      </a:r>
                    </a:p>
                  </a:txBody>
                  <a:tcPr>
                    <a:solidFill>
                      <a:srgbClr val="F5F7FA"/>
                    </a:solidFill>
                  </a:tcPr>
                </a:tc>
                <a:tc>
                  <a:txBody>
                    <a:bodyPr/>
                    <a:lstStyle/>
                    <a:p>
                      <a:pPr algn="ctr"/>
                      <a:r>
                        <a:rPr sz="750" b="0">
                          <a:solidFill>
                            <a:srgbClr val="1A1A1A"/>
                          </a:solidFill>
                        </a:rPr>
                        <a:t>&lt; 165.7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370.17</a:t>
                      </a:r>
                    </a:p>
                  </a:txBody>
                  <a:tcPr>
                    <a:noFill/>
                  </a:tcPr>
                </a:tc>
                <a:tc>
                  <a:txBody>
                    <a:bodyPr/>
                    <a:lstStyle/>
                    <a:p>
                      <a:pPr algn="ctr"/>
                      <a:r>
                        <a:rPr sz="750" b="0">
                          <a:solidFill>
                            <a:srgbClr val="1A1A1A"/>
                          </a:solidFill>
                        </a:rPr>
                        <a:t>425.7</a:t>
                      </a:r>
                    </a:p>
                  </a:txBody>
                  <a:tcPr>
                    <a:noFill/>
                  </a:tcPr>
                </a:tc>
                <a:tc>
                  <a:txBody>
                    <a:bodyPr/>
                    <a:lstStyle/>
                    <a:p>
                      <a:pPr algn="ctr"/>
                      <a:r>
                        <a:rPr sz="750" b="0">
                          <a:solidFill>
                            <a:srgbClr val="1A1A1A"/>
                          </a:solidFill>
                        </a:rPr>
                        <a:t>&lt; 351.7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572.13</a:t>
                      </a:r>
                    </a:p>
                  </a:txBody>
                  <a:tcPr>
                    <a:solidFill>
                      <a:srgbClr val="F5F7FA"/>
                    </a:solidFill>
                  </a:tcPr>
                </a:tc>
                <a:tc>
                  <a:txBody>
                    <a:bodyPr/>
                    <a:lstStyle/>
                    <a:p>
                      <a:pPr algn="ctr"/>
                      <a:r>
                        <a:rPr sz="750" b="0">
                          <a:solidFill>
                            <a:srgbClr val="1A1A1A"/>
                          </a:solidFill>
                        </a:rPr>
                        <a:t>657.9</a:t>
                      </a:r>
                    </a:p>
                  </a:txBody>
                  <a:tcPr>
                    <a:solidFill>
                      <a:srgbClr val="F5F7FA"/>
                    </a:solidFill>
                  </a:tcPr>
                </a:tc>
                <a:tc>
                  <a:txBody>
                    <a:bodyPr/>
                    <a:lstStyle/>
                    <a:p>
                      <a:pPr algn="ctr"/>
                      <a:r>
                        <a:rPr sz="750" b="0">
                          <a:solidFill>
                            <a:srgbClr val="1A1A1A"/>
                          </a:solidFill>
                        </a:rPr>
                        <a:t>&lt; 543.5</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309.51</a:t>
                      </a:r>
                    </a:p>
                  </a:txBody>
                  <a:tcPr>
                    <a:noFill/>
                  </a:tcPr>
                </a:tc>
                <a:tc>
                  <a:txBody>
                    <a:bodyPr/>
                    <a:lstStyle/>
                    <a:p>
                      <a:pPr algn="ctr"/>
                      <a:r>
                        <a:rPr sz="750" b="0">
                          <a:solidFill>
                            <a:srgbClr val="1A1A1A"/>
                          </a:solidFill>
                        </a:rPr>
                        <a:t>355.9</a:t>
                      </a:r>
                    </a:p>
                  </a:txBody>
                  <a:tcPr>
                    <a:noFill/>
                  </a:tcPr>
                </a:tc>
                <a:tc>
                  <a:txBody>
                    <a:bodyPr/>
                    <a:lstStyle/>
                    <a:p>
                      <a:pPr algn="ctr"/>
                      <a:r>
                        <a:rPr sz="750" b="0">
                          <a:solidFill>
                            <a:srgbClr val="1A1A1A"/>
                          </a:solidFill>
                        </a:rPr>
                        <a:t>&lt; 294.0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147.11</a:t>
                      </a:r>
                    </a:p>
                  </a:txBody>
                  <a:tcPr>
                    <a:solidFill>
                      <a:srgbClr val="F5F7FA"/>
                    </a:solidFill>
                  </a:tcPr>
                </a:tc>
                <a:tc>
                  <a:txBody>
                    <a:bodyPr/>
                    <a:lstStyle/>
                    <a:p>
                      <a:pPr algn="ctr"/>
                      <a:r>
                        <a:rPr sz="750" b="0">
                          <a:solidFill>
                            <a:srgbClr val="1A1A1A"/>
                          </a:solidFill>
                        </a:rPr>
                        <a:t>169.2</a:t>
                      </a:r>
                    </a:p>
                  </a:txBody>
                  <a:tcPr>
                    <a:solidFill>
                      <a:srgbClr val="F5F7FA"/>
                    </a:solidFill>
                  </a:tcPr>
                </a:tc>
                <a:tc>
                  <a:txBody>
                    <a:bodyPr/>
                    <a:lstStyle/>
                    <a:p>
                      <a:pPr algn="ctr"/>
                      <a:r>
                        <a:rPr sz="750" b="0">
                          <a:solidFill>
                            <a:srgbClr val="1A1A1A"/>
                          </a:solidFill>
                        </a:rPr>
                        <a:t>&lt; 139.8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253.79</a:t>
                      </a:r>
                    </a:p>
                  </a:txBody>
                  <a:tcPr>
                    <a:noFill/>
                  </a:tcPr>
                </a:tc>
                <a:tc>
                  <a:txBody>
                    <a:bodyPr/>
                    <a:lstStyle/>
                    <a:p>
                      <a:pPr algn="ctr"/>
                      <a:r>
                        <a:rPr sz="750" b="0">
                          <a:solidFill>
                            <a:srgbClr val="1A1A1A"/>
                          </a:solidFill>
                        </a:rPr>
                        <a:t>291.9</a:t>
                      </a:r>
                    </a:p>
                  </a:txBody>
                  <a:tcPr>
                    <a:noFill/>
                  </a:tcPr>
                </a:tc>
                <a:tc>
                  <a:txBody>
                    <a:bodyPr/>
                    <a:lstStyle/>
                    <a:p>
                      <a:pPr algn="ctr"/>
                      <a:r>
                        <a:rPr sz="750" b="0">
                          <a:solidFill>
                            <a:srgbClr val="1A1A1A"/>
                          </a:solidFill>
                        </a:rPr>
                        <a:t>&lt; 241.1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203.43</a:t>
                      </a:r>
                    </a:p>
                  </a:txBody>
                  <a:tcPr>
                    <a:solidFill>
                      <a:srgbClr val="F5F7FA"/>
                    </a:solidFill>
                  </a:tcPr>
                </a:tc>
                <a:tc>
                  <a:txBody>
                    <a:bodyPr/>
                    <a:lstStyle/>
                    <a:p>
                      <a:pPr algn="ctr"/>
                      <a:r>
                        <a:rPr sz="750" b="0">
                          <a:solidFill>
                            <a:srgbClr val="1A1A1A"/>
                          </a:solidFill>
                        </a:rPr>
                        <a:t>233.9</a:t>
                      </a:r>
                    </a:p>
                  </a:txBody>
                  <a:tcPr>
                    <a:solidFill>
                      <a:srgbClr val="F5F7FA"/>
                    </a:solidFill>
                  </a:tcPr>
                </a:tc>
                <a:tc>
                  <a:txBody>
                    <a:bodyPr/>
                    <a:lstStyle/>
                    <a:p>
                      <a:pPr algn="ctr"/>
                      <a:r>
                        <a:rPr sz="750" b="0">
                          <a:solidFill>
                            <a:srgbClr val="1A1A1A"/>
                          </a:solidFill>
                        </a:rPr>
                        <a:t>&lt; 193.3</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12000"/>
            <a:ext cx="8316000" cy="378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européenne confirmee entraînerait une reduction des budgets IT de 12-18 %, pénalisant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européenne confirmee entraînerait une reduction des budgets IT de 12-18 %, pénalisant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+91%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META  -8%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99 pts — 5 valeur(s) positives vs 3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