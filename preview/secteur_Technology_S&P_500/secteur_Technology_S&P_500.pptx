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SURPONDERER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SURPONDERER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20.5x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+27.2 %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25.4x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18.6x</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22.3x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6.6x</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31.5x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58.5x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9.3x</a:t>
                      </a:r>
                    </a:p>
                  </a:txBody>
                  <a:tcPr>
                    <a:solidFill>
                      <a:srgbClr val="F5F7FA"/>
                    </a:solidFill>
                  </a:tcPr>
                </a:tc>
                <a:tc>
                  <a:txBody>
                    <a:bodyPr/>
                    <a:lstStyle/>
                    <a:p>
                      <a:pPr algn="ctr"/>
                      <a:r>
                        <a:rPr sz="750" b="0">
                          <a:solidFill>
                            <a:srgbClr val="1A1A1A"/>
                          </a:solidFill>
                        </a:rPr>
                        <a:t>77.4x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20.5x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28.4x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20.5x LTM. Alphabet Inc. (21.7x)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SURPONDERER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porte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+79.5 %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+42.2 %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-4.1 %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-3.4 %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+12.3 %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+62.4 %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+76.8 %</a:t>
                      </a:r>
                    </a:p>
                  </a:txBody>
                  <a:tcPr>
                    <a:solidFill>
                      <a:srgbClr val="F5F7FA"/>
                    </a:solidFill>
                  </a:tcPr>
                </a:tc>
              </a:tr>
            </a:tbl>
          </a:graphicData>
        </a:graphic>
      </p:graphicFrame>
      <p:sp>
        <p:nvSpPr>
          <p:cNvPr id="16" name="Rectangle 15"/>
          <p:cNvSpPr/>
          <p:nvPr/>
        </p:nvSpPr>
        <p:spPr>
          <a:xfrm>
            <a:off x="324000" y="2822400"/>
            <a:ext cx="8496000" cy="203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2037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16776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(30.2x) soutenue par 71.1 % de marge brute.
AVGO se positionne en zone Opportunite — EV/EBITDA de 4.1x sous la médiane sectorielle de 20.5x.
La médiane sectorielle ressort a 20.5x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18</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Value=12,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329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21.7x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30.2x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428</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15.3x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20.5x.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315.5</a:t>
                      </a:r>
                    </a:p>
                  </a:txBody>
                  <a:tcPr>
                    <a:noFill/>
                  </a:tcPr>
                </a:tc>
                <a:tc>
                  <a:txBody>
                    <a:bodyPr/>
                    <a:lstStyle/>
                    <a:p>
                      <a:pPr algn="ctr"/>
                      <a:r>
                        <a:rPr sz="750" b="0">
                          <a:solidFill>
                            <a:srgbClr val="1A1A1A"/>
                          </a:solidFill>
                        </a:rPr>
                        <a:t>&lt; 260.6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192.6</a:t>
                      </a:r>
                    </a:p>
                  </a:txBody>
                  <a:tcPr>
                    <a:solidFill>
                      <a:srgbClr val="F5F7FA"/>
                    </a:solidFill>
                  </a:tcPr>
                </a:tc>
                <a:tc>
                  <a:txBody>
                    <a:bodyPr/>
                    <a:lstStyle/>
                    <a:p>
                      <a:pPr algn="ctr"/>
                      <a:r>
                        <a:rPr sz="750" b="0">
                          <a:solidFill>
                            <a:srgbClr val="1A1A1A"/>
                          </a:solidFill>
                        </a:rPr>
                        <a:t>&lt; 159.1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410.3</a:t>
                      </a:r>
                    </a:p>
                  </a:txBody>
                  <a:tcPr>
                    <a:noFill/>
                  </a:tcPr>
                </a:tc>
                <a:tc>
                  <a:txBody>
                    <a:bodyPr/>
                    <a:lstStyle/>
                    <a:p>
                      <a:pPr algn="ctr"/>
                      <a:r>
                        <a:rPr sz="750" b="0">
                          <a:solidFill>
                            <a:srgbClr val="1A1A1A"/>
                          </a:solidFill>
                        </a:rPr>
                        <a:t>&lt; 338.9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604.6</a:t>
                      </a:r>
                    </a:p>
                  </a:txBody>
                  <a:tcPr>
                    <a:solidFill>
                      <a:srgbClr val="F5F7FA"/>
                    </a:solidFill>
                  </a:tcPr>
                </a:tc>
                <a:tc>
                  <a:txBody>
                    <a:bodyPr/>
                    <a:lstStyle/>
                    <a:p>
                      <a:pPr algn="ctr"/>
                      <a:r>
                        <a:rPr sz="750" b="0">
                          <a:solidFill>
                            <a:srgbClr val="1A1A1A"/>
                          </a:solidFill>
                        </a:rPr>
                        <a:t>&lt; 499.4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160.6</a:t>
                      </a:r>
                    </a:p>
                  </a:txBody>
                  <a:tcPr>
                    <a:noFill/>
                  </a:tcPr>
                </a:tc>
                <a:tc>
                  <a:txBody>
                    <a:bodyPr/>
                    <a:lstStyle/>
                    <a:p>
                      <a:pPr algn="ctr"/>
                      <a:r>
                        <a:rPr sz="750" b="0">
                          <a:solidFill>
                            <a:srgbClr val="1A1A1A"/>
                          </a:solidFill>
                        </a:rPr>
                        <a:t>&lt; 132.7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286.1</a:t>
                      </a:r>
                    </a:p>
                  </a:txBody>
                  <a:tcPr>
                    <a:solidFill>
                      <a:srgbClr val="F5F7FA"/>
                    </a:solidFill>
                  </a:tcPr>
                </a:tc>
                <a:tc>
                  <a:txBody>
                    <a:bodyPr/>
                    <a:lstStyle/>
                    <a:p>
                      <a:pPr algn="ctr"/>
                      <a:r>
                        <a:rPr sz="750" b="0">
                          <a:solidFill>
                            <a:srgbClr val="1A1A1A"/>
                          </a:solidFill>
                        </a:rPr>
                        <a:t>&lt; 236.4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345.8</a:t>
                      </a:r>
                    </a:p>
                  </a:txBody>
                  <a:tcPr>
                    <a:noFill/>
                  </a:tcPr>
                </a:tc>
                <a:tc>
                  <a:txBody>
                    <a:bodyPr/>
                    <a:lstStyle/>
                    <a:p>
                      <a:pPr algn="ctr"/>
                      <a:r>
                        <a:rPr sz="750" b="0">
                          <a:solidFill>
                            <a:srgbClr val="1A1A1A"/>
                          </a:solidFill>
                        </a:rPr>
                        <a:t>&lt; 285.6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232.3</a:t>
                      </a:r>
                    </a:p>
                  </a:txBody>
                  <a:tcPr>
                    <a:solidFill>
                      <a:srgbClr val="F5F7FA"/>
                    </a:solidFill>
                  </a:tcPr>
                </a:tc>
                <a:tc>
                  <a:txBody>
                    <a:bodyPr/>
                    <a:lstStyle/>
                    <a:p>
                      <a:pPr algn="ctr"/>
                      <a:r>
                        <a:rPr sz="750" b="0">
                          <a:solidFill>
                            <a:srgbClr val="1A1A1A"/>
                          </a:solidFill>
                        </a:rPr>
                        <a:t>&lt; 191.9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30000"/>
            <a:ext cx="8316000" cy="324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europeenne confirmee entrainerait une reduction des budgets IT de 12-18 %, penalisant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europeenne confirmee entrainerait une reduction des budgets IT de 12-18 %, penalisant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216000"/>
          </a:xfrm>
          <a:prstGeom prst="rect">
            <a:avLst/>
          </a:prstGeom>
          <a:noFill/>
        </p:spPr>
        <p:txBody>
          <a:bodyPr wrap="square">
            <a:spAutoFit/>
          </a:bodyPr>
          <a:lstStyle/>
          <a:p>
            <a:pPr algn="l"/>
            <a:r>
              <a:rPr sz="900" b="1" i="0">
                <a:solidFill>
                  <a:srgbClr val="1B3A6B"/>
                </a:solidFill>
              </a:rPr>
              <a:t>NVDA  —  NVIDIA Corporation</a:t>
            </a:r>
          </a:p>
        </p:txBody>
      </p:sp>
      <p:sp>
        <p:nvSpPr>
          <p:cNvPr id="21" name="TextBox 20"/>
          <p:cNvSpPr txBox="1"/>
          <p:nvPr/>
        </p:nvSpPr>
        <p:spPr>
          <a:xfrm>
            <a:off x="6192000" y="1357200"/>
            <a:ext cx="2556000" cy="180000"/>
          </a:xfrm>
          <a:prstGeom prst="rect">
            <a:avLst/>
          </a:prstGeom>
          <a:noFill/>
        </p:spPr>
        <p:txBody>
          <a:bodyPr wrap="square">
            <a:spAutoFit/>
          </a:bodyPr>
          <a:lstStyle/>
          <a:p>
            <a:pPr algn="l"/>
            <a:r>
              <a:rPr sz="800" b="0" i="0">
                <a:solidFill>
                  <a:srgbClr val="555555"/>
                </a:solidFill>
              </a:rPr>
              <a:t>Score 76/100  ·  BUY</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216000"/>
          </a:xfrm>
          <a:prstGeom prst="rect">
            <a:avLst/>
          </a:prstGeom>
          <a:noFill/>
        </p:spPr>
        <p:txBody>
          <a:bodyPr wrap="square">
            <a:spAutoFit/>
          </a:bodyPr>
          <a:lstStyle/>
          <a:p>
            <a:pPr algn="l"/>
            <a:r>
              <a:rPr sz="900" b="1" i="0">
                <a:solidFill>
                  <a:srgbClr val="1B3A6B"/>
                </a:solidFill>
              </a:rPr>
              <a:t>AAPL  —  Apple Inc.</a:t>
            </a:r>
          </a:p>
        </p:txBody>
      </p:sp>
      <p:sp>
        <p:nvSpPr>
          <p:cNvPr id="24" name="TextBox 23"/>
          <p:cNvSpPr txBox="1"/>
          <p:nvPr/>
        </p:nvSpPr>
        <p:spPr>
          <a:xfrm>
            <a:off x="6192000" y="1687950"/>
            <a:ext cx="2556000" cy="180000"/>
          </a:xfrm>
          <a:prstGeom prst="rect">
            <a:avLst/>
          </a:prstGeom>
          <a:noFill/>
        </p:spPr>
        <p:txBody>
          <a:bodyPr wrap="square">
            <a:spAutoFit/>
          </a:bodyPr>
          <a:lstStyle/>
          <a:p>
            <a:pPr algn="l"/>
            <a:r>
              <a:rPr sz="800" b="0" i="0">
                <a:solidFill>
                  <a:srgbClr val="555555"/>
                </a:solidFill>
              </a:rPr>
              <a:t>Score 73/100  ·  BUY</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216000"/>
          </a:xfrm>
          <a:prstGeom prst="rect">
            <a:avLst/>
          </a:prstGeom>
          <a:noFill/>
        </p:spPr>
        <p:txBody>
          <a:bodyPr wrap="square">
            <a:spAutoFit/>
          </a:bodyPr>
          <a:lstStyle/>
          <a:p>
            <a:pPr algn="l"/>
            <a:r>
              <a:rPr sz="900" b="1" i="0">
                <a:solidFill>
                  <a:srgbClr val="1B3A6B"/>
                </a:solidFill>
              </a:rPr>
              <a:t>GOOGL  —  Alphabet Inc.</a:t>
            </a:r>
          </a:p>
        </p:txBody>
      </p:sp>
      <p:sp>
        <p:nvSpPr>
          <p:cNvPr id="27" name="TextBox 26"/>
          <p:cNvSpPr txBox="1"/>
          <p:nvPr/>
        </p:nvSpPr>
        <p:spPr>
          <a:xfrm>
            <a:off x="6192000" y="2018700"/>
            <a:ext cx="2556000" cy="180000"/>
          </a:xfrm>
          <a:prstGeom prst="rect">
            <a:avLst/>
          </a:prstGeom>
          <a:noFill/>
        </p:spPr>
        <p:txBody>
          <a:bodyPr wrap="square">
            <a:spAutoFit/>
          </a:bodyPr>
          <a:lstStyle/>
          <a:p>
            <a:pPr algn="l"/>
            <a:r>
              <a:rPr sz="800" b="0" i="0">
                <a:solidFill>
                  <a:srgbClr val="555555"/>
                </a:solidFill>
              </a:rPr>
              <a:t>Score 86/100  ·  BUY</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216000"/>
          </a:xfrm>
          <a:prstGeom prst="rect">
            <a:avLst/>
          </a:prstGeom>
          <a:noFill/>
        </p:spPr>
        <p:txBody>
          <a:bodyPr wrap="square">
            <a:spAutoFit/>
          </a:bodyPr>
          <a:lstStyle/>
          <a:p>
            <a:pPr algn="l"/>
            <a:r>
              <a:rPr sz="900" b="1" i="0">
                <a:solidFill>
                  <a:srgbClr val="1B3A6B"/>
                </a:solidFill>
              </a:rPr>
              <a:t>MSFT  —  Microsoft Corporation</a:t>
            </a:r>
          </a:p>
        </p:txBody>
      </p:sp>
      <p:sp>
        <p:nvSpPr>
          <p:cNvPr id="30" name="TextBox 29"/>
          <p:cNvSpPr txBox="1"/>
          <p:nvPr/>
        </p:nvSpPr>
        <p:spPr>
          <a:xfrm>
            <a:off x="6192000" y="2349450"/>
            <a:ext cx="2556000" cy="180000"/>
          </a:xfrm>
          <a:prstGeom prst="rect">
            <a:avLst/>
          </a:prstGeom>
          <a:noFill/>
        </p:spPr>
        <p:txBody>
          <a:bodyPr wrap="square">
            <a:spAutoFit/>
          </a:bodyPr>
          <a:lstStyle/>
          <a:p>
            <a:pPr algn="l"/>
            <a:r>
              <a:rPr sz="800" b="0" i="0">
                <a:solidFill>
                  <a:srgbClr val="555555"/>
                </a:solidFill>
              </a:rPr>
              <a:t>Score 75/100  ·  BUY</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216000"/>
          </a:xfrm>
          <a:prstGeom prst="rect">
            <a:avLst/>
          </a:prstGeom>
          <a:noFill/>
        </p:spPr>
        <p:txBody>
          <a:bodyPr wrap="square">
            <a:spAutoFit/>
          </a:bodyPr>
          <a:lstStyle/>
          <a:p>
            <a:pPr algn="l"/>
            <a:r>
              <a:rPr sz="900" b="1" i="0">
                <a:solidFill>
                  <a:srgbClr val="1B3A6B"/>
                </a:solidFill>
              </a:rPr>
              <a:t>AVGO  —  Broadcom Inc.</a:t>
            </a:r>
          </a:p>
        </p:txBody>
      </p:sp>
      <p:sp>
        <p:nvSpPr>
          <p:cNvPr id="33" name="TextBox 32"/>
          <p:cNvSpPr txBox="1"/>
          <p:nvPr/>
        </p:nvSpPr>
        <p:spPr>
          <a:xfrm>
            <a:off x="6192000" y="2680200"/>
            <a:ext cx="2556000" cy="180000"/>
          </a:xfrm>
          <a:prstGeom prst="rect">
            <a:avLst/>
          </a:prstGeom>
          <a:noFill/>
        </p:spPr>
        <p:txBody>
          <a:bodyPr wrap="square">
            <a:spAutoFit/>
          </a:bodyPr>
          <a:lstStyle/>
          <a:p>
            <a:pPr algn="l"/>
            <a:r>
              <a:rPr sz="8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216000"/>
          </a:xfrm>
          <a:prstGeom prst="rect">
            <a:avLst/>
          </a:prstGeom>
          <a:noFill/>
        </p:spPr>
        <p:txBody>
          <a:bodyPr wrap="square">
            <a:spAutoFit/>
          </a:bodyPr>
          <a:lstStyle/>
          <a:p>
            <a:pPr algn="l"/>
            <a:r>
              <a:rPr sz="900" b="1" i="0">
                <a:solidFill>
                  <a:srgbClr val="1B3A6B"/>
                </a:solidFill>
              </a:rPr>
              <a:t>META  —  Meta Platforms, Inc.</a:t>
            </a:r>
          </a:p>
        </p:txBody>
      </p:sp>
      <p:sp>
        <p:nvSpPr>
          <p:cNvPr id="36" name="TextBox 35"/>
          <p:cNvSpPr txBox="1"/>
          <p:nvPr/>
        </p:nvSpPr>
        <p:spPr>
          <a:xfrm>
            <a:off x="6192000" y="3010950"/>
            <a:ext cx="2556000" cy="180000"/>
          </a:xfrm>
          <a:prstGeom prst="rect">
            <a:avLst/>
          </a:prstGeom>
          <a:noFill/>
        </p:spPr>
        <p:txBody>
          <a:bodyPr wrap="square">
            <a:spAutoFit/>
          </a:bodyPr>
          <a:lstStyle/>
          <a:p>
            <a:pPr algn="l"/>
            <a:r>
              <a:rPr sz="800" b="0" i="0">
                <a:solidFill>
                  <a:srgbClr val="555555"/>
                </a:solidFill>
              </a:rPr>
              <a:t>Score 75/100  ·  BUY</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216000"/>
          </a:xfrm>
          <a:prstGeom prst="rect">
            <a:avLst/>
          </a:prstGeom>
          <a:noFill/>
        </p:spPr>
        <p:txBody>
          <a:bodyPr wrap="square">
            <a:spAutoFit/>
          </a:bodyPr>
          <a:lstStyle/>
          <a:p>
            <a:pPr algn="l"/>
            <a:r>
              <a:rPr sz="900" b="1" i="0">
                <a:solidFill>
                  <a:srgbClr val="1B3A6B"/>
                </a:solidFill>
              </a:rPr>
              <a:t>ORCL  —  Oracle Corporation</a:t>
            </a:r>
          </a:p>
        </p:txBody>
      </p:sp>
      <p:sp>
        <p:nvSpPr>
          <p:cNvPr id="39" name="TextBox 38"/>
          <p:cNvSpPr txBox="1"/>
          <p:nvPr/>
        </p:nvSpPr>
        <p:spPr>
          <a:xfrm>
            <a:off x="6192000" y="3341699"/>
            <a:ext cx="2556000" cy="180000"/>
          </a:xfrm>
          <a:prstGeom prst="rect">
            <a:avLst/>
          </a:prstGeom>
          <a:noFill/>
        </p:spPr>
        <p:txBody>
          <a:bodyPr wrap="square">
            <a:spAutoFit/>
          </a:bodyPr>
          <a:lstStyle/>
          <a:p>
            <a:pPr algn="l"/>
            <a:r>
              <a:rPr sz="800" b="0" i="0">
                <a:solidFill>
                  <a:srgbClr val="555555"/>
                </a:solidFill>
              </a:rPr>
              <a:t>Score 74/100  ·  BUY</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216000"/>
          </a:xfrm>
          <a:prstGeom prst="rect">
            <a:avLst/>
          </a:prstGeom>
          <a:noFill/>
        </p:spPr>
        <p:txBody>
          <a:bodyPr wrap="square">
            <a:spAutoFit/>
          </a:bodyPr>
          <a:lstStyle/>
          <a:p>
            <a:pPr algn="l"/>
            <a:r>
              <a:rPr sz="900" b="1" i="0">
                <a:solidFill>
                  <a:srgbClr val="1B3A6B"/>
                </a:solidFill>
              </a:rPr>
              <a:t>AMD  —  Advanced Micro Devices, Inc.</a:t>
            </a:r>
          </a:p>
        </p:txBody>
      </p:sp>
      <p:sp>
        <p:nvSpPr>
          <p:cNvPr id="42" name="TextBox 41"/>
          <p:cNvSpPr txBox="1"/>
          <p:nvPr/>
        </p:nvSpPr>
        <p:spPr>
          <a:xfrm>
            <a:off x="6192000" y="3672449"/>
            <a:ext cx="2556000" cy="180000"/>
          </a:xfrm>
          <a:prstGeom prst="rect">
            <a:avLst/>
          </a:prstGeom>
          <a:noFill/>
        </p:spPr>
        <p:txBody>
          <a:bodyPr wrap="square">
            <a:spAutoFit/>
          </a:bodyPr>
          <a:lstStyle/>
          <a:p>
            <a:pPr algn="l"/>
            <a:r>
              <a:rPr sz="800" b="0" i="0">
                <a:solidFill>
                  <a:srgbClr val="555555"/>
                </a:solidFill>
              </a:rPr>
              <a:t>Score 69/100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GOOGL affiche la meilleure performance (+80%) tandis que META est en retard (-4%).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