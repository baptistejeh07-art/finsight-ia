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Technologie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Technologie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25.3x  ·  Croissance med. : +22.7 %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L'adoption accélérée des outils d'IA générative par les entreprises et consommateurs devrait propulser les revenus des acteurs comme NVDA et GOOGL, avec des pipelines de produits en phase de commercia</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Cloud &amp; Publicité</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 croissance continue du cloud (AWS, Google Cloud) et des revenus publicitaires (META, GOOGL) reste un moteur clé, soutenue par l'augmentation des dépenses digitales des annonceurs.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Innovation Hardware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NVDA maintient son avance technologique sur les GPU et accélérateurs IA, avec une demande soutenue pour ses solutions dans les data centers et l'edge computing.</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antitrust en cours (notamment aux États-Unis et en UE) pourraient entraîner des amendes ou des restrictions opérationnelles limitant la croissance des géants.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L'émergence de nouveaux acteurs (startups, géants chinois) dans l'IA et le cloud menace les parts de marché des leaders établis, surtout sur les segments marginaux.</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Cycles économiques</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Un ralentissement macroéconomique pourrait réduire les budgets IT des entreprises et des consommateurs, impactant directement les revenus publicitaires et les ventes de matériel.</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25.3x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Marché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+22.7 %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+48.5 %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Technologie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Synthèse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positionnément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Technologie  ·  Caractéristiques structurelles &amp; métriques de référence</a:t>
            </a:r>
          </a:p>
        </p:txBody>
      </p:sp>
      <p:sp>
        <p:nvSpPr>
          <p:cNvPr id="15" name="Rectangle 14"/>
          <p:cNvSpPr/>
          <p:nvPr/>
        </p:nvSpPr>
        <p:spPr>
          <a:xfrm>
            <a:off x="324000" y="900000"/>
            <a:ext cx="4932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900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928800"/>
            <a:ext cx="4788000" cy="162000"/>
          </a:xfrm>
          <a:prstGeom prst="rect">
            <a:avLst/>
          </a:prstGeom>
          <a:noFill/>
        </p:spPr>
        <p:txBody>
          <a:bodyPr wrap="square">
            <a:spAutoFit/>
          </a:bodyPr>
          <a:lstStyle/>
          <a:p>
            <a:pPr algn="l"/>
            <a:r>
              <a:rPr sz="900" b="1" i="0">
                <a:solidFill>
                  <a:srgbClr val="FFFFFF"/>
                </a:solidFill>
              </a:rPr>
              <a:t>PANORAMA SECTORIEL</a:t>
            </a:r>
          </a:p>
        </p:txBody>
      </p:sp>
      <p:sp>
        <p:nvSpPr>
          <p:cNvPr id="19" name="TextBox 18"/>
          <p:cNvSpPr txBox="1"/>
          <p:nvPr/>
        </p:nvSpPr>
        <p:spPr>
          <a:xfrm>
            <a:off x="468000" y="1152000"/>
            <a:ext cx="4716000" cy="936000"/>
          </a:xfrm>
          <a:prstGeom prst="rect">
            <a:avLst/>
          </a:prstGeom>
          <a:noFill/>
        </p:spPr>
        <p:txBody>
          <a:bodyPr wrap="square">
            <a:spAutoFit/>
          </a:bodyPr>
          <a:lstStyle/>
          <a:p>
            <a:pPr algn="l"/>
            <a:r>
              <a:rPr sz="1000" b="0" i="0">
                <a:solidFill>
                  <a:srgbClr val="555555"/>
                </a:solidFill>
              </a:rPr>
              <a:t>Le secteur Technology affiche une valorisation premium avec un multiple EV/EBITDA médian de 25.3x, justifié par une marge EBITDA exceptionnelle de 46.8% et une croissance des revenus de +22.7%, reflétant la résilience des modèles économiques scalables et la domination des géants sur leurs marchés respectifs. Les trois tickers ciblés (GOOGL, NVDA, META) bénéficient d'une dynamique de momentum à 52 semaines de +48.5%, illustrant une forte conviction des investisseurs sur leur capacité à capter les tendances structurelles comme l'IA, le cloud et les réseaux sociaux.</a:t>
            </a:r>
          </a:p>
        </p:txBody>
      </p:sp>
      <p:sp>
        <p:nvSpPr>
          <p:cNvPr id="20" name="Rectangle 19"/>
          <p:cNvSpPr/>
          <p:nvPr/>
        </p:nvSpPr>
        <p:spPr>
          <a:xfrm>
            <a:off x="324000" y="2268000"/>
            <a:ext cx="4932000" cy="23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4000" y="2268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2296800"/>
            <a:ext cx="4788000" cy="162000"/>
          </a:xfrm>
          <a:prstGeom prst="rect">
            <a:avLst/>
          </a:prstGeom>
          <a:noFill/>
        </p:spPr>
        <p:txBody>
          <a:bodyPr wrap="square">
            <a:spAutoFit/>
          </a:bodyPr>
          <a:lstStyle/>
          <a:p>
            <a:pPr algn="l"/>
            <a:r>
              <a:rPr sz="900" b="1" i="0">
                <a:solidFill>
                  <a:srgbClr val="FFFFFF"/>
                </a:solidFill>
              </a:rPr>
              <a:t>CATALYSEURS CLÉS</a:t>
            </a:r>
          </a:p>
        </p:txBody>
      </p:sp>
      <p:sp>
        <p:nvSpPr>
          <p:cNvPr id="23" name="Rectangle 22"/>
          <p:cNvSpPr/>
          <p:nvPr/>
        </p:nvSpPr>
        <p:spPr>
          <a:xfrm>
            <a:off x="396000" y="2520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2538000"/>
            <a:ext cx="4680000" cy="162000"/>
          </a:xfrm>
          <a:prstGeom prst="rect">
            <a:avLst/>
          </a:prstGeom>
          <a:noFill/>
        </p:spPr>
        <p:txBody>
          <a:bodyPr wrap="square">
            <a:spAutoFit/>
          </a:bodyPr>
          <a:lstStyle/>
          <a:p>
            <a:pPr algn="l"/>
            <a:r>
              <a:rPr sz="1000" b="1" i="0">
                <a:solidFill>
                  <a:srgbClr val="1B3A6B"/>
                </a:solidFill>
              </a:rPr>
              <a:t>IA Générative</a:t>
            </a:r>
          </a:p>
        </p:txBody>
      </p:sp>
      <p:sp>
        <p:nvSpPr>
          <p:cNvPr id="25" name="TextBox 24"/>
          <p:cNvSpPr txBox="1"/>
          <p:nvPr/>
        </p:nvSpPr>
        <p:spPr>
          <a:xfrm>
            <a:off x="503999" y="2718000"/>
            <a:ext cx="4680000" cy="450000"/>
          </a:xfrm>
          <a:prstGeom prst="rect">
            <a:avLst/>
          </a:prstGeom>
          <a:noFill/>
        </p:spPr>
        <p:txBody>
          <a:bodyPr wrap="square">
            <a:spAutoFit/>
          </a:bodyPr>
          <a:lstStyle/>
          <a:p>
            <a:pPr algn="l"/>
            <a:r>
              <a:rPr sz="900" b="0" i="0">
                <a:solidFill>
                  <a:srgbClr val="555555"/>
                </a:solidFill>
              </a:rPr>
              <a:t>L'adoption accélérée des outils d'IA générative par les entreprises et consommateurs devrait propulser les revenus des acteurs comme NVDA et GOOGL, avec des pipelines de produits en phase de commercialisation massive.</a:t>
            </a:r>
          </a:p>
        </p:txBody>
      </p:sp>
      <p:sp>
        <p:nvSpPr>
          <p:cNvPr id="26" name="Rectangle 25"/>
          <p:cNvSpPr/>
          <p:nvPr/>
        </p:nvSpPr>
        <p:spPr>
          <a:xfrm>
            <a:off x="396000" y="3221999"/>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3999" y="3240000"/>
            <a:ext cx="4680000" cy="162000"/>
          </a:xfrm>
          <a:prstGeom prst="rect">
            <a:avLst/>
          </a:prstGeom>
          <a:noFill/>
        </p:spPr>
        <p:txBody>
          <a:bodyPr wrap="square">
            <a:spAutoFit/>
          </a:bodyPr>
          <a:lstStyle/>
          <a:p>
            <a:pPr algn="l"/>
            <a:r>
              <a:rPr sz="1000" b="1" i="0">
                <a:solidFill>
                  <a:srgbClr val="1B3A6B"/>
                </a:solidFill>
              </a:rPr>
              <a:t>Cloud &amp; Publicité</a:t>
            </a:r>
          </a:p>
        </p:txBody>
      </p:sp>
      <p:sp>
        <p:nvSpPr>
          <p:cNvPr id="28" name="TextBox 27"/>
          <p:cNvSpPr txBox="1"/>
          <p:nvPr/>
        </p:nvSpPr>
        <p:spPr>
          <a:xfrm>
            <a:off x="503999" y="3420000"/>
            <a:ext cx="4680000" cy="450000"/>
          </a:xfrm>
          <a:prstGeom prst="rect">
            <a:avLst/>
          </a:prstGeom>
          <a:noFill/>
        </p:spPr>
        <p:txBody>
          <a:bodyPr wrap="square">
            <a:spAutoFit/>
          </a:bodyPr>
          <a:lstStyle/>
          <a:p>
            <a:pPr algn="l"/>
            <a:r>
              <a:rPr sz="900" b="0" i="0">
                <a:solidFill>
                  <a:srgbClr val="555555"/>
                </a:solidFill>
              </a:rPr>
              <a:t>La croissance continue du cloud (AWS, Google Cloud) et des revenus publicitaires (META, GOOGL) reste un moteur clé, soutenue par l'augmentation des dépenses digitales des annonceurs.</a:t>
            </a:r>
          </a:p>
        </p:txBody>
      </p:sp>
      <p:sp>
        <p:nvSpPr>
          <p:cNvPr id="29" name="Rectangle 28"/>
          <p:cNvSpPr/>
          <p:nvPr/>
        </p:nvSpPr>
        <p:spPr>
          <a:xfrm>
            <a:off x="396000" y="3924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3999" y="3942000"/>
            <a:ext cx="4680000" cy="162000"/>
          </a:xfrm>
          <a:prstGeom prst="rect">
            <a:avLst/>
          </a:prstGeom>
          <a:noFill/>
        </p:spPr>
        <p:txBody>
          <a:bodyPr wrap="square">
            <a:spAutoFit/>
          </a:bodyPr>
          <a:lstStyle/>
          <a:p>
            <a:pPr algn="l"/>
            <a:r>
              <a:rPr sz="1000" b="1" i="0">
                <a:solidFill>
                  <a:srgbClr val="1B3A6B"/>
                </a:solidFill>
              </a:rPr>
              <a:t>Innovation Hardware</a:t>
            </a:r>
          </a:p>
        </p:txBody>
      </p:sp>
      <p:sp>
        <p:nvSpPr>
          <p:cNvPr id="31" name="TextBox 30"/>
          <p:cNvSpPr txBox="1"/>
          <p:nvPr/>
        </p:nvSpPr>
        <p:spPr>
          <a:xfrm>
            <a:off x="503999" y="4122000"/>
            <a:ext cx="4680000" cy="450000"/>
          </a:xfrm>
          <a:prstGeom prst="rect">
            <a:avLst/>
          </a:prstGeom>
          <a:noFill/>
        </p:spPr>
        <p:txBody>
          <a:bodyPr wrap="square">
            <a:spAutoFit/>
          </a:bodyPr>
          <a:lstStyle/>
          <a:p>
            <a:pPr algn="l"/>
            <a:r>
              <a:rPr sz="900" b="0" i="0">
                <a:solidFill>
                  <a:srgbClr val="555555"/>
                </a:solidFill>
              </a:rPr>
              <a:t>NVDA maintient son avance technologique sur les GPU et accélérateurs IA, avec une demande soutenue pour ses solutions dans les data centers et l'edge computing.</a:t>
            </a:r>
          </a:p>
        </p:txBody>
      </p:sp>
      <p:graphicFrame>
        <p:nvGraphicFramePr>
          <p:cNvPr id="32" name="Table 31"/>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25.3x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+22.7 %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+48.5 %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Sociétés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Analysées</a:t>
                      </a:r>
                    </a:p>
                  </a:txBody>
                  <a:tcPr>
                    <a:solidFill>
                      <a:srgbClr val="F5F7FA"/>
                    </a:solidFill>
                  </a:tcPr>
                </a:tc>
              </a:tr>
            </a:tbl>
          </a:graphicData>
        </a:graphic>
      </p:graphicFrame>
      <p:sp>
        <p:nvSpPr>
          <p:cNvPr id="33" name="Rectangle 32"/>
          <p:cNvSpPr/>
          <p:nvPr/>
        </p:nvSpPr>
        <p:spPr>
          <a:xfrm>
            <a:off x="5436000" y="2469600"/>
            <a:ext cx="3384000" cy="2282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36000" y="2469600"/>
            <a:ext cx="36000" cy="2282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36000" y="2469600"/>
            <a:ext cx="3384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90000" y="2498400"/>
            <a:ext cx="3276000" cy="162000"/>
          </a:xfrm>
          <a:prstGeom prst="rect">
            <a:avLst/>
          </a:prstGeom>
          <a:noFill/>
        </p:spPr>
        <p:txBody>
          <a:bodyPr wrap="square">
            <a:spAutoFit/>
          </a:bodyPr>
          <a:lstStyle/>
          <a:p>
            <a:pPr algn="l"/>
            <a:r>
              <a:rPr sz="850" b="1" i="0">
                <a:solidFill>
                  <a:srgbClr val="FFFFFF"/>
                </a:solidFill>
              </a:rPr>
              <a:t>ETF DE RÉFÉRENCE : XLK</a:t>
            </a:r>
          </a:p>
        </p:txBody>
      </p:sp>
      <p:sp>
        <p:nvSpPr>
          <p:cNvPr id="37" name="TextBox 36"/>
          <p:cNvSpPr txBox="1"/>
          <p:nvPr/>
        </p:nvSpPr>
        <p:spPr>
          <a:xfrm>
            <a:off x="5508000" y="2739600"/>
            <a:ext cx="3240000" cy="144000"/>
          </a:xfrm>
          <a:prstGeom prst="rect">
            <a:avLst/>
          </a:prstGeom>
          <a:noFill/>
        </p:spPr>
        <p:txBody>
          <a:bodyPr wrap="square">
            <a:spAutoFit/>
          </a:bodyPr>
          <a:lstStyle/>
          <a:p>
            <a:pPr algn="l"/>
            <a:r>
              <a:rPr sz="750" b="1" i="0">
                <a:solidFill>
                  <a:srgbClr val="1B3A6B"/>
                </a:solidFill>
              </a:rPr>
              <a:t>Technology Select Sector SPDR Fund</a:t>
            </a:r>
          </a:p>
        </p:txBody>
      </p:sp>
      <p:sp>
        <p:nvSpPr>
          <p:cNvPr id="38" name="TextBox 37"/>
          <p:cNvSpPr txBox="1"/>
          <p:nvPr/>
        </p:nvSpPr>
        <p:spPr>
          <a:xfrm>
            <a:off x="5508000" y="2883600"/>
            <a:ext cx="3240000" cy="115200"/>
          </a:xfrm>
          <a:prstGeom prst="rect">
            <a:avLst/>
          </a:prstGeom>
          <a:noFill/>
        </p:spPr>
        <p:txBody>
          <a:bodyPr wrap="square">
            <a:spAutoFit/>
          </a:bodyPr>
          <a:lstStyle/>
          <a:p>
            <a:pPr algn="l"/>
            <a:r>
              <a:rPr sz="700" b="0" i="0">
                <a:solidFill>
                  <a:srgbClr val="555555"/>
                </a:solidFill>
              </a:rPr>
              <a:t>Emetteur : State Street Global Advisors</a:t>
            </a:r>
          </a:p>
        </p:txBody>
      </p:sp>
      <p:sp>
        <p:nvSpPr>
          <p:cNvPr id="39" name="TextBox 38"/>
          <p:cNvSpPr txBox="1"/>
          <p:nvPr/>
        </p:nvSpPr>
        <p:spPr>
          <a:xfrm>
            <a:off x="5508000" y="2991600"/>
            <a:ext cx="3240000" cy="115200"/>
          </a:xfrm>
          <a:prstGeom prst="rect">
            <a:avLst/>
          </a:prstGeom>
          <a:noFill/>
        </p:spPr>
        <p:txBody>
          <a:bodyPr wrap="square">
            <a:spAutoFit/>
          </a:bodyPr>
          <a:lstStyle/>
          <a:p>
            <a:pPr algn="l"/>
            <a:r>
              <a:rPr sz="700" b="0" i="0">
                <a:solidFill>
                  <a:srgbClr val="555555"/>
                </a:solidFill>
              </a:rPr>
              <a:t>AUM : 84,2 Mds$  ·  TER : 0,00 %</a:t>
            </a:r>
          </a:p>
        </p:txBody>
      </p:sp>
      <p:sp>
        <p:nvSpPr>
          <p:cNvPr id="40" name="TextBox 39"/>
          <p:cNvSpPr txBox="1"/>
          <p:nvPr/>
        </p:nvSpPr>
        <p:spPr>
          <a:xfrm>
            <a:off x="5508000" y="3135600"/>
            <a:ext cx="3240000" cy="115200"/>
          </a:xfrm>
          <a:prstGeom prst="rect">
            <a:avLst/>
          </a:prstGeom>
          <a:noFill/>
        </p:spPr>
        <p:txBody>
          <a:bodyPr wrap="square">
            <a:spAutoFit/>
          </a:bodyPr>
          <a:lstStyle/>
          <a:p>
            <a:pPr algn="l"/>
            <a:r>
              <a:rPr sz="700" b="1" i="0">
                <a:solidFill>
                  <a:srgbClr val="1B3A6B"/>
                </a:solidFill>
              </a:rPr>
              <a:t>TOP 5 HOLDINGS</a:t>
            </a:r>
          </a:p>
        </p:txBody>
      </p:sp>
      <p:sp>
        <p:nvSpPr>
          <p:cNvPr id="41" name="TextBox 40"/>
          <p:cNvSpPr txBox="1"/>
          <p:nvPr/>
        </p:nvSpPr>
        <p:spPr>
          <a:xfrm>
            <a:off x="5508000" y="3250800"/>
            <a:ext cx="3240000" cy="108000"/>
          </a:xfrm>
          <a:prstGeom prst="rect">
            <a:avLst/>
          </a:prstGeom>
          <a:noFill/>
        </p:spPr>
        <p:txBody>
          <a:bodyPr wrap="square">
            <a:spAutoFit/>
          </a:bodyPr>
          <a:lstStyle/>
          <a:p>
            <a:pPr algn="l"/>
            <a:r>
              <a:rPr sz="680" b="0" i="0">
                <a:solidFill>
                  <a:srgbClr val="555555"/>
                </a:solidFill>
              </a:rPr>
              <a:t>NVDA      NVIDIA Corp             15.5 %</a:t>
            </a:r>
          </a:p>
        </p:txBody>
      </p:sp>
      <p:sp>
        <p:nvSpPr>
          <p:cNvPr id="42" name="TextBox 41"/>
          <p:cNvSpPr txBox="1"/>
          <p:nvPr/>
        </p:nvSpPr>
        <p:spPr>
          <a:xfrm>
            <a:off x="5508000" y="3358800"/>
            <a:ext cx="3240000" cy="108000"/>
          </a:xfrm>
          <a:prstGeom prst="rect">
            <a:avLst/>
          </a:prstGeom>
          <a:noFill/>
        </p:spPr>
        <p:txBody>
          <a:bodyPr wrap="square">
            <a:spAutoFit/>
          </a:bodyPr>
          <a:lstStyle/>
          <a:p>
            <a:pPr algn="l"/>
            <a:r>
              <a:rPr sz="680" b="0" i="0">
                <a:solidFill>
                  <a:srgbClr val="555555"/>
                </a:solidFill>
              </a:rPr>
              <a:t>AAPL      Apple Inc               13.6 %</a:t>
            </a:r>
          </a:p>
        </p:txBody>
      </p:sp>
      <p:sp>
        <p:nvSpPr>
          <p:cNvPr id="43" name="TextBox 42"/>
          <p:cNvSpPr txBox="1"/>
          <p:nvPr/>
        </p:nvSpPr>
        <p:spPr>
          <a:xfrm>
            <a:off x="5508000" y="3466800"/>
            <a:ext cx="3240000" cy="108000"/>
          </a:xfrm>
          <a:prstGeom prst="rect">
            <a:avLst/>
          </a:prstGeom>
          <a:noFill/>
        </p:spPr>
        <p:txBody>
          <a:bodyPr wrap="square">
            <a:spAutoFit/>
          </a:bodyPr>
          <a:lstStyle/>
          <a:p>
            <a:pPr algn="l"/>
            <a:r>
              <a:rPr sz="680" b="0" i="0">
                <a:solidFill>
                  <a:srgbClr val="555555"/>
                </a:solidFill>
              </a:rPr>
              <a:t>MSFT      Microsoft Corp          10.0 %</a:t>
            </a:r>
          </a:p>
        </p:txBody>
      </p:sp>
      <p:sp>
        <p:nvSpPr>
          <p:cNvPr id="44" name="TextBox 43"/>
          <p:cNvSpPr txBox="1"/>
          <p:nvPr/>
        </p:nvSpPr>
        <p:spPr>
          <a:xfrm>
            <a:off x="5508000" y="3574800"/>
            <a:ext cx="3240000" cy="108000"/>
          </a:xfrm>
          <a:prstGeom prst="rect">
            <a:avLst/>
          </a:prstGeom>
          <a:noFill/>
        </p:spPr>
        <p:txBody>
          <a:bodyPr wrap="square">
            <a:spAutoFit/>
          </a:bodyPr>
          <a:lstStyle/>
          <a:p>
            <a:pPr algn="l"/>
            <a:r>
              <a:rPr sz="680" b="0" i="0">
                <a:solidFill>
                  <a:srgbClr val="555555"/>
                </a:solidFill>
              </a:rPr>
              <a:t>AVGO      Broadcom Inc             5.4 %</a:t>
            </a:r>
          </a:p>
        </p:txBody>
      </p:sp>
      <p:sp>
        <p:nvSpPr>
          <p:cNvPr id="45" name="TextBox 44"/>
          <p:cNvSpPr txBox="1"/>
          <p:nvPr/>
        </p:nvSpPr>
        <p:spPr>
          <a:xfrm>
            <a:off x="5508000" y="3682800"/>
            <a:ext cx="3240000" cy="108000"/>
          </a:xfrm>
          <a:prstGeom prst="rect">
            <a:avLst/>
          </a:prstGeom>
          <a:noFill/>
        </p:spPr>
        <p:txBody>
          <a:bodyPr wrap="square">
            <a:spAutoFit/>
          </a:bodyPr>
          <a:lstStyle/>
          <a:p>
            <a:pPr algn="l"/>
            <a:r>
              <a:rPr sz="680" b="0" i="0">
                <a:solidFill>
                  <a:srgbClr val="555555"/>
                </a:solidFill>
              </a:rPr>
              <a:t>MU        Micron Technology Inc    3.4 %</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Technologie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25.5x</a:t>
                      </a:r>
                    </a:p>
                  </a:txBody>
                  <a:tcPr>
                    <a:noFill/>
                  </a:tcPr>
                </a:tc>
                <a:tc>
                  <a:txBody>
                    <a:bodyPr/>
                    <a:lstStyle/>
                    <a:p>
                      <a:pPr algn="ctr"/>
                      <a:r>
                        <a:rPr sz="750" b="0">
                          <a:solidFill>
                            <a:srgbClr val="1A1A1A"/>
                          </a:solidFill>
                        </a:rPr>
                        <a:t>9.5x</a:t>
                      </a:r>
                    </a:p>
                  </a:txBody>
                  <a:tcPr>
                    <a:noFill/>
                  </a:tcPr>
                </a:tc>
                <a:tc>
                  <a:txBody>
                    <a:bodyPr/>
                    <a:lstStyle/>
                    <a:p>
                      <a:pPr algn="ctr"/>
                      <a:r>
                        <a:rPr sz="750" b="0">
                          <a:solidFill>
                            <a:srgbClr val="1A1A1A"/>
                          </a:solidFill>
                        </a:rPr>
                        <a:t>30.7x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34.1x</a:t>
                      </a:r>
                    </a:p>
                  </a:txBody>
                  <a:tcPr>
                    <a:solidFill>
                      <a:srgbClr val="F5F7FA"/>
                    </a:solidFill>
                  </a:tcPr>
                </a:tc>
                <a:tc>
                  <a:txBody>
                    <a:bodyPr/>
                    <a:lstStyle/>
                    <a:p>
                      <a:pPr algn="ctr"/>
                      <a:r>
                        <a:rPr sz="750" b="0">
                          <a:solidFill>
                            <a:srgbClr val="1A1A1A"/>
                          </a:solidFill>
                        </a:rPr>
                        <a:t>21.1x</a:t>
                      </a:r>
                    </a:p>
                  </a:txBody>
                  <a:tcPr>
                    <a:solidFill>
                      <a:srgbClr val="F5F7FA"/>
                    </a:solidFill>
                  </a:tcPr>
                </a:tc>
                <a:tc>
                  <a:txBody>
                    <a:bodyPr/>
                    <a:lstStyle/>
                    <a:p>
                      <a:pPr algn="ctr"/>
                      <a:r>
                        <a:rPr sz="750" b="0">
                          <a:solidFill>
                            <a:srgbClr val="1A1A1A"/>
                          </a:solidFill>
                        </a:rPr>
                        <a:t>39.8x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8.0x</a:t>
                      </a:r>
                    </a:p>
                  </a:txBody>
                  <a:tcPr>
                    <a:noFill/>
                  </a:tcPr>
                </a:tc>
                <a:tc>
                  <a:txBody>
                    <a:bodyPr/>
                    <a:lstStyle/>
                    <a:p>
                      <a:pPr algn="ctr"/>
                      <a:r>
                        <a:rPr sz="750" b="0">
                          <a:solidFill>
                            <a:srgbClr val="1A1A1A"/>
                          </a:solidFill>
                        </a:rPr>
                        <a:t>28.2x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25.0x</a:t>
                      </a:r>
                    </a:p>
                  </a:txBody>
                  <a:tcPr>
                    <a:solidFill>
                      <a:srgbClr val="F5F7FA"/>
                    </a:solidFill>
                  </a:tcPr>
                </a:tc>
                <a:tc>
                  <a:txBody>
                    <a:bodyPr/>
                    <a:lstStyle/>
                    <a:p>
                      <a:pPr algn="ctr"/>
                      <a:r>
                        <a:rPr sz="750" b="0">
                          <a:solidFill>
                            <a:srgbClr val="1A1A1A"/>
                          </a:solidFill>
                        </a:rPr>
                        <a:t>8.8x</a:t>
                      </a:r>
                    </a:p>
                  </a:txBody>
                  <a:tcPr>
                    <a:solidFill>
                      <a:srgbClr val="F5F7FA"/>
                    </a:solidFill>
                  </a:tcPr>
                </a:tc>
                <a:tc>
                  <a:txBody>
                    <a:bodyPr/>
                    <a:lstStyle/>
                    <a:p>
                      <a:pPr algn="ctr"/>
                      <a:r>
                        <a:rPr sz="750" b="0">
                          <a:solidFill>
                            <a:srgbClr val="1A1A1A"/>
                          </a:solidFill>
                        </a:rPr>
                        <a:t>32.6x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16.5x</a:t>
                      </a:r>
                    </a:p>
                  </a:txBody>
                  <a:tcPr>
                    <a:noFill/>
                  </a:tcPr>
                </a:tc>
                <a:tc>
                  <a:txBody>
                    <a:bodyPr/>
                    <a:lstStyle/>
                    <a:p>
                      <a:pPr algn="ctr"/>
                      <a:r>
                        <a:rPr sz="750" b="0">
                          <a:solidFill>
                            <a:srgbClr val="1A1A1A"/>
                          </a:solidFill>
                        </a:rPr>
                        <a:t>9.5x</a:t>
                      </a:r>
                    </a:p>
                  </a:txBody>
                  <a:tcPr>
                    <a:noFill/>
                  </a:tcPr>
                </a:tc>
                <a:tc>
                  <a:txBody>
                    <a:bodyPr/>
                    <a:lstStyle/>
                    <a:p>
                      <a:pPr algn="ctr"/>
                      <a:r>
                        <a:rPr sz="750" b="0">
                          <a:solidFill>
                            <a:srgbClr val="1A1A1A"/>
                          </a:solidFill>
                        </a:rPr>
                        <a:t>24.5x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49.7x</a:t>
                      </a:r>
                    </a:p>
                  </a:txBody>
                  <a:tcPr>
                    <a:solidFill>
                      <a:srgbClr val="F5F7FA"/>
                    </a:solidFill>
                  </a:tcPr>
                </a:tc>
                <a:tc>
                  <a:txBody>
                    <a:bodyPr/>
                    <a:lstStyle/>
                    <a:p>
                      <a:pPr algn="ctr"/>
                      <a:r>
                        <a:rPr sz="750" b="0">
                          <a:solidFill>
                            <a:srgbClr val="1A1A1A"/>
                          </a:solidFill>
                        </a:rPr>
                        <a:t>27.1x</a:t>
                      </a:r>
                    </a:p>
                  </a:txBody>
                  <a:tcPr>
                    <a:solidFill>
                      <a:srgbClr val="F5F7FA"/>
                    </a:solidFill>
                  </a:tcPr>
                </a:tc>
                <a:tc>
                  <a:txBody>
                    <a:bodyPr/>
                    <a:lstStyle/>
                    <a:p>
                      <a:pPr algn="ctr"/>
                      <a:r>
                        <a:rPr sz="750" b="0">
                          <a:solidFill>
                            <a:srgbClr val="1A1A1A"/>
                          </a:solidFill>
                        </a:rPr>
                        <a:t>73.9x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21.0x</a:t>
                      </a:r>
                    </a:p>
                  </a:txBody>
                  <a:tcPr>
                    <a:noFill/>
                  </a:tcPr>
                </a:tc>
                <a:tc>
                  <a:txBody>
                    <a:bodyPr/>
                    <a:lstStyle/>
                    <a:p>
                      <a:pPr algn="ctr"/>
                      <a:r>
                        <a:rPr sz="750" b="0">
                          <a:solidFill>
                            <a:srgbClr val="1A1A1A"/>
                          </a:solidFill>
                        </a:rPr>
                        <a:t>9.0x</a:t>
                      </a:r>
                    </a:p>
                  </a:txBody>
                  <a:tcPr>
                    <a:noFill/>
                  </a:tcPr>
                </a:tc>
                <a:tc>
                  <a:txBody>
                    <a:bodyPr/>
                    <a:lstStyle/>
                    <a:p>
                      <a:pPr algn="ctr"/>
                      <a:r>
                        <a:rPr sz="750" b="0">
                          <a:solidFill>
                            <a:srgbClr val="1A1A1A"/>
                          </a:solidFill>
                        </a:rPr>
                        <a:t>29.2x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58.7x</a:t>
                      </a:r>
                    </a:p>
                  </a:txBody>
                  <a:tcPr>
                    <a:solidFill>
                      <a:srgbClr val="F5F7FA"/>
                    </a:solidFill>
                  </a:tcPr>
                </a:tc>
                <a:tc>
                  <a:txBody>
                    <a:bodyPr/>
                    <a:lstStyle/>
                    <a:p>
                      <a:pPr algn="ctr"/>
                      <a:r>
                        <a:rPr sz="750" b="0">
                          <a:solidFill>
                            <a:srgbClr val="1A1A1A"/>
                          </a:solidFill>
                        </a:rPr>
                        <a:t>11.4x</a:t>
                      </a:r>
                    </a:p>
                  </a:txBody>
                  <a:tcPr>
                    <a:solidFill>
                      <a:srgbClr val="F5F7FA"/>
                    </a:solidFill>
                  </a:tcPr>
                </a:tc>
                <a:tc>
                  <a:txBody>
                    <a:bodyPr/>
                    <a:lstStyle/>
                    <a:p>
                      <a:pPr algn="ctr"/>
                      <a:r>
                        <a:rPr sz="750" b="0">
                          <a:solidFill>
                            <a:srgbClr val="1A1A1A"/>
                          </a:solidFill>
                        </a:rPr>
                        <a:t>97.0x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MÉDIANE</a:t>
                      </a:r>
                    </a:p>
                  </a:txBody>
                  <a:tcPr>
                    <a:noFill/>
                  </a:tcPr>
                </a:tc>
                <a:tc>
                  <a:txBody>
                    <a:bodyPr/>
                    <a:lstStyle/>
                    <a:p>
                      <a:pPr algn="ctr"/>
                      <a:r>
                        <a:rPr sz="750" b="0">
                          <a:solidFill>
                            <a:srgbClr val="1A1A1A"/>
                          </a:solidFill>
                        </a:rPr>
                        <a:t>25.3x</a:t>
                      </a:r>
                    </a:p>
                  </a:txBody>
                  <a:tcPr>
                    <a:noFill/>
                  </a:tcPr>
                </a:tc>
                <a:tc>
                  <a:txBody>
                    <a:bodyPr/>
                    <a:lstStyle/>
                    <a:p>
                      <a:pPr algn="ctr"/>
                      <a:r>
                        <a:rPr sz="750" b="0">
                          <a:solidFill>
                            <a:srgbClr val="1A1A1A"/>
                          </a:solidFill>
                        </a:rPr>
                        <a:t>9.5x</a:t>
                      </a:r>
                    </a:p>
                  </a:txBody>
                  <a:tcPr>
                    <a:noFill/>
                  </a:tcPr>
                </a:tc>
                <a:tc>
                  <a:txBody>
                    <a:bodyPr/>
                    <a:lstStyle/>
                    <a:p>
                      <a:pPr algn="ctr"/>
                      <a:r>
                        <a:rPr sz="750" b="0">
                          <a:solidFill>
                            <a:srgbClr val="1A1A1A"/>
                          </a:solidFill>
                        </a:rPr>
                        <a:t>31.7x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Médiane EV/EBITDA sectorielle s établit a 25.3x LTM. Alphabet Inc. (25.5x) se distingue comme le leader de qualité, combine a une marge EBITDA de 37.3 % et une croissance de +18.0 %. La dispersion des multiples revele l hétérogèneite des profils au sein du secteur Technologie — une lecture croisée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Technologie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Adoption IA</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L'intégration de l'IA dans les workflows professionnels et grand public devrait accélérer la croissance organique des revenus pour GOOGL et META.</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Cloud</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 migration continue des entreprises vers le cloud hybride et multi-cloud soutient la croissance des revenus récurrents pour les acteurs comme GOOGL et META.</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Marges publicitaires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Une saturation du marché publicitaire digital pourrait exercer une pression à la baisse sur les marges EBITDA des plateformes comme META et GOOGL.</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Coûts R&amp;D</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L'augmentation des dépenses en R&amp;D pour maintenir l'innovation (notamment en IA) pourrait peser sur les marges à court terme pour NVDA et GOOGL.</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Médian : 11.4 %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Phase de maturité avancée avec croissance supérieure au PIB, mais exposition accrue aux cycles technologiques et réglementaires.</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1A7A4A"/>
                </a:solidFill>
              </a:rPr>
              <a:t>Régime : Bull</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10%  (Faible)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par Sous-Secteur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Technologie  ·  4 industries GICS identifiées</a:t>
            </a:r>
          </a:p>
        </p:txBody>
      </p:sp>
      <p:graphicFrame>
        <p:nvGraphicFramePr>
          <p:cNvPr id="15" name="Table 14"/>
          <p:cNvGraphicFramePr>
            <a:graphicFrameLocks noGrp="1"/>
          </p:cNvGraphicFramePr>
          <p:nvPr/>
        </p:nvGraphicFramePr>
        <p:xfrm>
          <a:off x="324000" y="792000"/>
          <a:ext cx="8495997" cy="766800"/>
        </p:xfrm>
        <a:graphic>
          <a:graphicData uri="http://schemas.openxmlformats.org/drawingml/2006/table">
            <a:tbl>
              <a:tblPr firstRow="1" bandRow="1">
                <a:tableStyleId>{5C22544A-7EE6-4342-B048-85BDC9FD1C3A}</a:tableStyleId>
              </a:tblPr>
              <a:tblGrid>
                <a:gridCol w="2404528"/>
                <a:gridCol w="601132"/>
                <a:gridCol w="721358"/>
                <a:gridCol w="1122113"/>
                <a:gridCol w="1001886"/>
                <a:gridCol w="881660"/>
                <a:gridCol w="881660"/>
                <a:gridCol w="881660"/>
              </a:tblGrid>
              <a:tr h="153360">
                <a:tc>
                  <a:txBody>
                    <a:bodyPr/>
                    <a:lstStyle/>
                    <a:p>
                      <a:pPr algn="l"/>
                      <a:r>
                        <a:rPr sz="800" b="1">
                          <a:solidFill>
                            <a:srgbClr val="FFFFFF"/>
                          </a:solidFill>
                        </a:rPr>
                        <a:t>Sous-secteur</a:t>
                      </a:r>
                    </a:p>
                  </a:txBody>
                  <a:tcPr>
                    <a:solidFill>
                      <a:srgbClr val="1B3A6B"/>
                    </a:solidFill>
                  </a:tcPr>
                </a:tc>
                <a:tc>
                  <a:txBody>
                    <a:bodyPr/>
                    <a:lstStyle/>
                    <a:p>
                      <a:pPr algn="ctr"/>
                      <a:r>
                        <a:rPr sz="800" b="1">
                          <a:solidFill>
                            <a:srgbClr val="FFFFFF"/>
                          </a:solidFill>
                        </a:rPr>
                        <a:t>Nb</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Marge</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153360">
                <a:tc>
                  <a:txBody>
                    <a:bodyPr/>
                    <a:lstStyle/>
                    <a:p>
                      <a:pPr algn="l"/>
                      <a:r>
                        <a:rPr sz="800">
                          <a:solidFill>
                            <a:srgbClr val="1A1A1A"/>
                          </a:solidFill>
                        </a:rPr>
                        <a:t>Internet Content &amp; Informati</a:t>
                      </a:r>
                    </a:p>
                  </a:txBody>
                  <a:tcPr>
                    <a:solidFill>
                      <a:srgbClr val="F5F7FA"/>
                    </a:solidFill>
                  </a:tcPr>
                </a:tc>
                <a:tc>
                  <a:txBody>
                    <a:bodyPr/>
                    <a:lstStyle/>
                    <a:p>
                      <a:pPr algn="ctr"/>
                      <a:r>
                        <a:rPr sz="800">
                          <a:solidFill>
                            <a:srgbClr val="1A1A1A"/>
                          </a:solidFill>
                        </a:rPr>
                        <a:t>2</a:t>
                      </a:r>
                    </a:p>
                  </a:txBody>
                  <a:tcPr>
                    <a:solidFill>
                      <a:srgbClr val="F5F7FA"/>
                    </a:solidFill>
                  </a:tcPr>
                </a:tc>
                <a:tc>
                  <a:txBody>
                    <a:bodyPr/>
                    <a:lstStyle/>
                    <a:p>
                      <a:pPr algn="ctr"/>
                      <a:r>
                        <a:rPr sz="800">
                          <a:solidFill>
                            <a:srgbClr val="1A1A1A"/>
                          </a:solidFill>
                        </a:rPr>
                        <a:t>80</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20.6x</a:t>
                      </a:r>
                    </a:p>
                  </a:txBody>
                  <a:tcPr>
                    <a:solidFill>
                      <a:srgbClr val="F5F7FA"/>
                    </a:solidFill>
                  </a:tcPr>
                </a:tc>
                <a:tc>
                  <a:txBody>
                    <a:bodyPr/>
                    <a:lstStyle/>
                    <a:p>
                      <a:pPr algn="ctr"/>
                      <a:r>
                        <a:rPr sz="800">
                          <a:solidFill>
                            <a:srgbClr val="1A1A1A"/>
                          </a:solidFill>
                        </a:rPr>
                        <a:t>44.0%</a:t>
                      </a:r>
                    </a:p>
                  </a:txBody>
                  <a:tcPr>
                    <a:solidFill>
                      <a:srgbClr val="F5F7FA"/>
                    </a:solidFill>
                  </a:tcPr>
                </a:tc>
                <a:tc>
                  <a:txBody>
                    <a:bodyPr/>
                    <a:lstStyle/>
                    <a:p>
                      <a:pPr algn="ctr"/>
                      <a:r>
                        <a:rPr sz="800">
                          <a:solidFill>
                            <a:srgbClr val="1A1A1A"/>
                          </a:solidFill>
                        </a:rPr>
                        <a:t>+20.9%</a:t>
                      </a:r>
                    </a:p>
                  </a:txBody>
                  <a:tcPr>
                    <a:solidFill>
                      <a:srgbClr val="F5F7FA"/>
                    </a:solidFill>
                  </a:tcPr>
                </a:tc>
                <a:tc>
                  <a:txBody>
                    <a:bodyPr/>
                    <a:lstStyle/>
                    <a:p>
                      <a:pPr algn="ctr"/>
                      <a:r>
                        <a:rPr sz="800">
                          <a:solidFill>
                            <a:srgbClr val="1A1A1A"/>
                          </a:solidFill>
                        </a:rPr>
                        <a:t>+63.6%</a:t>
                      </a:r>
                    </a:p>
                  </a:txBody>
                  <a:tcPr>
                    <a:solidFill>
                      <a:srgbClr val="F5F7FA"/>
                    </a:solidFill>
                  </a:tcPr>
                </a:tc>
              </a:tr>
              <a:tr h="153360">
                <a:tc>
                  <a:txBody>
                    <a:bodyPr/>
                    <a:lstStyle/>
                    <a:p>
                      <a:pPr algn="l"/>
                      <a:r>
                        <a:rPr sz="800">
                          <a:solidFill>
                            <a:srgbClr val="1A1A1A"/>
                          </a:solidFill>
                        </a:rPr>
                        <a:t>Consumer Electronics</a:t>
                      </a:r>
                    </a:p>
                  </a:txBody>
                  <a:tcPr>
                    <a:solidFill>
                      <a:srgbClr val="FFFFFF"/>
                    </a:solidFill>
                  </a:tcPr>
                </a:tc>
                <a:tc>
                  <a:txBody>
                    <a:bodyPr/>
                    <a:lstStyle/>
                    <a:p>
                      <a:pPr algn="ctr"/>
                      <a:r>
                        <a:rPr sz="800">
                          <a:solidFill>
                            <a:srgbClr val="1A1A1A"/>
                          </a:solidFill>
                        </a:rPr>
                        <a:t>1</a:t>
                      </a:r>
                    </a:p>
                  </a:txBody>
                  <a:tcPr>
                    <a:solidFill>
                      <a:srgbClr val="FFFFFF"/>
                    </a:solidFill>
                  </a:tcPr>
                </a:tc>
                <a:tc>
                  <a:txBody>
                    <a:bodyPr/>
                    <a:lstStyle/>
                    <a:p>
                      <a:pPr algn="ctr"/>
                      <a:r>
                        <a:rPr sz="800">
                          <a:solidFill>
                            <a:srgbClr val="1A1A1A"/>
                          </a:solidFill>
                        </a:rPr>
                        <a:t>75</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25.0x</a:t>
                      </a:r>
                    </a:p>
                  </a:txBody>
                  <a:tcPr>
                    <a:solidFill>
                      <a:srgbClr val="FFFFFF"/>
                    </a:solidFill>
                  </a:tcPr>
                </a:tc>
                <a:tc>
                  <a:txBody>
                    <a:bodyPr/>
                    <a:lstStyle/>
                    <a:p>
                      <a:pPr algn="ctr"/>
                      <a:r>
                        <a:rPr sz="800">
                          <a:solidFill>
                            <a:srgbClr val="1A1A1A"/>
                          </a:solidFill>
                        </a:rPr>
                        <a:t>35.1%</a:t>
                      </a:r>
                    </a:p>
                  </a:txBody>
                  <a:tcPr>
                    <a:solidFill>
                      <a:srgbClr val="FFFFFF"/>
                    </a:solidFill>
                  </a:tcPr>
                </a:tc>
                <a:tc>
                  <a:txBody>
                    <a:bodyPr/>
                    <a:lstStyle/>
                    <a:p>
                      <a:pPr algn="ctr"/>
                      <a:r>
                        <a:rPr sz="800">
                          <a:solidFill>
                            <a:srgbClr val="1A1A1A"/>
                          </a:solidFill>
                        </a:rPr>
                        <a:t>+15.7%</a:t>
                      </a:r>
                    </a:p>
                  </a:txBody>
                  <a:tcPr>
                    <a:solidFill>
                      <a:srgbClr val="FFFFFF"/>
                    </a:solidFill>
                  </a:tcPr>
                </a:tc>
                <a:tc>
                  <a:txBody>
                    <a:bodyPr/>
                    <a:lstStyle/>
                    <a:p>
                      <a:pPr algn="ctr"/>
                      <a:r>
                        <a:rPr sz="800">
                          <a:solidFill>
                            <a:srgbClr val="1A1A1A"/>
                          </a:solidFill>
                        </a:rPr>
                        <a:t>+28.2%</a:t>
                      </a:r>
                    </a:p>
                  </a:txBody>
                  <a:tcPr>
                    <a:solidFill>
                      <a:srgbClr val="FFFFFF"/>
                    </a:solidFill>
                  </a:tcPr>
                </a:tc>
              </a:tr>
              <a:tr h="153360">
                <a:tc>
                  <a:txBody>
                    <a:bodyPr/>
                    <a:lstStyle/>
                    <a:p>
                      <a:pPr algn="l"/>
                      <a:r>
                        <a:rPr sz="800">
                          <a:solidFill>
                            <a:srgbClr val="1A1A1A"/>
                          </a:solidFill>
                        </a:rPr>
                        <a:t>Software - Infrastructure</a:t>
                      </a:r>
                    </a:p>
                  </a:txBody>
                  <a:tcPr>
                    <a:solidFill>
                      <a:srgbClr val="F5F7FA"/>
                    </a:solidFill>
                  </a:tcPr>
                </a:tc>
                <a:tc>
                  <a:txBody>
                    <a:bodyPr/>
                    <a:lstStyle/>
                    <a:p>
                      <a:pPr algn="ctr"/>
                      <a:r>
                        <a:rPr sz="800">
                          <a:solidFill>
                            <a:srgbClr val="1A1A1A"/>
                          </a:solidFill>
                        </a:rPr>
                        <a:t>2</a:t>
                      </a:r>
                    </a:p>
                  </a:txBody>
                  <a:tcPr>
                    <a:solidFill>
                      <a:srgbClr val="F5F7FA"/>
                    </a:solidFill>
                  </a:tcPr>
                </a:tc>
                <a:tc>
                  <a:txBody>
                    <a:bodyPr/>
                    <a:lstStyle/>
                    <a:p>
                      <a:pPr algn="ctr"/>
                      <a:r>
                        <a:rPr sz="800">
                          <a:solidFill>
                            <a:srgbClr val="1A1A1A"/>
                          </a:solidFill>
                        </a:rPr>
                        <a:t>75</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18.7x</a:t>
                      </a:r>
                    </a:p>
                  </a:txBody>
                  <a:tcPr>
                    <a:solidFill>
                      <a:srgbClr val="F5F7FA"/>
                    </a:solidFill>
                  </a:tcPr>
                </a:tc>
                <a:tc>
                  <a:txBody>
                    <a:bodyPr/>
                    <a:lstStyle/>
                    <a:p>
                      <a:pPr algn="ctr"/>
                      <a:r>
                        <a:rPr sz="800">
                          <a:solidFill>
                            <a:srgbClr val="1A1A1A"/>
                          </a:solidFill>
                        </a:rPr>
                        <a:t>50.1%</a:t>
                      </a:r>
                    </a:p>
                  </a:txBody>
                  <a:tcPr>
                    <a:solidFill>
                      <a:srgbClr val="F5F7FA"/>
                    </a:solidFill>
                  </a:tcPr>
                </a:tc>
                <a:tc>
                  <a:txBody>
                    <a:bodyPr/>
                    <a:lstStyle/>
                    <a:p>
                      <a:pPr algn="ctr"/>
                      <a:r>
                        <a:rPr sz="800">
                          <a:solidFill>
                            <a:srgbClr val="1A1A1A"/>
                          </a:solidFill>
                        </a:rPr>
                        <a:t>+19.2%</a:t>
                      </a:r>
                    </a:p>
                  </a:txBody>
                  <a:tcPr>
                    <a:solidFill>
                      <a:srgbClr val="F5F7FA"/>
                    </a:solidFill>
                  </a:tcPr>
                </a:tc>
                <a:tc>
                  <a:txBody>
                    <a:bodyPr/>
                    <a:lstStyle/>
                    <a:p>
                      <a:pPr algn="ctr"/>
                      <a:r>
                        <a:rPr sz="800">
                          <a:solidFill>
                            <a:srgbClr val="1A1A1A"/>
                          </a:solidFill>
                        </a:rPr>
                        <a:t>+7.9%</a:t>
                      </a:r>
                    </a:p>
                  </a:txBody>
                  <a:tcPr>
                    <a:solidFill>
                      <a:srgbClr val="F5F7FA"/>
                    </a:solidFill>
                  </a:tcPr>
                </a:tc>
              </a:tr>
              <a:tr h="153360">
                <a:tc>
                  <a:txBody>
                    <a:bodyPr/>
                    <a:lstStyle/>
                    <a:p>
                      <a:pPr algn="l"/>
                      <a:r>
                        <a:rPr sz="800">
                          <a:solidFill>
                            <a:srgbClr val="1A1A1A"/>
                          </a:solidFill>
                        </a:rPr>
                        <a:t>Semiconductors</a:t>
                      </a:r>
                    </a:p>
                  </a:txBody>
                  <a:tcPr>
                    <a:solidFill>
                      <a:srgbClr val="FFFFFF"/>
                    </a:solidFill>
                  </a:tcPr>
                </a:tc>
                <a:tc>
                  <a:txBody>
                    <a:bodyPr/>
                    <a:lstStyle/>
                    <a:p>
                      <a:pPr algn="ctr"/>
                      <a:r>
                        <a:rPr sz="800">
                          <a:solidFill>
                            <a:srgbClr val="1A1A1A"/>
                          </a:solidFill>
                        </a:rPr>
                        <a:t>3</a:t>
                      </a:r>
                    </a:p>
                  </a:txBody>
                  <a:tcPr>
                    <a:solidFill>
                      <a:srgbClr val="FFFFFF"/>
                    </a:solidFill>
                  </a:tcPr>
                </a:tc>
                <a:tc>
                  <a:txBody>
                    <a:bodyPr/>
                    <a:lstStyle/>
                    <a:p>
                      <a:pPr algn="ctr"/>
                      <a:r>
                        <a:rPr sz="800">
                          <a:solidFill>
                            <a:srgbClr val="1A1A1A"/>
                          </a:solidFill>
                        </a:rPr>
                        <a:t>74</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49.7x</a:t>
                      </a:r>
                    </a:p>
                  </a:txBody>
                  <a:tcPr>
                    <a:solidFill>
                      <a:srgbClr val="FFFFFF"/>
                    </a:solidFill>
                  </a:tcPr>
                </a:tc>
                <a:tc>
                  <a:txBody>
                    <a:bodyPr/>
                    <a:lstStyle/>
                    <a:p>
                      <a:pPr algn="ctr"/>
                      <a:r>
                        <a:rPr sz="800">
                          <a:solidFill>
                            <a:srgbClr val="1A1A1A"/>
                          </a:solidFill>
                        </a:rPr>
                        <a:t>54.5%</a:t>
                      </a:r>
                    </a:p>
                  </a:txBody>
                  <a:tcPr>
                    <a:solidFill>
                      <a:srgbClr val="FFFFFF"/>
                    </a:solidFill>
                  </a:tcPr>
                </a:tc>
                <a:tc>
                  <a:txBody>
                    <a:bodyPr/>
                    <a:lstStyle/>
                    <a:p>
                      <a:pPr algn="ctr"/>
                      <a:r>
                        <a:rPr sz="800">
                          <a:solidFill>
                            <a:srgbClr val="1A1A1A"/>
                          </a:solidFill>
                        </a:rPr>
                        <a:t>+34.1%</a:t>
                      </a:r>
                    </a:p>
                  </a:txBody>
                  <a:tcPr>
                    <a:solidFill>
                      <a:srgbClr val="FFFFFF"/>
                    </a:solidFill>
                  </a:tcPr>
                </a:tc>
                <a:tc>
                  <a:txBody>
                    <a:bodyPr/>
                    <a:lstStyle/>
                    <a:p>
                      <a:pPr algn="ctr"/>
                      <a:r>
                        <a:rPr sz="800">
                          <a:solidFill>
                            <a:srgbClr val="1A1A1A"/>
                          </a:solidFill>
                        </a:rPr>
                        <a:t>+112.2%</a:t>
                      </a:r>
                    </a:p>
                  </a:txBody>
                  <a:tcPr>
                    <a:solidFill>
                      <a:srgbClr val="FFFFFF"/>
                    </a:solidFill>
                  </a:tcPr>
                </a:tc>
              </a:tr>
            </a:tbl>
          </a:graphicData>
        </a:graphic>
      </p:graphicFrame>
      <p:sp>
        <p:nvSpPr>
          <p:cNvPr id="16" name="Rectangle 15"/>
          <p:cNvSpPr/>
          <p:nvPr/>
        </p:nvSpPr>
        <p:spPr>
          <a:xfrm>
            <a:off x="324000" y="1792800"/>
            <a:ext cx="849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1839600"/>
            <a:ext cx="8352000" cy="162000"/>
          </a:xfrm>
          <a:prstGeom prst="rect">
            <a:avLst/>
          </a:prstGeom>
          <a:noFill/>
        </p:spPr>
        <p:txBody>
          <a:bodyPr wrap="square">
            <a:spAutoFit/>
          </a:bodyPr>
          <a:lstStyle/>
          <a:p>
            <a:pPr algn="l"/>
            <a:r>
              <a:rPr sz="1000" b="1" i="0">
                <a:solidFill>
                  <a:srgbClr val="FFFFFF"/>
                </a:solidFill>
              </a:rPr>
              <a:t>LEADERSHIP INTERNET CONTENT &amp; I — score 80/100</a:t>
            </a:r>
          </a:p>
        </p:txBody>
      </p:sp>
      <p:sp>
        <p:nvSpPr>
          <p:cNvPr id="18" name="Rectangle 17"/>
          <p:cNvSpPr/>
          <p:nvPr/>
        </p:nvSpPr>
        <p:spPr>
          <a:xfrm>
            <a:off x="324000" y="20808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20808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2134800"/>
            <a:ext cx="8424000" cy="1530000"/>
          </a:xfrm>
          <a:prstGeom prst="rect">
            <a:avLst/>
          </a:prstGeom>
          <a:noFill/>
        </p:spPr>
        <p:txBody>
          <a:bodyPr wrap="square">
            <a:spAutoFit/>
          </a:bodyPr>
          <a:lstStyle/>
          <a:p>
            <a:pPr algn="l"/>
            <a:r>
              <a:rPr sz="900" b="0" i="0">
                <a:solidFill>
                  <a:srgbClr val="555555"/>
                </a:solidFill>
              </a:rPr>
              <a:t>Le sous-segment Internet Content &amp; Information ressort en tête du classement avec un score composite de 80/100 et un signal surpondérer, porté par 2 acteurs dont GOOGL, META. La valorisation médiane ressort sur 20.6x EV/EBITDA avec une marge EBITDA de 44.0% et une trajectoire top-line à +20.9% YoY. À l'inverse, Semiconductors ferme la Marché (74/100, signal surpondérer), reflétant des fondamentaux sous pression ou une valorisation déjà tendue. L'écart de 6 points entre les extrêmes du classement justifie une approche sélective plutôt qu'une exposition beta uniforme au secteur. Cette cartographie guide le calibrage d'allocation sous-sectorielle : Surpondérer les segments avec score ≥ 60 et momentum positif, Sous-pondérer les segments avec marges compressees ou croissance negative, et conserver une exposition neutre aux segments en transition.</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Technologie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332.06</a:t>
                      </a:r>
                    </a:p>
                  </a:txBody>
                  <a:tcPr>
                    <a:noFill/>
                  </a:tcPr>
                </a:tc>
                <a:tc>
                  <a:txBody>
                    <a:bodyPr/>
                    <a:lstStyle/>
                    <a:p>
                      <a:pPr algn="ctr"/>
                      <a:r>
                        <a:rPr sz="750" b="0">
                          <a:solidFill>
                            <a:srgbClr val="1A1A1A"/>
                          </a:solidFill>
                        </a:rPr>
                        <a:t>25.5x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+105.6 %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195.2401</a:t>
                      </a:r>
                    </a:p>
                  </a:txBody>
                  <a:tcPr>
                    <a:solidFill>
                      <a:srgbClr val="F5F7FA"/>
                    </a:solidFill>
                  </a:tcPr>
                </a:tc>
                <a:tc>
                  <a:txBody>
                    <a:bodyPr/>
                    <a:lstStyle/>
                    <a:p>
                      <a:pPr algn="ctr"/>
                      <a:r>
                        <a:rPr sz="750" b="0">
                          <a:solidFill>
                            <a:srgbClr val="1A1A1A"/>
                          </a:solidFill>
                        </a:rPr>
                        <a:t>34.1x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+68.7 %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661.58</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+21.7 %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257.79</a:t>
                      </a:r>
                    </a:p>
                  </a:txBody>
                  <a:tcPr>
                    <a:solidFill>
                      <a:srgbClr val="F5F7FA"/>
                    </a:solidFill>
                  </a:tcPr>
                </a:tc>
                <a:tc>
                  <a:txBody>
                    <a:bodyPr/>
                    <a:lstStyle/>
                    <a:p>
                      <a:pPr algn="ctr"/>
                      <a:r>
                        <a:rPr sz="750" b="0">
                          <a:solidFill>
                            <a:srgbClr val="1A1A1A"/>
                          </a:solidFill>
                        </a:rPr>
                        <a:t>25.0x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+28.2 %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391.5</a:t>
                      </a:r>
                    </a:p>
                  </a:txBody>
                  <a:tcPr>
                    <a:noFill/>
                  </a:tcPr>
                </a:tc>
                <a:tc>
                  <a:txBody>
                    <a:bodyPr/>
                    <a:lstStyle/>
                    <a:p>
                      <a:pPr algn="ctr"/>
                      <a:r>
                        <a:rPr sz="750" b="0">
                          <a:solidFill>
                            <a:srgbClr val="1A1A1A"/>
                          </a:solidFill>
                        </a:rPr>
                        <a:t>16.5x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-0.4 %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378.98</a:t>
                      </a:r>
                    </a:p>
                  </a:txBody>
                  <a:tcPr>
                    <a:solidFill>
                      <a:srgbClr val="F5F7FA"/>
                    </a:solidFill>
                  </a:tcPr>
                </a:tc>
                <a:tc>
                  <a:txBody>
                    <a:bodyPr/>
                    <a:lstStyle/>
                    <a:p>
                      <a:pPr algn="ctr"/>
                      <a:r>
                        <a:rPr sz="750" b="0">
                          <a:solidFill>
                            <a:srgbClr val="1A1A1A"/>
                          </a:solidFill>
                        </a:rPr>
                        <a:t>49.7x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+29.5 %</a:t>
                      </a:r>
                    </a:p>
                  </a:txBody>
                  <a:tcPr>
                    <a:solidFill>
                      <a:srgbClr val="F5F7FA"/>
                    </a:solidFill>
                  </a:tcPr>
                </a:tc>
                <a:tc>
                  <a:txBody>
                    <a:bodyPr/>
                    <a:lstStyle/>
                    <a:p>
                      <a:pPr algn="ctr"/>
                      <a:r>
                        <a:rPr sz="750" b="0">
                          <a:solidFill>
                            <a:srgbClr val="1A1A1A"/>
                          </a:solidFill>
                        </a:rPr>
                        <a:t>+112.2 %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162.43</a:t>
                      </a:r>
                    </a:p>
                  </a:txBody>
                  <a:tcPr>
                    <a:noFill/>
                  </a:tcPr>
                </a:tc>
                <a:tc>
                  <a:txBody>
                    <a:bodyPr/>
                    <a:lstStyle/>
                    <a:p>
                      <a:pPr algn="ctr"/>
                      <a:r>
                        <a:rPr sz="750" b="0">
                          <a:solidFill>
                            <a:srgbClr val="1A1A1A"/>
                          </a:solidFill>
                        </a:rPr>
                        <a:t>21.0x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+16.2 %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254.15</a:t>
                      </a:r>
                    </a:p>
                  </a:txBody>
                  <a:tcPr>
                    <a:solidFill>
                      <a:srgbClr val="F5F7FA"/>
                    </a:solidFill>
                  </a:tcPr>
                </a:tc>
                <a:tc>
                  <a:txBody>
                    <a:bodyPr/>
                    <a:lstStyle/>
                    <a:p>
                      <a:pPr algn="ctr"/>
                      <a:r>
                        <a:rPr sz="750" b="0">
                          <a:solidFill>
                            <a:srgbClr val="1A1A1A"/>
                          </a:solidFill>
                        </a:rPr>
                        <a:t>58.7x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+159.0 %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Technologie — 8 BUY / 0 HOLD / 0 SELL · Alphabet Inc. en tête (85/100)</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Technologie présente 8 BUY / 0 HOLD / 0 SELL sur 8 valeurs analysées. Alphabet Inc. (score 85/100) constitue le coeur offensif recommande — fondamentaux solides et visibilité supérieure sur les revenus. La répartition des recommandations reflète un positionnément selectif cohérent avec la phase sectorielle actuelle. Les catalyseurs identifies — résultats trimestriels, guidance annuel, opérations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Médiane (opportunité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META offre la meilleure asymétrie — EV/EBITDA de 15.8x sous la Médiane de 25.3x avec un score FinSight de 76/100.
NVDA traite en prime (34.1x vs Médiane 25.3x) — vérifier si la croissance justifié ce multiple.
Médiane sectorielle : 25.3x. Les barres vertes sous cette ligne sont les candidats privilegies a analyser via Analyse Société individuelle (DCF, WACC, scénarios).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1">
                          <a:solidFill>
                            <a:srgbClr val="A82020"/>
                          </a:solidFill>
                        </a:rPr>
                        <a:t>9</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NVDA</a:t>
                      </a:r>
                    </a:p>
                  </a:txBody>
                  <a:tcPr>
                    <a:noFill/>
                  </a:tcPr>
                </a:tc>
                <a:tc>
                  <a:txBody>
                    <a:bodyPr/>
                    <a:lstStyle/>
                    <a:p>
                      <a:pPr algn="ctr"/>
                      <a:r>
                        <a:rPr sz="750" b="0">
                          <a:solidFill>
                            <a:srgbClr val="1A1A1A"/>
                          </a:solidFill>
                        </a:rPr>
                        <a:t>NVIDIA Corporation</a:t>
                      </a:r>
                    </a:p>
                  </a:txBody>
                  <a:tcPr>
                    <a:noFill/>
                  </a:tcPr>
                </a:tc>
                <a:tc>
                  <a:txBody>
                    <a:bodyPr/>
                    <a:lstStyle/>
                    <a:p>
                      <a:pPr algn="ctr"/>
                      <a:r>
                        <a:rPr sz="750" b="0">
                          <a:solidFill>
                            <a:srgbClr val="1A1A1A"/>
                          </a:solidFill>
                        </a:rPr>
                        <a:t>77/100</a:t>
                      </a:r>
                    </a:p>
                  </a:txBody>
                  <a:tcPr>
                    <a:noFill/>
                  </a:tcPr>
                </a:tc>
                <a:tc>
                  <a:txBody>
                    <a:bodyPr/>
                    <a:lstStyle/>
                    <a:p>
                      <a:pPr algn="ctr"/>
                      <a:r>
                        <a:rPr sz="750" b="1">
                          <a:solidFill>
                            <a:srgbClr val="A82020"/>
                          </a:solidFill>
                        </a:rPr>
                        <a:t>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8</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12</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11</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AMD</a:t>
                      </a:r>
                    </a:p>
                  </a:txBody>
                  <a:tcPr>
                    <a:noFill/>
                  </a:tcPr>
                </a:tc>
                <a:tc>
                  <a:txBody>
                    <a:bodyPr/>
                    <a:lstStyle/>
                    <a:p>
                      <a:pPr algn="ctr"/>
                      <a:r>
                        <a:rPr sz="750" b="0">
                          <a:solidFill>
                            <a:srgbClr val="1A1A1A"/>
                          </a:solidFill>
                        </a:rPr>
                        <a:t>Advanced Micro Devices, I</a:t>
                      </a:r>
                    </a:p>
                  </a:txBody>
                  <a:tcPr>
                    <a:noFill/>
                  </a:tcPr>
                </a:tc>
                <a:tc>
                  <a:txBody>
                    <a:bodyPr/>
                    <a:lstStyle/>
                    <a:p>
                      <a:pPr algn="ctr"/>
                      <a:r>
                        <a:rPr sz="750" b="0">
                          <a:solidFill>
                            <a:srgbClr val="1A1A1A"/>
                          </a:solidFill>
                        </a:rPr>
                        <a:t>70/100</a:t>
                      </a:r>
                    </a:p>
                  </a:txBody>
                  <a:tcPr>
                    <a:noFill/>
                  </a:tcPr>
                </a:tc>
                <a:tc>
                  <a:txBody>
                    <a:bodyPr/>
                    <a:lstStyle/>
                    <a:p>
                      <a:pPr algn="ctr"/>
                      <a:r>
                        <a:rPr sz="750" b="1">
                          <a:solidFill>
                            <a:srgbClr val="A82020"/>
                          </a:solidFill>
                        </a:rPr>
                        <a:t>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BUY</a:t>
                      </a:r>
                    </a:p>
                  </a:txBody>
                  <a:tcPr>
                    <a:no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SYNTHÈSE SCORES  ·  Score &gt;= 75 = fort  ·  50-74 = moyen  ·  &lt; 50 = faible  ·  Pondérations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Alphabet Inc. présente le profil le plus équilibre du secteur (85/100) avec des scores Value=9, Growth=25, Quality=25, Momentum=25. La dispersion des scores entre les 8 sociétés Reflète des profils hétérogènes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Sociétés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398</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25.5x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L'adoption accélérée des outils d'IA générative par les entreprises et consommateurs devrait propulser les revenus des acteurs comme NVDA et GOOGL, avec des</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antitrust en cours (notamment aux États-Unis et en UE) pourraient entraîner des amendes ou des restrictions opérationnelles limitant la</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234</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34.1x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 croissance continue du cloud (AWS, Google Cloud) et des revenus publicitaires (META, GOOGL) reste un moteur clé, soutenue par l'augmentation des dépenses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L'émergence de nouveaux acteurs (startups, géants chinois) dans l'IA et le cloud menace les parts de marché des leaders établis, surtout sur les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794</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15.8x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NVDA maintient son avance technologique sur les GPU et accélérateurs IA, avec une demande soutenue pour ses solutions dans les data centers et l'edge computing.</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Un ralentissement macroéconomique pourrait réduire les budgets IT des entreprises et des consommateurs, impactant directement les revenus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société vs médiane sectorielle (25.3x)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25.3x.
3 société(s) se traitent sous la médiane — potentiellement les meilleures asymétries risque/rendement sous reserve de catalyseurs fondamentaux.
La dispersion des multiples est caractéristique d'un secteur Technologie en phase de différentiation — les investisseurs selectifs peuvent exploiter cet Écart.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332.06</a:t>
                      </a:r>
                    </a:p>
                  </a:txBody>
                  <a:tcPr>
                    <a:noFill/>
                  </a:tcPr>
                </a:tc>
                <a:tc>
                  <a:txBody>
                    <a:bodyPr/>
                    <a:lstStyle/>
                    <a:p>
                      <a:pPr algn="ctr"/>
                      <a:r>
                        <a:rPr sz="750" b="0">
                          <a:solidFill>
                            <a:srgbClr val="1A1A1A"/>
                          </a:solidFill>
                        </a:rPr>
                        <a:t>381.9</a:t>
                      </a:r>
                    </a:p>
                  </a:txBody>
                  <a:tcPr>
                    <a:noFill/>
                  </a:tcPr>
                </a:tc>
                <a:tc>
                  <a:txBody>
                    <a:bodyPr/>
                    <a:lstStyle/>
                    <a:p>
                      <a:pPr algn="ctr"/>
                      <a:r>
                        <a:rPr sz="750" b="0">
                          <a:solidFill>
                            <a:srgbClr val="1A1A1A"/>
                          </a:solidFill>
                        </a:rPr>
                        <a:t>&lt; 315.5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195.2401</a:t>
                      </a:r>
                    </a:p>
                  </a:txBody>
                  <a:tcPr>
                    <a:solidFill>
                      <a:srgbClr val="F5F7FA"/>
                    </a:solidFill>
                  </a:tcPr>
                </a:tc>
                <a:tc>
                  <a:txBody>
                    <a:bodyPr/>
                    <a:lstStyle/>
                    <a:p>
                      <a:pPr algn="ctr"/>
                      <a:r>
                        <a:rPr sz="750" b="0">
                          <a:solidFill>
                            <a:srgbClr val="1A1A1A"/>
                          </a:solidFill>
                        </a:rPr>
                        <a:t>224.5</a:t>
                      </a:r>
                    </a:p>
                  </a:txBody>
                  <a:tcPr>
                    <a:solidFill>
                      <a:srgbClr val="F5F7FA"/>
                    </a:solidFill>
                  </a:tcPr>
                </a:tc>
                <a:tc>
                  <a:txBody>
                    <a:bodyPr/>
                    <a:lstStyle/>
                    <a:p>
                      <a:pPr algn="ctr"/>
                      <a:r>
                        <a:rPr sz="750" b="0">
                          <a:solidFill>
                            <a:srgbClr val="1A1A1A"/>
                          </a:solidFill>
                        </a:rPr>
                        <a:t>&lt; 185.5</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661.58</a:t>
                      </a:r>
                    </a:p>
                  </a:txBody>
                  <a:tcPr>
                    <a:noFill/>
                  </a:tcPr>
                </a:tc>
                <a:tc>
                  <a:txBody>
                    <a:bodyPr/>
                    <a:lstStyle/>
                    <a:p>
                      <a:pPr algn="ctr"/>
                      <a:r>
                        <a:rPr sz="750" b="0">
                          <a:solidFill>
                            <a:srgbClr val="1A1A1A"/>
                          </a:solidFill>
                        </a:rPr>
                        <a:t>760.8</a:t>
                      </a:r>
                    </a:p>
                  </a:txBody>
                  <a:tcPr>
                    <a:noFill/>
                  </a:tcPr>
                </a:tc>
                <a:tc>
                  <a:txBody>
                    <a:bodyPr/>
                    <a:lstStyle/>
                    <a:p>
                      <a:pPr algn="ctr"/>
                      <a:r>
                        <a:rPr sz="750" b="0">
                          <a:solidFill>
                            <a:srgbClr val="1A1A1A"/>
                          </a:solidFill>
                        </a:rPr>
                        <a:t>&lt; 628.5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257.79</a:t>
                      </a:r>
                    </a:p>
                  </a:txBody>
                  <a:tcPr>
                    <a:solidFill>
                      <a:srgbClr val="F5F7FA"/>
                    </a:solidFill>
                  </a:tcPr>
                </a:tc>
                <a:tc>
                  <a:txBody>
                    <a:bodyPr/>
                    <a:lstStyle/>
                    <a:p>
                      <a:pPr algn="ctr"/>
                      <a:r>
                        <a:rPr sz="750" b="0">
                          <a:solidFill>
                            <a:srgbClr val="1A1A1A"/>
                          </a:solidFill>
                        </a:rPr>
                        <a:t>296.5</a:t>
                      </a:r>
                    </a:p>
                  </a:txBody>
                  <a:tcPr>
                    <a:solidFill>
                      <a:srgbClr val="F5F7FA"/>
                    </a:solidFill>
                  </a:tcPr>
                </a:tc>
                <a:tc>
                  <a:txBody>
                    <a:bodyPr/>
                    <a:lstStyle/>
                    <a:p>
                      <a:pPr algn="ctr"/>
                      <a:r>
                        <a:rPr sz="750" b="0">
                          <a:solidFill>
                            <a:srgbClr val="1A1A1A"/>
                          </a:solidFill>
                        </a:rPr>
                        <a:t>&lt; 244.9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391.5</a:t>
                      </a:r>
                    </a:p>
                  </a:txBody>
                  <a:tcPr>
                    <a:noFill/>
                  </a:tcPr>
                </a:tc>
                <a:tc>
                  <a:txBody>
                    <a:bodyPr/>
                    <a:lstStyle/>
                    <a:p>
                      <a:pPr algn="ctr"/>
                      <a:r>
                        <a:rPr sz="750" b="0">
                          <a:solidFill>
                            <a:srgbClr val="1A1A1A"/>
                          </a:solidFill>
                        </a:rPr>
                        <a:t>450.2</a:t>
                      </a:r>
                    </a:p>
                  </a:txBody>
                  <a:tcPr>
                    <a:noFill/>
                  </a:tcPr>
                </a:tc>
                <a:tc>
                  <a:txBody>
                    <a:bodyPr/>
                    <a:lstStyle/>
                    <a:p>
                      <a:pPr algn="ctr"/>
                      <a:r>
                        <a:rPr sz="750" b="0">
                          <a:solidFill>
                            <a:srgbClr val="1A1A1A"/>
                          </a:solidFill>
                        </a:rPr>
                        <a:t>&lt; 371.9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378.98</a:t>
                      </a:r>
                    </a:p>
                  </a:txBody>
                  <a:tcPr>
                    <a:solidFill>
                      <a:srgbClr val="F5F7FA"/>
                    </a:solidFill>
                  </a:tcPr>
                </a:tc>
                <a:tc>
                  <a:txBody>
                    <a:bodyPr/>
                    <a:lstStyle/>
                    <a:p>
                      <a:pPr algn="ctr"/>
                      <a:r>
                        <a:rPr sz="750" b="0">
                          <a:solidFill>
                            <a:srgbClr val="1A1A1A"/>
                          </a:solidFill>
                        </a:rPr>
                        <a:t>435.8</a:t>
                      </a:r>
                    </a:p>
                  </a:txBody>
                  <a:tcPr>
                    <a:solidFill>
                      <a:srgbClr val="F5F7FA"/>
                    </a:solidFill>
                  </a:tcPr>
                </a:tc>
                <a:tc>
                  <a:txBody>
                    <a:bodyPr/>
                    <a:lstStyle/>
                    <a:p>
                      <a:pPr algn="ctr"/>
                      <a:r>
                        <a:rPr sz="750" b="0">
                          <a:solidFill>
                            <a:srgbClr val="1A1A1A"/>
                          </a:solidFill>
                        </a:rPr>
                        <a:t>&lt; 360.0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162.43</a:t>
                      </a:r>
                    </a:p>
                  </a:txBody>
                  <a:tcPr>
                    <a:noFill/>
                  </a:tcPr>
                </a:tc>
                <a:tc>
                  <a:txBody>
                    <a:bodyPr/>
                    <a:lstStyle/>
                    <a:p>
                      <a:pPr algn="ctr"/>
                      <a:r>
                        <a:rPr sz="750" b="0">
                          <a:solidFill>
                            <a:srgbClr val="1A1A1A"/>
                          </a:solidFill>
                        </a:rPr>
                        <a:t>186.8</a:t>
                      </a:r>
                    </a:p>
                  </a:txBody>
                  <a:tcPr>
                    <a:noFill/>
                  </a:tcPr>
                </a:tc>
                <a:tc>
                  <a:txBody>
                    <a:bodyPr/>
                    <a:lstStyle/>
                    <a:p>
                      <a:pPr algn="ctr"/>
                      <a:r>
                        <a:rPr sz="750" b="0">
                          <a:solidFill>
                            <a:srgbClr val="1A1A1A"/>
                          </a:solidFill>
                        </a:rPr>
                        <a:t>&lt; 154.3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254.15</a:t>
                      </a:r>
                    </a:p>
                  </a:txBody>
                  <a:tcPr>
                    <a:solidFill>
                      <a:srgbClr val="F5F7FA"/>
                    </a:solidFill>
                  </a:tcPr>
                </a:tc>
                <a:tc>
                  <a:txBody>
                    <a:bodyPr/>
                    <a:lstStyle/>
                    <a:p>
                      <a:pPr algn="ctr"/>
                      <a:r>
                        <a:rPr sz="750" b="0">
                          <a:solidFill>
                            <a:srgbClr val="1A1A1A"/>
                          </a:solidFill>
                        </a:rPr>
                        <a:t>292.3</a:t>
                      </a:r>
                    </a:p>
                  </a:txBody>
                  <a:tcPr>
                    <a:solidFill>
                      <a:srgbClr val="F5F7FA"/>
                    </a:solidFill>
                  </a:tcPr>
                </a:tc>
                <a:tc>
                  <a:txBody>
                    <a:bodyPr/>
                    <a:lstStyle/>
                    <a:p>
                      <a:pPr algn="ctr"/>
                      <a:r>
                        <a:rPr sz="750" b="0">
                          <a:solidFill>
                            <a:srgbClr val="1A1A1A"/>
                          </a:solidFill>
                        </a:rPr>
                        <a:t>&lt; 241.4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probabilité de rendement positif a 12 mois est calculée sur des configurations similaires identifiees en backtesting sur Données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antitrust en cours (notamment aux États-Unis et en UE) pourraient entraîner des amendes ou des restrictions opérationnelles limitant la croissance des géants.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L'émergence de nouveaux acteurs (startups, géants chinois) dans l'IA et le cloud menace les parts de marché des leaders établis, surtout sur les segments marginaux.</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Cycles économiques</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Un ralentissement macroéconomique pourrait réduire les budgets IT des entreprises et des consommateurs, impactant directement les revenus publicitaires et les ventes de matériel.</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Récession confirmee — 2 trimestrès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dégradation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Révision baissière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financière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Médian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1.3%</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Médian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Génération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75/100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santé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solidité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IA Générative — L'adoption accélérée des outils d'IA générative par les entreprises et consommateurs</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 Les enquêtes antitrust en cours (notamment aux États-Unis et en UE) pourraient entraîner</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Technologie (S&amp;P 500) ressort neutre (0.00), avec 25% d'articles a tonalité positive sur 8 analysés. La dispersion inter-valeurs est prononcée : NVDA (+0.00) Porté la composanté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composanté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Boursière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Technologie  ·  S&amp;P 500  ·  Indexe a 100 au debut de la période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+159%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-0%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159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INTERPRÉTATION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création de valeur tandis que d'autrès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complète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