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21.7x  ·  Croissance med. : +19.9 %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IA Générative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L'adoption massive des solutions d'IA par les entreprises, notamment via les plateformes cloud de GOOGL et les GPU de NVDA, devrait propulser la croissance organique du secteur.</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Publicité digitale</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META bénéficie d'une reprise structurelle de la publicité en ligne, avec une allocation croissante des budgets marketing vers le métavers et les réseaux sociaux.</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Infrastructure Cloud</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La migration continue des entreprises vers le cloud hybride, portée par des acteurs comme GOOGL avec sa suite Workspace et ses services Vertex AI, garantit une visibilité sur les revenus récurrents.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antitrust en cours, notamment aux États-Unis et en Europe, pourraient entraîner des amendes ou des restrictions opérationnelles pour les géants du secteur.</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L'émergence de nouveaux acteurs chinois dans les semi-conducteurs et le cloud, comme Huawei ou Alibaba, menace la position dominante des leaders occidentaux.</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Cybersecurity</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L'augmentation des cyberattaques ciblant les infrastructures critiques pourrait entraîner des coûts de conformité et de protection supplémentaires pour les entreprises.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+49.2 %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réelle soutenue par des marges EBITDA exceptionnelles de 46.8%, bien au-dessus de la médiane sectorielle, reflétant une domination des géants sur leurs marchés respectifs. Les multiples EV/EBITDA à 21.7x, malgré une croissance des revenus de +19.9%, restent justifiés par un momentum boursier de +49.2% sur 52 semaines, signe d'une confiance inébranlable des investisseurs.</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IA Générative</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L'adoption massive des solutions d'IA par les entreprises, notamment via les plateformes cloud de GOOGL et les GPU de NVDA, devrait propulser la croissance organique du secteur.</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Publicité digitale</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META bénéficie d'une reprise structurelle de la publicité en ligne, avec une allocation croissante des budgets marketing vers le métavers et les réseaux sociaux.</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Infrastructure Cloud</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La migration continue des entreprises vers le cloud hybride, portée par des acteurs comme GOOGL avec sa suite Workspace et ses services Vertex AI, garantit une visibilité sur les revenus récurrents.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+19.9 %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+49.2 %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27.5x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19.5x</a:t>
                      </a:r>
                    </a:p>
                  </a:txBody>
                  <a:tcPr>
                    <a:solidFill>
                      <a:srgbClr val="F5F7FA"/>
                    </a:solidFill>
                  </a:tcPr>
                </a:tc>
                <a:tc>
                  <a:txBody>
                    <a:bodyPr/>
                    <a:lstStyle/>
                    <a:p>
                      <a:pPr algn="ctr"/>
                      <a:r>
                        <a:rPr sz="750" b="0">
                          <a:solidFill>
                            <a:srgbClr val="1A1A1A"/>
                          </a:solidFill>
                        </a:rPr>
                        <a:t>35.9x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24.6x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8.7x</a:t>
                      </a:r>
                    </a:p>
                  </a:txBody>
                  <a:tcPr>
                    <a:solidFill>
                      <a:srgbClr val="F5F7FA"/>
                    </a:solidFill>
                  </a:tcPr>
                </a:tc>
                <a:tc>
                  <a:txBody>
                    <a:bodyPr/>
                    <a:lstStyle/>
                    <a:p>
                      <a:pPr algn="ctr"/>
                      <a:r>
                        <a:rPr sz="750" b="0">
                          <a:solidFill>
                            <a:srgbClr val="1A1A1A"/>
                          </a:solidFill>
                        </a:rPr>
                        <a:t>32.4x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9.1x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61.0x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26.0x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9.7x</a:t>
                      </a:r>
                    </a:p>
                  </a:txBody>
                  <a:tcPr>
                    <a:solidFill>
                      <a:srgbClr val="F5F7FA"/>
                    </a:solidFill>
                  </a:tcPr>
                </a:tc>
                <a:tc>
                  <a:txBody>
                    <a:bodyPr/>
                    <a:lstStyle/>
                    <a:p>
                      <a:pPr algn="ctr"/>
                      <a:r>
                        <a:rPr sz="750" b="0">
                          <a:solidFill>
                            <a:srgbClr val="1A1A1A"/>
                          </a:solidFill>
                        </a:rPr>
                        <a:t>80.5x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21.7x LTM. Alphabet Inc. (23.6x)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Adoption IA</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L'intégration accélérée de l'IA dans les processus métiers, notamment via les outils low-code/no-code, devrait booster les revenus des éditeurs logiciels comme META et NVDA.</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La demande croissante pour des solutions cloud hybrides, combinant flexibilité et sécurité, favorise les fournisseurs comme GOOGL avec ses services Anthos et BigQuery.</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énergétiques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 hausse des coûts énergétiques, liée à l'expansion des data centers, pourrait peser sur les marges des acteurs du cloud et des semi-conducteurs.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Taux d'intérêt</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Une remontée prolongée des taux d'intérêt pourrait réduire la valorisation des actions technologiques, historiquement sensibles aux flux de trésorerie actualisés.</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se situe en phase de maturité avancée avec des signes de surchauffe, mais les fondamentaux solides et l'innovation continue justifient un biais haussier à moyen terme.</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+97.3 %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+72.6 %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+9.0 %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+25.8 %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-1.0 %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+103.6 %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+5.8 %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+124.1 %</a:t>
                      </a:r>
                    </a:p>
                  </a:txBody>
                  <a:tcPr>
                    <a:solidFill>
                      <a:srgbClr val="F5F7FA"/>
                    </a:solidFill>
                  </a:tcPr>
                </a:tc>
              </a:tr>
            </a:tbl>
          </a:graphicData>
        </a:graphic>
      </p:graphicFrame>
      <p:sp>
        <p:nvSpPr>
          <p:cNvPr id="16" name="Rectangle 15"/>
          <p:cNvSpPr/>
          <p:nvPr/>
        </p:nvSpPr>
        <p:spPr>
          <a:xfrm>
            <a:off x="324000" y="28943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943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948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003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(31.7x) soutenue par 71.1 % de marge brute.
AVGO se positionne en zone Opportunite — EV/EBITDA de 4.3x sous la médiane sectorielle de 21.7x.
La médiane sectorielle ressort a 21.7x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357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L'adoption massive des solutions d'IA par les entreprises, notamment via les plateformes cloud de GOOGL et les GPU de NVDA, devrait propulser la croissance orga</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antitrust en cours, notamment aux États-Unis et en Europe, pourraient entraîner des amendes ou des restrictions opérationnelles pour les géants du </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31.7x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META bénéficie d'une reprise structurelle de la publicité en ligne, avec une allocation croissante des budgets marketing vers le métavers et les réseaux sociaux</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L'émergence de nouveaux acteurs chinois dans les semi-conducteurs et le cloud, comme Huawei ou Alibaba, menace la position dominante des leaders occidentaux.</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695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La migration continue des entreprises vers le cloud hybride, portée par des acteurs comme GOOGL avec sa suite Workspace et ses services Vertex AI, garantit une </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L'augmentation des cyberattaques ciblant les infrastructures critiques pourrait entraîner des coûts de conformité et de protection supplémentaires pour les entr</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21.7x.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342.0</a:t>
                      </a:r>
                    </a:p>
                  </a:txBody>
                  <a:tcPr>
                    <a:noFill/>
                  </a:tcPr>
                </a:tc>
                <a:tc>
                  <a:txBody>
                    <a:bodyPr/>
                    <a:lstStyle/>
                    <a:p>
                      <a:pPr algn="ctr"/>
                      <a:r>
                        <a:rPr sz="750" b="0">
                          <a:solidFill>
                            <a:srgbClr val="1A1A1A"/>
                          </a:solidFill>
                        </a:rPr>
                        <a:t>&lt; 282.5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202.1</a:t>
                      </a:r>
                    </a:p>
                  </a:txBody>
                  <a:tcPr>
                    <a:solidFill>
                      <a:srgbClr val="F5F7FA"/>
                    </a:solidFill>
                  </a:tcPr>
                </a:tc>
                <a:tc>
                  <a:txBody>
                    <a:bodyPr/>
                    <a:lstStyle/>
                    <a:p>
                      <a:pPr algn="ctr"/>
                      <a:r>
                        <a:rPr sz="750" b="0">
                          <a:solidFill>
                            <a:srgbClr val="1A1A1A"/>
                          </a:solidFill>
                        </a:rPr>
                        <a:t>&lt; 167.0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666.1</a:t>
                      </a:r>
                    </a:p>
                  </a:txBody>
                  <a:tcPr>
                    <a:noFill/>
                  </a:tcPr>
                </a:tc>
                <a:tc>
                  <a:txBody>
                    <a:bodyPr/>
                    <a:lstStyle/>
                    <a:p>
                      <a:pPr algn="ctr"/>
                      <a:r>
                        <a:rPr sz="750" b="0">
                          <a:solidFill>
                            <a:srgbClr val="1A1A1A"/>
                          </a:solidFill>
                        </a:rPr>
                        <a:t>&lt; 550.3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294.0</a:t>
                      </a:r>
                    </a:p>
                  </a:txBody>
                  <a:tcPr>
                    <a:solidFill>
                      <a:srgbClr val="F5F7FA"/>
                    </a:solidFill>
                  </a:tcPr>
                </a:tc>
                <a:tc>
                  <a:txBody>
                    <a:bodyPr/>
                    <a:lstStyle/>
                    <a:p>
                      <a:pPr algn="ctr"/>
                      <a:r>
                        <a:rPr sz="750" b="0">
                          <a:solidFill>
                            <a:srgbClr val="1A1A1A"/>
                          </a:solidFill>
                        </a:rPr>
                        <a:t>&lt; 242.8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424.8</a:t>
                      </a:r>
                    </a:p>
                  </a:txBody>
                  <a:tcPr>
                    <a:noFill/>
                  </a:tcPr>
                </a:tc>
                <a:tc>
                  <a:txBody>
                    <a:bodyPr/>
                    <a:lstStyle/>
                    <a:p>
                      <a:pPr algn="ctr"/>
                      <a:r>
                        <a:rPr sz="750" b="0">
                          <a:solidFill>
                            <a:srgbClr val="1A1A1A"/>
                          </a:solidFill>
                        </a:rPr>
                        <a:t>&lt; 350.9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360.5</a:t>
                      </a:r>
                    </a:p>
                  </a:txBody>
                  <a:tcPr>
                    <a:solidFill>
                      <a:srgbClr val="F5F7FA"/>
                    </a:solidFill>
                  </a:tcPr>
                </a:tc>
                <a:tc>
                  <a:txBody>
                    <a:bodyPr/>
                    <a:lstStyle/>
                    <a:p>
                      <a:pPr algn="ctr"/>
                      <a:r>
                        <a:rPr sz="750" b="0">
                          <a:solidFill>
                            <a:srgbClr val="1A1A1A"/>
                          </a:solidFill>
                        </a:rPr>
                        <a:t>&lt; 297.8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167.0</a:t>
                      </a:r>
                    </a:p>
                  </a:txBody>
                  <a:tcPr>
                    <a:noFill/>
                  </a:tcPr>
                </a:tc>
                <a:tc>
                  <a:txBody>
                    <a:bodyPr/>
                    <a:lstStyle/>
                    <a:p>
                      <a:pPr algn="ctr"/>
                      <a:r>
                        <a:rPr sz="750" b="0">
                          <a:solidFill>
                            <a:srgbClr val="1A1A1A"/>
                          </a:solidFill>
                        </a:rPr>
                        <a:t>&lt; 138.0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241.7</a:t>
                      </a:r>
                    </a:p>
                  </a:txBody>
                  <a:tcPr>
                    <a:solidFill>
                      <a:srgbClr val="F5F7FA"/>
                    </a:solidFill>
                  </a:tcPr>
                </a:tc>
                <a:tc>
                  <a:txBody>
                    <a:bodyPr/>
                    <a:lstStyle/>
                    <a:p>
                      <a:pPr algn="ctr"/>
                      <a:r>
                        <a:rPr sz="750" b="0">
                          <a:solidFill>
                            <a:srgbClr val="1A1A1A"/>
                          </a:solidFill>
                        </a:rPr>
                        <a:t>&lt; 199.7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antitrust en cours, notamment aux États-Unis et en Europe, pourraient entraîner des amendes ou des restrictions opérationnelles pour les géants du secteur.</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L'émergence de nouveaux acteurs chinois dans les semi-conducteurs et le cloud, comme Huawei ou Alibaba, menace la position dominante des leaders occidentaux.</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Cybersecurity</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L'augmentation des cyberattaques ciblant les infrastructures critiques pourrait entraîner des coûts de conformité et de protection supplémentaires pour les entreprises.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1.5%</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75/100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IA Générative — L'adoption massive des solutions d'IA par les entreprises, notamment via les plateformes cloud de GOOGL et les GPU de NVDA, devrait propulse</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 Les enquêtes antitrust en cours, notamment aux États-Unis et en Europe, pourraient entraîner des amendes ou des restrictions opérationnelles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+124%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-1%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125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