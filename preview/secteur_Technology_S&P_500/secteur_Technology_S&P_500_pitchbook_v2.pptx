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Technology</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30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01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30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22.6x  ·  Croissance med. : +17.4 %  ·  Marge EBITDA med. : 0.3 %  ·  Score moyen : 57/100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Adoption IA Generative</a:t>
            </a:r>
          </a:p>
        </p:txBody>
      </p:sp>
      <p:sp>
        <p:nvSpPr>
          <p:cNvPr id="24" name="TextBox 23"/>
          <p:cNvSpPr txBox="1"/>
          <p:nvPr/>
        </p:nvSpPr>
        <p:spPr>
          <a:xfrm>
            <a:off x="468000" y="1853999"/>
            <a:ext cx="3851999" cy="306000"/>
          </a:xfrm>
          <a:prstGeom prst="rect">
            <a:avLst/>
          </a:prstGeom>
          <a:noFill/>
        </p:spPr>
        <p:txBody>
          <a:bodyPr wrap="square">
            <a:spAutoFit/>
          </a:bodyPr>
          <a:lstStyle/>
          <a:p>
            <a:pPr algn="l"/>
            <a:r>
              <a:rPr sz="750" b="0" i="0">
                <a:solidFill>
                  <a:srgbClr val="555555"/>
                </a:solidFill>
              </a:rPr>
              <a:t>Acceleration des mandats IA dans les grands comptes europeens — contrats pluriannuels en hausse de 38 % sur T1 2026.</a:t>
            </a:r>
          </a:p>
        </p:txBody>
      </p:sp>
      <p:sp>
        <p:nvSpPr>
          <p:cNvPr id="25" name="Rectangle 24"/>
          <p:cNvSpPr/>
          <p:nvPr/>
        </p:nvSpPr>
        <p:spPr>
          <a:xfrm>
            <a:off x="324000" y="2268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268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286000"/>
            <a:ext cx="3851999" cy="198000"/>
          </a:xfrm>
          <a:prstGeom prst="rect">
            <a:avLst/>
          </a:prstGeom>
          <a:noFill/>
        </p:spPr>
        <p:txBody>
          <a:bodyPr wrap="square">
            <a:spAutoFit/>
          </a:bodyPr>
          <a:lstStyle/>
          <a:p>
            <a:pPr algn="l"/>
            <a:r>
              <a:rPr sz="850" b="1" i="0">
                <a:solidFill>
                  <a:srgbClr val="1B3A6B"/>
                </a:solidFill>
              </a:rPr>
              <a:t>Modernisation SI Publics</a:t>
            </a:r>
          </a:p>
        </p:txBody>
      </p:sp>
      <p:sp>
        <p:nvSpPr>
          <p:cNvPr id="28" name="TextBox 27"/>
          <p:cNvSpPr txBox="1"/>
          <p:nvPr/>
        </p:nvSpPr>
        <p:spPr>
          <a:xfrm>
            <a:off x="468000" y="2466000"/>
            <a:ext cx="3851999" cy="306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Etats membres EU.</a:t>
            </a:r>
          </a:p>
        </p:txBody>
      </p:sp>
      <p:sp>
        <p:nvSpPr>
          <p:cNvPr id="29" name="Rectangle 28"/>
          <p:cNvSpPr/>
          <p:nvPr/>
        </p:nvSpPr>
        <p:spPr>
          <a:xfrm>
            <a:off x="324000" y="2880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2880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898000"/>
            <a:ext cx="3851999" cy="198000"/>
          </a:xfrm>
          <a:prstGeom prst="rect">
            <a:avLst/>
          </a:prstGeom>
          <a:noFill/>
        </p:spPr>
        <p:txBody>
          <a:bodyPr wrap="square">
            <a:spAutoFit/>
          </a:bodyPr>
          <a:lstStyle/>
          <a:p>
            <a:pPr algn="l"/>
            <a:r>
              <a:rPr sz="850" b="1" i="0">
                <a:solidFill>
                  <a:srgbClr val="1B3A6B"/>
                </a:solidFill>
              </a:rPr>
              <a:t>Cloud Hybride Souverainete</a:t>
            </a:r>
          </a:p>
        </p:txBody>
      </p:sp>
      <p:sp>
        <p:nvSpPr>
          <p:cNvPr id="32" name="TextBox 31"/>
          <p:cNvSpPr txBox="1"/>
          <p:nvPr/>
        </p:nvSpPr>
        <p:spPr>
          <a:xfrm>
            <a:off x="468000" y="3078000"/>
            <a:ext cx="3851999" cy="306000"/>
          </a:xfrm>
          <a:prstGeom prst="rect">
            <a:avLst/>
          </a:prstGeom>
          <a:noFill/>
        </p:spPr>
        <p:txBody>
          <a:bodyPr wrap="square">
            <a:spAutoFit/>
          </a:bodyPr>
          <a:lstStyle/>
          <a:p>
            <a:pPr algn="l"/>
            <a:r>
              <a:rPr sz="750" b="0" i="0">
                <a:solidFill>
                  <a:srgbClr val="555555"/>
                </a:solidFill>
              </a:rPr>
              <a:t>Contraintes réglementaires sur les données — migration vers solutions EU portee par NIS2 et DORA.</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Ralentissement Budgets IT</a:t>
            </a:r>
          </a:p>
        </p:txBody>
      </p:sp>
      <p:sp>
        <p:nvSpPr>
          <p:cNvPr id="38" name="TextBox 37"/>
          <p:cNvSpPr txBox="1"/>
          <p:nvPr/>
        </p:nvSpPr>
        <p:spPr>
          <a:xfrm>
            <a:off x="4860000" y="1853999"/>
            <a:ext cx="3851999" cy="306000"/>
          </a:xfrm>
          <a:prstGeom prst="rect">
            <a:avLst/>
          </a:prstGeom>
          <a:noFill/>
        </p:spPr>
        <p:txBody>
          <a:bodyPr wrap="square">
            <a:spAutoFit/>
          </a:bodyPr>
          <a:lstStyle/>
          <a:p>
            <a:pPr algn="l"/>
            <a:r>
              <a:rPr sz="750" b="0" i="0">
                <a:solidFill>
                  <a:srgbClr val="555555"/>
                </a:solidFill>
              </a:rPr>
              <a:t>Recession européenne confirmee entraînerait une reduction des budgets IT de 12-18 %, pénalisant les prestataires de services.</a:t>
            </a:r>
          </a:p>
        </p:txBody>
      </p:sp>
      <p:sp>
        <p:nvSpPr>
          <p:cNvPr id="39" name="Rectangle 38"/>
          <p:cNvSpPr/>
          <p:nvPr/>
        </p:nvSpPr>
        <p:spPr>
          <a:xfrm>
            <a:off x="4716000" y="2268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268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286000"/>
            <a:ext cx="3851999" cy="198000"/>
          </a:xfrm>
          <a:prstGeom prst="rect">
            <a:avLst/>
          </a:prstGeom>
          <a:noFill/>
        </p:spPr>
        <p:txBody>
          <a:bodyPr wrap="square">
            <a:spAutoFit/>
          </a:bodyPr>
          <a:lstStyle/>
          <a:p>
            <a:pPr algn="l"/>
            <a:r>
              <a:rPr sz="850" b="1" i="0">
                <a:solidFill>
                  <a:srgbClr val="A82020"/>
                </a:solidFill>
              </a:rPr>
              <a:t>Durcissement AI Act</a:t>
            </a:r>
          </a:p>
        </p:txBody>
      </p:sp>
      <p:sp>
        <p:nvSpPr>
          <p:cNvPr id="42" name="TextBox 41"/>
          <p:cNvSpPr txBox="1"/>
          <p:nvPr/>
        </p:nvSpPr>
        <p:spPr>
          <a:xfrm>
            <a:off x="4860000" y="2466000"/>
            <a:ext cx="3851999" cy="306000"/>
          </a:xfrm>
          <a:prstGeom prst="rect">
            <a:avLst/>
          </a:prstGeom>
          <a:noFill/>
        </p:spPr>
        <p:txBody>
          <a:bodyPr wrap="square">
            <a:spAutoFit/>
          </a:bodyPr>
          <a:lstStyle/>
          <a:p>
            <a:pPr algn="l"/>
            <a:r>
              <a:rPr sz="750" b="0" i="0">
                <a:solidFill>
                  <a:srgbClr val="555555"/>
                </a:solidFill>
              </a:rPr>
              <a:t>Surcout de mise en conformite estime a 8-12 % du CA pour les editeurs de logiciels IA — impact marges 2027.</a:t>
            </a:r>
          </a:p>
        </p:txBody>
      </p:sp>
      <p:sp>
        <p:nvSpPr>
          <p:cNvPr id="43" name="Rectangle 42"/>
          <p:cNvSpPr/>
          <p:nvPr/>
        </p:nvSpPr>
        <p:spPr>
          <a:xfrm>
            <a:off x="4716000" y="2880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2880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2898000"/>
            <a:ext cx="3851999" cy="198000"/>
          </a:xfrm>
          <a:prstGeom prst="rect">
            <a:avLst/>
          </a:prstGeom>
          <a:noFill/>
        </p:spPr>
        <p:txBody>
          <a:bodyPr wrap="square">
            <a:spAutoFit/>
          </a:bodyPr>
          <a:lstStyle/>
          <a:p>
            <a:pPr algn="l"/>
            <a:r>
              <a:rPr sz="850" b="1" i="0">
                <a:solidFill>
                  <a:srgbClr val="A82020"/>
                </a:solidFill>
              </a:rPr>
              <a:t>Pression Tarifaire US/Asie</a:t>
            </a:r>
          </a:p>
        </p:txBody>
      </p:sp>
      <p:sp>
        <p:nvSpPr>
          <p:cNvPr id="46" name="TextBox 45"/>
          <p:cNvSpPr txBox="1"/>
          <p:nvPr/>
        </p:nvSpPr>
        <p:spPr>
          <a:xfrm>
            <a:off x="4860000" y="3078000"/>
            <a:ext cx="3851999" cy="306000"/>
          </a:xfrm>
          <a:prstGeom prst="rect">
            <a:avLst/>
          </a:prstGeom>
          <a:noFill/>
        </p:spPr>
        <p:txBody>
          <a:bodyPr wrap="square">
            <a:spAutoFit/>
          </a:bodyPr>
          <a:lstStyle/>
          <a:p>
            <a:pPr algn="l"/>
            <a:r>
              <a:rPr sz="750" b="0" i="0">
                <a:solidFill>
                  <a:srgbClr val="555555"/>
                </a:solidFill>
              </a:rPr>
              <a:t>Acteurs americains et asiatiques agressifs sur les segments logiciels standardises — guerre des prix bas de gamme.</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22.6x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+17.4 %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0.3 %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-0.0 %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30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1200" b="0" i="0">
                <a:solidFill>
                  <a:srgbClr val="555555"/>
                </a:solidFill>
              </a:rPr>
              <a:t>Le secteur Technology regroupe les entreprises actives dans les logiciels, les services informatiques, les semi-conducteurs et les equipements telecom. Porte par la transformation digitale des entreprises et l'adoption de l'IA generative, ce secteur affiche des multiples de valorisation parmi les plus élevés du marche, justifies par des perspectives de croissance supérieures et des marges en expansion.</a:t>
            </a:r>
          </a:p>
        </p:txBody>
      </p:sp>
      <p:sp>
        <p:nvSpPr>
          <p:cNvPr id="18" name="Rectangle 17"/>
          <p:cNvSpPr/>
          <p:nvPr/>
        </p:nvSpPr>
        <p:spPr>
          <a:xfrm>
            <a:off x="468000" y="2700000"/>
            <a:ext cx="4680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2718000"/>
            <a:ext cx="4500000" cy="144000"/>
          </a:xfrm>
          <a:prstGeom prst="rect">
            <a:avLst/>
          </a:prstGeom>
          <a:noFill/>
        </p:spPr>
        <p:txBody>
          <a:bodyPr wrap="square">
            <a:spAutoFit/>
          </a:bodyPr>
          <a:lstStyle/>
          <a:p>
            <a:pPr algn="l"/>
            <a:r>
              <a:rPr sz="750" b="1" i="0">
                <a:solidFill>
                  <a:srgbClr val="FFFFFF"/>
                </a:solidFill>
              </a:rPr>
              <a:t>CATALYSEURS CLÉS</a:t>
            </a:r>
          </a:p>
        </p:txBody>
      </p:sp>
      <p:sp>
        <p:nvSpPr>
          <p:cNvPr id="20" name="Rectangle 19"/>
          <p:cNvSpPr/>
          <p:nvPr/>
        </p:nvSpPr>
        <p:spPr>
          <a:xfrm>
            <a:off x="468000" y="2898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2898000"/>
            <a:ext cx="4428000" cy="162000"/>
          </a:xfrm>
          <a:prstGeom prst="rect">
            <a:avLst/>
          </a:prstGeom>
          <a:noFill/>
        </p:spPr>
        <p:txBody>
          <a:bodyPr wrap="square">
            <a:spAutoFit/>
          </a:bodyPr>
          <a:lstStyle/>
          <a:p>
            <a:pPr algn="l"/>
            <a:r>
              <a:rPr sz="800" b="1" i="0">
                <a:solidFill>
                  <a:srgbClr val="1B3A6B"/>
                </a:solidFill>
              </a:rPr>
              <a:t>Adoption IA Generative</a:t>
            </a:r>
          </a:p>
        </p:txBody>
      </p:sp>
      <p:sp>
        <p:nvSpPr>
          <p:cNvPr id="22" name="TextBox 21"/>
          <p:cNvSpPr txBox="1"/>
          <p:nvPr/>
        </p:nvSpPr>
        <p:spPr>
          <a:xfrm>
            <a:off x="576000" y="3060000"/>
            <a:ext cx="4428000" cy="306000"/>
          </a:xfrm>
          <a:prstGeom prst="rect">
            <a:avLst/>
          </a:prstGeom>
          <a:noFill/>
        </p:spPr>
        <p:txBody>
          <a:bodyPr wrap="square">
            <a:spAutoFit/>
          </a:bodyPr>
          <a:lstStyle/>
          <a:p>
            <a:pPr algn="l"/>
            <a:r>
              <a:rPr sz="750" b="0" i="0">
                <a:solidFill>
                  <a:srgbClr val="555555"/>
                </a:solidFill>
              </a:rPr>
              <a:t>Acceleration des mandats IA dans les grands comptes europeens — contrats pluriannuels en hausse de 38 % sur T1</a:t>
            </a:r>
          </a:p>
        </p:txBody>
      </p:sp>
      <p:sp>
        <p:nvSpPr>
          <p:cNvPr id="23" name="Rectangle 22"/>
          <p:cNvSpPr/>
          <p:nvPr/>
        </p:nvSpPr>
        <p:spPr>
          <a:xfrm>
            <a:off x="468000" y="3384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3384000"/>
            <a:ext cx="4428000" cy="162000"/>
          </a:xfrm>
          <a:prstGeom prst="rect">
            <a:avLst/>
          </a:prstGeom>
          <a:noFill/>
        </p:spPr>
        <p:txBody>
          <a:bodyPr wrap="square">
            <a:spAutoFit/>
          </a:bodyPr>
          <a:lstStyle/>
          <a:p>
            <a:pPr algn="l"/>
            <a:r>
              <a:rPr sz="800" b="1" i="0">
                <a:solidFill>
                  <a:srgbClr val="1B3A6B"/>
                </a:solidFill>
              </a:rPr>
              <a:t>Modernisation SI Publics</a:t>
            </a:r>
          </a:p>
        </p:txBody>
      </p:sp>
      <p:sp>
        <p:nvSpPr>
          <p:cNvPr id="25" name="TextBox 24"/>
          <p:cNvSpPr txBox="1"/>
          <p:nvPr/>
        </p:nvSpPr>
        <p:spPr>
          <a:xfrm>
            <a:off x="576000" y="3546000"/>
            <a:ext cx="4428000" cy="306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Etats membres EU.</a:t>
            </a:r>
          </a:p>
        </p:txBody>
      </p:sp>
      <p:sp>
        <p:nvSpPr>
          <p:cNvPr id="26" name="Rectangle 25"/>
          <p:cNvSpPr/>
          <p:nvPr/>
        </p:nvSpPr>
        <p:spPr>
          <a:xfrm>
            <a:off x="468000" y="3870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00" y="3870000"/>
            <a:ext cx="4428000" cy="162000"/>
          </a:xfrm>
          <a:prstGeom prst="rect">
            <a:avLst/>
          </a:prstGeom>
          <a:noFill/>
        </p:spPr>
        <p:txBody>
          <a:bodyPr wrap="square">
            <a:spAutoFit/>
          </a:bodyPr>
          <a:lstStyle/>
          <a:p>
            <a:pPr algn="l"/>
            <a:r>
              <a:rPr sz="800" b="1" i="0">
                <a:solidFill>
                  <a:srgbClr val="1B3A6B"/>
                </a:solidFill>
              </a:rPr>
              <a:t>Cloud Hybride Souverainete</a:t>
            </a:r>
          </a:p>
        </p:txBody>
      </p:sp>
      <p:sp>
        <p:nvSpPr>
          <p:cNvPr id="28" name="TextBox 27"/>
          <p:cNvSpPr txBox="1"/>
          <p:nvPr/>
        </p:nvSpPr>
        <p:spPr>
          <a:xfrm>
            <a:off x="576000" y="4031999"/>
            <a:ext cx="4428000" cy="306000"/>
          </a:xfrm>
          <a:prstGeom prst="rect">
            <a:avLst/>
          </a:prstGeom>
          <a:noFill/>
        </p:spPr>
        <p:txBody>
          <a:bodyPr wrap="square">
            <a:spAutoFit/>
          </a:bodyPr>
          <a:lstStyle/>
          <a:p>
            <a:pPr algn="l"/>
            <a:r>
              <a:rPr sz="750" b="0" i="0">
                <a:solidFill>
                  <a:srgbClr val="555555"/>
                </a:solidFill>
              </a:rPr>
              <a:t>Contraintes réglementaires sur les données — migration vers solutions EU portee par NIS2 et DORA.</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Rule of 40</a:t>
                      </a:r>
                    </a:p>
                  </a:txBody>
                  <a:tcPr>
                    <a:noFill/>
                  </a:tcPr>
                </a:tc>
                <a:tc>
                  <a:txBody>
                    <a:bodyPr/>
                    <a:lstStyle/>
                    <a:p>
                      <a:pPr algn="ctr"/>
                      <a:r>
                        <a:rPr sz="750" b="0">
                          <a:solidFill>
                            <a:srgbClr val="1A1A1A"/>
                          </a:solidFill>
                        </a:rPr>
                        <a:t>42</a:t>
                      </a:r>
                    </a:p>
                  </a:txBody>
                  <a:tcPr>
                    <a:noFill/>
                  </a:tcPr>
                </a:tc>
                <a:tc>
                  <a:txBody>
                    <a:bodyPr/>
                    <a:lstStyle/>
                    <a:p>
                      <a:pPr algn="ctr"/>
                      <a:r>
                        <a:rPr sz="750" b="0">
                          <a:solidFill>
                            <a:srgbClr val="1A1A1A"/>
                          </a:solidFill>
                        </a:rPr>
                        <a:t>Sain &gt; 40</a:t>
                      </a:r>
                    </a:p>
                  </a:txBody>
                  <a:tcPr>
                    <a:noFill/>
                  </a:tcPr>
                </a:tc>
              </a:tr>
              <a:tr h="208799">
                <a:tc>
                  <a:txBody>
                    <a:bodyPr/>
                    <a:lstStyle/>
                    <a:p>
                      <a:pPr algn="ctr"/>
                      <a:r>
                        <a:rPr sz="750" b="0">
                          <a:solidFill>
                            <a:srgbClr val="1A1A1A"/>
                          </a:solidFill>
                        </a:rPr>
                        <a:t>NRR median</a:t>
                      </a:r>
                    </a:p>
                  </a:txBody>
                  <a:tcPr>
                    <a:solidFill>
                      <a:srgbClr val="F5F7FA"/>
                    </a:solidFill>
                  </a:tcPr>
                </a:tc>
                <a:tc>
                  <a:txBody>
                    <a:bodyPr/>
                    <a:lstStyle/>
                    <a:p>
                      <a:pPr algn="ctr"/>
                      <a:r>
                        <a:rPr sz="750" b="0">
                          <a:solidFill>
                            <a:srgbClr val="1A1A1A"/>
                          </a:solidFill>
                        </a:rPr>
                        <a:t>108 %</a:t>
                      </a:r>
                    </a:p>
                  </a:txBody>
                  <a:tcPr>
                    <a:solidFill>
                      <a:srgbClr val="F5F7FA"/>
                    </a:solidFill>
                  </a:tcPr>
                </a:tc>
                <a:tc>
                  <a:txBody>
                    <a:bodyPr/>
                    <a:lstStyle/>
                    <a:p>
                      <a:pPr algn="ctr"/>
                      <a:r>
                        <a:rPr sz="750" b="0">
                          <a:solidFill>
                            <a:srgbClr val="1A1A1A"/>
                          </a:solidFill>
                        </a:rPr>
                        <a:t>Retention solide</a:t>
                      </a:r>
                    </a:p>
                  </a:txBody>
                  <a:tcPr>
                    <a:solidFill>
                      <a:srgbClr val="F5F7FA"/>
                    </a:solidFill>
                  </a:tcPr>
                </a:tc>
              </a:tr>
              <a:tr h="208799">
                <a:tc>
                  <a:txBody>
                    <a:bodyPr/>
                    <a:lstStyle/>
                    <a:p>
                      <a:pPr algn="ctr"/>
                      <a:r>
                        <a:rPr sz="750" b="0">
                          <a:solidFill>
                            <a:srgbClr val="1A1A1A"/>
                          </a:solidFill>
                        </a:rPr>
                        <a:t>Cloud Mix</a:t>
                      </a:r>
                    </a:p>
                  </a:txBody>
                  <a:tcPr>
                    <a:noFill/>
                  </a:tcPr>
                </a:tc>
                <a:tc>
                  <a:txBody>
                    <a:bodyPr/>
                    <a:lstStyle/>
                    <a:p>
                      <a:pPr algn="ctr"/>
                      <a:r>
                        <a:rPr sz="750" b="0">
                          <a:solidFill>
                            <a:srgbClr val="1A1A1A"/>
                          </a:solidFill>
                        </a:rPr>
                        <a:t>38 %</a:t>
                      </a:r>
                    </a:p>
                  </a:txBody>
                  <a:tcPr>
                    <a:noFill/>
                  </a:tcPr>
                </a:tc>
                <a:tc>
                  <a:txBody>
                    <a:bodyPr/>
                    <a:lstStyle/>
                    <a:p>
                      <a:pPr algn="ctr"/>
                      <a:r>
                        <a:rPr sz="750" b="0">
                          <a:solidFill>
                            <a:srgbClr val="1A1A1A"/>
                          </a:solidFill>
                        </a:rPr>
                        <a:t>En hausse</a:t>
                      </a:r>
                    </a:p>
                  </a:txBody>
                  <a:tcPr>
                    <a:noFill/>
                  </a:tcPr>
                </a:tc>
              </a:tr>
              <a:tr h="208799">
                <a:tc>
                  <a:txBody>
                    <a:bodyPr/>
                    <a:lstStyle/>
                    <a:p>
                      <a:pPr algn="ctr"/>
                      <a:r>
                        <a:rPr sz="750" b="0">
                          <a:solidFill>
                            <a:srgbClr val="1A1A1A"/>
                          </a:solidFill>
                        </a:rPr>
                        <a:t>R&amp;D/Rev.</a:t>
                      </a:r>
                    </a:p>
                  </a:txBody>
                  <a:tcPr>
                    <a:solidFill>
                      <a:srgbClr val="F5F7FA"/>
                    </a:solidFill>
                  </a:tcPr>
                </a:tc>
                <a:tc>
                  <a:txBody>
                    <a:bodyPr/>
                    <a:lstStyle/>
                    <a:p>
                      <a:pPr algn="ctr"/>
                      <a:r>
                        <a:rPr sz="750" b="0">
                          <a:solidFill>
                            <a:srgbClr val="1A1A1A"/>
                          </a:solidFill>
                        </a:rPr>
                        <a:t>12 %</a:t>
                      </a:r>
                    </a:p>
                  </a:txBody>
                  <a:tcPr>
                    <a:solidFill>
                      <a:srgbClr val="F5F7FA"/>
                    </a:solidFill>
                  </a:tcPr>
                </a:tc>
                <a:tc>
                  <a:txBody>
                    <a:bodyPr/>
                    <a:lstStyle/>
                    <a:p>
                      <a:pPr algn="ctr"/>
                      <a:r>
                        <a:rPr sz="750" b="0">
                          <a:solidFill>
                            <a:srgbClr val="1A1A1A"/>
                          </a:solidFill>
                        </a:rPr>
                        <a:t>Investi</a:t>
                      </a:r>
                    </a:p>
                  </a:txBody>
                  <a:tcPr>
                    <a:solidFill>
                      <a:srgbClr val="F5F7FA"/>
                    </a:solidFill>
                  </a:tcPr>
                </a:tc>
              </a:tr>
              <a:tr h="208799">
                <a:tc>
                  <a:txBody>
                    <a:bodyPr/>
                    <a:lstStyle/>
                    <a:p>
                      <a:pPr algn="ctr"/>
                      <a:r>
                        <a:rPr sz="750" b="0">
                          <a:solidFill>
                            <a:srgbClr val="1A1A1A"/>
                          </a:solidFill>
                        </a:rPr>
                        <a:t>ARR Growth</a:t>
                      </a:r>
                    </a:p>
                  </a:txBody>
                  <a:tcPr>
                    <a:noFill/>
                  </a:tcPr>
                </a:tc>
                <a:tc>
                  <a:txBody>
                    <a:bodyPr/>
                    <a:lstStyle/>
                    <a:p>
                      <a:pPr algn="ctr"/>
                      <a:r>
                        <a:rPr sz="750" b="0">
                          <a:solidFill>
                            <a:srgbClr val="1A1A1A"/>
                          </a:solidFill>
                        </a:rPr>
                        <a:t>+24 %</a:t>
                      </a:r>
                    </a:p>
                  </a:txBody>
                  <a:tcPr>
                    <a:noFill/>
                  </a:tcPr>
                </a:tc>
                <a:tc>
                  <a:txBody>
                    <a:bodyPr/>
                    <a:lstStyle/>
                    <a:p>
                      <a:pPr algn="ctr"/>
                      <a:r>
                        <a:rPr sz="750" b="0">
                          <a:solidFill>
                            <a:srgbClr val="1A1A1A"/>
                          </a:solidFill>
                        </a:rPr>
                        <a:t>Acceleration</a:t>
                      </a:r>
                    </a:p>
                  </a:txBody>
                  <a:tcPr>
                    <a:noFill/>
                  </a:tcPr>
                </a:tc>
              </a:tr>
              <a:tr h="208805">
                <a:tc>
                  <a:txBody>
                    <a:bodyPr/>
                    <a:lstStyle/>
                    <a:p>
                      <a:pPr algn="ctr"/>
                      <a:r>
                        <a:rPr sz="750" b="0">
                          <a:solidFill>
                            <a:srgbClr val="1A1A1A"/>
                          </a:solidFill>
                        </a:rPr>
                        <a:t>Churn</a:t>
                      </a:r>
                    </a:p>
                  </a:txBody>
                  <a:tcPr>
                    <a:solidFill>
                      <a:srgbClr val="F5F7FA"/>
                    </a:solidFill>
                  </a:tcPr>
                </a:tc>
                <a:tc>
                  <a:txBody>
                    <a:bodyPr/>
                    <a:lstStyle/>
                    <a:p>
                      <a:pPr algn="ctr"/>
                      <a:r>
                        <a:rPr sz="750" b="0">
                          <a:solidFill>
                            <a:srgbClr val="1A1A1A"/>
                          </a:solidFill>
                        </a:rPr>
                        <a:t>4,2 %</a:t>
                      </a:r>
                    </a:p>
                  </a:txBody>
                  <a:tcPr>
                    <a:solidFill>
                      <a:srgbClr val="F5F7FA"/>
                    </a:solidFill>
                  </a:tcPr>
                </a:tc>
                <a:tc>
                  <a:txBody>
                    <a:bodyPr/>
                    <a:lstStyle/>
                    <a:p>
                      <a:pPr algn="ctr"/>
                      <a:r>
                        <a:rPr sz="750" b="0">
                          <a:solidFill>
                            <a:srgbClr val="1A1A1A"/>
                          </a:solidFill>
                        </a:rPr>
                        <a:t>Stable</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Comparaison multiples LTM — 30 sociétés vs médiane sectorielle</a:t>
            </a:r>
          </a:p>
        </p:txBody>
      </p:sp>
      <p:graphicFrame>
        <p:nvGraphicFramePr>
          <p:cNvPr id="15" name="Table 14"/>
          <p:cNvGraphicFramePr>
            <a:graphicFrameLocks noGrp="1"/>
          </p:cNvGraphicFramePr>
          <p:nvPr/>
        </p:nvGraphicFramePr>
        <p:xfrm>
          <a:off x="324000" y="900000"/>
          <a:ext cx="8495998" cy="306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80000">
                <a:tc>
                  <a:txBody>
                    <a:bodyPr/>
                    <a:lstStyle/>
                    <a:p>
                      <a:pPr algn="ctr"/>
                      <a:r>
                        <a:rPr sz="800" b="1">
                          <a:solidFill>
                            <a:srgbClr val="FFFFFF"/>
                          </a:solidFill>
                        </a:rPr>
                        <a:t>Société</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80000">
                <a:tc>
                  <a:txBody>
                    <a:bodyPr/>
                    <a:lstStyle/>
                    <a:p>
                      <a:pPr algn="ctr"/>
                      <a:r>
                        <a:rPr sz="750" b="0">
                          <a:solidFill>
                            <a:srgbClr val="1A1A1A"/>
                          </a:solidFill>
                        </a:rPr>
                        <a:t>FSLR Corp</a:t>
                      </a:r>
                    </a:p>
                  </a:txBody>
                  <a:tcPr>
                    <a:noFill/>
                  </a:tcPr>
                </a:tc>
                <a:tc>
                  <a:txBody>
                    <a:bodyPr/>
                    <a:lstStyle/>
                    <a:p>
                      <a:pPr algn="ctr"/>
                      <a:r>
                        <a:rPr sz="750" b="0">
                          <a:solidFill>
                            <a:srgbClr val="1A1A1A"/>
                          </a:solidFill>
                        </a:rPr>
                        <a:t>37.2x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36.7x</a:t>
                      </a:r>
                    </a:p>
                  </a:txBody>
                  <a:tcPr>
                    <a:noFill/>
                  </a:tcPr>
                </a:tc>
                <a:tc>
                  <a:txBody>
                    <a:bodyPr/>
                    <a:lstStyle/>
                    <a:p>
                      <a:pPr algn="ctr"/>
                      <a:r>
                        <a:rPr sz="750" b="0">
                          <a:solidFill>
                            <a:srgbClr val="1A1A1A"/>
                          </a:solidFill>
                        </a:rPr>
                        <a:t>0.6 %</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0.2 %</a:t>
                      </a:r>
                    </a:p>
                  </a:txBody>
                  <a:tcPr>
                    <a:noFill/>
                  </a:tcPr>
                </a:tc>
              </a:tr>
              <a:tr h="180000">
                <a:tc>
                  <a:txBody>
                    <a:bodyPr/>
                    <a:lstStyle/>
                    <a:p>
                      <a:pPr algn="ctr"/>
                      <a:r>
                        <a:rPr sz="750" b="0">
                          <a:solidFill>
                            <a:srgbClr val="1A1A1A"/>
                          </a:solidFill>
                        </a:rPr>
                        <a:t>SNOW Corp</a:t>
                      </a:r>
                    </a:p>
                  </a:txBody>
                  <a:tcPr>
                    <a:solidFill>
                      <a:srgbClr val="F5F7FA"/>
                    </a:solidFill>
                  </a:tcPr>
                </a:tc>
                <a:tc>
                  <a:txBody>
                    <a:bodyPr/>
                    <a:lstStyle/>
                    <a:p>
                      <a:pPr algn="ctr"/>
                      <a:r>
                        <a:rPr sz="750" b="0">
                          <a:solidFill>
                            <a:srgbClr val="1A1A1A"/>
                          </a:solidFill>
                        </a:rPr>
                        <a:t>9.6x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34.8x</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0.1 %</a:t>
                      </a:r>
                    </a:p>
                  </a:txBody>
                  <a:tcPr>
                    <a:solidFill>
                      <a:srgbClr val="F5F7FA"/>
                    </a:solidFill>
                  </a:tcPr>
                </a:tc>
              </a:tr>
              <a:tr h="180000">
                <a:tc>
                  <a:txBody>
                    <a:bodyPr/>
                    <a:lstStyle/>
                    <a:p>
                      <a:pPr algn="ctr"/>
                      <a:r>
                        <a:rPr sz="750" b="0">
                          <a:solidFill>
                            <a:srgbClr val="1A1A1A"/>
                          </a:solidFill>
                        </a:rPr>
                        <a:t>ON Corp</a:t>
                      </a:r>
                    </a:p>
                  </a:txBody>
                  <a:tcPr>
                    <a:noFill/>
                  </a:tcPr>
                </a:tc>
                <a:tc>
                  <a:txBody>
                    <a:bodyPr/>
                    <a:lstStyle/>
                    <a:p>
                      <a:pPr algn="ctr"/>
                      <a:r>
                        <a:rPr sz="750" b="0">
                          <a:solidFill>
                            <a:srgbClr val="1A1A1A"/>
                          </a:solidFill>
                        </a:rPr>
                        <a:t>6.4x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44.9x</a:t>
                      </a:r>
                    </a:p>
                  </a:txBody>
                  <a:tcPr>
                    <a:noFill/>
                  </a:tcPr>
                </a:tc>
                <a:tc>
                  <a:txBody>
                    <a:bodyPr/>
                    <a:lstStyle/>
                    <a:p>
                      <a:pPr algn="ctr"/>
                      <a:r>
                        <a:rPr sz="750" b="0">
                          <a:solidFill>
                            <a:srgbClr val="1A1A1A"/>
                          </a:solidFill>
                        </a:rPr>
                        <a:t>0.6 %</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0.3 %</a:t>
                      </a:r>
                    </a:p>
                  </a:txBody>
                  <a:tcPr>
                    <a:noFill/>
                  </a:tcPr>
                </a:tc>
              </a:tr>
              <a:tr h="180000">
                <a:tc>
                  <a:txBody>
                    <a:bodyPr/>
                    <a:lstStyle/>
                    <a:p>
                      <a:pPr algn="ctr"/>
                      <a:r>
                        <a:rPr sz="750" b="0">
                          <a:solidFill>
                            <a:srgbClr val="1A1A1A"/>
                          </a:solidFill>
                        </a:rPr>
                        <a:t>NOW Corp</a:t>
                      </a:r>
                    </a:p>
                  </a:txBody>
                  <a:tcPr>
                    <a:solidFill>
                      <a:srgbClr val="F5F7FA"/>
                    </a:solidFill>
                  </a:tcPr>
                </a:tc>
                <a:tc>
                  <a:txBody>
                    <a:bodyPr/>
                    <a:lstStyle/>
                    <a:p>
                      <a:pPr algn="ctr"/>
                      <a:r>
                        <a:rPr sz="750" b="0">
                          <a:solidFill>
                            <a:srgbClr val="1A1A1A"/>
                          </a:solidFill>
                        </a:rPr>
                        <a:t>7.0x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46.8x</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0.2 %</a:t>
                      </a:r>
                    </a:p>
                  </a:txBody>
                  <a:tcPr>
                    <a:solidFill>
                      <a:srgbClr val="F5F7FA"/>
                    </a:solidFill>
                  </a:tcPr>
                </a:tc>
              </a:tr>
              <a:tr h="180000">
                <a:tc>
                  <a:txBody>
                    <a:bodyPr/>
                    <a:lstStyle/>
                    <a:p>
                      <a:pPr algn="ctr"/>
                      <a:r>
                        <a:rPr sz="750" b="0">
                          <a:solidFill>
                            <a:srgbClr val="1A1A1A"/>
                          </a:solidFill>
                        </a:rPr>
                        <a:t>KLAC Corp</a:t>
                      </a:r>
                    </a:p>
                  </a:txBody>
                  <a:tcPr>
                    <a:noFill/>
                  </a:tcPr>
                </a:tc>
                <a:tc>
                  <a:txBody>
                    <a:bodyPr/>
                    <a:lstStyle/>
                    <a:p>
                      <a:pPr algn="ctr"/>
                      <a:r>
                        <a:rPr sz="750" b="0">
                          <a:solidFill>
                            <a:srgbClr val="1A1A1A"/>
                          </a:solidFill>
                        </a:rPr>
                        <a:t>10.2x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46.0x</a:t>
                      </a:r>
                    </a:p>
                  </a:txBody>
                  <a:tcPr>
                    <a:noFill/>
                  </a:tcPr>
                </a:tc>
                <a:tc>
                  <a:txBody>
                    <a:bodyPr/>
                    <a:lstStyle/>
                    <a:p>
                      <a:pPr algn="ctr"/>
                      <a:r>
                        <a:rPr sz="750" b="0">
                          <a:solidFill>
                            <a:srgbClr val="1A1A1A"/>
                          </a:solidFill>
                        </a:rPr>
                        <a:t>0.4 %</a:t>
                      </a:r>
                    </a:p>
                  </a:txBody>
                  <a:tcPr>
                    <a:noFill/>
                  </a:tcPr>
                </a:tc>
                <a:tc>
                  <a:txBody>
                    <a:bodyPr/>
                    <a:lstStyle/>
                    <a:p>
                      <a:pPr algn="ctr"/>
                      <a:r>
                        <a:rPr sz="750" b="0">
                          <a:solidFill>
                            <a:srgbClr val="1A1A1A"/>
                          </a:solidFill>
                        </a:rPr>
                        <a:t>0.1 %</a:t>
                      </a:r>
                    </a:p>
                  </a:txBody>
                  <a:tcPr>
                    <a:noFill/>
                  </a:tcPr>
                </a:tc>
                <a:tc>
                  <a:txBody>
                    <a:bodyPr/>
                    <a:lstStyle/>
                    <a:p>
                      <a:pPr algn="ctr"/>
                      <a:r>
                        <a:rPr sz="750" b="0">
                          <a:solidFill>
                            <a:srgbClr val="1A1A1A"/>
                          </a:solidFill>
                        </a:rPr>
                        <a:t>0.3 %</a:t>
                      </a:r>
                    </a:p>
                  </a:txBody>
                  <a:tcPr>
                    <a:noFill/>
                  </a:tcPr>
                </a:tc>
              </a:tr>
              <a:tr h="180000">
                <a:tc>
                  <a:txBody>
                    <a:bodyPr/>
                    <a:lstStyle/>
                    <a:p>
                      <a:pPr algn="ctr"/>
                      <a:r>
                        <a:rPr sz="750" b="0">
                          <a:solidFill>
                            <a:srgbClr val="1A1A1A"/>
                          </a:solidFill>
                        </a:rPr>
                        <a:t>ZS Corp</a:t>
                      </a:r>
                    </a:p>
                  </a:txBody>
                  <a:tcPr>
                    <a:solidFill>
                      <a:srgbClr val="F5F7FA"/>
                    </a:solidFill>
                  </a:tcPr>
                </a:tc>
                <a:tc>
                  <a:txBody>
                    <a:bodyPr/>
                    <a:lstStyle/>
                    <a:p>
                      <a:pPr algn="ctr"/>
                      <a:r>
                        <a:rPr sz="750" b="0">
                          <a:solidFill>
                            <a:srgbClr val="1A1A1A"/>
                          </a:solidFill>
                        </a:rPr>
                        <a:t>13.6x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17.8x</a:t>
                      </a:r>
                    </a:p>
                  </a:txBody>
                  <a:tcPr>
                    <a:solidFill>
                      <a:srgbClr val="F5F7FA"/>
                    </a:solidFill>
                  </a:tcPr>
                </a:tc>
                <a:tc>
                  <a:txBody>
                    <a:bodyPr/>
                    <a:lstStyle/>
                    <a:p>
                      <a:pPr algn="ctr"/>
                      <a:r>
                        <a:rPr sz="750" b="0">
                          <a:solidFill>
                            <a:srgbClr val="1A1A1A"/>
                          </a:solidFill>
                        </a:rPr>
                        <a:t>0.5 %</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0.2 %</a:t>
                      </a:r>
                    </a:p>
                  </a:txBody>
                  <a:tcPr>
                    <a:solidFill>
                      <a:srgbClr val="F5F7FA"/>
                    </a:solidFill>
                  </a:tcPr>
                </a:tc>
              </a:tr>
              <a:tr h="180000">
                <a:tc>
                  <a:txBody>
                    <a:bodyPr/>
                    <a:lstStyle/>
                    <a:p>
                      <a:pPr algn="ctr"/>
                      <a:r>
                        <a:rPr sz="750" b="0">
                          <a:solidFill>
                            <a:srgbClr val="1A1A1A"/>
                          </a:solidFill>
                        </a:rPr>
                        <a:t>AAPL Corp</a:t>
                      </a:r>
                    </a:p>
                  </a:txBody>
                  <a:tcPr>
                    <a:noFill/>
                  </a:tcPr>
                </a:tc>
                <a:tc>
                  <a:txBody>
                    <a:bodyPr/>
                    <a:lstStyle/>
                    <a:p>
                      <a:pPr algn="ctr"/>
                      <a:r>
                        <a:rPr sz="750" b="0">
                          <a:solidFill>
                            <a:srgbClr val="1A1A1A"/>
                          </a:solidFill>
                        </a:rPr>
                        <a:t>30.8x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18.7x</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0.1 %</a:t>
                      </a:r>
                    </a:p>
                  </a:txBody>
                  <a:tcPr>
                    <a:noFill/>
                  </a:tcPr>
                </a:tc>
              </a:tr>
              <a:tr h="180000">
                <a:tc>
                  <a:txBody>
                    <a:bodyPr/>
                    <a:lstStyle/>
                    <a:p>
                      <a:pPr algn="ctr"/>
                      <a:r>
                        <a:rPr sz="750" b="0">
                          <a:solidFill>
                            <a:srgbClr val="1A1A1A"/>
                          </a:solidFill>
                        </a:rPr>
                        <a:t>META Corp</a:t>
                      </a:r>
                    </a:p>
                  </a:txBody>
                  <a:tcPr>
                    <a:solidFill>
                      <a:srgbClr val="F5F7FA"/>
                    </a:solidFill>
                  </a:tcPr>
                </a:tc>
                <a:tc>
                  <a:txBody>
                    <a:bodyPr/>
                    <a:lstStyle/>
                    <a:p>
                      <a:pPr algn="ctr"/>
                      <a:r>
                        <a:rPr sz="750" b="0">
                          <a:solidFill>
                            <a:srgbClr val="1A1A1A"/>
                          </a:solidFill>
                        </a:rPr>
                        <a:t>14.4x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12.2x</a:t>
                      </a:r>
                    </a:p>
                  </a:txBody>
                  <a:tcPr>
                    <a:solidFill>
                      <a:srgbClr val="F5F7FA"/>
                    </a:solidFill>
                  </a:tcPr>
                </a:tc>
                <a:tc>
                  <a:txBody>
                    <a:bodyPr/>
                    <a:lstStyle/>
                    <a:p>
                      <a:pPr algn="ctr"/>
                      <a:r>
                        <a:rPr sz="750" b="0">
                          <a:solidFill>
                            <a:srgbClr val="1A1A1A"/>
                          </a:solidFill>
                        </a:rPr>
                        <a:t>0.7 %</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0.3 %</a:t>
                      </a:r>
                    </a:p>
                  </a:txBody>
                  <a:tcPr>
                    <a:solidFill>
                      <a:srgbClr val="F5F7FA"/>
                    </a:solidFill>
                  </a:tcPr>
                </a:tc>
              </a:tr>
              <a:tr h="180000">
                <a:tc>
                  <a:txBody>
                    <a:bodyPr/>
                    <a:lstStyle/>
                    <a:p>
                      <a:pPr algn="ctr"/>
                      <a:r>
                        <a:rPr sz="750" b="0">
                          <a:solidFill>
                            <a:srgbClr val="1A1A1A"/>
                          </a:solidFill>
                        </a:rPr>
                        <a:t>TSLA Corp</a:t>
                      </a:r>
                    </a:p>
                  </a:txBody>
                  <a:tcPr>
                    <a:noFill/>
                  </a:tcPr>
                </a:tc>
                <a:tc>
                  <a:txBody>
                    <a:bodyPr/>
                    <a:lstStyle/>
                    <a:p>
                      <a:pPr algn="ctr"/>
                      <a:r>
                        <a:rPr sz="750" b="0">
                          <a:solidFill>
                            <a:srgbClr val="1A1A1A"/>
                          </a:solidFill>
                        </a:rPr>
                        <a:t>8.2x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12.5x</a:t>
                      </a:r>
                    </a:p>
                  </a:txBody>
                  <a:tcPr>
                    <a:noFill/>
                  </a:tcPr>
                </a:tc>
                <a:tc>
                  <a:txBody>
                    <a:bodyPr/>
                    <a:lstStyle/>
                    <a:p>
                      <a:pPr algn="ctr"/>
                      <a:r>
                        <a:rPr sz="750" b="0">
                          <a:solidFill>
                            <a:srgbClr val="1A1A1A"/>
                          </a:solidFill>
                        </a:rPr>
                        <a:t>0.8 %</a:t>
                      </a:r>
                    </a:p>
                  </a:txBody>
                  <a:tcPr>
                    <a:noFill/>
                  </a:tcPr>
                </a:tc>
                <a:tc>
                  <a:txBody>
                    <a:bodyPr/>
                    <a:lstStyle/>
                    <a:p>
                      <a:pPr algn="ctr"/>
                      <a:r>
                        <a:rPr sz="750" b="0">
                          <a:solidFill>
                            <a:srgbClr val="1A1A1A"/>
                          </a:solidFill>
                        </a:rPr>
                        <a:t>0.1 %</a:t>
                      </a:r>
                    </a:p>
                  </a:txBody>
                  <a:tcPr>
                    <a:noFill/>
                  </a:tcPr>
                </a:tc>
                <a:tc>
                  <a:txBody>
                    <a:bodyPr/>
                    <a:lstStyle/>
                    <a:p>
                      <a:pPr algn="ctr"/>
                      <a:r>
                        <a:rPr sz="750" b="0">
                          <a:solidFill>
                            <a:srgbClr val="1A1A1A"/>
                          </a:solidFill>
                        </a:rPr>
                        <a:t>0.2 %</a:t>
                      </a:r>
                    </a:p>
                  </a:txBody>
                  <a:tcPr>
                    <a:noFill/>
                  </a:tcPr>
                </a:tc>
              </a:tr>
              <a:tr h="180000">
                <a:tc>
                  <a:txBody>
                    <a:bodyPr/>
                    <a:lstStyle/>
                    <a:p>
                      <a:pPr algn="ctr"/>
                      <a:r>
                        <a:rPr sz="750" b="0">
                          <a:solidFill>
                            <a:srgbClr val="1A1A1A"/>
                          </a:solidFill>
                        </a:rPr>
                        <a:t>NET Corp</a:t>
                      </a:r>
                    </a:p>
                  </a:txBody>
                  <a:tcPr>
                    <a:solidFill>
                      <a:srgbClr val="F5F7FA"/>
                    </a:solidFill>
                  </a:tcPr>
                </a:tc>
                <a:tc>
                  <a:txBody>
                    <a:bodyPr/>
                    <a:lstStyle/>
                    <a:p>
                      <a:pPr algn="ctr"/>
                      <a:r>
                        <a:rPr sz="750" b="0">
                          <a:solidFill>
                            <a:srgbClr val="1A1A1A"/>
                          </a:solidFill>
                        </a:rPr>
                        <a:t>36.6x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27.2x</a:t>
                      </a:r>
                    </a:p>
                  </a:txBody>
                  <a:tcPr>
                    <a:solidFill>
                      <a:srgbClr val="F5F7FA"/>
                    </a:solidFill>
                  </a:tcPr>
                </a:tc>
                <a:tc>
                  <a:txBody>
                    <a:bodyPr/>
                    <a:lstStyle/>
                    <a:p>
                      <a:pPr algn="ctr"/>
                      <a:r>
                        <a:rPr sz="750" b="0">
                          <a:solidFill>
                            <a:srgbClr val="1A1A1A"/>
                          </a:solidFill>
                        </a:rPr>
                        <a:t>0.6 %</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0.1 %</a:t>
                      </a:r>
                    </a:p>
                  </a:txBody>
                  <a:tcPr>
                    <a:solidFill>
                      <a:srgbClr val="F5F7FA"/>
                    </a:solidFill>
                  </a:tcPr>
                </a:tc>
              </a:tr>
              <a:tr h="180000">
                <a:tc>
                  <a:txBody>
                    <a:bodyPr/>
                    <a:lstStyle/>
                    <a:p>
                      <a:pPr algn="ctr"/>
                      <a:r>
                        <a:rPr sz="750" b="0">
                          <a:solidFill>
                            <a:srgbClr val="1A1A1A"/>
                          </a:solidFill>
                        </a:rPr>
                        <a:t>QCOM Corp</a:t>
                      </a:r>
                    </a:p>
                  </a:txBody>
                  <a:tcPr>
                    <a:noFill/>
                  </a:tcPr>
                </a:tc>
                <a:tc>
                  <a:txBody>
                    <a:bodyPr/>
                    <a:lstStyle/>
                    <a:p>
                      <a:pPr algn="ctr"/>
                      <a:r>
                        <a:rPr sz="750" b="0">
                          <a:solidFill>
                            <a:srgbClr val="1A1A1A"/>
                          </a:solidFill>
                        </a:rPr>
                        <a:t>11.7x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36.9x</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0.1 %</a:t>
                      </a:r>
                    </a:p>
                  </a:txBody>
                  <a:tcPr>
                    <a:noFill/>
                  </a:tcPr>
                </a:tc>
                <a:tc>
                  <a:txBody>
                    <a:bodyPr/>
                    <a:lstStyle/>
                    <a:p>
                      <a:pPr algn="ctr"/>
                      <a:r>
                        <a:rPr sz="750" b="0">
                          <a:solidFill>
                            <a:srgbClr val="1A1A1A"/>
                          </a:solidFill>
                        </a:rPr>
                        <a:t>0.3 %</a:t>
                      </a:r>
                    </a:p>
                  </a:txBody>
                  <a:tcPr>
                    <a:noFill/>
                  </a:tcPr>
                </a:tc>
              </a:tr>
              <a:tr h="180000">
                <a:tc>
                  <a:txBody>
                    <a:bodyPr/>
                    <a:lstStyle/>
                    <a:p>
                      <a:pPr algn="ctr"/>
                      <a:r>
                        <a:rPr sz="750" b="0">
                          <a:solidFill>
                            <a:srgbClr val="1A1A1A"/>
                          </a:solidFill>
                        </a:rPr>
                        <a:t>TXN Corp</a:t>
                      </a:r>
                    </a:p>
                  </a:txBody>
                  <a:tcPr>
                    <a:solidFill>
                      <a:srgbClr val="F5F7FA"/>
                    </a:solidFill>
                  </a:tcPr>
                </a:tc>
                <a:tc>
                  <a:txBody>
                    <a:bodyPr/>
                    <a:lstStyle/>
                    <a:p>
                      <a:pPr algn="ctr"/>
                      <a:r>
                        <a:rPr sz="750" b="0">
                          <a:solidFill>
                            <a:srgbClr val="1A1A1A"/>
                          </a:solidFill>
                        </a:rPr>
                        <a:t>21.8x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47.1x</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0.2 %</a:t>
                      </a:r>
                    </a:p>
                  </a:txBody>
                  <a:tcPr>
                    <a:solidFill>
                      <a:srgbClr val="F5F7FA"/>
                    </a:solidFill>
                  </a:tcPr>
                </a:tc>
              </a:tr>
              <a:tr h="180000">
                <a:tc>
                  <a:txBody>
                    <a:bodyPr/>
                    <a:lstStyle/>
                    <a:p>
                      <a:pPr algn="ctr"/>
                      <a:r>
                        <a:rPr sz="750" b="0">
                          <a:solidFill>
                            <a:srgbClr val="1A1A1A"/>
                          </a:solidFill>
                        </a:rPr>
                        <a:t>MU Corp</a:t>
                      </a:r>
                    </a:p>
                  </a:txBody>
                  <a:tcPr>
                    <a:noFill/>
                  </a:tcPr>
                </a:tc>
                <a:tc>
                  <a:txBody>
                    <a:bodyPr/>
                    <a:lstStyle/>
                    <a:p>
                      <a:pPr algn="ctr"/>
                      <a:r>
                        <a:rPr sz="750" b="0">
                          <a:solidFill>
                            <a:srgbClr val="1A1A1A"/>
                          </a:solidFill>
                        </a:rPr>
                        <a:t>35.8x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34.5x</a:t>
                      </a:r>
                    </a:p>
                  </a:txBody>
                  <a:tcPr>
                    <a:noFill/>
                  </a:tcPr>
                </a:tc>
                <a:tc>
                  <a:txBody>
                    <a:bodyPr/>
                    <a:lstStyle/>
                    <a:p>
                      <a:pPr algn="ctr"/>
                      <a:r>
                        <a:rPr sz="750" b="0">
                          <a:solidFill>
                            <a:srgbClr val="1A1A1A"/>
                          </a:solidFill>
                        </a:rPr>
                        <a:t>0.6 %</a:t>
                      </a:r>
                    </a:p>
                  </a:txBody>
                  <a:tcPr>
                    <a:noFill/>
                  </a:tcPr>
                </a:tc>
                <a:tc>
                  <a:txBody>
                    <a:bodyPr/>
                    <a:lstStyle/>
                    <a:p>
                      <a:pPr algn="ctr"/>
                      <a:r>
                        <a:rPr sz="750" b="0">
                          <a:solidFill>
                            <a:srgbClr val="1A1A1A"/>
                          </a:solidFill>
                        </a:rPr>
                        <a:t>0.4 %</a:t>
                      </a:r>
                    </a:p>
                  </a:txBody>
                  <a:tcPr>
                    <a:noFill/>
                  </a:tcPr>
                </a:tc>
                <a:tc>
                  <a:txBody>
                    <a:bodyPr/>
                    <a:lstStyle/>
                    <a:p>
                      <a:pPr algn="ctr"/>
                      <a:r>
                        <a:rPr sz="750" b="0">
                          <a:solidFill>
                            <a:srgbClr val="1A1A1A"/>
                          </a:solidFill>
                        </a:rPr>
                        <a:t>0.3 %</a:t>
                      </a:r>
                    </a:p>
                  </a:txBody>
                  <a:tcPr>
                    <a:noFill/>
                  </a:tcPr>
                </a:tc>
              </a:tr>
              <a:tr h="180000">
                <a:tc>
                  <a:txBody>
                    <a:bodyPr/>
                    <a:lstStyle/>
                    <a:p>
                      <a:pPr algn="ctr"/>
                      <a:r>
                        <a:rPr sz="750" b="0">
                          <a:solidFill>
                            <a:srgbClr val="1A1A1A"/>
                          </a:solidFill>
                        </a:rPr>
                        <a:t>AMD Corp</a:t>
                      </a:r>
                    </a:p>
                  </a:txBody>
                  <a:tcPr>
                    <a:solidFill>
                      <a:srgbClr val="F5F7FA"/>
                    </a:solidFill>
                  </a:tcPr>
                </a:tc>
                <a:tc>
                  <a:txBody>
                    <a:bodyPr/>
                    <a:lstStyle/>
                    <a:p>
                      <a:pPr algn="ctr"/>
                      <a:r>
                        <a:rPr sz="750" b="0">
                          <a:solidFill>
                            <a:srgbClr val="1A1A1A"/>
                          </a:solidFill>
                        </a:rPr>
                        <a:t>23.8x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48.2x</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0.2 %</a:t>
                      </a:r>
                    </a:p>
                  </a:txBody>
                  <a:tcPr>
                    <a:solidFill>
                      <a:srgbClr val="F5F7FA"/>
                    </a:solidFill>
                  </a:tcPr>
                </a:tc>
                <a:tc>
                  <a:txBody>
                    <a:bodyPr/>
                    <a:lstStyle/>
                    <a:p>
                      <a:pPr algn="ctr"/>
                      <a:r>
                        <a:rPr sz="750" b="0">
                          <a:solidFill>
                            <a:srgbClr val="1A1A1A"/>
                          </a:solidFill>
                        </a:rPr>
                        <a:t>0.2 %</a:t>
                      </a:r>
                    </a:p>
                  </a:txBody>
                  <a:tcPr>
                    <a:solidFill>
                      <a:srgbClr val="F5F7FA"/>
                    </a:solidFill>
                  </a:tcPr>
                </a:tc>
              </a:tr>
              <a:tr h="180000">
                <a:tc>
                  <a:txBody>
                    <a:bodyPr/>
                    <a:lstStyle/>
                    <a:p>
                      <a:pPr algn="ctr"/>
                      <a:r>
                        <a:rPr sz="750" b="0">
                          <a:solidFill>
                            <a:srgbClr val="1A1A1A"/>
                          </a:solidFill>
                        </a:rPr>
                        <a:t>INTC Corp</a:t>
                      </a:r>
                    </a:p>
                  </a:txBody>
                  <a:tcPr>
                    <a:noFill/>
                  </a:tcPr>
                </a:tc>
                <a:tc>
                  <a:txBody>
                    <a:bodyPr/>
                    <a:lstStyle/>
                    <a:p>
                      <a:pPr algn="ctr"/>
                      <a:r>
                        <a:rPr sz="750" b="0">
                          <a:solidFill>
                            <a:srgbClr val="1A1A1A"/>
                          </a:solidFill>
                        </a:rPr>
                        <a:t>22.8x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46.7x</a:t>
                      </a:r>
                    </a:p>
                  </a:txBody>
                  <a:tcPr>
                    <a:noFill/>
                  </a:tcPr>
                </a:tc>
                <a:tc>
                  <a:txBody>
                    <a:bodyPr/>
                    <a:lstStyle/>
                    <a:p>
                      <a:pPr algn="ctr"/>
                      <a:r>
                        <a:rPr sz="750" b="0">
                          <a:solidFill>
                            <a:srgbClr val="1A1A1A"/>
                          </a:solidFill>
                        </a:rPr>
                        <a:t>0.5 %</a:t>
                      </a:r>
                    </a:p>
                  </a:txBody>
                  <a:tcPr>
                    <a:noFill/>
                  </a:tcPr>
                </a:tc>
                <a:tc>
                  <a:txBody>
                    <a:bodyPr/>
                    <a:lstStyle/>
                    <a:p>
                      <a:pPr algn="ctr"/>
                      <a:r>
                        <a:rPr sz="750" b="0">
                          <a:solidFill>
                            <a:srgbClr val="1A1A1A"/>
                          </a:solidFill>
                        </a:rPr>
                        <a:t>0.2 %</a:t>
                      </a:r>
                    </a:p>
                  </a:txBody>
                  <a:tcPr>
                    <a:noFill/>
                  </a:tcPr>
                </a:tc>
                <a:tc>
                  <a:txBody>
                    <a:bodyPr/>
                    <a:lstStyle/>
                    <a:p>
                      <a:pPr algn="ctr"/>
                      <a:r>
                        <a:rPr sz="750" b="0">
                          <a:solidFill>
                            <a:srgbClr val="1A1A1A"/>
                          </a:solidFill>
                        </a:rPr>
                        <a:t>0.3 %</a:t>
                      </a:r>
                    </a:p>
                  </a:txBody>
                  <a:tcPr>
                    <a:noFill/>
                  </a:tcPr>
                </a:tc>
              </a:tr>
              <a:tr h="180000">
                <a:tc>
                  <a:txBody>
                    <a:bodyPr/>
                    <a:lstStyle/>
                    <a:p>
                      <a:pPr algn="ctr"/>
                      <a:r>
                        <a:rPr sz="750" b="0">
                          <a:solidFill>
                            <a:srgbClr val="1A1A1A"/>
                          </a:solidFill>
                        </a:rPr>
                        <a:t>MEDIANE</a:t>
                      </a:r>
                    </a:p>
                  </a:txBody>
                  <a:tcPr>
                    <a:solidFill>
                      <a:srgbClr val="F5F7FA"/>
                    </a:solidFill>
                  </a:tcPr>
                </a:tc>
                <a:tc>
                  <a:txBody>
                    <a:bodyPr/>
                    <a:lstStyle/>
                    <a:p>
                      <a:pPr algn="ctr"/>
                      <a:r>
                        <a:rPr sz="750" b="0">
                          <a:solidFill>
                            <a:srgbClr val="1A1A1A"/>
                          </a:solidFill>
                        </a:rPr>
                        <a:t>22.6x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35.8x</a:t>
                      </a:r>
                    </a:p>
                  </a:txBody>
                  <a:tcPr>
                    <a:solidFill>
                      <a:srgbClr val="F5F7FA"/>
                    </a:solidFill>
                  </a:tcPr>
                </a:tc>
                <a:tc>
                  <a:txBody>
                    <a:bodyPr/>
                    <a:lstStyle/>
                    <a:p>
                      <a:pPr algn="ctr"/>
                      <a:r>
                        <a:rPr sz="750" b="0">
                          <a:solidFill>
                            <a:srgbClr val="1A1A1A"/>
                          </a:solidFill>
                        </a:rPr>
                        <a:t>0.6 %</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0.2 %</a:t>
                      </a:r>
                    </a:p>
                  </a:txBody>
                  <a:tcPr>
                    <a:solidFill>
                      <a:srgbClr val="F5F7FA"/>
                    </a:solidFill>
                  </a:tcPr>
                </a:tc>
              </a:tr>
            </a:tbl>
          </a:graphicData>
        </a:graphic>
      </p:graphicFrame>
      <p:sp>
        <p:nvSpPr>
          <p:cNvPr id="16" name="Rectangle 15"/>
          <p:cNvSpPr/>
          <p:nvPr/>
        </p:nvSpPr>
        <p:spPr>
          <a:xfrm>
            <a:off x="324000" y="4068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4068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4086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4356000"/>
            <a:ext cx="8352000" cy="720000"/>
          </a:xfrm>
          <a:prstGeom prst="rect">
            <a:avLst/>
          </a:prstGeom>
          <a:noFill/>
        </p:spPr>
        <p:txBody>
          <a:bodyPr wrap="square">
            <a:spAutoFit/>
          </a:bodyPr>
          <a:lstStyle/>
          <a:p>
            <a:pPr algn="l"/>
            <a:r>
              <a:rPr sz="850" b="0" i="0">
                <a:solidFill>
                  <a:srgbClr val="555555"/>
                </a:solidFill>
              </a:rPr>
              <a:t>La mediane EV/EBITDA sectorielle s etablit a 22.6x LTM. FSLR Corp (37.2x) se distingue comme le leader de qualite, combine a une marge EBITDA de 0.3 % et une croissance de +18.2 %. La dispersion des multiples revele l heterogeneite des profils au sein du secteur Technology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Intelligence Artificielle</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Adoption entreprises +42 % en 2026 — premier driver de depenses IT</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Cloud Hybride Souverain</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Contraintes souverainete données — migration vers solutions EU acceleree par NIS2</a:t>
            </a:r>
          </a:p>
        </p:txBody>
      </p:sp>
      <p:sp>
        <p:nvSpPr>
          <p:cNvPr id="25" name="Rectangle 24"/>
          <p:cNvSpPr/>
          <p:nvPr/>
        </p:nvSpPr>
        <p:spPr>
          <a:xfrm>
            <a:off x="324000" y="2736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1A7A4A"/>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Modernisation SI Publics</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Plans gouvernementaux 2026-2028 — budgets numeriques confirmes 6 Etats EU</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Sensibilite Taux</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Compression multiples si taux &gt; 4,5 % — impact modere sur FCF structurel</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57/100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8.8 %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540000"/>
          </a:xfrm>
          <a:prstGeom prst="rect">
            <a:avLst/>
          </a:prstGeom>
          <a:noFill/>
        </p:spPr>
        <p:txBody>
          <a:bodyPr wrap="square">
            <a:spAutoFit/>
          </a:bodyPr>
          <a:lstStyle/>
          <a:p>
            <a:pPr algn="ctr"/>
            <a:r>
              <a:rPr sz="800" b="0" i="0">
                <a:solidFill>
                  <a:srgbClr val="2A5298"/>
                </a:solidFill>
              </a:rPr>
              <a:t>Secteur en phase d'expansion | porté par l'IA et le cloud souverain</a:t>
            </a:r>
          </a:p>
        </p:txBody>
      </p:sp>
      <p:sp>
        <p:nvSpPr>
          <p:cNvPr id="44" name="Rectangle 43"/>
          <p:cNvSpPr/>
          <p:nvPr/>
        </p:nvSpPr>
        <p:spPr>
          <a:xfrm>
            <a:off x="6083999" y="4031999"/>
            <a:ext cx="2628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6000" y="4086000"/>
            <a:ext cx="2844000" cy="180000"/>
          </a:xfrm>
          <a:prstGeom prst="rect">
            <a:avLst/>
          </a:prstGeom>
          <a:noFill/>
        </p:spPr>
        <p:txBody>
          <a:bodyPr wrap="square">
            <a:spAutoFit/>
          </a:bodyPr>
          <a:lstStyle/>
          <a:p>
            <a:pPr algn="ctr"/>
            <a:r>
              <a:rPr sz="700" b="1" i="0">
                <a:solidFill>
                  <a:srgbClr val="AAAAAA"/>
                </a:solidFill>
              </a:rPr>
              <a:t>CONTEXTE MACRO</a:t>
            </a:r>
          </a:p>
        </p:txBody>
      </p:sp>
      <p:sp>
        <p:nvSpPr>
          <p:cNvPr id="46" name="TextBox 45"/>
          <p:cNvSpPr txBox="1"/>
          <p:nvPr/>
        </p:nvSpPr>
        <p:spPr>
          <a:xfrm>
            <a:off x="5976000" y="4266000"/>
            <a:ext cx="2844000" cy="198000"/>
          </a:xfrm>
          <a:prstGeom prst="rect">
            <a:avLst/>
          </a:prstGeom>
          <a:noFill/>
        </p:spPr>
        <p:txBody>
          <a:bodyPr wrap="square">
            <a:spAutoFit/>
          </a:bodyPr>
          <a:lstStyle/>
          <a:p>
            <a:pPr algn="ctr"/>
            <a:r>
              <a:rPr sz="850" b="1" i="0">
                <a:solidFill>
                  <a:srgbClr val="E67E22"/>
                </a:solidFill>
              </a:rPr>
              <a:t>Regime : Volatile</a:t>
            </a:r>
          </a:p>
        </p:txBody>
      </p:sp>
      <p:sp>
        <p:nvSpPr>
          <p:cNvPr id="47" name="TextBox 46"/>
          <p:cNvSpPr txBox="1"/>
          <p:nvPr/>
        </p:nvSpPr>
        <p:spPr>
          <a:xfrm>
            <a:off x="5976000" y="4482000"/>
            <a:ext cx="2844000" cy="180000"/>
          </a:xfrm>
          <a:prstGeom prst="rect">
            <a:avLst/>
          </a:prstGeom>
          <a:noFill/>
        </p:spPr>
        <p:txBody>
          <a:bodyPr wrap="square">
            <a:spAutoFit/>
          </a:bodyPr>
          <a:lstStyle/>
          <a:p>
            <a:pPr algn="ctr"/>
            <a:r>
              <a:rPr sz="750" b="0" i="0">
                <a:solidFill>
                  <a:srgbClr val="555555"/>
                </a:solidFill>
              </a:rPr>
              <a:t>Rec. 6M : 26%  (Moderee)</a:t>
            </a:r>
          </a:p>
        </p:txBody>
      </p:sp>
      <p:sp>
        <p:nvSpPr>
          <p:cNvPr id="48" name="Rectangle 4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30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30 sociétés analysées  ·  Technology  ·  S&amp;P 500  ·  Tri par score FinSight decroissant</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1800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180000">
                <a:tc>
                  <a:txBody>
                    <a:bodyPr/>
                    <a:lstStyle/>
                    <a:p>
                      <a:pPr algn="ctr"/>
                      <a:r>
                        <a:rPr sz="750" b="0">
                          <a:solidFill>
                            <a:srgbClr val="1A1A1A"/>
                          </a:solidFill>
                        </a:rPr>
                        <a:t>1</a:t>
                      </a:r>
                    </a:p>
                  </a:txBody>
                  <a:tcPr>
                    <a:noFill/>
                  </a:tcPr>
                </a:tc>
                <a:tc>
                  <a:txBody>
                    <a:bodyPr/>
                    <a:lstStyle/>
                    <a:p>
                      <a:pPr algn="ctr"/>
                      <a:r>
                        <a:rPr sz="750" b="0">
                          <a:solidFill>
                            <a:srgbClr val="1A1A1A"/>
                          </a:solidFill>
                        </a:rPr>
                        <a:t>FSLR</a:t>
                      </a:r>
                    </a:p>
                  </a:txBody>
                  <a:tcPr>
                    <a:noFill/>
                  </a:tcPr>
                </a:tc>
                <a:tc>
                  <a:txBody>
                    <a:bodyPr/>
                    <a:lstStyle/>
                    <a:p>
                      <a:pPr algn="ctr"/>
                      <a:r>
                        <a:rPr sz="750" b="0">
                          <a:solidFill>
                            <a:srgbClr val="1A1A1A"/>
                          </a:solidFill>
                        </a:rPr>
                        <a:t>FSLR Corp</a:t>
                      </a:r>
                    </a:p>
                  </a:txBody>
                  <a:tcPr>
                    <a:noFill/>
                  </a:tcPr>
                </a:tc>
                <a:tc>
                  <a:txBody>
                    <a:bodyPr/>
                    <a:lstStyle/>
                    <a:p>
                      <a:pPr algn="ctr"/>
                      <a:r>
                        <a:rPr sz="750" b="0">
                          <a:solidFill>
                            <a:srgbClr val="1A1A1A"/>
                          </a:solidFill>
                        </a:rPr>
                        <a:t>90/100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382.1</a:t>
                      </a:r>
                    </a:p>
                  </a:txBody>
                  <a:tcPr>
                    <a:noFill/>
                  </a:tcPr>
                </a:tc>
                <a:tc>
                  <a:txBody>
                    <a:bodyPr/>
                    <a:lstStyle/>
                    <a:p>
                      <a:pPr algn="ctr"/>
                      <a:r>
                        <a:rPr sz="750" b="0">
                          <a:solidFill>
                            <a:srgbClr val="1A1A1A"/>
                          </a:solidFill>
                        </a:rPr>
                        <a:t>37.2x</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+18.2 %</a:t>
                      </a:r>
                    </a:p>
                  </a:txBody>
                  <a:tcPr>
                    <a:noFill/>
                  </a:tcPr>
                </a:tc>
                <a:tc>
                  <a:txBody>
                    <a:bodyPr/>
                    <a:lstStyle/>
                    <a:p>
                      <a:pPr algn="ctr"/>
                      <a:r>
                        <a:rPr sz="750" b="0">
                          <a:solidFill>
                            <a:srgbClr val="1A1A1A"/>
                          </a:solidFill>
                        </a:rPr>
                        <a:t>-0.1 %</a:t>
                      </a:r>
                    </a:p>
                  </a:txBody>
                  <a:tcPr>
                    <a:noFill/>
                  </a:tcPr>
                </a:tc>
              </a:tr>
              <a:tr h="1800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SNOW</a:t>
                      </a:r>
                    </a:p>
                  </a:txBody>
                  <a:tcPr>
                    <a:solidFill>
                      <a:srgbClr val="F5F7FA"/>
                    </a:solidFill>
                  </a:tcPr>
                </a:tc>
                <a:tc>
                  <a:txBody>
                    <a:bodyPr/>
                    <a:lstStyle/>
                    <a:p>
                      <a:pPr algn="ctr"/>
                      <a:r>
                        <a:rPr sz="750" b="0">
                          <a:solidFill>
                            <a:srgbClr val="1A1A1A"/>
                          </a:solidFill>
                        </a:rPr>
                        <a:t>SNOW Corp</a:t>
                      </a:r>
                    </a:p>
                  </a:txBody>
                  <a:tcPr>
                    <a:solidFill>
                      <a:srgbClr val="F5F7FA"/>
                    </a:solidFill>
                  </a:tcPr>
                </a:tc>
                <a:tc>
                  <a:txBody>
                    <a:bodyPr/>
                    <a:lstStyle/>
                    <a:p>
                      <a:pPr algn="ctr"/>
                      <a:r>
                        <a:rPr sz="750" b="0">
                          <a:solidFill>
                            <a:srgbClr val="1A1A1A"/>
                          </a:solidFill>
                        </a:rPr>
                        <a:t>89/100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143.0</a:t>
                      </a:r>
                    </a:p>
                  </a:txBody>
                  <a:tcPr>
                    <a:solidFill>
                      <a:srgbClr val="F5F7FA"/>
                    </a:solidFill>
                  </a:tcPr>
                </a:tc>
                <a:tc>
                  <a:txBody>
                    <a:bodyPr/>
                    <a:lstStyle/>
                    <a:p>
                      <a:pPr algn="ctr"/>
                      <a:r>
                        <a:rPr sz="750" b="0">
                          <a:solidFill>
                            <a:srgbClr val="1A1A1A"/>
                          </a:solidFill>
                        </a:rPr>
                        <a:t>9.6x</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+11.0 %</a:t>
                      </a:r>
                    </a:p>
                  </a:txBody>
                  <a:tcPr>
                    <a:solidFill>
                      <a:srgbClr val="F5F7FA"/>
                    </a:solidFill>
                  </a:tcPr>
                </a:tc>
                <a:tc>
                  <a:txBody>
                    <a:bodyPr/>
                    <a:lstStyle/>
                    <a:p>
                      <a:pPr algn="ctr"/>
                      <a:r>
                        <a:rPr sz="750" b="0">
                          <a:solidFill>
                            <a:srgbClr val="1A1A1A"/>
                          </a:solidFill>
                        </a:rPr>
                        <a:t>+0.5 %</a:t>
                      </a:r>
                    </a:p>
                  </a:txBody>
                  <a:tcPr>
                    <a:solidFill>
                      <a:srgbClr val="F5F7FA"/>
                    </a:solidFill>
                  </a:tcPr>
                </a:tc>
              </a:tr>
              <a:tr h="180000">
                <a:tc>
                  <a:txBody>
                    <a:bodyPr/>
                    <a:lstStyle/>
                    <a:p>
                      <a:pPr algn="ctr"/>
                      <a:r>
                        <a:rPr sz="750" b="0">
                          <a:solidFill>
                            <a:srgbClr val="1A1A1A"/>
                          </a:solidFill>
                        </a:rPr>
                        <a:t>3</a:t>
                      </a:r>
                    </a:p>
                  </a:txBody>
                  <a:tcPr>
                    <a:noFill/>
                  </a:tcPr>
                </a:tc>
                <a:tc>
                  <a:txBody>
                    <a:bodyPr/>
                    <a:lstStyle/>
                    <a:p>
                      <a:pPr algn="ctr"/>
                      <a:r>
                        <a:rPr sz="750" b="0">
                          <a:solidFill>
                            <a:srgbClr val="1A1A1A"/>
                          </a:solidFill>
                        </a:rPr>
                        <a:t>ON</a:t>
                      </a:r>
                    </a:p>
                  </a:txBody>
                  <a:tcPr>
                    <a:noFill/>
                  </a:tcPr>
                </a:tc>
                <a:tc>
                  <a:txBody>
                    <a:bodyPr/>
                    <a:lstStyle/>
                    <a:p>
                      <a:pPr algn="ctr"/>
                      <a:r>
                        <a:rPr sz="750" b="0">
                          <a:solidFill>
                            <a:srgbClr val="1A1A1A"/>
                          </a:solidFill>
                        </a:rPr>
                        <a:t>ON Corp</a:t>
                      </a:r>
                    </a:p>
                  </a:txBody>
                  <a:tcPr>
                    <a:noFill/>
                  </a:tcPr>
                </a:tc>
                <a:tc>
                  <a:txBody>
                    <a:bodyPr/>
                    <a:lstStyle/>
                    <a:p>
                      <a:pPr algn="ctr"/>
                      <a:r>
                        <a:rPr sz="750" b="0">
                          <a:solidFill>
                            <a:srgbClr val="1A1A1A"/>
                          </a:solidFill>
                        </a:rPr>
                        <a:t>81/100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183.9</a:t>
                      </a:r>
                    </a:p>
                  </a:txBody>
                  <a:tcPr>
                    <a:noFill/>
                  </a:tcPr>
                </a:tc>
                <a:tc>
                  <a:txBody>
                    <a:bodyPr/>
                    <a:lstStyle/>
                    <a:p>
                      <a:pPr algn="ctr"/>
                      <a:r>
                        <a:rPr sz="750" b="0">
                          <a:solidFill>
                            <a:srgbClr val="1A1A1A"/>
                          </a:solidFill>
                        </a:rPr>
                        <a:t>6.4x</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+2.0 %</a:t>
                      </a:r>
                    </a:p>
                  </a:txBody>
                  <a:tcPr>
                    <a:noFill/>
                  </a:tcPr>
                </a:tc>
                <a:tc>
                  <a:txBody>
                    <a:bodyPr/>
                    <a:lstStyle/>
                    <a:p>
                      <a:pPr algn="ctr"/>
                      <a:r>
                        <a:rPr sz="750" b="0">
                          <a:solidFill>
                            <a:srgbClr val="1A1A1A"/>
                          </a:solidFill>
                        </a:rPr>
                        <a:t>+0.4 %</a:t>
                      </a:r>
                    </a:p>
                  </a:txBody>
                  <a:tcPr>
                    <a:noFill/>
                  </a:tcPr>
                </a:tc>
              </a:tr>
              <a:tr h="1800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NOW</a:t>
                      </a:r>
                    </a:p>
                  </a:txBody>
                  <a:tcPr>
                    <a:solidFill>
                      <a:srgbClr val="F5F7FA"/>
                    </a:solidFill>
                  </a:tcPr>
                </a:tc>
                <a:tc>
                  <a:txBody>
                    <a:bodyPr/>
                    <a:lstStyle/>
                    <a:p>
                      <a:pPr algn="ctr"/>
                      <a:r>
                        <a:rPr sz="750" b="0">
                          <a:solidFill>
                            <a:srgbClr val="1A1A1A"/>
                          </a:solidFill>
                        </a:rPr>
                        <a:t>NOW Corp</a:t>
                      </a:r>
                    </a:p>
                  </a:txBody>
                  <a:tcPr>
                    <a:solidFill>
                      <a:srgbClr val="F5F7FA"/>
                    </a:solidFill>
                  </a:tcPr>
                </a:tc>
                <a:tc>
                  <a:txBody>
                    <a:bodyPr/>
                    <a:lstStyle/>
                    <a:p>
                      <a:pPr algn="ctr"/>
                      <a:r>
                        <a:rPr sz="750" b="0">
                          <a:solidFill>
                            <a:srgbClr val="1A1A1A"/>
                          </a:solidFill>
                        </a:rPr>
                        <a:t>74/100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126.2</a:t>
                      </a:r>
                    </a:p>
                  </a:txBody>
                  <a:tcPr>
                    <a:solidFill>
                      <a:srgbClr val="F5F7FA"/>
                    </a:solidFill>
                  </a:tcPr>
                </a:tc>
                <a:tc>
                  <a:txBody>
                    <a:bodyPr/>
                    <a:lstStyle/>
                    <a:p>
                      <a:pPr algn="ctr"/>
                      <a:r>
                        <a:rPr sz="750" b="0">
                          <a:solidFill>
                            <a:srgbClr val="1A1A1A"/>
                          </a:solidFill>
                        </a:rPr>
                        <a:t>7.0x</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-2.9 %</a:t>
                      </a:r>
                    </a:p>
                  </a:txBody>
                  <a:tcPr>
                    <a:solidFill>
                      <a:srgbClr val="F5F7FA"/>
                    </a:solidFill>
                  </a:tcPr>
                </a:tc>
                <a:tc>
                  <a:txBody>
                    <a:bodyPr/>
                    <a:lstStyle/>
                    <a:p>
                      <a:pPr algn="ctr"/>
                      <a:r>
                        <a:rPr sz="750" b="0">
                          <a:solidFill>
                            <a:srgbClr val="1A1A1A"/>
                          </a:solidFill>
                        </a:rPr>
                        <a:t>+0.0 %</a:t>
                      </a:r>
                    </a:p>
                  </a:txBody>
                  <a:tcPr>
                    <a:solidFill>
                      <a:srgbClr val="F5F7FA"/>
                    </a:solidFill>
                  </a:tcPr>
                </a:tc>
              </a:tr>
              <a:tr h="180000">
                <a:tc>
                  <a:txBody>
                    <a:bodyPr/>
                    <a:lstStyle/>
                    <a:p>
                      <a:pPr algn="ctr"/>
                      <a:r>
                        <a:rPr sz="750" b="0">
                          <a:solidFill>
                            <a:srgbClr val="1A1A1A"/>
                          </a:solidFill>
                        </a:rPr>
                        <a:t>5</a:t>
                      </a:r>
                    </a:p>
                  </a:txBody>
                  <a:tcPr>
                    <a:noFill/>
                  </a:tcPr>
                </a:tc>
                <a:tc>
                  <a:txBody>
                    <a:bodyPr/>
                    <a:lstStyle/>
                    <a:p>
                      <a:pPr algn="ctr"/>
                      <a:r>
                        <a:rPr sz="750" b="0">
                          <a:solidFill>
                            <a:srgbClr val="1A1A1A"/>
                          </a:solidFill>
                        </a:rPr>
                        <a:t>KLAC</a:t>
                      </a:r>
                    </a:p>
                  </a:txBody>
                  <a:tcPr>
                    <a:noFill/>
                  </a:tcPr>
                </a:tc>
                <a:tc>
                  <a:txBody>
                    <a:bodyPr/>
                    <a:lstStyle/>
                    <a:p>
                      <a:pPr algn="ctr"/>
                      <a:r>
                        <a:rPr sz="750" b="0">
                          <a:solidFill>
                            <a:srgbClr val="1A1A1A"/>
                          </a:solidFill>
                        </a:rPr>
                        <a:t>KLAC Corp</a:t>
                      </a:r>
                    </a:p>
                  </a:txBody>
                  <a:tcPr>
                    <a:noFill/>
                  </a:tcPr>
                </a:tc>
                <a:tc>
                  <a:txBody>
                    <a:bodyPr/>
                    <a:lstStyle/>
                    <a:p>
                      <a:pPr algn="ctr"/>
                      <a:r>
                        <a:rPr sz="750" b="0">
                          <a:solidFill>
                            <a:srgbClr val="1A1A1A"/>
                          </a:solidFill>
                        </a:rPr>
                        <a:t>74/100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253.9</a:t>
                      </a:r>
                    </a:p>
                  </a:txBody>
                  <a:tcPr>
                    <a:noFill/>
                  </a:tcPr>
                </a:tc>
                <a:tc>
                  <a:txBody>
                    <a:bodyPr/>
                    <a:lstStyle/>
                    <a:p>
                      <a:pPr algn="ctr"/>
                      <a:r>
                        <a:rPr sz="750" b="0">
                          <a:solidFill>
                            <a:srgbClr val="1A1A1A"/>
                          </a:solidFill>
                        </a:rPr>
                        <a:t>10.2x</a:t>
                      </a:r>
                    </a:p>
                  </a:txBody>
                  <a:tcPr>
                    <a:noFill/>
                  </a:tcPr>
                </a:tc>
                <a:tc>
                  <a:txBody>
                    <a:bodyPr/>
                    <a:lstStyle/>
                    <a:p>
                      <a:pPr algn="ctr"/>
                      <a:r>
                        <a:rPr sz="750" b="0">
                          <a:solidFill>
                            <a:srgbClr val="1A1A1A"/>
                          </a:solidFill>
                        </a:rPr>
                        <a:t>0.1 %</a:t>
                      </a:r>
                    </a:p>
                  </a:txBody>
                  <a:tcPr>
                    <a:noFill/>
                  </a:tcPr>
                </a:tc>
                <a:tc>
                  <a:txBody>
                    <a:bodyPr/>
                    <a:lstStyle/>
                    <a:p>
                      <a:pPr algn="ctr"/>
                      <a:r>
                        <a:rPr sz="750" b="0">
                          <a:solidFill>
                            <a:srgbClr val="1A1A1A"/>
                          </a:solidFill>
                        </a:rPr>
                        <a:t>+5.8 %</a:t>
                      </a:r>
                    </a:p>
                  </a:txBody>
                  <a:tcPr>
                    <a:noFill/>
                  </a:tcPr>
                </a:tc>
                <a:tc>
                  <a:txBody>
                    <a:bodyPr/>
                    <a:lstStyle/>
                    <a:p>
                      <a:pPr algn="ctr"/>
                      <a:r>
                        <a:rPr sz="750" b="0">
                          <a:solidFill>
                            <a:srgbClr val="1A1A1A"/>
                          </a:solidFill>
                        </a:rPr>
                        <a:t>+0.4 %</a:t>
                      </a:r>
                    </a:p>
                  </a:txBody>
                  <a:tcPr>
                    <a:noFill/>
                  </a:tcPr>
                </a:tc>
              </a:tr>
              <a:tr h="1800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ZS</a:t>
                      </a:r>
                    </a:p>
                  </a:txBody>
                  <a:tcPr>
                    <a:solidFill>
                      <a:srgbClr val="F5F7FA"/>
                    </a:solidFill>
                  </a:tcPr>
                </a:tc>
                <a:tc>
                  <a:txBody>
                    <a:bodyPr/>
                    <a:lstStyle/>
                    <a:p>
                      <a:pPr algn="ctr"/>
                      <a:r>
                        <a:rPr sz="750" b="0">
                          <a:solidFill>
                            <a:srgbClr val="1A1A1A"/>
                          </a:solidFill>
                        </a:rPr>
                        <a:t>ZS Corp</a:t>
                      </a:r>
                    </a:p>
                  </a:txBody>
                  <a:tcPr>
                    <a:solidFill>
                      <a:srgbClr val="F5F7FA"/>
                    </a:solidFill>
                  </a:tcPr>
                </a:tc>
                <a:tc>
                  <a:txBody>
                    <a:bodyPr/>
                    <a:lstStyle/>
                    <a:p>
                      <a:pPr algn="ctr"/>
                      <a:r>
                        <a:rPr sz="750" b="0">
                          <a:solidFill>
                            <a:srgbClr val="1A1A1A"/>
                          </a:solidFill>
                        </a:rPr>
                        <a:t>73/100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58.5</a:t>
                      </a:r>
                    </a:p>
                  </a:txBody>
                  <a:tcPr>
                    <a:solidFill>
                      <a:srgbClr val="F5F7FA"/>
                    </a:solidFill>
                  </a:tcPr>
                </a:tc>
                <a:tc>
                  <a:txBody>
                    <a:bodyPr/>
                    <a:lstStyle/>
                    <a:p>
                      <a:pPr algn="ctr"/>
                      <a:r>
                        <a:rPr sz="750" b="0">
                          <a:solidFill>
                            <a:srgbClr val="1A1A1A"/>
                          </a:solidFill>
                        </a:rPr>
                        <a:t>13.6x</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+24.7 %</a:t>
                      </a:r>
                    </a:p>
                  </a:txBody>
                  <a:tcPr>
                    <a:solidFill>
                      <a:srgbClr val="F5F7FA"/>
                    </a:solidFill>
                  </a:tcPr>
                </a:tc>
                <a:tc>
                  <a:txBody>
                    <a:bodyPr/>
                    <a:lstStyle/>
                    <a:p>
                      <a:pPr algn="ctr"/>
                      <a:r>
                        <a:rPr sz="750" b="0">
                          <a:solidFill>
                            <a:srgbClr val="1A1A1A"/>
                          </a:solidFill>
                        </a:rPr>
                        <a:t>-0.1 %</a:t>
                      </a:r>
                    </a:p>
                  </a:txBody>
                  <a:tcPr>
                    <a:solidFill>
                      <a:srgbClr val="F5F7FA"/>
                    </a:solidFill>
                  </a:tcPr>
                </a:tc>
              </a:tr>
              <a:tr h="180000">
                <a:tc>
                  <a:txBody>
                    <a:bodyPr/>
                    <a:lstStyle/>
                    <a:p>
                      <a:pPr algn="ctr"/>
                      <a:r>
                        <a:rPr sz="750" b="0">
                          <a:solidFill>
                            <a:srgbClr val="1A1A1A"/>
                          </a:solidFill>
                        </a:rPr>
                        <a:t>7</a:t>
                      </a:r>
                    </a:p>
                  </a:txBody>
                  <a:tcPr>
                    <a:noFill/>
                  </a:tcPr>
                </a:tc>
                <a:tc>
                  <a:txBody>
                    <a:bodyPr/>
                    <a:lstStyle/>
                    <a:p>
                      <a:pPr algn="ctr"/>
                      <a:r>
                        <a:rPr sz="750" b="0">
                          <a:solidFill>
                            <a:srgbClr val="1A1A1A"/>
                          </a:solidFill>
                        </a:rPr>
                        <a:t>AAPL</a:t>
                      </a:r>
                    </a:p>
                  </a:txBody>
                  <a:tcPr>
                    <a:noFill/>
                  </a:tcPr>
                </a:tc>
                <a:tc>
                  <a:txBody>
                    <a:bodyPr/>
                    <a:lstStyle/>
                    <a:p>
                      <a:pPr algn="ctr"/>
                      <a:r>
                        <a:rPr sz="750" b="0">
                          <a:solidFill>
                            <a:srgbClr val="1A1A1A"/>
                          </a:solidFill>
                        </a:rPr>
                        <a:t>AAPL Corp</a:t>
                      </a:r>
                    </a:p>
                  </a:txBody>
                  <a:tcPr>
                    <a:noFill/>
                  </a:tcPr>
                </a:tc>
                <a:tc>
                  <a:txBody>
                    <a:bodyPr/>
                    <a:lstStyle/>
                    <a:p>
                      <a:pPr algn="ctr"/>
                      <a:r>
                        <a:rPr sz="750" b="0">
                          <a:solidFill>
                            <a:srgbClr val="1A1A1A"/>
                          </a:solidFill>
                        </a:rPr>
                        <a:t>70/100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128.1</a:t>
                      </a:r>
                    </a:p>
                  </a:txBody>
                  <a:tcPr>
                    <a:noFill/>
                  </a:tcPr>
                </a:tc>
                <a:tc>
                  <a:txBody>
                    <a:bodyPr/>
                    <a:lstStyle/>
                    <a:p>
                      <a:pPr algn="ctr"/>
                      <a:r>
                        <a:rPr sz="750" b="0">
                          <a:solidFill>
                            <a:srgbClr val="1A1A1A"/>
                          </a:solidFill>
                        </a:rPr>
                        <a:t>30.8x</a:t>
                      </a:r>
                    </a:p>
                  </a:txBody>
                  <a:tcPr>
                    <a:noFill/>
                  </a:tcPr>
                </a:tc>
                <a:tc>
                  <a:txBody>
                    <a:bodyPr/>
                    <a:lstStyle/>
                    <a:p>
                      <a:pPr algn="ctr"/>
                      <a:r>
                        <a:rPr sz="750" b="0">
                          <a:solidFill>
                            <a:srgbClr val="1A1A1A"/>
                          </a:solidFill>
                        </a:rPr>
                        <a:t>0.3 %</a:t>
                      </a:r>
                    </a:p>
                  </a:txBody>
                  <a:tcPr>
                    <a:noFill/>
                  </a:tcPr>
                </a:tc>
                <a:tc>
                  <a:txBody>
                    <a:bodyPr/>
                    <a:lstStyle/>
                    <a:p>
                      <a:pPr algn="ctr"/>
                      <a:r>
                        <a:rPr sz="750" b="0">
                          <a:solidFill>
                            <a:srgbClr val="1A1A1A"/>
                          </a:solidFill>
                        </a:rPr>
                        <a:t>+26.2 %</a:t>
                      </a:r>
                    </a:p>
                  </a:txBody>
                  <a:tcPr>
                    <a:noFill/>
                  </a:tcPr>
                </a:tc>
                <a:tc>
                  <a:txBody>
                    <a:bodyPr/>
                    <a:lstStyle/>
                    <a:p>
                      <a:pPr algn="ctr"/>
                      <a:r>
                        <a:rPr sz="750" b="0">
                          <a:solidFill>
                            <a:srgbClr val="1A1A1A"/>
                          </a:solidFill>
                        </a:rPr>
                        <a:t>-0.1 %</a:t>
                      </a:r>
                    </a:p>
                  </a:txBody>
                  <a:tcPr>
                    <a:noFill/>
                  </a:tcPr>
                </a:tc>
              </a:tr>
              <a:tr h="1800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Corp</a:t>
                      </a:r>
                    </a:p>
                  </a:txBody>
                  <a:tcPr>
                    <a:solidFill>
                      <a:srgbClr val="F5F7FA"/>
                    </a:solidFill>
                  </a:tcPr>
                </a:tc>
                <a:tc>
                  <a:txBody>
                    <a:bodyPr/>
                    <a:lstStyle/>
                    <a:p>
                      <a:pPr algn="ctr"/>
                      <a:r>
                        <a:rPr sz="750" b="0">
                          <a:solidFill>
                            <a:srgbClr val="1A1A1A"/>
                          </a:solidFill>
                        </a:rPr>
                        <a:t>70/100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211.8</a:t>
                      </a:r>
                    </a:p>
                  </a:txBody>
                  <a:tcPr>
                    <a:solidFill>
                      <a:srgbClr val="F5F7FA"/>
                    </a:solidFill>
                  </a:tcPr>
                </a:tc>
                <a:tc>
                  <a:txBody>
                    <a:bodyPr/>
                    <a:lstStyle/>
                    <a:p>
                      <a:pPr algn="ctr"/>
                      <a:r>
                        <a:rPr sz="750" b="0">
                          <a:solidFill>
                            <a:srgbClr val="1A1A1A"/>
                          </a:solidFill>
                        </a:rPr>
                        <a:t>14.4x</a:t>
                      </a:r>
                    </a:p>
                  </a:txBody>
                  <a:tcPr>
                    <a:solidFill>
                      <a:srgbClr val="F5F7FA"/>
                    </a:solidFill>
                  </a:tcPr>
                </a:tc>
                <a:tc>
                  <a:txBody>
                    <a:bodyPr/>
                    <a:lstStyle/>
                    <a:p>
                      <a:pPr algn="ctr"/>
                      <a:r>
                        <a:rPr sz="750" b="0">
                          <a:solidFill>
                            <a:srgbClr val="1A1A1A"/>
                          </a:solidFill>
                        </a:rPr>
                        <a:t>0.4 %</a:t>
                      </a:r>
                    </a:p>
                  </a:txBody>
                  <a:tcPr>
                    <a:solidFill>
                      <a:srgbClr val="F5F7FA"/>
                    </a:solidFill>
                  </a:tcPr>
                </a:tc>
                <a:tc>
                  <a:txBody>
                    <a:bodyPr/>
                    <a:lstStyle/>
                    <a:p>
                      <a:pPr algn="ctr"/>
                      <a:r>
                        <a:rPr sz="750" b="0">
                          <a:solidFill>
                            <a:srgbClr val="1A1A1A"/>
                          </a:solidFill>
                        </a:rPr>
                        <a:t>+19.1 %</a:t>
                      </a:r>
                    </a:p>
                  </a:txBody>
                  <a:tcPr>
                    <a:solidFill>
                      <a:srgbClr val="F5F7FA"/>
                    </a:solidFill>
                  </a:tcPr>
                </a:tc>
                <a:tc>
                  <a:txBody>
                    <a:bodyPr/>
                    <a:lstStyle/>
                    <a:p>
                      <a:pPr algn="ctr"/>
                      <a:r>
                        <a:rPr sz="750" b="0">
                          <a:solidFill>
                            <a:srgbClr val="1A1A1A"/>
                          </a:solidFill>
                        </a:rPr>
                        <a:t>-0.0 %</a:t>
                      </a:r>
                    </a:p>
                  </a:txBody>
                  <a:tcPr>
                    <a:solidFill>
                      <a:srgbClr val="F5F7FA"/>
                    </a:solidFill>
                  </a:tcPr>
                </a:tc>
              </a:tr>
              <a:tr h="180000">
                <a:tc>
                  <a:txBody>
                    <a:bodyPr/>
                    <a:lstStyle/>
                    <a:p>
                      <a:pPr algn="ctr"/>
                      <a:r>
                        <a:rPr sz="750" b="0">
                          <a:solidFill>
                            <a:srgbClr val="1A1A1A"/>
                          </a:solidFill>
                        </a:rPr>
                        <a:t>9</a:t>
                      </a:r>
                    </a:p>
                  </a:txBody>
                  <a:tcPr>
                    <a:noFill/>
                  </a:tcPr>
                </a:tc>
                <a:tc>
                  <a:txBody>
                    <a:bodyPr/>
                    <a:lstStyle/>
                    <a:p>
                      <a:pPr algn="ctr"/>
                      <a:r>
                        <a:rPr sz="750" b="0">
                          <a:solidFill>
                            <a:srgbClr val="1A1A1A"/>
                          </a:solidFill>
                        </a:rPr>
                        <a:t>TSLA</a:t>
                      </a:r>
                    </a:p>
                  </a:txBody>
                  <a:tcPr>
                    <a:noFill/>
                  </a:tcPr>
                </a:tc>
                <a:tc>
                  <a:txBody>
                    <a:bodyPr/>
                    <a:lstStyle/>
                    <a:p>
                      <a:pPr algn="ctr"/>
                      <a:r>
                        <a:rPr sz="750" b="0">
                          <a:solidFill>
                            <a:srgbClr val="1A1A1A"/>
                          </a:solidFill>
                        </a:rPr>
                        <a:t>TSLA Corp</a:t>
                      </a:r>
                    </a:p>
                  </a:txBody>
                  <a:tcPr>
                    <a:noFill/>
                  </a:tcPr>
                </a:tc>
                <a:tc>
                  <a:txBody>
                    <a:bodyPr/>
                    <a:lstStyle/>
                    <a:p>
                      <a:pPr algn="ctr"/>
                      <a:r>
                        <a:rPr sz="750" b="0">
                          <a:solidFill>
                            <a:srgbClr val="1A1A1A"/>
                          </a:solidFill>
                        </a:rPr>
                        <a:t>67/100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228.3</a:t>
                      </a:r>
                    </a:p>
                  </a:txBody>
                  <a:tcPr>
                    <a:noFill/>
                  </a:tcPr>
                </a:tc>
                <a:tc>
                  <a:txBody>
                    <a:bodyPr/>
                    <a:lstStyle/>
                    <a:p>
                      <a:pPr algn="ctr"/>
                      <a:r>
                        <a:rPr sz="750" b="0">
                          <a:solidFill>
                            <a:srgbClr val="1A1A1A"/>
                          </a:solidFill>
                        </a:rPr>
                        <a:t>8.2x</a:t>
                      </a:r>
                    </a:p>
                  </a:txBody>
                  <a:tcPr>
                    <a:noFill/>
                  </a:tcPr>
                </a:tc>
                <a:tc>
                  <a:txBody>
                    <a:bodyPr/>
                    <a:lstStyle/>
                    <a:p>
                      <a:pPr algn="ctr"/>
                      <a:r>
                        <a:rPr sz="750" b="0">
                          <a:solidFill>
                            <a:srgbClr val="1A1A1A"/>
                          </a:solidFill>
                        </a:rPr>
                        <a:t>0.1 %</a:t>
                      </a:r>
                    </a:p>
                  </a:txBody>
                  <a:tcPr>
                    <a:noFill/>
                  </a:tcPr>
                </a:tc>
                <a:tc>
                  <a:txBody>
                    <a:bodyPr/>
                    <a:lstStyle/>
                    <a:p>
                      <a:pPr algn="ctr"/>
                      <a:r>
                        <a:rPr sz="750" b="0">
                          <a:solidFill>
                            <a:srgbClr val="1A1A1A"/>
                          </a:solidFill>
                        </a:rPr>
                        <a:t>-1.2 %</a:t>
                      </a:r>
                    </a:p>
                  </a:txBody>
                  <a:tcPr>
                    <a:noFill/>
                  </a:tcPr>
                </a:tc>
                <a:tc>
                  <a:txBody>
                    <a:bodyPr/>
                    <a:lstStyle/>
                    <a:p>
                      <a:pPr algn="ctr"/>
                      <a:r>
                        <a:rPr sz="750" b="0">
                          <a:solidFill>
                            <a:srgbClr val="1A1A1A"/>
                          </a:solidFill>
                        </a:rPr>
                        <a:t>+0.2 %</a:t>
                      </a:r>
                    </a:p>
                  </a:txBody>
                  <a:tcPr>
                    <a:noFill/>
                  </a:tcPr>
                </a:tc>
              </a:tr>
              <a:tr h="180000">
                <a:tc>
                  <a:txBody>
                    <a:bodyPr/>
                    <a:lstStyle/>
                    <a:p>
                      <a:pPr algn="ctr"/>
                      <a:r>
                        <a:rPr sz="750" b="0">
                          <a:solidFill>
                            <a:srgbClr val="1A1A1A"/>
                          </a:solidFill>
                        </a:rPr>
                        <a:t>10</a:t>
                      </a:r>
                    </a:p>
                  </a:txBody>
                  <a:tcPr>
                    <a:solidFill>
                      <a:srgbClr val="F5F7FA"/>
                    </a:solidFill>
                  </a:tcPr>
                </a:tc>
                <a:tc>
                  <a:txBody>
                    <a:bodyPr/>
                    <a:lstStyle/>
                    <a:p>
                      <a:pPr algn="ctr"/>
                      <a:r>
                        <a:rPr sz="750" b="0">
                          <a:solidFill>
                            <a:srgbClr val="1A1A1A"/>
                          </a:solidFill>
                        </a:rPr>
                        <a:t>NET</a:t>
                      </a:r>
                    </a:p>
                  </a:txBody>
                  <a:tcPr>
                    <a:solidFill>
                      <a:srgbClr val="F5F7FA"/>
                    </a:solidFill>
                  </a:tcPr>
                </a:tc>
                <a:tc>
                  <a:txBody>
                    <a:bodyPr/>
                    <a:lstStyle/>
                    <a:p>
                      <a:pPr algn="ctr"/>
                      <a:r>
                        <a:rPr sz="750" b="0">
                          <a:solidFill>
                            <a:srgbClr val="1A1A1A"/>
                          </a:solidFill>
                        </a:rPr>
                        <a:t>NET Corp</a:t>
                      </a:r>
                    </a:p>
                  </a:txBody>
                  <a:tcPr>
                    <a:solidFill>
                      <a:srgbClr val="F5F7FA"/>
                    </a:solidFill>
                  </a:tcPr>
                </a:tc>
                <a:tc>
                  <a:txBody>
                    <a:bodyPr/>
                    <a:lstStyle/>
                    <a:p>
                      <a:pPr algn="ctr"/>
                      <a:r>
                        <a:rPr sz="750" b="0">
                          <a:solidFill>
                            <a:srgbClr val="1A1A1A"/>
                          </a:solidFill>
                        </a:rPr>
                        <a:t>65/100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287.1</a:t>
                      </a:r>
                    </a:p>
                  </a:txBody>
                  <a:tcPr>
                    <a:solidFill>
                      <a:srgbClr val="F5F7FA"/>
                    </a:solidFill>
                  </a:tcPr>
                </a:tc>
                <a:tc>
                  <a:txBody>
                    <a:bodyPr/>
                    <a:lstStyle/>
                    <a:p>
                      <a:pPr algn="ctr"/>
                      <a:r>
                        <a:rPr sz="750" b="0">
                          <a:solidFill>
                            <a:srgbClr val="1A1A1A"/>
                          </a:solidFill>
                        </a:rPr>
                        <a:t>36.6x</a:t>
                      </a:r>
                    </a:p>
                  </a:txBody>
                  <a:tcPr>
                    <a:solidFill>
                      <a:srgbClr val="F5F7FA"/>
                    </a:solidFill>
                  </a:tcPr>
                </a:tc>
                <a:tc>
                  <a:txBody>
                    <a:bodyPr/>
                    <a:lstStyle/>
                    <a:p>
                      <a:pPr algn="ctr"/>
                      <a:r>
                        <a:rPr sz="750" b="0">
                          <a:solidFill>
                            <a:srgbClr val="1A1A1A"/>
                          </a:solidFill>
                        </a:rPr>
                        <a:t>0.3 %</a:t>
                      </a:r>
                    </a:p>
                  </a:txBody>
                  <a:tcPr>
                    <a:solidFill>
                      <a:srgbClr val="F5F7FA"/>
                    </a:solidFill>
                  </a:tcPr>
                </a:tc>
                <a:tc>
                  <a:txBody>
                    <a:bodyPr/>
                    <a:lstStyle/>
                    <a:p>
                      <a:pPr algn="ctr"/>
                      <a:r>
                        <a:rPr sz="750" b="0">
                          <a:solidFill>
                            <a:srgbClr val="1A1A1A"/>
                          </a:solidFill>
                        </a:rPr>
                        <a:t>+5.5 %</a:t>
                      </a:r>
                    </a:p>
                  </a:txBody>
                  <a:tcPr>
                    <a:solidFill>
                      <a:srgbClr val="F5F7FA"/>
                    </a:solidFill>
                  </a:tcPr>
                </a:tc>
                <a:tc>
                  <a:txBody>
                    <a:bodyPr/>
                    <a:lstStyle/>
                    <a:p>
                      <a:pPr algn="ctr"/>
                      <a:r>
                        <a:rPr sz="750" b="0">
                          <a:solidFill>
                            <a:srgbClr val="1A1A1A"/>
                          </a:solidFill>
                        </a:rPr>
                        <a:t>+0.2 %</a:t>
                      </a:r>
                    </a:p>
                  </a:txBody>
                  <a:tcPr>
                    <a:solidFill>
                      <a:srgbClr val="F5F7FA"/>
                    </a:solidFill>
                  </a:tcPr>
                </a:tc>
              </a:tr>
            </a:tbl>
          </a:graphicData>
        </a:graphic>
      </p:graphicFrame>
      <p:sp>
        <p:nvSpPr>
          <p:cNvPr id="16" name="Rectangle 15"/>
          <p:cNvSpPr/>
          <p:nvPr/>
        </p:nvSpPr>
        <p:spPr>
          <a:xfrm>
            <a:off x="324000" y="3060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060000"/>
            <a:ext cx="360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1140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366000"/>
            <a:ext cx="8280000" cy="1260000"/>
          </a:xfrm>
          <a:prstGeom prst="rect">
            <a:avLst/>
          </a:prstGeom>
          <a:noFill/>
        </p:spPr>
        <p:txBody>
          <a:bodyPr wrap="square">
            <a:spAutoFit/>
          </a:bodyPr>
          <a:lstStyle/>
          <a:p>
            <a:pPr algn="l"/>
            <a:r>
              <a:rPr sz="850" b="0" i="0">
                <a:solidFill>
                  <a:srgbClr val="555555"/>
                </a:solidFill>
              </a:rPr>
              <a:t>Le secteur Technology presente 10 BUY / 11 HOLD / 9 SELL sur 30 valeurs analysées. FSLR Corp (score 90/100) constitue le coeur offensif recommande — fondamentaux solides et visibilité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Top 25 par score FinSight</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FSLR domine le quadrant Premium Justifie — valorisation élevée (37.2x) soutenue par 0.6 % de marge brute.
GOOGL se positionne en zone Opportunite — EV/EBITDA de 18.3x sous la médiane sectorielle de 22.6x.
La médiane sectorielle ressort a 22.6x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21600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127058">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127058">
                <a:tc>
                  <a:txBody>
                    <a:bodyPr/>
                    <a:lstStyle/>
                    <a:p>
                      <a:pPr algn="ctr"/>
                      <a:r>
                        <a:rPr sz="750" b="0">
                          <a:solidFill>
                            <a:srgbClr val="1A1A1A"/>
                          </a:solidFill>
                        </a:rPr>
                        <a:t>FSLR</a:t>
                      </a:r>
                    </a:p>
                  </a:txBody>
                  <a:tcPr>
                    <a:noFill/>
                  </a:tcPr>
                </a:tc>
                <a:tc>
                  <a:txBody>
                    <a:bodyPr/>
                    <a:lstStyle/>
                    <a:p>
                      <a:pPr algn="ctr"/>
                      <a:r>
                        <a:rPr sz="750" b="0">
                          <a:solidFill>
                            <a:srgbClr val="1A1A1A"/>
                          </a:solidFill>
                        </a:rPr>
                        <a:t>FSLR Corp</a:t>
                      </a:r>
                    </a:p>
                  </a:txBody>
                  <a:tcPr>
                    <a:noFill/>
                  </a:tcPr>
                </a:tc>
                <a:tc>
                  <a:txBody>
                    <a:bodyPr/>
                    <a:lstStyle/>
                    <a:p>
                      <a:pPr algn="ctr"/>
                      <a:r>
                        <a:rPr sz="750" b="0">
                          <a:solidFill>
                            <a:srgbClr val="1A1A1A"/>
                          </a:solidFill>
                        </a:rPr>
                        <a:t>90/100</a:t>
                      </a:r>
                    </a:p>
                  </a:txBody>
                  <a:tcPr>
                    <a:noFill/>
                  </a:tcPr>
                </a:tc>
                <a:tc>
                  <a:txBody>
                    <a:bodyPr/>
                    <a:lstStyle/>
                    <a:p>
                      <a:pPr algn="ctr"/>
                      <a:r>
                        <a:rPr sz="750" b="0">
                          <a:solidFill>
                            <a:srgbClr val="1A1A1A"/>
                          </a:solidFill>
                        </a:rPr>
                        <a:t>45</a:t>
                      </a:r>
                    </a:p>
                  </a:txBody>
                  <a:tcPr>
                    <a:noFill/>
                  </a:tcPr>
                </a:tc>
                <a:tc>
                  <a:txBody>
                    <a:bodyPr/>
                    <a:lstStyle/>
                    <a:p>
                      <a:pPr algn="ctr"/>
                      <a:r>
                        <a:rPr sz="750" b="0">
                          <a:solidFill>
                            <a:srgbClr val="1A1A1A"/>
                          </a:solidFill>
                        </a:rPr>
                        <a:t>66</a:t>
                      </a:r>
                    </a:p>
                  </a:txBody>
                  <a:tcPr>
                    <a:noFill/>
                  </a:tcPr>
                </a:tc>
                <a:tc>
                  <a:txBody>
                    <a:bodyPr/>
                    <a:lstStyle/>
                    <a:p>
                      <a:pPr algn="ctr"/>
                      <a:r>
                        <a:rPr sz="750" b="0">
                          <a:solidFill>
                            <a:srgbClr val="1A1A1A"/>
                          </a:solidFill>
                        </a:rPr>
                        <a:t>75</a:t>
                      </a:r>
                    </a:p>
                  </a:txBody>
                  <a:tcPr>
                    <a:noFill/>
                  </a:tcPr>
                </a:tc>
                <a:tc>
                  <a:txBody>
                    <a:bodyPr/>
                    <a:lstStyle/>
                    <a:p>
                      <a:pPr algn="ctr"/>
                      <a:r>
                        <a:rPr sz="750" b="0">
                          <a:solidFill>
                            <a:srgbClr val="1A1A1A"/>
                          </a:solidFill>
                        </a:rPr>
                        <a:t>28</a:t>
                      </a:r>
                    </a:p>
                  </a:txBody>
                  <a:tcPr>
                    <a:noFill/>
                  </a:tcPr>
                </a:tc>
                <a:tc>
                  <a:txBody>
                    <a:bodyPr/>
                    <a:lstStyle/>
                    <a:p>
                      <a:pPr algn="ctr"/>
                      <a:r>
                        <a:rPr sz="750" b="0">
                          <a:solidFill>
                            <a:srgbClr val="1A1A1A"/>
                          </a:solidFill>
                        </a:rPr>
                        <a:t>BUY</a:t>
                      </a:r>
                    </a:p>
                  </a:txBody>
                  <a:tcPr>
                    <a:noFill/>
                  </a:tcPr>
                </a:tc>
              </a:tr>
              <a:tr h="127058">
                <a:tc>
                  <a:txBody>
                    <a:bodyPr/>
                    <a:lstStyle/>
                    <a:p>
                      <a:pPr algn="ctr"/>
                      <a:r>
                        <a:rPr sz="750" b="0">
                          <a:solidFill>
                            <a:srgbClr val="1A1A1A"/>
                          </a:solidFill>
                        </a:rPr>
                        <a:t>SNOW</a:t>
                      </a:r>
                    </a:p>
                  </a:txBody>
                  <a:tcPr>
                    <a:solidFill>
                      <a:srgbClr val="F5F7FA"/>
                    </a:solidFill>
                  </a:tcPr>
                </a:tc>
                <a:tc>
                  <a:txBody>
                    <a:bodyPr/>
                    <a:lstStyle/>
                    <a:p>
                      <a:pPr algn="ctr"/>
                      <a:r>
                        <a:rPr sz="750" b="0">
                          <a:solidFill>
                            <a:srgbClr val="1A1A1A"/>
                          </a:solidFill>
                        </a:rPr>
                        <a:t>SNOW Corp</a:t>
                      </a:r>
                    </a:p>
                  </a:txBody>
                  <a:tcPr>
                    <a:solidFill>
                      <a:srgbClr val="F5F7FA"/>
                    </a:solidFill>
                  </a:tcPr>
                </a:tc>
                <a:tc>
                  <a:txBody>
                    <a:bodyPr/>
                    <a:lstStyle/>
                    <a:p>
                      <a:pPr algn="ctr"/>
                      <a:r>
                        <a:rPr sz="750" b="0">
                          <a:solidFill>
                            <a:srgbClr val="1A1A1A"/>
                          </a:solidFill>
                        </a:rPr>
                        <a:t>89/100</a:t>
                      </a:r>
                    </a:p>
                  </a:txBody>
                  <a:tcPr>
                    <a:solidFill>
                      <a:srgbClr val="F5F7FA"/>
                    </a:solidFill>
                  </a:tcPr>
                </a:tc>
                <a:tc>
                  <a:txBody>
                    <a:bodyPr/>
                    <a:lstStyle/>
                    <a:p>
                      <a:pPr algn="ctr"/>
                      <a:r>
                        <a:rPr sz="750" b="0">
                          <a:solidFill>
                            <a:srgbClr val="1A1A1A"/>
                          </a:solidFill>
                        </a:rPr>
                        <a:t>53</a:t>
                      </a:r>
                    </a:p>
                  </a:txBody>
                  <a:tcPr>
                    <a:solidFill>
                      <a:srgbClr val="F5F7FA"/>
                    </a:solidFill>
                  </a:tcPr>
                </a:tc>
                <a:tc>
                  <a:txBody>
                    <a:bodyPr/>
                    <a:lstStyle/>
                    <a:p>
                      <a:pPr algn="ctr"/>
                      <a:r>
                        <a:rPr sz="750" b="0">
                          <a:solidFill>
                            <a:srgbClr val="1A1A1A"/>
                          </a:solidFill>
                        </a:rPr>
                        <a:t>46</a:t>
                      </a:r>
                    </a:p>
                  </a:txBody>
                  <a:tcPr>
                    <a:solidFill>
                      <a:srgbClr val="F5F7FA"/>
                    </a:solidFill>
                  </a:tcPr>
                </a:tc>
                <a:tc>
                  <a:txBody>
                    <a:bodyPr/>
                    <a:lstStyle/>
                    <a:p>
                      <a:pPr algn="ctr"/>
                      <a:r>
                        <a:rPr sz="750" b="0">
                          <a:solidFill>
                            <a:srgbClr val="1A1A1A"/>
                          </a:solidFill>
                        </a:rPr>
                        <a:t>60</a:t>
                      </a:r>
                    </a:p>
                  </a:txBody>
                  <a:tcPr>
                    <a:solidFill>
                      <a:srgbClr val="F5F7FA"/>
                    </a:solidFill>
                  </a:tcPr>
                </a:tc>
                <a:tc>
                  <a:txBody>
                    <a:bodyPr/>
                    <a:lstStyle/>
                    <a:p>
                      <a:pPr algn="ctr"/>
                      <a:r>
                        <a:rPr sz="750" b="0">
                          <a:solidFill>
                            <a:srgbClr val="1A1A1A"/>
                          </a:solidFill>
                        </a:rPr>
                        <a:t>50</a:t>
                      </a:r>
                    </a:p>
                  </a:txBody>
                  <a:tcPr>
                    <a:solidFill>
                      <a:srgbClr val="F5F7FA"/>
                    </a:solidFill>
                  </a:tcPr>
                </a:tc>
                <a:tc>
                  <a:txBody>
                    <a:bodyPr/>
                    <a:lstStyle/>
                    <a:p>
                      <a:pPr algn="ctr"/>
                      <a:r>
                        <a:rPr sz="750" b="0">
                          <a:solidFill>
                            <a:srgbClr val="1A1A1A"/>
                          </a:solidFill>
                        </a:rPr>
                        <a:t>BUY</a:t>
                      </a:r>
                    </a:p>
                  </a:txBody>
                  <a:tcPr>
                    <a:solidFill>
                      <a:srgbClr val="F5F7FA"/>
                    </a:solidFill>
                  </a:tcPr>
                </a:tc>
              </a:tr>
              <a:tr h="127058">
                <a:tc>
                  <a:txBody>
                    <a:bodyPr/>
                    <a:lstStyle/>
                    <a:p>
                      <a:pPr algn="ctr"/>
                      <a:r>
                        <a:rPr sz="750" b="0">
                          <a:solidFill>
                            <a:srgbClr val="1A1A1A"/>
                          </a:solidFill>
                        </a:rPr>
                        <a:t>ON</a:t>
                      </a:r>
                    </a:p>
                  </a:txBody>
                  <a:tcPr>
                    <a:noFill/>
                  </a:tcPr>
                </a:tc>
                <a:tc>
                  <a:txBody>
                    <a:bodyPr/>
                    <a:lstStyle/>
                    <a:p>
                      <a:pPr algn="ctr"/>
                      <a:r>
                        <a:rPr sz="750" b="0">
                          <a:solidFill>
                            <a:srgbClr val="1A1A1A"/>
                          </a:solidFill>
                        </a:rPr>
                        <a:t>ON Corp</a:t>
                      </a:r>
                    </a:p>
                  </a:txBody>
                  <a:tcPr>
                    <a:noFill/>
                  </a:tcPr>
                </a:tc>
                <a:tc>
                  <a:txBody>
                    <a:bodyPr/>
                    <a:lstStyle/>
                    <a:p>
                      <a:pPr algn="ctr"/>
                      <a:r>
                        <a:rPr sz="750" b="0">
                          <a:solidFill>
                            <a:srgbClr val="1A1A1A"/>
                          </a:solidFill>
                        </a:rPr>
                        <a:t>81/100</a:t>
                      </a:r>
                    </a:p>
                  </a:txBody>
                  <a:tcPr>
                    <a:noFill/>
                  </a:tcPr>
                </a:tc>
                <a:tc>
                  <a:txBody>
                    <a:bodyPr/>
                    <a:lstStyle/>
                    <a:p>
                      <a:pPr algn="ctr"/>
                      <a:r>
                        <a:rPr sz="750" b="0">
                          <a:solidFill>
                            <a:srgbClr val="1A1A1A"/>
                          </a:solidFill>
                        </a:rPr>
                        <a:t>51</a:t>
                      </a:r>
                    </a:p>
                  </a:txBody>
                  <a:tcPr>
                    <a:noFill/>
                  </a:tcPr>
                </a:tc>
                <a:tc>
                  <a:txBody>
                    <a:bodyPr/>
                    <a:lstStyle/>
                    <a:p>
                      <a:pPr algn="ctr"/>
                      <a:r>
                        <a:rPr sz="750" b="0">
                          <a:solidFill>
                            <a:srgbClr val="1A1A1A"/>
                          </a:solidFill>
                        </a:rPr>
                        <a:t>54</a:t>
                      </a:r>
                    </a:p>
                  </a:txBody>
                  <a:tcPr>
                    <a:noFill/>
                  </a:tcPr>
                </a:tc>
                <a:tc>
                  <a:txBody>
                    <a:bodyPr/>
                    <a:lstStyle/>
                    <a:p>
                      <a:pPr algn="ctr"/>
                      <a:r>
                        <a:rPr sz="750" b="0">
                          <a:solidFill>
                            <a:srgbClr val="1A1A1A"/>
                          </a:solidFill>
                        </a:rPr>
                        <a:t>40</a:t>
                      </a:r>
                    </a:p>
                  </a:txBody>
                  <a:tcPr>
                    <a:noFill/>
                  </a:tcPr>
                </a:tc>
                <a:tc>
                  <a:txBody>
                    <a:bodyPr/>
                    <a:lstStyle/>
                    <a:p>
                      <a:pPr algn="ctr"/>
                      <a:r>
                        <a:rPr sz="750" b="0">
                          <a:solidFill>
                            <a:srgbClr val="1A1A1A"/>
                          </a:solidFill>
                        </a:rPr>
                        <a:t>33</a:t>
                      </a:r>
                    </a:p>
                  </a:txBody>
                  <a:tcPr>
                    <a:noFill/>
                  </a:tcPr>
                </a:tc>
                <a:tc>
                  <a:txBody>
                    <a:bodyPr/>
                    <a:lstStyle/>
                    <a:p>
                      <a:pPr algn="ctr"/>
                      <a:r>
                        <a:rPr sz="750" b="0">
                          <a:solidFill>
                            <a:srgbClr val="1A1A1A"/>
                          </a:solidFill>
                        </a:rPr>
                        <a:t>BUY</a:t>
                      </a:r>
                    </a:p>
                  </a:txBody>
                  <a:tcPr>
                    <a:noFill/>
                  </a:tcPr>
                </a:tc>
              </a:tr>
              <a:tr h="127058">
                <a:tc>
                  <a:txBody>
                    <a:bodyPr/>
                    <a:lstStyle/>
                    <a:p>
                      <a:pPr algn="ctr"/>
                      <a:r>
                        <a:rPr sz="750" b="0">
                          <a:solidFill>
                            <a:srgbClr val="1A1A1A"/>
                          </a:solidFill>
                        </a:rPr>
                        <a:t>NOW</a:t>
                      </a:r>
                    </a:p>
                  </a:txBody>
                  <a:tcPr>
                    <a:solidFill>
                      <a:srgbClr val="F5F7FA"/>
                    </a:solidFill>
                  </a:tcPr>
                </a:tc>
                <a:tc>
                  <a:txBody>
                    <a:bodyPr/>
                    <a:lstStyle/>
                    <a:p>
                      <a:pPr algn="ctr"/>
                      <a:r>
                        <a:rPr sz="750" b="0">
                          <a:solidFill>
                            <a:srgbClr val="1A1A1A"/>
                          </a:solidFill>
                        </a:rPr>
                        <a:t>NOW Corp</a:t>
                      </a:r>
                    </a:p>
                  </a:txBody>
                  <a:tcPr>
                    <a:solidFill>
                      <a:srgbClr val="F5F7FA"/>
                    </a:solidFill>
                  </a:tcPr>
                </a:tc>
                <a:tc>
                  <a:txBody>
                    <a:bodyPr/>
                    <a:lstStyle/>
                    <a:p>
                      <a:pPr algn="ctr"/>
                      <a:r>
                        <a:rPr sz="750" b="0">
                          <a:solidFill>
                            <a:srgbClr val="1A1A1A"/>
                          </a:solidFill>
                        </a:rPr>
                        <a:t>74/100</a:t>
                      </a:r>
                    </a:p>
                  </a:txBody>
                  <a:tcPr>
                    <a:solidFill>
                      <a:srgbClr val="F5F7FA"/>
                    </a:solidFill>
                  </a:tcPr>
                </a:tc>
                <a:tc>
                  <a:txBody>
                    <a:bodyPr/>
                    <a:lstStyle/>
                    <a:p>
                      <a:pPr algn="ctr"/>
                      <a:r>
                        <a:rPr sz="750" b="0">
                          <a:solidFill>
                            <a:srgbClr val="1A1A1A"/>
                          </a:solidFill>
                        </a:rPr>
                        <a:t>82</a:t>
                      </a:r>
                    </a:p>
                  </a:txBody>
                  <a:tcPr>
                    <a:solidFill>
                      <a:srgbClr val="F5F7FA"/>
                    </a:solidFill>
                  </a:tcPr>
                </a:tc>
                <a:tc>
                  <a:txBody>
                    <a:bodyPr/>
                    <a:lstStyle/>
                    <a:p>
                      <a:pPr algn="ctr"/>
                      <a:r>
                        <a:rPr sz="750" b="0">
                          <a:solidFill>
                            <a:srgbClr val="1A1A1A"/>
                          </a:solidFill>
                        </a:rPr>
                        <a:t>39</a:t>
                      </a:r>
                    </a:p>
                  </a:txBody>
                  <a:tcPr>
                    <a:solidFill>
                      <a:srgbClr val="F5F7FA"/>
                    </a:solidFill>
                  </a:tcPr>
                </a:tc>
                <a:tc>
                  <a:txBody>
                    <a:bodyPr/>
                    <a:lstStyle/>
                    <a:p>
                      <a:pPr algn="ctr"/>
                      <a:r>
                        <a:rPr sz="750" b="0">
                          <a:solidFill>
                            <a:srgbClr val="1A1A1A"/>
                          </a:solidFill>
                        </a:rPr>
                        <a:t>44</a:t>
                      </a:r>
                    </a:p>
                  </a:txBody>
                  <a:tcPr>
                    <a:solidFill>
                      <a:srgbClr val="F5F7FA"/>
                    </a:solidFill>
                  </a:tcPr>
                </a:tc>
                <a:tc>
                  <a:txBody>
                    <a:bodyPr/>
                    <a:lstStyle/>
                    <a:p>
                      <a:pPr algn="ctr"/>
                      <a:r>
                        <a:rPr sz="750" b="0">
                          <a:solidFill>
                            <a:srgbClr val="1A1A1A"/>
                          </a:solidFill>
                        </a:rPr>
                        <a:t>57</a:t>
                      </a:r>
                    </a:p>
                  </a:txBody>
                  <a:tcPr>
                    <a:solidFill>
                      <a:srgbClr val="F5F7FA"/>
                    </a:solidFill>
                  </a:tcPr>
                </a:tc>
                <a:tc>
                  <a:txBody>
                    <a:bodyPr/>
                    <a:lstStyle/>
                    <a:p>
                      <a:pPr algn="ctr"/>
                      <a:r>
                        <a:rPr sz="750" b="0">
                          <a:solidFill>
                            <a:srgbClr val="1A1A1A"/>
                          </a:solidFill>
                        </a:rPr>
                        <a:t>BUY</a:t>
                      </a:r>
                    </a:p>
                  </a:txBody>
                  <a:tcPr>
                    <a:solidFill>
                      <a:srgbClr val="F5F7FA"/>
                    </a:solidFill>
                  </a:tcPr>
                </a:tc>
              </a:tr>
              <a:tr h="127058">
                <a:tc>
                  <a:txBody>
                    <a:bodyPr/>
                    <a:lstStyle/>
                    <a:p>
                      <a:pPr algn="ctr"/>
                      <a:r>
                        <a:rPr sz="750" b="0">
                          <a:solidFill>
                            <a:srgbClr val="1A1A1A"/>
                          </a:solidFill>
                        </a:rPr>
                        <a:t>KLAC</a:t>
                      </a:r>
                    </a:p>
                  </a:txBody>
                  <a:tcPr>
                    <a:noFill/>
                  </a:tcPr>
                </a:tc>
                <a:tc>
                  <a:txBody>
                    <a:bodyPr/>
                    <a:lstStyle/>
                    <a:p>
                      <a:pPr algn="ctr"/>
                      <a:r>
                        <a:rPr sz="750" b="0">
                          <a:solidFill>
                            <a:srgbClr val="1A1A1A"/>
                          </a:solidFill>
                        </a:rPr>
                        <a:t>KLAC Corp</a:t>
                      </a:r>
                    </a:p>
                  </a:txBody>
                  <a:tcPr>
                    <a:noFill/>
                  </a:tcPr>
                </a:tc>
                <a:tc>
                  <a:txBody>
                    <a:bodyPr/>
                    <a:lstStyle/>
                    <a:p>
                      <a:pPr algn="ctr"/>
                      <a:r>
                        <a:rPr sz="750" b="0">
                          <a:solidFill>
                            <a:srgbClr val="1A1A1A"/>
                          </a:solidFill>
                        </a:rPr>
                        <a:t>74/100</a:t>
                      </a:r>
                    </a:p>
                  </a:txBody>
                  <a:tcPr>
                    <a:noFill/>
                  </a:tcPr>
                </a:tc>
                <a:tc>
                  <a:txBody>
                    <a:bodyPr/>
                    <a:lstStyle/>
                    <a:p>
                      <a:pPr algn="ctr"/>
                      <a:r>
                        <a:rPr sz="750" b="0">
                          <a:solidFill>
                            <a:srgbClr val="1A1A1A"/>
                          </a:solidFill>
                        </a:rPr>
                        <a:t>39</a:t>
                      </a:r>
                    </a:p>
                  </a:txBody>
                  <a:tcPr>
                    <a:noFill/>
                  </a:tcPr>
                </a:tc>
                <a:tc>
                  <a:txBody>
                    <a:bodyPr/>
                    <a:lstStyle/>
                    <a:p>
                      <a:pPr algn="ctr"/>
                      <a:r>
                        <a:rPr sz="750" b="0">
                          <a:solidFill>
                            <a:srgbClr val="1A1A1A"/>
                          </a:solidFill>
                        </a:rPr>
                        <a:t>89</a:t>
                      </a:r>
                    </a:p>
                  </a:txBody>
                  <a:tcPr>
                    <a:noFill/>
                  </a:tcPr>
                </a:tc>
                <a:tc>
                  <a:txBody>
                    <a:bodyPr/>
                    <a:lstStyle/>
                    <a:p>
                      <a:pPr algn="ctr"/>
                      <a:r>
                        <a:rPr sz="750" b="0">
                          <a:solidFill>
                            <a:srgbClr val="1A1A1A"/>
                          </a:solidFill>
                        </a:rPr>
                        <a:t>24</a:t>
                      </a:r>
                    </a:p>
                  </a:txBody>
                  <a:tcPr>
                    <a:noFill/>
                  </a:tcPr>
                </a:tc>
                <a:tc>
                  <a:txBody>
                    <a:bodyPr/>
                    <a:lstStyle/>
                    <a:p>
                      <a:pPr algn="ctr"/>
                      <a:r>
                        <a:rPr sz="750" b="0">
                          <a:solidFill>
                            <a:srgbClr val="1A1A1A"/>
                          </a:solidFill>
                        </a:rPr>
                        <a:t>67</a:t>
                      </a:r>
                    </a:p>
                  </a:txBody>
                  <a:tcPr>
                    <a:noFill/>
                  </a:tcPr>
                </a:tc>
                <a:tc>
                  <a:txBody>
                    <a:bodyPr/>
                    <a:lstStyle/>
                    <a:p>
                      <a:pPr algn="ctr"/>
                      <a:r>
                        <a:rPr sz="750" b="0">
                          <a:solidFill>
                            <a:srgbClr val="1A1A1A"/>
                          </a:solidFill>
                        </a:rPr>
                        <a:t>BUY</a:t>
                      </a:r>
                    </a:p>
                  </a:txBody>
                  <a:tcPr>
                    <a:noFill/>
                  </a:tcPr>
                </a:tc>
              </a:tr>
              <a:tr h="127058">
                <a:tc>
                  <a:txBody>
                    <a:bodyPr/>
                    <a:lstStyle/>
                    <a:p>
                      <a:pPr algn="ctr"/>
                      <a:r>
                        <a:rPr sz="750" b="0">
                          <a:solidFill>
                            <a:srgbClr val="1A1A1A"/>
                          </a:solidFill>
                        </a:rPr>
                        <a:t>ZS</a:t>
                      </a:r>
                    </a:p>
                  </a:txBody>
                  <a:tcPr>
                    <a:solidFill>
                      <a:srgbClr val="F5F7FA"/>
                    </a:solidFill>
                  </a:tcPr>
                </a:tc>
                <a:tc>
                  <a:txBody>
                    <a:bodyPr/>
                    <a:lstStyle/>
                    <a:p>
                      <a:pPr algn="ctr"/>
                      <a:r>
                        <a:rPr sz="750" b="0">
                          <a:solidFill>
                            <a:srgbClr val="1A1A1A"/>
                          </a:solidFill>
                        </a:rPr>
                        <a:t>ZS Corp</a:t>
                      </a:r>
                    </a:p>
                  </a:txBody>
                  <a:tcPr>
                    <a:solidFill>
                      <a:srgbClr val="F5F7FA"/>
                    </a:solidFill>
                  </a:tcPr>
                </a:tc>
                <a:tc>
                  <a:txBody>
                    <a:bodyPr/>
                    <a:lstStyle/>
                    <a:p>
                      <a:pPr algn="ctr"/>
                      <a:r>
                        <a:rPr sz="750" b="0">
                          <a:solidFill>
                            <a:srgbClr val="1A1A1A"/>
                          </a:solidFill>
                        </a:rPr>
                        <a:t>73/100</a:t>
                      </a:r>
                    </a:p>
                  </a:txBody>
                  <a:tcPr>
                    <a:solidFill>
                      <a:srgbClr val="F5F7FA"/>
                    </a:solidFill>
                  </a:tcPr>
                </a:tc>
                <a:tc>
                  <a:txBody>
                    <a:bodyPr/>
                    <a:lstStyle/>
                    <a:p>
                      <a:pPr algn="ctr"/>
                      <a:r>
                        <a:rPr sz="750" b="0">
                          <a:solidFill>
                            <a:srgbClr val="1A1A1A"/>
                          </a:solidFill>
                        </a:rPr>
                        <a:t>59</a:t>
                      </a:r>
                    </a:p>
                  </a:txBody>
                  <a:tcPr>
                    <a:solidFill>
                      <a:srgbClr val="F5F7FA"/>
                    </a:solidFill>
                  </a:tcPr>
                </a:tc>
                <a:tc>
                  <a:txBody>
                    <a:bodyPr/>
                    <a:lstStyle/>
                    <a:p>
                      <a:pPr algn="ctr"/>
                      <a:r>
                        <a:rPr sz="750" b="0">
                          <a:solidFill>
                            <a:srgbClr val="1A1A1A"/>
                          </a:solidFill>
                        </a:rPr>
                        <a:t>48</a:t>
                      </a:r>
                    </a:p>
                  </a:txBody>
                  <a:tcPr>
                    <a:solidFill>
                      <a:srgbClr val="F5F7FA"/>
                    </a:solidFill>
                  </a:tcPr>
                </a:tc>
                <a:tc>
                  <a:txBody>
                    <a:bodyPr/>
                    <a:lstStyle/>
                    <a:p>
                      <a:pPr algn="ctr"/>
                      <a:r>
                        <a:rPr sz="750" b="0">
                          <a:solidFill>
                            <a:srgbClr val="1A1A1A"/>
                          </a:solidFill>
                        </a:rPr>
                        <a:t>45</a:t>
                      </a:r>
                    </a:p>
                  </a:txBody>
                  <a:tcPr>
                    <a:solidFill>
                      <a:srgbClr val="F5F7FA"/>
                    </a:solidFill>
                  </a:tcPr>
                </a:tc>
                <a:tc>
                  <a:txBody>
                    <a:bodyPr/>
                    <a:lstStyle/>
                    <a:p>
                      <a:pPr algn="ctr"/>
                      <a:r>
                        <a:rPr sz="750" b="0">
                          <a:solidFill>
                            <a:srgbClr val="1A1A1A"/>
                          </a:solidFill>
                        </a:rPr>
                        <a:t>38</a:t>
                      </a:r>
                    </a:p>
                  </a:txBody>
                  <a:tcPr>
                    <a:solidFill>
                      <a:srgbClr val="F5F7FA"/>
                    </a:solidFill>
                  </a:tcPr>
                </a:tc>
                <a:tc>
                  <a:txBody>
                    <a:bodyPr/>
                    <a:lstStyle/>
                    <a:p>
                      <a:pPr algn="ctr"/>
                      <a:r>
                        <a:rPr sz="750" b="0">
                          <a:solidFill>
                            <a:srgbClr val="1A1A1A"/>
                          </a:solidFill>
                        </a:rPr>
                        <a:t>BUY</a:t>
                      </a:r>
                    </a:p>
                  </a:txBody>
                  <a:tcPr>
                    <a:solidFill>
                      <a:srgbClr val="F5F7FA"/>
                    </a:solidFill>
                  </a:tcPr>
                </a:tc>
              </a:tr>
              <a:tr h="127058">
                <a:tc>
                  <a:txBody>
                    <a:bodyPr/>
                    <a:lstStyle/>
                    <a:p>
                      <a:pPr algn="ctr"/>
                      <a:r>
                        <a:rPr sz="750" b="0">
                          <a:solidFill>
                            <a:srgbClr val="1A1A1A"/>
                          </a:solidFill>
                        </a:rPr>
                        <a:t>AAPL</a:t>
                      </a:r>
                    </a:p>
                  </a:txBody>
                  <a:tcPr>
                    <a:noFill/>
                  </a:tcPr>
                </a:tc>
                <a:tc>
                  <a:txBody>
                    <a:bodyPr/>
                    <a:lstStyle/>
                    <a:p>
                      <a:pPr algn="ctr"/>
                      <a:r>
                        <a:rPr sz="750" b="0">
                          <a:solidFill>
                            <a:srgbClr val="1A1A1A"/>
                          </a:solidFill>
                        </a:rPr>
                        <a:t>AAPL Corp</a:t>
                      </a:r>
                    </a:p>
                  </a:txBody>
                  <a:tcPr>
                    <a:noFill/>
                  </a:tcPr>
                </a:tc>
                <a:tc>
                  <a:txBody>
                    <a:bodyPr/>
                    <a:lstStyle/>
                    <a:p>
                      <a:pPr algn="ctr"/>
                      <a:r>
                        <a:rPr sz="750" b="0">
                          <a:solidFill>
                            <a:srgbClr val="1A1A1A"/>
                          </a:solidFill>
                        </a:rPr>
                        <a:t>70/100</a:t>
                      </a:r>
                    </a:p>
                  </a:txBody>
                  <a:tcPr>
                    <a:noFill/>
                  </a:tcPr>
                </a:tc>
                <a:tc>
                  <a:txBody>
                    <a:bodyPr/>
                    <a:lstStyle/>
                    <a:p>
                      <a:pPr algn="ctr"/>
                      <a:r>
                        <a:rPr sz="750" b="0">
                          <a:solidFill>
                            <a:srgbClr val="1A1A1A"/>
                          </a:solidFill>
                        </a:rPr>
                        <a:t>34</a:t>
                      </a:r>
                    </a:p>
                  </a:txBody>
                  <a:tcPr>
                    <a:noFill/>
                  </a:tcPr>
                </a:tc>
                <a:tc>
                  <a:txBody>
                    <a:bodyPr/>
                    <a:lstStyle/>
                    <a:p>
                      <a:pPr algn="ctr"/>
                      <a:r>
                        <a:rPr sz="750" b="0">
                          <a:solidFill>
                            <a:srgbClr val="1A1A1A"/>
                          </a:solidFill>
                        </a:rPr>
                        <a:t>23</a:t>
                      </a:r>
                    </a:p>
                  </a:txBody>
                  <a:tcPr>
                    <a:noFill/>
                  </a:tcPr>
                </a:tc>
                <a:tc>
                  <a:txBody>
                    <a:bodyPr/>
                    <a:lstStyle/>
                    <a:p>
                      <a:pPr algn="ctr"/>
                      <a:r>
                        <a:rPr sz="750" b="0">
                          <a:solidFill>
                            <a:srgbClr val="1A1A1A"/>
                          </a:solidFill>
                        </a:rPr>
                        <a:t>55</a:t>
                      </a:r>
                    </a:p>
                  </a:txBody>
                  <a:tcPr>
                    <a:noFill/>
                  </a:tcPr>
                </a:tc>
                <a:tc>
                  <a:txBody>
                    <a:bodyPr/>
                    <a:lstStyle/>
                    <a:p>
                      <a:pPr algn="ctr"/>
                      <a:r>
                        <a:rPr sz="750" b="0">
                          <a:solidFill>
                            <a:srgbClr val="1A1A1A"/>
                          </a:solidFill>
                        </a:rPr>
                        <a:t>51</a:t>
                      </a:r>
                    </a:p>
                  </a:txBody>
                  <a:tcPr>
                    <a:noFill/>
                  </a:tcPr>
                </a:tc>
                <a:tc>
                  <a:txBody>
                    <a:bodyPr/>
                    <a:lstStyle/>
                    <a:p>
                      <a:pPr algn="ctr"/>
                      <a:r>
                        <a:rPr sz="750" b="0">
                          <a:solidFill>
                            <a:srgbClr val="1A1A1A"/>
                          </a:solidFill>
                        </a:rPr>
                        <a:t>BUY</a:t>
                      </a:r>
                    </a:p>
                  </a:txBody>
                  <a:tcPr>
                    <a:noFill/>
                  </a:tcPr>
                </a:tc>
              </a:tr>
              <a:tr h="127058">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Corp</a:t>
                      </a:r>
                    </a:p>
                  </a:txBody>
                  <a:tcPr>
                    <a:solidFill>
                      <a:srgbClr val="F5F7FA"/>
                    </a:solidFill>
                  </a:tcPr>
                </a:tc>
                <a:tc>
                  <a:txBody>
                    <a:bodyPr/>
                    <a:lstStyle/>
                    <a:p>
                      <a:pPr algn="ctr"/>
                      <a:r>
                        <a:rPr sz="750" b="0">
                          <a:solidFill>
                            <a:srgbClr val="1A1A1A"/>
                          </a:solidFill>
                        </a:rPr>
                        <a:t>70/100</a:t>
                      </a:r>
                    </a:p>
                  </a:txBody>
                  <a:tcPr>
                    <a:solidFill>
                      <a:srgbClr val="F5F7FA"/>
                    </a:solidFill>
                  </a:tcPr>
                </a:tc>
                <a:tc>
                  <a:txBody>
                    <a:bodyPr/>
                    <a:lstStyle/>
                    <a:p>
                      <a:pPr algn="ctr"/>
                      <a:r>
                        <a:rPr sz="750" b="0">
                          <a:solidFill>
                            <a:srgbClr val="1A1A1A"/>
                          </a:solidFill>
                        </a:rPr>
                        <a:t>41</a:t>
                      </a:r>
                    </a:p>
                  </a:txBody>
                  <a:tcPr>
                    <a:solidFill>
                      <a:srgbClr val="F5F7FA"/>
                    </a:solidFill>
                  </a:tcPr>
                </a:tc>
                <a:tc>
                  <a:txBody>
                    <a:bodyPr/>
                    <a:lstStyle/>
                    <a:p>
                      <a:pPr algn="ctr"/>
                      <a:r>
                        <a:rPr sz="750" b="0">
                          <a:solidFill>
                            <a:srgbClr val="1A1A1A"/>
                          </a:solidFill>
                        </a:rPr>
                        <a:t>88</a:t>
                      </a:r>
                    </a:p>
                  </a:txBody>
                  <a:tcPr>
                    <a:solidFill>
                      <a:srgbClr val="F5F7FA"/>
                    </a:solidFill>
                  </a:tcPr>
                </a:tc>
                <a:tc>
                  <a:txBody>
                    <a:bodyPr/>
                    <a:lstStyle/>
                    <a:p>
                      <a:pPr algn="ctr"/>
                      <a:r>
                        <a:rPr sz="750" b="0">
                          <a:solidFill>
                            <a:srgbClr val="1A1A1A"/>
                          </a:solidFill>
                        </a:rPr>
                        <a:t>51</a:t>
                      </a:r>
                    </a:p>
                  </a:txBody>
                  <a:tcPr>
                    <a:solidFill>
                      <a:srgbClr val="F5F7FA"/>
                    </a:solidFill>
                  </a:tcPr>
                </a:tc>
                <a:tc>
                  <a:txBody>
                    <a:bodyPr/>
                    <a:lstStyle/>
                    <a:p>
                      <a:pPr algn="ctr"/>
                      <a:r>
                        <a:rPr sz="750" b="0">
                          <a:solidFill>
                            <a:srgbClr val="1A1A1A"/>
                          </a:solidFill>
                        </a:rPr>
                        <a:t>40</a:t>
                      </a:r>
                    </a:p>
                  </a:txBody>
                  <a:tcPr>
                    <a:solidFill>
                      <a:srgbClr val="F5F7FA"/>
                    </a:solidFill>
                  </a:tcPr>
                </a:tc>
                <a:tc>
                  <a:txBody>
                    <a:bodyPr/>
                    <a:lstStyle/>
                    <a:p>
                      <a:pPr algn="ctr"/>
                      <a:r>
                        <a:rPr sz="750" b="0">
                          <a:solidFill>
                            <a:srgbClr val="1A1A1A"/>
                          </a:solidFill>
                        </a:rPr>
                        <a:t>BUY</a:t>
                      </a:r>
                    </a:p>
                  </a:txBody>
                  <a:tcPr>
                    <a:solidFill>
                      <a:srgbClr val="F5F7FA"/>
                    </a:solidFill>
                  </a:tcPr>
                </a:tc>
              </a:tr>
              <a:tr h="127058">
                <a:tc>
                  <a:txBody>
                    <a:bodyPr/>
                    <a:lstStyle/>
                    <a:p>
                      <a:pPr algn="ctr"/>
                      <a:r>
                        <a:rPr sz="750" b="0">
                          <a:solidFill>
                            <a:srgbClr val="1A1A1A"/>
                          </a:solidFill>
                        </a:rPr>
                        <a:t>TSLA</a:t>
                      </a:r>
                    </a:p>
                  </a:txBody>
                  <a:tcPr>
                    <a:noFill/>
                  </a:tcPr>
                </a:tc>
                <a:tc>
                  <a:txBody>
                    <a:bodyPr/>
                    <a:lstStyle/>
                    <a:p>
                      <a:pPr algn="ctr"/>
                      <a:r>
                        <a:rPr sz="750" b="0">
                          <a:solidFill>
                            <a:srgbClr val="1A1A1A"/>
                          </a:solidFill>
                        </a:rPr>
                        <a:t>TSLA Corp</a:t>
                      </a:r>
                    </a:p>
                  </a:txBody>
                  <a:tcPr>
                    <a:noFill/>
                  </a:tcPr>
                </a:tc>
                <a:tc>
                  <a:txBody>
                    <a:bodyPr/>
                    <a:lstStyle/>
                    <a:p>
                      <a:pPr algn="ctr"/>
                      <a:r>
                        <a:rPr sz="750" b="0">
                          <a:solidFill>
                            <a:srgbClr val="1A1A1A"/>
                          </a:solidFill>
                        </a:rPr>
                        <a:t>67/100</a:t>
                      </a:r>
                    </a:p>
                  </a:txBody>
                  <a:tcPr>
                    <a:noFill/>
                  </a:tcPr>
                </a:tc>
                <a:tc>
                  <a:txBody>
                    <a:bodyPr/>
                    <a:lstStyle/>
                    <a:p>
                      <a:pPr algn="ctr"/>
                      <a:r>
                        <a:rPr sz="750" b="0">
                          <a:solidFill>
                            <a:srgbClr val="1A1A1A"/>
                          </a:solidFill>
                        </a:rPr>
                        <a:t>71</a:t>
                      </a:r>
                    </a:p>
                  </a:txBody>
                  <a:tcPr>
                    <a:noFill/>
                  </a:tcPr>
                </a:tc>
                <a:tc>
                  <a:txBody>
                    <a:bodyPr/>
                    <a:lstStyle/>
                    <a:p>
                      <a:pPr algn="ctr"/>
                      <a:r>
                        <a:rPr sz="750" b="0">
                          <a:solidFill>
                            <a:srgbClr val="1A1A1A"/>
                          </a:solidFill>
                        </a:rPr>
                        <a:t>66</a:t>
                      </a:r>
                    </a:p>
                  </a:txBody>
                  <a:tcPr>
                    <a:noFill/>
                  </a:tcPr>
                </a:tc>
                <a:tc>
                  <a:txBody>
                    <a:bodyPr/>
                    <a:lstStyle/>
                    <a:p>
                      <a:pPr algn="ctr"/>
                      <a:r>
                        <a:rPr sz="750" b="0">
                          <a:solidFill>
                            <a:srgbClr val="1A1A1A"/>
                          </a:solidFill>
                        </a:rPr>
                        <a:t>48</a:t>
                      </a:r>
                    </a:p>
                  </a:txBody>
                  <a:tcPr>
                    <a:noFill/>
                  </a:tcPr>
                </a:tc>
                <a:tc>
                  <a:txBody>
                    <a:bodyPr/>
                    <a:lstStyle/>
                    <a:p>
                      <a:pPr algn="ctr"/>
                      <a:r>
                        <a:rPr sz="750" b="0">
                          <a:solidFill>
                            <a:srgbClr val="1A1A1A"/>
                          </a:solidFill>
                        </a:rPr>
                        <a:t>37</a:t>
                      </a:r>
                    </a:p>
                  </a:txBody>
                  <a:tcPr>
                    <a:noFill/>
                  </a:tcPr>
                </a:tc>
                <a:tc>
                  <a:txBody>
                    <a:bodyPr/>
                    <a:lstStyle/>
                    <a:p>
                      <a:pPr algn="ctr"/>
                      <a:r>
                        <a:rPr sz="750" b="0">
                          <a:solidFill>
                            <a:srgbClr val="1A1A1A"/>
                          </a:solidFill>
                        </a:rPr>
                        <a:t>BUY</a:t>
                      </a:r>
                    </a:p>
                  </a:txBody>
                  <a:tcPr>
                    <a:noFill/>
                  </a:tcPr>
                </a:tc>
              </a:tr>
              <a:tr h="127058">
                <a:tc>
                  <a:txBody>
                    <a:bodyPr/>
                    <a:lstStyle/>
                    <a:p>
                      <a:pPr algn="ctr"/>
                      <a:r>
                        <a:rPr sz="750" b="0">
                          <a:solidFill>
                            <a:srgbClr val="1A1A1A"/>
                          </a:solidFill>
                        </a:rPr>
                        <a:t>NET</a:t>
                      </a:r>
                    </a:p>
                  </a:txBody>
                  <a:tcPr>
                    <a:solidFill>
                      <a:srgbClr val="F5F7FA"/>
                    </a:solidFill>
                  </a:tcPr>
                </a:tc>
                <a:tc>
                  <a:txBody>
                    <a:bodyPr/>
                    <a:lstStyle/>
                    <a:p>
                      <a:pPr algn="ctr"/>
                      <a:r>
                        <a:rPr sz="750" b="0">
                          <a:solidFill>
                            <a:srgbClr val="1A1A1A"/>
                          </a:solidFill>
                        </a:rPr>
                        <a:t>NET Corp</a:t>
                      </a:r>
                    </a:p>
                  </a:txBody>
                  <a:tcPr>
                    <a:solidFill>
                      <a:srgbClr val="F5F7FA"/>
                    </a:solidFill>
                  </a:tcPr>
                </a:tc>
                <a:tc>
                  <a:txBody>
                    <a:bodyPr/>
                    <a:lstStyle/>
                    <a:p>
                      <a:pPr algn="ctr"/>
                      <a:r>
                        <a:rPr sz="750" b="0">
                          <a:solidFill>
                            <a:srgbClr val="1A1A1A"/>
                          </a:solidFill>
                        </a:rPr>
                        <a:t>65/100</a:t>
                      </a:r>
                    </a:p>
                  </a:txBody>
                  <a:tcPr>
                    <a:solidFill>
                      <a:srgbClr val="F5F7FA"/>
                    </a:solidFill>
                  </a:tcPr>
                </a:tc>
                <a:tc>
                  <a:txBody>
                    <a:bodyPr/>
                    <a:lstStyle/>
                    <a:p>
                      <a:pPr algn="ctr"/>
                      <a:r>
                        <a:rPr sz="750" b="0">
                          <a:solidFill>
                            <a:srgbClr val="1A1A1A"/>
                          </a:solidFill>
                        </a:rPr>
                        <a:t>36</a:t>
                      </a:r>
                    </a:p>
                  </a:txBody>
                  <a:tcPr>
                    <a:solidFill>
                      <a:srgbClr val="F5F7FA"/>
                    </a:solidFill>
                  </a:tcPr>
                </a:tc>
                <a:tc>
                  <a:txBody>
                    <a:bodyPr/>
                    <a:lstStyle/>
                    <a:p>
                      <a:pPr algn="ctr"/>
                      <a:r>
                        <a:rPr sz="750" b="0">
                          <a:solidFill>
                            <a:srgbClr val="1A1A1A"/>
                          </a:solidFill>
                        </a:rPr>
                        <a:t>44</a:t>
                      </a:r>
                    </a:p>
                  </a:txBody>
                  <a:tcPr>
                    <a:solidFill>
                      <a:srgbClr val="F5F7FA"/>
                    </a:solidFill>
                  </a:tcPr>
                </a:tc>
                <a:tc>
                  <a:txBody>
                    <a:bodyPr/>
                    <a:lstStyle/>
                    <a:p>
                      <a:pPr algn="ctr"/>
                      <a:r>
                        <a:rPr sz="750" b="0">
                          <a:solidFill>
                            <a:srgbClr val="1A1A1A"/>
                          </a:solidFill>
                        </a:rPr>
                        <a:t>73</a:t>
                      </a:r>
                    </a:p>
                  </a:txBody>
                  <a:tcPr>
                    <a:solidFill>
                      <a:srgbClr val="F5F7FA"/>
                    </a:solidFill>
                  </a:tcPr>
                </a:tc>
                <a:tc>
                  <a:txBody>
                    <a:bodyPr/>
                    <a:lstStyle/>
                    <a:p>
                      <a:pPr algn="ctr"/>
                      <a:r>
                        <a:rPr sz="750" b="0">
                          <a:solidFill>
                            <a:srgbClr val="1A1A1A"/>
                          </a:solidFill>
                        </a:rPr>
                        <a:t>68</a:t>
                      </a:r>
                    </a:p>
                  </a:txBody>
                  <a:tcPr>
                    <a:solidFill>
                      <a:srgbClr val="F5F7FA"/>
                    </a:solidFill>
                  </a:tcPr>
                </a:tc>
                <a:tc>
                  <a:txBody>
                    <a:bodyPr/>
                    <a:lstStyle/>
                    <a:p>
                      <a:pPr algn="ctr"/>
                      <a:r>
                        <a:rPr sz="750" b="0">
                          <a:solidFill>
                            <a:srgbClr val="1A1A1A"/>
                          </a:solidFill>
                        </a:rPr>
                        <a:t>BUY</a:t>
                      </a:r>
                    </a:p>
                  </a:txBody>
                  <a:tcPr>
                    <a:solidFill>
                      <a:srgbClr val="F5F7FA"/>
                    </a:solidFill>
                  </a:tcPr>
                </a:tc>
              </a:tr>
              <a:tr h="127058">
                <a:tc>
                  <a:txBody>
                    <a:bodyPr/>
                    <a:lstStyle/>
                    <a:p>
                      <a:pPr algn="ctr"/>
                      <a:r>
                        <a:rPr sz="750" b="0">
                          <a:solidFill>
                            <a:srgbClr val="1A1A1A"/>
                          </a:solidFill>
                        </a:rPr>
                        <a:t>QCOM</a:t>
                      </a:r>
                    </a:p>
                  </a:txBody>
                  <a:tcPr>
                    <a:noFill/>
                  </a:tcPr>
                </a:tc>
                <a:tc>
                  <a:txBody>
                    <a:bodyPr/>
                    <a:lstStyle/>
                    <a:p>
                      <a:pPr algn="ctr"/>
                      <a:r>
                        <a:rPr sz="750" b="0">
                          <a:solidFill>
                            <a:srgbClr val="1A1A1A"/>
                          </a:solidFill>
                        </a:rPr>
                        <a:t>QCOM Corp</a:t>
                      </a:r>
                    </a:p>
                  </a:txBody>
                  <a:tcPr>
                    <a:noFill/>
                  </a:tcPr>
                </a:tc>
                <a:tc>
                  <a:txBody>
                    <a:bodyPr/>
                    <a:lstStyle/>
                    <a:p>
                      <a:pPr algn="ctr"/>
                      <a:r>
                        <a:rPr sz="750" b="0">
                          <a:solidFill>
                            <a:srgbClr val="1A1A1A"/>
                          </a:solidFill>
                        </a:rPr>
                        <a:t>64/100</a:t>
                      </a:r>
                    </a:p>
                  </a:txBody>
                  <a:tcPr>
                    <a:noFill/>
                  </a:tcPr>
                </a:tc>
                <a:tc>
                  <a:txBody>
                    <a:bodyPr/>
                    <a:lstStyle/>
                    <a:p>
                      <a:pPr algn="ctr"/>
                      <a:r>
                        <a:rPr sz="750" b="0">
                          <a:solidFill>
                            <a:srgbClr val="1A1A1A"/>
                          </a:solidFill>
                        </a:rPr>
                        <a:t>36</a:t>
                      </a:r>
                    </a:p>
                  </a:txBody>
                  <a:tcPr>
                    <a:noFill/>
                  </a:tcPr>
                </a:tc>
                <a:tc>
                  <a:txBody>
                    <a:bodyPr/>
                    <a:lstStyle/>
                    <a:p>
                      <a:pPr algn="ctr"/>
                      <a:r>
                        <a:rPr sz="750" b="0">
                          <a:solidFill>
                            <a:srgbClr val="1A1A1A"/>
                          </a:solidFill>
                        </a:rPr>
                        <a:t>80</a:t>
                      </a:r>
                    </a:p>
                  </a:txBody>
                  <a:tcPr>
                    <a:noFill/>
                  </a:tcPr>
                </a:tc>
                <a:tc>
                  <a:txBody>
                    <a:bodyPr/>
                    <a:lstStyle/>
                    <a:p>
                      <a:pPr algn="ctr"/>
                      <a:r>
                        <a:rPr sz="750" b="0">
                          <a:solidFill>
                            <a:srgbClr val="1A1A1A"/>
                          </a:solidFill>
                        </a:rPr>
                        <a:t>51</a:t>
                      </a:r>
                    </a:p>
                  </a:txBody>
                  <a:tcPr>
                    <a:noFill/>
                  </a:tcPr>
                </a:tc>
                <a:tc>
                  <a:txBody>
                    <a:bodyPr/>
                    <a:lstStyle/>
                    <a:p>
                      <a:pPr algn="ctr"/>
                      <a:r>
                        <a:rPr sz="750" b="0">
                          <a:solidFill>
                            <a:srgbClr val="1A1A1A"/>
                          </a:solidFill>
                        </a:rPr>
                        <a:t>80</a:t>
                      </a:r>
                    </a:p>
                  </a:txBody>
                  <a:tcPr>
                    <a:noFill/>
                  </a:tcPr>
                </a:tc>
                <a:tc>
                  <a:txBody>
                    <a:bodyPr/>
                    <a:lstStyle/>
                    <a:p>
                      <a:pPr algn="ctr"/>
                      <a:r>
                        <a:rPr sz="750" b="0">
                          <a:solidFill>
                            <a:srgbClr val="1A1A1A"/>
                          </a:solidFill>
                        </a:rPr>
                        <a:t>HOLD</a:t>
                      </a:r>
                    </a:p>
                  </a:txBody>
                  <a:tcPr>
                    <a:noFill/>
                  </a:tcPr>
                </a:tc>
              </a:tr>
              <a:tr h="127058">
                <a:tc>
                  <a:txBody>
                    <a:bodyPr/>
                    <a:lstStyle/>
                    <a:p>
                      <a:pPr algn="ctr"/>
                      <a:r>
                        <a:rPr sz="750" b="0">
                          <a:solidFill>
                            <a:srgbClr val="1A1A1A"/>
                          </a:solidFill>
                        </a:rPr>
                        <a:t>TXN</a:t>
                      </a:r>
                    </a:p>
                  </a:txBody>
                  <a:tcPr>
                    <a:solidFill>
                      <a:srgbClr val="F5F7FA"/>
                    </a:solidFill>
                  </a:tcPr>
                </a:tc>
                <a:tc>
                  <a:txBody>
                    <a:bodyPr/>
                    <a:lstStyle/>
                    <a:p>
                      <a:pPr algn="ctr"/>
                      <a:r>
                        <a:rPr sz="750" b="0">
                          <a:solidFill>
                            <a:srgbClr val="1A1A1A"/>
                          </a:solidFill>
                        </a:rPr>
                        <a:t>TXN Corp</a:t>
                      </a:r>
                    </a:p>
                  </a:txBody>
                  <a:tcPr>
                    <a:solidFill>
                      <a:srgbClr val="F5F7FA"/>
                    </a:solidFill>
                  </a:tcPr>
                </a:tc>
                <a:tc>
                  <a:txBody>
                    <a:bodyPr/>
                    <a:lstStyle/>
                    <a:p>
                      <a:pPr algn="ctr"/>
                      <a:r>
                        <a:rPr sz="750" b="0">
                          <a:solidFill>
                            <a:srgbClr val="1A1A1A"/>
                          </a:solidFill>
                        </a:rPr>
                        <a:t>64/100</a:t>
                      </a:r>
                    </a:p>
                  </a:txBody>
                  <a:tcPr>
                    <a:solidFill>
                      <a:srgbClr val="F5F7FA"/>
                    </a:solidFill>
                  </a:tcPr>
                </a:tc>
                <a:tc>
                  <a:txBody>
                    <a:bodyPr/>
                    <a:lstStyle/>
                    <a:p>
                      <a:pPr algn="ctr"/>
                      <a:r>
                        <a:rPr sz="750" b="0">
                          <a:solidFill>
                            <a:srgbClr val="1A1A1A"/>
                          </a:solidFill>
                        </a:rPr>
                        <a:t>21</a:t>
                      </a:r>
                    </a:p>
                  </a:txBody>
                  <a:tcPr>
                    <a:solidFill>
                      <a:srgbClr val="F5F7FA"/>
                    </a:solidFill>
                  </a:tcPr>
                </a:tc>
                <a:tc>
                  <a:txBody>
                    <a:bodyPr/>
                    <a:lstStyle/>
                    <a:p>
                      <a:pPr algn="ctr"/>
                      <a:r>
                        <a:rPr sz="750" b="0">
                          <a:solidFill>
                            <a:srgbClr val="1A1A1A"/>
                          </a:solidFill>
                        </a:rPr>
                        <a:t>31</a:t>
                      </a:r>
                    </a:p>
                  </a:txBody>
                  <a:tcPr>
                    <a:solidFill>
                      <a:srgbClr val="F5F7FA"/>
                    </a:solidFill>
                  </a:tcPr>
                </a:tc>
                <a:tc>
                  <a:txBody>
                    <a:bodyPr/>
                    <a:lstStyle/>
                    <a:p>
                      <a:pPr algn="ctr"/>
                      <a:r>
                        <a:rPr sz="750" b="0">
                          <a:solidFill>
                            <a:srgbClr val="1A1A1A"/>
                          </a:solidFill>
                        </a:rPr>
                        <a:t>50</a:t>
                      </a:r>
                    </a:p>
                  </a:txBody>
                  <a:tcPr>
                    <a:solidFill>
                      <a:srgbClr val="F5F7FA"/>
                    </a:solidFill>
                  </a:tcPr>
                </a:tc>
                <a:tc>
                  <a:txBody>
                    <a:bodyPr/>
                    <a:lstStyle/>
                    <a:p>
                      <a:pPr algn="ctr"/>
                      <a:r>
                        <a:rPr sz="750" b="0">
                          <a:solidFill>
                            <a:srgbClr val="1A1A1A"/>
                          </a:solidFill>
                        </a:rPr>
                        <a:t>41</a:t>
                      </a:r>
                    </a:p>
                  </a:txBody>
                  <a:tcPr>
                    <a:solidFill>
                      <a:srgbClr val="F5F7FA"/>
                    </a:solidFill>
                  </a:tcPr>
                </a:tc>
                <a:tc>
                  <a:txBody>
                    <a:bodyPr/>
                    <a:lstStyle/>
                    <a:p>
                      <a:pPr algn="ctr"/>
                      <a:r>
                        <a:rPr sz="750" b="0">
                          <a:solidFill>
                            <a:srgbClr val="1A1A1A"/>
                          </a:solidFill>
                        </a:rPr>
                        <a:t>HOLD</a:t>
                      </a:r>
                    </a:p>
                  </a:txBody>
                  <a:tcPr>
                    <a:solidFill>
                      <a:srgbClr val="F5F7FA"/>
                    </a:solidFill>
                  </a:tcPr>
                </a:tc>
              </a:tr>
              <a:tr h="127058">
                <a:tc>
                  <a:txBody>
                    <a:bodyPr/>
                    <a:lstStyle/>
                    <a:p>
                      <a:pPr algn="ctr"/>
                      <a:r>
                        <a:rPr sz="750" b="0">
                          <a:solidFill>
                            <a:srgbClr val="1A1A1A"/>
                          </a:solidFill>
                        </a:rPr>
                        <a:t>MU</a:t>
                      </a:r>
                    </a:p>
                  </a:txBody>
                  <a:tcPr>
                    <a:noFill/>
                  </a:tcPr>
                </a:tc>
                <a:tc>
                  <a:txBody>
                    <a:bodyPr/>
                    <a:lstStyle/>
                    <a:p>
                      <a:pPr algn="ctr"/>
                      <a:r>
                        <a:rPr sz="750" b="0">
                          <a:solidFill>
                            <a:srgbClr val="1A1A1A"/>
                          </a:solidFill>
                        </a:rPr>
                        <a:t>MU Corp</a:t>
                      </a:r>
                    </a:p>
                  </a:txBody>
                  <a:tcPr>
                    <a:noFill/>
                  </a:tcPr>
                </a:tc>
                <a:tc>
                  <a:txBody>
                    <a:bodyPr/>
                    <a:lstStyle/>
                    <a:p>
                      <a:pPr algn="ctr"/>
                      <a:r>
                        <a:rPr sz="750" b="0">
                          <a:solidFill>
                            <a:srgbClr val="1A1A1A"/>
                          </a:solidFill>
                        </a:rPr>
                        <a:t>64/100</a:t>
                      </a:r>
                    </a:p>
                  </a:txBody>
                  <a:tcPr>
                    <a:noFill/>
                  </a:tcPr>
                </a:tc>
                <a:tc>
                  <a:txBody>
                    <a:bodyPr/>
                    <a:lstStyle/>
                    <a:p>
                      <a:pPr algn="ctr"/>
                      <a:r>
                        <a:rPr sz="750" b="0">
                          <a:solidFill>
                            <a:srgbClr val="1A1A1A"/>
                          </a:solidFill>
                        </a:rPr>
                        <a:t>47</a:t>
                      </a:r>
                    </a:p>
                  </a:txBody>
                  <a:tcPr>
                    <a:noFill/>
                  </a:tcPr>
                </a:tc>
                <a:tc>
                  <a:txBody>
                    <a:bodyPr/>
                    <a:lstStyle/>
                    <a:p>
                      <a:pPr algn="ctr"/>
                      <a:r>
                        <a:rPr sz="750" b="0">
                          <a:solidFill>
                            <a:srgbClr val="1A1A1A"/>
                          </a:solidFill>
                        </a:rPr>
                        <a:t>84</a:t>
                      </a:r>
                    </a:p>
                  </a:txBody>
                  <a:tcPr>
                    <a:noFill/>
                  </a:tcPr>
                </a:tc>
                <a:tc>
                  <a:txBody>
                    <a:bodyPr/>
                    <a:lstStyle/>
                    <a:p>
                      <a:pPr algn="ctr"/>
                      <a:r>
                        <a:rPr sz="750" b="0">
                          <a:solidFill>
                            <a:srgbClr val="1A1A1A"/>
                          </a:solidFill>
                        </a:rPr>
                        <a:t>53</a:t>
                      </a:r>
                    </a:p>
                  </a:txBody>
                  <a:tcPr>
                    <a:noFill/>
                  </a:tcPr>
                </a:tc>
                <a:tc>
                  <a:txBody>
                    <a:bodyPr/>
                    <a:lstStyle/>
                    <a:p>
                      <a:pPr algn="ctr"/>
                      <a:r>
                        <a:rPr sz="750" b="0">
                          <a:solidFill>
                            <a:srgbClr val="1A1A1A"/>
                          </a:solidFill>
                        </a:rPr>
                        <a:t>36</a:t>
                      </a:r>
                    </a:p>
                  </a:txBody>
                  <a:tcPr>
                    <a:noFill/>
                  </a:tcPr>
                </a:tc>
                <a:tc>
                  <a:txBody>
                    <a:bodyPr/>
                    <a:lstStyle/>
                    <a:p>
                      <a:pPr algn="ctr"/>
                      <a:r>
                        <a:rPr sz="750" b="0">
                          <a:solidFill>
                            <a:srgbClr val="1A1A1A"/>
                          </a:solidFill>
                        </a:rPr>
                        <a:t>HOLD</a:t>
                      </a:r>
                    </a:p>
                  </a:txBody>
                  <a:tcPr>
                    <a:noFill/>
                  </a:tcPr>
                </a:tc>
              </a:tr>
              <a:tr h="127058">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AMD Corp</a:t>
                      </a:r>
                    </a:p>
                  </a:txBody>
                  <a:tcPr>
                    <a:solidFill>
                      <a:srgbClr val="F5F7FA"/>
                    </a:solidFill>
                  </a:tcPr>
                </a:tc>
                <a:tc>
                  <a:txBody>
                    <a:bodyPr/>
                    <a:lstStyle/>
                    <a:p>
                      <a:pPr algn="ctr"/>
                      <a:r>
                        <a:rPr sz="750" b="0">
                          <a:solidFill>
                            <a:srgbClr val="1A1A1A"/>
                          </a:solidFill>
                        </a:rPr>
                        <a:t>63/100</a:t>
                      </a:r>
                    </a:p>
                  </a:txBody>
                  <a:tcPr>
                    <a:solidFill>
                      <a:srgbClr val="F5F7FA"/>
                    </a:solidFill>
                  </a:tcPr>
                </a:tc>
                <a:tc>
                  <a:txBody>
                    <a:bodyPr/>
                    <a:lstStyle/>
                    <a:p>
                      <a:pPr algn="ctr"/>
                      <a:r>
                        <a:rPr sz="750" b="0">
                          <a:solidFill>
                            <a:srgbClr val="1A1A1A"/>
                          </a:solidFill>
                        </a:rPr>
                        <a:t>52</a:t>
                      </a:r>
                    </a:p>
                  </a:txBody>
                  <a:tcPr>
                    <a:solidFill>
                      <a:srgbClr val="F5F7FA"/>
                    </a:solidFill>
                  </a:tcPr>
                </a:tc>
                <a:tc>
                  <a:txBody>
                    <a:bodyPr/>
                    <a:lstStyle/>
                    <a:p>
                      <a:pPr algn="ctr"/>
                      <a:r>
                        <a:rPr sz="750" b="0">
                          <a:solidFill>
                            <a:srgbClr val="1A1A1A"/>
                          </a:solidFill>
                        </a:rPr>
                        <a:t>90</a:t>
                      </a:r>
                    </a:p>
                  </a:txBody>
                  <a:tcPr>
                    <a:solidFill>
                      <a:srgbClr val="F5F7FA"/>
                    </a:solidFill>
                  </a:tcPr>
                </a:tc>
                <a:tc>
                  <a:txBody>
                    <a:bodyPr/>
                    <a:lstStyle/>
                    <a:p>
                      <a:pPr algn="ctr"/>
                      <a:r>
                        <a:rPr sz="750" b="0">
                          <a:solidFill>
                            <a:srgbClr val="1A1A1A"/>
                          </a:solidFill>
                        </a:rPr>
                        <a:t>21</a:t>
                      </a:r>
                    </a:p>
                  </a:txBody>
                  <a:tcPr>
                    <a:solidFill>
                      <a:srgbClr val="F5F7FA"/>
                    </a:solidFill>
                  </a:tcPr>
                </a:tc>
                <a:tc>
                  <a:txBody>
                    <a:bodyPr/>
                    <a:lstStyle/>
                    <a:p>
                      <a:pPr algn="ctr"/>
                      <a:r>
                        <a:rPr sz="750" b="0">
                          <a:solidFill>
                            <a:srgbClr val="1A1A1A"/>
                          </a:solidFill>
                        </a:rPr>
                        <a:t>34</a:t>
                      </a:r>
                    </a:p>
                  </a:txBody>
                  <a:tcPr>
                    <a:solidFill>
                      <a:srgbClr val="F5F7FA"/>
                    </a:solidFill>
                  </a:tcPr>
                </a:tc>
                <a:tc>
                  <a:txBody>
                    <a:bodyPr/>
                    <a:lstStyle/>
                    <a:p>
                      <a:pPr algn="ctr"/>
                      <a:r>
                        <a:rPr sz="750" b="0">
                          <a:solidFill>
                            <a:srgbClr val="1A1A1A"/>
                          </a:solidFill>
                        </a:rPr>
                        <a:t>HOLD</a:t>
                      </a:r>
                    </a:p>
                  </a:txBody>
                  <a:tcPr>
                    <a:solidFill>
                      <a:srgbClr val="F5F7FA"/>
                    </a:solidFill>
                  </a:tcPr>
                </a:tc>
              </a:tr>
              <a:tr h="127058">
                <a:tc>
                  <a:txBody>
                    <a:bodyPr/>
                    <a:lstStyle/>
                    <a:p>
                      <a:pPr algn="ctr"/>
                      <a:r>
                        <a:rPr sz="750" b="0">
                          <a:solidFill>
                            <a:srgbClr val="1A1A1A"/>
                          </a:solidFill>
                        </a:rPr>
                        <a:t>INTC</a:t>
                      </a:r>
                    </a:p>
                  </a:txBody>
                  <a:tcPr>
                    <a:noFill/>
                  </a:tcPr>
                </a:tc>
                <a:tc>
                  <a:txBody>
                    <a:bodyPr/>
                    <a:lstStyle/>
                    <a:p>
                      <a:pPr algn="ctr"/>
                      <a:r>
                        <a:rPr sz="750" b="0">
                          <a:solidFill>
                            <a:srgbClr val="1A1A1A"/>
                          </a:solidFill>
                        </a:rPr>
                        <a:t>INTC Corp</a:t>
                      </a:r>
                    </a:p>
                  </a:txBody>
                  <a:tcPr>
                    <a:noFill/>
                  </a:tcPr>
                </a:tc>
                <a:tc>
                  <a:txBody>
                    <a:bodyPr/>
                    <a:lstStyle/>
                    <a:p>
                      <a:pPr algn="ctr"/>
                      <a:r>
                        <a:rPr sz="750" b="0">
                          <a:solidFill>
                            <a:srgbClr val="1A1A1A"/>
                          </a:solidFill>
                        </a:rPr>
                        <a:t>62/100</a:t>
                      </a:r>
                    </a:p>
                  </a:txBody>
                  <a:tcPr>
                    <a:noFill/>
                  </a:tcPr>
                </a:tc>
                <a:tc>
                  <a:txBody>
                    <a:bodyPr/>
                    <a:lstStyle/>
                    <a:p>
                      <a:pPr algn="ctr"/>
                      <a:r>
                        <a:rPr sz="750" b="0">
                          <a:solidFill>
                            <a:srgbClr val="1A1A1A"/>
                          </a:solidFill>
                        </a:rPr>
                        <a:t>42</a:t>
                      </a:r>
                    </a:p>
                  </a:txBody>
                  <a:tcPr>
                    <a:noFill/>
                  </a:tcPr>
                </a:tc>
                <a:tc>
                  <a:txBody>
                    <a:bodyPr/>
                    <a:lstStyle/>
                    <a:p>
                      <a:pPr algn="ctr"/>
                      <a:r>
                        <a:rPr sz="750" b="0">
                          <a:solidFill>
                            <a:srgbClr val="1A1A1A"/>
                          </a:solidFill>
                        </a:rPr>
                        <a:t>84</a:t>
                      </a:r>
                    </a:p>
                  </a:txBody>
                  <a:tcPr>
                    <a:noFill/>
                  </a:tcPr>
                </a:tc>
                <a:tc>
                  <a:txBody>
                    <a:bodyPr/>
                    <a:lstStyle/>
                    <a:p>
                      <a:pPr algn="ctr"/>
                      <a:r>
                        <a:rPr sz="750" b="0">
                          <a:solidFill>
                            <a:srgbClr val="1A1A1A"/>
                          </a:solidFill>
                        </a:rPr>
                        <a:t>33</a:t>
                      </a:r>
                    </a:p>
                  </a:txBody>
                  <a:tcPr>
                    <a:noFill/>
                  </a:tcPr>
                </a:tc>
                <a:tc>
                  <a:txBody>
                    <a:bodyPr/>
                    <a:lstStyle/>
                    <a:p>
                      <a:pPr algn="ctr"/>
                      <a:r>
                        <a:rPr sz="750" b="0">
                          <a:solidFill>
                            <a:srgbClr val="1A1A1A"/>
                          </a:solidFill>
                        </a:rPr>
                        <a:t>58</a:t>
                      </a:r>
                    </a:p>
                  </a:txBody>
                  <a:tcPr>
                    <a:noFill/>
                  </a:tcPr>
                </a:tc>
                <a:tc>
                  <a:txBody>
                    <a:bodyPr/>
                    <a:lstStyle/>
                    <a:p>
                      <a:pPr algn="ctr"/>
                      <a:r>
                        <a:rPr sz="750" b="0">
                          <a:solidFill>
                            <a:srgbClr val="1A1A1A"/>
                          </a:solidFill>
                        </a:rPr>
                        <a:t>HOLD</a:t>
                      </a:r>
                    </a:p>
                  </a:txBody>
                  <a:tcPr>
                    <a:noFill/>
                  </a:tcPr>
                </a:tc>
              </a:tr>
              <a:tr h="127072">
                <a:tc>
                  <a:txBody>
                    <a:bodyPr/>
                    <a:lstStyle/>
                    <a:p>
                      <a:pPr algn="ctr"/>
                      <a:r>
                        <a:rPr sz="750" b="0">
                          <a:solidFill>
                            <a:srgbClr val="1A1A1A"/>
                          </a:solidFill>
                        </a:rPr>
                        <a:t>... et 15 autres valeurs (voir rapport PDF)</a:t>
                      </a:r>
                    </a:p>
                  </a:txBody>
                  <a:tcPr>
                    <a:solidFill>
                      <a:srgbClr val="F5F7FA"/>
                    </a:solidFill>
                  </a:tcPr>
                </a:tc>
                <a:tc>
                  <a:txBody>
                    <a:bodyPr/>
                    <a:lstStyle/>
                    <a:p>
                      <a:pPr algn="ctr"/>
                      <a:r>
                        <a:rPr sz="750" b="0">
                          <a:solidFill>
                            <a:srgbClr val="1A1A1A"/>
                          </a:solidFill>
                        </a:rPr>
                        <a:t/>
                      </a:r>
                    </a:p>
                  </a:txBody>
                  <a:tcPr>
                    <a:solidFill>
                      <a:srgbClr val="F5F7FA"/>
                    </a:solidFill>
                  </a:tcPr>
                </a:tc>
                <a:tc>
                  <a:txBody>
                    <a:bodyPr/>
                    <a:lstStyle/>
                    <a:p>
                      <a:pPr algn="ctr"/>
                      <a:r>
                        <a:rPr sz="750" b="0">
                          <a:solidFill>
                            <a:srgbClr val="1A1A1A"/>
                          </a:solidFill>
                        </a:rPr>
                        <a:t/>
                      </a:r>
                    </a:p>
                  </a:txBody>
                  <a:tcPr>
                    <a:solidFill>
                      <a:srgbClr val="F5F7FA"/>
                    </a:solidFill>
                  </a:tcPr>
                </a:tc>
                <a:tc>
                  <a:txBody>
                    <a:bodyPr/>
                    <a:lstStyle/>
                    <a:p>
                      <a:pPr algn="ctr"/>
                      <a:r>
                        <a:rPr sz="750" b="0">
                          <a:solidFill>
                            <a:srgbClr val="1A1A1A"/>
                          </a:solidFill>
                        </a:rPr>
                        <a:t/>
                      </a:r>
                    </a:p>
                  </a:txBody>
                  <a:tcPr>
                    <a:solidFill>
                      <a:srgbClr val="F5F7FA"/>
                    </a:solidFill>
                  </a:tcPr>
                </a:tc>
                <a:tc>
                  <a:txBody>
                    <a:bodyPr/>
                    <a:lstStyle/>
                    <a:p>
                      <a:pPr algn="ctr"/>
                      <a:r>
                        <a:rPr sz="750" b="0">
                          <a:solidFill>
                            <a:srgbClr val="1A1A1A"/>
                          </a:solidFill>
                        </a:rPr>
                        <a:t/>
                      </a:r>
                    </a:p>
                  </a:txBody>
                  <a:tcPr>
                    <a:solidFill>
                      <a:srgbClr val="F5F7FA"/>
                    </a:solidFill>
                  </a:tcPr>
                </a:tc>
                <a:tc>
                  <a:txBody>
                    <a:bodyPr/>
                    <a:lstStyle/>
                    <a:p>
                      <a:pPr algn="ctr"/>
                      <a:r>
                        <a:rPr sz="750" b="0">
                          <a:solidFill>
                            <a:srgbClr val="1A1A1A"/>
                          </a:solidFill>
                        </a:rPr>
                        <a:t/>
                      </a:r>
                    </a:p>
                  </a:txBody>
                  <a:tcPr>
                    <a:solidFill>
                      <a:srgbClr val="F5F7FA"/>
                    </a:solidFill>
                  </a:tcPr>
                </a:tc>
                <a:tc>
                  <a:txBody>
                    <a:bodyPr/>
                    <a:lstStyle/>
                    <a:p>
                      <a:pPr algn="ctr"/>
                      <a:r>
                        <a:rPr sz="750" b="0">
                          <a:solidFill>
                            <a:srgbClr val="1A1A1A"/>
                          </a:solidFill>
                        </a:rPr>
                        <a:t/>
                      </a:r>
                    </a:p>
                  </a:txBody>
                  <a:tcPr>
                    <a:solidFill>
                      <a:srgbClr val="F5F7FA"/>
                    </a:solidFill>
                  </a:tcPr>
                </a:tc>
                <a:tc>
                  <a:txBody>
                    <a:bodyPr/>
                    <a:lstStyle/>
                    <a:p>
                      <a:pPr algn="ctr"/>
                      <a:r>
                        <a:rPr sz="750" b="0">
                          <a:solidFill>
                            <a:srgbClr val="1A1A1A"/>
                          </a:solidFill>
                        </a:rPr>
                        <a:t/>
                      </a:r>
                    </a:p>
                  </a:txBody>
                  <a:tcPr>
                    <a:solidFill>
                      <a:srgbClr val="F5F7FA"/>
                    </a:solidFill>
                  </a:tcPr>
                </a:tc>
              </a:tr>
            </a:tbl>
          </a:graphicData>
        </a:graphic>
      </p:graphicFrame>
      <p:sp>
        <p:nvSpPr>
          <p:cNvPr id="16" name="Rectangle 15"/>
          <p:cNvSpPr/>
          <p:nvPr/>
        </p:nvSpPr>
        <p:spPr>
          <a:xfrm>
            <a:off x="324000" y="3204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20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222000"/>
            <a:ext cx="8352000" cy="216000"/>
          </a:xfrm>
          <a:prstGeom prst="rect">
            <a:avLst/>
          </a:prstGeom>
          <a:noFill/>
        </p:spPr>
        <p:txBody>
          <a:bodyPr wrap="square">
            <a:spAutoFit/>
          </a:bodyPr>
          <a:lstStyle/>
          <a:p>
            <a:pPr algn="l"/>
            <a:r>
              <a:rPr sz="750" b="1" i="0">
                <a:solidFill>
                  <a:srgbClr val="FFFFFF"/>
                </a:solidFill>
              </a:rPr>
              <a:t>SYNTHESE SCORES  ·  Score &gt;= 75 = fort  ·  50-74 = moyen  ·  &lt; 50 = faible  ·  Ponderations : Value / Growth / Quality / Momentum = 25 % chacun</a:t>
            </a:r>
          </a:p>
        </p:txBody>
      </p:sp>
      <p:sp>
        <p:nvSpPr>
          <p:cNvPr id="19" name="TextBox 18"/>
          <p:cNvSpPr txBox="1"/>
          <p:nvPr/>
        </p:nvSpPr>
        <p:spPr>
          <a:xfrm>
            <a:off x="396000" y="3510000"/>
            <a:ext cx="8352000" cy="1260000"/>
          </a:xfrm>
          <a:prstGeom prst="rect">
            <a:avLst/>
          </a:prstGeom>
          <a:noFill/>
        </p:spPr>
        <p:txBody>
          <a:bodyPr wrap="square">
            <a:spAutoFit/>
          </a:bodyPr>
          <a:lstStyle/>
          <a:p>
            <a:pPr algn="l"/>
            <a:r>
              <a:rPr sz="850" b="0" i="0">
                <a:solidFill>
                  <a:srgbClr val="555555"/>
                </a:solidFill>
              </a:rPr>
              <a:t>FSLR Corp presente le profil le plus equilibre du secteur (90/100) avec des scores Value=45, Growth=66, Quality=75, Momentum=28. La dispersion des scores entre les 30 societes reflete des profils heterogenes — une allocation selective privilegiant les leaders qualitatifs est recommandee dans la configuration sectorielle actuelle.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FSLR</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FSLR Corp</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459</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37.2x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0.3 %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2.3</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Acceleration des mandats IA dans les grands comptes europeens — contrats pluriannuels en hausse de 38 % sur T1 2026.</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Recession européenne confirmee entraînerait une reduction des budgets IT de 12-18 %, pénalisant les prestataires de services.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SNOW</a:t>
            </a:r>
          </a:p>
        </p:txBody>
      </p:sp>
      <p:sp>
        <p:nvSpPr>
          <p:cNvPr id="45" name="Rectangle 44"/>
          <p:cNvSpPr/>
          <p:nvPr/>
        </p:nvSpPr>
        <p:spPr>
          <a:xfrm>
            <a:off x="511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BUY</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SNOW Corp</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172</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9.6x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0.3 %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3.2</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Etats membres EU.</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Surcout de mise en conformite estime a 8-12 % du CA pour les editeurs de logiciels IA — impact marges 2027.</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ON</a:t>
            </a:r>
          </a:p>
        </p:txBody>
      </p:sp>
      <p:sp>
        <p:nvSpPr>
          <p:cNvPr id="72" name="Rectangle 71"/>
          <p:cNvSpPr/>
          <p:nvPr/>
        </p:nvSpPr>
        <p:spPr>
          <a:xfrm>
            <a:off x="799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BUY</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ON Corp</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221</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6.4x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0.3 %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1.9</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Contraintes réglementaires sur les données — migration vers solutions EU portee par NIS2 et DORA.</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Acteurs americains et asiatiques agressifs sur les segments logiciels standardises — guerre des prix bas de gamme.</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(22.6x)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10 acteur(s) se detachent nettement du reste du secteur, creant une prime de valorisation significative vs la médiane de 22.6x.
12 societe(s) se traitent sous la médiane — potentiellement les meilleures asymetries risque/rendement sous reserve de catalyseurs fondamentaux.
La dispersion des multiples est caracteristique d'un secteur Technology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9800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2375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23750">
                <a:tc>
                  <a:txBody>
                    <a:bodyPr/>
                    <a:lstStyle/>
                    <a:p>
                      <a:pPr algn="ctr"/>
                      <a:r>
                        <a:rPr sz="750" b="0">
                          <a:solidFill>
                            <a:srgbClr val="1A1A1A"/>
                          </a:solidFill>
                        </a:rPr>
                        <a:t>FSLR</a:t>
                      </a:r>
                    </a:p>
                  </a:txBody>
                  <a:tcPr>
                    <a:noFill/>
                  </a:tcPr>
                </a:tc>
                <a:tc>
                  <a:txBody>
                    <a:bodyPr/>
                    <a:lstStyle/>
                    <a:p>
                      <a:pPr algn="ctr"/>
                      <a:r>
                        <a:rPr sz="750" b="0">
                          <a:solidFill>
                            <a:srgbClr val="1A1A1A"/>
                          </a:solidFill>
                        </a:rPr>
                        <a:t>FSLR Corp</a:t>
                      </a:r>
                    </a:p>
                  </a:txBody>
                  <a:tcPr>
                    <a:noFill/>
                  </a:tcPr>
                </a:tc>
                <a:tc>
                  <a:txBody>
                    <a:bodyPr/>
                    <a:lstStyle/>
                    <a:p>
                      <a:pPr algn="ctr"/>
                      <a:r>
                        <a:rPr sz="750" b="0">
                          <a:solidFill>
                            <a:srgbClr val="1A1A1A"/>
                          </a:solidFill>
                        </a:rPr>
                        <a:t>382.1</a:t>
                      </a:r>
                    </a:p>
                  </a:txBody>
                  <a:tcPr>
                    <a:noFill/>
                  </a:tcPr>
                </a:tc>
                <a:tc>
                  <a:txBody>
                    <a:bodyPr/>
                    <a:lstStyle/>
                    <a:p>
                      <a:pPr algn="ctr"/>
                      <a:r>
                        <a:rPr sz="750" b="0">
                          <a:solidFill>
                            <a:srgbClr val="1A1A1A"/>
                          </a:solidFill>
                        </a:rPr>
                        <a:t>439.4</a:t>
                      </a:r>
                    </a:p>
                  </a:txBody>
                  <a:tcPr>
                    <a:noFill/>
                  </a:tcPr>
                </a:tc>
                <a:tc>
                  <a:txBody>
                    <a:bodyPr/>
                    <a:lstStyle/>
                    <a:p>
                      <a:pPr algn="ctr"/>
                      <a:r>
                        <a:rPr sz="750" b="0">
                          <a:solidFill>
                            <a:srgbClr val="1A1A1A"/>
                          </a:solidFill>
                        </a:rPr>
                        <a:t>&lt; 363.0</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23750">
                <a:tc>
                  <a:txBody>
                    <a:bodyPr/>
                    <a:lstStyle/>
                    <a:p>
                      <a:pPr algn="ctr"/>
                      <a:r>
                        <a:rPr sz="750" b="0">
                          <a:solidFill>
                            <a:srgbClr val="1A1A1A"/>
                          </a:solidFill>
                        </a:rPr>
                        <a:t>SNOW</a:t>
                      </a:r>
                    </a:p>
                  </a:txBody>
                  <a:tcPr>
                    <a:solidFill>
                      <a:srgbClr val="F5F7FA"/>
                    </a:solidFill>
                  </a:tcPr>
                </a:tc>
                <a:tc>
                  <a:txBody>
                    <a:bodyPr/>
                    <a:lstStyle/>
                    <a:p>
                      <a:pPr algn="ctr"/>
                      <a:r>
                        <a:rPr sz="750" b="0">
                          <a:solidFill>
                            <a:srgbClr val="1A1A1A"/>
                          </a:solidFill>
                        </a:rPr>
                        <a:t>SNOW Corp</a:t>
                      </a:r>
                    </a:p>
                  </a:txBody>
                  <a:tcPr>
                    <a:solidFill>
                      <a:srgbClr val="F5F7FA"/>
                    </a:solidFill>
                  </a:tcPr>
                </a:tc>
                <a:tc>
                  <a:txBody>
                    <a:bodyPr/>
                    <a:lstStyle/>
                    <a:p>
                      <a:pPr algn="ctr"/>
                      <a:r>
                        <a:rPr sz="750" b="0">
                          <a:solidFill>
                            <a:srgbClr val="1A1A1A"/>
                          </a:solidFill>
                        </a:rPr>
                        <a:t>143.0</a:t>
                      </a:r>
                    </a:p>
                  </a:txBody>
                  <a:tcPr>
                    <a:solidFill>
                      <a:srgbClr val="F5F7FA"/>
                    </a:solidFill>
                  </a:tcPr>
                </a:tc>
                <a:tc>
                  <a:txBody>
                    <a:bodyPr/>
                    <a:lstStyle/>
                    <a:p>
                      <a:pPr algn="ctr"/>
                      <a:r>
                        <a:rPr sz="750" b="0">
                          <a:solidFill>
                            <a:srgbClr val="1A1A1A"/>
                          </a:solidFill>
                        </a:rPr>
                        <a:t>164.4</a:t>
                      </a:r>
                    </a:p>
                  </a:txBody>
                  <a:tcPr>
                    <a:solidFill>
                      <a:srgbClr val="F5F7FA"/>
                    </a:solidFill>
                  </a:tcPr>
                </a:tc>
                <a:tc>
                  <a:txBody>
                    <a:bodyPr/>
                    <a:lstStyle/>
                    <a:p>
                      <a:pPr algn="ctr"/>
                      <a:r>
                        <a:rPr sz="750" b="0">
                          <a:solidFill>
                            <a:srgbClr val="1A1A1A"/>
                          </a:solidFill>
                        </a:rPr>
                        <a:t>&lt; 135.8</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23750">
                <a:tc>
                  <a:txBody>
                    <a:bodyPr/>
                    <a:lstStyle/>
                    <a:p>
                      <a:pPr algn="ctr"/>
                      <a:r>
                        <a:rPr sz="750" b="0">
                          <a:solidFill>
                            <a:srgbClr val="1A1A1A"/>
                          </a:solidFill>
                        </a:rPr>
                        <a:t>ON</a:t>
                      </a:r>
                    </a:p>
                  </a:txBody>
                  <a:tcPr>
                    <a:noFill/>
                  </a:tcPr>
                </a:tc>
                <a:tc>
                  <a:txBody>
                    <a:bodyPr/>
                    <a:lstStyle/>
                    <a:p>
                      <a:pPr algn="ctr"/>
                      <a:r>
                        <a:rPr sz="750" b="0">
                          <a:solidFill>
                            <a:srgbClr val="1A1A1A"/>
                          </a:solidFill>
                        </a:rPr>
                        <a:t>ON Corp</a:t>
                      </a:r>
                    </a:p>
                  </a:txBody>
                  <a:tcPr>
                    <a:noFill/>
                  </a:tcPr>
                </a:tc>
                <a:tc>
                  <a:txBody>
                    <a:bodyPr/>
                    <a:lstStyle/>
                    <a:p>
                      <a:pPr algn="ctr"/>
                      <a:r>
                        <a:rPr sz="750" b="0">
                          <a:solidFill>
                            <a:srgbClr val="1A1A1A"/>
                          </a:solidFill>
                        </a:rPr>
                        <a:t>183.9</a:t>
                      </a:r>
                    </a:p>
                  </a:txBody>
                  <a:tcPr>
                    <a:noFill/>
                  </a:tcPr>
                </a:tc>
                <a:tc>
                  <a:txBody>
                    <a:bodyPr/>
                    <a:lstStyle/>
                    <a:p>
                      <a:pPr algn="ctr"/>
                      <a:r>
                        <a:rPr sz="750" b="0">
                          <a:solidFill>
                            <a:srgbClr val="1A1A1A"/>
                          </a:solidFill>
                        </a:rPr>
                        <a:t>211.5</a:t>
                      </a:r>
                    </a:p>
                  </a:txBody>
                  <a:tcPr>
                    <a:noFill/>
                  </a:tcPr>
                </a:tc>
                <a:tc>
                  <a:txBody>
                    <a:bodyPr/>
                    <a:lstStyle/>
                    <a:p>
                      <a:pPr algn="ctr"/>
                      <a:r>
                        <a:rPr sz="750" b="0">
                          <a:solidFill>
                            <a:srgbClr val="1A1A1A"/>
                          </a:solidFill>
                        </a:rPr>
                        <a:t>&lt; 174.7</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23750">
                <a:tc>
                  <a:txBody>
                    <a:bodyPr/>
                    <a:lstStyle/>
                    <a:p>
                      <a:pPr algn="ctr"/>
                      <a:r>
                        <a:rPr sz="750" b="0">
                          <a:solidFill>
                            <a:srgbClr val="1A1A1A"/>
                          </a:solidFill>
                        </a:rPr>
                        <a:t>NOW</a:t>
                      </a:r>
                    </a:p>
                  </a:txBody>
                  <a:tcPr>
                    <a:solidFill>
                      <a:srgbClr val="F5F7FA"/>
                    </a:solidFill>
                  </a:tcPr>
                </a:tc>
                <a:tc>
                  <a:txBody>
                    <a:bodyPr/>
                    <a:lstStyle/>
                    <a:p>
                      <a:pPr algn="ctr"/>
                      <a:r>
                        <a:rPr sz="750" b="0">
                          <a:solidFill>
                            <a:srgbClr val="1A1A1A"/>
                          </a:solidFill>
                        </a:rPr>
                        <a:t>NOW Corp</a:t>
                      </a:r>
                    </a:p>
                  </a:txBody>
                  <a:tcPr>
                    <a:solidFill>
                      <a:srgbClr val="F5F7FA"/>
                    </a:solidFill>
                  </a:tcPr>
                </a:tc>
                <a:tc>
                  <a:txBody>
                    <a:bodyPr/>
                    <a:lstStyle/>
                    <a:p>
                      <a:pPr algn="ctr"/>
                      <a:r>
                        <a:rPr sz="750" b="0">
                          <a:solidFill>
                            <a:srgbClr val="1A1A1A"/>
                          </a:solidFill>
                        </a:rPr>
                        <a:t>126.2</a:t>
                      </a:r>
                    </a:p>
                  </a:txBody>
                  <a:tcPr>
                    <a:solidFill>
                      <a:srgbClr val="F5F7FA"/>
                    </a:solidFill>
                  </a:tcPr>
                </a:tc>
                <a:tc>
                  <a:txBody>
                    <a:bodyPr/>
                    <a:lstStyle/>
                    <a:p>
                      <a:pPr algn="ctr"/>
                      <a:r>
                        <a:rPr sz="750" b="0">
                          <a:solidFill>
                            <a:srgbClr val="1A1A1A"/>
                          </a:solidFill>
                        </a:rPr>
                        <a:t>145.1</a:t>
                      </a:r>
                    </a:p>
                  </a:txBody>
                  <a:tcPr>
                    <a:solidFill>
                      <a:srgbClr val="F5F7FA"/>
                    </a:solidFill>
                  </a:tcPr>
                </a:tc>
                <a:tc>
                  <a:txBody>
                    <a:bodyPr/>
                    <a:lstStyle/>
                    <a:p>
                      <a:pPr algn="ctr"/>
                      <a:r>
                        <a:rPr sz="750" b="0">
                          <a:solidFill>
                            <a:srgbClr val="1A1A1A"/>
                          </a:solidFill>
                        </a:rPr>
                        <a:t>&lt; 119.9</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23750">
                <a:tc>
                  <a:txBody>
                    <a:bodyPr/>
                    <a:lstStyle/>
                    <a:p>
                      <a:pPr algn="ctr"/>
                      <a:r>
                        <a:rPr sz="750" b="0">
                          <a:solidFill>
                            <a:srgbClr val="1A1A1A"/>
                          </a:solidFill>
                        </a:rPr>
                        <a:t>KLAC</a:t>
                      </a:r>
                    </a:p>
                  </a:txBody>
                  <a:tcPr>
                    <a:noFill/>
                  </a:tcPr>
                </a:tc>
                <a:tc>
                  <a:txBody>
                    <a:bodyPr/>
                    <a:lstStyle/>
                    <a:p>
                      <a:pPr algn="ctr"/>
                      <a:r>
                        <a:rPr sz="750" b="0">
                          <a:solidFill>
                            <a:srgbClr val="1A1A1A"/>
                          </a:solidFill>
                        </a:rPr>
                        <a:t>KLAC Corp</a:t>
                      </a:r>
                    </a:p>
                  </a:txBody>
                  <a:tcPr>
                    <a:noFill/>
                  </a:tcPr>
                </a:tc>
                <a:tc>
                  <a:txBody>
                    <a:bodyPr/>
                    <a:lstStyle/>
                    <a:p>
                      <a:pPr algn="ctr"/>
                      <a:r>
                        <a:rPr sz="750" b="0">
                          <a:solidFill>
                            <a:srgbClr val="1A1A1A"/>
                          </a:solidFill>
                        </a:rPr>
                        <a:t>253.9</a:t>
                      </a:r>
                    </a:p>
                  </a:txBody>
                  <a:tcPr>
                    <a:noFill/>
                  </a:tcPr>
                </a:tc>
                <a:tc>
                  <a:txBody>
                    <a:bodyPr/>
                    <a:lstStyle/>
                    <a:p>
                      <a:pPr algn="ctr"/>
                      <a:r>
                        <a:rPr sz="750" b="0">
                          <a:solidFill>
                            <a:srgbClr val="1A1A1A"/>
                          </a:solidFill>
                        </a:rPr>
                        <a:t>292.0</a:t>
                      </a:r>
                    </a:p>
                  </a:txBody>
                  <a:tcPr>
                    <a:noFill/>
                  </a:tcPr>
                </a:tc>
                <a:tc>
                  <a:txBody>
                    <a:bodyPr/>
                    <a:lstStyle/>
                    <a:p>
                      <a:pPr algn="ctr"/>
                      <a:r>
                        <a:rPr sz="750" b="0">
                          <a:solidFill>
                            <a:srgbClr val="1A1A1A"/>
                          </a:solidFill>
                        </a:rPr>
                        <a:t>&lt; 241.2</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23750">
                <a:tc>
                  <a:txBody>
                    <a:bodyPr/>
                    <a:lstStyle/>
                    <a:p>
                      <a:pPr algn="ctr"/>
                      <a:r>
                        <a:rPr sz="750" b="0">
                          <a:solidFill>
                            <a:srgbClr val="1A1A1A"/>
                          </a:solidFill>
                        </a:rPr>
                        <a:t>ZS</a:t>
                      </a:r>
                    </a:p>
                  </a:txBody>
                  <a:tcPr>
                    <a:solidFill>
                      <a:srgbClr val="F5F7FA"/>
                    </a:solidFill>
                  </a:tcPr>
                </a:tc>
                <a:tc>
                  <a:txBody>
                    <a:bodyPr/>
                    <a:lstStyle/>
                    <a:p>
                      <a:pPr algn="ctr"/>
                      <a:r>
                        <a:rPr sz="750" b="0">
                          <a:solidFill>
                            <a:srgbClr val="1A1A1A"/>
                          </a:solidFill>
                        </a:rPr>
                        <a:t>ZS Corp</a:t>
                      </a:r>
                    </a:p>
                  </a:txBody>
                  <a:tcPr>
                    <a:solidFill>
                      <a:srgbClr val="F5F7FA"/>
                    </a:solidFill>
                  </a:tcPr>
                </a:tc>
                <a:tc>
                  <a:txBody>
                    <a:bodyPr/>
                    <a:lstStyle/>
                    <a:p>
                      <a:pPr algn="ctr"/>
                      <a:r>
                        <a:rPr sz="750" b="0">
                          <a:solidFill>
                            <a:srgbClr val="1A1A1A"/>
                          </a:solidFill>
                        </a:rPr>
                        <a:t>58.5</a:t>
                      </a:r>
                    </a:p>
                  </a:txBody>
                  <a:tcPr>
                    <a:solidFill>
                      <a:srgbClr val="F5F7FA"/>
                    </a:solidFill>
                  </a:tcPr>
                </a:tc>
                <a:tc>
                  <a:txBody>
                    <a:bodyPr/>
                    <a:lstStyle/>
                    <a:p>
                      <a:pPr algn="ctr"/>
                      <a:r>
                        <a:rPr sz="750" b="0">
                          <a:solidFill>
                            <a:srgbClr val="1A1A1A"/>
                          </a:solidFill>
                        </a:rPr>
                        <a:t>67.3</a:t>
                      </a:r>
                    </a:p>
                  </a:txBody>
                  <a:tcPr>
                    <a:solidFill>
                      <a:srgbClr val="F5F7FA"/>
                    </a:solidFill>
                  </a:tcPr>
                </a:tc>
                <a:tc>
                  <a:txBody>
                    <a:bodyPr/>
                    <a:lstStyle/>
                    <a:p>
                      <a:pPr algn="ctr"/>
                      <a:r>
                        <a:rPr sz="750" b="0">
                          <a:solidFill>
                            <a:srgbClr val="1A1A1A"/>
                          </a:solidFill>
                        </a:rPr>
                        <a:t>&lt; 55.6</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23750">
                <a:tc>
                  <a:txBody>
                    <a:bodyPr/>
                    <a:lstStyle/>
                    <a:p>
                      <a:pPr algn="ctr"/>
                      <a:r>
                        <a:rPr sz="750" b="0">
                          <a:solidFill>
                            <a:srgbClr val="1A1A1A"/>
                          </a:solidFill>
                        </a:rPr>
                        <a:t>AAPL</a:t>
                      </a:r>
                    </a:p>
                  </a:txBody>
                  <a:tcPr>
                    <a:noFill/>
                  </a:tcPr>
                </a:tc>
                <a:tc>
                  <a:txBody>
                    <a:bodyPr/>
                    <a:lstStyle/>
                    <a:p>
                      <a:pPr algn="ctr"/>
                      <a:r>
                        <a:rPr sz="750" b="0">
                          <a:solidFill>
                            <a:srgbClr val="1A1A1A"/>
                          </a:solidFill>
                        </a:rPr>
                        <a:t>AAPL Corp</a:t>
                      </a:r>
                    </a:p>
                  </a:txBody>
                  <a:tcPr>
                    <a:noFill/>
                  </a:tcPr>
                </a:tc>
                <a:tc>
                  <a:txBody>
                    <a:bodyPr/>
                    <a:lstStyle/>
                    <a:p>
                      <a:pPr algn="ctr"/>
                      <a:r>
                        <a:rPr sz="750" b="0">
                          <a:solidFill>
                            <a:srgbClr val="1A1A1A"/>
                          </a:solidFill>
                        </a:rPr>
                        <a:t>128.1</a:t>
                      </a:r>
                    </a:p>
                  </a:txBody>
                  <a:tcPr>
                    <a:noFill/>
                  </a:tcPr>
                </a:tc>
                <a:tc>
                  <a:txBody>
                    <a:bodyPr/>
                    <a:lstStyle/>
                    <a:p>
                      <a:pPr algn="ctr"/>
                      <a:r>
                        <a:rPr sz="750" b="0">
                          <a:solidFill>
                            <a:srgbClr val="1A1A1A"/>
                          </a:solidFill>
                        </a:rPr>
                        <a:t>147.3</a:t>
                      </a:r>
                    </a:p>
                  </a:txBody>
                  <a:tcPr>
                    <a:noFill/>
                  </a:tcPr>
                </a:tc>
                <a:tc>
                  <a:txBody>
                    <a:bodyPr/>
                    <a:lstStyle/>
                    <a:p>
                      <a:pPr algn="ctr"/>
                      <a:r>
                        <a:rPr sz="750" b="0">
                          <a:solidFill>
                            <a:srgbClr val="1A1A1A"/>
                          </a:solidFill>
                        </a:rPr>
                        <a:t>&lt; 121.7</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23750">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Corp</a:t>
                      </a:r>
                    </a:p>
                  </a:txBody>
                  <a:tcPr>
                    <a:solidFill>
                      <a:srgbClr val="F5F7FA"/>
                    </a:solidFill>
                  </a:tcPr>
                </a:tc>
                <a:tc>
                  <a:txBody>
                    <a:bodyPr/>
                    <a:lstStyle/>
                    <a:p>
                      <a:pPr algn="ctr"/>
                      <a:r>
                        <a:rPr sz="750" b="0">
                          <a:solidFill>
                            <a:srgbClr val="1A1A1A"/>
                          </a:solidFill>
                        </a:rPr>
                        <a:t>211.8</a:t>
                      </a:r>
                    </a:p>
                  </a:txBody>
                  <a:tcPr>
                    <a:solidFill>
                      <a:srgbClr val="F5F7FA"/>
                    </a:solidFill>
                  </a:tcPr>
                </a:tc>
                <a:tc>
                  <a:txBody>
                    <a:bodyPr/>
                    <a:lstStyle/>
                    <a:p>
                      <a:pPr algn="ctr"/>
                      <a:r>
                        <a:rPr sz="750" b="0">
                          <a:solidFill>
                            <a:srgbClr val="1A1A1A"/>
                          </a:solidFill>
                        </a:rPr>
                        <a:t>243.6</a:t>
                      </a:r>
                    </a:p>
                  </a:txBody>
                  <a:tcPr>
                    <a:solidFill>
                      <a:srgbClr val="F5F7FA"/>
                    </a:solidFill>
                  </a:tcPr>
                </a:tc>
                <a:tc>
                  <a:txBody>
                    <a:bodyPr/>
                    <a:lstStyle/>
                    <a:p>
                      <a:pPr algn="ctr"/>
                      <a:r>
                        <a:rPr sz="750" b="0">
                          <a:solidFill>
                            <a:srgbClr val="1A1A1A"/>
                          </a:solidFill>
                        </a:rPr>
                        <a:t>&lt; 201.2</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23750">
                <a:tc>
                  <a:txBody>
                    <a:bodyPr/>
                    <a:lstStyle/>
                    <a:p>
                      <a:pPr algn="ctr"/>
                      <a:r>
                        <a:rPr sz="750" b="0">
                          <a:solidFill>
                            <a:srgbClr val="1A1A1A"/>
                          </a:solidFill>
                        </a:rPr>
                        <a:t>TSLA</a:t>
                      </a:r>
                    </a:p>
                  </a:txBody>
                  <a:tcPr>
                    <a:noFill/>
                  </a:tcPr>
                </a:tc>
                <a:tc>
                  <a:txBody>
                    <a:bodyPr/>
                    <a:lstStyle/>
                    <a:p>
                      <a:pPr algn="ctr"/>
                      <a:r>
                        <a:rPr sz="750" b="0">
                          <a:solidFill>
                            <a:srgbClr val="1A1A1A"/>
                          </a:solidFill>
                        </a:rPr>
                        <a:t>TSLA Corp</a:t>
                      </a:r>
                    </a:p>
                  </a:txBody>
                  <a:tcPr>
                    <a:noFill/>
                  </a:tcPr>
                </a:tc>
                <a:tc>
                  <a:txBody>
                    <a:bodyPr/>
                    <a:lstStyle/>
                    <a:p>
                      <a:pPr algn="ctr"/>
                      <a:r>
                        <a:rPr sz="750" b="0">
                          <a:solidFill>
                            <a:srgbClr val="1A1A1A"/>
                          </a:solidFill>
                        </a:rPr>
                        <a:t>228.3</a:t>
                      </a:r>
                    </a:p>
                  </a:txBody>
                  <a:tcPr>
                    <a:noFill/>
                  </a:tcPr>
                </a:tc>
                <a:tc>
                  <a:txBody>
                    <a:bodyPr/>
                    <a:lstStyle/>
                    <a:p>
                      <a:pPr algn="ctr"/>
                      <a:r>
                        <a:rPr sz="750" b="0">
                          <a:solidFill>
                            <a:srgbClr val="1A1A1A"/>
                          </a:solidFill>
                        </a:rPr>
                        <a:t>262.5</a:t>
                      </a:r>
                    </a:p>
                  </a:txBody>
                  <a:tcPr>
                    <a:noFill/>
                  </a:tcPr>
                </a:tc>
                <a:tc>
                  <a:txBody>
                    <a:bodyPr/>
                    <a:lstStyle/>
                    <a:p>
                      <a:pPr algn="ctr"/>
                      <a:r>
                        <a:rPr sz="750" b="0">
                          <a:solidFill>
                            <a:srgbClr val="1A1A1A"/>
                          </a:solidFill>
                        </a:rPr>
                        <a:t>&lt; 216.9</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23750">
                <a:tc>
                  <a:txBody>
                    <a:bodyPr/>
                    <a:lstStyle/>
                    <a:p>
                      <a:pPr algn="ctr"/>
                      <a:r>
                        <a:rPr sz="750" b="0">
                          <a:solidFill>
                            <a:srgbClr val="1A1A1A"/>
                          </a:solidFill>
                        </a:rPr>
                        <a:t>NET</a:t>
                      </a:r>
                    </a:p>
                  </a:txBody>
                  <a:tcPr>
                    <a:solidFill>
                      <a:srgbClr val="F5F7FA"/>
                    </a:solidFill>
                  </a:tcPr>
                </a:tc>
                <a:tc>
                  <a:txBody>
                    <a:bodyPr/>
                    <a:lstStyle/>
                    <a:p>
                      <a:pPr algn="ctr"/>
                      <a:r>
                        <a:rPr sz="750" b="0">
                          <a:solidFill>
                            <a:srgbClr val="1A1A1A"/>
                          </a:solidFill>
                        </a:rPr>
                        <a:t>NET Corp</a:t>
                      </a:r>
                    </a:p>
                  </a:txBody>
                  <a:tcPr>
                    <a:solidFill>
                      <a:srgbClr val="F5F7FA"/>
                    </a:solidFill>
                  </a:tcPr>
                </a:tc>
                <a:tc>
                  <a:txBody>
                    <a:bodyPr/>
                    <a:lstStyle/>
                    <a:p>
                      <a:pPr algn="ctr"/>
                      <a:r>
                        <a:rPr sz="750" b="0">
                          <a:solidFill>
                            <a:srgbClr val="1A1A1A"/>
                          </a:solidFill>
                        </a:rPr>
                        <a:t>287.1</a:t>
                      </a:r>
                    </a:p>
                  </a:txBody>
                  <a:tcPr>
                    <a:solidFill>
                      <a:srgbClr val="F5F7FA"/>
                    </a:solidFill>
                  </a:tcPr>
                </a:tc>
                <a:tc>
                  <a:txBody>
                    <a:bodyPr/>
                    <a:lstStyle/>
                    <a:p>
                      <a:pPr algn="ctr"/>
                      <a:r>
                        <a:rPr sz="750" b="0">
                          <a:solidFill>
                            <a:srgbClr val="1A1A1A"/>
                          </a:solidFill>
                        </a:rPr>
                        <a:t>330.2</a:t>
                      </a:r>
                    </a:p>
                  </a:txBody>
                  <a:tcPr>
                    <a:solidFill>
                      <a:srgbClr val="F5F7FA"/>
                    </a:solidFill>
                  </a:tcPr>
                </a:tc>
                <a:tc>
                  <a:txBody>
                    <a:bodyPr/>
                    <a:lstStyle/>
                    <a:p>
                      <a:pPr algn="ctr"/>
                      <a:r>
                        <a:rPr sz="750" b="0">
                          <a:solidFill>
                            <a:srgbClr val="1A1A1A"/>
                          </a:solidFill>
                        </a:rPr>
                        <a:t>&lt; 272.7</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23750">
                <a:tc>
                  <a:txBody>
                    <a:bodyPr/>
                    <a:lstStyle/>
                    <a:p>
                      <a:pPr algn="ctr"/>
                      <a:r>
                        <a:rPr sz="750" b="0">
                          <a:solidFill>
                            <a:srgbClr val="1A1A1A"/>
                          </a:solidFill>
                        </a:rPr>
                        <a:t>QCOM</a:t>
                      </a:r>
                    </a:p>
                  </a:txBody>
                  <a:tcPr>
                    <a:noFill/>
                  </a:tcPr>
                </a:tc>
                <a:tc>
                  <a:txBody>
                    <a:bodyPr/>
                    <a:lstStyle/>
                    <a:p>
                      <a:pPr algn="ctr"/>
                      <a:r>
                        <a:rPr sz="750" b="0">
                          <a:solidFill>
                            <a:srgbClr val="1A1A1A"/>
                          </a:solidFill>
                        </a:rPr>
                        <a:t>QCOM Corp</a:t>
                      </a:r>
                    </a:p>
                  </a:txBody>
                  <a:tcPr>
                    <a:noFill/>
                  </a:tcPr>
                </a:tc>
                <a:tc>
                  <a:txBody>
                    <a:bodyPr/>
                    <a:lstStyle/>
                    <a:p>
                      <a:pPr algn="ctr"/>
                      <a:r>
                        <a:rPr sz="750" b="0">
                          <a:solidFill>
                            <a:srgbClr val="1A1A1A"/>
                          </a:solidFill>
                        </a:rPr>
                        <a:t>332.6</a:t>
                      </a:r>
                    </a:p>
                  </a:txBody>
                  <a:tcPr>
                    <a:noFill/>
                  </a:tcPr>
                </a:tc>
                <a:tc>
                  <a:txBody>
                    <a:bodyPr/>
                    <a:lstStyle/>
                    <a:p>
                      <a:pPr algn="ctr"/>
                      <a:r>
                        <a:rPr sz="750" b="0">
                          <a:solidFill>
                            <a:srgbClr val="1A1A1A"/>
                          </a:solidFill>
                        </a:rPr>
                        <a:t>382.5</a:t>
                      </a:r>
                    </a:p>
                  </a:txBody>
                  <a:tcPr>
                    <a:noFill/>
                  </a:tcPr>
                </a:tc>
                <a:tc>
                  <a:txBody>
                    <a:bodyPr/>
                    <a:lstStyle/>
                    <a:p>
                      <a:pPr algn="ctr"/>
                      <a:r>
                        <a:rPr sz="750" b="0">
                          <a:solidFill>
                            <a:srgbClr val="1A1A1A"/>
                          </a:solidFill>
                        </a:rPr>
                        <a:t>&lt; 316.0</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23750">
                <a:tc>
                  <a:txBody>
                    <a:bodyPr/>
                    <a:lstStyle/>
                    <a:p>
                      <a:pPr algn="ctr"/>
                      <a:r>
                        <a:rPr sz="750" b="0">
                          <a:solidFill>
                            <a:srgbClr val="1A1A1A"/>
                          </a:solidFill>
                        </a:rPr>
                        <a:t>TXN</a:t>
                      </a:r>
                    </a:p>
                  </a:txBody>
                  <a:tcPr>
                    <a:solidFill>
                      <a:srgbClr val="F5F7FA"/>
                    </a:solidFill>
                  </a:tcPr>
                </a:tc>
                <a:tc>
                  <a:txBody>
                    <a:bodyPr/>
                    <a:lstStyle/>
                    <a:p>
                      <a:pPr algn="ctr"/>
                      <a:r>
                        <a:rPr sz="750" b="0">
                          <a:solidFill>
                            <a:srgbClr val="1A1A1A"/>
                          </a:solidFill>
                        </a:rPr>
                        <a:t>TXN Corp</a:t>
                      </a:r>
                    </a:p>
                  </a:txBody>
                  <a:tcPr>
                    <a:solidFill>
                      <a:srgbClr val="F5F7FA"/>
                    </a:solidFill>
                  </a:tcPr>
                </a:tc>
                <a:tc>
                  <a:txBody>
                    <a:bodyPr/>
                    <a:lstStyle/>
                    <a:p>
                      <a:pPr algn="ctr"/>
                      <a:r>
                        <a:rPr sz="750" b="0">
                          <a:solidFill>
                            <a:srgbClr val="1A1A1A"/>
                          </a:solidFill>
                        </a:rPr>
                        <a:t>192.2</a:t>
                      </a:r>
                    </a:p>
                  </a:txBody>
                  <a:tcPr>
                    <a:solidFill>
                      <a:srgbClr val="F5F7FA"/>
                    </a:solidFill>
                  </a:tcPr>
                </a:tc>
                <a:tc>
                  <a:txBody>
                    <a:bodyPr/>
                    <a:lstStyle/>
                    <a:p>
                      <a:pPr algn="ctr"/>
                      <a:r>
                        <a:rPr sz="750" b="0">
                          <a:solidFill>
                            <a:srgbClr val="1A1A1A"/>
                          </a:solidFill>
                        </a:rPr>
                        <a:t>221.0</a:t>
                      </a:r>
                    </a:p>
                  </a:txBody>
                  <a:tcPr>
                    <a:solidFill>
                      <a:srgbClr val="F5F7FA"/>
                    </a:solidFill>
                  </a:tcPr>
                </a:tc>
                <a:tc>
                  <a:txBody>
                    <a:bodyPr/>
                    <a:lstStyle/>
                    <a:p>
                      <a:pPr algn="ctr"/>
                      <a:r>
                        <a:rPr sz="750" b="0">
                          <a:solidFill>
                            <a:srgbClr val="1A1A1A"/>
                          </a:solidFill>
                        </a:rPr>
                        <a:t>&lt; 182.6</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23750">
                <a:tc>
                  <a:txBody>
                    <a:bodyPr/>
                    <a:lstStyle/>
                    <a:p>
                      <a:pPr algn="ctr"/>
                      <a:r>
                        <a:rPr sz="750" b="0">
                          <a:solidFill>
                            <a:srgbClr val="1A1A1A"/>
                          </a:solidFill>
                        </a:rPr>
                        <a:t>MU</a:t>
                      </a:r>
                    </a:p>
                  </a:txBody>
                  <a:tcPr>
                    <a:noFill/>
                  </a:tcPr>
                </a:tc>
                <a:tc>
                  <a:txBody>
                    <a:bodyPr/>
                    <a:lstStyle/>
                    <a:p>
                      <a:pPr algn="ctr"/>
                      <a:r>
                        <a:rPr sz="750" b="0">
                          <a:solidFill>
                            <a:srgbClr val="1A1A1A"/>
                          </a:solidFill>
                        </a:rPr>
                        <a:t>MU Corp</a:t>
                      </a:r>
                    </a:p>
                  </a:txBody>
                  <a:tcPr>
                    <a:noFill/>
                  </a:tcPr>
                </a:tc>
                <a:tc>
                  <a:txBody>
                    <a:bodyPr/>
                    <a:lstStyle/>
                    <a:p>
                      <a:pPr algn="ctr"/>
                      <a:r>
                        <a:rPr sz="750" b="0">
                          <a:solidFill>
                            <a:srgbClr val="1A1A1A"/>
                          </a:solidFill>
                        </a:rPr>
                        <a:t>376.6</a:t>
                      </a:r>
                    </a:p>
                  </a:txBody>
                  <a:tcPr>
                    <a:noFill/>
                  </a:tcPr>
                </a:tc>
                <a:tc>
                  <a:txBody>
                    <a:bodyPr/>
                    <a:lstStyle/>
                    <a:p>
                      <a:pPr algn="ctr"/>
                      <a:r>
                        <a:rPr sz="750" b="0">
                          <a:solidFill>
                            <a:srgbClr val="1A1A1A"/>
                          </a:solidFill>
                        </a:rPr>
                        <a:t>433.1</a:t>
                      </a:r>
                    </a:p>
                  </a:txBody>
                  <a:tcPr>
                    <a:noFill/>
                  </a:tcPr>
                </a:tc>
                <a:tc>
                  <a:txBody>
                    <a:bodyPr/>
                    <a:lstStyle/>
                    <a:p>
                      <a:pPr algn="ctr"/>
                      <a:r>
                        <a:rPr sz="750" b="0">
                          <a:solidFill>
                            <a:srgbClr val="1A1A1A"/>
                          </a:solidFill>
                        </a:rPr>
                        <a:t>&lt; 357.8</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23750">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AMD Corp</a:t>
                      </a:r>
                    </a:p>
                  </a:txBody>
                  <a:tcPr>
                    <a:solidFill>
                      <a:srgbClr val="F5F7FA"/>
                    </a:solidFill>
                  </a:tcPr>
                </a:tc>
                <a:tc>
                  <a:txBody>
                    <a:bodyPr/>
                    <a:lstStyle/>
                    <a:p>
                      <a:pPr algn="ctr"/>
                      <a:r>
                        <a:rPr sz="750" b="0">
                          <a:solidFill>
                            <a:srgbClr val="1A1A1A"/>
                          </a:solidFill>
                        </a:rPr>
                        <a:t>288.6</a:t>
                      </a:r>
                    </a:p>
                  </a:txBody>
                  <a:tcPr>
                    <a:solidFill>
                      <a:srgbClr val="F5F7FA"/>
                    </a:solidFill>
                  </a:tcPr>
                </a:tc>
                <a:tc>
                  <a:txBody>
                    <a:bodyPr/>
                    <a:lstStyle/>
                    <a:p>
                      <a:pPr algn="ctr"/>
                      <a:r>
                        <a:rPr sz="750" b="0">
                          <a:solidFill>
                            <a:srgbClr val="1A1A1A"/>
                          </a:solidFill>
                        </a:rPr>
                        <a:t>331.9</a:t>
                      </a:r>
                    </a:p>
                  </a:txBody>
                  <a:tcPr>
                    <a:solidFill>
                      <a:srgbClr val="F5F7FA"/>
                    </a:solidFill>
                  </a:tcPr>
                </a:tc>
                <a:tc>
                  <a:txBody>
                    <a:bodyPr/>
                    <a:lstStyle/>
                    <a:p>
                      <a:pPr algn="ctr"/>
                      <a:r>
                        <a:rPr sz="750" b="0">
                          <a:solidFill>
                            <a:srgbClr val="1A1A1A"/>
                          </a:solidFill>
                        </a:rPr>
                        <a:t>&lt; 274.2</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23750">
                <a:tc>
                  <a:txBody>
                    <a:bodyPr/>
                    <a:lstStyle/>
                    <a:p>
                      <a:pPr algn="ctr"/>
                      <a:r>
                        <a:rPr sz="750" b="0">
                          <a:solidFill>
                            <a:srgbClr val="1A1A1A"/>
                          </a:solidFill>
                        </a:rPr>
                        <a:t>INTC</a:t>
                      </a:r>
                    </a:p>
                  </a:txBody>
                  <a:tcPr>
                    <a:noFill/>
                  </a:tcPr>
                </a:tc>
                <a:tc>
                  <a:txBody>
                    <a:bodyPr/>
                    <a:lstStyle/>
                    <a:p>
                      <a:pPr algn="ctr"/>
                      <a:r>
                        <a:rPr sz="750" b="0">
                          <a:solidFill>
                            <a:srgbClr val="1A1A1A"/>
                          </a:solidFill>
                        </a:rPr>
                        <a:t>INTC Corp</a:t>
                      </a:r>
                    </a:p>
                  </a:txBody>
                  <a:tcPr>
                    <a:noFill/>
                  </a:tcPr>
                </a:tc>
                <a:tc>
                  <a:txBody>
                    <a:bodyPr/>
                    <a:lstStyle/>
                    <a:p>
                      <a:pPr algn="ctr"/>
                      <a:r>
                        <a:rPr sz="750" b="0">
                          <a:solidFill>
                            <a:srgbClr val="1A1A1A"/>
                          </a:solidFill>
                        </a:rPr>
                        <a:t>344.6</a:t>
                      </a:r>
                    </a:p>
                  </a:txBody>
                  <a:tcPr>
                    <a:noFill/>
                  </a:tcPr>
                </a:tc>
                <a:tc>
                  <a:txBody>
                    <a:bodyPr/>
                    <a:lstStyle/>
                    <a:p>
                      <a:pPr algn="ctr"/>
                      <a:r>
                        <a:rPr sz="750" b="0">
                          <a:solidFill>
                            <a:srgbClr val="1A1A1A"/>
                          </a:solidFill>
                        </a:rPr>
                        <a:t>396.3</a:t>
                      </a:r>
                    </a:p>
                  </a:txBody>
                  <a:tcPr>
                    <a:noFill/>
                  </a:tcPr>
                </a:tc>
                <a:tc>
                  <a:txBody>
                    <a:bodyPr/>
                    <a:lstStyle/>
                    <a:p>
                      <a:pPr algn="ctr"/>
                      <a:r>
                        <a:rPr sz="750" b="0">
                          <a:solidFill>
                            <a:srgbClr val="1A1A1A"/>
                          </a:solidFill>
                        </a:rPr>
                        <a:t>&lt; 327.4</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bl>
          </a:graphicData>
        </a:graphic>
      </p:graphicFrame>
      <p:sp>
        <p:nvSpPr>
          <p:cNvPr id="19" name="Rectangle 18"/>
          <p:cNvSpPr/>
          <p:nvPr/>
        </p:nvSpPr>
        <p:spPr>
          <a:xfrm>
            <a:off x="324000" y="3348000"/>
            <a:ext cx="8496000" cy="1260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348000"/>
            <a:ext cx="36000" cy="12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376800"/>
            <a:ext cx="8316000" cy="180000"/>
          </a:xfrm>
          <a:prstGeom prst="rect">
            <a:avLst/>
          </a:prstGeom>
          <a:noFill/>
        </p:spPr>
        <p:txBody>
          <a:bodyPr wrap="square">
            <a:spAutoFit/>
          </a:bodyPr>
          <a:lstStyle/>
          <a:p>
            <a:pPr algn="l"/>
            <a:r>
              <a:rPr sz="800" b="1" i="0">
                <a:solidFill>
                  <a:srgbClr val="B06000"/>
                </a:solidFill>
              </a:rPr>
              <a:t>NOTE METHODOLOGIQUE</a:t>
            </a:r>
          </a:p>
        </p:txBody>
      </p:sp>
      <p:sp>
        <p:nvSpPr>
          <p:cNvPr id="22" name="TextBox 21"/>
          <p:cNvSpPr txBox="1"/>
          <p:nvPr/>
        </p:nvSpPr>
        <p:spPr>
          <a:xfrm>
            <a:off x="468000" y="3564000"/>
            <a:ext cx="8316000" cy="1026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Ralentissement Budgets IT</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Recession européenne confirmee entraînerait une reduction des budgets IT de 12-18 %, pénalisant les prestataires de services.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Durcissement AI Act</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Surcout de mise en conformite estime a 8-12 % du CA pour les editeurs de logiciels IA — impact marges 2027.</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Pression Tarifaire US/Asie</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Acteurs americains et asiatiques agressifs sur les segments logiciels standardises — guerre des prix bas de gamme.</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UE confirmee — contraction PIB &gt; 1,5 %</a:t>
                      </a:r>
                    </a:p>
                  </a:txBody>
                  <a:tcPr>
                    <a:noFill/>
                  </a:tcPr>
                </a:tc>
                <a:tc>
                  <a:txBody>
                    <a:bodyPr/>
                    <a:lstStyle/>
                    <a:p>
                      <a:pPr algn="ctr"/>
                      <a:r>
                        <a:rPr sz="800" b="0">
                          <a:solidFill>
                            <a:srgbClr val="1A1A1A"/>
                          </a:solidFill>
                        </a:rPr>
                        <a:t>6-12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Reduction budgets IT &gt; 15 % grands comptes</a:t>
                      </a:r>
                    </a:p>
                  </a:txBody>
                  <a:tcPr>
                    <a:solidFill>
                      <a:srgbClr val="F5F7FA"/>
                    </a:solidFill>
                  </a:tcPr>
                </a:tc>
                <a:tc>
                  <a:txBody>
                    <a:bodyPr/>
                    <a:lstStyle/>
                    <a:p>
                      <a:pPr algn="ctr"/>
                      <a:r>
                        <a:rPr sz="800" b="0">
                          <a:solidFill>
                            <a:srgbClr val="1A1A1A"/>
                          </a:solidFill>
                        </a:rPr>
                        <a:t>12-18 mois</a:t>
                      </a:r>
                    </a:p>
                  </a:txBody>
                  <a:tcPr>
                    <a:solidFill>
                      <a:srgbClr val="F5F7FA"/>
                    </a:solidFill>
                  </a:tcPr>
                </a:tc>
              </a:tr>
              <a:tr h="223200">
                <a:tc>
                  <a:txBody>
                    <a:bodyPr/>
                    <a:lstStyle/>
                    <a:p>
                      <a:pPr algn="ctr"/>
                      <a:r>
                        <a:rPr sz="800" b="0">
                          <a:solidFill>
                            <a:srgbClr val="1A1A1A"/>
                          </a:solidFill>
                        </a:rPr>
                        <a:t>Réglementaire</a:t>
                      </a:r>
                    </a:p>
                  </a:txBody>
                  <a:tcPr>
                    <a:noFill/>
                  </a:tcPr>
                </a:tc>
                <a:tc>
                  <a:txBody>
                    <a:bodyPr/>
                    <a:lstStyle/>
                    <a:p>
                      <a:pPr algn="ctr"/>
                      <a:r>
                        <a:rPr sz="800" b="0">
                          <a:solidFill>
                            <a:srgbClr val="1A1A1A"/>
                          </a:solidFill>
                        </a:rPr>
                        <a:t>AI Act surcoût conformite &gt; 15 % CA</a:t>
                      </a:r>
                    </a:p>
                  </a:txBody>
                  <a:tcPr>
                    <a:noFill/>
                  </a:tcPr>
                </a:tc>
                <a:tc>
                  <a:txBody>
                    <a:bodyPr/>
                    <a:lstStyle/>
                    <a:p>
                      <a:pPr algn="ctr"/>
                      <a:r>
                        <a:rPr sz="800" b="0">
                          <a:solidFill>
                            <a:srgbClr val="1A1A1A"/>
                          </a:solidFill>
                        </a:rPr>
                        <a:t>18-24 mois</a:t>
                      </a:r>
                    </a:p>
                  </a:txBody>
                  <a:tcPr>
                    <a:noFill/>
                  </a:tcPr>
                </a:tc>
              </a:tr>
              <a:tr h="223200">
                <a:tc>
                  <a:txBody>
                    <a:bodyPr/>
                    <a:lstStyle/>
                    <a:p>
                      <a:pPr algn="ctr"/>
                      <a:r>
                        <a:rPr sz="800" b="0">
                          <a:solidFill>
                            <a:srgbClr val="1A1A1A"/>
                          </a:solidFill>
                        </a:rPr>
                        <a:t>Fondamental</a:t>
                      </a:r>
                    </a:p>
                  </a:txBody>
                  <a:tcPr>
                    <a:solidFill>
                      <a:srgbClr val="F5F7FA"/>
                    </a:solidFill>
                  </a:tcPr>
                </a:tc>
                <a:tc>
                  <a:txBody>
                    <a:bodyPr/>
                    <a:lstStyle/>
                    <a:p>
                      <a:pPr algn="ctr"/>
                      <a:r>
                        <a:rPr sz="800" b="0">
                          <a:solidFill>
                            <a:srgbClr val="1A1A1A"/>
                          </a:solidFill>
                        </a:rPr>
                        <a:t>Revision baissiere EPS &gt; 20 % sur 2 trimestres</a:t>
                      </a:r>
                    </a:p>
                  </a:txBody>
                  <a:tcPr>
                    <a:solidFill>
                      <a:srgbClr val="F5F7FA"/>
                    </a:solidFill>
                  </a:tcPr>
                </a:tc>
                <a:tc>
                  <a:txBody>
                    <a:bodyPr/>
                    <a:lstStyle/>
                    <a:p>
                      <a:pPr algn="ctr"/>
                      <a:r>
                        <a:rPr sz="800" b="0">
                          <a:solidFill>
                            <a:srgbClr val="1A1A1A"/>
                          </a:solidFill>
                        </a:rPr>
                        <a:t>6-9 mois</a:t>
                      </a:r>
                    </a:p>
                  </a:txBody>
                  <a:tcPr>
                    <a:solidFill>
                      <a:srgbClr val="F5F7FA"/>
                    </a:solidFill>
                  </a:tcPr>
                </a:tc>
              </a:tr>
            </a:tbl>
          </a:graphicData>
        </a:graphic>
      </p:graphicFrame>
      <p:sp>
        <p:nvSpPr>
          <p:cNvPr id="29" name="TextBox 28"/>
          <p:cNvSpPr txBox="1"/>
          <p:nvPr/>
        </p:nvSpPr>
        <p:spPr>
          <a:xfrm>
            <a:off x="324000" y="3780000"/>
            <a:ext cx="8496000" cy="198000"/>
          </a:xfrm>
          <a:prstGeom prst="rect">
            <a:avLst/>
          </a:prstGeom>
          <a:noFill/>
        </p:spPr>
        <p:txBody>
          <a:bodyPr wrap="square">
            <a:spAutoFit/>
          </a:bodyPr>
          <a:lstStyle/>
          <a:p>
            <a:pPr algn="l"/>
            <a:r>
              <a:rPr sz="850" b="1" i="0">
                <a:solidFill>
                  <a:srgbClr val="1B3A6B"/>
                </a:solidFill>
              </a:rPr>
              <a:t>Sante financiere agregee du secteur</a:t>
            </a:r>
          </a:p>
        </p:txBody>
      </p:sp>
      <p:sp>
        <p:nvSpPr>
          <p:cNvPr id="30" name="Rectangle 29"/>
          <p:cNvSpPr/>
          <p:nvPr/>
        </p:nvSpPr>
        <p:spPr>
          <a:xfrm>
            <a:off x="324000" y="3996000"/>
            <a:ext cx="2664000" cy="5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3996000"/>
            <a:ext cx="36000" cy="55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4014000"/>
            <a:ext cx="2538000" cy="270000"/>
          </a:xfrm>
          <a:prstGeom prst="rect">
            <a:avLst/>
          </a:prstGeom>
          <a:noFill/>
        </p:spPr>
        <p:txBody>
          <a:bodyPr wrap="square">
            <a:spAutoFit/>
          </a:bodyPr>
          <a:lstStyle/>
          <a:p>
            <a:pPr algn="l"/>
            <a:r>
              <a:rPr sz="1800" b="1" i="0">
                <a:solidFill>
                  <a:srgbClr val="1B3A6B"/>
                </a:solidFill>
              </a:rPr>
              <a:t>1.2x</a:t>
            </a:r>
          </a:p>
        </p:txBody>
      </p:sp>
      <p:sp>
        <p:nvSpPr>
          <p:cNvPr id="33" name="TextBox 32"/>
          <p:cNvSpPr txBox="1"/>
          <p:nvPr/>
        </p:nvSpPr>
        <p:spPr>
          <a:xfrm>
            <a:off x="413999" y="4284000"/>
            <a:ext cx="2538000" cy="144000"/>
          </a:xfrm>
          <a:prstGeom prst="rect">
            <a:avLst/>
          </a:prstGeom>
          <a:noFill/>
        </p:spPr>
        <p:txBody>
          <a:bodyPr wrap="square">
            <a:spAutoFit/>
          </a:bodyPr>
          <a:lstStyle/>
          <a:p>
            <a:pPr algn="l"/>
            <a:r>
              <a:rPr sz="750" b="0" i="0">
                <a:solidFill>
                  <a:srgbClr val="555555"/>
                </a:solidFill>
              </a:rPr>
              <a:t>ND/EBITDA median</a:t>
            </a:r>
          </a:p>
        </p:txBody>
      </p:sp>
      <p:sp>
        <p:nvSpPr>
          <p:cNvPr id="34" name="TextBox 33"/>
          <p:cNvSpPr txBox="1"/>
          <p:nvPr/>
        </p:nvSpPr>
        <p:spPr>
          <a:xfrm>
            <a:off x="413999" y="4428000"/>
            <a:ext cx="2538000" cy="125999"/>
          </a:xfrm>
          <a:prstGeom prst="rect">
            <a:avLst/>
          </a:prstGeom>
          <a:noFill/>
        </p:spPr>
        <p:txBody>
          <a:bodyPr wrap="square">
            <a:spAutoFit/>
          </a:bodyPr>
          <a:lstStyle/>
          <a:p>
            <a:pPr algn="l"/>
            <a:r>
              <a:rPr sz="700" b="0" i="0">
                <a:solidFill>
                  <a:srgbClr val="AAAAAA"/>
                </a:solidFill>
              </a:rPr>
              <a:t>levier sectoriel</a:t>
            </a:r>
          </a:p>
        </p:txBody>
      </p:sp>
      <p:sp>
        <p:nvSpPr>
          <p:cNvPr id="35" name="Rectangle 34"/>
          <p:cNvSpPr/>
          <p:nvPr/>
        </p:nvSpPr>
        <p:spPr>
          <a:xfrm>
            <a:off x="3276000" y="3996000"/>
            <a:ext cx="2664000" cy="5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76000" y="3996000"/>
            <a:ext cx="36000" cy="558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6000" y="4014000"/>
            <a:ext cx="2538000" cy="270000"/>
          </a:xfrm>
          <a:prstGeom prst="rect">
            <a:avLst/>
          </a:prstGeom>
          <a:noFill/>
        </p:spPr>
        <p:txBody>
          <a:bodyPr wrap="square">
            <a:spAutoFit/>
          </a:bodyPr>
          <a:lstStyle/>
          <a:p>
            <a:pPr algn="l"/>
            <a:r>
              <a:rPr sz="1800" b="1" i="0">
                <a:solidFill>
                  <a:srgbClr val="1B3A6B"/>
                </a:solidFill>
              </a:rPr>
              <a:t>N/D</a:t>
            </a:r>
          </a:p>
        </p:txBody>
      </p:sp>
      <p:sp>
        <p:nvSpPr>
          <p:cNvPr id="38" name="TextBox 37"/>
          <p:cNvSpPr txBox="1"/>
          <p:nvPr/>
        </p:nvSpPr>
        <p:spPr>
          <a:xfrm>
            <a:off x="3366000" y="4284000"/>
            <a:ext cx="2538000" cy="144000"/>
          </a:xfrm>
          <a:prstGeom prst="rect">
            <a:avLst/>
          </a:prstGeom>
          <a:noFill/>
        </p:spPr>
        <p:txBody>
          <a:bodyPr wrap="square">
            <a:spAutoFit/>
          </a:bodyPr>
          <a:lstStyle/>
          <a:p>
            <a:pPr algn="l"/>
            <a:r>
              <a:rPr sz="750" b="0" i="0">
                <a:solidFill>
                  <a:srgbClr val="555555"/>
                </a:solidFill>
              </a:rPr>
              <a:t>FCF Yield median</a:t>
            </a:r>
          </a:p>
        </p:txBody>
      </p:sp>
      <p:sp>
        <p:nvSpPr>
          <p:cNvPr id="39" name="TextBox 38"/>
          <p:cNvSpPr txBox="1"/>
          <p:nvPr/>
        </p:nvSpPr>
        <p:spPr>
          <a:xfrm>
            <a:off x="3366000" y="4428000"/>
            <a:ext cx="2538000" cy="125999"/>
          </a:xfrm>
          <a:prstGeom prst="rect">
            <a:avLst/>
          </a:prstGeom>
          <a:noFill/>
        </p:spPr>
        <p:txBody>
          <a:bodyPr wrap="square">
            <a:spAutoFit/>
          </a:bodyPr>
          <a:lstStyle/>
          <a:p>
            <a:pPr algn="l"/>
            <a:r>
              <a:rPr sz="700" b="0" i="0">
                <a:solidFill>
                  <a:srgbClr val="AAAAAA"/>
                </a:solidFill>
              </a:rPr>
              <a:t>generation cash</a:t>
            </a:r>
          </a:p>
        </p:txBody>
      </p:sp>
      <p:sp>
        <p:nvSpPr>
          <p:cNvPr id="40" name="Rectangle 39"/>
          <p:cNvSpPr/>
          <p:nvPr/>
        </p:nvSpPr>
        <p:spPr>
          <a:xfrm>
            <a:off x="6228000" y="3996000"/>
            <a:ext cx="2664000" cy="5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8000" y="3996000"/>
            <a:ext cx="36000" cy="558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8000" y="4014000"/>
            <a:ext cx="2538000" cy="270000"/>
          </a:xfrm>
          <a:prstGeom prst="rect">
            <a:avLst/>
          </a:prstGeom>
          <a:noFill/>
        </p:spPr>
        <p:txBody>
          <a:bodyPr wrap="square">
            <a:spAutoFit/>
          </a:bodyPr>
          <a:lstStyle/>
          <a:p>
            <a:pPr algn="l"/>
            <a:r>
              <a:rPr sz="1800" b="1" i="0">
                <a:solidFill>
                  <a:srgbClr val="1B3A6B"/>
                </a:solidFill>
              </a:rPr>
              <a:t>62/100</a:t>
            </a:r>
          </a:p>
        </p:txBody>
      </p:sp>
      <p:sp>
        <p:nvSpPr>
          <p:cNvPr id="43" name="TextBox 42"/>
          <p:cNvSpPr txBox="1"/>
          <p:nvPr/>
        </p:nvSpPr>
        <p:spPr>
          <a:xfrm>
            <a:off x="6318000" y="4284000"/>
            <a:ext cx="2538000" cy="144000"/>
          </a:xfrm>
          <a:prstGeom prst="rect">
            <a:avLst/>
          </a:prstGeom>
          <a:noFill/>
        </p:spPr>
        <p:txBody>
          <a:bodyPr wrap="square">
            <a:spAutoFit/>
          </a:bodyPr>
          <a:lstStyle/>
          <a:p>
            <a:pPr algn="l"/>
            <a:r>
              <a:rPr sz="750" b="0" i="0">
                <a:solidFill>
                  <a:srgbClr val="555555"/>
                </a:solidFill>
              </a:rPr>
              <a:t>Score sante moyen</a:t>
            </a:r>
          </a:p>
        </p:txBody>
      </p:sp>
      <p:sp>
        <p:nvSpPr>
          <p:cNvPr id="44" name="TextBox 43"/>
          <p:cNvSpPr txBox="1"/>
          <p:nvPr/>
        </p:nvSpPr>
        <p:spPr>
          <a:xfrm>
            <a:off x="6318000" y="4428000"/>
            <a:ext cx="2538000" cy="125999"/>
          </a:xfrm>
          <a:prstGeom prst="rect">
            <a:avLst/>
          </a:prstGeom>
          <a:noFill/>
        </p:spPr>
        <p:txBody>
          <a:bodyPr wrap="square">
            <a:spAutoFit/>
          </a:bodyPr>
          <a:lstStyle/>
          <a:p>
            <a:pPr algn="l"/>
            <a:r>
              <a:rPr sz="700" b="0" i="0">
                <a:solidFill>
                  <a:srgbClr val="AAAAAA"/>
                </a:solidFill>
              </a:rPr>
              <a:t>solidite bilans</a:t>
            </a:r>
          </a:p>
        </p:txBody>
      </p:sp>
      <p:sp>
        <p:nvSpPr>
          <p:cNvPr id="45" name="Rectangle 4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30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0.22</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 positif modéré</a:t>
            </a:r>
          </a:p>
        </p:txBody>
      </p:sp>
      <p:sp>
        <p:nvSpPr>
          <p:cNvPr id="20" name="Rectangle 19"/>
          <p:cNvSpPr/>
          <p:nvPr/>
        </p:nvSpPr>
        <p:spPr>
          <a:xfrm>
            <a:off x="2412000" y="900000"/>
            <a:ext cx="108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9 articles (30 %)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15 articles (50 %)</a:t>
            </a:r>
          </a:p>
        </p:txBody>
      </p:sp>
      <p:sp>
        <p:nvSpPr>
          <p:cNvPr id="26" name="Rectangle 25"/>
          <p:cNvSpPr/>
          <p:nvPr/>
        </p:nvSpPr>
        <p:spPr>
          <a:xfrm>
            <a:off x="2412000" y="1548000"/>
            <a:ext cx="72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6 articles (20 %)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Adoption IA Generative — Acceleration des mandats IA dans les grands comptes europeens — contrats pluriannuels en hausse de 38 % sur T1 2026.</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Ralentissement Budgets IT — Recession européenne confirmee entraînerait une reduction des budgets IT de 12-18 %, pénalisant les prestataires de services.</a:t>
            </a:r>
          </a:p>
        </p:txBody>
      </p:sp>
      <p:sp>
        <p:nvSpPr>
          <p:cNvPr id="36" name="Rectangle 35"/>
          <p:cNvSpPr/>
          <p:nvPr/>
        </p:nvSpPr>
        <p:spPr>
          <a:xfrm>
            <a:off x="324000" y="2664000"/>
            <a:ext cx="8496000" cy="115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827999"/>
          </a:xfrm>
          <a:prstGeom prst="rect">
            <a:avLst/>
          </a:prstGeom>
          <a:noFill/>
        </p:spPr>
        <p:txBody>
          <a:bodyPr wrap="square">
            <a:spAutoFit/>
          </a:bodyPr>
          <a:lstStyle/>
          <a:p>
            <a:pPr algn="l"/>
            <a:r>
              <a:rPr sz="850" b="0" i="0">
                <a:solidFill>
                  <a:srgbClr val="555555"/>
                </a:solidFill>
              </a:rPr>
              <a:t>Le sentiment agrégé sur le secteur Technology S&amp;P 500 ressort légèrement positif (0.22). La dispersion est forte — les leaders sectoriels tirent le sentiment vers le haut tandis que les valeurs en restructuration drainent la composante negative. Cette hétérogénéité valide une approche selective plut que directionelle sur le secteur.</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SNOW  +0%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MRVL  -0%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1 pts — 12 valeur(s) positives vs 18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INTERPRETATION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creation de valeur tandis que d'autres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