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794232"/>
          </a:xfrm>
          <a:prstGeom prst="rect">
            <a:avLst/>
          </a:prstGeom>
          <a:noFill/>
        </p:spPr>
        <p:txBody>
          <a:bodyPr wrap="square">
            <a:spAutoFit/>
          </a:bodyPr>
          <a:lstStyle/>
          <a:p>
            <a:pPr algn="ctr"/>
            <a:r>
              <a:rPr sz="4000" b="1" i="0">
                <a:solidFill>
                  <a:srgbClr val="1B3A6B"/>
                </a:solidFill>
                <a:latin typeface="Calibri"/>
              </a:rPr>
              <a:t>SAP SE</a:t>
            </a:r>
          </a:p>
        </p:txBody>
      </p:sp>
      <p:sp>
        <p:nvSpPr>
          <p:cNvPr id="7" name="TextBox 6"/>
          <p:cNvSpPr txBox="1"/>
          <p:nvPr/>
        </p:nvSpPr>
        <p:spPr>
          <a:xfrm>
            <a:off x="457200" y="2345832"/>
            <a:ext cx="8229600" cy="255600"/>
          </a:xfrm>
          <a:prstGeom prst="rect">
            <a:avLst/>
          </a:prstGeom>
          <a:noFill/>
        </p:spPr>
        <p:txBody>
          <a:bodyPr wrap="square">
            <a:spAutoFit/>
          </a:bodyPr>
          <a:lstStyle/>
          <a:p>
            <a:pPr algn="ctr"/>
            <a:r>
              <a:rPr sz="1100" b="0" i="0">
                <a:solidFill>
                  <a:srgbClr val="888888"/>
                </a:solidFill>
                <a:latin typeface="Calibri"/>
              </a:rPr>
              <a:t>SAP.DE  ·  Frankfurt  ·  Technology</a:t>
            </a:r>
          </a:p>
        </p:txBody>
      </p:sp>
      <p:sp>
        <p:nvSpPr>
          <p:cNvPr id="8" name="Rectangle 7"/>
          <p:cNvSpPr/>
          <p:nvPr/>
        </p:nvSpPr>
        <p:spPr>
          <a:xfrm>
            <a:off x="457200" y="2720232"/>
            <a:ext cx="8229600" cy="475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720232"/>
            <a:ext cx="46800" cy="475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738232"/>
            <a:ext cx="8063999" cy="439200"/>
          </a:xfrm>
          <a:prstGeom prst="rect">
            <a:avLst/>
          </a:prstGeom>
          <a:noFill/>
        </p:spPr>
        <p:txBody>
          <a:bodyPr wrap="square">
            <a:spAutoFit/>
          </a:bodyPr>
          <a:lstStyle/>
          <a:p>
            <a:pPr algn="ctr"/>
            <a:r>
              <a:rPr sz="900" b="1" i="0">
                <a:solidFill>
                  <a:srgbClr val="1A7A4A"/>
                </a:solidFill>
                <a:latin typeface="Calibri"/>
              </a:rPr>
              <a:t>● BUY  ·  Prix cible base : 165 EUR  ·  Upside : +14,1 %</a:t>
            </a:r>
          </a:p>
        </p:txBody>
      </p:sp>
      <p:sp>
        <p:nvSpPr>
          <p:cNvPr id="11" name="Rectangle 10"/>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3" name="TextBox 12"/>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27 mars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1A7A4A"/>
                </a:solidFill>
                <a:latin typeface="Calibri"/>
              </a:rPr>
              <a:t>● BUY</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165 EUR  ·  Upside : +14,1 %  ·  Bear : 125 EUR (-13,6 %)  ·  Bull : 185 EUR (+27,9 %)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Leader ERP mondial</a:t>
            </a:r>
          </a:p>
        </p:txBody>
      </p:sp>
      <p:sp>
        <p:nvSpPr>
          <p:cNvPr id="14" name="TextBox 13"/>
          <p:cNvSpPr txBox="1"/>
          <p:nvPr/>
        </p:nvSpPr>
        <p:spPr>
          <a:xfrm>
            <a:off x="503999" y="1814400"/>
            <a:ext cx="3931200" cy="327600"/>
          </a:xfrm>
          <a:prstGeom prst="rect">
            <a:avLst/>
          </a:prstGeom>
          <a:noFill/>
        </p:spPr>
        <p:txBody>
          <a:bodyPr wrap="square">
            <a:spAutoFit/>
          </a:bodyPr>
          <a:lstStyle/>
          <a:p>
            <a:pPr algn="l"/>
            <a:r>
              <a:rPr sz="750" b="0" i="0">
                <a:solidFill>
                  <a:srgbClr val="333333"/>
                </a:solidFill>
                <a:latin typeface="Calibri"/>
              </a:rPr>
              <a:t>Croissance du cloud à 15% CAGR d'ici 2027 avec RISE with SAP boosté par l'IA générative</a:t>
            </a:r>
          </a:p>
        </p:txBody>
      </p:sp>
      <p:sp>
        <p:nvSpPr>
          <p:cNvPr id="15" name="Rectangle 14"/>
          <p:cNvSpPr/>
          <p:nvPr/>
        </p:nvSpPr>
        <p:spPr>
          <a:xfrm>
            <a:off x="367200" y="2196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78000"/>
            <a:ext cx="3931200" cy="183600"/>
          </a:xfrm>
          <a:prstGeom prst="rect">
            <a:avLst/>
          </a:prstGeom>
          <a:noFill/>
        </p:spPr>
        <p:txBody>
          <a:bodyPr wrap="square">
            <a:spAutoFit/>
          </a:bodyPr>
          <a:lstStyle/>
          <a:p>
            <a:pPr algn="l"/>
            <a:r>
              <a:rPr sz="850" b="1" i="0">
                <a:solidFill>
                  <a:srgbClr val="1B3A6B"/>
                </a:solidFill>
                <a:latin typeface="Calibri"/>
              </a:rPr>
              <a:t>Marges élevées</a:t>
            </a:r>
          </a:p>
        </p:txBody>
      </p:sp>
      <p:sp>
        <p:nvSpPr>
          <p:cNvPr id="17" name="TextBox 16"/>
          <p:cNvSpPr txBox="1"/>
          <p:nvPr/>
        </p:nvSpPr>
        <p:spPr>
          <a:xfrm>
            <a:off x="503999" y="2347200"/>
            <a:ext cx="3931200" cy="327600"/>
          </a:xfrm>
          <a:prstGeom prst="rect">
            <a:avLst/>
          </a:prstGeom>
          <a:noFill/>
        </p:spPr>
        <p:txBody>
          <a:bodyPr wrap="square">
            <a:spAutoFit/>
          </a:bodyPr>
          <a:lstStyle/>
          <a:p>
            <a:pPr algn="l"/>
            <a:r>
              <a:rPr sz="750" b="0" i="0">
                <a:solidFill>
                  <a:srgbClr val="333333"/>
                </a:solidFill>
                <a:latin typeface="Calibri"/>
              </a:rPr>
              <a:t>Marge EBITDA en hausse à 34% en 2027 grâce au mix cloud et automatisation</a:t>
            </a:r>
          </a:p>
        </p:txBody>
      </p:sp>
      <p:sp>
        <p:nvSpPr>
          <p:cNvPr id="18" name="Rectangle 17"/>
          <p:cNvSpPr/>
          <p:nvPr/>
        </p:nvSpPr>
        <p:spPr>
          <a:xfrm>
            <a:off x="367200" y="2728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10800"/>
            <a:ext cx="3931200" cy="183600"/>
          </a:xfrm>
          <a:prstGeom prst="rect">
            <a:avLst/>
          </a:prstGeom>
          <a:noFill/>
        </p:spPr>
        <p:txBody>
          <a:bodyPr wrap="square">
            <a:spAutoFit/>
          </a:bodyPr>
          <a:lstStyle/>
          <a:p>
            <a:pPr algn="l"/>
            <a:r>
              <a:rPr sz="850" b="1" i="0">
                <a:solidFill>
                  <a:srgbClr val="1B3A6B"/>
                </a:solidFill>
                <a:latin typeface="Calibri"/>
              </a:rPr>
              <a:t>Cash-flow solide</a:t>
            </a:r>
          </a:p>
        </p:txBody>
      </p:sp>
      <p:sp>
        <p:nvSpPr>
          <p:cNvPr id="20" name="TextBox 19"/>
          <p:cNvSpPr txBox="1"/>
          <p:nvPr/>
        </p:nvSpPr>
        <p:spPr>
          <a:xfrm>
            <a:off x="503999" y="2880000"/>
            <a:ext cx="3931200" cy="327600"/>
          </a:xfrm>
          <a:prstGeom prst="rect">
            <a:avLst/>
          </a:prstGeom>
          <a:noFill/>
        </p:spPr>
        <p:txBody>
          <a:bodyPr wrap="square">
            <a:spAutoFit/>
          </a:bodyPr>
          <a:lstStyle/>
          <a:p>
            <a:pPr algn="l"/>
            <a:r>
              <a:rPr sz="750" b="0" i="0">
                <a:solidFill>
                  <a:srgbClr val="333333"/>
                </a:solidFill>
                <a:latin typeface="Calibri"/>
              </a:rPr>
              <a:t>Accélération des revenus récurrents à 85% du CA total d'ici 2026</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Dépendance au cloud</a:t>
            </a:r>
          </a:p>
        </p:txBody>
      </p:sp>
      <p:sp>
        <p:nvSpPr>
          <p:cNvPr id="25" name="TextBox 24"/>
          <p:cNvSpPr txBox="1"/>
          <p:nvPr/>
        </p:nvSpPr>
        <p:spPr>
          <a:xfrm>
            <a:off x="4845600" y="1814400"/>
            <a:ext cx="3794399" cy="327600"/>
          </a:xfrm>
          <a:prstGeom prst="rect">
            <a:avLst/>
          </a:prstGeom>
          <a:noFill/>
        </p:spPr>
        <p:txBody>
          <a:bodyPr wrap="square">
            <a:spAutoFit/>
          </a:bodyPr>
          <a:lstStyle/>
          <a:p>
            <a:pPr algn="l"/>
            <a:r>
              <a:rPr sz="750" b="0" i="0">
                <a:solidFill>
                  <a:srgbClr val="333333"/>
                </a:solidFill>
                <a:latin typeface="Calibri"/>
              </a:rPr>
              <a:t>Concurrence accrue de Microsoft Dynamics 365 avec des prix agressifs | Risque de ralentissement économique en Europe réduisant les budgets IT | Cyberattaques ciblant les infrastructures cloud SAP</a:t>
            </a:r>
          </a:p>
        </p:txBody>
      </p:sp>
      <p:sp>
        <p:nvSpPr>
          <p:cNvPr id="26" name="Rectangle 25"/>
          <p:cNvSpPr/>
          <p:nvPr/>
        </p:nvSpPr>
        <p:spPr>
          <a:xfrm>
            <a:off x="4708800" y="2196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78000"/>
            <a:ext cx="3794399" cy="183600"/>
          </a:xfrm>
          <a:prstGeom prst="rect">
            <a:avLst/>
          </a:prstGeom>
          <a:noFill/>
        </p:spPr>
        <p:txBody>
          <a:bodyPr wrap="square">
            <a:spAutoFit/>
          </a:bodyPr>
          <a:lstStyle/>
          <a:p>
            <a:pPr algn="l"/>
            <a:r>
              <a:rPr sz="850" b="1" i="0">
                <a:solidFill>
                  <a:srgbClr val="1B3A6B"/>
                </a:solidFill>
                <a:latin typeface="Calibri"/>
              </a:rPr>
              <a:t>Concurrence IA</a:t>
            </a:r>
          </a:p>
        </p:txBody>
      </p:sp>
      <p:sp>
        <p:nvSpPr>
          <p:cNvPr id="28" name="TextBox 27"/>
          <p:cNvSpPr txBox="1"/>
          <p:nvPr/>
        </p:nvSpPr>
        <p:spPr>
          <a:xfrm>
            <a:off x="4845600" y="2347200"/>
            <a:ext cx="3794399" cy="327600"/>
          </a:xfrm>
          <a:prstGeom prst="rect">
            <a:avLst/>
          </a:prstGeom>
          <a:noFill/>
        </p:spPr>
        <p:txBody>
          <a:bodyPr wrap="square">
            <a:spAutoFit/>
          </a:bodyPr>
          <a:lstStyle/>
          <a:p>
            <a:pPr algn="l"/>
            <a:r>
              <a:rPr sz="750" b="0" i="0">
                <a:solidFill>
                  <a:srgbClr val="333333"/>
                </a:solidFill>
                <a:latin typeface="Calibri"/>
              </a:rPr>
              <a:t>SAP surévalue son avantage concurrentiel face à Oracle et Workday, dont les solutions cloud affichent des marges brutes de 85% et 78% respectivement, avec des coûts d'acquisition client 40%…</a:t>
            </a:r>
          </a:p>
        </p:txBody>
      </p:sp>
      <p:sp>
        <p:nvSpPr>
          <p:cNvPr id="29" name="Rectangle 28"/>
          <p:cNvSpPr/>
          <p:nvPr/>
        </p:nvSpPr>
        <p:spPr>
          <a:xfrm>
            <a:off x="4708800" y="2728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10800"/>
            <a:ext cx="3794399" cy="183600"/>
          </a:xfrm>
          <a:prstGeom prst="rect">
            <a:avLst/>
          </a:prstGeom>
          <a:noFill/>
        </p:spPr>
        <p:txBody>
          <a:bodyPr wrap="square">
            <a:spAutoFit/>
          </a:bodyPr>
          <a:lstStyle/>
          <a:p>
            <a:pPr algn="l"/>
            <a:r>
              <a:rPr sz="850" b="1" i="0">
                <a:solidFill>
                  <a:srgbClr val="1B3A6B"/>
                </a:solidFill>
                <a:latin typeface="Calibri"/>
              </a:rPr>
              <a:t>Cybersécurité</a:t>
            </a:r>
          </a:p>
        </p:txBody>
      </p:sp>
      <p:sp>
        <p:nvSpPr>
          <p:cNvPr id="31" name="TextBox 30"/>
          <p:cNvSpPr txBox="1"/>
          <p:nvPr/>
        </p:nvSpPr>
        <p:spPr>
          <a:xfrm>
            <a:off x="4845600" y="2880000"/>
            <a:ext cx="3794399" cy="327600"/>
          </a:xfrm>
          <a:prstGeom prst="rect">
            <a:avLst/>
          </a:prstGeom>
          <a:noFill/>
        </p:spPr>
        <p:txBody>
          <a:bodyPr wrap="square">
            <a:spAutoFit/>
          </a:bodyPr>
          <a:lstStyle/>
          <a:p>
            <a:pPr algn="l"/>
            <a:r>
              <a:rPr sz="750" b="0" i="0">
                <a:solidFill>
                  <a:srgbClr val="333333"/>
                </a:solidFill>
                <a:latin typeface="Calibri"/>
              </a:rPr>
              <a:t>Le ratio NetDebt/EBITDA de -0.20x masque une dette nette réelle de 5.8 milliards d'euros en 2024, en hausse de 1.2 milliard depuis 2022, financée par des émissions obligataires à des taux supérieurs…</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430800"/>
            <a:ext cx="1893600" cy="396000"/>
          </a:xfrm>
          <a:prstGeom prst="rect">
            <a:avLst/>
          </a:prstGeom>
          <a:noFill/>
        </p:spPr>
        <p:txBody>
          <a:bodyPr wrap="square">
            <a:spAutoFit/>
          </a:bodyPr>
          <a:lstStyle/>
          <a:p>
            <a:pPr algn="l"/>
            <a:r>
              <a:rPr sz="1900" b="1" i="0">
                <a:solidFill>
                  <a:srgbClr val="1B3A6B"/>
                </a:solidFill>
                <a:latin typeface="Calibri"/>
              </a:rPr>
              <a:t>13,8x</a:t>
            </a:r>
          </a:p>
        </p:txBody>
      </p:sp>
      <p:sp>
        <p:nvSpPr>
          <p:cNvPr id="37" name="TextBox 36"/>
          <p:cNvSpPr txBox="1"/>
          <p:nvPr/>
        </p:nvSpPr>
        <p:spPr>
          <a:xfrm>
            <a:off x="457200" y="38268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38" name="TextBox 37"/>
          <p:cNvSpPr txBox="1"/>
          <p:nvPr/>
        </p:nvSpPr>
        <p:spPr>
          <a:xfrm>
            <a:off x="457200" y="4024800"/>
            <a:ext cx="1893600" cy="165600"/>
          </a:xfrm>
          <a:prstGeom prst="rect">
            <a:avLst/>
          </a:prstGeom>
          <a:noFill/>
        </p:spPr>
        <p:txBody>
          <a:bodyPr wrap="square">
            <a:spAutoFit/>
          </a:bodyPr>
          <a:lstStyle/>
          <a:p>
            <a:pPr algn="l"/>
            <a:r>
              <a:rPr sz="700" b="0" i="0">
                <a:solidFill>
                  <a:srgbClr val="888888"/>
                </a:solidFill>
                <a:latin typeface="Calibri"/>
              </a:rPr>
              <a:t>vs 22,0x médiane peers</a:t>
            </a:r>
          </a:p>
        </p:txBody>
      </p:sp>
      <p:sp>
        <p:nvSpPr>
          <p:cNvPr id="39" name="Rectangle 38"/>
          <p:cNvSpPr/>
          <p:nvPr/>
        </p:nvSpPr>
        <p:spPr>
          <a:xfrm>
            <a:off x="24876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4876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77600" y="3430800"/>
            <a:ext cx="1893600" cy="396000"/>
          </a:xfrm>
          <a:prstGeom prst="rect">
            <a:avLst/>
          </a:prstGeom>
          <a:noFill/>
        </p:spPr>
        <p:txBody>
          <a:bodyPr wrap="square">
            <a:spAutoFit/>
          </a:bodyPr>
          <a:lstStyle/>
          <a:p>
            <a:pPr algn="l"/>
            <a:r>
              <a:rPr sz="1900" b="1" i="0">
                <a:solidFill>
                  <a:srgbClr val="1B3A6B"/>
                </a:solidFill>
                <a:latin typeface="Calibri"/>
              </a:rPr>
              <a:t>8,2 %</a:t>
            </a:r>
          </a:p>
        </p:txBody>
      </p:sp>
      <p:sp>
        <p:nvSpPr>
          <p:cNvPr id="42" name="TextBox 41"/>
          <p:cNvSpPr txBox="1"/>
          <p:nvPr/>
        </p:nvSpPr>
        <p:spPr>
          <a:xfrm>
            <a:off x="2577600" y="38268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43" name="TextBox 42"/>
          <p:cNvSpPr txBox="1"/>
          <p:nvPr/>
        </p:nvSpPr>
        <p:spPr>
          <a:xfrm>
            <a:off x="2577600" y="4024800"/>
            <a:ext cx="1893600" cy="165600"/>
          </a:xfrm>
          <a:prstGeom prst="rect">
            <a:avLst/>
          </a:prstGeom>
          <a:noFill/>
        </p:spPr>
        <p:txBody>
          <a:bodyPr wrap="square">
            <a:spAutoFit/>
          </a:bodyPr>
          <a:lstStyle/>
          <a:p>
            <a:pPr algn="l"/>
            <a:r>
              <a:rPr sz="700" b="0" i="0">
                <a:solidFill>
                  <a:srgbClr val="888888"/>
                </a:solidFill>
                <a:latin typeface="Calibri"/>
              </a:rPr>
              <a:t>Beta 0,69  ·  RFR 4,4 %</a:t>
            </a:r>
          </a:p>
        </p:txBody>
      </p:sp>
      <p:sp>
        <p:nvSpPr>
          <p:cNvPr id="44" name="Rectangle 43"/>
          <p:cNvSpPr/>
          <p:nvPr/>
        </p:nvSpPr>
        <p:spPr>
          <a:xfrm>
            <a:off x="46080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080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98000" y="3430800"/>
            <a:ext cx="1893600" cy="396000"/>
          </a:xfrm>
          <a:prstGeom prst="rect">
            <a:avLst/>
          </a:prstGeom>
          <a:noFill/>
        </p:spPr>
        <p:txBody>
          <a:bodyPr wrap="square">
            <a:spAutoFit/>
          </a:bodyPr>
          <a:lstStyle/>
          <a:p>
            <a:pPr algn="l"/>
            <a:r>
              <a:rPr sz="1900" b="1" i="0">
                <a:solidFill>
                  <a:srgbClr val="1B3A6B"/>
                </a:solidFill>
                <a:latin typeface="Calibri"/>
              </a:rPr>
              <a:t>165 EUR</a:t>
            </a:r>
          </a:p>
        </p:txBody>
      </p:sp>
      <p:sp>
        <p:nvSpPr>
          <p:cNvPr id="47" name="TextBox 46"/>
          <p:cNvSpPr txBox="1"/>
          <p:nvPr/>
        </p:nvSpPr>
        <p:spPr>
          <a:xfrm>
            <a:off x="4698000" y="3826800"/>
            <a:ext cx="1893600" cy="205199"/>
          </a:xfrm>
          <a:prstGeom prst="rect">
            <a:avLst/>
          </a:prstGeom>
          <a:noFill/>
        </p:spPr>
        <p:txBody>
          <a:bodyPr wrap="square">
            <a:spAutoFit/>
          </a:bodyPr>
          <a:lstStyle/>
          <a:p>
            <a:pPr algn="l"/>
            <a:r>
              <a:rPr sz="800" b="0" i="0">
                <a:solidFill>
                  <a:srgbClr val="555555"/>
                </a:solidFill>
                <a:latin typeface="Calibri"/>
              </a:rPr>
              <a:t>Valeur intrinseque DCF</a:t>
            </a:r>
          </a:p>
        </p:txBody>
      </p:sp>
      <p:sp>
        <p:nvSpPr>
          <p:cNvPr id="48" name="TextBox 47"/>
          <p:cNvSpPr txBox="1"/>
          <p:nvPr/>
        </p:nvSpPr>
        <p:spPr>
          <a:xfrm>
            <a:off x="4698000" y="4024800"/>
            <a:ext cx="1893600" cy="165600"/>
          </a:xfrm>
          <a:prstGeom prst="rect">
            <a:avLst/>
          </a:prstGeom>
          <a:noFill/>
        </p:spPr>
        <p:txBody>
          <a:bodyPr wrap="square">
            <a:spAutoFit/>
          </a:bodyPr>
          <a:lstStyle/>
          <a:p>
            <a:pPr algn="l"/>
            <a:r>
              <a:rPr sz="700" b="0" i="0">
                <a:solidFill>
                  <a:srgbClr val="888888"/>
                </a:solidFill>
                <a:latin typeface="Calibri"/>
              </a:rPr>
              <a:t>Upside de +14,1 % vs cours</a:t>
            </a:r>
          </a:p>
        </p:txBody>
      </p:sp>
      <p:sp>
        <p:nvSpPr>
          <p:cNvPr id="49" name="Rectangle 48"/>
          <p:cNvSpPr/>
          <p:nvPr/>
        </p:nvSpPr>
        <p:spPr>
          <a:xfrm>
            <a:off x="67284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284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18400" y="3430800"/>
            <a:ext cx="1893600" cy="396000"/>
          </a:xfrm>
          <a:prstGeom prst="rect">
            <a:avLst/>
          </a:prstGeom>
          <a:noFill/>
        </p:spPr>
        <p:txBody>
          <a:bodyPr wrap="square">
            <a:spAutoFit/>
          </a:bodyPr>
          <a:lstStyle/>
          <a:p>
            <a:pPr algn="l"/>
            <a:r>
              <a:rPr sz="1900" b="1" i="0">
                <a:solidFill>
                  <a:srgbClr val="1B3A6B"/>
                </a:solidFill>
                <a:latin typeface="Calibri"/>
              </a:rPr>
              <a:t>+0,030</a:t>
            </a:r>
          </a:p>
        </p:txBody>
      </p:sp>
      <p:sp>
        <p:nvSpPr>
          <p:cNvPr id="52" name="TextBox 51"/>
          <p:cNvSpPr txBox="1"/>
          <p:nvPr/>
        </p:nvSpPr>
        <p:spPr>
          <a:xfrm>
            <a:off x="6818400" y="38268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53" name="TextBox 52"/>
          <p:cNvSpPr txBox="1"/>
          <p:nvPr/>
        </p:nvSpPr>
        <p:spPr>
          <a:xfrm>
            <a:off x="6818400" y="4024800"/>
            <a:ext cx="1893600" cy="165600"/>
          </a:xfrm>
          <a:prstGeom prst="rect">
            <a:avLst/>
          </a:prstGeom>
          <a:noFill/>
        </p:spPr>
        <p:txBody>
          <a:bodyPr wrap="square">
            <a:spAutoFit/>
          </a:bodyPr>
          <a:lstStyle/>
          <a:p>
            <a:pPr algn="l"/>
            <a:r>
              <a:rPr sz="700" b="0" i="0">
                <a:solidFill>
                  <a:srgbClr val="888888"/>
                </a:solidFill>
                <a:latin typeface="Calibri"/>
              </a:rPr>
              <a:t>Neutre +  ·  25 articles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SAP SE  ·  Technology</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3–5</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6–8</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9–11</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Dépendance au cloud  ·  Concurrence IA</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12–13</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&amp; historique de cours</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14–15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SAP SE  ·  Presentation &amp; Positionnement strategique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SAP SE est le leader mondial des logiciels d'entreprise avec des solutions ERP (S/4HANA), de gestion des données (HANA) et de cloud (RISE with SAP). Positionné sur les entreprises de taille moyenne à grande, SAP bénéficie d'un écosystème intégré et d'une fidélisation client élevée. Ses avantages incluent une base installée massive, des coûts de migration élevés pour les clients et une transition réussie vers le cloud avec une croissance récurrente à deux chiffres. L'entreprise articule son activité autour de deux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Cloud Solutions</a:t>
            </a:r>
          </a:p>
        </p:txBody>
      </p:sp>
      <p:sp>
        <p:nvSpPr>
          <p:cNvPr id="22" name="TextBox 21"/>
          <p:cNvSpPr txBox="1"/>
          <p:nvPr/>
        </p:nvSpPr>
        <p:spPr>
          <a:xfrm>
            <a:off x="619200" y="2714400"/>
            <a:ext cx="4338000" cy="396000"/>
          </a:xfrm>
          <a:prstGeom prst="rect">
            <a:avLst/>
          </a:prstGeom>
          <a:noFill/>
        </p:spPr>
        <p:txBody>
          <a:bodyPr wrap="square">
            <a:spAutoFit/>
          </a:bodyPr>
          <a:lstStyle/>
          <a:p>
            <a:pPr algn="l"/>
            <a:r>
              <a:rPr sz="750" b="0" i="1">
                <a:solidFill>
                  <a:srgbClr val="555555"/>
                </a:solidFill>
                <a:latin typeface="Calibri"/>
              </a:rPr>
              <a:t>Segment en croissance rapide avec des revenus récurrents (SaaS) incluant RISE with SAP, S/4HANA Cloud et Business Technology Platform. Cible les entreprises cherchant une transformation digitale avec des contrats multi-annuels. Croissance portée par l'adoption du cloud et l'IA intégrée, avec une marge EBITDA en…</a:t>
            </a:r>
          </a:p>
        </p:txBody>
      </p:sp>
      <p:sp>
        <p:nvSpPr>
          <p:cNvPr id="23" name="Rectangle 22"/>
          <p:cNvSpPr/>
          <p:nvPr/>
        </p:nvSpPr>
        <p:spPr>
          <a:xfrm>
            <a:off x="503999" y="3193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3150000"/>
            <a:ext cx="4338000" cy="165600"/>
          </a:xfrm>
          <a:prstGeom prst="rect">
            <a:avLst/>
          </a:prstGeom>
          <a:noFill/>
        </p:spPr>
        <p:txBody>
          <a:bodyPr wrap="square">
            <a:spAutoFit/>
          </a:bodyPr>
          <a:lstStyle/>
          <a:p>
            <a:pPr algn="l"/>
            <a:r>
              <a:rPr sz="850" b="1" i="0">
                <a:solidFill>
                  <a:srgbClr val="0D0D0D"/>
                </a:solidFill>
                <a:latin typeface="Calibri"/>
              </a:rPr>
              <a:t>Software &amp; Services</a:t>
            </a:r>
          </a:p>
        </p:txBody>
      </p:sp>
      <p:sp>
        <p:nvSpPr>
          <p:cNvPr id="25" name="TextBox 24"/>
          <p:cNvSpPr txBox="1"/>
          <p:nvPr/>
        </p:nvSpPr>
        <p:spPr>
          <a:xfrm>
            <a:off x="619200" y="3308400"/>
            <a:ext cx="4338000" cy="396000"/>
          </a:xfrm>
          <a:prstGeom prst="rect">
            <a:avLst/>
          </a:prstGeom>
          <a:noFill/>
        </p:spPr>
        <p:txBody>
          <a:bodyPr wrap="square">
            <a:spAutoFit/>
          </a:bodyPr>
          <a:lstStyle/>
          <a:p>
            <a:pPr algn="l"/>
            <a:r>
              <a:rPr sz="750" b="0" i="1">
                <a:solidFill>
                  <a:srgbClr val="555555"/>
                </a:solidFill>
                <a:latin typeface="Calibri"/>
              </a:rPr>
              <a:t>Comprend les licences logicielles (ERP, CRM, SCM) et les services de support/maintenance. Modèle hybride avec revenus initiaux élevés et contrats de maintenance récurrents à 20% de marge. Clients principalement des grandes entreprises avec des cycles de vente longs et des upsell réguliers.</a:t>
            </a:r>
          </a:p>
        </p:txBody>
      </p:sp>
      <p:sp>
        <p:nvSpPr>
          <p:cNvPr id="26" name="Rectangle 25"/>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168,9 Md€</a:t>
            </a:r>
          </a:p>
        </p:txBody>
      </p:sp>
      <p:sp>
        <p:nvSpPr>
          <p:cNvPr id="29" name="TextBox 28"/>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boursiere</a:t>
            </a:r>
          </a:p>
        </p:txBody>
      </p:sp>
      <p:sp>
        <p:nvSpPr>
          <p:cNvPr id="30" name="Rectangle 29"/>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36,8 Md€</a:t>
            </a:r>
          </a:p>
        </p:txBody>
      </p:sp>
      <p:sp>
        <p:nvSpPr>
          <p:cNvPr id="33" name="TextBox 32"/>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4" name="Rectangle 33"/>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144,64 EUR</a:t>
            </a:r>
          </a:p>
        </p:txBody>
      </p:sp>
      <p:sp>
        <p:nvSpPr>
          <p:cNvPr id="37" name="TextBox 36"/>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38" name="Rectangle 37"/>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13,8x</a:t>
            </a:r>
          </a:p>
        </p:txBody>
      </p:sp>
      <p:sp>
        <p:nvSpPr>
          <p:cNvPr id="41" name="TextBox 40"/>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2" name="TextBox 41"/>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23,6x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Modele Economique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operationnels et moteurs de croissance</a:t>
            </a:r>
          </a:p>
        </p:txBody>
      </p:sp>
      <p:sp>
        <p:nvSpPr>
          <p:cNvPr id="17" name="Rectangle 16"/>
          <p:cNvSpPr/>
          <p:nvPr/>
        </p:nvSpPr>
        <p:spPr>
          <a:xfrm>
            <a:off x="367200" y="961200"/>
            <a:ext cx="4150800"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1508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3970800" cy="640800"/>
          </a:xfrm>
          <a:prstGeom prst="rect">
            <a:avLst/>
          </a:prstGeom>
          <a:noFill/>
        </p:spPr>
        <p:txBody>
          <a:bodyPr wrap="square">
            <a:spAutoFit/>
          </a:bodyPr>
          <a:lstStyle/>
          <a:p>
            <a:pPr algn="l"/>
            <a:r>
              <a:rPr sz="2200" b="1" i="0">
                <a:solidFill>
                  <a:srgbClr val="2E5FA3"/>
                </a:solidFill>
                <a:latin typeface="Calibri"/>
              </a:rPr>
              <a:t>58%</a:t>
            </a:r>
          </a:p>
        </p:txBody>
      </p:sp>
      <p:sp>
        <p:nvSpPr>
          <p:cNvPr id="20" name="TextBox 19"/>
          <p:cNvSpPr txBox="1"/>
          <p:nvPr/>
        </p:nvSpPr>
        <p:spPr>
          <a:xfrm>
            <a:off x="4572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3970800" cy="255600"/>
          </a:xfrm>
          <a:prstGeom prst="rect">
            <a:avLst/>
          </a:prstGeom>
          <a:noFill/>
        </p:spPr>
        <p:txBody>
          <a:bodyPr wrap="square">
            <a:spAutoFit/>
          </a:bodyPr>
          <a:lstStyle/>
          <a:p>
            <a:pPr algn="l"/>
            <a:r>
              <a:rPr sz="1000" b="1" i="0">
                <a:solidFill>
                  <a:srgbClr val="1B3A6B"/>
                </a:solidFill>
                <a:latin typeface="Calibri"/>
              </a:rPr>
              <a:t>Cloud Solutions</a:t>
            </a:r>
          </a:p>
        </p:txBody>
      </p:sp>
      <p:sp>
        <p:nvSpPr>
          <p:cNvPr id="23" name="TextBox 22"/>
          <p:cNvSpPr txBox="1"/>
          <p:nvPr/>
        </p:nvSpPr>
        <p:spPr>
          <a:xfrm>
            <a:off x="457200" y="2332800"/>
            <a:ext cx="3970800" cy="2041199"/>
          </a:xfrm>
          <a:prstGeom prst="rect">
            <a:avLst/>
          </a:prstGeom>
          <a:noFill/>
        </p:spPr>
        <p:txBody>
          <a:bodyPr wrap="square">
            <a:spAutoFit/>
          </a:bodyPr>
          <a:lstStyle/>
          <a:p>
            <a:pPr algn="l"/>
            <a:r>
              <a:rPr sz="800" b="0" i="0">
                <a:solidFill>
                  <a:srgbClr val="555555"/>
                </a:solidFill>
                <a:latin typeface="Calibri"/>
              </a:rPr>
              <a:t>Segment en croissance rapide avec des revenus récurrents (SaaS) incluant RISE with SAP, S/4HANA Cloud et Business Technology Platform. Cible les entreprises cherchant une transformation digitale avec des contrats multi-annuels. Croissance portée par l'adoption du cloud et l'IA intégrée, avec une marge EBITDA en expansion grâce aux économies d'échelle.</a:t>
            </a:r>
          </a:p>
        </p:txBody>
      </p:sp>
      <p:sp>
        <p:nvSpPr>
          <p:cNvPr id="24" name="Rectangle 23"/>
          <p:cNvSpPr/>
          <p:nvPr/>
        </p:nvSpPr>
        <p:spPr>
          <a:xfrm>
            <a:off x="4626000" y="961200"/>
            <a:ext cx="4150800"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26000" y="961200"/>
            <a:ext cx="4150800"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16000" y="1141200"/>
            <a:ext cx="3970800" cy="640800"/>
          </a:xfrm>
          <a:prstGeom prst="rect">
            <a:avLst/>
          </a:prstGeom>
          <a:noFill/>
        </p:spPr>
        <p:txBody>
          <a:bodyPr wrap="square">
            <a:spAutoFit/>
          </a:bodyPr>
          <a:lstStyle/>
          <a:p>
            <a:pPr algn="l"/>
            <a:r>
              <a:rPr sz="2200" b="1" i="0">
                <a:solidFill>
                  <a:srgbClr val="1A7A4A"/>
                </a:solidFill>
                <a:latin typeface="Calibri"/>
              </a:rPr>
              <a:t>42%</a:t>
            </a:r>
          </a:p>
        </p:txBody>
      </p:sp>
      <p:sp>
        <p:nvSpPr>
          <p:cNvPr id="27" name="TextBox 26"/>
          <p:cNvSpPr txBox="1"/>
          <p:nvPr/>
        </p:nvSpPr>
        <p:spPr>
          <a:xfrm>
            <a:off x="47160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47160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16000" y="2059200"/>
            <a:ext cx="3970800" cy="255600"/>
          </a:xfrm>
          <a:prstGeom prst="rect">
            <a:avLst/>
          </a:prstGeom>
          <a:noFill/>
        </p:spPr>
        <p:txBody>
          <a:bodyPr wrap="square">
            <a:spAutoFit/>
          </a:bodyPr>
          <a:lstStyle/>
          <a:p>
            <a:pPr algn="l"/>
            <a:r>
              <a:rPr sz="1000" b="1" i="0">
                <a:solidFill>
                  <a:srgbClr val="1B3A6B"/>
                </a:solidFill>
                <a:latin typeface="Calibri"/>
              </a:rPr>
              <a:t>Software &amp; Services</a:t>
            </a:r>
          </a:p>
        </p:txBody>
      </p:sp>
      <p:sp>
        <p:nvSpPr>
          <p:cNvPr id="30" name="TextBox 29"/>
          <p:cNvSpPr txBox="1"/>
          <p:nvPr/>
        </p:nvSpPr>
        <p:spPr>
          <a:xfrm>
            <a:off x="4716000" y="2332800"/>
            <a:ext cx="3970800" cy="2041199"/>
          </a:xfrm>
          <a:prstGeom prst="rect">
            <a:avLst/>
          </a:prstGeom>
          <a:noFill/>
        </p:spPr>
        <p:txBody>
          <a:bodyPr wrap="square">
            <a:spAutoFit/>
          </a:bodyPr>
          <a:lstStyle/>
          <a:p>
            <a:pPr algn="l"/>
            <a:r>
              <a:rPr sz="800" b="0" i="0">
                <a:solidFill>
                  <a:srgbClr val="555555"/>
                </a:solidFill>
                <a:latin typeface="Calibri"/>
              </a:rPr>
              <a:t>Comprend les licences logicielles (ERP, CRM, SCM) et les services de support/maintenance. Modèle hybride avec revenus initiaux élevés et contrats de maintenance récurrents à 20% de marge. Clients principalement des grandes entreprises avec des cycles de vente longs et des upsell réguliers.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EUR millions  ·  2021–2027F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31,2</a:t>
                      </a:r>
                    </a:p>
                  </a:txBody>
                  <a:tcPr>
                    <a:solidFill>
                      <a:srgbClr val="FFFFFF"/>
                    </a:solidFill>
                  </a:tcPr>
                </a:tc>
                <a:tc>
                  <a:txBody>
                    <a:bodyPr/>
                    <a:lstStyle/>
                    <a:p>
                      <a:pPr algn="ctr"/>
                      <a:r>
                        <a:rPr sz="800" b="1" i="0">
                          <a:solidFill>
                            <a:srgbClr val="0D0D0D"/>
                          </a:solidFill>
                          <a:latin typeface="Calibri"/>
                        </a:rPr>
                        <a:t>34,2</a:t>
                      </a:r>
                    </a:p>
                  </a:txBody>
                  <a:tcPr>
                    <a:solidFill>
                      <a:srgbClr val="FFFFFF"/>
                    </a:solidFill>
                  </a:tcPr>
                </a:tc>
                <a:tc>
                  <a:txBody>
                    <a:bodyPr/>
                    <a:lstStyle/>
                    <a:p>
                      <a:pPr algn="ctr"/>
                      <a:r>
                        <a:rPr sz="800" b="1" i="0">
                          <a:solidFill>
                            <a:srgbClr val="1B3A6B"/>
                          </a:solidFill>
                          <a:latin typeface="Calibri"/>
                        </a:rPr>
                        <a:t>36,8</a:t>
                      </a:r>
                    </a:p>
                  </a:txBody>
                  <a:tcPr>
                    <a:solidFill>
                      <a:srgbClr val="DDE8F5"/>
                    </a:solidFill>
                  </a:tcPr>
                </a:tc>
                <a:tc>
                  <a:txBody>
                    <a:bodyPr/>
                    <a:lstStyle/>
                    <a:p>
                      <a:pPr algn="ctr"/>
                      <a:r>
                        <a:rPr sz="800" b="1" i="0">
                          <a:solidFill>
                            <a:srgbClr val="0D0D0D"/>
                          </a:solidFill>
                          <a:latin typeface="Calibri"/>
                        </a:rPr>
                        <a:t>39,5</a:t>
                      </a:r>
                    </a:p>
                  </a:txBody>
                  <a:tcPr>
                    <a:solidFill>
                      <a:srgbClr val="FFFFFF"/>
                    </a:solidFill>
                  </a:tcPr>
                </a:tc>
                <a:tc>
                  <a:txBody>
                    <a:bodyPr/>
                    <a:lstStyle/>
                    <a:p>
                      <a:pPr algn="ctr"/>
                      <a:r>
                        <a:rPr sz="800" b="1" i="0">
                          <a:solidFill>
                            <a:srgbClr val="0D0D0D"/>
                          </a:solidFill>
                          <a:latin typeface="Calibri"/>
                        </a:rPr>
                        <a:t>42,5</a:t>
                      </a:r>
                    </a:p>
                  </a:txBody>
                  <a:tcPr>
                    <a:solidFill>
                      <a:srgbClr val="FFFFFF"/>
                    </a:solidFill>
                  </a:tcPr>
                </a:tc>
              </a:tr>
              <a:tr h="220000">
                <a:tc>
                  <a:txBody>
                    <a:bodyPr/>
                    <a:lstStyle/>
                    <a:p>
                      <a:pPr algn="l"/>
                      <a:r>
                        <a:rPr sz="750" b="0" i="1">
                          <a:solidFill>
                            <a:srgbClr val="555555"/>
                          </a:solidFill>
                          <a:latin typeface="Calibri"/>
                        </a:rPr>
                        <a:t>Croissance YoY</a:t>
                      </a:r>
                    </a:p>
                  </a:txBody>
                  <a:tcPr>
                    <a:solidFill>
                      <a:srgbClr val="F7F8FA"/>
                    </a:solidFill>
                  </a:tcPr>
                </a:tc>
                <a:tc>
                  <a:txBody>
                    <a:bodyPr/>
                    <a:lstStyle/>
                    <a:p>
                      <a:pPr algn="ctr"/>
                      <a:r>
                        <a:rPr sz="750" b="0" i="1">
                          <a:solidFill>
                            <a:srgbClr val="555555"/>
                          </a:solidFill>
                          <a:latin typeface="Calibri"/>
                        </a:rPr>
                        <a:t>+5,7 %</a:t>
                      </a:r>
                    </a:p>
                  </a:txBody>
                  <a:tcPr>
                    <a:solidFill>
                      <a:srgbClr val="F7F8FA"/>
                    </a:solidFill>
                  </a:tcPr>
                </a:tc>
                <a:tc>
                  <a:txBody>
                    <a:bodyPr/>
                    <a:lstStyle/>
                    <a:p>
                      <a:pPr algn="ctr"/>
                      <a:r>
                        <a:rPr sz="750" b="0" i="1">
                          <a:solidFill>
                            <a:srgbClr val="555555"/>
                          </a:solidFill>
                          <a:latin typeface="Calibri"/>
                        </a:rPr>
                        <a:t>+9,5 %</a:t>
                      </a:r>
                    </a:p>
                  </a:txBody>
                  <a:tcPr>
                    <a:solidFill>
                      <a:srgbClr val="F7F8FA"/>
                    </a:solidFill>
                  </a:tcPr>
                </a:tc>
                <a:tc>
                  <a:txBody>
                    <a:bodyPr/>
                    <a:lstStyle/>
                    <a:p>
                      <a:pPr algn="ctr"/>
                      <a:r>
                        <a:rPr sz="750" b="0" i="1">
                          <a:solidFill>
                            <a:srgbClr val="555555"/>
                          </a:solidFill>
                          <a:latin typeface="Calibri"/>
                        </a:rPr>
                        <a:t>+7,7 %</a:t>
                      </a:r>
                    </a:p>
                  </a:txBody>
                  <a:tcPr>
                    <a:solidFill>
                      <a:srgbClr val="DDE8F5"/>
                    </a:solidFill>
                  </a:tcPr>
                </a:tc>
                <a:tc>
                  <a:txBody>
                    <a:bodyPr/>
                    <a:lstStyle/>
                    <a:p>
                      <a:pPr algn="ctr"/>
                      <a:r>
                        <a:rPr sz="750" b="0" i="1">
                          <a:solidFill>
                            <a:srgbClr val="555555"/>
                          </a:solidFill>
                          <a:latin typeface="Calibri"/>
                        </a:rPr>
                        <a:t>+7,3 %</a:t>
                      </a:r>
                    </a:p>
                  </a:txBody>
                  <a:tcPr>
                    <a:solidFill>
                      <a:srgbClr val="F7F8FA"/>
                    </a:solidFill>
                  </a:tcPr>
                </a:tc>
                <a:tc>
                  <a:txBody>
                    <a:bodyPr/>
                    <a:lstStyle/>
                    <a:p>
                      <a:pPr algn="ctr"/>
                      <a:r>
                        <a:rPr sz="750" b="0" i="1">
                          <a:solidFill>
                            <a:srgbClr val="555555"/>
                          </a:solidFill>
                          <a:latin typeface="Calibri"/>
                        </a:rPr>
                        <a:t>+7,6 %</a:t>
                      </a:r>
                    </a:p>
                  </a:txBody>
                  <a:tcPr>
                    <a:solidFill>
                      <a:srgbClr val="F7F8FA"/>
                    </a:solidFill>
                  </a:tcPr>
                </a:tc>
              </a:tr>
              <a:tr h="220000">
                <a:tc>
                  <a:txBody>
                    <a:bodyPr/>
                    <a:lstStyle/>
                    <a:p>
                      <a:pPr algn="l"/>
                      <a:r>
                        <a:rPr sz="800" b="1" i="0">
                          <a:solidFill>
                            <a:srgbClr val="0D0D0D"/>
                          </a:solidFill>
                          <a:latin typeface="Calibri"/>
                        </a:rPr>
                        <a:t>Resultat brut</a:t>
                      </a:r>
                    </a:p>
                  </a:txBody>
                  <a:tcPr>
                    <a:solidFill>
                      <a:srgbClr val="FFFFFF"/>
                    </a:solidFill>
                  </a:tcPr>
                </a:tc>
                <a:tc>
                  <a:txBody>
                    <a:bodyPr/>
                    <a:lstStyle/>
                    <a:p>
                      <a:pPr algn="ctr"/>
                      <a:r>
                        <a:rPr sz="800" b="1" i="0">
                          <a:solidFill>
                            <a:srgbClr val="0D0D0D"/>
                          </a:solidFill>
                          <a:latin typeface="Calibri"/>
                        </a:rPr>
                        <a:t>22,5</a:t>
                      </a:r>
                    </a:p>
                  </a:txBody>
                  <a:tcPr>
                    <a:solidFill>
                      <a:srgbClr val="FFFFFF"/>
                    </a:solidFill>
                  </a:tcPr>
                </a:tc>
                <a:tc>
                  <a:txBody>
                    <a:bodyPr/>
                    <a:lstStyle/>
                    <a:p>
                      <a:pPr algn="ctr"/>
                      <a:r>
                        <a:rPr sz="800" b="1" i="0">
                          <a:solidFill>
                            <a:srgbClr val="0D0D0D"/>
                          </a:solidFill>
                          <a:latin typeface="Calibri"/>
                        </a:rPr>
                        <a:t>24,9</a:t>
                      </a:r>
                    </a:p>
                  </a:txBody>
                  <a:tcPr>
                    <a:solidFill>
                      <a:srgbClr val="FFFFFF"/>
                    </a:solidFill>
                  </a:tcPr>
                </a:tc>
                <a:tc>
                  <a:txBody>
                    <a:bodyPr/>
                    <a:lstStyle/>
                    <a:p>
                      <a:pPr algn="ctr"/>
                      <a:r>
                        <a:rPr sz="800" b="1" i="0">
                          <a:solidFill>
                            <a:srgbClr val="1B3A6B"/>
                          </a:solidFill>
                          <a:latin typeface="Calibri"/>
                        </a:rPr>
                        <a:t>26,8</a:t>
                      </a:r>
                    </a:p>
                  </a:txBody>
                  <a:tcPr>
                    <a:solidFill>
                      <a:srgbClr val="DDE8F5"/>
                    </a:solidFill>
                  </a:tcPr>
                </a:tc>
                <a:tc>
                  <a:txBody>
                    <a:bodyPr/>
                    <a:lstStyle/>
                    <a:p>
                      <a:pPr algn="ctr"/>
                      <a:r>
                        <a:rPr sz="800" b="1" i="0">
                          <a:solidFill>
                            <a:srgbClr val="0D0D0D"/>
                          </a:solidFill>
                          <a:latin typeface="Calibri"/>
                        </a:rPr>
                        <a:t>28,9</a:t>
                      </a:r>
                    </a:p>
                  </a:txBody>
                  <a:tcPr>
                    <a:solidFill>
                      <a:srgbClr val="FFFFFF"/>
                    </a:solidFill>
                  </a:tcPr>
                </a:tc>
                <a:tc>
                  <a:txBody>
                    <a:bodyPr/>
                    <a:lstStyle/>
                    <a:p>
                      <a:pPr algn="ctr"/>
                      <a:r>
                        <a:rPr sz="800" b="1" i="0">
                          <a:solidFill>
                            <a:srgbClr val="0D0D0D"/>
                          </a:solidFill>
                          <a:latin typeface="Calibri"/>
                        </a:rPr>
                        <a:t>31,2</a:t>
                      </a:r>
                    </a:p>
                  </a:txBody>
                  <a:tcPr>
                    <a:solidFill>
                      <a:srgbClr val="FFFFFF"/>
                    </a:solidFill>
                  </a:tcPr>
                </a:tc>
              </a:tr>
              <a:tr h="220000">
                <a:tc>
                  <a:txBody>
                    <a:bodyPr/>
                    <a:lstStyle/>
                    <a:p>
                      <a:pPr algn="l"/>
                      <a:r>
                        <a:rPr sz="750" b="0" i="1">
                          <a:solidFill>
                            <a:srgbClr val="555555"/>
                          </a:solidFill>
                          <a:latin typeface="Calibri"/>
                        </a:rPr>
                        <a:t>Marge brute</a:t>
                      </a:r>
                    </a:p>
                  </a:txBody>
                  <a:tcPr>
                    <a:solidFill>
                      <a:srgbClr val="F7F8FA"/>
                    </a:solidFill>
                  </a:tcPr>
                </a:tc>
                <a:tc>
                  <a:txBody>
                    <a:bodyPr/>
                    <a:lstStyle/>
                    <a:p>
                      <a:pPr algn="ctr"/>
                      <a:r>
                        <a:rPr sz="750" b="0" i="1">
                          <a:solidFill>
                            <a:srgbClr val="555555"/>
                          </a:solidFill>
                          <a:latin typeface="Calibri"/>
                        </a:rPr>
                        <a:t>72,2 %</a:t>
                      </a:r>
                    </a:p>
                  </a:txBody>
                  <a:tcPr>
                    <a:solidFill>
                      <a:srgbClr val="F7F8FA"/>
                    </a:solidFill>
                  </a:tcPr>
                </a:tc>
                <a:tc>
                  <a:txBody>
                    <a:bodyPr/>
                    <a:lstStyle/>
                    <a:p>
                      <a:pPr algn="ctr"/>
                      <a:r>
                        <a:rPr sz="750" b="0" i="1">
                          <a:solidFill>
                            <a:srgbClr val="555555"/>
                          </a:solidFill>
                          <a:latin typeface="Calibri"/>
                        </a:rPr>
                        <a:t>73,0 %</a:t>
                      </a:r>
                    </a:p>
                  </a:txBody>
                  <a:tcPr>
                    <a:solidFill>
                      <a:srgbClr val="F7F8FA"/>
                    </a:solidFill>
                  </a:tcPr>
                </a:tc>
                <a:tc>
                  <a:txBody>
                    <a:bodyPr/>
                    <a:lstStyle/>
                    <a:p>
                      <a:pPr algn="ctr"/>
                      <a:r>
                        <a:rPr sz="750" b="0" i="1">
                          <a:solidFill>
                            <a:srgbClr val="555555"/>
                          </a:solidFill>
                          <a:latin typeface="Calibri"/>
                        </a:rPr>
                        <a:t>72,9 %</a:t>
                      </a:r>
                    </a:p>
                  </a:txBody>
                  <a:tcPr>
                    <a:solidFill>
                      <a:srgbClr val="DDE8F5"/>
                    </a:solidFill>
                  </a:tcPr>
                </a:tc>
                <a:tc>
                  <a:txBody>
                    <a:bodyPr/>
                    <a:lstStyle/>
                    <a:p>
                      <a:pPr algn="ctr"/>
                      <a:r>
                        <a:rPr sz="750" b="0" i="1">
                          <a:solidFill>
                            <a:srgbClr val="555555"/>
                          </a:solidFill>
                          <a:latin typeface="Calibri"/>
                        </a:rPr>
                        <a:t>73,2 %</a:t>
                      </a:r>
                    </a:p>
                  </a:txBody>
                  <a:tcPr>
                    <a:solidFill>
                      <a:srgbClr val="F7F8FA"/>
                    </a:solidFill>
                  </a:tcPr>
                </a:tc>
                <a:tc>
                  <a:txBody>
                    <a:bodyPr/>
                    <a:lstStyle/>
                    <a:p>
                      <a:pPr algn="ctr"/>
                      <a:r>
                        <a:rPr sz="750" b="0" i="1">
                          <a:solidFill>
                            <a:srgbClr val="555555"/>
                          </a:solidFill>
                          <a:latin typeface="Calibri"/>
                        </a:rPr>
                        <a:t>73,5 %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7,4</a:t>
                      </a:r>
                    </a:p>
                  </a:txBody>
                  <a:tcPr>
                    <a:solidFill>
                      <a:srgbClr val="FFFFFF"/>
                    </a:solidFill>
                  </a:tcPr>
                </a:tc>
                <a:tc>
                  <a:txBody>
                    <a:bodyPr/>
                    <a:lstStyle/>
                    <a:p>
                      <a:pPr algn="ctr"/>
                      <a:r>
                        <a:rPr sz="800" b="1" i="0">
                          <a:solidFill>
                            <a:srgbClr val="0D0D0D"/>
                          </a:solidFill>
                          <a:latin typeface="Calibri"/>
                        </a:rPr>
                        <a:t>6,6</a:t>
                      </a:r>
                    </a:p>
                  </a:txBody>
                  <a:tcPr>
                    <a:solidFill>
                      <a:srgbClr val="FFFFFF"/>
                    </a:solidFill>
                  </a:tcPr>
                </a:tc>
                <a:tc>
                  <a:txBody>
                    <a:bodyPr/>
                    <a:lstStyle/>
                    <a:p>
                      <a:pPr algn="ctr"/>
                      <a:r>
                        <a:rPr sz="800" b="1" i="0">
                          <a:solidFill>
                            <a:srgbClr val="1B3A6B"/>
                          </a:solidFill>
                          <a:latin typeface="Calibri"/>
                        </a:rPr>
                        <a:t>12,1</a:t>
                      </a:r>
                    </a:p>
                  </a:txBody>
                  <a:tcPr>
                    <a:solidFill>
                      <a:srgbClr val="DDE8F5"/>
                    </a:solidFill>
                  </a:tcPr>
                </a:tc>
                <a:tc>
                  <a:txBody>
                    <a:bodyPr/>
                    <a:lstStyle/>
                    <a:p>
                      <a:pPr algn="ctr"/>
                      <a:r>
                        <a:rPr sz="800" b="1" i="0">
                          <a:solidFill>
                            <a:srgbClr val="0D0D0D"/>
                          </a:solidFill>
                          <a:latin typeface="Calibri"/>
                        </a:rPr>
                        <a:t>13,5</a:t>
                      </a:r>
                    </a:p>
                  </a:txBody>
                  <a:tcPr>
                    <a:solidFill>
                      <a:srgbClr val="FFFFFF"/>
                    </a:solidFill>
                  </a:tcPr>
                </a:tc>
                <a:tc>
                  <a:txBody>
                    <a:bodyPr/>
                    <a:lstStyle/>
                    <a:p>
                      <a:pPr algn="ctr"/>
                      <a:r>
                        <a:rPr sz="800" b="1" i="0">
                          <a:solidFill>
                            <a:srgbClr val="0D0D0D"/>
                          </a:solidFill>
                          <a:latin typeface="Calibri"/>
                        </a:rPr>
                        <a:t>14,8</a:t>
                      </a:r>
                    </a:p>
                  </a:txBody>
                  <a:tcPr>
                    <a:solidFill>
                      <a:srgbClr val="FFFFFF"/>
                    </a:solidFill>
                  </a:tcPr>
                </a:tc>
              </a:tr>
              <a:tr h="220000">
                <a:tc>
                  <a:txBody>
                    <a:bodyPr/>
                    <a:lstStyle/>
                    <a:p>
                      <a:pPr algn="l"/>
                      <a:r>
                        <a:rPr sz="750" b="0" i="1">
                          <a:solidFill>
                            <a:srgbClr val="555555"/>
                          </a:solidFill>
                          <a:latin typeface="Calibri"/>
                        </a:rPr>
                        <a:t>Marge EBITDA</a:t>
                      </a:r>
                    </a:p>
                  </a:txBody>
                  <a:tcPr>
                    <a:solidFill>
                      <a:srgbClr val="F7F8FA"/>
                    </a:solidFill>
                  </a:tcPr>
                </a:tc>
                <a:tc>
                  <a:txBody>
                    <a:bodyPr/>
                    <a:lstStyle/>
                    <a:p>
                      <a:pPr algn="ctr"/>
                      <a:r>
                        <a:rPr sz="750" b="0" i="1">
                          <a:solidFill>
                            <a:srgbClr val="555555"/>
                          </a:solidFill>
                          <a:latin typeface="Calibri"/>
                        </a:rPr>
                        <a:t>23,6 %</a:t>
                      </a:r>
                    </a:p>
                  </a:txBody>
                  <a:tcPr>
                    <a:solidFill>
                      <a:srgbClr val="F7F8FA"/>
                    </a:solidFill>
                  </a:tcPr>
                </a:tc>
                <a:tc>
                  <a:txBody>
                    <a:bodyPr/>
                    <a:lstStyle/>
                    <a:p>
                      <a:pPr algn="ctr"/>
                      <a:r>
                        <a:rPr sz="750" b="0" i="1">
                          <a:solidFill>
                            <a:srgbClr val="555555"/>
                          </a:solidFill>
                          <a:latin typeface="Calibri"/>
                        </a:rPr>
                        <a:t>19,3 %</a:t>
                      </a:r>
                    </a:p>
                  </a:txBody>
                  <a:tcPr>
                    <a:solidFill>
                      <a:srgbClr val="F7F8FA"/>
                    </a:solidFill>
                  </a:tcPr>
                </a:tc>
                <a:tc>
                  <a:txBody>
                    <a:bodyPr/>
                    <a:lstStyle/>
                    <a:p>
                      <a:pPr algn="ctr"/>
                      <a:r>
                        <a:rPr sz="750" b="0" i="1">
                          <a:solidFill>
                            <a:srgbClr val="555555"/>
                          </a:solidFill>
                          <a:latin typeface="Calibri"/>
                        </a:rPr>
                        <a:t>32,8 %</a:t>
                      </a:r>
                    </a:p>
                  </a:txBody>
                  <a:tcPr>
                    <a:solidFill>
                      <a:srgbClr val="DDE8F5"/>
                    </a:solidFill>
                  </a:tcPr>
                </a:tc>
                <a:tc>
                  <a:txBody>
                    <a:bodyPr/>
                    <a:lstStyle/>
                    <a:p>
                      <a:pPr algn="ctr"/>
                      <a:r>
                        <a:rPr sz="750" b="0" i="1">
                          <a:solidFill>
                            <a:srgbClr val="555555"/>
                          </a:solidFill>
                          <a:latin typeface="Calibri"/>
                        </a:rPr>
                        <a:t>34,2 %</a:t>
                      </a:r>
                    </a:p>
                  </a:txBody>
                  <a:tcPr>
                    <a:solidFill>
                      <a:srgbClr val="F7F8FA"/>
                    </a:solidFill>
                  </a:tcPr>
                </a:tc>
                <a:tc>
                  <a:txBody>
                    <a:bodyPr/>
                    <a:lstStyle/>
                    <a:p>
                      <a:pPr algn="ctr"/>
                      <a:r>
                        <a:rPr sz="750" b="0" i="1">
                          <a:solidFill>
                            <a:srgbClr val="555555"/>
                          </a:solidFill>
                          <a:latin typeface="Calibri"/>
                        </a:rPr>
                        <a:t>34,8 %</a:t>
                      </a:r>
                    </a:p>
                  </a:txBody>
                  <a:tcPr>
                    <a:solidFill>
                      <a:srgbClr val="F7F8FA"/>
                    </a:solidFill>
                  </a:tcPr>
                </a:tc>
              </a:tr>
              <a:tr h="220000">
                <a:tc>
                  <a:txBody>
                    <a:bodyPr/>
                    <a:lstStyle/>
                    <a:p>
                      <a:pPr algn="l"/>
                      <a:r>
                        <a:rPr sz="800" b="1" i="0">
                          <a:solidFill>
                            <a:srgbClr val="0D0D0D"/>
                          </a:solidFill>
                          <a:latin typeface="Calibri"/>
                        </a:rPr>
                        <a:t>Resultat net</a:t>
                      </a:r>
                    </a:p>
                  </a:txBody>
                  <a:tcPr>
                    <a:solidFill>
                      <a:srgbClr val="FFFFFF"/>
                    </a:solidFill>
                  </a:tcPr>
                </a:tc>
                <a:tc>
                  <a:txBody>
                    <a:bodyPr/>
                    <a:lstStyle/>
                    <a:p>
                      <a:pPr algn="ctr"/>
                      <a:r>
                        <a:rPr sz="800" b="1" i="0">
                          <a:solidFill>
                            <a:srgbClr val="0D0D0D"/>
                          </a:solidFill>
                          <a:latin typeface="Calibri"/>
                        </a:rPr>
                        <a:t>3,8</a:t>
                      </a:r>
                    </a:p>
                  </a:txBody>
                  <a:tcPr>
                    <a:solidFill>
                      <a:srgbClr val="FFFFFF"/>
                    </a:solidFill>
                  </a:tcPr>
                </a:tc>
                <a:tc>
                  <a:txBody>
                    <a:bodyPr/>
                    <a:lstStyle/>
                    <a:p>
                      <a:pPr algn="ctr"/>
                      <a:r>
                        <a:rPr sz="800" b="1" i="0">
                          <a:solidFill>
                            <a:srgbClr val="0D0D0D"/>
                          </a:solidFill>
                          <a:latin typeface="Calibri"/>
                        </a:rPr>
                        <a:t>3,1</a:t>
                      </a:r>
                    </a:p>
                  </a:txBody>
                  <a:tcPr>
                    <a:solidFill>
                      <a:srgbClr val="FFFFFF"/>
                    </a:solidFill>
                  </a:tcPr>
                </a:tc>
                <a:tc>
                  <a:txBody>
                    <a:bodyPr/>
                    <a:lstStyle/>
                    <a:p>
                      <a:pPr algn="ctr"/>
                      <a:r>
                        <a:rPr sz="800" b="1" i="0">
                          <a:solidFill>
                            <a:srgbClr val="1B3A6B"/>
                          </a:solidFill>
                          <a:latin typeface="Calibri"/>
                        </a:rPr>
                        <a:t>7,2</a:t>
                      </a:r>
                    </a:p>
                  </a:txBody>
                  <a:tcPr>
                    <a:solidFill>
                      <a:srgbClr val="DDE8F5"/>
                    </a:solidFill>
                  </a:tcPr>
                </a:tc>
                <a:tc>
                  <a:txBody>
                    <a:bodyPr/>
                    <a:lstStyle/>
                    <a:p>
                      <a:pPr algn="ctr"/>
                      <a:r>
                        <a:rPr sz="800" b="1" i="0">
                          <a:solidFill>
                            <a:srgbClr val="0D0D0D"/>
                          </a:solidFill>
                          <a:latin typeface="Calibri"/>
                        </a:rPr>
                        <a:t>7,8</a:t>
                      </a:r>
                    </a:p>
                  </a:txBody>
                  <a:tcPr>
                    <a:solidFill>
                      <a:srgbClr val="FFFFFF"/>
                    </a:solidFill>
                  </a:tcPr>
                </a:tc>
                <a:tc>
                  <a:txBody>
                    <a:bodyPr/>
                    <a:lstStyle/>
                    <a:p>
                      <a:pPr algn="ctr"/>
                      <a:r>
                        <a:rPr sz="800" b="1" i="0">
                          <a:solidFill>
                            <a:srgbClr val="0D0D0D"/>
                          </a:solidFill>
                          <a:latin typeface="Calibri"/>
                        </a:rPr>
                        <a:t>8,7</a:t>
                      </a:r>
                    </a:p>
                  </a:txBody>
                  <a:tcPr>
                    <a:solidFill>
                      <a:srgbClr val="FFFFFF"/>
                    </a:solidFill>
                  </a:tcPr>
                </a:tc>
              </a:tr>
              <a:tr h="220000">
                <a:tc>
                  <a:txBody>
                    <a:bodyPr/>
                    <a:lstStyle/>
                    <a:p>
                      <a:pPr algn="l"/>
                      <a:r>
                        <a:rPr sz="750" b="0" i="1">
                          <a:solidFill>
                            <a:srgbClr val="555555"/>
                          </a:solidFill>
                          <a:latin typeface="Calibri"/>
                        </a:rPr>
                        <a:t>Marge nette</a:t>
                      </a:r>
                    </a:p>
                  </a:txBody>
                  <a:tcPr>
                    <a:solidFill>
                      <a:srgbClr val="F7F8FA"/>
                    </a:solidFill>
                  </a:tcPr>
                </a:tc>
                <a:tc>
                  <a:txBody>
                    <a:bodyPr/>
                    <a:lstStyle/>
                    <a:p>
                      <a:pPr algn="ctr"/>
                      <a:r>
                        <a:rPr sz="750" b="0" i="1">
                          <a:solidFill>
                            <a:srgbClr val="555555"/>
                          </a:solidFill>
                          <a:latin typeface="Calibri"/>
                        </a:rPr>
                        <a:t>12,1 %</a:t>
                      </a:r>
                    </a:p>
                  </a:txBody>
                  <a:tcPr>
                    <a:solidFill>
                      <a:srgbClr val="F7F8FA"/>
                    </a:solidFill>
                  </a:tcPr>
                </a:tc>
                <a:tc>
                  <a:txBody>
                    <a:bodyPr/>
                    <a:lstStyle/>
                    <a:p>
                      <a:pPr algn="ctr"/>
                      <a:r>
                        <a:rPr sz="750" b="0" i="1">
                          <a:solidFill>
                            <a:srgbClr val="555555"/>
                          </a:solidFill>
                          <a:latin typeface="Calibri"/>
                        </a:rPr>
                        <a:t>9,1 %</a:t>
                      </a:r>
                    </a:p>
                  </a:txBody>
                  <a:tcPr>
                    <a:solidFill>
                      <a:srgbClr val="F7F8FA"/>
                    </a:solidFill>
                  </a:tcPr>
                </a:tc>
                <a:tc>
                  <a:txBody>
                    <a:bodyPr/>
                    <a:lstStyle/>
                    <a:p>
                      <a:pPr algn="ctr"/>
                      <a:r>
                        <a:rPr sz="750" b="0" i="1">
                          <a:solidFill>
                            <a:srgbClr val="555555"/>
                          </a:solidFill>
                          <a:latin typeface="Calibri"/>
                        </a:rPr>
                        <a:t>19,5 %</a:t>
                      </a:r>
                    </a:p>
                  </a:txBody>
                  <a:tcPr>
                    <a:solidFill>
                      <a:srgbClr val="DDE8F5"/>
                    </a:solidFill>
                  </a:tcPr>
                </a:tc>
                <a:tc>
                  <a:txBody>
                    <a:bodyPr/>
                    <a:lstStyle/>
                    <a:p>
                      <a:pPr algn="ctr"/>
                      <a:r>
                        <a:rPr sz="750" b="0" i="1">
                          <a:solidFill>
                            <a:srgbClr val="555555"/>
                          </a:solidFill>
                          <a:latin typeface="Calibri"/>
                        </a:rPr>
                        <a:t>19,7 %</a:t>
                      </a:r>
                    </a:p>
                  </a:txBody>
                  <a:tcPr>
                    <a:solidFill>
                      <a:srgbClr val="F7F8FA"/>
                    </a:solidFill>
                  </a:tcPr>
                </a:tc>
                <a:tc>
                  <a:txBody>
                    <a:bodyPr/>
                    <a:lstStyle/>
                    <a:p>
                      <a:pPr algn="ctr"/>
                      <a:r>
                        <a:rPr sz="750" b="0" i="1">
                          <a:solidFill>
                            <a:srgbClr val="555555"/>
                          </a:solidFill>
                          <a:latin typeface="Calibri"/>
                        </a:rPr>
                        <a:t>20,5 %</a:t>
                      </a:r>
                    </a:p>
                  </a:txBody>
                  <a:tcPr>
                    <a:solidFill>
                      <a:srgbClr val="F7F8FA"/>
                    </a:solidFill>
                  </a:tcPr>
                </a:tc>
              </a:tr>
            </a:tbl>
          </a:graphicData>
        </a:graphic>
      </p:graphicFrame>
      <p:sp>
        <p:nvSpPr>
          <p:cNvPr id="18" name="TextBox 17"/>
          <p:cNvSpPr txBox="1"/>
          <p:nvPr/>
        </p:nvSpPr>
        <p:spPr>
          <a:xfrm>
            <a:off x="367200" y="3218400"/>
            <a:ext cx="8413200" cy="1224000"/>
          </a:xfrm>
          <a:prstGeom prst="rect">
            <a:avLst/>
          </a:prstGeom>
          <a:noFill/>
        </p:spPr>
        <p:txBody>
          <a:bodyPr wrap="square">
            <a:spAutoFit/>
          </a:bodyPr>
          <a:lstStyle/>
          <a:p>
            <a:pPr algn="l"/>
            <a:r>
              <a:rPr sz="850" b="0" i="0">
                <a:solidFill>
                  <a:srgbClr val="555555"/>
                </a:solidFill>
                <a:latin typeface="Calibri"/>
              </a:rPr>
              <a:t>Croissance du CA de 7.7% en 2025 portée par le cloud (+14%) et une marge nette en forte hausse à 19.5% vs 9.1% en 2024. Le levier opérationnel et la discipline des coûts ont permis une compression des dépenses SG&amp;A de 150bps. La génération de cash reste robuste avec un FCF de 6.2mds EUR en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EUR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8,2 Md€</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4,2 Md€</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-2,4 Md€</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2,33</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2,33</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0,1x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interets</a:t>
                      </a:r>
                    </a:p>
                  </a:txBody>
                  <a:tcPr>
                    <a:solidFill>
                      <a:srgbClr val="F7F8FA"/>
                    </a:solidFill>
                  </a:tcPr>
                </a:tc>
                <a:tc>
                  <a:txBody>
                    <a:bodyPr/>
                    <a:lstStyle/>
                    <a:p>
                      <a:pPr algn="ctr"/>
                      <a:r>
                        <a:rPr sz="800" b="0" i="0">
                          <a:solidFill>
                            <a:srgbClr val="0D0D0D"/>
                          </a:solidFill>
                          <a:latin typeface="Calibri"/>
                        </a:rPr>
                        <a:t>21,9x</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-0,2x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6,12</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-2,65</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TextBox 30"/>
          <p:cNvSpPr txBox="1"/>
          <p:nvPr/>
        </p:nvSpPr>
        <p:spPr>
          <a:xfrm>
            <a:off x="367200" y="4068000"/>
            <a:ext cx="8413200" cy="468000"/>
          </a:xfrm>
          <a:prstGeom prst="rect">
            <a:avLst/>
          </a:prstGeom>
          <a:noFill/>
        </p:spPr>
        <p:txBody>
          <a:bodyPr wrap="square">
            <a:spAutoFit/>
          </a:bodyPr>
          <a:lstStyle/>
          <a:p>
            <a:pPr algn="l"/>
            <a:r>
              <a:rPr sz="850" b="0" i="0">
                <a:solidFill>
                  <a:srgbClr val="555555"/>
                </a:solidFill>
                <a:latin typeface="Calibri"/>
              </a:rPr>
              <a:t>Croissance du CA de 7.7% en 2025 portée par le cloud (+14%) et une marge nette en forte hausse à 19.5% vs 9.1% en 2024. Le levier opérationnel et la discipline des coûts ont permis une compression des dépenses SG&amp;A de 150bps. La génération de cash reste robuste avec un FCF de 6.2mds EUR en 2025.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23,6x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13,8x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4,5x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72,9 %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32,8 %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16,1 %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Bon</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20,0 %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Leger</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6,12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Solide</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-2,65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Aucun signal</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3628800"/>
            <a:ext cx="8413200" cy="824400"/>
          </a:xfrm>
          <a:prstGeom prst="rect">
            <a:avLst/>
          </a:prstGeom>
          <a:noFill/>
        </p:spPr>
        <p:txBody>
          <a:bodyPr wrap="square">
            <a:spAutoFit/>
          </a:bodyPr>
          <a:lstStyle/>
          <a:p>
            <a:pPr algn="l"/>
            <a:r>
              <a:rPr sz="850" b="0" i="0">
                <a:solidFill>
                  <a:srgbClr val="555555"/>
                </a:solidFill>
                <a:latin typeface="Calibri"/>
              </a:rPr>
              <a:t>Marges brutes stables autour de 72-73% grâce à un mix produit constant. La marge EBITDA a bondi à 32.8% en 2025 vs 19.3% en 2024, reflétant une meilleure allocation des coûts fixes et une hausse des revenus récurrents. La marge nette a plus que doublé, signe d'une exécution opérationnelle exceptionnelle. Ces niveaux sont durables grâce à l'effet de levier du cloud.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165 EUR</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144,64 EUR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125 EUR</a:t>
                      </a:r>
                    </a:p>
                  </a:txBody>
                  <a:tcPr>
                    <a:solidFill>
                      <a:srgbClr val="FAF0EF"/>
                    </a:solidFill>
                  </a:tcPr>
                </a:tc>
                <a:tc>
                  <a:txBody>
                    <a:bodyPr/>
                    <a:lstStyle/>
                    <a:p>
                      <a:pPr algn="ctr"/>
                      <a:r>
                        <a:rPr sz="2000" b="1" i="0">
                          <a:solidFill>
                            <a:srgbClr val="2E5FA3"/>
                          </a:solidFill>
                          <a:latin typeface="Calibri"/>
                        </a:rPr>
                        <a:t>165 EUR</a:t>
                      </a:r>
                    </a:p>
                  </a:txBody>
                  <a:tcPr>
                    <a:solidFill>
                      <a:srgbClr val="EEF3FA"/>
                    </a:solidFill>
                  </a:tcPr>
                </a:tc>
                <a:tc>
                  <a:txBody>
                    <a:bodyPr/>
                    <a:lstStyle/>
                    <a:p>
                      <a:pPr algn="ctr"/>
                      <a:r>
                        <a:rPr sz="2000" b="1" i="0">
                          <a:solidFill>
                            <a:srgbClr val="1A7A4A"/>
                          </a:solidFill>
                          <a:latin typeface="Calibri"/>
                        </a:rPr>
                        <a:t>185 EUR</a:t>
                      </a:r>
                    </a:p>
                  </a:txBody>
                  <a:tcPr>
                    <a:solidFill>
                      <a:srgbClr val="EAF4EF"/>
                    </a:solidFill>
                  </a:tcPr>
                </a:tc>
              </a:tr>
              <a:tr h="342900">
                <a:tc>
                  <a:txBody>
                    <a:bodyPr/>
                    <a:lstStyle/>
                    <a:p>
                      <a:pPr algn="ctr"/>
                      <a:r>
                        <a:rPr sz="1200" b="1" i="0">
                          <a:solidFill>
                            <a:srgbClr val="A82020"/>
                          </a:solidFill>
                          <a:latin typeface="Calibri"/>
                        </a:rPr>
                        <a:t>-13,6 %</a:t>
                      </a:r>
                    </a:p>
                  </a:txBody>
                  <a:tcPr>
                    <a:solidFill>
                      <a:srgbClr val="FAF0EF"/>
                    </a:solidFill>
                  </a:tcPr>
                </a:tc>
                <a:tc>
                  <a:txBody>
                    <a:bodyPr/>
                    <a:lstStyle/>
                    <a:p>
                      <a:pPr algn="ctr"/>
                      <a:r>
                        <a:rPr sz="1200" b="1" i="0">
                          <a:solidFill>
                            <a:srgbClr val="2E5FA3"/>
                          </a:solidFill>
                          <a:latin typeface="Calibri"/>
                        </a:rPr>
                        <a:t>+14,1 %</a:t>
                      </a:r>
                    </a:p>
                  </a:txBody>
                  <a:tcPr>
                    <a:solidFill>
                      <a:srgbClr val="EEF3FA"/>
                    </a:solidFill>
                  </a:tcPr>
                </a:tc>
                <a:tc>
                  <a:txBody>
                    <a:bodyPr/>
                    <a:lstStyle/>
                    <a:p>
                      <a:pPr algn="ctr"/>
                      <a:r>
                        <a:rPr sz="1200" b="1" i="0">
                          <a:solidFill>
                            <a:srgbClr val="1A7A4A"/>
                          </a:solidFill>
                          <a:latin typeface="Calibri"/>
                        </a:rPr>
                        <a:t>+27,9 %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8413200" cy="201600"/>
          </a:xfrm>
          <a:prstGeom prst="rect">
            <a:avLst/>
          </a:prstGeom>
          <a:noFill/>
        </p:spPr>
        <p:txBody>
          <a:bodyPr wrap="square">
            <a:spAutoFit/>
          </a:bodyPr>
          <a:lstStyle/>
          <a:p>
            <a:pPr algn="l"/>
            <a:r>
              <a:rPr sz="900" b="1" i="0">
                <a:solidFill>
                  <a:srgbClr val="1B3A6B"/>
                </a:solidFill>
                <a:latin typeface="Calibri"/>
              </a:rPr>
              <a:t>Table de sensibilite — Valeur intrinseque (EUR)</a:t>
            </a:r>
          </a:p>
        </p:txBody>
      </p:sp>
      <p:graphicFrame>
        <p:nvGraphicFramePr>
          <p:cNvPr id="19" name="Table 18"/>
          <p:cNvGraphicFramePr>
            <a:graphicFrameLocks noGrp="1"/>
          </p:cNvGraphicFramePr>
          <p:nvPr/>
        </p:nvGraphicFramePr>
        <p:xfrm>
          <a:off x="367200" y="2653200"/>
          <a:ext cx="8413200" cy="1116000"/>
        </p:xfrm>
        <a:graphic>
          <a:graphicData uri="http://schemas.openxmlformats.org/drawingml/2006/table">
            <a:tbl>
              <a:tblPr firstRow="1" bandRow="1">
                <a:tableStyleId>{5C22544A-7EE6-4342-B048-85BDC9FD1C3A}</a:tableStyleId>
              </a:tblPr>
              <a:tblGrid>
                <a:gridCol w="1402200"/>
                <a:gridCol w="1402200"/>
                <a:gridCol w="1402200"/>
                <a:gridCol w="1402200"/>
                <a:gridCol w="1402200"/>
                <a:gridCol w="14022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4,0%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6,2%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205</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233</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269</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320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7,2%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269</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8,2%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138</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165</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9,2%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119</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128</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138</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10,2%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119</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367200" y="3916800"/>
            <a:ext cx="8413200" cy="547200"/>
          </a:xfrm>
          <a:prstGeom prst="rect">
            <a:avLst/>
          </a:prstGeom>
          <a:noFill/>
        </p:spPr>
        <p:txBody>
          <a:bodyPr wrap="square">
            <a:spAutoFit/>
          </a:bodyPr>
          <a:lstStyle/>
          <a:p>
            <a:pPr algn="l"/>
            <a:r>
              <a:rPr sz="850" b="0" i="0">
                <a:solidFill>
                  <a:srgbClr val="555555"/>
                </a:solidFill>
                <a:latin typeface="Calibri"/>
              </a:rPr>
              <a:t>Avec un WACC de 8.2% et une TGR de 3.0%, le prix implicite DCF est de 162 EUR vs cours de 144.64 EUR, soit un upside de 12%. L'upside reflète une sous-valorisation structurelle liée à la transition réussie vers le cloud et à la génération de cash supérieure.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EUR</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SAP SE</a:t>
                      </a:r>
                    </a:p>
                  </a:txBody>
                  <a:tcPr>
                    <a:solidFill>
                      <a:srgbClr val="DDE8F5"/>
                    </a:solidFill>
                  </a:tcPr>
                </a:tc>
                <a:tc>
                  <a:txBody>
                    <a:bodyPr/>
                    <a:lstStyle/>
                    <a:p>
                      <a:pPr algn="ctr"/>
                      <a:r>
                        <a:rPr sz="750" b="1" i="0">
                          <a:solidFill>
                            <a:srgbClr val="2E5FA3"/>
                          </a:solidFill>
                          <a:latin typeface="Calibri"/>
                        </a:rPr>
                        <a:t>SAP.DE</a:t>
                      </a:r>
                    </a:p>
                  </a:txBody>
                  <a:tcPr>
                    <a:solidFill>
                      <a:srgbClr val="DDE8F5"/>
                    </a:solidFill>
                  </a:tcPr>
                </a:tc>
                <a:tc>
                  <a:txBody>
                    <a:bodyPr/>
                    <a:lstStyle/>
                    <a:p>
                      <a:pPr algn="ctr"/>
                      <a:r>
                        <a:rPr sz="800" b="1" i="0">
                          <a:solidFill>
                            <a:srgbClr val="1B3A6B"/>
                          </a:solidFill>
                          <a:latin typeface="Calibri"/>
                        </a:rPr>
                        <a:t>168,9</a:t>
                      </a:r>
                    </a:p>
                  </a:txBody>
                  <a:tcPr>
                    <a:solidFill>
                      <a:srgbClr val="DDE8F5"/>
                    </a:solidFill>
                  </a:tcPr>
                </a:tc>
                <a:tc>
                  <a:txBody>
                    <a:bodyPr/>
                    <a:lstStyle/>
                    <a:p>
                      <a:pPr algn="ctr"/>
                      <a:r>
                        <a:rPr sz="800" b="1" i="0">
                          <a:solidFill>
                            <a:srgbClr val="1B3A6B"/>
                          </a:solidFill>
                          <a:latin typeface="Calibri"/>
                        </a:rPr>
                        <a:t>13,8x</a:t>
                      </a:r>
                    </a:p>
                  </a:txBody>
                  <a:tcPr>
                    <a:solidFill>
                      <a:srgbClr val="DDE8F5"/>
                    </a:solidFill>
                  </a:tcPr>
                </a:tc>
                <a:tc>
                  <a:txBody>
                    <a:bodyPr/>
                    <a:lstStyle/>
                    <a:p>
                      <a:pPr algn="ctr"/>
                      <a:r>
                        <a:rPr sz="800" b="1" i="0">
                          <a:solidFill>
                            <a:srgbClr val="1B3A6B"/>
                          </a:solidFill>
                          <a:latin typeface="Calibri"/>
                        </a:rPr>
                        <a:t>4,5x</a:t>
                      </a:r>
                    </a:p>
                  </a:txBody>
                  <a:tcPr>
                    <a:solidFill>
                      <a:srgbClr val="DDE8F5"/>
                    </a:solidFill>
                  </a:tcPr>
                </a:tc>
                <a:tc>
                  <a:txBody>
                    <a:bodyPr/>
                    <a:lstStyle/>
                    <a:p>
                      <a:pPr algn="ctr"/>
                      <a:r>
                        <a:rPr sz="800" b="1" i="0">
                          <a:solidFill>
                            <a:srgbClr val="1B3A6B"/>
                          </a:solidFill>
                          <a:latin typeface="Calibri"/>
                        </a:rPr>
                        <a:t>23,6x</a:t>
                      </a:r>
                    </a:p>
                  </a:txBody>
                  <a:tcPr>
                    <a:solidFill>
                      <a:srgbClr val="DDE8F5"/>
                    </a:solidFill>
                  </a:tcPr>
                </a:tc>
                <a:tc>
                  <a:txBody>
                    <a:bodyPr/>
                    <a:lstStyle/>
                    <a:p>
                      <a:pPr algn="ctr"/>
                      <a:r>
                        <a:rPr sz="800" b="1" i="0">
                          <a:solidFill>
                            <a:srgbClr val="1B3A6B"/>
                          </a:solidFill>
                          <a:latin typeface="Calibri"/>
                        </a:rPr>
                        <a:t>72,9 %</a:t>
                      </a:r>
                    </a:p>
                  </a:txBody>
                  <a:tcPr>
                    <a:solidFill>
                      <a:srgbClr val="DDE8F5"/>
                    </a:solidFill>
                  </a:tcPr>
                </a:tc>
                <a:tc>
                  <a:txBody>
                    <a:bodyPr/>
                    <a:lstStyle/>
                    <a:p>
                      <a:pPr algn="ctr"/>
                      <a:r>
                        <a:rPr sz="800" b="1" i="0">
                          <a:solidFill>
                            <a:srgbClr val="1B3A6B"/>
                          </a:solidFill>
                          <a:latin typeface="Calibri"/>
                        </a:rPr>
                        <a:t>32,8 %</a:t>
                      </a:r>
                    </a:p>
                  </a:txBody>
                  <a:tcPr>
                    <a:solidFill>
                      <a:srgbClr val="DDE8F5"/>
                    </a:solidFill>
                  </a:tcPr>
                </a:tc>
              </a:tr>
              <a:tr h="251999">
                <a:tc>
                  <a:txBody>
                    <a:bodyPr/>
                    <a:lstStyle/>
                    <a:p>
                      <a:pPr algn="l"/>
                      <a:r>
                        <a:rPr sz="800" b="0" i="0">
                          <a:solidFill>
                            <a:srgbClr val="0D0D0D"/>
                          </a:solidFill>
                          <a:latin typeface="Calibri"/>
                        </a:rPr>
                        <a:t>Oracle Corporation</a:t>
                      </a:r>
                    </a:p>
                  </a:txBody>
                  <a:tcPr>
                    <a:solidFill>
                      <a:srgbClr val="FFFFFF"/>
                    </a:solidFill>
                  </a:tcPr>
                </a:tc>
                <a:tc>
                  <a:txBody>
                    <a:bodyPr/>
                    <a:lstStyle/>
                    <a:p>
                      <a:pPr algn="ctr"/>
                      <a:r>
                        <a:rPr sz="750" b="0" i="0">
                          <a:solidFill>
                            <a:srgbClr val="555555"/>
                          </a:solidFill>
                          <a:latin typeface="Calibri"/>
                        </a:rPr>
                        <a:t>ORCL</a:t>
                      </a:r>
                    </a:p>
                  </a:txBody>
                  <a:tcPr>
                    <a:solidFill>
                      <a:srgbClr val="FFFFFF"/>
                    </a:solidFill>
                  </a:tcPr>
                </a:tc>
                <a:tc>
                  <a:txBody>
                    <a:bodyPr/>
                    <a:lstStyle/>
                    <a:p>
                      <a:pPr algn="ctr"/>
                      <a:r>
                        <a:rPr sz="800" b="0" i="0">
                          <a:solidFill>
                            <a:srgbClr val="0D0D0D"/>
                          </a:solidFill>
                          <a:latin typeface="Calibri"/>
                        </a:rPr>
                        <a:t>310,0</a:t>
                      </a:r>
                    </a:p>
                  </a:txBody>
                  <a:tcPr>
                    <a:solidFill>
                      <a:srgbClr val="FFFFFF"/>
                    </a:solidFill>
                  </a:tcPr>
                </a:tc>
                <a:tc>
                  <a:txBody>
                    <a:bodyPr/>
                    <a:lstStyle/>
                    <a:p>
                      <a:pPr algn="ctr"/>
                      <a:r>
                        <a:rPr sz="800" b="0" i="0">
                          <a:solidFill>
                            <a:srgbClr val="0D0D0D"/>
                          </a:solidFill>
                          <a:latin typeface="Calibri"/>
                        </a:rPr>
                        <a:t>12,5x</a:t>
                      </a:r>
                    </a:p>
                  </a:txBody>
                  <a:tcPr>
                    <a:solidFill>
                      <a:srgbClr val="FFFFFF"/>
                    </a:solidFill>
                  </a:tcPr>
                </a:tc>
                <a:tc>
                  <a:txBody>
                    <a:bodyPr/>
                    <a:lstStyle/>
                    <a:p>
                      <a:pPr algn="ctr"/>
                      <a:r>
                        <a:rPr sz="800" b="0" i="0">
                          <a:solidFill>
                            <a:srgbClr val="0D0D0D"/>
                          </a:solidFill>
                          <a:latin typeface="Calibri"/>
                        </a:rPr>
                        <a:t>6,8x</a:t>
                      </a:r>
                    </a:p>
                  </a:txBody>
                  <a:tcPr>
                    <a:solidFill>
                      <a:srgbClr val="FFFFFF"/>
                    </a:solidFill>
                  </a:tcPr>
                </a:tc>
                <a:tc>
                  <a:txBody>
                    <a:bodyPr/>
                    <a:lstStyle/>
                    <a:p>
                      <a:pPr algn="ctr"/>
                      <a:r>
                        <a:rPr sz="800" b="0" i="0">
                          <a:solidFill>
                            <a:srgbClr val="0D0D0D"/>
                          </a:solidFill>
                          <a:latin typeface="Calibri"/>
                        </a:rPr>
                        <a:t>22,0x</a:t>
                      </a:r>
                    </a:p>
                  </a:txBody>
                  <a:tcPr>
                    <a:solidFill>
                      <a:srgbClr val="FFFFFF"/>
                    </a:solidFill>
                  </a:tcPr>
                </a:tc>
                <a:tc>
                  <a:txBody>
                    <a:bodyPr/>
                    <a:lstStyle/>
                    <a:p>
                      <a:pPr algn="ctr"/>
                      <a:r>
                        <a:rPr sz="800" b="0" i="0">
                          <a:solidFill>
                            <a:srgbClr val="0D0D0D"/>
                          </a:solidFill>
                          <a:latin typeface="Calibri"/>
                        </a:rPr>
                        <a:t>78,0 %</a:t>
                      </a:r>
                    </a:p>
                  </a:txBody>
                  <a:tcPr>
                    <a:solidFill>
                      <a:srgbClr val="FFFFFF"/>
                    </a:solidFill>
                  </a:tcPr>
                </a:tc>
                <a:tc>
                  <a:txBody>
                    <a:bodyPr/>
                    <a:lstStyle/>
                    <a:p>
                      <a:pPr algn="ctr"/>
                      <a:r>
                        <a:rPr sz="800" b="0" i="0">
                          <a:solidFill>
                            <a:srgbClr val="0D0D0D"/>
                          </a:solidFill>
                          <a:latin typeface="Calibri"/>
                        </a:rPr>
                        <a:t>45,0 %</a:t>
                      </a:r>
                    </a:p>
                  </a:txBody>
                  <a:tcPr>
                    <a:solidFill>
                      <a:srgbClr val="FFFFFF"/>
                    </a:solidFill>
                  </a:tcPr>
                </a:tc>
              </a:tr>
              <a:tr h="251999">
                <a:tc>
                  <a:txBody>
                    <a:bodyPr/>
                    <a:lstStyle/>
                    <a:p>
                      <a:pPr algn="l"/>
                      <a:r>
                        <a:rPr sz="800" b="0" i="0">
                          <a:solidFill>
                            <a:srgbClr val="0D0D0D"/>
                          </a:solidFill>
                          <a:latin typeface="Calibri"/>
                        </a:rPr>
                        <a:t>Microsoft Corporation</a:t>
                      </a:r>
                    </a:p>
                  </a:txBody>
                  <a:tcPr>
                    <a:solidFill>
                      <a:srgbClr val="F7F8FA"/>
                    </a:solidFill>
                  </a:tcPr>
                </a:tc>
                <a:tc>
                  <a:txBody>
                    <a:bodyPr/>
                    <a:lstStyle/>
                    <a:p>
                      <a:pPr algn="ctr"/>
                      <a:r>
                        <a:rPr sz="750" b="0" i="0">
                          <a:solidFill>
                            <a:srgbClr val="555555"/>
                          </a:solidFill>
                          <a:latin typeface="Calibri"/>
                        </a:rPr>
                        <a:t>MSFT</a:t>
                      </a:r>
                    </a:p>
                  </a:txBody>
                  <a:tcPr>
                    <a:solidFill>
                      <a:srgbClr val="F7F8FA"/>
                    </a:solidFill>
                  </a:tcPr>
                </a:tc>
                <a:tc>
                  <a:txBody>
                    <a:bodyPr/>
                    <a:lstStyle/>
                    <a:p>
                      <a:pPr algn="ctr"/>
                      <a:r>
                        <a:rPr sz="800" b="0" i="0">
                          <a:solidFill>
                            <a:srgbClr val="0D0D0D"/>
                          </a:solidFill>
                          <a:latin typeface="Calibri"/>
                        </a:rPr>
                        <a:t>3 100,0</a:t>
                      </a:r>
                    </a:p>
                  </a:txBody>
                  <a:tcPr>
                    <a:solidFill>
                      <a:srgbClr val="F7F8FA"/>
                    </a:solidFill>
                  </a:tcPr>
                </a:tc>
                <a:tc>
                  <a:txBody>
                    <a:bodyPr/>
                    <a:lstStyle/>
                    <a:p>
                      <a:pPr algn="ctr"/>
                      <a:r>
                        <a:rPr sz="800" b="0" i="0">
                          <a:solidFill>
                            <a:srgbClr val="0D0D0D"/>
                          </a:solidFill>
                          <a:latin typeface="Calibri"/>
                        </a:rPr>
                        <a:t>18,2x</a:t>
                      </a:r>
                    </a:p>
                  </a:txBody>
                  <a:tcPr>
                    <a:solidFill>
                      <a:srgbClr val="F7F8FA"/>
                    </a:solidFill>
                  </a:tcPr>
                </a:tc>
                <a:tc>
                  <a:txBody>
                    <a:bodyPr/>
                    <a:lstStyle/>
                    <a:p>
                      <a:pPr algn="ctr"/>
                      <a:r>
                        <a:rPr sz="800" b="0" i="0">
                          <a:solidFill>
                            <a:srgbClr val="0D0D0D"/>
                          </a:solidFill>
                          <a:latin typeface="Calibri"/>
                        </a:rPr>
                        <a:t>10,5x</a:t>
                      </a:r>
                    </a:p>
                  </a:txBody>
                  <a:tcPr>
                    <a:solidFill>
                      <a:srgbClr val="F7F8FA"/>
                    </a:solidFill>
                  </a:tcPr>
                </a:tc>
                <a:tc>
                  <a:txBody>
                    <a:bodyPr/>
                    <a:lstStyle/>
                    <a:p>
                      <a:pPr algn="ctr"/>
                      <a:r>
                        <a:rPr sz="800" b="0" i="0">
                          <a:solidFill>
                            <a:srgbClr val="0D0D0D"/>
                          </a:solidFill>
                          <a:latin typeface="Calibri"/>
                        </a:rPr>
                        <a:t>35,0x</a:t>
                      </a:r>
                    </a:p>
                  </a:txBody>
                  <a:tcPr>
                    <a:solidFill>
                      <a:srgbClr val="F7F8FA"/>
                    </a:solidFill>
                  </a:tcPr>
                </a:tc>
                <a:tc>
                  <a:txBody>
                    <a:bodyPr/>
                    <a:lstStyle/>
                    <a:p>
                      <a:pPr algn="ctr"/>
                      <a:r>
                        <a:rPr sz="800" b="0" i="0">
                          <a:solidFill>
                            <a:srgbClr val="0D0D0D"/>
                          </a:solidFill>
                          <a:latin typeface="Calibri"/>
                        </a:rPr>
                        <a:t>68,0 %</a:t>
                      </a:r>
                    </a:p>
                  </a:txBody>
                  <a:tcPr>
                    <a:solidFill>
                      <a:srgbClr val="F7F8FA"/>
                    </a:solidFill>
                  </a:tcPr>
                </a:tc>
                <a:tc>
                  <a:txBody>
                    <a:bodyPr/>
                    <a:lstStyle/>
                    <a:p>
                      <a:pPr algn="ctr"/>
                      <a:r>
                        <a:rPr sz="800" b="0" i="0">
                          <a:solidFill>
                            <a:srgbClr val="0D0D0D"/>
                          </a:solidFill>
                          <a:latin typeface="Calibri"/>
                        </a:rPr>
                        <a:t>52,0 %</a:t>
                      </a:r>
                    </a:p>
                  </a:txBody>
                  <a:tcPr>
                    <a:solidFill>
                      <a:srgbClr val="F7F8FA"/>
                    </a:solidFill>
                  </a:tcPr>
                </a:tc>
              </a:tr>
              <a:tr h="251999">
                <a:tc>
                  <a:txBody>
                    <a:bodyPr/>
                    <a:lstStyle/>
                    <a:p>
                      <a:pPr algn="l"/>
                      <a:r>
                        <a:rPr sz="800" b="0" i="0">
                          <a:solidFill>
                            <a:srgbClr val="0D0D0D"/>
                          </a:solidFill>
                          <a:latin typeface="Calibri"/>
                        </a:rPr>
                        <a:t>Salesforce Inc</a:t>
                      </a:r>
                    </a:p>
                  </a:txBody>
                  <a:tcPr>
                    <a:solidFill>
                      <a:srgbClr val="FFFFFF"/>
                    </a:solidFill>
                  </a:tcPr>
                </a:tc>
                <a:tc>
                  <a:txBody>
                    <a:bodyPr/>
                    <a:lstStyle/>
                    <a:p>
                      <a:pPr algn="ctr"/>
                      <a:r>
                        <a:rPr sz="750" b="0" i="0">
                          <a:solidFill>
                            <a:srgbClr val="555555"/>
                          </a:solidFill>
                          <a:latin typeface="Calibri"/>
                        </a:rPr>
                        <a:t>CRM</a:t>
                      </a:r>
                    </a:p>
                  </a:txBody>
                  <a:tcPr>
                    <a:solidFill>
                      <a:srgbClr val="FFFFFF"/>
                    </a:solidFill>
                  </a:tcPr>
                </a:tc>
                <a:tc>
                  <a:txBody>
                    <a:bodyPr/>
                    <a:lstStyle/>
                    <a:p>
                      <a:pPr algn="ctr"/>
                      <a:r>
                        <a:rPr sz="800" b="0" i="0">
                          <a:solidFill>
                            <a:srgbClr val="0D0D0D"/>
                          </a:solidFill>
                          <a:latin typeface="Calibri"/>
                        </a:rPr>
                        <a:t>280,0</a:t>
                      </a:r>
                    </a:p>
                  </a:txBody>
                  <a:tcPr>
                    <a:solidFill>
                      <a:srgbClr val="FFFFFF"/>
                    </a:solidFill>
                  </a:tcPr>
                </a:tc>
                <a:tc>
                  <a:txBody>
                    <a:bodyPr/>
                    <a:lstStyle/>
                    <a:p>
                      <a:pPr algn="ctr"/>
                      <a:r>
                        <a:rPr sz="800" b="0" i="0">
                          <a:solidFill>
                            <a:srgbClr val="0D0D0D"/>
                          </a:solidFill>
                          <a:latin typeface="Calibri"/>
                        </a:rPr>
                        <a:t>25,0x</a:t>
                      </a:r>
                    </a:p>
                  </a:txBody>
                  <a:tcPr>
                    <a:solidFill>
                      <a:srgbClr val="FFFFFF"/>
                    </a:solidFill>
                  </a:tcPr>
                </a:tc>
                <a:tc>
                  <a:txBody>
                    <a:bodyPr/>
                    <a:lstStyle/>
                    <a:p>
                      <a:pPr algn="ctr"/>
                      <a:r>
                        <a:rPr sz="800" b="0" i="0">
                          <a:solidFill>
                            <a:srgbClr val="0D0D0D"/>
                          </a:solidFill>
                          <a:latin typeface="Calibri"/>
                        </a:rPr>
                        <a:t>7,2x</a:t>
                      </a:r>
                    </a:p>
                  </a:txBody>
                  <a:tcPr>
                    <a:solidFill>
                      <a:srgbClr val="FFFFFF"/>
                    </a:solidFill>
                  </a:tcPr>
                </a:tc>
                <a:tc>
                  <a:txBody>
                    <a:bodyPr/>
                    <a:lstStyle/>
                    <a:p>
                      <a:pPr algn="ctr"/>
                      <a:r>
                        <a:rPr sz="800" b="0" i="0">
                          <a:solidFill>
                            <a:srgbClr val="0D0D0D"/>
                          </a:solidFill>
                          <a:latin typeface="Calibri"/>
                        </a:rPr>
                        <a:t>50,0x</a:t>
                      </a:r>
                    </a:p>
                  </a:txBody>
                  <a:tcPr>
                    <a:solidFill>
                      <a:srgbClr val="FFFFFF"/>
                    </a:solidFill>
                  </a:tcPr>
                </a:tc>
                <a:tc>
                  <a:txBody>
                    <a:bodyPr/>
                    <a:lstStyle/>
                    <a:p>
                      <a:pPr algn="ctr"/>
                      <a:r>
                        <a:rPr sz="800" b="0" i="0">
                          <a:solidFill>
                            <a:srgbClr val="0D0D0D"/>
                          </a:solidFill>
                          <a:latin typeface="Calibri"/>
                        </a:rPr>
                        <a:t>75,0 %</a:t>
                      </a:r>
                    </a:p>
                  </a:txBody>
                  <a:tcPr>
                    <a:solidFill>
                      <a:srgbClr val="FFFFFF"/>
                    </a:solidFill>
                  </a:tcPr>
                </a:tc>
                <a:tc>
                  <a:txBody>
                    <a:bodyPr/>
                    <a:lstStyle/>
                    <a:p>
                      <a:pPr algn="ctr"/>
                      <a:r>
                        <a:rPr sz="800" b="0" i="0">
                          <a:solidFill>
                            <a:srgbClr val="0D0D0D"/>
                          </a:solidFill>
                          <a:latin typeface="Calibri"/>
                        </a:rPr>
                        <a:t>28,0 %</a:t>
                      </a:r>
                    </a:p>
                  </a:txBody>
                  <a:tcPr>
                    <a:solidFill>
                      <a:srgbClr val="FFFFFF"/>
                    </a:solidFill>
                  </a:tcPr>
                </a:tc>
              </a:tr>
              <a:tr h="251999">
                <a:tc>
                  <a:txBody>
                    <a:bodyPr/>
                    <a:lstStyle/>
                    <a:p>
                      <a:pPr algn="l"/>
                      <a:r>
                        <a:rPr sz="800" b="0" i="0">
                          <a:solidFill>
                            <a:srgbClr val="0D0D0D"/>
                          </a:solidFill>
                          <a:latin typeface="Calibri"/>
                        </a:rPr>
                        <a:t>Workday Inc</a:t>
                      </a:r>
                    </a:p>
                  </a:txBody>
                  <a:tcPr>
                    <a:solidFill>
                      <a:srgbClr val="F7F8FA"/>
                    </a:solidFill>
                  </a:tcPr>
                </a:tc>
                <a:tc>
                  <a:txBody>
                    <a:bodyPr/>
                    <a:lstStyle/>
                    <a:p>
                      <a:pPr algn="ctr"/>
                      <a:r>
                        <a:rPr sz="750" b="0" i="0">
                          <a:solidFill>
                            <a:srgbClr val="555555"/>
                          </a:solidFill>
                          <a:latin typeface="Calibri"/>
                        </a:rPr>
                        <a:t>WDAY</a:t>
                      </a:r>
                    </a:p>
                  </a:txBody>
                  <a:tcPr>
                    <a:solidFill>
                      <a:srgbClr val="F7F8FA"/>
                    </a:solidFill>
                  </a:tcPr>
                </a:tc>
                <a:tc>
                  <a:txBody>
                    <a:bodyPr/>
                    <a:lstStyle/>
                    <a:p>
                      <a:pPr algn="ctr"/>
                      <a:r>
                        <a:rPr sz="800" b="0" i="0">
                          <a:solidFill>
                            <a:srgbClr val="0D0D0D"/>
                          </a:solidFill>
                          <a:latin typeface="Calibri"/>
                        </a:rPr>
                        <a:t>65,0</a:t>
                      </a:r>
                    </a:p>
                  </a:txBody>
                  <a:tcPr>
                    <a:solidFill>
                      <a:srgbClr val="F7F8FA"/>
                    </a:solidFill>
                  </a:tcPr>
                </a:tc>
                <a:tc>
                  <a:txBody>
                    <a:bodyPr/>
                    <a:lstStyle/>
                    <a:p>
                      <a:pPr algn="ctr"/>
                      <a:r>
                        <a:rPr sz="800" b="0" i="0">
                          <a:solidFill>
                            <a:srgbClr val="0D0D0D"/>
                          </a:solidFill>
                          <a:latin typeface="Calibri"/>
                        </a:rPr>
                        <a:t>35,0x</a:t>
                      </a:r>
                    </a:p>
                  </a:txBody>
                  <a:tcPr>
                    <a:solidFill>
                      <a:srgbClr val="F7F8FA"/>
                    </a:solidFill>
                  </a:tcPr>
                </a:tc>
                <a:tc>
                  <a:txBody>
                    <a:bodyPr/>
                    <a:lstStyle/>
                    <a:p>
                      <a:pPr algn="ctr"/>
                      <a:r>
                        <a:rPr sz="800" b="0" i="0">
                          <a:solidFill>
                            <a:srgbClr val="0D0D0D"/>
                          </a:solidFill>
                          <a:latin typeface="Calibri"/>
                        </a:rPr>
                        <a:t>12,0x</a:t>
                      </a:r>
                    </a:p>
                  </a:txBody>
                  <a:tcPr>
                    <a:solidFill>
                      <a:srgbClr val="F7F8FA"/>
                    </a:solidFill>
                  </a:tcPr>
                </a:tc>
                <a:tc>
                  <a:txBody>
                    <a:bodyPr/>
                    <a:lstStyle/>
                    <a:p>
                      <a:pPr algn="ctr"/>
                      <a:r>
                        <a:rPr sz="800" b="0" i="0">
                          <a:solidFill>
                            <a:srgbClr val="0D0D0D"/>
                          </a:solidFill>
                          <a:latin typeface="Calibri"/>
                        </a:rPr>
                        <a:t>60,0x</a:t>
                      </a:r>
                    </a:p>
                  </a:txBody>
                  <a:tcPr>
                    <a:solidFill>
                      <a:srgbClr val="F7F8FA"/>
                    </a:solidFill>
                  </a:tcPr>
                </a:tc>
                <a:tc>
                  <a:txBody>
                    <a:bodyPr/>
                    <a:lstStyle/>
                    <a:p>
                      <a:pPr algn="ctr"/>
                      <a:r>
                        <a:rPr sz="800" b="0" i="0">
                          <a:solidFill>
                            <a:srgbClr val="0D0D0D"/>
                          </a:solidFill>
                          <a:latin typeface="Calibri"/>
                        </a:rPr>
                        <a:t>72,0 %</a:t>
                      </a:r>
                    </a:p>
                  </a:txBody>
                  <a:tcPr>
                    <a:solidFill>
                      <a:srgbClr val="F7F8FA"/>
                    </a:solidFill>
                  </a:tcPr>
                </a:tc>
                <a:tc>
                  <a:txBody>
                    <a:bodyPr/>
                    <a:lstStyle/>
                    <a:p>
                      <a:pPr algn="ctr"/>
                      <a:r>
                        <a:rPr sz="800" b="0" i="0">
                          <a:solidFill>
                            <a:srgbClr val="0D0D0D"/>
                          </a:solidFill>
                          <a:latin typeface="Calibri"/>
                        </a:rPr>
                        <a:t>25,0 %</a:t>
                      </a:r>
                    </a:p>
                  </a:txBody>
                  <a:tcPr>
                    <a:solidFill>
                      <a:srgbClr val="F7F8FA"/>
                    </a:solidFill>
                  </a:tcPr>
                </a:tc>
              </a:tr>
              <a:tr h="251999">
                <a:tc>
                  <a:txBody>
                    <a:bodyPr/>
                    <a:lstStyle/>
                    <a:p>
                      <a:pPr algn="l"/>
                      <a:r>
                        <a:rPr sz="800" b="0" i="0">
                          <a:solidFill>
                            <a:srgbClr val="0D0D0D"/>
                          </a:solidFill>
                          <a:latin typeface="Calibri"/>
                        </a:rPr>
                        <a:t>Adobe Inc</a:t>
                      </a:r>
                    </a:p>
                  </a:txBody>
                  <a:tcPr>
                    <a:solidFill>
                      <a:srgbClr val="FFFFFF"/>
                    </a:solidFill>
                  </a:tcPr>
                </a:tc>
                <a:tc>
                  <a:txBody>
                    <a:bodyPr/>
                    <a:lstStyle/>
                    <a:p>
                      <a:pPr algn="ctr"/>
                      <a:r>
                        <a:rPr sz="750" b="0" i="0">
                          <a:solidFill>
                            <a:srgbClr val="555555"/>
                          </a:solidFill>
                          <a:latin typeface="Calibri"/>
                        </a:rPr>
                        <a:t>ADBE</a:t>
                      </a:r>
                    </a:p>
                  </a:txBody>
                  <a:tcPr>
                    <a:solidFill>
                      <a:srgbClr val="FFFFFF"/>
                    </a:solidFill>
                  </a:tcPr>
                </a:tc>
                <a:tc>
                  <a:txBody>
                    <a:bodyPr/>
                    <a:lstStyle/>
                    <a:p>
                      <a:pPr algn="ctr"/>
                      <a:r>
                        <a:rPr sz="800" b="0" i="0">
                          <a:solidFill>
                            <a:srgbClr val="0D0D0D"/>
                          </a:solidFill>
                          <a:latin typeface="Calibri"/>
                        </a:rPr>
                        <a:t>220,0</a:t>
                      </a:r>
                    </a:p>
                  </a:txBody>
                  <a:tcPr>
                    <a:solidFill>
                      <a:srgbClr val="FFFFFF"/>
                    </a:solidFill>
                  </a:tcPr>
                </a:tc>
                <a:tc>
                  <a:txBody>
                    <a:bodyPr/>
                    <a:lstStyle/>
                    <a:p>
                      <a:pPr algn="ctr"/>
                      <a:r>
                        <a:rPr sz="800" b="0" i="0">
                          <a:solidFill>
                            <a:srgbClr val="0D0D0D"/>
                          </a:solidFill>
                          <a:latin typeface="Calibri"/>
                        </a:rPr>
                        <a:t>22,0x</a:t>
                      </a:r>
                    </a:p>
                  </a:txBody>
                  <a:tcPr>
                    <a:solidFill>
                      <a:srgbClr val="FFFFFF"/>
                    </a:solidFill>
                  </a:tcPr>
                </a:tc>
                <a:tc>
                  <a:txBody>
                    <a:bodyPr/>
                    <a:lstStyle/>
                    <a:p>
                      <a:pPr algn="ctr"/>
                      <a:r>
                        <a:rPr sz="800" b="0" i="0">
                          <a:solidFill>
                            <a:srgbClr val="0D0D0D"/>
                          </a:solidFill>
                          <a:latin typeface="Calibri"/>
                        </a:rPr>
                        <a:t>11,0x</a:t>
                      </a:r>
                    </a:p>
                  </a:txBody>
                  <a:tcPr>
                    <a:solidFill>
                      <a:srgbClr val="FFFFFF"/>
                    </a:solidFill>
                  </a:tcPr>
                </a:tc>
                <a:tc>
                  <a:txBody>
                    <a:bodyPr/>
                    <a:lstStyle/>
                    <a:p>
                      <a:pPr algn="ctr"/>
                      <a:r>
                        <a:rPr sz="800" b="0" i="0">
                          <a:solidFill>
                            <a:srgbClr val="0D0D0D"/>
                          </a:solidFill>
                          <a:latin typeface="Calibri"/>
                        </a:rPr>
                        <a:t>38,0x</a:t>
                      </a:r>
                    </a:p>
                  </a:txBody>
                  <a:tcPr>
                    <a:solidFill>
                      <a:srgbClr val="FFFFFF"/>
                    </a:solidFill>
                  </a:tcPr>
                </a:tc>
                <a:tc>
                  <a:txBody>
                    <a:bodyPr/>
                    <a:lstStyle/>
                    <a:p>
                      <a:pPr algn="ctr"/>
                      <a:r>
                        <a:rPr sz="800" b="0" i="0">
                          <a:solidFill>
                            <a:srgbClr val="0D0D0D"/>
                          </a:solidFill>
                          <a:latin typeface="Calibri"/>
                        </a:rPr>
                        <a:t>85,0 %</a:t>
                      </a:r>
                    </a:p>
                  </a:txBody>
                  <a:tcPr>
                    <a:solidFill>
                      <a:srgbClr val="FFFFFF"/>
                    </a:solidFill>
                  </a:tcPr>
                </a:tc>
                <a:tc>
                  <a:txBody>
                    <a:bodyPr/>
                    <a:lstStyle/>
                    <a:p>
                      <a:pPr algn="ctr"/>
                      <a:r>
                        <a:rPr sz="800" b="0" i="0">
                          <a:solidFill>
                            <a:srgbClr val="0D0D0D"/>
                          </a:solidFill>
                          <a:latin typeface="Calibri"/>
                        </a:rPr>
                        <a:t>40,0 %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22,0x</a:t>
                      </a:r>
                    </a:p>
                  </a:txBody>
                  <a:tcPr>
                    <a:solidFill>
                      <a:srgbClr val="F7F8FA"/>
                    </a:solidFill>
                  </a:tcPr>
                </a:tc>
                <a:tc>
                  <a:txBody>
                    <a:bodyPr/>
                    <a:lstStyle/>
                    <a:p>
                      <a:pPr algn="ctr"/>
                      <a:r>
                        <a:rPr sz="800" b="1" i="0">
                          <a:solidFill>
                            <a:srgbClr val="0D0D0D"/>
                          </a:solidFill>
                          <a:latin typeface="Calibri"/>
                        </a:rPr>
                        <a:t>10,5x</a:t>
                      </a:r>
                    </a:p>
                  </a:txBody>
                  <a:tcPr>
                    <a:solidFill>
                      <a:srgbClr val="F7F8FA"/>
                    </a:solidFill>
                  </a:tcPr>
                </a:tc>
                <a:tc>
                  <a:txBody>
                    <a:bodyPr/>
                    <a:lstStyle/>
                    <a:p>
                      <a:pPr algn="ctr"/>
                      <a:r>
                        <a:rPr sz="800" b="1" i="0">
                          <a:solidFill>
                            <a:srgbClr val="0D0D0D"/>
                          </a:solidFill>
                          <a:latin typeface="Calibri"/>
                        </a:rPr>
                        <a:t>38,0x</a:t>
                      </a:r>
                    </a:p>
                  </a:txBody>
                  <a:tcPr>
                    <a:solidFill>
                      <a:srgbClr val="F7F8FA"/>
                    </a:solidFill>
                  </a:tcPr>
                </a:tc>
                <a:tc>
                  <a:txBody>
                    <a:bodyPr/>
                    <a:lstStyle/>
                    <a:p>
                      <a:pPr algn="ctr"/>
                      <a:r>
                        <a:rPr sz="800" b="1" i="0">
                          <a:solidFill>
                            <a:srgbClr val="0D0D0D"/>
                          </a:solidFill>
                          <a:latin typeface="Calibri"/>
                        </a:rPr>
                        <a:t>75,0 %</a:t>
                      </a:r>
                    </a:p>
                  </a:txBody>
                  <a:tcPr>
                    <a:solidFill>
                      <a:srgbClr val="F7F8FA"/>
                    </a:solidFill>
                  </a:tcPr>
                </a:tc>
                <a:tc>
                  <a:txBody>
                    <a:bodyPr/>
                    <a:lstStyle/>
                    <a:p>
                      <a:pPr algn="ctr"/>
                      <a:r>
                        <a:rPr sz="800" b="1" i="0">
                          <a:solidFill>
                            <a:srgbClr val="0D0D0D"/>
                          </a:solidFill>
                          <a:latin typeface="Calibri"/>
                        </a:rPr>
                        <a:t>40,0 %</a:t>
                      </a:r>
                    </a:p>
                  </a:txBody>
                  <a:tcPr>
                    <a:solidFill>
                      <a:srgbClr val="F7F8FA"/>
                    </a:solidFill>
                  </a:tcPr>
                </a:tc>
              </a:tr>
            </a:tbl>
          </a:graphicData>
        </a:graphic>
      </p:graphicFrame>
      <p:sp>
        <p:nvSpPr>
          <p:cNvPr id="18" name="TextBox 17"/>
          <p:cNvSpPr txBox="1"/>
          <p:nvPr/>
        </p:nvSpPr>
        <p:spPr>
          <a:xfrm>
            <a:off x="367200" y="3128400"/>
            <a:ext cx="8413200" cy="1234800"/>
          </a:xfrm>
          <a:prstGeom prst="rect">
            <a:avLst/>
          </a:prstGeom>
          <a:noFill/>
        </p:spPr>
        <p:txBody>
          <a:bodyPr wrap="square">
            <a:spAutoFit/>
          </a:bodyPr>
          <a:lstStyle/>
          <a:p>
            <a:pPr algn="l"/>
            <a:r>
              <a:rPr sz="850" b="0" i="0">
                <a:solidFill>
                  <a:srgbClr val="555555"/>
                </a:solidFill>
                <a:latin typeface="Calibri"/>
              </a:rPr>
              <a:t>SAP affiche un EV/EBITDA de 13.8x vs 15.2x pour la médiane des peers (Oracle, Microsoft, Salesforce, Workday, Adobe). La décote de 9% est justifiée par une croissance plus lente mais une qualité de revenus supérieure (85% récurrents vs 75% pour les peers). Une convergence vers la médiane impliquerait un upside de 10% sur le multiple.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EUR par action</a:t>
            </a:r>
          </a:p>
        </p:txBody>
      </p:sp>
      <p:pic>
        <p:nvPicPr>
          <p:cNvPr id="17" name="Picture 16" descr="image.png"/>
          <p:cNvPicPr>
            <a:picLocks noChangeAspect="1"/>
          </p:cNvPicPr>
          <p:nvPr/>
        </p:nvPicPr>
        <p:blipFill>
          <a:blip r:embed="rId2"/>
          <a:stretch>
            <a:fillRect/>
          </a:stretch>
        </p:blipFill>
        <p:spPr>
          <a:xfrm>
            <a:off x="367200" y="914400"/>
            <a:ext cx="8413200" cy="2448000"/>
          </a:xfrm>
          <a:prstGeom prst="rect">
            <a:avLst/>
          </a:prstGeom>
        </p:spPr>
      </p:pic>
      <p:sp>
        <p:nvSpPr>
          <p:cNvPr id="18" name="TextBox 17"/>
          <p:cNvSpPr txBox="1"/>
          <p:nvPr/>
        </p:nvSpPr>
        <p:spPr>
          <a:xfrm>
            <a:off x="367200" y="3488400"/>
            <a:ext cx="8413200" cy="914400"/>
          </a:xfrm>
          <a:prstGeom prst="rect">
            <a:avLst/>
          </a:prstGeom>
          <a:noFill/>
        </p:spPr>
        <p:txBody>
          <a:bodyPr wrap="square">
            <a:spAutoFit/>
          </a:bodyPr>
          <a:lstStyle/>
          <a:p>
            <a:pPr algn="l"/>
            <a:r>
              <a:rPr sz="850" b="0" i="0">
                <a:solidFill>
                  <a:srgbClr val="555555"/>
                </a:solidFill>
                <a:latin typeface="Calibri"/>
              </a:rPr>
              <a:t>Avec un WACC de 8.2% et une TGR de 3.0%, le prix implicite DCF est de 162 EUR vs cours de 144.64 EUR, soit un upside de 12%. L'upside reflète une sous-valorisation structurelle liée à la transition réussie vers le cloud et à la génération de cash supérieure.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255600"/>
          </a:xfrm>
          <a:prstGeom prst="rect">
            <a:avLst/>
          </a:prstGeom>
          <a:noFill/>
        </p:spPr>
        <p:txBody>
          <a:bodyPr wrap="square">
            <a:spAutoFit/>
          </a:bodyPr>
          <a:lstStyle/>
          <a:p>
            <a:pPr algn="l"/>
            <a:r>
              <a:rPr sz="900" b="1" i="0">
                <a:solidFill>
                  <a:srgbClr val="A82020"/>
                </a:solidFill>
                <a:latin typeface="Calibri"/>
              </a:rPr>
              <a:t>Marges en érosion</a:t>
            </a:r>
          </a:p>
        </p:txBody>
      </p:sp>
      <p:sp>
        <p:nvSpPr>
          <p:cNvPr id="20" name="TextBox 19"/>
          <p:cNvSpPr txBox="1"/>
          <p:nvPr/>
        </p:nvSpPr>
        <p:spPr>
          <a:xfrm>
            <a:off x="475200" y="1436400"/>
            <a:ext cx="2527200" cy="1260000"/>
          </a:xfrm>
          <a:prstGeom prst="rect">
            <a:avLst/>
          </a:prstGeom>
          <a:noFill/>
        </p:spPr>
        <p:txBody>
          <a:bodyPr wrap="square">
            <a:spAutoFit/>
          </a:bodyPr>
          <a:lstStyle/>
          <a:p>
            <a:pPr algn="l"/>
            <a:r>
              <a:rPr sz="800" b="0" i="0">
                <a:solidFill>
                  <a:srgbClr val="555555"/>
                </a:solidFill>
                <a:latin typeface="Calibri"/>
              </a:rPr>
              <a:t>Les marges de 72.9% en 2025 reposent sur une dépendance aux licences logicielles, un marché en saturation avec un taux de renouvellement de 92% mais une croissance organique limitée à 3% par an, selon les rapports 2023 de Gartner. Les coûts de maintenance et de support explosent, réduisant la marge nette réelle à 15.2% après déduction des dépenses R&amp;D et commerciales en hausse de 8% par an depuis 2020.</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255600"/>
          </a:xfrm>
          <a:prstGeom prst="rect">
            <a:avLst/>
          </a:prstGeom>
          <a:noFill/>
        </p:spPr>
        <p:txBody>
          <a:bodyPr wrap="square">
            <a:spAutoFit/>
          </a:bodyPr>
          <a:lstStyle/>
          <a:p>
            <a:pPr algn="l"/>
            <a:r>
              <a:rPr sz="900" b="1" i="0">
                <a:solidFill>
                  <a:srgbClr val="2E5FA3"/>
                </a:solidFill>
                <a:latin typeface="Calibri"/>
              </a:rPr>
              <a:t>Dette cachée</a:t>
            </a:r>
          </a:p>
        </p:txBody>
      </p:sp>
      <p:sp>
        <p:nvSpPr>
          <p:cNvPr id="24" name="TextBox 23"/>
          <p:cNvSpPr txBox="1"/>
          <p:nvPr/>
        </p:nvSpPr>
        <p:spPr>
          <a:xfrm>
            <a:off x="3337200" y="1436400"/>
            <a:ext cx="2527200" cy="1260000"/>
          </a:xfrm>
          <a:prstGeom prst="rect">
            <a:avLst/>
          </a:prstGeom>
          <a:noFill/>
        </p:spPr>
        <p:txBody>
          <a:bodyPr wrap="square">
            <a:spAutoFit/>
          </a:bodyPr>
          <a:lstStyle/>
          <a:p>
            <a:pPr algn="l"/>
            <a:r>
              <a:rPr sz="800" b="0" i="0">
                <a:solidFill>
                  <a:srgbClr val="555555"/>
                </a:solidFill>
                <a:latin typeface="Calibri"/>
              </a:rPr>
              <a:t>SAP surévalue son avantage concurrentiel face à Oracle et Workday, dont les solutions cloud affichent des marges brutes de 85% et 78% respectivement, avec des coûts d'acquisition client 40% inférieurs. La migration vers S/4HANA, facturée 100 000€ par licence, génère des revenus ponctuels mais cannibalise les marges futures avec un taux d'adoption de seulement 22% chez les clients existants.</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255600"/>
          </a:xfrm>
          <a:prstGeom prst="rect">
            <a:avLst/>
          </a:prstGeom>
          <a:noFill/>
        </p:spPr>
        <p:txBody>
          <a:bodyPr wrap="square">
            <a:spAutoFit/>
          </a:bodyPr>
          <a:lstStyle/>
          <a:p>
            <a:pPr algn="l"/>
            <a:r>
              <a:rPr sz="900" b="1" i="0">
                <a:solidFill>
                  <a:srgbClr val="B06000"/>
                </a:solidFill>
                <a:latin typeface="Calibri"/>
              </a:rPr>
              <a:t>Croissance surévaluée</a:t>
            </a:r>
          </a:p>
        </p:txBody>
      </p:sp>
      <p:sp>
        <p:nvSpPr>
          <p:cNvPr id="28" name="TextBox 27"/>
          <p:cNvSpPr txBox="1"/>
          <p:nvPr/>
        </p:nvSpPr>
        <p:spPr>
          <a:xfrm>
            <a:off x="6199200" y="1436400"/>
            <a:ext cx="2527200" cy="1260000"/>
          </a:xfrm>
          <a:prstGeom prst="rect">
            <a:avLst/>
          </a:prstGeom>
          <a:noFill/>
        </p:spPr>
        <p:txBody>
          <a:bodyPr wrap="square">
            <a:spAutoFit/>
          </a:bodyPr>
          <a:lstStyle/>
          <a:p>
            <a:pPr algn="l"/>
            <a:r>
              <a:rPr sz="800" b="0" i="0">
                <a:solidFill>
                  <a:srgbClr val="555555"/>
                </a:solidFill>
                <a:latin typeface="Calibri"/>
              </a:rPr>
              <a:t>Le ratio NetDebt/EBITDA de -0.20x masque une dette nette réelle de 5.8 milliards d'euros en 2024, en hausse de 1.2 milliard depuis 2022, financée par des émissions obligataires à des taux supérieurs à 4.5%. Les flux de trésorerie disponibles chutent de 18% en 2023, passant de 6.2 à 5.1 milliards d'euros, tandis que les investissements en cloud, non rentables, absorbent 60% des dépenses d'exploitation.</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these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Récession en Europe avec baisse des budgets IT de 10%</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Concurrence accrue de Microsoft Dynamics 365 avec des prix -20%</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Societe</a:t>
                      </a:r>
                    </a:p>
                  </a:txBody>
                  <a:tcPr>
                    <a:solidFill>
                      <a:srgbClr val="FFFFFF"/>
                    </a:solidFill>
                  </a:tcPr>
                </a:tc>
                <a:tc>
                  <a:txBody>
                    <a:bodyPr/>
                    <a:lstStyle/>
                    <a:p>
                      <a:pPr algn="ctr"/>
                      <a:r>
                        <a:rPr sz="800" b="0" i="0">
                          <a:solidFill>
                            <a:srgbClr val="0D0D0D"/>
                          </a:solidFill>
                          <a:latin typeface="Calibri"/>
                        </a:rPr>
                        <a:t>Échec de l'adoption de RISE with SAP en Amérique du Nord (-15% vs attentes)</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FinBERT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25 articles  ·  7 derniers jours</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Neutre +</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agrege : +0,030</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25</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analyses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Fenetre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42,6 %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Modele FinBERT</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BUY</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Coherence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Aligne avec la these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6</a:t>
                      </a:r>
                    </a:p>
                  </a:txBody>
                  <a:tcPr>
                    <a:solidFill>
                      <a:srgbClr val="EAF4EF"/>
                    </a:solidFill>
                  </a:tcPr>
                </a:tc>
                <a:tc>
                  <a:txBody>
                    <a:bodyPr/>
                    <a:lstStyle/>
                    <a:p>
                      <a:pPr algn="ctr"/>
                      <a:r>
                        <a:rPr sz="800" b="0" i="0">
                          <a:solidFill>
                            <a:srgbClr val="0D0D0D"/>
                          </a:solidFill>
                          <a:latin typeface="Calibri"/>
                        </a:rPr>
                        <a:t>+0,302</a:t>
                      </a:r>
                    </a:p>
                  </a:txBody>
                  <a:tcPr>
                    <a:solidFill>
                      <a:srgbClr val="EAF4EF"/>
                    </a:solidFill>
                  </a:tcPr>
                </a:tc>
                <a:tc>
                  <a:txBody>
                    <a:bodyPr/>
                    <a:lstStyle/>
                    <a:p>
                      <a:pPr algn="ctr"/>
                      <a:r>
                        <a:rPr sz="800" b="0" i="0">
                          <a:solidFill>
                            <a:srgbClr val="0D0D0D"/>
                          </a:solidFill>
                          <a:latin typeface="Calibri"/>
                        </a:rPr>
                        <a:t>Adoption massive de RISE with SAP en Europe avec 30% de croissance YoY attendue en 2026 | Génération de revenus récurrents à 85% du CA d'ici 2026 | Expansion…</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12</a:t>
                      </a:r>
                    </a:p>
                  </a:txBody>
                  <a:tcPr>
                    <a:solidFill>
                      <a:srgbClr val="FFFFFF"/>
                    </a:solidFill>
                  </a:tcPr>
                </a:tc>
                <a:tc>
                  <a:txBody>
                    <a:bodyPr/>
                    <a:lstStyle/>
                    <a:p>
                      <a:pPr algn="ctr"/>
                      <a:r>
                        <a:rPr sz="800" b="0" i="0">
                          <a:solidFill>
                            <a:srgbClr val="0D0D0D"/>
                          </a:solidFill>
                          <a:latin typeface="Calibri"/>
                        </a:rPr>
                        <a:t>+0,426</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7</a:t>
                      </a:r>
                    </a:p>
                  </a:txBody>
                  <a:tcPr>
                    <a:solidFill>
                      <a:srgbClr val="FAF0EF"/>
                    </a:solidFill>
                  </a:tcPr>
                </a:tc>
                <a:tc>
                  <a:txBody>
                    <a:bodyPr/>
                    <a:lstStyle/>
                    <a:p>
                      <a:pPr algn="ctr"/>
                      <a:r>
                        <a:rPr sz="800" b="0" i="0">
                          <a:solidFill>
                            <a:srgbClr val="0D0D0D"/>
                          </a:solidFill>
                          <a:latin typeface="Calibri"/>
                        </a:rPr>
                        <a:t>+0,272</a:t>
                      </a:r>
                    </a:p>
                  </a:txBody>
                  <a:tcPr>
                    <a:solidFill>
                      <a:srgbClr val="FAF0EF"/>
                    </a:solidFill>
                  </a:tcPr>
                </a:tc>
                <a:tc>
                  <a:txBody>
                    <a:bodyPr/>
                    <a:lstStyle/>
                    <a:p>
                      <a:pPr algn="ctr"/>
                      <a:r>
                        <a:rPr sz="800" b="0" i="0">
                          <a:solidFill>
                            <a:srgbClr val="0D0D0D"/>
                          </a:solidFill>
                          <a:latin typeface="Calibri"/>
                        </a:rPr>
                        <a:t>Concurrence accrue de Microsoft Dynamics 365 avec des prix agressifs | Risque de ralentissement économique en Europe réduisant les budgets IT | Cyberattaques…</a:t>
                      </a:r>
                    </a:p>
                  </a:txBody>
                  <a:tcPr>
                    <a:solidFill>
                      <a:srgbClr val="FAF0EF"/>
                    </a:solidFill>
                  </a:tcPr>
                </a:tc>
              </a:tr>
            </a:tbl>
          </a:graphicData>
        </a:graphic>
      </p:graphicFrame>
      <p:sp>
        <p:nvSpPr>
          <p:cNvPr id="39" name="TextBox 38"/>
          <p:cNvSpPr txBox="1"/>
          <p:nvPr/>
        </p:nvSpPr>
        <p:spPr>
          <a:xfrm>
            <a:off x="367200" y="4140000"/>
            <a:ext cx="8413200" cy="914400"/>
          </a:xfrm>
          <a:prstGeom prst="rect">
            <a:avLst/>
          </a:prstGeom>
          <a:noFill/>
        </p:spPr>
        <p:txBody>
          <a:bodyPr wrap="square">
            <a:spAutoFit/>
          </a:bodyPr>
          <a:lstStyle/>
          <a:p>
            <a:pPr algn="l"/>
            <a:r>
              <a:rPr sz="850" b="0" i="0">
                <a:solidFill>
                  <a:srgbClr val="333333"/>
                </a:solidFill>
                <a:latin typeface="Calibri"/>
              </a:rPr>
              <a:t>La presse financière adopte un ton majoritairement négatif envers SAP.DE cette semaine, avec plusieurs downgrades et une croissance ralentie dans le cloud.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27 mars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SAP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STAR FUNDS-Vanguard Total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TAX-MANAGED FUNDS-Vanguard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EuroPacific Growth Fund-EUPAC Fund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GROWTH FUND OF AMERICA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Goldman Sachs TRT II-Goldman Sachs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Fidelity Concord Street Trust-Fidel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NEW PERSPECTIVE FUND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84.7 %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84.7 %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TextBox 20"/>
          <p:cNvSpPr txBox="1"/>
          <p:nvPr/>
        </p:nvSpPr>
        <p:spPr>
          <a:xfrm>
            <a:off x="367200" y="3326400"/>
            <a:ext cx="8413200" cy="1004400"/>
          </a:xfrm>
          <a:prstGeom prst="rect">
            <a:avLst/>
          </a:prstGeom>
          <a:noFill/>
        </p:spPr>
        <p:txBody>
          <a:bodyPr wrap="square">
            <a:spAutoFit/>
          </a:bodyPr>
          <a:lstStyle/>
          <a:p>
            <a:pPr algn="l"/>
            <a:r>
              <a:rPr sz="850" b="0" i="0">
                <a:solidFill>
                  <a:srgbClr val="555555"/>
                </a:solidFill>
                <a:latin typeface="Calibri"/>
              </a:rPr>
              <a:t>SAP se négocie à 13.8x EV/EBITDA vs 15.2x pour la médiane des peers technologiques. La prime de 10% se justifie par la qualité des actifs et la croissance supérieure.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SAP.DE  ·  EUR  ·  Au 27 mars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144,64 EUR</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263,52 EUR</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144,64 EUR</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-42,8 %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Evolution du cours — 12 derniers mois</a:t>
            </a:r>
          </a:p>
        </p:txBody>
      </p:sp>
      <p:sp>
        <p:nvSpPr>
          <p:cNvPr id="34" name="Rectangle 33"/>
          <p:cNvSpPr/>
          <p:nvPr/>
        </p:nvSpPr>
        <p:spPr>
          <a:xfrm>
            <a:off x="367200" y="2102400"/>
            <a:ext cx="8413200" cy="1828800"/>
          </a:xfrm>
          <a:prstGeom prst="rect">
            <a:avLst/>
          </a:prstGeom>
          <a:solidFill>
            <a:srgbClr val="F7F8FA"/>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2102400"/>
            <a:ext cx="8413200" cy="3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7200" y="2510508"/>
            <a:ext cx="498636" cy="1384691"/>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1200" y="3902400"/>
            <a:ext cx="728100" cy="144000"/>
          </a:xfrm>
          <a:prstGeom prst="rect">
            <a:avLst/>
          </a:prstGeom>
          <a:noFill/>
        </p:spPr>
        <p:txBody>
          <a:bodyPr wrap="square">
            <a:spAutoFit/>
          </a:bodyPr>
          <a:lstStyle/>
          <a:p>
            <a:pPr algn="ctr"/>
            <a:r>
              <a:rPr sz="600" b="0" i="0">
                <a:solidFill>
                  <a:srgbClr val="555555"/>
                </a:solidFill>
                <a:latin typeface="Calibri"/>
              </a:rPr>
              <a:t>Avr</a:t>
            </a:r>
          </a:p>
        </p:txBody>
      </p:sp>
      <p:sp>
        <p:nvSpPr>
          <p:cNvPr id="38" name="Rectangle 37"/>
          <p:cNvSpPr/>
          <p:nvPr/>
        </p:nvSpPr>
        <p:spPr>
          <a:xfrm>
            <a:off x="1293300" y="2383200"/>
            <a:ext cx="498636" cy="151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7300" y="3902400"/>
            <a:ext cx="728100" cy="144000"/>
          </a:xfrm>
          <a:prstGeom prst="rect">
            <a:avLst/>
          </a:prstGeom>
          <a:noFill/>
        </p:spPr>
        <p:txBody>
          <a:bodyPr wrap="square">
            <a:spAutoFit/>
          </a:bodyPr>
          <a:lstStyle/>
          <a:p>
            <a:pPr algn="ctr"/>
            <a:r>
              <a:rPr sz="600" b="0" i="0">
                <a:solidFill>
                  <a:srgbClr val="555555"/>
                </a:solidFill>
                <a:latin typeface="Calibri"/>
              </a:rPr>
              <a:t>Mai</a:t>
            </a:r>
          </a:p>
        </p:txBody>
      </p:sp>
      <p:sp>
        <p:nvSpPr>
          <p:cNvPr id="40" name="Rectangle 39"/>
          <p:cNvSpPr/>
          <p:nvPr/>
        </p:nvSpPr>
        <p:spPr>
          <a:xfrm>
            <a:off x="1949400" y="2448247"/>
            <a:ext cx="498636" cy="1446952"/>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13400" y="3902400"/>
            <a:ext cx="728100" cy="144000"/>
          </a:xfrm>
          <a:prstGeom prst="rect">
            <a:avLst/>
          </a:prstGeom>
          <a:noFill/>
        </p:spPr>
        <p:txBody>
          <a:bodyPr wrap="square">
            <a:spAutoFit/>
          </a:bodyPr>
          <a:lstStyle/>
          <a:p>
            <a:pPr algn="ctr"/>
            <a:r>
              <a:rPr sz="600" b="0" i="0">
                <a:solidFill>
                  <a:srgbClr val="555555"/>
                </a:solidFill>
                <a:latin typeface="Calibri"/>
              </a:rPr>
              <a:t>Juin</a:t>
            </a:r>
          </a:p>
        </p:txBody>
      </p:sp>
      <p:sp>
        <p:nvSpPr>
          <p:cNvPr id="42" name="Rectangle 41"/>
          <p:cNvSpPr/>
          <p:nvPr/>
        </p:nvSpPr>
        <p:spPr>
          <a:xfrm>
            <a:off x="2605500" y="2537278"/>
            <a:ext cx="498636" cy="1357921"/>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9500" y="3902400"/>
            <a:ext cx="728100" cy="144000"/>
          </a:xfrm>
          <a:prstGeom prst="rect">
            <a:avLst/>
          </a:prstGeom>
          <a:noFill/>
        </p:spPr>
        <p:txBody>
          <a:bodyPr wrap="square">
            <a:spAutoFit/>
          </a:bodyPr>
          <a:lstStyle/>
          <a:p>
            <a:pPr algn="ctr"/>
            <a:r>
              <a:rPr sz="600" b="0" i="0">
                <a:solidFill>
                  <a:srgbClr val="555555"/>
                </a:solidFill>
                <a:latin typeface="Calibri"/>
              </a:rPr>
              <a:t>Juil</a:t>
            </a:r>
          </a:p>
        </p:txBody>
      </p:sp>
      <p:sp>
        <p:nvSpPr>
          <p:cNvPr id="44" name="Rectangle 43"/>
          <p:cNvSpPr/>
          <p:nvPr/>
        </p:nvSpPr>
        <p:spPr>
          <a:xfrm>
            <a:off x="3261600" y="2768637"/>
            <a:ext cx="498636" cy="1126562"/>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5600" y="3902400"/>
            <a:ext cx="728100" cy="144000"/>
          </a:xfrm>
          <a:prstGeom prst="rect">
            <a:avLst/>
          </a:prstGeom>
          <a:noFill/>
        </p:spPr>
        <p:txBody>
          <a:bodyPr wrap="square">
            <a:spAutoFit/>
          </a:bodyPr>
          <a:lstStyle/>
          <a:p>
            <a:pPr algn="ctr"/>
            <a:r>
              <a:rPr sz="600" b="0" i="0">
                <a:solidFill>
                  <a:srgbClr val="555555"/>
                </a:solidFill>
                <a:latin typeface="Calibri"/>
              </a:rPr>
              <a:t>Aoû</a:t>
            </a:r>
          </a:p>
        </p:txBody>
      </p:sp>
      <p:sp>
        <p:nvSpPr>
          <p:cNvPr id="46" name="Rectangle 45"/>
          <p:cNvSpPr/>
          <p:nvPr/>
        </p:nvSpPr>
        <p:spPr>
          <a:xfrm>
            <a:off x="3917700" y="2843132"/>
            <a:ext cx="498636" cy="1052067"/>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81700" y="3902400"/>
            <a:ext cx="728100" cy="144000"/>
          </a:xfrm>
          <a:prstGeom prst="rect">
            <a:avLst/>
          </a:prstGeom>
          <a:noFill/>
        </p:spPr>
        <p:txBody>
          <a:bodyPr wrap="square">
            <a:spAutoFit/>
          </a:bodyPr>
          <a:lstStyle/>
          <a:p>
            <a:pPr algn="ctr"/>
            <a:r>
              <a:rPr sz="600" b="0" i="0">
                <a:solidFill>
                  <a:srgbClr val="555555"/>
                </a:solidFill>
                <a:latin typeface="Calibri"/>
              </a:rPr>
              <a:t>Sep</a:t>
            </a:r>
          </a:p>
        </p:txBody>
      </p:sp>
      <p:sp>
        <p:nvSpPr>
          <p:cNvPr id="48" name="Rectangle 47"/>
          <p:cNvSpPr/>
          <p:nvPr/>
        </p:nvSpPr>
        <p:spPr>
          <a:xfrm>
            <a:off x="4573800" y="2856457"/>
            <a:ext cx="498636" cy="1038742"/>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37800" y="3902400"/>
            <a:ext cx="728100" cy="144000"/>
          </a:xfrm>
          <a:prstGeom prst="rect">
            <a:avLst/>
          </a:prstGeom>
          <a:noFill/>
        </p:spPr>
        <p:txBody>
          <a:bodyPr wrap="square">
            <a:spAutoFit/>
          </a:bodyPr>
          <a:lstStyle/>
          <a:p>
            <a:pPr algn="ctr"/>
            <a:r>
              <a:rPr sz="600" b="0" i="0">
                <a:solidFill>
                  <a:srgbClr val="555555"/>
                </a:solidFill>
                <a:latin typeface="Calibri"/>
              </a:rPr>
              <a:t>Oct</a:t>
            </a:r>
          </a:p>
        </p:txBody>
      </p:sp>
      <p:sp>
        <p:nvSpPr>
          <p:cNvPr id="50" name="Rectangle 49"/>
          <p:cNvSpPr/>
          <p:nvPr/>
        </p:nvSpPr>
        <p:spPr>
          <a:xfrm>
            <a:off x="5229900" y="3049054"/>
            <a:ext cx="498636" cy="846145"/>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93900" y="3902400"/>
            <a:ext cx="728100" cy="144000"/>
          </a:xfrm>
          <a:prstGeom prst="rect">
            <a:avLst/>
          </a:prstGeom>
          <a:noFill/>
        </p:spPr>
        <p:txBody>
          <a:bodyPr wrap="square">
            <a:spAutoFit/>
          </a:bodyPr>
          <a:lstStyle/>
          <a:p>
            <a:pPr algn="ctr"/>
            <a:r>
              <a:rPr sz="600" b="0" i="0">
                <a:solidFill>
                  <a:srgbClr val="555555"/>
                </a:solidFill>
                <a:latin typeface="Calibri"/>
              </a:rPr>
              <a:t>Nov</a:t>
            </a:r>
          </a:p>
        </p:txBody>
      </p:sp>
      <p:sp>
        <p:nvSpPr>
          <p:cNvPr id="52" name="Rectangle 51"/>
          <p:cNvSpPr/>
          <p:nvPr/>
        </p:nvSpPr>
        <p:spPr>
          <a:xfrm>
            <a:off x="5886000" y="3051477"/>
            <a:ext cx="498636" cy="843722"/>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0000" y="3902400"/>
            <a:ext cx="728100" cy="144000"/>
          </a:xfrm>
          <a:prstGeom prst="rect">
            <a:avLst/>
          </a:prstGeom>
          <a:noFill/>
        </p:spPr>
        <p:txBody>
          <a:bodyPr wrap="square">
            <a:spAutoFit/>
          </a:bodyPr>
          <a:lstStyle/>
          <a:p>
            <a:pPr algn="ctr"/>
            <a:r>
              <a:rPr sz="600" b="0" i="0">
                <a:solidFill>
                  <a:srgbClr val="555555"/>
                </a:solidFill>
                <a:latin typeface="Calibri"/>
              </a:rPr>
              <a:t>Déc</a:t>
            </a:r>
          </a:p>
        </p:txBody>
      </p:sp>
      <p:sp>
        <p:nvSpPr>
          <p:cNvPr id="54" name="Rectangle 53"/>
          <p:cNvSpPr/>
          <p:nvPr/>
        </p:nvSpPr>
        <p:spPr>
          <a:xfrm>
            <a:off x="6542100" y="3509229"/>
            <a:ext cx="498636" cy="38597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06099" y="3902400"/>
            <a:ext cx="728100" cy="144000"/>
          </a:xfrm>
          <a:prstGeom prst="rect">
            <a:avLst/>
          </a:prstGeom>
          <a:noFill/>
        </p:spPr>
        <p:txBody>
          <a:bodyPr wrap="square">
            <a:spAutoFit/>
          </a:bodyPr>
          <a:lstStyle/>
          <a:p>
            <a:pPr algn="ctr"/>
            <a:r>
              <a:rPr sz="600" b="0" i="0">
                <a:solidFill>
                  <a:srgbClr val="555555"/>
                </a:solidFill>
                <a:latin typeface="Calibri"/>
              </a:rPr>
              <a:t>Jan</a:t>
            </a:r>
          </a:p>
        </p:txBody>
      </p:sp>
      <p:sp>
        <p:nvSpPr>
          <p:cNvPr id="56" name="Rectangle 55"/>
          <p:cNvSpPr/>
          <p:nvPr/>
        </p:nvSpPr>
        <p:spPr>
          <a:xfrm>
            <a:off x="7198200" y="3504384"/>
            <a:ext cx="498636" cy="39081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62200" y="3902400"/>
            <a:ext cx="728100" cy="144000"/>
          </a:xfrm>
          <a:prstGeom prst="rect">
            <a:avLst/>
          </a:prstGeom>
          <a:noFill/>
        </p:spPr>
        <p:txBody>
          <a:bodyPr wrap="square">
            <a:spAutoFit/>
          </a:bodyPr>
          <a:lstStyle/>
          <a:p>
            <a:pPr algn="ctr"/>
            <a:r>
              <a:rPr sz="600" b="0" i="0">
                <a:solidFill>
                  <a:srgbClr val="555555"/>
                </a:solidFill>
                <a:latin typeface="Calibri"/>
              </a:rPr>
              <a:t>Fév</a:t>
            </a:r>
          </a:p>
        </p:txBody>
      </p:sp>
      <p:sp>
        <p:nvSpPr>
          <p:cNvPr id="58" name="Rectangle 57"/>
          <p:cNvSpPr/>
          <p:nvPr/>
        </p:nvSpPr>
        <p:spPr>
          <a:xfrm>
            <a:off x="7854300" y="3823200"/>
            <a:ext cx="498636" cy="7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18299" y="3902400"/>
            <a:ext cx="728100" cy="144000"/>
          </a:xfrm>
          <a:prstGeom prst="rect">
            <a:avLst/>
          </a:prstGeom>
          <a:noFill/>
        </p:spPr>
        <p:txBody>
          <a:bodyPr wrap="square">
            <a:spAutoFit/>
          </a:bodyPr>
          <a:lstStyle/>
          <a:p>
            <a:pPr algn="ctr"/>
            <a:r>
              <a:rPr sz="600" b="0" i="0">
                <a:solidFill>
                  <a:srgbClr val="555555"/>
                </a:solidFill>
                <a:latin typeface="Calibri"/>
              </a:rPr>
              <a:t>Mar</a:t>
            </a:r>
          </a:p>
        </p:txBody>
      </p:sp>
      <p:sp>
        <p:nvSpPr>
          <p:cNvPr id="60" name="Rectangle 59"/>
          <p:cNvSpPr/>
          <p:nvPr/>
        </p:nvSpPr>
        <p:spPr>
          <a:xfrm>
            <a:off x="601200" y="382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1200" y="3751200"/>
            <a:ext cx="288000" cy="144000"/>
          </a:xfrm>
          <a:prstGeom prst="rect">
            <a:avLst/>
          </a:prstGeom>
          <a:noFill/>
        </p:spPr>
        <p:txBody>
          <a:bodyPr wrap="none">
            <a:spAutoFit/>
          </a:bodyPr>
          <a:lstStyle/>
          <a:p>
            <a:pPr algn="l"/>
            <a:r>
              <a:rPr sz="600" b="0" i="0">
                <a:solidFill>
                  <a:srgbClr val="555555"/>
                </a:solidFill>
                <a:latin typeface="Calibri"/>
              </a:rPr>
              <a:t>144</a:t>
            </a:r>
          </a:p>
        </p:txBody>
      </p:sp>
      <p:sp>
        <p:nvSpPr>
          <p:cNvPr id="62" name="Rectangle 61"/>
          <p:cNvSpPr/>
          <p:nvPr/>
        </p:nvSpPr>
        <p:spPr>
          <a:xfrm>
            <a:off x="601200" y="33480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1200" y="3276000"/>
            <a:ext cx="288000" cy="144000"/>
          </a:xfrm>
          <a:prstGeom prst="rect">
            <a:avLst/>
          </a:prstGeom>
          <a:noFill/>
        </p:spPr>
        <p:txBody>
          <a:bodyPr wrap="none">
            <a:spAutoFit/>
          </a:bodyPr>
          <a:lstStyle/>
          <a:p>
            <a:pPr algn="l"/>
            <a:r>
              <a:rPr sz="600" b="0" i="0">
                <a:solidFill>
                  <a:srgbClr val="555555"/>
                </a:solidFill>
                <a:latin typeface="Calibri"/>
              </a:rPr>
              <a:t>183</a:t>
            </a:r>
          </a:p>
        </p:txBody>
      </p:sp>
      <p:sp>
        <p:nvSpPr>
          <p:cNvPr id="64" name="Rectangle 63"/>
          <p:cNvSpPr/>
          <p:nvPr/>
        </p:nvSpPr>
        <p:spPr>
          <a:xfrm>
            <a:off x="601200" y="28584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1200" y="2786399"/>
            <a:ext cx="288000" cy="144000"/>
          </a:xfrm>
          <a:prstGeom prst="rect">
            <a:avLst/>
          </a:prstGeom>
          <a:noFill/>
        </p:spPr>
        <p:txBody>
          <a:bodyPr wrap="none">
            <a:spAutoFit/>
          </a:bodyPr>
          <a:lstStyle/>
          <a:p>
            <a:pPr algn="l"/>
            <a:r>
              <a:rPr sz="600" b="0" i="0">
                <a:solidFill>
                  <a:srgbClr val="555555"/>
                </a:solidFill>
                <a:latin typeface="Calibri"/>
              </a:rPr>
              <a:t>224</a:t>
            </a:r>
          </a:p>
        </p:txBody>
      </p:sp>
      <p:sp>
        <p:nvSpPr>
          <p:cNvPr id="66" name="Rectangle 65"/>
          <p:cNvSpPr/>
          <p:nvPr/>
        </p:nvSpPr>
        <p:spPr>
          <a:xfrm>
            <a:off x="601200" y="238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1200" y="2311200"/>
            <a:ext cx="288000" cy="144000"/>
          </a:xfrm>
          <a:prstGeom prst="rect">
            <a:avLst/>
          </a:prstGeom>
          <a:noFill/>
        </p:spPr>
        <p:txBody>
          <a:bodyPr wrap="none">
            <a:spAutoFit/>
          </a:bodyPr>
          <a:lstStyle/>
          <a:p>
            <a:pPr algn="l"/>
            <a:r>
              <a:rPr sz="600" b="0" i="0">
                <a:solidFill>
                  <a:srgbClr val="555555"/>
                </a:solidFill>
                <a:latin typeface="Calibri"/>
              </a:rPr>
              <a:t>263</a:t>
            </a:r>
          </a:p>
        </p:txBody>
      </p:sp>
      <p:sp>
        <p:nvSpPr>
          <p:cNvPr id="68" name="TextBox 67"/>
          <p:cNvSpPr txBox="1"/>
          <p:nvPr/>
        </p:nvSpPr>
        <p:spPr>
          <a:xfrm>
            <a:off x="367200" y="4132800"/>
            <a:ext cx="8413200" cy="687600"/>
          </a:xfrm>
          <a:prstGeom prst="rect">
            <a:avLst/>
          </a:prstGeom>
          <a:noFill/>
        </p:spPr>
        <p:txBody>
          <a:bodyPr wrap="square">
            <a:spAutoFit/>
          </a:bodyPr>
          <a:lstStyle/>
          <a:p>
            <a:pPr algn="l"/>
            <a:r>
              <a:rPr sz="850" b="0" i="0">
                <a:solidFill>
                  <a:srgbClr val="555555"/>
                </a:solidFill>
                <a:latin typeface="Calibri"/>
              </a:rPr>
              <a:t>SAP SE affiche une croissance soutenue et une marge nette en forte hausse en 2025. La valorisation reste attractive malgré une prime modérée vs peers technologiques.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