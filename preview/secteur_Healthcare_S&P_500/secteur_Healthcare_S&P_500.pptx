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Healthcare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15.1x  ·  Croissance med. : +6.1 %  ·  Marge EBITDA med. : 33.9 %  ·  Score moyen : 64/100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Innovation thérapeutique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avancées en thérapies géniques et cellulaires (ex : CAR-T) pourraient relancer la croissance organique des acteurs comme TMO.</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Politiques de prix</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Un assouplissement des contraintes de prix aux États-Unis (ex : Inflation Reduction Act) bénéficierait aux grands laboratoires comme JNJ.</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Demande structurelle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 vieillissement de la population mondiale et l'augmentation des maladies chroniques soutiennent la demande en médicaments et dispositifs médicaux.</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Réglementation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réformes sur les prix des médicaments (ex : Medicare) pourraient éroder les marges des acteurs historiques.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biosimilaires et de génériques exerce une pression à la baisse sur les prix des blockbusters.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Risque juridique</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litiges liés aux opioïdes ou aux dispositifs médicaux (ex : Johnson &amp; Johnson) représentent un passif financier significatif.</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15.1x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+6.1 %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33.9 %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+11.9 %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Healthcare affiche une valorisation modérée avec un multiple EV/EBITDA médian de 15.1x, légèrement au-dessus de sa moyenne historique, reflétant une confiance modérée des investisseurs malgré des pressions réglementaires persistantes. La marge EBITDA médiane de 33.9% souligne une résilience opérationnelle, mais la croissance des revenus à +6.1% reste en deçà des attentes post-pandémie.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Innovation thérapeutique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avancées en thérapies géniques et cellulaires (ex : CAR-T) pourraient relancer la croissance organique des acteurs comme TMO.</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Politiques de prix</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Un assouplissement des contraintes de prix aux États-Unis (ex : Inflation Reduction Act) bénéficierait aux grands laboratoires comme JNJ.</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Demande structurelle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 vieillissement de la population mondiale et l'augmentation des maladies chroniques soutiennent la demande en médicaments et dispositifs médicaux.</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15.1x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33.9 %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+6.1 %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+11.9 %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64/100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18.2x</a:t>
                      </a:r>
                    </a:p>
                  </a:txBody>
                  <a:tcPr>
                    <a:noFill/>
                  </a:tcPr>
                </a:tc>
                <a:tc>
                  <a:txBody>
                    <a:bodyPr/>
                    <a:lstStyle/>
                    <a:p>
                      <a:pPr algn="ctr"/>
                      <a:r>
                        <a:rPr sz="750" b="0">
                          <a:solidFill>
                            <a:srgbClr val="1A1A1A"/>
                          </a:solidFill>
                        </a:rPr>
                        <a:t>6.5x</a:t>
                      </a:r>
                    </a:p>
                  </a:txBody>
                  <a:tcPr>
                    <a:noFill/>
                  </a:tcPr>
                </a:tc>
                <a:tc>
                  <a:txBody>
                    <a:bodyPr/>
                    <a:lstStyle/>
                    <a:p>
                      <a:pPr algn="ctr"/>
                      <a:r>
                        <a:rPr sz="750" b="0">
                          <a:solidFill>
                            <a:srgbClr val="1A1A1A"/>
                          </a:solidFill>
                        </a:rPr>
                        <a:t>22.0x</a:t>
                      </a:r>
                    </a:p>
                  </a:txBody>
                  <a:tcPr>
                    <a:noFill/>
                  </a:tcPr>
                </a:tc>
                <a:tc>
                  <a:txBody>
                    <a:bodyPr/>
                    <a:lstStyle/>
                    <a:p>
                      <a:pPr algn="ctr"/>
                      <a:r>
                        <a:rPr sz="750" b="0">
                          <a:solidFill>
                            <a:srgbClr val="1A1A1A"/>
                          </a:solidFill>
                        </a:rPr>
                        <a:t>68.1 %</a:t>
                      </a:r>
                    </a:p>
                  </a:txBody>
                  <a:tcPr>
                    <a:noFill/>
                  </a:tcPr>
                </a:tc>
                <a:tc>
                  <a:txBody>
                    <a:bodyPr/>
                    <a:lstStyle/>
                    <a:p>
                      <a:pPr algn="ctr"/>
                      <a:r>
                        <a:rPr sz="750" b="0">
                          <a:solidFill>
                            <a:srgbClr val="1A1A1A"/>
                          </a:solidFill>
                        </a:rPr>
                        <a:t>35.9 %</a:t>
                      </a:r>
                    </a:p>
                  </a:txBody>
                  <a:tcPr>
                    <a:noFill/>
                  </a:tcPr>
                </a:tc>
                <a:tc>
                  <a:txBody>
                    <a:bodyPr/>
                    <a:lstStyle/>
                    <a:p>
                      <a:pPr algn="ctr"/>
                      <a:r>
                        <a:rPr sz="750" b="0">
                          <a:solidFill>
                            <a:srgbClr val="1A1A1A"/>
                          </a:solidFill>
                        </a:rPr>
                        <a:t>35.0 %</a:t>
                      </a:r>
                    </a:p>
                  </a:txBody>
                  <a:tcPr>
                    <a:noFill/>
                  </a:tcPr>
                </a:tc>
              </a:tr>
              <a:tr h="198000">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11.5x</a:t>
                      </a:r>
                    </a:p>
                  </a:txBody>
                  <a:tcPr>
                    <a:solidFill>
                      <a:srgbClr val="F5F7FA"/>
                    </a:solidFill>
                  </a:tcPr>
                </a:tc>
                <a:tc>
                  <a:txBody>
                    <a:bodyPr/>
                    <a:lstStyle/>
                    <a:p>
                      <a:pPr algn="ctr"/>
                      <a:r>
                        <a:rPr sz="750" b="0">
                          <a:solidFill>
                            <a:srgbClr val="1A1A1A"/>
                          </a:solidFill>
                        </a:rPr>
                        <a:t>5.2x</a:t>
                      </a:r>
                    </a:p>
                  </a:txBody>
                  <a:tcPr>
                    <a:solidFill>
                      <a:srgbClr val="F5F7FA"/>
                    </a:solidFill>
                  </a:tcPr>
                </a:tc>
                <a:tc>
                  <a:txBody>
                    <a:bodyPr/>
                    <a:lstStyle/>
                    <a:p>
                      <a:pPr algn="ctr"/>
                      <a:r>
                        <a:rPr sz="750" b="0">
                          <a:solidFill>
                            <a:srgbClr val="1A1A1A"/>
                          </a:solidFill>
                        </a:rPr>
                        <a:t>16.6x</a:t>
                      </a:r>
                    </a:p>
                  </a:txBody>
                  <a:tcPr>
                    <a:solidFill>
                      <a:srgbClr val="F5F7FA"/>
                    </a:solidFill>
                  </a:tcPr>
                </a:tc>
                <a:tc>
                  <a:txBody>
                    <a:bodyPr/>
                    <a:lstStyle/>
                    <a:p>
                      <a:pPr algn="ctr"/>
                      <a:r>
                        <a:rPr sz="750" b="0">
                          <a:solidFill>
                            <a:srgbClr val="1A1A1A"/>
                          </a:solidFill>
                        </a:rPr>
                        <a:t>77.2 %</a:t>
                      </a:r>
                    </a:p>
                  </a:txBody>
                  <a:tcPr>
                    <a:solidFill>
                      <a:srgbClr val="F5F7FA"/>
                    </a:solidFill>
                  </a:tcPr>
                </a:tc>
                <a:tc>
                  <a:txBody>
                    <a:bodyPr/>
                    <a:lstStyle/>
                    <a:p>
                      <a:pPr algn="ctr"/>
                      <a:r>
                        <a:rPr sz="750" b="0">
                          <a:solidFill>
                            <a:srgbClr val="1A1A1A"/>
                          </a:solidFill>
                        </a:rPr>
                        <a:t>44.8 %</a:t>
                      </a:r>
                    </a:p>
                  </a:txBody>
                  <a:tcPr>
                    <a:solidFill>
                      <a:srgbClr val="F5F7FA"/>
                    </a:solidFill>
                  </a:tcPr>
                </a:tc>
                <a:tc>
                  <a:txBody>
                    <a:bodyPr/>
                    <a:lstStyle/>
                    <a:p>
                      <a:pPr algn="ctr"/>
                      <a:r>
                        <a:rPr sz="750" b="0">
                          <a:solidFill>
                            <a:srgbClr val="1A1A1A"/>
                          </a:solidFill>
                        </a:rPr>
                        <a:t>36.9 %</a:t>
                      </a:r>
                    </a:p>
                  </a:txBody>
                  <a:tcPr>
                    <a:solidFill>
                      <a:srgbClr val="F5F7FA"/>
                    </a:solidFill>
                  </a:tcPr>
                </a:tc>
              </a:tr>
              <a:tr h="198000">
                <a:tc>
                  <a:txBody>
                    <a:bodyPr/>
                    <a:lstStyle/>
                    <a:p>
                      <a:pPr algn="ctr"/>
                      <a:r>
                        <a:rPr sz="750" b="0">
                          <a:solidFill>
                            <a:srgbClr val="1A1A1A"/>
                          </a:solidFill>
                        </a:rPr>
                        <a:t>Thermo Fisher Scientific Inc</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4.8x</a:t>
                      </a:r>
                    </a:p>
                  </a:txBody>
                  <a:tcPr>
                    <a:noFill/>
                  </a:tcPr>
                </a:tc>
                <a:tc>
                  <a:txBody>
                    <a:bodyPr/>
                    <a:lstStyle/>
                    <a:p>
                      <a:pPr algn="ctr"/>
                      <a:r>
                        <a:rPr sz="750" b="0">
                          <a:solidFill>
                            <a:srgbClr val="1A1A1A"/>
                          </a:solidFill>
                        </a:rPr>
                        <a:t>27.7x</a:t>
                      </a:r>
                    </a:p>
                  </a:txBody>
                  <a:tcPr>
                    <a:noFill/>
                  </a:tcPr>
                </a:tc>
                <a:tc>
                  <a:txBody>
                    <a:bodyPr/>
                    <a:lstStyle/>
                    <a:p>
                      <a:pPr algn="ctr"/>
                      <a:r>
                        <a:rPr sz="750" b="0">
                          <a:solidFill>
                            <a:srgbClr val="1A1A1A"/>
                          </a:solidFill>
                        </a:rPr>
                        <a:t>41.1 %</a:t>
                      </a:r>
                    </a:p>
                  </a:txBody>
                  <a:tcPr>
                    <a:noFill/>
                  </a:tcPr>
                </a:tc>
                <a:tc>
                  <a:txBody>
                    <a:bodyPr/>
                    <a:lstStyle/>
                    <a:p>
                      <a:pPr algn="ctr"/>
                      <a:r>
                        <a:rPr sz="750" b="0">
                          <a:solidFill>
                            <a:srgbClr val="1A1A1A"/>
                          </a:solidFill>
                        </a:rPr>
                        <a:t>25.0 %</a:t>
                      </a:r>
                    </a:p>
                  </a:txBody>
                  <a:tcPr>
                    <a:noFill/>
                  </a:tcPr>
                </a:tc>
                <a:tc>
                  <a:txBody>
                    <a:bodyPr/>
                    <a:lstStyle/>
                    <a:p>
                      <a:pPr algn="ctr"/>
                      <a:r>
                        <a:rPr sz="750" b="0">
                          <a:solidFill>
                            <a:srgbClr val="1A1A1A"/>
                          </a:solidFill>
                        </a:rPr>
                        <a:t>13.0 %</a:t>
                      </a:r>
                    </a:p>
                  </a:txBody>
                  <a:tcPr>
                    <a:noFill/>
                  </a:tcPr>
                </a:tc>
              </a:tr>
              <a:tr h="198000">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3.4x</a:t>
                      </a:r>
                    </a:p>
                  </a:txBody>
                  <a:tcPr>
                    <a:solidFill>
                      <a:srgbClr val="F5F7FA"/>
                    </a:solidFill>
                  </a:tcPr>
                </a:tc>
                <a:tc>
                  <a:txBody>
                    <a:bodyPr/>
                    <a:lstStyle/>
                    <a:p>
                      <a:pPr algn="ctr"/>
                      <a:r>
                        <a:rPr sz="750" b="0">
                          <a:solidFill>
                            <a:srgbClr val="1A1A1A"/>
                          </a:solidFill>
                        </a:rPr>
                        <a:t>20.8x</a:t>
                      </a:r>
                    </a:p>
                  </a:txBody>
                  <a:tcPr>
                    <a:solidFill>
                      <a:srgbClr val="F5F7FA"/>
                    </a:solidFill>
                  </a:tcPr>
                </a:tc>
                <a:tc>
                  <a:txBody>
                    <a:bodyPr/>
                    <a:lstStyle/>
                    <a:p>
                      <a:pPr algn="ctr"/>
                      <a:r>
                        <a:rPr sz="750" b="0">
                          <a:solidFill>
                            <a:srgbClr val="1A1A1A"/>
                          </a:solidFill>
                        </a:rPr>
                        <a:t>75.8 %</a:t>
                      </a:r>
                    </a:p>
                  </a:txBody>
                  <a:tcPr>
                    <a:solidFill>
                      <a:srgbClr val="F5F7FA"/>
                    </a:solidFill>
                  </a:tcPr>
                </a:tc>
                <a:tc>
                  <a:txBody>
                    <a:bodyPr/>
                    <a:lstStyle/>
                    <a:p>
                      <a:pPr algn="ctr"/>
                      <a:r>
                        <a:rPr sz="750" b="0">
                          <a:solidFill>
                            <a:srgbClr val="1A1A1A"/>
                          </a:solidFill>
                        </a:rPr>
                        <a:t>41.1 %</a:t>
                      </a:r>
                    </a:p>
                  </a:txBody>
                  <a:tcPr>
                    <a:solidFill>
                      <a:srgbClr val="F5F7FA"/>
                    </a:solidFill>
                  </a:tcPr>
                </a:tc>
                <a:tc>
                  <a:txBody>
                    <a:bodyPr/>
                    <a:lstStyle/>
                    <a:p>
                      <a:pPr algn="ctr"/>
                      <a:r>
                        <a:rPr sz="750" b="0">
                          <a:solidFill>
                            <a:srgbClr val="1A1A1A"/>
                          </a:solidFill>
                        </a:rPr>
                        <a:t>8.9 %</a:t>
                      </a:r>
                    </a:p>
                  </a:txBody>
                  <a:tcPr>
                    <a:solidFill>
                      <a:srgbClr val="F5F7FA"/>
                    </a:solidFill>
                  </a:tcPr>
                </a:tc>
              </a:tr>
              <a:tr h="198000">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4.2x</a:t>
                      </a:r>
                    </a:p>
                  </a:txBody>
                  <a:tcPr>
                    <a:noFill/>
                  </a:tcPr>
                </a:tc>
                <a:tc>
                  <a:txBody>
                    <a:bodyPr/>
                    <a:lstStyle/>
                    <a:p>
                      <a:pPr algn="ctr"/>
                      <a:r>
                        <a:rPr sz="750" b="0">
                          <a:solidFill>
                            <a:srgbClr val="1A1A1A"/>
                          </a:solidFill>
                        </a:rPr>
                        <a:t>27.7x</a:t>
                      </a:r>
                    </a:p>
                  </a:txBody>
                  <a:tcPr>
                    <a:noFill/>
                  </a:tcPr>
                </a:tc>
                <a:tc>
                  <a:txBody>
                    <a:bodyPr/>
                    <a:lstStyle/>
                    <a:p>
                      <a:pPr algn="ctr"/>
                      <a:r>
                        <a:rPr sz="750" b="0">
                          <a:solidFill>
                            <a:srgbClr val="1A1A1A"/>
                          </a:solidFill>
                        </a:rPr>
                        <a:t>56.7 %</a:t>
                      </a:r>
                    </a:p>
                  </a:txBody>
                  <a:tcPr>
                    <a:noFill/>
                  </a:tcPr>
                </a:tc>
                <a:tc>
                  <a:txBody>
                    <a:bodyPr/>
                    <a:lstStyle/>
                    <a:p>
                      <a:pPr algn="ctr"/>
                      <a:r>
                        <a:rPr sz="750" b="0">
                          <a:solidFill>
                            <a:srgbClr val="1A1A1A"/>
                          </a:solidFill>
                        </a:rPr>
                        <a:t>27.1 %</a:t>
                      </a:r>
                    </a:p>
                  </a:txBody>
                  <a:tcPr>
                    <a:noFill/>
                  </a:tcPr>
                </a:tc>
                <a:tc>
                  <a:txBody>
                    <a:bodyPr/>
                    <a:lstStyle/>
                    <a:p>
                      <a:pPr algn="ctr"/>
                      <a:r>
                        <a:rPr sz="750" b="0">
                          <a:solidFill>
                            <a:srgbClr val="1A1A1A"/>
                          </a:solidFill>
                        </a:rPr>
                        <a:t>13.0 %</a:t>
                      </a:r>
                    </a:p>
                  </a:txBody>
                  <a:tcPr>
                    <a:noFill/>
                  </a:tcPr>
                </a:tc>
              </a:tr>
              <a:tr h="198000">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6.1x</a:t>
                      </a:r>
                    </a:p>
                  </a:txBody>
                  <a:tcPr>
                    <a:solidFill>
                      <a:srgbClr val="F5F7FA"/>
                    </a:solidFill>
                  </a:tcPr>
                </a:tc>
                <a:tc>
                  <a:txBody>
                    <a:bodyPr/>
                    <a:lstStyle/>
                    <a:p>
                      <a:pPr algn="ctr"/>
                      <a:r>
                        <a:rPr sz="750" b="0">
                          <a:solidFill>
                            <a:srgbClr val="1A1A1A"/>
                          </a:solidFill>
                        </a:rPr>
                        <a:t>38.0x</a:t>
                      </a:r>
                    </a:p>
                  </a:txBody>
                  <a:tcPr>
                    <a:solidFill>
                      <a:srgbClr val="F5F7FA"/>
                    </a:solidFill>
                  </a:tcPr>
                </a:tc>
                <a:tc>
                  <a:txBody>
                    <a:bodyPr/>
                    <a:lstStyle/>
                    <a:p>
                      <a:pPr algn="ctr"/>
                      <a:r>
                        <a:rPr sz="750" b="0">
                          <a:solidFill>
                            <a:srgbClr val="1A1A1A"/>
                          </a:solidFill>
                        </a:rPr>
                        <a:t>59.2 %</a:t>
                      </a:r>
                    </a:p>
                  </a:txBody>
                  <a:tcPr>
                    <a:solidFill>
                      <a:srgbClr val="F5F7FA"/>
                    </a:solidFill>
                  </a:tcPr>
                </a:tc>
                <a:tc>
                  <a:txBody>
                    <a:bodyPr/>
                    <a:lstStyle/>
                    <a:p>
                      <a:pPr algn="ctr"/>
                      <a:r>
                        <a:rPr sz="750" b="0">
                          <a:solidFill>
                            <a:srgbClr val="1A1A1A"/>
                          </a:solidFill>
                        </a:rPr>
                        <a:t>31.9 %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UnitedHealth Group Incorpora</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21.0x</a:t>
                      </a:r>
                    </a:p>
                  </a:txBody>
                  <a:tcPr>
                    <a:noFill/>
                  </a:tcPr>
                </a:tc>
                <a:tc>
                  <a:txBody>
                    <a:bodyPr/>
                    <a:lstStyle/>
                    <a:p>
                      <a:pPr algn="ctr"/>
                      <a:r>
                        <a:rPr sz="750" b="0">
                          <a:solidFill>
                            <a:srgbClr val="1A1A1A"/>
                          </a:solidFill>
                        </a:rPr>
                        <a:t>18.5 %</a:t>
                      </a:r>
                    </a:p>
                  </a:txBody>
                  <a:tcPr>
                    <a:noFill/>
                  </a:tcPr>
                </a:tc>
                <a:tc>
                  <a:txBody>
                    <a:bodyPr/>
                    <a:lstStyle/>
                    <a:p>
                      <a:pPr algn="ctr"/>
                      <a:r>
                        <a:rPr sz="750" b="0">
                          <a:solidFill>
                            <a:srgbClr val="1A1A1A"/>
                          </a:solidFill>
                        </a:rPr>
                        <a:t>4.8 %</a:t>
                      </a:r>
                    </a:p>
                  </a:txBody>
                  <a:tcPr>
                    <a:noFill/>
                  </a:tcPr>
                </a:tc>
                <a:tc>
                  <a:txBody>
                    <a:bodyPr/>
                    <a:lstStyle/>
                    <a:p>
                      <a:pPr algn="ctr"/>
                      <a:r>
                        <a:rPr sz="750" b="0">
                          <a:solidFill>
                            <a:srgbClr val="1A1A1A"/>
                          </a:solidFill>
                        </a:rPr>
                        <a:t>12.5 %</a:t>
                      </a:r>
                    </a:p>
                  </a:txBody>
                  <a:tcPr>
                    <a:noFill/>
                  </a:tcPr>
                </a:tc>
              </a:tr>
              <a:tr h="198000">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14.8x</a:t>
                      </a:r>
                    </a:p>
                  </a:txBody>
                  <a:tcPr>
                    <a:solidFill>
                      <a:srgbClr val="F5F7FA"/>
                    </a:solidFill>
                  </a:tcPr>
                </a:tc>
                <a:tc>
                  <a:txBody>
                    <a:bodyPr/>
                    <a:lstStyle/>
                    <a:p>
                      <a:pPr algn="ctr"/>
                      <a:r>
                        <a:rPr sz="750" b="0">
                          <a:solidFill>
                            <a:srgbClr val="1A1A1A"/>
                          </a:solidFill>
                        </a:rPr>
                        <a:t>7.1x</a:t>
                      </a:r>
                    </a:p>
                  </a:txBody>
                  <a:tcPr>
                    <a:solidFill>
                      <a:srgbClr val="F5F7FA"/>
                    </a:solidFill>
                  </a:tcPr>
                </a:tc>
                <a:tc>
                  <a:txBody>
                    <a:bodyPr/>
                    <a:lstStyle/>
                    <a:p>
                      <a:pPr algn="ctr"/>
                      <a:r>
                        <a:rPr sz="750" b="0">
                          <a:solidFill>
                            <a:srgbClr val="1A1A1A"/>
                          </a:solidFill>
                        </a:rPr>
                        <a:t>88.5x</a:t>
                      </a:r>
                    </a:p>
                  </a:txBody>
                  <a:tcPr>
                    <a:solidFill>
                      <a:srgbClr val="F5F7FA"/>
                    </a:solidFill>
                  </a:tcPr>
                </a:tc>
                <a:tc>
                  <a:txBody>
                    <a:bodyPr/>
                    <a:lstStyle/>
                    <a:p>
                      <a:pPr algn="ctr"/>
                      <a:r>
                        <a:rPr sz="750" b="0">
                          <a:solidFill>
                            <a:srgbClr val="1A1A1A"/>
                          </a:solidFill>
                        </a:rPr>
                        <a:t>71.6 %</a:t>
                      </a:r>
                    </a:p>
                  </a:txBody>
                  <a:tcPr>
                    <a:solidFill>
                      <a:srgbClr val="F5F7FA"/>
                    </a:solidFill>
                  </a:tcPr>
                </a:tc>
                <a:tc>
                  <a:txBody>
                    <a:bodyPr/>
                    <a:lstStyle/>
                    <a:p>
                      <a:pPr algn="ctr"/>
                      <a:r>
                        <a:rPr sz="750" b="0">
                          <a:solidFill>
                            <a:srgbClr val="1A1A1A"/>
                          </a:solidFill>
                        </a:rPr>
                        <a:t>47.8 %</a:t>
                      </a:r>
                    </a:p>
                  </a:txBody>
                  <a:tcPr>
                    <a:solidFill>
                      <a:srgbClr val="F5F7FA"/>
                    </a:solidFill>
                  </a:tcPr>
                </a:tc>
                <a:tc>
                  <a:txBody>
                    <a:bodyPr/>
                    <a:lstStyle/>
                    <a:p>
                      <a:pPr algn="ctr"/>
                      <a:r>
                        <a:rPr sz="750" b="0">
                          <a:solidFill>
                            <a:srgbClr val="1A1A1A"/>
                          </a:solidFill>
                        </a:rPr>
                        <a:t>6225.0 %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15.1x</a:t>
                      </a:r>
                    </a:p>
                  </a:txBody>
                  <a:tcPr>
                    <a:noFill/>
                  </a:tcPr>
                </a:tc>
                <a:tc>
                  <a:txBody>
                    <a:bodyPr/>
                    <a:lstStyle/>
                    <a:p>
                      <a:pPr algn="ctr"/>
                      <a:r>
                        <a:rPr sz="750" b="0">
                          <a:solidFill>
                            <a:srgbClr val="1A1A1A"/>
                          </a:solidFill>
                        </a:rPr>
                        <a:t>5.0x</a:t>
                      </a:r>
                    </a:p>
                  </a:txBody>
                  <a:tcPr>
                    <a:noFill/>
                  </a:tcPr>
                </a:tc>
                <a:tc>
                  <a:txBody>
                    <a:bodyPr/>
                    <a:lstStyle/>
                    <a:p>
                      <a:pPr algn="ctr"/>
                      <a:r>
                        <a:rPr sz="750" b="0">
                          <a:solidFill>
                            <a:srgbClr val="1A1A1A"/>
                          </a:solidFill>
                        </a:rPr>
                        <a:t>24.8x</a:t>
                      </a:r>
                    </a:p>
                  </a:txBody>
                  <a:tcPr>
                    <a:noFill/>
                  </a:tcPr>
                </a:tc>
                <a:tc>
                  <a:txBody>
                    <a:bodyPr/>
                    <a:lstStyle/>
                    <a:p>
                      <a:pPr algn="ctr"/>
                      <a:r>
                        <a:rPr sz="750" b="0">
                          <a:solidFill>
                            <a:srgbClr val="1A1A1A"/>
                          </a:solidFill>
                        </a:rPr>
                        <a:t>63.6 %</a:t>
                      </a:r>
                    </a:p>
                  </a:txBody>
                  <a:tcPr>
                    <a:noFill/>
                  </a:tcPr>
                </a:tc>
                <a:tc>
                  <a:txBody>
                    <a:bodyPr/>
                    <a:lstStyle/>
                    <a:p>
                      <a:pPr algn="ctr"/>
                      <a:r>
                        <a:rPr sz="750" b="0">
                          <a:solidFill>
                            <a:srgbClr val="1A1A1A"/>
                          </a:solidFill>
                        </a:rPr>
                        <a:t>33.9 %</a:t>
                      </a:r>
                    </a:p>
                  </a:txBody>
                  <a:tcPr>
                    <a:noFill/>
                  </a:tcPr>
                </a:tc>
                <a:tc>
                  <a:txBody>
                    <a:bodyPr/>
                    <a:lstStyle/>
                    <a:p>
                      <a:pPr algn="ctr"/>
                      <a:r>
                        <a:rPr sz="750" b="0">
                          <a:solidFill>
                            <a:srgbClr val="1A1A1A"/>
                          </a:solidFill>
                        </a:rPr>
                        <a:t>13.0 %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15.1x LTM. Johnson &amp; Johnson (18.2x) se distingue comme le leader de qualite, combine a une marge EBITDA de 35.9 % et une croissance de +9.1 %. La dispersion des multiples revele l heterogeneite des profils au sein du secteur Healthcare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M&amp;A stratégique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Les acquisitions ciblées dans les biotechs innovantes (ex : MRK avec Acceleron) pourraient stimuler la croissance externe.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géographique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L'entrée sur des marchés émergents (ex : Asie du Sud-Est) offre un potentiel de croissance à deux chiffres.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R&amp;D</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L'augmentation des dépenses en R&amp;D (ex : +12% chez JNJ en 2023) pèse sur les marges à court terme.</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Tensions géopolitiques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Les ruptures d'approvisionnement en principes actifs (ex : Chine/Inde) pourraient perturber les chaînes de production.</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64/100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6.4 %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évolue dans une phase de maturité avancée, avec des opportunités limitées mais des barrières à l'entrée élevées pour les nouveaux entrants.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E67E22"/>
                </a:solidFill>
              </a:rPr>
              <a:t>Regime : Volatile</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26%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Healthcare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81/100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243.04</a:t>
                      </a:r>
                    </a:p>
                  </a:txBody>
                  <a:tcPr>
                    <a:noFill/>
                  </a:tcPr>
                </a:tc>
                <a:tc>
                  <a:txBody>
                    <a:bodyPr/>
                    <a:lstStyle/>
                    <a:p>
                      <a:pPr algn="ctr"/>
                      <a:r>
                        <a:rPr sz="750" b="0">
                          <a:solidFill>
                            <a:srgbClr val="1A1A1A"/>
                          </a:solidFill>
                        </a:rPr>
                        <a:t>18.2x</a:t>
                      </a:r>
                    </a:p>
                  </a:txBody>
                  <a:tcPr>
                    <a:noFill/>
                  </a:tcPr>
                </a:tc>
                <a:tc>
                  <a:txBody>
                    <a:bodyPr/>
                    <a:lstStyle/>
                    <a:p>
                      <a:pPr algn="ctr"/>
                      <a:r>
                        <a:rPr sz="750" b="0">
                          <a:solidFill>
                            <a:srgbClr val="1A1A1A"/>
                          </a:solidFill>
                        </a:rPr>
                        <a:t>35.9 %</a:t>
                      </a:r>
                    </a:p>
                  </a:txBody>
                  <a:tcPr>
                    <a:noFill/>
                  </a:tcPr>
                </a:tc>
                <a:tc>
                  <a:txBody>
                    <a:bodyPr/>
                    <a:lstStyle/>
                    <a:p>
                      <a:pPr algn="ctr"/>
                      <a:r>
                        <a:rPr sz="750" b="0">
                          <a:solidFill>
                            <a:srgbClr val="1A1A1A"/>
                          </a:solidFill>
                        </a:rPr>
                        <a:t>+9.1 %</a:t>
                      </a:r>
                    </a:p>
                  </a:txBody>
                  <a:tcPr>
                    <a:noFill/>
                  </a:tcPr>
                </a:tc>
                <a:tc>
                  <a:txBody>
                    <a:bodyPr/>
                    <a:lstStyle/>
                    <a:p>
                      <a:pPr algn="ctr"/>
                      <a:r>
                        <a:rPr sz="750" b="0">
                          <a:solidFill>
                            <a:srgbClr val="1A1A1A"/>
                          </a:solidFill>
                        </a:rPr>
                        <a:t>+58.6 %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78/100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120.87</a:t>
                      </a:r>
                    </a:p>
                  </a:txBody>
                  <a:tcPr>
                    <a:solidFill>
                      <a:srgbClr val="F5F7FA"/>
                    </a:solidFill>
                  </a:tcPr>
                </a:tc>
                <a:tc>
                  <a:txBody>
                    <a:bodyPr/>
                    <a:lstStyle/>
                    <a:p>
                      <a:pPr algn="ctr"/>
                      <a:r>
                        <a:rPr sz="750" b="0">
                          <a:solidFill>
                            <a:srgbClr val="1A1A1A"/>
                          </a:solidFill>
                        </a:rPr>
                        <a:t>11.5x</a:t>
                      </a:r>
                    </a:p>
                  </a:txBody>
                  <a:tcPr>
                    <a:solidFill>
                      <a:srgbClr val="F5F7FA"/>
                    </a:solidFill>
                  </a:tcPr>
                </a:tc>
                <a:tc>
                  <a:txBody>
                    <a:bodyPr/>
                    <a:lstStyle/>
                    <a:p>
                      <a:pPr algn="ctr"/>
                      <a:r>
                        <a:rPr sz="750" b="0">
                          <a:solidFill>
                            <a:srgbClr val="1A1A1A"/>
                          </a:solidFill>
                        </a:rPr>
                        <a:t>44.8 %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+48.4 %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 </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491.46</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25.0 %</a:t>
                      </a:r>
                    </a:p>
                  </a:txBody>
                  <a:tcPr>
                    <a:noFill/>
                  </a:tcPr>
                </a:tc>
                <a:tc>
                  <a:txBody>
                    <a:bodyPr/>
                    <a:lstStyle/>
                    <a:p>
                      <a:pPr algn="ctr"/>
                      <a:r>
                        <a:rPr sz="750" b="0">
                          <a:solidFill>
                            <a:srgbClr val="1A1A1A"/>
                          </a:solidFill>
                        </a:rPr>
                        <a:t>+7.2 %</a:t>
                      </a:r>
                    </a:p>
                  </a:txBody>
                  <a:tcPr>
                    <a:noFill/>
                  </a:tcPr>
                </a:tc>
                <a:tc>
                  <a:txBody>
                    <a:bodyPr/>
                    <a:lstStyle/>
                    <a:p>
                      <a:pPr algn="ctr"/>
                      <a:r>
                        <a:rPr sz="750" b="0">
                          <a:solidFill>
                            <a:srgbClr val="1A1A1A"/>
                          </a:solidFill>
                        </a:rPr>
                        <a:t>+12.2 %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61/100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28.32</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41.1 %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+23.3 %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59/100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102.87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27.1 %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-17.3 %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57/100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191.12</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31.9 %</a:t>
                      </a:r>
                    </a:p>
                  </a:txBody>
                  <a:tcPr>
                    <a:solidFill>
                      <a:srgbClr val="F5F7FA"/>
                    </a:solidFill>
                  </a:tcPr>
                </a:tc>
                <a:tc>
                  <a:txBody>
                    <a:bodyPr/>
                    <a:lstStyle/>
                    <a:p>
                      <a:pPr algn="ctr"/>
                      <a:r>
                        <a:rPr sz="750" b="0">
                          <a:solidFill>
                            <a:srgbClr val="1A1A1A"/>
                          </a:solidFill>
                        </a:rPr>
                        <a:t>+4.6 %</a:t>
                      </a:r>
                    </a:p>
                  </a:txBody>
                  <a:tcPr>
                    <a:solidFill>
                      <a:srgbClr val="F5F7FA"/>
                    </a:solidFill>
                  </a:tcPr>
                </a:tc>
                <a:tc>
                  <a:txBody>
                    <a:bodyPr/>
                    <a:lstStyle/>
                    <a:p>
                      <a:pPr algn="ctr"/>
                      <a:r>
                        <a:rPr sz="750" b="0">
                          <a:solidFill>
                            <a:srgbClr val="1A1A1A"/>
                          </a:solidFill>
                        </a:rPr>
                        <a:t>+5.1 %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Incorp</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277.26</a:t>
                      </a:r>
                    </a:p>
                  </a:txBody>
                  <a:tcPr>
                    <a:noFill/>
                  </a:tcPr>
                </a:tc>
                <a:tc>
                  <a:txBody>
                    <a:bodyPr/>
                    <a:lstStyle/>
                    <a:p>
                      <a:pPr algn="ctr"/>
                      <a:r>
                        <a:rPr sz="750" b="0">
                          <a:solidFill>
                            <a:srgbClr val="1A1A1A"/>
                          </a:solidFill>
                        </a:rPr>
                        <a:t>14.5x</a:t>
                      </a:r>
                    </a:p>
                  </a:txBody>
                  <a:tcPr>
                    <a:noFill/>
                  </a:tcPr>
                </a:tc>
                <a:tc>
                  <a:txBody>
                    <a:bodyPr/>
                    <a:lstStyle/>
                    <a:p>
                      <a:pPr algn="ctr"/>
                      <a:r>
                        <a:rPr sz="750" b="0">
                          <a:solidFill>
                            <a:srgbClr val="1A1A1A"/>
                          </a:solidFill>
                        </a:rPr>
                        <a:t>4.8 %</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-47.2 %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51/100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208.84</a:t>
                      </a:r>
                    </a:p>
                  </a:txBody>
                  <a:tcPr>
                    <a:solidFill>
                      <a:srgbClr val="F5F7FA"/>
                    </a:solidFill>
                  </a:tcPr>
                </a:tc>
                <a:tc>
                  <a:txBody>
                    <a:bodyPr/>
                    <a:lstStyle/>
                    <a:p>
                      <a:pPr algn="ctr"/>
                      <a:r>
                        <a:rPr sz="750" b="0">
                          <a:solidFill>
                            <a:srgbClr val="1A1A1A"/>
                          </a:solidFill>
                        </a:rPr>
                        <a:t>14.8x</a:t>
                      </a:r>
                    </a:p>
                  </a:txBody>
                  <a:tcPr>
                    <a:solidFill>
                      <a:srgbClr val="F5F7FA"/>
                    </a:solidFill>
                  </a:tcPr>
                </a:tc>
                <a:tc>
                  <a:txBody>
                    <a:bodyPr/>
                    <a:lstStyle/>
                    <a:p>
                      <a:pPr algn="ctr"/>
                      <a:r>
                        <a:rPr sz="750" b="0">
                          <a:solidFill>
                            <a:srgbClr val="1A1A1A"/>
                          </a:solidFill>
                        </a:rPr>
                        <a:t>47.8 %</a:t>
                      </a:r>
                    </a:p>
                  </a:txBody>
                  <a:tcPr>
                    <a:solidFill>
                      <a:srgbClr val="F5F7FA"/>
                    </a:solidFill>
                  </a:tcPr>
                </a:tc>
                <a:tc>
                  <a:txBody>
                    <a:bodyPr/>
                    <a:lstStyle/>
                    <a:p>
                      <a:pPr algn="ctr"/>
                      <a:r>
                        <a:rPr sz="750" b="0">
                          <a:solidFill>
                            <a:srgbClr val="1A1A1A"/>
                          </a:solidFill>
                        </a:rPr>
                        <a:t>+10.0 %</a:t>
                      </a:r>
                    </a:p>
                  </a:txBody>
                  <a:tcPr>
                    <a:solidFill>
                      <a:srgbClr val="F5F7FA"/>
                    </a:solidFill>
                  </a:tcPr>
                </a:tc>
                <a:tc>
                  <a:txBody>
                    <a:bodyPr/>
                    <a:lstStyle/>
                    <a:p>
                      <a:pPr algn="ctr"/>
                      <a:r>
                        <a:rPr sz="750" b="0">
                          <a:solidFill>
                            <a:srgbClr val="1A1A1A"/>
                          </a:solidFill>
                        </a:rPr>
                        <a:t>+11.7 %</a:t>
                      </a:r>
                    </a:p>
                  </a:txBody>
                  <a:tcPr>
                    <a:solidFill>
                      <a:srgbClr val="F5F7FA"/>
                    </a:solidFill>
                  </a:tcPr>
                </a:tc>
              </a:tr>
            </a:tbl>
          </a:graphicData>
        </a:graphic>
      </p:graphicFrame>
      <p:sp>
        <p:nvSpPr>
          <p:cNvPr id="16" name="Rectangle 15"/>
          <p:cNvSpPr/>
          <p:nvPr/>
        </p:nvSpPr>
        <p:spPr>
          <a:xfrm>
            <a:off x="324000" y="27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700000"/>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754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006000"/>
            <a:ext cx="8280000" cy="1260000"/>
          </a:xfrm>
          <a:prstGeom prst="rect">
            <a:avLst/>
          </a:prstGeom>
          <a:noFill/>
        </p:spPr>
        <p:txBody>
          <a:bodyPr wrap="square">
            <a:spAutoFit/>
          </a:bodyPr>
          <a:lstStyle/>
          <a:p>
            <a:pPr algn="l"/>
            <a:r>
              <a:rPr sz="850" b="0" i="0">
                <a:solidFill>
                  <a:srgbClr val="555555"/>
                </a:solidFill>
              </a:rPr>
              <a:t>Le secteur Healthcare presente 3 BUY / 5 HOLD / 0 SELL sur 8 valeurs analysées. Johnson &amp; Johnson (score 81/100)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JNJ domine le quadrant Premium Justifie — valorisation élevée (18.2x) soutenue par 68.1 % de marge brute.
PFE se positionne en zone Opportunite — EV/EBITDA de 8.4x sous la médiane sectorielle de 15.1x.
La médiane sectorielle ressort a 15.1x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81/100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20</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78/100</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17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 </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22</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61/100</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59/100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16</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57/100</a:t>
                      </a:r>
                    </a:p>
                  </a:txBody>
                  <a:tcPr>
                    <a:solidFill>
                      <a:srgbClr val="F5F7FA"/>
                    </a:solidFill>
                  </a:tcPr>
                </a:tc>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16</a:t>
                      </a:r>
                    </a:p>
                  </a:txBody>
                  <a:tcPr>
                    <a:solidFill>
                      <a:srgbClr val="F5F7FA"/>
                    </a:solidFill>
                  </a:tcPr>
                </a:tc>
                <a:tc>
                  <a:txBody>
                    <a:bodyPr/>
                    <a:lstStyle/>
                    <a:p>
                      <a:pPr algn="ctr"/>
                      <a:r>
                        <a:rPr sz="750" b="0">
                          <a:solidFill>
                            <a:srgbClr val="1A1A1A"/>
                          </a:solidFill>
                        </a:rPr>
                        <a:t>21</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HOLD</a:t>
                      </a:r>
                    </a:p>
                  </a:txBody>
                  <a:tcPr>
                    <a:solidFill>
                      <a:srgbClr val="F5F7FA"/>
                    </a:solidFill>
                  </a:tcPr>
                </a:tc>
              </a:tr>
              <a:tr h="201600">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Incorp</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24</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4</a:t>
                      </a:r>
                    </a:p>
                  </a:txBody>
                  <a:tcPr>
                    <a:noFill/>
                  </a:tcPr>
                </a:tc>
                <a:tc>
                  <a:txBody>
                    <a:bodyPr/>
                    <a:lstStyle/>
                    <a:p>
                      <a:pPr algn="ctr"/>
                      <a:r>
                        <a:rPr sz="750" b="0">
                          <a:solidFill>
                            <a:srgbClr val="1A1A1A"/>
                          </a:solidFill>
                        </a:rPr>
                        <a:t>HOLD</a:t>
                      </a:r>
                    </a:p>
                  </a:txBody>
                  <a:tcPr>
                    <a:noFill/>
                  </a:tcPr>
                </a:tc>
              </a:tr>
              <a:tr h="201600">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51/100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HOLD</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Johnson &amp; Johnson presente le profil le plus equilibre du secteur (81/100) avec des scores Value=14, Growth=21, Quality=25, Momentum=20.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JNJ</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Johnson &amp; Johnson</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292</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18.2x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35.9 %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avancées en thérapies géniques et cellulaires (ex : CAR-T) pourraient relancer la croissance organique des acteurs comme TMO.</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réformes sur les prix des médicaments (ex : Medicare) pourraient éroder les marges des acteurs historiques.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MRK</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Merck &amp; Co., Inc.</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145</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11.5x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44.8 %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Un assouplissement des contraintes de prix aux États-Unis (ex : Inflation Reduction Act) bénéficierait aux grands laboratoires comme JNJ.</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biosimilaires et de génériques exerce une pression à la baisse sur les prix des blockbusters.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TMO</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Thermo Fisher Scient</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590</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19.2x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25.0 %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 vieillissement de la population mondiale et l'augmentation des maladies chroniques soutiennent la demande en médicaments et dispositifs médicaux.</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litiges liés aux opioïdes ou aux dispositifs médicaux (ex : Johnson &amp; Johnson) représentent un passif financier significatif.</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(15.1x)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15.1x.
2 societe(s) se traitent sous la médiane — potentiellement les meilleures asymetries risque/rendement sous reserve de catalyseurs fondamentaux.
La dispersion des multiples est caracteristique d'un secteur Healthcare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JNJ</a:t>
                      </a:r>
                    </a:p>
                  </a:txBody>
                  <a:tcPr>
                    <a:noFill/>
                  </a:tcPr>
                </a:tc>
                <a:tc>
                  <a:txBody>
                    <a:bodyPr/>
                    <a:lstStyle/>
                    <a:p>
                      <a:pPr algn="ctr"/>
                      <a:r>
                        <a:rPr sz="750" b="0">
                          <a:solidFill>
                            <a:srgbClr val="1A1A1A"/>
                          </a:solidFill>
                        </a:rPr>
                        <a:t>Johnson &amp; Johnson</a:t>
                      </a:r>
                    </a:p>
                  </a:txBody>
                  <a:tcPr>
                    <a:noFill/>
                  </a:tcPr>
                </a:tc>
                <a:tc>
                  <a:txBody>
                    <a:bodyPr/>
                    <a:lstStyle/>
                    <a:p>
                      <a:pPr algn="ctr"/>
                      <a:r>
                        <a:rPr sz="750" b="0">
                          <a:solidFill>
                            <a:srgbClr val="1A1A1A"/>
                          </a:solidFill>
                        </a:rPr>
                        <a:t>243.04</a:t>
                      </a:r>
                    </a:p>
                  </a:txBody>
                  <a:tcPr>
                    <a:noFill/>
                  </a:tcPr>
                </a:tc>
                <a:tc>
                  <a:txBody>
                    <a:bodyPr/>
                    <a:lstStyle/>
                    <a:p>
                      <a:pPr algn="ctr"/>
                      <a:r>
                        <a:rPr sz="750" b="0">
                          <a:solidFill>
                            <a:srgbClr val="1A1A1A"/>
                          </a:solidFill>
                        </a:rPr>
                        <a:t>279.5</a:t>
                      </a:r>
                    </a:p>
                  </a:txBody>
                  <a:tcPr>
                    <a:noFill/>
                  </a:tcPr>
                </a:tc>
                <a:tc>
                  <a:txBody>
                    <a:bodyPr/>
                    <a:lstStyle/>
                    <a:p>
                      <a:pPr algn="ctr"/>
                      <a:r>
                        <a:rPr sz="750" b="0">
                          <a:solidFill>
                            <a:srgbClr val="1A1A1A"/>
                          </a:solidFill>
                        </a:rPr>
                        <a:t>&lt; 230.9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MRK</a:t>
                      </a:r>
                    </a:p>
                  </a:txBody>
                  <a:tcPr>
                    <a:solidFill>
                      <a:srgbClr val="F5F7FA"/>
                    </a:solidFill>
                  </a:tcPr>
                </a:tc>
                <a:tc>
                  <a:txBody>
                    <a:bodyPr/>
                    <a:lstStyle/>
                    <a:p>
                      <a:pPr algn="ctr"/>
                      <a:r>
                        <a:rPr sz="750" b="0">
                          <a:solidFill>
                            <a:srgbClr val="1A1A1A"/>
                          </a:solidFill>
                        </a:rPr>
                        <a:t>Merck &amp; Co., Inc.</a:t>
                      </a:r>
                    </a:p>
                  </a:txBody>
                  <a:tcPr>
                    <a:solidFill>
                      <a:srgbClr val="F5F7FA"/>
                    </a:solidFill>
                  </a:tcPr>
                </a:tc>
                <a:tc>
                  <a:txBody>
                    <a:bodyPr/>
                    <a:lstStyle/>
                    <a:p>
                      <a:pPr algn="ctr"/>
                      <a:r>
                        <a:rPr sz="750" b="0">
                          <a:solidFill>
                            <a:srgbClr val="1A1A1A"/>
                          </a:solidFill>
                        </a:rPr>
                        <a:t>120.87</a:t>
                      </a:r>
                    </a:p>
                  </a:txBody>
                  <a:tcPr>
                    <a:solidFill>
                      <a:srgbClr val="F5F7FA"/>
                    </a:solidFill>
                  </a:tcPr>
                </a:tc>
                <a:tc>
                  <a:txBody>
                    <a:bodyPr/>
                    <a:lstStyle/>
                    <a:p>
                      <a:pPr algn="ctr"/>
                      <a:r>
                        <a:rPr sz="750" b="0">
                          <a:solidFill>
                            <a:srgbClr val="1A1A1A"/>
                          </a:solidFill>
                        </a:rPr>
                        <a:t>139.0</a:t>
                      </a:r>
                    </a:p>
                  </a:txBody>
                  <a:tcPr>
                    <a:solidFill>
                      <a:srgbClr val="F5F7FA"/>
                    </a:solidFill>
                  </a:tcPr>
                </a:tc>
                <a:tc>
                  <a:txBody>
                    <a:bodyPr/>
                    <a:lstStyle/>
                    <a:p>
                      <a:pPr algn="ctr"/>
                      <a:r>
                        <a:rPr sz="750" b="0">
                          <a:solidFill>
                            <a:srgbClr val="1A1A1A"/>
                          </a:solidFill>
                        </a:rPr>
                        <a:t>&lt; 114.8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TMO</a:t>
                      </a:r>
                    </a:p>
                  </a:txBody>
                  <a:tcPr>
                    <a:noFill/>
                  </a:tcPr>
                </a:tc>
                <a:tc>
                  <a:txBody>
                    <a:bodyPr/>
                    <a:lstStyle/>
                    <a:p>
                      <a:pPr algn="ctr"/>
                      <a:r>
                        <a:rPr sz="750" b="0">
                          <a:solidFill>
                            <a:srgbClr val="1A1A1A"/>
                          </a:solidFill>
                        </a:rPr>
                        <a:t>Thermo Fisher Scientific</a:t>
                      </a:r>
                    </a:p>
                  </a:txBody>
                  <a:tcPr>
                    <a:noFill/>
                  </a:tcPr>
                </a:tc>
                <a:tc>
                  <a:txBody>
                    <a:bodyPr/>
                    <a:lstStyle/>
                    <a:p>
                      <a:pPr algn="ctr"/>
                      <a:r>
                        <a:rPr sz="750" b="0">
                          <a:solidFill>
                            <a:srgbClr val="1A1A1A"/>
                          </a:solidFill>
                        </a:rPr>
                        <a:t>491.46</a:t>
                      </a:r>
                    </a:p>
                  </a:txBody>
                  <a:tcPr>
                    <a:noFill/>
                  </a:tcPr>
                </a:tc>
                <a:tc>
                  <a:txBody>
                    <a:bodyPr/>
                    <a:lstStyle/>
                    <a:p>
                      <a:pPr algn="ctr"/>
                      <a:r>
                        <a:rPr sz="750" b="0">
                          <a:solidFill>
                            <a:srgbClr val="1A1A1A"/>
                          </a:solidFill>
                        </a:rPr>
                        <a:t>565.2</a:t>
                      </a:r>
                    </a:p>
                  </a:txBody>
                  <a:tcPr>
                    <a:noFill/>
                  </a:tcPr>
                </a:tc>
                <a:tc>
                  <a:txBody>
                    <a:bodyPr/>
                    <a:lstStyle/>
                    <a:p>
                      <a:pPr algn="ctr"/>
                      <a:r>
                        <a:rPr sz="750" b="0">
                          <a:solidFill>
                            <a:srgbClr val="1A1A1A"/>
                          </a:solidFill>
                        </a:rPr>
                        <a:t>&lt; 466.9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PFE</a:t>
                      </a:r>
                    </a:p>
                  </a:txBody>
                  <a:tcPr>
                    <a:solidFill>
                      <a:srgbClr val="F5F7FA"/>
                    </a:solidFill>
                  </a:tcPr>
                </a:tc>
                <a:tc>
                  <a:txBody>
                    <a:bodyPr/>
                    <a:lstStyle/>
                    <a:p>
                      <a:pPr algn="ctr"/>
                      <a:r>
                        <a:rPr sz="750" b="0">
                          <a:solidFill>
                            <a:srgbClr val="1A1A1A"/>
                          </a:solidFill>
                        </a:rPr>
                        <a:t>Pfizer Inc.</a:t>
                      </a:r>
                    </a:p>
                  </a:txBody>
                  <a:tcPr>
                    <a:solidFill>
                      <a:srgbClr val="F5F7FA"/>
                    </a:solidFill>
                  </a:tcPr>
                </a:tc>
                <a:tc>
                  <a:txBody>
                    <a:bodyPr/>
                    <a:lstStyle/>
                    <a:p>
                      <a:pPr algn="ctr"/>
                      <a:r>
                        <a:rPr sz="750" b="0">
                          <a:solidFill>
                            <a:srgbClr val="1A1A1A"/>
                          </a:solidFill>
                        </a:rPr>
                        <a:t>28.32</a:t>
                      </a:r>
                    </a:p>
                  </a:txBody>
                  <a:tcPr>
                    <a:solidFill>
                      <a:srgbClr val="F5F7FA"/>
                    </a:solidFill>
                  </a:tcPr>
                </a:tc>
                <a:tc>
                  <a:txBody>
                    <a:bodyPr/>
                    <a:lstStyle/>
                    <a:p>
                      <a:pPr algn="ctr"/>
                      <a:r>
                        <a:rPr sz="750" b="0">
                          <a:solidFill>
                            <a:srgbClr val="1A1A1A"/>
                          </a:solidFill>
                        </a:rPr>
                        <a:t>32.6</a:t>
                      </a:r>
                    </a:p>
                  </a:txBody>
                  <a:tcPr>
                    <a:solidFill>
                      <a:srgbClr val="F5F7FA"/>
                    </a:solidFill>
                  </a:tcPr>
                </a:tc>
                <a:tc>
                  <a:txBody>
                    <a:bodyPr/>
                    <a:lstStyle/>
                    <a:p>
                      <a:pPr algn="ctr"/>
                      <a:r>
                        <a:rPr sz="750" b="0">
                          <a:solidFill>
                            <a:srgbClr val="1A1A1A"/>
                          </a:solidFill>
                        </a:rPr>
                        <a:t>&lt; 26.9</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ABT</a:t>
                      </a:r>
                    </a:p>
                  </a:txBody>
                  <a:tcPr>
                    <a:noFill/>
                  </a:tcPr>
                </a:tc>
                <a:tc>
                  <a:txBody>
                    <a:bodyPr/>
                    <a:lstStyle/>
                    <a:p>
                      <a:pPr algn="ctr"/>
                      <a:r>
                        <a:rPr sz="750" b="0">
                          <a:solidFill>
                            <a:srgbClr val="1A1A1A"/>
                          </a:solidFill>
                        </a:rPr>
                        <a:t>Abbott Laboratories</a:t>
                      </a:r>
                    </a:p>
                  </a:txBody>
                  <a:tcPr>
                    <a:noFill/>
                  </a:tcPr>
                </a:tc>
                <a:tc>
                  <a:txBody>
                    <a:bodyPr/>
                    <a:lstStyle/>
                    <a:p>
                      <a:pPr algn="ctr"/>
                      <a:r>
                        <a:rPr sz="750" b="0">
                          <a:solidFill>
                            <a:srgbClr val="1A1A1A"/>
                          </a:solidFill>
                        </a:rPr>
                        <a:t>102.87</a:t>
                      </a:r>
                    </a:p>
                  </a:txBody>
                  <a:tcPr>
                    <a:noFill/>
                  </a:tcPr>
                </a:tc>
                <a:tc>
                  <a:txBody>
                    <a:bodyPr/>
                    <a:lstStyle/>
                    <a:p>
                      <a:pPr algn="ctr"/>
                      <a:r>
                        <a:rPr sz="750" b="0">
                          <a:solidFill>
                            <a:srgbClr val="1A1A1A"/>
                          </a:solidFill>
                        </a:rPr>
                        <a:t>118.3</a:t>
                      </a:r>
                    </a:p>
                  </a:txBody>
                  <a:tcPr>
                    <a:noFill/>
                  </a:tcPr>
                </a:tc>
                <a:tc>
                  <a:txBody>
                    <a:bodyPr/>
                    <a:lstStyle/>
                    <a:p>
                      <a:pPr algn="ctr"/>
                      <a:r>
                        <a:rPr sz="750" b="0">
                          <a:solidFill>
                            <a:srgbClr val="1A1A1A"/>
                          </a:solidFill>
                        </a:rPr>
                        <a:t>&lt; 97.7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DHR</a:t>
                      </a:r>
                    </a:p>
                  </a:txBody>
                  <a:tcPr>
                    <a:solidFill>
                      <a:srgbClr val="F5F7FA"/>
                    </a:solidFill>
                  </a:tcPr>
                </a:tc>
                <a:tc>
                  <a:txBody>
                    <a:bodyPr/>
                    <a:lstStyle/>
                    <a:p>
                      <a:pPr algn="ctr"/>
                      <a:r>
                        <a:rPr sz="750" b="0">
                          <a:solidFill>
                            <a:srgbClr val="1A1A1A"/>
                          </a:solidFill>
                        </a:rPr>
                        <a:t>Danaher Corporation</a:t>
                      </a:r>
                    </a:p>
                  </a:txBody>
                  <a:tcPr>
                    <a:solidFill>
                      <a:srgbClr val="F5F7FA"/>
                    </a:solidFill>
                  </a:tcPr>
                </a:tc>
                <a:tc>
                  <a:txBody>
                    <a:bodyPr/>
                    <a:lstStyle/>
                    <a:p>
                      <a:pPr algn="ctr"/>
                      <a:r>
                        <a:rPr sz="750" b="0">
                          <a:solidFill>
                            <a:srgbClr val="1A1A1A"/>
                          </a:solidFill>
                        </a:rPr>
                        <a:t>191.12</a:t>
                      </a:r>
                    </a:p>
                  </a:txBody>
                  <a:tcPr>
                    <a:solidFill>
                      <a:srgbClr val="F5F7FA"/>
                    </a:solidFill>
                  </a:tcPr>
                </a:tc>
                <a:tc>
                  <a:txBody>
                    <a:bodyPr/>
                    <a:lstStyle/>
                    <a:p>
                      <a:pPr algn="ctr"/>
                      <a:r>
                        <a:rPr sz="750" b="0">
                          <a:solidFill>
                            <a:srgbClr val="1A1A1A"/>
                          </a:solidFill>
                        </a:rPr>
                        <a:t>219.8</a:t>
                      </a:r>
                    </a:p>
                  </a:txBody>
                  <a:tcPr>
                    <a:solidFill>
                      <a:srgbClr val="F5F7FA"/>
                    </a:solidFill>
                  </a:tcPr>
                </a:tc>
                <a:tc>
                  <a:txBody>
                    <a:bodyPr/>
                    <a:lstStyle/>
                    <a:p>
                      <a:pPr algn="ctr"/>
                      <a:r>
                        <a:rPr sz="750" b="0">
                          <a:solidFill>
                            <a:srgbClr val="1A1A1A"/>
                          </a:solidFill>
                        </a:rPr>
                        <a:t>&lt; 181.6</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98000">
                <a:tc>
                  <a:txBody>
                    <a:bodyPr/>
                    <a:lstStyle/>
                    <a:p>
                      <a:pPr algn="ctr"/>
                      <a:r>
                        <a:rPr sz="750" b="0">
                          <a:solidFill>
                            <a:srgbClr val="1A1A1A"/>
                          </a:solidFill>
                        </a:rPr>
                        <a:t>UNH</a:t>
                      </a:r>
                    </a:p>
                  </a:txBody>
                  <a:tcPr>
                    <a:noFill/>
                  </a:tcPr>
                </a:tc>
                <a:tc>
                  <a:txBody>
                    <a:bodyPr/>
                    <a:lstStyle/>
                    <a:p>
                      <a:pPr algn="ctr"/>
                      <a:r>
                        <a:rPr sz="750" b="0">
                          <a:solidFill>
                            <a:srgbClr val="1A1A1A"/>
                          </a:solidFill>
                        </a:rPr>
                        <a:t>UnitedHealth Group Incor</a:t>
                      </a:r>
                    </a:p>
                  </a:txBody>
                  <a:tcPr>
                    <a:noFill/>
                  </a:tcPr>
                </a:tc>
                <a:tc>
                  <a:txBody>
                    <a:bodyPr/>
                    <a:lstStyle/>
                    <a:p>
                      <a:pPr algn="ctr"/>
                      <a:r>
                        <a:rPr sz="750" b="0">
                          <a:solidFill>
                            <a:srgbClr val="1A1A1A"/>
                          </a:solidFill>
                        </a:rPr>
                        <a:t>277.26</a:t>
                      </a:r>
                    </a:p>
                  </a:txBody>
                  <a:tcPr>
                    <a:noFill/>
                  </a:tcPr>
                </a:tc>
                <a:tc>
                  <a:txBody>
                    <a:bodyPr/>
                    <a:lstStyle/>
                    <a:p>
                      <a:pPr algn="ctr"/>
                      <a:r>
                        <a:rPr sz="750" b="0">
                          <a:solidFill>
                            <a:srgbClr val="1A1A1A"/>
                          </a:solidFill>
                        </a:rPr>
                        <a:t>318.8</a:t>
                      </a:r>
                    </a:p>
                  </a:txBody>
                  <a:tcPr>
                    <a:noFill/>
                  </a:tcPr>
                </a:tc>
                <a:tc>
                  <a:txBody>
                    <a:bodyPr/>
                    <a:lstStyle/>
                    <a:p>
                      <a:pPr algn="ctr"/>
                      <a:r>
                        <a:rPr sz="750" b="0">
                          <a:solidFill>
                            <a:srgbClr val="1A1A1A"/>
                          </a:solidFill>
                        </a:rPr>
                        <a:t>&lt; 263.4</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98000">
                <a:tc>
                  <a:txBody>
                    <a:bodyPr/>
                    <a:lstStyle/>
                    <a:p>
                      <a:pPr algn="ctr"/>
                      <a:r>
                        <a:rPr sz="750" b="0">
                          <a:solidFill>
                            <a:srgbClr val="1A1A1A"/>
                          </a:solidFill>
                        </a:rPr>
                        <a:t>ABBV</a:t>
                      </a:r>
                    </a:p>
                  </a:txBody>
                  <a:tcPr>
                    <a:solidFill>
                      <a:srgbClr val="F5F7FA"/>
                    </a:solidFill>
                  </a:tcPr>
                </a:tc>
                <a:tc>
                  <a:txBody>
                    <a:bodyPr/>
                    <a:lstStyle/>
                    <a:p>
                      <a:pPr algn="ctr"/>
                      <a:r>
                        <a:rPr sz="750" b="0">
                          <a:solidFill>
                            <a:srgbClr val="1A1A1A"/>
                          </a:solidFill>
                        </a:rPr>
                        <a:t>AbbVie Inc.</a:t>
                      </a:r>
                    </a:p>
                  </a:txBody>
                  <a:tcPr>
                    <a:solidFill>
                      <a:srgbClr val="F5F7FA"/>
                    </a:solidFill>
                  </a:tcPr>
                </a:tc>
                <a:tc>
                  <a:txBody>
                    <a:bodyPr/>
                    <a:lstStyle/>
                    <a:p>
                      <a:pPr algn="ctr"/>
                      <a:r>
                        <a:rPr sz="750" b="0">
                          <a:solidFill>
                            <a:srgbClr val="1A1A1A"/>
                          </a:solidFill>
                        </a:rPr>
                        <a:t>208.84</a:t>
                      </a:r>
                    </a:p>
                  </a:txBody>
                  <a:tcPr>
                    <a:solidFill>
                      <a:srgbClr val="F5F7FA"/>
                    </a:solidFill>
                  </a:tcPr>
                </a:tc>
                <a:tc>
                  <a:txBody>
                    <a:bodyPr/>
                    <a:lstStyle/>
                    <a:p>
                      <a:pPr algn="ctr"/>
                      <a:r>
                        <a:rPr sz="750" b="0">
                          <a:solidFill>
                            <a:srgbClr val="1A1A1A"/>
                          </a:solidFill>
                        </a:rPr>
                        <a:t>240.2</a:t>
                      </a:r>
                    </a:p>
                  </a:txBody>
                  <a:tcPr>
                    <a:solidFill>
                      <a:srgbClr val="F5F7FA"/>
                    </a:solidFill>
                  </a:tcPr>
                </a:tc>
                <a:tc>
                  <a:txBody>
                    <a:bodyPr/>
                    <a:lstStyle/>
                    <a:p>
                      <a:pPr algn="ctr"/>
                      <a:r>
                        <a:rPr sz="750" b="0">
                          <a:solidFill>
                            <a:srgbClr val="1A1A1A"/>
                          </a:solidFill>
                        </a:rPr>
                        <a:t>&lt; 198.4</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Réglementation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réformes sur les prix des médicaments (ex : Medicare) pourraient éroder les marges des acteurs historiques.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biosimilaires et de génériques exerce une pression à la baisse sur les prix des blockbusters.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Risque juridique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litiges liés aux opioïdes ou aux dispositifs médicaux (ex : Johnson &amp; Johnson) représentent un passif financier significatif.</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49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3.8%</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60/100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Innovation thérapeutique — Les avancées en thérapies géniques et cellulaires (ex : CAR-T) pourraient relancer la croissance organique des acteurs comme TMO.</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Réglementation — Les réformes sur les prix des médicaments (ex : Medicare) pourraient éroder les marges des acteurs historiques.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Healthcare (S&amp;P 500) ressort neutre (0.00), avec 25% d'articles a tonalité positive sur 8 analysés. La dispersion inter-valeurs est prononcée : JNJ (+0.00) porte la composante haussière tandis que DHR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Healthcare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JNJ  +59%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UNH  -47%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106 pts — 6 valeur(s) positives vs 2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