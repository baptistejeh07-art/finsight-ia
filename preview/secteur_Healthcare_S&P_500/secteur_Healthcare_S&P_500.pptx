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Healthcare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03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15.1x  ·  Croissance med. : +6.1 %  ·  Marge EBITDA med. : 33.9 %  ·  Score moyen : 64/100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Pipeline clinique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Les avancées dans les thérapies géniques et cellulaires (ex : CAR-T, ARN messager) pourraient relancer la croissance organique des leaders comme JNJ et MRK.</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Politique de prix</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Une stabilisation des pressions réglementaires sur les prix aux États-Unis (ex : Inflation Reduction Act) limiterait les risques de marge pour les grands groupes pharmaceutiques.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Demande asiatique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L'expansion des marchés émergents, notamment en Chine, offre un relais de croissance pour les équipementiers comme TMO via les diagnostics et équipements médicaux.</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Réglementation</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incertitudes sur les remboursements en Europe (ex : négociation des prix en Allemagne) pourraient peser sur les marges des laboratoires.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 génériques</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L'expiration de brevets majeurs (ex : Keytruda en 2028) menace les revenus des blockbusters, surtout pour les acteurs comme MRK.</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Cybersécurité</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Les failles dans les systèmes de données des hôpitaux (ex : attaques ransomware) pourraient impacter les acteurs de la santé numérique comme TMO.</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15.1x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+6.1 %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33.9 %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+11.9 %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Healthcare affiche une valorisation modérée avec un multiple EV/EBITDA médian de 15.1x, légèrement en dessous de sa moyenne historique de 16.2x, reflétant une prudence des investisseurs malgré des marges EBITDA robustes à 33.9%. La croissance des revenus de +6.1% reste soutenue par l'innovation thérapeutique et la demande structurelle en soins de santé, mais peine à justifier des valorisations premium.</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Pipeline clinique</a:t>
            </a:r>
          </a:p>
        </p:txBody>
      </p:sp>
      <p:sp>
        <p:nvSpPr>
          <p:cNvPr id="22" name="TextBox 21"/>
          <p:cNvSpPr txBox="1"/>
          <p:nvPr/>
        </p:nvSpPr>
        <p:spPr>
          <a:xfrm>
            <a:off x="576000" y="3060000"/>
            <a:ext cx="4428000" cy="396000"/>
          </a:xfrm>
          <a:prstGeom prst="rect">
            <a:avLst/>
          </a:prstGeom>
          <a:noFill/>
        </p:spPr>
        <p:txBody>
          <a:bodyPr wrap="square">
            <a:spAutoFit/>
          </a:bodyPr>
          <a:lstStyle/>
          <a:p>
            <a:pPr algn="l"/>
            <a:r>
              <a:rPr sz="750" b="0" i="0">
                <a:solidFill>
                  <a:srgbClr val="555555"/>
                </a:solidFill>
              </a:rPr>
              <a:t>Les avancées dans les thérapies géniques et cellulaires (ex : CAR-T, ARN messager) pourraient relancer la croissance organique des leaders comme JNJ et MRK.</a:t>
            </a:r>
          </a:p>
        </p:txBody>
      </p:sp>
      <p:sp>
        <p:nvSpPr>
          <p:cNvPr id="23" name="Rectangle 22"/>
          <p:cNvSpPr/>
          <p:nvPr/>
        </p:nvSpPr>
        <p:spPr>
          <a:xfrm>
            <a:off x="468000" y="3420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420000"/>
            <a:ext cx="4428000" cy="162000"/>
          </a:xfrm>
          <a:prstGeom prst="rect">
            <a:avLst/>
          </a:prstGeom>
          <a:noFill/>
        </p:spPr>
        <p:txBody>
          <a:bodyPr wrap="square">
            <a:spAutoFit/>
          </a:bodyPr>
          <a:lstStyle/>
          <a:p>
            <a:pPr algn="l"/>
            <a:r>
              <a:rPr sz="800" b="1" i="0">
                <a:solidFill>
                  <a:srgbClr val="1B3A6B"/>
                </a:solidFill>
              </a:rPr>
              <a:t>Politique de prix</a:t>
            </a:r>
          </a:p>
        </p:txBody>
      </p:sp>
      <p:sp>
        <p:nvSpPr>
          <p:cNvPr id="25" name="TextBox 24"/>
          <p:cNvSpPr txBox="1"/>
          <p:nvPr/>
        </p:nvSpPr>
        <p:spPr>
          <a:xfrm>
            <a:off x="576000" y="3581999"/>
            <a:ext cx="4428000" cy="396000"/>
          </a:xfrm>
          <a:prstGeom prst="rect">
            <a:avLst/>
          </a:prstGeom>
          <a:noFill/>
        </p:spPr>
        <p:txBody>
          <a:bodyPr wrap="square">
            <a:spAutoFit/>
          </a:bodyPr>
          <a:lstStyle/>
          <a:p>
            <a:pPr algn="l"/>
            <a:r>
              <a:rPr sz="750" b="0" i="0">
                <a:solidFill>
                  <a:srgbClr val="555555"/>
                </a:solidFill>
              </a:rPr>
              <a:t>Une stabilisation des pressions réglementaires sur les prix aux États-Unis (ex : Inflation Reduction Act) limiterait les risques de marge pour les grands groupes pharmaceutiques.</a:t>
            </a:r>
          </a:p>
        </p:txBody>
      </p:sp>
      <p:sp>
        <p:nvSpPr>
          <p:cNvPr id="26" name="Rectangle 25"/>
          <p:cNvSpPr/>
          <p:nvPr/>
        </p:nvSpPr>
        <p:spPr>
          <a:xfrm>
            <a:off x="468000" y="3942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942000"/>
            <a:ext cx="4428000" cy="162000"/>
          </a:xfrm>
          <a:prstGeom prst="rect">
            <a:avLst/>
          </a:prstGeom>
          <a:noFill/>
        </p:spPr>
        <p:txBody>
          <a:bodyPr wrap="square">
            <a:spAutoFit/>
          </a:bodyPr>
          <a:lstStyle/>
          <a:p>
            <a:pPr algn="l"/>
            <a:r>
              <a:rPr sz="800" b="1" i="0">
                <a:solidFill>
                  <a:srgbClr val="1B3A6B"/>
                </a:solidFill>
              </a:rPr>
              <a:t>Demande asiatique</a:t>
            </a:r>
          </a:p>
        </p:txBody>
      </p:sp>
      <p:sp>
        <p:nvSpPr>
          <p:cNvPr id="28" name="TextBox 27"/>
          <p:cNvSpPr txBox="1"/>
          <p:nvPr/>
        </p:nvSpPr>
        <p:spPr>
          <a:xfrm>
            <a:off x="576000" y="4104000"/>
            <a:ext cx="4428000" cy="396000"/>
          </a:xfrm>
          <a:prstGeom prst="rect">
            <a:avLst/>
          </a:prstGeom>
          <a:noFill/>
        </p:spPr>
        <p:txBody>
          <a:bodyPr wrap="square">
            <a:spAutoFit/>
          </a:bodyPr>
          <a:lstStyle/>
          <a:p>
            <a:pPr algn="l"/>
            <a:r>
              <a:rPr sz="750" b="0" i="0">
                <a:solidFill>
                  <a:srgbClr val="555555"/>
                </a:solidFill>
              </a:rPr>
              <a:t>L'expansion des marchés émergents, notamment en Chine, offre un relais de croissance pour les équipementiers comme TMO via les diagnostics et équipements médicaux.</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15.1x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33.9 %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+6.1 %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+11.9 %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64/100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Johnson &amp; Johnson</a:t>
                      </a:r>
                    </a:p>
                  </a:txBody>
                  <a:tcPr>
                    <a:noFill/>
                  </a:tcPr>
                </a:tc>
                <a:tc>
                  <a:txBody>
                    <a:bodyPr/>
                    <a:lstStyle/>
                    <a:p>
                      <a:pPr algn="ctr"/>
                      <a:r>
                        <a:rPr sz="750" b="0">
                          <a:solidFill>
                            <a:srgbClr val="1A1A1A"/>
                          </a:solidFill>
                        </a:rPr>
                        <a:t>18.2x</a:t>
                      </a:r>
                    </a:p>
                  </a:txBody>
                  <a:tcPr>
                    <a:noFill/>
                  </a:tcPr>
                </a:tc>
                <a:tc>
                  <a:txBody>
                    <a:bodyPr/>
                    <a:lstStyle/>
                    <a:p>
                      <a:pPr algn="ctr"/>
                      <a:r>
                        <a:rPr sz="750" b="0">
                          <a:solidFill>
                            <a:srgbClr val="1A1A1A"/>
                          </a:solidFill>
                        </a:rPr>
                        <a:t>6.5x</a:t>
                      </a:r>
                    </a:p>
                  </a:txBody>
                  <a:tcPr>
                    <a:noFill/>
                  </a:tcPr>
                </a:tc>
                <a:tc>
                  <a:txBody>
                    <a:bodyPr/>
                    <a:lstStyle/>
                    <a:p>
                      <a:pPr algn="ctr"/>
                      <a:r>
                        <a:rPr sz="750" b="0">
                          <a:solidFill>
                            <a:srgbClr val="1A1A1A"/>
                          </a:solidFill>
                        </a:rPr>
                        <a:t>22.0x</a:t>
                      </a:r>
                    </a:p>
                  </a:txBody>
                  <a:tcPr>
                    <a:noFill/>
                  </a:tcPr>
                </a:tc>
                <a:tc>
                  <a:txBody>
                    <a:bodyPr/>
                    <a:lstStyle/>
                    <a:p>
                      <a:pPr algn="ctr"/>
                      <a:r>
                        <a:rPr sz="750" b="0">
                          <a:solidFill>
                            <a:srgbClr val="1A1A1A"/>
                          </a:solidFill>
                        </a:rPr>
                        <a:t>68.1 %</a:t>
                      </a:r>
                    </a:p>
                  </a:txBody>
                  <a:tcPr>
                    <a:noFill/>
                  </a:tcPr>
                </a:tc>
                <a:tc>
                  <a:txBody>
                    <a:bodyPr/>
                    <a:lstStyle/>
                    <a:p>
                      <a:pPr algn="ctr"/>
                      <a:r>
                        <a:rPr sz="750" b="0">
                          <a:solidFill>
                            <a:srgbClr val="1A1A1A"/>
                          </a:solidFill>
                        </a:rPr>
                        <a:t>35.9 %</a:t>
                      </a:r>
                    </a:p>
                  </a:txBody>
                  <a:tcPr>
                    <a:noFill/>
                  </a:tcPr>
                </a:tc>
                <a:tc>
                  <a:txBody>
                    <a:bodyPr/>
                    <a:lstStyle/>
                    <a:p>
                      <a:pPr algn="ctr"/>
                      <a:r>
                        <a:rPr sz="750" b="0">
                          <a:solidFill>
                            <a:srgbClr val="1A1A1A"/>
                          </a:solidFill>
                        </a:rPr>
                        <a:t>35.0 %</a:t>
                      </a:r>
                    </a:p>
                  </a:txBody>
                  <a:tcPr>
                    <a:noFill/>
                  </a:tcPr>
                </a:tc>
              </a:tr>
              <a:tr h="198000">
                <a:tc>
                  <a:txBody>
                    <a:bodyPr/>
                    <a:lstStyle/>
                    <a:p>
                      <a:pPr algn="ctr"/>
                      <a:r>
                        <a:rPr sz="750" b="0">
                          <a:solidFill>
                            <a:srgbClr val="1A1A1A"/>
                          </a:solidFill>
                        </a:rPr>
                        <a:t>Merck &amp; Co., Inc.</a:t>
                      </a:r>
                    </a:p>
                  </a:txBody>
                  <a:tcPr>
                    <a:solidFill>
                      <a:srgbClr val="F5F7FA"/>
                    </a:solidFill>
                  </a:tcPr>
                </a:tc>
                <a:tc>
                  <a:txBody>
                    <a:bodyPr/>
                    <a:lstStyle/>
                    <a:p>
                      <a:pPr algn="ctr"/>
                      <a:r>
                        <a:rPr sz="750" b="0">
                          <a:solidFill>
                            <a:srgbClr val="1A1A1A"/>
                          </a:solidFill>
                        </a:rPr>
                        <a:t>11.5x</a:t>
                      </a:r>
                    </a:p>
                  </a:txBody>
                  <a:tcPr>
                    <a:solidFill>
                      <a:srgbClr val="F5F7FA"/>
                    </a:solidFill>
                  </a:tcPr>
                </a:tc>
                <a:tc>
                  <a:txBody>
                    <a:bodyPr/>
                    <a:lstStyle/>
                    <a:p>
                      <a:pPr algn="ctr"/>
                      <a:r>
                        <a:rPr sz="750" b="0">
                          <a:solidFill>
                            <a:srgbClr val="1A1A1A"/>
                          </a:solidFill>
                        </a:rPr>
                        <a:t>5.2x</a:t>
                      </a:r>
                    </a:p>
                  </a:txBody>
                  <a:tcPr>
                    <a:solidFill>
                      <a:srgbClr val="F5F7FA"/>
                    </a:solidFill>
                  </a:tcPr>
                </a:tc>
                <a:tc>
                  <a:txBody>
                    <a:bodyPr/>
                    <a:lstStyle/>
                    <a:p>
                      <a:pPr algn="ctr"/>
                      <a:r>
                        <a:rPr sz="750" b="0">
                          <a:solidFill>
                            <a:srgbClr val="1A1A1A"/>
                          </a:solidFill>
                        </a:rPr>
                        <a:t>16.6x</a:t>
                      </a:r>
                    </a:p>
                  </a:txBody>
                  <a:tcPr>
                    <a:solidFill>
                      <a:srgbClr val="F5F7FA"/>
                    </a:solidFill>
                  </a:tcPr>
                </a:tc>
                <a:tc>
                  <a:txBody>
                    <a:bodyPr/>
                    <a:lstStyle/>
                    <a:p>
                      <a:pPr algn="ctr"/>
                      <a:r>
                        <a:rPr sz="750" b="0">
                          <a:solidFill>
                            <a:srgbClr val="1A1A1A"/>
                          </a:solidFill>
                        </a:rPr>
                        <a:t>77.2 %</a:t>
                      </a:r>
                    </a:p>
                  </a:txBody>
                  <a:tcPr>
                    <a:solidFill>
                      <a:srgbClr val="F5F7FA"/>
                    </a:solidFill>
                  </a:tcPr>
                </a:tc>
                <a:tc>
                  <a:txBody>
                    <a:bodyPr/>
                    <a:lstStyle/>
                    <a:p>
                      <a:pPr algn="ctr"/>
                      <a:r>
                        <a:rPr sz="750" b="0">
                          <a:solidFill>
                            <a:srgbClr val="1A1A1A"/>
                          </a:solidFill>
                        </a:rPr>
                        <a:t>44.8 %</a:t>
                      </a:r>
                    </a:p>
                  </a:txBody>
                  <a:tcPr>
                    <a:solidFill>
                      <a:srgbClr val="F5F7FA"/>
                    </a:solidFill>
                  </a:tcPr>
                </a:tc>
                <a:tc>
                  <a:txBody>
                    <a:bodyPr/>
                    <a:lstStyle/>
                    <a:p>
                      <a:pPr algn="ctr"/>
                      <a:r>
                        <a:rPr sz="750" b="0">
                          <a:solidFill>
                            <a:srgbClr val="1A1A1A"/>
                          </a:solidFill>
                        </a:rPr>
                        <a:t>36.9 %</a:t>
                      </a:r>
                    </a:p>
                  </a:txBody>
                  <a:tcPr>
                    <a:solidFill>
                      <a:srgbClr val="F5F7FA"/>
                    </a:solidFill>
                  </a:tcPr>
                </a:tc>
              </a:tr>
              <a:tr h="198000">
                <a:tc>
                  <a:txBody>
                    <a:bodyPr/>
                    <a:lstStyle/>
                    <a:p>
                      <a:pPr algn="ctr"/>
                      <a:r>
                        <a:rPr sz="750" b="0">
                          <a:solidFill>
                            <a:srgbClr val="1A1A1A"/>
                          </a:solidFill>
                        </a:rPr>
                        <a:t>Thermo Fisher Scientific Inc</a:t>
                      </a:r>
                    </a:p>
                  </a:txBody>
                  <a:tcPr>
                    <a:noFill/>
                  </a:tcPr>
                </a:tc>
                <a:tc>
                  <a:txBody>
                    <a:bodyPr/>
                    <a:lstStyle/>
                    <a:p>
                      <a:pPr algn="ctr"/>
                      <a:r>
                        <a:rPr sz="750" b="0">
                          <a:solidFill>
                            <a:srgbClr val="1A1A1A"/>
                          </a:solidFill>
                        </a:rPr>
                        <a:t>19.2x</a:t>
                      </a:r>
                    </a:p>
                  </a:txBody>
                  <a:tcPr>
                    <a:noFill/>
                  </a:tcPr>
                </a:tc>
                <a:tc>
                  <a:txBody>
                    <a:bodyPr/>
                    <a:lstStyle/>
                    <a:p>
                      <a:pPr algn="ctr"/>
                      <a:r>
                        <a:rPr sz="750" b="0">
                          <a:solidFill>
                            <a:srgbClr val="1A1A1A"/>
                          </a:solidFill>
                        </a:rPr>
                        <a:t>4.8x</a:t>
                      </a:r>
                    </a:p>
                  </a:txBody>
                  <a:tcPr>
                    <a:noFill/>
                  </a:tcPr>
                </a:tc>
                <a:tc>
                  <a:txBody>
                    <a:bodyPr/>
                    <a:lstStyle/>
                    <a:p>
                      <a:pPr algn="ctr"/>
                      <a:r>
                        <a:rPr sz="750" b="0">
                          <a:solidFill>
                            <a:srgbClr val="1A1A1A"/>
                          </a:solidFill>
                        </a:rPr>
                        <a:t>27.7x</a:t>
                      </a:r>
                    </a:p>
                  </a:txBody>
                  <a:tcPr>
                    <a:noFill/>
                  </a:tcPr>
                </a:tc>
                <a:tc>
                  <a:txBody>
                    <a:bodyPr/>
                    <a:lstStyle/>
                    <a:p>
                      <a:pPr algn="ctr"/>
                      <a:r>
                        <a:rPr sz="750" b="0">
                          <a:solidFill>
                            <a:srgbClr val="1A1A1A"/>
                          </a:solidFill>
                        </a:rPr>
                        <a:t>41.1 %</a:t>
                      </a:r>
                    </a:p>
                  </a:txBody>
                  <a:tcPr>
                    <a:noFill/>
                  </a:tcPr>
                </a:tc>
                <a:tc>
                  <a:txBody>
                    <a:bodyPr/>
                    <a:lstStyle/>
                    <a:p>
                      <a:pPr algn="ctr"/>
                      <a:r>
                        <a:rPr sz="750" b="0">
                          <a:solidFill>
                            <a:srgbClr val="1A1A1A"/>
                          </a:solidFill>
                        </a:rPr>
                        <a:t>25.0 %</a:t>
                      </a:r>
                    </a:p>
                  </a:txBody>
                  <a:tcPr>
                    <a:noFill/>
                  </a:tcPr>
                </a:tc>
                <a:tc>
                  <a:txBody>
                    <a:bodyPr/>
                    <a:lstStyle/>
                    <a:p>
                      <a:pPr algn="ctr"/>
                      <a:r>
                        <a:rPr sz="750" b="0">
                          <a:solidFill>
                            <a:srgbClr val="1A1A1A"/>
                          </a:solidFill>
                        </a:rPr>
                        <a:t>13.0 %</a:t>
                      </a:r>
                    </a:p>
                  </a:txBody>
                  <a:tcPr>
                    <a:noFill/>
                  </a:tcPr>
                </a:tc>
              </a:tr>
              <a:tr h="198000">
                <a:tc>
                  <a:txBody>
                    <a:bodyPr/>
                    <a:lstStyle/>
                    <a:p>
                      <a:pPr algn="ctr"/>
                      <a:r>
                        <a:rPr sz="750" b="0">
                          <a:solidFill>
                            <a:srgbClr val="1A1A1A"/>
                          </a:solidFill>
                        </a:rPr>
                        <a:t>Pfizer Inc.</a:t>
                      </a:r>
                    </a:p>
                  </a:txBody>
                  <a:tcPr>
                    <a:solidFill>
                      <a:srgbClr val="F5F7FA"/>
                    </a:solidFill>
                  </a:tcPr>
                </a:tc>
                <a:tc>
                  <a:txBody>
                    <a:bodyPr/>
                    <a:lstStyle/>
                    <a:p>
                      <a:pPr algn="ctr"/>
                      <a:r>
                        <a:rPr sz="750" b="0">
                          <a:solidFill>
                            <a:srgbClr val="1A1A1A"/>
                          </a:solidFill>
                        </a:rPr>
                        <a:t>8.4x</a:t>
                      </a:r>
                    </a:p>
                  </a:txBody>
                  <a:tcPr>
                    <a:solidFill>
                      <a:srgbClr val="F5F7FA"/>
                    </a:solidFill>
                  </a:tcPr>
                </a:tc>
                <a:tc>
                  <a:txBody>
                    <a:bodyPr/>
                    <a:lstStyle/>
                    <a:p>
                      <a:pPr algn="ctr"/>
                      <a:r>
                        <a:rPr sz="750" b="0">
                          <a:solidFill>
                            <a:srgbClr val="1A1A1A"/>
                          </a:solidFill>
                        </a:rPr>
                        <a:t>3.4x</a:t>
                      </a:r>
                    </a:p>
                  </a:txBody>
                  <a:tcPr>
                    <a:solidFill>
                      <a:srgbClr val="F5F7FA"/>
                    </a:solidFill>
                  </a:tcPr>
                </a:tc>
                <a:tc>
                  <a:txBody>
                    <a:bodyPr/>
                    <a:lstStyle/>
                    <a:p>
                      <a:pPr algn="ctr"/>
                      <a:r>
                        <a:rPr sz="750" b="0">
                          <a:solidFill>
                            <a:srgbClr val="1A1A1A"/>
                          </a:solidFill>
                        </a:rPr>
                        <a:t>20.8x</a:t>
                      </a:r>
                    </a:p>
                  </a:txBody>
                  <a:tcPr>
                    <a:solidFill>
                      <a:srgbClr val="F5F7FA"/>
                    </a:solidFill>
                  </a:tcPr>
                </a:tc>
                <a:tc>
                  <a:txBody>
                    <a:bodyPr/>
                    <a:lstStyle/>
                    <a:p>
                      <a:pPr algn="ctr"/>
                      <a:r>
                        <a:rPr sz="750" b="0">
                          <a:solidFill>
                            <a:srgbClr val="1A1A1A"/>
                          </a:solidFill>
                        </a:rPr>
                        <a:t>75.8 %</a:t>
                      </a:r>
                    </a:p>
                  </a:txBody>
                  <a:tcPr>
                    <a:solidFill>
                      <a:srgbClr val="F5F7FA"/>
                    </a:solidFill>
                  </a:tcPr>
                </a:tc>
                <a:tc>
                  <a:txBody>
                    <a:bodyPr/>
                    <a:lstStyle/>
                    <a:p>
                      <a:pPr algn="ctr"/>
                      <a:r>
                        <a:rPr sz="750" b="0">
                          <a:solidFill>
                            <a:srgbClr val="1A1A1A"/>
                          </a:solidFill>
                        </a:rPr>
                        <a:t>41.1 %</a:t>
                      </a:r>
                    </a:p>
                  </a:txBody>
                  <a:tcPr>
                    <a:solidFill>
                      <a:srgbClr val="F5F7FA"/>
                    </a:solidFill>
                  </a:tcPr>
                </a:tc>
                <a:tc>
                  <a:txBody>
                    <a:bodyPr/>
                    <a:lstStyle/>
                    <a:p>
                      <a:pPr algn="ctr"/>
                      <a:r>
                        <a:rPr sz="750" b="0">
                          <a:solidFill>
                            <a:srgbClr val="1A1A1A"/>
                          </a:solidFill>
                        </a:rPr>
                        <a:t>8.9 %</a:t>
                      </a:r>
                    </a:p>
                  </a:txBody>
                  <a:tcPr>
                    <a:solidFill>
                      <a:srgbClr val="F5F7FA"/>
                    </a:solidFill>
                  </a:tcPr>
                </a:tc>
              </a:tr>
              <a:tr h="198000">
                <a:tc>
                  <a:txBody>
                    <a:bodyPr/>
                    <a:lstStyle/>
                    <a:p>
                      <a:pPr algn="ctr"/>
                      <a:r>
                        <a:rPr sz="750" b="0">
                          <a:solidFill>
                            <a:srgbClr val="1A1A1A"/>
                          </a:solidFill>
                        </a:rPr>
                        <a:t>Abbott Laboratories</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4.2x</a:t>
                      </a:r>
                    </a:p>
                  </a:txBody>
                  <a:tcPr>
                    <a:noFill/>
                  </a:tcPr>
                </a:tc>
                <a:tc>
                  <a:txBody>
                    <a:bodyPr/>
                    <a:lstStyle/>
                    <a:p>
                      <a:pPr algn="ctr"/>
                      <a:r>
                        <a:rPr sz="750" b="0">
                          <a:solidFill>
                            <a:srgbClr val="1A1A1A"/>
                          </a:solidFill>
                        </a:rPr>
                        <a:t>27.7x</a:t>
                      </a:r>
                    </a:p>
                  </a:txBody>
                  <a:tcPr>
                    <a:noFill/>
                  </a:tcPr>
                </a:tc>
                <a:tc>
                  <a:txBody>
                    <a:bodyPr/>
                    <a:lstStyle/>
                    <a:p>
                      <a:pPr algn="ctr"/>
                      <a:r>
                        <a:rPr sz="750" b="0">
                          <a:solidFill>
                            <a:srgbClr val="1A1A1A"/>
                          </a:solidFill>
                        </a:rPr>
                        <a:t>56.7 %</a:t>
                      </a:r>
                    </a:p>
                  </a:txBody>
                  <a:tcPr>
                    <a:noFill/>
                  </a:tcPr>
                </a:tc>
                <a:tc>
                  <a:txBody>
                    <a:bodyPr/>
                    <a:lstStyle/>
                    <a:p>
                      <a:pPr algn="ctr"/>
                      <a:r>
                        <a:rPr sz="750" b="0">
                          <a:solidFill>
                            <a:srgbClr val="1A1A1A"/>
                          </a:solidFill>
                        </a:rPr>
                        <a:t>27.1 %</a:t>
                      </a:r>
                    </a:p>
                  </a:txBody>
                  <a:tcPr>
                    <a:noFill/>
                  </a:tcPr>
                </a:tc>
                <a:tc>
                  <a:txBody>
                    <a:bodyPr/>
                    <a:lstStyle/>
                    <a:p>
                      <a:pPr algn="ctr"/>
                      <a:r>
                        <a:rPr sz="750" b="0">
                          <a:solidFill>
                            <a:srgbClr val="1A1A1A"/>
                          </a:solidFill>
                        </a:rPr>
                        <a:t>13.0 %</a:t>
                      </a:r>
                    </a:p>
                  </a:txBody>
                  <a:tcPr>
                    <a:noFill/>
                  </a:tcPr>
                </a:tc>
              </a:tr>
              <a:tr h="198000">
                <a:tc>
                  <a:txBody>
                    <a:bodyPr/>
                    <a:lstStyle/>
                    <a:p>
                      <a:pPr algn="ctr"/>
                      <a:r>
                        <a:rPr sz="750" b="0">
                          <a:solidFill>
                            <a:srgbClr val="1A1A1A"/>
                          </a:solidFill>
                        </a:rPr>
                        <a:t>Danaher Corporation</a:t>
                      </a:r>
                    </a:p>
                  </a:txBody>
                  <a:tcPr>
                    <a:solidFill>
                      <a:srgbClr val="F5F7FA"/>
                    </a:solidFill>
                  </a:tcPr>
                </a:tc>
                <a:tc>
                  <a:txBody>
                    <a:bodyPr/>
                    <a:lstStyle/>
                    <a:p>
                      <a:pPr algn="ctr"/>
                      <a:r>
                        <a:rPr sz="750" b="0">
                          <a:solidFill>
                            <a:srgbClr val="1A1A1A"/>
                          </a:solidFill>
                        </a:rPr>
                        <a:t>19.2x</a:t>
                      </a:r>
                    </a:p>
                  </a:txBody>
                  <a:tcPr>
                    <a:solidFill>
                      <a:srgbClr val="F5F7FA"/>
                    </a:solidFill>
                  </a:tcPr>
                </a:tc>
                <a:tc>
                  <a:txBody>
                    <a:bodyPr/>
                    <a:lstStyle/>
                    <a:p>
                      <a:pPr algn="ctr"/>
                      <a:r>
                        <a:rPr sz="750" b="0">
                          <a:solidFill>
                            <a:srgbClr val="1A1A1A"/>
                          </a:solidFill>
                        </a:rPr>
                        <a:t>6.1x</a:t>
                      </a:r>
                    </a:p>
                  </a:txBody>
                  <a:tcPr>
                    <a:solidFill>
                      <a:srgbClr val="F5F7FA"/>
                    </a:solidFill>
                  </a:tcPr>
                </a:tc>
                <a:tc>
                  <a:txBody>
                    <a:bodyPr/>
                    <a:lstStyle/>
                    <a:p>
                      <a:pPr algn="ctr"/>
                      <a:r>
                        <a:rPr sz="750" b="0">
                          <a:solidFill>
                            <a:srgbClr val="1A1A1A"/>
                          </a:solidFill>
                        </a:rPr>
                        <a:t>38.0x</a:t>
                      </a:r>
                    </a:p>
                  </a:txBody>
                  <a:tcPr>
                    <a:solidFill>
                      <a:srgbClr val="F5F7FA"/>
                    </a:solidFill>
                  </a:tcPr>
                </a:tc>
                <a:tc>
                  <a:txBody>
                    <a:bodyPr/>
                    <a:lstStyle/>
                    <a:p>
                      <a:pPr algn="ctr"/>
                      <a:r>
                        <a:rPr sz="750" b="0">
                          <a:solidFill>
                            <a:srgbClr val="1A1A1A"/>
                          </a:solidFill>
                        </a:rPr>
                        <a:t>59.2 %</a:t>
                      </a:r>
                    </a:p>
                  </a:txBody>
                  <a:tcPr>
                    <a:solidFill>
                      <a:srgbClr val="F5F7FA"/>
                    </a:solidFill>
                  </a:tcPr>
                </a:tc>
                <a:tc>
                  <a:txBody>
                    <a:bodyPr/>
                    <a:lstStyle/>
                    <a:p>
                      <a:pPr algn="ctr"/>
                      <a:r>
                        <a:rPr sz="750" b="0">
                          <a:solidFill>
                            <a:srgbClr val="1A1A1A"/>
                          </a:solidFill>
                        </a:rPr>
                        <a:t>31.9 %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UnitedHealth Group Incorpora</a:t>
                      </a:r>
                    </a:p>
                  </a:txBody>
                  <a:tcPr>
                    <a:noFill/>
                  </a:tcPr>
                </a:tc>
                <a:tc>
                  <a:txBody>
                    <a:bodyPr/>
                    <a:lstStyle/>
                    <a:p>
                      <a:pPr algn="ctr"/>
                      <a:r>
                        <a:rPr sz="750" b="0">
                          <a:solidFill>
                            <a:srgbClr val="1A1A1A"/>
                          </a:solidFill>
                        </a:rPr>
                        <a:t>14.5x</a:t>
                      </a:r>
                    </a:p>
                  </a:txBody>
                  <a:tcPr>
                    <a:noFill/>
                  </a:tcPr>
                </a:tc>
                <a:tc>
                  <a:txBody>
                    <a:bodyPr/>
                    <a:lstStyle/>
                    <a:p>
                      <a:pPr algn="ctr"/>
                      <a:r>
                        <a:rPr sz="750" b="0">
                          <a:solidFill>
                            <a:srgbClr val="1A1A1A"/>
                          </a:solidFill>
                        </a:rPr>
                        <a:t>0.7x</a:t>
                      </a:r>
                    </a:p>
                  </a:txBody>
                  <a:tcPr>
                    <a:noFill/>
                  </a:tcPr>
                </a:tc>
                <a:tc>
                  <a:txBody>
                    <a:bodyPr/>
                    <a:lstStyle/>
                    <a:p>
                      <a:pPr algn="ctr"/>
                      <a:r>
                        <a:rPr sz="750" b="0">
                          <a:solidFill>
                            <a:srgbClr val="1A1A1A"/>
                          </a:solidFill>
                        </a:rPr>
                        <a:t>21.0x</a:t>
                      </a:r>
                    </a:p>
                  </a:txBody>
                  <a:tcPr>
                    <a:noFill/>
                  </a:tcPr>
                </a:tc>
                <a:tc>
                  <a:txBody>
                    <a:bodyPr/>
                    <a:lstStyle/>
                    <a:p>
                      <a:pPr algn="ctr"/>
                      <a:r>
                        <a:rPr sz="750" b="0">
                          <a:solidFill>
                            <a:srgbClr val="1A1A1A"/>
                          </a:solidFill>
                        </a:rPr>
                        <a:t>18.5 %</a:t>
                      </a:r>
                    </a:p>
                  </a:txBody>
                  <a:tcPr>
                    <a:noFill/>
                  </a:tcPr>
                </a:tc>
                <a:tc>
                  <a:txBody>
                    <a:bodyPr/>
                    <a:lstStyle/>
                    <a:p>
                      <a:pPr algn="ctr"/>
                      <a:r>
                        <a:rPr sz="750" b="0">
                          <a:solidFill>
                            <a:srgbClr val="1A1A1A"/>
                          </a:solidFill>
                        </a:rPr>
                        <a:t>4.8 %</a:t>
                      </a:r>
                    </a:p>
                  </a:txBody>
                  <a:tcPr>
                    <a:noFill/>
                  </a:tcPr>
                </a:tc>
                <a:tc>
                  <a:txBody>
                    <a:bodyPr/>
                    <a:lstStyle/>
                    <a:p>
                      <a:pPr algn="ctr"/>
                      <a:r>
                        <a:rPr sz="750" b="0">
                          <a:solidFill>
                            <a:srgbClr val="1A1A1A"/>
                          </a:solidFill>
                        </a:rPr>
                        <a:t>12.5 %</a:t>
                      </a:r>
                    </a:p>
                  </a:txBody>
                  <a:tcPr>
                    <a:noFill/>
                  </a:tcPr>
                </a:tc>
              </a:tr>
              <a:tr h="198000">
                <a:tc>
                  <a:txBody>
                    <a:bodyPr/>
                    <a:lstStyle/>
                    <a:p>
                      <a:pPr algn="ctr"/>
                      <a:r>
                        <a:rPr sz="750" b="0">
                          <a:solidFill>
                            <a:srgbClr val="1A1A1A"/>
                          </a:solidFill>
                        </a:rPr>
                        <a:t>AbbVie Inc.</a:t>
                      </a:r>
                    </a:p>
                  </a:txBody>
                  <a:tcPr>
                    <a:solidFill>
                      <a:srgbClr val="F5F7FA"/>
                    </a:solidFill>
                  </a:tcPr>
                </a:tc>
                <a:tc>
                  <a:txBody>
                    <a:bodyPr/>
                    <a:lstStyle/>
                    <a:p>
                      <a:pPr algn="ctr"/>
                      <a:r>
                        <a:rPr sz="750" b="0">
                          <a:solidFill>
                            <a:srgbClr val="1A1A1A"/>
                          </a:solidFill>
                        </a:rPr>
                        <a:t>14.8x</a:t>
                      </a:r>
                    </a:p>
                  </a:txBody>
                  <a:tcPr>
                    <a:solidFill>
                      <a:srgbClr val="F5F7FA"/>
                    </a:solidFill>
                  </a:tcPr>
                </a:tc>
                <a:tc>
                  <a:txBody>
                    <a:bodyPr/>
                    <a:lstStyle/>
                    <a:p>
                      <a:pPr algn="ctr"/>
                      <a:r>
                        <a:rPr sz="750" b="0">
                          <a:solidFill>
                            <a:srgbClr val="1A1A1A"/>
                          </a:solidFill>
                        </a:rPr>
                        <a:t>7.1x</a:t>
                      </a:r>
                    </a:p>
                  </a:txBody>
                  <a:tcPr>
                    <a:solidFill>
                      <a:srgbClr val="F5F7FA"/>
                    </a:solidFill>
                  </a:tcPr>
                </a:tc>
                <a:tc>
                  <a:txBody>
                    <a:bodyPr/>
                    <a:lstStyle/>
                    <a:p>
                      <a:pPr algn="ctr"/>
                      <a:r>
                        <a:rPr sz="750" b="0">
                          <a:solidFill>
                            <a:srgbClr val="1A1A1A"/>
                          </a:solidFill>
                        </a:rPr>
                        <a:t>88.5x</a:t>
                      </a:r>
                    </a:p>
                  </a:txBody>
                  <a:tcPr>
                    <a:solidFill>
                      <a:srgbClr val="F5F7FA"/>
                    </a:solidFill>
                  </a:tcPr>
                </a:tc>
                <a:tc>
                  <a:txBody>
                    <a:bodyPr/>
                    <a:lstStyle/>
                    <a:p>
                      <a:pPr algn="ctr"/>
                      <a:r>
                        <a:rPr sz="750" b="0">
                          <a:solidFill>
                            <a:srgbClr val="1A1A1A"/>
                          </a:solidFill>
                        </a:rPr>
                        <a:t>71.6 %</a:t>
                      </a:r>
                    </a:p>
                  </a:txBody>
                  <a:tcPr>
                    <a:solidFill>
                      <a:srgbClr val="F5F7FA"/>
                    </a:solidFill>
                  </a:tcPr>
                </a:tc>
                <a:tc>
                  <a:txBody>
                    <a:bodyPr/>
                    <a:lstStyle/>
                    <a:p>
                      <a:pPr algn="ctr"/>
                      <a:r>
                        <a:rPr sz="750" b="0">
                          <a:solidFill>
                            <a:srgbClr val="1A1A1A"/>
                          </a:solidFill>
                        </a:rPr>
                        <a:t>47.8 %</a:t>
                      </a:r>
                    </a:p>
                  </a:txBody>
                  <a:tcPr>
                    <a:solidFill>
                      <a:srgbClr val="F5F7FA"/>
                    </a:solidFill>
                  </a:tcPr>
                </a:tc>
                <a:tc>
                  <a:txBody>
                    <a:bodyPr/>
                    <a:lstStyle/>
                    <a:p>
                      <a:pPr algn="ctr"/>
                      <a:r>
                        <a:rPr sz="750" b="0">
                          <a:solidFill>
                            <a:srgbClr val="1A1A1A"/>
                          </a:solidFill>
                        </a:rPr>
                        <a:t>6225.0 %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15.1x</a:t>
                      </a:r>
                    </a:p>
                  </a:txBody>
                  <a:tcPr>
                    <a:noFill/>
                  </a:tcPr>
                </a:tc>
                <a:tc>
                  <a:txBody>
                    <a:bodyPr/>
                    <a:lstStyle/>
                    <a:p>
                      <a:pPr algn="ctr"/>
                      <a:r>
                        <a:rPr sz="750" b="0">
                          <a:solidFill>
                            <a:srgbClr val="1A1A1A"/>
                          </a:solidFill>
                        </a:rPr>
                        <a:t>5.0x</a:t>
                      </a:r>
                    </a:p>
                  </a:txBody>
                  <a:tcPr>
                    <a:noFill/>
                  </a:tcPr>
                </a:tc>
                <a:tc>
                  <a:txBody>
                    <a:bodyPr/>
                    <a:lstStyle/>
                    <a:p>
                      <a:pPr algn="ctr"/>
                      <a:r>
                        <a:rPr sz="750" b="0">
                          <a:solidFill>
                            <a:srgbClr val="1A1A1A"/>
                          </a:solidFill>
                        </a:rPr>
                        <a:t>24.8x</a:t>
                      </a:r>
                    </a:p>
                  </a:txBody>
                  <a:tcPr>
                    <a:noFill/>
                  </a:tcPr>
                </a:tc>
                <a:tc>
                  <a:txBody>
                    <a:bodyPr/>
                    <a:lstStyle/>
                    <a:p>
                      <a:pPr algn="ctr"/>
                      <a:r>
                        <a:rPr sz="750" b="0">
                          <a:solidFill>
                            <a:srgbClr val="1A1A1A"/>
                          </a:solidFill>
                        </a:rPr>
                        <a:t>63.6 %</a:t>
                      </a:r>
                    </a:p>
                  </a:txBody>
                  <a:tcPr>
                    <a:noFill/>
                  </a:tcPr>
                </a:tc>
                <a:tc>
                  <a:txBody>
                    <a:bodyPr/>
                    <a:lstStyle/>
                    <a:p>
                      <a:pPr algn="ctr"/>
                      <a:r>
                        <a:rPr sz="750" b="0">
                          <a:solidFill>
                            <a:srgbClr val="1A1A1A"/>
                          </a:solidFill>
                        </a:rPr>
                        <a:t>33.9 %</a:t>
                      </a:r>
                    </a:p>
                  </a:txBody>
                  <a:tcPr>
                    <a:noFill/>
                  </a:tcPr>
                </a:tc>
                <a:tc>
                  <a:txBody>
                    <a:bodyPr/>
                    <a:lstStyle/>
                    <a:p>
                      <a:pPr algn="ctr"/>
                      <a:r>
                        <a:rPr sz="750" b="0">
                          <a:solidFill>
                            <a:srgbClr val="1A1A1A"/>
                          </a:solidFill>
                        </a:rPr>
                        <a:t>13.0 %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15.1x LTM. Johnson &amp; Johnson (18.2x) se distingue comme le leader de qualite, combine a une marge EBITDA de 35.9 % et une croissance de +9.1 %. La dispersion des multiples revele l heterogeneite des profils au sein du secteur Healthcare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Innovation biotech</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Les partenariats entre big pharma et startups biotech (ex : collaborations JNJ-Nimbus) accélèrent le développement de traitements disruptifs.</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Vieillissement démographique</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L'augmentation des maladies chroniques (diabète, Alzheimer) dans les pays développés soutient la demande en médicaments et dispositifs médicaux.</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R&amp;D</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L'inflation des coûts de développement clinique (ex : +8% par an pour les essais de phase III) réduit la rentabilité des projets innovants.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Tensions géopolitiques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Les restrictions à l'export de technologies médicales (ex : semi-conducteurs pour dispositifs) pourraient perturber les chaînes d'approvisionnement de TMO.</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64/100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6.4 %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semble en phase de maturité avancée, avec une croissance modérée mais des marges stables, typique d'un cycle de consolidation post-pandémie.</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E67E22"/>
                </a:solidFill>
              </a:rPr>
              <a:t>Regime : Volatile</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26%  (Moderee)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Healthcare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JNJ</a:t>
                      </a:r>
                    </a:p>
                  </a:txBody>
                  <a:tcPr>
                    <a:noFill/>
                  </a:tcPr>
                </a:tc>
                <a:tc>
                  <a:txBody>
                    <a:bodyPr/>
                    <a:lstStyle/>
                    <a:p>
                      <a:pPr algn="ctr"/>
                      <a:r>
                        <a:rPr sz="750" b="0">
                          <a:solidFill>
                            <a:srgbClr val="1A1A1A"/>
                          </a:solidFill>
                        </a:rPr>
                        <a:t>Johnson &amp; Johnson</a:t>
                      </a:r>
                    </a:p>
                  </a:txBody>
                  <a:tcPr>
                    <a:noFill/>
                  </a:tcPr>
                </a:tc>
                <a:tc>
                  <a:txBody>
                    <a:bodyPr/>
                    <a:lstStyle/>
                    <a:p>
                      <a:pPr algn="ctr"/>
                      <a:r>
                        <a:rPr sz="750" b="0">
                          <a:solidFill>
                            <a:srgbClr val="1A1A1A"/>
                          </a:solidFill>
                        </a:rPr>
                        <a:t>81/100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243.04</a:t>
                      </a:r>
                    </a:p>
                  </a:txBody>
                  <a:tcPr>
                    <a:noFill/>
                  </a:tcPr>
                </a:tc>
                <a:tc>
                  <a:txBody>
                    <a:bodyPr/>
                    <a:lstStyle/>
                    <a:p>
                      <a:pPr algn="ctr"/>
                      <a:r>
                        <a:rPr sz="750" b="0">
                          <a:solidFill>
                            <a:srgbClr val="1A1A1A"/>
                          </a:solidFill>
                        </a:rPr>
                        <a:t>18.2x</a:t>
                      </a:r>
                    </a:p>
                  </a:txBody>
                  <a:tcPr>
                    <a:noFill/>
                  </a:tcPr>
                </a:tc>
                <a:tc>
                  <a:txBody>
                    <a:bodyPr/>
                    <a:lstStyle/>
                    <a:p>
                      <a:pPr algn="ctr"/>
                      <a:r>
                        <a:rPr sz="750" b="0">
                          <a:solidFill>
                            <a:srgbClr val="1A1A1A"/>
                          </a:solidFill>
                        </a:rPr>
                        <a:t>35.9 %</a:t>
                      </a:r>
                    </a:p>
                  </a:txBody>
                  <a:tcPr>
                    <a:noFill/>
                  </a:tcPr>
                </a:tc>
                <a:tc>
                  <a:txBody>
                    <a:bodyPr/>
                    <a:lstStyle/>
                    <a:p>
                      <a:pPr algn="ctr"/>
                      <a:r>
                        <a:rPr sz="750" b="0">
                          <a:solidFill>
                            <a:srgbClr val="1A1A1A"/>
                          </a:solidFill>
                        </a:rPr>
                        <a:t>+9.1 %</a:t>
                      </a:r>
                    </a:p>
                  </a:txBody>
                  <a:tcPr>
                    <a:noFill/>
                  </a:tcPr>
                </a:tc>
                <a:tc>
                  <a:txBody>
                    <a:bodyPr/>
                    <a:lstStyle/>
                    <a:p>
                      <a:pPr algn="ctr"/>
                      <a:r>
                        <a:rPr sz="750" b="0">
                          <a:solidFill>
                            <a:srgbClr val="1A1A1A"/>
                          </a:solidFill>
                        </a:rPr>
                        <a:t>+58.6 %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MRK</a:t>
                      </a:r>
                    </a:p>
                  </a:txBody>
                  <a:tcPr>
                    <a:solidFill>
                      <a:srgbClr val="F5F7FA"/>
                    </a:solidFill>
                  </a:tcPr>
                </a:tc>
                <a:tc>
                  <a:txBody>
                    <a:bodyPr/>
                    <a:lstStyle/>
                    <a:p>
                      <a:pPr algn="ctr"/>
                      <a:r>
                        <a:rPr sz="750" b="0">
                          <a:solidFill>
                            <a:srgbClr val="1A1A1A"/>
                          </a:solidFill>
                        </a:rPr>
                        <a:t>Merck &amp; Co., Inc.</a:t>
                      </a:r>
                    </a:p>
                  </a:txBody>
                  <a:tcPr>
                    <a:solidFill>
                      <a:srgbClr val="F5F7FA"/>
                    </a:solidFill>
                  </a:tcPr>
                </a:tc>
                <a:tc>
                  <a:txBody>
                    <a:bodyPr/>
                    <a:lstStyle/>
                    <a:p>
                      <a:pPr algn="ctr"/>
                      <a:r>
                        <a:rPr sz="750" b="0">
                          <a:solidFill>
                            <a:srgbClr val="1A1A1A"/>
                          </a:solidFill>
                        </a:rPr>
                        <a:t>78/100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120.87</a:t>
                      </a:r>
                    </a:p>
                  </a:txBody>
                  <a:tcPr>
                    <a:solidFill>
                      <a:srgbClr val="F5F7FA"/>
                    </a:solidFill>
                  </a:tcPr>
                </a:tc>
                <a:tc>
                  <a:txBody>
                    <a:bodyPr/>
                    <a:lstStyle/>
                    <a:p>
                      <a:pPr algn="ctr"/>
                      <a:r>
                        <a:rPr sz="750" b="0">
                          <a:solidFill>
                            <a:srgbClr val="1A1A1A"/>
                          </a:solidFill>
                        </a:rPr>
                        <a:t>11.5x</a:t>
                      </a:r>
                    </a:p>
                  </a:txBody>
                  <a:tcPr>
                    <a:solidFill>
                      <a:srgbClr val="F5F7FA"/>
                    </a:solidFill>
                  </a:tcPr>
                </a:tc>
                <a:tc>
                  <a:txBody>
                    <a:bodyPr/>
                    <a:lstStyle/>
                    <a:p>
                      <a:pPr algn="ctr"/>
                      <a:r>
                        <a:rPr sz="750" b="0">
                          <a:solidFill>
                            <a:srgbClr val="1A1A1A"/>
                          </a:solidFill>
                        </a:rPr>
                        <a:t>44.8 %</a:t>
                      </a:r>
                    </a:p>
                  </a:txBody>
                  <a:tcPr>
                    <a:solidFill>
                      <a:srgbClr val="F5F7FA"/>
                    </a:solidFill>
                  </a:tcPr>
                </a:tc>
                <a:tc>
                  <a:txBody>
                    <a:bodyPr/>
                    <a:lstStyle/>
                    <a:p>
                      <a:pPr algn="ctr"/>
                      <a:r>
                        <a:rPr sz="750" b="0">
                          <a:solidFill>
                            <a:srgbClr val="1A1A1A"/>
                          </a:solidFill>
                        </a:rPr>
                        <a:t>+5.0 %</a:t>
                      </a:r>
                    </a:p>
                  </a:txBody>
                  <a:tcPr>
                    <a:solidFill>
                      <a:srgbClr val="F5F7FA"/>
                    </a:solidFill>
                  </a:tcPr>
                </a:tc>
                <a:tc>
                  <a:txBody>
                    <a:bodyPr/>
                    <a:lstStyle/>
                    <a:p>
                      <a:pPr algn="ctr"/>
                      <a:r>
                        <a:rPr sz="750" b="0">
                          <a:solidFill>
                            <a:srgbClr val="1A1A1A"/>
                          </a:solidFill>
                        </a:rPr>
                        <a:t>+48.4 %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TMO</a:t>
                      </a:r>
                    </a:p>
                  </a:txBody>
                  <a:tcPr>
                    <a:noFill/>
                  </a:tcPr>
                </a:tc>
                <a:tc>
                  <a:txBody>
                    <a:bodyPr/>
                    <a:lstStyle/>
                    <a:p>
                      <a:pPr algn="ctr"/>
                      <a:r>
                        <a:rPr sz="750" b="0">
                          <a:solidFill>
                            <a:srgbClr val="1A1A1A"/>
                          </a:solidFill>
                        </a:rPr>
                        <a:t>Thermo Fisher Scientific </a:t>
                      </a:r>
                    </a:p>
                  </a:txBody>
                  <a:tcPr>
                    <a:noFill/>
                  </a:tcPr>
                </a:tc>
                <a:tc>
                  <a:txBody>
                    <a:bodyPr/>
                    <a:lstStyle/>
                    <a:p>
                      <a:pPr algn="ctr"/>
                      <a:r>
                        <a:rPr sz="750" b="0">
                          <a:solidFill>
                            <a:srgbClr val="1A1A1A"/>
                          </a:solidFill>
                        </a:rPr>
                        <a:t>66/100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491.46</a:t>
                      </a:r>
                    </a:p>
                  </a:txBody>
                  <a:tcPr>
                    <a:noFill/>
                  </a:tcPr>
                </a:tc>
                <a:tc>
                  <a:txBody>
                    <a:bodyPr/>
                    <a:lstStyle/>
                    <a:p>
                      <a:pPr algn="ctr"/>
                      <a:r>
                        <a:rPr sz="750" b="0">
                          <a:solidFill>
                            <a:srgbClr val="1A1A1A"/>
                          </a:solidFill>
                        </a:rPr>
                        <a:t>19.2x</a:t>
                      </a:r>
                    </a:p>
                  </a:txBody>
                  <a:tcPr>
                    <a:noFill/>
                  </a:tcPr>
                </a:tc>
                <a:tc>
                  <a:txBody>
                    <a:bodyPr/>
                    <a:lstStyle/>
                    <a:p>
                      <a:pPr algn="ctr"/>
                      <a:r>
                        <a:rPr sz="750" b="0">
                          <a:solidFill>
                            <a:srgbClr val="1A1A1A"/>
                          </a:solidFill>
                        </a:rPr>
                        <a:t>25.0 %</a:t>
                      </a:r>
                    </a:p>
                  </a:txBody>
                  <a:tcPr>
                    <a:noFill/>
                  </a:tcPr>
                </a:tc>
                <a:tc>
                  <a:txBody>
                    <a:bodyPr/>
                    <a:lstStyle/>
                    <a:p>
                      <a:pPr algn="ctr"/>
                      <a:r>
                        <a:rPr sz="750" b="0">
                          <a:solidFill>
                            <a:srgbClr val="1A1A1A"/>
                          </a:solidFill>
                        </a:rPr>
                        <a:t>+7.2 %</a:t>
                      </a:r>
                    </a:p>
                  </a:txBody>
                  <a:tcPr>
                    <a:noFill/>
                  </a:tcPr>
                </a:tc>
                <a:tc>
                  <a:txBody>
                    <a:bodyPr/>
                    <a:lstStyle/>
                    <a:p>
                      <a:pPr algn="ctr"/>
                      <a:r>
                        <a:rPr sz="750" b="0">
                          <a:solidFill>
                            <a:srgbClr val="1A1A1A"/>
                          </a:solidFill>
                        </a:rPr>
                        <a:t>+12.2 %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PFE</a:t>
                      </a:r>
                    </a:p>
                  </a:txBody>
                  <a:tcPr>
                    <a:solidFill>
                      <a:srgbClr val="F5F7FA"/>
                    </a:solidFill>
                  </a:tcPr>
                </a:tc>
                <a:tc>
                  <a:txBody>
                    <a:bodyPr/>
                    <a:lstStyle/>
                    <a:p>
                      <a:pPr algn="ctr"/>
                      <a:r>
                        <a:rPr sz="750" b="0">
                          <a:solidFill>
                            <a:srgbClr val="1A1A1A"/>
                          </a:solidFill>
                        </a:rPr>
                        <a:t>Pfizer Inc.</a:t>
                      </a:r>
                    </a:p>
                  </a:txBody>
                  <a:tcPr>
                    <a:solidFill>
                      <a:srgbClr val="F5F7FA"/>
                    </a:solidFill>
                  </a:tcPr>
                </a:tc>
                <a:tc>
                  <a:txBody>
                    <a:bodyPr/>
                    <a:lstStyle/>
                    <a:p>
                      <a:pPr algn="ctr"/>
                      <a:r>
                        <a:rPr sz="750" b="0">
                          <a:solidFill>
                            <a:srgbClr val="1A1A1A"/>
                          </a:solidFill>
                        </a:rPr>
                        <a:t>61/100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28.32</a:t>
                      </a:r>
                    </a:p>
                  </a:txBody>
                  <a:tcPr>
                    <a:solidFill>
                      <a:srgbClr val="F5F7FA"/>
                    </a:solidFill>
                  </a:tcPr>
                </a:tc>
                <a:tc>
                  <a:txBody>
                    <a:bodyPr/>
                    <a:lstStyle/>
                    <a:p>
                      <a:pPr algn="ctr"/>
                      <a:r>
                        <a:rPr sz="750" b="0">
                          <a:solidFill>
                            <a:srgbClr val="1A1A1A"/>
                          </a:solidFill>
                        </a:rPr>
                        <a:t>8.4x</a:t>
                      </a:r>
                    </a:p>
                  </a:txBody>
                  <a:tcPr>
                    <a:solidFill>
                      <a:srgbClr val="F5F7FA"/>
                    </a:solidFill>
                  </a:tcPr>
                </a:tc>
                <a:tc>
                  <a:txBody>
                    <a:bodyPr/>
                    <a:lstStyle/>
                    <a:p>
                      <a:pPr algn="ctr"/>
                      <a:r>
                        <a:rPr sz="750" b="0">
                          <a:solidFill>
                            <a:srgbClr val="1A1A1A"/>
                          </a:solidFill>
                        </a:rPr>
                        <a:t>41.1 %</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+23.3 %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ABT</a:t>
                      </a:r>
                    </a:p>
                  </a:txBody>
                  <a:tcPr>
                    <a:noFill/>
                  </a:tcPr>
                </a:tc>
                <a:tc>
                  <a:txBody>
                    <a:bodyPr/>
                    <a:lstStyle/>
                    <a:p>
                      <a:pPr algn="ctr"/>
                      <a:r>
                        <a:rPr sz="750" b="0">
                          <a:solidFill>
                            <a:srgbClr val="1A1A1A"/>
                          </a:solidFill>
                        </a:rPr>
                        <a:t>Abbott Laboratories</a:t>
                      </a:r>
                    </a:p>
                  </a:txBody>
                  <a:tcPr>
                    <a:noFill/>
                  </a:tcPr>
                </a:tc>
                <a:tc>
                  <a:txBody>
                    <a:bodyPr/>
                    <a:lstStyle/>
                    <a:p>
                      <a:pPr algn="ctr"/>
                      <a:r>
                        <a:rPr sz="750" b="0">
                          <a:solidFill>
                            <a:srgbClr val="1A1A1A"/>
                          </a:solidFill>
                        </a:rPr>
                        <a:t>59/100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102.87</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27.1 %</a:t>
                      </a:r>
                    </a:p>
                  </a:txBody>
                  <a:tcPr>
                    <a:noFill/>
                  </a:tcPr>
                </a:tc>
                <a:tc>
                  <a:txBody>
                    <a:bodyPr/>
                    <a:lstStyle/>
                    <a:p>
                      <a:pPr algn="ctr"/>
                      <a:r>
                        <a:rPr sz="750" b="0">
                          <a:solidFill>
                            <a:srgbClr val="1A1A1A"/>
                          </a:solidFill>
                        </a:rPr>
                        <a:t>+4.4 %</a:t>
                      </a:r>
                    </a:p>
                  </a:txBody>
                  <a:tcPr>
                    <a:noFill/>
                  </a:tcPr>
                </a:tc>
                <a:tc>
                  <a:txBody>
                    <a:bodyPr/>
                    <a:lstStyle/>
                    <a:p>
                      <a:pPr algn="ctr"/>
                      <a:r>
                        <a:rPr sz="750" b="0">
                          <a:solidFill>
                            <a:srgbClr val="1A1A1A"/>
                          </a:solidFill>
                        </a:rPr>
                        <a:t>-17.3 %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DHR</a:t>
                      </a:r>
                    </a:p>
                  </a:txBody>
                  <a:tcPr>
                    <a:solidFill>
                      <a:srgbClr val="F5F7FA"/>
                    </a:solidFill>
                  </a:tcPr>
                </a:tc>
                <a:tc>
                  <a:txBody>
                    <a:bodyPr/>
                    <a:lstStyle/>
                    <a:p>
                      <a:pPr algn="ctr"/>
                      <a:r>
                        <a:rPr sz="750" b="0">
                          <a:solidFill>
                            <a:srgbClr val="1A1A1A"/>
                          </a:solidFill>
                        </a:rPr>
                        <a:t>Danaher Corporation</a:t>
                      </a:r>
                    </a:p>
                  </a:txBody>
                  <a:tcPr>
                    <a:solidFill>
                      <a:srgbClr val="F5F7FA"/>
                    </a:solidFill>
                  </a:tcPr>
                </a:tc>
                <a:tc>
                  <a:txBody>
                    <a:bodyPr/>
                    <a:lstStyle/>
                    <a:p>
                      <a:pPr algn="ctr"/>
                      <a:r>
                        <a:rPr sz="750" b="0">
                          <a:solidFill>
                            <a:srgbClr val="1A1A1A"/>
                          </a:solidFill>
                        </a:rPr>
                        <a:t>57/100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191.12</a:t>
                      </a:r>
                    </a:p>
                  </a:txBody>
                  <a:tcPr>
                    <a:solidFill>
                      <a:srgbClr val="F5F7FA"/>
                    </a:solidFill>
                  </a:tcPr>
                </a:tc>
                <a:tc>
                  <a:txBody>
                    <a:bodyPr/>
                    <a:lstStyle/>
                    <a:p>
                      <a:pPr algn="ctr"/>
                      <a:r>
                        <a:rPr sz="750" b="0">
                          <a:solidFill>
                            <a:srgbClr val="1A1A1A"/>
                          </a:solidFill>
                        </a:rPr>
                        <a:t>19.2x</a:t>
                      </a:r>
                    </a:p>
                  </a:txBody>
                  <a:tcPr>
                    <a:solidFill>
                      <a:srgbClr val="F5F7FA"/>
                    </a:solidFill>
                  </a:tcPr>
                </a:tc>
                <a:tc>
                  <a:txBody>
                    <a:bodyPr/>
                    <a:lstStyle/>
                    <a:p>
                      <a:pPr algn="ctr"/>
                      <a:r>
                        <a:rPr sz="750" b="0">
                          <a:solidFill>
                            <a:srgbClr val="1A1A1A"/>
                          </a:solidFill>
                        </a:rPr>
                        <a:t>31.9 %</a:t>
                      </a:r>
                    </a:p>
                  </a:txBody>
                  <a:tcPr>
                    <a:solidFill>
                      <a:srgbClr val="F5F7FA"/>
                    </a:solidFill>
                  </a:tcPr>
                </a:tc>
                <a:tc>
                  <a:txBody>
                    <a:bodyPr/>
                    <a:lstStyle/>
                    <a:p>
                      <a:pPr algn="ctr"/>
                      <a:r>
                        <a:rPr sz="750" b="0">
                          <a:solidFill>
                            <a:srgbClr val="1A1A1A"/>
                          </a:solidFill>
                        </a:rPr>
                        <a:t>+4.6 %</a:t>
                      </a:r>
                    </a:p>
                  </a:txBody>
                  <a:tcPr>
                    <a:solidFill>
                      <a:srgbClr val="F5F7FA"/>
                    </a:solidFill>
                  </a:tcPr>
                </a:tc>
                <a:tc>
                  <a:txBody>
                    <a:bodyPr/>
                    <a:lstStyle/>
                    <a:p>
                      <a:pPr algn="ctr"/>
                      <a:r>
                        <a:rPr sz="750" b="0">
                          <a:solidFill>
                            <a:srgbClr val="1A1A1A"/>
                          </a:solidFill>
                        </a:rPr>
                        <a:t>+5.1 %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UNH</a:t>
                      </a:r>
                    </a:p>
                  </a:txBody>
                  <a:tcPr>
                    <a:noFill/>
                  </a:tcPr>
                </a:tc>
                <a:tc>
                  <a:txBody>
                    <a:bodyPr/>
                    <a:lstStyle/>
                    <a:p>
                      <a:pPr algn="ctr"/>
                      <a:r>
                        <a:rPr sz="750" b="0">
                          <a:solidFill>
                            <a:srgbClr val="1A1A1A"/>
                          </a:solidFill>
                        </a:rPr>
                        <a:t>UnitedHealth Group Incorp</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277.26</a:t>
                      </a:r>
                    </a:p>
                  </a:txBody>
                  <a:tcPr>
                    <a:noFill/>
                  </a:tcPr>
                </a:tc>
                <a:tc>
                  <a:txBody>
                    <a:bodyPr/>
                    <a:lstStyle/>
                    <a:p>
                      <a:pPr algn="ctr"/>
                      <a:r>
                        <a:rPr sz="750" b="0">
                          <a:solidFill>
                            <a:srgbClr val="1A1A1A"/>
                          </a:solidFill>
                        </a:rPr>
                        <a:t>14.5x</a:t>
                      </a:r>
                    </a:p>
                  </a:txBody>
                  <a:tcPr>
                    <a:noFill/>
                  </a:tcPr>
                </a:tc>
                <a:tc>
                  <a:txBody>
                    <a:bodyPr/>
                    <a:lstStyle/>
                    <a:p>
                      <a:pPr algn="ctr"/>
                      <a:r>
                        <a:rPr sz="750" b="0">
                          <a:solidFill>
                            <a:srgbClr val="1A1A1A"/>
                          </a:solidFill>
                        </a:rPr>
                        <a:t>4.8 %</a:t>
                      </a:r>
                    </a:p>
                  </a:txBody>
                  <a:tcPr>
                    <a:noFill/>
                  </a:tcPr>
                </a:tc>
                <a:tc>
                  <a:txBody>
                    <a:bodyPr/>
                    <a:lstStyle/>
                    <a:p>
                      <a:pPr algn="ctr"/>
                      <a:r>
                        <a:rPr sz="750" b="0">
                          <a:solidFill>
                            <a:srgbClr val="1A1A1A"/>
                          </a:solidFill>
                        </a:rPr>
                        <a:t>+12.3 %</a:t>
                      </a:r>
                    </a:p>
                  </a:txBody>
                  <a:tcPr>
                    <a:noFill/>
                  </a:tcPr>
                </a:tc>
                <a:tc>
                  <a:txBody>
                    <a:bodyPr/>
                    <a:lstStyle/>
                    <a:p>
                      <a:pPr algn="ctr"/>
                      <a:r>
                        <a:rPr sz="750" b="0">
                          <a:solidFill>
                            <a:srgbClr val="1A1A1A"/>
                          </a:solidFill>
                        </a:rPr>
                        <a:t>-47.2 %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ABBV</a:t>
                      </a:r>
                    </a:p>
                  </a:txBody>
                  <a:tcPr>
                    <a:solidFill>
                      <a:srgbClr val="F5F7FA"/>
                    </a:solidFill>
                  </a:tcPr>
                </a:tc>
                <a:tc>
                  <a:txBody>
                    <a:bodyPr/>
                    <a:lstStyle/>
                    <a:p>
                      <a:pPr algn="ctr"/>
                      <a:r>
                        <a:rPr sz="750" b="0">
                          <a:solidFill>
                            <a:srgbClr val="1A1A1A"/>
                          </a:solidFill>
                        </a:rPr>
                        <a:t>AbbVie Inc.</a:t>
                      </a:r>
                    </a:p>
                  </a:txBody>
                  <a:tcPr>
                    <a:solidFill>
                      <a:srgbClr val="F5F7FA"/>
                    </a:solidFill>
                  </a:tcPr>
                </a:tc>
                <a:tc>
                  <a:txBody>
                    <a:bodyPr/>
                    <a:lstStyle/>
                    <a:p>
                      <a:pPr algn="ctr"/>
                      <a:r>
                        <a:rPr sz="750" b="0">
                          <a:solidFill>
                            <a:srgbClr val="1A1A1A"/>
                          </a:solidFill>
                        </a:rPr>
                        <a:t>51/100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208.84</a:t>
                      </a:r>
                    </a:p>
                  </a:txBody>
                  <a:tcPr>
                    <a:solidFill>
                      <a:srgbClr val="F5F7FA"/>
                    </a:solidFill>
                  </a:tcPr>
                </a:tc>
                <a:tc>
                  <a:txBody>
                    <a:bodyPr/>
                    <a:lstStyle/>
                    <a:p>
                      <a:pPr algn="ctr"/>
                      <a:r>
                        <a:rPr sz="750" b="0">
                          <a:solidFill>
                            <a:srgbClr val="1A1A1A"/>
                          </a:solidFill>
                        </a:rPr>
                        <a:t>14.8x</a:t>
                      </a:r>
                    </a:p>
                  </a:txBody>
                  <a:tcPr>
                    <a:solidFill>
                      <a:srgbClr val="F5F7FA"/>
                    </a:solidFill>
                  </a:tcPr>
                </a:tc>
                <a:tc>
                  <a:txBody>
                    <a:bodyPr/>
                    <a:lstStyle/>
                    <a:p>
                      <a:pPr algn="ctr"/>
                      <a:r>
                        <a:rPr sz="750" b="0">
                          <a:solidFill>
                            <a:srgbClr val="1A1A1A"/>
                          </a:solidFill>
                        </a:rPr>
                        <a:t>47.8 %</a:t>
                      </a:r>
                    </a:p>
                  </a:txBody>
                  <a:tcPr>
                    <a:solidFill>
                      <a:srgbClr val="F5F7FA"/>
                    </a:solidFill>
                  </a:tcPr>
                </a:tc>
                <a:tc>
                  <a:txBody>
                    <a:bodyPr/>
                    <a:lstStyle/>
                    <a:p>
                      <a:pPr algn="ctr"/>
                      <a:r>
                        <a:rPr sz="750" b="0">
                          <a:solidFill>
                            <a:srgbClr val="1A1A1A"/>
                          </a:solidFill>
                        </a:rPr>
                        <a:t>+10.0 %</a:t>
                      </a:r>
                    </a:p>
                  </a:txBody>
                  <a:tcPr>
                    <a:solidFill>
                      <a:srgbClr val="F5F7FA"/>
                    </a:solidFill>
                  </a:tcPr>
                </a:tc>
                <a:tc>
                  <a:txBody>
                    <a:bodyPr/>
                    <a:lstStyle/>
                    <a:p>
                      <a:pPr algn="ctr"/>
                      <a:r>
                        <a:rPr sz="750" b="0">
                          <a:solidFill>
                            <a:srgbClr val="1A1A1A"/>
                          </a:solidFill>
                        </a:rPr>
                        <a:t>+11.7 %</a:t>
                      </a:r>
                    </a:p>
                  </a:txBody>
                  <a:tcPr>
                    <a:solidFill>
                      <a:srgbClr val="F5F7FA"/>
                    </a:solidFill>
                  </a:tcPr>
                </a:tc>
              </a:tr>
            </a:tbl>
          </a:graphicData>
        </a:graphic>
      </p:graphicFrame>
      <p:sp>
        <p:nvSpPr>
          <p:cNvPr id="16" name="Rectangle 15"/>
          <p:cNvSpPr/>
          <p:nvPr/>
        </p:nvSpPr>
        <p:spPr>
          <a:xfrm>
            <a:off x="324000" y="27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700000"/>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7540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006000"/>
            <a:ext cx="8280000" cy="1260000"/>
          </a:xfrm>
          <a:prstGeom prst="rect">
            <a:avLst/>
          </a:prstGeom>
          <a:noFill/>
        </p:spPr>
        <p:txBody>
          <a:bodyPr wrap="square">
            <a:spAutoFit/>
          </a:bodyPr>
          <a:lstStyle/>
          <a:p>
            <a:pPr algn="l"/>
            <a:r>
              <a:rPr sz="850" b="0" i="0">
                <a:solidFill>
                  <a:srgbClr val="555555"/>
                </a:solidFill>
              </a:rPr>
              <a:t>Le secteur Healthcare presente 3 BUY / 5 HOLD / 0 SELL sur 8 valeurs analysées. Johnson &amp; Johnson (score 81/100)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25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JNJ domine le quadrant Premium Justifie — valorisation élevée (18.2x) soutenue par 68.1 % de marge brute.
PFE se positionne en zone Opportunite — EV/EBITDA de 8.4x sous la médiane sectorielle de 15.1x.
La médiane sectorielle ressort a 15.1x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JNJ</a:t>
                      </a:r>
                    </a:p>
                  </a:txBody>
                  <a:tcPr>
                    <a:noFill/>
                  </a:tcPr>
                </a:tc>
                <a:tc>
                  <a:txBody>
                    <a:bodyPr/>
                    <a:lstStyle/>
                    <a:p>
                      <a:pPr algn="ctr"/>
                      <a:r>
                        <a:rPr sz="750" b="0">
                          <a:solidFill>
                            <a:srgbClr val="1A1A1A"/>
                          </a:solidFill>
                        </a:rPr>
                        <a:t>Johnson &amp; Johnson</a:t>
                      </a:r>
                    </a:p>
                  </a:txBody>
                  <a:tcPr>
                    <a:noFill/>
                  </a:tcPr>
                </a:tc>
                <a:tc>
                  <a:txBody>
                    <a:bodyPr/>
                    <a:lstStyle/>
                    <a:p>
                      <a:pPr algn="ctr"/>
                      <a:r>
                        <a:rPr sz="750" b="0">
                          <a:solidFill>
                            <a:srgbClr val="1A1A1A"/>
                          </a:solidFill>
                        </a:rPr>
                        <a:t>81/100</a:t>
                      </a:r>
                    </a:p>
                  </a:txBody>
                  <a:tcPr>
                    <a:noFill/>
                  </a:tcPr>
                </a:tc>
                <a:tc>
                  <a:txBody>
                    <a:bodyPr/>
                    <a:lstStyle/>
                    <a:p>
                      <a:pPr algn="ctr"/>
                      <a:r>
                        <a:rPr sz="750" b="0">
                          <a:solidFill>
                            <a:srgbClr val="1A1A1A"/>
                          </a:solidFill>
                        </a:rPr>
                        <a:t>14</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20</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MRK</a:t>
                      </a:r>
                    </a:p>
                  </a:txBody>
                  <a:tcPr>
                    <a:solidFill>
                      <a:srgbClr val="F5F7FA"/>
                    </a:solidFill>
                  </a:tcPr>
                </a:tc>
                <a:tc>
                  <a:txBody>
                    <a:bodyPr/>
                    <a:lstStyle/>
                    <a:p>
                      <a:pPr algn="ctr"/>
                      <a:r>
                        <a:rPr sz="750" b="0">
                          <a:solidFill>
                            <a:srgbClr val="1A1A1A"/>
                          </a:solidFill>
                        </a:rPr>
                        <a:t>Merck &amp; Co., Inc.</a:t>
                      </a:r>
                    </a:p>
                  </a:txBody>
                  <a:tcPr>
                    <a:solidFill>
                      <a:srgbClr val="F5F7FA"/>
                    </a:solidFill>
                  </a:tcPr>
                </a:tc>
                <a:tc>
                  <a:txBody>
                    <a:bodyPr/>
                    <a:lstStyle/>
                    <a:p>
                      <a:pPr algn="ctr"/>
                      <a:r>
                        <a:rPr sz="750" b="0">
                          <a:solidFill>
                            <a:srgbClr val="1A1A1A"/>
                          </a:solidFill>
                        </a:rPr>
                        <a:t>78/100</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19</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TMO</a:t>
                      </a:r>
                    </a:p>
                  </a:txBody>
                  <a:tcPr>
                    <a:noFill/>
                  </a:tcPr>
                </a:tc>
                <a:tc>
                  <a:txBody>
                    <a:bodyPr/>
                    <a:lstStyle/>
                    <a:p>
                      <a:pPr algn="ctr"/>
                      <a:r>
                        <a:rPr sz="750" b="0">
                          <a:solidFill>
                            <a:srgbClr val="1A1A1A"/>
                          </a:solidFill>
                        </a:rPr>
                        <a:t>Thermo Fisher Scientific </a:t>
                      </a:r>
                    </a:p>
                  </a:txBody>
                  <a:tcPr>
                    <a:noFill/>
                  </a:tcPr>
                </a:tc>
                <a:tc>
                  <a:txBody>
                    <a:bodyPr/>
                    <a:lstStyle/>
                    <a:p>
                      <a:pPr algn="ctr"/>
                      <a:r>
                        <a:rPr sz="750" b="0">
                          <a:solidFill>
                            <a:srgbClr val="1A1A1A"/>
                          </a:solidFill>
                        </a:rPr>
                        <a:t>66/100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19</a:t>
                      </a:r>
                    </a:p>
                  </a:txBody>
                  <a:tcPr>
                    <a:noFill/>
                  </a:tcPr>
                </a:tc>
                <a:tc>
                  <a:txBody>
                    <a:bodyPr/>
                    <a:lstStyle/>
                    <a:p>
                      <a:pPr algn="ctr"/>
                      <a:r>
                        <a:rPr sz="750" b="0">
                          <a:solidFill>
                            <a:srgbClr val="1A1A1A"/>
                          </a:solidFill>
                        </a:rPr>
                        <a:t>22</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PFE</a:t>
                      </a:r>
                    </a:p>
                  </a:txBody>
                  <a:tcPr>
                    <a:solidFill>
                      <a:srgbClr val="F5F7FA"/>
                    </a:solidFill>
                  </a:tcPr>
                </a:tc>
                <a:tc>
                  <a:txBody>
                    <a:bodyPr/>
                    <a:lstStyle/>
                    <a:p>
                      <a:pPr algn="ctr"/>
                      <a:r>
                        <a:rPr sz="750" b="0">
                          <a:solidFill>
                            <a:srgbClr val="1A1A1A"/>
                          </a:solidFill>
                        </a:rPr>
                        <a:t>Pfizer Inc.</a:t>
                      </a:r>
                    </a:p>
                  </a:txBody>
                  <a:tcPr>
                    <a:solidFill>
                      <a:srgbClr val="F5F7FA"/>
                    </a:solidFill>
                  </a:tcPr>
                </a:tc>
                <a:tc>
                  <a:txBody>
                    <a:bodyPr/>
                    <a:lstStyle/>
                    <a:p>
                      <a:pPr algn="ctr"/>
                      <a:r>
                        <a:rPr sz="750" b="0">
                          <a:solidFill>
                            <a:srgbClr val="1A1A1A"/>
                          </a:solidFill>
                        </a:rPr>
                        <a:t>61/100</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10</a:t>
                      </a:r>
                    </a:p>
                  </a:txBody>
                  <a:tcPr>
                    <a:solidFill>
                      <a:srgbClr val="F5F7FA"/>
                    </a:solidFill>
                  </a:tcPr>
                </a:tc>
                <a:tc>
                  <a:txBody>
                    <a:bodyPr/>
                    <a:lstStyle/>
                    <a:p>
                      <a:pPr algn="ctr"/>
                      <a:r>
                        <a:rPr sz="750" b="0">
                          <a:solidFill>
                            <a:srgbClr val="1A1A1A"/>
                          </a:solidFill>
                        </a:rPr>
                        <a:t>19</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ABT</a:t>
                      </a:r>
                    </a:p>
                  </a:txBody>
                  <a:tcPr>
                    <a:noFill/>
                  </a:tcPr>
                </a:tc>
                <a:tc>
                  <a:txBody>
                    <a:bodyPr/>
                    <a:lstStyle/>
                    <a:p>
                      <a:pPr algn="ctr"/>
                      <a:r>
                        <a:rPr sz="750" b="0">
                          <a:solidFill>
                            <a:srgbClr val="1A1A1A"/>
                          </a:solidFill>
                        </a:rPr>
                        <a:t>Abbott Laboratories</a:t>
                      </a:r>
                    </a:p>
                  </a:txBody>
                  <a:tcPr>
                    <a:noFill/>
                  </a:tcPr>
                </a:tc>
                <a:tc>
                  <a:txBody>
                    <a:bodyPr/>
                    <a:lstStyle/>
                    <a:p>
                      <a:pPr algn="ctr"/>
                      <a:r>
                        <a:rPr sz="750" b="0">
                          <a:solidFill>
                            <a:srgbClr val="1A1A1A"/>
                          </a:solidFill>
                        </a:rPr>
                        <a:t>59/100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16</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9</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DHR</a:t>
                      </a:r>
                    </a:p>
                  </a:txBody>
                  <a:tcPr>
                    <a:solidFill>
                      <a:srgbClr val="F5F7FA"/>
                    </a:solidFill>
                  </a:tcPr>
                </a:tc>
                <a:tc>
                  <a:txBody>
                    <a:bodyPr/>
                    <a:lstStyle/>
                    <a:p>
                      <a:pPr algn="ctr"/>
                      <a:r>
                        <a:rPr sz="750" b="0">
                          <a:solidFill>
                            <a:srgbClr val="1A1A1A"/>
                          </a:solidFill>
                        </a:rPr>
                        <a:t>Danaher Corporation</a:t>
                      </a:r>
                    </a:p>
                  </a:txBody>
                  <a:tcPr>
                    <a:solidFill>
                      <a:srgbClr val="F5F7FA"/>
                    </a:solidFill>
                  </a:tcPr>
                </a:tc>
                <a:tc>
                  <a:txBody>
                    <a:bodyPr/>
                    <a:lstStyle/>
                    <a:p>
                      <a:pPr algn="ctr"/>
                      <a:r>
                        <a:rPr sz="750" b="0">
                          <a:solidFill>
                            <a:srgbClr val="1A1A1A"/>
                          </a:solidFill>
                        </a:rPr>
                        <a:t>57/100</a:t>
                      </a:r>
                    </a:p>
                  </a:txBody>
                  <a:tcPr>
                    <a:solidFill>
                      <a:srgbClr val="F5F7FA"/>
                    </a:solidFill>
                  </a:tcPr>
                </a:tc>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21</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UNH</a:t>
                      </a:r>
                    </a:p>
                  </a:txBody>
                  <a:tcPr>
                    <a:noFill/>
                  </a:tcPr>
                </a:tc>
                <a:tc>
                  <a:txBody>
                    <a:bodyPr/>
                    <a:lstStyle/>
                    <a:p>
                      <a:pPr algn="ctr"/>
                      <a:r>
                        <a:rPr sz="750" b="0">
                          <a:solidFill>
                            <a:srgbClr val="1A1A1A"/>
                          </a:solidFill>
                        </a:rPr>
                        <a:t>UnitedHealth Group Incorp</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14</a:t>
                      </a:r>
                    </a:p>
                  </a:txBody>
                  <a:tcPr>
                    <a:noFill/>
                  </a:tcPr>
                </a:tc>
                <a:tc>
                  <a:txBody>
                    <a:bodyPr/>
                    <a:lstStyle/>
                    <a:p>
                      <a:pPr algn="ctr"/>
                      <a:r>
                        <a:rPr sz="750" b="0">
                          <a:solidFill>
                            <a:srgbClr val="1A1A1A"/>
                          </a:solidFill>
                        </a:rPr>
                        <a:t>24</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4</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ABBV</a:t>
                      </a:r>
                    </a:p>
                  </a:txBody>
                  <a:tcPr>
                    <a:solidFill>
                      <a:srgbClr val="F5F7FA"/>
                    </a:solidFill>
                  </a:tcPr>
                </a:tc>
                <a:tc>
                  <a:txBody>
                    <a:bodyPr/>
                    <a:lstStyle/>
                    <a:p>
                      <a:pPr algn="ctr"/>
                      <a:r>
                        <a:rPr sz="750" b="0">
                          <a:solidFill>
                            <a:srgbClr val="1A1A1A"/>
                          </a:solidFill>
                        </a:rPr>
                        <a:t>AbbVie Inc.</a:t>
                      </a:r>
                    </a:p>
                  </a:txBody>
                  <a:tcPr>
                    <a:solidFill>
                      <a:srgbClr val="F5F7FA"/>
                    </a:solidFill>
                  </a:tcPr>
                </a:tc>
                <a:tc>
                  <a:txBody>
                    <a:bodyPr/>
                    <a:lstStyle/>
                    <a:p>
                      <a:pPr algn="ctr"/>
                      <a:r>
                        <a:rPr sz="750" b="0">
                          <a:solidFill>
                            <a:srgbClr val="1A1A1A"/>
                          </a:solidFill>
                        </a:rPr>
                        <a:t>51/100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22</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HOLD</a:t>
                      </a:r>
                    </a:p>
                  </a:txBody>
                  <a:tcPr>
                    <a:solidFill>
                      <a:srgbClr val="F5F7FA"/>
                    </a:solidFill>
                  </a:tcPr>
                </a:tc>
              </a:tr>
            </a:tbl>
          </a:graphicData>
        </a:graphic>
      </p:graphicFrame>
      <p:sp>
        <p:nvSpPr>
          <p:cNvPr id="16" name="Rectangle 15"/>
          <p:cNvSpPr/>
          <p:nvPr/>
        </p:nvSpPr>
        <p:spPr>
          <a:xfrm>
            <a:off x="324000" y="2858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58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876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164400"/>
            <a:ext cx="8352000" cy="1260000"/>
          </a:xfrm>
          <a:prstGeom prst="rect">
            <a:avLst/>
          </a:prstGeom>
          <a:noFill/>
        </p:spPr>
        <p:txBody>
          <a:bodyPr wrap="square">
            <a:spAutoFit/>
          </a:bodyPr>
          <a:lstStyle/>
          <a:p>
            <a:pPr algn="l"/>
            <a:r>
              <a:rPr sz="850" b="0" i="0">
                <a:solidFill>
                  <a:srgbClr val="555555"/>
                </a:solidFill>
              </a:rPr>
              <a:t>Johnson &amp; Johnson presente le profil le plus equilibre du secteur (81/100) avec des scores Value=14, Growth=21, Quality=25, Momentum=20.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JNJ</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Johnson &amp; Johnson</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292</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18.2x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35.9 %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Les avancées dans les thérapies géniques et cellulaires (ex : CAR-T, ARN messager) pourraient relancer la croissance organique des leaders comme JNJ et MRK.</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incertitudes sur les remboursements en Europe (ex : négociation des prix en Allemagne) pourraient peser sur les marges des laboratoires.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MRK</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Merck &amp; Co., Inc.</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145</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11.5x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44.8 %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Une stabilisation des pressions réglementaires sur les prix aux États-Unis (ex : Inflation Reduction Act) limiterait les risques de marge pour les grands groupe</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L'expiration de brevets majeurs (ex : Keytruda en 2028) menace les revenus des blockbusters, surtout pour les acteurs comme MRK.</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TMO</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Thermo Fisher Scient</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590</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19.2x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25.0 %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L'expansion des marchés émergents, notamment en Chine, offre un relais de croissance pour les équipementiers comme TMO via les diagnostics et équipements médica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Les failles dans les systèmes de données des hôpitaux (ex : attaques ransomware) pourraient impacter les acteurs de la santé numérique comme TMO.</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(15.1x)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15.1x.
2 societe(s) se traitent sous la médiane — potentiellement les meilleures asymetries risque/rendement sous reserve de catalyseurs fondamentaux.
La dispersion des multiples est caracteristique d'un secteur Healthcare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JNJ</a:t>
                      </a:r>
                    </a:p>
                  </a:txBody>
                  <a:tcPr>
                    <a:noFill/>
                  </a:tcPr>
                </a:tc>
                <a:tc>
                  <a:txBody>
                    <a:bodyPr/>
                    <a:lstStyle/>
                    <a:p>
                      <a:pPr algn="ctr"/>
                      <a:r>
                        <a:rPr sz="750" b="0">
                          <a:solidFill>
                            <a:srgbClr val="1A1A1A"/>
                          </a:solidFill>
                        </a:rPr>
                        <a:t>Johnson &amp; Johnson</a:t>
                      </a:r>
                    </a:p>
                  </a:txBody>
                  <a:tcPr>
                    <a:noFill/>
                  </a:tcPr>
                </a:tc>
                <a:tc>
                  <a:txBody>
                    <a:bodyPr/>
                    <a:lstStyle/>
                    <a:p>
                      <a:pPr algn="ctr"/>
                      <a:r>
                        <a:rPr sz="750" b="0">
                          <a:solidFill>
                            <a:srgbClr val="1A1A1A"/>
                          </a:solidFill>
                        </a:rPr>
                        <a:t>243.04</a:t>
                      </a:r>
                    </a:p>
                  </a:txBody>
                  <a:tcPr>
                    <a:noFill/>
                  </a:tcPr>
                </a:tc>
                <a:tc>
                  <a:txBody>
                    <a:bodyPr/>
                    <a:lstStyle/>
                    <a:p>
                      <a:pPr algn="ctr"/>
                      <a:r>
                        <a:rPr sz="750" b="0">
                          <a:solidFill>
                            <a:srgbClr val="1A1A1A"/>
                          </a:solidFill>
                        </a:rPr>
                        <a:t>279.5</a:t>
                      </a:r>
                    </a:p>
                  </a:txBody>
                  <a:tcPr>
                    <a:noFill/>
                  </a:tcPr>
                </a:tc>
                <a:tc>
                  <a:txBody>
                    <a:bodyPr/>
                    <a:lstStyle/>
                    <a:p>
                      <a:pPr algn="ctr"/>
                      <a:r>
                        <a:rPr sz="750" b="0">
                          <a:solidFill>
                            <a:srgbClr val="1A1A1A"/>
                          </a:solidFill>
                        </a:rPr>
                        <a:t>&lt; 230.9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MRK</a:t>
                      </a:r>
                    </a:p>
                  </a:txBody>
                  <a:tcPr>
                    <a:solidFill>
                      <a:srgbClr val="F5F7FA"/>
                    </a:solidFill>
                  </a:tcPr>
                </a:tc>
                <a:tc>
                  <a:txBody>
                    <a:bodyPr/>
                    <a:lstStyle/>
                    <a:p>
                      <a:pPr algn="ctr"/>
                      <a:r>
                        <a:rPr sz="750" b="0">
                          <a:solidFill>
                            <a:srgbClr val="1A1A1A"/>
                          </a:solidFill>
                        </a:rPr>
                        <a:t>Merck &amp; Co., Inc.</a:t>
                      </a:r>
                    </a:p>
                  </a:txBody>
                  <a:tcPr>
                    <a:solidFill>
                      <a:srgbClr val="F5F7FA"/>
                    </a:solidFill>
                  </a:tcPr>
                </a:tc>
                <a:tc>
                  <a:txBody>
                    <a:bodyPr/>
                    <a:lstStyle/>
                    <a:p>
                      <a:pPr algn="ctr"/>
                      <a:r>
                        <a:rPr sz="750" b="0">
                          <a:solidFill>
                            <a:srgbClr val="1A1A1A"/>
                          </a:solidFill>
                        </a:rPr>
                        <a:t>120.87</a:t>
                      </a:r>
                    </a:p>
                  </a:txBody>
                  <a:tcPr>
                    <a:solidFill>
                      <a:srgbClr val="F5F7FA"/>
                    </a:solidFill>
                  </a:tcPr>
                </a:tc>
                <a:tc>
                  <a:txBody>
                    <a:bodyPr/>
                    <a:lstStyle/>
                    <a:p>
                      <a:pPr algn="ctr"/>
                      <a:r>
                        <a:rPr sz="750" b="0">
                          <a:solidFill>
                            <a:srgbClr val="1A1A1A"/>
                          </a:solidFill>
                        </a:rPr>
                        <a:t>139.0</a:t>
                      </a:r>
                    </a:p>
                  </a:txBody>
                  <a:tcPr>
                    <a:solidFill>
                      <a:srgbClr val="F5F7FA"/>
                    </a:solidFill>
                  </a:tcPr>
                </a:tc>
                <a:tc>
                  <a:txBody>
                    <a:bodyPr/>
                    <a:lstStyle/>
                    <a:p>
                      <a:pPr algn="ctr"/>
                      <a:r>
                        <a:rPr sz="750" b="0">
                          <a:solidFill>
                            <a:srgbClr val="1A1A1A"/>
                          </a:solidFill>
                        </a:rPr>
                        <a:t>&lt; 114.8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TMO</a:t>
                      </a:r>
                    </a:p>
                  </a:txBody>
                  <a:tcPr>
                    <a:noFill/>
                  </a:tcPr>
                </a:tc>
                <a:tc>
                  <a:txBody>
                    <a:bodyPr/>
                    <a:lstStyle/>
                    <a:p>
                      <a:pPr algn="ctr"/>
                      <a:r>
                        <a:rPr sz="750" b="0">
                          <a:solidFill>
                            <a:srgbClr val="1A1A1A"/>
                          </a:solidFill>
                        </a:rPr>
                        <a:t>Thermo Fisher Scientific</a:t>
                      </a:r>
                    </a:p>
                  </a:txBody>
                  <a:tcPr>
                    <a:noFill/>
                  </a:tcPr>
                </a:tc>
                <a:tc>
                  <a:txBody>
                    <a:bodyPr/>
                    <a:lstStyle/>
                    <a:p>
                      <a:pPr algn="ctr"/>
                      <a:r>
                        <a:rPr sz="750" b="0">
                          <a:solidFill>
                            <a:srgbClr val="1A1A1A"/>
                          </a:solidFill>
                        </a:rPr>
                        <a:t>491.46</a:t>
                      </a:r>
                    </a:p>
                  </a:txBody>
                  <a:tcPr>
                    <a:noFill/>
                  </a:tcPr>
                </a:tc>
                <a:tc>
                  <a:txBody>
                    <a:bodyPr/>
                    <a:lstStyle/>
                    <a:p>
                      <a:pPr algn="ctr"/>
                      <a:r>
                        <a:rPr sz="750" b="0">
                          <a:solidFill>
                            <a:srgbClr val="1A1A1A"/>
                          </a:solidFill>
                        </a:rPr>
                        <a:t>565.2</a:t>
                      </a:r>
                    </a:p>
                  </a:txBody>
                  <a:tcPr>
                    <a:noFill/>
                  </a:tcPr>
                </a:tc>
                <a:tc>
                  <a:txBody>
                    <a:bodyPr/>
                    <a:lstStyle/>
                    <a:p>
                      <a:pPr algn="ctr"/>
                      <a:r>
                        <a:rPr sz="750" b="0">
                          <a:solidFill>
                            <a:srgbClr val="1A1A1A"/>
                          </a:solidFill>
                        </a:rPr>
                        <a:t>&lt; 466.9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PFE</a:t>
                      </a:r>
                    </a:p>
                  </a:txBody>
                  <a:tcPr>
                    <a:solidFill>
                      <a:srgbClr val="F5F7FA"/>
                    </a:solidFill>
                  </a:tcPr>
                </a:tc>
                <a:tc>
                  <a:txBody>
                    <a:bodyPr/>
                    <a:lstStyle/>
                    <a:p>
                      <a:pPr algn="ctr"/>
                      <a:r>
                        <a:rPr sz="750" b="0">
                          <a:solidFill>
                            <a:srgbClr val="1A1A1A"/>
                          </a:solidFill>
                        </a:rPr>
                        <a:t>Pfizer Inc.</a:t>
                      </a:r>
                    </a:p>
                  </a:txBody>
                  <a:tcPr>
                    <a:solidFill>
                      <a:srgbClr val="F5F7FA"/>
                    </a:solidFill>
                  </a:tcPr>
                </a:tc>
                <a:tc>
                  <a:txBody>
                    <a:bodyPr/>
                    <a:lstStyle/>
                    <a:p>
                      <a:pPr algn="ctr"/>
                      <a:r>
                        <a:rPr sz="750" b="0">
                          <a:solidFill>
                            <a:srgbClr val="1A1A1A"/>
                          </a:solidFill>
                        </a:rPr>
                        <a:t>28.32</a:t>
                      </a:r>
                    </a:p>
                  </a:txBody>
                  <a:tcPr>
                    <a:solidFill>
                      <a:srgbClr val="F5F7FA"/>
                    </a:solidFill>
                  </a:tcPr>
                </a:tc>
                <a:tc>
                  <a:txBody>
                    <a:bodyPr/>
                    <a:lstStyle/>
                    <a:p>
                      <a:pPr algn="ctr"/>
                      <a:r>
                        <a:rPr sz="750" b="0">
                          <a:solidFill>
                            <a:srgbClr val="1A1A1A"/>
                          </a:solidFill>
                        </a:rPr>
                        <a:t>32.6</a:t>
                      </a:r>
                    </a:p>
                  </a:txBody>
                  <a:tcPr>
                    <a:solidFill>
                      <a:srgbClr val="F5F7FA"/>
                    </a:solidFill>
                  </a:tcPr>
                </a:tc>
                <a:tc>
                  <a:txBody>
                    <a:bodyPr/>
                    <a:lstStyle/>
                    <a:p>
                      <a:pPr algn="ctr"/>
                      <a:r>
                        <a:rPr sz="750" b="0">
                          <a:solidFill>
                            <a:srgbClr val="1A1A1A"/>
                          </a:solidFill>
                        </a:rPr>
                        <a:t>&lt; 26.9</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98000">
                <a:tc>
                  <a:txBody>
                    <a:bodyPr/>
                    <a:lstStyle/>
                    <a:p>
                      <a:pPr algn="ctr"/>
                      <a:r>
                        <a:rPr sz="750" b="0">
                          <a:solidFill>
                            <a:srgbClr val="1A1A1A"/>
                          </a:solidFill>
                        </a:rPr>
                        <a:t>ABT</a:t>
                      </a:r>
                    </a:p>
                  </a:txBody>
                  <a:tcPr>
                    <a:noFill/>
                  </a:tcPr>
                </a:tc>
                <a:tc>
                  <a:txBody>
                    <a:bodyPr/>
                    <a:lstStyle/>
                    <a:p>
                      <a:pPr algn="ctr"/>
                      <a:r>
                        <a:rPr sz="750" b="0">
                          <a:solidFill>
                            <a:srgbClr val="1A1A1A"/>
                          </a:solidFill>
                        </a:rPr>
                        <a:t>Abbott Laboratories</a:t>
                      </a:r>
                    </a:p>
                  </a:txBody>
                  <a:tcPr>
                    <a:noFill/>
                  </a:tcPr>
                </a:tc>
                <a:tc>
                  <a:txBody>
                    <a:bodyPr/>
                    <a:lstStyle/>
                    <a:p>
                      <a:pPr algn="ctr"/>
                      <a:r>
                        <a:rPr sz="750" b="0">
                          <a:solidFill>
                            <a:srgbClr val="1A1A1A"/>
                          </a:solidFill>
                        </a:rPr>
                        <a:t>102.87</a:t>
                      </a:r>
                    </a:p>
                  </a:txBody>
                  <a:tcPr>
                    <a:noFill/>
                  </a:tcPr>
                </a:tc>
                <a:tc>
                  <a:txBody>
                    <a:bodyPr/>
                    <a:lstStyle/>
                    <a:p>
                      <a:pPr algn="ctr"/>
                      <a:r>
                        <a:rPr sz="750" b="0">
                          <a:solidFill>
                            <a:srgbClr val="1A1A1A"/>
                          </a:solidFill>
                        </a:rPr>
                        <a:t>118.3</a:t>
                      </a:r>
                    </a:p>
                  </a:txBody>
                  <a:tcPr>
                    <a:noFill/>
                  </a:tcPr>
                </a:tc>
                <a:tc>
                  <a:txBody>
                    <a:bodyPr/>
                    <a:lstStyle/>
                    <a:p>
                      <a:pPr algn="ctr"/>
                      <a:r>
                        <a:rPr sz="750" b="0">
                          <a:solidFill>
                            <a:srgbClr val="1A1A1A"/>
                          </a:solidFill>
                        </a:rPr>
                        <a:t>&lt; 97.7</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98000">
                <a:tc>
                  <a:txBody>
                    <a:bodyPr/>
                    <a:lstStyle/>
                    <a:p>
                      <a:pPr algn="ctr"/>
                      <a:r>
                        <a:rPr sz="750" b="0">
                          <a:solidFill>
                            <a:srgbClr val="1A1A1A"/>
                          </a:solidFill>
                        </a:rPr>
                        <a:t>DHR</a:t>
                      </a:r>
                    </a:p>
                  </a:txBody>
                  <a:tcPr>
                    <a:solidFill>
                      <a:srgbClr val="F5F7FA"/>
                    </a:solidFill>
                  </a:tcPr>
                </a:tc>
                <a:tc>
                  <a:txBody>
                    <a:bodyPr/>
                    <a:lstStyle/>
                    <a:p>
                      <a:pPr algn="ctr"/>
                      <a:r>
                        <a:rPr sz="750" b="0">
                          <a:solidFill>
                            <a:srgbClr val="1A1A1A"/>
                          </a:solidFill>
                        </a:rPr>
                        <a:t>Danaher Corporation</a:t>
                      </a:r>
                    </a:p>
                  </a:txBody>
                  <a:tcPr>
                    <a:solidFill>
                      <a:srgbClr val="F5F7FA"/>
                    </a:solidFill>
                  </a:tcPr>
                </a:tc>
                <a:tc>
                  <a:txBody>
                    <a:bodyPr/>
                    <a:lstStyle/>
                    <a:p>
                      <a:pPr algn="ctr"/>
                      <a:r>
                        <a:rPr sz="750" b="0">
                          <a:solidFill>
                            <a:srgbClr val="1A1A1A"/>
                          </a:solidFill>
                        </a:rPr>
                        <a:t>191.12</a:t>
                      </a:r>
                    </a:p>
                  </a:txBody>
                  <a:tcPr>
                    <a:solidFill>
                      <a:srgbClr val="F5F7FA"/>
                    </a:solidFill>
                  </a:tcPr>
                </a:tc>
                <a:tc>
                  <a:txBody>
                    <a:bodyPr/>
                    <a:lstStyle/>
                    <a:p>
                      <a:pPr algn="ctr"/>
                      <a:r>
                        <a:rPr sz="750" b="0">
                          <a:solidFill>
                            <a:srgbClr val="1A1A1A"/>
                          </a:solidFill>
                        </a:rPr>
                        <a:t>219.8</a:t>
                      </a:r>
                    </a:p>
                  </a:txBody>
                  <a:tcPr>
                    <a:solidFill>
                      <a:srgbClr val="F5F7FA"/>
                    </a:solidFill>
                  </a:tcPr>
                </a:tc>
                <a:tc>
                  <a:txBody>
                    <a:bodyPr/>
                    <a:lstStyle/>
                    <a:p>
                      <a:pPr algn="ctr"/>
                      <a:r>
                        <a:rPr sz="750" b="0">
                          <a:solidFill>
                            <a:srgbClr val="1A1A1A"/>
                          </a:solidFill>
                        </a:rPr>
                        <a:t>&lt; 181.6</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98000">
                <a:tc>
                  <a:txBody>
                    <a:bodyPr/>
                    <a:lstStyle/>
                    <a:p>
                      <a:pPr algn="ctr"/>
                      <a:r>
                        <a:rPr sz="750" b="0">
                          <a:solidFill>
                            <a:srgbClr val="1A1A1A"/>
                          </a:solidFill>
                        </a:rPr>
                        <a:t>UNH</a:t>
                      </a:r>
                    </a:p>
                  </a:txBody>
                  <a:tcPr>
                    <a:noFill/>
                  </a:tcPr>
                </a:tc>
                <a:tc>
                  <a:txBody>
                    <a:bodyPr/>
                    <a:lstStyle/>
                    <a:p>
                      <a:pPr algn="ctr"/>
                      <a:r>
                        <a:rPr sz="750" b="0">
                          <a:solidFill>
                            <a:srgbClr val="1A1A1A"/>
                          </a:solidFill>
                        </a:rPr>
                        <a:t>UnitedHealth Group Incor</a:t>
                      </a:r>
                    </a:p>
                  </a:txBody>
                  <a:tcPr>
                    <a:noFill/>
                  </a:tcPr>
                </a:tc>
                <a:tc>
                  <a:txBody>
                    <a:bodyPr/>
                    <a:lstStyle/>
                    <a:p>
                      <a:pPr algn="ctr"/>
                      <a:r>
                        <a:rPr sz="750" b="0">
                          <a:solidFill>
                            <a:srgbClr val="1A1A1A"/>
                          </a:solidFill>
                        </a:rPr>
                        <a:t>277.26</a:t>
                      </a:r>
                    </a:p>
                  </a:txBody>
                  <a:tcPr>
                    <a:noFill/>
                  </a:tcPr>
                </a:tc>
                <a:tc>
                  <a:txBody>
                    <a:bodyPr/>
                    <a:lstStyle/>
                    <a:p>
                      <a:pPr algn="ctr"/>
                      <a:r>
                        <a:rPr sz="750" b="0">
                          <a:solidFill>
                            <a:srgbClr val="1A1A1A"/>
                          </a:solidFill>
                        </a:rPr>
                        <a:t>318.8</a:t>
                      </a:r>
                    </a:p>
                  </a:txBody>
                  <a:tcPr>
                    <a:noFill/>
                  </a:tcPr>
                </a:tc>
                <a:tc>
                  <a:txBody>
                    <a:bodyPr/>
                    <a:lstStyle/>
                    <a:p>
                      <a:pPr algn="ctr"/>
                      <a:r>
                        <a:rPr sz="750" b="0">
                          <a:solidFill>
                            <a:srgbClr val="1A1A1A"/>
                          </a:solidFill>
                        </a:rPr>
                        <a:t>&lt; 263.4</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98000">
                <a:tc>
                  <a:txBody>
                    <a:bodyPr/>
                    <a:lstStyle/>
                    <a:p>
                      <a:pPr algn="ctr"/>
                      <a:r>
                        <a:rPr sz="750" b="0">
                          <a:solidFill>
                            <a:srgbClr val="1A1A1A"/>
                          </a:solidFill>
                        </a:rPr>
                        <a:t>ABBV</a:t>
                      </a:r>
                    </a:p>
                  </a:txBody>
                  <a:tcPr>
                    <a:solidFill>
                      <a:srgbClr val="F5F7FA"/>
                    </a:solidFill>
                  </a:tcPr>
                </a:tc>
                <a:tc>
                  <a:txBody>
                    <a:bodyPr/>
                    <a:lstStyle/>
                    <a:p>
                      <a:pPr algn="ctr"/>
                      <a:r>
                        <a:rPr sz="750" b="0">
                          <a:solidFill>
                            <a:srgbClr val="1A1A1A"/>
                          </a:solidFill>
                        </a:rPr>
                        <a:t>AbbVie Inc.</a:t>
                      </a:r>
                    </a:p>
                  </a:txBody>
                  <a:tcPr>
                    <a:solidFill>
                      <a:srgbClr val="F5F7FA"/>
                    </a:solidFill>
                  </a:tcPr>
                </a:tc>
                <a:tc>
                  <a:txBody>
                    <a:bodyPr/>
                    <a:lstStyle/>
                    <a:p>
                      <a:pPr algn="ctr"/>
                      <a:r>
                        <a:rPr sz="750" b="0">
                          <a:solidFill>
                            <a:srgbClr val="1A1A1A"/>
                          </a:solidFill>
                        </a:rPr>
                        <a:t>208.84</a:t>
                      </a:r>
                    </a:p>
                  </a:txBody>
                  <a:tcPr>
                    <a:solidFill>
                      <a:srgbClr val="F5F7FA"/>
                    </a:solidFill>
                  </a:tcPr>
                </a:tc>
                <a:tc>
                  <a:txBody>
                    <a:bodyPr/>
                    <a:lstStyle/>
                    <a:p>
                      <a:pPr algn="ctr"/>
                      <a:r>
                        <a:rPr sz="750" b="0">
                          <a:solidFill>
                            <a:srgbClr val="1A1A1A"/>
                          </a:solidFill>
                        </a:rPr>
                        <a:t>240.2</a:t>
                      </a:r>
                    </a:p>
                  </a:txBody>
                  <a:tcPr>
                    <a:solidFill>
                      <a:srgbClr val="F5F7FA"/>
                    </a:solidFill>
                  </a:tcPr>
                </a:tc>
                <a:tc>
                  <a:txBody>
                    <a:bodyPr/>
                    <a:lstStyle/>
                    <a:p>
                      <a:pPr algn="ctr"/>
                      <a:r>
                        <a:rPr sz="750" b="0">
                          <a:solidFill>
                            <a:srgbClr val="1A1A1A"/>
                          </a:solidFill>
                        </a:rPr>
                        <a:t>&lt; 198.4</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bl>
          </a:graphicData>
        </a:graphic>
      </p:graphicFrame>
      <p:sp>
        <p:nvSpPr>
          <p:cNvPr id="19" name="Rectangle 18"/>
          <p:cNvSpPr/>
          <p:nvPr/>
        </p:nvSpPr>
        <p:spPr>
          <a:xfrm>
            <a:off x="324000" y="3150000"/>
            <a:ext cx="8496000" cy="126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50000"/>
            <a:ext cx="36000" cy="12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78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66000"/>
            <a:ext cx="8316000" cy="102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Réglementation</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incertitudes sur les remboursements en Europe (ex : négociation des prix en Allemagne) pourraient peser sur les marges des laboratoires.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 génériques</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L'expiration de brevets majeurs (ex : Keytruda en 2028) menace les revenus des blockbusters, surtout pour les acteurs comme MRK.</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Cybersécurité</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Les failles dans les systèmes de données des hôpitaux (ex : attaques ransomware) pourraient impacter les acteurs de la santé numérique comme TMO.</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49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80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96000"/>
            <a:ext cx="36000" cy="55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4014000"/>
            <a:ext cx="2538000" cy="270000"/>
          </a:xfrm>
          <a:prstGeom prst="rect">
            <a:avLst/>
          </a:prstGeom>
          <a:noFill/>
        </p:spPr>
        <p:txBody>
          <a:bodyPr wrap="square">
            <a:spAutoFit/>
          </a:bodyPr>
          <a:lstStyle/>
          <a:p>
            <a:pPr algn="l"/>
            <a:r>
              <a:rPr sz="1800" b="1" i="0">
                <a:solidFill>
                  <a:srgbClr val="1B3A6B"/>
                </a:solidFill>
              </a:rPr>
              <a:t>N/D</a:t>
            </a:r>
          </a:p>
        </p:txBody>
      </p:sp>
      <p:sp>
        <p:nvSpPr>
          <p:cNvPr id="33" name="TextBox 32"/>
          <p:cNvSpPr txBox="1"/>
          <p:nvPr/>
        </p:nvSpPr>
        <p:spPr>
          <a:xfrm>
            <a:off x="413999" y="4284000"/>
            <a:ext cx="2538000" cy="144000"/>
          </a:xfrm>
          <a:prstGeom prst="rect">
            <a:avLst/>
          </a:prstGeom>
          <a:noFill/>
        </p:spPr>
        <p:txBody>
          <a:bodyPr wrap="square">
            <a:spAutoFit/>
          </a:bodyPr>
          <a:lstStyle/>
          <a:p>
            <a:pPr algn="l"/>
            <a:r>
              <a:rPr sz="750" b="0" i="0">
                <a:solidFill>
                  <a:srgbClr val="555555"/>
                </a:solidFill>
              </a:rPr>
              <a:t>ND/EBITDA median</a:t>
            </a:r>
          </a:p>
        </p:txBody>
      </p:sp>
      <p:sp>
        <p:nvSpPr>
          <p:cNvPr id="34" name="TextBox 33"/>
          <p:cNvSpPr txBox="1"/>
          <p:nvPr/>
        </p:nvSpPr>
        <p:spPr>
          <a:xfrm>
            <a:off x="413999" y="4428000"/>
            <a:ext cx="2538000" cy="125999"/>
          </a:xfrm>
          <a:prstGeom prst="rect">
            <a:avLst/>
          </a:prstGeom>
          <a:noFill/>
        </p:spPr>
        <p:txBody>
          <a:bodyPr wrap="square">
            <a:spAutoFit/>
          </a:bodyPr>
          <a:lstStyle/>
          <a:p>
            <a:pPr algn="l"/>
            <a:r>
              <a:rPr sz="700" b="0" i="0">
                <a:solidFill>
                  <a:srgbClr val="AAAAAA"/>
                </a:solidFill>
              </a:rPr>
              <a:t>levier sectoriel</a:t>
            </a:r>
          </a:p>
        </p:txBody>
      </p:sp>
      <p:sp>
        <p:nvSpPr>
          <p:cNvPr id="35" name="Rectangle 34"/>
          <p:cNvSpPr/>
          <p:nvPr/>
        </p:nvSpPr>
        <p:spPr>
          <a:xfrm>
            <a:off x="3276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96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4014000"/>
            <a:ext cx="2538000" cy="270000"/>
          </a:xfrm>
          <a:prstGeom prst="rect">
            <a:avLst/>
          </a:prstGeom>
          <a:noFill/>
        </p:spPr>
        <p:txBody>
          <a:bodyPr wrap="square">
            <a:spAutoFit/>
          </a:bodyPr>
          <a:lstStyle/>
          <a:p>
            <a:pPr algn="l"/>
            <a:r>
              <a:rPr sz="1800" b="1" i="0">
                <a:solidFill>
                  <a:srgbClr val="1B3A6B"/>
                </a:solidFill>
              </a:rPr>
              <a:t>3.8%</a:t>
            </a:r>
          </a:p>
        </p:txBody>
      </p:sp>
      <p:sp>
        <p:nvSpPr>
          <p:cNvPr id="38" name="TextBox 37"/>
          <p:cNvSpPr txBox="1"/>
          <p:nvPr/>
        </p:nvSpPr>
        <p:spPr>
          <a:xfrm>
            <a:off x="3366000" y="4284000"/>
            <a:ext cx="2538000" cy="144000"/>
          </a:xfrm>
          <a:prstGeom prst="rect">
            <a:avLst/>
          </a:prstGeom>
          <a:noFill/>
        </p:spPr>
        <p:txBody>
          <a:bodyPr wrap="square">
            <a:spAutoFit/>
          </a:bodyPr>
          <a:lstStyle/>
          <a:p>
            <a:pPr algn="l"/>
            <a:r>
              <a:rPr sz="750" b="0" i="0">
                <a:solidFill>
                  <a:srgbClr val="555555"/>
                </a:solidFill>
              </a:rPr>
              <a:t>FCF Yield median</a:t>
            </a:r>
          </a:p>
        </p:txBody>
      </p:sp>
      <p:sp>
        <p:nvSpPr>
          <p:cNvPr id="39" name="TextBox 38"/>
          <p:cNvSpPr txBox="1"/>
          <p:nvPr/>
        </p:nvSpPr>
        <p:spPr>
          <a:xfrm>
            <a:off x="3366000" y="4428000"/>
            <a:ext cx="2538000" cy="125999"/>
          </a:xfrm>
          <a:prstGeom prst="rect">
            <a:avLst/>
          </a:prstGeom>
          <a:noFill/>
        </p:spPr>
        <p:txBody>
          <a:bodyPr wrap="square">
            <a:spAutoFit/>
          </a:bodyPr>
          <a:lstStyle/>
          <a:p>
            <a:pPr algn="l"/>
            <a:r>
              <a:rPr sz="700" b="0" i="0">
                <a:solidFill>
                  <a:srgbClr val="AAAAAA"/>
                </a:solidFill>
              </a:rPr>
              <a:t>generation cash</a:t>
            </a:r>
          </a:p>
        </p:txBody>
      </p:sp>
      <p:sp>
        <p:nvSpPr>
          <p:cNvPr id="40" name="Rectangle 39"/>
          <p:cNvSpPr/>
          <p:nvPr/>
        </p:nvSpPr>
        <p:spPr>
          <a:xfrm>
            <a:off x="6228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96000"/>
            <a:ext cx="36000" cy="55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4014000"/>
            <a:ext cx="2538000" cy="270000"/>
          </a:xfrm>
          <a:prstGeom prst="rect">
            <a:avLst/>
          </a:prstGeom>
          <a:noFill/>
        </p:spPr>
        <p:txBody>
          <a:bodyPr wrap="square">
            <a:spAutoFit/>
          </a:bodyPr>
          <a:lstStyle/>
          <a:p>
            <a:pPr algn="l"/>
            <a:r>
              <a:rPr sz="1800" b="1" i="0">
                <a:solidFill>
                  <a:srgbClr val="1B3A6B"/>
                </a:solidFill>
              </a:rPr>
              <a:t>60/100</a:t>
            </a:r>
          </a:p>
        </p:txBody>
      </p:sp>
      <p:sp>
        <p:nvSpPr>
          <p:cNvPr id="43" name="TextBox 42"/>
          <p:cNvSpPr txBox="1"/>
          <p:nvPr/>
        </p:nvSpPr>
        <p:spPr>
          <a:xfrm>
            <a:off x="6318000" y="4284000"/>
            <a:ext cx="2538000" cy="144000"/>
          </a:xfrm>
          <a:prstGeom prst="rect">
            <a:avLst/>
          </a:prstGeom>
          <a:noFill/>
        </p:spPr>
        <p:txBody>
          <a:bodyPr wrap="square">
            <a:spAutoFit/>
          </a:bodyPr>
          <a:lstStyle/>
          <a:p>
            <a:pPr algn="l"/>
            <a:r>
              <a:rPr sz="750" b="0" i="0">
                <a:solidFill>
                  <a:srgbClr val="555555"/>
                </a:solidFill>
              </a:rPr>
              <a:t>Score sante moyen</a:t>
            </a:r>
          </a:p>
        </p:txBody>
      </p:sp>
      <p:sp>
        <p:nvSpPr>
          <p:cNvPr id="44" name="TextBox 43"/>
          <p:cNvSpPr txBox="1"/>
          <p:nvPr/>
        </p:nvSpPr>
        <p:spPr>
          <a:xfrm>
            <a:off x="6318000" y="4428000"/>
            <a:ext cx="2538000" cy="125999"/>
          </a:xfrm>
          <a:prstGeom prst="rect">
            <a:avLst/>
          </a:prstGeom>
          <a:noFill/>
        </p:spPr>
        <p:txBody>
          <a:bodyPr wrap="square">
            <a:spAutoFit/>
          </a:bodyPr>
          <a:lstStyle/>
          <a:p>
            <a:pPr algn="l"/>
            <a:r>
              <a:rPr sz="7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Pipeline clinique — Les avancées dans les thérapies géniques et cellulaires (ex : CAR-T, ARN messager) pourraient relancer la croissance organique des leaders c</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Réglementation — Les incertitudes sur les remboursements en Europe (ex : négociation des prix en Allemagne) pourraient peser sur les marges des laboratoires.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Healthcare (S&amp;P 500) ressort neutre (0.00), avec 25% d'articles a tonalité positive sur 8 analysés. La dispersion inter-valeurs est prononcée : JNJ (+0.00) porte la composante haussière tandis que DHR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JNJ  +59%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UNH  -47%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106 pts — 6 valeur(s) positives vs 2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