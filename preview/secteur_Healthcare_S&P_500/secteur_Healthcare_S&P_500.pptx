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Healthcare</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S&amp;P 500  ·  8 sociétés analysées</a:t>
            </a:r>
          </a:p>
        </p:txBody>
      </p:sp>
      <p:sp>
        <p:nvSpPr>
          <p:cNvPr id="7" name="Rectangle 6"/>
          <p:cNvSpPr/>
          <p:nvPr/>
        </p:nvSpPr>
        <p:spPr>
          <a:xfrm>
            <a:off x="3276000" y="3311999"/>
            <a:ext cx="255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NEUTRE</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03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Healthcare  ·  S&amp;P 500  ·  8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B06000"/>
                </a:solidFill>
              </a:rPr>
              <a:t>● NEUTRE</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15.1x  ·  Croissance med. : +6.1 %  ·  Marge EBITDA med. : 33.9 %  ·  Score moyen : 64/100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Innovation thérapeutique</a:t>
            </a:r>
          </a:p>
        </p:txBody>
      </p:sp>
      <p:sp>
        <p:nvSpPr>
          <p:cNvPr id="24" name="TextBox 23"/>
          <p:cNvSpPr txBox="1"/>
          <p:nvPr/>
        </p:nvSpPr>
        <p:spPr>
          <a:xfrm>
            <a:off x="468000" y="1853999"/>
            <a:ext cx="3851999" cy="450000"/>
          </a:xfrm>
          <a:prstGeom prst="rect">
            <a:avLst/>
          </a:prstGeom>
          <a:noFill/>
        </p:spPr>
        <p:txBody>
          <a:bodyPr wrap="square">
            <a:spAutoFit/>
          </a:bodyPr>
          <a:lstStyle/>
          <a:p>
            <a:pPr algn="l"/>
            <a:r>
              <a:rPr sz="750" b="0" i="0">
                <a:solidFill>
                  <a:srgbClr val="555555"/>
                </a:solidFill>
              </a:rPr>
              <a:t>Les avancées en biotechnologie et thérapies géniques (ex : CAR-T) stimulent les pipelines des leaders comme JNJ et MRK.</a:t>
            </a:r>
          </a:p>
        </p:txBody>
      </p:sp>
      <p:sp>
        <p:nvSpPr>
          <p:cNvPr id="25" name="Rectangle 24"/>
          <p:cNvSpPr/>
          <p:nvPr/>
        </p:nvSpPr>
        <p:spPr>
          <a:xfrm>
            <a:off x="324000" y="2484000"/>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484000"/>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501999"/>
            <a:ext cx="3851999" cy="198000"/>
          </a:xfrm>
          <a:prstGeom prst="rect">
            <a:avLst/>
          </a:prstGeom>
          <a:noFill/>
        </p:spPr>
        <p:txBody>
          <a:bodyPr wrap="square">
            <a:spAutoFit/>
          </a:bodyPr>
          <a:lstStyle/>
          <a:p>
            <a:pPr algn="l"/>
            <a:r>
              <a:rPr sz="850" b="1" i="0">
                <a:solidFill>
                  <a:srgbClr val="1B3A6B"/>
                </a:solidFill>
              </a:rPr>
              <a:t>Demande structurelle</a:t>
            </a:r>
          </a:p>
        </p:txBody>
      </p:sp>
      <p:sp>
        <p:nvSpPr>
          <p:cNvPr id="28" name="TextBox 27"/>
          <p:cNvSpPr txBox="1"/>
          <p:nvPr/>
        </p:nvSpPr>
        <p:spPr>
          <a:xfrm>
            <a:off x="468000" y="2681999"/>
            <a:ext cx="3851999" cy="450000"/>
          </a:xfrm>
          <a:prstGeom prst="rect">
            <a:avLst/>
          </a:prstGeom>
          <a:noFill/>
        </p:spPr>
        <p:txBody>
          <a:bodyPr wrap="square">
            <a:spAutoFit/>
          </a:bodyPr>
          <a:lstStyle/>
          <a:p>
            <a:pPr algn="l"/>
            <a:r>
              <a:rPr sz="750" b="0" i="0">
                <a:solidFill>
                  <a:srgbClr val="555555"/>
                </a:solidFill>
              </a:rPr>
              <a:t>Le vieillissement de la population et l'augmentation des maladies chroniques soutiennent une demande récurrente pour les produits pharmaceutiques et dispositifs médicaux.</a:t>
            </a:r>
          </a:p>
        </p:txBody>
      </p:sp>
      <p:sp>
        <p:nvSpPr>
          <p:cNvPr id="29" name="Rectangle 28"/>
          <p:cNvSpPr/>
          <p:nvPr/>
        </p:nvSpPr>
        <p:spPr>
          <a:xfrm>
            <a:off x="324000" y="3311999"/>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3311999"/>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3330000"/>
            <a:ext cx="3851999" cy="198000"/>
          </a:xfrm>
          <a:prstGeom prst="rect">
            <a:avLst/>
          </a:prstGeom>
          <a:noFill/>
        </p:spPr>
        <p:txBody>
          <a:bodyPr wrap="square">
            <a:spAutoFit/>
          </a:bodyPr>
          <a:lstStyle/>
          <a:p>
            <a:pPr algn="l"/>
            <a:r>
              <a:rPr sz="850" b="1" i="0">
                <a:solidFill>
                  <a:srgbClr val="1B3A6B"/>
                </a:solidFill>
              </a:rPr>
              <a:t>Politiques publiques</a:t>
            </a:r>
          </a:p>
        </p:txBody>
      </p:sp>
      <p:sp>
        <p:nvSpPr>
          <p:cNvPr id="32" name="TextBox 31"/>
          <p:cNvSpPr txBox="1"/>
          <p:nvPr/>
        </p:nvSpPr>
        <p:spPr>
          <a:xfrm>
            <a:off x="468000" y="3510000"/>
            <a:ext cx="3851999" cy="450000"/>
          </a:xfrm>
          <a:prstGeom prst="rect">
            <a:avLst/>
          </a:prstGeom>
          <a:noFill/>
        </p:spPr>
        <p:txBody>
          <a:bodyPr wrap="square">
            <a:spAutoFit/>
          </a:bodyPr>
          <a:lstStyle/>
          <a:p>
            <a:pPr algn="l"/>
            <a:r>
              <a:rPr sz="750" b="0" i="0">
                <a:solidFill>
                  <a:srgbClr val="555555"/>
                </a:solidFill>
              </a:rPr>
              <a:t>Les réformes favorables aux prix des médicaments aux États-Unis (ex : Inflation Reduction Act) pourraient réduire les pressions réglementaires sur les géants pharmaceutiques.</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Réglementation</a:t>
            </a:r>
          </a:p>
        </p:txBody>
      </p:sp>
      <p:sp>
        <p:nvSpPr>
          <p:cNvPr id="38" name="TextBox 37"/>
          <p:cNvSpPr txBox="1"/>
          <p:nvPr/>
        </p:nvSpPr>
        <p:spPr>
          <a:xfrm>
            <a:off x="4860000" y="1853999"/>
            <a:ext cx="3851999" cy="450000"/>
          </a:xfrm>
          <a:prstGeom prst="rect">
            <a:avLst/>
          </a:prstGeom>
          <a:noFill/>
        </p:spPr>
        <p:txBody>
          <a:bodyPr wrap="square">
            <a:spAutoFit/>
          </a:bodyPr>
          <a:lstStyle/>
          <a:p>
            <a:pPr algn="l"/>
            <a:r>
              <a:rPr sz="750" b="0" i="0">
                <a:solidFill>
                  <a:srgbClr val="555555"/>
                </a:solidFill>
              </a:rPr>
              <a:t>Les changements législatifs (ex : contrôle des prix en Europe) pourraient éroder les marges des laboratoires.</a:t>
            </a:r>
          </a:p>
        </p:txBody>
      </p:sp>
      <p:sp>
        <p:nvSpPr>
          <p:cNvPr id="39" name="Rectangle 38"/>
          <p:cNvSpPr/>
          <p:nvPr/>
        </p:nvSpPr>
        <p:spPr>
          <a:xfrm>
            <a:off x="4716000" y="2484000"/>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484000"/>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501999"/>
            <a:ext cx="3851999" cy="198000"/>
          </a:xfrm>
          <a:prstGeom prst="rect">
            <a:avLst/>
          </a:prstGeom>
          <a:noFill/>
        </p:spPr>
        <p:txBody>
          <a:bodyPr wrap="square">
            <a:spAutoFit/>
          </a:bodyPr>
          <a:lstStyle/>
          <a:p>
            <a:pPr algn="l"/>
            <a:r>
              <a:rPr sz="850" b="1" i="0">
                <a:solidFill>
                  <a:srgbClr val="A82020"/>
                </a:solidFill>
              </a:rPr>
              <a:t>Concurrence des génériques</a:t>
            </a:r>
          </a:p>
        </p:txBody>
      </p:sp>
      <p:sp>
        <p:nvSpPr>
          <p:cNvPr id="42" name="TextBox 41"/>
          <p:cNvSpPr txBox="1"/>
          <p:nvPr/>
        </p:nvSpPr>
        <p:spPr>
          <a:xfrm>
            <a:off x="4860000" y="2681999"/>
            <a:ext cx="3851999" cy="450000"/>
          </a:xfrm>
          <a:prstGeom prst="rect">
            <a:avLst/>
          </a:prstGeom>
          <a:noFill/>
        </p:spPr>
        <p:txBody>
          <a:bodyPr wrap="square">
            <a:spAutoFit/>
          </a:bodyPr>
          <a:lstStyle/>
          <a:p>
            <a:pPr algn="l"/>
            <a:r>
              <a:rPr sz="750" b="0" i="0">
                <a:solidFill>
                  <a:srgbClr val="555555"/>
                </a:solidFill>
              </a:rPr>
              <a:t>La perte de brevets sur des blockbusters (ex : Keytruda pour MRK) expose le secteur à une pression sur les prix.</a:t>
            </a:r>
          </a:p>
        </p:txBody>
      </p:sp>
      <p:sp>
        <p:nvSpPr>
          <p:cNvPr id="43" name="Rectangle 42"/>
          <p:cNvSpPr/>
          <p:nvPr/>
        </p:nvSpPr>
        <p:spPr>
          <a:xfrm>
            <a:off x="4716000" y="3311999"/>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3311999"/>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3330000"/>
            <a:ext cx="3851999" cy="198000"/>
          </a:xfrm>
          <a:prstGeom prst="rect">
            <a:avLst/>
          </a:prstGeom>
          <a:noFill/>
        </p:spPr>
        <p:txBody>
          <a:bodyPr wrap="square">
            <a:spAutoFit/>
          </a:bodyPr>
          <a:lstStyle/>
          <a:p>
            <a:pPr algn="l"/>
            <a:r>
              <a:rPr sz="850" b="1" i="0">
                <a:solidFill>
                  <a:srgbClr val="A82020"/>
                </a:solidFill>
              </a:rPr>
              <a:t>Crises sanitaires</a:t>
            </a:r>
          </a:p>
        </p:txBody>
      </p:sp>
      <p:sp>
        <p:nvSpPr>
          <p:cNvPr id="46" name="TextBox 45"/>
          <p:cNvSpPr txBox="1"/>
          <p:nvPr/>
        </p:nvSpPr>
        <p:spPr>
          <a:xfrm>
            <a:off x="4860000" y="3510000"/>
            <a:ext cx="3851999" cy="450000"/>
          </a:xfrm>
          <a:prstGeom prst="rect">
            <a:avLst/>
          </a:prstGeom>
          <a:noFill/>
        </p:spPr>
        <p:txBody>
          <a:bodyPr wrap="square">
            <a:spAutoFit/>
          </a:bodyPr>
          <a:lstStyle/>
          <a:p>
            <a:pPr algn="l"/>
            <a:r>
              <a:rPr sz="750" b="0" i="0">
                <a:solidFill>
                  <a:srgbClr val="555555"/>
                </a:solidFill>
              </a:rPr>
              <a:t>Les pandémies ou pénuries de matières premières (ex : crise du COVID-19) perturbent les chaînes d'approvisionnement et les coûts de production.</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15.1x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marche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+6.1 %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33.9 %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+11.9 %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Healthcare  ·  S&amp;P 500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Présentation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Sociétés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8 sociétés · Scatter valorisation · Scores FinSight détaillés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Synthese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Présentation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positionnement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Présentation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Healthcare  ·  Caractéristiques structurelles &amp; métriques de référence</a:t>
            </a:r>
          </a:p>
        </p:txBody>
      </p:sp>
      <p:sp>
        <p:nvSpPr>
          <p:cNvPr id="15" name="Rectangle 14"/>
          <p:cNvSpPr/>
          <p:nvPr/>
        </p:nvSpPr>
        <p:spPr>
          <a:xfrm>
            <a:off x="324000" y="900000"/>
            <a:ext cx="4932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6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4716000" cy="1620000"/>
          </a:xfrm>
          <a:prstGeom prst="rect">
            <a:avLst/>
          </a:prstGeom>
          <a:noFill/>
        </p:spPr>
        <p:txBody>
          <a:bodyPr wrap="square">
            <a:spAutoFit/>
          </a:bodyPr>
          <a:lstStyle/>
          <a:p>
            <a:pPr algn="l"/>
            <a:r>
              <a:rPr sz="1200" b="0" i="0">
                <a:solidFill>
                  <a:srgbClr val="555555"/>
                </a:solidFill>
              </a:rPr>
              <a:t>Le secteur Healthcare affiche une valorisation modérée à 15.1x EV/EBITDA, alignée sur sa médiane historique malgré une croissance des revenus de +6.1% et un momentum 52 semaines positif de +11.9%. Les marges EBITDA à 33.9% reflètent une discipline opérationnelle solide dans un environnement réglementaire et concurrentiel exigeant.</a:t>
            </a:r>
          </a:p>
        </p:txBody>
      </p:sp>
      <p:sp>
        <p:nvSpPr>
          <p:cNvPr id="18" name="Rectangle 17"/>
          <p:cNvSpPr/>
          <p:nvPr/>
        </p:nvSpPr>
        <p:spPr>
          <a:xfrm>
            <a:off x="468000" y="2700000"/>
            <a:ext cx="4680000" cy="16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2718000"/>
            <a:ext cx="4500000" cy="144000"/>
          </a:xfrm>
          <a:prstGeom prst="rect">
            <a:avLst/>
          </a:prstGeom>
          <a:noFill/>
        </p:spPr>
        <p:txBody>
          <a:bodyPr wrap="square">
            <a:spAutoFit/>
          </a:bodyPr>
          <a:lstStyle/>
          <a:p>
            <a:pPr algn="l"/>
            <a:r>
              <a:rPr sz="750" b="1" i="0">
                <a:solidFill>
                  <a:srgbClr val="FFFFFF"/>
                </a:solidFill>
              </a:rPr>
              <a:t>CATALYSEURS CLÉS</a:t>
            </a:r>
          </a:p>
        </p:txBody>
      </p:sp>
      <p:sp>
        <p:nvSpPr>
          <p:cNvPr id="20" name="Rectangle 19"/>
          <p:cNvSpPr/>
          <p:nvPr/>
        </p:nvSpPr>
        <p:spPr>
          <a:xfrm>
            <a:off x="468000" y="2898000"/>
            <a:ext cx="28800" cy="46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00" y="2898000"/>
            <a:ext cx="4428000" cy="162000"/>
          </a:xfrm>
          <a:prstGeom prst="rect">
            <a:avLst/>
          </a:prstGeom>
          <a:noFill/>
        </p:spPr>
        <p:txBody>
          <a:bodyPr wrap="square">
            <a:spAutoFit/>
          </a:bodyPr>
          <a:lstStyle/>
          <a:p>
            <a:pPr algn="l"/>
            <a:r>
              <a:rPr sz="800" b="1" i="0">
                <a:solidFill>
                  <a:srgbClr val="1B3A6B"/>
                </a:solidFill>
              </a:rPr>
              <a:t>Innovation thérapeutique</a:t>
            </a:r>
          </a:p>
        </p:txBody>
      </p:sp>
      <p:sp>
        <p:nvSpPr>
          <p:cNvPr id="22" name="TextBox 21"/>
          <p:cNvSpPr txBox="1"/>
          <p:nvPr/>
        </p:nvSpPr>
        <p:spPr>
          <a:xfrm>
            <a:off x="576000" y="3060000"/>
            <a:ext cx="4428000" cy="396000"/>
          </a:xfrm>
          <a:prstGeom prst="rect">
            <a:avLst/>
          </a:prstGeom>
          <a:noFill/>
        </p:spPr>
        <p:txBody>
          <a:bodyPr wrap="square">
            <a:spAutoFit/>
          </a:bodyPr>
          <a:lstStyle/>
          <a:p>
            <a:pPr algn="l"/>
            <a:r>
              <a:rPr sz="750" b="0" i="0">
                <a:solidFill>
                  <a:srgbClr val="555555"/>
                </a:solidFill>
              </a:rPr>
              <a:t>Les avancées en biotechnologie et thérapies géniques (ex : CAR-T) stimulent les pipelines des leaders comme JNJ et MRK.</a:t>
            </a:r>
          </a:p>
        </p:txBody>
      </p:sp>
      <p:sp>
        <p:nvSpPr>
          <p:cNvPr id="23" name="Rectangle 22"/>
          <p:cNvSpPr/>
          <p:nvPr/>
        </p:nvSpPr>
        <p:spPr>
          <a:xfrm>
            <a:off x="468000" y="3420000"/>
            <a:ext cx="28800" cy="46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00" y="3420000"/>
            <a:ext cx="4428000" cy="162000"/>
          </a:xfrm>
          <a:prstGeom prst="rect">
            <a:avLst/>
          </a:prstGeom>
          <a:noFill/>
        </p:spPr>
        <p:txBody>
          <a:bodyPr wrap="square">
            <a:spAutoFit/>
          </a:bodyPr>
          <a:lstStyle/>
          <a:p>
            <a:pPr algn="l"/>
            <a:r>
              <a:rPr sz="800" b="1" i="0">
                <a:solidFill>
                  <a:srgbClr val="1B3A6B"/>
                </a:solidFill>
              </a:rPr>
              <a:t>Demande structurelle</a:t>
            </a:r>
          </a:p>
        </p:txBody>
      </p:sp>
      <p:sp>
        <p:nvSpPr>
          <p:cNvPr id="25" name="TextBox 24"/>
          <p:cNvSpPr txBox="1"/>
          <p:nvPr/>
        </p:nvSpPr>
        <p:spPr>
          <a:xfrm>
            <a:off x="576000" y="3581999"/>
            <a:ext cx="4428000" cy="396000"/>
          </a:xfrm>
          <a:prstGeom prst="rect">
            <a:avLst/>
          </a:prstGeom>
          <a:noFill/>
        </p:spPr>
        <p:txBody>
          <a:bodyPr wrap="square">
            <a:spAutoFit/>
          </a:bodyPr>
          <a:lstStyle/>
          <a:p>
            <a:pPr algn="l"/>
            <a:r>
              <a:rPr sz="750" b="0" i="0">
                <a:solidFill>
                  <a:srgbClr val="555555"/>
                </a:solidFill>
              </a:rPr>
              <a:t>Le vieillissement de la population et l'augmentation des maladies chroniques soutiennent une demande récurrente pour les produits pharmaceutiques et dispositifs médicaux.</a:t>
            </a:r>
          </a:p>
        </p:txBody>
      </p:sp>
      <p:sp>
        <p:nvSpPr>
          <p:cNvPr id="26" name="Rectangle 25"/>
          <p:cNvSpPr/>
          <p:nvPr/>
        </p:nvSpPr>
        <p:spPr>
          <a:xfrm>
            <a:off x="468000" y="3942000"/>
            <a:ext cx="28800" cy="46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00" y="3942000"/>
            <a:ext cx="4428000" cy="162000"/>
          </a:xfrm>
          <a:prstGeom prst="rect">
            <a:avLst/>
          </a:prstGeom>
          <a:noFill/>
        </p:spPr>
        <p:txBody>
          <a:bodyPr wrap="square">
            <a:spAutoFit/>
          </a:bodyPr>
          <a:lstStyle/>
          <a:p>
            <a:pPr algn="l"/>
            <a:r>
              <a:rPr sz="800" b="1" i="0">
                <a:solidFill>
                  <a:srgbClr val="1B3A6B"/>
                </a:solidFill>
              </a:rPr>
              <a:t>Politiques publiques</a:t>
            </a:r>
          </a:p>
        </p:txBody>
      </p:sp>
      <p:sp>
        <p:nvSpPr>
          <p:cNvPr id="28" name="TextBox 27"/>
          <p:cNvSpPr txBox="1"/>
          <p:nvPr/>
        </p:nvSpPr>
        <p:spPr>
          <a:xfrm>
            <a:off x="576000" y="4104000"/>
            <a:ext cx="4428000" cy="396000"/>
          </a:xfrm>
          <a:prstGeom prst="rect">
            <a:avLst/>
          </a:prstGeom>
          <a:noFill/>
        </p:spPr>
        <p:txBody>
          <a:bodyPr wrap="square">
            <a:spAutoFit/>
          </a:bodyPr>
          <a:lstStyle/>
          <a:p>
            <a:pPr algn="l"/>
            <a:r>
              <a:rPr sz="750" b="0" i="0">
                <a:solidFill>
                  <a:srgbClr val="555555"/>
                </a:solidFill>
              </a:rPr>
              <a:t>Les réformes favorables aux prix des médicaments aux États-Unis (ex : Inflation Reduction Act) pourraient réduire les pressions réglementaires sur les géants pharmaceutiques.</a:t>
            </a:r>
          </a:p>
        </p:txBody>
      </p:sp>
      <p:graphicFrame>
        <p:nvGraphicFramePr>
          <p:cNvPr id="29" name="Table 28"/>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Métrique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EV/EBITDA</a:t>
                      </a:r>
                    </a:p>
                  </a:txBody>
                  <a:tcPr>
                    <a:noFill/>
                  </a:tcPr>
                </a:tc>
                <a:tc>
                  <a:txBody>
                    <a:bodyPr/>
                    <a:lstStyle/>
                    <a:p>
                      <a:pPr algn="ctr"/>
                      <a:r>
                        <a:rPr sz="750" b="0">
                          <a:solidFill>
                            <a:srgbClr val="1A1A1A"/>
                          </a:solidFill>
                        </a:rPr>
                        <a:t>15.1x</a:t>
                      </a:r>
                    </a:p>
                  </a:txBody>
                  <a:tcPr>
                    <a:noFill/>
                  </a:tcPr>
                </a:tc>
                <a:tc>
                  <a:txBody>
                    <a:bodyPr/>
                    <a:lstStyle/>
                    <a:p>
                      <a:pPr algn="ctr"/>
                      <a:r>
                        <a:rPr sz="750" b="0">
                          <a:solidFill>
                            <a:srgbClr val="1A1A1A"/>
                          </a:solidFill>
                        </a:rPr>
                        <a:t>Médiane secteur</a:t>
                      </a:r>
                    </a:p>
                  </a:txBody>
                  <a:tcPr>
                    <a:noFill/>
                  </a:tcPr>
                </a:tc>
              </a:tr>
              <a:tr h="208799">
                <a:tc>
                  <a:txBody>
                    <a:bodyPr/>
                    <a:lstStyle/>
                    <a:p>
                      <a:pPr algn="ctr"/>
                      <a:r>
                        <a:rPr sz="750" b="0">
                          <a:solidFill>
                            <a:srgbClr val="1A1A1A"/>
                          </a:solidFill>
                        </a:rPr>
                        <a:t>Mg EBITDA</a:t>
                      </a:r>
                    </a:p>
                  </a:txBody>
                  <a:tcPr>
                    <a:solidFill>
                      <a:srgbClr val="F5F7FA"/>
                    </a:solidFill>
                  </a:tcPr>
                </a:tc>
                <a:tc>
                  <a:txBody>
                    <a:bodyPr/>
                    <a:lstStyle/>
                    <a:p>
                      <a:pPr algn="ctr"/>
                      <a:r>
                        <a:rPr sz="750" b="0">
                          <a:solidFill>
                            <a:srgbClr val="1A1A1A"/>
                          </a:solidFill>
                        </a:rPr>
                        <a:t>33.9 %</a:t>
                      </a:r>
                    </a:p>
                  </a:txBody>
                  <a:tcPr>
                    <a:solidFill>
                      <a:srgbClr val="F5F7FA"/>
                    </a:solidFill>
                  </a:tcPr>
                </a:tc>
                <a:tc>
                  <a:txBody>
                    <a:bodyPr/>
                    <a:lstStyle/>
                    <a:p>
                      <a:pPr algn="ctr"/>
                      <a:r>
                        <a:rPr sz="750" b="0">
                          <a:solidFill>
                            <a:srgbClr val="1A1A1A"/>
                          </a:solidFill>
                        </a:rPr>
                        <a:t>LTM</a:t>
                      </a:r>
                    </a:p>
                  </a:txBody>
                  <a:tcPr>
                    <a:solidFill>
                      <a:srgbClr val="F5F7FA"/>
                    </a:solidFill>
                  </a:tcPr>
                </a:tc>
              </a:tr>
              <a:tr h="208799">
                <a:tc>
                  <a:txBody>
                    <a:bodyPr/>
                    <a:lstStyle/>
                    <a:p>
                      <a:pPr algn="ctr"/>
                      <a:r>
                        <a:rPr sz="750" b="0">
                          <a:solidFill>
                            <a:srgbClr val="1A1A1A"/>
                          </a:solidFill>
                        </a:rPr>
                        <a:t>Croissance</a:t>
                      </a:r>
                    </a:p>
                  </a:txBody>
                  <a:tcPr>
                    <a:noFill/>
                  </a:tcPr>
                </a:tc>
                <a:tc>
                  <a:txBody>
                    <a:bodyPr/>
                    <a:lstStyle/>
                    <a:p>
                      <a:pPr algn="ctr"/>
                      <a:r>
                        <a:rPr sz="750" b="0">
                          <a:solidFill>
                            <a:srgbClr val="1A1A1A"/>
                          </a:solidFill>
                        </a:rPr>
                        <a:t>+6.1 %</a:t>
                      </a:r>
                    </a:p>
                  </a:txBody>
                  <a:tcPr>
                    <a:noFill/>
                  </a:tcPr>
                </a:tc>
                <a:tc>
                  <a:txBody>
                    <a:bodyPr/>
                    <a:lstStyle/>
                    <a:p>
                      <a:pPr algn="ctr"/>
                      <a:r>
                        <a:rPr sz="750" b="0">
                          <a:solidFill>
                            <a:srgbClr val="1A1A1A"/>
                          </a:solidFill>
                        </a:rPr>
                        <a:t>YoY</a:t>
                      </a:r>
                    </a:p>
                  </a:txBody>
                  <a:tcPr>
                    <a:noFill/>
                  </a:tcPr>
                </a:tc>
              </a:tr>
              <a:tr h="208799">
                <a:tc>
                  <a:txBody>
                    <a:bodyPr/>
                    <a:lstStyle/>
                    <a:p>
                      <a:pPr algn="ctr"/>
                      <a:r>
                        <a:rPr sz="750" b="0">
                          <a:solidFill>
                            <a:srgbClr val="1A1A1A"/>
                          </a:solidFill>
                        </a:rPr>
                        <a:t>Momentum</a:t>
                      </a:r>
                    </a:p>
                  </a:txBody>
                  <a:tcPr>
                    <a:solidFill>
                      <a:srgbClr val="F5F7FA"/>
                    </a:solidFill>
                  </a:tcPr>
                </a:tc>
                <a:tc>
                  <a:txBody>
                    <a:bodyPr/>
                    <a:lstStyle/>
                    <a:p>
                      <a:pPr algn="ctr"/>
                      <a:r>
                        <a:rPr sz="750" b="0">
                          <a:solidFill>
                            <a:srgbClr val="1A1A1A"/>
                          </a:solidFill>
                        </a:rPr>
                        <a:t>+11.9 %</a:t>
                      </a:r>
                    </a:p>
                  </a:txBody>
                  <a:tcPr>
                    <a:solidFill>
                      <a:srgbClr val="F5F7FA"/>
                    </a:solidFill>
                  </a:tcPr>
                </a:tc>
                <a:tc>
                  <a:txBody>
                    <a:bodyPr/>
                    <a:lstStyle/>
                    <a:p>
                      <a:pPr algn="ctr"/>
                      <a:r>
                        <a:rPr sz="750" b="0">
                          <a:solidFill>
                            <a:srgbClr val="1A1A1A"/>
                          </a:solidFill>
                        </a:rPr>
                        <a:t>52W</a:t>
                      </a:r>
                    </a:p>
                  </a:txBody>
                  <a:tcPr>
                    <a:solidFill>
                      <a:srgbClr val="F5F7FA"/>
                    </a:solidFill>
                  </a:tcPr>
                </a:tc>
              </a:tr>
              <a:tr h="208799">
                <a:tc>
                  <a:txBody>
                    <a:bodyPr/>
                    <a:lstStyle/>
                    <a:p>
                      <a:pPr algn="ctr"/>
                      <a:r>
                        <a:rPr sz="750" b="0">
                          <a:solidFill>
                            <a:srgbClr val="1A1A1A"/>
                          </a:solidFill>
                        </a:rPr>
                        <a:t>Score Moyen</a:t>
                      </a:r>
                    </a:p>
                  </a:txBody>
                  <a:tcPr>
                    <a:noFill/>
                  </a:tcPr>
                </a:tc>
                <a:tc>
                  <a:txBody>
                    <a:bodyPr/>
                    <a:lstStyle/>
                    <a:p>
                      <a:pPr algn="ctr"/>
                      <a:r>
                        <a:rPr sz="750" b="0">
                          <a:solidFill>
                            <a:srgbClr val="1A1A1A"/>
                          </a:solidFill>
                        </a:rPr>
                        <a:t>64/100</a:t>
                      </a:r>
                    </a:p>
                  </a:txBody>
                  <a:tcPr>
                    <a:noFill/>
                  </a:tcPr>
                </a:tc>
                <a:tc>
                  <a:txBody>
                    <a:bodyPr/>
                    <a:lstStyle/>
                    <a:p>
                      <a:pPr algn="ctr"/>
                      <a:r>
                        <a:rPr sz="750" b="0">
                          <a:solidFill>
                            <a:srgbClr val="1A1A1A"/>
                          </a:solidFill>
                        </a:rPr>
                        <a:t>FinSight</a:t>
                      </a:r>
                    </a:p>
                  </a:txBody>
                  <a:tcPr>
                    <a:noFill/>
                  </a:tcPr>
                </a:tc>
              </a:tr>
              <a:tr h="208805">
                <a:tc>
                  <a:txBody>
                    <a:bodyPr/>
                    <a:lstStyle/>
                    <a:p>
                      <a:pPr algn="ctr"/>
                      <a:r>
                        <a:rPr sz="750" b="0">
                          <a:solidFill>
                            <a:srgbClr val="1A1A1A"/>
                          </a:solidFill>
                        </a:rPr>
                        <a:t>Nb Societes</a:t>
                      </a:r>
                    </a:p>
                  </a:txBody>
                  <a:tcPr>
                    <a:solidFill>
                      <a:srgbClr val="F5F7FA"/>
                    </a:solidFill>
                  </a:tcPr>
                </a:tc>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Analysees</a:t>
                      </a:r>
                    </a:p>
                  </a:txBody>
                  <a:tcPr>
                    <a:solidFill>
                      <a:srgbClr val="F5F7FA"/>
                    </a:solidFill>
                  </a:tcPr>
                </a:tc>
              </a:tr>
            </a:tbl>
          </a:graphicData>
        </a:graphic>
      </p:graphicFrame>
      <p:sp>
        <p:nvSpPr>
          <p:cNvPr id="30" name="Rectangle 2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Healthcare  ·  Comparaison multiples LTM — 8 sociétés vs médiane sectorielle</a:t>
            </a:r>
          </a:p>
        </p:txBody>
      </p:sp>
      <p:graphicFrame>
        <p:nvGraphicFramePr>
          <p:cNvPr id="15" name="Table 14"/>
          <p:cNvGraphicFramePr>
            <a:graphicFrameLocks noGrp="1"/>
          </p:cNvGraphicFramePr>
          <p:nvPr/>
        </p:nvGraphicFramePr>
        <p:xfrm>
          <a:off x="324000" y="900000"/>
          <a:ext cx="8495998" cy="1980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98000">
                <a:tc>
                  <a:txBody>
                    <a:bodyPr/>
                    <a:lstStyle/>
                    <a:p>
                      <a:pPr algn="ctr"/>
                      <a:r>
                        <a:rPr sz="800" b="1">
                          <a:solidFill>
                            <a:srgbClr val="FFFFFF"/>
                          </a:solidFill>
                        </a:rPr>
                        <a:t>Société</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98000">
                <a:tc>
                  <a:txBody>
                    <a:bodyPr/>
                    <a:lstStyle/>
                    <a:p>
                      <a:pPr algn="ctr"/>
                      <a:r>
                        <a:rPr sz="750" b="0">
                          <a:solidFill>
                            <a:srgbClr val="1A1A1A"/>
                          </a:solidFill>
                        </a:rPr>
                        <a:t>Johnson &amp; Johnson</a:t>
                      </a:r>
                    </a:p>
                  </a:txBody>
                  <a:tcPr>
                    <a:noFill/>
                  </a:tcPr>
                </a:tc>
                <a:tc>
                  <a:txBody>
                    <a:bodyPr/>
                    <a:lstStyle/>
                    <a:p>
                      <a:pPr algn="ctr"/>
                      <a:r>
                        <a:rPr sz="750" b="0">
                          <a:solidFill>
                            <a:srgbClr val="1A1A1A"/>
                          </a:solidFill>
                        </a:rPr>
                        <a:t>18.2x</a:t>
                      </a:r>
                    </a:p>
                  </a:txBody>
                  <a:tcPr>
                    <a:noFill/>
                  </a:tcPr>
                </a:tc>
                <a:tc>
                  <a:txBody>
                    <a:bodyPr/>
                    <a:lstStyle/>
                    <a:p>
                      <a:pPr algn="ctr"/>
                      <a:r>
                        <a:rPr sz="750" b="0">
                          <a:solidFill>
                            <a:srgbClr val="1A1A1A"/>
                          </a:solidFill>
                        </a:rPr>
                        <a:t>6.5x</a:t>
                      </a:r>
                    </a:p>
                  </a:txBody>
                  <a:tcPr>
                    <a:noFill/>
                  </a:tcPr>
                </a:tc>
                <a:tc>
                  <a:txBody>
                    <a:bodyPr/>
                    <a:lstStyle/>
                    <a:p>
                      <a:pPr algn="ctr"/>
                      <a:r>
                        <a:rPr sz="750" b="0">
                          <a:solidFill>
                            <a:srgbClr val="1A1A1A"/>
                          </a:solidFill>
                        </a:rPr>
                        <a:t>22.0x</a:t>
                      </a:r>
                    </a:p>
                  </a:txBody>
                  <a:tcPr>
                    <a:noFill/>
                  </a:tcPr>
                </a:tc>
                <a:tc>
                  <a:txBody>
                    <a:bodyPr/>
                    <a:lstStyle/>
                    <a:p>
                      <a:pPr algn="ctr"/>
                      <a:r>
                        <a:rPr sz="750" b="0">
                          <a:solidFill>
                            <a:srgbClr val="1A1A1A"/>
                          </a:solidFill>
                        </a:rPr>
                        <a:t>68.1 %</a:t>
                      </a:r>
                    </a:p>
                  </a:txBody>
                  <a:tcPr>
                    <a:noFill/>
                  </a:tcPr>
                </a:tc>
                <a:tc>
                  <a:txBody>
                    <a:bodyPr/>
                    <a:lstStyle/>
                    <a:p>
                      <a:pPr algn="ctr"/>
                      <a:r>
                        <a:rPr sz="750" b="0">
                          <a:solidFill>
                            <a:srgbClr val="1A1A1A"/>
                          </a:solidFill>
                        </a:rPr>
                        <a:t>35.9 %</a:t>
                      </a:r>
                    </a:p>
                  </a:txBody>
                  <a:tcPr>
                    <a:noFill/>
                  </a:tcPr>
                </a:tc>
                <a:tc>
                  <a:txBody>
                    <a:bodyPr/>
                    <a:lstStyle/>
                    <a:p>
                      <a:pPr algn="ctr"/>
                      <a:r>
                        <a:rPr sz="750" b="0">
                          <a:solidFill>
                            <a:srgbClr val="1A1A1A"/>
                          </a:solidFill>
                        </a:rPr>
                        <a:t>35.0 %</a:t>
                      </a:r>
                    </a:p>
                  </a:txBody>
                  <a:tcPr>
                    <a:noFill/>
                  </a:tcPr>
                </a:tc>
              </a:tr>
              <a:tr h="198000">
                <a:tc>
                  <a:txBody>
                    <a:bodyPr/>
                    <a:lstStyle/>
                    <a:p>
                      <a:pPr algn="ctr"/>
                      <a:r>
                        <a:rPr sz="750" b="0">
                          <a:solidFill>
                            <a:srgbClr val="1A1A1A"/>
                          </a:solidFill>
                        </a:rPr>
                        <a:t>Merck &amp; Co., Inc.</a:t>
                      </a:r>
                    </a:p>
                  </a:txBody>
                  <a:tcPr>
                    <a:solidFill>
                      <a:srgbClr val="F5F7FA"/>
                    </a:solidFill>
                  </a:tcPr>
                </a:tc>
                <a:tc>
                  <a:txBody>
                    <a:bodyPr/>
                    <a:lstStyle/>
                    <a:p>
                      <a:pPr algn="ctr"/>
                      <a:r>
                        <a:rPr sz="750" b="0">
                          <a:solidFill>
                            <a:srgbClr val="1A1A1A"/>
                          </a:solidFill>
                        </a:rPr>
                        <a:t>11.5x</a:t>
                      </a:r>
                    </a:p>
                  </a:txBody>
                  <a:tcPr>
                    <a:solidFill>
                      <a:srgbClr val="F5F7FA"/>
                    </a:solidFill>
                  </a:tcPr>
                </a:tc>
                <a:tc>
                  <a:txBody>
                    <a:bodyPr/>
                    <a:lstStyle/>
                    <a:p>
                      <a:pPr algn="ctr"/>
                      <a:r>
                        <a:rPr sz="750" b="0">
                          <a:solidFill>
                            <a:srgbClr val="1A1A1A"/>
                          </a:solidFill>
                        </a:rPr>
                        <a:t>5.2x</a:t>
                      </a:r>
                    </a:p>
                  </a:txBody>
                  <a:tcPr>
                    <a:solidFill>
                      <a:srgbClr val="F5F7FA"/>
                    </a:solidFill>
                  </a:tcPr>
                </a:tc>
                <a:tc>
                  <a:txBody>
                    <a:bodyPr/>
                    <a:lstStyle/>
                    <a:p>
                      <a:pPr algn="ctr"/>
                      <a:r>
                        <a:rPr sz="750" b="0">
                          <a:solidFill>
                            <a:srgbClr val="1A1A1A"/>
                          </a:solidFill>
                        </a:rPr>
                        <a:t>16.6x</a:t>
                      </a:r>
                    </a:p>
                  </a:txBody>
                  <a:tcPr>
                    <a:solidFill>
                      <a:srgbClr val="F5F7FA"/>
                    </a:solidFill>
                  </a:tcPr>
                </a:tc>
                <a:tc>
                  <a:txBody>
                    <a:bodyPr/>
                    <a:lstStyle/>
                    <a:p>
                      <a:pPr algn="ctr"/>
                      <a:r>
                        <a:rPr sz="750" b="0">
                          <a:solidFill>
                            <a:srgbClr val="1A1A1A"/>
                          </a:solidFill>
                        </a:rPr>
                        <a:t>77.2 %</a:t>
                      </a:r>
                    </a:p>
                  </a:txBody>
                  <a:tcPr>
                    <a:solidFill>
                      <a:srgbClr val="F5F7FA"/>
                    </a:solidFill>
                  </a:tcPr>
                </a:tc>
                <a:tc>
                  <a:txBody>
                    <a:bodyPr/>
                    <a:lstStyle/>
                    <a:p>
                      <a:pPr algn="ctr"/>
                      <a:r>
                        <a:rPr sz="750" b="0">
                          <a:solidFill>
                            <a:srgbClr val="1A1A1A"/>
                          </a:solidFill>
                        </a:rPr>
                        <a:t>44.8 %</a:t>
                      </a:r>
                    </a:p>
                  </a:txBody>
                  <a:tcPr>
                    <a:solidFill>
                      <a:srgbClr val="F5F7FA"/>
                    </a:solidFill>
                  </a:tcPr>
                </a:tc>
                <a:tc>
                  <a:txBody>
                    <a:bodyPr/>
                    <a:lstStyle/>
                    <a:p>
                      <a:pPr algn="ctr"/>
                      <a:r>
                        <a:rPr sz="750" b="0">
                          <a:solidFill>
                            <a:srgbClr val="1A1A1A"/>
                          </a:solidFill>
                        </a:rPr>
                        <a:t>36.9 %</a:t>
                      </a:r>
                    </a:p>
                  </a:txBody>
                  <a:tcPr>
                    <a:solidFill>
                      <a:srgbClr val="F5F7FA"/>
                    </a:solidFill>
                  </a:tcPr>
                </a:tc>
              </a:tr>
              <a:tr h="198000">
                <a:tc>
                  <a:txBody>
                    <a:bodyPr/>
                    <a:lstStyle/>
                    <a:p>
                      <a:pPr algn="ctr"/>
                      <a:r>
                        <a:rPr sz="750" b="0">
                          <a:solidFill>
                            <a:srgbClr val="1A1A1A"/>
                          </a:solidFill>
                        </a:rPr>
                        <a:t>Thermo Fisher Scientific Inc</a:t>
                      </a:r>
                    </a:p>
                  </a:txBody>
                  <a:tcPr>
                    <a:noFill/>
                  </a:tcPr>
                </a:tc>
                <a:tc>
                  <a:txBody>
                    <a:bodyPr/>
                    <a:lstStyle/>
                    <a:p>
                      <a:pPr algn="ctr"/>
                      <a:r>
                        <a:rPr sz="750" b="0">
                          <a:solidFill>
                            <a:srgbClr val="1A1A1A"/>
                          </a:solidFill>
                        </a:rPr>
                        <a:t>19.2x</a:t>
                      </a:r>
                    </a:p>
                  </a:txBody>
                  <a:tcPr>
                    <a:noFill/>
                  </a:tcPr>
                </a:tc>
                <a:tc>
                  <a:txBody>
                    <a:bodyPr/>
                    <a:lstStyle/>
                    <a:p>
                      <a:pPr algn="ctr"/>
                      <a:r>
                        <a:rPr sz="750" b="0">
                          <a:solidFill>
                            <a:srgbClr val="1A1A1A"/>
                          </a:solidFill>
                        </a:rPr>
                        <a:t>4.8x</a:t>
                      </a:r>
                    </a:p>
                  </a:txBody>
                  <a:tcPr>
                    <a:noFill/>
                  </a:tcPr>
                </a:tc>
                <a:tc>
                  <a:txBody>
                    <a:bodyPr/>
                    <a:lstStyle/>
                    <a:p>
                      <a:pPr algn="ctr"/>
                      <a:r>
                        <a:rPr sz="750" b="0">
                          <a:solidFill>
                            <a:srgbClr val="1A1A1A"/>
                          </a:solidFill>
                        </a:rPr>
                        <a:t>27.7x</a:t>
                      </a:r>
                    </a:p>
                  </a:txBody>
                  <a:tcPr>
                    <a:noFill/>
                  </a:tcPr>
                </a:tc>
                <a:tc>
                  <a:txBody>
                    <a:bodyPr/>
                    <a:lstStyle/>
                    <a:p>
                      <a:pPr algn="ctr"/>
                      <a:r>
                        <a:rPr sz="750" b="0">
                          <a:solidFill>
                            <a:srgbClr val="1A1A1A"/>
                          </a:solidFill>
                        </a:rPr>
                        <a:t>41.1 %</a:t>
                      </a:r>
                    </a:p>
                  </a:txBody>
                  <a:tcPr>
                    <a:noFill/>
                  </a:tcPr>
                </a:tc>
                <a:tc>
                  <a:txBody>
                    <a:bodyPr/>
                    <a:lstStyle/>
                    <a:p>
                      <a:pPr algn="ctr"/>
                      <a:r>
                        <a:rPr sz="750" b="0">
                          <a:solidFill>
                            <a:srgbClr val="1A1A1A"/>
                          </a:solidFill>
                        </a:rPr>
                        <a:t>25.0 %</a:t>
                      </a:r>
                    </a:p>
                  </a:txBody>
                  <a:tcPr>
                    <a:noFill/>
                  </a:tcPr>
                </a:tc>
                <a:tc>
                  <a:txBody>
                    <a:bodyPr/>
                    <a:lstStyle/>
                    <a:p>
                      <a:pPr algn="ctr"/>
                      <a:r>
                        <a:rPr sz="750" b="0">
                          <a:solidFill>
                            <a:srgbClr val="1A1A1A"/>
                          </a:solidFill>
                        </a:rPr>
                        <a:t>13.0 %</a:t>
                      </a:r>
                    </a:p>
                  </a:txBody>
                  <a:tcPr>
                    <a:noFill/>
                  </a:tcPr>
                </a:tc>
              </a:tr>
              <a:tr h="198000">
                <a:tc>
                  <a:txBody>
                    <a:bodyPr/>
                    <a:lstStyle/>
                    <a:p>
                      <a:pPr algn="ctr"/>
                      <a:r>
                        <a:rPr sz="750" b="0">
                          <a:solidFill>
                            <a:srgbClr val="1A1A1A"/>
                          </a:solidFill>
                        </a:rPr>
                        <a:t>Pfizer Inc.</a:t>
                      </a:r>
                    </a:p>
                  </a:txBody>
                  <a:tcPr>
                    <a:solidFill>
                      <a:srgbClr val="F5F7FA"/>
                    </a:solidFill>
                  </a:tcPr>
                </a:tc>
                <a:tc>
                  <a:txBody>
                    <a:bodyPr/>
                    <a:lstStyle/>
                    <a:p>
                      <a:pPr algn="ctr"/>
                      <a:r>
                        <a:rPr sz="750" b="0">
                          <a:solidFill>
                            <a:srgbClr val="1A1A1A"/>
                          </a:solidFill>
                        </a:rPr>
                        <a:t>8.4x</a:t>
                      </a:r>
                    </a:p>
                  </a:txBody>
                  <a:tcPr>
                    <a:solidFill>
                      <a:srgbClr val="F5F7FA"/>
                    </a:solidFill>
                  </a:tcPr>
                </a:tc>
                <a:tc>
                  <a:txBody>
                    <a:bodyPr/>
                    <a:lstStyle/>
                    <a:p>
                      <a:pPr algn="ctr"/>
                      <a:r>
                        <a:rPr sz="750" b="0">
                          <a:solidFill>
                            <a:srgbClr val="1A1A1A"/>
                          </a:solidFill>
                        </a:rPr>
                        <a:t>3.4x</a:t>
                      </a:r>
                    </a:p>
                  </a:txBody>
                  <a:tcPr>
                    <a:solidFill>
                      <a:srgbClr val="F5F7FA"/>
                    </a:solidFill>
                  </a:tcPr>
                </a:tc>
                <a:tc>
                  <a:txBody>
                    <a:bodyPr/>
                    <a:lstStyle/>
                    <a:p>
                      <a:pPr algn="ctr"/>
                      <a:r>
                        <a:rPr sz="750" b="0">
                          <a:solidFill>
                            <a:srgbClr val="1A1A1A"/>
                          </a:solidFill>
                        </a:rPr>
                        <a:t>20.8x</a:t>
                      </a:r>
                    </a:p>
                  </a:txBody>
                  <a:tcPr>
                    <a:solidFill>
                      <a:srgbClr val="F5F7FA"/>
                    </a:solidFill>
                  </a:tcPr>
                </a:tc>
                <a:tc>
                  <a:txBody>
                    <a:bodyPr/>
                    <a:lstStyle/>
                    <a:p>
                      <a:pPr algn="ctr"/>
                      <a:r>
                        <a:rPr sz="750" b="0">
                          <a:solidFill>
                            <a:srgbClr val="1A1A1A"/>
                          </a:solidFill>
                        </a:rPr>
                        <a:t>75.8 %</a:t>
                      </a:r>
                    </a:p>
                  </a:txBody>
                  <a:tcPr>
                    <a:solidFill>
                      <a:srgbClr val="F5F7FA"/>
                    </a:solidFill>
                  </a:tcPr>
                </a:tc>
                <a:tc>
                  <a:txBody>
                    <a:bodyPr/>
                    <a:lstStyle/>
                    <a:p>
                      <a:pPr algn="ctr"/>
                      <a:r>
                        <a:rPr sz="750" b="0">
                          <a:solidFill>
                            <a:srgbClr val="1A1A1A"/>
                          </a:solidFill>
                        </a:rPr>
                        <a:t>41.1 %</a:t>
                      </a:r>
                    </a:p>
                  </a:txBody>
                  <a:tcPr>
                    <a:solidFill>
                      <a:srgbClr val="F5F7FA"/>
                    </a:solidFill>
                  </a:tcPr>
                </a:tc>
                <a:tc>
                  <a:txBody>
                    <a:bodyPr/>
                    <a:lstStyle/>
                    <a:p>
                      <a:pPr algn="ctr"/>
                      <a:r>
                        <a:rPr sz="750" b="0">
                          <a:solidFill>
                            <a:srgbClr val="1A1A1A"/>
                          </a:solidFill>
                        </a:rPr>
                        <a:t>8.9 %</a:t>
                      </a:r>
                    </a:p>
                  </a:txBody>
                  <a:tcPr>
                    <a:solidFill>
                      <a:srgbClr val="F5F7FA"/>
                    </a:solidFill>
                  </a:tcPr>
                </a:tc>
              </a:tr>
              <a:tr h="198000">
                <a:tc>
                  <a:txBody>
                    <a:bodyPr/>
                    <a:lstStyle/>
                    <a:p>
                      <a:pPr algn="ctr"/>
                      <a:r>
                        <a:rPr sz="750" b="0">
                          <a:solidFill>
                            <a:srgbClr val="1A1A1A"/>
                          </a:solidFill>
                        </a:rPr>
                        <a:t>Abbott Laboratories</a:t>
                      </a:r>
                    </a:p>
                  </a:txBody>
                  <a:tcPr>
                    <a:noFill/>
                  </a:tcPr>
                </a:tc>
                <a:tc>
                  <a:txBody>
                    <a:bodyPr/>
                    <a:lstStyle/>
                    <a:p>
                      <a:pPr algn="ctr"/>
                      <a:r>
                        <a:rPr sz="750" b="0">
                          <a:solidFill>
                            <a:srgbClr val="1A1A1A"/>
                          </a:solidFill>
                        </a:rPr>
                        <a:t>15.3x</a:t>
                      </a:r>
                    </a:p>
                  </a:txBody>
                  <a:tcPr>
                    <a:noFill/>
                  </a:tcPr>
                </a:tc>
                <a:tc>
                  <a:txBody>
                    <a:bodyPr/>
                    <a:lstStyle/>
                    <a:p>
                      <a:pPr algn="ctr"/>
                      <a:r>
                        <a:rPr sz="750" b="0">
                          <a:solidFill>
                            <a:srgbClr val="1A1A1A"/>
                          </a:solidFill>
                        </a:rPr>
                        <a:t>4.2x</a:t>
                      </a:r>
                    </a:p>
                  </a:txBody>
                  <a:tcPr>
                    <a:noFill/>
                  </a:tcPr>
                </a:tc>
                <a:tc>
                  <a:txBody>
                    <a:bodyPr/>
                    <a:lstStyle/>
                    <a:p>
                      <a:pPr algn="ctr"/>
                      <a:r>
                        <a:rPr sz="750" b="0">
                          <a:solidFill>
                            <a:srgbClr val="1A1A1A"/>
                          </a:solidFill>
                        </a:rPr>
                        <a:t>27.7x</a:t>
                      </a:r>
                    </a:p>
                  </a:txBody>
                  <a:tcPr>
                    <a:noFill/>
                  </a:tcPr>
                </a:tc>
                <a:tc>
                  <a:txBody>
                    <a:bodyPr/>
                    <a:lstStyle/>
                    <a:p>
                      <a:pPr algn="ctr"/>
                      <a:r>
                        <a:rPr sz="750" b="0">
                          <a:solidFill>
                            <a:srgbClr val="1A1A1A"/>
                          </a:solidFill>
                        </a:rPr>
                        <a:t>56.7 %</a:t>
                      </a:r>
                    </a:p>
                  </a:txBody>
                  <a:tcPr>
                    <a:noFill/>
                  </a:tcPr>
                </a:tc>
                <a:tc>
                  <a:txBody>
                    <a:bodyPr/>
                    <a:lstStyle/>
                    <a:p>
                      <a:pPr algn="ctr"/>
                      <a:r>
                        <a:rPr sz="750" b="0">
                          <a:solidFill>
                            <a:srgbClr val="1A1A1A"/>
                          </a:solidFill>
                        </a:rPr>
                        <a:t>27.1 %</a:t>
                      </a:r>
                    </a:p>
                  </a:txBody>
                  <a:tcPr>
                    <a:noFill/>
                  </a:tcPr>
                </a:tc>
                <a:tc>
                  <a:txBody>
                    <a:bodyPr/>
                    <a:lstStyle/>
                    <a:p>
                      <a:pPr algn="ctr"/>
                      <a:r>
                        <a:rPr sz="750" b="0">
                          <a:solidFill>
                            <a:srgbClr val="1A1A1A"/>
                          </a:solidFill>
                        </a:rPr>
                        <a:t>13.0 %</a:t>
                      </a:r>
                    </a:p>
                  </a:txBody>
                  <a:tcPr>
                    <a:noFill/>
                  </a:tcPr>
                </a:tc>
              </a:tr>
              <a:tr h="198000">
                <a:tc>
                  <a:txBody>
                    <a:bodyPr/>
                    <a:lstStyle/>
                    <a:p>
                      <a:pPr algn="ctr"/>
                      <a:r>
                        <a:rPr sz="750" b="0">
                          <a:solidFill>
                            <a:srgbClr val="1A1A1A"/>
                          </a:solidFill>
                        </a:rPr>
                        <a:t>Danaher Corporation</a:t>
                      </a:r>
                    </a:p>
                  </a:txBody>
                  <a:tcPr>
                    <a:solidFill>
                      <a:srgbClr val="F5F7FA"/>
                    </a:solidFill>
                  </a:tcPr>
                </a:tc>
                <a:tc>
                  <a:txBody>
                    <a:bodyPr/>
                    <a:lstStyle/>
                    <a:p>
                      <a:pPr algn="ctr"/>
                      <a:r>
                        <a:rPr sz="750" b="0">
                          <a:solidFill>
                            <a:srgbClr val="1A1A1A"/>
                          </a:solidFill>
                        </a:rPr>
                        <a:t>19.2x</a:t>
                      </a:r>
                    </a:p>
                  </a:txBody>
                  <a:tcPr>
                    <a:solidFill>
                      <a:srgbClr val="F5F7FA"/>
                    </a:solidFill>
                  </a:tcPr>
                </a:tc>
                <a:tc>
                  <a:txBody>
                    <a:bodyPr/>
                    <a:lstStyle/>
                    <a:p>
                      <a:pPr algn="ctr"/>
                      <a:r>
                        <a:rPr sz="750" b="0">
                          <a:solidFill>
                            <a:srgbClr val="1A1A1A"/>
                          </a:solidFill>
                        </a:rPr>
                        <a:t>6.1x</a:t>
                      </a:r>
                    </a:p>
                  </a:txBody>
                  <a:tcPr>
                    <a:solidFill>
                      <a:srgbClr val="F5F7FA"/>
                    </a:solidFill>
                  </a:tcPr>
                </a:tc>
                <a:tc>
                  <a:txBody>
                    <a:bodyPr/>
                    <a:lstStyle/>
                    <a:p>
                      <a:pPr algn="ctr"/>
                      <a:r>
                        <a:rPr sz="750" b="0">
                          <a:solidFill>
                            <a:srgbClr val="1A1A1A"/>
                          </a:solidFill>
                        </a:rPr>
                        <a:t>38.0x</a:t>
                      </a:r>
                    </a:p>
                  </a:txBody>
                  <a:tcPr>
                    <a:solidFill>
                      <a:srgbClr val="F5F7FA"/>
                    </a:solidFill>
                  </a:tcPr>
                </a:tc>
                <a:tc>
                  <a:txBody>
                    <a:bodyPr/>
                    <a:lstStyle/>
                    <a:p>
                      <a:pPr algn="ctr"/>
                      <a:r>
                        <a:rPr sz="750" b="0">
                          <a:solidFill>
                            <a:srgbClr val="1A1A1A"/>
                          </a:solidFill>
                        </a:rPr>
                        <a:t>59.2 %</a:t>
                      </a:r>
                    </a:p>
                  </a:txBody>
                  <a:tcPr>
                    <a:solidFill>
                      <a:srgbClr val="F5F7FA"/>
                    </a:solidFill>
                  </a:tcPr>
                </a:tc>
                <a:tc>
                  <a:txBody>
                    <a:bodyPr/>
                    <a:lstStyle/>
                    <a:p>
                      <a:pPr algn="ctr"/>
                      <a:r>
                        <a:rPr sz="750" b="0">
                          <a:solidFill>
                            <a:srgbClr val="1A1A1A"/>
                          </a:solidFill>
                        </a:rPr>
                        <a:t>31.9 %</a:t>
                      </a:r>
                    </a:p>
                  </a:txBody>
                  <a:tcPr>
                    <a:solidFill>
                      <a:srgbClr val="F5F7FA"/>
                    </a:solidFill>
                  </a:tcPr>
                </a:tc>
                <a:tc>
                  <a:txBody>
                    <a:bodyPr/>
                    <a:lstStyle/>
                    <a:p>
                      <a:pPr algn="ctr"/>
                      <a:r>
                        <a:rPr sz="750" b="0">
                          <a:solidFill>
                            <a:srgbClr val="1A1A1A"/>
                          </a:solidFill>
                        </a:rPr>
                        <a:t>7.1 %</a:t>
                      </a:r>
                    </a:p>
                  </a:txBody>
                  <a:tcPr>
                    <a:solidFill>
                      <a:srgbClr val="F5F7FA"/>
                    </a:solidFill>
                  </a:tcPr>
                </a:tc>
              </a:tr>
              <a:tr h="198000">
                <a:tc>
                  <a:txBody>
                    <a:bodyPr/>
                    <a:lstStyle/>
                    <a:p>
                      <a:pPr algn="ctr"/>
                      <a:r>
                        <a:rPr sz="750" b="0">
                          <a:solidFill>
                            <a:srgbClr val="1A1A1A"/>
                          </a:solidFill>
                        </a:rPr>
                        <a:t>UnitedHealth Group Incorpora</a:t>
                      </a:r>
                    </a:p>
                  </a:txBody>
                  <a:tcPr>
                    <a:noFill/>
                  </a:tcPr>
                </a:tc>
                <a:tc>
                  <a:txBody>
                    <a:bodyPr/>
                    <a:lstStyle/>
                    <a:p>
                      <a:pPr algn="ctr"/>
                      <a:r>
                        <a:rPr sz="750" b="0">
                          <a:solidFill>
                            <a:srgbClr val="1A1A1A"/>
                          </a:solidFill>
                        </a:rPr>
                        <a:t>14.5x</a:t>
                      </a:r>
                    </a:p>
                  </a:txBody>
                  <a:tcPr>
                    <a:noFill/>
                  </a:tcPr>
                </a:tc>
                <a:tc>
                  <a:txBody>
                    <a:bodyPr/>
                    <a:lstStyle/>
                    <a:p>
                      <a:pPr algn="ctr"/>
                      <a:r>
                        <a:rPr sz="750" b="0">
                          <a:solidFill>
                            <a:srgbClr val="1A1A1A"/>
                          </a:solidFill>
                        </a:rPr>
                        <a:t>0.7x</a:t>
                      </a:r>
                    </a:p>
                  </a:txBody>
                  <a:tcPr>
                    <a:noFill/>
                  </a:tcPr>
                </a:tc>
                <a:tc>
                  <a:txBody>
                    <a:bodyPr/>
                    <a:lstStyle/>
                    <a:p>
                      <a:pPr algn="ctr"/>
                      <a:r>
                        <a:rPr sz="750" b="0">
                          <a:solidFill>
                            <a:srgbClr val="1A1A1A"/>
                          </a:solidFill>
                        </a:rPr>
                        <a:t>21.0x</a:t>
                      </a:r>
                    </a:p>
                  </a:txBody>
                  <a:tcPr>
                    <a:noFill/>
                  </a:tcPr>
                </a:tc>
                <a:tc>
                  <a:txBody>
                    <a:bodyPr/>
                    <a:lstStyle/>
                    <a:p>
                      <a:pPr algn="ctr"/>
                      <a:r>
                        <a:rPr sz="750" b="0">
                          <a:solidFill>
                            <a:srgbClr val="1A1A1A"/>
                          </a:solidFill>
                        </a:rPr>
                        <a:t>18.5 %</a:t>
                      </a:r>
                    </a:p>
                  </a:txBody>
                  <a:tcPr>
                    <a:noFill/>
                  </a:tcPr>
                </a:tc>
                <a:tc>
                  <a:txBody>
                    <a:bodyPr/>
                    <a:lstStyle/>
                    <a:p>
                      <a:pPr algn="ctr"/>
                      <a:r>
                        <a:rPr sz="750" b="0">
                          <a:solidFill>
                            <a:srgbClr val="1A1A1A"/>
                          </a:solidFill>
                        </a:rPr>
                        <a:t>4.8 %</a:t>
                      </a:r>
                    </a:p>
                  </a:txBody>
                  <a:tcPr>
                    <a:noFill/>
                  </a:tcPr>
                </a:tc>
                <a:tc>
                  <a:txBody>
                    <a:bodyPr/>
                    <a:lstStyle/>
                    <a:p>
                      <a:pPr algn="ctr"/>
                      <a:r>
                        <a:rPr sz="750" b="0">
                          <a:solidFill>
                            <a:srgbClr val="1A1A1A"/>
                          </a:solidFill>
                        </a:rPr>
                        <a:t>12.5 %</a:t>
                      </a:r>
                    </a:p>
                  </a:txBody>
                  <a:tcPr>
                    <a:noFill/>
                  </a:tcPr>
                </a:tc>
              </a:tr>
              <a:tr h="198000">
                <a:tc>
                  <a:txBody>
                    <a:bodyPr/>
                    <a:lstStyle/>
                    <a:p>
                      <a:pPr algn="ctr"/>
                      <a:r>
                        <a:rPr sz="750" b="0">
                          <a:solidFill>
                            <a:srgbClr val="1A1A1A"/>
                          </a:solidFill>
                        </a:rPr>
                        <a:t>AbbVie Inc.</a:t>
                      </a:r>
                    </a:p>
                  </a:txBody>
                  <a:tcPr>
                    <a:solidFill>
                      <a:srgbClr val="F5F7FA"/>
                    </a:solidFill>
                  </a:tcPr>
                </a:tc>
                <a:tc>
                  <a:txBody>
                    <a:bodyPr/>
                    <a:lstStyle/>
                    <a:p>
                      <a:pPr algn="ctr"/>
                      <a:r>
                        <a:rPr sz="750" b="0">
                          <a:solidFill>
                            <a:srgbClr val="1A1A1A"/>
                          </a:solidFill>
                        </a:rPr>
                        <a:t>14.8x</a:t>
                      </a:r>
                    </a:p>
                  </a:txBody>
                  <a:tcPr>
                    <a:solidFill>
                      <a:srgbClr val="F5F7FA"/>
                    </a:solidFill>
                  </a:tcPr>
                </a:tc>
                <a:tc>
                  <a:txBody>
                    <a:bodyPr/>
                    <a:lstStyle/>
                    <a:p>
                      <a:pPr algn="ctr"/>
                      <a:r>
                        <a:rPr sz="750" b="0">
                          <a:solidFill>
                            <a:srgbClr val="1A1A1A"/>
                          </a:solidFill>
                        </a:rPr>
                        <a:t>7.1x</a:t>
                      </a:r>
                    </a:p>
                  </a:txBody>
                  <a:tcPr>
                    <a:solidFill>
                      <a:srgbClr val="F5F7FA"/>
                    </a:solidFill>
                  </a:tcPr>
                </a:tc>
                <a:tc>
                  <a:txBody>
                    <a:bodyPr/>
                    <a:lstStyle/>
                    <a:p>
                      <a:pPr algn="ctr"/>
                      <a:r>
                        <a:rPr sz="750" b="0">
                          <a:solidFill>
                            <a:srgbClr val="1A1A1A"/>
                          </a:solidFill>
                        </a:rPr>
                        <a:t>88.5x</a:t>
                      </a:r>
                    </a:p>
                  </a:txBody>
                  <a:tcPr>
                    <a:solidFill>
                      <a:srgbClr val="F5F7FA"/>
                    </a:solidFill>
                  </a:tcPr>
                </a:tc>
                <a:tc>
                  <a:txBody>
                    <a:bodyPr/>
                    <a:lstStyle/>
                    <a:p>
                      <a:pPr algn="ctr"/>
                      <a:r>
                        <a:rPr sz="750" b="0">
                          <a:solidFill>
                            <a:srgbClr val="1A1A1A"/>
                          </a:solidFill>
                        </a:rPr>
                        <a:t>71.6 %</a:t>
                      </a:r>
                    </a:p>
                  </a:txBody>
                  <a:tcPr>
                    <a:solidFill>
                      <a:srgbClr val="F5F7FA"/>
                    </a:solidFill>
                  </a:tcPr>
                </a:tc>
                <a:tc>
                  <a:txBody>
                    <a:bodyPr/>
                    <a:lstStyle/>
                    <a:p>
                      <a:pPr algn="ctr"/>
                      <a:r>
                        <a:rPr sz="750" b="0">
                          <a:solidFill>
                            <a:srgbClr val="1A1A1A"/>
                          </a:solidFill>
                        </a:rPr>
                        <a:t>47.8 %</a:t>
                      </a:r>
                    </a:p>
                  </a:txBody>
                  <a:tcPr>
                    <a:solidFill>
                      <a:srgbClr val="F5F7FA"/>
                    </a:solidFill>
                  </a:tcPr>
                </a:tc>
                <a:tc>
                  <a:txBody>
                    <a:bodyPr/>
                    <a:lstStyle/>
                    <a:p>
                      <a:pPr algn="ctr"/>
                      <a:r>
                        <a:rPr sz="750" b="0">
                          <a:solidFill>
                            <a:srgbClr val="1A1A1A"/>
                          </a:solidFill>
                        </a:rPr>
                        <a:t>6225.0 %</a:t>
                      </a:r>
                    </a:p>
                  </a:txBody>
                  <a:tcPr>
                    <a:solidFill>
                      <a:srgbClr val="F5F7FA"/>
                    </a:solidFill>
                  </a:tcPr>
                </a:tc>
              </a:tr>
              <a:tr h="198000">
                <a:tc>
                  <a:txBody>
                    <a:bodyPr/>
                    <a:lstStyle/>
                    <a:p>
                      <a:pPr algn="ctr"/>
                      <a:r>
                        <a:rPr sz="750" b="0">
                          <a:solidFill>
                            <a:srgbClr val="1A1A1A"/>
                          </a:solidFill>
                        </a:rPr>
                        <a:t>MEDIANE</a:t>
                      </a:r>
                    </a:p>
                  </a:txBody>
                  <a:tcPr>
                    <a:noFill/>
                  </a:tcPr>
                </a:tc>
                <a:tc>
                  <a:txBody>
                    <a:bodyPr/>
                    <a:lstStyle/>
                    <a:p>
                      <a:pPr algn="ctr"/>
                      <a:r>
                        <a:rPr sz="750" b="0">
                          <a:solidFill>
                            <a:srgbClr val="1A1A1A"/>
                          </a:solidFill>
                        </a:rPr>
                        <a:t>15.1x</a:t>
                      </a:r>
                    </a:p>
                  </a:txBody>
                  <a:tcPr>
                    <a:noFill/>
                  </a:tcPr>
                </a:tc>
                <a:tc>
                  <a:txBody>
                    <a:bodyPr/>
                    <a:lstStyle/>
                    <a:p>
                      <a:pPr algn="ctr"/>
                      <a:r>
                        <a:rPr sz="750" b="0">
                          <a:solidFill>
                            <a:srgbClr val="1A1A1A"/>
                          </a:solidFill>
                        </a:rPr>
                        <a:t>5.0x</a:t>
                      </a:r>
                    </a:p>
                  </a:txBody>
                  <a:tcPr>
                    <a:noFill/>
                  </a:tcPr>
                </a:tc>
                <a:tc>
                  <a:txBody>
                    <a:bodyPr/>
                    <a:lstStyle/>
                    <a:p>
                      <a:pPr algn="ctr"/>
                      <a:r>
                        <a:rPr sz="750" b="0">
                          <a:solidFill>
                            <a:srgbClr val="1A1A1A"/>
                          </a:solidFill>
                        </a:rPr>
                        <a:t>24.8x</a:t>
                      </a:r>
                    </a:p>
                  </a:txBody>
                  <a:tcPr>
                    <a:noFill/>
                  </a:tcPr>
                </a:tc>
                <a:tc>
                  <a:txBody>
                    <a:bodyPr/>
                    <a:lstStyle/>
                    <a:p>
                      <a:pPr algn="ctr"/>
                      <a:r>
                        <a:rPr sz="750" b="0">
                          <a:solidFill>
                            <a:srgbClr val="1A1A1A"/>
                          </a:solidFill>
                        </a:rPr>
                        <a:t>63.6 %</a:t>
                      </a:r>
                    </a:p>
                  </a:txBody>
                  <a:tcPr>
                    <a:noFill/>
                  </a:tcPr>
                </a:tc>
                <a:tc>
                  <a:txBody>
                    <a:bodyPr/>
                    <a:lstStyle/>
                    <a:p>
                      <a:pPr algn="ctr"/>
                      <a:r>
                        <a:rPr sz="750" b="0">
                          <a:solidFill>
                            <a:srgbClr val="1A1A1A"/>
                          </a:solidFill>
                        </a:rPr>
                        <a:t>33.9 %</a:t>
                      </a:r>
                    </a:p>
                  </a:txBody>
                  <a:tcPr>
                    <a:noFill/>
                  </a:tcPr>
                </a:tc>
                <a:tc>
                  <a:txBody>
                    <a:bodyPr/>
                    <a:lstStyle/>
                    <a:p>
                      <a:pPr algn="ctr"/>
                      <a:r>
                        <a:rPr sz="750" b="0">
                          <a:solidFill>
                            <a:srgbClr val="1A1A1A"/>
                          </a:solidFill>
                        </a:rPr>
                        <a:t>13.0 %</a:t>
                      </a:r>
                    </a:p>
                  </a:txBody>
                  <a:tcPr>
                    <a:noFill/>
                  </a:tcPr>
                </a:tc>
              </a:tr>
            </a:tbl>
          </a:graphicData>
        </a:graphic>
      </p:graphicFrame>
      <p:sp>
        <p:nvSpPr>
          <p:cNvPr id="16" name="Rectangle 15"/>
          <p:cNvSpPr/>
          <p:nvPr/>
        </p:nvSpPr>
        <p:spPr>
          <a:xfrm>
            <a:off x="324000" y="29880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988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006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3276000"/>
            <a:ext cx="8352000" cy="720000"/>
          </a:xfrm>
          <a:prstGeom prst="rect">
            <a:avLst/>
          </a:prstGeom>
          <a:noFill/>
        </p:spPr>
        <p:txBody>
          <a:bodyPr wrap="square">
            <a:spAutoFit/>
          </a:bodyPr>
          <a:lstStyle/>
          <a:p>
            <a:pPr algn="l"/>
            <a:r>
              <a:rPr sz="850" b="0" i="0">
                <a:solidFill>
                  <a:srgbClr val="555555"/>
                </a:solidFill>
              </a:rPr>
              <a:t>La mediane EV/EBITDA sectorielle s etablit a 15.1x LTM. Johnson &amp; Johnson (18.2x) se distingue comme le leader de qualite, combine a une marge EBITDA de 35.9 % et une croissance de +9.1 %. La dispersion des multiples revele l heterogeneite des profils au sein du secteur Healthcare — une lecture croisee P/E vs EV/EBITDA permet d 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Healthcare  ·  Drivers de croissance &amp; sensibilité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M&amp;A stratégique</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Les acquisitions ciblées (ex : rachat de licences ou startups biotech) renforcent les pipelines des acteurs établis comme TMO.</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Expansion géographique</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L'accès aux marchés émergents (Chine, Inde) offre un potentiel de croissance à deux chiffres pour les vaccins et dispositifs.</a:t>
            </a:r>
          </a:p>
        </p:txBody>
      </p:sp>
      <p:sp>
        <p:nvSpPr>
          <p:cNvPr id="25" name="Rectangle 24"/>
          <p:cNvSpPr/>
          <p:nvPr/>
        </p:nvSpPr>
        <p:spPr>
          <a:xfrm>
            <a:off x="324000" y="2736000"/>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A82020"/>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Coûts R&amp;D</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L'augmentation des dépenses en R&amp;D (ex : +8% par an chez les big pharma) pèse sur les marges à court terme.</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Tensions géopolitiques</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Les conflits commerciaux (ex : restrictions sur les exportations de technologies médicales) ralentissent les collaborations internationales.</a:t>
            </a:r>
          </a:p>
        </p:txBody>
      </p:sp>
      <p:sp>
        <p:nvSpPr>
          <p:cNvPr id="35" name="Rectangle 34"/>
          <p:cNvSpPr/>
          <p:nvPr/>
        </p:nvSpPr>
        <p:spPr>
          <a:xfrm>
            <a:off x="5976000" y="900000"/>
            <a:ext cx="2844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NEUTRE</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64/100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median : 6.4 %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540000"/>
          </a:xfrm>
          <a:prstGeom prst="rect">
            <a:avLst/>
          </a:prstGeom>
          <a:noFill/>
        </p:spPr>
        <p:txBody>
          <a:bodyPr wrap="square">
            <a:spAutoFit/>
          </a:bodyPr>
          <a:lstStyle/>
          <a:p>
            <a:pPr algn="ctr"/>
            <a:r>
              <a:rPr sz="800" b="0" i="0">
                <a:solidFill>
                  <a:srgbClr val="2A5298"/>
                </a:solidFill>
              </a:rPr>
              <a:t>Le secteur évolue en phase de maturité avancée avec des opportunités de croissance sélective dans les niches innovantes.</a:t>
            </a:r>
          </a:p>
        </p:txBody>
      </p:sp>
      <p:sp>
        <p:nvSpPr>
          <p:cNvPr id="44" name="Rectangle 43"/>
          <p:cNvSpPr/>
          <p:nvPr/>
        </p:nvSpPr>
        <p:spPr>
          <a:xfrm>
            <a:off x="6083999" y="4031999"/>
            <a:ext cx="2628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76000" y="4086000"/>
            <a:ext cx="2844000" cy="180000"/>
          </a:xfrm>
          <a:prstGeom prst="rect">
            <a:avLst/>
          </a:prstGeom>
          <a:noFill/>
        </p:spPr>
        <p:txBody>
          <a:bodyPr wrap="square">
            <a:spAutoFit/>
          </a:bodyPr>
          <a:lstStyle/>
          <a:p>
            <a:pPr algn="ctr"/>
            <a:r>
              <a:rPr sz="700" b="1" i="0">
                <a:solidFill>
                  <a:srgbClr val="AAAAAA"/>
                </a:solidFill>
              </a:rPr>
              <a:t>CONTEXTE MACRO</a:t>
            </a:r>
          </a:p>
        </p:txBody>
      </p:sp>
      <p:sp>
        <p:nvSpPr>
          <p:cNvPr id="46" name="TextBox 45"/>
          <p:cNvSpPr txBox="1"/>
          <p:nvPr/>
        </p:nvSpPr>
        <p:spPr>
          <a:xfrm>
            <a:off x="5976000" y="4266000"/>
            <a:ext cx="2844000" cy="198000"/>
          </a:xfrm>
          <a:prstGeom prst="rect">
            <a:avLst/>
          </a:prstGeom>
          <a:noFill/>
        </p:spPr>
        <p:txBody>
          <a:bodyPr wrap="square">
            <a:spAutoFit/>
          </a:bodyPr>
          <a:lstStyle/>
          <a:p>
            <a:pPr algn="ctr"/>
            <a:r>
              <a:rPr sz="850" b="1" i="0">
                <a:solidFill>
                  <a:srgbClr val="E67E22"/>
                </a:solidFill>
              </a:rPr>
              <a:t>Regime : Volatile</a:t>
            </a:r>
          </a:p>
        </p:txBody>
      </p:sp>
      <p:sp>
        <p:nvSpPr>
          <p:cNvPr id="47" name="TextBox 46"/>
          <p:cNvSpPr txBox="1"/>
          <p:nvPr/>
        </p:nvSpPr>
        <p:spPr>
          <a:xfrm>
            <a:off x="5976000" y="4482000"/>
            <a:ext cx="2844000" cy="180000"/>
          </a:xfrm>
          <a:prstGeom prst="rect">
            <a:avLst/>
          </a:prstGeom>
          <a:noFill/>
        </p:spPr>
        <p:txBody>
          <a:bodyPr wrap="square">
            <a:spAutoFit/>
          </a:bodyPr>
          <a:lstStyle/>
          <a:p>
            <a:pPr algn="ctr"/>
            <a:r>
              <a:rPr sz="750" b="0" i="0">
                <a:solidFill>
                  <a:srgbClr val="555555"/>
                </a:solidFill>
              </a:rPr>
              <a:t>Rec. 6M : 26%  (Moderee)</a:t>
            </a:r>
          </a:p>
        </p:txBody>
      </p:sp>
      <p:sp>
        <p:nvSpPr>
          <p:cNvPr id="48" name="Rectangle 4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Sociétés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8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Sociétés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8 sociétés analysées  ·  Healthcare  ·  S&amp;P 500  ·  Tri par score FinSight decroissant</a:t>
            </a:r>
          </a:p>
        </p:txBody>
      </p:sp>
      <p:graphicFrame>
        <p:nvGraphicFramePr>
          <p:cNvPr id="15" name="Table 14"/>
          <p:cNvGraphicFramePr>
            <a:graphicFrameLocks noGrp="1"/>
          </p:cNvGraphicFramePr>
          <p:nvPr/>
        </p:nvGraphicFramePr>
        <p:xfrm>
          <a:off x="324000" y="900000"/>
          <a:ext cx="8495998" cy="16200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1800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180000">
                <a:tc>
                  <a:txBody>
                    <a:bodyPr/>
                    <a:lstStyle/>
                    <a:p>
                      <a:pPr algn="ctr"/>
                      <a:r>
                        <a:rPr sz="750" b="0">
                          <a:solidFill>
                            <a:srgbClr val="1A1A1A"/>
                          </a:solidFill>
                        </a:rPr>
                        <a:t>1</a:t>
                      </a:r>
                    </a:p>
                  </a:txBody>
                  <a:tcPr>
                    <a:noFill/>
                  </a:tcPr>
                </a:tc>
                <a:tc>
                  <a:txBody>
                    <a:bodyPr/>
                    <a:lstStyle/>
                    <a:p>
                      <a:pPr algn="ctr"/>
                      <a:r>
                        <a:rPr sz="750" b="0">
                          <a:solidFill>
                            <a:srgbClr val="1A1A1A"/>
                          </a:solidFill>
                        </a:rPr>
                        <a:t>JNJ</a:t>
                      </a:r>
                    </a:p>
                  </a:txBody>
                  <a:tcPr>
                    <a:noFill/>
                  </a:tcPr>
                </a:tc>
                <a:tc>
                  <a:txBody>
                    <a:bodyPr/>
                    <a:lstStyle/>
                    <a:p>
                      <a:pPr algn="ctr"/>
                      <a:r>
                        <a:rPr sz="750" b="0">
                          <a:solidFill>
                            <a:srgbClr val="1A1A1A"/>
                          </a:solidFill>
                        </a:rPr>
                        <a:t>Johnson &amp; Johnson</a:t>
                      </a:r>
                    </a:p>
                  </a:txBody>
                  <a:tcPr>
                    <a:noFill/>
                  </a:tcPr>
                </a:tc>
                <a:tc>
                  <a:txBody>
                    <a:bodyPr/>
                    <a:lstStyle/>
                    <a:p>
                      <a:pPr algn="ctr"/>
                      <a:r>
                        <a:rPr sz="750" b="0">
                          <a:solidFill>
                            <a:srgbClr val="1A1A1A"/>
                          </a:solidFill>
                        </a:rPr>
                        <a:t>81/100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243.04</a:t>
                      </a:r>
                    </a:p>
                  </a:txBody>
                  <a:tcPr>
                    <a:noFill/>
                  </a:tcPr>
                </a:tc>
                <a:tc>
                  <a:txBody>
                    <a:bodyPr/>
                    <a:lstStyle/>
                    <a:p>
                      <a:pPr algn="ctr"/>
                      <a:r>
                        <a:rPr sz="750" b="0">
                          <a:solidFill>
                            <a:srgbClr val="1A1A1A"/>
                          </a:solidFill>
                        </a:rPr>
                        <a:t>18.2x</a:t>
                      </a:r>
                    </a:p>
                  </a:txBody>
                  <a:tcPr>
                    <a:noFill/>
                  </a:tcPr>
                </a:tc>
                <a:tc>
                  <a:txBody>
                    <a:bodyPr/>
                    <a:lstStyle/>
                    <a:p>
                      <a:pPr algn="ctr"/>
                      <a:r>
                        <a:rPr sz="750" b="0">
                          <a:solidFill>
                            <a:srgbClr val="1A1A1A"/>
                          </a:solidFill>
                        </a:rPr>
                        <a:t>35.9 %</a:t>
                      </a:r>
                    </a:p>
                  </a:txBody>
                  <a:tcPr>
                    <a:noFill/>
                  </a:tcPr>
                </a:tc>
                <a:tc>
                  <a:txBody>
                    <a:bodyPr/>
                    <a:lstStyle/>
                    <a:p>
                      <a:pPr algn="ctr"/>
                      <a:r>
                        <a:rPr sz="750" b="0">
                          <a:solidFill>
                            <a:srgbClr val="1A1A1A"/>
                          </a:solidFill>
                        </a:rPr>
                        <a:t>+9.1 %</a:t>
                      </a:r>
                    </a:p>
                  </a:txBody>
                  <a:tcPr>
                    <a:noFill/>
                  </a:tcPr>
                </a:tc>
                <a:tc>
                  <a:txBody>
                    <a:bodyPr/>
                    <a:lstStyle/>
                    <a:p>
                      <a:pPr algn="ctr"/>
                      <a:r>
                        <a:rPr sz="750" b="0">
                          <a:solidFill>
                            <a:srgbClr val="1A1A1A"/>
                          </a:solidFill>
                        </a:rPr>
                        <a:t>+58.6 %</a:t>
                      </a:r>
                    </a:p>
                  </a:txBody>
                  <a:tcPr>
                    <a:noFill/>
                  </a:tcPr>
                </a:tc>
              </a:tr>
              <a:tr h="1800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MRK</a:t>
                      </a:r>
                    </a:p>
                  </a:txBody>
                  <a:tcPr>
                    <a:solidFill>
                      <a:srgbClr val="F5F7FA"/>
                    </a:solidFill>
                  </a:tcPr>
                </a:tc>
                <a:tc>
                  <a:txBody>
                    <a:bodyPr/>
                    <a:lstStyle/>
                    <a:p>
                      <a:pPr algn="ctr"/>
                      <a:r>
                        <a:rPr sz="750" b="0">
                          <a:solidFill>
                            <a:srgbClr val="1A1A1A"/>
                          </a:solidFill>
                        </a:rPr>
                        <a:t>Merck &amp; Co., Inc.</a:t>
                      </a:r>
                    </a:p>
                  </a:txBody>
                  <a:tcPr>
                    <a:solidFill>
                      <a:srgbClr val="F5F7FA"/>
                    </a:solidFill>
                  </a:tcPr>
                </a:tc>
                <a:tc>
                  <a:txBody>
                    <a:bodyPr/>
                    <a:lstStyle/>
                    <a:p>
                      <a:pPr algn="ctr"/>
                      <a:r>
                        <a:rPr sz="750" b="0">
                          <a:solidFill>
                            <a:srgbClr val="1A1A1A"/>
                          </a:solidFill>
                        </a:rPr>
                        <a:t>78/100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120.87</a:t>
                      </a:r>
                    </a:p>
                  </a:txBody>
                  <a:tcPr>
                    <a:solidFill>
                      <a:srgbClr val="F5F7FA"/>
                    </a:solidFill>
                  </a:tcPr>
                </a:tc>
                <a:tc>
                  <a:txBody>
                    <a:bodyPr/>
                    <a:lstStyle/>
                    <a:p>
                      <a:pPr algn="ctr"/>
                      <a:r>
                        <a:rPr sz="750" b="0">
                          <a:solidFill>
                            <a:srgbClr val="1A1A1A"/>
                          </a:solidFill>
                        </a:rPr>
                        <a:t>11.5x</a:t>
                      </a:r>
                    </a:p>
                  </a:txBody>
                  <a:tcPr>
                    <a:solidFill>
                      <a:srgbClr val="F5F7FA"/>
                    </a:solidFill>
                  </a:tcPr>
                </a:tc>
                <a:tc>
                  <a:txBody>
                    <a:bodyPr/>
                    <a:lstStyle/>
                    <a:p>
                      <a:pPr algn="ctr"/>
                      <a:r>
                        <a:rPr sz="750" b="0">
                          <a:solidFill>
                            <a:srgbClr val="1A1A1A"/>
                          </a:solidFill>
                        </a:rPr>
                        <a:t>44.8 %</a:t>
                      </a:r>
                    </a:p>
                  </a:txBody>
                  <a:tcPr>
                    <a:solidFill>
                      <a:srgbClr val="F5F7FA"/>
                    </a:solidFill>
                  </a:tcPr>
                </a:tc>
                <a:tc>
                  <a:txBody>
                    <a:bodyPr/>
                    <a:lstStyle/>
                    <a:p>
                      <a:pPr algn="ctr"/>
                      <a:r>
                        <a:rPr sz="750" b="0">
                          <a:solidFill>
                            <a:srgbClr val="1A1A1A"/>
                          </a:solidFill>
                        </a:rPr>
                        <a:t>+5.0 %</a:t>
                      </a:r>
                    </a:p>
                  </a:txBody>
                  <a:tcPr>
                    <a:solidFill>
                      <a:srgbClr val="F5F7FA"/>
                    </a:solidFill>
                  </a:tcPr>
                </a:tc>
                <a:tc>
                  <a:txBody>
                    <a:bodyPr/>
                    <a:lstStyle/>
                    <a:p>
                      <a:pPr algn="ctr"/>
                      <a:r>
                        <a:rPr sz="750" b="0">
                          <a:solidFill>
                            <a:srgbClr val="1A1A1A"/>
                          </a:solidFill>
                        </a:rPr>
                        <a:t>+48.4 %</a:t>
                      </a:r>
                    </a:p>
                  </a:txBody>
                  <a:tcPr>
                    <a:solidFill>
                      <a:srgbClr val="F5F7FA"/>
                    </a:solidFill>
                  </a:tcPr>
                </a:tc>
              </a:tr>
              <a:tr h="180000">
                <a:tc>
                  <a:txBody>
                    <a:bodyPr/>
                    <a:lstStyle/>
                    <a:p>
                      <a:pPr algn="ctr"/>
                      <a:r>
                        <a:rPr sz="750" b="0">
                          <a:solidFill>
                            <a:srgbClr val="1A1A1A"/>
                          </a:solidFill>
                        </a:rPr>
                        <a:t>3</a:t>
                      </a:r>
                    </a:p>
                  </a:txBody>
                  <a:tcPr>
                    <a:noFill/>
                  </a:tcPr>
                </a:tc>
                <a:tc>
                  <a:txBody>
                    <a:bodyPr/>
                    <a:lstStyle/>
                    <a:p>
                      <a:pPr algn="ctr"/>
                      <a:r>
                        <a:rPr sz="750" b="0">
                          <a:solidFill>
                            <a:srgbClr val="1A1A1A"/>
                          </a:solidFill>
                        </a:rPr>
                        <a:t>TMO</a:t>
                      </a:r>
                    </a:p>
                  </a:txBody>
                  <a:tcPr>
                    <a:noFill/>
                  </a:tcPr>
                </a:tc>
                <a:tc>
                  <a:txBody>
                    <a:bodyPr/>
                    <a:lstStyle/>
                    <a:p>
                      <a:pPr algn="ctr"/>
                      <a:r>
                        <a:rPr sz="750" b="0">
                          <a:solidFill>
                            <a:srgbClr val="1A1A1A"/>
                          </a:solidFill>
                        </a:rPr>
                        <a:t>Thermo Fisher Scientific </a:t>
                      </a:r>
                    </a:p>
                  </a:txBody>
                  <a:tcPr>
                    <a:noFill/>
                  </a:tcPr>
                </a:tc>
                <a:tc>
                  <a:txBody>
                    <a:bodyPr/>
                    <a:lstStyle/>
                    <a:p>
                      <a:pPr algn="ctr"/>
                      <a:r>
                        <a:rPr sz="750" b="0">
                          <a:solidFill>
                            <a:srgbClr val="1A1A1A"/>
                          </a:solidFill>
                        </a:rPr>
                        <a:t>66/100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491.46</a:t>
                      </a:r>
                    </a:p>
                  </a:txBody>
                  <a:tcPr>
                    <a:noFill/>
                  </a:tcPr>
                </a:tc>
                <a:tc>
                  <a:txBody>
                    <a:bodyPr/>
                    <a:lstStyle/>
                    <a:p>
                      <a:pPr algn="ctr"/>
                      <a:r>
                        <a:rPr sz="750" b="0">
                          <a:solidFill>
                            <a:srgbClr val="1A1A1A"/>
                          </a:solidFill>
                        </a:rPr>
                        <a:t>19.2x</a:t>
                      </a:r>
                    </a:p>
                  </a:txBody>
                  <a:tcPr>
                    <a:noFill/>
                  </a:tcPr>
                </a:tc>
                <a:tc>
                  <a:txBody>
                    <a:bodyPr/>
                    <a:lstStyle/>
                    <a:p>
                      <a:pPr algn="ctr"/>
                      <a:r>
                        <a:rPr sz="750" b="0">
                          <a:solidFill>
                            <a:srgbClr val="1A1A1A"/>
                          </a:solidFill>
                        </a:rPr>
                        <a:t>25.0 %</a:t>
                      </a:r>
                    </a:p>
                  </a:txBody>
                  <a:tcPr>
                    <a:noFill/>
                  </a:tcPr>
                </a:tc>
                <a:tc>
                  <a:txBody>
                    <a:bodyPr/>
                    <a:lstStyle/>
                    <a:p>
                      <a:pPr algn="ctr"/>
                      <a:r>
                        <a:rPr sz="750" b="0">
                          <a:solidFill>
                            <a:srgbClr val="1A1A1A"/>
                          </a:solidFill>
                        </a:rPr>
                        <a:t>+7.2 %</a:t>
                      </a:r>
                    </a:p>
                  </a:txBody>
                  <a:tcPr>
                    <a:noFill/>
                  </a:tcPr>
                </a:tc>
                <a:tc>
                  <a:txBody>
                    <a:bodyPr/>
                    <a:lstStyle/>
                    <a:p>
                      <a:pPr algn="ctr"/>
                      <a:r>
                        <a:rPr sz="750" b="0">
                          <a:solidFill>
                            <a:srgbClr val="1A1A1A"/>
                          </a:solidFill>
                        </a:rPr>
                        <a:t>+12.2 %</a:t>
                      </a:r>
                    </a:p>
                  </a:txBody>
                  <a:tcPr>
                    <a:noFill/>
                  </a:tcPr>
                </a:tc>
              </a:tr>
              <a:tr h="1800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PFE</a:t>
                      </a:r>
                    </a:p>
                  </a:txBody>
                  <a:tcPr>
                    <a:solidFill>
                      <a:srgbClr val="F5F7FA"/>
                    </a:solidFill>
                  </a:tcPr>
                </a:tc>
                <a:tc>
                  <a:txBody>
                    <a:bodyPr/>
                    <a:lstStyle/>
                    <a:p>
                      <a:pPr algn="ctr"/>
                      <a:r>
                        <a:rPr sz="750" b="0">
                          <a:solidFill>
                            <a:srgbClr val="1A1A1A"/>
                          </a:solidFill>
                        </a:rPr>
                        <a:t>Pfizer Inc.</a:t>
                      </a:r>
                    </a:p>
                  </a:txBody>
                  <a:tcPr>
                    <a:solidFill>
                      <a:srgbClr val="F5F7FA"/>
                    </a:solidFill>
                  </a:tcPr>
                </a:tc>
                <a:tc>
                  <a:txBody>
                    <a:bodyPr/>
                    <a:lstStyle/>
                    <a:p>
                      <a:pPr algn="ctr"/>
                      <a:r>
                        <a:rPr sz="750" b="0">
                          <a:solidFill>
                            <a:srgbClr val="1A1A1A"/>
                          </a:solidFill>
                        </a:rPr>
                        <a:t>61/100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28.32</a:t>
                      </a:r>
                    </a:p>
                  </a:txBody>
                  <a:tcPr>
                    <a:solidFill>
                      <a:srgbClr val="F5F7FA"/>
                    </a:solidFill>
                  </a:tcPr>
                </a:tc>
                <a:tc>
                  <a:txBody>
                    <a:bodyPr/>
                    <a:lstStyle/>
                    <a:p>
                      <a:pPr algn="ctr"/>
                      <a:r>
                        <a:rPr sz="750" b="0">
                          <a:solidFill>
                            <a:srgbClr val="1A1A1A"/>
                          </a:solidFill>
                        </a:rPr>
                        <a:t>8.4x</a:t>
                      </a:r>
                    </a:p>
                  </a:txBody>
                  <a:tcPr>
                    <a:solidFill>
                      <a:srgbClr val="F5F7FA"/>
                    </a:solidFill>
                  </a:tcPr>
                </a:tc>
                <a:tc>
                  <a:txBody>
                    <a:bodyPr/>
                    <a:lstStyle/>
                    <a:p>
                      <a:pPr algn="ctr"/>
                      <a:r>
                        <a:rPr sz="750" b="0">
                          <a:solidFill>
                            <a:srgbClr val="1A1A1A"/>
                          </a:solidFill>
                        </a:rPr>
                        <a:t>41.1 %</a:t>
                      </a:r>
                    </a:p>
                  </a:txBody>
                  <a:tcPr>
                    <a:solidFill>
                      <a:srgbClr val="F5F7FA"/>
                    </a:solidFill>
                  </a:tcPr>
                </a:tc>
                <a:tc>
                  <a:txBody>
                    <a:bodyPr/>
                    <a:lstStyle/>
                    <a:p>
                      <a:pPr algn="ctr"/>
                      <a:r>
                        <a:rPr sz="750" b="0">
                          <a:solidFill>
                            <a:srgbClr val="1A1A1A"/>
                          </a:solidFill>
                        </a:rPr>
                        <a:t>-1.2 %</a:t>
                      </a:r>
                    </a:p>
                  </a:txBody>
                  <a:tcPr>
                    <a:solidFill>
                      <a:srgbClr val="F5F7FA"/>
                    </a:solidFill>
                  </a:tcPr>
                </a:tc>
                <a:tc>
                  <a:txBody>
                    <a:bodyPr/>
                    <a:lstStyle/>
                    <a:p>
                      <a:pPr algn="ctr"/>
                      <a:r>
                        <a:rPr sz="750" b="0">
                          <a:solidFill>
                            <a:srgbClr val="1A1A1A"/>
                          </a:solidFill>
                        </a:rPr>
                        <a:t>+23.3 %</a:t>
                      </a:r>
                    </a:p>
                  </a:txBody>
                  <a:tcPr>
                    <a:solidFill>
                      <a:srgbClr val="F5F7FA"/>
                    </a:solidFill>
                  </a:tcPr>
                </a:tc>
              </a:tr>
              <a:tr h="180000">
                <a:tc>
                  <a:txBody>
                    <a:bodyPr/>
                    <a:lstStyle/>
                    <a:p>
                      <a:pPr algn="ctr"/>
                      <a:r>
                        <a:rPr sz="750" b="0">
                          <a:solidFill>
                            <a:srgbClr val="1A1A1A"/>
                          </a:solidFill>
                        </a:rPr>
                        <a:t>5</a:t>
                      </a:r>
                    </a:p>
                  </a:txBody>
                  <a:tcPr>
                    <a:noFill/>
                  </a:tcPr>
                </a:tc>
                <a:tc>
                  <a:txBody>
                    <a:bodyPr/>
                    <a:lstStyle/>
                    <a:p>
                      <a:pPr algn="ctr"/>
                      <a:r>
                        <a:rPr sz="750" b="0">
                          <a:solidFill>
                            <a:srgbClr val="1A1A1A"/>
                          </a:solidFill>
                        </a:rPr>
                        <a:t>ABT</a:t>
                      </a:r>
                    </a:p>
                  </a:txBody>
                  <a:tcPr>
                    <a:noFill/>
                  </a:tcPr>
                </a:tc>
                <a:tc>
                  <a:txBody>
                    <a:bodyPr/>
                    <a:lstStyle/>
                    <a:p>
                      <a:pPr algn="ctr"/>
                      <a:r>
                        <a:rPr sz="750" b="0">
                          <a:solidFill>
                            <a:srgbClr val="1A1A1A"/>
                          </a:solidFill>
                        </a:rPr>
                        <a:t>Abbott Laboratories</a:t>
                      </a:r>
                    </a:p>
                  </a:txBody>
                  <a:tcPr>
                    <a:noFill/>
                  </a:tcPr>
                </a:tc>
                <a:tc>
                  <a:txBody>
                    <a:bodyPr/>
                    <a:lstStyle/>
                    <a:p>
                      <a:pPr algn="ctr"/>
                      <a:r>
                        <a:rPr sz="750" b="0">
                          <a:solidFill>
                            <a:srgbClr val="1A1A1A"/>
                          </a:solidFill>
                        </a:rPr>
                        <a:t>59/100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102.87</a:t>
                      </a:r>
                    </a:p>
                  </a:txBody>
                  <a:tcPr>
                    <a:noFill/>
                  </a:tcPr>
                </a:tc>
                <a:tc>
                  <a:txBody>
                    <a:bodyPr/>
                    <a:lstStyle/>
                    <a:p>
                      <a:pPr algn="ctr"/>
                      <a:r>
                        <a:rPr sz="750" b="0">
                          <a:solidFill>
                            <a:srgbClr val="1A1A1A"/>
                          </a:solidFill>
                        </a:rPr>
                        <a:t>15.3x</a:t>
                      </a:r>
                    </a:p>
                  </a:txBody>
                  <a:tcPr>
                    <a:noFill/>
                  </a:tcPr>
                </a:tc>
                <a:tc>
                  <a:txBody>
                    <a:bodyPr/>
                    <a:lstStyle/>
                    <a:p>
                      <a:pPr algn="ctr"/>
                      <a:r>
                        <a:rPr sz="750" b="0">
                          <a:solidFill>
                            <a:srgbClr val="1A1A1A"/>
                          </a:solidFill>
                        </a:rPr>
                        <a:t>27.1 %</a:t>
                      </a:r>
                    </a:p>
                  </a:txBody>
                  <a:tcPr>
                    <a:noFill/>
                  </a:tcPr>
                </a:tc>
                <a:tc>
                  <a:txBody>
                    <a:bodyPr/>
                    <a:lstStyle/>
                    <a:p>
                      <a:pPr algn="ctr"/>
                      <a:r>
                        <a:rPr sz="750" b="0">
                          <a:solidFill>
                            <a:srgbClr val="1A1A1A"/>
                          </a:solidFill>
                        </a:rPr>
                        <a:t>+4.4 %</a:t>
                      </a:r>
                    </a:p>
                  </a:txBody>
                  <a:tcPr>
                    <a:noFill/>
                  </a:tcPr>
                </a:tc>
                <a:tc>
                  <a:txBody>
                    <a:bodyPr/>
                    <a:lstStyle/>
                    <a:p>
                      <a:pPr algn="ctr"/>
                      <a:r>
                        <a:rPr sz="750" b="0">
                          <a:solidFill>
                            <a:srgbClr val="1A1A1A"/>
                          </a:solidFill>
                        </a:rPr>
                        <a:t>-17.3 %</a:t>
                      </a:r>
                    </a:p>
                  </a:txBody>
                  <a:tcPr>
                    <a:noFill/>
                  </a:tcPr>
                </a:tc>
              </a:tr>
              <a:tr h="1800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DHR</a:t>
                      </a:r>
                    </a:p>
                  </a:txBody>
                  <a:tcPr>
                    <a:solidFill>
                      <a:srgbClr val="F5F7FA"/>
                    </a:solidFill>
                  </a:tcPr>
                </a:tc>
                <a:tc>
                  <a:txBody>
                    <a:bodyPr/>
                    <a:lstStyle/>
                    <a:p>
                      <a:pPr algn="ctr"/>
                      <a:r>
                        <a:rPr sz="750" b="0">
                          <a:solidFill>
                            <a:srgbClr val="1A1A1A"/>
                          </a:solidFill>
                        </a:rPr>
                        <a:t>Danaher Corporation</a:t>
                      </a:r>
                    </a:p>
                  </a:txBody>
                  <a:tcPr>
                    <a:solidFill>
                      <a:srgbClr val="F5F7FA"/>
                    </a:solidFill>
                  </a:tcPr>
                </a:tc>
                <a:tc>
                  <a:txBody>
                    <a:bodyPr/>
                    <a:lstStyle/>
                    <a:p>
                      <a:pPr algn="ctr"/>
                      <a:r>
                        <a:rPr sz="750" b="0">
                          <a:solidFill>
                            <a:srgbClr val="1A1A1A"/>
                          </a:solidFill>
                        </a:rPr>
                        <a:t>57/100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191.12</a:t>
                      </a:r>
                    </a:p>
                  </a:txBody>
                  <a:tcPr>
                    <a:solidFill>
                      <a:srgbClr val="F5F7FA"/>
                    </a:solidFill>
                  </a:tcPr>
                </a:tc>
                <a:tc>
                  <a:txBody>
                    <a:bodyPr/>
                    <a:lstStyle/>
                    <a:p>
                      <a:pPr algn="ctr"/>
                      <a:r>
                        <a:rPr sz="750" b="0">
                          <a:solidFill>
                            <a:srgbClr val="1A1A1A"/>
                          </a:solidFill>
                        </a:rPr>
                        <a:t>19.2x</a:t>
                      </a:r>
                    </a:p>
                  </a:txBody>
                  <a:tcPr>
                    <a:solidFill>
                      <a:srgbClr val="F5F7FA"/>
                    </a:solidFill>
                  </a:tcPr>
                </a:tc>
                <a:tc>
                  <a:txBody>
                    <a:bodyPr/>
                    <a:lstStyle/>
                    <a:p>
                      <a:pPr algn="ctr"/>
                      <a:r>
                        <a:rPr sz="750" b="0">
                          <a:solidFill>
                            <a:srgbClr val="1A1A1A"/>
                          </a:solidFill>
                        </a:rPr>
                        <a:t>31.9 %</a:t>
                      </a:r>
                    </a:p>
                  </a:txBody>
                  <a:tcPr>
                    <a:solidFill>
                      <a:srgbClr val="F5F7FA"/>
                    </a:solidFill>
                  </a:tcPr>
                </a:tc>
                <a:tc>
                  <a:txBody>
                    <a:bodyPr/>
                    <a:lstStyle/>
                    <a:p>
                      <a:pPr algn="ctr"/>
                      <a:r>
                        <a:rPr sz="750" b="0">
                          <a:solidFill>
                            <a:srgbClr val="1A1A1A"/>
                          </a:solidFill>
                        </a:rPr>
                        <a:t>+4.6 %</a:t>
                      </a:r>
                    </a:p>
                  </a:txBody>
                  <a:tcPr>
                    <a:solidFill>
                      <a:srgbClr val="F5F7FA"/>
                    </a:solidFill>
                  </a:tcPr>
                </a:tc>
                <a:tc>
                  <a:txBody>
                    <a:bodyPr/>
                    <a:lstStyle/>
                    <a:p>
                      <a:pPr algn="ctr"/>
                      <a:r>
                        <a:rPr sz="750" b="0">
                          <a:solidFill>
                            <a:srgbClr val="1A1A1A"/>
                          </a:solidFill>
                        </a:rPr>
                        <a:t>+5.1 %</a:t>
                      </a:r>
                    </a:p>
                  </a:txBody>
                  <a:tcPr>
                    <a:solidFill>
                      <a:srgbClr val="F5F7FA"/>
                    </a:solidFill>
                  </a:tcPr>
                </a:tc>
              </a:tr>
              <a:tr h="180000">
                <a:tc>
                  <a:txBody>
                    <a:bodyPr/>
                    <a:lstStyle/>
                    <a:p>
                      <a:pPr algn="ctr"/>
                      <a:r>
                        <a:rPr sz="750" b="0">
                          <a:solidFill>
                            <a:srgbClr val="1A1A1A"/>
                          </a:solidFill>
                        </a:rPr>
                        <a:t>7</a:t>
                      </a:r>
                    </a:p>
                  </a:txBody>
                  <a:tcPr>
                    <a:noFill/>
                  </a:tcPr>
                </a:tc>
                <a:tc>
                  <a:txBody>
                    <a:bodyPr/>
                    <a:lstStyle/>
                    <a:p>
                      <a:pPr algn="ctr"/>
                      <a:r>
                        <a:rPr sz="750" b="0">
                          <a:solidFill>
                            <a:srgbClr val="1A1A1A"/>
                          </a:solidFill>
                        </a:rPr>
                        <a:t>UNH</a:t>
                      </a:r>
                    </a:p>
                  </a:txBody>
                  <a:tcPr>
                    <a:noFill/>
                  </a:tcPr>
                </a:tc>
                <a:tc>
                  <a:txBody>
                    <a:bodyPr/>
                    <a:lstStyle/>
                    <a:p>
                      <a:pPr algn="ctr"/>
                      <a:r>
                        <a:rPr sz="750" b="0">
                          <a:solidFill>
                            <a:srgbClr val="1A1A1A"/>
                          </a:solidFill>
                        </a:rPr>
                        <a:t>UnitedHealth Group Incorp</a:t>
                      </a:r>
                    </a:p>
                  </a:txBody>
                  <a:tcPr>
                    <a:noFill/>
                  </a:tcPr>
                </a:tc>
                <a:tc>
                  <a:txBody>
                    <a:bodyPr/>
                    <a:lstStyle/>
                    <a:p>
                      <a:pPr algn="ctr"/>
                      <a:r>
                        <a:rPr sz="750" b="0">
                          <a:solidFill>
                            <a:srgbClr val="1A1A1A"/>
                          </a:solidFill>
                        </a:rPr>
                        <a:t>56/100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277.26</a:t>
                      </a:r>
                    </a:p>
                  </a:txBody>
                  <a:tcPr>
                    <a:noFill/>
                  </a:tcPr>
                </a:tc>
                <a:tc>
                  <a:txBody>
                    <a:bodyPr/>
                    <a:lstStyle/>
                    <a:p>
                      <a:pPr algn="ctr"/>
                      <a:r>
                        <a:rPr sz="750" b="0">
                          <a:solidFill>
                            <a:srgbClr val="1A1A1A"/>
                          </a:solidFill>
                        </a:rPr>
                        <a:t>14.5x</a:t>
                      </a:r>
                    </a:p>
                  </a:txBody>
                  <a:tcPr>
                    <a:noFill/>
                  </a:tcPr>
                </a:tc>
                <a:tc>
                  <a:txBody>
                    <a:bodyPr/>
                    <a:lstStyle/>
                    <a:p>
                      <a:pPr algn="ctr"/>
                      <a:r>
                        <a:rPr sz="750" b="0">
                          <a:solidFill>
                            <a:srgbClr val="1A1A1A"/>
                          </a:solidFill>
                        </a:rPr>
                        <a:t>4.8 %</a:t>
                      </a:r>
                    </a:p>
                  </a:txBody>
                  <a:tcPr>
                    <a:noFill/>
                  </a:tcPr>
                </a:tc>
                <a:tc>
                  <a:txBody>
                    <a:bodyPr/>
                    <a:lstStyle/>
                    <a:p>
                      <a:pPr algn="ctr"/>
                      <a:r>
                        <a:rPr sz="750" b="0">
                          <a:solidFill>
                            <a:srgbClr val="1A1A1A"/>
                          </a:solidFill>
                        </a:rPr>
                        <a:t>+12.3 %</a:t>
                      </a:r>
                    </a:p>
                  </a:txBody>
                  <a:tcPr>
                    <a:noFill/>
                  </a:tcPr>
                </a:tc>
                <a:tc>
                  <a:txBody>
                    <a:bodyPr/>
                    <a:lstStyle/>
                    <a:p>
                      <a:pPr algn="ctr"/>
                      <a:r>
                        <a:rPr sz="750" b="0">
                          <a:solidFill>
                            <a:srgbClr val="1A1A1A"/>
                          </a:solidFill>
                        </a:rPr>
                        <a:t>-47.2 %</a:t>
                      </a:r>
                    </a:p>
                  </a:txBody>
                  <a:tcPr>
                    <a:noFill/>
                  </a:tcPr>
                </a:tc>
              </a:tr>
              <a:tr h="180000">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ABBV</a:t>
                      </a:r>
                    </a:p>
                  </a:txBody>
                  <a:tcPr>
                    <a:solidFill>
                      <a:srgbClr val="F5F7FA"/>
                    </a:solidFill>
                  </a:tcPr>
                </a:tc>
                <a:tc>
                  <a:txBody>
                    <a:bodyPr/>
                    <a:lstStyle/>
                    <a:p>
                      <a:pPr algn="ctr"/>
                      <a:r>
                        <a:rPr sz="750" b="0">
                          <a:solidFill>
                            <a:srgbClr val="1A1A1A"/>
                          </a:solidFill>
                        </a:rPr>
                        <a:t>AbbVie Inc.</a:t>
                      </a:r>
                    </a:p>
                  </a:txBody>
                  <a:tcPr>
                    <a:solidFill>
                      <a:srgbClr val="F5F7FA"/>
                    </a:solidFill>
                  </a:tcPr>
                </a:tc>
                <a:tc>
                  <a:txBody>
                    <a:bodyPr/>
                    <a:lstStyle/>
                    <a:p>
                      <a:pPr algn="ctr"/>
                      <a:r>
                        <a:rPr sz="750" b="0">
                          <a:solidFill>
                            <a:srgbClr val="1A1A1A"/>
                          </a:solidFill>
                        </a:rPr>
                        <a:t>51/100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208.84</a:t>
                      </a:r>
                    </a:p>
                  </a:txBody>
                  <a:tcPr>
                    <a:solidFill>
                      <a:srgbClr val="F5F7FA"/>
                    </a:solidFill>
                  </a:tcPr>
                </a:tc>
                <a:tc>
                  <a:txBody>
                    <a:bodyPr/>
                    <a:lstStyle/>
                    <a:p>
                      <a:pPr algn="ctr"/>
                      <a:r>
                        <a:rPr sz="750" b="0">
                          <a:solidFill>
                            <a:srgbClr val="1A1A1A"/>
                          </a:solidFill>
                        </a:rPr>
                        <a:t>14.8x</a:t>
                      </a:r>
                    </a:p>
                  </a:txBody>
                  <a:tcPr>
                    <a:solidFill>
                      <a:srgbClr val="F5F7FA"/>
                    </a:solidFill>
                  </a:tcPr>
                </a:tc>
                <a:tc>
                  <a:txBody>
                    <a:bodyPr/>
                    <a:lstStyle/>
                    <a:p>
                      <a:pPr algn="ctr"/>
                      <a:r>
                        <a:rPr sz="750" b="0">
                          <a:solidFill>
                            <a:srgbClr val="1A1A1A"/>
                          </a:solidFill>
                        </a:rPr>
                        <a:t>47.8 %</a:t>
                      </a:r>
                    </a:p>
                  </a:txBody>
                  <a:tcPr>
                    <a:solidFill>
                      <a:srgbClr val="F5F7FA"/>
                    </a:solidFill>
                  </a:tcPr>
                </a:tc>
                <a:tc>
                  <a:txBody>
                    <a:bodyPr/>
                    <a:lstStyle/>
                    <a:p>
                      <a:pPr algn="ctr"/>
                      <a:r>
                        <a:rPr sz="750" b="0">
                          <a:solidFill>
                            <a:srgbClr val="1A1A1A"/>
                          </a:solidFill>
                        </a:rPr>
                        <a:t>+10.0 %</a:t>
                      </a:r>
                    </a:p>
                  </a:txBody>
                  <a:tcPr>
                    <a:solidFill>
                      <a:srgbClr val="F5F7FA"/>
                    </a:solidFill>
                  </a:tcPr>
                </a:tc>
                <a:tc>
                  <a:txBody>
                    <a:bodyPr/>
                    <a:lstStyle/>
                    <a:p>
                      <a:pPr algn="ctr"/>
                      <a:r>
                        <a:rPr sz="750" b="0">
                          <a:solidFill>
                            <a:srgbClr val="1A1A1A"/>
                          </a:solidFill>
                        </a:rPr>
                        <a:t>+11.7 %</a:t>
                      </a:r>
                    </a:p>
                  </a:txBody>
                  <a:tcPr>
                    <a:solidFill>
                      <a:srgbClr val="F5F7FA"/>
                    </a:solidFill>
                  </a:tcPr>
                </a:tc>
              </a:tr>
            </a:tbl>
          </a:graphicData>
        </a:graphic>
      </p:graphicFrame>
      <p:sp>
        <p:nvSpPr>
          <p:cNvPr id="16" name="Rectangle 15"/>
          <p:cNvSpPr/>
          <p:nvPr/>
        </p:nvSpPr>
        <p:spPr>
          <a:xfrm>
            <a:off x="324000" y="27000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700000"/>
            <a:ext cx="360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2754000"/>
            <a:ext cx="8280000" cy="216000"/>
          </a:xfrm>
          <a:prstGeom prst="rect">
            <a:avLst/>
          </a:prstGeom>
          <a:noFill/>
        </p:spPr>
        <p:txBody>
          <a:bodyPr wrap="square">
            <a:spAutoFit/>
          </a:bodyPr>
          <a:lstStyle/>
          <a:p>
            <a:pPr algn="l"/>
            <a:r>
              <a:rPr sz="900" b="1" i="0">
                <a:solidFill>
                  <a:srgbClr val="1B3A6B"/>
                </a:solidFill>
              </a:rPr>
              <a:t>Lecture analytique — Ce que la cartographie revele</a:t>
            </a:r>
          </a:p>
        </p:txBody>
      </p:sp>
      <p:sp>
        <p:nvSpPr>
          <p:cNvPr id="19" name="TextBox 18"/>
          <p:cNvSpPr txBox="1"/>
          <p:nvPr/>
        </p:nvSpPr>
        <p:spPr>
          <a:xfrm>
            <a:off x="468000" y="3006000"/>
            <a:ext cx="8280000" cy="1260000"/>
          </a:xfrm>
          <a:prstGeom prst="rect">
            <a:avLst/>
          </a:prstGeom>
          <a:noFill/>
        </p:spPr>
        <p:txBody>
          <a:bodyPr wrap="square">
            <a:spAutoFit/>
          </a:bodyPr>
          <a:lstStyle/>
          <a:p>
            <a:pPr algn="l"/>
            <a:r>
              <a:rPr sz="850" b="0" i="0">
                <a:solidFill>
                  <a:srgbClr val="555555"/>
                </a:solidFill>
              </a:rPr>
              <a:t>Le secteur Healthcare presente 3 BUY / 5 HOLD / 0 SELL sur 8 valeurs analysées. Johnson &amp; Johnson (score 81/100) constitue le coeur offensif recommande — fondamentaux solides et visibilité supérieure sur les revenus. La répartition des recommandations reflete un positionnement selectif cohérent avec la phase sectorielle actuelle. Les catalyseurs identifies — resultats trimestriels, guidance annuel, operations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vs Croissance Revenue YoY  ·  4 quadrants  ·  Top 25 par score FinSight</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JNJ domine le quadrant Premium Justifie — valorisation élevée (18.2x) soutenue par 68.1 % de marge brute.
PFE se positionne en zone Opportunite — EV/EBITDA de 8.4x sous la médiane sectorielle de 15.1x.
La médiane sectorielle ressort a 15.1x — les acteurs en dessous offrent potentiellement les meilleures asymetries risque/rendement.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18144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2016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201600">
                <a:tc>
                  <a:txBody>
                    <a:bodyPr/>
                    <a:lstStyle/>
                    <a:p>
                      <a:pPr algn="ctr"/>
                      <a:r>
                        <a:rPr sz="750" b="0">
                          <a:solidFill>
                            <a:srgbClr val="1A1A1A"/>
                          </a:solidFill>
                        </a:rPr>
                        <a:t>JNJ</a:t>
                      </a:r>
                    </a:p>
                  </a:txBody>
                  <a:tcPr>
                    <a:noFill/>
                  </a:tcPr>
                </a:tc>
                <a:tc>
                  <a:txBody>
                    <a:bodyPr/>
                    <a:lstStyle/>
                    <a:p>
                      <a:pPr algn="ctr"/>
                      <a:r>
                        <a:rPr sz="750" b="0">
                          <a:solidFill>
                            <a:srgbClr val="1A1A1A"/>
                          </a:solidFill>
                        </a:rPr>
                        <a:t>Johnson &amp; Johnson</a:t>
                      </a:r>
                    </a:p>
                  </a:txBody>
                  <a:tcPr>
                    <a:noFill/>
                  </a:tcPr>
                </a:tc>
                <a:tc>
                  <a:txBody>
                    <a:bodyPr/>
                    <a:lstStyle/>
                    <a:p>
                      <a:pPr algn="ctr"/>
                      <a:r>
                        <a:rPr sz="750" b="0">
                          <a:solidFill>
                            <a:srgbClr val="1A1A1A"/>
                          </a:solidFill>
                        </a:rPr>
                        <a:t>81/100</a:t>
                      </a:r>
                    </a:p>
                  </a:txBody>
                  <a:tcPr>
                    <a:noFill/>
                  </a:tcPr>
                </a:tc>
                <a:tc>
                  <a:txBody>
                    <a:bodyPr/>
                    <a:lstStyle/>
                    <a:p>
                      <a:pPr algn="ctr"/>
                      <a:r>
                        <a:rPr sz="750" b="0">
                          <a:solidFill>
                            <a:srgbClr val="1A1A1A"/>
                          </a:solidFill>
                        </a:rPr>
                        <a:t>14</a:t>
                      </a:r>
                    </a:p>
                  </a:txBody>
                  <a:tcPr>
                    <a:noFill/>
                  </a:tcPr>
                </a:tc>
                <a:tc>
                  <a:txBody>
                    <a:bodyPr/>
                    <a:lstStyle/>
                    <a:p>
                      <a:pPr algn="ctr"/>
                      <a:r>
                        <a:rPr sz="750" b="0">
                          <a:solidFill>
                            <a:srgbClr val="1A1A1A"/>
                          </a:solidFill>
                        </a:rPr>
                        <a:t>21</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20</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MRK</a:t>
                      </a:r>
                    </a:p>
                  </a:txBody>
                  <a:tcPr>
                    <a:solidFill>
                      <a:srgbClr val="F5F7FA"/>
                    </a:solidFill>
                  </a:tcPr>
                </a:tc>
                <a:tc>
                  <a:txBody>
                    <a:bodyPr/>
                    <a:lstStyle/>
                    <a:p>
                      <a:pPr algn="ctr"/>
                      <a:r>
                        <a:rPr sz="750" b="0">
                          <a:solidFill>
                            <a:srgbClr val="1A1A1A"/>
                          </a:solidFill>
                        </a:rPr>
                        <a:t>Merck &amp; Co., Inc.</a:t>
                      </a:r>
                    </a:p>
                  </a:txBody>
                  <a:tcPr>
                    <a:solidFill>
                      <a:srgbClr val="F5F7FA"/>
                    </a:solidFill>
                  </a:tcPr>
                </a:tc>
                <a:tc>
                  <a:txBody>
                    <a:bodyPr/>
                    <a:lstStyle/>
                    <a:p>
                      <a:pPr algn="ctr"/>
                      <a:r>
                        <a:rPr sz="750" b="0">
                          <a:solidFill>
                            <a:srgbClr val="1A1A1A"/>
                          </a:solidFill>
                        </a:rPr>
                        <a:t>78/100</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17</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19</a:t>
                      </a:r>
                    </a:p>
                  </a:txBody>
                  <a:tcPr>
                    <a:solidFill>
                      <a:srgbClr val="F5F7FA"/>
                    </a:solidFill>
                  </a:tcPr>
                </a:tc>
                <a:tc>
                  <a:txBody>
                    <a:bodyPr/>
                    <a:lstStyle/>
                    <a:p>
                      <a:pPr algn="ctr"/>
                      <a:r>
                        <a:rPr sz="750" b="0">
                          <a:solidFill>
                            <a:srgbClr val="1A1A1A"/>
                          </a:solidFill>
                        </a:rPr>
                        <a:t>BUY</a:t>
                      </a:r>
                    </a:p>
                  </a:txBody>
                  <a:tcPr>
                    <a:solidFill>
                      <a:srgbClr val="F5F7FA"/>
                    </a:solidFill>
                  </a:tcPr>
                </a:tc>
              </a:tr>
              <a:tr h="201600">
                <a:tc>
                  <a:txBody>
                    <a:bodyPr/>
                    <a:lstStyle/>
                    <a:p>
                      <a:pPr algn="ctr"/>
                      <a:r>
                        <a:rPr sz="750" b="0">
                          <a:solidFill>
                            <a:srgbClr val="1A1A1A"/>
                          </a:solidFill>
                        </a:rPr>
                        <a:t>TMO</a:t>
                      </a:r>
                    </a:p>
                  </a:txBody>
                  <a:tcPr>
                    <a:noFill/>
                  </a:tcPr>
                </a:tc>
                <a:tc>
                  <a:txBody>
                    <a:bodyPr/>
                    <a:lstStyle/>
                    <a:p>
                      <a:pPr algn="ctr"/>
                      <a:r>
                        <a:rPr sz="750" b="0">
                          <a:solidFill>
                            <a:srgbClr val="1A1A1A"/>
                          </a:solidFill>
                        </a:rPr>
                        <a:t>Thermo Fisher Scientific </a:t>
                      </a:r>
                    </a:p>
                  </a:txBody>
                  <a:tcPr>
                    <a:noFill/>
                  </a:tcPr>
                </a:tc>
                <a:tc>
                  <a:txBody>
                    <a:bodyPr/>
                    <a:lstStyle/>
                    <a:p>
                      <a:pPr algn="ctr"/>
                      <a:r>
                        <a:rPr sz="750" b="0">
                          <a:solidFill>
                            <a:srgbClr val="1A1A1A"/>
                          </a:solidFill>
                        </a:rPr>
                        <a:t>66/100</a:t>
                      </a:r>
                    </a:p>
                  </a:txBody>
                  <a:tcPr>
                    <a:noFill/>
                  </a:tcPr>
                </a:tc>
                <a:tc>
                  <a:txBody>
                    <a:bodyPr/>
                    <a:lstStyle/>
                    <a:p>
                      <a:pPr algn="ctr"/>
                      <a:r>
                        <a:rPr sz="750" b="0">
                          <a:solidFill>
                            <a:srgbClr val="1A1A1A"/>
                          </a:solidFill>
                        </a:rPr>
                        <a:t>11</a:t>
                      </a:r>
                    </a:p>
                  </a:txBody>
                  <a:tcPr>
                    <a:noFill/>
                  </a:tcPr>
                </a:tc>
                <a:tc>
                  <a:txBody>
                    <a:bodyPr/>
                    <a:lstStyle/>
                    <a:p>
                      <a:pPr algn="ctr"/>
                      <a:r>
                        <a:rPr sz="750" b="0">
                          <a:solidFill>
                            <a:srgbClr val="1A1A1A"/>
                          </a:solidFill>
                        </a:rPr>
                        <a:t>19</a:t>
                      </a:r>
                    </a:p>
                  </a:txBody>
                  <a:tcPr>
                    <a:noFill/>
                  </a:tcPr>
                </a:tc>
                <a:tc>
                  <a:txBody>
                    <a:bodyPr/>
                    <a:lstStyle/>
                    <a:p>
                      <a:pPr algn="ctr"/>
                      <a:r>
                        <a:rPr sz="750" b="0">
                          <a:solidFill>
                            <a:srgbClr val="1A1A1A"/>
                          </a:solidFill>
                        </a:rPr>
                        <a:t>22</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PFE</a:t>
                      </a:r>
                    </a:p>
                  </a:txBody>
                  <a:tcPr>
                    <a:solidFill>
                      <a:srgbClr val="F5F7FA"/>
                    </a:solidFill>
                  </a:tcPr>
                </a:tc>
                <a:tc>
                  <a:txBody>
                    <a:bodyPr/>
                    <a:lstStyle/>
                    <a:p>
                      <a:pPr algn="ctr"/>
                      <a:r>
                        <a:rPr sz="750" b="0">
                          <a:solidFill>
                            <a:srgbClr val="1A1A1A"/>
                          </a:solidFill>
                        </a:rPr>
                        <a:t>Pfizer Inc.</a:t>
                      </a:r>
                    </a:p>
                  </a:txBody>
                  <a:tcPr>
                    <a:solidFill>
                      <a:srgbClr val="F5F7FA"/>
                    </a:solidFill>
                  </a:tcPr>
                </a:tc>
                <a:tc>
                  <a:txBody>
                    <a:bodyPr/>
                    <a:lstStyle/>
                    <a:p>
                      <a:pPr algn="ctr"/>
                      <a:r>
                        <a:rPr sz="750" b="0">
                          <a:solidFill>
                            <a:srgbClr val="1A1A1A"/>
                          </a:solidFill>
                        </a:rPr>
                        <a:t>61/100</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10</a:t>
                      </a:r>
                    </a:p>
                  </a:txBody>
                  <a:tcPr>
                    <a:solidFill>
                      <a:srgbClr val="F5F7FA"/>
                    </a:solidFill>
                  </a:tcPr>
                </a:tc>
                <a:tc>
                  <a:txBody>
                    <a:bodyPr/>
                    <a:lstStyle/>
                    <a:p>
                      <a:pPr algn="ctr"/>
                      <a:r>
                        <a:rPr sz="750" b="0">
                          <a:solidFill>
                            <a:srgbClr val="1A1A1A"/>
                          </a:solidFill>
                        </a:rPr>
                        <a:t>19</a:t>
                      </a:r>
                    </a:p>
                  </a:txBody>
                  <a:tcPr>
                    <a:solidFill>
                      <a:srgbClr val="F5F7FA"/>
                    </a:solidFill>
                  </a:tcPr>
                </a:tc>
                <a:tc>
                  <a:txBody>
                    <a:bodyPr/>
                    <a:lstStyle/>
                    <a:p>
                      <a:pPr algn="ctr"/>
                      <a:r>
                        <a:rPr sz="750" b="0">
                          <a:solidFill>
                            <a:srgbClr val="1A1A1A"/>
                          </a:solidFill>
                        </a:rPr>
                        <a:t>15</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ABT</a:t>
                      </a:r>
                    </a:p>
                  </a:txBody>
                  <a:tcPr>
                    <a:noFill/>
                  </a:tcPr>
                </a:tc>
                <a:tc>
                  <a:txBody>
                    <a:bodyPr/>
                    <a:lstStyle/>
                    <a:p>
                      <a:pPr algn="ctr"/>
                      <a:r>
                        <a:rPr sz="750" b="0">
                          <a:solidFill>
                            <a:srgbClr val="1A1A1A"/>
                          </a:solidFill>
                        </a:rPr>
                        <a:t>Abbott Laboratories</a:t>
                      </a:r>
                    </a:p>
                  </a:txBody>
                  <a:tcPr>
                    <a:noFill/>
                  </a:tcPr>
                </a:tc>
                <a:tc>
                  <a:txBody>
                    <a:bodyPr/>
                    <a:lstStyle/>
                    <a:p>
                      <a:pPr algn="ctr"/>
                      <a:r>
                        <a:rPr sz="750" b="0">
                          <a:solidFill>
                            <a:srgbClr val="1A1A1A"/>
                          </a:solidFill>
                        </a:rPr>
                        <a:t>59/100</a:t>
                      </a:r>
                    </a:p>
                  </a:txBody>
                  <a:tcPr>
                    <a:noFill/>
                  </a:tcPr>
                </a:tc>
                <a:tc>
                  <a:txBody>
                    <a:bodyPr/>
                    <a:lstStyle/>
                    <a:p>
                      <a:pPr algn="ctr"/>
                      <a:r>
                        <a:rPr sz="750" b="0">
                          <a:solidFill>
                            <a:srgbClr val="1A1A1A"/>
                          </a:solidFill>
                        </a:rPr>
                        <a:t>11</a:t>
                      </a:r>
                    </a:p>
                  </a:txBody>
                  <a:tcPr>
                    <a:noFill/>
                  </a:tcPr>
                </a:tc>
                <a:tc>
                  <a:txBody>
                    <a:bodyPr/>
                    <a:lstStyle/>
                    <a:p>
                      <a:pPr algn="ctr"/>
                      <a:r>
                        <a:rPr sz="750" b="0">
                          <a:solidFill>
                            <a:srgbClr val="1A1A1A"/>
                          </a:solidFill>
                        </a:rPr>
                        <a:t>16</a:t>
                      </a:r>
                    </a:p>
                  </a:txBody>
                  <a:tcPr>
                    <a:noFill/>
                  </a:tcPr>
                </a:tc>
                <a:tc>
                  <a:txBody>
                    <a:bodyPr/>
                    <a:lstStyle/>
                    <a:p>
                      <a:pPr algn="ctr"/>
                      <a:r>
                        <a:rPr sz="750" b="0">
                          <a:solidFill>
                            <a:srgbClr val="1A1A1A"/>
                          </a:solidFill>
                        </a:rPr>
                        <a:t>21</a:t>
                      </a:r>
                    </a:p>
                  </a:txBody>
                  <a:tcPr>
                    <a:noFill/>
                  </a:tcPr>
                </a:tc>
                <a:tc>
                  <a:txBody>
                    <a:bodyPr/>
                    <a:lstStyle/>
                    <a:p>
                      <a:pPr algn="ctr"/>
                      <a:r>
                        <a:rPr sz="750" b="0">
                          <a:solidFill>
                            <a:srgbClr val="1A1A1A"/>
                          </a:solidFill>
                        </a:rPr>
                        <a:t>9</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DHR</a:t>
                      </a:r>
                    </a:p>
                  </a:txBody>
                  <a:tcPr>
                    <a:solidFill>
                      <a:srgbClr val="F5F7FA"/>
                    </a:solidFill>
                  </a:tcPr>
                </a:tc>
                <a:tc>
                  <a:txBody>
                    <a:bodyPr/>
                    <a:lstStyle/>
                    <a:p>
                      <a:pPr algn="ctr"/>
                      <a:r>
                        <a:rPr sz="750" b="0">
                          <a:solidFill>
                            <a:srgbClr val="1A1A1A"/>
                          </a:solidFill>
                        </a:rPr>
                        <a:t>Danaher Corporation</a:t>
                      </a:r>
                    </a:p>
                  </a:txBody>
                  <a:tcPr>
                    <a:solidFill>
                      <a:srgbClr val="F5F7FA"/>
                    </a:solidFill>
                  </a:tcPr>
                </a:tc>
                <a:tc>
                  <a:txBody>
                    <a:bodyPr/>
                    <a:lstStyle/>
                    <a:p>
                      <a:pPr algn="ctr"/>
                      <a:r>
                        <a:rPr sz="750" b="0">
                          <a:solidFill>
                            <a:srgbClr val="1A1A1A"/>
                          </a:solidFill>
                        </a:rPr>
                        <a:t>57/100</a:t>
                      </a:r>
                    </a:p>
                  </a:txBody>
                  <a:tcPr>
                    <a:solidFill>
                      <a:srgbClr val="F5F7FA"/>
                    </a:solidFill>
                  </a:tcPr>
                </a:tc>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21</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UNH</a:t>
                      </a:r>
                    </a:p>
                  </a:txBody>
                  <a:tcPr>
                    <a:noFill/>
                  </a:tcPr>
                </a:tc>
                <a:tc>
                  <a:txBody>
                    <a:bodyPr/>
                    <a:lstStyle/>
                    <a:p>
                      <a:pPr algn="ctr"/>
                      <a:r>
                        <a:rPr sz="750" b="0">
                          <a:solidFill>
                            <a:srgbClr val="1A1A1A"/>
                          </a:solidFill>
                        </a:rPr>
                        <a:t>UnitedHealth Group Incorp</a:t>
                      </a:r>
                    </a:p>
                  </a:txBody>
                  <a:tcPr>
                    <a:noFill/>
                  </a:tcPr>
                </a:tc>
                <a:tc>
                  <a:txBody>
                    <a:bodyPr/>
                    <a:lstStyle/>
                    <a:p>
                      <a:pPr algn="ctr"/>
                      <a:r>
                        <a:rPr sz="750" b="0">
                          <a:solidFill>
                            <a:srgbClr val="1A1A1A"/>
                          </a:solidFill>
                        </a:rPr>
                        <a:t>56/100</a:t>
                      </a:r>
                    </a:p>
                  </a:txBody>
                  <a:tcPr>
                    <a:noFill/>
                  </a:tcPr>
                </a:tc>
                <a:tc>
                  <a:txBody>
                    <a:bodyPr/>
                    <a:lstStyle/>
                    <a:p>
                      <a:pPr algn="ctr"/>
                      <a:r>
                        <a:rPr sz="750" b="0">
                          <a:solidFill>
                            <a:srgbClr val="1A1A1A"/>
                          </a:solidFill>
                        </a:rPr>
                        <a:t>14</a:t>
                      </a:r>
                    </a:p>
                  </a:txBody>
                  <a:tcPr>
                    <a:noFill/>
                  </a:tcPr>
                </a:tc>
                <a:tc>
                  <a:txBody>
                    <a:bodyPr/>
                    <a:lstStyle/>
                    <a:p>
                      <a:pPr algn="ctr"/>
                      <a:r>
                        <a:rPr sz="750" b="0">
                          <a:solidFill>
                            <a:srgbClr val="1A1A1A"/>
                          </a:solidFill>
                        </a:rPr>
                        <a:t>24</a:t>
                      </a:r>
                    </a:p>
                  </a:txBody>
                  <a:tcPr>
                    <a:noFill/>
                  </a:tcPr>
                </a:tc>
                <a:tc>
                  <a:txBody>
                    <a:bodyPr/>
                    <a:lstStyle/>
                    <a:p>
                      <a:pPr algn="ctr"/>
                      <a:r>
                        <a:rPr sz="750" b="0">
                          <a:solidFill>
                            <a:srgbClr val="1A1A1A"/>
                          </a:solidFill>
                        </a:rPr>
                        <a:t>12</a:t>
                      </a:r>
                    </a:p>
                  </a:txBody>
                  <a:tcPr>
                    <a:noFill/>
                  </a:tcPr>
                </a:tc>
                <a:tc>
                  <a:txBody>
                    <a:bodyPr/>
                    <a:lstStyle/>
                    <a:p>
                      <a:pPr algn="ctr"/>
                      <a:r>
                        <a:rPr sz="750" b="0">
                          <a:solidFill>
                            <a:srgbClr val="1A1A1A"/>
                          </a:solidFill>
                        </a:rPr>
                        <a:t>4</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ABBV</a:t>
                      </a:r>
                    </a:p>
                  </a:txBody>
                  <a:tcPr>
                    <a:solidFill>
                      <a:srgbClr val="F5F7FA"/>
                    </a:solidFill>
                  </a:tcPr>
                </a:tc>
                <a:tc>
                  <a:txBody>
                    <a:bodyPr/>
                    <a:lstStyle/>
                    <a:p>
                      <a:pPr algn="ctr"/>
                      <a:r>
                        <a:rPr sz="750" b="0">
                          <a:solidFill>
                            <a:srgbClr val="1A1A1A"/>
                          </a:solidFill>
                        </a:rPr>
                        <a:t>AbbVie Inc.</a:t>
                      </a:r>
                    </a:p>
                  </a:txBody>
                  <a:tcPr>
                    <a:solidFill>
                      <a:srgbClr val="F5F7FA"/>
                    </a:solidFill>
                  </a:tcPr>
                </a:tc>
                <a:tc>
                  <a:txBody>
                    <a:bodyPr/>
                    <a:lstStyle/>
                    <a:p>
                      <a:pPr algn="ctr"/>
                      <a:r>
                        <a:rPr sz="750" b="0">
                          <a:solidFill>
                            <a:srgbClr val="1A1A1A"/>
                          </a:solidFill>
                        </a:rPr>
                        <a:t>51/100</a:t>
                      </a:r>
                    </a:p>
                  </a:txBody>
                  <a:tcPr>
                    <a:solidFill>
                      <a:srgbClr val="F5F7FA"/>
                    </a:solidFill>
                  </a:tcPr>
                </a:tc>
                <a:tc>
                  <a:txBody>
                    <a:bodyPr/>
                    <a:lstStyle/>
                    <a:p>
                      <a:pPr algn="ctr"/>
                      <a:r>
                        <a:rPr sz="750" b="0">
                          <a:solidFill>
                            <a:srgbClr val="1A1A1A"/>
                          </a:solidFill>
                        </a:rPr>
                        <a:t>0</a:t>
                      </a:r>
                    </a:p>
                  </a:txBody>
                  <a:tcPr>
                    <a:solidFill>
                      <a:srgbClr val="F5F7FA"/>
                    </a:solidFill>
                  </a:tcPr>
                </a:tc>
                <a:tc>
                  <a:txBody>
                    <a:bodyPr/>
                    <a:lstStyle/>
                    <a:p>
                      <a:pPr algn="ctr"/>
                      <a:r>
                        <a:rPr sz="750" b="0">
                          <a:solidFill>
                            <a:srgbClr val="1A1A1A"/>
                          </a:solidFill>
                        </a:rPr>
                        <a:t>22</a:t>
                      </a:r>
                    </a:p>
                  </a:txBody>
                  <a:tcPr>
                    <a:solidFill>
                      <a:srgbClr val="F5F7FA"/>
                    </a:solidFill>
                  </a:tcPr>
                </a:tc>
                <a:tc>
                  <a:txBody>
                    <a:bodyPr/>
                    <a:lstStyle/>
                    <a:p>
                      <a:pPr algn="ctr"/>
                      <a:r>
                        <a:rPr sz="750" b="0">
                          <a:solidFill>
                            <a:srgbClr val="1A1A1A"/>
                          </a:solidFill>
                        </a:rPr>
                        <a:t>15</a:t>
                      </a:r>
                    </a:p>
                  </a:txBody>
                  <a:tcPr>
                    <a:solidFill>
                      <a:srgbClr val="F5F7FA"/>
                    </a:solidFill>
                  </a:tcPr>
                </a:tc>
                <a:tc>
                  <a:txBody>
                    <a:bodyPr/>
                    <a:lstStyle/>
                    <a:p>
                      <a:pPr algn="ctr"/>
                      <a:r>
                        <a:rPr sz="750" b="0">
                          <a:solidFill>
                            <a:srgbClr val="1A1A1A"/>
                          </a:solidFill>
                        </a:rPr>
                        <a:t>13</a:t>
                      </a:r>
                    </a:p>
                  </a:txBody>
                  <a:tcPr>
                    <a:solidFill>
                      <a:srgbClr val="F5F7FA"/>
                    </a:solidFill>
                  </a:tcPr>
                </a:tc>
                <a:tc>
                  <a:txBody>
                    <a:bodyPr/>
                    <a:lstStyle/>
                    <a:p>
                      <a:pPr algn="ctr"/>
                      <a:r>
                        <a:rPr sz="750" b="0">
                          <a:solidFill>
                            <a:srgbClr val="1A1A1A"/>
                          </a:solidFill>
                        </a:rPr>
                        <a:t>HOLD</a:t>
                      </a:r>
                    </a:p>
                  </a:txBody>
                  <a:tcPr>
                    <a:solidFill>
                      <a:srgbClr val="F5F7FA"/>
                    </a:solidFill>
                  </a:tcPr>
                </a:tc>
              </a:tr>
            </a:tbl>
          </a:graphicData>
        </a:graphic>
      </p:graphicFrame>
      <p:sp>
        <p:nvSpPr>
          <p:cNvPr id="16" name="Rectangle 15"/>
          <p:cNvSpPr/>
          <p:nvPr/>
        </p:nvSpPr>
        <p:spPr>
          <a:xfrm>
            <a:off x="324000" y="28584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584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2876400"/>
            <a:ext cx="8352000" cy="216000"/>
          </a:xfrm>
          <a:prstGeom prst="rect">
            <a:avLst/>
          </a:prstGeom>
          <a:noFill/>
        </p:spPr>
        <p:txBody>
          <a:bodyPr wrap="square">
            <a:spAutoFit/>
          </a:bodyPr>
          <a:lstStyle/>
          <a:p>
            <a:pPr algn="l"/>
            <a:r>
              <a:rPr sz="750" b="1" i="0">
                <a:solidFill>
                  <a:srgbClr val="FFFFFF"/>
                </a:solidFill>
              </a:rPr>
              <a:t>SYNTHESE SCORES  ·  Score &gt;= 75 = fort  ·  50-74 = moyen  ·  &lt; 50 = faible  ·  Ponderations : Value / Growth / Quality / Momentum = 25 % chacun</a:t>
            </a:r>
          </a:p>
        </p:txBody>
      </p:sp>
      <p:sp>
        <p:nvSpPr>
          <p:cNvPr id="19" name="TextBox 18"/>
          <p:cNvSpPr txBox="1"/>
          <p:nvPr/>
        </p:nvSpPr>
        <p:spPr>
          <a:xfrm>
            <a:off x="396000" y="3164400"/>
            <a:ext cx="8352000" cy="1260000"/>
          </a:xfrm>
          <a:prstGeom prst="rect">
            <a:avLst/>
          </a:prstGeom>
          <a:noFill/>
        </p:spPr>
        <p:txBody>
          <a:bodyPr wrap="square">
            <a:spAutoFit/>
          </a:bodyPr>
          <a:lstStyle/>
          <a:p>
            <a:pPr algn="l"/>
            <a:r>
              <a:rPr sz="850" b="0" i="0">
                <a:solidFill>
                  <a:srgbClr val="555555"/>
                </a:solidFill>
              </a:rPr>
              <a:t>Johnson &amp; Johnson presente le profil le plus equilibre du secteur (81/100) avec des scores Value=14, Growth=21, Quality=25, Momentum=20. La dispersion des scores entre les 8 societes reflete des profils heterogenes — une allocation selective privilegiant les leaders qualitatifs est recommandee dans la configuration sectorielle actuelle.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Synthese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Societes — Synthese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JNJ</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Johnson &amp; Johnson</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292</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18.2x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35.9 %</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Les avancées en biotechnologie et thérapies géniques (ex : CAR-T) stimulent les pipelines des leaders comme JNJ et MRK.</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Les changements législatifs (ex : contrôle des prix en Europe) pourraient éroder les marges des laboratoires.</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MRK</a:t>
            </a:r>
          </a:p>
        </p:txBody>
      </p:sp>
      <p:sp>
        <p:nvSpPr>
          <p:cNvPr id="45" name="Rectangle 44"/>
          <p:cNvSpPr/>
          <p:nvPr/>
        </p:nvSpPr>
        <p:spPr>
          <a:xfrm>
            <a:off x="511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BUY</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Merck &amp; Co., Inc.</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145</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EV/EBITDA</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11.5x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44.8 %</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Altman Z</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Le vieillissement de la population et l'augmentation des maladies chroniques soutiennent une demande récurrente pour les produits pharmaceutiques et dispositifs</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La perte de brevets sur des blockbusters (ex : Keytruda pour MRK) expose le secteur à une pression sur les prix.</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TMO</a:t>
            </a:r>
          </a:p>
        </p:txBody>
      </p:sp>
      <p:sp>
        <p:nvSpPr>
          <p:cNvPr id="72" name="Rectangle 71"/>
          <p:cNvSpPr/>
          <p:nvPr/>
        </p:nvSpPr>
        <p:spPr>
          <a:xfrm>
            <a:off x="799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BUY</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Thermo Fisher Scient</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590</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19.2x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25.0 %</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Les réformes favorables aux prix des médicaments aux États-Unis (ex : Inflation Reduction Act) pourraient réduire les pressions réglementaires sur les géants ph</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Les pandémies ou pénuries de matières premières (ex : crise du COVID-19) perturbent les chaînes d'approvisionnement et les coûts de production.</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societe vs médiane sectorielle (15.1x)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La distribution est bimodale — 3 acteur(s) se detachent nettement du reste du secteur, creant une prime de valorisation significative vs la médiane de 15.1x.
2 societe(s) se traitent sous la médiane — potentiellement les meilleures asymetries risque/rendement sous reserve de catalyseurs fondamentaux.
La dispersion des multiples est caracteristique d'un secteur Healthcare en phase de differentiation — les investisseurs selectifs peuvent exploiter cet ecart.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négatif + sentiment négatif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définie par la convergence de 3 signaux : décote &gt; 10 % vs DCF Base · momentum 52W négatif · sentiment FinBERT négatif.</a:t>
            </a:r>
          </a:p>
        </p:txBody>
      </p:sp>
      <p:graphicFrame>
        <p:nvGraphicFramePr>
          <p:cNvPr id="18" name="Table 17"/>
          <p:cNvGraphicFramePr>
            <a:graphicFrameLocks noGrp="1"/>
          </p:cNvGraphicFramePr>
          <p:nvPr/>
        </p:nvGraphicFramePr>
        <p:xfrm>
          <a:off x="324000" y="1260000"/>
          <a:ext cx="8495997" cy="17820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1980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198000">
                <a:tc>
                  <a:txBody>
                    <a:bodyPr/>
                    <a:lstStyle/>
                    <a:p>
                      <a:pPr algn="ctr"/>
                      <a:r>
                        <a:rPr sz="750" b="0">
                          <a:solidFill>
                            <a:srgbClr val="1A1A1A"/>
                          </a:solidFill>
                        </a:rPr>
                        <a:t>JNJ</a:t>
                      </a:r>
                    </a:p>
                  </a:txBody>
                  <a:tcPr>
                    <a:noFill/>
                  </a:tcPr>
                </a:tc>
                <a:tc>
                  <a:txBody>
                    <a:bodyPr/>
                    <a:lstStyle/>
                    <a:p>
                      <a:pPr algn="ctr"/>
                      <a:r>
                        <a:rPr sz="750" b="0">
                          <a:solidFill>
                            <a:srgbClr val="1A1A1A"/>
                          </a:solidFill>
                        </a:rPr>
                        <a:t>Johnson &amp; Johnson</a:t>
                      </a:r>
                    </a:p>
                  </a:txBody>
                  <a:tcPr>
                    <a:noFill/>
                  </a:tcPr>
                </a:tc>
                <a:tc>
                  <a:txBody>
                    <a:bodyPr/>
                    <a:lstStyle/>
                    <a:p>
                      <a:pPr algn="ctr"/>
                      <a:r>
                        <a:rPr sz="750" b="0">
                          <a:solidFill>
                            <a:srgbClr val="1A1A1A"/>
                          </a:solidFill>
                        </a:rPr>
                        <a:t>243.04</a:t>
                      </a:r>
                    </a:p>
                  </a:txBody>
                  <a:tcPr>
                    <a:noFill/>
                  </a:tcPr>
                </a:tc>
                <a:tc>
                  <a:txBody>
                    <a:bodyPr/>
                    <a:lstStyle/>
                    <a:p>
                      <a:pPr algn="ctr"/>
                      <a:r>
                        <a:rPr sz="750" b="0">
                          <a:solidFill>
                            <a:srgbClr val="1A1A1A"/>
                          </a:solidFill>
                        </a:rPr>
                        <a:t>279.5</a:t>
                      </a:r>
                    </a:p>
                  </a:txBody>
                  <a:tcPr>
                    <a:noFill/>
                  </a:tcPr>
                </a:tc>
                <a:tc>
                  <a:txBody>
                    <a:bodyPr/>
                    <a:lstStyle/>
                    <a:p>
                      <a:pPr algn="ctr"/>
                      <a:r>
                        <a:rPr sz="750" b="0">
                          <a:solidFill>
                            <a:srgbClr val="1A1A1A"/>
                          </a:solidFill>
                        </a:rPr>
                        <a:t>&lt; 230.9</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98000">
                <a:tc>
                  <a:txBody>
                    <a:bodyPr/>
                    <a:lstStyle/>
                    <a:p>
                      <a:pPr algn="ctr"/>
                      <a:r>
                        <a:rPr sz="750" b="0">
                          <a:solidFill>
                            <a:srgbClr val="1A1A1A"/>
                          </a:solidFill>
                        </a:rPr>
                        <a:t>MRK</a:t>
                      </a:r>
                    </a:p>
                  </a:txBody>
                  <a:tcPr>
                    <a:solidFill>
                      <a:srgbClr val="F5F7FA"/>
                    </a:solidFill>
                  </a:tcPr>
                </a:tc>
                <a:tc>
                  <a:txBody>
                    <a:bodyPr/>
                    <a:lstStyle/>
                    <a:p>
                      <a:pPr algn="ctr"/>
                      <a:r>
                        <a:rPr sz="750" b="0">
                          <a:solidFill>
                            <a:srgbClr val="1A1A1A"/>
                          </a:solidFill>
                        </a:rPr>
                        <a:t>Merck &amp; Co., Inc.</a:t>
                      </a:r>
                    </a:p>
                  </a:txBody>
                  <a:tcPr>
                    <a:solidFill>
                      <a:srgbClr val="F5F7FA"/>
                    </a:solidFill>
                  </a:tcPr>
                </a:tc>
                <a:tc>
                  <a:txBody>
                    <a:bodyPr/>
                    <a:lstStyle/>
                    <a:p>
                      <a:pPr algn="ctr"/>
                      <a:r>
                        <a:rPr sz="750" b="0">
                          <a:solidFill>
                            <a:srgbClr val="1A1A1A"/>
                          </a:solidFill>
                        </a:rPr>
                        <a:t>120.87</a:t>
                      </a:r>
                    </a:p>
                  </a:txBody>
                  <a:tcPr>
                    <a:solidFill>
                      <a:srgbClr val="F5F7FA"/>
                    </a:solidFill>
                  </a:tcPr>
                </a:tc>
                <a:tc>
                  <a:txBody>
                    <a:bodyPr/>
                    <a:lstStyle/>
                    <a:p>
                      <a:pPr algn="ctr"/>
                      <a:r>
                        <a:rPr sz="750" b="0">
                          <a:solidFill>
                            <a:srgbClr val="1A1A1A"/>
                          </a:solidFill>
                        </a:rPr>
                        <a:t>139.0</a:t>
                      </a:r>
                    </a:p>
                  </a:txBody>
                  <a:tcPr>
                    <a:solidFill>
                      <a:srgbClr val="F5F7FA"/>
                    </a:solidFill>
                  </a:tcPr>
                </a:tc>
                <a:tc>
                  <a:txBody>
                    <a:bodyPr/>
                    <a:lstStyle/>
                    <a:p>
                      <a:pPr algn="ctr"/>
                      <a:r>
                        <a:rPr sz="750" b="0">
                          <a:solidFill>
                            <a:srgbClr val="1A1A1A"/>
                          </a:solidFill>
                        </a:rPr>
                        <a:t>&lt; 114.8</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98000">
                <a:tc>
                  <a:txBody>
                    <a:bodyPr/>
                    <a:lstStyle/>
                    <a:p>
                      <a:pPr algn="ctr"/>
                      <a:r>
                        <a:rPr sz="750" b="0">
                          <a:solidFill>
                            <a:srgbClr val="1A1A1A"/>
                          </a:solidFill>
                        </a:rPr>
                        <a:t>TMO</a:t>
                      </a:r>
                    </a:p>
                  </a:txBody>
                  <a:tcPr>
                    <a:noFill/>
                  </a:tcPr>
                </a:tc>
                <a:tc>
                  <a:txBody>
                    <a:bodyPr/>
                    <a:lstStyle/>
                    <a:p>
                      <a:pPr algn="ctr"/>
                      <a:r>
                        <a:rPr sz="750" b="0">
                          <a:solidFill>
                            <a:srgbClr val="1A1A1A"/>
                          </a:solidFill>
                        </a:rPr>
                        <a:t>Thermo Fisher Scientific</a:t>
                      </a:r>
                    </a:p>
                  </a:txBody>
                  <a:tcPr>
                    <a:noFill/>
                  </a:tcPr>
                </a:tc>
                <a:tc>
                  <a:txBody>
                    <a:bodyPr/>
                    <a:lstStyle/>
                    <a:p>
                      <a:pPr algn="ctr"/>
                      <a:r>
                        <a:rPr sz="750" b="0">
                          <a:solidFill>
                            <a:srgbClr val="1A1A1A"/>
                          </a:solidFill>
                        </a:rPr>
                        <a:t>491.46</a:t>
                      </a:r>
                    </a:p>
                  </a:txBody>
                  <a:tcPr>
                    <a:noFill/>
                  </a:tcPr>
                </a:tc>
                <a:tc>
                  <a:txBody>
                    <a:bodyPr/>
                    <a:lstStyle/>
                    <a:p>
                      <a:pPr algn="ctr"/>
                      <a:r>
                        <a:rPr sz="750" b="0">
                          <a:solidFill>
                            <a:srgbClr val="1A1A1A"/>
                          </a:solidFill>
                        </a:rPr>
                        <a:t>565.2</a:t>
                      </a:r>
                    </a:p>
                  </a:txBody>
                  <a:tcPr>
                    <a:noFill/>
                  </a:tcPr>
                </a:tc>
                <a:tc>
                  <a:txBody>
                    <a:bodyPr/>
                    <a:lstStyle/>
                    <a:p>
                      <a:pPr algn="ctr"/>
                      <a:r>
                        <a:rPr sz="750" b="0">
                          <a:solidFill>
                            <a:srgbClr val="1A1A1A"/>
                          </a:solidFill>
                        </a:rPr>
                        <a:t>&lt; 466.9</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98000">
                <a:tc>
                  <a:txBody>
                    <a:bodyPr/>
                    <a:lstStyle/>
                    <a:p>
                      <a:pPr algn="ctr"/>
                      <a:r>
                        <a:rPr sz="750" b="0">
                          <a:solidFill>
                            <a:srgbClr val="1A1A1A"/>
                          </a:solidFill>
                        </a:rPr>
                        <a:t>PFE</a:t>
                      </a:r>
                    </a:p>
                  </a:txBody>
                  <a:tcPr>
                    <a:solidFill>
                      <a:srgbClr val="F5F7FA"/>
                    </a:solidFill>
                  </a:tcPr>
                </a:tc>
                <a:tc>
                  <a:txBody>
                    <a:bodyPr/>
                    <a:lstStyle/>
                    <a:p>
                      <a:pPr algn="ctr"/>
                      <a:r>
                        <a:rPr sz="750" b="0">
                          <a:solidFill>
                            <a:srgbClr val="1A1A1A"/>
                          </a:solidFill>
                        </a:rPr>
                        <a:t>Pfizer Inc.</a:t>
                      </a:r>
                    </a:p>
                  </a:txBody>
                  <a:tcPr>
                    <a:solidFill>
                      <a:srgbClr val="F5F7FA"/>
                    </a:solidFill>
                  </a:tcPr>
                </a:tc>
                <a:tc>
                  <a:txBody>
                    <a:bodyPr/>
                    <a:lstStyle/>
                    <a:p>
                      <a:pPr algn="ctr"/>
                      <a:r>
                        <a:rPr sz="750" b="0">
                          <a:solidFill>
                            <a:srgbClr val="1A1A1A"/>
                          </a:solidFill>
                        </a:rPr>
                        <a:t>28.32</a:t>
                      </a:r>
                    </a:p>
                  </a:txBody>
                  <a:tcPr>
                    <a:solidFill>
                      <a:srgbClr val="F5F7FA"/>
                    </a:solidFill>
                  </a:tcPr>
                </a:tc>
                <a:tc>
                  <a:txBody>
                    <a:bodyPr/>
                    <a:lstStyle/>
                    <a:p>
                      <a:pPr algn="ctr"/>
                      <a:r>
                        <a:rPr sz="750" b="0">
                          <a:solidFill>
                            <a:srgbClr val="1A1A1A"/>
                          </a:solidFill>
                        </a:rPr>
                        <a:t>32.6</a:t>
                      </a:r>
                    </a:p>
                  </a:txBody>
                  <a:tcPr>
                    <a:solidFill>
                      <a:srgbClr val="F5F7FA"/>
                    </a:solidFill>
                  </a:tcPr>
                </a:tc>
                <a:tc>
                  <a:txBody>
                    <a:bodyPr/>
                    <a:lstStyle/>
                    <a:p>
                      <a:pPr algn="ctr"/>
                      <a:r>
                        <a:rPr sz="750" b="0">
                          <a:solidFill>
                            <a:srgbClr val="1A1A1A"/>
                          </a:solidFill>
                        </a:rPr>
                        <a:t>&lt; 26.9</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98000">
                <a:tc>
                  <a:txBody>
                    <a:bodyPr/>
                    <a:lstStyle/>
                    <a:p>
                      <a:pPr algn="ctr"/>
                      <a:r>
                        <a:rPr sz="750" b="0">
                          <a:solidFill>
                            <a:srgbClr val="1A1A1A"/>
                          </a:solidFill>
                        </a:rPr>
                        <a:t>ABT</a:t>
                      </a:r>
                    </a:p>
                  </a:txBody>
                  <a:tcPr>
                    <a:noFill/>
                  </a:tcPr>
                </a:tc>
                <a:tc>
                  <a:txBody>
                    <a:bodyPr/>
                    <a:lstStyle/>
                    <a:p>
                      <a:pPr algn="ctr"/>
                      <a:r>
                        <a:rPr sz="750" b="0">
                          <a:solidFill>
                            <a:srgbClr val="1A1A1A"/>
                          </a:solidFill>
                        </a:rPr>
                        <a:t>Abbott Laboratories</a:t>
                      </a:r>
                    </a:p>
                  </a:txBody>
                  <a:tcPr>
                    <a:noFill/>
                  </a:tcPr>
                </a:tc>
                <a:tc>
                  <a:txBody>
                    <a:bodyPr/>
                    <a:lstStyle/>
                    <a:p>
                      <a:pPr algn="ctr"/>
                      <a:r>
                        <a:rPr sz="750" b="0">
                          <a:solidFill>
                            <a:srgbClr val="1A1A1A"/>
                          </a:solidFill>
                        </a:rPr>
                        <a:t>102.87</a:t>
                      </a:r>
                    </a:p>
                  </a:txBody>
                  <a:tcPr>
                    <a:noFill/>
                  </a:tcPr>
                </a:tc>
                <a:tc>
                  <a:txBody>
                    <a:bodyPr/>
                    <a:lstStyle/>
                    <a:p>
                      <a:pPr algn="ctr"/>
                      <a:r>
                        <a:rPr sz="750" b="0">
                          <a:solidFill>
                            <a:srgbClr val="1A1A1A"/>
                          </a:solidFill>
                        </a:rPr>
                        <a:t>118.3</a:t>
                      </a:r>
                    </a:p>
                  </a:txBody>
                  <a:tcPr>
                    <a:noFill/>
                  </a:tcPr>
                </a:tc>
                <a:tc>
                  <a:txBody>
                    <a:bodyPr/>
                    <a:lstStyle/>
                    <a:p>
                      <a:pPr algn="ctr"/>
                      <a:r>
                        <a:rPr sz="750" b="0">
                          <a:solidFill>
                            <a:srgbClr val="1A1A1A"/>
                          </a:solidFill>
                        </a:rPr>
                        <a:t>&lt; 97.7</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98000">
                <a:tc>
                  <a:txBody>
                    <a:bodyPr/>
                    <a:lstStyle/>
                    <a:p>
                      <a:pPr algn="ctr"/>
                      <a:r>
                        <a:rPr sz="750" b="0">
                          <a:solidFill>
                            <a:srgbClr val="1A1A1A"/>
                          </a:solidFill>
                        </a:rPr>
                        <a:t>DHR</a:t>
                      </a:r>
                    </a:p>
                  </a:txBody>
                  <a:tcPr>
                    <a:solidFill>
                      <a:srgbClr val="F5F7FA"/>
                    </a:solidFill>
                  </a:tcPr>
                </a:tc>
                <a:tc>
                  <a:txBody>
                    <a:bodyPr/>
                    <a:lstStyle/>
                    <a:p>
                      <a:pPr algn="ctr"/>
                      <a:r>
                        <a:rPr sz="750" b="0">
                          <a:solidFill>
                            <a:srgbClr val="1A1A1A"/>
                          </a:solidFill>
                        </a:rPr>
                        <a:t>Danaher Corporation</a:t>
                      </a:r>
                    </a:p>
                  </a:txBody>
                  <a:tcPr>
                    <a:solidFill>
                      <a:srgbClr val="F5F7FA"/>
                    </a:solidFill>
                  </a:tcPr>
                </a:tc>
                <a:tc>
                  <a:txBody>
                    <a:bodyPr/>
                    <a:lstStyle/>
                    <a:p>
                      <a:pPr algn="ctr"/>
                      <a:r>
                        <a:rPr sz="750" b="0">
                          <a:solidFill>
                            <a:srgbClr val="1A1A1A"/>
                          </a:solidFill>
                        </a:rPr>
                        <a:t>191.12</a:t>
                      </a:r>
                    </a:p>
                  </a:txBody>
                  <a:tcPr>
                    <a:solidFill>
                      <a:srgbClr val="F5F7FA"/>
                    </a:solidFill>
                  </a:tcPr>
                </a:tc>
                <a:tc>
                  <a:txBody>
                    <a:bodyPr/>
                    <a:lstStyle/>
                    <a:p>
                      <a:pPr algn="ctr"/>
                      <a:r>
                        <a:rPr sz="750" b="0">
                          <a:solidFill>
                            <a:srgbClr val="1A1A1A"/>
                          </a:solidFill>
                        </a:rPr>
                        <a:t>219.8</a:t>
                      </a:r>
                    </a:p>
                  </a:txBody>
                  <a:tcPr>
                    <a:solidFill>
                      <a:srgbClr val="F5F7FA"/>
                    </a:solidFill>
                  </a:tcPr>
                </a:tc>
                <a:tc>
                  <a:txBody>
                    <a:bodyPr/>
                    <a:lstStyle/>
                    <a:p>
                      <a:pPr algn="ctr"/>
                      <a:r>
                        <a:rPr sz="750" b="0">
                          <a:solidFill>
                            <a:srgbClr val="1A1A1A"/>
                          </a:solidFill>
                        </a:rPr>
                        <a:t>&lt; 181.6</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98000">
                <a:tc>
                  <a:txBody>
                    <a:bodyPr/>
                    <a:lstStyle/>
                    <a:p>
                      <a:pPr algn="ctr"/>
                      <a:r>
                        <a:rPr sz="750" b="0">
                          <a:solidFill>
                            <a:srgbClr val="1A1A1A"/>
                          </a:solidFill>
                        </a:rPr>
                        <a:t>UNH</a:t>
                      </a:r>
                    </a:p>
                  </a:txBody>
                  <a:tcPr>
                    <a:noFill/>
                  </a:tcPr>
                </a:tc>
                <a:tc>
                  <a:txBody>
                    <a:bodyPr/>
                    <a:lstStyle/>
                    <a:p>
                      <a:pPr algn="ctr"/>
                      <a:r>
                        <a:rPr sz="750" b="0">
                          <a:solidFill>
                            <a:srgbClr val="1A1A1A"/>
                          </a:solidFill>
                        </a:rPr>
                        <a:t>UnitedHealth Group Incor</a:t>
                      </a:r>
                    </a:p>
                  </a:txBody>
                  <a:tcPr>
                    <a:noFill/>
                  </a:tcPr>
                </a:tc>
                <a:tc>
                  <a:txBody>
                    <a:bodyPr/>
                    <a:lstStyle/>
                    <a:p>
                      <a:pPr algn="ctr"/>
                      <a:r>
                        <a:rPr sz="750" b="0">
                          <a:solidFill>
                            <a:srgbClr val="1A1A1A"/>
                          </a:solidFill>
                        </a:rPr>
                        <a:t>277.26</a:t>
                      </a:r>
                    </a:p>
                  </a:txBody>
                  <a:tcPr>
                    <a:noFill/>
                  </a:tcPr>
                </a:tc>
                <a:tc>
                  <a:txBody>
                    <a:bodyPr/>
                    <a:lstStyle/>
                    <a:p>
                      <a:pPr algn="ctr"/>
                      <a:r>
                        <a:rPr sz="750" b="0">
                          <a:solidFill>
                            <a:srgbClr val="1A1A1A"/>
                          </a:solidFill>
                        </a:rPr>
                        <a:t>318.8</a:t>
                      </a:r>
                    </a:p>
                  </a:txBody>
                  <a:tcPr>
                    <a:noFill/>
                  </a:tcPr>
                </a:tc>
                <a:tc>
                  <a:txBody>
                    <a:bodyPr/>
                    <a:lstStyle/>
                    <a:p>
                      <a:pPr algn="ctr"/>
                      <a:r>
                        <a:rPr sz="750" b="0">
                          <a:solidFill>
                            <a:srgbClr val="1A1A1A"/>
                          </a:solidFill>
                        </a:rPr>
                        <a:t>&lt; 263.4</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98000">
                <a:tc>
                  <a:txBody>
                    <a:bodyPr/>
                    <a:lstStyle/>
                    <a:p>
                      <a:pPr algn="ctr"/>
                      <a:r>
                        <a:rPr sz="750" b="0">
                          <a:solidFill>
                            <a:srgbClr val="1A1A1A"/>
                          </a:solidFill>
                        </a:rPr>
                        <a:t>ABBV</a:t>
                      </a:r>
                    </a:p>
                  </a:txBody>
                  <a:tcPr>
                    <a:solidFill>
                      <a:srgbClr val="F5F7FA"/>
                    </a:solidFill>
                  </a:tcPr>
                </a:tc>
                <a:tc>
                  <a:txBody>
                    <a:bodyPr/>
                    <a:lstStyle/>
                    <a:p>
                      <a:pPr algn="ctr"/>
                      <a:r>
                        <a:rPr sz="750" b="0">
                          <a:solidFill>
                            <a:srgbClr val="1A1A1A"/>
                          </a:solidFill>
                        </a:rPr>
                        <a:t>AbbVie Inc.</a:t>
                      </a:r>
                    </a:p>
                  </a:txBody>
                  <a:tcPr>
                    <a:solidFill>
                      <a:srgbClr val="F5F7FA"/>
                    </a:solidFill>
                  </a:tcPr>
                </a:tc>
                <a:tc>
                  <a:txBody>
                    <a:bodyPr/>
                    <a:lstStyle/>
                    <a:p>
                      <a:pPr algn="ctr"/>
                      <a:r>
                        <a:rPr sz="750" b="0">
                          <a:solidFill>
                            <a:srgbClr val="1A1A1A"/>
                          </a:solidFill>
                        </a:rPr>
                        <a:t>208.84</a:t>
                      </a:r>
                    </a:p>
                  </a:txBody>
                  <a:tcPr>
                    <a:solidFill>
                      <a:srgbClr val="F5F7FA"/>
                    </a:solidFill>
                  </a:tcPr>
                </a:tc>
                <a:tc>
                  <a:txBody>
                    <a:bodyPr/>
                    <a:lstStyle/>
                    <a:p>
                      <a:pPr algn="ctr"/>
                      <a:r>
                        <a:rPr sz="750" b="0">
                          <a:solidFill>
                            <a:srgbClr val="1A1A1A"/>
                          </a:solidFill>
                        </a:rPr>
                        <a:t>240.2</a:t>
                      </a:r>
                    </a:p>
                  </a:txBody>
                  <a:tcPr>
                    <a:solidFill>
                      <a:srgbClr val="F5F7FA"/>
                    </a:solidFill>
                  </a:tcPr>
                </a:tc>
                <a:tc>
                  <a:txBody>
                    <a:bodyPr/>
                    <a:lstStyle/>
                    <a:p>
                      <a:pPr algn="ctr"/>
                      <a:r>
                        <a:rPr sz="750" b="0">
                          <a:solidFill>
                            <a:srgbClr val="1A1A1A"/>
                          </a:solidFill>
                        </a:rPr>
                        <a:t>&lt; 198.4</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bl>
          </a:graphicData>
        </a:graphic>
      </p:graphicFrame>
      <p:sp>
        <p:nvSpPr>
          <p:cNvPr id="19" name="Rectangle 18"/>
          <p:cNvSpPr/>
          <p:nvPr/>
        </p:nvSpPr>
        <p:spPr>
          <a:xfrm>
            <a:off x="324000" y="3150000"/>
            <a:ext cx="8496000" cy="1260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3150000"/>
            <a:ext cx="36000" cy="126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3178800"/>
            <a:ext cx="8316000" cy="180000"/>
          </a:xfrm>
          <a:prstGeom prst="rect">
            <a:avLst/>
          </a:prstGeom>
          <a:noFill/>
        </p:spPr>
        <p:txBody>
          <a:bodyPr wrap="square">
            <a:spAutoFit/>
          </a:bodyPr>
          <a:lstStyle/>
          <a:p>
            <a:pPr algn="l"/>
            <a:r>
              <a:rPr sz="800" b="1" i="0">
                <a:solidFill>
                  <a:srgbClr val="B06000"/>
                </a:solidFill>
              </a:rPr>
              <a:t>NOTE METHODOLOGIQUE</a:t>
            </a:r>
          </a:p>
        </p:txBody>
      </p:sp>
      <p:sp>
        <p:nvSpPr>
          <p:cNvPr id="22" name="TextBox 21"/>
          <p:cNvSpPr txBox="1"/>
          <p:nvPr/>
        </p:nvSpPr>
        <p:spPr>
          <a:xfrm>
            <a:off x="468000" y="3366000"/>
            <a:ext cx="8316000" cy="1026000"/>
          </a:xfrm>
          <a:prstGeom prst="rect">
            <a:avLst/>
          </a:prstGeom>
          <a:noFill/>
        </p:spPr>
        <p:txBody>
          <a:bodyPr wrap="square">
            <a:spAutoFit/>
          </a:bodyPr>
          <a:lstStyle/>
          <a:p>
            <a:pPr algn="l"/>
            <a:r>
              <a:rPr sz="750" b="0" i="0">
                <a:solidFill>
                  <a:srgbClr val="555555"/>
                </a:solidFill>
              </a:rPr>
              <a:t>La probabilite de rendement positif a 12 mois est calculee sur des configurations similaires identifiees en backtesting sur donnees historiques (2010-2024). Elle ne constitue pas une garantie de performance future.</a:t>
            </a:r>
          </a:p>
        </p:txBody>
      </p:sp>
      <p:sp>
        <p:nvSpPr>
          <p:cNvPr id="23" name="Rectangle 22"/>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Thèse contraire  ·  Protocole Avocat du Diable</a:t>
            </a:r>
          </a:p>
        </p:txBody>
      </p:sp>
      <p:sp>
        <p:nvSpPr>
          <p:cNvPr id="15" name="Rectangle 14"/>
          <p:cNvSpPr/>
          <p:nvPr/>
        </p:nvSpPr>
        <p:spPr>
          <a:xfrm>
            <a:off x="324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Réglementation</a:t>
            </a:r>
          </a:p>
        </p:txBody>
      </p:sp>
      <p:sp>
        <p:nvSpPr>
          <p:cNvPr id="18" name="TextBox 17"/>
          <p:cNvSpPr txBox="1"/>
          <p:nvPr/>
        </p:nvSpPr>
        <p:spPr>
          <a:xfrm>
            <a:off x="396000" y="1188000"/>
            <a:ext cx="2520000" cy="792000"/>
          </a:xfrm>
          <a:prstGeom prst="rect">
            <a:avLst/>
          </a:prstGeom>
          <a:noFill/>
        </p:spPr>
        <p:txBody>
          <a:bodyPr wrap="square">
            <a:spAutoFit/>
          </a:bodyPr>
          <a:lstStyle/>
          <a:p>
            <a:pPr algn="l"/>
            <a:r>
              <a:rPr sz="850" b="0" i="0">
                <a:solidFill>
                  <a:srgbClr val="555555"/>
                </a:solidFill>
              </a:rPr>
              <a:t>Les changements législatifs (ex : contrôle des prix en Europe) pourraient éroder les marges des laboratoires.</a:t>
            </a:r>
          </a:p>
        </p:txBody>
      </p:sp>
      <p:sp>
        <p:nvSpPr>
          <p:cNvPr id="19" name="Rectangle 18"/>
          <p:cNvSpPr/>
          <p:nvPr/>
        </p:nvSpPr>
        <p:spPr>
          <a:xfrm>
            <a:off x="3240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Concurrence des génériques</a:t>
            </a:r>
          </a:p>
        </p:txBody>
      </p:sp>
      <p:sp>
        <p:nvSpPr>
          <p:cNvPr id="22" name="TextBox 21"/>
          <p:cNvSpPr txBox="1"/>
          <p:nvPr/>
        </p:nvSpPr>
        <p:spPr>
          <a:xfrm>
            <a:off x="3311999" y="1188000"/>
            <a:ext cx="2520000" cy="792000"/>
          </a:xfrm>
          <a:prstGeom prst="rect">
            <a:avLst/>
          </a:prstGeom>
          <a:noFill/>
        </p:spPr>
        <p:txBody>
          <a:bodyPr wrap="square">
            <a:spAutoFit/>
          </a:bodyPr>
          <a:lstStyle/>
          <a:p>
            <a:pPr algn="l"/>
            <a:r>
              <a:rPr sz="850" b="0" i="0">
                <a:solidFill>
                  <a:srgbClr val="555555"/>
                </a:solidFill>
              </a:rPr>
              <a:t>La perte de brevets sur des blockbusters (ex : Keytruda pour MRK) expose le secteur à une pression sur les prix.</a:t>
            </a:r>
          </a:p>
        </p:txBody>
      </p:sp>
      <p:sp>
        <p:nvSpPr>
          <p:cNvPr id="23" name="Rectangle 22"/>
          <p:cNvSpPr/>
          <p:nvPr/>
        </p:nvSpPr>
        <p:spPr>
          <a:xfrm>
            <a:off x="6155999"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Crises sanitaires</a:t>
            </a:r>
          </a:p>
        </p:txBody>
      </p:sp>
      <p:sp>
        <p:nvSpPr>
          <p:cNvPr id="26" name="TextBox 25"/>
          <p:cNvSpPr txBox="1"/>
          <p:nvPr/>
        </p:nvSpPr>
        <p:spPr>
          <a:xfrm>
            <a:off x="6227999" y="1188000"/>
            <a:ext cx="2520000" cy="792000"/>
          </a:xfrm>
          <a:prstGeom prst="rect">
            <a:avLst/>
          </a:prstGeom>
          <a:noFill/>
        </p:spPr>
        <p:txBody>
          <a:bodyPr wrap="square">
            <a:spAutoFit/>
          </a:bodyPr>
          <a:lstStyle/>
          <a:p>
            <a:pPr algn="l"/>
            <a:r>
              <a:rPr sz="850" b="0" i="0">
                <a:solidFill>
                  <a:srgbClr val="555555"/>
                </a:solidFill>
              </a:rPr>
              <a:t>Les pandémies ou pénuries de matières premières (ex : crise du COVID-19) perturbent les chaînes d'approvisionnement et les coûts de production.</a:t>
            </a:r>
          </a:p>
        </p:txBody>
      </p:sp>
      <p:sp>
        <p:nvSpPr>
          <p:cNvPr id="27" name="TextBox 26"/>
          <p:cNvSpPr txBox="1"/>
          <p:nvPr/>
        </p:nvSpPr>
        <p:spPr>
          <a:xfrm>
            <a:off x="324000" y="2196000"/>
            <a:ext cx="8496000" cy="216000"/>
          </a:xfrm>
          <a:prstGeom prst="rect">
            <a:avLst/>
          </a:prstGeom>
          <a:noFill/>
        </p:spPr>
        <p:txBody>
          <a:bodyPr wrap="square">
            <a:spAutoFit/>
          </a:bodyPr>
          <a:lstStyle/>
          <a:p>
            <a:pPr algn="l"/>
            <a:r>
              <a:rPr sz="900" b="1" i="0">
                <a:solidFill>
                  <a:srgbClr val="1B3A6B"/>
                </a:solidFill>
              </a:rPr>
              <a:t>Conditions d'invalidation de la thèse</a:t>
            </a:r>
          </a:p>
        </p:txBody>
      </p:sp>
      <p:graphicFrame>
        <p:nvGraphicFramePr>
          <p:cNvPr id="28" name="Table 27"/>
          <p:cNvGraphicFramePr>
            <a:graphicFrameLocks noGrp="1"/>
          </p:cNvGraphicFramePr>
          <p:nvPr/>
        </p:nvGraphicFramePr>
        <p:xfrm>
          <a:off x="324000" y="2448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Macro</a:t>
                      </a:r>
                    </a:p>
                  </a:txBody>
                  <a:tcPr>
                    <a:noFill/>
                  </a:tcPr>
                </a:tc>
                <a:tc>
                  <a:txBody>
                    <a:bodyPr/>
                    <a:lstStyle/>
                    <a:p>
                      <a:pPr algn="ctr"/>
                      <a:r>
                        <a:rPr sz="800" b="0">
                          <a:solidFill>
                            <a:srgbClr val="1A1A1A"/>
                          </a:solidFill>
                        </a:rPr>
                        <a:t>Recession confirmee — 2 trimestres négatifs</a:t>
                      </a:r>
                    </a:p>
                  </a:txBody>
                  <a:tcPr>
                    <a:noFill/>
                  </a:tcPr>
                </a:tc>
                <a:tc>
                  <a:txBody>
                    <a:bodyPr/>
                    <a:lstStyle/>
                    <a:p>
                      <a:pPr algn="ctr"/>
                      <a:r>
                        <a:rPr sz="800" b="0">
                          <a:solidFill>
                            <a:srgbClr val="1A1A1A"/>
                          </a:solidFill>
                        </a:rPr>
                        <a:t>6-9 mois</a:t>
                      </a:r>
                    </a:p>
                  </a:txBody>
                  <a:tcPr>
                    <a:noFill/>
                  </a:tcPr>
                </a:tc>
              </a:tr>
              <a:tr h="223200">
                <a:tc>
                  <a:txBody>
                    <a:bodyPr/>
                    <a:lstStyle/>
                    <a:p>
                      <a:pPr algn="ctr"/>
                      <a:r>
                        <a:rPr sz="800" b="0">
                          <a:solidFill>
                            <a:srgbClr val="1A1A1A"/>
                          </a:solidFill>
                        </a:rPr>
                        <a:t>Sectoriel</a:t>
                      </a:r>
                    </a:p>
                  </a:txBody>
                  <a:tcPr>
                    <a:solidFill>
                      <a:srgbClr val="F5F7FA"/>
                    </a:solidFill>
                  </a:tcPr>
                </a:tc>
                <a:tc>
                  <a:txBody>
                    <a:bodyPr/>
                    <a:lstStyle/>
                    <a:p>
                      <a:pPr algn="ctr"/>
                      <a:r>
                        <a:rPr sz="800" b="0">
                          <a:solidFill>
                            <a:srgbClr val="1A1A1A"/>
                          </a:solidFill>
                        </a:rPr>
                        <a:t>Score moyen &lt; 49 — degradation generalisee</a:t>
                      </a:r>
                    </a:p>
                  </a:txBody>
                  <a:tcPr>
                    <a:solidFill>
                      <a:srgbClr val="F5F7FA"/>
                    </a:solidFill>
                  </a:tcPr>
                </a:tc>
                <a:tc>
                  <a:txBody>
                    <a:bodyPr/>
                    <a:lstStyle/>
                    <a:p>
                      <a:pPr algn="ctr"/>
                      <a:r>
                        <a:rPr sz="800" b="0">
                          <a:solidFill>
                            <a:srgbClr val="1A1A1A"/>
                          </a:solidFill>
                        </a:rPr>
                        <a:t>6-12 mois</a:t>
                      </a:r>
                    </a:p>
                  </a:txBody>
                  <a:tcPr>
                    <a:solidFill>
                      <a:srgbClr val="F5F7FA"/>
                    </a:solidFill>
                  </a:tcPr>
                </a:tc>
              </a:tr>
              <a:tr h="223200">
                <a:tc>
                  <a:txBody>
                    <a:bodyPr/>
                    <a:lstStyle/>
                    <a:p>
                      <a:pPr algn="ctr"/>
                      <a:r>
                        <a:rPr sz="800" b="0">
                          <a:solidFill>
                            <a:srgbClr val="1A1A1A"/>
                          </a:solidFill>
                        </a:rPr>
                        <a:t>Fondamental</a:t>
                      </a:r>
                    </a:p>
                  </a:txBody>
                  <a:tcPr>
                    <a:noFill/>
                  </a:tcPr>
                </a:tc>
                <a:tc>
                  <a:txBody>
                    <a:bodyPr/>
                    <a:lstStyle/>
                    <a:p>
                      <a:pPr algn="ctr"/>
                      <a:r>
                        <a:rPr sz="800" b="0">
                          <a:solidFill>
                            <a:srgbClr val="1A1A1A"/>
                          </a:solidFill>
                        </a:rPr>
                        <a:t>Revision baissiere EPS &gt; 15 %</a:t>
                      </a:r>
                    </a:p>
                  </a:txBody>
                  <a:tcPr>
                    <a:noFill/>
                  </a:tcPr>
                </a:tc>
                <a:tc>
                  <a:txBody>
                    <a:bodyPr/>
                    <a:lstStyle/>
                    <a:p>
                      <a:pPr algn="ctr"/>
                      <a:r>
                        <a:rPr sz="800" b="0">
                          <a:solidFill>
                            <a:srgbClr val="1A1A1A"/>
                          </a:solidFill>
                        </a:rPr>
                        <a:t>3-6 mois</a:t>
                      </a:r>
                    </a:p>
                  </a:txBody>
                  <a:tcPr>
                    <a:noFill/>
                  </a:tcPr>
                </a:tc>
              </a:tr>
              <a:tr h="223200">
                <a:tc>
                  <a:txBody>
                    <a:bodyPr/>
                    <a:lstStyle/>
                    <a:p>
                      <a:pPr algn="ctr"/>
                      <a:r>
                        <a:rPr sz="800" b="0">
                          <a:solidFill>
                            <a:srgbClr val="1A1A1A"/>
                          </a:solidFill>
                        </a:rPr>
                        <a:t>Reglementaire</a:t>
                      </a:r>
                    </a:p>
                  </a:txBody>
                  <a:tcPr>
                    <a:solidFill>
                      <a:srgbClr val="F5F7FA"/>
                    </a:solidFill>
                  </a:tcPr>
                </a:tc>
                <a:tc>
                  <a:txBody>
                    <a:bodyPr/>
                    <a:lstStyle/>
                    <a:p>
                      <a:pPr algn="ctr"/>
                      <a:r>
                        <a:rPr sz="800" b="0">
                          <a:solidFill>
                            <a:srgbClr val="1A1A1A"/>
                          </a:solidFill>
                        </a:rPr>
                        <a:t>Mesures restrictives majeures</a:t>
                      </a:r>
                    </a:p>
                  </a:txBody>
                  <a:tcPr>
                    <a:solidFill>
                      <a:srgbClr val="F5F7FA"/>
                    </a:solidFill>
                  </a:tcPr>
                </a:tc>
                <a:tc>
                  <a:txBody>
                    <a:bodyPr/>
                    <a:lstStyle/>
                    <a:p>
                      <a:pPr algn="ctr"/>
                      <a:r>
                        <a:rPr sz="800" b="0">
                          <a:solidFill>
                            <a:srgbClr val="1A1A1A"/>
                          </a:solidFill>
                        </a:rPr>
                        <a:t>Variable</a:t>
                      </a:r>
                    </a:p>
                  </a:txBody>
                  <a:tcPr>
                    <a:solidFill>
                      <a:srgbClr val="F5F7FA"/>
                    </a:solidFill>
                  </a:tcPr>
                </a:tc>
              </a:tr>
            </a:tbl>
          </a:graphicData>
        </a:graphic>
      </p:graphicFrame>
      <p:sp>
        <p:nvSpPr>
          <p:cNvPr id="29" name="TextBox 28"/>
          <p:cNvSpPr txBox="1"/>
          <p:nvPr/>
        </p:nvSpPr>
        <p:spPr>
          <a:xfrm>
            <a:off x="324000" y="3780000"/>
            <a:ext cx="8496000" cy="198000"/>
          </a:xfrm>
          <a:prstGeom prst="rect">
            <a:avLst/>
          </a:prstGeom>
          <a:noFill/>
        </p:spPr>
        <p:txBody>
          <a:bodyPr wrap="square">
            <a:spAutoFit/>
          </a:bodyPr>
          <a:lstStyle/>
          <a:p>
            <a:pPr algn="l"/>
            <a:r>
              <a:rPr sz="850" b="1" i="0">
                <a:solidFill>
                  <a:srgbClr val="1B3A6B"/>
                </a:solidFill>
              </a:rPr>
              <a:t>Sante financiere agregee du secteur</a:t>
            </a:r>
          </a:p>
        </p:txBody>
      </p:sp>
      <p:sp>
        <p:nvSpPr>
          <p:cNvPr id="30" name="Rectangle 29"/>
          <p:cNvSpPr/>
          <p:nvPr/>
        </p:nvSpPr>
        <p:spPr>
          <a:xfrm>
            <a:off x="324000" y="3996000"/>
            <a:ext cx="2664000" cy="5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3996000"/>
            <a:ext cx="36000" cy="558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4014000"/>
            <a:ext cx="2538000" cy="270000"/>
          </a:xfrm>
          <a:prstGeom prst="rect">
            <a:avLst/>
          </a:prstGeom>
          <a:noFill/>
        </p:spPr>
        <p:txBody>
          <a:bodyPr wrap="square">
            <a:spAutoFit/>
          </a:bodyPr>
          <a:lstStyle/>
          <a:p>
            <a:pPr algn="l"/>
            <a:r>
              <a:rPr sz="1800" b="1" i="0">
                <a:solidFill>
                  <a:srgbClr val="1B3A6B"/>
                </a:solidFill>
              </a:rPr>
              <a:t>N/D</a:t>
            </a:r>
          </a:p>
        </p:txBody>
      </p:sp>
      <p:sp>
        <p:nvSpPr>
          <p:cNvPr id="33" name="TextBox 32"/>
          <p:cNvSpPr txBox="1"/>
          <p:nvPr/>
        </p:nvSpPr>
        <p:spPr>
          <a:xfrm>
            <a:off x="413999" y="4284000"/>
            <a:ext cx="2538000" cy="144000"/>
          </a:xfrm>
          <a:prstGeom prst="rect">
            <a:avLst/>
          </a:prstGeom>
          <a:noFill/>
        </p:spPr>
        <p:txBody>
          <a:bodyPr wrap="square">
            <a:spAutoFit/>
          </a:bodyPr>
          <a:lstStyle/>
          <a:p>
            <a:pPr algn="l"/>
            <a:r>
              <a:rPr sz="750" b="0" i="0">
                <a:solidFill>
                  <a:srgbClr val="555555"/>
                </a:solidFill>
              </a:rPr>
              <a:t>ND/EBITDA median</a:t>
            </a:r>
          </a:p>
        </p:txBody>
      </p:sp>
      <p:sp>
        <p:nvSpPr>
          <p:cNvPr id="34" name="TextBox 33"/>
          <p:cNvSpPr txBox="1"/>
          <p:nvPr/>
        </p:nvSpPr>
        <p:spPr>
          <a:xfrm>
            <a:off x="413999" y="4428000"/>
            <a:ext cx="2538000" cy="125999"/>
          </a:xfrm>
          <a:prstGeom prst="rect">
            <a:avLst/>
          </a:prstGeom>
          <a:noFill/>
        </p:spPr>
        <p:txBody>
          <a:bodyPr wrap="square">
            <a:spAutoFit/>
          </a:bodyPr>
          <a:lstStyle/>
          <a:p>
            <a:pPr algn="l"/>
            <a:r>
              <a:rPr sz="700" b="0" i="0">
                <a:solidFill>
                  <a:srgbClr val="AAAAAA"/>
                </a:solidFill>
              </a:rPr>
              <a:t>levier sectoriel</a:t>
            </a:r>
          </a:p>
        </p:txBody>
      </p:sp>
      <p:sp>
        <p:nvSpPr>
          <p:cNvPr id="35" name="Rectangle 34"/>
          <p:cNvSpPr/>
          <p:nvPr/>
        </p:nvSpPr>
        <p:spPr>
          <a:xfrm>
            <a:off x="3276000" y="3996000"/>
            <a:ext cx="2664000" cy="5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76000" y="3996000"/>
            <a:ext cx="36000" cy="558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66000" y="4014000"/>
            <a:ext cx="2538000" cy="270000"/>
          </a:xfrm>
          <a:prstGeom prst="rect">
            <a:avLst/>
          </a:prstGeom>
          <a:noFill/>
        </p:spPr>
        <p:txBody>
          <a:bodyPr wrap="square">
            <a:spAutoFit/>
          </a:bodyPr>
          <a:lstStyle/>
          <a:p>
            <a:pPr algn="l"/>
            <a:r>
              <a:rPr sz="1800" b="1" i="0">
                <a:solidFill>
                  <a:srgbClr val="1B3A6B"/>
                </a:solidFill>
              </a:rPr>
              <a:t>3.8%</a:t>
            </a:r>
          </a:p>
        </p:txBody>
      </p:sp>
      <p:sp>
        <p:nvSpPr>
          <p:cNvPr id="38" name="TextBox 37"/>
          <p:cNvSpPr txBox="1"/>
          <p:nvPr/>
        </p:nvSpPr>
        <p:spPr>
          <a:xfrm>
            <a:off x="3366000" y="4284000"/>
            <a:ext cx="2538000" cy="144000"/>
          </a:xfrm>
          <a:prstGeom prst="rect">
            <a:avLst/>
          </a:prstGeom>
          <a:noFill/>
        </p:spPr>
        <p:txBody>
          <a:bodyPr wrap="square">
            <a:spAutoFit/>
          </a:bodyPr>
          <a:lstStyle/>
          <a:p>
            <a:pPr algn="l"/>
            <a:r>
              <a:rPr sz="750" b="0" i="0">
                <a:solidFill>
                  <a:srgbClr val="555555"/>
                </a:solidFill>
              </a:rPr>
              <a:t>FCF Yield median</a:t>
            </a:r>
          </a:p>
        </p:txBody>
      </p:sp>
      <p:sp>
        <p:nvSpPr>
          <p:cNvPr id="39" name="TextBox 38"/>
          <p:cNvSpPr txBox="1"/>
          <p:nvPr/>
        </p:nvSpPr>
        <p:spPr>
          <a:xfrm>
            <a:off x="3366000" y="4428000"/>
            <a:ext cx="2538000" cy="125999"/>
          </a:xfrm>
          <a:prstGeom prst="rect">
            <a:avLst/>
          </a:prstGeom>
          <a:noFill/>
        </p:spPr>
        <p:txBody>
          <a:bodyPr wrap="square">
            <a:spAutoFit/>
          </a:bodyPr>
          <a:lstStyle/>
          <a:p>
            <a:pPr algn="l"/>
            <a:r>
              <a:rPr sz="700" b="0" i="0">
                <a:solidFill>
                  <a:srgbClr val="AAAAAA"/>
                </a:solidFill>
              </a:rPr>
              <a:t>generation cash</a:t>
            </a:r>
          </a:p>
        </p:txBody>
      </p:sp>
      <p:sp>
        <p:nvSpPr>
          <p:cNvPr id="40" name="Rectangle 39"/>
          <p:cNvSpPr/>
          <p:nvPr/>
        </p:nvSpPr>
        <p:spPr>
          <a:xfrm>
            <a:off x="6228000" y="3996000"/>
            <a:ext cx="2664000" cy="5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28000" y="3996000"/>
            <a:ext cx="36000" cy="55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18000" y="4014000"/>
            <a:ext cx="2538000" cy="270000"/>
          </a:xfrm>
          <a:prstGeom prst="rect">
            <a:avLst/>
          </a:prstGeom>
          <a:noFill/>
        </p:spPr>
        <p:txBody>
          <a:bodyPr wrap="square">
            <a:spAutoFit/>
          </a:bodyPr>
          <a:lstStyle/>
          <a:p>
            <a:pPr algn="l"/>
            <a:r>
              <a:rPr sz="1800" b="1" i="0">
                <a:solidFill>
                  <a:srgbClr val="1B3A6B"/>
                </a:solidFill>
              </a:rPr>
              <a:t>60/100</a:t>
            </a:r>
          </a:p>
        </p:txBody>
      </p:sp>
      <p:sp>
        <p:nvSpPr>
          <p:cNvPr id="43" name="TextBox 42"/>
          <p:cNvSpPr txBox="1"/>
          <p:nvPr/>
        </p:nvSpPr>
        <p:spPr>
          <a:xfrm>
            <a:off x="6318000" y="4284000"/>
            <a:ext cx="2538000" cy="144000"/>
          </a:xfrm>
          <a:prstGeom prst="rect">
            <a:avLst/>
          </a:prstGeom>
          <a:noFill/>
        </p:spPr>
        <p:txBody>
          <a:bodyPr wrap="square">
            <a:spAutoFit/>
          </a:bodyPr>
          <a:lstStyle/>
          <a:p>
            <a:pPr algn="l"/>
            <a:r>
              <a:rPr sz="750" b="0" i="0">
                <a:solidFill>
                  <a:srgbClr val="555555"/>
                </a:solidFill>
              </a:rPr>
              <a:t>Score sante moyen</a:t>
            </a:r>
          </a:p>
        </p:txBody>
      </p:sp>
      <p:sp>
        <p:nvSpPr>
          <p:cNvPr id="44" name="TextBox 43"/>
          <p:cNvSpPr txBox="1"/>
          <p:nvPr/>
        </p:nvSpPr>
        <p:spPr>
          <a:xfrm>
            <a:off x="6318000" y="4428000"/>
            <a:ext cx="2538000" cy="125999"/>
          </a:xfrm>
          <a:prstGeom prst="rect">
            <a:avLst/>
          </a:prstGeom>
          <a:noFill/>
        </p:spPr>
        <p:txBody>
          <a:bodyPr wrap="square">
            <a:spAutoFit/>
          </a:bodyPr>
          <a:lstStyle/>
          <a:p>
            <a:pPr algn="l"/>
            <a:r>
              <a:rPr sz="700" b="0" i="0">
                <a:solidFill>
                  <a:srgbClr val="AAAAAA"/>
                </a:solidFill>
              </a:rPr>
              <a:t>solidite bilans</a:t>
            </a:r>
          </a:p>
        </p:txBody>
      </p:sp>
      <p:sp>
        <p:nvSpPr>
          <p:cNvPr id="45" name="Rectangle 4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Marché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Articles récents  ·  8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0.00</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a:t>
            </a:r>
          </a:p>
        </p:txBody>
      </p:sp>
      <p:sp>
        <p:nvSpPr>
          <p:cNvPr id="20" name="Rectangle 19"/>
          <p:cNvSpPr/>
          <p:nvPr/>
        </p:nvSpPr>
        <p:spPr>
          <a:xfrm>
            <a:off x="2412000" y="900000"/>
            <a:ext cx="900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2 articles (25 %)</a:t>
            </a:r>
          </a:p>
        </p:txBody>
      </p:sp>
      <p:sp>
        <p:nvSpPr>
          <p:cNvPr id="23" name="Rectangle 22"/>
          <p:cNvSpPr/>
          <p:nvPr/>
        </p:nvSpPr>
        <p:spPr>
          <a:xfrm>
            <a:off x="2412000" y="1224000"/>
            <a:ext cx="1800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4 articles (50 %)</a:t>
            </a:r>
          </a:p>
        </p:txBody>
      </p:sp>
      <p:sp>
        <p:nvSpPr>
          <p:cNvPr id="26" name="Rectangle 25"/>
          <p:cNvSpPr/>
          <p:nvPr/>
        </p:nvSpPr>
        <p:spPr>
          <a:xfrm>
            <a:off x="2412000" y="1548000"/>
            <a:ext cx="900000"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Négatif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2 articles (25 %)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Thèmes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Innovation thérapeutique — Les avancées en biotechnologie et thérapies géniques (ex : CAR-T) stimulent les pipelines des leaders comme JNJ et MRK.</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Réglementation — Les changements législatifs (ex : contrôle des prix en Europe) pourraient éroder les marges des laboratoires.</a:t>
            </a:r>
          </a:p>
        </p:txBody>
      </p:sp>
      <p:sp>
        <p:nvSpPr>
          <p:cNvPr id="36" name="Rectangle 35"/>
          <p:cNvSpPr/>
          <p:nvPr/>
        </p:nvSpPr>
        <p:spPr>
          <a:xfrm>
            <a:off x="324000" y="2664000"/>
            <a:ext cx="8496000" cy="19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1620000"/>
          </a:xfrm>
          <a:prstGeom prst="rect">
            <a:avLst/>
          </a:prstGeom>
          <a:noFill/>
        </p:spPr>
        <p:txBody>
          <a:bodyPr wrap="square">
            <a:spAutoFit/>
          </a:bodyPr>
          <a:lstStyle/>
          <a:p>
            <a:pPr algn="l"/>
            <a:r>
              <a:rPr sz="850" b="0" i="0">
                <a:solidFill>
                  <a:srgbClr val="555555"/>
                </a:solidFill>
              </a:rPr>
              <a:t>Le sentiment agrégé FinBERT sur le secteur Healthcare (S&amp;P 500) ressort neutre (0.00), avec 25% d'articles a tonalité positive sur 8 analysés. La dispersion inter-valeurs est prononcée : JNJ (+0.00) porte la composante haussière tandis que DHR (+0.00) reflète les pressions structurelles. Cette hétérogénéité valide une approche sélective plutôt que directionnelle sur le secteur — le sentiment moyen masque des situations fondamentalement différentes entre leaders et retardataires. La composante thématique (catalyseurs vs risques) suggère que les flux narratifs restent équilibrés, reflétant une phase de transition sectorielle. Le suivi du ratio Positif/Négatif dans les prochaines semaines constitue un indicateur avancé pour anticiper les rotations sectorielles.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Sources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complete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collectées</a:t>
                      </a:r>
                    </a:p>
                  </a:txBody>
                  <a:tcPr>
                    <a:solidFill>
                      <a:srgbClr val="1B3A6B"/>
                    </a:solidFill>
                  </a:tcPr>
                </a:tc>
                <a:tc>
                  <a:txBody>
                    <a:bodyPr/>
                    <a:lstStyle/>
                    <a:p>
                      <a:pPr algn="ctr"/>
                      <a:r>
                        <a:rPr sz="800" b="1">
                          <a:solidFill>
                            <a:srgbClr val="FFFFFF"/>
                          </a:solidFill>
                        </a:rPr>
                        <a:t>Fréquence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états financiers LTM</a:t>
                      </a:r>
                    </a:p>
                  </a:txBody>
                  <a:tcPr>
                    <a:noFill/>
                  </a:tcPr>
                </a:tc>
                <a:tc>
                  <a:txBody>
                    <a:bodyPr/>
                    <a:lstStyle/>
                    <a:p>
                      <a:pPr algn="ctr"/>
                      <a:r>
                        <a:rPr sz="750" b="0">
                          <a:solidFill>
                            <a:srgbClr val="1A1A1A"/>
                          </a:solidFill>
                        </a:rPr>
                        <a:t>Temps réel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calculés, scoring multifactoriel</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Thèse contraire, conviction delta</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cohérence, flags erreur</a:t>
                      </a:r>
                    </a:p>
                  </a:txBody>
                  <a:tcPr>
                    <a:solidFill>
                      <a:srgbClr val="F5F7FA"/>
                    </a:solidFill>
                  </a:tcPr>
                </a:tc>
                <a:tc>
                  <a:txBody>
                    <a:bodyPr/>
                    <a:lstStyle/>
                    <a:p>
                      <a:pPr algn="ctr"/>
                      <a:r>
                        <a:rPr sz="750" b="0">
                          <a:solidFill>
                            <a:srgbClr val="1A1A1A"/>
                          </a:solidFill>
                        </a:rPr>
                        <a:t>Systématique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financières historiques sont issues de sources publiques et peuvent présenter des délais ou inexactitudes. Les prévisions sont basées sur le consensus et les modèles internes FinSight IA — elles ne constituent pas des engagements. La méthodologie de scoring est soumise à des biais inhérents à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généré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Boursiere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Healthcare  ·  S&amp;P 500  ·  Indexe a 100 au debut de la periode</a:t>
            </a:r>
          </a:p>
        </p:txBody>
      </p:sp>
      <p:pic>
        <p:nvPicPr>
          <p:cNvPr id="15" name="Picture 14" descr="image.png"/>
          <p:cNvPicPr>
            <a:picLocks noChangeAspect="1"/>
          </p:cNvPicPr>
          <p:nvPr/>
        </p:nvPicPr>
        <p:blipFill>
          <a:blip r:embed="rId2"/>
          <a:stretch>
            <a:fillRect/>
          </a:stretch>
        </p:blipFill>
        <p:spPr>
          <a:xfrm>
            <a:off x="324000" y="827999"/>
            <a:ext cx="5940000" cy="3671999"/>
          </a:xfrm>
          <a:prstGeom prst="rect">
            <a:avLst/>
          </a:prstGeom>
        </p:spPr>
      </p:pic>
      <p:sp>
        <p:nvSpPr>
          <p:cNvPr id="16" name="Rectangle 15"/>
          <p:cNvSpPr/>
          <p:nvPr/>
        </p:nvSpPr>
        <p:spPr>
          <a:xfrm>
            <a:off x="6336000" y="827999"/>
            <a:ext cx="2448000" cy="367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6000" y="827999"/>
            <a:ext cx="2448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8000" y="846000"/>
            <a:ext cx="2340000" cy="198000"/>
          </a:xfrm>
          <a:prstGeom prst="rect">
            <a:avLst/>
          </a:prstGeom>
          <a:noFill/>
        </p:spPr>
        <p:txBody>
          <a:bodyPr wrap="square">
            <a:spAutoFit/>
          </a:bodyPr>
          <a:lstStyle/>
          <a:p>
            <a:pPr algn="l"/>
            <a:r>
              <a:rPr sz="800" b="1" i="0">
                <a:solidFill>
                  <a:srgbClr val="FFFFFF"/>
                </a:solidFill>
              </a:rPr>
              <a:t>LECTURE ANALYTIQUE</a:t>
            </a:r>
          </a:p>
        </p:txBody>
      </p:sp>
      <p:sp>
        <p:nvSpPr>
          <p:cNvPr id="19" name="TextBox 18"/>
          <p:cNvSpPr txBox="1"/>
          <p:nvPr/>
        </p:nvSpPr>
        <p:spPr>
          <a:xfrm>
            <a:off x="6408000" y="1152000"/>
            <a:ext cx="2304000" cy="324000"/>
          </a:xfrm>
          <a:prstGeom prst="rect">
            <a:avLst/>
          </a:prstGeom>
          <a:noFill/>
        </p:spPr>
        <p:txBody>
          <a:bodyPr wrap="square">
            <a:spAutoFit/>
          </a:bodyPr>
          <a:lstStyle/>
          <a:p>
            <a:pPr algn="l"/>
            <a:r>
              <a:rPr sz="700" b="1" i="0">
                <a:solidFill>
                  <a:srgbClr val="1B3A6B"/>
                </a:solidFill>
              </a:rPr>
              <a:t>MEILLEURE PERFORMANCE</a:t>
            </a:r>
          </a:p>
        </p:txBody>
      </p:sp>
      <p:sp>
        <p:nvSpPr>
          <p:cNvPr id="20" name="TextBox 19"/>
          <p:cNvSpPr txBox="1"/>
          <p:nvPr/>
        </p:nvSpPr>
        <p:spPr>
          <a:xfrm>
            <a:off x="6408000" y="1314000"/>
            <a:ext cx="2304000" cy="324000"/>
          </a:xfrm>
          <a:prstGeom prst="rect">
            <a:avLst/>
          </a:prstGeom>
          <a:noFill/>
        </p:spPr>
        <p:txBody>
          <a:bodyPr wrap="square">
            <a:spAutoFit/>
          </a:bodyPr>
          <a:lstStyle/>
          <a:p>
            <a:pPr algn="l"/>
            <a:r>
              <a:rPr sz="900" b="1" i="0">
                <a:solidFill>
                  <a:srgbClr val="1B3A6B"/>
                </a:solidFill>
              </a:rPr>
              <a:t>JNJ  +59%  sur 52 semaines</a:t>
            </a:r>
          </a:p>
        </p:txBody>
      </p:sp>
      <p:sp>
        <p:nvSpPr>
          <p:cNvPr id="21" name="TextBox 20"/>
          <p:cNvSpPr txBox="1"/>
          <p:nvPr/>
        </p:nvSpPr>
        <p:spPr>
          <a:xfrm>
            <a:off x="6408000" y="1655999"/>
            <a:ext cx="2304000" cy="324000"/>
          </a:xfrm>
          <a:prstGeom prst="rect">
            <a:avLst/>
          </a:prstGeom>
          <a:noFill/>
        </p:spPr>
        <p:txBody>
          <a:bodyPr wrap="square">
            <a:spAutoFit/>
          </a:bodyPr>
          <a:lstStyle/>
          <a:p>
            <a:pPr algn="l"/>
            <a:r>
              <a:rPr sz="700" b="1" i="0">
                <a:solidFill>
                  <a:srgbClr val="1B3A6B"/>
                </a:solidFill>
              </a:rPr>
              <a:t>PIRE PERFORMANCE</a:t>
            </a:r>
          </a:p>
        </p:txBody>
      </p:sp>
      <p:sp>
        <p:nvSpPr>
          <p:cNvPr id="22" name="TextBox 21"/>
          <p:cNvSpPr txBox="1"/>
          <p:nvPr/>
        </p:nvSpPr>
        <p:spPr>
          <a:xfrm>
            <a:off x="6408000" y="1818000"/>
            <a:ext cx="2304000" cy="324000"/>
          </a:xfrm>
          <a:prstGeom prst="rect">
            <a:avLst/>
          </a:prstGeom>
          <a:noFill/>
        </p:spPr>
        <p:txBody>
          <a:bodyPr wrap="square">
            <a:spAutoFit/>
          </a:bodyPr>
          <a:lstStyle/>
          <a:p>
            <a:pPr algn="l"/>
            <a:r>
              <a:rPr sz="900" b="1" i="0">
                <a:solidFill>
                  <a:srgbClr val="A82020"/>
                </a:solidFill>
              </a:rPr>
              <a:t>UNH  -47%  sur 52 semaines</a:t>
            </a:r>
          </a:p>
        </p:txBody>
      </p:sp>
      <p:sp>
        <p:nvSpPr>
          <p:cNvPr id="23" name="TextBox 22"/>
          <p:cNvSpPr txBox="1"/>
          <p:nvPr/>
        </p:nvSpPr>
        <p:spPr>
          <a:xfrm>
            <a:off x="6408000" y="2196000"/>
            <a:ext cx="2304000" cy="324000"/>
          </a:xfrm>
          <a:prstGeom prst="rect">
            <a:avLst/>
          </a:prstGeom>
          <a:noFill/>
        </p:spPr>
        <p:txBody>
          <a:bodyPr wrap="square">
            <a:spAutoFit/>
          </a:bodyPr>
          <a:lstStyle/>
          <a:p>
            <a:pPr algn="l"/>
            <a:r>
              <a:rPr sz="700" b="1" i="0">
                <a:solidFill>
                  <a:srgbClr val="1B3A6B"/>
                </a:solidFill>
              </a:rPr>
              <a:t>DISPERSION</a:t>
            </a:r>
          </a:p>
        </p:txBody>
      </p:sp>
      <p:sp>
        <p:nvSpPr>
          <p:cNvPr id="24" name="TextBox 23"/>
          <p:cNvSpPr txBox="1"/>
          <p:nvPr/>
        </p:nvSpPr>
        <p:spPr>
          <a:xfrm>
            <a:off x="6408000" y="2358000"/>
            <a:ext cx="2304000" cy="324000"/>
          </a:xfrm>
          <a:prstGeom prst="rect">
            <a:avLst/>
          </a:prstGeom>
          <a:noFill/>
        </p:spPr>
        <p:txBody>
          <a:bodyPr wrap="square">
            <a:spAutoFit/>
          </a:bodyPr>
          <a:lstStyle/>
          <a:p>
            <a:pPr algn="l"/>
            <a:r>
              <a:rPr sz="800" b="0" i="0">
                <a:solidFill>
                  <a:srgbClr val="555555"/>
                </a:solidFill>
              </a:rPr>
              <a:t>Écart 106 pts — 6 valeur(s) positives vs 2 négatives.</a:t>
            </a:r>
          </a:p>
        </p:txBody>
      </p:sp>
      <p:sp>
        <p:nvSpPr>
          <p:cNvPr id="25" name="TextBox 24"/>
          <p:cNvSpPr txBox="1"/>
          <p:nvPr/>
        </p:nvSpPr>
        <p:spPr>
          <a:xfrm>
            <a:off x="6408000" y="2772000"/>
            <a:ext cx="2304000" cy="324000"/>
          </a:xfrm>
          <a:prstGeom prst="rect">
            <a:avLst/>
          </a:prstGeom>
          <a:noFill/>
        </p:spPr>
        <p:txBody>
          <a:bodyPr wrap="square">
            <a:spAutoFit/>
          </a:bodyPr>
          <a:lstStyle/>
          <a:p>
            <a:pPr algn="l"/>
            <a:r>
              <a:rPr sz="700" b="1" i="0">
                <a:solidFill>
                  <a:srgbClr val="1B3A6B"/>
                </a:solidFill>
              </a:rPr>
              <a:t>INTERPRETATION</a:t>
            </a:r>
          </a:p>
        </p:txBody>
      </p:sp>
      <p:sp>
        <p:nvSpPr>
          <p:cNvPr id="26" name="TextBox 25"/>
          <p:cNvSpPr txBox="1"/>
          <p:nvPr/>
        </p:nvSpPr>
        <p:spPr>
          <a:xfrm>
            <a:off x="6408000" y="2934000"/>
            <a:ext cx="2304000" cy="324000"/>
          </a:xfrm>
          <a:prstGeom prst="rect">
            <a:avLst/>
          </a:prstGeom>
          <a:noFill/>
        </p:spPr>
        <p:txBody>
          <a:bodyPr wrap="square">
            <a:spAutoFit/>
          </a:bodyPr>
          <a:lstStyle/>
          <a:p>
            <a:pPr algn="l"/>
            <a:r>
              <a:rPr sz="750" b="0" i="0">
                <a:solidFill>
                  <a:srgbClr val="555555"/>
                </a:solidFill>
              </a:rPr>
              <a:t>La dispersion des trajectoires reflète la bifurcation sectorielle : certains acteurs captent l'essentiel de la creation de valeur tandis que d'autres subissent des sorties de capitaux structurelles.</a:t>
            </a:r>
          </a:p>
        </p:txBody>
      </p:sp>
      <p:sp>
        <p:nvSpPr>
          <p:cNvPr id="27" name="TextBox 26"/>
          <p:cNvSpPr txBox="1"/>
          <p:nvPr/>
        </p:nvSpPr>
        <p:spPr>
          <a:xfrm>
            <a:off x="6408000" y="3366000"/>
            <a:ext cx="2304000" cy="324000"/>
          </a:xfrm>
          <a:prstGeom prst="rect">
            <a:avLst/>
          </a:prstGeom>
          <a:noFill/>
        </p:spPr>
        <p:txBody>
          <a:bodyPr wrap="square">
            <a:spAutoFit/>
          </a:bodyPr>
          <a:lstStyle/>
          <a:p>
            <a:pPr algn="l"/>
            <a:r>
              <a:rPr sz="750" b="0" i="0">
                <a:solidFill>
                  <a:srgbClr val="555555"/>
                </a:solidFill>
              </a:rPr>
              <a:t>Le momentum 52W est intégré dans le score FinSight comme signal de confirmation de la thèse d'investissement.</a:t>
            </a:r>
          </a:p>
        </p:txBody>
      </p:sp>
      <p:sp>
        <p:nvSpPr>
          <p:cNvPr id="28" name="Rectangle 2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