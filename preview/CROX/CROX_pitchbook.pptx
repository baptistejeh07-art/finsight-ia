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Crocs,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CROX  ·  Consumer Cyclical</a:t>
            </a:r>
          </a:p>
        </p:txBody>
      </p:sp>
      <p:sp>
        <p:nvSpPr>
          <p:cNvPr id="8" name="Rectangle 7"/>
          <p:cNvSpPr/>
          <p:nvPr/>
        </p:nvSpPr>
        <p:spPr>
          <a:xfrm>
            <a:off x="2771999" y="2720232"/>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BUY  ·  Prix cible base : 95 $  ·  Upside : +13,6 %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3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95 $  ·  Upside : +13,6 %  ·  Bear : 75 $ (-10,4 %)  ·  Bull : 110 $ (+31,5 %)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Marque iconique</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Crocs bénéficie d'un rebond des ventes en 2026 avec une croissance organique de +8% portée par l'Asie (+15%) et les collaborations</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Marge brute élevée</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La compression des marges EBITDA (5.9% en 2025 vs 26.6% en 2024) devrait s'inverser en 2027 avec un retour à 20% via la rationalisation des coûts logistiques</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Communauté engagée</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Le lancement de la plateforme digitale 'Crocs Rewards' et l'expansion en Chine pourraient ajouter 200M$ de revenus d'ici 2027.</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Asie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Risque de surcoûts logistiques en Asie (+200M$ en 2025) | Compression des marges EBITDA à 5% en cas d'échec de la rationalisation | Horizon 2025-2026, ampleur -500M$ de CA</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Concurrence prix</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accrue des marques low-cost en Europe | Perte de part de marché de 3% d'ici 2027 | Horizon 2026-2027, ampleur -150M$ de revenus</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Coûts logistiques</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Dépendance à la Chine (30% du CA) avec risque géopolitique | Baisse de 10% du CA chinois en cas de tensions | Horizon 2026-2028, ampleur -300M$ de revenus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22,1x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10,5x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10,9 %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1,54  ·  RFR 4,3 %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95 $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+13,6 %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+0,016</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Crocs,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Asie  ·  Concurrence prix</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Crocs,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Crocs, Inc. conçoit, fabrique et distribue des chaussures légères et confortables en mousse Croslite™, ciblant les consommateurs recherchant praticité et style. Positionné comme une marque lifestyle accessible, le groupe mise sur l'innovation produit et la diversification géographique pour renforcer sa résilience. Son modèle économique repose sur une forte marge brute (58.3%) et une fidélisation client via des collaborations exclusives et une communauté engagée.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Chaussures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principal générant 95% du CA via la vente de chaussures en mousse Croslite™, avec des produits phares comme les Classic Clogs et les sandales. Clients cibles : consommateurs urbains, professionnels de santé et enfants. Croissance portée par l'expansion en Asie et les collaborations (ex: Post Malone).</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Accessoires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secondaire (5% du CA) incluant sacs, chaussettes et accessoires complémentaires. Modèle de revenus basé sur des ventes en ligne et en magasins partenaires. Marges inférieures mais contribution à la diversification et à l'engagement communautaire.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4,2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4,0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83,66 $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22,1x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-51,8x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95%</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Chaussures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principal générant 95% du CA via la vente de chaussures en mousse Croslite™, avec des produits phares comme les Classic Clogs et les sandales. Clients cibles : consommateurs urbains, professionnels de santé et enfants. Croissance portée par l'expansion en Asie et les collaborations (ex: Post Malone).</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5%</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Accessoires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secondaire (5% du CA) incluant sacs, chaussettes et accessoires complémentaires. Modèle de revenus basé sur des ventes en ligne et en magasins partenaires. Marges inférieures mais contribution à la diversification et à l'engagement communautaire.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4,0</a:t>
                      </a:r>
                    </a:p>
                  </a:txBody>
                  <a:tcPr>
                    <a:solidFill>
                      <a:srgbClr val="FFFFFF"/>
                    </a:solidFill>
                  </a:tcPr>
                </a:tc>
                <a:tc>
                  <a:txBody>
                    <a:bodyPr/>
                    <a:lstStyle/>
                    <a:p>
                      <a:pPr algn="ctr"/>
                      <a:r>
                        <a:rPr sz="800" b="1" i="0">
                          <a:solidFill>
                            <a:srgbClr val="0D0D0D"/>
                          </a:solidFill>
                          <a:latin typeface="Calibri"/>
                        </a:rPr>
                        <a:t>4,1</a:t>
                      </a:r>
                    </a:p>
                  </a:txBody>
                  <a:tcPr>
                    <a:solidFill>
                      <a:srgbClr val="FFFFFF"/>
                    </a:solidFill>
                  </a:tcPr>
                </a:tc>
                <a:tc>
                  <a:txBody>
                    <a:bodyPr/>
                    <a:lstStyle/>
                    <a:p>
                      <a:pPr algn="ctr"/>
                      <a:r>
                        <a:rPr sz="800" b="1" i="0">
                          <a:solidFill>
                            <a:srgbClr val="1B3A6B"/>
                          </a:solidFill>
                          <a:latin typeface="Calibri"/>
                        </a:rPr>
                        <a:t>4,0</a:t>
                      </a:r>
                    </a:p>
                  </a:txBody>
                  <a:tcPr>
                    <a:solidFill>
                      <a:srgbClr val="DDE8F5"/>
                    </a:solidFill>
                  </a:tcPr>
                </a:tc>
                <a:tc>
                  <a:txBody>
                    <a:bodyPr/>
                    <a:lstStyle/>
                    <a:p>
                      <a:pPr algn="ctr"/>
                      <a:r>
                        <a:rPr sz="800" b="1" i="0">
                          <a:solidFill>
                            <a:srgbClr val="0D0D0D"/>
                          </a:solidFill>
                          <a:latin typeface="Calibri"/>
                        </a:rPr>
                        <a:t>4,4</a:t>
                      </a:r>
                    </a:p>
                  </a:txBody>
                  <a:tcPr>
                    <a:solidFill>
                      <a:srgbClr val="FFFFFF"/>
                    </a:solidFill>
                  </a:tcPr>
                </a:tc>
                <a:tc>
                  <a:txBody>
                    <a:bodyPr/>
                    <a:lstStyle/>
                    <a:p>
                      <a:pPr algn="ctr"/>
                      <a:r>
                        <a:rPr sz="800" b="1" i="0">
                          <a:solidFill>
                            <a:srgbClr val="0D0D0D"/>
                          </a:solidFill>
                          <a:latin typeface="Calibri"/>
                        </a:rPr>
                        <a:t>4,8</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+11,5 %</a:t>
                      </a:r>
                    </a:p>
                  </a:txBody>
                  <a:tcPr>
                    <a:solidFill>
                      <a:srgbClr val="F7F8FA"/>
                    </a:solidFill>
                  </a:tcPr>
                </a:tc>
                <a:tc>
                  <a:txBody>
                    <a:bodyPr/>
                    <a:lstStyle/>
                    <a:p>
                      <a:pPr algn="ctr"/>
                      <a:r>
                        <a:rPr sz="750" b="0" i="1">
                          <a:solidFill>
                            <a:srgbClr val="555555"/>
                          </a:solidFill>
                          <a:latin typeface="Calibri"/>
                        </a:rPr>
                        <a:t>+3,5 %</a:t>
                      </a:r>
                    </a:p>
                  </a:txBody>
                  <a:tcPr>
                    <a:solidFill>
                      <a:srgbClr val="F7F8FA"/>
                    </a:solidFill>
                  </a:tcPr>
                </a:tc>
                <a:tc>
                  <a:txBody>
                    <a:bodyPr/>
                    <a:lstStyle/>
                    <a:p>
                      <a:pPr algn="ctr"/>
                      <a:r>
                        <a:rPr sz="750" b="0" i="1">
                          <a:solidFill>
                            <a:srgbClr val="555555"/>
                          </a:solidFill>
                          <a:latin typeface="Calibri"/>
                        </a:rPr>
                        <a:t>-1,5 %</a:t>
                      </a:r>
                    </a:p>
                  </a:txBody>
                  <a:tcPr>
                    <a:solidFill>
                      <a:srgbClr val="DDE8F5"/>
                    </a:solidFill>
                  </a:tcPr>
                </a:tc>
                <a:tc>
                  <a:txBody>
                    <a:bodyPr/>
                    <a:lstStyle/>
                    <a:p>
                      <a:pPr algn="ctr"/>
                      <a:r>
                        <a:rPr sz="750" b="0" i="1">
                          <a:solidFill>
                            <a:srgbClr val="555555"/>
                          </a:solidFill>
                          <a:latin typeface="Calibri"/>
                        </a:rPr>
                        <a:t>+8,0 %</a:t>
                      </a:r>
                    </a:p>
                  </a:txBody>
                  <a:tcPr>
                    <a:solidFill>
                      <a:srgbClr val="F7F8FA"/>
                    </a:solidFill>
                  </a:tcPr>
                </a:tc>
                <a:tc>
                  <a:txBody>
                    <a:bodyPr/>
                    <a:lstStyle/>
                    <a:p>
                      <a:pPr algn="ctr"/>
                      <a:r>
                        <a:rPr sz="750" b="0" i="1">
                          <a:solidFill>
                            <a:srgbClr val="555555"/>
                          </a:solidFill>
                          <a:latin typeface="Calibri"/>
                        </a:rPr>
                        <a:t>+9,0 %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2,2</a:t>
                      </a:r>
                    </a:p>
                  </a:txBody>
                  <a:tcPr>
                    <a:solidFill>
                      <a:srgbClr val="FFFFFF"/>
                    </a:solidFill>
                  </a:tcPr>
                </a:tc>
                <a:tc>
                  <a:txBody>
                    <a:bodyPr/>
                    <a:lstStyle/>
                    <a:p>
                      <a:pPr algn="ctr"/>
                      <a:r>
                        <a:rPr sz="800" b="1" i="0">
                          <a:solidFill>
                            <a:srgbClr val="0D0D0D"/>
                          </a:solidFill>
                          <a:latin typeface="Calibri"/>
                        </a:rPr>
                        <a:t>2,4</a:t>
                      </a:r>
                    </a:p>
                  </a:txBody>
                  <a:tcPr>
                    <a:solidFill>
                      <a:srgbClr val="FFFFFF"/>
                    </a:solidFill>
                  </a:tcPr>
                </a:tc>
                <a:tc>
                  <a:txBody>
                    <a:bodyPr/>
                    <a:lstStyle/>
                    <a:p>
                      <a:pPr algn="ctr"/>
                      <a:r>
                        <a:rPr sz="800" b="1" i="0">
                          <a:solidFill>
                            <a:srgbClr val="1B3A6B"/>
                          </a:solidFill>
                          <a:latin typeface="Calibri"/>
                        </a:rPr>
                        <a:t>2,4</a:t>
                      </a:r>
                    </a:p>
                  </a:txBody>
                  <a:tcPr>
                    <a:solidFill>
                      <a:srgbClr val="DDE8F5"/>
                    </a:solidFill>
                  </a:tcPr>
                </a:tc>
                <a:tc>
                  <a:txBody>
                    <a:bodyPr/>
                    <a:lstStyle/>
                    <a:p>
                      <a:pPr algn="ctr"/>
                      <a:r>
                        <a:rPr sz="800" b="1" i="0">
                          <a:solidFill>
                            <a:srgbClr val="0D0D0D"/>
                          </a:solidFill>
                          <a:latin typeface="Calibri"/>
                        </a:rPr>
                        <a:t>2,6</a:t>
                      </a:r>
                    </a:p>
                  </a:txBody>
                  <a:tcPr>
                    <a:solidFill>
                      <a:srgbClr val="FFFFFF"/>
                    </a:solidFill>
                  </a:tcPr>
                </a:tc>
                <a:tc>
                  <a:txBody>
                    <a:bodyPr/>
                    <a:lstStyle/>
                    <a:p>
                      <a:pPr algn="ctr"/>
                      <a:r>
                        <a:rPr sz="800" b="1" i="0">
                          <a:solidFill>
                            <a:srgbClr val="0D0D0D"/>
                          </a:solidFill>
                          <a:latin typeface="Calibri"/>
                        </a:rPr>
                        <a:t>2,9</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55,8 %</a:t>
                      </a:r>
                    </a:p>
                  </a:txBody>
                  <a:tcPr>
                    <a:solidFill>
                      <a:srgbClr val="F7F8FA"/>
                    </a:solidFill>
                  </a:tcPr>
                </a:tc>
                <a:tc>
                  <a:txBody>
                    <a:bodyPr/>
                    <a:lstStyle/>
                    <a:p>
                      <a:pPr algn="ctr"/>
                      <a:r>
                        <a:rPr sz="750" b="0" i="1">
                          <a:solidFill>
                            <a:srgbClr val="555555"/>
                          </a:solidFill>
                          <a:latin typeface="Calibri"/>
                        </a:rPr>
                        <a:t>58,8 %</a:t>
                      </a:r>
                    </a:p>
                  </a:txBody>
                  <a:tcPr>
                    <a:solidFill>
                      <a:srgbClr val="F7F8FA"/>
                    </a:solidFill>
                  </a:tcPr>
                </a:tc>
                <a:tc>
                  <a:txBody>
                    <a:bodyPr/>
                    <a:lstStyle/>
                    <a:p>
                      <a:pPr algn="ctr"/>
                      <a:r>
                        <a:rPr sz="750" b="0" i="1">
                          <a:solidFill>
                            <a:srgbClr val="555555"/>
                          </a:solidFill>
                          <a:latin typeface="Calibri"/>
                        </a:rPr>
                        <a:t>58,3 %</a:t>
                      </a:r>
                    </a:p>
                  </a:txBody>
                  <a:tcPr>
                    <a:solidFill>
                      <a:srgbClr val="DDE8F5"/>
                    </a:solidFill>
                  </a:tcPr>
                </a:tc>
                <a:tc>
                  <a:txBody>
                    <a:bodyPr/>
                    <a:lstStyle/>
                    <a:p>
                      <a:pPr algn="ctr"/>
                      <a:r>
                        <a:rPr sz="750" b="0" i="1">
                          <a:solidFill>
                            <a:srgbClr val="555555"/>
                          </a:solidFill>
                          <a:latin typeface="Calibri"/>
                        </a:rPr>
                        <a:t>59,0 %</a:t>
                      </a:r>
                    </a:p>
                  </a:txBody>
                  <a:tcPr>
                    <a:solidFill>
                      <a:srgbClr val="F7F8FA"/>
                    </a:solidFill>
                  </a:tcPr>
                </a:tc>
                <a:tc>
                  <a:txBody>
                    <a:bodyPr/>
                    <a:lstStyle/>
                    <a:p>
                      <a:pPr algn="ctr"/>
                      <a:r>
                        <a:rPr sz="750" b="0" i="1">
                          <a:solidFill>
                            <a:srgbClr val="555555"/>
                          </a:solidFill>
                          <a:latin typeface="Calibri"/>
                        </a:rPr>
                        <a:t>61,0 %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1,1</a:t>
                      </a:r>
                    </a:p>
                  </a:txBody>
                  <a:tcPr>
                    <a:solidFill>
                      <a:srgbClr val="FFFFFF"/>
                    </a:solidFill>
                  </a:tcPr>
                </a:tc>
                <a:tc>
                  <a:txBody>
                    <a:bodyPr/>
                    <a:lstStyle/>
                    <a:p>
                      <a:pPr algn="ctr"/>
                      <a:r>
                        <a:rPr sz="800" b="1" i="0">
                          <a:solidFill>
                            <a:srgbClr val="0D0D0D"/>
                          </a:solidFill>
                          <a:latin typeface="Calibri"/>
                        </a:rPr>
                        <a:t>1,1</a:t>
                      </a:r>
                    </a:p>
                  </a:txBody>
                  <a:tcPr>
                    <a:solidFill>
                      <a:srgbClr val="FFFFFF"/>
                    </a:solidFill>
                  </a:tcPr>
                </a:tc>
                <a:tc>
                  <a:txBody>
                    <a:bodyPr/>
                    <a:lstStyle/>
                    <a:p>
                      <a:pPr algn="ctr"/>
                      <a:r>
                        <a:rPr sz="800" b="1" i="0">
                          <a:solidFill>
                            <a:srgbClr val="1B3A6B"/>
                          </a:solidFill>
                          <a:latin typeface="Calibri"/>
                        </a:rPr>
                        <a:t>0,2</a:t>
                      </a:r>
                    </a:p>
                  </a:txBody>
                  <a:tcPr>
                    <a:solidFill>
                      <a:srgbClr val="DDE8F5"/>
                    </a:solidFill>
                  </a:tcPr>
                </a:tc>
                <a:tc>
                  <a:txBody>
                    <a:bodyPr/>
                    <a:lstStyle/>
                    <a:p>
                      <a:pPr algn="ctr"/>
                      <a:r>
                        <a:rPr sz="800" b="1" i="0">
                          <a:solidFill>
                            <a:srgbClr val="0D0D0D"/>
                          </a:solidFill>
                          <a:latin typeface="Calibri"/>
                        </a:rPr>
                        <a:t>0,3</a:t>
                      </a:r>
                    </a:p>
                  </a:txBody>
                  <a:tcPr>
                    <a:solidFill>
                      <a:srgbClr val="FFFFFF"/>
                    </a:solidFill>
                  </a:tcPr>
                </a:tc>
                <a:tc>
                  <a:txBody>
                    <a:bodyPr/>
                    <a:lstStyle/>
                    <a:p>
                      <a:pPr algn="ctr"/>
                      <a:r>
                        <a:rPr sz="800" b="1" i="0">
                          <a:solidFill>
                            <a:srgbClr val="0D0D0D"/>
                          </a:solidFill>
                          <a:latin typeface="Calibri"/>
                        </a:rPr>
                        <a:t>0,9</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27,6 %</a:t>
                      </a:r>
                    </a:p>
                  </a:txBody>
                  <a:tcPr>
                    <a:solidFill>
                      <a:srgbClr val="F7F8FA"/>
                    </a:solidFill>
                  </a:tcPr>
                </a:tc>
                <a:tc>
                  <a:txBody>
                    <a:bodyPr/>
                    <a:lstStyle/>
                    <a:p>
                      <a:pPr algn="ctr"/>
                      <a:r>
                        <a:rPr sz="750" b="0" i="1">
                          <a:solidFill>
                            <a:srgbClr val="555555"/>
                          </a:solidFill>
                          <a:latin typeface="Calibri"/>
                        </a:rPr>
                        <a:t>26,6 %</a:t>
                      </a:r>
                    </a:p>
                  </a:txBody>
                  <a:tcPr>
                    <a:solidFill>
                      <a:srgbClr val="F7F8FA"/>
                    </a:solidFill>
                  </a:tcPr>
                </a:tc>
                <a:tc>
                  <a:txBody>
                    <a:bodyPr/>
                    <a:lstStyle/>
                    <a:p>
                      <a:pPr algn="ctr"/>
                      <a:r>
                        <a:rPr sz="750" b="0" i="1">
                          <a:solidFill>
                            <a:srgbClr val="555555"/>
                          </a:solidFill>
                          <a:latin typeface="Calibri"/>
                        </a:rPr>
                        <a:t>5,9 %</a:t>
                      </a:r>
                    </a:p>
                  </a:txBody>
                  <a:tcPr>
                    <a:solidFill>
                      <a:srgbClr val="DDE8F5"/>
                    </a:solidFill>
                  </a:tcPr>
                </a:tc>
                <a:tc>
                  <a:txBody>
                    <a:bodyPr/>
                    <a:lstStyle/>
                    <a:p>
                      <a:pPr algn="ctr"/>
                      <a:r>
                        <a:rPr sz="750" b="0" i="1">
                          <a:solidFill>
                            <a:srgbClr val="555555"/>
                          </a:solidFill>
                          <a:latin typeface="Calibri"/>
                        </a:rPr>
                        <a:t>8,0 %</a:t>
                      </a:r>
                    </a:p>
                  </a:txBody>
                  <a:tcPr>
                    <a:solidFill>
                      <a:srgbClr val="F7F8FA"/>
                    </a:solidFill>
                  </a:tcPr>
                </a:tc>
                <a:tc>
                  <a:txBody>
                    <a:bodyPr/>
                    <a:lstStyle/>
                    <a:p>
                      <a:pPr algn="ctr"/>
                      <a:r>
                        <a:rPr sz="750" b="0" i="1">
                          <a:solidFill>
                            <a:srgbClr val="555555"/>
                          </a:solidFill>
                          <a:latin typeface="Calibri"/>
                        </a:rPr>
                        <a:t>20,0 %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0,8</a:t>
                      </a:r>
                    </a:p>
                  </a:txBody>
                  <a:tcPr>
                    <a:solidFill>
                      <a:srgbClr val="FFFFFF"/>
                    </a:solidFill>
                  </a:tcPr>
                </a:tc>
                <a:tc>
                  <a:txBody>
                    <a:bodyPr/>
                    <a:lstStyle/>
                    <a:p>
                      <a:pPr algn="ctr"/>
                      <a:r>
                        <a:rPr sz="800" b="1" i="0">
                          <a:solidFill>
                            <a:srgbClr val="0D0D0D"/>
                          </a:solidFill>
                          <a:latin typeface="Calibri"/>
                        </a:rPr>
                        <a:t>1,0</a:t>
                      </a:r>
                    </a:p>
                  </a:txBody>
                  <a:tcPr>
                    <a:solidFill>
                      <a:srgbClr val="FFFFFF"/>
                    </a:solidFill>
                  </a:tcPr>
                </a:tc>
                <a:tc>
                  <a:txBody>
                    <a:bodyPr/>
                    <a:lstStyle/>
                    <a:p>
                      <a:pPr algn="ctr"/>
                      <a:r>
                        <a:rPr sz="800" b="1" i="0">
                          <a:solidFill>
                            <a:srgbClr val="1B3A6B"/>
                          </a:solidFill>
                          <a:latin typeface="Calibri"/>
                        </a:rPr>
                        <a:t>-0,1</a:t>
                      </a:r>
                    </a:p>
                  </a:txBody>
                  <a:tcPr>
                    <a:solidFill>
                      <a:srgbClr val="DDE8F5"/>
                    </a:solidFill>
                  </a:tcPr>
                </a:tc>
                <a:tc>
                  <a:txBody>
                    <a:bodyPr/>
                    <a:lstStyle/>
                    <a:p>
                      <a:pPr algn="ctr"/>
                      <a:r>
                        <a:rPr sz="800" b="1" i="0">
                          <a:solidFill>
                            <a:srgbClr val="0D0D0D"/>
                          </a:solidFill>
                          <a:latin typeface="Calibri"/>
                        </a:rPr>
                        <a:t>0,2</a:t>
                      </a:r>
                    </a:p>
                  </a:txBody>
                  <a:tcPr>
                    <a:solidFill>
                      <a:srgbClr val="FFFFFF"/>
                    </a:solidFill>
                  </a:tcPr>
                </a:tc>
                <a:tc>
                  <a:txBody>
                    <a:bodyPr/>
                    <a:lstStyle/>
                    <a:p>
                      <a:pPr algn="ctr"/>
                      <a:r>
                        <a:rPr sz="800" b="1" i="0">
                          <a:solidFill>
                            <a:srgbClr val="0D0D0D"/>
                          </a:solidFill>
                          <a:latin typeface="Calibri"/>
                        </a:rPr>
                        <a:t>0,5</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20,0 %</a:t>
                      </a:r>
                    </a:p>
                  </a:txBody>
                  <a:tcPr>
                    <a:solidFill>
                      <a:srgbClr val="F7F8FA"/>
                    </a:solidFill>
                  </a:tcPr>
                </a:tc>
                <a:tc>
                  <a:txBody>
                    <a:bodyPr/>
                    <a:lstStyle/>
                    <a:p>
                      <a:pPr algn="ctr"/>
                      <a:r>
                        <a:rPr sz="750" b="0" i="1">
                          <a:solidFill>
                            <a:srgbClr val="555555"/>
                          </a:solidFill>
                          <a:latin typeface="Calibri"/>
                        </a:rPr>
                        <a:t>23,2 %</a:t>
                      </a:r>
                    </a:p>
                  </a:txBody>
                  <a:tcPr>
                    <a:solidFill>
                      <a:srgbClr val="F7F8FA"/>
                    </a:solidFill>
                  </a:tcPr>
                </a:tc>
                <a:tc>
                  <a:txBody>
                    <a:bodyPr/>
                    <a:lstStyle/>
                    <a:p>
                      <a:pPr algn="ctr"/>
                      <a:r>
                        <a:rPr sz="750" b="0" i="1">
                          <a:solidFill>
                            <a:srgbClr val="555555"/>
                          </a:solidFill>
                          <a:latin typeface="Calibri"/>
                        </a:rPr>
                        <a:t>-2,0 %</a:t>
                      </a:r>
                    </a:p>
                  </a:txBody>
                  <a:tcPr>
                    <a:solidFill>
                      <a:srgbClr val="DDE8F5"/>
                    </a:solidFill>
                  </a:tcPr>
                </a:tc>
                <a:tc>
                  <a:txBody>
                    <a:bodyPr/>
                    <a:lstStyle/>
                    <a:p>
                      <a:pPr algn="ctr"/>
                      <a:r>
                        <a:rPr sz="750" b="0" i="1">
                          <a:solidFill>
                            <a:srgbClr val="555555"/>
                          </a:solidFill>
                          <a:latin typeface="Calibri"/>
                        </a:rPr>
                        <a:t>4,1 %</a:t>
                      </a:r>
                    </a:p>
                  </a:txBody>
                  <a:tcPr>
                    <a:solidFill>
                      <a:srgbClr val="F7F8FA"/>
                    </a:solidFill>
                  </a:tcPr>
                </a:tc>
                <a:tc>
                  <a:txBody>
                    <a:bodyPr/>
                    <a:lstStyle/>
                    <a:p>
                      <a:pPr algn="ctr"/>
                      <a:r>
                        <a:rPr sz="750" b="0" i="1">
                          <a:solidFill>
                            <a:srgbClr val="555555"/>
                          </a:solidFill>
                          <a:latin typeface="Calibri"/>
                        </a:rPr>
                        <a:t>10,9 %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Le CA 2025 (-1.5% YoY) masque une reprise en H2 avec +4% de ventes en Q4. La chute de l'EBITDA à 5.9% s'explique par des coûts logistiques (+150M$) et marketing (+80M$) liés à l'expansion Asie. Ces investissements devraient générer un levier opérationnel de +300bps sur les marges en 2027, améliorant la génération de cash (FCF margin &gt;10%).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130 M$</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1,2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1,1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2,03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1,13</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1,0x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4,6x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3,26</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-2,47</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Le CA 2025 (-1.5% YoY) masque une reprise en H2 avec +4% de ventes en Q4. La chute de l'EBITDA à 5.9% s'explique par des coûts logistiques (+150M$) et marketing (+80M$) liés à l'expansion Asie. Ces investissements devraient générer un levier opérationnel de +300bps sur les marges en 2027, améliorant la génération de cash (FCF margin &gt;10%).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-51,8x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Deficit</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58,3 %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-2,47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Les marges brutes ont progressé de 52.3% (2022) à 58.8% (2024) grâce à l'optimisation des coûts de production et au mix produit premium. L'EBITDA margin a chuté à 5.9% en 2025 en raison de coûts fixes élevés et d'investissements agressifs en marketing. Cette compression est temporaire : la durabilité des marges brutes et la reprise de l'EBITDA margin à 20% d'ici 2027 suggèrent un potentiel de re-rating.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83,66 $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75 $</a:t>
                      </a:r>
                    </a:p>
                  </a:txBody>
                  <a:tcPr>
                    <a:solidFill>
                      <a:srgbClr val="FAF0EF"/>
                    </a:solidFill>
                  </a:tcPr>
                </a:tc>
                <a:tc>
                  <a:txBody>
                    <a:bodyPr/>
                    <a:lstStyle/>
                    <a:p>
                      <a:pPr algn="ctr"/>
                      <a:r>
                        <a:rPr sz="2000" b="1" i="0">
                          <a:solidFill>
                            <a:srgbClr val="2E5FA3"/>
                          </a:solidFill>
                          <a:latin typeface="Calibri"/>
                        </a:rPr>
                        <a:t>95 $</a:t>
                      </a:r>
                    </a:p>
                  </a:txBody>
                  <a:tcPr>
                    <a:solidFill>
                      <a:srgbClr val="EEF3FA"/>
                    </a:solidFill>
                  </a:tcPr>
                </a:tc>
                <a:tc>
                  <a:txBody>
                    <a:bodyPr/>
                    <a:lstStyle/>
                    <a:p>
                      <a:pPr algn="ctr"/>
                      <a:r>
                        <a:rPr sz="2000" b="1" i="0">
                          <a:solidFill>
                            <a:srgbClr val="1A7A4A"/>
                          </a:solidFill>
                          <a:latin typeface="Calibri"/>
                        </a:rPr>
                        <a:t>110 $</a:t>
                      </a:r>
                    </a:p>
                  </a:txBody>
                  <a:tcPr>
                    <a:solidFill>
                      <a:srgbClr val="EAF4EF"/>
                    </a:solidFill>
                  </a:tcPr>
                </a:tc>
              </a:tr>
              <a:tr h="342900">
                <a:tc>
                  <a:txBody>
                    <a:bodyPr/>
                    <a:lstStyle/>
                    <a:p>
                      <a:pPr algn="ctr"/>
                      <a:r>
                        <a:rPr sz="1200" b="1" i="0">
                          <a:solidFill>
                            <a:srgbClr val="A82020"/>
                          </a:solidFill>
                          <a:latin typeface="Calibri"/>
                        </a:rPr>
                        <a:t>-10,4 %</a:t>
                      </a:r>
                    </a:p>
                  </a:txBody>
                  <a:tcPr>
                    <a:solidFill>
                      <a:srgbClr val="FAF0EF"/>
                    </a:solidFill>
                  </a:tcPr>
                </a:tc>
                <a:tc>
                  <a:txBody>
                    <a:bodyPr/>
                    <a:lstStyle/>
                    <a:p>
                      <a:pPr algn="ctr"/>
                      <a:r>
                        <a:rPr sz="1200" b="1" i="0">
                          <a:solidFill>
                            <a:srgbClr val="2E5FA3"/>
                          </a:solidFill>
                          <a:latin typeface="Calibri"/>
                        </a:rPr>
                        <a:t>+13,6 %</a:t>
                      </a:r>
                    </a:p>
                  </a:txBody>
                  <a:tcPr>
                    <a:solidFill>
                      <a:srgbClr val="EEF3FA"/>
                    </a:solidFill>
                  </a:tcPr>
                </a:tc>
                <a:tc>
                  <a:txBody>
                    <a:bodyPr/>
                    <a:lstStyle/>
                    <a:p>
                      <a:pPr algn="ctr"/>
                      <a:r>
                        <a:rPr sz="1200" b="1" i="0">
                          <a:solidFill>
                            <a:srgbClr val="1A7A4A"/>
                          </a:solidFill>
                          <a:latin typeface="Calibri"/>
                        </a:rPr>
                        <a:t>+31,5 %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95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10.9% et une TGR de 2.5%, le prix implicite DCF est de 98.5$ (base), soit un upside de 18% vs le cours actuel. La prime actuelle reflète une sous-valorisation structurelle liée à la compression temporaire des marges, mais un catalyseur comme une amélioration des marges EBITDA à 20% en 2027 débloquerait la valeur.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Crocs, Inc.</a:t>
                      </a:r>
                    </a:p>
                  </a:txBody>
                  <a:tcPr>
                    <a:solidFill>
                      <a:srgbClr val="DDE8F5"/>
                    </a:solidFill>
                  </a:tcPr>
                </a:tc>
                <a:tc>
                  <a:txBody>
                    <a:bodyPr/>
                    <a:lstStyle/>
                    <a:p>
                      <a:pPr algn="ctr"/>
                      <a:r>
                        <a:rPr sz="750" b="1" i="0">
                          <a:solidFill>
                            <a:srgbClr val="2E5FA3"/>
                          </a:solidFill>
                          <a:latin typeface="Calibri"/>
                        </a:rPr>
                        <a:t>CROX</a:t>
                      </a:r>
                    </a:p>
                  </a:txBody>
                  <a:tcPr>
                    <a:solidFill>
                      <a:srgbClr val="DDE8F5"/>
                    </a:solidFill>
                  </a:tcPr>
                </a:tc>
                <a:tc>
                  <a:txBody>
                    <a:bodyPr/>
                    <a:lstStyle/>
                    <a:p>
                      <a:pPr algn="ctr"/>
                      <a:r>
                        <a:rPr sz="800" b="1" i="0">
                          <a:solidFill>
                            <a:srgbClr val="1B3A6B"/>
                          </a:solidFill>
                          <a:latin typeface="Calibri"/>
                        </a:rPr>
                        <a:t>4,2</a:t>
                      </a:r>
                    </a:p>
                  </a:txBody>
                  <a:tcPr>
                    <a:solidFill>
                      <a:srgbClr val="DDE8F5"/>
                    </a:solidFill>
                  </a:tcPr>
                </a:tc>
                <a:tc>
                  <a:txBody>
                    <a:bodyPr/>
                    <a:lstStyle/>
                    <a:p>
                      <a:pPr algn="ctr"/>
                      <a:r>
                        <a:rPr sz="800" b="1" i="0">
                          <a:solidFill>
                            <a:srgbClr val="1B3A6B"/>
                          </a:solidFill>
                          <a:latin typeface="Calibri"/>
                        </a:rPr>
                        <a:t>22,1x</a:t>
                      </a:r>
                    </a:p>
                  </a:txBody>
                  <a:tcPr>
                    <a:solidFill>
                      <a:srgbClr val="DDE8F5"/>
                    </a:solidFill>
                  </a:tcPr>
                </a:tc>
                <a:tc>
                  <a:txBody>
                    <a:bodyPr/>
                    <a:lstStyle/>
                    <a:p>
                      <a:pPr algn="ctr"/>
                      <a:r>
                        <a:rPr sz="800" b="1" i="0">
                          <a:solidFill>
                            <a:srgbClr val="1B3A6B"/>
                          </a:solidFill>
                          <a:latin typeface="Calibri"/>
                        </a:rPr>
                        <a:t>1,3x</a:t>
                      </a:r>
                    </a:p>
                  </a:txBody>
                  <a:tcPr>
                    <a:solidFill>
                      <a:srgbClr val="DDE8F5"/>
                    </a:solidFill>
                  </a:tcPr>
                </a:tc>
                <a:tc>
                  <a:txBody>
                    <a:bodyPr/>
                    <a:lstStyle/>
                    <a:p>
                      <a:pPr algn="ctr"/>
                      <a:r>
                        <a:rPr sz="800" b="1" i="0">
                          <a:solidFill>
                            <a:srgbClr val="1B3A6B"/>
                          </a:solidFill>
                          <a:latin typeface="Calibri"/>
                        </a:rPr>
                        <a:t>-51,8x</a:t>
                      </a:r>
                    </a:p>
                  </a:txBody>
                  <a:tcPr>
                    <a:solidFill>
                      <a:srgbClr val="DDE8F5"/>
                    </a:solidFill>
                  </a:tcPr>
                </a:tc>
                <a:tc>
                  <a:txBody>
                    <a:bodyPr/>
                    <a:lstStyle/>
                    <a:p>
                      <a:pPr algn="ctr"/>
                      <a:r>
                        <a:rPr sz="800" b="1" i="0">
                          <a:solidFill>
                            <a:srgbClr val="1B3A6B"/>
                          </a:solidFill>
                          <a:latin typeface="Calibri"/>
                        </a:rPr>
                        <a:t>58,3 %</a:t>
                      </a:r>
                    </a:p>
                  </a:txBody>
                  <a:tcPr>
                    <a:solidFill>
                      <a:srgbClr val="DDE8F5"/>
                    </a:solidFill>
                  </a:tcPr>
                </a:tc>
                <a:tc>
                  <a:txBody>
                    <a:bodyPr/>
                    <a:lstStyle/>
                    <a:p>
                      <a:pPr algn="ctr"/>
                      <a:r>
                        <a:rPr sz="800" b="1" i="0">
                          <a:solidFill>
                            <a:srgbClr val="1B3A6B"/>
                          </a:solidFill>
                          <a:latin typeface="Calibri"/>
                        </a:rPr>
                        <a:t>5,9 %</a:t>
                      </a:r>
                    </a:p>
                  </a:txBody>
                  <a:tcPr>
                    <a:solidFill>
                      <a:srgbClr val="DDE8F5"/>
                    </a:solidFill>
                  </a:tcPr>
                </a:tc>
              </a:tr>
              <a:tr h="251999">
                <a:tc>
                  <a:txBody>
                    <a:bodyPr/>
                    <a:lstStyle/>
                    <a:p>
                      <a:pPr algn="l"/>
                      <a:r>
                        <a:rPr sz="800" b="0" i="0">
                          <a:solidFill>
                            <a:srgbClr val="0D0D0D"/>
                          </a:solidFill>
                          <a:latin typeface="Calibri"/>
                        </a:rPr>
                        <a:t>Deckers Outdoor</a:t>
                      </a:r>
                    </a:p>
                  </a:txBody>
                  <a:tcPr>
                    <a:solidFill>
                      <a:srgbClr val="FFFFFF"/>
                    </a:solidFill>
                  </a:tcPr>
                </a:tc>
                <a:tc>
                  <a:txBody>
                    <a:bodyPr/>
                    <a:lstStyle/>
                    <a:p>
                      <a:pPr algn="ctr"/>
                      <a:r>
                        <a:rPr sz="750" b="0" i="0">
                          <a:solidFill>
                            <a:srgbClr val="555555"/>
                          </a:solidFill>
                          <a:latin typeface="Calibri"/>
                        </a:rPr>
                        <a:t>DECK</a:t>
                      </a:r>
                    </a:p>
                  </a:txBody>
                  <a:tcPr>
                    <a:solidFill>
                      <a:srgbClr val="FFFFFF"/>
                    </a:solidFill>
                  </a:tcPr>
                </a:tc>
                <a:tc>
                  <a:txBody>
                    <a:bodyPr/>
                    <a:lstStyle/>
                    <a:p>
                      <a:pPr algn="ctr"/>
                      <a:r>
                        <a:rPr sz="800" b="0" i="0">
                          <a:solidFill>
                            <a:srgbClr val="0D0D0D"/>
                          </a:solidFill>
                          <a:latin typeface="Calibri"/>
                        </a:rPr>
                        <a:t>14,2</a:t>
                      </a:r>
                    </a:p>
                  </a:txBody>
                  <a:tcPr>
                    <a:solidFill>
                      <a:srgbClr val="FFFFFF"/>
                    </a:solidFill>
                  </a:tcPr>
                </a:tc>
                <a:tc>
                  <a:txBody>
                    <a:bodyPr/>
                    <a:lstStyle/>
                    <a:p>
                      <a:pPr algn="ctr"/>
                      <a:r>
                        <a:rPr sz="800" b="0" i="0">
                          <a:solidFill>
                            <a:srgbClr val="0D0D0D"/>
                          </a:solidFill>
                          <a:latin typeface="Calibri"/>
                        </a:rPr>
                        <a:t>18,5x</a:t>
                      </a:r>
                    </a:p>
                  </a:txBody>
                  <a:tcPr>
                    <a:solidFill>
                      <a:srgbClr val="FFFFFF"/>
                    </a:solidFill>
                  </a:tcPr>
                </a:tc>
                <a:tc>
                  <a:txBody>
                    <a:bodyPr/>
                    <a:lstStyle/>
                    <a:p>
                      <a:pPr algn="ctr"/>
                      <a:r>
                        <a:rPr sz="800" b="0" i="0">
                          <a:solidFill>
                            <a:srgbClr val="0D0D0D"/>
                          </a:solidFill>
                          <a:latin typeface="Calibri"/>
                        </a:rPr>
                        <a:t>2,8x</a:t>
                      </a:r>
                    </a:p>
                  </a:txBody>
                  <a:tcPr>
                    <a:solidFill>
                      <a:srgbClr val="FFFFFF"/>
                    </a:solidFill>
                  </a:tcPr>
                </a:tc>
                <a:tc>
                  <a:txBody>
                    <a:bodyPr/>
                    <a:lstStyle/>
                    <a:p>
                      <a:pPr algn="ctr"/>
                      <a:r>
                        <a:rPr sz="800" b="0" i="0">
                          <a:solidFill>
                            <a:srgbClr val="0D0D0D"/>
                          </a:solidFill>
                          <a:latin typeface="Calibri"/>
                        </a:rPr>
                        <a:t>22,0x</a:t>
                      </a:r>
                    </a:p>
                  </a:txBody>
                  <a:tcPr>
                    <a:solidFill>
                      <a:srgbClr val="FFFFFF"/>
                    </a:solidFill>
                  </a:tcPr>
                </a:tc>
                <a:tc>
                  <a:txBody>
                    <a:bodyPr/>
                    <a:lstStyle/>
                    <a:p>
                      <a:pPr algn="ctr"/>
                      <a:r>
                        <a:rPr sz="800" b="0" i="0">
                          <a:solidFill>
                            <a:srgbClr val="0D0D0D"/>
                          </a:solidFill>
                          <a:latin typeface="Calibri"/>
                        </a:rPr>
                        <a:t>55,0 %</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r>
              <a:tr h="251999">
                <a:tc>
                  <a:txBody>
                    <a:bodyPr/>
                    <a:lstStyle/>
                    <a:p>
                      <a:pPr algn="l"/>
                      <a:r>
                        <a:rPr sz="800" b="0" i="0">
                          <a:solidFill>
                            <a:srgbClr val="0D0D0D"/>
                          </a:solidFill>
                          <a:latin typeface="Calibri"/>
                        </a:rPr>
                        <a:t>Steven Madden</a:t>
                      </a:r>
                    </a:p>
                  </a:txBody>
                  <a:tcPr>
                    <a:solidFill>
                      <a:srgbClr val="F7F8FA"/>
                    </a:solidFill>
                  </a:tcPr>
                </a:tc>
                <a:tc>
                  <a:txBody>
                    <a:bodyPr/>
                    <a:lstStyle/>
                    <a:p>
                      <a:pPr algn="ctr"/>
                      <a:r>
                        <a:rPr sz="750" b="0" i="0">
                          <a:solidFill>
                            <a:srgbClr val="555555"/>
                          </a:solidFill>
                          <a:latin typeface="Calibri"/>
                        </a:rPr>
                        <a:t>SHOO</a:t>
                      </a:r>
                    </a:p>
                  </a:txBody>
                  <a:tcPr>
                    <a:solidFill>
                      <a:srgbClr val="F7F8FA"/>
                    </a:solidFill>
                  </a:tcPr>
                </a:tc>
                <a:tc>
                  <a:txBody>
                    <a:bodyPr/>
                    <a:lstStyle/>
                    <a:p>
                      <a:pPr algn="ctr"/>
                      <a:r>
                        <a:rPr sz="800" b="0" i="0">
                          <a:solidFill>
                            <a:srgbClr val="0D0D0D"/>
                          </a:solidFill>
                          <a:latin typeface="Calibri"/>
                        </a:rPr>
                        <a:t>3,1</a:t>
                      </a:r>
                    </a:p>
                  </a:txBody>
                  <a:tcPr>
                    <a:solidFill>
                      <a:srgbClr val="F7F8FA"/>
                    </a:solidFill>
                  </a:tcPr>
                </a:tc>
                <a:tc>
                  <a:txBody>
                    <a:bodyPr/>
                    <a:lstStyle/>
                    <a:p>
                      <a:pPr algn="ctr"/>
                      <a:r>
                        <a:rPr sz="800" b="0" i="0">
                          <a:solidFill>
                            <a:srgbClr val="0D0D0D"/>
                          </a:solidFill>
                          <a:latin typeface="Calibri"/>
                        </a:rPr>
                        <a:t>12,0x</a:t>
                      </a:r>
                    </a:p>
                  </a:txBody>
                  <a:tcPr>
                    <a:solidFill>
                      <a:srgbClr val="F7F8FA"/>
                    </a:solidFill>
                  </a:tcPr>
                </a:tc>
                <a:tc>
                  <a:txBody>
                    <a:bodyPr/>
                    <a:lstStyle/>
                    <a:p>
                      <a:pPr algn="ctr"/>
                      <a:r>
                        <a:rPr sz="800" b="0" i="0">
                          <a:solidFill>
                            <a:srgbClr val="0D0D0D"/>
                          </a:solidFill>
                          <a:latin typeface="Calibri"/>
                        </a:rPr>
                        <a:t>1,5x</a:t>
                      </a:r>
                    </a:p>
                  </a:txBody>
                  <a:tcPr>
                    <a:solidFill>
                      <a:srgbClr val="F7F8FA"/>
                    </a:solidFill>
                  </a:tcPr>
                </a:tc>
                <a:tc>
                  <a:txBody>
                    <a:bodyPr/>
                    <a:lstStyle/>
                    <a:p>
                      <a:pPr algn="ctr"/>
                      <a:r>
                        <a:rPr sz="800" b="0" i="0">
                          <a:solidFill>
                            <a:srgbClr val="0D0D0D"/>
                          </a:solidFill>
                          <a:latin typeface="Calibri"/>
                        </a:rPr>
                        <a:t>15,0x</a:t>
                      </a:r>
                    </a:p>
                  </a:txBody>
                  <a:tcPr>
                    <a:solidFill>
                      <a:srgbClr val="F7F8FA"/>
                    </a:solidFill>
                  </a:tcPr>
                </a:tc>
                <a:tc>
                  <a:txBody>
                    <a:bodyPr/>
                    <a:lstStyle/>
                    <a:p>
                      <a:pPr algn="ctr"/>
                      <a:r>
                        <a:rPr sz="800" b="0" i="0">
                          <a:solidFill>
                            <a:srgbClr val="0D0D0D"/>
                          </a:solidFill>
                          <a:latin typeface="Calibri"/>
                        </a:rPr>
                        <a:t>48,0 %</a:t>
                      </a:r>
                    </a:p>
                  </a:txBody>
                  <a:tcPr>
                    <a:solidFill>
                      <a:srgbClr val="F7F8FA"/>
                    </a:solidFill>
                  </a:tcPr>
                </a:tc>
                <a:tc>
                  <a:txBody>
                    <a:bodyPr/>
                    <a:lstStyle/>
                    <a:p>
                      <a:pPr algn="ctr"/>
                      <a:r>
                        <a:rPr sz="800" b="0" i="0">
                          <a:solidFill>
                            <a:srgbClr val="0D0D0D"/>
                          </a:solidFill>
                          <a:latin typeface="Calibri"/>
                        </a:rPr>
                        <a:t>12,0 %</a:t>
                      </a:r>
                    </a:p>
                  </a:txBody>
                  <a:tcPr>
                    <a:solidFill>
                      <a:srgbClr val="F7F8FA"/>
                    </a:solidFill>
                  </a:tcPr>
                </a:tc>
              </a:tr>
              <a:tr h="251999">
                <a:tc>
                  <a:txBody>
                    <a:bodyPr/>
                    <a:lstStyle/>
                    <a:p>
                      <a:pPr algn="l"/>
                      <a:r>
                        <a:rPr sz="800" b="0" i="0">
                          <a:solidFill>
                            <a:srgbClr val="0D0D0D"/>
                          </a:solidFill>
                          <a:latin typeface="Calibri"/>
                        </a:rPr>
                        <a:t>Tapestry</a:t>
                      </a:r>
                    </a:p>
                  </a:txBody>
                  <a:tcPr>
                    <a:solidFill>
                      <a:srgbClr val="FFFFFF"/>
                    </a:solidFill>
                  </a:tcPr>
                </a:tc>
                <a:tc>
                  <a:txBody>
                    <a:bodyPr/>
                    <a:lstStyle/>
                    <a:p>
                      <a:pPr algn="ctr"/>
                      <a:r>
                        <a:rPr sz="750" b="0" i="0">
                          <a:solidFill>
                            <a:srgbClr val="555555"/>
                          </a:solidFill>
                          <a:latin typeface="Calibri"/>
                        </a:rPr>
                        <a:t>TPR</a:t>
                      </a:r>
                    </a:p>
                  </a:txBody>
                  <a:tcPr>
                    <a:solidFill>
                      <a:srgbClr val="FFFFFF"/>
                    </a:solidFill>
                  </a:tcPr>
                </a:tc>
                <a:tc>
                  <a:txBody>
                    <a:bodyPr/>
                    <a:lstStyle/>
                    <a:p>
                      <a:pPr algn="ctr"/>
                      <a:r>
                        <a:rPr sz="800" b="0" i="0">
                          <a:solidFill>
                            <a:srgbClr val="0D0D0D"/>
                          </a:solidFill>
                          <a:latin typeface="Calibri"/>
                        </a:rPr>
                        <a:t>12,5</a:t>
                      </a:r>
                    </a:p>
                  </a:txBody>
                  <a:tcPr>
                    <a:solidFill>
                      <a:srgbClr val="FFFFFF"/>
                    </a:solidFill>
                  </a:tcPr>
                </a:tc>
                <a:tc>
                  <a:txBody>
                    <a:bodyPr/>
                    <a:lstStyle/>
                    <a:p>
                      <a:pPr algn="ctr"/>
                      <a:r>
                        <a:rPr sz="800" b="0" i="0">
                          <a:solidFill>
                            <a:srgbClr val="0D0D0D"/>
                          </a:solidFill>
                          <a:latin typeface="Calibri"/>
                        </a:rPr>
                        <a:t>10,5x</a:t>
                      </a:r>
                    </a:p>
                  </a:txBody>
                  <a:tcPr>
                    <a:solidFill>
                      <a:srgbClr val="FFFFFF"/>
                    </a:solidFill>
                  </a:tcPr>
                </a:tc>
                <a:tc>
                  <a:txBody>
                    <a:bodyPr/>
                    <a:lstStyle/>
                    <a:p>
                      <a:pPr algn="ctr"/>
                      <a:r>
                        <a:rPr sz="800" b="0" i="0">
                          <a:solidFill>
                            <a:srgbClr val="0D0D0D"/>
                          </a:solidFill>
                          <a:latin typeface="Calibri"/>
                        </a:rPr>
                        <a:t>2,1x</a:t>
                      </a:r>
                    </a:p>
                  </a:txBody>
                  <a:tcPr>
                    <a:solidFill>
                      <a:srgbClr val="FFFFFF"/>
                    </a:solidFill>
                  </a:tcPr>
                </a:tc>
                <a:tc>
                  <a:txBody>
                    <a:bodyPr/>
                    <a:lstStyle/>
                    <a:p>
                      <a:pPr algn="ctr"/>
                      <a:r>
                        <a:rPr sz="800" b="0" i="0">
                          <a:solidFill>
                            <a:srgbClr val="0D0D0D"/>
                          </a:solidFill>
                          <a:latin typeface="Calibri"/>
                        </a:rPr>
                        <a:t>14,0x</a:t>
                      </a:r>
                    </a:p>
                  </a:txBody>
                  <a:tcPr>
                    <a:solidFill>
                      <a:srgbClr val="FFFFFF"/>
                    </a:solidFill>
                  </a:tcPr>
                </a:tc>
                <a:tc>
                  <a:txBody>
                    <a:bodyPr/>
                    <a:lstStyle/>
                    <a:p>
                      <a:pPr algn="ctr"/>
                      <a:r>
                        <a:rPr sz="800" b="0" i="0">
                          <a:solidFill>
                            <a:srgbClr val="0D0D0D"/>
                          </a:solidFill>
                          <a:latin typeface="Calibri"/>
                        </a:rPr>
                        <a:t>65,0 %</a:t>
                      </a:r>
                    </a:p>
                  </a:txBody>
                  <a:tcPr>
                    <a:solidFill>
                      <a:srgbClr val="FFFFFF"/>
                    </a:solidFill>
                  </a:tcPr>
                </a:tc>
                <a:tc>
                  <a:txBody>
                    <a:bodyPr/>
                    <a:lstStyle/>
                    <a:p>
                      <a:pPr algn="ctr"/>
                      <a:r>
                        <a:rPr sz="800" b="0" i="0">
                          <a:solidFill>
                            <a:srgbClr val="0D0D0D"/>
                          </a:solidFill>
                          <a:latin typeface="Calibri"/>
                        </a:rPr>
                        <a:t>22,0 %</a:t>
                      </a:r>
                    </a:p>
                  </a:txBody>
                  <a:tcPr>
                    <a:solidFill>
                      <a:srgbClr val="FFFFFF"/>
                    </a:solidFill>
                  </a:tcPr>
                </a:tc>
              </a:tr>
              <a:tr h="251999">
                <a:tc>
                  <a:txBody>
                    <a:bodyPr/>
                    <a:lstStyle/>
                    <a:p>
                      <a:pPr algn="l"/>
                      <a:r>
                        <a:rPr sz="800" b="0" i="0">
                          <a:solidFill>
                            <a:srgbClr val="0D0D0D"/>
                          </a:solidFill>
                          <a:latin typeface="Calibri"/>
                        </a:rPr>
                        <a:t>VF Corporation</a:t>
                      </a:r>
                    </a:p>
                  </a:txBody>
                  <a:tcPr>
                    <a:solidFill>
                      <a:srgbClr val="F7F8FA"/>
                    </a:solidFill>
                  </a:tcPr>
                </a:tc>
                <a:tc>
                  <a:txBody>
                    <a:bodyPr/>
                    <a:lstStyle/>
                    <a:p>
                      <a:pPr algn="ctr"/>
                      <a:r>
                        <a:rPr sz="750" b="0" i="0">
                          <a:solidFill>
                            <a:srgbClr val="555555"/>
                          </a:solidFill>
                          <a:latin typeface="Calibri"/>
                        </a:rPr>
                        <a:t>VFC</a:t>
                      </a:r>
                    </a:p>
                  </a:txBody>
                  <a:tcPr>
                    <a:solidFill>
                      <a:srgbClr val="F7F8FA"/>
                    </a:solidFill>
                  </a:tcPr>
                </a:tc>
                <a:tc>
                  <a:txBody>
                    <a:bodyPr/>
                    <a:lstStyle/>
                    <a:p>
                      <a:pPr algn="ctr"/>
                      <a:r>
                        <a:rPr sz="800" b="0" i="0">
                          <a:solidFill>
                            <a:srgbClr val="0D0D0D"/>
                          </a:solidFill>
                          <a:latin typeface="Calibri"/>
                        </a:rPr>
                        <a:t>7,8</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1,2x</a:t>
                      </a:r>
                    </a:p>
                  </a:txBody>
                  <a:tcPr>
                    <a:solidFill>
                      <a:srgbClr val="F7F8FA"/>
                    </a:solidFill>
                  </a:tcPr>
                </a:tc>
                <a:tc>
                  <a:txBody>
                    <a:bodyPr/>
                    <a:lstStyle/>
                    <a:p>
                      <a:pPr algn="ctr"/>
                      <a:r>
                        <a:rPr sz="800" b="0" i="0">
                          <a:solidFill>
                            <a:srgbClr val="0D0D0D"/>
                          </a:solidFill>
                          <a:latin typeface="Calibri"/>
                        </a:rPr>
                        <a:t>10,0x</a:t>
                      </a:r>
                    </a:p>
                  </a:txBody>
                  <a:tcPr>
                    <a:solidFill>
                      <a:srgbClr val="F7F8FA"/>
                    </a:solidFill>
                  </a:tcPr>
                </a:tc>
                <a:tc>
                  <a:txBody>
                    <a:bodyPr/>
                    <a:lstStyle/>
                    <a:p>
                      <a:pPr algn="ctr"/>
                      <a:r>
                        <a:rPr sz="800" b="0" i="0">
                          <a:solidFill>
                            <a:srgbClr val="0D0D0D"/>
                          </a:solidFill>
                          <a:latin typeface="Calibri"/>
                        </a:rPr>
                        <a:t>52,0 %</a:t>
                      </a:r>
                    </a:p>
                  </a:txBody>
                  <a:tcPr>
                    <a:solidFill>
                      <a:srgbClr val="F7F8FA"/>
                    </a:solidFill>
                  </a:tcPr>
                </a:tc>
                <a:tc>
                  <a:txBody>
                    <a:bodyPr/>
                    <a:lstStyle/>
                    <a:p>
                      <a:pPr algn="ctr"/>
                      <a:r>
                        <a:rPr sz="800" b="0" i="0">
                          <a:solidFill>
                            <a:srgbClr val="0D0D0D"/>
                          </a:solidFill>
                          <a:latin typeface="Calibri"/>
                        </a:rPr>
                        <a:t>14,0 %</a:t>
                      </a:r>
                    </a:p>
                  </a:txBody>
                  <a:tcPr>
                    <a:solidFill>
                      <a:srgbClr val="F7F8FA"/>
                    </a:solidFill>
                  </a:tcPr>
                </a:tc>
              </a:tr>
              <a:tr h="251999">
                <a:tc>
                  <a:txBody>
                    <a:bodyPr/>
                    <a:lstStyle/>
                    <a:p>
                      <a:pPr algn="l"/>
                      <a:r>
                        <a:rPr sz="800" b="0" i="0">
                          <a:solidFill>
                            <a:srgbClr val="0D0D0D"/>
                          </a:solidFill>
                          <a:latin typeface="Calibri"/>
                        </a:rPr>
                        <a:t>Caleres</a:t>
                      </a:r>
                    </a:p>
                  </a:txBody>
                  <a:tcPr>
                    <a:solidFill>
                      <a:srgbClr val="FFFFFF"/>
                    </a:solidFill>
                  </a:tcPr>
                </a:tc>
                <a:tc>
                  <a:txBody>
                    <a:bodyPr/>
                    <a:lstStyle/>
                    <a:p>
                      <a:pPr algn="ctr"/>
                      <a:r>
                        <a:rPr sz="750" b="0" i="0">
                          <a:solidFill>
                            <a:srgbClr val="555555"/>
                          </a:solidFill>
                          <a:latin typeface="Calibri"/>
                        </a:rPr>
                        <a:t>CAL</a:t>
                      </a:r>
                    </a:p>
                  </a:txBody>
                  <a:tcPr>
                    <a:solidFill>
                      <a:srgbClr val="FFFFFF"/>
                    </a:solidFill>
                  </a:tcPr>
                </a:tc>
                <a:tc>
                  <a:txBody>
                    <a:bodyPr/>
                    <a:lstStyle/>
                    <a:p>
                      <a:pPr algn="ctr"/>
                      <a:r>
                        <a:rPr sz="800" b="0" i="0">
                          <a:solidFill>
                            <a:srgbClr val="0D0D0D"/>
                          </a:solidFill>
                          <a:latin typeface="Calibri"/>
                        </a:rPr>
                        <a:t>1,8</a:t>
                      </a:r>
                    </a:p>
                  </a:txBody>
                  <a:tcPr>
                    <a:solidFill>
                      <a:srgbClr val="FFFFFF"/>
                    </a:solidFill>
                  </a:tcPr>
                </a:tc>
                <a:tc>
                  <a:txBody>
                    <a:bodyPr/>
                    <a:lstStyle/>
                    <a:p>
                      <a:pPr algn="ctr"/>
                      <a:r>
                        <a:rPr sz="800" b="0" i="0">
                          <a:solidFill>
                            <a:srgbClr val="0D0D0D"/>
                          </a:solidFill>
                          <a:latin typeface="Calibri"/>
                        </a:rPr>
                        <a:t>7,5x</a:t>
                      </a:r>
                    </a:p>
                  </a:txBody>
                  <a:tcPr>
                    <a:solidFill>
                      <a:srgbClr val="FFFFFF"/>
                    </a:solidFill>
                  </a:tcPr>
                </a:tc>
                <a:tc>
                  <a:txBody>
                    <a:bodyPr/>
                    <a:lstStyle/>
                    <a:p>
                      <a:pPr algn="ctr"/>
                      <a:r>
                        <a:rPr sz="800" b="0" i="0">
                          <a:solidFill>
                            <a:srgbClr val="0D0D0D"/>
                          </a:solidFill>
                          <a:latin typeface="Calibri"/>
                        </a:rPr>
                        <a:t>1,0x</a:t>
                      </a:r>
                    </a:p>
                  </a:txBody>
                  <a:tcPr>
                    <a:solidFill>
                      <a:srgbClr val="FFFFFF"/>
                    </a:solidFill>
                  </a:tcPr>
                </a:tc>
                <a:tc>
                  <a:txBody>
                    <a:bodyPr/>
                    <a:lstStyle/>
                    <a:p>
                      <a:pPr algn="ctr"/>
                      <a:r>
                        <a:rPr sz="800" b="0" i="0">
                          <a:solidFill>
                            <a:srgbClr val="0D0D0D"/>
                          </a:solidFill>
                          <a:latin typeface="Calibri"/>
                        </a:rPr>
                        <a:t>8,0x</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c>
                  <a:txBody>
                    <a:bodyPr/>
                    <a:lstStyle/>
                    <a:p>
                      <a:pPr algn="ctr"/>
                      <a:r>
                        <a:rPr sz="800" b="0" i="0">
                          <a:solidFill>
                            <a:srgbClr val="0D0D0D"/>
                          </a:solidFill>
                          <a:latin typeface="Calibri"/>
                        </a:rPr>
                        <a:t>11,0 %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10,5x</a:t>
                      </a:r>
                    </a:p>
                  </a:txBody>
                  <a:tcPr>
                    <a:solidFill>
                      <a:srgbClr val="F7F8FA"/>
                    </a:solidFill>
                  </a:tcPr>
                </a:tc>
                <a:tc>
                  <a:txBody>
                    <a:bodyPr/>
                    <a:lstStyle/>
                    <a:p>
                      <a:pPr algn="ctr"/>
                      <a:r>
                        <a:rPr sz="800" b="1" i="0">
                          <a:solidFill>
                            <a:srgbClr val="0D0D0D"/>
                          </a:solidFill>
                          <a:latin typeface="Calibri"/>
                        </a:rPr>
                        <a:t>1,5x</a:t>
                      </a:r>
                    </a:p>
                  </a:txBody>
                  <a:tcPr>
                    <a:solidFill>
                      <a:srgbClr val="F7F8FA"/>
                    </a:solidFill>
                  </a:tcPr>
                </a:tc>
                <a:tc>
                  <a:txBody>
                    <a:bodyPr/>
                    <a:lstStyle/>
                    <a:p>
                      <a:pPr algn="ctr"/>
                      <a:r>
                        <a:rPr sz="800" b="1" i="0">
                          <a:solidFill>
                            <a:srgbClr val="0D0D0D"/>
                          </a:solidFill>
                          <a:latin typeface="Calibri"/>
                        </a:rPr>
                        <a:t>14,0x</a:t>
                      </a:r>
                    </a:p>
                  </a:txBody>
                  <a:tcPr>
                    <a:solidFill>
                      <a:srgbClr val="F7F8FA"/>
                    </a:solidFill>
                  </a:tcPr>
                </a:tc>
                <a:tc>
                  <a:txBody>
                    <a:bodyPr/>
                    <a:lstStyle/>
                    <a:p>
                      <a:pPr algn="ctr"/>
                      <a:r>
                        <a:rPr sz="800" b="1" i="0">
                          <a:solidFill>
                            <a:srgbClr val="0D0D0D"/>
                          </a:solidFill>
                          <a:latin typeface="Calibri"/>
                        </a:rPr>
                        <a:t>52,0 %</a:t>
                      </a:r>
                    </a:p>
                  </a:txBody>
                  <a:tcPr>
                    <a:solidFill>
                      <a:srgbClr val="F7F8FA"/>
                    </a:solidFill>
                  </a:tcPr>
                </a:tc>
                <a:tc>
                  <a:txBody>
                    <a:bodyPr/>
                    <a:lstStyle/>
                    <a:p>
                      <a:pPr algn="ctr"/>
                      <a:r>
                        <a:rPr sz="800" b="1" i="0">
                          <a:solidFill>
                            <a:srgbClr val="0D0D0D"/>
                          </a:solidFill>
                          <a:latin typeface="Calibri"/>
                        </a:rPr>
                        <a:t>14,0 %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Crocs se négocie à 22.1x EV/EBITDA vs une médiane peers de 17.0x (+30%), avec un P/E de -51.8x (vs médiane 25.0x). Cette prime est justifiée par la résilience de la marque et la croissance organique supérieure (8% vs 5% peers). Une convergence vers la médiane impliquerait un downside de 15%, mais le potentiel de rebond des marges limite ce risque.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10.9% et une TGR de 2.5%, le prix implicite DCF est de 98.5$ (base), soit un upside de 18% vs le cours actuel. La prime actuelle reflète une sous-valorisation structurelle liée à la compression temporaire des marges, mais un catalyseur comme une amélioration des marges EBITDA à 20% en 2027 débloquerait la valeur.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Dette insoutenable</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La marge brute de 58.3% masque une dégradation structurelle des coûts de production, avec une hausse de 12% des matières premières en 2024 qui érode les marges réelles. Les stocks invendus ont bondi de 28% sur un an, signalant une demande en chute libre malgré la prétendue communauté engagée. Les marges nettes négatives à -2.0% révèlent une inefficacité opérationnelle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Demande en déclin</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Les ratios d'endettement sont insoutenables : un NetDebt/EBITDA de 4.58x dépasse le seuil critique de 3x, avec un coût de la dette en hausse de 150 pb en 2024. L'EV/EBITDA à 22.05x survalorise une entreprise en contraction, où l'EBITDA a chuté de 18% en 2023. L'Altman Z-score à 3.26 reste proche du seuil de faillite (2.6), indiquant un risque de liquidité imminent.</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Risque liquidité</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La croissance des revenus de -1.5% en 2025 confirme un déclin irréversible du marché des claquettes, segment mature et saturé. Les investissements massifs en marketing (15% du CA) n'ont pas enrayé la baisse des ventes, avec un ROI publicitaire inférieur à 1.2x. La dépendance à la Chine (40% de la production) expose l'entreprise à des risques géopolitiques croissants, aggravant</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les dépenses discrétionnaires de 15%</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des marques low-cost en Europe et Asie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de la rationalisation des coûts logistiques en Asie (+200M$ de surcoûts persistants)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Detresse : 8/100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0/100  Peu attractive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Regime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Qualite : Moderee (0.65x)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(0%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Insoutenable (-0.1x)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+0,016</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51,0 %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4</a:t>
                      </a:r>
                    </a:p>
                  </a:txBody>
                  <a:tcPr>
                    <a:solidFill>
                      <a:srgbClr val="EAF4EF"/>
                    </a:solidFill>
                  </a:tcPr>
                </a:tc>
                <a:tc>
                  <a:txBody>
                    <a:bodyPr/>
                    <a:lstStyle/>
                    <a:p>
                      <a:pPr algn="ctr"/>
                      <a:r>
                        <a:rPr sz="800" b="0" i="0">
                          <a:solidFill>
                            <a:srgbClr val="0D0D0D"/>
                          </a:solidFill>
                          <a:latin typeface="Calibri"/>
                        </a:rPr>
                        <a:t>+0,253</a:t>
                      </a:r>
                    </a:p>
                  </a:txBody>
                  <a:tcPr>
                    <a:solidFill>
                      <a:srgbClr val="EAF4EF"/>
                    </a:solidFill>
                  </a:tcPr>
                </a:tc>
                <a:tc>
                  <a:txBody>
                    <a:bodyPr/>
                    <a:lstStyle/>
                    <a:p>
                      <a:pPr algn="ctr"/>
                      <a:r>
                        <a:rPr sz="800" b="0" i="0">
                          <a:solidFill>
                            <a:srgbClr val="0D0D0D"/>
                          </a:solidFill>
                          <a:latin typeface="Calibri"/>
                        </a:rPr>
                        <a:t>Rebond des ventes Asie +15% en 2026 avec expansion en Chine et Inde | +200M$ de revenus supplémentaires d'ici 2027 | Horizon 2026-2028</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20</a:t>
                      </a:r>
                    </a:p>
                  </a:txBody>
                  <a:tcPr>
                    <a:solidFill>
                      <a:srgbClr val="FFFFFF"/>
                    </a:solidFill>
                  </a:tcPr>
                </a:tc>
                <a:tc>
                  <a:txBody>
                    <a:bodyPr/>
                    <a:lstStyle/>
                    <a:p>
                      <a:pPr algn="ctr"/>
                      <a:r>
                        <a:rPr sz="800" b="0" i="0">
                          <a:solidFill>
                            <a:srgbClr val="0D0D0D"/>
                          </a:solidFill>
                          <a:latin typeface="Calibri"/>
                        </a:rPr>
                        <a:t>+0,510</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6</a:t>
                      </a:r>
                    </a:p>
                  </a:txBody>
                  <a:tcPr>
                    <a:solidFill>
                      <a:srgbClr val="FAF0EF"/>
                    </a:solidFill>
                  </a:tcPr>
                </a:tc>
                <a:tc>
                  <a:txBody>
                    <a:bodyPr/>
                    <a:lstStyle/>
                    <a:p>
                      <a:pPr algn="ctr"/>
                      <a:r>
                        <a:rPr sz="800" b="0" i="0">
                          <a:solidFill>
                            <a:srgbClr val="0D0D0D"/>
                          </a:solidFill>
                          <a:latin typeface="Calibri"/>
                        </a:rPr>
                        <a:t>+0,237</a:t>
                      </a:r>
                    </a:p>
                  </a:txBody>
                  <a:tcPr>
                    <a:solidFill>
                      <a:srgbClr val="FAF0EF"/>
                    </a:solidFill>
                  </a:tcPr>
                </a:tc>
                <a:tc>
                  <a:txBody>
                    <a:bodyPr/>
                    <a:lstStyle/>
                    <a:p>
                      <a:pPr algn="ctr"/>
                      <a:r>
                        <a:rPr sz="800" b="0" i="0">
                          <a:solidFill>
                            <a:srgbClr val="0D0D0D"/>
                          </a:solidFill>
                          <a:latin typeface="Calibri"/>
                        </a:rPr>
                        <a:t>Risque de surcoûts logistiques en Asie (+200M$ en 2025) | Compression des marges EBITDA à 5% en cas d'échec de la rationalisation | Horizon 2025-2026, ampleur -500M$ de CA</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les difficultés de Crocs cette semaine, avec un recul marqué de l'action lululemon et des pressions sur les marges. Les titres neutres dominent, reflétant un manque de catalyseurs positifs spécifiques à Crocs.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3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Crocs,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WIT Partners Advisory Pte. Ltd.</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LSV Asset Management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Dimensional Fund Advisors LP</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54.3 %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54.3 %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Crocs se négocie à 22.1x EV/EBITDA, soit une prime de 30% vs la médiane peers (17.0x), justifiée par la résilience de la marque. Le P/E négatif reflète une année 2025 exceptionnellement faible, mais les multiples restent attractifs sur un horizon 2026-2027.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CROX  ·  USD  ·  Au 3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83,66 $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102,00 $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81,69 $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-18,0 %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2383200"/>
            <a:ext cx="498636" cy="151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38" name="Rectangle 37"/>
          <p:cNvSpPr/>
          <p:nvPr/>
        </p:nvSpPr>
        <p:spPr>
          <a:xfrm>
            <a:off x="1293300" y="2434248"/>
            <a:ext cx="498636" cy="1460951"/>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0" name="Rectangle 39"/>
          <p:cNvSpPr/>
          <p:nvPr/>
        </p:nvSpPr>
        <p:spPr>
          <a:xfrm>
            <a:off x="1949400" y="2544145"/>
            <a:ext cx="498636" cy="135105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2" name="Rectangle 41"/>
          <p:cNvSpPr/>
          <p:nvPr/>
        </p:nvSpPr>
        <p:spPr>
          <a:xfrm>
            <a:off x="2605500" y="3432535"/>
            <a:ext cx="498636" cy="46266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4" name="Rectangle 43"/>
          <p:cNvSpPr/>
          <p:nvPr/>
        </p:nvSpPr>
        <p:spPr>
          <a:xfrm>
            <a:off x="3261600" y="3691324"/>
            <a:ext cx="498636" cy="203875"/>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6" name="Rectangle 45"/>
          <p:cNvSpPr/>
          <p:nvPr/>
        </p:nvSpPr>
        <p:spPr>
          <a:xfrm>
            <a:off x="39177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48" name="Rectangle 47"/>
          <p:cNvSpPr/>
          <p:nvPr/>
        </p:nvSpPr>
        <p:spPr>
          <a:xfrm>
            <a:off x="4573800" y="3589935"/>
            <a:ext cx="498636" cy="30526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0" name="Rectangle 49"/>
          <p:cNvSpPr/>
          <p:nvPr/>
        </p:nvSpPr>
        <p:spPr>
          <a:xfrm>
            <a:off x="5229900" y="3551649"/>
            <a:ext cx="498636" cy="34355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2" name="Rectangle 51"/>
          <p:cNvSpPr/>
          <p:nvPr/>
        </p:nvSpPr>
        <p:spPr>
          <a:xfrm>
            <a:off x="5886000" y="3665090"/>
            <a:ext cx="498636" cy="23010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4" name="Rectangle 53"/>
          <p:cNvSpPr/>
          <p:nvPr/>
        </p:nvSpPr>
        <p:spPr>
          <a:xfrm>
            <a:off x="6542100" y="3183672"/>
            <a:ext cx="498636" cy="711527"/>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6" name="Rectangle 55"/>
          <p:cNvSpPr/>
          <p:nvPr/>
        </p:nvSpPr>
        <p:spPr>
          <a:xfrm>
            <a:off x="7198200" y="3728901"/>
            <a:ext cx="498636" cy="166298"/>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58" name="Rectangle 57"/>
          <p:cNvSpPr/>
          <p:nvPr/>
        </p:nvSpPr>
        <p:spPr>
          <a:xfrm>
            <a:off x="7854300" y="3683524"/>
            <a:ext cx="498636" cy="211675"/>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81</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88</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95</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102</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Crocs affiche une reprise opérationnelle en 2025 avec des marges brutes à 58.3%, mais une compression brutale de l'EBITDA à 5.9% due à des coûts logistiques et marketing élevés. La valorisation actuelle (EV/EBITDA 22.1x) reste attractive face à un potentiel de rebond des marges et de croissance orga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