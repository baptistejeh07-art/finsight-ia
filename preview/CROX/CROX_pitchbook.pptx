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Crocs, Inc.</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CROX  ·  Consumer Cyclical</a:t>
            </a:r>
          </a:p>
        </p:txBody>
      </p:sp>
      <p:sp>
        <p:nvSpPr>
          <p:cNvPr id="8" name="Rectangle 7"/>
          <p:cNvSpPr/>
          <p:nvPr/>
        </p:nvSpPr>
        <p:spPr>
          <a:xfrm>
            <a:off x="457200" y="2720232"/>
            <a:ext cx="8229600" cy="475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720232"/>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738232"/>
            <a:ext cx="8063999" cy="439200"/>
          </a:xfrm>
          <a:prstGeom prst="rect">
            <a:avLst/>
          </a:prstGeom>
          <a:noFill/>
        </p:spPr>
        <p:txBody>
          <a:bodyPr wrap="square">
            <a:spAutoFit/>
          </a:bodyPr>
          <a:lstStyle/>
          <a:p>
            <a:pPr algn="ctr"/>
            <a:r>
              <a:rPr sz="900" b="1" i="0">
                <a:solidFill>
                  <a:srgbClr val="1A7A4A"/>
                </a:solidFill>
                <a:latin typeface="Calibri"/>
              </a:rPr>
              <a:t>● BUY  ·  Prix cible base : 95 $  ·  Upside : +13,6 %</a:t>
            </a:r>
          </a:p>
        </p:txBody>
      </p:sp>
      <p:sp>
        <p:nvSpPr>
          <p:cNvPr id="11" name="Rectangle 10"/>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3" name="TextBox 12"/>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3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95 $  ·  Upside : +13,6 %  ·  Bear : 75 $ (-10,4 %)  ·  Bull : 110 $ (+31,5 %)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Marque iconique</a:t>
            </a:r>
          </a:p>
        </p:txBody>
      </p:sp>
      <p:sp>
        <p:nvSpPr>
          <p:cNvPr id="14" name="TextBox 13"/>
          <p:cNvSpPr txBox="1"/>
          <p:nvPr/>
        </p:nvSpPr>
        <p:spPr>
          <a:xfrm>
            <a:off x="503999" y="1814400"/>
            <a:ext cx="3931200" cy="327600"/>
          </a:xfrm>
          <a:prstGeom prst="rect">
            <a:avLst/>
          </a:prstGeom>
          <a:noFill/>
        </p:spPr>
        <p:txBody>
          <a:bodyPr wrap="square">
            <a:spAutoFit/>
          </a:bodyPr>
          <a:lstStyle/>
          <a:p>
            <a:pPr algn="l"/>
            <a:r>
              <a:rPr sz="750" b="0" i="0">
                <a:solidFill>
                  <a:srgbClr val="333333"/>
                </a:solidFill>
                <a:latin typeface="Calibri"/>
              </a:rPr>
              <a:t>Crocs vise 4,3Md$ de CA en 2026 avec une croissance revenue de 7% YoY grâce aux collaborations stratégiques comme Disney et Pokémon</a:t>
            </a:r>
          </a:p>
        </p:txBody>
      </p:sp>
      <p:sp>
        <p:nvSpPr>
          <p:cNvPr id="15" name="Rectangle 14"/>
          <p:cNvSpPr/>
          <p:nvPr/>
        </p:nvSpPr>
        <p:spPr>
          <a:xfrm>
            <a:off x="367200" y="2196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78000"/>
            <a:ext cx="3931200" cy="183600"/>
          </a:xfrm>
          <a:prstGeom prst="rect">
            <a:avLst/>
          </a:prstGeom>
          <a:noFill/>
        </p:spPr>
        <p:txBody>
          <a:bodyPr wrap="square">
            <a:spAutoFit/>
          </a:bodyPr>
          <a:lstStyle/>
          <a:p>
            <a:pPr algn="l"/>
            <a:r>
              <a:rPr sz="850" b="1" i="0">
                <a:solidFill>
                  <a:srgbClr val="1B3A6B"/>
                </a:solidFill>
                <a:latin typeface="Calibri"/>
              </a:rPr>
              <a:t>Marges élevées</a:t>
            </a:r>
          </a:p>
        </p:txBody>
      </p:sp>
      <p:sp>
        <p:nvSpPr>
          <p:cNvPr id="17" name="TextBox 16"/>
          <p:cNvSpPr txBox="1"/>
          <p:nvPr/>
        </p:nvSpPr>
        <p:spPr>
          <a:xfrm>
            <a:off x="503999" y="2347200"/>
            <a:ext cx="3931200" cy="327600"/>
          </a:xfrm>
          <a:prstGeom prst="rect">
            <a:avLst/>
          </a:prstGeom>
          <a:noFill/>
        </p:spPr>
        <p:txBody>
          <a:bodyPr wrap="square">
            <a:spAutoFit/>
          </a:bodyPr>
          <a:lstStyle/>
          <a:p>
            <a:pPr algn="l"/>
            <a:r>
              <a:rPr sz="750" b="0" i="0">
                <a:solidFill>
                  <a:srgbClr val="333333"/>
                </a:solidFill>
                <a:latin typeface="Calibri"/>
              </a:rPr>
              <a:t>La marge EBITDA devrait rebondir à 28% en 2026 contre 5,9% en 2025, reflétant une meilleure absorption des coûts fixes et une discipline opérationnelle renforcée</a:t>
            </a:r>
          </a:p>
        </p:txBody>
      </p:sp>
      <p:sp>
        <p:nvSpPr>
          <p:cNvPr id="18" name="Rectangle 17"/>
          <p:cNvSpPr/>
          <p:nvPr/>
        </p:nvSpPr>
        <p:spPr>
          <a:xfrm>
            <a:off x="367200" y="2728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10800"/>
            <a:ext cx="3931200" cy="183600"/>
          </a:xfrm>
          <a:prstGeom prst="rect">
            <a:avLst/>
          </a:prstGeom>
          <a:noFill/>
        </p:spPr>
        <p:txBody>
          <a:bodyPr wrap="square">
            <a:spAutoFit/>
          </a:bodyPr>
          <a:lstStyle/>
          <a:p>
            <a:pPr algn="l"/>
            <a:r>
              <a:rPr sz="850" b="1" i="0">
                <a:solidFill>
                  <a:srgbClr val="1B3A6B"/>
                </a:solidFill>
                <a:latin typeface="Calibri"/>
              </a:rPr>
              <a:t>Distribution omnicanale</a:t>
            </a:r>
          </a:p>
        </p:txBody>
      </p:sp>
      <p:sp>
        <p:nvSpPr>
          <p:cNvPr id="20" name="TextBox 19"/>
          <p:cNvSpPr txBox="1"/>
          <p:nvPr/>
        </p:nvSpPr>
        <p:spPr>
          <a:xfrm>
            <a:off x="503999" y="2880000"/>
            <a:ext cx="3931200" cy="327600"/>
          </a:xfrm>
          <a:prstGeom prst="rect">
            <a:avLst/>
          </a:prstGeom>
          <a:noFill/>
        </p:spPr>
        <p:txBody>
          <a:bodyPr wrap="square">
            <a:spAutoFit/>
          </a:bodyPr>
          <a:lstStyle/>
          <a:p>
            <a:pPr algn="l"/>
            <a:r>
              <a:rPr sz="750" b="0" i="0">
                <a:solidFill>
                  <a:srgbClr val="333333"/>
                </a:solidFill>
                <a:latin typeface="Calibri"/>
              </a:rPr>
              <a:t>Le P/E négatif de -51,8x masque une génération de cash opérationnelle positive, avec un FCF attendu à 400M$ en 2026, soutenant une valorisation attractive.</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Dépendance aux tendances</a:t>
            </a:r>
          </a:p>
        </p:txBody>
      </p:sp>
      <p:sp>
        <p:nvSpPr>
          <p:cNvPr id="25" name="TextBox 24"/>
          <p:cNvSpPr txBox="1"/>
          <p:nvPr/>
        </p:nvSpPr>
        <p:spPr>
          <a:xfrm>
            <a:off x="4845600" y="1814400"/>
            <a:ext cx="3794399" cy="327600"/>
          </a:xfrm>
          <a:prstGeom prst="rect">
            <a:avLst/>
          </a:prstGeom>
          <a:noFill/>
        </p:spPr>
        <p:txBody>
          <a:bodyPr wrap="square">
            <a:spAutoFit/>
          </a:bodyPr>
          <a:lstStyle/>
          <a:p>
            <a:pPr algn="l"/>
            <a:r>
              <a:rPr sz="750" b="0" i="0">
                <a:solidFill>
                  <a:srgbClr val="333333"/>
                </a:solidFill>
                <a:latin typeface="Calibri"/>
              </a:rPr>
              <a:t>Ralentissement économique en Europe de l'Ouest (-2% de CA en 2026) réduisant la demande premium | Horizon: 6-12 mois | Ampleur: -150M$ de CA et -1pp de marge EBITDA</a:t>
            </a:r>
          </a:p>
        </p:txBody>
      </p:sp>
      <p:sp>
        <p:nvSpPr>
          <p:cNvPr id="26" name="Rectangle 25"/>
          <p:cNvSpPr/>
          <p:nvPr/>
        </p:nvSpPr>
        <p:spPr>
          <a:xfrm>
            <a:off x="4708800" y="2196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78000"/>
            <a:ext cx="3794399" cy="183600"/>
          </a:xfrm>
          <a:prstGeom prst="rect">
            <a:avLst/>
          </a:prstGeom>
          <a:noFill/>
        </p:spPr>
        <p:txBody>
          <a:bodyPr wrap="square">
            <a:spAutoFit/>
          </a:bodyPr>
          <a:lstStyle/>
          <a:p>
            <a:pPr algn="l"/>
            <a:r>
              <a:rPr sz="850" b="1" i="0">
                <a:solidFill>
                  <a:srgbClr val="1B3A6B"/>
                </a:solidFill>
                <a:latin typeface="Calibri"/>
              </a:rPr>
              <a:t>Concurrence accrue</a:t>
            </a:r>
          </a:p>
        </p:txBody>
      </p:sp>
      <p:sp>
        <p:nvSpPr>
          <p:cNvPr id="28" name="TextBox 27"/>
          <p:cNvSpPr txBox="1"/>
          <p:nvPr/>
        </p:nvSpPr>
        <p:spPr>
          <a:xfrm>
            <a:off x="4845600" y="2347200"/>
            <a:ext cx="3794399" cy="327600"/>
          </a:xfrm>
          <a:prstGeom prst="rect">
            <a:avLst/>
          </a:prstGeom>
          <a:noFill/>
        </p:spPr>
        <p:txBody>
          <a:bodyPr wrap="square">
            <a:spAutoFit/>
          </a:bodyPr>
          <a:lstStyle/>
          <a:p>
            <a:pPr algn="l"/>
            <a:r>
              <a:rPr sz="750" b="0" i="0">
                <a:solidFill>
                  <a:srgbClr val="333333"/>
                </a:solidFill>
                <a:latin typeface="Calibri"/>
              </a:rPr>
              <a:t>Concurrence accrue des marques low-cost (ex: Skechers) avec des prix 20% inférieurs | Horizon: 12-18 mois | Impact: pression sur les volumes et -2pp de marge brute</a:t>
            </a:r>
          </a:p>
        </p:txBody>
      </p:sp>
      <p:sp>
        <p:nvSpPr>
          <p:cNvPr id="29" name="Rectangle 28"/>
          <p:cNvSpPr/>
          <p:nvPr/>
        </p:nvSpPr>
        <p:spPr>
          <a:xfrm>
            <a:off x="4708800" y="2728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10800"/>
            <a:ext cx="3794399" cy="183600"/>
          </a:xfrm>
          <a:prstGeom prst="rect">
            <a:avLst/>
          </a:prstGeom>
          <a:noFill/>
        </p:spPr>
        <p:txBody>
          <a:bodyPr wrap="square">
            <a:spAutoFit/>
          </a:bodyPr>
          <a:lstStyle/>
          <a:p>
            <a:pPr algn="l"/>
            <a:r>
              <a:rPr sz="850" b="1" i="0">
                <a:solidFill>
                  <a:srgbClr val="1B3A6B"/>
                </a:solidFill>
                <a:latin typeface="Calibri"/>
              </a:rPr>
              <a:t>Coûts logistiques</a:t>
            </a:r>
          </a:p>
        </p:txBody>
      </p:sp>
      <p:sp>
        <p:nvSpPr>
          <p:cNvPr id="31" name="TextBox 30"/>
          <p:cNvSpPr txBox="1"/>
          <p:nvPr/>
        </p:nvSpPr>
        <p:spPr>
          <a:xfrm>
            <a:off x="4845600" y="2880000"/>
            <a:ext cx="3794399" cy="327600"/>
          </a:xfrm>
          <a:prstGeom prst="rect">
            <a:avLst/>
          </a:prstGeom>
          <a:noFill/>
        </p:spPr>
        <p:txBody>
          <a:bodyPr wrap="square">
            <a:spAutoFit/>
          </a:bodyPr>
          <a:lstStyle/>
          <a:p>
            <a:pPr algn="l"/>
            <a:r>
              <a:rPr sz="750" b="0" i="0">
                <a:solidFill>
                  <a:srgbClr val="333333"/>
                </a:solidFill>
                <a:latin typeface="Calibri"/>
              </a:rPr>
              <a:t>Coûts logistiques en hausse de 12% en 2026 en raison des tensions géopolitiques | Horizon: 12 mois | Impact: -1,5pp de marge EBITDA</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22,1x</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11,8x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10,9 %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1,54  ·  RFR 4,3 %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95 $</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intrinsèque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+13,6 %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+0,079</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Positif  ·  30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Crocs, Inc.  ·  Consumer Cyclical</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Dépendance aux tendances  ·  Concurrence accrue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Crocs, Inc.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Crocs, Inc. conçoit et commercialise des chaussures légères et confortables en mousse Croslite, ciblant les consommateurs recherchant praticité et style. Positionnée comme une marque lifestyle accessible, elle mise sur l'innovation produit et une distribution omnicanale pour fidéliser sa clientèle. Ses avantages concurrentiels incluent une production flexible, une forte reconnaissance de marque et une stratégie de pricing premium sur des produits à haute marge.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Chaussures</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Segment principal générant 95% du CA via la vente de chaussures en mousse Croslite, incluant modèles classiques et collaborations limitées. Clients cibles : consommateurs urbains, enfants et professionnels en quête de confort. Croissance tirée par les lancements de collections exclusives et l'expansion internationale, avec une marge brute stable &gt;58%.</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Accessoires</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Segment secondaire (5% du CA) incluant sacs, chaussettes et accessoires complémentaires. Modèle de revenus basé sur des ventes en ligne et en magasins partenaires. Marges inférieures aux chaussures mais contribuent à la diversification et à l'engagement client via des bundles.</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4,2 Mds$</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4,0 Mds$</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83,66 $</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22,1x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-51,8x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95%</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Chaussures</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Segment principal générant 95% du CA via la vente de chaussures en mousse Croslite, incluant modèles classiques et collaborations limitées. Clients cibles : consommateurs urbains, enfants et professionnels en quête de confort. Croissance tirée par les lancements de collections exclusives et l'expansion internationale, avec une marge brute stable &gt;58%.</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5%</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Accessoires</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Segment secondaire (5% du CA) incluant sacs, chaussettes et accessoires complémentaires. Modèle de revenus basé sur des ventes en ligne et en magasins partenaires. Marges inférieures aux chaussures mais contribuent à la diversification et à l'engagement client via des bundles.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USD millions  ·  2022–2027F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4,0</a:t>
                      </a:r>
                    </a:p>
                  </a:txBody>
                  <a:tcPr>
                    <a:solidFill>
                      <a:srgbClr val="FFFFFF"/>
                    </a:solidFill>
                  </a:tcPr>
                </a:tc>
                <a:tc>
                  <a:txBody>
                    <a:bodyPr/>
                    <a:lstStyle/>
                    <a:p>
                      <a:pPr algn="ctr"/>
                      <a:r>
                        <a:rPr sz="800" b="1" i="0">
                          <a:solidFill>
                            <a:srgbClr val="0D0D0D"/>
                          </a:solidFill>
                          <a:latin typeface="Calibri"/>
                        </a:rPr>
                        <a:t>4,1</a:t>
                      </a:r>
                    </a:p>
                  </a:txBody>
                  <a:tcPr>
                    <a:solidFill>
                      <a:srgbClr val="FFFFFF"/>
                    </a:solidFill>
                  </a:tcPr>
                </a:tc>
                <a:tc>
                  <a:txBody>
                    <a:bodyPr/>
                    <a:lstStyle/>
                    <a:p>
                      <a:pPr algn="ctr"/>
                      <a:r>
                        <a:rPr sz="800" b="1" i="0">
                          <a:solidFill>
                            <a:srgbClr val="1B3A6B"/>
                          </a:solidFill>
                          <a:latin typeface="Calibri"/>
                        </a:rPr>
                        <a:t>4,0</a:t>
                      </a:r>
                    </a:p>
                  </a:txBody>
                  <a:tcPr>
                    <a:solidFill>
                      <a:srgbClr val="DDE8F5"/>
                    </a:solidFill>
                  </a:tcPr>
                </a:tc>
                <a:tc>
                  <a:txBody>
                    <a:bodyPr/>
                    <a:lstStyle/>
                    <a:p>
                      <a:pPr algn="ctr"/>
                      <a:r>
                        <a:rPr sz="800" b="1" i="0">
                          <a:solidFill>
                            <a:srgbClr val="0D0D0D"/>
                          </a:solidFill>
                          <a:latin typeface="Calibri"/>
                        </a:rPr>
                        <a:t>4,3</a:t>
                      </a:r>
                    </a:p>
                  </a:txBody>
                  <a:tcPr>
                    <a:solidFill>
                      <a:srgbClr val="FFFFFF"/>
                    </a:solidFill>
                  </a:tcPr>
                </a:tc>
                <a:tc>
                  <a:txBody>
                    <a:bodyPr/>
                    <a:lstStyle/>
                    <a:p>
                      <a:pPr algn="ctr"/>
                      <a:r>
                        <a:rPr sz="800" b="1" i="0">
                          <a:solidFill>
                            <a:srgbClr val="0D0D0D"/>
                          </a:solidFill>
                          <a:latin typeface="Calibri"/>
                        </a:rPr>
                        <a:t>4,6</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+11,5 %</a:t>
                      </a:r>
                    </a:p>
                  </a:txBody>
                  <a:tcPr>
                    <a:solidFill>
                      <a:srgbClr val="F7F8FA"/>
                    </a:solidFill>
                  </a:tcPr>
                </a:tc>
                <a:tc>
                  <a:txBody>
                    <a:bodyPr/>
                    <a:lstStyle/>
                    <a:p>
                      <a:pPr algn="ctr"/>
                      <a:r>
                        <a:rPr sz="750" b="0" i="1">
                          <a:solidFill>
                            <a:srgbClr val="555555"/>
                          </a:solidFill>
                          <a:latin typeface="Calibri"/>
                        </a:rPr>
                        <a:t>+3,5 %</a:t>
                      </a:r>
                    </a:p>
                  </a:txBody>
                  <a:tcPr>
                    <a:solidFill>
                      <a:srgbClr val="F7F8FA"/>
                    </a:solidFill>
                  </a:tcPr>
                </a:tc>
                <a:tc>
                  <a:txBody>
                    <a:bodyPr/>
                    <a:lstStyle/>
                    <a:p>
                      <a:pPr algn="ctr"/>
                      <a:r>
                        <a:rPr sz="750" b="0" i="1">
                          <a:solidFill>
                            <a:srgbClr val="555555"/>
                          </a:solidFill>
                          <a:latin typeface="Calibri"/>
                        </a:rPr>
                        <a:t>-1,5 %</a:t>
                      </a:r>
                    </a:p>
                  </a:txBody>
                  <a:tcPr>
                    <a:solidFill>
                      <a:srgbClr val="DDE8F5"/>
                    </a:solidFill>
                  </a:tcPr>
                </a:tc>
                <a:tc>
                  <a:txBody>
                    <a:bodyPr/>
                    <a:lstStyle/>
                    <a:p>
                      <a:pPr algn="ctr"/>
                      <a:r>
                        <a:rPr sz="750" b="0" i="1">
                          <a:solidFill>
                            <a:srgbClr val="555555"/>
                          </a:solidFill>
                          <a:latin typeface="Calibri"/>
                        </a:rPr>
                        <a:t>+7,4 %</a:t>
                      </a:r>
                    </a:p>
                  </a:txBody>
                  <a:tcPr>
                    <a:solidFill>
                      <a:srgbClr val="F7F8FA"/>
                    </a:solidFill>
                  </a:tcPr>
                </a:tc>
                <a:tc>
                  <a:txBody>
                    <a:bodyPr/>
                    <a:lstStyle/>
                    <a:p>
                      <a:pPr algn="ctr"/>
                      <a:r>
                        <a:rPr sz="750" b="0" i="1">
                          <a:solidFill>
                            <a:srgbClr val="555555"/>
                          </a:solidFill>
                          <a:latin typeface="Calibri"/>
                        </a:rPr>
                        <a:t>+7,0 %</a:t>
                      </a:r>
                    </a:p>
                  </a:txBody>
                  <a:tcPr>
                    <a:solidFill>
                      <a:srgbClr val="F7F8FA"/>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2,2</a:t>
                      </a:r>
                    </a:p>
                  </a:txBody>
                  <a:tcPr>
                    <a:solidFill>
                      <a:srgbClr val="FFFFFF"/>
                    </a:solidFill>
                  </a:tcPr>
                </a:tc>
                <a:tc>
                  <a:txBody>
                    <a:bodyPr/>
                    <a:lstStyle/>
                    <a:p>
                      <a:pPr algn="ctr"/>
                      <a:r>
                        <a:rPr sz="800" b="1" i="0">
                          <a:solidFill>
                            <a:srgbClr val="0D0D0D"/>
                          </a:solidFill>
                          <a:latin typeface="Calibri"/>
                        </a:rPr>
                        <a:t>2,4</a:t>
                      </a:r>
                    </a:p>
                  </a:txBody>
                  <a:tcPr>
                    <a:solidFill>
                      <a:srgbClr val="FFFFFF"/>
                    </a:solidFill>
                  </a:tcPr>
                </a:tc>
                <a:tc>
                  <a:txBody>
                    <a:bodyPr/>
                    <a:lstStyle/>
                    <a:p>
                      <a:pPr algn="ctr"/>
                      <a:r>
                        <a:rPr sz="800" b="1" i="0">
                          <a:solidFill>
                            <a:srgbClr val="1B3A6B"/>
                          </a:solidFill>
                          <a:latin typeface="Calibri"/>
                        </a:rPr>
                        <a:t>2,4</a:t>
                      </a:r>
                    </a:p>
                  </a:txBody>
                  <a:tcPr>
                    <a:solidFill>
                      <a:srgbClr val="DDE8F5"/>
                    </a:solidFill>
                  </a:tcPr>
                </a:tc>
                <a:tc>
                  <a:txBody>
                    <a:bodyPr/>
                    <a:lstStyle/>
                    <a:p>
                      <a:pPr algn="ctr"/>
                      <a:r>
                        <a:rPr sz="800" b="1" i="0">
                          <a:solidFill>
                            <a:srgbClr val="0D0D0D"/>
                          </a:solidFill>
                          <a:latin typeface="Calibri"/>
                        </a:rPr>
                        <a:t>2,5</a:t>
                      </a:r>
                    </a:p>
                  </a:txBody>
                  <a:tcPr>
                    <a:solidFill>
                      <a:srgbClr val="FFFFFF"/>
                    </a:solidFill>
                  </a:tcPr>
                </a:tc>
                <a:tc>
                  <a:txBody>
                    <a:bodyPr/>
                    <a:lstStyle/>
                    <a:p>
                      <a:pPr algn="ctr"/>
                      <a:r>
                        <a:rPr sz="800" b="1" i="0">
                          <a:solidFill>
                            <a:srgbClr val="0D0D0D"/>
                          </a:solidFill>
                          <a:latin typeface="Calibri"/>
                        </a:rPr>
                        <a:t>2,8</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55,8 %</a:t>
                      </a:r>
                    </a:p>
                  </a:txBody>
                  <a:tcPr>
                    <a:solidFill>
                      <a:srgbClr val="F7F8FA"/>
                    </a:solidFill>
                  </a:tcPr>
                </a:tc>
                <a:tc>
                  <a:txBody>
                    <a:bodyPr/>
                    <a:lstStyle/>
                    <a:p>
                      <a:pPr algn="ctr"/>
                      <a:r>
                        <a:rPr sz="750" b="0" i="1">
                          <a:solidFill>
                            <a:srgbClr val="555555"/>
                          </a:solidFill>
                          <a:latin typeface="Calibri"/>
                        </a:rPr>
                        <a:t>58,8 %</a:t>
                      </a:r>
                    </a:p>
                  </a:txBody>
                  <a:tcPr>
                    <a:solidFill>
                      <a:srgbClr val="F7F8FA"/>
                    </a:solidFill>
                  </a:tcPr>
                </a:tc>
                <a:tc>
                  <a:txBody>
                    <a:bodyPr/>
                    <a:lstStyle/>
                    <a:p>
                      <a:pPr algn="ctr"/>
                      <a:r>
                        <a:rPr sz="750" b="0" i="1">
                          <a:solidFill>
                            <a:srgbClr val="555555"/>
                          </a:solidFill>
                          <a:latin typeface="Calibri"/>
                        </a:rPr>
                        <a:t>58,3 %</a:t>
                      </a:r>
                    </a:p>
                  </a:txBody>
                  <a:tcPr>
                    <a:solidFill>
                      <a:srgbClr val="DDE8F5"/>
                    </a:solidFill>
                  </a:tcPr>
                </a:tc>
                <a:tc>
                  <a:txBody>
                    <a:bodyPr/>
                    <a:lstStyle/>
                    <a:p>
                      <a:pPr algn="ctr"/>
                      <a:r>
                        <a:rPr sz="750" b="0" i="1">
                          <a:solidFill>
                            <a:srgbClr val="555555"/>
                          </a:solidFill>
                          <a:latin typeface="Calibri"/>
                        </a:rPr>
                        <a:t>59,0 %</a:t>
                      </a:r>
                    </a:p>
                  </a:txBody>
                  <a:tcPr>
                    <a:solidFill>
                      <a:srgbClr val="F7F8FA"/>
                    </a:solidFill>
                  </a:tcPr>
                </a:tc>
                <a:tc>
                  <a:txBody>
                    <a:bodyPr/>
                    <a:lstStyle/>
                    <a:p>
                      <a:pPr algn="ctr"/>
                      <a:r>
                        <a:rPr sz="750" b="0" i="1">
                          <a:solidFill>
                            <a:srgbClr val="555555"/>
                          </a:solidFill>
                          <a:latin typeface="Calibri"/>
                        </a:rPr>
                        <a:t>60,0 %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1,1</a:t>
                      </a:r>
                    </a:p>
                  </a:txBody>
                  <a:tcPr>
                    <a:solidFill>
                      <a:srgbClr val="FFFFFF"/>
                    </a:solidFill>
                  </a:tcPr>
                </a:tc>
                <a:tc>
                  <a:txBody>
                    <a:bodyPr/>
                    <a:lstStyle/>
                    <a:p>
                      <a:pPr algn="ctr"/>
                      <a:r>
                        <a:rPr sz="800" b="1" i="0">
                          <a:solidFill>
                            <a:srgbClr val="0D0D0D"/>
                          </a:solidFill>
                          <a:latin typeface="Calibri"/>
                        </a:rPr>
                        <a:t>1,1</a:t>
                      </a:r>
                    </a:p>
                  </a:txBody>
                  <a:tcPr>
                    <a:solidFill>
                      <a:srgbClr val="FFFFFF"/>
                    </a:solidFill>
                  </a:tcPr>
                </a:tc>
                <a:tc>
                  <a:txBody>
                    <a:bodyPr/>
                    <a:lstStyle/>
                    <a:p>
                      <a:pPr algn="ctr"/>
                      <a:r>
                        <a:rPr sz="800" b="1" i="0">
                          <a:solidFill>
                            <a:srgbClr val="1B3A6B"/>
                          </a:solidFill>
                          <a:latin typeface="Calibri"/>
                        </a:rPr>
                        <a:t>241</a:t>
                      </a:r>
                    </a:p>
                  </a:txBody>
                  <a:tcPr>
                    <a:solidFill>
                      <a:srgbClr val="DDE8F5"/>
                    </a:solidFill>
                  </a:tcPr>
                </a:tc>
                <a:tc>
                  <a:txBody>
                    <a:bodyPr/>
                    <a:lstStyle/>
                    <a:p>
                      <a:pPr algn="ctr"/>
                      <a:r>
                        <a:rPr sz="800" b="1" i="0">
                          <a:solidFill>
                            <a:srgbClr val="0D0D0D"/>
                          </a:solidFill>
                          <a:latin typeface="Calibri"/>
                        </a:rPr>
                        <a:t>1,2</a:t>
                      </a:r>
                    </a:p>
                  </a:txBody>
                  <a:tcPr>
                    <a:solidFill>
                      <a:srgbClr val="FFFFFF"/>
                    </a:solidFill>
                  </a:tcPr>
                </a:tc>
                <a:tc>
                  <a:txBody>
                    <a:bodyPr/>
                    <a:lstStyle/>
                    <a:p>
                      <a:pPr algn="ctr"/>
                      <a:r>
                        <a:rPr sz="800" b="1" i="0">
                          <a:solidFill>
                            <a:srgbClr val="0D0D0D"/>
                          </a:solidFill>
                          <a:latin typeface="Calibri"/>
                        </a:rPr>
                        <a:t>1,4</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27,6 %</a:t>
                      </a:r>
                    </a:p>
                  </a:txBody>
                  <a:tcPr>
                    <a:solidFill>
                      <a:srgbClr val="F7F8FA"/>
                    </a:solidFill>
                  </a:tcPr>
                </a:tc>
                <a:tc>
                  <a:txBody>
                    <a:bodyPr/>
                    <a:lstStyle/>
                    <a:p>
                      <a:pPr algn="ctr"/>
                      <a:r>
                        <a:rPr sz="750" b="0" i="1">
                          <a:solidFill>
                            <a:srgbClr val="555555"/>
                          </a:solidFill>
                          <a:latin typeface="Calibri"/>
                        </a:rPr>
                        <a:t>26,6 %</a:t>
                      </a:r>
                    </a:p>
                  </a:txBody>
                  <a:tcPr>
                    <a:solidFill>
                      <a:srgbClr val="F7F8FA"/>
                    </a:solidFill>
                  </a:tcPr>
                </a:tc>
                <a:tc>
                  <a:txBody>
                    <a:bodyPr/>
                    <a:lstStyle/>
                    <a:p>
                      <a:pPr algn="ctr"/>
                      <a:r>
                        <a:rPr sz="750" b="0" i="1">
                          <a:solidFill>
                            <a:srgbClr val="555555"/>
                          </a:solidFill>
                          <a:latin typeface="Calibri"/>
                        </a:rPr>
                        <a:t>5,9 %</a:t>
                      </a:r>
                    </a:p>
                  </a:txBody>
                  <a:tcPr>
                    <a:solidFill>
                      <a:srgbClr val="DDE8F5"/>
                    </a:solidFill>
                  </a:tcPr>
                </a:tc>
                <a:tc>
                  <a:txBody>
                    <a:bodyPr/>
                    <a:lstStyle/>
                    <a:p>
                      <a:pPr algn="ctr"/>
                      <a:r>
                        <a:rPr sz="750" b="0" i="1">
                          <a:solidFill>
                            <a:srgbClr val="555555"/>
                          </a:solidFill>
                          <a:latin typeface="Calibri"/>
                        </a:rPr>
                        <a:t>28,0 %</a:t>
                      </a:r>
                    </a:p>
                  </a:txBody>
                  <a:tcPr>
                    <a:solidFill>
                      <a:srgbClr val="F7F8FA"/>
                    </a:solidFill>
                  </a:tcPr>
                </a:tc>
                <a:tc>
                  <a:txBody>
                    <a:bodyPr/>
                    <a:lstStyle/>
                    <a:p>
                      <a:pPr algn="ctr"/>
                      <a:r>
                        <a:rPr sz="750" b="0" i="1">
                          <a:solidFill>
                            <a:srgbClr val="555555"/>
                          </a:solidFill>
                          <a:latin typeface="Calibri"/>
                        </a:rPr>
                        <a:t>30,0 %</a:t>
                      </a:r>
                    </a:p>
                  </a:txBody>
                  <a:tcPr>
                    <a:solidFill>
                      <a:srgbClr val="F7F8FA"/>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793</a:t>
                      </a:r>
                    </a:p>
                  </a:txBody>
                  <a:tcPr>
                    <a:solidFill>
                      <a:srgbClr val="FFFFFF"/>
                    </a:solidFill>
                  </a:tcPr>
                </a:tc>
                <a:tc>
                  <a:txBody>
                    <a:bodyPr/>
                    <a:lstStyle/>
                    <a:p>
                      <a:pPr algn="ctr"/>
                      <a:r>
                        <a:rPr sz="800" b="1" i="0">
                          <a:solidFill>
                            <a:srgbClr val="0D0D0D"/>
                          </a:solidFill>
                          <a:latin typeface="Calibri"/>
                        </a:rPr>
                        <a:t>950</a:t>
                      </a:r>
                    </a:p>
                  </a:txBody>
                  <a:tcPr>
                    <a:solidFill>
                      <a:srgbClr val="FFFFFF"/>
                    </a:solidFill>
                  </a:tcPr>
                </a:tc>
                <a:tc>
                  <a:txBody>
                    <a:bodyPr/>
                    <a:lstStyle/>
                    <a:p>
                      <a:pPr algn="ctr"/>
                      <a:r>
                        <a:rPr sz="800" b="1" i="0">
                          <a:solidFill>
                            <a:srgbClr val="1B3A6B"/>
                          </a:solidFill>
                          <a:latin typeface="Calibri"/>
                        </a:rPr>
                        <a:t>-81</a:t>
                      </a:r>
                    </a:p>
                  </a:txBody>
                  <a:tcPr>
                    <a:solidFill>
                      <a:srgbClr val="DDE8F5"/>
                    </a:solidFill>
                  </a:tcPr>
                </a:tc>
                <a:tc>
                  <a:txBody>
                    <a:bodyPr/>
                    <a:lstStyle/>
                    <a:p>
                      <a:pPr algn="ctr"/>
                      <a:r>
                        <a:rPr sz="800" b="1" i="0">
                          <a:solidFill>
                            <a:srgbClr val="0D0D0D"/>
                          </a:solidFill>
                          <a:latin typeface="Calibri"/>
                        </a:rPr>
                        <a:t>344</a:t>
                      </a:r>
                    </a:p>
                  </a:txBody>
                  <a:tcPr>
                    <a:solidFill>
                      <a:srgbClr val="FFFFFF"/>
                    </a:solidFill>
                  </a:tcPr>
                </a:tc>
                <a:tc>
                  <a:txBody>
                    <a:bodyPr/>
                    <a:lstStyle/>
                    <a:p>
                      <a:pPr algn="ctr"/>
                      <a:r>
                        <a:rPr sz="800" b="1" i="0">
                          <a:solidFill>
                            <a:srgbClr val="0D0D0D"/>
                          </a:solidFill>
                          <a:latin typeface="Calibri"/>
                        </a:rPr>
                        <a:t>460</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20,0 %</a:t>
                      </a:r>
                    </a:p>
                  </a:txBody>
                  <a:tcPr>
                    <a:solidFill>
                      <a:srgbClr val="F7F8FA"/>
                    </a:solidFill>
                  </a:tcPr>
                </a:tc>
                <a:tc>
                  <a:txBody>
                    <a:bodyPr/>
                    <a:lstStyle/>
                    <a:p>
                      <a:pPr algn="ctr"/>
                      <a:r>
                        <a:rPr sz="750" b="0" i="1">
                          <a:solidFill>
                            <a:srgbClr val="555555"/>
                          </a:solidFill>
                          <a:latin typeface="Calibri"/>
                        </a:rPr>
                        <a:t>23,2 %</a:t>
                      </a:r>
                    </a:p>
                  </a:txBody>
                  <a:tcPr>
                    <a:solidFill>
                      <a:srgbClr val="F7F8FA"/>
                    </a:solidFill>
                  </a:tcPr>
                </a:tc>
                <a:tc>
                  <a:txBody>
                    <a:bodyPr/>
                    <a:lstStyle/>
                    <a:p>
                      <a:pPr algn="ctr"/>
                      <a:r>
                        <a:rPr sz="750" b="0" i="1">
                          <a:solidFill>
                            <a:srgbClr val="555555"/>
                          </a:solidFill>
                          <a:latin typeface="Calibri"/>
                        </a:rPr>
                        <a:t>-2,0 %</a:t>
                      </a:r>
                    </a:p>
                  </a:txBody>
                  <a:tcPr>
                    <a:solidFill>
                      <a:srgbClr val="DDE8F5"/>
                    </a:solidFill>
                  </a:tcPr>
                </a:tc>
                <a:tc>
                  <a:txBody>
                    <a:bodyPr/>
                    <a:lstStyle/>
                    <a:p>
                      <a:pPr algn="ctr"/>
                      <a:r>
                        <a:rPr sz="750" b="0" i="1">
                          <a:solidFill>
                            <a:srgbClr val="555555"/>
                          </a:solidFill>
                          <a:latin typeface="Calibri"/>
                        </a:rPr>
                        <a:t>8,0 %</a:t>
                      </a:r>
                    </a:p>
                  </a:txBody>
                  <a:tcPr>
                    <a:solidFill>
                      <a:srgbClr val="F7F8FA"/>
                    </a:solidFill>
                  </a:tcPr>
                </a:tc>
                <a:tc>
                  <a:txBody>
                    <a:bodyPr/>
                    <a:lstStyle/>
                    <a:p>
                      <a:pPr algn="ctr"/>
                      <a:r>
                        <a:rPr sz="750" b="0" i="1">
                          <a:solidFill>
                            <a:srgbClr val="555555"/>
                          </a:solidFill>
                          <a:latin typeface="Calibri"/>
                        </a:rPr>
                        <a:t>10,0 %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Le CA 2025 à 4,04Md$ (-1,5% YoY) masque une reprise en H2 avec +5% de croissance organique. Les marges nettes à -2% en 2025 intègrent des coûts de restructuration de 150M$. La discipline opérationnelle et le mix produit favorable (collaborations à +30% de marge) soutiennent un rebond des marges en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USD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130 M$</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1,2 Mds$</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1,1 Mds$</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2,03</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1,13</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1,0x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1,8x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4,6x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3,26</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-2,47</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Le CA 2025 à 4,04Md$ (-1,5% YoY) masque une reprise en H2 avec +5% de croissance organique. Les marges nettes à -2% en 2025 intègrent des coûts de restructuration de 150M$. La discipline opérationnelle et le mix produit favorable (collaborations à +30% de marge) soutiennent un rebond des marges en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-51,8x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Deficit</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22,1x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Très élevé</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1,3x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58,3 %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Bas</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-6,3 %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Bas</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Bas</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Léger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3,26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Solide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-2,47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Les marges brutes sont passées de 52,3% en 2022 à 58,3% en 2025 grâce à une meilleure gestion des coûts de matières premières et une optimisation de la chaîne logistique. L'EBITDA margin a chuté à 5,9% en 2025 en raison de coûts fixes non absorbés, mais devrait retrouver 28% en 2026 avec la reprise du volume. La durabilité de ces marges dépend de la capacité à maintenir les prix premium et à limiter les promotions.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95 $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83,66 $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75 $</a:t>
                      </a:r>
                    </a:p>
                  </a:txBody>
                  <a:tcPr>
                    <a:solidFill>
                      <a:srgbClr val="FAF0EF"/>
                    </a:solidFill>
                  </a:tcPr>
                </a:tc>
                <a:tc>
                  <a:txBody>
                    <a:bodyPr/>
                    <a:lstStyle/>
                    <a:p>
                      <a:pPr algn="ctr"/>
                      <a:r>
                        <a:rPr sz="2000" b="1" i="0">
                          <a:solidFill>
                            <a:srgbClr val="2E5FA3"/>
                          </a:solidFill>
                          <a:latin typeface="Calibri"/>
                        </a:rPr>
                        <a:t>95 $</a:t>
                      </a:r>
                    </a:p>
                  </a:txBody>
                  <a:tcPr>
                    <a:solidFill>
                      <a:srgbClr val="EEF3FA"/>
                    </a:solidFill>
                  </a:tcPr>
                </a:tc>
                <a:tc>
                  <a:txBody>
                    <a:bodyPr/>
                    <a:lstStyle/>
                    <a:p>
                      <a:pPr algn="ctr"/>
                      <a:r>
                        <a:rPr sz="2000" b="1" i="0">
                          <a:solidFill>
                            <a:srgbClr val="1A7A4A"/>
                          </a:solidFill>
                          <a:latin typeface="Calibri"/>
                        </a:rPr>
                        <a:t>110 $</a:t>
                      </a:r>
                    </a:p>
                  </a:txBody>
                  <a:tcPr>
                    <a:solidFill>
                      <a:srgbClr val="EAF4EF"/>
                    </a:solidFill>
                  </a:tcPr>
                </a:tc>
              </a:tr>
              <a:tr h="342900">
                <a:tc>
                  <a:txBody>
                    <a:bodyPr/>
                    <a:lstStyle/>
                    <a:p>
                      <a:pPr algn="ctr"/>
                      <a:r>
                        <a:rPr sz="1200" b="1" i="0">
                          <a:solidFill>
                            <a:srgbClr val="A82020"/>
                          </a:solidFill>
                          <a:latin typeface="Calibri"/>
                        </a:rPr>
                        <a:t>-10,4 %</a:t>
                      </a:r>
                    </a:p>
                  </a:txBody>
                  <a:tcPr>
                    <a:solidFill>
                      <a:srgbClr val="FAF0EF"/>
                    </a:solidFill>
                  </a:tcPr>
                </a:tc>
                <a:tc>
                  <a:txBody>
                    <a:bodyPr/>
                    <a:lstStyle/>
                    <a:p>
                      <a:pPr algn="ctr"/>
                      <a:r>
                        <a:rPr sz="1200" b="1" i="0">
                          <a:solidFill>
                            <a:srgbClr val="2E5FA3"/>
                          </a:solidFill>
                          <a:latin typeface="Calibri"/>
                        </a:rPr>
                        <a:t>+13,6 %</a:t>
                      </a:r>
                    </a:p>
                  </a:txBody>
                  <a:tcPr>
                    <a:solidFill>
                      <a:srgbClr val="EEF3FA"/>
                    </a:solidFill>
                  </a:tcPr>
                </a:tc>
                <a:tc>
                  <a:txBody>
                    <a:bodyPr/>
                    <a:lstStyle/>
                    <a:p>
                      <a:pPr algn="ctr"/>
                      <a:r>
                        <a:rPr sz="1200" b="1" i="0">
                          <a:solidFill>
                            <a:srgbClr val="1A7A4A"/>
                          </a:solidFill>
                          <a:latin typeface="Calibri"/>
                        </a:rPr>
                        <a:t>+31,5 %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sensibilité — Valeur intrinsèque ($)</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8,9%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9,9%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10,9%</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95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11,9%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12,9%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Avec un WACC de 10,9% et une TGR de 2,5%, le prix implicite DCF est de 98$ (base), soit un upside de 17% vs le cours actuel. Cet écart suggère une sous-valorisation structurelle liée à la reprise des marges et à la génération de cash, mais dépend de l'exécution opérationnelle et de la gestion des coûts logistiques.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USD</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Crocs, Inc.</a:t>
                      </a:r>
                    </a:p>
                  </a:txBody>
                  <a:tcPr>
                    <a:solidFill>
                      <a:srgbClr val="DDE8F5"/>
                    </a:solidFill>
                  </a:tcPr>
                </a:tc>
                <a:tc>
                  <a:txBody>
                    <a:bodyPr/>
                    <a:lstStyle/>
                    <a:p>
                      <a:pPr algn="ctr"/>
                      <a:r>
                        <a:rPr sz="750" b="1" i="0">
                          <a:solidFill>
                            <a:srgbClr val="2E5FA3"/>
                          </a:solidFill>
                          <a:latin typeface="Calibri"/>
                        </a:rPr>
                        <a:t>CROX</a:t>
                      </a:r>
                    </a:p>
                  </a:txBody>
                  <a:tcPr>
                    <a:solidFill>
                      <a:srgbClr val="DDE8F5"/>
                    </a:solidFill>
                  </a:tcPr>
                </a:tc>
                <a:tc>
                  <a:txBody>
                    <a:bodyPr/>
                    <a:lstStyle/>
                    <a:p>
                      <a:pPr algn="ctr"/>
                      <a:r>
                        <a:rPr sz="800" b="1" i="0">
                          <a:solidFill>
                            <a:srgbClr val="1B3A6B"/>
                          </a:solidFill>
                          <a:latin typeface="Calibri"/>
                        </a:rPr>
                        <a:t>4,2</a:t>
                      </a:r>
                    </a:p>
                  </a:txBody>
                  <a:tcPr>
                    <a:solidFill>
                      <a:srgbClr val="DDE8F5"/>
                    </a:solidFill>
                  </a:tcPr>
                </a:tc>
                <a:tc>
                  <a:txBody>
                    <a:bodyPr/>
                    <a:lstStyle/>
                    <a:p>
                      <a:pPr algn="ctr"/>
                      <a:r>
                        <a:rPr sz="800" b="1" i="0">
                          <a:solidFill>
                            <a:srgbClr val="1B3A6B"/>
                          </a:solidFill>
                          <a:latin typeface="Calibri"/>
                        </a:rPr>
                        <a:t>22,1x</a:t>
                      </a:r>
                    </a:p>
                  </a:txBody>
                  <a:tcPr>
                    <a:solidFill>
                      <a:srgbClr val="DDE8F5"/>
                    </a:solidFill>
                  </a:tcPr>
                </a:tc>
                <a:tc>
                  <a:txBody>
                    <a:bodyPr/>
                    <a:lstStyle/>
                    <a:p>
                      <a:pPr algn="ctr"/>
                      <a:r>
                        <a:rPr sz="800" b="1" i="0">
                          <a:solidFill>
                            <a:srgbClr val="1B3A6B"/>
                          </a:solidFill>
                          <a:latin typeface="Calibri"/>
                        </a:rPr>
                        <a:t>1,3x</a:t>
                      </a:r>
                    </a:p>
                  </a:txBody>
                  <a:tcPr>
                    <a:solidFill>
                      <a:srgbClr val="DDE8F5"/>
                    </a:solidFill>
                  </a:tcPr>
                </a:tc>
                <a:tc>
                  <a:txBody>
                    <a:bodyPr/>
                    <a:lstStyle/>
                    <a:p>
                      <a:pPr algn="ctr"/>
                      <a:r>
                        <a:rPr sz="800" b="1" i="0">
                          <a:solidFill>
                            <a:srgbClr val="1B3A6B"/>
                          </a:solidFill>
                          <a:latin typeface="Calibri"/>
                        </a:rPr>
                        <a:t>-51,8x</a:t>
                      </a:r>
                    </a:p>
                  </a:txBody>
                  <a:tcPr>
                    <a:solidFill>
                      <a:srgbClr val="DDE8F5"/>
                    </a:solidFill>
                  </a:tcPr>
                </a:tc>
                <a:tc>
                  <a:txBody>
                    <a:bodyPr/>
                    <a:lstStyle/>
                    <a:p>
                      <a:pPr algn="ctr"/>
                      <a:r>
                        <a:rPr sz="800" b="1" i="0">
                          <a:solidFill>
                            <a:srgbClr val="1B3A6B"/>
                          </a:solidFill>
                          <a:latin typeface="Calibri"/>
                        </a:rPr>
                        <a:t>58,3 %</a:t>
                      </a:r>
                    </a:p>
                  </a:txBody>
                  <a:tcPr>
                    <a:solidFill>
                      <a:srgbClr val="DDE8F5"/>
                    </a:solidFill>
                  </a:tcPr>
                </a:tc>
                <a:tc>
                  <a:txBody>
                    <a:bodyPr/>
                    <a:lstStyle/>
                    <a:p>
                      <a:pPr algn="ctr"/>
                      <a:r>
                        <a:rPr sz="800" b="1" i="0">
                          <a:solidFill>
                            <a:srgbClr val="1B3A6B"/>
                          </a:solidFill>
                          <a:latin typeface="Calibri"/>
                        </a:rPr>
                        <a:t>5,9 %</a:t>
                      </a:r>
                    </a:p>
                  </a:txBody>
                  <a:tcPr>
                    <a:solidFill>
                      <a:srgbClr val="DDE8F5"/>
                    </a:solidFill>
                  </a:tcPr>
                </a:tc>
              </a:tr>
              <a:tr h="251999">
                <a:tc>
                  <a:txBody>
                    <a:bodyPr/>
                    <a:lstStyle/>
                    <a:p>
                      <a:pPr algn="l"/>
                      <a:r>
                        <a:rPr sz="800" b="0" i="0">
                          <a:solidFill>
                            <a:srgbClr val="0D0D0D"/>
                          </a:solidFill>
                          <a:latin typeface="Calibri"/>
                        </a:rPr>
                        <a:t>Deckers Outdoor</a:t>
                      </a:r>
                    </a:p>
                  </a:txBody>
                  <a:tcPr>
                    <a:solidFill>
                      <a:srgbClr val="FFFFFF"/>
                    </a:solidFill>
                  </a:tcPr>
                </a:tc>
                <a:tc>
                  <a:txBody>
                    <a:bodyPr/>
                    <a:lstStyle/>
                    <a:p>
                      <a:pPr algn="ctr"/>
                      <a:r>
                        <a:rPr sz="750" b="0" i="0">
                          <a:solidFill>
                            <a:srgbClr val="555555"/>
                          </a:solidFill>
                          <a:latin typeface="Calibri"/>
                        </a:rPr>
                        <a:t>DECK</a:t>
                      </a:r>
                    </a:p>
                  </a:txBody>
                  <a:tcPr>
                    <a:solidFill>
                      <a:srgbClr val="FFFFFF"/>
                    </a:solidFill>
                  </a:tcPr>
                </a:tc>
                <a:tc>
                  <a:txBody>
                    <a:bodyPr/>
                    <a:lstStyle/>
                    <a:p>
                      <a:pPr algn="ctr"/>
                      <a:r>
                        <a:rPr sz="800" b="0" i="0">
                          <a:solidFill>
                            <a:srgbClr val="0D0D0D"/>
                          </a:solidFill>
                          <a:latin typeface="Calibri"/>
                        </a:rPr>
                        <a:t>15,2</a:t>
                      </a:r>
                    </a:p>
                  </a:txBody>
                  <a:tcPr>
                    <a:solidFill>
                      <a:srgbClr val="FFFFFF"/>
                    </a:solidFill>
                  </a:tcPr>
                </a:tc>
                <a:tc>
                  <a:txBody>
                    <a:bodyPr/>
                    <a:lstStyle/>
                    <a:p>
                      <a:pPr algn="ctr"/>
                      <a:r>
                        <a:rPr sz="800" b="0" i="0">
                          <a:solidFill>
                            <a:srgbClr val="0D0D0D"/>
                          </a:solidFill>
                          <a:latin typeface="Calibri"/>
                        </a:rPr>
                        <a:t>18,7x</a:t>
                      </a:r>
                    </a:p>
                  </a:txBody>
                  <a:tcPr>
                    <a:solidFill>
                      <a:srgbClr val="FFFFFF"/>
                    </a:solidFill>
                  </a:tcPr>
                </a:tc>
                <a:tc>
                  <a:txBody>
                    <a:bodyPr/>
                    <a:lstStyle/>
                    <a:p>
                      <a:pPr algn="ctr"/>
                      <a:r>
                        <a:rPr sz="800" b="0" i="0">
                          <a:solidFill>
                            <a:srgbClr val="0D0D0D"/>
                          </a:solidFill>
                          <a:latin typeface="Calibri"/>
                        </a:rPr>
                        <a:t>3,1x</a:t>
                      </a:r>
                    </a:p>
                  </a:txBody>
                  <a:tcPr>
                    <a:solidFill>
                      <a:srgbClr val="FFFFFF"/>
                    </a:solidFill>
                  </a:tcPr>
                </a:tc>
                <a:tc>
                  <a:txBody>
                    <a:bodyPr/>
                    <a:lstStyle/>
                    <a:p>
                      <a:pPr algn="ctr"/>
                      <a:r>
                        <a:rPr sz="800" b="0" i="0">
                          <a:solidFill>
                            <a:srgbClr val="0D0D0D"/>
                          </a:solidFill>
                          <a:latin typeface="Calibri"/>
                        </a:rPr>
                        <a:t>22,5x</a:t>
                      </a:r>
                    </a:p>
                  </a:txBody>
                  <a:tcPr>
                    <a:solidFill>
                      <a:srgbClr val="FFFFFF"/>
                    </a:solidFill>
                  </a:tcPr>
                </a:tc>
                <a:tc>
                  <a:txBody>
                    <a:bodyPr/>
                    <a:lstStyle/>
                    <a:p>
                      <a:pPr algn="ctr"/>
                      <a:r>
                        <a:rPr sz="800" b="0" i="0">
                          <a:solidFill>
                            <a:srgbClr val="0D0D0D"/>
                          </a:solidFill>
                          <a:latin typeface="Calibri"/>
                        </a:rPr>
                        <a:t>54,0 %</a:t>
                      </a:r>
                    </a:p>
                  </a:txBody>
                  <a:tcPr>
                    <a:solidFill>
                      <a:srgbClr val="FFFFFF"/>
                    </a:solidFill>
                  </a:tcPr>
                </a:tc>
                <a:tc>
                  <a:txBody>
                    <a:bodyPr/>
                    <a:lstStyle/>
                    <a:p>
                      <a:pPr algn="ctr"/>
                      <a:r>
                        <a:rPr sz="800" b="0" i="0">
                          <a:solidFill>
                            <a:srgbClr val="0D0D0D"/>
                          </a:solidFill>
                          <a:latin typeface="Calibri"/>
                        </a:rPr>
                        <a:t>18,0 %</a:t>
                      </a:r>
                    </a:p>
                  </a:txBody>
                  <a:tcPr>
                    <a:solidFill>
                      <a:srgbClr val="FFFFFF"/>
                    </a:solidFill>
                  </a:tcPr>
                </a:tc>
              </a:tr>
              <a:tr h="251999">
                <a:tc>
                  <a:txBody>
                    <a:bodyPr/>
                    <a:lstStyle/>
                    <a:p>
                      <a:pPr algn="l"/>
                      <a:r>
                        <a:rPr sz="800" b="0" i="0">
                          <a:solidFill>
                            <a:srgbClr val="0D0D0D"/>
                          </a:solidFill>
                          <a:latin typeface="Calibri"/>
                        </a:rPr>
                        <a:t>Steven Madden</a:t>
                      </a:r>
                    </a:p>
                  </a:txBody>
                  <a:tcPr>
                    <a:solidFill>
                      <a:srgbClr val="F7F8FA"/>
                    </a:solidFill>
                  </a:tcPr>
                </a:tc>
                <a:tc>
                  <a:txBody>
                    <a:bodyPr/>
                    <a:lstStyle/>
                    <a:p>
                      <a:pPr algn="ctr"/>
                      <a:r>
                        <a:rPr sz="750" b="0" i="0">
                          <a:solidFill>
                            <a:srgbClr val="555555"/>
                          </a:solidFill>
                          <a:latin typeface="Calibri"/>
                        </a:rPr>
                        <a:t>SHOO</a:t>
                      </a:r>
                    </a:p>
                  </a:txBody>
                  <a:tcPr>
                    <a:solidFill>
                      <a:srgbClr val="F7F8FA"/>
                    </a:solidFill>
                  </a:tcPr>
                </a:tc>
                <a:tc>
                  <a:txBody>
                    <a:bodyPr/>
                    <a:lstStyle/>
                    <a:p>
                      <a:pPr algn="ctr"/>
                      <a:r>
                        <a:rPr sz="800" b="0" i="0">
                          <a:solidFill>
                            <a:srgbClr val="0D0D0D"/>
                          </a:solidFill>
                          <a:latin typeface="Calibri"/>
                        </a:rPr>
                        <a:t>3,8</a:t>
                      </a:r>
                    </a:p>
                  </a:txBody>
                  <a:tcPr>
                    <a:solidFill>
                      <a:srgbClr val="F7F8FA"/>
                    </a:solidFill>
                  </a:tcPr>
                </a:tc>
                <a:tc>
                  <a:txBody>
                    <a:bodyPr/>
                    <a:lstStyle/>
                    <a:p>
                      <a:pPr algn="ctr"/>
                      <a:r>
                        <a:rPr sz="800" b="0" i="0">
                          <a:solidFill>
                            <a:srgbClr val="0D0D0D"/>
                          </a:solidFill>
                          <a:latin typeface="Calibri"/>
                        </a:rPr>
                        <a:t>12,4x</a:t>
                      </a:r>
                    </a:p>
                  </a:txBody>
                  <a:tcPr>
                    <a:solidFill>
                      <a:srgbClr val="F7F8FA"/>
                    </a:solidFill>
                  </a:tcPr>
                </a:tc>
                <a:tc>
                  <a:txBody>
                    <a:bodyPr/>
                    <a:lstStyle/>
                    <a:p>
                      <a:pPr algn="ctr"/>
                      <a:r>
                        <a:rPr sz="800" b="0" i="0">
                          <a:solidFill>
                            <a:srgbClr val="0D0D0D"/>
                          </a:solidFill>
                          <a:latin typeface="Calibri"/>
                        </a:rPr>
                        <a:t>1,5x</a:t>
                      </a:r>
                    </a:p>
                  </a:txBody>
                  <a:tcPr>
                    <a:solidFill>
                      <a:srgbClr val="F7F8FA"/>
                    </a:solidFill>
                  </a:tcPr>
                </a:tc>
                <a:tc>
                  <a:txBody>
                    <a:bodyPr/>
                    <a:lstStyle/>
                    <a:p>
                      <a:pPr algn="ctr"/>
                      <a:r>
                        <a:rPr sz="800" b="0" i="0">
                          <a:solidFill>
                            <a:srgbClr val="0D0D0D"/>
                          </a:solidFill>
                          <a:latin typeface="Calibri"/>
                        </a:rPr>
                        <a:t>15,2x</a:t>
                      </a:r>
                    </a:p>
                  </a:txBody>
                  <a:tcPr>
                    <a:solidFill>
                      <a:srgbClr val="F7F8FA"/>
                    </a:solidFill>
                  </a:tcPr>
                </a:tc>
                <a:tc>
                  <a:txBody>
                    <a:bodyPr/>
                    <a:lstStyle/>
                    <a:p>
                      <a:pPr algn="ctr"/>
                      <a:r>
                        <a:rPr sz="800" b="0" i="0">
                          <a:solidFill>
                            <a:srgbClr val="0D0D0D"/>
                          </a:solidFill>
                          <a:latin typeface="Calibri"/>
                        </a:rPr>
                        <a:t>48,0 %</a:t>
                      </a:r>
                    </a:p>
                  </a:txBody>
                  <a:tcPr>
                    <a:solidFill>
                      <a:srgbClr val="F7F8FA"/>
                    </a:solidFill>
                  </a:tcPr>
                </a:tc>
                <a:tc>
                  <a:txBody>
                    <a:bodyPr/>
                    <a:lstStyle/>
                    <a:p>
                      <a:pPr algn="ctr"/>
                      <a:r>
                        <a:rPr sz="800" b="0" i="0">
                          <a:solidFill>
                            <a:srgbClr val="0D0D0D"/>
                          </a:solidFill>
                          <a:latin typeface="Calibri"/>
                        </a:rPr>
                        <a:t>14,0 %</a:t>
                      </a:r>
                    </a:p>
                  </a:txBody>
                  <a:tcPr>
                    <a:solidFill>
                      <a:srgbClr val="F7F8FA"/>
                    </a:solidFill>
                  </a:tcPr>
                </a:tc>
              </a:tr>
              <a:tr h="251999">
                <a:tc>
                  <a:txBody>
                    <a:bodyPr/>
                    <a:lstStyle/>
                    <a:p>
                      <a:pPr algn="l"/>
                      <a:r>
                        <a:rPr sz="800" b="0" i="0">
                          <a:solidFill>
                            <a:srgbClr val="0D0D0D"/>
                          </a:solidFill>
                          <a:latin typeface="Calibri"/>
                        </a:rPr>
                        <a:t>Tapestry</a:t>
                      </a:r>
                    </a:p>
                  </a:txBody>
                  <a:tcPr>
                    <a:solidFill>
                      <a:srgbClr val="FFFFFF"/>
                    </a:solidFill>
                  </a:tcPr>
                </a:tc>
                <a:tc>
                  <a:txBody>
                    <a:bodyPr/>
                    <a:lstStyle/>
                    <a:p>
                      <a:pPr algn="ctr"/>
                      <a:r>
                        <a:rPr sz="750" b="0" i="0">
                          <a:solidFill>
                            <a:srgbClr val="555555"/>
                          </a:solidFill>
                          <a:latin typeface="Calibri"/>
                        </a:rPr>
                        <a:t>TPR</a:t>
                      </a:r>
                    </a:p>
                  </a:txBody>
                  <a:tcPr>
                    <a:solidFill>
                      <a:srgbClr val="FFFFFF"/>
                    </a:solidFill>
                  </a:tcPr>
                </a:tc>
                <a:tc>
                  <a:txBody>
                    <a:bodyPr/>
                    <a:lstStyle/>
                    <a:p>
                      <a:pPr algn="ctr"/>
                      <a:r>
                        <a:rPr sz="800" b="0" i="0">
                          <a:solidFill>
                            <a:srgbClr val="0D0D0D"/>
                          </a:solidFill>
                          <a:latin typeface="Calibri"/>
                        </a:rPr>
                        <a:t>12,5</a:t>
                      </a:r>
                    </a:p>
                  </a:txBody>
                  <a:tcPr>
                    <a:solidFill>
                      <a:srgbClr val="FFFFFF"/>
                    </a:solidFill>
                  </a:tcPr>
                </a:tc>
                <a:tc>
                  <a:txBody>
                    <a:bodyPr/>
                    <a:lstStyle/>
                    <a:p>
                      <a:pPr algn="ctr"/>
                      <a:r>
                        <a:rPr sz="800" b="0" i="0">
                          <a:solidFill>
                            <a:srgbClr val="0D0D0D"/>
                          </a:solidFill>
                          <a:latin typeface="Calibri"/>
                        </a:rPr>
                        <a:t>11,8x</a:t>
                      </a:r>
                    </a:p>
                  </a:txBody>
                  <a:tcPr>
                    <a:solidFill>
                      <a:srgbClr val="FFFFFF"/>
                    </a:solidFill>
                  </a:tcPr>
                </a:tc>
                <a:tc>
                  <a:txBody>
                    <a:bodyPr/>
                    <a:lstStyle/>
                    <a:p>
                      <a:pPr algn="ctr"/>
                      <a:r>
                        <a:rPr sz="800" b="0" i="0">
                          <a:solidFill>
                            <a:srgbClr val="0D0D0D"/>
                          </a:solidFill>
                          <a:latin typeface="Calibri"/>
                        </a:rPr>
                        <a:t>2,8x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65,0 %</a:t>
                      </a:r>
                    </a:p>
                  </a:txBody>
                  <a:tcPr>
                    <a:solidFill>
                      <a:srgbClr val="FFFFFF"/>
                    </a:solidFill>
                  </a:tcPr>
                </a:tc>
                <a:tc>
                  <a:txBody>
                    <a:bodyPr/>
                    <a:lstStyle/>
                    <a:p>
                      <a:pPr algn="ctr"/>
                      <a:r>
                        <a:rPr sz="800" b="0" i="0">
                          <a:solidFill>
                            <a:srgbClr val="0D0D0D"/>
                          </a:solidFill>
                          <a:latin typeface="Calibri"/>
                        </a:rPr>
                        <a:t>22,0 %</a:t>
                      </a:r>
                    </a:p>
                  </a:txBody>
                  <a:tcPr>
                    <a:solidFill>
                      <a:srgbClr val="FFFFFF"/>
                    </a:solidFill>
                  </a:tcPr>
                </a:tc>
              </a:tr>
              <a:tr h="251999">
                <a:tc>
                  <a:txBody>
                    <a:bodyPr/>
                    <a:lstStyle/>
                    <a:p>
                      <a:pPr algn="l"/>
                      <a:r>
                        <a:rPr sz="800" b="0" i="0">
                          <a:solidFill>
                            <a:srgbClr val="0D0D0D"/>
                          </a:solidFill>
                          <a:latin typeface="Calibri"/>
                        </a:rPr>
                        <a:t>VF Corporation</a:t>
                      </a:r>
                    </a:p>
                  </a:txBody>
                  <a:tcPr>
                    <a:solidFill>
                      <a:srgbClr val="F7F8FA"/>
                    </a:solidFill>
                  </a:tcPr>
                </a:tc>
                <a:tc>
                  <a:txBody>
                    <a:bodyPr/>
                    <a:lstStyle/>
                    <a:p>
                      <a:pPr algn="ctr"/>
                      <a:r>
                        <a:rPr sz="750" b="0" i="0">
                          <a:solidFill>
                            <a:srgbClr val="555555"/>
                          </a:solidFill>
                          <a:latin typeface="Calibri"/>
                        </a:rPr>
                        <a:t>VFC</a:t>
                      </a:r>
                    </a:p>
                  </a:txBody>
                  <a:tcPr>
                    <a:solidFill>
                      <a:srgbClr val="F7F8FA"/>
                    </a:solidFill>
                  </a:tcPr>
                </a:tc>
                <a:tc>
                  <a:txBody>
                    <a:bodyPr/>
                    <a:lstStyle/>
                    <a:p>
                      <a:pPr algn="ctr"/>
                      <a:r>
                        <a:rPr sz="800" b="0" i="0">
                          <a:solidFill>
                            <a:srgbClr val="0D0D0D"/>
                          </a:solidFill>
                          <a:latin typeface="Calibri"/>
                        </a:rPr>
                        <a:t>10,8</a:t>
                      </a:r>
                    </a:p>
                  </a:txBody>
                  <a:tcPr>
                    <a:solidFill>
                      <a:srgbClr val="F7F8FA"/>
                    </a:solidFill>
                  </a:tcPr>
                </a:tc>
                <a:tc>
                  <a:txBody>
                    <a:bodyPr/>
                    <a:lstStyle/>
                    <a:p>
                      <a:pPr algn="ctr"/>
                      <a:r>
                        <a:rPr sz="800" b="0" i="0">
                          <a:solidFill>
                            <a:srgbClr val="0D0D0D"/>
                          </a:solidFill>
                          <a:latin typeface="Calibri"/>
                        </a:rPr>
                        <a:t>9,2x</a:t>
                      </a:r>
                    </a:p>
                  </a:txBody>
                  <a:tcPr>
                    <a:solidFill>
                      <a:srgbClr val="F7F8FA"/>
                    </a:solidFill>
                  </a:tcPr>
                </a:tc>
                <a:tc>
                  <a:txBody>
                    <a:bodyPr/>
                    <a:lstStyle/>
                    <a:p>
                      <a:pPr algn="ctr"/>
                      <a:r>
                        <a:rPr sz="800" b="0" i="0">
                          <a:solidFill>
                            <a:srgbClr val="0D0D0D"/>
                          </a:solidFill>
                          <a:latin typeface="Calibri"/>
                        </a:rPr>
                        <a:t>1,2x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12,0 %</a:t>
                      </a:r>
                    </a:p>
                  </a:txBody>
                  <a:tcPr>
                    <a:solidFill>
                      <a:srgbClr val="F7F8FA"/>
                    </a:solidFill>
                  </a:tcPr>
                </a:tc>
              </a:tr>
              <a:tr h="251999">
                <a:tc>
                  <a:txBody>
                    <a:bodyPr/>
                    <a:lstStyle/>
                    <a:p>
                      <a:pPr algn="l"/>
                      <a:r>
                        <a:rPr sz="800" b="0" i="0">
                          <a:solidFill>
                            <a:srgbClr val="0D0D0D"/>
                          </a:solidFill>
                          <a:latin typeface="Calibri"/>
                        </a:rPr>
                        <a:t>Caleres</a:t>
                      </a:r>
                    </a:p>
                  </a:txBody>
                  <a:tcPr>
                    <a:solidFill>
                      <a:srgbClr val="FFFFFF"/>
                    </a:solidFill>
                  </a:tcPr>
                </a:tc>
                <a:tc>
                  <a:txBody>
                    <a:bodyPr/>
                    <a:lstStyle/>
                    <a:p>
                      <a:pPr algn="ctr"/>
                      <a:r>
                        <a:rPr sz="750" b="0" i="0">
                          <a:solidFill>
                            <a:srgbClr val="555555"/>
                          </a:solidFill>
                          <a:latin typeface="Calibri"/>
                        </a:rPr>
                        <a:t>CAL</a:t>
                      </a:r>
                    </a:p>
                  </a:txBody>
                  <a:tcPr>
                    <a:solidFill>
                      <a:srgbClr val="FFFFFF"/>
                    </a:solidFill>
                  </a:tcPr>
                </a:tc>
                <a:tc>
                  <a:txBody>
                    <a:bodyPr/>
                    <a:lstStyle/>
                    <a:p>
                      <a:pPr algn="ctr"/>
                      <a:r>
                        <a:rPr sz="800" b="0" i="0">
                          <a:solidFill>
                            <a:srgbClr val="0D0D0D"/>
                          </a:solidFill>
                          <a:latin typeface="Calibri"/>
                        </a:rPr>
                        <a:t>2,1</a:t>
                      </a:r>
                    </a:p>
                  </a:txBody>
                  <a:tcPr>
                    <a:solidFill>
                      <a:srgbClr val="FFFFFF"/>
                    </a:solidFill>
                  </a:tcPr>
                </a:tc>
                <a:tc>
                  <a:txBody>
                    <a:bodyPr/>
                    <a:lstStyle/>
                    <a:p>
                      <a:pPr algn="ctr"/>
                      <a:r>
                        <a:rPr sz="800" b="0" i="0">
                          <a:solidFill>
                            <a:srgbClr val="0D0D0D"/>
                          </a:solidFill>
                          <a:latin typeface="Calibri"/>
                        </a:rPr>
                        <a:t>8,5x</a:t>
                      </a:r>
                    </a:p>
                  </a:txBody>
                  <a:tcPr>
                    <a:solidFill>
                      <a:srgbClr val="FFFFFF"/>
                    </a:solidFill>
                  </a:tcPr>
                </a:tc>
                <a:tc>
                  <a:txBody>
                    <a:bodyPr/>
                    <a:lstStyle/>
                    <a:p>
                      <a:pPr algn="ctr"/>
                      <a:r>
                        <a:rPr sz="800" b="0" i="0">
                          <a:solidFill>
                            <a:srgbClr val="0D0D0D"/>
                          </a:solidFill>
                          <a:latin typeface="Calibri"/>
                        </a:rPr>
                        <a:t>1,1x</a:t>
                      </a:r>
                    </a:p>
                  </a:txBody>
                  <a:tcPr>
                    <a:solidFill>
                      <a:srgbClr val="FFFFFF"/>
                    </a:solidFill>
                  </a:tcPr>
                </a:tc>
                <a:tc>
                  <a:txBody>
                    <a:bodyPr/>
                    <a:lstStyle/>
                    <a:p>
                      <a:pPr algn="ctr"/>
                      <a:r>
                        <a:rPr sz="800" b="0" i="0">
                          <a:solidFill>
                            <a:srgbClr val="0D0D0D"/>
                          </a:solidFill>
                          <a:latin typeface="Calibri"/>
                        </a:rPr>
                        <a:t>10,5x</a:t>
                      </a:r>
                    </a:p>
                  </a:txBody>
                  <a:tcPr>
                    <a:solidFill>
                      <a:srgbClr val="FFFFFF"/>
                    </a:solidFill>
                  </a:tcPr>
                </a:tc>
                <a:tc>
                  <a:txBody>
                    <a:bodyPr/>
                    <a:lstStyle/>
                    <a:p>
                      <a:pPr algn="ctr"/>
                      <a:r>
                        <a:rPr sz="800" b="0" i="0">
                          <a:solidFill>
                            <a:srgbClr val="0D0D0D"/>
                          </a:solidFill>
                          <a:latin typeface="Calibri"/>
                        </a:rPr>
                        <a:t>42,0 %</a:t>
                      </a:r>
                    </a:p>
                  </a:txBody>
                  <a:tcPr>
                    <a:solidFill>
                      <a:srgbClr val="FFFFFF"/>
                    </a:solidFill>
                  </a:tcPr>
                </a:tc>
                <a:tc>
                  <a:txBody>
                    <a:bodyPr/>
                    <a:lstStyle/>
                    <a:p>
                      <a:pPr algn="ctr"/>
                      <a:r>
                        <a:rPr sz="800" b="0" i="0">
                          <a:solidFill>
                            <a:srgbClr val="0D0D0D"/>
                          </a:solidFill>
                          <a:latin typeface="Calibri"/>
                        </a:rPr>
                        <a:t>11,0 %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11,8x</a:t>
                      </a:r>
                    </a:p>
                  </a:txBody>
                  <a:tcPr>
                    <a:solidFill>
                      <a:srgbClr val="F7F8FA"/>
                    </a:solidFill>
                  </a:tcPr>
                </a:tc>
                <a:tc>
                  <a:txBody>
                    <a:bodyPr/>
                    <a:lstStyle/>
                    <a:p>
                      <a:pPr algn="ctr"/>
                      <a:r>
                        <a:rPr sz="800" b="1" i="0">
                          <a:solidFill>
                            <a:srgbClr val="0D0D0D"/>
                          </a:solidFill>
                          <a:latin typeface="Calibri"/>
                        </a:rPr>
                        <a:t>1,5x</a:t>
                      </a:r>
                    </a:p>
                  </a:txBody>
                  <a:tcPr>
                    <a:solidFill>
                      <a:srgbClr val="F7F8FA"/>
                    </a:solidFill>
                  </a:tcPr>
                </a:tc>
                <a:tc>
                  <a:txBody>
                    <a:bodyPr/>
                    <a:lstStyle/>
                    <a:p>
                      <a:pPr algn="ctr"/>
                      <a:r>
                        <a:rPr sz="800" b="1" i="0">
                          <a:solidFill>
                            <a:srgbClr val="0D0D0D"/>
                          </a:solidFill>
                          <a:latin typeface="Calibri"/>
                        </a:rPr>
                        <a:t>15,2x</a:t>
                      </a:r>
                    </a:p>
                  </a:txBody>
                  <a:tcPr>
                    <a:solidFill>
                      <a:srgbClr val="F7F8FA"/>
                    </a:solidFill>
                  </a:tcPr>
                </a:tc>
                <a:tc>
                  <a:txBody>
                    <a:bodyPr/>
                    <a:lstStyle/>
                    <a:p>
                      <a:pPr algn="ctr"/>
                      <a:r>
                        <a:rPr sz="800" b="1" i="0">
                          <a:solidFill>
                            <a:srgbClr val="0D0D0D"/>
                          </a:solidFill>
                          <a:latin typeface="Calibri"/>
                        </a:rPr>
                        <a:t>51,0 %</a:t>
                      </a:r>
                    </a:p>
                  </a:txBody>
                  <a:tcPr>
                    <a:solidFill>
                      <a:srgbClr val="F7F8FA"/>
                    </a:solidFill>
                  </a:tcPr>
                </a:tc>
                <a:tc>
                  <a:txBody>
                    <a:bodyPr/>
                    <a:lstStyle/>
                    <a:p>
                      <a:pPr algn="ctr"/>
                      <a:r>
                        <a:rPr sz="800" b="1" i="0">
                          <a:solidFill>
                            <a:srgbClr val="0D0D0D"/>
                          </a:solidFill>
                          <a:latin typeface="Calibri"/>
                        </a:rPr>
                        <a:t>14,0 %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Crocs affiche un EV/EBITDA de 22,1x vs une médiane peers à 18,5x (+19%), justifiée par une croissance revenue supérieure (7% vs 4% peers) et une marque plus résiliente. Le P/E négatif est anormal et ne reflète pas la qualité des actifs. Une convergence vers la médiane peers impliquerait un upside de 15% sur l'EV/EBITDA.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USD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TextBox 17"/>
          <p:cNvSpPr txBox="1"/>
          <p:nvPr/>
        </p:nvSpPr>
        <p:spPr>
          <a:xfrm>
            <a:off x="367200" y="3488400"/>
            <a:ext cx="8413200" cy="914400"/>
          </a:xfrm>
          <a:prstGeom prst="rect">
            <a:avLst/>
          </a:prstGeom>
          <a:noFill/>
        </p:spPr>
        <p:txBody>
          <a:bodyPr wrap="square">
            <a:spAutoFit/>
          </a:bodyPr>
          <a:lstStyle/>
          <a:p>
            <a:pPr algn="l"/>
            <a:r>
              <a:rPr sz="850" b="0" i="0">
                <a:solidFill>
                  <a:srgbClr val="555555"/>
                </a:solidFill>
                <a:latin typeface="Calibri"/>
              </a:rPr>
              <a:t>Avec un WACC de 10,9% et une TGR de 2,5%, le prix implicite DCF est de 98$ (base), soit un upside de 17% vs le cours actuel. Cet écart suggère une sous-valorisation structurelle liée à la reprise des marges et à la génération de cash, mais dépend de l'exécution opérationnelle et de la gestion des coûts logistiques.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255600"/>
          </a:xfrm>
          <a:prstGeom prst="rect">
            <a:avLst/>
          </a:prstGeom>
          <a:noFill/>
        </p:spPr>
        <p:txBody>
          <a:bodyPr wrap="square">
            <a:spAutoFit/>
          </a:bodyPr>
          <a:lstStyle/>
          <a:p>
            <a:pPr algn="l"/>
            <a:r>
              <a:rPr sz="900" b="1" i="0">
                <a:solidFill>
                  <a:srgbClr val="A82020"/>
                </a:solidFill>
                <a:latin typeface="Calibri"/>
              </a:rPr>
              <a:t>Dette insoutenable</a:t>
            </a:r>
          </a:p>
        </p:txBody>
      </p:sp>
      <p:sp>
        <p:nvSpPr>
          <p:cNvPr id="20" name="TextBox 19"/>
          <p:cNvSpPr txBox="1"/>
          <p:nvPr/>
        </p:nvSpPr>
        <p:spPr>
          <a:xfrm>
            <a:off x="475200" y="1436400"/>
            <a:ext cx="2527200" cy="1260000"/>
          </a:xfrm>
          <a:prstGeom prst="rect">
            <a:avLst/>
          </a:prstGeom>
          <a:noFill/>
        </p:spPr>
        <p:txBody>
          <a:bodyPr wrap="square">
            <a:spAutoFit/>
          </a:bodyPr>
          <a:lstStyle/>
          <a:p>
            <a:pPr algn="l"/>
            <a:r>
              <a:rPr sz="800" b="0" i="0">
                <a:solidFill>
                  <a:srgbClr val="555555"/>
                </a:solidFill>
                <a:latin typeface="Calibri"/>
              </a:rPr>
              <a:t>Les marges brutes de 58.3% masquent une dégradation structurelle des coûts logistiques, passés de 12.1% en 2021 à 18.9% en 2024 selon le rapport 10-K, annulant 66% de la marge opérationnelle. La distribution omnicanale génère des frais de retour de 14.2% du CA en 2024, soit 3.2x le niveau pré-pandémie, rendant le modèle non rentable hors effet de stock.</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255600"/>
          </a:xfrm>
          <a:prstGeom prst="rect">
            <a:avLst/>
          </a:prstGeom>
          <a:noFill/>
        </p:spPr>
        <p:txBody>
          <a:bodyPr wrap="square">
            <a:spAutoFit/>
          </a:bodyPr>
          <a:lstStyle/>
          <a:p>
            <a:pPr algn="l"/>
            <a:r>
              <a:rPr sz="900" b="1" i="0">
                <a:solidFill>
                  <a:srgbClr val="2E5FA3"/>
                </a:solidFill>
                <a:latin typeface="Calibri"/>
              </a:rPr>
              <a:t>Dépréciation marque</a:t>
            </a:r>
          </a:p>
        </p:txBody>
      </p:sp>
      <p:sp>
        <p:nvSpPr>
          <p:cNvPr id="24" name="TextBox 23"/>
          <p:cNvSpPr txBox="1"/>
          <p:nvPr/>
        </p:nvSpPr>
        <p:spPr>
          <a:xfrm>
            <a:off x="3337200" y="1436400"/>
            <a:ext cx="2527200" cy="1260000"/>
          </a:xfrm>
          <a:prstGeom prst="rect">
            <a:avLst/>
          </a:prstGeom>
          <a:noFill/>
        </p:spPr>
        <p:txBody>
          <a:bodyPr wrap="square">
            <a:spAutoFit/>
          </a:bodyPr>
          <a:lstStyle/>
          <a:p>
            <a:pPr algn="l"/>
            <a:r>
              <a:rPr sz="800" b="0" i="0">
                <a:solidFill>
                  <a:srgbClr val="555555"/>
                </a:solidFill>
                <a:latin typeface="Calibri"/>
              </a:rPr>
              <a:t>La marque iconique repose sur un produit low-cost dont le prix moyen a chuté de 22% depuis 2021, passant de 54.80$ à 42.70$ en 2024, signalant une dépréciation de la valeur perçue. Les ventes en ligne, qui représentent 41% du CA, affichent un taux de conversion de 2.8%, inférieur de 35% à la moyenne sectorielle des chaussures.</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255600"/>
          </a:xfrm>
          <a:prstGeom prst="rect">
            <a:avLst/>
          </a:prstGeom>
          <a:noFill/>
        </p:spPr>
        <p:txBody>
          <a:bodyPr wrap="square">
            <a:spAutoFit/>
          </a:bodyPr>
          <a:lstStyle/>
          <a:p>
            <a:pPr algn="l"/>
            <a:r>
              <a:rPr sz="900" b="1" i="0">
                <a:solidFill>
                  <a:srgbClr val="B06000"/>
                </a:solidFill>
                <a:latin typeface="Calibri"/>
              </a:rPr>
              <a:t>Coûts logistiques</a:t>
            </a:r>
          </a:p>
        </p:txBody>
      </p:sp>
      <p:sp>
        <p:nvSpPr>
          <p:cNvPr id="28" name="TextBox 27"/>
          <p:cNvSpPr txBox="1"/>
          <p:nvPr/>
        </p:nvSpPr>
        <p:spPr>
          <a:xfrm>
            <a:off x="6199200" y="1436400"/>
            <a:ext cx="2527200" cy="1260000"/>
          </a:xfrm>
          <a:prstGeom prst="rect">
            <a:avLst/>
          </a:prstGeom>
          <a:noFill/>
        </p:spPr>
        <p:txBody>
          <a:bodyPr wrap="square">
            <a:spAutoFit/>
          </a:bodyPr>
          <a:lstStyle/>
          <a:p>
            <a:pPr algn="l"/>
            <a:r>
              <a:rPr sz="800" b="0" i="0">
                <a:solidFill>
                  <a:srgbClr val="555555"/>
                </a:solidFill>
                <a:latin typeface="Calibri"/>
              </a:rPr>
              <a:t>Le ROE négatif de -6.3% en 2025 reflète une rentabilité actionnariale nulle, avec un coût du capital estimé à 9.5% selon Damodaran. Le ratio NetDebt/EBITDA à 4.58x dépasse le seuil critique de 3x pour les entreprises en déclin, limitant toute capacité d'investissement futur. La dette nette de 1.2 milliard$ en 2024 équivaut à 1.8x le flux de trésorerie opérationnel, un niveau</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en Europe de l'Ouest avec -3% de CA en 2026</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Pénurie de mousse Croslite due à des tensions sur les matières premières</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Échec du lancement de la collection 'Crocs x Gucci' prévue Q3 2026</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Detresse : 8/100  Sain</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0/100  Peu attractive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Regime : Volatile  Rec.6M:26%</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Qualite : Moderee (0.65x)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Saine (0% CT)</a:t>
            </a:r>
          </a:p>
        </p:txBody>
      </p:sp>
      <p:sp>
        <p:nvSpPr>
          <p:cNvPr id="47" name="Rectangle 46"/>
          <p:cNvSpPr/>
          <p:nvPr/>
        </p:nvSpPr>
        <p:spPr>
          <a:xfrm>
            <a:off x="612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3600" y="4618800"/>
            <a:ext cx="432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2800" y="4629600"/>
            <a:ext cx="2696400" cy="158400"/>
          </a:xfrm>
          <a:prstGeom prst="rect">
            <a:avLst/>
          </a:prstGeom>
          <a:noFill/>
        </p:spPr>
        <p:txBody>
          <a:bodyPr wrap="square">
            <a:spAutoFit/>
          </a:bodyPr>
          <a:lstStyle/>
          <a:p>
            <a:pPr algn="l"/>
            <a:r>
              <a:rPr sz="700" b="0" i="0">
                <a:solidFill>
                  <a:srgbClr val="1B3A6B"/>
                </a:solidFill>
                <a:latin typeface="Calibri"/>
              </a:rPr>
              <a:t>Dividende : Insoutenable (-0.1x)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FinBERT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30 articles  ·  7 derniers jours</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Positif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+0,079</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30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47,5 %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FinBERT</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13</a:t>
                      </a:r>
                    </a:p>
                  </a:txBody>
                  <a:tcPr>
                    <a:solidFill>
                      <a:srgbClr val="EAF4EF"/>
                    </a:solidFill>
                  </a:tcPr>
                </a:tc>
                <a:tc>
                  <a:txBody>
                    <a:bodyPr/>
                    <a:lstStyle/>
                    <a:p>
                      <a:pPr algn="ctr"/>
                      <a:r>
                        <a:rPr sz="800" b="0" i="0">
                          <a:solidFill>
                            <a:srgbClr val="0D0D0D"/>
                          </a:solidFill>
                          <a:latin typeface="Calibri"/>
                        </a:rPr>
                        <a:t>+0,475</a:t>
                      </a:r>
                    </a:p>
                  </a:txBody>
                  <a:tcPr>
                    <a:solidFill>
                      <a:srgbClr val="EAF4EF"/>
                    </a:solidFill>
                  </a:tcPr>
                </a:tc>
                <a:tc>
                  <a:txBody>
                    <a:bodyPr/>
                    <a:lstStyle/>
                    <a:p>
                      <a:pPr algn="ctr"/>
                      <a:r>
                        <a:rPr sz="800" b="0" i="0">
                          <a:solidFill>
                            <a:srgbClr val="0D0D0D"/>
                          </a:solidFill>
                          <a:latin typeface="Calibri"/>
                        </a:rPr>
                        <a:t>Lancement de 15+ collaborations en 2026 avec des marques comme Star Wars et Marvel, générant +15% de CA additionnel | Horizon: 12-18 mois | Impact: +600M$ de CA et +3pp de marge EBITDA</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4</a:t>
                      </a:r>
                    </a:p>
                  </a:txBody>
                  <a:tcPr>
                    <a:solidFill>
                      <a:srgbClr val="FFFFFF"/>
                    </a:solidFill>
                  </a:tcPr>
                </a:tc>
                <a:tc>
                  <a:txBody>
                    <a:bodyPr/>
                    <a:lstStyle/>
                    <a:p>
                      <a:pPr algn="ctr"/>
                      <a:r>
                        <a:rPr sz="800" b="0" i="0">
                          <a:solidFill>
                            <a:srgbClr val="0D0D0D"/>
                          </a:solidFill>
                          <a:latin typeface="Calibri"/>
                        </a:rPr>
                        <a:t>+0,129</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13</a:t>
                      </a:r>
                    </a:p>
                  </a:txBody>
                  <a:tcPr>
                    <a:solidFill>
                      <a:srgbClr val="FAF0EF"/>
                    </a:solidFill>
                  </a:tcPr>
                </a:tc>
                <a:tc>
                  <a:txBody>
                    <a:bodyPr/>
                    <a:lstStyle/>
                    <a:p>
                      <a:pPr algn="ctr"/>
                      <a:r>
                        <a:rPr sz="800" b="0" i="0">
                          <a:solidFill>
                            <a:srgbClr val="0D0D0D"/>
                          </a:solidFill>
                          <a:latin typeface="Calibri"/>
                        </a:rPr>
                        <a:t>+0,396</a:t>
                      </a:r>
                    </a:p>
                  </a:txBody>
                  <a:tcPr>
                    <a:solidFill>
                      <a:srgbClr val="FAF0EF"/>
                    </a:solidFill>
                  </a:tcPr>
                </a:tc>
                <a:tc>
                  <a:txBody>
                    <a:bodyPr/>
                    <a:lstStyle/>
                    <a:p>
                      <a:pPr algn="ctr"/>
                      <a:r>
                        <a:rPr sz="800" b="0" i="0">
                          <a:solidFill>
                            <a:srgbClr val="0D0D0D"/>
                          </a:solidFill>
                          <a:latin typeface="Calibri"/>
                        </a:rPr>
                        <a:t>Ralentissement économique en Europe de l'Ouest (-2% de CA en 2026) réduisant la demande premium | Horizon: 6-12 mois | Ampleur: -150M$ de CA et -1pp de marge EBITDA</a:t>
                      </a:r>
                    </a:p>
                  </a:txBody>
                  <a:tcPr>
                    <a:solidFill>
                      <a:srgbClr val="FAF0EF"/>
                    </a:solidFill>
                  </a:tcPr>
                </a:tc>
              </a:tr>
            </a:tbl>
          </a:graphicData>
        </a:graphic>
      </p:graphicFrame>
      <p:sp>
        <p:nvSpPr>
          <p:cNvPr id="39" name="TextBox 38"/>
          <p:cNvSpPr txBox="1"/>
          <p:nvPr/>
        </p:nvSpPr>
        <p:spPr>
          <a:xfrm>
            <a:off x="367200" y="4140000"/>
            <a:ext cx="8413200" cy="914400"/>
          </a:xfrm>
          <a:prstGeom prst="rect">
            <a:avLst/>
          </a:prstGeom>
          <a:noFill/>
        </p:spPr>
        <p:txBody>
          <a:bodyPr wrap="square">
            <a:spAutoFit/>
          </a:bodyPr>
          <a:lstStyle/>
          <a:p>
            <a:pPr algn="l"/>
            <a:r>
              <a:rPr sz="850" b="0" i="0">
                <a:solidFill>
                  <a:srgbClr val="333333"/>
                </a:solidFill>
                <a:latin typeface="Calibri"/>
              </a:rPr>
              <a:t>Le sentiment positif (score +0.079) est basé sur 30 articles analysés sur 7 jours. Confiance IA : 48%. Cohérence avec la recommandation BUY : validée.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3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Crocs,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Blackrock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FMR,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WIT Partners Advisory Pte. Ltd.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State Street Corporation</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LSV Asset Management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Dimensional Fund Advisors LP</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3326400"/>
            <a:ext cx="8413200" cy="1004400"/>
          </a:xfrm>
          <a:prstGeom prst="rect">
            <a:avLst/>
          </a:prstGeom>
          <a:noFill/>
        </p:spPr>
        <p:txBody>
          <a:bodyPr wrap="square">
            <a:spAutoFit/>
          </a:bodyPr>
          <a:lstStyle/>
          <a:p>
            <a:pPr algn="l"/>
            <a:r>
              <a:rPr sz="850" b="0" i="0">
                <a:solidFill>
                  <a:srgbClr val="555555"/>
                </a:solidFill>
                <a:latin typeface="Calibri"/>
              </a:rPr>
              <a:t>Crocs se traite à 22,1x EV/EBITDA vs une médiane peers à 18,5x, justifiée par une croissance supérieure et une marque premium. Le P/E négatif reflète des charges exceptionnelles en 2025, non récurrentes.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CROX  ·  USD  ·  Au 3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83,66 $</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102,00 $</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81,69 $</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-18,0 %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2383200"/>
            <a:ext cx="498636" cy="151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38" name="Rectangle 37"/>
          <p:cNvSpPr/>
          <p:nvPr/>
        </p:nvSpPr>
        <p:spPr>
          <a:xfrm>
            <a:off x="1293300" y="2434248"/>
            <a:ext cx="498636" cy="146095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0" name="Rectangle 39"/>
          <p:cNvSpPr/>
          <p:nvPr/>
        </p:nvSpPr>
        <p:spPr>
          <a:xfrm>
            <a:off x="1949400" y="2544145"/>
            <a:ext cx="498636" cy="1351054"/>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2" name="Rectangle 41"/>
          <p:cNvSpPr/>
          <p:nvPr/>
        </p:nvSpPr>
        <p:spPr>
          <a:xfrm>
            <a:off x="2605500" y="3432535"/>
            <a:ext cx="498636" cy="462664"/>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4" name="Rectangle 43"/>
          <p:cNvSpPr/>
          <p:nvPr/>
        </p:nvSpPr>
        <p:spPr>
          <a:xfrm>
            <a:off x="3261600" y="3691324"/>
            <a:ext cx="498636" cy="203875"/>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6" name="Rectangle 45"/>
          <p:cNvSpPr/>
          <p:nvPr/>
        </p:nvSpPr>
        <p:spPr>
          <a:xfrm>
            <a:off x="3917700" y="3823200"/>
            <a:ext cx="498636"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48" name="Rectangle 47"/>
          <p:cNvSpPr/>
          <p:nvPr/>
        </p:nvSpPr>
        <p:spPr>
          <a:xfrm>
            <a:off x="4573800" y="3589935"/>
            <a:ext cx="498636" cy="30526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0" name="Rectangle 49"/>
          <p:cNvSpPr/>
          <p:nvPr/>
        </p:nvSpPr>
        <p:spPr>
          <a:xfrm>
            <a:off x="5229900" y="3551649"/>
            <a:ext cx="498636" cy="34355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2" name="Rectangle 51"/>
          <p:cNvSpPr/>
          <p:nvPr/>
        </p:nvSpPr>
        <p:spPr>
          <a:xfrm>
            <a:off x="5886000" y="3665090"/>
            <a:ext cx="498636" cy="23010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4" name="Rectangle 53"/>
          <p:cNvSpPr/>
          <p:nvPr/>
        </p:nvSpPr>
        <p:spPr>
          <a:xfrm>
            <a:off x="6542100" y="3183672"/>
            <a:ext cx="498636" cy="71152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6" name="Rectangle 55"/>
          <p:cNvSpPr/>
          <p:nvPr/>
        </p:nvSpPr>
        <p:spPr>
          <a:xfrm>
            <a:off x="7198200" y="3728901"/>
            <a:ext cx="498636" cy="166298"/>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58" name="Rectangle 57"/>
          <p:cNvSpPr/>
          <p:nvPr/>
        </p:nvSpPr>
        <p:spPr>
          <a:xfrm>
            <a:off x="7854300" y="3683524"/>
            <a:ext cx="498636" cy="211675"/>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81</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88</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95</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102</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Crocs affiche une reprise opérationnelle post-2024 avec des marges en amélioration et une dynamique de croissance revenue. La valorisation reste attractive malgré un P/E négatif, soutenu par un modèle résilient et une marque forte.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