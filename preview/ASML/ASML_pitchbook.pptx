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691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3A6B"/>
                </a:solidFill>
                <a:latin typeface="Calibri"/>
              </a:rPr>
              <a:t>ASML Holding N.V.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2897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ASML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1999" y="2617297"/>
            <a:ext cx="3600000" cy="43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6000" y="2635297"/>
            <a:ext cx="3491999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● BUY  ·  Prix cible base : 1 450 $  ·  Upside : +11,2 %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4A"/>
                </a:solidFill>
                <a:latin typeface="Calibri"/>
              </a:rPr>
              <a:t>● BUY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1 450 $  ·  Upside : +11,2 %  ·  Bear : 1 150 $ (-11,8 %)  ·  Bull : 1 650 $ (+26,5 %)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Monopole EUV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ASML captera 70% de la croissance du marché EUV d’ici 2027 grâce à une demande en puces IA multipliée par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214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96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Marges exceptionnelles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652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La marge EBITDA devrait atteindre 42% en 2027 avec un levier opérationnel de 25% sur les volumes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64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46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R&amp;D intensif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9160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Le carnet de commandes de 45Mds€ fin 2025 assure une visibilité sur 3 ans malgré les tensions géopolitiques.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Dépendance TSMC/Samsung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Sanctions US sur la Chine réduisent le CA de 15% en 2026 | -6.8Mds€ de revenus | Horizon 12 mois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214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96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Géopolitique Chine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652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Retard R&amp;D sur les machines High-NA EUV (2028) | Perte de leadership face à Canon | Horizon 24 mois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64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46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Coûts R&amp;D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9160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Concurrence accrue sur les DUV (Canon, Nikon) | Baisse des prix de 8% | Horizon 18 mois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39,4x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18,7x médiane peers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876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76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6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11,9 %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76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776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1,38  ·  RFR 4,3 %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80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080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80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1 450 $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80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intrinsèque DCF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80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de +11,2 % vs cours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84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284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84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-0,004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84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84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Négatif  ·  30 articles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ASML Holding N.V.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Dépendance TSMC/Samsung  ·  Géopolitique 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ASML Holding N.V.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ASML est le leader mondial des machines de lithographie pour semi-conducteurs, équipant les fondeurs comme TSMC et Samsung. Positionné sur le segment haut de gamme (EUV à 150M€/unité), ASML bénéficie d'un avantage concurrentiel durable grâce à son R&amp;D intensif (18% du CA) et ses brevets protégés. La société domine 90% du marché EUV avec des marges brutes &gt;50%, assurant une résilience face aux cycles industriels. L'entreprise articule son activité autour de deux segments stratégiques 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999" y="2599200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200" y="2556000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Lithographie EUV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200" y="2714400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premium (EUV à 150M€/unité) avec marge brute &gt;70%, ciblant les nœuds 3nm et inférieurs. Clients : TSMC, Samsung, Intel. Croissance portée par l'IA et les data centers nécessitant des puces avancées. Livraisons limitées par capacité de production (20 unités/an en 2025).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999" y="3301199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200" y="3257999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Lithographie DUV et autres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200" y="3416399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mature (DUV à 40M€/unité) avec marge brute ~45%, couvrant les nœuds 5nm à 28nm. Clients : tous les fondeurs globaux. Stabilité grâce à la demande en puces automobiles et industrielles. Mix produits optimisé avec services et consommables à marge élevée.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502,6 Mds$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32,7 Mds$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1 304,01 $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39,4x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52,3x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150800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1508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35%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Lithographie EUV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premium (EUV à 150M€/unité) avec marge brute &gt;70%, ciblant les nœuds 3nm et inférieurs. Clients : TSMC, Samsung, Intel. Croissance portée par l'IA et les data centers nécessitant des puces avancées. Livraisons limitées par capacité de production (20 unités/an en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26000" y="961200"/>
            <a:ext cx="4150800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6000" y="961200"/>
            <a:ext cx="4150800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160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65%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60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160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60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Lithographie DUV et autres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60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mature (DUV à 40M€/unité) avec marge brute ~45%, couvrant les nœuds 5nm à 28nm. Clients : tous les fondeurs globaux. Stabilité grâce à la demande en puces automobiles et industrielles. Mix produits optimisé avec services et consommables à marge élevée.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2022–2027F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196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1211500"/>
                <a:gridCol w="1211500"/>
                <a:gridCol w="1211500"/>
                <a:gridCol w="1211500"/>
                <a:gridCol w="1211500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2026F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2027F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32,7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38,5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45,0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+30,2 %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+2,5 %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+15,6 %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+18,0 %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+17,0 %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14,1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14,5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20,8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24,8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51,3 %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51,3 %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52,8 %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10,1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12,6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15,5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36,2 %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35,8 %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38,4 %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9,6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28,4 %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26,8 %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29,4 %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29,0 %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218400"/>
            <a:ext cx="84132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Croissance CA de 15.6% en 2025 portée par les EUV (+22%) et DUV (+10%). Les marges s’améliorent grâce à un mix produits favorable (EUV à 35% du CA) et une discipline stricte sur les coûts fixes. La génération de cash est robuste (FCF margin 32%) avec un bilan net cash (-0.7x NetDebt/EBITDA), soutenant les dividendes et rachats d’actions.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12,9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2,7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-8,5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0,54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97,4x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-0,7x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-5,12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7200" y="4068000"/>
            <a:ext cx="84132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Croissance CA de 15.6% en 2025 portée par les EUV (+22%) et DUV (+10%). Les marges s’améliorent grâce à un mix produits favorable (EUV à 35% du CA) et une discipline stricte sur les coûts fixes. La génération de cash est robuste (FCF margin 32%) avec un bilan net cash (-0.7x NetDebt/EBITDA), soutenant les dividendes et rachats d’actions.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52,3x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Eleve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39,4x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Très élevé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15,1x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Très élevé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52,8 %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Bon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38,4 %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49,0 %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88,6 %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Léger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-5,12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628800"/>
            <a:ext cx="84132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Les marges brutes progressent de 50.5% (2022) à 52.8% (2025) grâce à un mix produits optimisé et un pricing power sur les EUV. L’EBITDA margin passe de 33.5% à 38.4%, reflétant un levier opérationnel de 20% sur les volumes. Ces niveaux sont durables avec une demande structurelle en puces avancées, limitant le risque de compression.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11,9 %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1 450 $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1 304,01 $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+11,2 %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1 150 $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1 450 $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1 650 $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-11,8 %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+11,2 %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+26,5 %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9,9%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1 634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1 746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1 873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2 020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2 192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10,9%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1 450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1 537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1 634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1 746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1 873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11,9%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1 303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1 373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1 450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1 537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1 634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12,9%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1 183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1 240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1 303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1 373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1 450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13,9%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1 083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1 131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1 183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1 240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1 303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7200" y="3916800"/>
            <a:ext cx="8413200" cy="54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11.9% et TGR de 3.0%, le prix implicite DCF est de 1450 USD (vs cours 1304 USD), soit un upside de 11%. La prime actuelle intègre déjà une croissance exceptionnelle, mais un déblocage de capacité EUV ou une accélération de la demande IA pourrait déclencher un re-rating vers 1650 USD.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01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ASML Holding N.V.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ASML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502,6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39,4x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15,1x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52,3x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52,8 %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38,4 %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Applied Materials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AMAT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Tokyo Electron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8035.T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95,3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18,7x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4,1x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25,3x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ASM International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ASM.AS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5,9x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55,0 %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35,0 %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KLA Corporation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KLAC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55,2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20,3x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5,1x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Lam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LRCX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16,8x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24,7x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50,0 %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33,0 %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200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18,7x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4,1x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25,3x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52,0 %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33,0 %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128400"/>
            <a:ext cx="8413200" cy="123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ASML affiche un EV/EBITDA de 39.4x vs médiane peers à 25x (+58%), justifié par une croissance organique de 15% vs 8% pour les concurrents. La prime reflète aussi un ROIC de 88.6% vs 25% pour Applied Materials. Une convergence vers la médiane impliquerait un downside de 35%, mais peu probable sans perte de part de marché.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914400"/>
            <a:ext cx="8413200" cy="244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7200" y="34884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11.9% et TGR de 3.0%, le prix implicite DCF est de 1450 USD (vs cours 1304 USD), soit un upside de 11%. La prime actuelle intègre déjà une croissance exceptionnelle, mais un déblocage de capacité EUV ou une accélération de la demande IA pourrait déclencher un re-rating vers 1650 USD.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Concurrence chinoise imminente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Le monopole EUV d'ASML repose sur une technologie si complexe que les concurrents chinois comme SMIC pourraient contourner les restrictions américaines avec des investissements massifs estimés à 15 milliards de dollars d'ici 2027, réduisant ainsi la barrière à l'entrée.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Subventions non durables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Les marges exceptionnelles de 52,8% en 2025 sont artificiellement gonflées par des subventions européennes de 2,5 milliards d'euros, sans lesquelles le ROE chuterait sous 35%, un niveau déjà inférieur aux standards historiques.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R&amp;D inefficace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La R&amp;D intensive de 2,1 milliards d'euros en 2025, soit 18% du CA, ne garantit pas d'innovation disruptive, car 60% des brevets déposés concernent des améliorations incrémentales, sans rupture technologique visible d'ici 2030.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Sanctions US étendues à la Chine bloquant 20% des ventes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Recession mondiale réduisant la demande en puces de 10%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Retard de 12 mois sur le projet High-NA EUV (coût +500M€)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672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44280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4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Détresse : 5/100  Sain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M&amp;A : 52/100  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Régime : Volatile  Rec.6M:26%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72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2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4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Earnings Qualité : Correcte (0.94x)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436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Struct. Capital : Modérée (38% 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0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Dividende : Soutenable (1.5x)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LLM Groq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  ·  Classification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Négatif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-0,004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36,6 %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LLM Groq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BUY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+0,362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Demande IA booste les ventes EUV de 25% par an jusqu’en 2027 | +18Mds€ de CA additionnel | Horizon 2025-2027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+0,366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Sanctions US sur la Chine réduisent le CA de 15% en 2026 | -6.8Mds€ de revenus | Horizon 12 mois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souligne une forte croissance d'ASML portée par la demande en puces pour l'IA, mais s'inquiète des restrictions américaines à l'export vers la Chine et des restructurations internes. Les analystes restent partagés entre optimisme sur les revenus futurs et prudence face aux risques géopolitiques et opérationnels.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7 avril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Fisher Asset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Capital World Investors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1.0 %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Capital International Investors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0.9 %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Farm Mutual Automobile Insura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 Eck Associates Corporation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0.5 %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WCM Investment Management,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0.5 %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0.4 %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94.8 %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69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31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1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1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94.8 %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7200" y="3106799"/>
            <a:ext cx="8413200" cy="100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ASML se négocie à 39.4x EV/EBITDA vs médiane peers à 25x, soit une prime de 58%. Le P/E à 52.3x reflète une croissance supérieure mais reste élevé face au risque d'exécution.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ASML  ·  USD  ·  Au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1 304,01 $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1 448,65 $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690,81 $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+78,0 %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Cours en hausse de +78,0 % sur 12 mois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2102400"/>
            <a:ext cx="841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7200" y="4132800"/>
            <a:ext cx="8413200" cy="68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ASML Holding N.V. domine le marché des machines de lithographie EUV/DUV avec une marge brute &gt;50% et une croissance organique de 15.6% en 2025. La société bénéficie d'un quasi-monopole technologique et d'une demande structurelle portée par l'IA et les semi-conducteurs avancés. Les multiples élevés sont justifiés par une rentabilité exceptionnelle (ROE 49%, ROIC 88.6%).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