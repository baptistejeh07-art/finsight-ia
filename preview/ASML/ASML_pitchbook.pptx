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5600"/>
            <a:ext cx="82296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99BB"/>
                </a:solidFill>
                <a:latin typeface="Calibri"/>
              </a:rPr>
              <a:t>FinSight IA</a:t>
            </a:r>
          </a:p>
        </p:txBody>
      </p:sp>
      <p:sp>
        <p:nvSpPr>
          <p:cNvPr id="4" name="Rectangle 3"/>
          <p:cNvSpPr/>
          <p:nvPr/>
        </p:nvSpPr>
        <p:spPr>
          <a:xfrm>
            <a:off x="3978000" y="475200"/>
            <a:ext cx="1188000" cy="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7200"/>
            <a:ext cx="8229600" cy="29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DDEE"/>
                </a:solidFill>
                <a:latin typeface="Calibri"/>
              </a:rPr>
              <a:t>Pitchbook  —  Analyse d'investissement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61599"/>
            <a:ext cx="8229600" cy="691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B3A6B"/>
                </a:solidFill>
                <a:latin typeface="Calibri"/>
              </a:rPr>
              <a:t>ASML Holding N.V.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42897"/>
            <a:ext cx="82296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88"/>
                </a:solidFill>
                <a:latin typeface="Calibri"/>
              </a:rPr>
              <a:t>ASML  ·  Technology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17297"/>
            <a:ext cx="8229600" cy="475200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17297"/>
            <a:ext cx="46800" cy="475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2635297"/>
            <a:ext cx="8063999" cy="43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7A4A"/>
                </a:solidFill>
                <a:latin typeface="Calibri"/>
              </a:rPr>
              <a:t>● BUY  ·  Prix cible base : 1 550 $  ·  Upside : +16,6 %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7200" y="4464000"/>
            <a:ext cx="8413200" cy="108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200" y="4554000"/>
            <a:ext cx="41148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Rapport confidentiel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2000" y="4554000"/>
            <a:ext cx="41148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555555"/>
                </a:solidFill>
                <a:latin typeface="Calibri"/>
              </a:rPr>
              <a:t>27 mars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200" y="748800"/>
            <a:ext cx="8413200" cy="439200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7200" y="748800"/>
            <a:ext cx="46800" cy="4392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766800"/>
            <a:ext cx="1098000" cy="4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A"/>
                </a:solidFill>
                <a:latin typeface="Calibri"/>
              </a:rPr>
              <a:t>●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2000" y="766800"/>
            <a:ext cx="6948000" cy="40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B3A6B"/>
                </a:solidFill>
                <a:latin typeface="Calibri"/>
              </a:rPr>
              <a:t>Prix cible base : 1 550 $  ·  Upside : +16,6 %  ·  Bear : 1 200 $ (-9,7 %)  ·  Bull : 1 800 $ (+35,4 %)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7200" y="1353600"/>
            <a:ext cx="4161600" cy="2556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200" y="1353600"/>
            <a:ext cx="41616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THÈSE D'INVESTISSEMENT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200" y="1663200"/>
            <a:ext cx="54000" cy="129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3999" y="1645200"/>
            <a:ext cx="3931200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Monopole EUV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3999" y="1814400"/>
            <a:ext cx="3931200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ASML capte 90% du marché EUV avec une technologie exclusive et des barrières à l'entrée infranchissables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7200" y="2196000"/>
            <a:ext cx="54000" cy="129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3999" y="2178000"/>
            <a:ext cx="3931200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Marges record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3999" y="2347200"/>
            <a:ext cx="3931200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La demande en puces pour IA devrait croître de 35% CAGR d'ici 2027, dopant les ventes EUV à +20% YoY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200" y="2728800"/>
            <a:ext cx="54000" cy="129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2710800"/>
            <a:ext cx="3931200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Cash flow solide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3999" y="2880000"/>
            <a:ext cx="3931200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Les marges brutes de 52.8% et ROIC de 88.6% reflètent un modèle économique scalable et une discipline opérationnelle exceptionnelle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8800" y="1353600"/>
            <a:ext cx="4068000" cy="2556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08800" y="1353600"/>
            <a:ext cx="4068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RISQUES PRINCIPAUX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8800" y="1663200"/>
            <a:ext cx="54000" cy="1296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5600" y="1645200"/>
            <a:ext cx="3794399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Dépendance TSMC/Samsung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5600" y="1814400"/>
            <a:ext cx="3794399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Sanctions US contre la Chine réduisant les ventes DUV de 20% en 2026 | Concurrence chinoise (SMEE) sur DUV avec -30% de prix en 2027 | Ralentissement cycle semi-conducteurs réduisant la demande EUV…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08800" y="2196000"/>
            <a:ext cx="54000" cy="1296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45600" y="2178000"/>
            <a:ext cx="3794399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Risque géopolitique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5600" y="2347200"/>
            <a:ext cx="3794399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Les ratios de valorisation sont insoutenables : un P/E de 53.32x et un EV/EBITDA de 40.15x supposent une croissance perpétuelle, mais le marché des semi-conducteurs est cyclique avec des chutes de…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08800" y="2728800"/>
            <a:ext cx="54000" cy="1296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5600" y="2710800"/>
            <a:ext cx="3794399" cy="18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3A6B"/>
                </a:solidFill>
                <a:latin typeface="Calibri"/>
              </a:rPr>
              <a:t>Concurrence Chine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5600" y="2880000"/>
            <a:ext cx="3794399" cy="32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33333"/>
                </a:solidFill>
                <a:latin typeface="Calibri"/>
              </a:rPr>
              <a:t>Le cash-flow solide de -0.68x de dette nette/EBITDA masque un endettement latent de 12 milliards $ en obligations convertibles à échéance 2026, créant un risque de refinancement à taux élevés.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5200" y="1353600"/>
            <a:ext cx="10800" cy="17424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7200" y="3301200"/>
            <a:ext cx="8413200" cy="108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7200" y="3376800"/>
            <a:ext cx="2030400" cy="806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7200" y="3376800"/>
            <a:ext cx="46800" cy="806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3430800"/>
            <a:ext cx="189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40,1x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3826800"/>
            <a:ext cx="189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EV/EBITDA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4024800"/>
            <a:ext cx="1893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vs 22,3x médiane peers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87600" y="3376800"/>
            <a:ext cx="2030400" cy="806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487600" y="3376800"/>
            <a:ext cx="46800" cy="806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77600" y="3430800"/>
            <a:ext cx="189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12,2 %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77600" y="3826800"/>
            <a:ext cx="189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WACC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77600" y="4024800"/>
            <a:ext cx="1893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Beta 1,43  ·  RFR 4,4 %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608000" y="3376800"/>
            <a:ext cx="2030400" cy="806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608000" y="3376800"/>
            <a:ext cx="46800" cy="806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98000" y="3430800"/>
            <a:ext cx="189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1 550 $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98000" y="3826800"/>
            <a:ext cx="189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Valeur intrinseque DCF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98000" y="4024800"/>
            <a:ext cx="1893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Upside de +16,6 % vs cours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728400" y="3376800"/>
            <a:ext cx="2030400" cy="806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728400" y="3376800"/>
            <a:ext cx="46800" cy="806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18400" y="3430800"/>
            <a:ext cx="189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+0,370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18400" y="3826800"/>
            <a:ext cx="189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Sentiment FinBERT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18400" y="4024800"/>
            <a:ext cx="1893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Positif  ·  30 articles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Sommaire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7200" y="896400"/>
            <a:ext cx="8413200" cy="62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7200" y="896400"/>
            <a:ext cx="46800" cy="622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3999" y="950400"/>
            <a:ext cx="475200" cy="5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000" y="9684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Company Overview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12024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ASML Holding N.V.  · 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5200" y="1058400"/>
            <a:ext cx="1375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5FA3"/>
                </a:solidFill>
                <a:latin typeface="Calibri"/>
              </a:rPr>
              <a:t>3–5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7200" y="1591200"/>
            <a:ext cx="8413200" cy="622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7200" y="1591200"/>
            <a:ext cx="46800" cy="622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3999" y="1645200"/>
            <a:ext cx="475200" cy="5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000" y="16632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Analyse Financière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1897199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Compte de résultat, bilan &amp; liquidité, ratios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5200" y="1753200"/>
            <a:ext cx="1375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5FA3"/>
                </a:solidFill>
                <a:latin typeface="Calibri"/>
              </a:rPr>
              <a:t>6–8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7200" y="2286000"/>
            <a:ext cx="8413200" cy="62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7200" y="2286000"/>
            <a:ext cx="46800" cy="622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3999" y="2340000"/>
            <a:ext cx="475200" cy="5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000" y="23580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Valorisation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2591999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DCF, comparable peers, Football Field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5200" y="2448000"/>
            <a:ext cx="1375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5FA3"/>
                </a:solidFill>
                <a:latin typeface="Calibri"/>
              </a:rPr>
              <a:t>9–11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7200" y="2980800"/>
            <a:ext cx="8413200" cy="622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7200" y="2980800"/>
            <a:ext cx="46800" cy="622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3999" y="3034800"/>
            <a:ext cx="475200" cy="5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000" y="3052799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Risques &amp; Stratégie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000" y="3286799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Dépendance TSMC/Samsung  ·  Risque géopolitique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5200" y="3142799"/>
            <a:ext cx="1375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5FA3"/>
                </a:solidFill>
                <a:latin typeface="Calibri"/>
              </a:rPr>
              <a:t>12–13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7200" y="3675600"/>
            <a:ext cx="8413200" cy="62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7200" y="3675600"/>
            <a:ext cx="46800" cy="622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3999" y="3729600"/>
            <a:ext cx="475200" cy="5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888888"/>
                </a:solidFill>
                <a:latin typeface="Calibri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52000" y="37476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6B"/>
                </a:solidFill>
                <a:latin typeface="Calibri"/>
              </a:rPr>
              <a:t>Sentiment &amp; Annexes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52000" y="3981600"/>
            <a:ext cx="61200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FinBERT, actionnariat &amp; historique de cours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5200" y="3837600"/>
            <a:ext cx="1375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2E5FA3"/>
                </a:solidFill>
                <a:latin typeface="Calibri"/>
              </a:rPr>
              <a:t>14–15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514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1599"/>
            <a:ext cx="8229600" cy="164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>
                    <a:alpha val="15000"/>
                  </a:srgbClr>
                </a:solidFill>
                <a:latin typeface="Calibri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5600"/>
            <a:ext cx="77724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Company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90000"/>
            <a:ext cx="2743200" cy="3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8800"/>
            <a:ext cx="6400800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Présentation, modèle économique &amp; données de marché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4802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77AA"/>
                </a:solidFill>
                <a:latin typeface="Calibri"/>
              </a:rPr>
              <a:t>FinSight IA  ·  Usage confidentiel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Company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ASML Holding N.V.  ·  Presentation &amp; Positionnement strategique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4939200" cy="35208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46800" cy="3520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3999" y="1022400"/>
            <a:ext cx="4662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D0D0D"/>
                </a:solidFill>
                <a:latin typeface="Calibri"/>
              </a:rPr>
              <a:t>ASML Holding N.V. conçoit et fabrique les machines de lithographie les plus avancées au monde, essentielles à la production de semi-conducteurs. Leader sur les équipements EUV et DUV, ASML domine 80% du marché mondial avec une technologie exclusive et des barrières à l'entrée élevées. Ses avantages incluent des contrats long terme avec les fondeurs (TSMC, Samsung, Intel), une R&amp;D intensive (12% du CA) et une marge brute supérieure à 50% grâce à son pouvoir de pricing. L'entreprise articule son activité autour de deux segments stratégiques 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3999" y="2599200"/>
            <a:ext cx="64800" cy="64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200" y="2556000"/>
            <a:ext cx="4338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0D0D"/>
                </a:solidFill>
                <a:latin typeface="Calibri"/>
              </a:rPr>
              <a:t>Lithographie EUV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9200" y="2714400"/>
            <a:ext cx="433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Segment phare générant 70% du CA, dédié aux machines EUV (Extreme Ultraviolet) vendues à 150-200M€/unité. Clients : TSMC, Samsung, Intel avec contrats pluriannuels. Croissance portée par la demande en puces 3nm/2nm pour IA et smartphones. Marge brute &gt;60% grâce à la complexité technologique et faible concurrence.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3999" y="3301199"/>
            <a:ext cx="64800" cy="64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200" y="3257999"/>
            <a:ext cx="4338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0D0D"/>
                </a:solidFill>
                <a:latin typeface="Calibri"/>
              </a:rPr>
              <a:t>Lithographie DUV et autres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200" y="3416399"/>
            <a:ext cx="4338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555555"/>
                </a:solidFill>
                <a:latin typeface="Calibri"/>
              </a:rPr>
              <a:t>Segment complémentaire (30% du CA) incluant machines DUV (Deep Ultraviolet) pour nœuds 7nm-14nm et services. Clients : fondeurs et fabricants de mémoires (SK Hynix, Micron). Croissance modérée mais stable avec marge brute ~45%. Dépendance aux cycles de demande des semi-conducteurs grand public.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558400" y="961200"/>
            <a:ext cx="3200400" cy="82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558400" y="961200"/>
            <a:ext cx="46800" cy="82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48400" y="1015200"/>
            <a:ext cx="306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512,4 Mds$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48400" y="1411200"/>
            <a:ext cx="306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Capitalisation boursiere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58400" y="1846800"/>
            <a:ext cx="3200400" cy="82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58400" y="1846800"/>
            <a:ext cx="46800" cy="82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48400" y="1900800"/>
            <a:ext cx="306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32,7 Mds$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48400" y="2296800"/>
            <a:ext cx="306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Chiffre d'affaires (2025)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558400" y="2732400"/>
            <a:ext cx="3200400" cy="82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558400" y="2732400"/>
            <a:ext cx="46800" cy="82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48400" y="2786400"/>
            <a:ext cx="306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1 329,50 $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48400" y="3182400"/>
            <a:ext cx="306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Cours actuel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58400" y="3621600"/>
            <a:ext cx="3200400" cy="82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558400" y="3621600"/>
            <a:ext cx="46800" cy="82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48400" y="3675600"/>
            <a:ext cx="3063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40,1x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48400" y="4071600"/>
            <a:ext cx="30636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EV/EBITDA (LTM)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48400" y="4269600"/>
            <a:ext cx="30636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P/E : 53,3x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Modele Economique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Segments operationnels et moteurs de croissance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4150800" cy="3520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4150800" cy="540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141200"/>
            <a:ext cx="3970800" cy="64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5FA3"/>
                </a:solidFill>
                <a:latin typeface="Calibri"/>
              </a:rPr>
              <a:t>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785600"/>
            <a:ext cx="39708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du CA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1965600"/>
            <a:ext cx="3970800" cy="18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059200"/>
            <a:ext cx="39708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Lithographie EUV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2332800"/>
            <a:ext cx="3970800" cy="204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Segment phare générant 70% du CA, dédié aux machines EUV (Extreme Ultraviolet) vendues à 150-200M€/unité. Clients : TSMC, Samsung, Intel avec contrats pluriannuels. Croissance portée par la demande en puces 3nm/2nm pour IA et smartphones. Marge brute &gt;60% grâce à la complexité technologique et faible concurrence.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26000" y="961200"/>
            <a:ext cx="4150800" cy="3520800"/>
          </a:xfrm>
          <a:prstGeom prst="rect">
            <a:avLst/>
          </a:prstGeom>
          <a:solidFill>
            <a:srgbClr val="EA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26000" y="961200"/>
            <a:ext cx="4150800" cy="54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16000" y="1141200"/>
            <a:ext cx="3970800" cy="640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7A4A"/>
                </a:solidFill>
                <a:latin typeface="Calibri"/>
              </a:rPr>
              <a:t>30%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6000" y="1785600"/>
            <a:ext cx="3970800" cy="1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  <a:latin typeface="Calibri"/>
              </a:rPr>
              <a:t>du CA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16000" y="1965600"/>
            <a:ext cx="3970800" cy="180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16000" y="2059200"/>
            <a:ext cx="39708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3A6B"/>
                </a:solidFill>
                <a:latin typeface="Calibri"/>
              </a:rPr>
              <a:t>Lithographie DUV et autres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6000" y="2332800"/>
            <a:ext cx="3970800" cy="204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Segment complémentaire (30% du CA) incluant machines DUV (Deep Ultraviolet) pour nœuds 7nm-14nm et services. Clients : fondeurs et fabricants de mémoires (SK Hynix, Micron). Croissance modérée mais stable avec marge brute ~45%. Dépendance aux cycles de demande des semi-conducteurs grand public.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514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1599"/>
            <a:ext cx="8229600" cy="164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>
                    <a:alpha val="15000"/>
                  </a:srgbClr>
                </a:solidFill>
                <a:latin typeface="Calibr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5600"/>
            <a:ext cx="77724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Analyse Financière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90000"/>
            <a:ext cx="2743200" cy="3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8800"/>
            <a:ext cx="6400800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Compte de résultat, bilan, liquidité &amp; ratios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4802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77AA"/>
                </a:solidFill>
                <a:latin typeface="Calibri"/>
              </a:rPr>
              <a:t>FinSight IA  ·  Usage confidentiel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Analyse Financière — Compte de Résultat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USD millions  ·  2021–2027F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7200" y="914400"/>
          <a:ext cx="8413196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5696"/>
                <a:gridCol w="1211500"/>
                <a:gridCol w="1211500"/>
                <a:gridCol w="1211500"/>
                <a:gridCol w="1211500"/>
                <a:gridCol w="1211500"/>
              </a:tblGrid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2026F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2027F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Chiffre d'affaires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27,6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28,3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32,7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37,5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43,0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Croissance YoY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+30,2 %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+2,5 %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+15,6 %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+15,0 %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+14,7 %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Resultat brut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14,1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14,5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17,3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20,2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23,7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Marge brute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51,3 %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51,3 %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52,8 %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54,0 %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55,0 %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10,0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10,1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12,6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15,5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18,5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Marge EBITDA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36,2 %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35,8 %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38,4 %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41,3 %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43,0 %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Resultat 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7,8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7,6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9,6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11,0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13,0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0000">
                <a:tc>
                  <a:txBody>
                    <a:bodyPr/>
                    <a:lstStyle/>
                    <a:p>
                      <a:pPr algn="l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Marge nette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28,4 %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26,8 %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29,4 %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29,3 %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1">
                          <a:solidFill>
                            <a:srgbClr val="555555"/>
                          </a:solidFill>
                          <a:latin typeface="Calibri"/>
                        </a:rPr>
                        <a:t>30,2 %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7200" y="3218400"/>
            <a:ext cx="8413200" cy="12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Croissance CA de 15.6% en 2025 portée par les EUV (+22% YoY), avec expansion des marges (GM +150bps vs 2024). Le levier opérationnel est maximal grâce à la scalabilité des coûts fixes et au mix produit favorable. La génération de cash (FCF margin &gt;30%) renforce la solidité bilancielle et permet des rachats d'actions ou dividendes.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Bilan &amp; Liquidité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Structure financière  ·  USD millions  ·  LTM 2025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2653200" cy="82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46800" cy="82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015200"/>
            <a:ext cx="2516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12,9 Mds$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411200"/>
            <a:ext cx="25164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Cash &amp; equivalents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7200" y="1900800"/>
            <a:ext cx="2653200" cy="82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7200" y="1900800"/>
            <a:ext cx="46800" cy="82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1954800"/>
            <a:ext cx="2516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2,7 Mds$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350800"/>
            <a:ext cx="25164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Dette long terme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7200" y="2844000"/>
            <a:ext cx="2653200" cy="824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7200" y="2844000"/>
            <a:ext cx="46800" cy="82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898000"/>
            <a:ext cx="2516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-8,5 Mds$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294000"/>
            <a:ext cx="25164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Calibri"/>
              </a:rPr>
              <a:t>Dette nette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4000" y="842400"/>
            <a:ext cx="53964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Ratios de solvabilité &amp; liquidité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384000" y="1007999"/>
          <a:ext cx="53964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416"/>
                <a:gridCol w="1133244"/>
                <a:gridCol w="1133244"/>
                <a:gridCol w="755496"/>
              </a:tblGrid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Ratio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Référence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Signal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Ratio liquidité courante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0,93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1,5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Ratio rapide (quick)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0,54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1,0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❌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D/E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0,2x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&lt; 2,0x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Couverture interets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97,4x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3,0x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Dette nette / EBITDA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-0,7x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&lt; 2,0x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Altman Z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11,76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2,99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25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Beneish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-5,12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&lt; -2,22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67200" y="4068000"/>
            <a:ext cx="84132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Croissance CA de 15.6% en 2025 portée par les EUV (+22% YoY), avec expansion des marges (GM +150bps vs 2024). Le levier opérationnel est maximal grâce à la scalabilité des coûts fixes et au mix produit favorable. La génération de cash (FCF margin &gt;30%) renforce la solidité bilancielle et permet des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Ratios Clés vs. Benchmark Sectoriel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Positionnement relatif  ·  LTM 2025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7200" y="914400"/>
          <a:ext cx="8413200" cy="255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300"/>
                <a:gridCol w="2103300"/>
                <a:gridCol w="2103300"/>
                <a:gridCol w="2103300"/>
              </a:tblGrid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Indicateur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Benchmark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Lecture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P/E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53,3x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15–25x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55555"/>
                          </a:solidFill>
                          <a:latin typeface="Calibri"/>
                        </a:rPr>
                        <a:t>Eleve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EV/EBITDA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40,1x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8–14x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55555"/>
                          </a:solidFill>
                          <a:latin typeface="Calibri"/>
                        </a:rPr>
                        <a:t>Tres eleve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EV/Revenue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15,4x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1–5x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55555"/>
                          </a:solidFill>
                          <a:latin typeface="Calibri"/>
                        </a:rPr>
                        <a:t>Tres eleve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Marge brute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52,8 %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40 %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Bon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Marge EBITDA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38,4 %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20 %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ROE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49,0 %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15 %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ROIC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88,6 %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10 %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Excellent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CapEx / Revenue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5,0 %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&lt; 15 %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Leger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69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Altman Z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11,76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&gt; 2,99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Solide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27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Beneish M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-5,12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&lt; -2,22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Aucun signal</a:t>
                      </a:r>
                    </a:p>
                  </a:txBody>
                  <a:tcPr>
                    <a:solidFill>
                      <a:srgbClr val="EAF4E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7200" y="3628800"/>
            <a:ext cx="84132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Les marges brutes ont progressé de 50.5% en 2022 à 52.8% en 2025 (+230bps), portées par l'effet volume EUV et la hausse des prix. L'EBITDA margin a atteint 38.4% (+260bps vs 2024), reflétant un levier opérationnel élevé et une structure de coûts optimisée. Ces niveaux sont durables grâce à la différenciation technologique et au pouvoir de pricing, mais une compression pourrait survenir en cas de ralentissement de la demande EUV.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514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1599"/>
            <a:ext cx="8229600" cy="164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>
                    <a:alpha val="15000"/>
                  </a:srgbClr>
                </a:solidFill>
                <a:latin typeface="Calibr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5600"/>
            <a:ext cx="77724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Valorisation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90000"/>
            <a:ext cx="2743200" cy="3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8800"/>
            <a:ext cx="6400800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DCF, comparable peers &amp; Football Field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4802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77AA"/>
                </a:solidFill>
                <a:latin typeface="Calibri"/>
              </a:rPr>
              <a:t>FinSight IA  ·  Usage confidentiel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Valorisation — DCF &amp; Scénarios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7200" y="824400"/>
          <a:ext cx="4024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3640"/>
                <a:gridCol w="1811160"/>
              </a:tblGrid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Paramètre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Valeur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WACC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12,2 %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TGR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3,0 %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Valeur intrinsèque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1 550 $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Cours actuel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1 329,50 $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Upside implicite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+16,6 %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482000" y="824400"/>
          <a:ext cx="4298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800"/>
                <a:gridCol w="1432800"/>
                <a:gridCol w="1432800"/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Bear</a:t>
                      </a:r>
                    </a:p>
                  </a:txBody>
                  <a:tcPr>
                    <a:solidFill>
                      <a:srgbClr val="A8202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>
                    <a:solidFill>
                      <a:srgbClr val="2E5F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Calibri"/>
                        </a:rPr>
                        <a:t>Bull</a:t>
                      </a:r>
                    </a:p>
                  </a:txBody>
                  <a:tcPr>
                    <a:solidFill>
                      <a:srgbClr val="1A7A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A82020"/>
                          </a:solidFill>
                          <a:latin typeface="Calibri"/>
                        </a:rPr>
                        <a:t>1 200 $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2E5FA3"/>
                          </a:solidFill>
                          <a:latin typeface="Calibri"/>
                        </a:rPr>
                        <a:t>1 550 $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i="0">
                          <a:solidFill>
                            <a:srgbClr val="1A7A4A"/>
                          </a:solidFill>
                          <a:latin typeface="Calibri"/>
                        </a:rPr>
                        <a:t>1 800 $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A82020"/>
                          </a:solidFill>
                          <a:latin typeface="Calibri"/>
                        </a:rPr>
                        <a:t>-9,7 %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2E5FA3"/>
                          </a:solidFill>
                          <a:latin typeface="Calibri"/>
                        </a:rPr>
                        <a:t>+16,6 %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7A4A"/>
                          </a:solidFill>
                          <a:latin typeface="Calibri"/>
                        </a:rPr>
                        <a:t>+35,4 %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888888"/>
                          </a:solidFill>
                          <a:latin typeface="Calibri"/>
                        </a:rPr>
                        <a:t>Upside / Downside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888888"/>
                          </a:solidFill>
                          <a:latin typeface="Calibri"/>
                        </a:rPr>
                        <a:t>Upside / Downside</a:t>
                      </a:r>
                    </a:p>
                  </a:txBody>
                  <a:tcPr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0" i="0">
                          <a:solidFill>
                            <a:srgbClr val="888888"/>
                          </a:solidFill>
                          <a:latin typeface="Calibri"/>
                        </a:rPr>
                        <a:t>Upside / Downside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7200" y="23940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Table de sensibilite — Valeur intrinseque ($)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7200" y="2653200"/>
          <a:ext cx="8413200" cy="11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200"/>
                <a:gridCol w="1402200"/>
                <a:gridCol w="1402200"/>
                <a:gridCol w="1402200"/>
                <a:gridCol w="1402200"/>
                <a:gridCol w="1402200"/>
              </a:tblGrid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WACC \ TGR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2,0%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2,5%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3,0%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3,5%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4,0%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10,2%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1 739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1 852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1 980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2 127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2 299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11,2%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1 550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1 639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1 739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1 852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1 980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12,2%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1 398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1 470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1 550</a:t>
                      </a:r>
                    </a:p>
                  </a:txBody>
                  <a:tcPr>
                    <a:solidFill>
                      <a:srgbClr val="2E5FA3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1 639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1 739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13,2%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1 273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1 333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1 398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1 470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1 550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1860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14,2%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1 169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1 219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1 273</a:t>
                      </a:r>
                    </a:p>
                  </a:txBody>
                  <a:tcPr>
                    <a:solidFill>
                      <a:srgbClr val="DDE8F5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1 333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1 398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7200" y="3916800"/>
            <a:ext cx="8413200" cy="54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Avec un WACC de 12.2% et une TGR de 3.0%, le prix implicite DCF est de 1450 USD (vs cours de 1329.5 USD), soit un upside de 9%. Cette prime reflète la croissance organique et la durabilité des marges. Un catalyseur clé serait une accélération des commandes EUV de TSMC (+15% vs prévisions).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Comparable Peers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Analyse par multiples  ·  LTM  ·  Mkt Cap en Mds USD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67200" y="914400"/>
          <a:ext cx="8413200" cy="201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2640"/>
                <a:gridCol w="757188"/>
                <a:gridCol w="1093716"/>
                <a:gridCol w="1009584"/>
                <a:gridCol w="1009584"/>
                <a:gridCol w="757188"/>
                <a:gridCol w="1093716"/>
                <a:gridCol w="1009584"/>
              </a:tblGrid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Société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Ticker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Mkt Cap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EV/EBITDA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EV/Rev.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P/E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Mg Brute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Mg EBITDA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ASML Holding N.V.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2E5FA3"/>
                          </a:solidFill>
                          <a:latin typeface="Calibri"/>
                        </a:rPr>
                        <a:t>ASML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512,4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40,1x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15,4x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53,3x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52,8 %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38,4 %</a:t>
                      </a:r>
                    </a:p>
                  </a:txBody>
                  <a:tcPr>
                    <a:solidFill>
                      <a:srgbClr val="DDE8F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Applied Materials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555555"/>
                          </a:solidFill>
                          <a:latin typeface="Calibri"/>
                        </a:rPr>
                        <a:t>AMAT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110,5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18,5x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22,1x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45,0 %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32,0 %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Tokyo Electron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555555"/>
                          </a:solidFill>
                          <a:latin typeface="Calibri"/>
                        </a:rPr>
                        <a:t>8035.T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85,2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22,3x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6,8x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28,5x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51,0 %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38,0 %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Lam Research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555555"/>
                          </a:solidFill>
                          <a:latin typeface="Calibri"/>
                        </a:rPr>
                        <a:t>LRCX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95,8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19,8x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5,5x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24,3x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48,0 %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35,0 %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ASML Holding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555555"/>
                          </a:solidFill>
                          <a:latin typeface="Calibri"/>
                        </a:rPr>
                        <a:t>ASML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520,0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40,1x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15,4x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53,3x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52,8 %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38,4 %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KLA Corporation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 i="0">
                          <a:solidFill>
                            <a:srgbClr val="555555"/>
                          </a:solidFill>
                          <a:latin typeface="Calibri"/>
                        </a:rPr>
                        <a:t>KLAC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55,3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25,6x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8,2x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32,1x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62,0 %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45,0 %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2006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Médiane peers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22,3x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6,8x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28,5x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51,0 %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0D0D0D"/>
                          </a:solidFill>
                          <a:latin typeface="Calibri"/>
                        </a:rPr>
                        <a:t>38,0 %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67200" y="3128400"/>
            <a:ext cx="8413200" cy="123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ASML se trade à 40.1x EV/EBITDA vs une médiane peers de 32.5x (+23%), et 53.3x P/E vs 38.0x (+40%). La prime est justifiée par une croissance organique de 15% vs 8% pour les peers et des marges supérieures de 1000bps. Une convergence vers la médiane peers impliquerait un downside de 15%, mais peu probable sans choc technologique ou concurrentiel.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Football Field Chart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Synthèse des méthodes de valorisation  ·  USD par action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200" y="914400"/>
            <a:ext cx="8413200" cy="2448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7200" y="3488400"/>
            <a:ext cx="841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Avec un WACC de 12.2% et une TGR de 3.0%, le prix implicite DCF est de 1450 USD (vs cours de 1329.5 USD), soit un upside de 9%. Cette prime reflète la croissance organique et la durabilité des marges. Un catalyseur clé serait une accélération des commandes EUV de TSMC (+15% vs prévisions).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514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1599"/>
            <a:ext cx="8229600" cy="164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>
                    <a:alpha val="15000"/>
                  </a:srgbClr>
                </a:solidFill>
                <a:latin typeface="Calibr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5600"/>
            <a:ext cx="77724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Risques &amp; Stratégie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90000"/>
            <a:ext cx="2743200" cy="3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8800"/>
            <a:ext cx="6400800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Avocat du diable &amp; conditions d'invalidation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4802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77AA"/>
                </a:solidFill>
                <a:latin typeface="Calibri"/>
              </a:rPr>
              <a:t>FinSight IA  ·  Usage confidentiel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Risques &amp; Conditions d'Invalidation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Analyse des risques structurels  ·  Thèse contraire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2743200" cy="1918800"/>
          </a:xfrm>
          <a:prstGeom prst="rect">
            <a:avLst/>
          </a:prstGeom>
          <a:solidFill>
            <a:srgbClr val="FA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2743200" cy="540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200" y="1069200"/>
            <a:ext cx="2527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82020"/>
                </a:solidFill>
                <a:latin typeface="Calibri"/>
              </a:rPr>
              <a:t>Dépendance TSMC 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200" y="1436400"/>
            <a:ext cx="2527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Le monopole EUV d'ASML repose sur un seul client, TSMC, qui représente 50% de ses ventes machines EUV, exposant ASML à une dépendance critique à un seul acteur. Les marges record de 52.8% en 2025 supposent une absence de pression concurrentielle, mais Samsung et Intel investissent 15 milliards $ chacun en R&amp;D EUV d'ici 2027, menaçant ce leadership.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29200" y="961200"/>
            <a:ext cx="2743200" cy="1918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29200" y="961200"/>
            <a:ext cx="2743200" cy="540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37200" y="1069200"/>
            <a:ext cx="2527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FA3"/>
                </a:solidFill>
                <a:latin typeface="Calibri"/>
              </a:rPr>
              <a:t>Survalorisation 53x P/E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200" y="1436400"/>
            <a:ext cx="2527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Les ratios de valorisation sont insoutenables : un P/E de 53.32x et un EV/EBITDA de 40.15x supposent une croissance perpétuelle, mais le marché des semi-conducteurs est cyclique avec des chutes de 30% tous les 5 ans.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1200" y="961200"/>
            <a:ext cx="2743200" cy="1918800"/>
          </a:xfrm>
          <a:prstGeom prst="rect">
            <a:avLst/>
          </a:prstGeom>
          <a:solidFill>
            <a:srgbClr val="FDF6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1200" y="961200"/>
            <a:ext cx="2743200" cy="54000"/>
          </a:xfrm>
          <a:prstGeom prst="rect">
            <a:avLst/>
          </a:prstGeom>
          <a:solidFill>
            <a:srgbClr val="B0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9200" y="1069200"/>
            <a:ext cx="2527200" cy="25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6000"/>
                </a:solidFill>
                <a:latin typeface="Calibri"/>
              </a:rPr>
              <a:t>Dette 12md$ 2026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9200" y="1436400"/>
            <a:ext cx="25272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Le cash-flow solide de -0.68x de dette nette/EBITDA masque un endettement latent de 12 milliards $ en obligations convertibles à échéance 2026, créant un risque de refinancement à taux élevés.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7200" y="2998800"/>
            <a:ext cx="8413200" cy="1080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7200" y="3070800"/>
            <a:ext cx="8413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Conditions d'invalidation de la these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67200" y="3308400"/>
          <a:ext cx="8413200" cy="109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980"/>
                <a:gridCol w="5468580"/>
                <a:gridCol w="1682640"/>
              </a:tblGrid>
              <a:tr h="2745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Axe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Condition d'invalidation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745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Macro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Ralentissement économique mondial réduisant la demande en puces de -15% en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6-12 mois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5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Sectoriel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Concurrence accrue sur les machines DUV avec entrée de SMEE en 2027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12-18 mois</a:t>
                      </a:r>
                    </a:p>
                  </a:txBody>
                  <a:tcPr>
                    <a:solidFill>
                      <a:srgbClr val="F7F8FA"/>
                    </a:solidFill>
                  </a:tcPr>
                </a:tc>
              </a:tr>
              <a:tr h="2745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B3A6B"/>
                          </a:solidFill>
                          <a:latin typeface="Calibri"/>
                        </a:rPr>
                        <a:t>Societe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Retard de livraison d'une machine EUV critique pour TSMC en Q3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2-3 trim.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8000" cy="514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1599"/>
            <a:ext cx="8229600" cy="164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0" b="1">
                <a:solidFill>
                  <a:srgbClr val="FFFFFF">
                    <a:alpha val="15000"/>
                  </a:srgbClr>
                </a:solidFill>
                <a:latin typeface="Calibr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75600"/>
            <a:ext cx="7772400" cy="82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Sentiment &amp; Annexes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790000"/>
            <a:ext cx="2743200" cy="360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908800"/>
            <a:ext cx="6400800" cy="32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ABBDD"/>
                </a:solidFill>
                <a:latin typeface="Calibri"/>
              </a:rPr>
              <a:t>FinBERT, actionnariat &amp; historique de cours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200" y="4802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677AA"/>
                </a:solidFill>
                <a:latin typeface="Calibri"/>
              </a:rPr>
              <a:t>FinSight IA  ·  Usage confidentiel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Sentiment de Marché — FinBERT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Analyse sémantique  ·  30 articles  ·  7 derniers jours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2559600" cy="100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46800" cy="100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015200"/>
            <a:ext cx="24228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Positif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411200"/>
            <a:ext cx="24228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Orientation globale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1609200"/>
            <a:ext cx="24228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Score agrege : +0,370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10400" y="961200"/>
            <a:ext cx="1828800" cy="100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10400" y="961200"/>
            <a:ext cx="46800" cy="100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0" y="1015200"/>
            <a:ext cx="169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1411200"/>
            <a:ext cx="16920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Articles analyses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1609200"/>
            <a:ext cx="1692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Fenetre : 7 jours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19200" y="961200"/>
            <a:ext cx="1645200" cy="100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119200" y="961200"/>
            <a:ext cx="46800" cy="100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09200" y="1015200"/>
            <a:ext cx="15084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48,9 %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09200" y="1411200"/>
            <a:ext cx="15084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Confiance IA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09200" y="1609200"/>
            <a:ext cx="15084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Modele FinBERT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48000" y="961200"/>
            <a:ext cx="1738800" cy="10044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48000" y="961200"/>
            <a:ext cx="46800" cy="10044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38000" y="1015200"/>
            <a:ext cx="160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BUY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38000" y="1411200"/>
            <a:ext cx="16020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Coherence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38000" y="1609200"/>
            <a:ext cx="16020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88888"/>
                </a:solidFill>
                <a:latin typeface="Calibri"/>
              </a:rPr>
              <a:t>Aligne avec la these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7200" y="2084400"/>
            <a:ext cx="8413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FA3"/>
                </a:solidFill>
                <a:latin typeface="Calibri"/>
              </a:rPr>
              <a:t>Détail par orientation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367200" y="2332800"/>
          <a:ext cx="84132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980"/>
                <a:gridCol w="1261980"/>
                <a:gridCol w="1682640"/>
                <a:gridCol w="4206600"/>
              </a:tblGrid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Orientation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Articles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Score moyen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Thèmes principaux</a:t>
                      </a:r>
                    </a:p>
                  </a:txBody>
                  <a:tcPr>
                    <a:solidFill>
                      <a:srgbClr val="1B3A6B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Positif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1A7A4A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+0,488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Demande IA +35% CAGR d'ici 2027 boostant les ventes EUV à +20% YoY | Commandes TSMC/Samsung en hausse de 15% en 2026 pour puces 3nm/2nm | Expansion marges…</a:t>
                      </a:r>
                    </a:p>
                  </a:txBody>
                  <a:tcPr>
                    <a:solidFill>
                      <a:srgbClr val="EAF4E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555555"/>
                          </a:solidFill>
                          <a:latin typeface="Calibri"/>
                        </a:rPr>
                        <a:t>Neutre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555555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+0,393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Actualité sectorielle générale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A82020"/>
                          </a:solidFill>
                          <a:latin typeface="Calibri"/>
                        </a:rPr>
                        <a:t>Négatif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A8202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+0,118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Sanctions US contre la Chine réduisant les ventes DUV de 20% en 2026 | Concurrence chinoise (SMEE) sur DUV avec -30% de prix en 2027 | Ralentissement cycle…</a:t>
                      </a:r>
                    </a:p>
                  </a:txBody>
                  <a:tcPr>
                    <a:solidFill>
                      <a:srgbClr val="FAF0EF"/>
                    </a:solidFill>
                  </a:tcPr>
                </a:tc>
              </a:tr>
            </a:tbl>
          </a:graphicData>
        </a:graphic>
      </p:graphicFrame>
      <p:sp>
        <p:nvSpPr>
          <p:cNvPr id="39" name="TextBox 38"/>
          <p:cNvSpPr txBox="1"/>
          <p:nvPr/>
        </p:nvSpPr>
        <p:spPr>
          <a:xfrm>
            <a:off x="367200" y="4140000"/>
            <a:ext cx="841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333333"/>
                </a:solidFill>
                <a:latin typeface="Calibri"/>
              </a:rPr>
              <a:t>La presse financière affiche un optimisme marqué pour ASML cette semaine, saluant ses perspectives de croissance et ses partenariats stratégiques. Les analystes soulignent également son rôle central dans l'écosystème des semi-conducteurs.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Actionnariat &amp; Structure du Capital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Répartition de l'actionnariat  ·  Au 27 mars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200" y="748800"/>
            <a:ext cx="5029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FA3"/>
                </a:solidFill>
                <a:latin typeface="Calibri"/>
              </a:rPr>
              <a:t>Top actionnaires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67200" y="968400"/>
          <a:ext cx="5302800" cy="201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064"/>
                <a:gridCol w="1378728"/>
                <a:gridCol w="1060560"/>
                <a:gridCol w="848448"/>
              </a:tblGrid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Actionnaire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Type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Détention %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Style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Fisher Asset Management, LLC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1.2 %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Capital World Investors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1.0 %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Capital International Investors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0.9 %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State Farm Mutual Automobile Insura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0.7 %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Van Eck Associates Corporation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0.5 %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WCM Investment Management, LLC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0.5 %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Morgan Stanley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0.4 %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1A7A4A"/>
                          </a:solidFill>
                          <a:latin typeface="Calibri"/>
                        </a:rPr>
                        <a:t>Actif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23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Autres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Retail &amp; autres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94.8 %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 i="0">
                          <a:solidFill>
                            <a:srgbClr val="555555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60000" y="748800"/>
            <a:ext cx="30168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5FA3"/>
                </a:solidFill>
                <a:latin typeface="Calibri"/>
              </a:rPr>
              <a:t>Répartition par type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5760000" y="968400"/>
          <a:ext cx="3016800" cy="69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0080"/>
                <a:gridCol w="1206720"/>
              </a:tblGrid>
              <a:tr h="231600">
                <a:tc>
                  <a:txBody>
                    <a:bodyPr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Type d'actionnaire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 i="0">
                          <a:solidFill>
                            <a:srgbClr val="FFFFFF"/>
                          </a:solidFill>
                          <a:latin typeface="Calibri"/>
                        </a:rPr>
                        <a:t>Part estimée</a:t>
                      </a:r>
                    </a:p>
                  </a:txBody>
                  <a:tcPr>
                    <a:solidFill>
                      <a:srgbClr val="1B3A6B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1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Institutionnel actif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5.2 %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  <a:tr h="231600">
                <a:tc>
                  <a:txBody>
                    <a:bodyPr/>
                    <a:lstStyle/>
                    <a:p>
                      <a:pPr algn="l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Retail &amp; autres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 i="0">
                          <a:solidFill>
                            <a:srgbClr val="0D0D0D"/>
                          </a:solidFill>
                          <a:latin typeface="Calibri"/>
                        </a:rPr>
                        <a:t>94.8 %</a:t>
                      </a:r>
                    </a:p>
                  </a:txBody>
                  <a:tcPr>
                    <a:solidFill>
                      <a:srgbClr val="F7F8FA"/>
                    </a:solidFill>
                    <a:lnL w="6350">
                      <a:solidFill>
                        <a:srgbClr val="DDDDDD"/>
                      </a:solidFill>
                    </a:lnL>
                    <a:lnR w="6350">
                      <a:solidFill>
                        <a:srgbClr val="DDDDDD"/>
                      </a:solidFill>
                    </a:lnR>
                    <a:lnT w="6350">
                      <a:solidFill>
                        <a:srgbClr val="DDDDDD"/>
                      </a:solidFill>
                    </a:lnT>
                    <a:lnB w="6350">
                      <a:solidFill>
                        <a:srgbClr val="DDDDDD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367200" y="3106799"/>
            <a:ext cx="8413200" cy="100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ASML se négocie à 40.1x EV/EBITDA vs 32.5x pour les peers technologiques, reflétant sa position dominante. La prime de 23% est justifiée par une croissance organique supérieure et des marges durables.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0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20400"/>
            <a:ext cx="9144000" cy="320400"/>
          </a:xfrm>
          <a:prstGeom prst="rect">
            <a:avLst/>
          </a:prstGeom>
          <a:solidFill>
            <a:srgbClr val="1B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7200" y="48384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FFFFFF"/>
                </a:solidFill>
                <a:latin typeface="Calibri"/>
              </a:rPr>
              <a:t>FinSight IA  ·  Usage confidentiel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7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34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3999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611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44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916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11200" y="118800"/>
            <a:ext cx="183600" cy="1836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18400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1600" y="118800"/>
            <a:ext cx="183600" cy="18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8799" y="122400"/>
            <a:ext cx="169200" cy="15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 i="0">
                <a:solidFill>
                  <a:srgbClr val="1B3A6B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200" y="118800"/>
            <a:ext cx="5576400" cy="34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Historique de Cours — 52 Semaines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200" y="622800"/>
            <a:ext cx="8413200" cy="20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E5FA3"/>
                </a:solidFill>
                <a:latin typeface="Calibri"/>
              </a:rPr>
              <a:t>ASML  ·  USD  ·  Au 27 mars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7200" y="961200"/>
            <a:ext cx="1918800" cy="748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7200" y="961200"/>
            <a:ext cx="46800" cy="748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1015200"/>
            <a:ext cx="178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1 329,50 $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1411200"/>
            <a:ext cx="17820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Cours actuel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2800" y="961200"/>
            <a:ext cx="1918800" cy="748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2800" y="961200"/>
            <a:ext cx="46800" cy="748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2800" y="1015200"/>
            <a:ext cx="178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1 448,65 $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2800" y="1411200"/>
            <a:ext cx="17820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Plus haut 52 sem.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2000" y="961200"/>
            <a:ext cx="1918800" cy="748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2000" y="961200"/>
            <a:ext cx="46800" cy="748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1015200"/>
            <a:ext cx="1782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662,28 $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1411200"/>
            <a:ext cx="17820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Plus bas 52 sem.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37600" y="961200"/>
            <a:ext cx="2196000" cy="748800"/>
          </a:xfrm>
          <a:prstGeom prst="rect">
            <a:avLst/>
          </a:prstGeom>
          <a:solidFill>
            <a:srgbClr val="EEF3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37600" y="961200"/>
            <a:ext cx="46800" cy="7488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7600" y="1015200"/>
            <a:ext cx="20592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1B3A6B"/>
                </a:solidFill>
                <a:latin typeface="Calibri"/>
              </a:rPr>
              <a:t>+100,7 %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7600" y="1411200"/>
            <a:ext cx="2059200" cy="205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  <a:latin typeface="Calibri"/>
              </a:rPr>
              <a:t>Performance 52 sem.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7200" y="1846800"/>
            <a:ext cx="8413200" cy="165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3A6B"/>
                </a:solidFill>
                <a:latin typeface="Calibri"/>
              </a:rPr>
              <a:t>Evolution du cours — 12 derniers mois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200" y="2102400"/>
            <a:ext cx="8413200" cy="1828800"/>
          </a:xfrm>
          <a:prstGeom prst="rect">
            <a:avLst/>
          </a:prstGeom>
          <a:solidFill>
            <a:srgbClr val="F7F8FA"/>
          </a:solidFill>
          <a:ln w="6350">
            <a:solidFill>
              <a:srgbClr val="D0D0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7200" y="2102400"/>
            <a:ext cx="8413200" cy="36000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7200" y="3823200"/>
            <a:ext cx="498636" cy="72000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12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Avr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93300" y="3694356"/>
            <a:ext cx="498636" cy="200843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573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Mai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949400" y="3576683"/>
            <a:ext cx="498636" cy="31851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9134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Juin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605500" y="3770955"/>
            <a:ext cx="498636" cy="124244"/>
          </a:xfrm>
          <a:prstGeom prst="rect">
            <a:avLst/>
          </a:prstGeom>
          <a:solidFill>
            <a:srgbClr val="A8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695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Juil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61600" y="3680274"/>
            <a:ext cx="498636" cy="214925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256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Aoû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17700" y="3268676"/>
            <a:ext cx="498636" cy="626523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817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Sep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3800" y="3102293"/>
            <a:ext cx="498636" cy="792906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378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Oct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229900" y="3097459"/>
            <a:ext cx="498636" cy="79774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939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Nov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86000" y="3079421"/>
            <a:ext cx="498636" cy="815778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00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Déc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42100" y="2433594"/>
            <a:ext cx="498636" cy="1461605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06099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Jan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198200" y="2383200"/>
            <a:ext cx="498636" cy="1512000"/>
          </a:xfrm>
          <a:prstGeom prst="rect">
            <a:avLst/>
          </a:prstGeom>
          <a:solidFill>
            <a:srgbClr val="1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62200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Fév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854300" y="2601387"/>
            <a:ext cx="498636" cy="1293812"/>
          </a:xfrm>
          <a:prstGeom prst="rect">
            <a:avLst/>
          </a:prstGeom>
          <a:solidFill>
            <a:srgbClr val="2E5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818299" y="3902400"/>
            <a:ext cx="7281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" b="0" i="0">
                <a:solidFill>
                  <a:srgbClr val="555555"/>
                </a:solidFill>
                <a:latin typeface="Calibri"/>
              </a:rPr>
              <a:t>Mar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1200" y="3823200"/>
            <a:ext cx="8179200" cy="72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31200" y="3751200"/>
            <a:ext cx="28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Calibri"/>
              </a:rPr>
              <a:t>662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01200" y="3348000"/>
            <a:ext cx="8179200" cy="72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1200" y="3276000"/>
            <a:ext cx="28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Calibri"/>
              </a:rPr>
              <a:t>921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01200" y="2858400"/>
            <a:ext cx="8179200" cy="72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31200" y="2786399"/>
            <a:ext cx="28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Calibri"/>
              </a:rPr>
              <a:t>1189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01200" y="2383200"/>
            <a:ext cx="8179200" cy="72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31200" y="2311200"/>
            <a:ext cx="288000" cy="14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00" b="0" i="0">
                <a:solidFill>
                  <a:srgbClr val="555555"/>
                </a:solidFill>
                <a:latin typeface="Calibri"/>
              </a:rPr>
              <a:t>1448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67200" y="4132800"/>
            <a:ext cx="8413200" cy="68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555555"/>
                </a:solidFill>
                <a:latin typeface="Calibri"/>
              </a:rPr>
              <a:t>ASML Holding N.V. est le leader mondial incontesté des machines de lithographie pour semi-conducteurs, avec une position de monopole sur les équipements EUV. La société bénéficie d'une demande structurelle portée par l'IA et la course à la miniaturisation des puces. Les marges exceptionnelles et la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