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Euro Stoxx 50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^STOXX50E  ·  10 secteurs analysés  ·  50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60 %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63/100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6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3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1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Euro Stoxx 50 (^STOXX50E)  ·  10 secteurs  ·  50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5 733  ·  YTD : -3.2%  ·  P/E Forward : 13.4x  ·  ERP : 3.1% (Neutre)  ·  Conviction 60 %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75200"/>
            <a:ext cx="828000" cy="144000"/>
          </a:xfrm>
          <a:prstGeom prst="rect">
            <a:avLst/>
          </a:prstGeom>
          <a:noFill/>
        </p:spPr>
        <p:txBody>
          <a:bodyPr wrap="square">
            <a:spAutoFit/>
          </a:bodyPr>
          <a:lstStyle/>
          <a:p>
            <a:pPr algn="ctr"/>
            <a:r>
              <a:rPr sz="750" b="1" i="0">
                <a:solidFill>
                  <a:srgbClr val="FFFFFF"/>
                </a:solidFill>
              </a:rPr>
              <a:t>Regime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75200"/>
            <a:ext cx="738000" cy="144000"/>
          </a:xfrm>
          <a:prstGeom prst="rect">
            <a:avLst/>
          </a:prstGeom>
          <a:noFill/>
        </p:spPr>
        <p:txBody>
          <a:bodyPr wrap="square">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75200"/>
            <a:ext cx="738000" cy="144000"/>
          </a:xfrm>
          <a:prstGeom prst="rect">
            <a:avLst/>
          </a:prstGeom>
          <a:noFill/>
        </p:spPr>
        <p:txBody>
          <a:bodyPr wrap="square">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75200"/>
            <a:ext cx="738000" cy="144000"/>
          </a:xfrm>
          <a:prstGeom prst="rect">
            <a:avLst/>
          </a:prstGeom>
          <a:noFill/>
        </p:spPr>
        <p:txBody>
          <a:bodyPr wrap="square">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Euro Stoxx 50 est Surponderer avec une conviction de 60% (sur la base des 10 secteurs analyses). 6 secteur(s) ressortent Surponderer — Energy, Utilities, Materials — portes par leur momentum positif 52 semaines. 3 secteurs sont Neutre et 1 en Sous-ponderer.  Le Euro Stoxx 50 affiche un cours de 5 733 (YTD : -3.2%). P/E Forward 13.4x vs mediane historique 10 ans 18.2x — valorisation en ligne avec l'historique. ERP Damodaran 3.1% (adequat). Score composite moyen : —/100 — conviction 60 %.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Euro Stoxx 50  ·  ^STOXX50E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10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Euro Stoxx 50 (^STOXX50E)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Euro Stoxx 50 regroupe les 50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5 733</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-3.2%</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13.4x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3.1%</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10</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Surponderer (score composite —/100). P/E Forward 13.4x vs mediane historique 18.2x — valorisation proche des normes historiques. ERP Damodaran : 3.1% (Neutre). Secteurs a Surponderer : Energy  ·  Utilities  ·  Materials. Secteurs a Sous-ponderer : Comm. Services. 3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Euro Stoxx 50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13.4x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Euro Stoxx 50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10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50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45454">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45454">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5.6x</a:t>
                      </a:r>
                    </a:p>
                  </a:txBody>
                  <a:tcPr>
                    <a:noFill/>
                  </a:tcPr>
                </a:tc>
                <a:tc>
                  <a:txBody>
                    <a:bodyPr/>
                    <a:lstStyle/>
                    <a:p>
                      <a:pPr algn="ctr"/>
                      <a:r>
                        <a:rPr sz="800" b="0">
                          <a:solidFill>
                            <a:srgbClr val="1A1A1A"/>
                          </a:solidFill>
                        </a:rPr>
                        <a:t>16.6%</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+49.4%</a:t>
                      </a:r>
                    </a:p>
                  </a:txBody>
                  <a:tcPr>
                    <a:noFill/>
                  </a:tcPr>
                </a:tc>
              </a:tr>
              <a:tr h="245454">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13.4x</a:t>
                      </a:r>
                    </a:p>
                  </a:txBody>
                  <a:tcPr>
                    <a:solidFill>
                      <a:srgbClr val="F5F7FA"/>
                    </a:solidFill>
                  </a:tcPr>
                </a:tc>
                <a:tc>
                  <a:txBody>
                    <a:bodyPr/>
                    <a:lstStyle/>
                    <a:p>
                      <a:pPr algn="ctr"/>
                      <a:r>
                        <a:rPr sz="800" b="0">
                          <a:solidFill>
                            <a:srgbClr val="1A1A1A"/>
                          </a:solidFill>
                        </a:rPr>
                        <a:t>18.1%</a:t>
                      </a:r>
                    </a:p>
                  </a:txBody>
                  <a:tcPr>
                    <a:solidFill>
                      <a:srgbClr val="F5F7FA"/>
                    </a:solidFill>
                  </a:tcPr>
                </a:tc>
                <a:tc>
                  <a:txBody>
                    <a:bodyPr/>
                    <a:lstStyle/>
                    <a:p>
                      <a:pPr algn="ctr"/>
                      <a:r>
                        <a:rPr sz="800" b="0">
                          <a:solidFill>
                            <a:srgbClr val="1A1A1A"/>
                          </a:solidFill>
                        </a:rPr>
                        <a:t>-14.7%</a:t>
                      </a:r>
                    </a:p>
                  </a:txBody>
                  <a:tcPr>
                    <a:solidFill>
                      <a:srgbClr val="F5F7FA"/>
                    </a:solidFill>
                  </a:tcPr>
                </a:tc>
                <a:tc>
                  <a:txBody>
                    <a:bodyPr/>
                    <a:lstStyle/>
                    <a:p>
                      <a:pPr algn="ctr"/>
                      <a:r>
                        <a:rPr sz="800" b="0">
                          <a:solidFill>
                            <a:srgbClr val="1A1A1A"/>
                          </a:solidFill>
                        </a:rPr>
                        <a:t>+43.3%</a:t>
                      </a:r>
                    </a:p>
                  </a:txBody>
                  <a:tcPr>
                    <a:solidFill>
                      <a:srgbClr val="F5F7FA"/>
                    </a:solidFill>
                  </a:tcPr>
                </a:tc>
              </a:tr>
              <a:tr h="245454">
                <a:tc>
                  <a:txBody>
                    <a:bodyPr/>
                    <a:lstStyle/>
                    <a:p>
                      <a:pPr algn="ctr"/>
                      <a:r>
                        <a:rPr sz="800" b="0">
                          <a:solidFill>
                            <a:srgbClr val="1A1A1A"/>
                          </a:solidFill>
                        </a:rPr>
                        <a:t>3</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71</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10.8x</a:t>
                      </a:r>
                    </a:p>
                  </a:txBody>
                  <a:tcPr>
                    <a:noFill/>
                  </a:tcPr>
                </a:tc>
                <a:tc>
                  <a:txBody>
                    <a:bodyPr/>
                    <a:lstStyle/>
                    <a:p>
                      <a:pPr algn="ctr"/>
                      <a:r>
                        <a:rPr sz="800" b="0">
                          <a:solidFill>
                            <a:srgbClr val="1A1A1A"/>
                          </a:solidFill>
                        </a:rPr>
                        <a:t>24.4%</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+27.1%</a:t>
                      </a:r>
                    </a:p>
                  </a:txBody>
                  <a:tcPr>
                    <a:noFill/>
                  </a:tcPr>
                </a:tc>
              </a:tr>
              <a:tr h="245454">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70</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15.4x</a:t>
                      </a:r>
                    </a:p>
                  </a:txBody>
                  <a:tcPr>
                    <a:solidFill>
                      <a:srgbClr val="F5F7FA"/>
                    </a:solidFill>
                  </a:tcPr>
                </a:tc>
                <a:tc>
                  <a:txBody>
                    <a:bodyPr/>
                    <a:lstStyle/>
                    <a:p>
                      <a:pPr algn="ctr"/>
                      <a:r>
                        <a:rPr sz="800" b="0">
                          <a:solidFill>
                            <a:srgbClr val="1A1A1A"/>
                          </a:solidFill>
                        </a:rPr>
                        <a:t>26.9%</a:t>
                      </a:r>
                    </a:p>
                  </a:txBody>
                  <a:tcPr>
                    <a:solidFill>
                      <a:srgbClr val="F5F7FA"/>
                    </a:solidFill>
                  </a:tcPr>
                </a:tc>
                <a:tc>
                  <a:txBody>
                    <a:bodyPr/>
                    <a:lstStyle/>
                    <a:p>
                      <a:pPr algn="ctr"/>
                      <a:r>
                        <a:rPr sz="800" b="0">
                          <a:solidFill>
                            <a:srgbClr val="1A1A1A"/>
                          </a:solidFill>
                        </a:rPr>
                        <a:t>+4.4%</a:t>
                      </a:r>
                    </a:p>
                  </a:txBody>
                  <a:tcPr>
                    <a:solidFill>
                      <a:srgbClr val="F5F7FA"/>
                    </a:solidFill>
                  </a:tcPr>
                </a:tc>
                <a:tc>
                  <a:txBody>
                    <a:bodyPr/>
                    <a:lstStyle/>
                    <a:p>
                      <a:pPr algn="ctr"/>
                      <a:r>
                        <a:rPr sz="800" b="0">
                          <a:solidFill>
                            <a:srgbClr val="1A1A1A"/>
                          </a:solidFill>
                        </a:rPr>
                        <a:t>+39.3%</a:t>
                      </a:r>
                    </a:p>
                  </a:txBody>
                  <a:tcPr>
                    <a:solidFill>
                      <a:srgbClr val="F5F7FA"/>
                    </a:solidFill>
                  </a:tcPr>
                </a:tc>
              </a:tr>
              <a:tr h="245454">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4.6x</a:t>
                      </a:r>
                    </a:p>
                  </a:txBody>
                  <a:tcPr>
                    <a:noFill/>
                  </a:tcPr>
                </a:tc>
                <a:tc>
                  <a:txBody>
                    <a:bodyPr/>
                    <a:lstStyle/>
                    <a:p>
                      <a:pPr algn="ctr"/>
                      <a:r>
                        <a:rPr sz="800" b="0">
                          <a:solidFill>
                            <a:srgbClr val="1A1A1A"/>
                          </a:solidFill>
                        </a:rPr>
                        <a:t>4.3%</a:t>
                      </a:r>
                    </a:p>
                  </a:txBody>
                  <a:tcPr>
                    <a:noFill/>
                  </a:tcPr>
                </a:tc>
                <a:tc>
                  <a:txBody>
                    <a:bodyPr/>
                    <a:lstStyle/>
                    <a:p>
                      <a:pPr algn="ctr"/>
                      <a:r>
                        <a:rPr sz="800" b="0">
                          <a:solidFill>
                            <a:srgbClr val="1A1A1A"/>
                          </a:solidFill>
                        </a:rPr>
                        <a:t>+9.0%</a:t>
                      </a:r>
                    </a:p>
                  </a:txBody>
                  <a:tcPr>
                    <a:noFill/>
                  </a:tcPr>
                </a:tc>
                <a:tc>
                  <a:txBody>
                    <a:bodyPr/>
                    <a:lstStyle/>
                    <a:p>
                      <a:pPr algn="ctr"/>
                      <a:r>
                        <a:rPr sz="800" b="0">
                          <a:solidFill>
                            <a:srgbClr val="1A1A1A"/>
                          </a:solidFill>
                        </a:rPr>
                        <a:t>+26.8%</a:t>
                      </a:r>
                    </a:p>
                  </a:txBody>
                  <a:tcPr>
                    <a:noFill/>
                  </a:tcPr>
                </a:tc>
              </a:tr>
              <a:tr h="245454">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11.1x</a:t>
                      </a:r>
                    </a:p>
                  </a:txBody>
                  <a:tcPr>
                    <a:solidFill>
                      <a:srgbClr val="F5F7FA"/>
                    </a:solidFill>
                  </a:tcPr>
                </a:tc>
                <a:tc>
                  <a:txBody>
                    <a:bodyPr/>
                    <a:lstStyle/>
                    <a:p>
                      <a:pPr algn="ctr"/>
                      <a:r>
                        <a:rPr sz="800" b="0">
                          <a:solidFill>
                            <a:srgbClr val="1A1A1A"/>
                          </a:solidFill>
                        </a:rPr>
                        <a:t>24.1%</a:t>
                      </a:r>
                    </a:p>
                  </a:txBody>
                  <a:tcPr>
                    <a:solidFill>
                      <a:srgbClr val="F5F7FA"/>
                    </a:solidFill>
                  </a:tcPr>
                </a:tc>
                <a:tc>
                  <a:txBody>
                    <a:bodyPr/>
                    <a:lstStyle/>
                    <a:p>
                      <a:pPr algn="ctr"/>
                      <a:r>
                        <a:rPr sz="800" b="0">
                          <a:solidFill>
                            <a:srgbClr val="1A1A1A"/>
                          </a:solidFill>
                        </a:rPr>
                        <a:t>+4.2%</a:t>
                      </a:r>
                    </a:p>
                  </a:txBody>
                  <a:tcPr>
                    <a:solidFill>
                      <a:srgbClr val="F5F7FA"/>
                    </a:solidFill>
                  </a:tcPr>
                </a:tc>
                <a:tc>
                  <a:txBody>
                    <a:bodyPr/>
                    <a:lstStyle/>
                    <a:p>
                      <a:pPr algn="ctr"/>
                      <a:r>
                        <a:rPr sz="800" b="0">
                          <a:solidFill>
                            <a:srgbClr val="1A1A1A"/>
                          </a:solidFill>
                        </a:rPr>
                        <a:t>+21.8%</a:t>
                      </a:r>
                    </a:p>
                  </a:txBody>
                  <a:tcPr>
                    <a:solidFill>
                      <a:srgbClr val="F5F7FA"/>
                    </a:solidFill>
                  </a:tcPr>
                </a:tc>
              </a:tr>
              <a:tr h="245454">
                <a:tc>
                  <a:txBody>
                    <a:bodyPr/>
                    <a:lstStyle/>
                    <a:p>
                      <a:pPr algn="ctr"/>
                      <a:r>
                        <a:rPr sz="800" b="0">
                          <a:solidFill>
                            <a:srgbClr val="1A1A1A"/>
                          </a:solidFill>
                        </a:rPr>
                        <a:t>7</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58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17.1x</a:t>
                      </a:r>
                    </a:p>
                  </a:txBody>
                  <a:tcPr>
                    <a:noFill/>
                  </a:tcPr>
                </a:tc>
                <a:tc>
                  <a:txBody>
                    <a:bodyPr/>
                    <a:lstStyle/>
                    <a:p>
                      <a:pPr algn="ctr"/>
                      <a:r>
                        <a:rPr sz="800" b="0">
                          <a:solidFill>
                            <a:srgbClr val="1A1A1A"/>
                          </a:solidFill>
                        </a:rPr>
                        <a:t>15.5%</a:t>
                      </a:r>
                    </a:p>
                  </a:txBody>
                  <a:tcPr>
                    <a:noFill/>
                  </a:tcPr>
                </a:tc>
                <a:tc>
                  <a:txBody>
                    <a:bodyPr/>
                    <a:lstStyle/>
                    <a:p>
                      <a:pPr algn="ctr"/>
                      <a:r>
                        <a:rPr sz="800" b="0">
                          <a:solidFill>
                            <a:srgbClr val="1A1A1A"/>
                          </a:solidFill>
                        </a:rPr>
                        <a:t>+4.7%</a:t>
                      </a:r>
                    </a:p>
                  </a:txBody>
                  <a:tcPr>
                    <a:noFill/>
                  </a:tcPr>
                </a:tc>
                <a:tc>
                  <a:txBody>
                    <a:bodyPr/>
                    <a:lstStyle/>
                    <a:p>
                      <a:pPr algn="ctr"/>
                      <a:r>
                        <a:rPr sz="800" b="0">
                          <a:solidFill>
                            <a:srgbClr val="1A1A1A"/>
                          </a:solidFill>
                        </a:rPr>
                        <a:t>+6.9%</a:t>
                      </a:r>
                    </a:p>
                  </a:txBody>
                  <a:tcPr>
                    <a:noFill/>
                  </a:tcPr>
                </a:tc>
              </a:tr>
              <a:tr h="245454">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10.3x</a:t>
                      </a:r>
                    </a:p>
                  </a:txBody>
                  <a:tcPr>
                    <a:solidFill>
                      <a:srgbClr val="F5F7FA"/>
                    </a:solidFill>
                  </a:tcPr>
                </a:tc>
                <a:tc>
                  <a:txBody>
                    <a:bodyPr/>
                    <a:lstStyle/>
                    <a:p>
                      <a:pPr algn="ctr"/>
                      <a:r>
                        <a:rPr sz="800" b="0">
                          <a:solidFill>
                            <a:srgbClr val="1A1A1A"/>
                          </a:solidFill>
                        </a:rPr>
                        <a:t>20.6%</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+1.1%</a:t>
                      </a:r>
                    </a:p>
                  </a:txBody>
                  <a:tcPr>
                    <a:solidFill>
                      <a:srgbClr val="F5F7FA"/>
                    </a:solidFill>
                  </a:tcPr>
                </a:tc>
              </a:tr>
              <a:tr h="245454">
                <a:tc>
                  <a:txBody>
                    <a:bodyPr/>
                    <a:lstStyle/>
                    <a:p>
                      <a:pPr algn="ctr"/>
                      <a:r>
                        <a:rPr sz="800" b="0">
                          <a:solidFill>
                            <a:srgbClr val="1A1A1A"/>
                          </a:solidFill>
                        </a:rPr>
                        <a:t>9</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46</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12.3x</a:t>
                      </a:r>
                    </a:p>
                  </a:txBody>
                  <a:tcPr>
                    <a:noFill/>
                  </a:tcPr>
                </a:tc>
                <a:tc>
                  <a:txBody>
                    <a:bodyPr/>
                    <a:lstStyle/>
                    <a:p>
                      <a:pPr algn="ctr"/>
                      <a:r>
                        <a:rPr sz="800" b="0">
                          <a:solidFill>
                            <a:srgbClr val="1A1A1A"/>
                          </a:solidFill>
                        </a:rPr>
                        <a:t>15.3%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-4.9%</a:t>
                      </a:r>
                    </a:p>
                  </a:txBody>
                  <a:tcPr>
                    <a:noFill/>
                  </a:tcPr>
                </a:tc>
              </a:tr>
              <a:tr h="24546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8.1x</a:t>
                      </a:r>
                    </a:p>
                  </a:txBody>
                  <a:tcPr>
                    <a:solidFill>
                      <a:srgbClr val="F5F7FA"/>
                    </a:solidFill>
                  </a:tcPr>
                </a:tc>
                <a:tc>
                  <a:txBody>
                    <a:bodyPr/>
                    <a:lstStyle/>
                    <a:p>
                      <a:pPr algn="ctr"/>
                      <a:r>
                        <a:rPr sz="800" b="0">
                          <a:solidFill>
                            <a:srgbClr val="1A1A1A"/>
                          </a:solidFill>
                        </a:rPr>
                        <a:t>27.1%</a:t>
                      </a:r>
                    </a:p>
                  </a:txBody>
                  <a:tcPr>
                    <a:solidFill>
                      <a:srgbClr val="F5F7FA"/>
                    </a:solidFill>
                  </a:tcPr>
                </a:tc>
                <a:tc>
                  <a:txBody>
                    <a:bodyPr/>
                    <a:lstStyle/>
                    <a:p>
                      <a:pPr algn="ctr"/>
                      <a:r>
                        <a:rPr sz="800" b="0">
                          <a:solidFill>
                            <a:srgbClr val="1A1A1A"/>
                          </a:solidFill>
                        </a:rPr>
                        <a:t>-12.1%</a:t>
                      </a:r>
                    </a:p>
                  </a:txBody>
                  <a:tcPr>
                    <a:solidFill>
                      <a:srgbClr val="F5F7FA"/>
                    </a:solidFill>
                  </a:tcPr>
                </a:tc>
                <a:tc>
                  <a:txBody>
                    <a:bodyPr/>
                    <a:lstStyle/>
                    <a:p>
                      <a:pPr algn="ctr"/>
                      <a:r>
                        <a:rPr sz="800" b="0">
                          <a:solidFill>
                            <a:srgbClr val="1A1A1A"/>
                          </a:solidFill>
                        </a:rPr>
                        <a:t>-10.4%</a:t>
                      </a:r>
                    </a:p>
                  </a:txBody>
                  <a:tcPr>
                    <a:solidFill>
                      <a:srgbClr val="F5F7FA"/>
                    </a:solidFill>
                  </a:tcPr>
                </a:tc>
              </a:tr>
            </a:tbl>
          </a:graphicData>
        </a:graphic>
      </p:graphicFrame>
      <p:sp>
        <p:nvSpPr>
          <p:cNvPr id="16" name="Rectangle 15"/>
          <p:cNvSpPr/>
          <p:nvPr/>
        </p:nvSpPr>
        <p:spPr>
          <a:xfrm>
            <a:off x="324000" y="3510000"/>
            <a:ext cx="8496000" cy="129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10000"/>
            <a:ext cx="43200" cy="129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56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3798000"/>
            <a:ext cx="8208000" cy="971999"/>
          </a:xfrm>
          <a:prstGeom prst="rect">
            <a:avLst/>
          </a:prstGeom>
          <a:noFill/>
        </p:spPr>
        <p:txBody>
          <a:bodyPr wrap="square">
            <a:spAutoFit/>
          </a:bodyPr>
          <a:lstStyle/>
          <a:p>
            <a:pPr algn="l"/>
            <a:r>
              <a:rPr sz="750" b="0" i="0">
                <a:solidFill>
                  <a:srgbClr val="555555"/>
                </a:solidFill>
              </a:rPr>
              <a:t>6 secteur(s) sur 10 franchissent le seuil Surpondérer (score &gt; 65) : Energy · Utilities · Materials · Technology · Financials · Health Care. 1 secteur(s) en Sous-pondérer : Communication Services. 3 secteur(s) en position Neutre. L'écart entre le secteur leader (Energy, score 85/100) et le secteur le plus faible (Communication Services, score 38/100) est de 47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Energy  ·  Utilities en zone Opportunite (EV/EBITDA attractif) — forte conviction score Surponderer.
Energy  ·  Utilities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2909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2909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Materials</a:t>
                      </a:r>
                    </a:p>
                  </a:txBody>
                  <a:tcPr>
                    <a:no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70</a:t>
                      </a:r>
                    </a:p>
                  </a:txBody>
                  <a:tcPr>
                    <a:solidFill>
                      <a:srgbClr val="E8F5EE"/>
                    </a:solidFill>
                  </a:tcPr>
                </a:tc>
                <a:tc>
                  <a:txBody>
                    <a:bodyPr/>
                    <a:lstStyle/>
                    <a:p>
                      <a:pPr algn="ctr"/>
                      <a:r>
                        <a:rPr sz="800" b="0">
                          <a:solidFill>
                            <a:srgbClr val="1A1A1A"/>
                          </a:solidFill>
                        </a:rPr>
                        <a:t>28</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Financials</a:t>
                      </a:r>
                    </a:p>
                  </a:txBody>
                  <a:tcPr>
                    <a:no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19</a:t>
                      </a:r>
                    </a:p>
                  </a:txBody>
                  <a:tcPr>
                    <a:solidFill>
                      <a:srgbClr val="F5F7FA"/>
                    </a:solidFill>
                  </a:tcPr>
                </a:tc>
                <a:tc>
                  <a:txBody>
                    <a:bodyPr/>
                    <a:lstStyle/>
                    <a:p>
                      <a:pPr algn="ctr"/>
                      <a:r>
                        <a:rPr sz="800" b="0">
                          <a:solidFill>
                            <a:srgbClr val="1A1A1A"/>
                          </a:solidFill>
                        </a:rPr>
                        <a:t>19</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Industrials</a:t>
                      </a:r>
                    </a:p>
                  </a:txBody>
                  <a:tcPr>
                    <a:no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Cons. Discret.</a:t>
                      </a:r>
                    </a:p>
                  </a:txBody>
                  <a:tcPr>
                    <a:no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291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355200"/>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643200"/>
            <a:ext cx="8496000" cy="11627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643200"/>
            <a:ext cx="43200" cy="11627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6972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3931200"/>
            <a:ext cx="8208000" cy="838799"/>
          </a:xfrm>
          <a:prstGeom prst="rect">
            <a:avLst/>
          </a:prstGeom>
          <a:noFill/>
        </p:spPr>
        <p:txBody>
          <a:bodyPr wrap="square">
            <a:spAutoFit/>
          </a:bodyPr>
          <a:lstStyle/>
          <a:p>
            <a:pPr algn="l"/>
            <a:r>
              <a:rPr sz="750" b="0" i="0">
                <a:solidFill>
                  <a:srgbClr val="555555"/>
                </a:solidFill>
              </a:rPr>
              <a:t>Energy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5.6x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ENI.MI</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7.7x</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TTE.PA</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6.1x</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SHEL.L</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5.1x</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+49.4% — momentum surponderer</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Utilities</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13.4x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EOAN.DE</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13.0x</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85</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ENGI.PA</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9.0x</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85</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RWE.DE</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25.0x</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85</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+43.3% — momentum surponderer</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Materials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71/100  ·  EV/EBITDA : 10.8x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RIO.L</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6.6x</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85</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BAS.DE</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10.8x</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75</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AI.PA</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15.3x</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52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+27.1% — momentum surponderer</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Industrials traite a 17.1x — prime de 57 % vs la mediane sectorielle (10.9x). Cette prime est justifiee par une croissance BPA structurellement elevee.
Financials offre la valorisation la plus attractive (4.6x) mais le signal Surponderer reflete les risques specifiques au secteur.
Mediane sectorielle : 10.9x EV/EBITDA — seuil de reference pour evaluer la cherte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13.4x
Zone d'entree favorable (PE &lt; mediane) :
Energy  ·  Materials
Zone de prudence (PE &gt; mediane +15 %) :
Aucun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Euro Stoxx 50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Euro Stoxx 50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10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Euro Stoxx 50  ·  vs S&amp;P 500, Obligations &amp; Or  ·  Indexe a 100  ·  Source yfinance</a:t>
            </a:r>
          </a:p>
        </p:txBody>
      </p:sp>
      <p:pic>
        <p:nvPicPr>
          <p:cNvPr id="15" name="Picture 14" descr="image.png"/>
          <p:cNvPicPr>
            <a:picLocks noChangeAspect="1"/>
          </p:cNvPicPr>
          <p:nvPr/>
        </p:nvPicPr>
        <p:blipFill>
          <a:blip r:embed="rId2"/>
          <a:stretch>
            <a:fillRect/>
          </a:stretch>
        </p:blipFill>
        <p:spPr>
          <a:xfrm>
            <a:off x="324000" y="792000"/>
            <a:ext cx="8496000" cy="2592000"/>
          </a:xfrm>
          <a:prstGeom prst="rect">
            <a:avLst/>
          </a:prstGeom>
        </p:spPr>
      </p:pic>
      <p:sp>
        <p:nvSpPr>
          <p:cNvPr id="16" name="Rectangle 15"/>
          <p:cNvSpPr/>
          <p:nvPr/>
        </p:nvSpPr>
        <p:spPr>
          <a:xfrm>
            <a:off x="324000" y="3491999"/>
            <a:ext cx="8496000" cy="131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91999"/>
            <a:ext cx="43200" cy="131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546000"/>
            <a:ext cx="8208000" cy="216000"/>
          </a:xfrm>
          <a:prstGeom prst="rect">
            <a:avLst/>
          </a:prstGeom>
          <a:noFill/>
        </p:spPr>
        <p:txBody>
          <a:bodyPr wrap="square">
            <a:spAutoFit/>
          </a:bodyPr>
          <a:lstStyle/>
          <a:p>
            <a:pPr algn="l"/>
            <a:r>
              <a:rPr sz="800" b="1" i="0">
                <a:solidFill>
                  <a:srgbClr val="1B3A6B"/>
                </a:solidFill>
              </a:rPr>
              <a:t>Lecture — Performance Euro Stoxx 50 sur 52 semaines</a:t>
            </a:r>
          </a:p>
        </p:txBody>
      </p:sp>
      <p:sp>
        <p:nvSpPr>
          <p:cNvPr id="19" name="TextBox 18"/>
          <p:cNvSpPr txBox="1"/>
          <p:nvPr/>
        </p:nvSpPr>
        <p:spPr>
          <a:xfrm>
            <a:off x="432000" y="3780000"/>
            <a:ext cx="8208000" cy="990000"/>
          </a:xfrm>
          <a:prstGeom prst="rect">
            <a:avLst/>
          </a:prstGeom>
          <a:noFill/>
        </p:spPr>
        <p:txBody>
          <a:bodyPr wrap="square">
            <a:spAutoFit/>
          </a:bodyPr>
          <a:lstStyle/>
          <a:p>
            <a:pPr algn="l"/>
            <a:r>
              <a:rPr sz="750" b="0" i="0">
                <a:solidFill>
                  <a:srgbClr val="555555"/>
                </a:solidFill>
              </a:rPr>
              <a:t>Performance Euro Stoxx 50 sur 52 semaines : +7.5% (base 100, de 2025-03 a 2026-04). Cours actuel : 5 733 (YTD : -3.2%).  S&amp;P 500 : +17.8% sur la periode — sous-perf de -10.3pt vs S&amp;P 500.  Obligations (^TNX) : +4.6% sur la periode — correlation positive avec les equites.  Or (GC=F) : +54.1% — refuge actif sur la periode.  Note : ETF sectoriels SPDR (XLK, XLV...) disponibles pour le S&amp;P 500 uniquement. Pour les indices europeens, les equivalents iShares / Amundi ne sont pas encore integres.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