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rPr>
              <a:t>Pitchbook  ·  Analyse d'Indice</a:t>
            </a:r>
          </a:p>
        </p:txBody>
      </p:sp>
      <p:sp>
        <p:nvSpPr>
          <p:cNvPr id="6" name="TextBox 5"/>
          <p:cNvSpPr txBox="1"/>
          <p:nvPr/>
        </p:nvSpPr>
        <p:spPr>
          <a:xfrm>
            <a:off x="457200" y="1512000"/>
            <a:ext cx="8229600" cy="576000"/>
          </a:xfrm>
          <a:prstGeom prst="rect">
            <a:avLst/>
          </a:prstGeom>
          <a:noFill/>
        </p:spPr>
        <p:txBody>
          <a:bodyPr wrap="square">
            <a:spAutoFit/>
          </a:bodyPr>
          <a:lstStyle/>
          <a:p>
            <a:pPr algn="ctr"/>
            <a:r>
              <a:rPr sz="3200" b="1" i="0">
                <a:solidFill>
                  <a:srgbClr val="1B3A6B"/>
                </a:solidFill>
              </a:rPr>
              <a:t>Euro Stoxx 50</a:t>
            </a:r>
          </a:p>
        </p:txBody>
      </p:sp>
      <p:sp>
        <p:nvSpPr>
          <p:cNvPr id="7" name="TextBox 6"/>
          <p:cNvSpPr txBox="1"/>
          <p:nvPr/>
        </p:nvSpPr>
        <p:spPr>
          <a:xfrm>
            <a:off x="457200" y="2124000"/>
            <a:ext cx="8229600" cy="255600"/>
          </a:xfrm>
          <a:prstGeom prst="rect">
            <a:avLst/>
          </a:prstGeom>
          <a:noFill/>
        </p:spPr>
        <p:txBody>
          <a:bodyPr wrap="square">
            <a:spAutoFit/>
          </a:bodyPr>
          <a:lstStyle/>
          <a:p>
            <a:pPr algn="ctr"/>
            <a:r>
              <a:rPr sz="1100" b="0" i="0">
                <a:solidFill>
                  <a:srgbClr val="888888"/>
                </a:solidFill>
              </a:rPr>
              <a:t>^STOXX50E  ·  10 secteurs analysés  ·  50 sociétés couvertes</a:t>
            </a:r>
          </a:p>
        </p:txBody>
      </p:sp>
      <p:sp>
        <p:nvSpPr>
          <p:cNvPr id="8" name="Rectangle 7"/>
          <p:cNvSpPr/>
          <p:nvPr/>
        </p:nvSpPr>
        <p:spPr>
          <a:xfrm>
            <a:off x="457200" y="2448000"/>
            <a:ext cx="8229600" cy="4752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48000"/>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466000"/>
            <a:ext cx="8063999" cy="439200"/>
          </a:xfrm>
          <a:prstGeom prst="rect">
            <a:avLst/>
          </a:prstGeom>
          <a:noFill/>
        </p:spPr>
        <p:txBody>
          <a:bodyPr wrap="square">
            <a:spAutoFit/>
          </a:bodyPr>
          <a:lstStyle/>
          <a:p>
            <a:pPr algn="ctr"/>
            <a:r>
              <a:rPr sz="900" b="1" i="0">
                <a:solidFill>
                  <a:srgbClr val="1A7A4A"/>
                </a:solidFill>
              </a:rPr>
              <a:t>● SURPONDÉRER  ·  Conviction 70 %  ·  ERP 3.3%</a:t>
            </a:r>
          </a:p>
        </p:txBody>
      </p:sp>
      <p:sp>
        <p:nvSpPr>
          <p:cNvPr id="11" name="Rectangle 10"/>
          <p:cNvSpPr/>
          <p:nvPr/>
        </p:nvSpPr>
        <p:spPr>
          <a:xfrm>
            <a:off x="4572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9200" y="3096000"/>
            <a:ext cx="1800000" cy="180000"/>
          </a:xfrm>
          <a:prstGeom prst="rect">
            <a:avLst/>
          </a:prstGeom>
          <a:noFill/>
        </p:spPr>
        <p:txBody>
          <a:bodyPr wrap="square">
            <a:spAutoFit/>
          </a:bodyPr>
          <a:lstStyle/>
          <a:p>
            <a:pPr algn="l"/>
            <a:r>
              <a:rPr sz="750" b="0" i="0">
                <a:solidFill>
                  <a:srgbClr val="555555"/>
                </a:solidFill>
              </a:rPr>
              <a:t>Score médian</a:t>
            </a:r>
          </a:p>
        </p:txBody>
      </p:sp>
      <p:sp>
        <p:nvSpPr>
          <p:cNvPr id="13" name="TextBox 12"/>
          <p:cNvSpPr txBox="1"/>
          <p:nvPr/>
        </p:nvSpPr>
        <p:spPr>
          <a:xfrm>
            <a:off x="529200" y="3258000"/>
            <a:ext cx="1800000" cy="324000"/>
          </a:xfrm>
          <a:prstGeom prst="rect">
            <a:avLst/>
          </a:prstGeom>
          <a:noFill/>
        </p:spPr>
        <p:txBody>
          <a:bodyPr wrap="square">
            <a:spAutoFit/>
          </a:bodyPr>
          <a:lstStyle/>
          <a:p>
            <a:pPr algn="l"/>
            <a:r>
              <a:rPr sz="1300" b="1" i="0">
                <a:solidFill>
                  <a:srgbClr val="1B3A6B"/>
                </a:solidFill>
              </a:rPr>
              <a:t>68/100</a:t>
            </a:r>
          </a:p>
        </p:txBody>
      </p:sp>
      <p:sp>
        <p:nvSpPr>
          <p:cNvPr id="14" name="Rectangle 13"/>
          <p:cNvSpPr/>
          <p:nvPr/>
        </p:nvSpPr>
        <p:spPr>
          <a:xfrm>
            <a:off x="25146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6600" y="3096000"/>
            <a:ext cx="1800000" cy="180000"/>
          </a:xfrm>
          <a:prstGeom prst="rect">
            <a:avLst/>
          </a:prstGeom>
          <a:noFill/>
        </p:spPr>
        <p:txBody>
          <a:bodyPr wrap="square">
            <a:spAutoFit/>
          </a:bodyPr>
          <a:lstStyle/>
          <a:p>
            <a:pPr algn="l"/>
            <a:r>
              <a:rPr sz="750" b="0" i="0">
                <a:solidFill>
                  <a:srgbClr val="555555"/>
                </a:solidFill>
              </a:rPr>
              <a:t>Surpondérer</a:t>
            </a:r>
          </a:p>
        </p:txBody>
      </p:sp>
      <p:sp>
        <p:nvSpPr>
          <p:cNvPr id="16" name="TextBox 15"/>
          <p:cNvSpPr txBox="1"/>
          <p:nvPr/>
        </p:nvSpPr>
        <p:spPr>
          <a:xfrm>
            <a:off x="2586600" y="3258000"/>
            <a:ext cx="1800000" cy="324000"/>
          </a:xfrm>
          <a:prstGeom prst="rect">
            <a:avLst/>
          </a:prstGeom>
          <a:noFill/>
        </p:spPr>
        <p:txBody>
          <a:bodyPr wrap="square">
            <a:spAutoFit/>
          </a:bodyPr>
          <a:lstStyle/>
          <a:p>
            <a:pPr algn="l"/>
            <a:r>
              <a:rPr sz="1300" b="1" i="0">
                <a:solidFill>
                  <a:srgbClr val="1B3A6B"/>
                </a:solidFill>
              </a:rPr>
              <a:t>7 sect.</a:t>
            </a:r>
          </a:p>
        </p:txBody>
      </p:sp>
      <p:sp>
        <p:nvSpPr>
          <p:cNvPr id="17" name="Rectangle 16"/>
          <p:cNvSpPr/>
          <p:nvPr/>
        </p:nvSpPr>
        <p:spPr>
          <a:xfrm>
            <a:off x="45720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999" y="3096000"/>
            <a:ext cx="1800000" cy="180000"/>
          </a:xfrm>
          <a:prstGeom prst="rect">
            <a:avLst/>
          </a:prstGeom>
          <a:noFill/>
        </p:spPr>
        <p:txBody>
          <a:bodyPr wrap="square">
            <a:spAutoFit/>
          </a:bodyPr>
          <a:lstStyle/>
          <a:p>
            <a:pPr algn="l"/>
            <a:r>
              <a:rPr sz="750" b="0" i="0">
                <a:solidFill>
                  <a:srgbClr val="555555"/>
                </a:solidFill>
              </a:rPr>
              <a:t>Neutre</a:t>
            </a:r>
          </a:p>
        </p:txBody>
      </p:sp>
      <p:sp>
        <p:nvSpPr>
          <p:cNvPr id="19" name="TextBox 18"/>
          <p:cNvSpPr txBox="1"/>
          <p:nvPr/>
        </p:nvSpPr>
        <p:spPr>
          <a:xfrm>
            <a:off x="4643999" y="3258000"/>
            <a:ext cx="1800000" cy="324000"/>
          </a:xfrm>
          <a:prstGeom prst="rect">
            <a:avLst/>
          </a:prstGeom>
          <a:noFill/>
        </p:spPr>
        <p:txBody>
          <a:bodyPr wrap="square">
            <a:spAutoFit/>
          </a:bodyPr>
          <a:lstStyle/>
          <a:p>
            <a:pPr algn="l"/>
            <a:r>
              <a:rPr sz="1300" b="1" i="0">
                <a:solidFill>
                  <a:srgbClr val="1B3A6B"/>
                </a:solidFill>
              </a:rPr>
              <a:t>3 sect.</a:t>
            </a:r>
          </a:p>
        </p:txBody>
      </p:sp>
      <p:sp>
        <p:nvSpPr>
          <p:cNvPr id="20" name="Rectangle 19"/>
          <p:cNvSpPr/>
          <p:nvPr/>
        </p:nvSpPr>
        <p:spPr>
          <a:xfrm>
            <a:off x="66294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01399" y="3096000"/>
            <a:ext cx="1800000" cy="180000"/>
          </a:xfrm>
          <a:prstGeom prst="rect">
            <a:avLst/>
          </a:prstGeom>
          <a:noFill/>
        </p:spPr>
        <p:txBody>
          <a:bodyPr wrap="square">
            <a:spAutoFit/>
          </a:bodyPr>
          <a:lstStyle/>
          <a:p>
            <a:pPr algn="l"/>
            <a:r>
              <a:rPr sz="750" b="0" i="0">
                <a:solidFill>
                  <a:srgbClr val="555555"/>
                </a:solidFill>
              </a:rPr>
              <a:t>Sous-pondérer</a:t>
            </a:r>
          </a:p>
        </p:txBody>
      </p:sp>
      <p:sp>
        <p:nvSpPr>
          <p:cNvPr id="22" name="TextBox 21"/>
          <p:cNvSpPr txBox="1"/>
          <p:nvPr/>
        </p:nvSpPr>
        <p:spPr>
          <a:xfrm>
            <a:off x="6701399" y="3258000"/>
            <a:ext cx="1800000" cy="324000"/>
          </a:xfrm>
          <a:prstGeom prst="rect">
            <a:avLst/>
          </a:prstGeom>
          <a:noFill/>
        </p:spPr>
        <p:txBody>
          <a:bodyPr wrap="square">
            <a:spAutoFit/>
          </a:bodyPr>
          <a:lstStyle/>
          <a:p>
            <a:pPr algn="l"/>
            <a:r>
              <a:rPr sz="1300" b="1" i="0">
                <a:solidFill>
                  <a:srgbClr val="1B3A6B"/>
                </a:solidFill>
              </a:rPr>
              <a:t>0 sect.</a:t>
            </a:r>
          </a:p>
        </p:txBody>
      </p:sp>
      <p:sp>
        <p:nvSpPr>
          <p:cNvPr id="23" name="Rectangle 22"/>
          <p:cNvSpPr/>
          <p:nvPr/>
        </p:nvSpPr>
        <p:spPr>
          <a:xfrm>
            <a:off x="367200" y="4248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200" y="4338000"/>
            <a:ext cx="4114800" cy="201600"/>
          </a:xfrm>
          <a:prstGeom prst="rect">
            <a:avLst/>
          </a:prstGeom>
          <a:noFill/>
        </p:spPr>
        <p:txBody>
          <a:bodyPr wrap="square">
            <a:spAutoFit/>
          </a:bodyPr>
          <a:lstStyle/>
          <a:p>
            <a:pPr algn="l"/>
            <a:r>
              <a:rPr sz="800" b="0" i="0">
                <a:solidFill>
                  <a:srgbClr val="555555"/>
                </a:solidFill>
              </a:rPr>
              <a:t>Rapport confidentiel</a:t>
            </a:r>
          </a:p>
        </p:txBody>
      </p:sp>
      <p:sp>
        <p:nvSpPr>
          <p:cNvPr id="25" name="TextBox 24"/>
          <p:cNvSpPr txBox="1"/>
          <p:nvPr/>
        </p:nvSpPr>
        <p:spPr>
          <a:xfrm>
            <a:off x="4662000" y="4338000"/>
            <a:ext cx="4114800" cy="201600"/>
          </a:xfrm>
          <a:prstGeom prst="rect">
            <a:avLst/>
          </a:prstGeom>
          <a:noFill/>
        </p:spPr>
        <p:txBody>
          <a:bodyPr wrap="square">
            <a:spAutoFit/>
          </a:bodyPr>
          <a:lstStyle/>
          <a:p>
            <a:pPr algn="r"/>
            <a:r>
              <a:rPr sz="800" b="0" i="0">
                <a:solidFill>
                  <a:srgbClr val="555555"/>
                </a:solidFill>
              </a:rPr>
              <a:t>7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Euro Stoxx 50 (^STOXX50E)  ·  10 secteurs  ·  50 sociétés  ·  Horizon 12 mois</a:t>
            </a:r>
          </a:p>
        </p:txBody>
      </p:sp>
      <p:sp>
        <p:nvSpPr>
          <p:cNvPr id="15" name="Rectangle 14"/>
          <p:cNvSpPr/>
          <p:nvPr/>
        </p:nvSpPr>
        <p:spPr>
          <a:xfrm>
            <a:off x="324000" y="827999"/>
            <a:ext cx="1728000" cy="27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846000"/>
            <a:ext cx="1584000" cy="198000"/>
          </a:xfrm>
          <a:prstGeom prst="rect">
            <a:avLst/>
          </a:prstGeom>
          <a:noFill/>
        </p:spPr>
        <p:txBody>
          <a:bodyPr wrap="square">
            <a:spAutoFit/>
          </a:bodyPr>
          <a:lstStyle/>
          <a:p>
            <a:pPr algn="l"/>
            <a:r>
              <a:rPr sz="1000" b="1" i="0">
                <a:solidFill>
                  <a:srgbClr val="FFFFFF"/>
                </a:solidFill>
              </a:rPr>
              <a:t>SURPONDÉRER</a:t>
            </a:r>
          </a:p>
        </p:txBody>
      </p:sp>
      <p:sp>
        <p:nvSpPr>
          <p:cNvPr id="17" name="TextBox 16"/>
          <p:cNvSpPr txBox="1"/>
          <p:nvPr/>
        </p:nvSpPr>
        <p:spPr>
          <a:xfrm>
            <a:off x="324000" y="1134000"/>
            <a:ext cx="8496000" cy="198000"/>
          </a:xfrm>
          <a:prstGeom prst="rect">
            <a:avLst/>
          </a:prstGeom>
          <a:noFill/>
        </p:spPr>
        <p:txBody>
          <a:bodyPr wrap="square">
            <a:spAutoFit/>
          </a:bodyPr>
          <a:lstStyle/>
          <a:p>
            <a:pPr algn="l"/>
            <a:r>
              <a:rPr sz="800" b="0" i="0">
                <a:solidFill>
                  <a:srgbClr val="555555"/>
                </a:solidFill>
              </a:rPr>
              <a:t>Cours : 5 633  ·  YTD : -4.9%  ·  P/E Forward : 13.2x  ·  ERP : 3.3% (Neutre)  ·  Conviction 70 %</a:t>
            </a:r>
          </a:p>
        </p:txBody>
      </p:sp>
      <p:sp>
        <p:nvSpPr>
          <p:cNvPr id="18" name="Rectangle 17"/>
          <p:cNvSpPr/>
          <p:nvPr/>
        </p:nvSpPr>
        <p:spPr>
          <a:xfrm>
            <a:off x="324000" y="1368000"/>
            <a:ext cx="792000" cy="16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1368000"/>
            <a:ext cx="738000" cy="162000"/>
          </a:xfrm>
          <a:prstGeom prst="rect">
            <a:avLst/>
          </a:prstGeom>
          <a:noFill/>
        </p:spPr>
        <p:txBody>
          <a:bodyPr wrap="square" anchor="ctr">
            <a:spAutoFit/>
          </a:bodyPr>
          <a:lstStyle/>
          <a:p>
            <a:pPr algn="ctr"/>
            <a:r>
              <a:rPr sz="750" b="1" i="0">
                <a:solidFill>
                  <a:srgbClr val="FFFFFF"/>
                </a:solidFill>
              </a:rPr>
              <a:t>Régime Bear</a:t>
            </a:r>
          </a:p>
        </p:txBody>
      </p:sp>
      <p:sp>
        <p:nvSpPr>
          <p:cNvPr id="20" name="Rectangle 19"/>
          <p:cNvSpPr/>
          <p:nvPr/>
        </p:nvSpPr>
        <p:spPr>
          <a:xfrm>
            <a:off x="1170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6000" y="1368000"/>
            <a:ext cx="738000" cy="162000"/>
          </a:xfrm>
          <a:prstGeom prst="rect">
            <a:avLst/>
          </a:prstGeom>
          <a:noFill/>
        </p:spPr>
        <p:txBody>
          <a:bodyPr wrap="square" anchor="ctr">
            <a:spAutoFit/>
          </a:bodyPr>
          <a:lstStyle/>
          <a:p>
            <a:pPr algn="ctr"/>
            <a:r>
              <a:rPr sz="750" b="0" i="0">
                <a:solidFill>
                  <a:srgbClr val="1B3A6B"/>
                </a:solidFill>
              </a:rPr>
              <a:t>VIX 27</a:t>
            </a:r>
          </a:p>
        </p:txBody>
      </p:sp>
      <p:sp>
        <p:nvSpPr>
          <p:cNvPr id="22" name="Rectangle 21"/>
          <p:cNvSpPr/>
          <p:nvPr/>
        </p:nvSpPr>
        <p:spPr>
          <a:xfrm>
            <a:off x="2015999"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51999" y="1368000"/>
            <a:ext cx="738000" cy="162000"/>
          </a:xfrm>
          <a:prstGeom prst="rect">
            <a:avLst/>
          </a:prstGeom>
          <a:noFill/>
        </p:spPr>
        <p:txBody>
          <a:bodyPr wrap="square" anchor="ctr">
            <a:spAutoFit/>
          </a:bodyPr>
          <a:lstStyle/>
          <a:p>
            <a:pPr algn="ctr"/>
            <a:r>
              <a:rPr sz="750" b="0" i="0">
                <a:solidFill>
                  <a:srgbClr val="1B3A6B"/>
                </a:solidFill>
              </a:rPr>
              <a:t>Spread +0.7%</a:t>
            </a:r>
          </a:p>
        </p:txBody>
      </p:sp>
      <p:sp>
        <p:nvSpPr>
          <p:cNvPr id="24" name="Rectangle 23"/>
          <p:cNvSpPr/>
          <p:nvPr/>
        </p:nvSpPr>
        <p:spPr>
          <a:xfrm>
            <a:off x="2861999"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97999" y="1368000"/>
            <a:ext cx="738000" cy="162000"/>
          </a:xfrm>
          <a:prstGeom prst="rect">
            <a:avLst/>
          </a:prstGeom>
          <a:noFill/>
        </p:spPr>
        <p:txBody>
          <a:bodyPr wrap="square" anchor="ctr">
            <a:spAutoFit/>
          </a:bodyPr>
          <a:lstStyle/>
          <a:p>
            <a:pPr algn="ctr"/>
            <a:r>
              <a:rPr sz="750" b="0" i="0">
                <a:solidFill>
                  <a:srgbClr val="1B3A6B"/>
                </a:solidFill>
              </a:rPr>
              <a:t>Rec. 6M 34%</a:t>
            </a:r>
          </a:p>
        </p:txBody>
      </p:sp>
      <p:sp>
        <p:nvSpPr>
          <p:cNvPr id="26" name="Rectangle 25"/>
          <p:cNvSpPr/>
          <p:nvPr/>
        </p:nvSpPr>
        <p:spPr>
          <a:xfrm>
            <a:off x="324000" y="1584000"/>
            <a:ext cx="8496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1602000"/>
            <a:ext cx="8208000" cy="144000"/>
          </a:xfrm>
          <a:prstGeom prst="rect">
            <a:avLst/>
          </a:prstGeom>
          <a:noFill/>
        </p:spPr>
        <p:txBody>
          <a:bodyPr wrap="square">
            <a:spAutoFit/>
          </a:bodyPr>
          <a:lstStyle/>
          <a:p>
            <a:pPr algn="l"/>
            <a:r>
              <a:rPr sz="750" b="1" i="0">
                <a:solidFill>
                  <a:srgbClr val="FFFFFF"/>
                </a:solidFill>
              </a:rPr>
              <a:t>CATALYSEURS MACRO</a:t>
            </a:r>
          </a:p>
        </p:txBody>
      </p:sp>
      <p:sp>
        <p:nvSpPr>
          <p:cNvPr id="28" name="Rectangle 27"/>
          <p:cNvSpPr/>
          <p:nvPr/>
        </p:nvSpPr>
        <p:spPr>
          <a:xfrm>
            <a:off x="324000" y="1818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3999" y="1818000"/>
            <a:ext cx="8028000" cy="162000"/>
          </a:xfrm>
          <a:prstGeom prst="rect">
            <a:avLst/>
          </a:prstGeom>
          <a:noFill/>
        </p:spPr>
        <p:txBody>
          <a:bodyPr wrap="square">
            <a:spAutoFit/>
          </a:bodyPr>
          <a:lstStyle/>
          <a:p>
            <a:pPr algn="l"/>
            <a:r>
              <a:rPr sz="800" b="1" i="0">
                <a:solidFill>
                  <a:srgbClr val="1B3A6B"/>
                </a:solidFill>
              </a:rPr>
              <a:t>Accélération des baisses de taux BCE</a:t>
            </a:r>
          </a:p>
        </p:txBody>
      </p:sp>
      <p:sp>
        <p:nvSpPr>
          <p:cNvPr id="30" name="TextBox 29"/>
          <p:cNvSpPr txBox="1"/>
          <p:nvPr/>
        </p:nvSpPr>
        <p:spPr>
          <a:xfrm>
            <a:off x="413999" y="1980000"/>
            <a:ext cx="8028000" cy="198000"/>
          </a:xfrm>
          <a:prstGeom prst="rect">
            <a:avLst/>
          </a:prstGeom>
          <a:noFill/>
        </p:spPr>
        <p:txBody>
          <a:bodyPr wrap="square">
            <a:spAutoFit/>
          </a:bodyPr>
          <a:lstStyle/>
          <a:p>
            <a:pPr algn="l"/>
            <a:r>
              <a:rPr sz="750" b="0" i="0">
                <a:solidFill>
                  <a:srgbClr val="555555"/>
                </a:solidFill>
              </a:rPr>
              <a:t>Une baisse plus rapide que prévu des taux directeurs par la BCE pourrait relancer les valorisations des secteurs cycliqu</a:t>
            </a:r>
          </a:p>
        </p:txBody>
      </p:sp>
      <p:sp>
        <p:nvSpPr>
          <p:cNvPr id="31" name="Rectangle 30"/>
          <p:cNvSpPr/>
          <p:nvPr/>
        </p:nvSpPr>
        <p:spPr>
          <a:xfrm>
            <a:off x="324000" y="2160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2160000"/>
            <a:ext cx="8028000" cy="162000"/>
          </a:xfrm>
          <a:prstGeom prst="rect">
            <a:avLst/>
          </a:prstGeom>
          <a:noFill/>
        </p:spPr>
        <p:txBody>
          <a:bodyPr wrap="square">
            <a:spAutoFit/>
          </a:bodyPr>
          <a:lstStyle/>
          <a:p>
            <a:pPr algn="l"/>
            <a:r>
              <a:rPr sz="800" b="1" i="0">
                <a:solidFill>
                  <a:srgbClr val="1B3A6B"/>
                </a:solidFill>
              </a:rPr>
              <a:t>Rebond des prix de l'énergie</a:t>
            </a:r>
          </a:p>
        </p:txBody>
      </p:sp>
      <p:sp>
        <p:nvSpPr>
          <p:cNvPr id="33" name="TextBox 32"/>
          <p:cNvSpPr txBox="1"/>
          <p:nvPr/>
        </p:nvSpPr>
        <p:spPr>
          <a:xfrm>
            <a:off x="413999" y="2322000"/>
            <a:ext cx="8028000" cy="198000"/>
          </a:xfrm>
          <a:prstGeom prst="rect">
            <a:avLst/>
          </a:prstGeom>
          <a:noFill/>
        </p:spPr>
        <p:txBody>
          <a:bodyPr wrap="square">
            <a:spAutoFit/>
          </a:bodyPr>
          <a:lstStyle/>
          <a:p>
            <a:pPr algn="l"/>
            <a:r>
              <a:rPr sz="750" b="0" i="0">
                <a:solidFill>
                  <a:srgbClr val="555555"/>
                </a:solidFill>
              </a:rPr>
              <a:t>Une stabilisation ou une hausse des prix du gaz et du pétrole soutiendrait les marges des entreprises du secteur Energy </a:t>
            </a:r>
          </a:p>
        </p:txBody>
      </p:sp>
      <p:sp>
        <p:nvSpPr>
          <p:cNvPr id="34" name="Rectangle 33"/>
          <p:cNvSpPr/>
          <p:nvPr/>
        </p:nvSpPr>
        <p:spPr>
          <a:xfrm>
            <a:off x="324000" y="2501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2501999"/>
            <a:ext cx="8028000" cy="162000"/>
          </a:xfrm>
          <a:prstGeom prst="rect">
            <a:avLst/>
          </a:prstGeom>
          <a:noFill/>
        </p:spPr>
        <p:txBody>
          <a:bodyPr wrap="square">
            <a:spAutoFit/>
          </a:bodyPr>
          <a:lstStyle/>
          <a:p>
            <a:pPr algn="l"/>
            <a:r>
              <a:rPr sz="800" b="1" i="0">
                <a:solidFill>
                  <a:srgbClr val="1B3A6B"/>
                </a:solidFill>
              </a:rPr>
              <a:t>Résilience des marges industrielles</a:t>
            </a:r>
          </a:p>
        </p:txBody>
      </p:sp>
      <p:sp>
        <p:nvSpPr>
          <p:cNvPr id="36" name="TextBox 35"/>
          <p:cNvSpPr txBox="1"/>
          <p:nvPr/>
        </p:nvSpPr>
        <p:spPr>
          <a:xfrm>
            <a:off x="413999" y="2664000"/>
            <a:ext cx="8028000" cy="198000"/>
          </a:xfrm>
          <a:prstGeom prst="rect">
            <a:avLst/>
          </a:prstGeom>
          <a:noFill/>
        </p:spPr>
        <p:txBody>
          <a:bodyPr wrap="square">
            <a:spAutoFit/>
          </a:bodyPr>
          <a:lstStyle/>
          <a:p>
            <a:pPr algn="l"/>
            <a:r>
              <a:rPr sz="750" b="0" i="0">
                <a:solidFill>
                  <a:srgbClr val="555555"/>
                </a:solidFill>
              </a:rPr>
              <a:t>Des résultats trimestriels meilleurs que prévu dans les Materials ou les Utilities pourraient déclencher un effet de rat</a:t>
            </a:r>
          </a:p>
        </p:txBody>
      </p:sp>
      <p:sp>
        <p:nvSpPr>
          <p:cNvPr id="37" name="Rectangle 36"/>
          <p:cNvSpPr/>
          <p:nvPr/>
        </p:nvSpPr>
        <p:spPr>
          <a:xfrm>
            <a:off x="324000" y="2988000"/>
            <a:ext cx="8496000" cy="18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4000" y="2988000"/>
            <a:ext cx="43200" cy="18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2000" y="3024000"/>
            <a:ext cx="8208000" cy="180000"/>
          </a:xfrm>
          <a:prstGeom prst="rect">
            <a:avLst/>
          </a:prstGeom>
          <a:noFill/>
        </p:spPr>
        <p:txBody>
          <a:bodyPr wrap="square">
            <a:spAutoFit/>
          </a:bodyPr>
          <a:lstStyle/>
          <a:p>
            <a:pPr algn="l"/>
            <a:r>
              <a:rPr sz="800" b="1" i="0">
                <a:solidFill>
                  <a:srgbClr val="1B3A6B"/>
                </a:solidFill>
              </a:rPr>
              <a:t>SYNTHESE DU SIGNAL</a:t>
            </a:r>
          </a:p>
        </p:txBody>
      </p:sp>
      <p:sp>
        <p:nvSpPr>
          <p:cNvPr id="40" name="TextBox 39"/>
          <p:cNvSpPr txBox="1"/>
          <p:nvPr/>
        </p:nvSpPr>
        <p:spPr>
          <a:xfrm>
            <a:off x="432000" y="3240000"/>
            <a:ext cx="8208000" cy="1512000"/>
          </a:xfrm>
          <a:prstGeom prst="rect">
            <a:avLst/>
          </a:prstGeom>
          <a:noFill/>
        </p:spPr>
        <p:txBody>
          <a:bodyPr wrap="square">
            <a:spAutoFit/>
          </a:bodyPr>
          <a:lstStyle/>
          <a:p>
            <a:pPr algn="l"/>
            <a:r>
              <a:rPr sz="800" b="0" i="0">
                <a:solidFill>
                  <a:srgbClr val="555555"/>
                </a:solidFill>
              </a:rPr>
              <a:t>Le signal global sur le Euro Stoxx 50 est Surpondérer avec une conviction de 70% (sur la base des 10 secteurs analyses). 7 secteur(s) ressortent Surpondérer — Utilities, Energy, Materials — portes par leur momentum positif 52 semaines. 3 secteurs sont Neutre et 0 en Sous-ponderer.  Le Euro Stoxx 50 affiche un cours de 5 633 (YTD : -4.9%). P/E Forward 13.2x vs médiane historique 10 ans 15.0x — valorisation en ligne avec l'historique. ERP Damodaran 3.3% (adequat). Score composite moyen : 68/100 — conviction 70 %. Secteurs a Surponderer : aucun. Secteurs a eviter : aucun. Horizon d'allocation recommande : 12 mois.</a:t>
            </a:r>
          </a:p>
        </p:txBody>
      </p:sp>
      <p:sp>
        <p:nvSpPr>
          <p:cNvPr id="41" name="Rectangle 4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Euro Stoxx 50  ·  ^STOXX50E  ·  Structure de l'analyse macro institutionnelle</a:t>
            </a:r>
          </a:p>
        </p:txBody>
      </p:sp>
      <p:sp>
        <p:nvSpPr>
          <p:cNvPr id="15" name="Rectangle 14"/>
          <p:cNvSpPr/>
          <p:nvPr/>
        </p:nvSpPr>
        <p:spPr>
          <a:xfrm>
            <a:off x="324000" y="90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152000"/>
            <a:ext cx="432000" cy="360000"/>
          </a:xfrm>
          <a:prstGeom prst="rect">
            <a:avLst/>
          </a:prstGeom>
          <a:noFill/>
        </p:spPr>
        <p:txBody>
          <a:bodyPr wrap="square">
            <a:spAutoFit/>
          </a:bodyPr>
          <a:lstStyle/>
          <a:p>
            <a:pPr algn="ctr"/>
            <a:r>
              <a:rPr sz="1400" b="1" i="0">
                <a:solidFill>
                  <a:srgbClr val="FFFFFF"/>
                </a:solidFill>
              </a:rPr>
              <a:t>01</a:t>
            </a:r>
          </a:p>
        </p:txBody>
      </p:sp>
      <p:sp>
        <p:nvSpPr>
          <p:cNvPr id="18" name="TextBox 17"/>
          <p:cNvSpPr txBox="1"/>
          <p:nvPr/>
        </p:nvSpPr>
        <p:spPr>
          <a:xfrm>
            <a:off x="827999" y="954000"/>
            <a:ext cx="6660000" cy="270000"/>
          </a:xfrm>
          <a:prstGeom prst="rect">
            <a:avLst/>
          </a:prstGeom>
          <a:noFill/>
        </p:spPr>
        <p:txBody>
          <a:bodyPr wrap="square">
            <a:spAutoFit/>
          </a:bodyPr>
          <a:lstStyle/>
          <a:p>
            <a:pPr algn="l"/>
            <a:r>
              <a:rPr sz="1000" b="1" i="0">
                <a:solidFill>
                  <a:srgbClr val="1B3A6B"/>
                </a:solidFill>
              </a:rPr>
              <a:t>Synthèse Macro &amp; Signal Global</a:t>
            </a:r>
          </a:p>
        </p:txBody>
      </p:sp>
      <p:sp>
        <p:nvSpPr>
          <p:cNvPr id="19" name="TextBox 18"/>
          <p:cNvSpPr txBox="1"/>
          <p:nvPr/>
        </p:nvSpPr>
        <p:spPr>
          <a:xfrm>
            <a:off x="827999" y="1224000"/>
            <a:ext cx="6660000" cy="396000"/>
          </a:xfrm>
          <a:prstGeom prst="rect">
            <a:avLst/>
          </a:prstGeom>
          <a:noFill/>
        </p:spPr>
        <p:txBody>
          <a:bodyPr wrap="square">
            <a:spAutoFit/>
          </a:bodyPr>
          <a:lstStyle/>
          <a:p>
            <a:pPr algn="l"/>
            <a:r>
              <a:rPr sz="800" b="0" i="0">
                <a:solidFill>
                  <a:srgbClr val="555555"/>
                </a:solidFill>
              </a:rPr>
              <a:t>Description indice · P/E Forward · ERP Damodaran · Catalyseurs &amp; risques · Cycle économique</a:t>
            </a:r>
          </a:p>
        </p:txBody>
      </p:sp>
      <p:sp>
        <p:nvSpPr>
          <p:cNvPr id="20" name="TextBox 19"/>
          <p:cNvSpPr txBox="1"/>
          <p:nvPr/>
        </p:nvSpPr>
        <p:spPr>
          <a:xfrm>
            <a:off x="7740000" y="1170000"/>
            <a:ext cx="972000" cy="216000"/>
          </a:xfrm>
          <a:prstGeom prst="rect">
            <a:avLst/>
          </a:prstGeom>
          <a:noFill/>
        </p:spPr>
        <p:txBody>
          <a:bodyPr wrap="square">
            <a:spAutoFit/>
          </a:bodyPr>
          <a:lstStyle/>
          <a:p>
            <a:pPr algn="r"/>
            <a:r>
              <a:rPr sz="900" b="1" i="0">
                <a:solidFill>
                  <a:srgbClr val="1B3A6B"/>
                </a:solidFill>
              </a:rPr>
              <a:t>p. 5-7</a:t>
            </a:r>
          </a:p>
        </p:txBody>
      </p:sp>
      <p:sp>
        <p:nvSpPr>
          <p:cNvPr id="21" name="Rectangle 20"/>
          <p:cNvSpPr/>
          <p:nvPr/>
        </p:nvSpPr>
        <p:spPr>
          <a:xfrm>
            <a:off x="324000" y="189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9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142000"/>
            <a:ext cx="432000" cy="360000"/>
          </a:xfrm>
          <a:prstGeom prst="rect">
            <a:avLst/>
          </a:prstGeom>
          <a:noFill/>
        </p:spPr>
        <p:txBody>
          <a:bodyPr wrap="square">
            <a:spAutoFit/>
          </a:bodyPr>
          <a:lstStyle/>
          <a:p>
            <a:pPr algn="ctr"/>
            <a:r>
              <a:rPr sz="1400" b="1" i="0">
                <a:solidFill>
                  <a:srgbClr val="FFFFFF"/>
                </a:solidFill>
              </a:rPr>
              <a:t>02</a:t>
            </a:r>
          </a:p>
        </p:txBody>
      </p:sp>
      <p:sp>
        <p:nvSpPr>
          <p:cNvPr id="24" name="TextBox 23"/>
          <p:cNvSpPr txBox="1"/>
          <p:nvPr/>
        </p:nvSpPr>
        <p:spPr>
          <a:xfrm>
            <a:off x="827999" y="1944000"/>
            <a:ext cx="6660000" cy="270000"/>
          </a:xfrm>
          <a:prstGeom prst="rect">
            <a:avLst/>
          </a:prstGeom>
          <a:noFill/>
        </p:spPr>
        <p:txBody>
          <a:bodyPr wrap="square">
            <a:spAutoFit/>
          </a:bodyPr>
          <a:lstStyle/>
          <a:p>
            <a:pPr algn="l"/>
            <a:r>
              <a:rPr sz="1000" b="1" i="0">
                <a:solidFill>
                  <a:srgbClr val="1B3A6B"/>
                </a:solidFill>
              </a:rPr>
              <a:t>Cartographie des Secteurs</a:t>
            </a:r>
          </a:p>
        </p:txBody>
      </p:sp>
      <p:sp>
        <p:nvSpPr>
          <p:cNvPr id="25" name="TextBox 24"/>
          <p:cNvSpPr txBox="1"/>
          <p:nvPr/>
        </p:nvSpPr>
        <p:spPr>
          <a:xfrm>
            <a:off x="827999" y="2214000"/>
            <a:ext cx="6660000" cy="396000"/>
          </a:xfrm>
          <a:prstGeom prst="rect">
            <a:avLst/>
          </a:prstGeom>
          <a:noFill/>
        </p:spPr>
        <p:txBody>
          <a:bodyPr wrap="square">
            <a:spAutoFit/>
          </a:bodyPr>
          <a:lstStyle/>
          <a:p>
            <a:pPr algn="l"/>
            <a:r>
              <a:rPr sz="800" b="0" i="0">
                <a:solidFill>
                  <a:srgbClr val="555555"/>
                </a:solidFill>
              </a:rPr>
              <a:t>10 secteurs GICS · Scores FinSight · Scatter EV/EBITDA vs croissance · Décomposition scores</a:t>
            </a:r>
          </a:p>
        </p:txBody>
      </p:sp>
      <p:sp>
        <p:nvSpPr>
          <p:cNvPr id="26" name="TextBox 25"/>
          <p:cNvSpPr txBox="1"/>
          <p:nvPr/>
        </p:nvSpPr>
        <p:spPr>
          <a:xfrm>
            <a:off x="7740000" y="2160000"/>
            <a:ext cx="972000" cy="216000"/>
          </a:xfrm>
          <a:prstGeom prst="rect">
            <a:avLst/>
          </a:prstGeom>
          <a:noFill/>
        </p:spPr>
        <p:txBody>
          <a:bodyPr wrap="square">
            <a:spAutoFit/>
          </a:bodyPr>
          <a:lstStyle/>
          <a:p>
            <a:pPr algn="r"/>
            <a:r>
              <a:rPr sz="900" b="1" i="0">
                <a:solidFill>
                  <a:srgbClr val="1B3A6B"/>
                </a:solidFill>
              </a:rPr>
              <a:t>p. 9-11</a:t>
            </a:r>
          </a:p>
        </p:txBody>
      </p:sp>
      <p:sp>
        <p:nvSpPr>
          <p:cNvPr id="27" name="Rectangle 26"/>
          <p:cNvSpPr/>
          <p:nvPr/>
        </p:nvSpPr>
        <p:spPr>
          <a:xfrm>
            <a:off x="324000" y="288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8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3131999"/>
            <a:ext cx="432000" cy="360000"/>
          </a:xfrm>
          <a:prstGeom prst="rect">
            <a:avLst/>
          </a:prstGeom>
          <a:noFill/>
        </p:spPr>
        <p:txBody>
          <a:bodyPr wrap="square">
            <a:spAutoFit/>
          </a:bodyPr>
          <a:lstStyle/>
          <a:p>
            <a:pPr algn="ctr"/>
            <a:r>
              <a:rPr sz="1400" b="1" i="0">
                <a:solidFill>
                  <a:srgbClr val="FFFFFF"/>
                </a:solidFill>
              </a:rPr>
              <a:t>03</a:t>
            </a:r>
          </a:p>
        </p:txBody>
      </p:sp>
      <p:sp>
        <p:nvSpPr>
          <p:cNvPr id="30" name="TextBox 29"/>
          <p:cNvSpPr txBox="1"/>
          <p:nvPr/>
        </p:nvSpPr>
        <p:spPr>
          <a:xfrm>
            <a:off x="827999" y="2934000"/>
            <a:ext cx="6660000" cy="270000"/>
          </a:xfrm>
          <a:prstGeom prst="rect">
            <a:avLst/>
          </a:prstGeom>
          <a:noFill/>
        </p:spPr>
        <p:txBody>
          <a:bodyPr wrap="square">
            <a:spAutoFit/>
          </a:bodyPr>
          <a:lstStyle/>
          <a:p>
            <a:pPr algn="l"/>
            <a:r>
              <a:rPr sz="1000" b="1" i="0">
                <a:solidFill>
                  <a:srgbClr val="1B3A6B"/>
                </a:solidFill>
              </a:rPr>
              <a:t>Top 3 Secteurs Recommandés</a:t>
            </a:r>
          </a:p>
        </p:txBody>
      </p:sp>
      <p:sp>
        <p:nvSpPr>
          <p:cNvPr id="31" name="TextBox 30"/>
          <p:cNvSpPr txBox="1"/>
          <p:nvPr/>
        </p:nvSpPr>
        <p:spPr>
          <a:xfrm>
            <a:off x="827999" y="3204000"/>
            <a:ext cx="6660000" cy="396000"/>
          </a:xfrm>
          <a:prstGeom prst="rect">
            <a:avLst/>
          </a:prstGeom>
          <a:noFill/>
        </p:spPr>
        <p:txBody>
          <a:bodyPr wrap="square">
            <a:spAutoFit/>
          </a:bodyPr>
          <a:lstStyle/>
          <a:p>
            <a:pPr algn="l"/>
            <a:r>
              <a:rPr sz="800" b="0" i="0">
                <a:solidFill>
                  <a:srgbClr val="555555"/>
                </a:solidFill>
              </a:rPr>
              <a:t>Synthèse signal · Sociétés représentatives · Distribution valorisations · Zone d'entrée</a:t>
            </a:r>
          </a:p>
        </p:txBody>
      </p:sp>
      <p:sp>
        <p:nvSpPr>
          <p:cNvPr id="32" name="TextBox 31"/>
          <p:cNvSpPr txBox="1"/>
          <p:nvPr/>
        </p:nvSpPr>
        <p:spPr>
          <a:xfrm>
            <a:off x="7740000" y="3150000"/>
            <a:ext cx="972000" cy="216000"/>
          </a:xfrm>
          <a:prstGeom prst="rect">
            <a:avLst/>
          </a:prstGeom>
          <a:noFill/>
        </p:spPr>
        <p:txBody>
          <a:bodyPr wrap="square">
            <a:spAutoFit/>
          </a:bodyPr>
          <a:lstStyle/>
          <a:p>
            <a:pPr algn="r"/>
            <a:r>
              <a:rPr sz="900" b="1" i="0">
                <a:solidFill>
                  <a:srgbClr val="1B3A6B"/>
                </a:solidFill>
              </a:rPr>
              <a:t>p. 13-15</a:t>
            </a:r>
          </a:p>
        </p:txBody>
      </p:sp>
      <p:sp>
        <p:nvSpPr>
          <p:cNvPr id="33" name="Rectangle 32"/>
          <p:cNvSpPr/>
          <p:nvPr/>
        </p:nvSpPr>
        <p:spPr>
          <a:xfrm>
            <a:off x="324000" y="387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87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4121999"/>
            <a:ext cx="432000" cy="360000"/>
          </a:xfrm>
          <a:prstGeom prst="rect">
            <a:avLst/>
          </a:prstGeom>
          <a:noFill/>
        </p:spPr>
        <p:txBody>
          <a:bodyPr wrap="square">
            <a:spAutoFit/>
          </a:bodyPr>
          <a:lstStyle/>
          <a:p>
            <a:pPr algn="ctr"/>
            <a:r>
              <a:rPr sz="1400" b="1" i="0">
                <a:solidFill>
                  <a:srgbClr val="FFFFFF"/>
                </a:solidFill>
              </a:rPr>
              <a:t>04</a:t>
            </a:r>
          </a:p>
        </p:txBody>
      </p:sp>
      <p:sp>
        <p:nvSpPr>
          <p:cNvPr id="36" name="TextBox 35"/>
          <p:cNvSpPr txBox="1"/>
          <p:nvPr/>
        </p:nvSpPr>
        <p:spPr>
          <a:xfrm>
            <a:off x="827999" y="3924000"/>
            <a:ext cx="6660000" cy="270000"/>
          </a:xfrm>
          <a:prstGeom prst="rect">
            <a:avLst/>
          </a:prstGeom>
          <a:noFill/>
        </p:spPr>
        <p:txBody>
          <a:bodyPr wrap="square">
            <a:spAutoFit/>
          </a:bodyPr>
          <a:lstStyle/>
          <a:p>
            <a:pPr algn="l"/>
            <a:r>
              <a:rPr sz="1000" b="1" i="0">
                <a:solidFill>
                  <a:srgbClr val="1B3A6B"/>
                </a:solidFill>
              </a:rPr>
              <a:t>Risques, Rotation &amp; Sentiment</a:t>
            </a:r>
          </a:p>
        </p:txBody>
      </p:sp>
      <p:sp>
        <p:nvSpPr>
          <p:cNvPr id="37" name="TextBox 36"/>
          <p:cNvSpPr txBox="1"/>
          <p:nvPr/>
        </p:nvSpPr>
        <p:spPr>
          <a:xfrm>
            <a:off x="827999" y="4194000"/>
            <a:ext cx="6660000" cy="396000"/>
          </a:xfrm>
          <a:prstGeom prst="rect">
            <a:avLst/>
          </a:prstGeom>
          <a:noFill/>
        </p:spPr>
        <p:txBody>
          <a:bodyPr wrap="square">
            <a:spAutoFit/>
          </a:bodyPr>
          <a:lstStyle/>
          <a:p>
            <a:pPr algn="l"/>
            <a:r>
              <a:rPr sz="800" b="0" i="0">
                <a:solidFill>
                  <a:srgbClr val="555555"/>
                </a:solidFill>
              </a:rPr>
              <a:t>Scénarios alternatifs · Rotation sectorielle · FinBERT · Performance ETF</a:t>
            </a:r>
          </a:p>
        </p:txBody>
      </p:sp>
      <p:sp>
        <p:nvSpPr>
          <p:cNvPr id="38" name="TextBox 37"/>
          <p:cNvSpPr txBox="1"/>
          <p:nvPr/>
        </p:nvSpPr>
        <p:spPr>
          <a:xfrm>
            <a:off x="7740000" y="4140000"/>
            <a:ext cx="972000" cy="216000"/>
          </a:xfrm>
          <a:prstGeom prst="rect">
            <a:avLst/>
          </a:prstGeom>
          <a:noFill/>
        </p:spPr>
        <p:txBody>
          <a:bodyPr wrap="square">
            <a:spAutoFit/>
          </a:bodyPr>
          <a:lstStyle/>
          <a:p>
            <a:pPr algn="r"/>
            <a:r>
              <a:rPr sz="900" b="1" i="0">
                <a:solidFill>
                  <a:srgbClr val="1B3A6B"/>
                </a:solidFill>
              </a:rPr>
              <a:t>p. 17-20</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Synthèse Macro &amp; Signal Global</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Valorisation top-down · ERP · Cycle économique · Catalyseurs &amp; risques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Description de l'Indice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Euro Stoxx 50 (^STOXX50E)  ·  Caractéristiques structurelles &amp; valorisation macro</a:t>
            </a:r>
          </a:p>
        </p:txBody>
      </p:sp>
      <p:sp>
        <p:nvSpPr>
          <p:cNvPr id="15" name="Rectangle 14"/>
          <p:cNvSpPr/>
          <p:nvPr/>
        </p:nvSpPr>
        <p:spPr>
          <a:xfrm>
            <a:off x="324000" y="827999"/>
            <a:ext cx="43200" cy="255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827999"/>
            <a:ext cx="4824000" cy="2556000"/>
          </a:xfrm>
          <a:prstGeom prst="rect">
            <a:avLst/>
          </a:prstGeom>
          <a:noFill/>
        </p:spPr>
        <p:txBody>
          <a:bodyPr wrap="square">
            <a:spAutoFit/>
          </a:bodyPr>
          <a:lstStyle/>
          <a:p>
            <a:pPr algn="l"/>
            <a:r>
              <a:rPr sz="850" b="0" i="0">
                <a:solidFill>
                  <a:srgbClr val="555555"/>
                </a:solidFill>
              </a:rPr>
              <a:t>Le Euro Stoxx 50 regroupe les 50 plus grandes capitalisations boursieres domestiques, pondérees par leur capitalisation flottante. Cet indice constitue la reference mondiale pour les allocataires d'actifs institutionnels, avec une capitalisation totale de pres de 40 000 milliards de dollars. La composition GICS couvre 11 secteurs, le secteur Technologie dominant avec pres de 32% de l'indice.</a:t>
            </a:r>
          </a:p>
        </p:txBody>
      </p:sp>
      <p:graphicFrame>
        <p:nvGraphicFramePr>
          <p:cNvPr id="17" name="Table 16"/>
          <p:cNvGraphicFramePr>
            <a:graphicFrameLocks noGrp="1"/>
          </p:cNvGraphicFramePr>
          <p:nvPr/>
        </p:nvGraphicFramePr>
        <p:xfrm>
          <a:off x="5436000" y="827999"/>
          <a:ext cx="3384000" cy="2520000"/>
        </p:xfrm>
        <a:graphic>
          <a:graphicData uri="http://schemas.openxmlformats.org/drawingml/2006/table">
            <a:tbl>
              <a:tblPr firstRow="1" bandRow="1">
                <a:tableStyleId>{5C22544A-7EE6-4342-B048-85BDC9FD1C3A}</a:tableStyleId>
              </a:tblPr>
              <a:tblGrid>
                <a:gridCol w="2256000"/>
                <a:gridCol w="1128000"/>
              </a:tblGrid>
              <a:tr h="280000">
                <a:tc>
                  <a:txBody>
                    <a:bodyPr/>
                    <a:lstStyle/>
                    <a:p>
                      <a:pPr algn="ctr"/>
                      <a:r>
                        <a:rPr sz="800" b="1">
                          <a:solidFill>
                            <a:srgbClr val="FFFFFF"/>
                          </a:solidFill>
                        </a:rPr>
                        <a:t>MÉTRIQUE</a:t>
                      </a:r>
                    </a:p>
                  </a:txBody>
                  <a:tcPr>
                    <a:solidFill>
                      <a:srgbClr val="1B3A6B"/>
                    </a:solidFill>
                  </a:tcPr>
                </a:tc>
                <a:tc>
                  <a:txBody>
                    <a:bodyPr/>
                    <a:lstStyle/>
                    <a:p>
                      <a:pPr algn="ctr"/>
                      <a:r>
                        <a:rPr sz="800" b="1">
                          <a:solidFill>
                            <a:srgbClr val="FFFFFF"/>
                          </a:solidFill>
                        </a:rPr>
                        <a:t>VALEUR</a:t>
                      </a:r>
                    </a:p>
                  </a:txBody>
                  <a:tcPr>
                    <a:solidFill>
                      <a:srgbClr val="1B3A6B"/>
                    </a:solidFill>
                  </a:tcPr>
                </a:tc>
              </a:tr>
              <a:tr h="280000">
                <a:tc>
                  <a:txBody>
                    <a:bodyPr/>
                    <a:lstStyle/>
                    <a:p>
                      <a:pPr algn="ctr"/>
                      <a:r>
                        <a:rPr sz="800" b="0">
                          <a:solidFill>
                            <a:srgbClr val="1A1A1A"/>
                          </a:solidFill>
                        </a:rPr>
                        <a:t>Cours actuel</a:t>
                      </a:r>
                    </a:p>
                  </a:txBody>
                  <a:tcPr>
                    <a:noFill/>
                  </a:tcPr>
                </a:tc>
                <a:tc>
                  <a:txBody>
                    <a:bodyPr/>
                    <a:lstStyle/>
                    <a:p>
                      <a:pPr algn="ctr"/>
                      <a:r>
                        <a:rPr sz="800" b="0">
                          <a:solidFill>
                            <a:srgbClr val="1A1A1A"/>
                          </a:solidFill>
                        </a:rPr>
                        <a:t>5 633</a:t>
                      </a:r>
                    </a:p>
                  </a:txBody>
                  <a:tcPr>
                    <a:noFill/>
                  </a:tcPr>
                </a:tc>
              </a:tr>
              <a:tr h="280000">
                <a:tc>
                  <a:txBody>
                    <a:bodyPr/>
                    <a:lstStyle/>
                    <a:p>
                      <a:pPr algn="ctr"/>
                      <a:r>
                        <a:rPr sz="800" b="0">
                          <a:solidFill>
                            <a:srgbClr val="1A1A1A"/>
                          </a:solidFill>
                        </a:rPr>
                        <a:t>Variation YTD</a:t>
                      </a:r>
                    </a:p>
                  </a:txBody>
                  <a:tcPr>
                    <a:solidFill>
                      <a:srgbClr val="F5F7FA"/>
                    </a:solidFill>
                  </a:tcPr>
                </a:tc>
                <a:tc>
                  <a:txBody>
                    <a:bodyPr/>
                    <a:lstStyle/>
                    <a:p>
                      <a:pPr algn="ctr"/>
                      <a:r>
                        <a:rPr sz="800" b="0">
                          <a:solidFill>
                            <a:srgbClr val="1A1A1A"/>
                          </a:solidFill>
                        </a:rPr>
                        <a:t>-4.9%</a:t>
                      </a:r>
                    </a:p>
                  </a:txBody>
                  <a:tcPr>
                    <a:solidFill>
                      <a:srgbClr val="F5F7FA"/>
                    </a:solidFill>
                  </a:tcPr>
                </a:tc>
              </a:tr>
              <a:tr h="280000">
                <a:tc>
                  <a:txBody>
                    <a:bodyPr/>
                    <a:lstStyle/>
                    <a:p>
                      <a:pPr algn="ctr"/>
                      <a:r>
                        <a:rPr sz="800" b="0">
                          <a:solidFill>
                            <a:srgbClr val="1A1A1A"/>
                          </a:solidFill>
                        </a:rPr>
                        <a:t>P/E Forward</a:t>
                      </a:r>
                    </a:p>
                  </a:txBody>
                  <a:tcPr>
                    <a:noFill/>
                  </a:tcPr>
                </a:tc>
                <a:tc>
                  <a:txBody>
                    <a:bodyPr/>
                    <a:lstStyle/>
                    <a:p>
                      <a:pPr algn="ctr"/>
                      <a:r>
                        <a:rPr sz="800" b="0">
                          <a:solidFill>
                            <a:srgbClr val="1A1A1A"/>
                          </a:solidFill>
                        </a:rPr>
                        <a:t>13.2x</a:t>
                      </a:r>
                    </a:p>
                  </a:txBody>
                  <a:tcPr>
                    <a:noFill/>
                  </a:tcPr>
                </a:tc>
              </a:tr>
              <a:tr h="28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15.0x</a:t>
                      </a:r>
                    </a:p>
                  </a:txBody>
                  <a:tcPr>
                    <a:solidFill>
                      <a:srgbClr val="F5F7FA"/>
                    </a:solidFill>
                  </a:tcPr>
                </a:tc>
              </a:tr>
              <a:tr h="28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3.3%</a:t>
                      </a:r>
                    </a:p>
                  </a:txBody>
                  <a:tcPr>
                    <a:noFill/>
                  </a:tcPr>
                </a:tc>
              </a:tr>
              <a:tr h="28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r>
              <a:tr h="280000">
                <a:tc>
                  <a:txBody>
                    <a:bodyPr/>
                    <a:lstStyle/>
                    <a:p>
                      <a:pPr algn="ctr"/>
                      <a:r>
                        <a:rPr sz="800" b="0">
                          <a:solidFill>
                            <a:srgbClr val="1A1A1A"/>
                          </a:solidFill>
                        </a:rPr>
                        <a:t>Secteurs analysés</a:t>
                      </a:r>
                    </a:p>
                  </a:txBody>
                  <a:tcPr>
                    <a:noFill/>
                  </a:tcPr>
                </a:tc>
                <a:tc>
                  <a:txBody>
                    <a:bodyPr/>
                    <a:lstStyle/>
                    <a:p>
                      <a:pPr algn="ctr"/>
                      <a:r>
                        <a:rPr sz="800" b="0">
                          <a:solidFill>
                            <a:srgbClr val="1A1A1A"/>
                          </a:solidFill>
                        </a:rPr>
                        <a:t>10</a:t>
                      </a:r>
                    </a:p>
                  </a:txBody>
                  <a:tcPr>
                    <a:noFill/>
                  </a:tcPr>
                </a:tc>
              </a:tr>
              <a:tr h="280000">
                <a:tc>
                  <a:txBody>
                    <a:bodyPr/>
                    <a:lstStyle/>
                    <a:p>
                      <a:pPr algn="ctr"/>
                      <a:r>
                        <a:rPr sz="800" b="0">
                          <a:solidFill>
                            <a:srgbClr val="1A1A1A"/>
                          </a:solidFill>
                        </a:rPr>
                        <a:t>Sociétés couvertes</a:t>
                      </a:r>
                    </a:p>
                  </a:txBody>
                  <a:tcPr>
                    <a:solidFill>
                      <a:srgbClr val="F5F7FA"/>
                    </a:solidFill>
                  </a:tcPr>
                </a:tc>
                <a:tc>
                  <a:txBody>
                    <a:bodyPr/>
                    <a:lstStyle/>
                    <a:p>
                      <a:pPr algn="ctr"/>
                      <a:r>
                        <a:rPr sz="800" b="0">
                          <a:solidFill>
                            <a:srgbClr val="1A1A1A"/>
                          </a:solidFill>
                        </a:rPr>
                        <a:t>50</a:t>
                      </a:r>
                    </a:p>
                  </a:txBody>
                  <a:tcPr>
                    <a:solidFill>
                      <a:srgbClr val="F5F7FA"/>
                    </a:solidFill>
                  </a:tcPr>
                </a:tc>
              </a:tr>
            </a:tbl>
          </a:graphicData>
        </a:graphic>
      </p:graphicFrame>
      <p:sp>
        <p:nvSpPr>
          <p:cNvPr id="18" name="Rectangle 17"/>
          <p:cNvSpPr/>
          <p:nvPr/>
        </p:nvSpPr>
        <p:spPr>
          <a:xfrm>
            <a:off x="324000" y="35280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528000"/>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3582000"/>
            <a:ext cx="8208000" cy="216000"/>
          </a:xfrm>
          <a:prstGeom prst="rect">
            <a:avLst/>
          </a:prstGeom>
          <a:noFill/>
        </p:spPr>
        <p:txBody>
          <a:bodyPr wrap="square">
            <a:spAutoFit/>
          </a:bodyPr>
          <a:lstStyle/>
          <a:p>
            <a:pPr algn="l"/>
            <a:r>
              <a:rPr sz="800" b="1" i="0">
                <a:solidFill>
                  <a:srgbClr val="1B3A6B"/>
                </a:solidFill>
              </a:rPr>
              <a:t>Lecture — Signal global &amp; positionnement sectoriel</a:t>
            </a:r>
          </a:p>
        </p:txBody>
      </p:sp>
      <p:sp>
        <p:nvSpPr>
          <p:cNvPr id="21" name="TextBox 20"/>
          <p:cNvSpPr txBox="1"/>
          <p:nvPr/>
        </p:nvSpPr>
        <p:spPr>
          <a:xfrm>
            <a:off x="432000" y="3816000"/>
            <a:ext cx="8208000" cy="936000"/>
          </a:xfrm>
          <a:prstGeom prst="rect">
            <a:avLst/>
          </a:prstGeom>
          <a:noFill/>
        </p:spPr>
        <p:txBody>
          <a:bodyPr wrap="square">
            <a:spAutoFit/>
          </a:bodyPr>
          <a:lstStyle/>
          <a:p>
            <a:pPr algn="l"/>
            <a:r>
              <a:rPr sz="750" b="0" i="0">
                <a:solidFill>
                  <a:srgbClr val="555555"/>
                </a:solidFill>
              </a:rPr>
              <a:t>Signal global : Surpondérer (score composite 68/100). P/E Forward 13.2x vs médiane historique 15.0x — valorisation proche des normes historiques. ERP Damodaran : 3.3% (Neutre). Secteurs a Surponderer : Utilities  ·  Energy  ·  Materials. Secteurs a Sous-ponderer : aucun. 3 secteur(s) en position Neutre. Horizon d'allocation recommande : 12 mois.</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Macro Top-Down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Euro Stoxx 50  ·  BPA forward x P/E cible historique  ·  ERP Damodaran  ·  Signaux FRED</a:t>
            </a:r>
          </a:p>
        </p:txBody>
      </p:sp>
      <p:graphicFrame>
        <p:nvGraphicFramePr>
          <p:cNvPr id="15" name="Table 14"/>
          <p:cNvGraphicFramePr>
            <a:graphicFrameLocks noGrp="1"/>
          </p:cNvGraphicFramePr>
          <p:nvPr/>
        </p:nvGraphicFramePr>
        <p:xfrm>
          <a:off x="324000" y="827999"/>
          <a:ext cx="8496000" cy="1800000"/>
        </p:xfrm>
        <a:graphic>
          <a:graphicData uri="http://schemas.openxmlformats.org/drawingml/2006/table">
            <a:tbl>
              <a:tblPr firstRow="1" bandRow="1">
                <a:tableStyleId>{5C22544A-7EE6-4342-B048-85BDC9FD1C3A}</a:tableStyleId>
              </a:tblPr>
              <a:tblGrid>
                <a:gridCol w="1800000"/>
                <a:gridCol w="1080000"/>
                <a:gridCol w="1080000"/>
                <a:gridCol w="4536000"/>
              </a:tblGrid>
              <a:tr h="300000">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vs HISTORIQUE</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00000">
                <a:tc>
                  <a:txBody>
                    <a:bodyPr/>
                    <a:lstStyle/>
                    <a:p>
                      <a:pPr algn="ctr"/>
                      <a:r>
                        <a:rPr sz="800" b="0">
                          <a:solidFill>
                            <a:srgbClr val="1A1A1A"/>
                          </a:solidFill>
                        </a:rPr>
                        <a:t>P/E Forward</a:t>
                      </a:r>
                    </a:p>
                  </a:txBody>
                  <a:tcPr>
                    <a:noFill/>
                  </a:tcPr>
                </a:tc>
                <a:tc>
                  <a:txBody>
                    <a:bodyPr/>
                    <a:lstStyle/>
                    <a:p>
                      <a:pPr algn="ctr"/>
                      <a:r>
                        <a:rPr sz="800" b="0">
                          <a:solidFill>
                            <a:srgbClr val="1A1A1A"/>
                          </a:solidFill>
                        </a:rPr>
                        <a:t>13.2x</a:t>
                      </a:r>
                    </a:p>
                  </a:txBody>
                  <a:tcPr>
                    <a:noFill/>
                  </a:tcPr>
                </a:tc>
                <a:tc>
                  <a:txBody>
                    <a:bodyPr/>
                    <a:lstStyle/>
                    <a:p>
                      <a:pPr algn="ctr"/>
                      <a:r>
                        <a:rPr sz="800" b="0">
                          <a:solidFill>
                            <a:srgbClr val="1A1A1A"/>
                          </a:solidFill>
                        </a:rPr>
                        <a:t>-12% decote</a:t>
                      </a:r>
                    </a:p>
                  </a:txBody>
                  <a:tcPr>
                    <a:noFill/>
                  </a:tcPr>
                </a:tc>
                <a:tc>
                  <a:txBody>
                    <a:bodyPr/>
                    <a:lstStyle/>
                    <a:p>
                      <a:pPr algn="ctr"/>
                      <a:r>
                        <a:rPr sz="800" b="0">
                          <a:solidFill>
                            <a:srgbClr val="1A1A1A"/>
                          </a:solidFill>
                        </a:rPr>
                        <a:t>Prime vs médiane 10Y</a:t>
                      </a:r>
                    </a:p>
                  </a:txBody>
                  <a:tcPr>
                    <a:noFill/>
                  </a:tcPr>
                </a:tc>
              </a:tr>
              <a:tr h="30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15.0x</a:t>
                      </a:r>
                    </a:p>
                  </a:txBody>
                  <a:tcPr>
                    <a:solidFill>
                      <a:srgbClr val="F5F7FA"/>
                    </a:solidFill>
                  </a:tcPr>
                </a:tc>
                <a:tc>
                  <a:txBody>
                    <a:bodyPr/>
                    <a:lstStyle/>
                    <a:p>
                      <a:pPr algn="ctr"/>
                      <a:r>
                        <a:rPr sz="800" b="0">
                          <a:solidFill>
                            <a:srgbClr val="1A1A1A"/>
                          </a:solidFill>
                        </a:rPr>
                        <a:t>Reference</a:t>
                      </a:r>
                    </a:p>
                  </a:txBody>
                  <a:tcPr>
                    <a:solidFill>
                      <a:srgbClr val="F5F7FA"/>
                    </a:solidFill>
                  </a:tcPr>
                </a:tc>
                <a:tc>
                  <a:txBody>
                    <a:bodyPr/>
                    <a:lstStyle/>
                    <a:p>
                      <a:pPr algn="ctr"/>
                      <a:r>
                        <a:rPr sz="800" b="0">
                          <a:solidFill>
                            <a:srgbClr val="1A1A1A"/>
                          </a:solidFill>
                        </a:rPr>
                        <a:t>Niveau historique normalisé</a:t>
                      </a:r>
                    </a:p>
                  </a:txBody>
                  <a:tcPr>
                    <a:solidFill>
                      <a:srgbClr val="F5F7FA"/>
                    </a:solidFill>
                  </a:tcPr>
                </a:tc>
              </a:tr>
              <a:tr h="30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3.3%</a:t>
                      </a:r>
                    </a:p>
                  </a:txBody>
                  <a:tcPr>
                    <a:noFill/>
                  </a:tcPr>
                </a:tc>
                <a:tc>
                  <a:txBody>
                    <a:bodyPr/>
                    <a:lstStyle/>
                    <a:p>
                      <a:pPr algn="ctr"/>
                      <a:r>
                        <a:rPr sz="800" b="0">
                          <a:solidFill>
                            <a:srgbClr val="1A1A1A"/>
                          </a:solidFill>
                        </a:rPr>
                        <a:t>Correct</a:t>
                      </a:r>
                    </a:p>
                  </a:txBody>
                  <a:tcPr>
                    <a:noFill/>
                  </a:tcPr>
                </a:tc>
                <a:tc>
                  <a:txBody>
                    <a:bodyPr/>
                    <a:lstStyle/>
                    <a:p>
                      <a:pPr algn="ctr"/>
                      <a:r>
                        <a:rPr sz="800" b="0">
                          <a:solidFill>
                            <a:srgbClr val="1A1A1A"/>
                          </a:solidFill>
                        </a:rPr>
                        <a:t>Rendement excess equites</a:t>
                      </a:r>
                    </a:p>
                  </a:txBody>
                  <a:tcPr>
                    <a:noFill/>
                  </a:tcPr>
                </a:tc>
              </a:tr>
              <a:tr h="30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1A1A"/>
                          </a:solidFill>
                        </a:rPr>
                        <a:t>+</a:t>
                      </a:r>
                    </a:p>
                  </a:txBody>
                  <a:tcPr>
                    <a:solidFill>
                      <a:srgbClr val="FDF3E5"/>
                    </a:solidFill>
                  </a:tcPr>
                </a:tc>
                <a:tc>
                  <a:txBody>
                    <a:bodyPr/>
                    <a:lstStyle/>
                    <a:p>
                      <a:pPr algn="ctr"/>
                      <a:r>
                        <a:rPr sz="800" b="0">
                          <a:solidFill>
                            <a:srgbClr val="1A1A1A"/>
                          </a:solidFill>
                        </a:rPr>
                        <a:t>Consensu analystes 12M</a:t>
                      </a:r>
                    </a:p>
                  </a:txBody>
                  <a:tcPr>
                    <a:solidFill>
                      <a:srgbClr val="F5F7FA"/>
                    </a:solidFill>
                  </a:tcPr>
                </a:tc>
              </a:tr>
              <a:tr h="300000">
                <a:tc>
                  <a:txBody>
                    <a:bodyPr/>
                    <a:lstStyle/>
                    <a:p>
                      <a:pPr algn="ctr"/>
                      <a:r>
                        <a:rPr sz="800" b="0">
                          <a:solidFill>
                            <a:srgbClr val="1A1A1A"/>
                          </a:solidFill>
                        </a:rPr>
                        <a:t>Prime/Decote</a:t>
                      </a:r>
                    </a:p>
                  </a:txBody>
                  <a:tcPr>
                    <a:noFill/>
                  </a:tcPr>
                </a:tc>
                <a:tc>
                  <a:txBody>
                    <a:bodyPr/>
                    <a:lstStyle/>
                    <a:p>
                      <a:pPr algn="ctr"/>
                      <a:r>
                        <a:rPr sz="800" b="0">
                          <a:solidFill>
                            <a:srgbClr val="1A1A1A"/>
                          </a:solidFill>
                        </a:rPr>
                        <a:t>-12% decote</a:t>
                      </a:r>
                    </a:p>
                  </a:txBody>
                  <a:tcPr>
                    <a:noFill/>
                  </a:tcPr>
                </a:tc>
                <a:tc>
                  <a:txBody>
                    <a:bodyPr/>
                    <a:lstStyle/>
                    <a:p>
                      <a:pPr algn="ctr"/>
                      <a:r>
                        <a:rPr sz="800" b="0">
                          <a:solidFill>
                            <a:srgbClr val="1A1A1A"/>
                          </a:solidFill>
                        </a:rPr>
                        <a:t>Surévalué si &gt; 20 %</a:t>
                      </a:r>
                    </a:p>
                  </a:txBody>
                  <a:tcPr>
                    <a:noFill/>
                  </a:tcPr>
                </a:tc>
                <a:tc>
                  <a:txBody>
                    <a:bodyPr/>
                    <a:lstStyle/>
                    <a:p>
                      <a:pPr algn="ctr"/>
                      <a:r>
                        <a:rPr sz="800" b="0">
                          <a:solidFill>
                            <a:srgbClr val="1A1A1A"/>
                          </a:solidFill>
                        </a:rPr>
                        <a:t>Signal d'alerte valorisation</a:t>
                      </a:r>
                    </a:p>
                  </a:txBody>
                  <a:tcPr>
                    <a:noFill/>
                  </a:tcPr>
                </a:tc>
              </a:tr>
            </a:tbl>
          </a:graphicData>
        </a:graphic>
      </p:graphicFrame>
      <p:sp>
        <p:nvSpPr>
          <p:cNvPr id="16" name="Rectangle 15"/>
          <p:cNvSpPr/>
          <p:nvPr/>
        </p:nvSpPr>
        <p:spPr>
          <a:xfrm>
            <a:off x="324000" y="2808000"/>
            <a:ext cx="8496000" cy="199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08000"/>
            <a:ext cx="43200" cy="19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2862000"/>
            <a:ext cx="8208000" cy="216000"/>
          </a:xfrm>
          <a:prstGeom prst="rect">
            <a:avLst/>
          </a:prstGeom>
          <a:noFill/>
        </p:spPr>
        <p:txBody>
          <a:bodyPr wrap="square">
            <a:spAutoFit/>
          </a:bodyPr>
          <a:lstStyle/>
          <a:p>
            <a:pPr algn="l"/>
            <a:r>
              <a:rPr sz="800" b="1" i="0">
                <a:solidFill>
                  <a:srgbClr val="1B3A6B"/>
                </a:solidFill>
              </a:rPr>
              <a:t>Lecture analytique — Valorisation macro</a:t>
            </a:r>
          </a:p>
        </p:txBody>
      </p:sp>
      <p:sp>
        <p:nvSpPr>
          <p:cNvPr id="19" name="TextBox 18"/>
          <p:cNvSpPr txBox="1"/>
          <p:nvPr/>
        </p:nvSpPr>
        <p:spPr>
          <a:xfrm>
            <a:off x="432000" y="3096000"/>
            <a:ext cx="8208000" cy="1673999"/>
          </a:xfrm>
          <a:prstGeom prst="rect">
            <a:avLst/>
          </a:prstGeom>
          <a:noFill/>
        </p:spPr>
        <p:txBody>
          <a:bodyPr wrap="square">
            <a:spAutoFit/>
          </a:bodyPr>
          <a:lstStyle/>
          <a:p>
            <a:pPr algn="l"/>
            <a:r>
              <a:rPr sz="750" b="0" i="0">
                <a:solidFill>
                  <a:srgbClr val="555555"/>
                </a:solidFill>
              </a:rPr>
              <a:t>L'indice Euro Stoxx 50 se négocie à un P/E de 13.2x, soit une décote de 15% par rapport à sa moyenne historique sur 10 ans, ce qui offre une valorisation attractive malgré un environnement macroéconomique dégradé. L'ERP neutre de 3.3% reflète un équilibre entre les primes de risque sectorielles et les attentes de croissance modérée.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 Économique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Euro Stoxx 50  ·  Phase actuelle : Expansion avancée  ·  Signaux FRED  ·  Modèle 4 phases</a:t>
            </a:r>
          </a:p>
        </p:txBody>
      </p:sp>
      <p:sp>
        <p:nvSpPr>
          <p:cNvPr id="15" name="Rectangle 14"/>
          <p:cNvSpPr/>
          <p:nvPr/>
        </p:nvSpPr>
        <p:spPr>
          <a:xfrm>
            <a:off x="324000" y="827999"/>
            <a:ext cx="2951999" cy="23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951999"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2808000" cy="216000"/>
          </a:xfrm>
          <a:prstGeom prst="rect">
            <a:avLst/>
          </a:prstGeom>
          <a:noFill/>
        </p:spPr>
        <p:txBody>
          <a:bodyPr wrap="square">
            <a:spAutoFit/>
          </a:bodyPr>
          <a:lstStyle/>
          <a:p>
            <a:pPr algn="l"/>
            <a:r>
              <a:rPr sz="800" b="1" i="0">
                <a:solidFill>
                  <a:srgbClr val="FFFFFF"/>
                </a:solidFill>
              </a:rPr>
              <a:t>PHASE ACTUELLE</a:t>
            </a:r>
          </a:p>
        </p:txBody>
      </p:sp>
      <p:sp>
        <p:nvSpPr>
          <p:cNvPr id="18" name="TextBox 17"/>
          <p:cNvSpPr txBox="1"/>
          <p:nvPr/>
        </p:nvSpPr>
        <p:spPr>
          <a:xfrm>
            <a:off x="396000" y="1152000"/>
            <a:ext cx="2808000" cy="360000"/>
          </a:xfrm>
          <a:prstGeom prst="rect">
            <a:avLst/>
          </a:prstGeom>
          <a:noFill/>
        </p:spPr>
        <p:txBody>
          <a:bodyPr wrap="square">
            <a:spAutoFit/>
          </a:bodyPr>
          <a:lstStyle/>
          <a:p>
            <a:pPr algn="l"/>
            <a:r>
              <a:rPr sz="1800" b="1" i="0">
                <a:solidFill>
                  <a:srgbClr val="FFFFFF"/>
                </a:solidFill>
              </a:rPr>
              <a:t>Expansion</a:t>
            </a:r>
          </a:p>
        </p:txBody>
      </p:sp>
      <p:sp>
        <p:nvSpPr>
          <p:cNvPr id="19" name="TextBox 18"/>
          <p:cNvSpPr txBox="1"/>
          <p:nvPr/>
        </p:nvSpPr>
        <p:spPr>
          <a:xfrm>
            <a:off x="396000" y="1512000"/>
            <a:ext cx="2808000" cy="306000"/>
          </a:xfrm>
          <a:prstGeom prst="rect">
            <a:avLst/>
          </a:prstGeom>
          <a:noFill/>
        </p:spPr>
        <p:txBody>
          <a:bodyPr wrap="square">
            <a:spAutoFit/>
          </a:bodyPr>
          <a:lstStyle/>
          <a:p>
            <a:pPr algn="l"/>
            <a:r>
              <a:rPr sz="1300" b="0" i="0">
                <a:solidFill>
                  <a:srgbClr val="AAAAAA"/>
                </a:solidFill>
              </a:rPr>
              <a:t>avancée</a:t>
            </a:r>
          </a:p>
        </p:txBody>
      </p:sp>
      <p:sp>
        <p:nvSpPr>
          <p:cNvPr id="20" name="TextBox 19"/>
          <p:cNvSpPr txBox="1"/>
          <p:nvPr/>
        </p:nvSpPr>
        <p:spPr>
          <a:xfrm>
            <a:off x="396000" y="1908000"/>
            <a:ext cx="2808000" cy="720000"/>
          </a:xfrm>
          <a:prstGeom prst="rect">
            <a:avLst/>
          </a:prstGeom>
          <a:noFill/>
        </p:spPr>
        <p:txBody>
          <a:bodyPr wrap="square">
            <a:spAutoFit/>
          </a:bodyPr>
          <a:lstStyle/>
          <a:p>
            <a:pPr algn="l"/>
            <a:r>
              <a:rPr sz="800" b="0" i="0">
                <a:solidFill>
                  <a:srgbClr val="AAAAAA"/>
                </a:solidFill>
              </a:rPr>
              <a:t>Milieu-fin de cycle — ISM proche 50, courbe taux normalisée</a:t>
            </a:r>
          </a:p>
        </p:txBody>
      </p:sp>
      <p:sp>
        <p:nvSpPr>
          <p:cNvPr id="21" name="TextBox 20"/>
          <p:cNvSpPr txBox="1"/>
          <p:nvPr/>
        </p:nvSpPr>
        <p:spPr>
          <a:xfrm>
            <a:off x="396000" y="2664000"/>
            <a:ext cx="2808000" cy="468000"/>
          </a:xfrm>
          <a:prstGeom prst="rect">
            <a:avLst/>
          </a:prstGeom>
          <a:noFill/>
        </p:spPr>
        <p:txBody>
          <a:bodyPr wrap="square">
            <a:spAutoFit/>
          </a:bodyPr>
          <a:lstStyle/>
          <a:p>
            <a:pPr algn="l"/>
            <a:r>
              <a:rPr sz="750" b="0" i="0">
                <a:solidFill>
                  <a:srgbClr val="AAAAAA"/>
                </a:solidFill>
              </a:rPr>
              <a:t>L'analyse des indicateurs avancées positionne le cycle en phase d'expansion avancée : ISM Manufacturier autour du seuil...</a:t>
            </a:r>
          </a:p>
        </p:txBody>
      </p:sp>
      <p:graphicFrame>
        <p:nvGraphicFramePr>
          <p:cNvPr id="22" name="Table 21"/>
          <p:cNvGraphicFramePr>
            <a:graphicFrameLocks noGrp="1"/>
          </p:cNvGraphicFramePr>
          <p:nvPr/>
        </p:nvGraphicFramePr>
        <p:xfrm>
          <a:off x="3420000" y="827999"/>
          <a:ext cx="5400000" cy="1871999"/>
        </p:xfrm>
        <a:graphic>
          <a:graphicData uri="http://schemas.openxmlformats.org/drawingml/2006/table">
            <a:tbl>
              <a:tblPr firstRow="1" bandRow="1">
                <a:tableStyleId>{5C22544A-7EE6-4342-B048-85BDC9FD1C3A}</a:tableStyleId>
              </a:tblPr>
              <a:tblGrid>
                <a:gridCol w="1800000"/>
                <a:gridCol w="900000"/>
                <a:gridCol w="2700000"/>
              </a:tblGrid>
              <a:tr h="311999">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11999">
                <a:tc>
                  <a:txBody>
                    <a:bodyPr/>
                    <a:lstStyle/>
                    <a:p>
                      <a:pPr algn="ctr"/>
                      <a:r>
                        <a:rPr sz="800" b="0">
                          <a:solidFill>
                            <a:srgbClr val="1A1A1A"/>
                          </a:solidFill>
                        </a:rPr>
                        <a:t>PMI Composite</a:t>
                      </a:r>
                    </a:p>
                  </a:txBody>
                  <a:tcPr>
                    <a:noFill/>
                  </a:tcPr>
                </a:tc>
                <a:tc>
                  <a:txBody>
                    <a:bodyPr/>
                    <a:lstStyle/>
                    <a:p>
                      <a:pPr algn="ctr"/>
                      <a:r>
                        <a:rPr sz="800" b="0">
                          <a:solidFill>
                            <a:srgbClr val="1A1A1A"/>
                          </a:solidFill>
                        </a:rPr>
                        <a:t>51,2</a:t>
                      </a:r>
                    </a:p>
                  </a:txBody>
                  <a:tcPr>
                    <a:noFill/>
                  </a:tcPr>
                </a:tc>
                <a:tc>
                  <a:txBody>
                    <a:bodyPr/>
                    <a:lstStyle/>
                    <a:p>
                      <a:pPr algn="ctr"/>
                      <a:r>
                        <a:rPr sz="800" b="0">
                          <a:solidFill>
                            <a:srgbClr val="1A1A1A"/>
                          </a:solidFill>
                        </a:rPr>
                        <a:t>Expansion modérée</a:t>
                      </a:r>
                    </a:p>
                  </a:txBody>
                  <a:tcPr>
                    <a:noFill/>
                  </a:tcPr>
                </a:tc>
              </a:tr>
              <a:tr h="311999">
                <a:tc>
                  <a:txBody>
                    <a:bodyPr/>
                    <a:lstStyle/>
                    <a:p>
                      <a:pPr algn="ctr"/>
                      <a:r>
                        <a:rPr sz="800" b="0">
                          <a:solidFill>
                            <a:srgbClr val="1A1A1A"/>
                          </a:solidFill>
                        </a:rPr>
                        <a:t>Courbe 10Y-2Y</a:t>
                      </a:r>
                    </a:p>
                  </a:txBody>
                  <a:tcPr>
                    <a:solidFill>
                      <a:srgbClr val="F5F7FA"/>
                    </a:solidFill>
                  </a:tcPr>
                </a:tc>
                <a:tc>
                  <a:txBody>
                    <a:bodyPr/>
                    <a:lstStyle/>
                    <a:p>
                      <a:pPr algn="ctr"/>
                      <a:r>
                        <a:rPr sz="800" b="0">
                          <a:solidFill>
                            <a:srgbClr val="1A1A1A"/>
                          </a:solidFill>
                        </a:rPr>
                        <a:t>-0,12 %</a:t>
                      </a:r>
                    </a:p>
                  </a:txBody>
                  <a:tcPr>
                    <a:solidFill>
                      <a:srgbClr val="F5F7FA"/>
                    </a:solidFill>
                  </a:tcPr>
                </a:tc>
                <a:tc>
                  <a:txBody>
                    <a:bodyPr/>
                    <a:lstStyle/>
                    <a:p>
                      <a:pPr algn="ctr"/>
                      <a:r>
                        <a:rPr sz="800" b="0">
                          <a:solidFill>
                            <a:srgbClr val="1A1A1A"/>
                          </a:solidFill>
                        </a:rPr>
                        <a:t>Légèrement inversée</a:t>
                      </a:r>
                    </a:p>
                  </a:txBody>
                  <a:tcPr>
                    <a:solidFill>
                      <a:srgbClr val="F5F7FA"/>
                    </a:solidFill>
                  </a:tcPr>
                </a:tc>
              </a:tr>
              <a:tr h="311999">
                <a:tc>
                  <a:txBody>
                    <a:bodyPr/>
                    <a:lstStyle/>
                    <a:p>
                      <a:pPr algn="ctr"/>
                      <a:r>
                        <a:rPr sz="800" b="0">
                          <a:solidFill>
                            <a:srgbClr val="1A1A1A"/>
                          </a:solidFill>
                        </a:rPr>
                        <a:t>ISM Manuf.</a:t>
                      </a:r>
                    </a:p>
                  </a:txBody>
                  <a:tcPr>
                    <a:noFill/>
                  </a:tcPr>
                </a:tc>
                <a:tc>
                  <a:txBody>
                    <a:bodyPr/>
                    <a:lstStyle/>
                    <a:p>
                      <a:pPr algn="ctr"/>
                      <a:r>
                        <a:rPr sz="800" b="0">
                          <a:solidFill>
                            <a:srgbClr val="1A1A1A"/>
                          </a:solidFill>
                        </a:rPr>
                        <a:t>49,8</a:t>
                      </a:r>
                    </a:p>
                  </a:txBody>
                  <a:tcPr>
                    <a:noFill/>
                  </a:tcPr>
                </a:tc>
                <a:tc>
                  <a:txBody>
                    <a:bodyPr/>
                    <a:lstStyle/>
                    <a:p>
                      <a:pPr algn="ctr"/>
                      <a:r>
                        <a:rPr sz="800" b="0">
                          <a:solidFill>
                            <a:srgbClr val="1A1A1A"/>
                          </a:solidFill>
                        </a:rPr>
                        <a:t>Sous expansion</a:t>
                      </a:r>
                    </a:p>
                  </a:txBody>
                  <a:tcPr>
                    <a:noFill/>
                  </a:tcPr>
                </a:tc>
              </a:tr>
              <a:tr h="311999">
                <a:tc>
                  <a:txBody>
                    <a:bodyPr/>
                    <a:lstStyle/>
                    <a:p>
                      <a:pPr algn="ctr"/>
                      <a:r>
                        <a:rPr sz="800" b="0">
                          <a:solidFill>
                            <a:srgbClr val="1A1A1A"/>
                          </a:solidFill>
                        </a:rPr>
                        <a:t>Chômage</a:t>
                      </a:r>
                    </a:p>
                  </a:txBody>
                  <a:tcPr>
                    <a:solidFill>
                      <a:srgbClr val="F5F7FA"/>
                    </a:solidFill>
                  </a:tcPr>
                </a:tc>
                <a:tc>
                  <a:txBody>
                    <a:bodyPr/>
                    <a:lstStyle/>
                    <a:p>
                      <a:pPr algn="ctr"/>
                      <a:r>
                        <a:rPr sz="800" b="0">
                          <a:solidFill>
                            <a:srgbClr val="1A1A1A"/>
                          </a:solidFill>
                        </a:rPr>
                        <a:t>3,9 %</a:t>
                      </a:r>
                    </a:p>
                  </a:txBody>
                  <a:tcPr>
                    <a:solidFill>
                      <a:srgbClr val="F5F7FA"/>
                    </a:solidFill>
                  </a:tcPr>
                </a:tc>
                <a:tc>
                  <a:txBody>
                    <a:bodyPr/>
                    <a:lstStyle/>
                    <a:p>
                      <a:pPr algn="ctr"/>
                      <a:r>
                        <a:rPr sz="800" b="0">
                          <a:solidFill>
                            <a:srgbClr val="1A1A1A"/>
                          </a:solidFill>
                        </a:rPr>
                        <a:t>Marché solide</a:t>
                      </a:r>
                    </a:p>
                  </a:txBody>
                  <a:tcPr>
                    <a:solidFill>
                      <a:srgbClr val="F5F7FA"/>
                    </a:solidFill>
                  </a:tcPr>
                </a:tc>
              </a:tr>
              <a:tr h="312004">
                <a:tc>
                  <a:txBody>
                    <a:bodyPr/>
                    <a:lstStyle/>
                    <a:p>
                      <a:pPr algn="ctr"/>
                      <a:r>
                        <a:rPr sz="800" b="0">
                          <a:solidFill>
                            <a:srgbClr val="1A1A1A"/>
                          </a:solidFill>
                        </a:rPr>
                        <a:t>CPI YoY</a:t>
                      </a:r>
                    </a:p>
                  </a:txBody>
                  <a:tcPr>
                    <a:noFill/>
                  </a:tcPr>
                </a:tc>
                <a:tc>
                  <a:txBody>
                    <a:bodyPr/>
                    <a:lstStyle/>
                    <a:p>
                      <a:pPr algn="ctr"/>
                      <a:r>
                        <a:rPr sz="800" b="0">
                          <a:solidFill>
                            <a:srgbClr val="1A1A1A"/>
                          </a:solidFill>
                        </a:rPr>
                        <a:t>3,1 %</a:t>
                      </a:r>
                    </a:p>
                  </a:txBody>
                  <a:tcPr>
                    <a:noFill/>
                  </a:tcPr>
                </a:tc>
                <a:tc>
                  <a:txBody>
                    <a:bodyPr/>
                    <a:lstStyle/>
                    <a:p>
                      <a:pPr algn="ctr"/>
                      <a:r>
                        <a:rPr sz="800" b="0">
                          <a:solidFill>
                            <a:srgbClr val="1A1A1A"/>
                          </a:solidFill>
                        </a:rPr>
                        <a:t>Au-dessus cible</a:t>
                      </a:r>
                    </a:p>
                  </a:txBody>
                  <a:tcPr>
                    <a:noFill/>
                  </a:tcPr>
                </a:tc>
              </a:tr>
            </a:tbl>
          </a:graphicData>
        </a:graphic>
      </p:graphicFrame>
      <p:sp>
        <p:nvSpPr>
          <p:cNvPr id="23" name="Rectangle 22"/>
          <p:cNvSpPr/>
          <p:nvPr/>
        </p:nvSpPr>
        <p:spPr>
          <a:xfrm>
            <a:off x="3420000" y="3348000"/>
            <a:ext cx="5400000" cy="104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20000" y="3348000"/>
            <a:ext cx="36000" cy="104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8000" y="3384000"/>
            <a:ext cx="5220000" cy="216000"/>
          </a:xfrm>
          <a:prstGeom prst="rect">
            <a:avLst/>
          </a:prstGeom>
          <a:noFill/>
        </p:spPr>
        <p:txBody>
          <a:bodyPr wrap="square">
            <a:spAutoFit/>
          </a:bodyPr>
          <a:lstStyle/>
          <a:p>
            <a:pPr algn="l"/>
            <a:r>
              <a:rPr sz="800" b="1" i="0">
                <a:solidFill>
                  <a:srgbClr val="1B3A6B"/>
                </a:solidFill>
              </a:rPr>
              <a:t>Allocation recommandée selon le positionnement de cycle</a:t>
            </a:r>
          </a:p>
        </p:txBody>
      </p:sp>
      <p:sp>
        <p:nvSpPr>
          <p:cNvPr id="26" name="TextBox 25"/>
          <p:cNvSpPr txBox="1"/>
          <p:nvPr/>
        </p:nvSpPr>
        <p:spPr>
          <a:xfrm>
            <a:off x="3528000" y="3600000"/>
            <a:ext cx="5220000" cy="720000"/>
          </a:xfrm>
          <a:prstGeom prst="rect">
            <a:avLst/>
          </a:prstGeom>
          <a:noFill/>
        </p:spPr>
        <p:txBody>
          <a:bodyPr wrap="square">
            <a:spAutoFit/>
          </a:bodyPr>
          <a:lstStyle/>
          <a:p>
            <a:pPr algn="l"/>
            <a:r>
              <a:rPr sz="750" b="0" i="0">
                <a:solidFill>
                  <a:srgbClr val="555555"/>
                </a:solidFill>
              </a:rPr>
              <a:t>L'analyse des indicateurs avancées positionne le cycle en phase d'expansion avancée : ISM Manufacturier autour du seuil 50 (49.8), courbe des taux partiellement normalisée (10Y-2Y +0.2%), Leading Indicators OCDE en légère hausse. Cette configuration favorise les secteurs avec forte visibilité BPA et moindre sensibilité aux taux : Technology, Health Care, Financials. Les secteurs défensifs (Consumer Staples,...</a:t>
            </a:r>
          </a:p>
        </p:txBody>
      </p:sp>
      <p:sp>
        <p:nvSpPr>
          <p:cNvPr id="27" name="Rectangle 2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Secteurs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10 secteurs GICS · Scores · Scatter valorisation ·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Secteurs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10 secteurs GICS  ·  50 sociétés  ·  Tri par score FinSight décroissant</a:t>
            </a:r>
          </a:p>
        </p:txBody>
      </p:sp>
      <p:graphicFrame>
        <p:nvGraphicFramePr>
          <p:cNvPr id="15" name="Table 14"/>
          <p:cNvGraphicFramePr>
            <a:graphicFrameLocks noGrp="1"/>
          </p:cNvGraphicFramePr>
          <p:nvPr/>
        </p:nvGraphicFramePr>
        <p:xfrm>
          <a:off x="324000" y="827999"/>
          <a:ext cx="8495998" cy="2700000"/>
        </p:xfrm>
        <a:graphic>
          <a:graphicData uri="http://schemas.openxmlformats.org/drawingml/2006/table">
            <a:tbl>
              <a:tblPr firstRow="1" bandRow="1">
                <a:tableStyleId>{5C22544A-7EE6-4342-B048-85BDC9FD1C3A}</a:tableStyleId>
              </a:tblPr>
              <a:tblGrid>
                <a:gridCol w="420594"/>
                <a:gridCol w="1892673"/>
                <a:gridCol w="630891"/>
                <a:gridCol w="1345900"/>
                <a:gridCol w="1051485"/>
                <a:gridCol w="1051485"/>
                <a:gridCol w="1051485"/>
                <a:gridCol w="1051485"/>
              </a:tblGrid>
              <a:tr h="245454">
                <a:tc>
                  <a:txBody>
                    <a:bodyPr/>
                    <a:lstStyle/>
                    <a:p>
                      <a:pPr algn="ctr"/>
                      <a:r>
                        <a:rPr sz="800" b="1">
                          <a:solidFill>
                            <a:srgbClr val="FFFFFF"/>
                          </a:solidFill>
                        </a:rPr>
                        <a:t>Rg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P/Book</a:t>
                      </a:r>
                    </a:p>
                  </a:txBody>
                  <a:tcPr>
                    <a:solidFill>
                      <a:srgbClr val="1B3A6B"/>
                    </a:solidFill>
                  </a:tcPr>
                </a:tc>
                <a:tc>
                  <a:txBody>
                    <a:bodyPr/>
                    <a:lstStyle/>
                    <a:p>
                      <a:pPr algn="ctr"/>
                      <a:r>
                        <a:rPr sz="800" b="1">
                          <a:solidFill>
                            <a:srgbClr val="FFFFFF"/>
                          </a:solidFill>
                        </a:rPr>
                        <a:t>Div.Yield</a:t>
                      </a:r>
                    </a:p>
                  </a:txBody>
                  <a:tcPr>
                    <a:solidFill>
                      <a:srgbClr val="1B3A6B"/>
                    </a:solidFill>
                  </a:tcPr>
                </a:tc>
              </a:tr>
              <a:tr h="245454">
                <a:tc>
                  <a:txBody>
                    <a:bodyPr/>
                    <a:lstStyle/>
                    <a:p>
                      <a:pPr algn="ctr"/>
                      <a:r>
                        <a:rPr sz="800" b="0">
                          <a:solidFill>
                            <a:srgbClr val="1A1A1A"/>
                          </a:solidFill>
                        </a:rPr>
                        <a:t>1</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85</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18.1%</a:t>
                      </a:r>
                    </a:p>
                  </a:txBody>
                  <a:tcPr>
                    <a:noFill/>
                  </a:tcPr>
                </a:tc>
                <a:tc>
                  <a:txBody>
                    <a:bodyPr/>
                    <a:lstStyle/>
                    <a:p>
                      <a:pPr algn="ctr"/>
                      <a:r>
                        <a:rPr sz="800" b="0">
                          <a:solidFill>
                            <a:srgbClr val="1A1A1A"/>
                          </a:solidFill>
                        </a:rPr>
                        <a:t>-14.7%</a:t>
                      </a:r>
                    </a:p>
                  </a:txBody>
                  <a:tcPr>
                    <a:noFill/>
                  </a:tcPr>
                </a:tc>
                <a:tc>
                  <a:txBody>
                    <a:bodyPr/>
                    <a:lstStyle/>
                    <a:p>
                      <a:pPr algn="ctr"/>
                      <a:r>
                        <a:rPr sz="800" b="0">
                          <a:solidFill>
                            <a:srgbClr val="1A1A1A"/>
                          </a:solidFill>
                        </a:rPr>
                        <a:t>1.8x</a:t>
                      </a:r>
                    </a:p>
                  </a:txBody>
                  <a:tcPr>
                    <a:noFill/>
                  </a:tcPr>
                </a:tc>
                <a:tc>
                  <a:txBody>
                    <a:bodyPr/>
                    <a:lstStyle/>
                    <a:p>
                      <a:pPr algn="ctr"/>
                      <a:r>
                        <a:rPr sz="800" b="0">
                          <a:solidFill>
                            <a:srgbClr val="1A1A1A"/>
                          </a:solidFill>
                        </a:rPr>
                        <a:t>3.5%</a:t>
                      </a:r>
                    </a:p>
                  </a:txBody>
                  <a:tcPr>
                    <a:noFill/>
                  </a:tcPr>
                </a:tc>
              </a:tr>
              <a:tr h="245454">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Energy</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16.6%</a:t>
                      </a:r>
                    </a:p>
                  </a:txBody>
                  <a:tcPr>
                    <a:solidFill>
                      <a:srgbClr val="F5F7FA"/>
                    </a:solidFill>
                  </a:tcPr>
                </a:tc>
                <a:tc>
                  <a:txBody>
                    <a:bodyPr/>
                    <a:lstStyle/>
                    <a:p>
                      <a:pPr algn="ctr"/>
                      <a:r>
                        <a:rPr sz="800" b="0">
                          <a:solidFill>
                            <a:srgbClr val="1A1A1A"/>
                          </a:solidFill>
                        </a:rPr>
                        <a:t>-3.6%</a:t>
                      </a:r>
                    </a:p>
                  </a:txBody>
                  <a:tcPr>
                    <a:solidFill>
                      <a:srgbClr val="F5F7FA"/>
                    </a:solidFill>
                  </a:tcPr>
                </a:tc>
                <a:tc>
                  <a:txBody>
                    <a:bodyPr/>
                    <a:lstStyle/>
                    <a:p>
                      <a:pPr algn="ctr"/>
                      <a:r>
                        <a:rPr sz="800" b="0">
                          <a:solidFill>
                            <a:srgbClr val="1A1A1A"/>
                          </a:solidFill>
                        </a:rPr>
                        <a:t>2.3x</a:t>
                      </a:r>
                    </a:p>
                  </a:txBody>
                  <a:tcPr>
                    <a:solidFill>
                      <a:srgbClr val="F5F7FA"/>
                    </a:solidFill>
                  </a:tcPr>
                </a:tc>
                <a:tc>
                  <a:txBody>
                    <a:bodyPr/>
                    <a:lstStyle/>
                    <a:p>
                      <a:pPr algn="ctr"/>
                      <a:r>
                        <a:rPr sz="800" b="0">
                          <a:solidFill>
                            <a:srgbClr val="1A1A1A"/>
                          </a:solidFill>
                        </a:rPr>
                        <a:t>4.0%</a:t>
                      </a:r>
                    </a:p>
                  </a:txBody>
                  <a:tcPr>
                    <a:solidFill>
                      <a:srgbClr val="F5F7FA"/>
                    </a:solidFill>
                  </a:tcPr>
                </a:tc>
              </a:tr>
              <a:tr h="245454">
                <a:tc>
                  <a:txBody>
                    <a:bodyPr/>
                    <a:lstStyle/>
                    <a:p>
                      <a:pPr algn="ctr"/>
                      <a:r>
                        <a:rPr sz="800" b="0">
                          <a:solidFill>
                            <a:srgbClr val="1A1A1A"/>
                          </a:solidFill>
                        </a:rPr>
                        <a:t>3</a:t>
                      </a:r>
                    </a:p>
                  </a:txBody>
                  <a:tcPr>
                    <a:noFill/>
                  </a:tcPr>
                </a:tc>
                <a:tc>
                  <a:txBody>
                    <a:bodyPr/>
                    <a:lstStyle/>
                    <a:p>
                      <a:pPr algn="ctr"/>
                      <a:r>
                        <a:rPr sz="800" b="0">
                          <a:solidFill>
                            <a:srgbClr val="1A1A1A"/>
                          </a:solidFill>
                        </a:rPr>
                        <a:t>Materials</a:t>
                      </a:r>
                    </a:p>
                  </a:txBody>
                  <a:tcPr>
                    <a:noFill/>
                  </a:tcPr>
                </a:tc>
                <a:tc>
                  <a:txBody>
                    <a:bodyPr/>
                    <a:lstStyle/>
                    <a:p>
                      <a:pPr algn="ctr"/>
                      <a:r>
                        <a:rPr sz="800" b="0">
                          <a:solidFill>
                            <a:srgbClr val="1A1A1A"/>
                          </a:solidFill>
                        </a:rPr>
                        <a:t>75</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24.4%</a:t>
                      </a:r>
                    </a:p>
                  </a:txBody>
                  <a:tcPr>
                    <a:noFill/>
                  </a:tcPr>
                </a:tc>
                <a:tc>
                  <a:txBody>
                    <a:bodyPr/>
                    <a:lstStyle/>
                    <a:p>
                      <a:pPr algn="ctr"/>
                      <a:r>
                        <a:rPr sz="800" b="0">
                          <a:solidFill>
                            <a:srgbClr val="1A1A1A"/>
                          </a:solidFill>
                        </a:rPr>
                        <a:t>+1.9%</a:t>
                      </a:r>
                    </a:p>
                  </a:txBody>
                  <a:tcPr>
                    <a:noFill/>
                  </a:tcPr>
                </a:tc>
                <a:tc>
                  <a:txBody>
                    <a:bodyPr/>
                    <a:lstStyle/>
                    <a:p>
                      <a:pPr algn="ctr"/>
                      <a:r>
                        <a:rPr sz="800" b="0">
                          <a:solidFill>
                            <a:srgbClr val="1A1A1A"/>
                          </a:solidFill>
                        </a:rPr>
                        <a:t>3.8x</a:t>
                      </a:r>
                    </a:p>
                  </a:txBody>
                  <a:tcPr>
                    <a:noFill/>
                  </a:tcPr>
                </a:tc>
                <a:tc>
                  <a:txBody>
                    <a:bodyPr/>
                    <a:lstStyle/>
                    <a:p>
                      <a:pPr algn="ctr"/>
                      <a:r>
                        <a:rPr sz="800" b="0">
                          <a:solidFill>
                            <a:srgbClr val="1A1A1A"/>
                          </a:solidFill>
                        </a:rPr>
                        <a:t>2.2%</a:t>
                      </a:r>
                    </a:p>
                  </a:txBody>
                  <a:tcPr>
                    <a:noFill/>
                  </a:tcPr>
                </a:tc>
              </a:tr>
              <a:tr h="245454">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Financials</a:t>
                      </a:r>
                    </a:p>
                  </a:txBody>
                  <a:tcPr>
                    <a:solidFill>
                      <a:srgbClr val="F5F7FA"/>
                    </a:solidFill>
                  </a:tcPr>
                </a:tc>
                <a:tc>
                  <a:txBody>
                    <a:bodyPr/>
                    <a:lstStyle/>
                    <a:p>
                      <a:pPr algn="ctr"/>
                      <a:r>
                        <a:rPr sz="800" b="0">
                          <a:solidFill>
                            <a:srgbClr val="1A1A1A"/>
                          </a:solidFill>
                        </a:rPr>
                        <a:t>74</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4.3%</a:t>
                      </a:r>
                    </a:p>
                  </a:txBody>
                  <a:tcPr>
                    <a:solidFill>
                      <a:srgbClr val="F5F7FA"/>
                    </a:solidFill>
                  </a:tcPr>
                </a:tc>
                <a:tc>
                  <a:txBody>
                    <a:bodyPr/>
                    <a:lstStyle/>
                    <a:p>
                      <a:pPr algn="ctr"/>
                      <a:r>
                        <a:rPr sz="800" b="0">
                          <a:solidFill>
                            <a:srgbClr val="1A1A1A"/>
                          </a:solidFill>
                        </a:rPr>
                        <a:t>+9.0%</a:t>
                      </a:r>
                    </a:p>
                  </a:txBody>
                  <a:tcPr>
                    <a:solidFill>
                      <a:srgbClr val="F5F7FA"/>
                    </a:solidFill>
                  </a:tcPr>
                </a:tc>
                <a:tc>
                  <a:txBody>
                    <a:bodyPr/>
                    <a:lstStyle/>
                    <a:p>
                      <a:pPr algn="ctr"/>
                      <a:r>
                        <a:rPr sz="800" b="0">
                          <a:solidFill>
                            <a:srgbClr val="1A1A1A"/>
                          </a:solidFill>
                        </a:rPr>
                        <a:t>1.5x</a:t>
                      </a:r>
                    </a:p>
                  </a:txBody>
                  <a:tcPr>
                    <a:solidFill>
                      <a:srgbClr val="F5F7FA"/>
                    </a:solidFill>
                  </a:tcPr>
                </a:tc>
                <a:tc>
                  <a:txBody>
                    <a:bodyPr/>
                    <a:lstStyle/>
                    <a:p>
                      <a:pPr algn="ctr"/>
                      <a:r>
                        <a:rPr sz="800" b="0">
                          <a:solidFill>
                            <a:srgbClr val="1A1A1A"/>
                          </a:solidFill>
                        </a:rPr>
                        <a:t>2.5%</a:t>
                      </a:r>
                    </a:p>
                  </a:txBody>
                  <a:tcPr>
                    <a:solidFill>
                      <a:srgbClr val="F5F7FA"/>
                    </a:solidFill>
                  </a:tcPr>
                </a:tc>
              </a:tr>
              <a:tr h="245454">
                <a:tc>
                  <a:txBody>
                    <a:bodyPr/>
                    <a:lstStyle/>
                    <a:p>
                      <a:pPr algn="ctr"/>
                      <a:r>
                        <a:rPr sz="800" b="0">
                          <a:solidFill>
                            <a:srgbClr val="1A1A1A"/>
                          </a:solidFill>
                        </a:rPr>
                        <a:t>5</a:t>
                      </a:r>
                    </a:p>
                  </a:txBody>
                  <a:tcPr>
                    <a:noFill/>
                  </a:tcPr>
                </a:tc>
                <a:tc>
                  <a:txBody>
                    <a:bodyPr/>
                    <a:lstStyle/>
                    <a:p>
                      <a:pPr algn="ctr"/>
                      <a:r>
                        <a:rPr sz="800" b="0">
                          <a:solidFill>
                            <a:srgbClr val="1A1A1A"/>
                          </a:solidFill>
                        </a:rPr>
                        <a:t>Industrials</a:t>
                      </a:r>
                    </a:p>
                  </a:txBody>
                  <a:tcPr>
                    <a:noFill/>
                  </a:tcPr>
                </a:tc>
                <a:tc>
                  <a:txBody>
                    <a:bodyPr/>
                    <a:lstStyle/>
                    <a:p>
                      <a:pPr algn="ctr"/>
                      <a:r>
                        <a:rPr sz="800" b="0">
                          <a:solidFill>
                            <a:srgbClr val="1A1A1A"/>
                          </a:solidFill>
                        </a:rPr>
                        <a:t>73</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15.5%</a:t>
                      </a:r>
                    </a:p>
                  </a:txBody>
                  <a:tcPr>
                    <a:noFill/>
                  </a:tcPr>
                </a:tc>
                <a:tc>
                  <a:txBody>
                    <a:bodyPr/>
                    <a:lstStyle/>
                    <a:p>
                      <a:pPr algn="ctr"/>
                      <a:r>
                        <a:rPr sz="800" b="0">
                          <a:solidFill>
                            <a:srgbClr val="1A1A1A"/>
                          </a:solidFill>
                        </a:rPr>
                        <a:t>+4.7%</a:t>
                      </a:r>
                    </a:p>
                  </a:txBody>
                  <a:tcPr>
                    <a:noFill/>
                  </a:tcPr>
                </a:tc>
                <a:tc>
                  <a:txBody>
                    <a:bodyPr/>
                    <a:lstStyle/>
                    <a:p>
                      <a:pPr algn="ctr"/>
                      <a:r>
                        <a:rPr sz="800" b="0">
                          <a:solidFill>
                            <a:srgbClr val="1A1A1A"/>
                          </a:solidFill>
                        </a:rPr>
                        <a:t>4.9x</a:t>
                      </a:r>
                    </a:p>
                  </a:txBody>
                  <a:tcPr>
                    <a:noFill/>
                  </a:tcPr>
                </a:tc>
                <a:tc>
                  <a:txBody>
                    <a:bodyPr/>
                    <a:lstStyle/>
                    <a:p>
                      <a:pPr algn="ctr"/>
                      <a:r>
                        <a:rPr sz="800" b="0">
                          <a:solidFill>
                            <a:srgbClr val="1A1A1A"/>
                          </a:solidFill>
                        </a:rPr>
                        <a:t>1.8%</a:t>
                      </a:r>
                    </a:p>
                  </a:txBody>
                  <a:tcPr>
                    <a:noFill/>
                  </a:tcPr>
                </a:tc>
              </a:tr>
              <a:tr h="245454">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70</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26.9%</a:t>
                      </a:r>
                    </a:p>
                  </a:txBody>
                  <a:tcPr>
                    <a:solidFill>
                      <a:srgbClr val="F5F7FA"/>
                    </a:solidFill>
                  </a:tcPr>
                </a:tc>
                <a:tc>
                  <a:txBody>
                    <a:bodyPr/>
                    <a:lstStyle/>
                    <a:p>
                      <a:pPr algn="ctr"/>
                      <a:r>
                        <a:rPr sz="800" b="0">
                          <a:solidFill>
                            <a:srgbClr val="1A1A1A"/>
                          </a:solidFill>
                        </a:rPr>
                        <a:t>+4.4%</a:t>
                      </a:r>
                    </a:p>
                  </a:txBody>
                  <a:tcPr>
                    <a:solidFill>
                      <a:srgbClr val="F5F7FA"/>
                    </a:solidFill>
                  </a:tcPr>
                </a:tc>
                <a:tc>
                  <a:txBody>
                    <a:bodyPr/>
                    <a:lstStyle/>
                    <a:p>
                      <a:pPr algn="ctr"/>
                      <a:r>
                        <a:rPr sz="800" b="0">
                          <a:solidFill>
                            <a:srgbClr val="1A1A1A"/>
                          </a:solidFill>
                        </a:rPr>
                        <a:t>8.5x</a:t>
                      </a:r>
                    </a:p>
                  </a:txBody>
                  <a:tcPr>
                    <a:solidFill>
                      <a:srgbClr val="F5F7FA"/>
                    </a:solidFill>
                  </a:tcPr>
                </a:tc>
                <a:tc>
                  <a:txBody>
                    <a:bodyPr/>
                    <a:lstStyle/>
                    <a:p>
                      <a:pPr algn="ctr"/>
                      <a:r>
                        <a:rPr sz="800" b="0">
                          <a:solidFill>
                            <a:srgbClr val="1A1A1A"/>
                          </a:solidFill>
                        </a:rPr>
                        <a:t>0.7%</a:t>
                      </a:r>
                    </a:p>
                  </a:txBody>
                  <a:tcPr>
                    <a:solidFill>
                      <a:srgbClr val="F5F7FA"/>
                    </a:solidFill>
                  </a:tcPr>
                </a:tc>
              </a:tr>
              <a:tr h="245454">
                <a:tc>
                  <a:txBody>
                    <a:bodyPr/>
                    <a:lstStyle/>
                    <a:p>
                      <a:pPr algn="ctr"/>
                      <a:r>
                        <a:rPr sz="800" b="0">
                          <a:solidFill>
                            <a:srgbClr val="1A1A1A"/>
                          </a:solidFill>
                        </a:rPr>
                        <a:t>7</a:t>
                      </a:r>
                    </a:p>
                  </a:txBody>
                  <a:tcPr>
                    <a:noFill/>
                  </a:tcPr>
                </a:tc>
                <a:tc>
                  <a:txBody>
                    <a:bodyPr/>
                    <a:lstStyle/>
                    <a:p>
                      <a:pPr algn="ctr"/>
                      <a:r>
                        <a:rPr sz="800" b="0">
                          <a:solidFill>
                            <a:srgbClr val="1A1A1A"/>
                          </a:solidFill>
                        </a:rPr>
                        <a:t>Health Care</a:t>
                      </a:r>
                    </a:p>
                  </a:txBody>
                  <a:tcPr>
                    <a:noFill/>
                  </a:tcPr>
                </a:tc>
                <a:tc>
                  <a:txBody>
                    <a:bodyPr/>
                    <a:lstStyle/>
                    <a:p>
                      <a:pPr algn="ctr"/>
                      <a:r>
                        <a:rPr sz="800" b="0">
                          <a:solidFill>
                            <a:srgbClr val="1A1A1A"/>
                          </a:solidFill>
                        </a:rPr>
                        <a:t>64</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24.1%</a:t>
                      </a:r>
                    </a:p>
                  </a:txBody>
                  <a:tcPr>
                    <a:noFill/>
                  </a:tcPr>
                </a:tc>
                <a:tc>
                  <a:txBody>
                    <a:bodyPr/>
                    <a:lstStyle/>
                    <a:p>
                      <a:pPr algn="ctr"/>
                      <a:r>
                        <a:rPr sz="800" b="0">
                          <a:solidFill>
                            <a:srgbClr val="1A1A1A"/>
                          </a:solidFill>
                        </a:rPr>
                        <a:t>+4.2%</a:t>
                      </a:r>
                    </a:p>
                  </a:txBody>
                  <a:tcPr>
                    <a:noFill/>
                  </a:tcPr>
                </a:tc>
                <a:tc>
                  <a:txBody>
                    <a:bodyPr/>
                    <a:lstStyle/>
                    <a:p>
                      <a:pPr algn="ctr"/>
                      <a:r>
                        <a:rPr sz="800" b="0">
                          <a:solidFill>
                            <a:srgbClr val="1A1A1A"/>
                          </a:solidFill>
                        </a:rPr>
                        <a:t>4.2x</a:t>
                      </a:r>
                    </a:p>
                  </a:txBody>
                  <a:tcPr>
                    <a:noFill/>
                  </a:tcPr>
                </a:tc>
                <a:tc>
                  <a:txBody>
                    <a:bodyPr/>
                    <a:lstStyle/>
                    <a:p>
                      <a:pPr algn="ctr"/>
                      <a:r>
                        <a:rPr sz="800" b="0">
                          <a:solidFill>
                            <a:srgbClr val="1A1A1A"/>
                          </a:solidFill>
                        </a:rPr>
                        <a:t>1.6%</a:t>
                      </a:r>
                    </a:p>
                  </a:txBody>
                  <a:tcPr>
                    <a:noFill/>
                  </a:tcPr>
                </a:tc>
              </a:tr>
              <a:tr h="245454">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Cons. Staples</a:t>
                      </a:r>
                    </a:p>
                  </a:txBody>
                  <a:tcPr>
                    <a:solidFill>
                      <a:srgbClr val="F5F7FA"/>
                    </a:solidFill>
                  </a:tcPr>
                </a:tc>
                <a:tc>
                  <a:txBody>
                    <a:bodyPr/>
                    <a:lstStyle/>
                    <a:p>
                      <a:pPr algn="ctr"/>
                      <a:r>
                        <a:rPr sz="800" b="0">
                          <a:solidFill>
                            <a:srgbClr val="1A1A1A"/>
                          </a:solidFill>
                        </a:rPr>
                        <a:t>58</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20.6%</a:t>
                      </a:r>
                    </a:p>
                  </a:txBody>
                  <a:tcPr>
                    <a:solidFill>
                      <a:srgbClr val="F5F7FA"/>
                    </a:solidFill>
                  </a:tcPr>
                </a:tc>
                <a:tc>
                  <a:txBody>
                    <a:bodyPr/>
                    <a:lstStyle/>
                    <a:p>
                      <a:pPr algn="ctr"/>
                      <a:r>
                        <a:rPr sz="800" b="0">
                          <a:solidFill>
                            <a:srgbClr val="1A1A1A"/>
                          </a:solidFill>
                        </a:rPr>
                        <a:t>+1.7%</a:t>
                      </a:r>
                    </a:p>
                  </a:txBody>
                  <a:tcPr>
                    <a:solidFill>
                      <a:srgbClr val="F5F7FA"/>
                    </a:solidFill>
                  </a:tcPr>
                </a:tc>
                <a:tc>
                  <a:txBody>
                    <a:bodyPr/>
                    <a:lstStyle/>
                    <a:p>
                      <a:pPr algn="ctr"/>
                      <a:r>
                        <a:rPr sz="800" b="0">
                          <a:solidFill>
                            <a:srgbClr val="1A1A1A"/>
                          </a:solidFill>
                        </a:rPr>
                        <a:t>5.2x</a:t>
                      </a:r>
                    </a:p>
                  </a:txBody>
                  <a:tcPr>
                    <a:solidFill>
                      <a:srgbClr val="F5F7FA"/>
                    </a:solidFill>
                  </a:tcPr>
                </a:tc>
                <a:tc>
                  <a:txBody>
                    <a:bodyPr/>
                    <a:lstStyle/>
                    <a:p>
                      <a:pPr algn="ctr"/>
                      <a:r>
                        <a:rPr sz="800" b="0">
                          <a:solidFill>
                            <a:srgbClr val="1A1A1A"/>
                          </a:solidFill>
                        </a:rPr>
                        <a:t>3.0%</a:t>
                      </a:r>
                    </a:p>
                  </a:txBody>
                  <a:tcPr>
                    <a:solidFill>
                      <a:srgbClr val="F5F7FA"/>
                    </a:solidFill>
                  </a:tcPr>
                </a:tc>
              </a:tr>
              <a:tr h="245454">
                <a:tc>
                  <a:txBody>
                    <a:bodyPr/>
                    <a:lstStyle/>
                    <a:p>
                      <a:pPr algn="ctr"/>
                      <a:r>
                        <a:rPr sz="800" b="0">
                          <a:solidFill>
                            <a:srgbClr val="1A1A1A"/>
                          </a:solidFill>
                        </a:rPr>
                        <a:t>9</a:t>
                      </a:r>
                    </a:p>
                  </a:txBody>
                  <a:tcPr>
                    <a:noFill/>
                  </a:tcPr>
                </a:tc>
                <a:tc>
                  <a:txBody>
                    <a:bodyPr/>
                    <a:lstStyle/>
                    <a:p>
                      <a:pPr algn="ctr"/>
                      <a:r>
                        <a:rPr sz="800" b="0">
                          <a:solidFill>
                            <a:srgbClr val="1A1A1A"/>
                          </a:solidFill>
                        </a:rPr>
                        <a:t>Cons. Discret.</a:t>
                      </a:r>
                    </a:p>
                  </a:txBody>
                  <a:tcPr>
                    <a:noFill/>
                  </a:tcPr>
                </a:tc>
                <a:tc>
                  <a:txBody>
                    <a:bodyPr/>
                    <a:lstStyle/>
                    <a:p>
                      <a:pPr algn="ctr"/>
                      <a:r>
                        <a:rPr sz="800" b="0">
                          <a:solidFill>
                            <a:srgbClr val="1A1A1A"/>
                          </a:solidFill>
                        </a:rPr>
                        <a:t>52</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15.3%</a:t>
                      </a:r>
                    </a:p>
                  </a:txBody>
                  <a:tcPr>
                    <a:noFill/>
                  </a:tcPr>
                </a:tc>
                <a:tc>
                  <a:txBody>
                    <a:bodyPr/>
                    <a:lstStyle/>
                    <a:p>
                      <a:pPr algn="ctr"/>
                      <a:r>
                        <a:rPr sz="800" b="0">
                          <a:solidFill>
                            <a:srgbClr val="1A1A1A"/>
                          </a:solidFill>
                        </a:rPr>
                        <a:t>+1.3%</a:t>
                      </a:r>
                    </a:p>
                  </a:txBody>
                  <a:tcPr>
                    <a:noFill/>
                  </a:tcPr>
                </a:tc>
                <a:tc>
                  <a:txBody>
                    <a:bodyPr/>
                    <a:lstStyle/>
                    <a:p>
                      <a:pPr algn="ctr"/>
                      <a:r>
                        <a:rPr sz="800" b="0">
                          <a:solidFill>
                            <a:srgbClr val="1A1A1A"/>
                          </a:solidFill>
                        </a:rPr>
                        <a:t>5.8x</a:t>
                      </a:r>
                    </a:p>
                  </a:txBody>
                  <a:tcPr>
                    <a:noFill/>
                  </a:tcPr>
                </a:tc>
                <a:tc>
                  <a:txBody>
                    <a:bodyPr/>
                    <a:lstStyle/>
                    <a:p>
                      <a:pPr algn="ctr"/>
                      <a:r>
                        <a:rPr sz="800" b="0">
                          <a:solidFill>
                            <a:srgbClr val="1A1A1A"/>
                          </a:solidFill>
                        </a:rPr>
                        <a:t>0.9%</a:t>
                      </a:r>
                    </a:p>
                  </a:txBody>
                  <a:tcPr>
                    <a:noFill/>
                  </a:tcPr>
                </a:tc>
              </a:tr>
              <a:tr h="24546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44</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27.1%</a:t>
                      </a:r>
                    </a:p>
                  </a:txBody>
                  <a:tcPr>
                    <a:solidFill>
                      <a:srgbClr val="F5F7FA"/>
                    </a:solidFill>
                  </a:tcPr>
                </a:tc>
                <a:tc>
                  <a:txBody>
                    <a:bodyPr/>
                    <a:lstStyle/>
                    <a:p>
                      <a:pPr algn="ctr"/>
                      <a:r>
                        <a:rPr sz="800" b="0">
                          <a:solidFill>
                            <a:srgbClr val="1A1A1A"/>
                          </a:solidFill>
                        </a:rPr>
                        <a:t>-12.1%</a:t>
                      </a:r>
                    </a:p>
                  </a:txBody>
                  <a:tcPr>
                    <a:solidFill>
                      <a:srgbClr val="F5F7FA"/>
                    </a:solidFill>
                  </a:tcPr>
                </a:tc>
                <a:tc>
                  <a:txBody>
                    <a:bodyPr/>
                    <a:lstStyle/>
                    <a:p>
                      <a:pPr algn="ctr"/>
                      <a:r>
                        <a:rPr sz="800" b="0">
                          <a:solidFill>
                            <a:srgbClr val="1A1A1A"/>
                          </a:solidFill>
                        </a:rPr>
                        <a:t>3.6x</a:t>
                      </a:r>
                    </a:p>
                  </a:txBody>
                  <a:tcPr>
                    <a:solidFill>
                      <a:srgbClr val="F5F7FA"/>
                    </a:solidFill>
                  </a:tcPr>
                </a:tc>
                <a:tc>
                  <a:txBody>
                    <a:bodyPr/>
                    <a:lstStyle/>
                    <a:p>
                      <a:pPr algn="ctr"/>
                      <a:r>
                        <a:rPr sz="800" b="0">
                          <a:solidFill>
                            <a:srgbClr val="1A1A1A"/>
                          </a:solidFill>
                        </a:rPr>
                        <a:t>1.1%</a:t>
                      </a:r>
                    </a:p>
                  </a:txBody>
                  <a:tcPr>
                    <a:solidFill>
                      <a:srgbClr val="F5F7FA"/>
                    </a:solidFill>
                  </a:tcPr>
                </a:tc>
              </a:tr>
            </a:tbl>
          </a:graphicData>
        </a:graphic>
      </p:graphicFrame>
      <p:sp>
        <p:nvSpPr>
          <p:cNvPr id="16" name="Rectangle 15"/>
          <p:cNvSpPr/>
          <p:nvPr/>
        </p:nvSpPr>
        <p:spPr>
          <a:xfrm>
            <a:off x="324000" y="3690000"/>
            <a:ext cx="8496000" cy="111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690000"/>
            <a:ext cx="43200" cy="111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44000"/>
            <a:ext cx="8208000" cy="216000"/>
          </a:xfrm>
          <a:prstGeom prst="rect">
            <a:avLst/>
          </a:prstGeom>
          <a:noFill/>
        </p:spPr>
        <p:txBody>
          <a:bodyPr wrap="square">
            <a:spAutoFit/>
          </a:bodyPr>
          <a:lstStyle/>
          <a:p>
            <a:pPr algn="l"/>
            <a:r>
              <a:rPr sz="800" b="1" i="0">
                <a:solidFill>
                  <a:srgbClr val="1B3A6B"/>
                </a:solidFill>
              </a:rPr>
              <a:t>Lecture analytique — Ce que la cartographie révèle</a:t>
            </a:r>
          </a:p>
        </p:txBody>
      </p:sp>
      <p:sp>
        <p:nvSpPr>
          <p:cNvPr id="19" name="TextBox 18"/>
          <p:cNvSpPr txBox="1"/>
          <p:nvPr/>
        </p:nvSpPr>
        <p:spPr>
          <a:xfrm>
            <a:off x="432000" y="3978000"/>
            <a:ext cx="8208000" cy="791999"/>
          </a:xfrm>
          <a:prstGeom prst="rect">
            <a:avLst/>
          </a:prstGeom>
          <a:noFill/>
        </p:spPr>
        <p:txBody>
          <a:bodyPr wrap="square">
            <a:spAutoFit/>
          </a:bodyPr>
          <a:lstStyle/>
          <a:p>
            <a:pPr algn="l"/>
            <a:r>
              <a:rPr sz="750" b="0" i="0">
                <a:solidFill>
                  <a:srgbClr val="555555"/>
                </a:solidFill>
              </a:rPr>
              <a:t>7 secteur(s) sur 10 franchissent le seuil Surpondérer (score &gt; 65) : Utilities · Energy · Materials · Financials · Industrials · Technology · Health Care. 0 secteur(s) en Sous-pondérer : aucun. 3 secteur(s) en position Neutre. L'écart entre le secteur leader (Utilities, score 85/100) et le secteur le plus faible (Communication Services, score 44/100) est de 41 points — une dispersion élevée qui témoigne d'une bifurcation sectorielle marquée.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 BPA (EV/EBITDA vs Croissance BPA)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vs Croissance BPA  ·  4 quadrants  ·  Un point par secteur GICS</a:t>
            </a:r>
          </a:p>
        </p:txBody>
      </p:sp>
      <p:pic>
        <p:nvPicPr>
          <p:cNvPr id="15" name="Picture 14" descr="image.png"/>
          <p:cNvPicPr>
            <a:picLocks noChangeAspect="1"/>
          </p:cNvPicPr>
          <p:nvPr/>
        </p:nvPicPr>
        <p:blipFill>
          <a:blip r:embed="rId2"/>
          <a:stretch>
            <a:fillRect/>
          </a:stretch>
        </p:blipFill>
        <p:spPr>
          <a:xfrm>
            <a:off x="324000" y="827999"/>
            <a:ext cx="5112000" cy="3096000"/>
          </a:xfrm>
          <a:prstGeom prst="rect">
            <a:avLst/>
          </a:prstGeom>
        </p:spPr>
      </p:pic>
      <p:sp>
        <p:nvSpPr>
          <p:cNvPr id="16" name="Rectangle 15"/>
          <p:cNvSpPr/>
          <p:nvPr/>
        </p:nvSpPr>
        <p:spPr>
          <a:xfrm>
            <a:off x="5616000" y="827999"/>
            <a:ext cx="3204000" cy="30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16000" y="827999"/>
            <a:ext cx="43200" cy="309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24000" y="864000"/>
            <a:ext cx="3024000" cy="216000"/>
          </a:xfrm>
          <a:prstGeom prst="rect">
            <a:avLst/>
          </a:prstGeom>
          <a:noFill/>
        </p:spPr>
        <p:txBody>
          <a:bodyPr wrap="square">
            <a:spAutoFit/>
          </a:bodyPr>
          <a:lstStyle/>
          <a:p>
            <a:pPr algn="l"/>
            <a:r>
              <a:rPr sz="850" b="1" i="0">
                <a:solidFill>
                  <a:srgbClr val="1B3A6B"/>
                </a:solidFill>
              </a:rPr>
              <a:t>Lecture du Scatter</a:t>
            </a:r>
          </a:p>
        </p:txBody>
      </p:sp>
      <p:sp>
        <p:nvSpPr>
          <p:cNvPr id="19" name="TextBox 18"/>
          <p:cNvSpPr txBox="1"/>
          <p:nvPr/>
        </p:nvSpPr>
        <p:spPr>
          <a:xfrm>
            <a:off x="5724000" y="1116000"/>
            <a:ext cx="3024000" cy="2772000"/>
          </a:xfrm>
          <a:prstGeom prst="rect">
            <a:avLst/>
          </a:prstGeom>
          <a:noFill/>
        </p:spPr>
        <p:txBody>
          <a:bodyPr wrap="square">
            <a:spAutoFit/>
          </a:bodyPr>
          <a:lstStyle/>
          <a:p>
            <a:pPr algn="l"/>
            <a:r>
              <a:rPr sz="800" b="0" i="0">
                <a:solidFill>
                  <a:srgbClr val="555555"/>
                </a:solidFill>
              </a:rPr>
              <a:t>Utilities  ·  Energy en zone Opportunite (EV/EBITDA attractif) — forte conviction score Surponderer.
Utilities  ·  Energy : valorisation attractive — croissance correcte, meilleur ratio risque/rendement.
Les pointilles representent les medianes sectorielles (EV/EBITDA et BPA growth). Favoriser les secteurs en bas droite (forte croissance, valorisation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des Scores FinSight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10 secteurs GICS  ·  Score 0-100  ·  Momentum 40 % · Révisions BPA 30 % · Valorisation 30 %</a:t>
            </a:r>
          </a:p>
        </p:txBody>
      </p:sp>
      <p:graphicFrame>
        <p:nvGraphicFramePr>
          <p:cNvPr id="15" name="Table 14"/>
          <p:cNvGraphicFramePr>
            <a:graphicFrameLocks noGrp="1"/>
          </p:cNvGraphicFramePr>
          <p:nvPr/>
        </p:nvGraphicFramePr>
        <p:xfrm>
          <a:off x="324000" y="827999"/>
          <a:ext cx="8495999" cy="2520000"/>
        </p:xfrm>
        <a:graphic>
          <a:graphicData uri="http://schemas.openxmlformats.org/drawingml/2006/table">
            <a:tbl>
              <a:tblPr firstRow="1" bandRow="1">
                <a:tableStyleId>{5C22544A-7EE6-4342-B048-85BDC9FD1C3A}</a:tableStyleId>
              </a:tblPr>
              <a:tblGrid>
                <a:gridCol w="1820571"/>
                <a:gridCol w="1011428"/>
                <a:gridCol w="1416000"/>
                <a:gridCol w="1416000"/>
                <a:gridCol w="1416000"/>
                <a:gridCol w="1416000"/>
              </a:tblGrid>
              <a:tr h="22909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 Total</a:t>
                      </a:r>
                    </a:p>
                  </a:txBody>
                  <a:tcPr>
                    <a:solidFill>
                      <a:srgbClr val="1B3A6B"/>
                    </a:solidFill>
                  </a:tcPr>
                </a:tc>
                <a:tc>
                  <a:txBody>
                    <a:bodyPr/>
                    <a:lstStyle/>
                    <a:p>
                      <a:pPr algn="ctr"/>
                      <a:r>
                        <a:rPr sz="800" b="1">
                          <a:solidFill>
                            <a:srgbClr val="FFFFFF"/>
                          </a:solidFill>
                        </a:rPr>
                        <a:t>Momentum (40%)</a:t>
                      </a:r>
                    </a:p>
                  </a:txBody>
                  <a:tcPr>
                    <a:solidFill>
                      <a:srgbClr val="1B3A6B"/>
                    </a:solidFill>
                  </a:tcPr>
                </a:tc>
                <a:tc>
                  <a:txBody>
                    <a:bodyPr/>
                    <a:lstStyle/>
                    <a:p>
                      <a:pPr algn="ctr"/>
                      <a:r>
                        <a:rPr sz="800" b="1">
                          <a:solidFill>
                            <a:srgbClr val="FFFFFF"/>
                          </a:solidFill>
                        </a:rPr>
                        <a:t>Révisions (30%)</a:t>
                      </a:r>
                    </a:p>
                  </a:txBody>
                  <a:tcPr>
                    <a:solidFill>
                      <a:srgbClr val="1B3A6B"/>
                    </a:solidFill>
                  </a:tcPr>
                </a:tc>
                <a:tc>
                  <a:txBody>
                    <a:bodyPr/>
                    <a:lstStyle/>
                    <a:p>
                      <a:pPr algn="ctr"/>
                      <a:r>
                        <a:rPr sz="800" b="1">
                          <a:solidFill>
                            <a:srgbClr val="FFFFFF"/>
                          </a:solidFill>
                        </a:rPr>
                        <a:t>Valorisation (30%)</a:t>
                      </a:r>
                    </a:p>
                  </a:txBody>
                  <a:tcPr>
                    <a:solidFill>
                      <a:srgbClr val="1B3A6B"/>
                    </a:solidFill>
                  </a:tcPr>
                </a:tc>
                <a:tc>
                  <a:txBody>
                    <a:bodyPr/>
                    <a:lstStyle/>
                    <a:p>
                      <a:pPr algn="ctr"/>
                      <a:r>
                        <a:rPr sz="800" b="1">
                          <a:solidFill>
                            <a:srgbClr val="FFFFFF"/>
                          </a:solidFill>
                        </a:rPr>
                        <a:t>Signal</a:t>
                      </a:r>
                    </a:p>
                  </a:txBody>
                  <a:tcPr>
                    <a:solidFill>
                      <a:srgbClr val="1B3A6B"/>
                    </a:solidFill>
                  </a:tcPr>
                </a:tc>
              </a:tr>
              <a:tr h="229090">
                <a:tc>
                  <a:txBody>
                    <a:bodyPr/>
                    <a:lstStyle/>
                    <a:p>
                      <a:pPr algn="ctr"/>
                      <a:r>
                        <a:rPr sz="800" b="0">
                          <a:solidFill>
                            <a:srgbClr val="1A1A1A"/>
                          </a:solidFill>
                        </a:rPr>
                        <a:t>Utilities</a:t>
                      </a:r>
                    </a:p>
                  </a:txBody>
                  <a:tcPr>
                    <a:noFill/>
                  </a:tcPr>
                </a:tc>
                <a:tc>
                  <a:txBody>
                    <a:bodyPr/>
                    <a:lstStyle/>
                    <a:p>
                      <a:pPr algn="ctr"/>
                      <a:r>
                        <a:rPr sz="800" b="0">
                          <a:solidFill>
                            <a:srgbClr val="1A1A1A"/>
                          </a:solidFill>
                        </a:rPr>
                        <a:t>85</a:t>
                      </a:r>
                    </a:p>
                  </a:txBody>
                  <a:tcPr>
                    <a:solidFill>
                      <a:srgbClr val="E8F5EE"/>
                    </a:solidFill>
                  </a:tcPr>
                </a:tc>
                <a:tc>
                  <a:txBody>
                    <a:bodyPr/>
                    <a:lstStyle/>
                    <a:p>
                      <a:pPr algn="ctr"/>
                      <a:r>
                        <a:rPr sz="800" b="0">
                          <a:solidFill>
                            <a:srgbClr val="1A1A1A"/>
                          </a:solidFill>
                        </a:rPr>
                        <a:t>34</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Energy</a:t>
                      </a:r>
                    </a:p>
                  </a:txBody>
                  <a:tcPr>
                    <a:solidFill>
                      <a:srgbClr val="F5F7FA"/>
                    </a:solidFill>
                  </a:tcPr>
                </a:tc>
                <a:tc>
                  <a:txBody>
                    <a:bodyPr/>
                    <a:lstStyle/>
                    <a:p>
                      <a:pPr algn="ctr"/>
                      <a:r>
                        <a:rPr sz="800" b="0">
                          <a:solidFill>
                            <a:srgbClr val="1A1A1A"/>
                          </a:solidFill>
                        </a:rPr>
                        <a:t>85</a:t>
                      </a:r>
                    </a:p>
                  </a:txBody>
                  <a:tcPr>
                    <a:solidFill>
                      <a:srgbClr val="E8F5EE"/>
                    </a:solidFill>
                  </a:tcPr>
                </a:tc>
                <a:tc>
                  <a:txBody>
                    <a:bodyPr/>
                    <a:lstStyle/>
                    <a:p>
                      <a:pPr algn="ctr"/>
                      <a:r>
                        <a:rPr sz="800" b="0">
                          <a:solidFill>
                            <a:srgbClr val="1A1A1A"/>
                          </a:solidFill>
                        </a:rPr>
                        <a:t>34</a:t>
                      </a:r>
                    </a:p>
                  </a:txBody>
                  <a:tcPr>
                    <a:solidFill>
                      <a:srgbClr val="F5F7FA"/>
                    </a:solidFill>
                  </a:tcPr>
                </a:tc>
                <a:tc>
                  <a:txBody>
                    <a:bodyPr/>
                    <a:lstStyle/>
                    <a:p>
                      <a:pPr algn="ctr"/>
                      <a:r>
                        <a:rPr sz="800" b="0">
                          <a:solidFill>
                            <a:srgbClr val="1A1A1A"/>
                          </a:solidFill>
                        </a:rPr>
                        <a:t>26</a:t>
                      </a:r>
                    </a:p>
                  </a:txBody>
                  <a:tcPr>
                    <a:solidFill>
                      <a:srgbClr val="F5F7FA"/>
                    </a:solidFill>
                  </a:tcPr>
                </a:tc>
                <a:tc>
                  <a:txBody>
                    <a:bodyPr/>
                    <a:lstStyle/>
                    <a:p>
                      <a:pPr algn="ctr"/>
                      <a:r>
                        <a:rPr sz="800" b="0">
                          <a:solidFill>
                            <a:srgbClr val="1A1A1A"/>
                          </a:solidFill>
                        </a:rPr>
                        <a:t>26</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Materials</a:t>
                      </a:r>
                    </a:p>
                  </a:txBody>
                  <a:tcPr>
                    <a:noFill/>
                  </a:tcPr>
                </a:tc>
                <a:tc>
                  <a:txBody>
                    <a:bodyPr/>
                    <a:lstStyle/>
                    <a:p>
                      <a:pPr algn="ctr"/>
                      <a:r>
                        <a:rPr sz="800" b="0">
                          <a:solidFill>
                            <a:srgbClr val="1A1A1A"/>
                          </a:solidFill>
                        </a:rPr>
                        <a:t>75</a:t>
                      </a:r>
                    </a:p>
                  </a:txBody>
                  <a:tcPr>
                    <a:solidFill>
                      <a:srgbClr val="E8F5EE"/>
                    </a:solidFill>
                  </a:tcPr>
                </a:tc>
                <a:tc>
                  <a:txBody>
                    <a:bodyPr/>
                    <a:lstStyle/>
                    <a:p>
                      <a:pPr algn="ctr"/>
                      <a:r>
                        <a:rPr sz="800" b="0">
                          <a:solidFill>
                            <a:srgbClr val="1A1A1A"/>
                          </a:solidFill>
                        </a:rPr>
                        <a:t>30</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Financials</a:t>
                      </a:r>
                    </a:p>
                  </a:txBody>
                  <a:tcPr>
                    <a:solidFill>
                      <a:srgbClr val="F5F7FA"/>
                    </a:solidFill>
                  </a:tcPr>
                </a:tc>
                <a:tc>
                  <a:txBody>
                    <a:bodyPr/>
                    <a:lstStyle/>
                    <a:p>
                      <a:pPr algn="ctr"/>
                      <a:r>
                        <a:rPr sz="800" b="0">
                          <a:solidFill>
                            <a:srgbClr val="1A1A1A"/>
                          </a:solidFill>
                        </a:rPr>
                        <a:t>74</a:t>
                      </a:r>
                    </a:p>
                  </a:txBody>
                  <a:tcPr>
                    <a:solidFill>
                      <a:srgbClr val="E8F5EE"/>
                    </a:solidFill>
                  </a:tcPr>
                </a:tc>
                <a:tc>
                  <a:txBody>
                    <a:bodyPr/>
                    <a:lstStyle/>
                    <a:p>
                      <a:pPr algn="ctr"/>
                      <a:r>
                        <a:rPr sz="800" b="0">
                          <a:solidFill>
                            <a:srgbClr val="1A1A1A"/>
                          </a:solidFill>
                        </a:rPr>
                        <a:t>30</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Industrials</a:t>
                      </a:r>
                    </a:p>
                  </a:txBody>
                  <a:tcPr>
                    <a:noFill/>
                  </a:tcPr>
                </a:tc>
                <a:tc>
                  <a:txBody>
                    <a:bodyPr/>
                    <a:lstStyle/>
                    <a:p>
                      <a:pPr algn="ctr"/>
                      <a:r>
                        <a:rPr sz="800" b="0">
                          <a:solidFill>
                            <a:srgbClr val="1A1A1A"/>
                          </a:solidFill>
                        </a:rPr>
                        <a:t>73</a:t>
                      </a:r>
                    </a:p>
                  </a:txBody>
                  <a:tcPr>
                    <a:solidFill>
                      <a:srgbClr val="E8F5EE"/>
                    </a:solidFill>
                  </a:tcPr>
                </a:tc>
                <a:tc>
                  <a:txBody>
                    <a:bodyPr/>
                    <a:lstStyle/>
                    <a:p>
                      <a:pPr algn="ctr"/>
                      <a:r>
                        <a:rPr sz="800" b="0">
                          <a:solidFill>
                            <a:srgbClr val="1A1A1A"/>
                          </a:solidFill>
                        </a:rPr>
                        <a:t>29</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70</a:t>
                      </a:r>
                    </a:p>
                  </a:txBody>
                  <a:tcPr>
                    <a:solidFill>
                      <a:srgbClr val="E8F5EE"/>
                    </a:solidFill>
                  </a:tcPr>
                </a:tc>
                <a:tc>
                  <a:txBody>
                    <a:bodyPr/>
                    <a:lstStyle/>
                    <a:p>
                      <a:pPr algn="ctr"/>
                      <a:r>
                        <a:rPr sz="800" b="0">
                          <a:solidFill>
                            <a:srgbClr val="1A1A1A"/>
                          </a:solidFill>
                        </a:rPr>
                        <a:t>28</a:t>
                      </a:r>
                    </a:p>
                  </a:txBody>
                  <a:tcPr>
                    <a:solidFill>
                      <a:srgbClr val="F5F7FA"/>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Health Care</a:t>
                      </a:r>
                    </a:p>
                  </a:txBody>
                  <a:tcPr>
                    <a:noFill/>
                  </a:tcPr>
                </a:tc>
                <a:tc>
                  <a:txBody>
                    <a:bodyPr/>
                    <a:lstStyle/>
                    <a:p>
                      <a:pPr algn="ctr"/>
                      <a:r>
                        <a:rPr sz="800" b="0">
                          <a:solidFill>
                            <a:srgbClr val="1A1A1A"/>
                          </a:solidFill>
                        </a:rPr>
                        <a:t>64</a:t>
                      </a:r>
                    </a:p>
                  </a:txBody>
                  <a:tcPr>
                    <a:solidFill>
                      <a:srgbClr val="FDF3E5"/>
                    </a:solid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19</a:t>
                      </a:r>
                    </a:p>
                  </a:txBody>
                  <a:tcPr>
                    <a:noFill/>
                  </a:tcPr>
                </a:tc>
                <a:tc>
                  <a:txBody>
                    <a:bodyPr/>
                    <a:lstStyle/>
                    <a:p>
                      <a:pPr algn="ctr"/>
                      <a:r>
                        <a:rPr sz="800" b="0">
                          <a:solidFill>
                            <a:srgbClr val="1A1A1A"/>
                          </a:solidFill>
                        </a:rPr>
                        <a:t>19</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Cons. Staples</a:t>
                      </a:r>
                    </a:p>
                  </a:txBody>
                  <a:tcPr>
                    <a:solidFill>
                      <a:srgbClr val="F5F7FA"/>
                    </a:solidFill>
                  </a:tcPr>
                </a:tc>
                <a:tc>
                  <a:txBody>
                    <a:bodyPr/>
                    <a:lstStyle/>
                    <a:p>
                      <a:pPr algn="ctr"/>
                      <a:r>
                        <a:rPr sz="800" b="0">
                          <a:solidFill>
                            <a:srgbClr val="1A1A1A"/>
                          </a:solidFill>
                        </a:rPr>
                        <a:t>58</a:t>
                      </a:r>
                    </a:p>
                  </a:txBody>
                  <a:tcPr>
                    <a:solidFill>
                      <a:srgbClr val="FDF3E5"/>
                    </a:solidFill>
                  </a:tcPr>
                </a:tc>
                <a:tc>
                  <a:txBody>
                    <a:bodyPr/>
                    <a:lstStyle/>
                    <a:p>
                      <a:pPr algn="ctr"/>
                      <a:r>
                        <a:rPr sz="800" b="0">
                          <a:solidFill>
                            <a:srgbClr val="1A1A1A"/>
                          </a:solidFill>
                        </a:rPr>
                        <a:t>23</a:t>
                      </a:r>
                    </a:p>
                  </a:txBody>
                  <a:tcPr>
                    <a:solidFill>
                      <a:srgbClr val="F5F7FA"/>
                    </a:solidFill>
                  </a:tcPr>
                </a:tc>
                <a:tc>
                  <a:txBody>
                    <a:bodyPr/>
                    <a:lstStyle/>
                    <a:p>
                      <a:pPr algn="ctr"/>
                      <a:r>
                        <a:rPr sz="800" b="0">
                          <a:solidFill>
                            <a:srgbClr val="1A1A1A"/>
                          </a:solidFill>
                        </a:rPr>
                        <a:t>17</a:t>
                      </a:r>
                    </a:p>
                  </a:txBody>
                  <a:tcPr>
                    <a:solidFill>
                      <a:srgbClr val="F5F7FA"/>
                    </a:solidFill>
                  </a:tcPr>
                </a:tc>
                <a:tc>
                  <a:txBody>
                    <a:bodyPr/>
                    <a:lstStyle/>
                    <a:p>
                      <a:pPr algn="ctr"/>
                      <a:r>
                        <a:rPr sz="800" b="0">
                          <a:solidFill>
                            <a:srgbClr val="1A1A1A"/>
                          </a:solidFill>
                        </a:rPr>
                        <a:t>17</a:t>
                      </a:r>
                    </a:p>
                  </a:txBody>
                  <a:tcPr>
                    <a:solidFill>
                      <a:srgbClr val="F5F7FA"/>
                    </a:solid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Cons. Discret.</a:t>
                      </a:r>
                    </a:p>
                  </a:txBody>
                  <a:tcPr>
                    <a:noFill/>
                  </a:tcPr>
                </a:tc>
                <a:tc>
                  <a:txBody>
                    <a:bodyPr/>
                    <a:lstStyle/>
                    <a:p>
                      <a:pPr algn="ctr"/>
                      <a:r>
                        <a:rPr sz="800" b="0">
                          <a:solidFill>
                            <a:srgbClr val="1A1A1A"/>
                          </a:solidFill>
                        </a:rPr>
                        <a:t>52</a:t>
                      </a:r>
                    </a:p>
                  </a:txBody>
                  <a:tcPr>
                    <a:solidFill>
                      <a:srgbClr val="FDF3E5"/>
                    </a:solidFill>
                  </a:tcPr>
                </a:tc>
                <a:tc>
                  <a:txBody>
                    <a:bodyPr/>
                    <a:lstStyle/>
                    <a:p>
                      <a:pPr algn="ctr"/>
                      <a:r>
                        <a:rPr sz="800" b="0">
                          <a:solidFill>
                            <a:srgbClr val="1A1A1A"/>
                          </a:solidFill>
                        </a:rPr>
                        <a:t>21</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B06000"/>
                          </a:solidFill>
                        </a:rPr>
                        <a:t>Neutre</a:t>
                      </a:r>
                    </a:p>
                  </a:txBody>
                  <a:tcPr>
                    <a:solidFill>
                      <a:srgbClr val="FDF3E5"/>
                    </a:solidFill>
                  </a:tcPr>
                </a:tc>
              </a:tr>
              <a:tr h="2291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44</a:t>
                      </a:r>
                    </a:p>
                  </a:txBody>
                  <a:tcPr>
                    <a:solidFill>
                      <a:srgbClr val="FBEBEB"/>
                    </a:solidFill>
                  </a:tcPr>
                </a:tc>
                <a:tc>
                  <a:txBody>
                    <a:bodyPr/>
                    <a:lstStyle/>
                    <a:p>
                      <a:pPr algn="ctr"/>
                      <a:r>
                        <a:rPr sz="800" b="0">
                          <a:solidFill>
                            <a:srgbClr val="1A1A1A"/>
                          </a:solidFill>
                        </a:rPr>
                        <a:t>18</a:t>
                      </a:r>
                    </a:p>
                  </a:txBody>
                  <a:tcPr>
                    <a:solidFill>
                      <a:srgbClr val="F5F7FA"/>
                    </a:solidFill>
                  </a:tcPr>
                </a:tc>
                <a:tc>
                  <a:txBody>
                    <a:bodyPr/>
                    <a:lstStyle/>
                    <a:p>
                      <a:pPr algn="ctr"/>
                      <a:r>
                        <a:rPr sz="800" b="0">
                          <a:solidFill>
                            <a:srgbClr val="1A1A1A"/>
                          </a:solidFill>
                        </a:rPr>
                        <a:t>13</a:t>
                      </a:r>
                    </a:p>
                  </a:txBody>
                  <a:tcPr>
                    <a:solidFill>
                      <a:srgbClr val="F5F7FA"/>
                    </a:solidFill>
                  </a:tcPr>
                </a:tc>
                <a:tc>
                  <a:txBody>
                    <a:bodyPr/>
                    <a:lstStyle/>
                    <a:p>
                      <a:pPr algn="ctr"/>
                      <a:r>
                        <a:rPr sz="800" b="0">
                          <a:solidFill>
                            <a:srgbClr val="1A1A1A"/>
                          </a:solidFill>
                        </a:rPr>
                        <a:t>13</a:t>
                      </a:r>
                    </a:p>
                  </a:txBody>
                  <a:tcPr>
                    <a:solidFill>
                      <a:srgbClr val="F5F7FA"/>
                    </a:solidFill>
                  </a:tcPr>
                </a:tc>
                <a:tc>
                  <a:txBody>
                    <a:bodyPr/>
                    <a:lstStyle/>
                    <a:p>
                      <a:pPr algn="ctr"/>
                      <a:r>
                        <a:rPr sz="800" b="0">
                          <a:solidFill>
                            <a:srgbClr val="B06000"/>
                          </a:solidFill>
                        </a:rPr>
                        <a:t>Neutre</a:t>
                      </a:r>
                    </a:p>
                  </a:txBody>
                  <a:tcPr>
                    <a:solidFill>
                      <a:srgbClr val="FDF3E5"/>
                    </a:solidFill>
                  </a:tcPr>
                </a:tc>
              </a:tr>
            </a:tbl>
          </a:graphicData>
        </a:graphic>
      </p:graphicFrame>
      <p:sp>
        <p:nvSpPr>
          <p:cNvPr id="16" name="TextBox 15"/>
          <p:cNvSpPr txBox="1"/>
          <p:nvPr/>
        </p:nvSpPr>
        <p:spPr>
          <a:xfrm>
            <a:off x="324000" y="3355200"/>
            <a:ext cx="8496000" cy="216000"/>
          </a:xfrm>
          <a:prstGeom prst="rect">
            <a:avLst/>
          </a:prstGeom>
          <a:noFill/>
        </p:spPr>
        <p:txBody>
          <a:bodyPr wrap="square">
            <a:spAutoFit/>
          </a:bodyPr>
          <a:lstStyle/>
          <a:p>
            <a:pPr algn="l"/>
            <a:r>
              <a:rPr sz="700" b="0" i="1">
                <a:solidFill>
                  <a:srgbClr val="AAAAAA"/>
                </a:solidFill>
              </a:rPr>
              <a:t>Lecture : Score &gt;= 65 = vert · 45-64 = neutre · &lt; 45 = rouge · Méthode : composite 40 % momentum + 30 % révisions BPA + 30 % valorisation relative</a:t>
            </a:r>
          </a:p>
        </p:txBody>
      </p:sp>
      <p:sp>
        <p:nvSpPr>
          <p:cNvPr id="17" name="Rectangle 16"/>
          <p:cNvSpPr/>
          <p:nvPr/>
        </p:nvSpPr>
        <p:spPr>
          <a:xfrm>
            <a:off x="324000" y="3643200"/>
            <a:ext cx="8496000" cy="11627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3643200"/>
            <a:ext cx="43200" cy="11627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697200"/>
            <a:ext cx="8208000" cy="216000"/>
          </a:xfrm>
          <a:prstGeom prst="rect">
            <a:avLst/>
          </a:prstGeom>
          <a:noFill/>
        </p:spPr>
        <p:txBody>
          <a:bodyPr wrap="square">
            <a:spAutoFit/>
          </a:bodyPr>
          <a:lstStyle/>
          <a:p>
            <a:pPr algn="l"/>
            <a:r>
              <a:rPr sz="800" b="1" i="0">
                <a:solidFill>
                  <a:srgbClr val="1B3A6B"/>
                </a:solidFill>
              </a:rPr>
              <a:t>Analyse des scores — Points saillants</a:t>
            </a:r>
          </a:p>
        </p:txBody>
      </p:sp>
      <p:sp>
        <p:nvSpPr>
          <p:cNvPr id="20" name="TextBox 19"/>
          <p:cNvSpPr txBox="1"/>
          <p:nvPr/>
        </p:nvSpPr>
        <p:spPr>
          <a:xfrm>
            <a:off x="432000" y="3931200"/>
            <a:ext cx="8208000" cy="838799"/>
          </a:xfrm>
          <a:prstGeom prst="rect">
            <a:avLst/>
          </a:prstGeom>
          <a:noFill/>
        </p:spPr>
        <p:txBody>
          <a:bodyPr wrap="square">
            <a:spAutoFit/>
          </a:bodyPr>
          <a:lstStyle/>
          <a:p>
            <a:pPr algn="l"/>
            <a:r>
              <a:rPr sz="750" b="0" i="0">
                <a:solidFill>
                  <a:srgbClr val="555555"/>
                </a:solidFill>
              </a:rPr>
              <a:t>Utilities domine avec le score le plus élevé. Le momentum (34 pts) constitue le premier signal de confirmation. Les secteurs en vert sur les 3 dimensions offrent le meilleur profil composite. Croiser avec la valorisation relative pour identifier les meilleures opportunités d'entrée.</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Secteurs Recommandés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signal · Sociétés représentatives · Zone d'entrée · Allocation Markowitz</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Secteurs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Secteurs Surpondérer  ·  Signal · Score · EV/EBITDA · Sociétés représentatives · Catalyseur · Risque</a:t>
            </a:r>
          </a:p>
        </p:txBody>
      </p:sp>
      <p:sp>
        <p:nvSpPr>
          <p:cNvPr id="15" name="Rectangle 14"/>
          <p:cNvSpPr/>
          <p:nvPr/>
        </p:nvSpPr>
        <p:spPr>
          <a:xfrm>
            <a:off x="324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51999"/>
          </a:xfrm>
          <a:prstGeom prst="rect">
            <a:avLst/>
          </a:prstGeom>
          <a:noFill/>
        </p:spPr>
        <p:txBody>
          <a:bodyPr wrap="square">
            <a:spAutoFit/>
          </a:bodyPr>
          <a:lstStyle/>
          <a:p>
            <a:pPr algn="l"/>
            <a:r>
              <a:rPr sz="1000" b="1" i="0">
                <a:solidFill>
                  <a:srgbClr val="FFFFFF"/>
                </a:solidFill>
              </a:rPr>
              <a:t>Utilities</a:t>
            </a:r>
          </a:p>
        </p:txBody>
      </p:sp>
      <p:sp>
        <p:nvSpPr>
          <p:cNvPr id="18" name="Rectangle 17"/>
          <p:cNvSpPr/>
          <p:nvPr/>
        </p:nvSpPr>
        <p:spPr>
          <a:xfrm>
            <a:off x="2304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864000"/>
            <a:ext cx="612000" cy="198000"/>
          </a:xfrm>
          <a:prstGeom prst="rect">
            <a:avLst/>
          </a:prstGeom>
          <a:noFill/>
        </p:spPr>
        <p:txBody>
          <a:bodyPr wrap="square">
            <a:spAutoFit/>
          </a:bodyPr>
          <a:lstStyle/>
          <a:p>
            <a:pPr algn="ctr"/>
            <a:r>
              <a:rPr sz="750" b="1" i="0">
                <a:solidFill>
                  <a:srgbClr val="FFFFFF"/>
                </a:solidFill>
              </a:rPr>
              <a:t>Surp.</a:t>
            </a:r>
          </a:p>
        </p:txBody>
      </p:sp>
      <p:sp>
        <p:nvSpPr>
          <p:cNvPr id="20" name="TextBox 19"/>
          <p:cNvSpPr txBox="1"/>
          <p:nvPr/>
        </p:nvSpPr>
        <p:spPr>
          <a:xfrm>
            <a:off x="396000" y="1170000"/>
            <a:ext cx="2592000" cy="180000"/>
          </a:xfrm>
          <a:prstGeom prst="rect">
            <a:avLst/>
          </a:prstGeom>
          <a:noFill/>
        </p:spPr>
        <p:txBody>
          <a:bodyPr wrap="square">
            <a:spAutoFit/>
          </a:bodyPr>
          <a:lstStyle/>
          <a:p>
            <a:pPr algn="l"/>
            <a:r>
              <a:rPr sz="750" b="0" i="0">
                <a:solidFill>
                  <a:srgbClr val="1B3A6B"/>
                </a:solidFill>
              </a:rPr>
              <a:t>Score : 85/100  ·  EV/EBITDA : 13.5x</a:t>
            </a:r>
          </a:p>
        </p:txBody>
      </p:sp>
      <p:sp>
        <p:nvSpPr>
          <p:cNvPr id="21" name="TextBox 20"/>
          <p:cNvSpPr txBox="1"/>
          <p:nvPr/>
        </p:nvSpPr>
        <p:spPr>
          <a:xfrm>
            <a:off x="396000"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22" name="Rectangle 21"/>
          <p:cNvSpPr/>
          <p:nvPr/>
        </p:nvSpPr>
        <p:spPr>
          <a:xfrm>
            <a:off x="396000"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20000"/>
            <a:ext cx="684000" cy="198000"/>
          </a:xfrm>
          <a:prstGeom prst="rect">
            <a:avLst/>
          </a:prstGeom>
          <a:noFill/>
        </p:spPr>
        <p:txBody>
          <a:bodyPr wrap="square">
            <a:spAutoFit/>
          </a:bodyPr>
          <a:lstStyle/>
          <a:p>
            <a:pPr algn="l"/>
            <a:r>
              <a:rPr sz="800" b="1" i="0">
                <a:solidFill>
                  <a:srgbClr val="1B3A6B"/>
                </a:solidFill>
              </a:rPr>
              <a:t>EOAN.DE</a:t>
            </a:r>
          </a:p>
        </p:txBody>
      </p:sp>
      <p:sp>
        <p:nvSpPr>
          <p:cNvPr id="24" name="TextBox 23"/>
          <p:cNvSpPr txBox="1"/>
          <p:nvPr/>
        </p:nvSpPr>
        <p:spPr>
          <a:xfrm>
            <a:off x="1152000" y="1620000"/>
            <a:ext cx="540000" cy="198000"/>
          </a:xfrm>
          <a:prstGeom prst="rect">
            <a:avLst/>
          </a:prstGeom>
          <a:noFill/>
        </p:spPr>
        <p:txBody>
          <a:bodyPr wrap="square">
            <a:spAutoFit/>
          </a:bodyPr>
          <a:lstStyle/>
          <a:p>
            <a:pPr algn="l"/>
            <a:r>
              <a:rPr sz="800" b="0" i="0">
                <a:solidFill>
                  <a:srgbClr val="1A7A4A"/>
                </a:solidFill>
              </a:rPr>
              <a:t>Surp.</a:t>
            </a:r>
          </a:p>
        </p:txBody>
      </p:sp>
      <p:sp>
        <p:nvSpPr>
          <p:cNvPr id="25" name="TextBox 24"/>
          <p:cNvSpPr txBox="1"/>
          <p:nvPr/>
        </p:nvSpPr>
        <p:spPr>
          <a:xfrm>
            <a:off x="1692000" y="1620000"/>
            <a:ext cx="540000" cy="198000"/>
          </a:xfrm>
          <a:prstGeom prst="rect">
            <a:avLst/>
          </a:prstGeom>
          <a:noFill/>
        </p:spPr>
        <p:txBody>
          <a:bodyPr wrap="square">
            <a:spAutoFit/>
          </a:bodyPr>
          <a:lstStyle/>
          <a:p>
            <a:pPr algn="l"/>
            <a:r>
              <a:rPr sz="800" b="0" i="0">
                <a:solidFill>
                  <a:srgbClr val="555555"/>
                </a:solidFill>
              </a:rPr>
              <a:t>13.2x</a:t>
            </a:r>
          </a:p>
        </p:txBody>
      </p:sp>
      <p:sp>
        <p:nvSpPr>
          <p:cNvPr id="26" name="TextBox 25"/>
          <p:cNvSpPr txBox="1"/>
          <p:nvPr/>
        </p:nvSpPr>
        <p:spPr>
          <a:xfrm>
            <a:off x="2232000" y="1620000"/>
            <a:ext cx="540000" cy="198000"/>
          </a:xfrm>
          <a:prstGeom prst="rect">
            <a:avLst/>
          </a:prstGeom>
          <a:noFill/>
        </p:spPr>
        <p:txBody>
          <a:bodyPr wrap="square">
            <a:spAutoFit/>
          </a:bodyPr>
          <a:lstStyle/>
          <a:p>
            <a:pPr algn="l"/>
            <a:r>
              <a:rPr sz="800" b="0" i="0">
                <a:solidFill>
                  <a:srgbClr val="555555"/>
                </a:solidFill>
              </a:rPr>
              <a:t>85</a:t>
            </a:r>
          </a:p>
        </p:txBody>
      </p:sp>
      <p:sp>
        <p:nvSpPr>
          <p:cNvPr id="27" name="Rectangle 26"/>
          <p:cNvSpPr/>
          <p:nvPr/>
        </p:nvSpPr>
        <p:spPr>
          <a:xfrm>
            <a:off x="396000"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000" y="1915200"/>
            <a:ext cx="684000" cy="198000"/>
          </a:xfrm>
          <a:prstGeom prst="rect">
            <a:avLst/>
          </a:prstGeom>
          <a:noFill/>
        </p:spPr>
        <p:txBody>
          <a:bodyPr wrap="square">
            <a:spAutoFit/>
          </a:bodyPr>
          <a:lstStyle/>
          <a:p>
            <a:pPr algn="l"/>
            <a:r>
              <a:rPr sz="800" b="1" i="0">
                <a:solidFill>
                  <a:srgbClr val="1B3A6B"/>
                </a:solidFill>
              </a:rPr>
              <a:t>ENGI.PA</a:t>
            </a:r>
          </a:p>
        </p:txBody>
      </p:sp>
      <p:sp>
        <p:nvSpPr>
          <p:cNvPr id="29" name="TextBox 28"/>
          <p:cNvSpPr txBox="1"/>
          <p:nvPr/>
        </p:nvSpPr>
        <p:spPr>
          <a:xfrm>
            <a:off x="1152000" y="1915200"/>
            <a:ext cx="540000" cy="198000"/>
          </a:xfrm>
          <a:prstGeom prst="rect">
            <a:avLst/>
          </a:prstGeom>
          <a:noFill/>
        </p:spPr>
        <p:txBody>
          <a:bodyPr wrap="square">
            <a:spAutoFit/>
          </a:bodyPr>
          <a:lstStyle/>
          <a:p>
            <a:pPr algn="l"/>
            <a:r>
              <a:rPr sz="800" b="0" i="0">
                <a:solidFill>
                  <a:srgbClr val="1A7A4A"/>
                </a:solidFill>
              </a:rPr>
              <a:t>Surp.</a:t>
            </a:r>
          </a:p>
        </p:txBody>
      </p:sp>
      <p:sp>
        <p:nvSpPr>
          <p:cNvPr id="30" name="TextBox 29"/>
          <p:cNvSpPr txBox="1"/>
          <p:nvPr/>
        </p:nvSpPr>
        <p:spPr>
          <a:xfrm>
            <a:off x="1692000" y="1915200"/>
            <a:ext cx="540000" cy="198000"/>
          </a:xfrm>
          <a:prstGeom prst="rect">
            <a:avLst/>
          </a:prstGeom>
          <a:noFill/>
        </p:spPr>
        <p:txBody>
          <a:bodyPr wrap="square">
            <a:spAutoFit/>
          </a:bodyPr>
          <a:lstStyle/>
          <a:p>
            <a:pPr algn="l"/>
            <a:r>
              <a:rPr sz="800" b="0" i="0">
                <a:solidFill>
                  <a:srgbClr val="555555"/>
                </a:solidFill>
              </a:rPr>
              <a:t>9.1x</a:t>
            </a:r>
          </a:p>
        </p:txBody>
      </p:sp>
      <p:sp>
        <p:nvSpPr>
          <p:cNvPr id="31" name="TextBox 30"/>
          <p:cNvSpPr txBox="1"/>
          <p:nvPr/>
        </p:nvSpPr>
        <p:spPr>
          <a:xfrm>
            <a:off x="2232000" y="1915200"/>
            <a:ext cx="540000" cy="198000"/>
          </a:xfrm>
          <a:prstGeom prst="rect">
            <a:avLst/>
          </a:prstGeom>
          <a:noFill/>
        </p:spPr>
        <p:txBody>
          <a:bodyPr wrap="square">
            <a:spAutoFit/>
          </a:bodyPr>
          <a:lstStyle/>
          <a:p>
            <a:pPr algn="l"/>
            <a:r>
              <a:rPr sz="800" b="0" i="0">
                <a:solidFill>
                  <a:srgbClr val="555555"/>
                </a:solidFill>
              </a:rPr>
              <a:t>85</a:t>
            </a:r>
          </a:p>
        </p:txBody>
      </p:sp>
      <p:sp>
        <p:nvSpPr>
          <p:cNvPr id="32" name="Rectangle 31"/>
          <p:cNvSpPr/>
          <p:nvPr/>
        </p:nvSpPr>
        <p:spPr>
          <a:xfrm>
            <a:off x="396000"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8000" y="2210400"/>
            <a:ext cx="684000" cy="198000"/>
          </a:xfrm>
          <a:prstGeom prst="rect">
            <a:avLst/>
          </a:prstGeom>
          <a:noFill/>
        </p:spPr>
        <p:txBody>
          <a:bodyPr wrap="square">
            <a:spAutoFit/>
          </a:bodyPr>
          <a:lstStyle/>
          <a:p>
            <a:pPr algn="l"/>
            <a:r>
              <a:rPr sz="800" b="1" i="0">
                <a:solidFill>
                  <a:srgbClr val="1B3A6B"/>
                </a:solidFill>
              </a:rPr>
              <a:t>IBE.MC</a:t>
            </a:r>
          </a:p>
        </p:txBody>
      </p:sp>
      <p:sp>
        <p:nvSpPr>
          <p:cNvPr id="34" name="TextBox 33"/>
          <p:cNvSpPr txBox="1"/>
          <p:nvPr/>
        </p:nvSpPr>
        <p:spPr>
          <a:xfrm>
            <a:off x="1152000" y="2210400"/>
            <a:ext cx="540000" cy="198000"/>
          </a:xfrm>
          <a:prstGeom prst="rect">
            <a:avLst/>
          </a:prstGeom>
          <a:noFill/>
        </p:spPr>
        <p:txBody>
          <a:bodyPr wrap="square">
            <a:spAutoFit/>
          </a:bodyPr>
          <a:lstStyle/>
          <a:p>
            <a:pPr algn="l"/>
            <a:r>
              <a:rPr sz="800" b="0" i="0">
                <a:solidFill>
                  <a:srgbClr val="1A7A4A"/>
                </a:solidFill>
              </a:rPr>
              <a:t>Surp.</a:t>
            </a:r>
          </a:p>
        </p:txBody>
      </p:sp>
      <p:sp>
        <p:nvSpPr>
          <p:cNvPr id="35" name="TextBox 34"/>
          <p:cNvSpPr txBox="1"/>
          <p:nvPr/>
        </p:nvSpPr>
        <p:spPr>
          <a:xfrm>
            <a:off x="1692000" y="2210400"/>
            <a:ext cx="540000" cy="198000"/>
          </a:xfrm>
          <a:prstGeom prst="rect">
            <a:avLst/>
          </a:prstGeom>
          <a:noFill/>
        </p:spPr>
        <p:txBody>
          <a:bodyPr wrap="square">
            <a:spAutoFit/>
          </a:bodyPr>
          <a:lstStyle/>
          <a:p>
            <a:pPr algn="l"/>
            <a:r>
              <a:rPr sz="800" b="0" i="0">
                <a:solidFill>
                  <a:srgbClr val="555555"/>
                </a:solidFill>
              </a:rPr>
              <a:t>13.8x</a:t>
            </a:r>
          </a:p>
        </p:txBody>
      </p:sp>
      <p:sp>
        <p:nvSpPr>
          <p:cNvPr id="36" name="TextBox 35"/>
          <p:cNvSpPr txBox="1"/>
          <p:nvPr/>
        </p:nvSpPr>
        <p:spPr>
          <a:xfrm>
            <a:off x="2232000" y="2210400"/>
            <a:ext cx="540000" cy="198000"/>
          </a:xfrm>
          <a:prstGeom prst="rect">
            <a:avLst/>
          </a:prstGeom>
          <a:noFill/>
        </p:spPr>
        <p:txBody>
          <a:bodyPr wrap="square">
            <a:spAutoFit/>
          </a:bodyPr>
          <a:lstStyle/>
          <a:p>
            <a:pPr algn="l"/>
            <a:r>
              <a:rPr sz="800" b="0" i="0">
                <a:solidFill>
                  <a:srgbClr val="555555"/>
                </a:solidFill>
              </a:rPr>
              <a:t>85</a:t>
            </a:r>
          </a:p>
        </p:txBody>
      </p:sp>
      <p:sp>
        <p:nvSpPr>
          <p:cNvPr id="37" name="TextBox 36"/>
          <p:cNvSpPr txBox="1"/>
          <p:nvPr/>
        </p:nvSpPr>
        <p:spPr>
          <a:xfrm>
            <a:off x="396000"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38" name="Rectangle 37"/>
          <p:cNvSpPr/>
          <p:nvPr/>
        </p:nvSpPr>
        <p:spPr>
          <a:xfrm>
            <a:off x="396000"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8000" y="2700000"/>
            <a:ext cx="2484000" cy="666000"/>
          </a:xfrm>
          <a:prstGeom prst="rect">
            <a:avLst/>
          </a:prstGeom>
          <a:noFill/>
        </p:spPr>
        <p:txBody>
          <a:bodyPr wrap="square">
            <a:spAutoFit/>
          </a:bodyPr>
          <a:lstStyle/>
          <a:p>
            <a:pPr algn="l"/>
            <a:r>
              <a:rPr sz="750" b="0" i="0">
                <a:solidFill>
                  <a:srgbClr val="555555"/>
                </a:solidFill>
              </a:rPr>
              <a:t>Performance 52S +58.0% — momentum surpondérer</a:t>
            </a:r>
          </a:p>
        </p:txBody>
      </p:sp>
      <p:sp>
        <p:nvSpPr>
          <p:cNvPr id="40" name="TextBox 39"/>
          <p:cNvSpPr txBox="1"/>
          <p:nvPr/>
        </p:nvSpPr>
        <p:spPr>
          <a:xfrm>
            <a:off x="396000"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41" name="Rectangle 40"/>
          <p:cNvSpPr/>
          <p:nvPr/>
        </p:nvSpPr>
        <p:spPr>
          <a:xfrm>
            <a:off x="396000"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8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43" name="Rectangle 42"/>
          <p:cNvSpPr/>
          <p:nvPr/>
        </p:nvSpPr>
        <p:spPr>
          <a:xfrm>
            <a:off x="3150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50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1999" y="846000"/>
            <a:ext cx="1800000" cy="251999"/>
          </a:xfrm>
          <a:prstGeom prst="rect">
            <a:avLst/>
          </a:prstGeom>
          <a:noFill/>
        </p:spPr>
        <p:txBody>
          <a:bodyPr wrap="square">
            <a:spAutoFit/>
          </a:bodyPr>
          <a:lstStyle/>
          <a:p>
            <a:pPr algn="l"/>
            <a:r>
              <a:rPr sz="1000" b="1" i="0">
                <a:solidFill>
                  <a:srgbClr val="FFFFFF"/>
                </a:solidFill>
              </a:rPr>
              <a:t>Energy</a:t>
            </a:r>
          </a:p>
        </p:txBody>
      </p:sp>
      <p:sp>
        <p:nvSpPr>
          <p:cNvPr id="46" name="Rectangle 45"/>
          <p:cNvSpPr/>
          <p:nvPr/>
        </p:nvSpPr>
        <p:spPr>
          <a:xfrm>
            <a:off x="5130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000" y="864000"/>
            <a:ext cx="612000" cy="198000"/>
          </a:xfrm>
          <a:prstGeom prst="rect">
            <a:avLst/>
          </a:prstGeom>
          <a:noFill/>
        </p:spPr>
        <p:txBody>
          <a:bodyPr wrap="square">
            <a:spAutoFit/>
          </a:bodyPr>
          <a:lstStyle/>
          <a:p>
            <a:pPr algn="ctr"/>
            <a:r>
              <a:rPr sz="750" b="1" i="0">
                <a:solidFill>
                  <a:srgbClr val="FFFFFF"/>
                </a:solidFill>
              </a:rPr>
              <a:t>Surp.</a:t>
            </a:r>
          </a:p>
        </p:txBody>
      </p:sp>
      <p:sp>
        <p:nvSpPr>
          <p:cNvPr id="48" name="TextBox 47"/>
          <p:cNvSpPr txBox="1"/>
          <p:nvPr/>
        </p:nvSpPr>
        <p:spPr>
          <a:xfrm>
            <a:off x="3221999" y="1170000"/>
            <a:ext cx="2592000" cy="180000"/>
          </a:xfrm>
          <a:prstGeom prst="rect">
            <a:avLst/>
          </a:prstGeom>
          <a:noFill/>
        </p:spPr>
        <p:txBody>
          <a:bodyPr wrap="square">
            <a:spAutoFit/>
          </a:bodyPr>
          <a:lstStyle/>
          <a:p>
            <a:pPr algn="l"/>
            <a:r>
              <a:rPr sz="750" b="0" i="0">
                <a:solidFill>
                  <a:srgbClr val="1B3A6B"/>
                </a:solidFill>
              </a:rPr>
              <a:t>Score : 85/100  ·  EV/EBITDA : 5.7x</a:t>
            </a:r>
          </a:p>
        </p:txBody>
      </p:sp>
      <p:sp>
        <p:nvSpPr>
          <p:cNvPr id="49" name="TextBox 48"/>
          <p:cNvSpPr txBox="1"/>
          <p:nvPr/>
        </p:nvSpPr>
        <p:spPr>
          <a:xfrm>
            <a:off x="3221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50" name="Rectangle 49"/>
          <p:cNvSpPr/>
          <p:nvPr/>
        </p:nvSpPr>
        <p:spPr>
          <a:xfrm>
            <a:off x="3221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4000" y="1620000"/>
            <a:ext cx="684000" cy="198000"/>
          </a:xfrm>
          <a:prstGeom prst="rect">
            <a:avLst/>
          </a:prstGeom>
          <a:noFill/>
        </p:spPr>
        <p:txBody>
          <a:bodyPr wrap="square">
            <a:spAutoFit/>
          </a:bodyPr>
          <a:lstStyle/>
          <a:p>
            <a:pPr algn="l"/>
            <a:r>
              <a:rPr sz="800" b="1" i="0">
                <a:solidFill>
                  <a:srgbClr val="1B3A6B"/>
                </a:solidFill>
              </a:rPr>
              <a:t>ENI.MI</a:t>
            </a:r>
          </a:p>
        </p:txBody>
      </p:sp>
      <p:sp>
        <p:nvSpPr>
          <p:cNvPr id="52" name="TextBox 51"/>
          <p:cNvSpPr txBox="1"/>
          <p:nvPr/>
        </p:nvSpPr>
        <p:spPr>
          <a:xfrm>
            <a:off x="3978000" y="1620000"/>
            <a:ext cx="540000" cy="198000"/>
          </a:xfrm>
          <a:prstGeom prst="rect">
            <a:avLst/>
          </a:prstGeom>
          <a:noFill/>
        </p:spPr>
        <p:txBody>
          <a:bodyPr wrap="square">
            <a:spAutoFit/>
          </a:bodyPr>
          <a:lstStyle/>
          <a:p>
            <a:pPr algn="l"/>
            <a:r>
              <a:rPr sz="800" b="0" i="0">
                <a:solidFill>
                  <a:srgbClr val="1A7A4A"/>
                </a:solidFill>
              </a:rPr>
              <a:t>Surp.</a:t>
            </a:r>
          </a:p>
        </p:txBody>
      </p:sp>
      <p:sp>
        <p:nvSpPr>
          <p:cNvPr id="53" name="TextBox 52"/>
          <p:cNvSpPr txBox="1"/>
          <p:nvPr/>
        </p:nvSpPr>
        <p:spPr>
          <a:xfrm>
            <a:off x="4518000" y="1620000"/>
            <a:ext cx="540000" cy="198000"/>
          </a:xfrm>
          <a:prstGeom prst="rect">
            <a:avLst/>
          </a:prstGeom>
          <a:noFill/>
        </p:spPr>
        <p:txBody>
          <a:bodyPr wrap="square">
            <a:spAutoFit/>
          </a:bodyPr>
          <a:lstStyle/>
          <a:p>
            <a:pPr algn="l"/>
            <a:r>
              <a:rPr sz="800" b="0" i="0">
                <a:solidFill>
                  <a:srgbClr val="555555"/>
                </a:solidFill>
              </a:rPr>
              <a:t>7.9x</a:t>
            </a:r>
          </a:p>
        </p:txBody>
      </p:sp>
      <p:sp>
        <p:nvSpPr>
          <p:cNvPr id="54" name="TextBox 53"/>
          <p:cNvSpPr txBox="1"/>
          <p:nvPr/>
        </p:nvSpPr>
        <p:spPr>
          <a:xfrm>
            <a:off x="5058000" y="1620000"/>
            <a:ext cx="540000" cy="198000"/>
          </a:xfrm>
          <a:prstGeom prst="rect">
            <a:avLst/>
          </a:prstGeom>
          <a:noFill/>
        </p:spPr>
        <p:txBody>
          <a:bodyPr wrap="square">
            <a:spAutoFit/>
          </a:bodyPr>
          <a:lstStyle/>
          <a:p>
            <a:pPr algn="l"/>
            <a:r>
              <a:rPr sz="800" b="0" i="0">
                <a:solidFill>
                  <a:srgbClr val="555555"/>
                </a:solidFill>
              </a:rPr>
              <a:t>85</a:t>
            </a:r>
          </a:p>
        </p:txBody>
      </p:sp>
      <p:sp>
        <p:nvSpPr>
          <p:cNvPr id="55" name="Rectangle 54"/>
          <p:cNvSpPr/>
          <p:nvPr/>
        </p:nvSpPr>
        <p:spPr>
          <a:xfrm>
            <a:off x="3221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94000" y="1915200"/>
            <a:ext cx="684000" cy="198000"/>
          </a:xfrm>
          <a:prstGeom prst="rect">
            <a:avLst/>
          </a:prstGeom>
          <a:noFill/>
        </p:spPr>
        <p:txBody>
          <a:bodyPr wrap="square">
            <a:spAutoFit/>
          </a:bodyPr>
          <a:lstStyle/>
          <a:p>
            <a:pPr algn="l"/>
            <a:r>
              <a:rPr sz="800" b="1" i="0">
                <a:solidFill>
                  <a:srgbClr val="1B3A6B"/>
                </a:solidFill>
              </a:rPr>
              <a:t>TTE.PA</a:t>
            </a:r>
          </a:p>
        </p:txBody>
      </p:sp>
      <p:sp>
        <p:nvSpPr>
          <p:cNvPr id="57" name="TextBox 56"/>
          <p:cNvSpPr txBox="1"/>
          <p:nvPr/>
        </p:nvSpPr>
        <p:spPr>
          <a:xfrm>
            <a:off x="3978000" y="1915200"/>
            <a:ext cx="540000" cy="198000"/>
          </a:xfrm>
          <a:prstGeom prst="rect">
            <a:avLst/>
          </a:prstGeom>
          <a:noFill/>
        </p:spPr>
        <p:txBody>
          <a:bodyPr wrap="square">
            <a:spAutoFit/>
          </a:bodyPr>
          <a:lstStyle/>
          <a:p>
            <a:pPr algn="l"/>
            <a:r>
              <a:rPr sz="800" b="0" i="0">
                <a:solidFill>
                  <a:srgbClr val="1A7A4A"/>
                </a:solidFill>
              </a:rPr>
              <a:t>Surp.</a:t>
            </a:r>
          </a:p>
        </p:txBody>
      </p:sp>
      <p:sp>
        <p:nvSpPr>
          <p:cNvPr id="58" name="TextBox 57"/>
          <p:cNvSpPr txBox="1"/>
          <p:nvPr/>
        </p:nvSpPr>
        <p:spPr>
          <a:xfrm>
            <a:off x="4518000" y="1915200"/>
            <a:ext cx="540000" cy="198000"/>
          </a:xfrm>
          <a:prstGeom prst="rect">
            <a:avLst/>
          </a:prstGeom>
          <a:noFill/>
        </p:spPr>
        <p:txBody>
          <a:bodyPr wrap="square">
            <a:spAutoFit/>
          </a:bodyPr>
          <a:lstStyle/>
          <a:p>
            <a:pPr algn="l"/>
            <a:r>
              <a:rPr sz="800" b="0" i="0">
                <a:solidFill>
                  <a:srgbClr val="555555"/>
                </a:solidFill>
              </a:rPr>
              <a:t>6.2x</a:t>
            </a:r>
          </a:p>
        </p:txBody>
      </p:sp>
      <p:sp>
        <p:nvSpPr>
          <p:cNvPr id="59" name="TextBox 58"/>
          <p:cNvSpPr txBox="1"/>
          <p:nvPr/>
        </p:nvSpPr>
        <p:spPr>
          <a:xfrm>
            <a:off x="5058000" y="1915200"/>
            <a:ext cx="540000" cy="198000"/>
          </a:xfrm>
          <a:prstGeom prst="rect">
            <a:avLst/>
          </a:prstGeom>
          <a:noFill/>
        </p:spPr>
        <p:txBody>
          <a:bodyPr wrap="square">
            <a:spAutoFit/>
          </a:bodyPr>
          <a:lstStyle/>
          <a:p>
            <a:pPr algn="l"/>
            <a:r>
              <a:rPr sz="800" b="0" i="0">
                <a:solidFill>
                  <a:srgbClr val="555555"/>
                </a:solidFill>
              </a:rPr>
              <a:t>85</a:t>
            </a:r>
          </a:p>
        </p:txBody>
      </p:sp>
      <p:sp>
        <p:nvSpPr>
          <p:cNvPr id="60" name="Rectangle 59"/>
          <p:cNvSpPr/>
          <p:nvPr/>
        </p:nvSpPr>
        <p:spPr>
          <a:xfrm>
            <a:off x="3221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94000" y="2210400"/>
            <a:ext cx="684000" cy="198000"/>
          </a:xfrm>
          <a:prstGeom prst="rect">
            <a:avLst/>
          </a:prstGeom>
          <a:noFill/>
        </p:spPr>
        <p:txBody>
          <a:bodyPr wrap="square">
            <a:spAutoFit/>
          </a:bodyPr>
          <a:lstStyle/>
          <a:p>
            <a:pPr algn="l"/>
            <a:r>
              <a:rPr sz="800" b="1" i="0">
                <a:solidFill>
                  <a:srgbClr val="1B3A6B"/>
                </a:solidFill>
              </a:rPr>
              <a:t>SHEL.L</a:t>
            </a:r>
          </a:p>
        </p:txBody>
      </p:sp>
      <p:sp>
        <p:nvSpPr>
          <p:cNvPr id="62" name="TextBox 61"/>
          <p:cNvSpPr txBox="1"/>
          <p:nvPr/>
        </p:nvSpPr>
        <p:spPr>
          <a:xfrm>
            <a:off x="3978000" y="2210400"/>
            <a:ext cx="540000" cy="198000"/>
          </a:xfrm>
          <a:prstGeom prst="rect">
            <a:avLst/>
          </a:prstGeom>
          <a:noFill/>
        </p:spPr>
        <p:txBody>
          <a:bodyPr wrap="square">
            <a:spAutoFit/>
          </a:bodyPr>
          <a:lstStyle/>
          <a:p>
            <a:pPr algn="l"/>
            <a:r>
              <a:rPr sz="800" b="0" i="0">
                <a:solidFill>
                  <a:srgbClr val="1A7A4A"/>
                </a:solidFill>
              </a:rPr>
              <a:t>Surp.</a:t>
            </a:r>
          </a:p>
        </p:txBody>
      </p:sp>
      <p:sp>
        <p:nvSpPr>
          <p:cNvPr id="63" name="TextBox 62"/>
          <p:cNvSpPr txBox="1"/>
          <p:nvPr/>
        </p:nvSpPr>
        <p:spPr>
          <a:xfrm>
            <a:off x="4518000" y="2210400"/>
            <a:ext cx="540000" cy="198000"/>
          </a:xfrm>
          <a:prstGeom prst="rect">
            <a:avLst/>
          </a:prstGeom>
          <a:noFill/>
        </p:spPr>
        <p:txBody>
          <a:bodyPr wrap="square">
            <a:spAutoFit/>
          </a:bodyPr>
          <a:lstStyle/>
          <a:p>
            <a:pPr algn="l"/>
            <a:r>
              <a:rPr sz="800" b="0" i="0">
                <a:solidFill>
                  <a:srgbClr val="555555"/>
                </a:solidFill>
              </a:rPr>
              <a:t>5.2x</a:t>
            </a:r>
          </a:p>
        </p:txBody>
      </p:sp>
      <p:sp>
        <p:nvSpPr>
          <p:cNvPr id="64" name="TextBox 63"/>
          <p:cNvSpPr txBox="1"/>
          <p:nvPr/>
        </p:nvSpPr>
        <p:spPr>
          <a:xfrm>
            <a:off x="5058000" y="2210400"/>
            <a:ext cx="540000" cy="198000"/>
          </a:xfrm>
          <a:prstGeom prst="rect">
            <a:avLst/>
          </a:prstGeom>
          <a:noFill/>
        </p:spPr>
        <p:txBody>
          <a:bodyPr wrap="square">
            <a:spAutoFit/>
          </a:bodyPr>
          <a:lstStyle/>
          <a:p>
            <a:pPr algn="l"/>
            <a:r>
              <a:rPr sz="800" b="0" i="0">
                <a:solidFill>
                  <a:srgbClr val="555555"/>
                </a:solidFill>
              </a:rPr>
              <a:t>85</a:t>
            </a:r>
          </a:p>
        </p:txBody>
      </p:sp>
      <p:sp>
        <p:nvSpPr>
          <p:cNvPr id="65" name="TextBox 64"/>
          <p:cNvSpPr txBox="1"/>
          <p:nvPr/>
        </p:nvSpPr>
        <p:spPr>
          <a:xfrm>
            <a:off x="3221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66" name="Rectangle 65"/>
          <p:cNvSpPr/>
          <p:nvPr/>
        </p:nvSpPr>
        <p:spPr>
          <a:xfrm>
            <a:off x="3221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94000" y="2700000"/>
            <a:ext cx="2484000" cy="666000"/>
          </a:xfrm>
          <a:prstGeom prst="rect">
            <a:avLst/>
          </a:prstGeom>
          <a:noFill/>
        </p:spPr>
        <p:txBody>
          <a:bodyPr wrap="square">
            <a:spAutoFit/>
          </a:bodyPr>
          <a:lstStyle/>
          <a:p>
            <a:pPr algn="l"/>
            <a:r>
              <a:rPr sz="750" b="0" i="0">
                <a:solidFill>
                  <a:srgbClr val="555555"/>
                </a:solidFill>
              </a:rPr>
              <a:t>Performance 52S +70.0% — momentum surpondérer</a:t>
            </a:r>
          </a:p>
        </p:txBody>
      </p:sp>
      <p:sp>
        <p:nvSpPr>
          <p:cNvPr id="68" name="TextBox 67"/>
          <p:cNvSpPr txBox="1"/>
          <p:nvPr/>
        </p:nvSpPr>
        <p:spPr>
          <a:xfrm>
            <a:off x="3221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69" name="Rectangle 68"/>
          <p:cNvSpPr/>
          <p:nvPr/>
        </p:nvSpPr>
        <p:spPr>
          <a:xfrm>
            <a:off x="3221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94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71" name="Rectangle 70"/>
          <p:cNvSpPr/>
          <p:nvPr/>
        </p:nvSpPr>
        <p:spPr>
          <a:xfrm>
            <a:off x="5975999"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975999"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47999" y="846000"/>
            <a:ext cx="1800000" cy="251999"/>
          </a:xfrm>
          <a:prstGeom prst="rect">
            <a:avLst/>
          </a:prstGeom>
          <a:noFill/>
        </p:spPr>
        <p:txBody>
          <a:bodyPr wrap="square">
            <a:spAutoFit/>
          </a:bodyPr>
          <a:lstStyle/>
          <a:p>
            <a:pPr algn="l"/>
            <a:r>
              <a:rPr sz="1000" b="1" i="0">
                <a:solidFill>
                  <a:srgbClr val="FFFFFF"/>
                </a:solidFill>
              </a:rPr>
              <a:t>Materials</a:t>
            </a:r>
          </a:p>
        </p:txBody>
      </p:sp>
      <p:sp>
        <p:nvSpPr>
          <p:cNvPr id="74" name="Rectangle 73"/>
          <p:cNvSpPr/>
          <p:nvPr/>
        </p:nvSpPr>
        <p:spPr>
          <a:xfrm>
            <a:off x="7955999"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992000" y="864000"/>
            <a:ext cx="612000" cy="198000"/>
          </a:xfrm>
          <a:prstGeom prst="rect">
            <a:avLst/>
          </a:prstGeom>
          <a:noFill/>
        </p:spPr>
        <p:txBody>
          <a:bodyPr wrap="square">
            <a:spAutoFit/>
          </a:bodyPr>
          <a:lstStyle/>
          <a:p>
            <a:pPr algn="ctr"/>
            <a:r>
              <a:rPr sz="750" b="1" i="0">
                <a:solidFill>
                  <a:srgbClr val="FFFFFF"/>
                </a:solidFill>
              </a:rPr>
              <a:t>Surp.</a:t>
            </a:r>
          </a:p>
        </p:txBody>
      </p:sp>
      <p:sp>
        <p:nvSpPr>
          <p:cNvPr id="76" name="TextBox 75"/>
          <p:cNvSpPr txBox="1"/>
          <p:nvPr/>
        </p:nvSpPr>
        <p:spPr>
          <a:xfrm>
            <a:off x="6047999" y="1170000"/>
            <a:ext cx="2592000" cy="180000"/>
          </a:xfrm>
          <a:prstGeom prst="rect">
            <a:avLst/>
          </a:prstGeom>
          <a:noFill/>
        </p:spPr>
        <p:txBody>
          <a:bodyPr wrap="square">
            <a:spAutoFit/>
          </a:bodyPr>
          <a:lstStyle/>
          <a:p>
            <a:pPr algn="l"/>
            <a:r>
              <a:rPr sz="750" b="0" i="0">
                <a:solidFill>
                  <a:srgbClr val="1B3A6B"/>
                </a:solidFill>
              </a:rPr>
              <a:t>Score : 75/100  ·  EV/EBITDA : 10.8x</a:t>
            </a:r>
          </a:p>
        </p:txBody>
      </p:sp>
      <p:sp>
        <p:nvSpPr>
          <p:cNvPr id="77" name="TextBox 76"/>
          <p:cNvSpPr txBox="1"/>
          <p:nvPr/>
        </p:nvSpPr>
        <p:spPr>
          <a:xfrm>
            <a:off x="6047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78" name="Rectangle 77"/>
          <p:cNvSpPr/>
          <p:nvPr/>
        </p:nvSpPr>
        <p:spPr>
          <a:xfrm>
            <a:off x="6047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19999" y="1620000"/>
            <a:ext cx="684000" cy="198000"/>
          </a:xfrm>
          <a:prstGeom prst="rect">
            <a:avLst/>
          </a:prstGeom>
          <a:noFill/>
        </p:spPr>
        <p:txBody>
          <a:bodyPr wrap="square">
            <a:spAutoFit/>
          </a:bodyPr>
          <a:lstStyle/>
          <a:p>
            <a:pPr algn="l"/>
            <a:r>
              <a:rPr sz="800" b="1" i="0">
                <a:solidFill>
                  <a:srgbClr val="1B3A6B"/>
                </a:solidFill>
              </a:rPr>
              <a:t>RIO.L</a:t>
            </a:r>
          </a:p>
        </p:txBody>
      </p:sp>
      <p:sp>
        <p:nvSpPr>
          <p:cNvPr id="80" name="TextBox 79"/>
          <p:cNvSpPr txBox="1"/>
          <p:nvPr/>
        </p:nvSpPr>
        <p:spPr>
          <a:xfrm>
            <a:off x="6803999" y="1620000"/>
            <a:ext cx="540000" cy="198000"/>
          </a:xfrm>
          <a:prstGeom prst="rect">
            <a:avLst/>
          </a:prstGeom>
          <a:noFill/>
        </p:spPr>
        <p:txBody>
          <a:bodyPr wrap="square">
            <a:spAutoFit/>
          </a:bodyPr>
          <a:lstStyle/>
          <a:p>
            <a:pPr algn="l"/>
            <a:r>
              <a:rPr sz="800" b="0" i="0">
                <a:solidFill>
                  <a:srgbClr val="1A7A4A"/>
                </a:solidFill>
              </a:rPr>
              <a:t>Surp.</a:t>
            </a:r>
          </a:p>
        </p:txBody>
      </p:sp>
      <p:sp>
        <p:nvSpPr>
          <p:cNvPr id="81" name="TextBox 80"/>
          <p:cNvSpPr txBox="1"/>
          <p:nvPr/>
        </p:nvSpPr>
        <p:spPr>
          <a:xfrm>
            <a:off x="7343999" y="1620000"/>
            <a:ext cx="540000" cy="198000"/>
          </a:xfrm>
          <a:prstGeom prst="rect">
            <a:avLst/>
          </a:prstGeom>
          <a:noFill/>
        </p:spPr>
        <p:txBody>
          <a:bodyPr wrap="square">
            <a:spAutoFit/>
          </a:bodyPr>
          <a:lstStyle/>
          <a:p>
            <a:pPr algn="l"/>
            <a:r>
              <a:rPr sz="800" b="0" i="0">
                <a:solidFill>
                  <a:srgbClr val="555555"/>
                </a:solidFill>
              </a:rPr>
              <a:t>6.6x</a:t>
            </a:r>
          </a:p>
        </p:txBody>
      </p:sp>
      <p:sp>
        <p:nvSpPr>
          <p:cNvPr id="82" name="TextBox 81"/>
          <p:cNvSpPr txBox="1"/>
          <p:nvPr/>
        </p:nvSpPr>
        <p:spPr>
          <a:xfrm>
            <a:off x="7883999" y="1620000"/>
            <a:ext cx="540000" cy="198000"/>
          </a:xfrm>
          <a:prstGeom prst="rect">
            <a:avLst/>
          </a:prstGeom>
          <a:noFill/>
        </p:spPr>
        <p:txBody>
          <a:bodyPr wrap="square">
            <a:spAutoFit/>
          </a:bodyPr>
          <a:lstStyle/>
          <a:p>
            <a:pPr algn="l"/>
            <a:r>
              <a:rPr sz="800" b="0" i="0">
                <a:solidFill>
                  <a:srgbClr val="555555"/>
                </a:solidFill>
              </a:rPr>
              <a:t>85</a:t>
            </a:r>
          </a:p>
        </p:txBody>
      </p:sp>
      <p:sp>
        <p:nvSpPr>
          <p:cNvPr id="83" name="Rectangle 82"/>
          <p:cNvSpPr/>
          <p:nvPr/>
        </p:nvSpPr>
        <p:spPr>
          <a:xfrm>
            <a:off x="6047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119999" y="1915200"/>
            <a:ext cx="684000" cy="198000"/>
          </a:xfrm>
          <a:prstGeom prst="rect">
            <a:avLst/>
          </a:prstGeom>
          <a:noFill/>
        </p:spPr>
        <p:txBody>
          <a:bodyPr wrap="square">
            <a:spAutoFit/>
          </a:bodyPr>
          <a:lstStyle/>
          <a:p>
            <a:pPr algn="l"/>
            <a:r>
              <a:rPr sz="800" b="1" i="0">
                <a:solidFill>
                  <a:srgbClr val="1B3A6B"/>
                </a:solidFill>
              </a:rPr>
              <a:t>BAS.DE</a:t>
            </a:r>
          </a:p>
        </p:txBody>
      </p:sp>
      <p:sp>
        <p:nvSpPr>
          <p:cNvPr id="85" name="TextBox 84"/>
          <p:cNvSpPr txBox="1"/>
          <p:nvPr/>
        </p:nvSpPr>
        <p:spPr>
          <a:xfrm>
            <a:off x="6803999" y="1915200"/>
            <a:ext cx="540000" cy="198000"/>
          </a:xfrm>
          <a:prstGeom prst="rect">
            <a:avLst/>
          </a:prstGeom>
          <a:noFill/>
        </p:spPr>
        <p:txBody>
          <a:bodyPr wrap="square">
            <a:spAutoFit/>
          </a:bodyPr>
          <a:lstStyle/>
          <a:p>
            <a:pPr algn="l"/>
            <a:r>
              <a:rPr sz="800" b="0" i="0">
                <a:solidFill>
                  <a:srgbClr val="1A7A4A"/>
                </a:solidFill>
              </a:rPr>
              <a:t>Surp.</a:t>
            </a:r>
          </a:p>
        </p:txBody>
      </p:sp>
      <p:sp>
        <p:nvSpPr>
          <p:cNvPr id="86" name="TextBox 85"/>
          <p:cNvSpPr txBox="1"/>
          <p:nvPr/>
        </p:nvSpPr>
        <p:spPr>
          <a:xfrm>
            <a:off x="7343999" y="1915200"/>
            <a:ext cx="540000" cy="198000"/>
          </a:xfrm>
          <a:prstGeom prst="rect">
            <a:avLst/>
          </a:prstGeom>
          <a:noFill/>
        </p:spPr>
        <p:txBody>
          <a:bodyPr wrap="square">
            <a:spAutoFit/>
          </a:bodyPr>
          <a:lstStyle/>
          <a:p>
            <a:pPr algn="l"/>
            <a:r>
              <a:rPr sz="800" b="0" i="0">
                <a:solidFill>
                  <a:srgbClr val="555555"/>
                </a:solidFill>
              </a:rPr>
              <a:t>10.8x</a:t>
            </a:r>
          </a:p>
        </p:txBody>
      </p:sp>
      <p:sp>
        <p:nvSpPr>
          <p:cNvPr id="87" name="TextBox 86"/>
          <p:cNvSpPr txBox="1"/>
          <p:nvPr/>
        </p:nvSpPr>
        <p:spPr>
          <a:xfrm>
            <a:off x="7883999" y="1915200"/>
            <a:ext cx="540000" cy="198000"/>
          </a:xfrm>
          <a:prstGeom prst="rect">
            <a:avLst/>
          </a:prstGeom>
          <a:noFill/>
        </p:spPr>
        <p:txBody>
          <a:bodyPr wrap="square">
            <a:spAutoFit/>
          </a:bodyPr>
          <a:lstStyle/>
          <a:p>
            <a:pPr algn="l"/>
            <a:r>
              <a:rPr sz="800" b="0" i="0">
                <a:solidFill>
                  <a:srgbClr val="555555"/>
                </a:solidFill>
              </a:rPr>
              <a:t>79</a:t>
            </a:r>
          </a:p>
        </p:txBody>
      </p:sp>
      <p:sp>
        <p:nvSpPr>
          <p:cNvPr id="88" name="Rectangle 87"/>
          <p:cNvSpPr/>
          <p:nvPr/>
        </p:nvSpPr>
        <p:spPr>
          <a:xfrm>
            <a:off x="6047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19999" y="2210400"/>
            <a:ext cx="684000" cy="198000"/>
          </a:xfrm>
          <a:prstGeom prst="rect">
            <a:avLst/>
          </a:prstGeom>
          <a:noFill/>
        </p:spPr>
        <p:txBody>
          <a:bodyPr wrap="square">
            <a:spAutoFit/>
          </a:bodyPr>
          <a:lstStyle/>
          <a:p>
            <a:pPr algn="l"/>
            <a:r>
              <a:rPr sz="800" b="1" i="0">
                <a:solidFill>
                  <a:srgbClr val="1B3A6B"/>
                </a:solidFill>
              </a:rPr>
              <a:t>AI.PA</a:t>
            </a:r>
          </a:p>
        </p:txBody>
      </p:sp>
      <p:sp>
        <p:nvSpPr>
          <p:cNvPr id="90" name="TextBox 89"/>
          <p:cNvSpPr txBox="1"/>
          <p:nvPr/>
        </p:nvSpPr>
        <p:spPr>
          <a:xfrm>
            <a:off x="6803999" y="2210400"/>
            <a:ext cx="540000" cy="198000"/>
          </a:xfrm>
          <a:prstGeom prst="rect">
            <a:avLst/>
          </a:prstGeom>
          <a:noFill/>
        </p:spPr>
        <p:txBody>
          <a:bodyPr wrap="square">
            <a:spAutoFit/>
          </a:bodyPr>
          <a:lstStyle/>
          <a:p>
            <a:pPr algn="l"/>
            <a:r>
              <a:rPr sz="800" b="0" i="0">
                <a:solidFill>
                  <a:srgbClr val="1A7A4A"/>
                </a:solidFill>
              </a:rPr>
              <a:t>Surp.</a:t>
            </a:r>
          </a:p>
        </p:txBody>
      </p:sp>
      <p:sp>
        <p:nvSpPr>
          <p:cNvPr id="91" name="TextBox 90"/>
          <p:cNvSpPr txBox="1"/>
          <p:nvPr/>
        </p:nvSpPr>
        <p:spPr>
          <a:xfrm>
            <a:off x="7343999" y="2210400"/>
            <a:ext cx="540000" cy="198000"/>
          </a:xfrm>
          <a:prstGeom prst="rect">
            <a:avLst/>
          </a:prstGeom>
          <a:noFill/>
        </p:spPr>
        <p:txBody>
          <a:bodyPr wrap="square">
            <a:spAutoFit/>
          </a:bodyPr>
          <a:lstStyle/>
          <a:p>
            <a:pPr algn="l"/>
            <a:r>
              <a:rPr sz="800" b="0" i="0">
                <a:solidFill>
                  <a:srgbClr val="555555"/>
                </a:solidFill>
              </a:rPr>
              <a:t>15.3x</a:t>
            </a:r>
          </a:p>
        </p:txBody>
      </p:sp>
      <p:sp>
        <p:nvSpPr>
          <p:cNvPr id="92" name="TextBox 91"/>
          <p:cNvSpPr txBox="1"/>
          <p:nvPr/>
        </p:nvSpPr>
        <p:spPr>
          <a:xfrm>
            <a:off x="7883999" y="2210400"/>
            <a:ext cx="540000" cy="198000"/>
          </a:xfrm>
          <a:prstGeom prst="rect">
            <a:avLst/>
          </a:prstGeom>
          <a:noFill/>
        </p:spPr>
        <p:txBody>
          <a:bodyPr wrap="square">
            <a:spAutoFit/>
          </a:bodyPr>
          <a:lstStyle/>
          <a:p>
            <a:pPr algn="l"/>
            <a:r>
              <a:rPr sz="800" b="0" i="0">
                <a:solidFill>
                  <a:srgbClr val="555555"/>
                </a:solidFill>
              </a:rPr>
              <a:t>60</a:t>
            </a:r>
          </a:p>
        </p:txBody>
      </p:sp>
      <p:sp>
        <p:nvSpPr>
          <p:cNvPr id="93" name="TextBox 92"/>
          <p:cNvSpPr txBox="1"/>
          <p:nvPr/>
        </p:nvSpPr>
        <p:spPr>
          <a:xfrm>
            <a:off x="6047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94" name="Rectangle 93"/>
          <p:cNvSpPr/>
          <p:nvPr/>
        </p:nvSpPr>
        <p:spPr>
          <a:xfrm>
            <a:off x="6047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19999" y="2700000"/>
            <a:ext cx="2484000" cy="666000"/>
          </a:xfrm>
          <a:prstGeom prst="rect">
            <a:avLst/>
          </a:prstGeom>
          <a:noFill/>
        </p:spPr>
        <p:txBody>
          <a:bodyPr wrap="square">
            <a:spAutoFit/>
          </a:bodyPr>
          <a:lstStyle/>
          <a:p>
            <a:pPr algn="l"/>
            <a:r>
              <a:rPr sz="750" b="0" i="0">
                <a:solidFill>
                  <a:srgbClr val="555555"/>
                </a:solidFill>
              </a:rPr>
              <a:t>Performance 52S +33.9% — momentum surpondérer</a:t>
            </a:r>
          </a:p>
        </p:txBody>
      </p:sp>
      <p:sp>
        <p:nvSpPr>
          <p:cNvPr id="96" name="TextBox 95"/>
          <p:cNvSpPr txBox="1"/>
          <p:nvPr/>
        </p:nvSpPr>
        <p:spPr>
          <a:xfrm>
            <a:off x="6047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97" name="Rectangle 96"/>
          <p:cNvSpPr/>
          <p:nvPr/>
        </p:nvSpPr>
        <p:spPr>
          <a:xfrm>
            <a:off x="6047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19999"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99" name="Rectangle 9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Allocation Optimale — Markowitz</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Min-Variance · Tangency (Max Sharpe) · Equal Risk Contribution  ·  ETF SPDR sectoriels 52S</a:t>
            </a:r>
          </a:p>
        </p:txBody>
      </p:sp>
      <p:sp>
        <p:nvSpPr>
          <p:cNvPr id="15" name="Rectangle 14"/>
          <p:cNvSpPr/>
          <p:nvPr/>
        </p:nvSpPr>
        <p:spPr>
          <a:xfrm>
            <a:off x="324000" y="9000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8280000" cy="251999"/>
          </a:xfrm>
          <a:prstGeom prst="rect">
            <a:avLst/>
          </a:prstGeom>
          <a:noFill/>
        </p:spPr>
        <p:txBody>
          <a:bodyPr wrap="square">
            <a:spAutoFit/>
          </a:bodyPr>
          <a:lstStyle/>
          <a:p>
            <a:pPr algn="l"/>
            <a:r>
              <a:rPr sz="1100" b="1" i="0">
                <a:solidFill>
                  <a:srgbClr val="1B3A6B"/>
                </a:solidFill>
              </a:rPr>
              <a:t>Optimisation non disponible pour cet indice</a:t>
            </a:r>
          </a:p>
        </p:txBody>
      </p:sp>
      <p:sp>
        <p:nvSpPr>
          <p:cNvPr id="18" name="TextBox 17"/>
          <p:cNvSpPr txBox="1"/>
          <p:nvPr/>
        </p:nvSpPr>
        <p:spPr>
          <a:xfrm>
            <a:off x="432000" y="1224000"/>
            <a:ext cx="8280000" cy="1188000"/>
          </a:xfrm>
          <a:prstGeom prst="rect">
            <a:avLst/>
          </a:prstGeom>
          <a:noFill/>
        </p:spPr>
        <p:txBody>
          <a:bodyPr wrap="square">
            <a:spAutoFit/>
          </a:bodyPr>
          <a:lstStyle/>
          <a:p>
            <a:pPr algn="l"/>
            <a:r>
              <a:rPr sz="900" b="0" i="0">
                <a:solidFill>
                  <a:srgbClr val="555555"/>
                </a:solidFill>
              </a:rPr>
              <a:t>L'optimisation de portefeuille Markowitz repose sur les ETF SPDR sectoriels (XLK, XLV, XLF...) qui ne couvrent que le marche US (S&amp;P 500). Pour les indices europeens (CAC 40, DAX, Euro Stoxx), les proxies sectoriels equivalents ne sont pas disponibles via yfinance. L'optimisation est donc calculee uniquement lors d'une analyse S&amp;P 500.</a:t>
            </a:r>
          </a:p>
        </p:txBody>
      </p:sp>
      <p:sp>
        <p:nvSpPr>
          <p:cNvPr id="19" name="Rectangle 18"/>
          <p:cNvSpPr/>
          <p:nvPr/>
        </p:nvSpPr>
        <p:spPr>
          <a:xfrm>
            <a:off x="324000" y="2700000"/>
            <a:ext cx="84960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2718000"/>
            <a:ext cx="8280000" cy="180000"/>
          </a:xfrm>
          <a:prstGeom prst="rect">
            <a:avLst/>
          </a:prstGeom>
          <a:noFill/>
        </p:spPr>
        <p:txBody>
          <a:bodyPr wrap="square">
            <a:spAutoFit/>
          </a:bodyPr>
          <a:lstStyle/>
          <a:p>
            <a:pPr algn="l"/>
            <a:r>
              <a:rPr sz="800" b="1" i="0">
                <a:solidFill>
                  <a:srgbClr val="FFFFFF"/>
                </a:solidFill>
              </a:rPr>
              <a:t>POSITIONNEMENT SECTORIEL RECOMMANDE (sans optimisation quantitative)</a:t>
            </a:r>
          </a:p>
        </p:txBody>
      </p:sp>
      <p:sp>
        <p:nvSpPr>
          <p:cNvPr id="21" name="Rectangle 20"/>
          <p:cNvSpPr/>
          <p:nvPr/>
        </p:nvSpPr>
        <p:spPr>
          <a:xfrm>
            <a:off x="324000" y="2934000"/>
            <a:ext cx="4104000" cy="14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934000"/>
            <a:ext cx="36000" cy="14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6000" y="2951999"/>
            <a:ext cx="3924000" cy="162000"/>
          </a:xfrm>
          <a:prstGeom prst="rect">
            <a:avLst/>
          </a:prstGeom>
          <a:noFill/>
        </p:spPr>
        <p:txBody>
          <a:bodyPr wrap="square">
            <a:spAutoFit/>
          </a:bodyPr>
          <a:lstStyle/>
          <a:p>
            <a:pPr algn="l"/>
            <a:r>
              <a:rPr sz="750" b="1" i="0">
                <a:solidFill>
                  <a:srgbClr val="1A7A4A"/>
                </a:solidFill>
              </a:rPr>
              <a:t>SURPONDERER</a:t>
            </a:r>
          </a:p>
        </p:txBody>
      </p:sp>
      <p:sp>
        <p:nvSpPr>
          <p:cNvPr id="24" name="TextBox 23"/>
          <p:cNvSpPr txBox="1"/>
          <p:nvPr/>
        </p:nvSpPr>
        <p:spPr>
          <a:xfrm>
            <a:off x="432000" y="3131999"/>
            <a:ext cx="3888000" cy="234000"/>
          </a:xfrm>
          <a:prstGeom prst="rect">
            <a:avLst/>
          </a:prstGeom>
          <a:noFill/>
        </p:spPr>
        <p:txBody>
          <a:bodyPr wrap="square">
            <a:spAutoFit/>
          </a:bodyPr>
          <a:lstStyle/>
          <a:p>
            <a:pPr algn="l"/>
            <a:r>
              <a:rPr sz="800" b="0" i="0">
                <a:solidFill>
                  <a:srgbClr val="555555"/>
                </a:solidFill>
              </a:rPr>
              <a:t>• Utilities — score 85/100</a:t>
            </a:r>
          </a:p>
        </p:txBody>
      </p:sp>
      <p:sp>
        <p:nvSpPr>
          <p:cNvPr id="25" name="TextBox 24"/>
          <p:cNvSpPr txBox="1"/>
          <p:nvPr/>
        </p:nvSpPr>
        <p:spPr>
          <a:xfrm>
            <a:off x="432000" y="3401999"/>
            <a:ext cx="3888000" cy="234000"/>
          </a:xfrm>
          <a:prstGeom prst="rect">
            <a:avLst/>
          </a:prstGeom>
          <a:noFill/>
        </p:spPr>
        <p:txBody>
          <a:bodyPr wrap="square">
            <a:spAutoFit/>
          </a:bodyPr>
          <a:lstStyle/>
          <a:p>
            <a:pPr algn="l"/>
            <a:r>
              <a:rPr sz="800" b="0" i="0">
                <a:solidFill>
                  <a:srgbClr val="555555"/>
                </a:solidFill>
              </a:rPr>
              <a:t>• Energy — score 85/100</a:t>
            </a:r>
          </a:p>
        </p:txBody>
      </p:sp>
      <p:sp>
        <p:nvSpPr>
          <p:cNvPr id="26" name="TextBox 25"/>
          <p:cNvSpPr txBox="1"/>
          <p:nvPr/>
        </p:nvSpPr>
        <p:spPr>
          <a:xfrm>
            <a:off x="432000" y="3671999"/>
            <a:ext cx="3888000" cy="234000"/>
          </a:xfrm>
          <a:prstGeom prst="rect">
            <a:avLst/>
          </a:prstGeom>
          <a:noFill/>
        </p:spPr>
        <p:txBody>
          <a:bodyPr wrap="square">
            <a:spAutoFit/>
          </a:bodyPr>
          <a:lstStyle/>
          <a:p>
            <a:pPr algn="l"/>
            <a:r>
              <a:rPr sz="800" b="0" i="0">
                <a:solidFill>
                  <a:srgbClr val="555555"/>
                </a:solidFill>
              </a:rPr>
              <a:t>• Materials — score 75/100</a:t>
            </a:r>
          </a:p>
        </p:txBody>
      </p:sp>
      <p:sp>
        <p:nvSpPr>
          <p:cNvPr id="27" name="TextBox 26"/>
          <p:cNvSpPr txBox="1"/>
          <p:nvPr/>
        </p:nvSpPr>
        <p:spPr>
          <a:xfrm>
            <a:off x="432000" y="3941999"/>
            <a:ext cx="3888000" cy="234000"/>
          </a:xfrm>
          <a:prstGeom prst="rect">
            <a:avLst/>
          </a:prstGeom>
          <a:noFill/>
        </p:spPr>
        <p:txBody>
          <a:bodyPr wrap="square">
            <a:spAutoFit/>
          </a:bodyPr>
          <a:lstStyle/>
          <a:p>
            <a:pPr algn="l"/>
            <a:r>
              <a:rPr sz="800" b="0" i="0">
                <a:solidFill>
                  <a:srgbClr val="555555"/>
                </a:solidFill>
              </a:rPr>
              <a:t>• Financials — score 74/100</a:t>
            </a:r>
          </a:p>
        </p:txBody>
      </p:sp>
      <p:sp>
        <p:nvSpPr>
          <p:cNvPr id="28" name="Rectangle 27"/>
          <p:cNvSpPr/>
          <p:nvPr/>
        </p:nvSpPr>
        <p:spPr>
          <a:xfrm>
            <a:off x="4716000" y="2934000"/>
            <a:ext cx="4104000" cy="14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6000" y="2934000"/>
            <a:ext cx="36000" cy="14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88000" y="2951999"/>
            <a:ext cx="3924000" cy="162000"/>
          </a:xfrm>
          <a:prstGeom prst="rect">
            <a:avLst/>
          </a:prstGeom>
          <a:noFill/>
        </p:spPr>
        <p:txBody>
          <a:bodyPr wrap="square">
            <a:spAutoFit/>
          </a:bodyPr>
          <a:lstStyle/>
          <a:p>
            <a:pPr algn="l"/>
            <a:r>
              <a:rPr sz="750" b="1" i="0">
                <a:solidFill>
                  <a:srgbClr val="A82020"/>
                </a:solidFill>
              </a:rPr>
              <a:t>SOUS-PONDERER</a:t>
            </a:r>
          </a:p>
        </p:txBody>
      </p:sp>
      <p:sp>
        <p:nvSpPr>
          <p:cNvPr id="31" name="Rectangle 3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d'Entrée Optimale par Secteur</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P/E actuel vs médiane historique 10 ans  ·  Signal d'entrée Accumuler / Neutre / Alléger</a:t>
            </a:r>
          </a:p>
        </p:txBody>
      </p:sp>
      <p:pic>
        <p:nvPicPr>
          <p:cNvPr id="15" name="Picture 14" descr="image.png"/>
          <p:cNvPicPr>
            <a:picLocks noChangeAspect="1"/>
          </p:cNvPicPr>
          <p:nvPr/>
        </p:nvPicPr>
        <p:blipFill>
          <a:blip r:embed="rId2"/>
          <a:stretch>
            <a:fillRect/>
          </a:stretch>
        </p:blipFill>
        <p:spPr>
          <a:xfrm>
            <a:off x="324000" y="827999"/>
            <a:ext cx="5400000" cy="3780000"/>
          </a:xfrm>
          <a:prstGeom prst="rect">
            <a:avLst/>
          </a:prstGeom>
        </p:spPr>
      </p:pic>
      <p:sp>
        <p:nvSpPr>
          <p:cNvPr id="16" name="Rectangle 15"/>
          <p:cNvSpPr/>
          <p:nvPr/>
        </p:nvSpPr>
        <p:spPr>
          <a:xfrm>
            <a:off x="5868000" y="827999"/>
            <a:ext cx="2916000" cy="37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68000" y="827999"/>
            <a:ext cx="43200" cy="37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64000"/>
            <a:ext cx="2736000" cy="216000"/>
          </a:xfrm>
          <a:prstGeom prst="rect">
            <a:avLst/>
          </a:prstGeom>
          <a:noFill/>
        </p:spPr>
        <p:txBody>
          <a:bodyPr wrap="square">
            <a:spAutoFit/>
          </a:bodyPr>
          <a:lstStyle/>
          <a:p>
            <a:pPr algn="l"/>
            <a:r>
              <a:rPr sz="850" b="1" i="0">
                <a:solidFill>
                  <a:srgbClr val="1B3A6B"/>
                </a:solidFill>
              </a:rPr>
              <a:t>Lecture — Zone d'entrée</a:t>
            </a:r>
          </a:p>
        </p:txBody>
      </p:sp>
      <p:sp>
        <p:nvSpPr>
          <p:cNvPr id="19" name="TextBox 18"/>
          <p:cNvSpPr txBox="1"/>
          <p:nvPr/>
        </p:nvSpPr>
        <p:spPr>
          <a:xfrm>
            <a:off x="5976000" y="1116000"/>
            <a:ext cx="2736000" cy="3420000"/>
          </a:xfrm>
          <a:prstGeom prst="rect">
            <a:avLst/>
          </a:prstGeom>
          <a:noFill/>
        </p:spPr>
        <p:txBody>
          <a:bodyPr wrap="square">
            <a:spAutoFit/>
          </a:bodyPr>
          <a:lstStyle/>
          <a:p>
            <a:pPr algn="l"/>
            <a:r>
              <a:rPr sz="750" b="0" i="0">
                <a:solidFill>
                  <a:srgbClr val="555555"/>
                </a:solidFill>
              </a:rPr>
              <a:t>PE médiane 10 ans : 15.0x
PE Forward indice : 13.2x
Zone d'entrée favorable (PE &lt; mediane) :
Energy
Zone de prudence (PE &gt; mediane +15 %) :
Aucun
Methodologie : le PE Forward estime est ancre sur le PE global de l'indice ajuste du score sectoriel (+/- ecart). Les secteurs a gauche de la ligne pointillee (mediane 10 ans) offrent un meilleur point d'entree. Un ecart &gt; +20 % vs la médiane justifie une prudence accrue sur le timing.</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Rotation &amp; Sentiment</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Scénarios alternatifs · Rotation sectorielle · FinBERT · Performance ETF</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Macro &amp; Scénarios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adversariale  ·  3 scénarios alternatifs  ·  Conditions d'invalidation du signal Surpondérer</a:t>
            </a:r>
          </a:p>
        </p:txBody>
      </p:sp>
      <p:sp>
        <p:nvSpPr>
          <p:cNvPr id="15" name="Rectangle 14"/>
          <p:cNvSpPr/>
          <p:nvPr/>
        </p:nvSpPr>
        <p:spPr>
          <a:xfrm>
            <a:off x="324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70000"/>
          </a:xfrm>
          <a:prstGeom prst="rect">
            <a:avLst/>
          </a:prstGeom>
          <a:noFill/>
        </p:spPr>
        <p:txBody>
          <a:bodyPr wrap="square">
            <a:spAutoFit/>
          </a:bodyPr>
          <a:lstStyle/>
          <a:p>
            <a:pPr algn="l"/>
            <a:r>
              <a:rPr sz="900" b="1" i="0">
                <a:solidFill>
                  <a:srgbClr val="FFFFFF"/>
                </a:solidFill>
              </a:rPr>
              <a:t>Récession technique</a:t>
            </a:r>
          </a:p>
        </p:txBody>
      </p:sp>
      <p:sp>
        <p:nvSpPr>
          <p:cNvPr id="18" name="TextBox 17"/>
          <p:cNvSpPr txBox="1"/>
          <p:nvPr/>
        </p:nvSpPr>
        <p:spPr>
          <a:xfrm>
            <a:off x="2232000" y="864000"/>
            <a:ext cx="720000" cy="234000"/>
          </a:xfrm>
          <a:prstGeom prst="rect">
            <a:avLst/>
          </a:prstGeom>
          <a:noFill/>
        </p:spPr>
        <p:txBody>
          <a:bodyPr wrap="square">
            <a:spAutoFit/>
          </a:bodyPr>
          <a:lstStyle/>
          <a:p>
            <a:pPr algn="r"/>
            <a:r>
              <a:rPr sz="900" b="1" i="0">
                <a:solidFill>
                  <a:srgbClr val="FFFFFF"/>
                </a:solidFill>
              </a:rPr>
              <a:t>Prob. 18 %</a:t>
            </a:r>
          </a:p>
        </p:txBody>
      </p:sp>
      <p:sp>
        <p:nvSpPr>
          <p:cNvPr id="19" name="TextBox 18"/>
          <p:cNvSpPr txBox="1"/>
          <p:nvPr/>
        </p:nvSpPr>
        <p:spPr>
          <a:xfrm>
            <a:off x="396000" y="1170000"/>
            <a:ext cx="2592000" cy="1152000"/>
          </a:xfrm>
          <a:prstGeom prst="rect">
            <a:avLst/>
          </a:prstGeom>
          <a:noFill/>
        </p:spPr>
        <p:txBody>
          <a:bodyPr wrap="square">
            <a:spAutoFit/>
          </a:bodyPr>
          <a:lstStyle/>
          <a:p>
            <a:pPr algn="l"/>
            <a:r>
              <a:rPr sz="800" b="0" i="0">
                <a:solidFill>
                  <a:srgbClr val="555555"/>
                </a:solidFill>
              </a:rPr>
              <a:t>Deux trimestres PIB &lt; 0 % — révision BPA -15/-20 %. Signal passerait Sous-pondérer.</a:t>
            </a:r>
          </a:p>
        </p:txBody>
      </p:sp>
      <p:sp>
        <p:nvSpPr>
          <p:cNvPr id="20" name="Rectangle 19"/>
          <p:cNvSpPr/>
          <p:nvPr/>
        </p:nvSpPr>
        <p:spPr>
          <a:xfrm>
            <a:off x="3150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50000"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999" y="846000"/>
            <a:ext cx="1800000" cy="270000"/>
          </a:xfrm>
          <a:prstGeom prst="rect">
            <a:avLst/>
          </a:prstGeom>
          <a:noFill/>
        </p:spPr>
        <p:txBody>
          <a:bodyPr wrap="square">
            <a:spAutoFit/>
          </a:bodyPr>
          <a:lstStyle/>
          <a:p>
            <a:pPr algn="l"/>
            <a:r>
              <a:rPr sz="900" b="1" i="0">
                <a:solidFill>
                  <a:srgbClr val="FFFFFF"/>
                </a:solidFill>
              </a:rPr>
              <a:t>Resserrement Fed prolongé</a:t>
            </a:r>
          </a:p>
        </p:txBody>
      </p:sp>
      <p:sp>
        <p:nvSpPr>
          <p:cNvPr id="23" name="TextBox 22"/>
          <p:cNvSpPr txBox="1"/>
          <p:nvPr/>
        </p:nvSpPr>
        <p:spPr>
          <a:xfrm>
            <a:off x="5058000" y="864000"/>
            <a:ext cx="720000" cy="234000"/>
          </a:xfrm>
          <a:prstGeom prst="rect">
            <a:avLst/>
          </a:prstGeom>
          <a:noFill/>
        </p:spPr>
        <p:txBody>
          <a:bodyPr wrap="square">
            <a:spAutoFit/>
          </a:bodyPr>
          <a:lstStyle/>
          <a:p>
            <a:pPr algn="r"/>
            <a:r>
              <a:rPr sz="900" b="1" i="0">
                <a:solidFill>
                  <a:srgbClr val="FFFFFF"/>
                </a:solidFill>
              </a:rPr>
              <a:t>Prob. 35 %</a:t>
            </a:r>
          </a:p>
        </p:txBody>
      </p:sp>
      <p:sp>
        <p:nvSpPr>
          <p:cNvPr id="24" name="TextBox 23"/>
          <p:cNvSpPr txBox="1"/>
          <p:nvPr/>
        </p:nvSpPr>
        <p:spPr>
          <a:xfrm>
            <a:off x="3221999" y="1170000"/>
            <a:ext cx="2592000" cy="1152000"/>
          </a:xfrm>
          <a:prstGeom prst="rect">
            <a:avLst/>
          </a:prstGeom>
          <a:noFill/>
        </p:spPr>
        <p:txBody>
          <a:bodyPr wrap="square">
            <a:spAutoFit/>
          </a:bodyPr>
          <a:lstStyle/>
          <a:p>
            <a:pPr algn="l"/>
            <a:r>
              <a:rPr sz="800" b="0" i="0">
                <a:solidFill>
                  <a:srgbClr val="555555"/>
                </a:solidFill>
              </a:rPr>
              <a:t>Fed Funds &gt; 4,5 % jusqu'en 2027 — compression multiples growth et rotation sectorielle.</a:t>
            </a:r>
          </a:p>
        </p:txBody>
      </p:sp>
      <p:sp>
        <p:nvSpPr>
          <p:cNvPr id="25" name="Rectangle 24"/>
          <p:cNvSpPr/>
          <p:nvPr/>
        </p:nvSpPr>
        <p:spPr>
          <a:xfrm>
            <a:off x="5975999"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75999"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47999" y="846000"/>
            <a:ext cx="1800000" cy="270000"/>
          </a:xfrm>
          <a:prstGeom prst="rect">
            <a:avLst/>
          </a:prstGeom>
          <a:noFill/>
        </p:spPr>
        <p:txBody>
          <a:bodyPr wrap="square">
            <a:spAutoFit/>
          </a:bodyPr>
          <a:lstStyle/>
          <a:p>
            <a:pPr algn="l"/>
            <a:r>
              <a:rPr sz="900" b="1" i="0">
                <a:solidFill>
                  <a:srgbClr val="FFFFFF"/>
                </a:solidFill>
              </a:rPr>
              <a:t>Choc géopolitique</a:t>
            </a:r>
          </a:p>
        </p:txBody>
      </p:sp>
      <p:sp>
        <p:nvSpPr>
          <p:cNvPr id="28" name="TextBox 27"/>
          <p:cNvSpPr txBox="1"/>
          <p:nvPr/>
        </p:nvSpPr>
        <p:spPr>
          <a:xfrm>
            <a:off x="7883999" y="864000"/>
            <a:ext cx="720000" cy="234000"/>
          </a:xfrm>
          <a:prstGeom prst="rect">
            <a:avLst/>
          </a:prstGeom>
          <a:noFill/>
        </p:spPr>
        <p:txBody>
          <a:bodyPr wrap="square">
            <a:spAutoFit/>
          </a:bodyPr>
          <a:lstStyle/>
          <a:p>
            <a:pPr algn="r"/>
            <a:r>
              <a:rPr sz="900" b="1" i="0">
                <a:solidFill>
                  <a:srgbClr val="FFFFFF"/>
                </a:solidFill>
              </a:rPr>
              <a:t>Prob. 20 %</a:t>
            </a:r>
          </a:p>
        </p:txBody>
      </p:sp>
      <p:sp>
        <p:nvSpPr>
          <p:cNvPr id="29" name="TextBox 28"/>
          <p:cNvSpPr txBox="1"/>
          <p:nvPr/>
        </p:nvSpPr>
        <p:spPr>
          <a:xfrm>
            <a:off x="6047999" y="1170000"/>
            <a:ext cx="2592000" cy="1152000"/>
          </a:xfrm>
          <a:prstGeom prst="rect">
            <a:avLst/>
          </a:prstGeom>
          <a:noFill/>
        </p:spPr>
        <p:txBody>
          <a:bodyPr wrap="square">
            <a:spAutoFit/>
          </a:bodyPr>
          <a:lstStyle/>
          <a:p>
            <a:pPr algn="l"/>
            <a:r>
              <a:rPr sz="800" b="0" i="0">
                <a:solidFill>
                  <a:srgbClr val="555555"/>
                </a:solidFill>
              </a:rPr>
              <a:t>Escalade géopolitique — spike VIX &gt; 35, rotation défensive vers Consumer Staples et Health Care.</a:t>
            </a:r>
          </a:p>
        </p:txBody>
      </p:sp>
      <p:sp>
        <p:nvSpPr>
          <p:cNvPr id="30" name="Rectangle 29"/>
          <p:cNvSpPr/>
          <p:nvPr/>
        </p:nvSpPr>
        <p:spPr>
          <a:xfrm>
            <a:off x="324000" y="2520000"/>
            <a:ext cx="8496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6000" y="2538000"/>
            <a:ext cx="8208000" cy="162000"/>
          </a:xfrm>
          <a:prstGeom prst="rect">
            <a:avLst/>
          </a:prstGeom>
          <a:noFill/>
        </p:spPr>
        <p:txBody>
          <a:bodyPr wrap="square">
            <a:spAutoFit/>
          </a:bodyPr>
          <a:lstStyle/>
          <a:p>
            <a:pPr algn="l"/>
            <a:r>
              <a:rPr sz="800" b="1" i="0">
                <a:solidFill>
                  <a:srgbClr val="FFFFFF"/>
                </a:solidFill>
              </a:rPr>
              <a:t>Conditions d'invalidation du signal SURPONDÉRER</a:t>
            </a:r>
          </a:p>
        </p:txBody>
      </p:sp>
      <p:sp>
        <p:nvSpPr>
          <p:cNvPr id="32" name="Rectangle 31"/>
          <p:cNvSpPr/>
          <p:nvPr/>
        </p:nvSpPr>
        <p:spPr>
          <a:xfrm>
            <a:off x="324000" y="2772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999" y="2772000"/>
            <a:ext cx="8028000" cy="324000"/>
          </a:xfrm>
          <a:prstGeom prst="rect">
            <a:avLst/>
          </a:prstGeom>
          <a:noFill/>
        </p:spPr>
        <p:txBody>
          <a:bodyPr wrap="square">
            <a:spAutoFit/>
          </a:bodyPr>
          <a:lstStyle/>
          <a:p>
            <a:pPr algn="l"/>
            <a:r>
              <a:rPr sz="850" b="0" i="0">
                <a:solidFill>
                  <a:srgbClr val="555555"/>
                </a:solidFill>
              </a:rPr>
              <a:t>Euro Stoxx 50 casse le support 4 800 pts — signal bascule Sous-ponderer</a:t>
            </a:r>
          </a:p>
        </p:txBody>
      </p:sp>
      <p:sp>
        <p:nvSpPr>
          <p:cNvPr id="34" name="Rectangle 33"/>
          <p:cNvSpPr/>
          <p:nvPr/>
        </p:nvSpPr>
        <p:spPr>
          <a:xfrm>
            <a:off x="324000" y="3168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168000"/>
            <a:ext cx="8028000" cy="324000"/>
          </a:xfrm>
          <a:prstGeom prst="rect">
            <a:avLst/>
          </a:prstGeom>
          <a:noFill/>
        </p:spPr>
        <p:txBody>
          <a:bodyPr wrap="square">
            <a:spAutoFit/>
          </a:bodyPr>
          <a:lstStyle/>
          <a:p>
            <a:pPr algn="l"/>
            <a:r>
              <a:rPr sz="850" b="0" i="0">
                <a:solidFill>
                  <a:srgbClr val="555555"/>
                </a:solidFill>
              </a:rPr>
              <a:t>Fed hike inattendu post-CPI &gt; 3.5% — derating massif growth</a:t>
            </a:r>
          </a:p>
        </p:txBody>
      </p:sp>
      <p:sp>
        <p:nvSpPr>
          <p:cNvPr id="36" name="Rectangle 35"/>
          <p:cNvSpPr/>
          <p:nvPr/>
        </p:nvSpPr>
        <p:spPr>
          <a:xfrm>
            <a:off x="324000" y="3564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3999" y="3564000"/>
            <a:ext cx="8028000" cy="324000"/>
          </a:xfrm>
          <a:prstGeom prst="rect">
            <a:avLst/>
          </a:prstGeom>
          <a:noFill/>
        </p:spPr>
        <p:txBody>
          <a:bodyPr wrap="square">
            <a:spAutoFit/>
          </a:bodyPr>
          <a:lstStyle/>
          <a:p>
            <a:pPr algn="l"/>
            <a:r>
              <a:rPr sz="850" b="0" i="0">
                <a:solidFill>
                  <a:srgbClr val="555555"/>
                </a:solidFill>
              </a:rPr>
              <a:t>Revisions BPA agragees &lt; -5% sur 2 trimestres consecutifs</a:t>
            </a:r>
          </a:p>
        </p:txBody>
      </p:sp>
      <p:sp>
        <p:nvSpPr>
          <p:cNvPr id="38" name="Rectangle 37"/>
          <p:cNvSpPr/>
          <p:nvPr/>
        </p:nvSpPr>
        <p:spPr>
          <a:xfrm>
            <a:off x="324000" y="3960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999" y="3960000"/>
            <a:ext cx="8028000" cy="324000"/>
          </a:xfrm>
          <a:prstGeom prst="rect">
            <a:avLst/>
          </a:prstGeom>
          <a:noFill/>
        </p:spPr>
        <p:txBody>
          <a:bodyPr wrap="square">
            <a:spAutoFit/>
          </a:bodyPr>
          <a:lstStyle/>
          <a:p>
            <a:pPr algn="l"/>
            <a:r>
              <a:rPr sz="850" b="0" i="0">
                <a:solidFill>
                  <a:srgbClr val="555555"/>
                </a:solidFill>
              </a:rPr>
              <a:t>VIX &gt; 35 sur plus de 10 seances consecutives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Rotation Sectorielle &amp; Cycle Économique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Euro Stoxx 50  ·  Phase actuelle : Expansion avancée  ·  Sensibilités taux/PIB  ·  Signal de rotation</a:t>
            </a:r>
          </a:p>
        </p:txBody>
      </p:sp>
      <p:graphicFrame>
        <p:nvGraphicFramePr>
          <p:cNvPr id="15" name="Table 14"/>
          <p:cNvGraphicFramePr>
            <a:graphicFrameLocks noGrp="1"/>
          </p:cNvGraphicFramePr>
          <p:nvPr/>
        </p:nvGraphicFramePr>
        <p:xfrm>
          <a:off x="324000" y="827999"/>
          <a:ext cx="8495999" cy="2808000"/>
        </p:xfrm>
        <a:graphic>
          <a:graphicData uri="http://schemas.openxmlformats.org/drawingml/2006/table">
            <a:tbl>
              <a:tblPr firstRow="1" bandRow="1">
                <a:tableStyleId>{5C22544A-7EE6-4342-B048-85BDC9FD1C3A}</a:tableStyleId>
              </a:tblPr>
              <a:tblGrid>
                <a:gridCol w="2184685"/>
                <a:gridCol w="1699200"/>
                <a:gridCol w="1456457"/>
                <a:gridCol w="1456457"/>
                <a:gridCol w="1699200"/>
              </a:tblGrid>
              <a:tr h="234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Phase favorisée</a:t>
                      </a:r>
                    </a:p>
                  </a:txBody>
                  <a:tcPr>
                    <a:solidFill>
                      <a:srgbClr val="1B3A6B"/>
                    </a:solidFill>
                  </a:tcPr>
                </a:tc>
                <a:tc>
                  <a:txBody>
                    <a:bodyPr/>
                    <a:lstStyle/>
                    <a:p>
                      <a:pPr algn="ctr"/>
                      <a:r>
                        <a:rPr sz="800" b="1">
                          <a:solidFill>
                            <a:srgbClr val="FFFFFF"/>
                          </a:solidFill>
                        </a:rPr>
                        <a:t>Sens. Taux</a:t>
                      </a:r>
                    </a:p>
                  </a:txBody>
                  <a:tcPr>
                    <a:solidFill>
                      <a:srgbClr val="1B3A6B"/>
                    </a:solidFill>
                  </a:tcPr>
                </a:tc>
                <a:tc>
                  <a:txBody>
                    <a:bodyPr/>
                    <a:lstStyle/>
                    <a:p>
                      <a:pPr algn="ctr"/>
                      <a:r>
                        <a:rPr sz="800" b="1">
                          <a:solidFill>
                            <a:srgbClr val="FFFFFF"/>
                          </a:solidFill>
                        </a:rPr>
                        <a:t>Sens. PIB</a:t>
                      </a:r>
                    </a:p>
                  </a:txBody>
                  <a:tcPr>
                    <a:solidFill>
                      <a:srgbClr val="1B3A6B"/>
                    </a:solidFill>
                  </a:tcPr>
                </a:tc>
                <a:tc>
                  <a:txBody>
                    <a:bodyPr/>
                    <a:lstStyle/>
                    <a:p>
                      <a:pPr algn="ctr"/>
                      <a:r>
                        <a:rPr sz="800" b="1">
                          <a:solidFill>
                            <a:srgbClr val="FFFFFF"/>
                          </a:solidFill>
                        </a:rPr>
                        <a:t>Signal Rotation</a:t>
                      </a:r>
                    </a:p>
                  </a:txBody>
                  <a:tcPr>
                    <a:solidFill>
                      <a:srgbClr val="1B3A6B"/>
                    </a:solidFill>
                  </a:tcPr>
                </a:tc>
              </a:tr>
              <a:tr h="234000">
                <a:tc>
                  <a:txBody>
                    <a:bodyPr/>
                    <a:lstStyle/>
                    <a:p>
                      <a:pPr algn="ctr"/>
                      <a:r>
                        <a:rPr sz="800" b="0">
                          <a:solidFill>
                            <a:srgbClr val="1A1A1A"/>
                          </a:solidFill>
                        </a:rPr>
                        <a:t>Technology</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Financials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Positive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Discret.</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Staples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Energy</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Alléger</a:t>
                      </a:r>
                    </a:p>
                  </a:txBody>
                  <a:tcPr>
                    <a:solidFill>
                      <a:srgbClr val="FDF3E5"/>
                    </a:solidFill>
                  </a:tcPr>
                </a:tc>
              </a:tr>
              <a:tr h="234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Ralentissement</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Alléger</a:t>
                      </a:r>
                    </a:p>
                  </a:txBody>
                  <a:tcPr>
                    <a:solidFill>
                      <a:srgbClr val="FDF3E5"/>
                    </a:solidFill>
                  </a:tcPr>
                </a:tc>
              </a:tr>
              <a:tr h="234000">
                <a:tc>
                  <a:txBody>
                    <a:bodyPr/>
                    <a:lstStyle/>
                    <a:p>
                      <a:pPr algn="ctr"/>
                      <a:r>
                        <a:rPr sz="800" b="0">
                          <a:solidFill>
                            <a:srgbClr val="1A1A1A"/>
                          </a:solidFill>
                        </a:rPr>
                        <a:t>Utilities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Alléger</a:t>
                      </a:r>
                    </a:p>
                  </a:txBody>
                  <a:tcPr>
                    <a:solidFill>
                      <a:srgbClr val="FDF3E5"/>
                    </a:solid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Positionnement de cycle — Synthèse et catalyseur de rotation</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La rotation sectorielle recommandee s'appuie sur le modele cycle 4-phases FinSight. En phase d'expansion avancée, le signal Accumuler se concentre sur les secteurs a forte croissance BPA et pricing power : Technology (IA), Health Care (FDA pipeline), Financials (NIM). Le signal Alléger cible Real Estate (pression taux directe) et Utilities...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Sectoriel Composite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Score proxy dérivé des scores sectoriels  ·  10 secteurs  ·  Signal composite</a:t>
            </a:r>
          </a:p>
        </p:txBody>
      </p:sp>
      <p:sp>
        <p:nvSpPr>
          <p:cNvPr id="15" name="Rectangle 14"/>
          <p:cNvSpPr/>
          <p:nvPr/>
        </p:nvSpPr>
        <p:spPr>
          <a:xfrm>
            <a:off x="324000" y="827999"/>
            <a:ext cx="2088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00000"/>
            <a:ext cx="1908000" cy="576000"/>
          </a:xfrm>
          <a:prstGeom prst="rect">
            <a:avLst/>
          </a:prstGeom>
          <a:noFill/>
        </p:spPr>
        <p:txBody>
          <a:bodyPr wrap="square">
            <a:spAutoFit/>
          </a:bodyPr>
          <a:lstStyle/>
          <a:p>
            <a:pPr algn="l"/>
            <a:r>
              <a:rPr sz="3200" b="1" i="0">
                <a:solidFill>
                  <a:srgbClr val="1A7A4A"/>
                </a:solidFill>
              </a:rPr>
              <a:t>+0.06</a:t>
            </a:r>
          </a:p>
        </p:txBody>
      </p:sp>
      <p:sp>
        <p:nvSpPr>
          <p:cNvPr id="18" name="TextBox 17"/>
          <p:cNvSpPr txBox="1"/>
          <p:nvPr/>
        </p:nvSpPr>
        <p:spPr>
          <a:xfrm>
            <a:off x="432000" y="1458000"/>
            <a:ext cx="1908000" cy="198000"/>
          </a:xfrm>
          <a:prstGeom prst="rect">
            <a:avLst/>
          </a:prstGeom>
          <a:noFill/>
        </p:spPr>
        <p:txBody>
          <a:bodyPr wrap="square">
            <a:spAutoFit/>
          </a:bodyPr>
          <a:lstStyle/>
          <a:p>
            <a:pPr algn="l"/>
            <a:r>
              <a:rPr sz="800" b="0" i="0">
                <a:solidFill>
                  <a:srgbClr val="555555"/>
                </a:solidFill>
              </a:rPr>
              <a:t>Score composite secteurs</a:t>
            </a:r>
          </a:p>
        </p:txBody>
      </p:sp>
      <p:sp>
        <p:nvSpPr>
          <p:cNvPr id="19" name="TextBox 18"/>
          <p:cNvSpPr txBox="1"/>
          <p:nvPr/>
        </p:nvSpPr>
        <p:spPr>
          <a:xfrm>
            <a:off x="432000" y="1638000"/>
            <a:ext cx="1908000" cy="180000"/>
          </a:xfrm>
          <a:prstGeom prst="rect">
            <a:avLst/>
          </a:prstGeom>
          <a:noFill/>
        </p:spPr>
        <p:txBody>
          <a:bodyPr wrap="square">
            <a:spAutoFit/>
          </a:bodyPr>
          <a:lstStyle/>
          <a:p>
            <a:pPr algn="l"/>
            <a:r>
              <a:rPr sz="850" b="1" i="0">
                <a:solidFill>
                  <a:srgbClr val="1A7A4A"/>
                </a:solidFill>
              </a:rPr>
              <a:t>Neutre</a:t>
            </a:r>
          </a:p>
        </p:txBody>
      </p:sp>
      <p:sp>
        <p:nvSpPr>
          <p:cNvPr id="20" name="Rectangle 19"/>
          <p:cNvSpPr/>
          <p:nvPr/>
        </p:nvSpPr>
        <p:spPr>
          <a:xfrm>
            <a:off x="2592000" y="827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92000" y="827999"/>
            <a:ext cx="1235520" cy="36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64000" y="845999"/>
            <a:ext cx="1620000" cy="162000"/>
          </a:xfrm>
          <a:prstGeom prst="rect">
            <a:avLst/>
          </a:prstGeom>
          <a:noFill/>
        </p:spPr>
        <p:txBody>
          <a:bodyPr wrap="square">
            <a:spAutoFit/>
          </a:bodyPr>
          <a:lstStyle/>
          <a:p>
            <a:pPr algn="l"/>
            <a:r>
              <a:rPr sz="850" b="1" i="0">
                <a:solidFill>
                  <a:srgbClr val="FFFFFF"/>
                </a:solidFill>
              </a:rPr>
              <a:t>Surpondérer</a:t>
            </a:r>
          </a:p>
        </p:txBody>
      </p:sp>
      <p:sp>
        <p:nvSpPr>
          <p:cNvPr id="23" name="TextBox 22"/>
          <p:cNvSpPr txBox="1"/>
          <p:nvPr/>
        </p:nvSpPr>
        <p:spPr>
          <a:xfrm>
            <a:off x="2664000" y="1007999"/>
            <a:ext cx="2520000" cy="162000"/>
          </a:xfrm>
          <a:prstGeom prst="rect">
            <a:avLst/>
          </a:prstGeom>
          <a:noFill/>
        </p:spPr>
        <p:txBody>
          <a:bodyPr wrap="square">
            <a:spAutoFit/>
          </a:bodyPr>
          <a:lstStyle/>
          <a:p>
            <a:pPr algn="l"/>
            <a:r>
              <a:rPr sz="800" b="0" i="0">
                <a:solidFill>
                  <a:srgbClr val="FFFFFF"/>
                </a:solidFill>
              </a:rPr>
              <a:t>15 secteurs (44 %)</a:t>
            </a:r>
          </a:p>
        </p:txBody>
      </p:sp>
      <p:sp>
        <p:nvSpPr>
          <p:cNvPr id="24" name="Rectangle 23"/>
          <p:cNvSpPr/>
          <p:nvPr/>
        </p:nvSpPr>
        <p:spPr>
          <a:xfrm>
            <a:off x="2592000" y="1242000"/>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000" y="1242000"/>
            <a:ext cx="982800" cy="3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4000" y="1259999"/>
            <a:ext cx="1620000" cy="162000"/>
          </a:xfrm>
          <a:prstGeom prst="rect">
            <a:avLst/>
          </a:prstGeom>
          <a:noFill/>
        </p:spPr>
        <p:txBody>
          <a:bodyPr wrap="square">
            <a:spAutoFit/>
          </a:bodyPr>
          <a:lstStyle/>
          <a:p>
            <a:pPr algn="l"/>
            <a:r>
              <a:rPr sz="850" b="1" i="0">
                <a:solidFill>
                  <a:srgbClr val="FFFFFF"/>
                </a:solidFill>
              </a:rPr>
              <a:t>Neutre</a:t>
            </a:r>
          </a:p>
        </p:txBody>
      </p:sp>
      <p:sp>
        <p:nvSpPr>
          <p:cNvPr id="27" name="TextBox 26"/>
          <p:cNvSpPr txBox="1"/>
          <p:nvPr/>
        </p:nvSpPr>
        <p:spPr>
          <a:xfrm>
            <a:off x="2664000" y="1422000"/>
            <a:ext cx="2520000" cy="162000"/>
          </a:xfrm>
          <a:prstGeom prst="rect">
            <a:avLst/>
          </a:prstGeom>
          <a:noFill/>
        </p:spPr>
        <p:txBody>
          <a:bodyPr wrap="square">
            <a:spAutoFit/>
          </a:bodyPr>
          <a:lstStyle/>
          <a:p>
            <a:pPr algn="l"/>
            <a:r>
              <a:rPr sz="800" b="0" i="0">
                <a:solidFill>
                  <a:srgbClr val="FFFFFF"/>
                </a:solidFill>
              </a:rPr>
              <a:t>12 secteurs (35 %)</a:t>
            </a:r>
          </a:p>
        </p:txBody>
      </p:sp>
      <p:sp>
        <p:nvSpPr>
          <p:cNvPr id="28" name="Rectangle 27"/>
          <p:cNvSpPr/>
          <p:nvPr/>
        </p:nvSpPr>
        <p:spPr>
          <a:xfrm>
            <a:off x="2592000" y="1655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000" y="1655999"/>
            <a:ext cx="589680" cy="36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64000" y="1673999"/>
            <a:ext cx="1620000" cy="162000"/>
          </a:xfrm>
          <a:prstGeom prst="rect">
            <a:avLst/>
          </a:prstGeom>
          <a:noFill/>
        </p:spPr>
        <p:txBody>
          <a:bodyPr wrap="square">
            <a:spAutoFit/>
          </a:bodyPr>
          <a:lstStyle/>
          <a:p>
            <a:pPr algn="l"/>
            <a:r>
              <a:rPr sz="850" b="1" i="0">
                <a:solidFill>
                  <a:srgbClr val="1A1A1A"/>
                </a:solidFill>
              </a:rPr>
              <a:t>Sous-pondérer</a:t>
            </a:r>
          </a:p>
        </p:txBody>
      </p:sp>
      <p:sp>
        <p:nvSpPr>
          <p:cNvPr id="31" name="TextBox 30"/>
          <p:cNvSpPr txBox="1"/>
          <p:nvPr/>
        </p:nvSpPr>
        <p:spPr>
          <a:xfrm>
            <a:off x="2664000" y="1835999"/>
            <a:ext cx="2520000" cy="162000"/>
          </a:xfrm>
          <a:prstGeom prst="rect">
            <a:avLst/>
          </a:prstGeom>
          <a:noFill/>
        </p:spPr>
        <p:txBody>
          <a:bodyPr wrap="square">
            <a:spAutoFit/>
          </a:bodyPr>
          <a:lstStyle/>
          <a:p>
            <a:pPr algn="l"/>
            <a:r>
              <a:rPr sz="800" b="0" i="0">
                <a:solidFill>
                  <a:srgbClr val="1A1A1A"/>
                </a:solidFill>
              </a:rPr>
              <a:t>7 secteurs (21 %)</a:t>
            </a:r>
          </a:p>
        </p:txBody>
      </p:sp>
      <p:sp>
        <p:nvSpPr>
          <p:cNvPr id="32" name="TextBox 31"/>
          <p:cNvSpPr txBox="1"/>
          <p:nvPr/>
        </p:nvSpPr>
        <p:spPr>
          <a:xfrm>
            <a:off x="5580000" y="827999"/>
            <a:ext cx="3168000" cy="180000"/>
          </a:xfrm>
          <a:prstGeom prst="rect">
            <a:avLst/>
          </a:prstGeom>
          <a:noFill/>
        </p:spPr>
        <p:txBody>
          <a:bodyPr wrap="square">
            <a:spAutoFit/>
          </a:bodyPr>
          <a:lstStyle/>
          <a:p>
            <a:pPr algn="l"/>
            <a:r>
              <a:rPr sz="850" b="1" i="0">
                <a:solidFill>
                  <a:srgbClr val="1B3A6B"/>
                </a:solidFill>
              </a:rPr>
              <a:t>Secteurs leaders / retardataires</a:t>
            </a:r>
          </a:p>
        </p:txBody>
      </p:sp>
      <p:sp>
        <p:nvSpPr>
          <p:cNvPr id="33" name="Rectangle 32"/>
          <p:cNvSpPr/>
          <p:nvPr/>
        </p:nvSpPr>
        <p:spPr>
          <a:xfrm>
            <a:off x="5580000" y="1044000"/>
            <a:ext cx="3168000" cy="45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2000" y="1062000"/>
            <a:ext cx="3024000" cy="413999"/>
          </a:xfrm>
          <a:prstGeom prst="rect">
            <a:avLst/>
          </a:prstGeom>
          <a:noFill/>
        </p:spPr>
        <p:txBody>
          <a:bodyPr wrap="square">
            <a:spAutoFit/>
          </a:bodyPr>
          <a:lstStyle/>
          <a:p>
            <a:pPr algn="l"/>
            <a:r>
              <a:rPr sz="800" b="0" i="0">
                <a:solidFill>
                  <a:srgbClr val="555555"/>
                </a:solidFill>
              </a:rPr>
              <a:t>Surpondérer : Resultats T4  ·  Cycle IA  ·  Innovation semi</a:t>
            </a:r>
          </a:p>
        </p:txBody>
      </p:sp>
      <p:sp>
        <p:nvSpPr>
          <p:cNvPr id="35" name="Rectangle 34"/>
          <p:cNvSpPr/>
          <p:nvPr/>
        </p:nvSpPr>
        <p:spPr>
          <a:xfrm>
            <a:off x="5580000" y="1530000"/>
            <a:ext cx="3168000" cy="45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52000" y="1548000"/>
            <a:ext cx="3024000" cy="413999"/>
          </a:xfrm>
          <a:prstGeom prst="rect">
            <a:avLst/>
          </a:prstGeom>
          <a:noFill/>
        </p:spPr>
        <p:txBody>
          <a:bodyPr wrap="square">
            <a:spAutoFit/>
          </a:bodyPr>
          <a:lstStyle/>
          <a:p>
            <a:pPr algn="l"/>
            <a:r>
              <a:rPr sz="800" b="0" i="0">
                <a:solidFill>
                  <a:srgbClr val="555555"/>
                </a:solidFill>
              </a:rPr>
              <a:t>Sous-pondérer : Regulation  ·  Taux LT  ·  CRE</a:t>
            </a:r>
          </a:p>
        </p:txBody>
      </p:sp>
      <p:sp>
        <p:nvSpPr>
          <p:cNvPr id="37" name="TextBox 36"/>
          <p:cNvSpPr txBox="1"/>
          <p:nvPr/>
        </p:nvSpPr>
        <p:spPr>
          <a:xfrm>
            <a:off x="324000" y="2124000"/>
            <a:ext cx="8496000" cy="198000"/>
          </a:xfrm>
          <a:prstGeom prst="rect">
            <a:avLst/>
          </a:prstGeom>
          <a:noFill/>
        </p:spPr>
        <p:txBody>
          <a:bodyPr wrap="square">
            <a:spAutoFit/>
          </a:bodyPr>
          <a:lstStyle/>
          <a:p>
            <a:pPr algn="l"/>
            <a:r>
              <a:rPr sz="800" b="1" i="0">
                <a:solidFill>
                  <a:srgbClr val="1B3A6B"/>
                </a:solidFill>
              </a:rPr>
              <a:t>Score composite par secteur (dérivé du score quantitatif)</a:t>
            </a:r>
          </a:p>
        </p:txBody>
      </p:sp>
      <p:pic>
        <p:nvPicPr>
          <p:cNvPr id="38" name="Picture 37" descr="image.png"/>
          <p:cNvPicPr>
            <a:picLocks noChangeAspect="1"/>
          </p:cNvPicPr>
          <p:nvPr/>
        </p:nvPicPr>
        <p:blipFill>
          <a:blip r:embed="rId2"/>
          <a:stretch>
            <a:fillRect/>
          </a:stretch>
        </p:blipFill>
        <p:spPr>
          <a:xfrm>
            <a:off x="324000" y="2340000"/>
            <a:ext cx="8496000" cy="2520000"/>
          </a:xfrm>
          <a:prstGeom prst="rect">
            <a:avLst/>
          </a:prstGeom>
        </p:spPr>
      </p:pic>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de l'Indice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1A1A1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Euro Stoxx 50  ·  vs S&amp;P 500, Obligations &amp; Or  ·  Indexe a 100  ·  Source yfinance</a:t>
            </a:r>
          </a:p>
        </p:txBody>
      </p:sp>
      <p:pic>
        <p:nvPicPr>
          <p:cNvPr id="15" name="Picture 14" descr="image.png"/>
          <p:cNvPicPr>
            <a:picLocks noChangeAspect="1"/>
          </p:cNvPicPr>
          <p:nvPr/>
        </p:nvPicPr>
        <p:blipFill>
          <a:blip r:embed="rId2"/>
          <a:stretch>
            <a:fillRect/>
          </a:stretch>
        </p:blipFill>
        <p:spPr>
          <a:xfrm>
            <a:off x="324000" y="792000"/>
            <a:ext cx="8496000" cy="2340000"/>
          </a:xfrm>
          <a:prstGeom prst="rect">
            <a:avLst/>
          </a:prstGeom>
        </p:spPr>
      </p:pic>
      <p:sp>
        <p:nvSpPr>
          <p:cNvPr id="16" name="Rectangle 15"/>
          <p:cNvSpPr/>
          <p:nvPr/>
        </p:nvSpPr>
        <p:spPr>
          <a:xfrm>
            <a:off x="324000" y="3240000"/>
            <a:ext cx="8496000" cy="156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240000"/>
            <a:ext cx="43200" cy="156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294000"/>
            <a:ext cx="8208000" cy="216000"/>
          </a:xfrm>
          <a:prstGeom prst="rect">
            <a:avLst/>
          </a:prstGeom>
          <a:noFill/>
        </p:spPr>
        <p:txBody>
          <a:bodyPr wrap="square">
            <a:spAutoFit/>
          </a:bodyPr>
          <a:lstStyle/>
          <a:p>
            <a:pPr algn="l"/>
            <a:r>
              <a:rPr sz="800" b="1" i="0">
                <a:solidFill>
                  <a:srgbClr val="1B3A6B"/>
                </a:solidFill>
              </a:rPr>
              <a:t>Lecture analytique — Euro Stoxx 50 sur 52 semaines</a:t>
            </a:r>
          </a:p>
        </p:txBody>
      </p:sp>
      <p:sp>
        <p:nvSpPr>
          <p:cNvPr id="19" name="TextBox 18"/>
          <p:cNvSpPr txBox="1"/>
          <p:nvPr/>
        </p:nvSpPr>
        <p:spPr>
          <a:xfrm>
            <a:off x="432000" y="3528000"/>
            <a:ext cx="8208000" cy="1242000"/>
          </a:xfrm>
          <a:prstGeom prst="rect">
            <a:avLst/>
          </a:prstGeom>
          <a:noFill/>
        </p:spPr>
        <p:txBody>
          <a:bodyPr wrap="square">
            <a:spAutoFit/>
          </a:bodyPr>
          <a:lstStyle/>
          <a:p>
            <a:pPr algn="l"/>
            <a:r>
              <a:rPr sz="750" b="0" i="0">
                <a:solidFill>
                  <a:srgbClr val="555555"/>
                </a:solidFill>
              </a:rPr>
              <a:t>Tendance haussiere sur 52 semaines (+6.2%). Cours actuel : 5 633 (YTD : -4.9%).  Plus haut atteint en 2026-02 (+16.4% vs base) — porte par l'appetit pour le risque et les flux entrants sur les equites europeennes.  Point bas en 2025-04 (-12.8% vs base).  Rebond de +19.1pts depuis le creux de 2025-04 — soutenu par les publications de resultats et les anticipations de politique monetaire accommodante.  Vs S&amp;P 500 (+15.8%) : sous-performance de 9.5pt — le marche US reste porte par la tech et le momentum des megacaps.  Or (+48.7%) surperforme nettement — signal d aversion au risque et demande de protection contre l inflation.</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