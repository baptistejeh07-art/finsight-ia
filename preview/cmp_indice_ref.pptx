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51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6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64800"/>
            <a:ext cx="9144000" cy="234000"/>
          </a:xfrm>
          <a:prstGeom prst="rect">
            <a:avLst/>
          </a:prstGeom>
          <a:noFill/>
        </p:spPr>
        <p:txBody>
          <a:bodyPr wrap="square">
            <a:spAutoFit/>
          </a:bodyPr>
          <a:lstStyle/>
          <a:p>
            <a:pPr algn="ctr"/>
            <a:r>
              <a:rPr sz="1000" b="0" i="0">
                <a:solidFill>
                  <a:srgbClr val="8899BB"/>
                </a:solidFill>
              </a:rPr>
              <a:t>FinSight IA</a:t>
            </a:r>
          </a:p>
        </p:txBody>
      </p:sp>
      <p:sp>
        <p:nvSpPr>
          <p:cNvPr id="4" name="Rectangle 3"/>
          <p:cNvSpPr/>
          <p:nvPr/>
        </p:nvSpPr>
        <p:spPr>
          <a:xfrm>
            <a:off x="3851999" y="342000"/>
            <a:ext cx="1440000" cy="14400"/>
          </a:xfrm>
          <a:prstGeom prst="rect">
            <a:avLst/>
          </a:prstGeom>
          <a:solidFill>
            <a:srgbClr val="AA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378000"/>
            <a:ext cx="9144000" cy="251999"/>
          </a:xfrm>
          <a:prstGeom prst="rect">
            <a:avLst/>
          </a:prstGeom>
          <a:noFill/>
        </p:spPr>
        <p:txBody>
          <a:bodyPr wrap="square">
            <a:spAutoFit/>
          </a:bodyPr>
          <a:lstStyle/>
          <a:p>
            <a:pPr algn="ctr"/>
            <a:r>
              <a:rPr sz="900" b="0" i="0">
                <a:solidFill>
                  <a:srgbClr val="CCDDEE"/>
                </a:solidFill>
              </a:rPr>
              <a:t>Pitchbook  —  Comparatif d'Indices</a:t>
            </a:r>
          </a:p>
        </p:txBody>
      </p:sp>
      <p:sp>
        <p:nvSpPr>
          <p:cNvPr id="6" name="TextBox 5"/>
          <p:cNvSpPr txBox="1"/>
          <p:nvPr/>
        </p:nvSpPr>
        <p:spPr>
          <a:xfrm>
            <a:off x="0" y="1368000"/>
            <a:ext cx="9144000" cy="900000"/>
          </a:xfrm>
          <a:prstGeom prst="rect">
            <a:avLst/>
          </a:prstGeom>
          <a:noFill/>
        </p:spPr>
        <p:txBody>
          <a:bodyPr wrap="square">
            <a:spAutoFit/>
          </a:bodyPr>
          <a:lstStyle/>
          <a:p>
            <a:pPr algn="ctr"/>
            <a:r>
              <a:rPr sz="3400" b="1" i="0">
                <a:solidFill>
                  <a:srgbClr val="1B3A6B"/>
                </a:solidFill>
              </a:rPr>
              <a:t>CAC 40  vs  S&amp;P 500</a:t>
            </a:r>
          </a:p>
        </p:txBody>
      </p:sp>
      <p:sp>
        <p:nvSpPr>
          <p:cNvPr id="7" name="TextBox 6"/>
          <p:cNvSpPr txBox="1"/>
          <p:nvPr/>
        </p:nvSpPr>
        <p:spPr>
          <a:xfrm>
            <a:off x="0" y="2340000"/>
            <a:ext cx="9144000" cy="288000"/>
          </a:xfrm>
          <a:prstGeom prst="rect">
            <a:avLst/>
          </a:prstGeom>
          <a:noFill/>
        </p:spPr>
        <p:txBody>
          <a:bodyPr wrap="square">
            <a:spAutoFit/>
          </a:bodyPr>
          <a:lstStyle/>
          <a:p>
            <a:pPr algn="ctr"/>
            <a:r>
              <a:rPr sz="1200" b="0" i="0">
                <a:solidFill>
                  <a:srgbClr val="555555"/>
                </a:solidFill>
              </a:rPr>
              <a:t>Analyse comparative des principaux indices boursiers</a:t>
            </a:r>
          </a:p>
        </p:txBody>
      </p:sp>
      <p:sp>
        <p:nvSpPr>
          <p:cNvPr id="8" name="Rectangle 7"/>
          <p:cNvSpPr/>
          <p:nvPr/>
        </p:nvSpPr>
        <p:spPr>
          <a:xfrm>
            <a:off x="324000" y="2880000"/>
            <a:ext cx="2015999" cy="86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4000" y="2880000"/>
            <a:ext cx="79200" cy="86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3200" y="2934000"/>
            <a:ext cx="1936800" cy="486000"/>
          </a:xfrm>
          <a:prstGeom prst="rect">
            <a:avLst/>
          </a:prstGeom>
          <a:noFill/>
        </p:spPr>
        <p:txBody>
          <a:bodyPr wrap="square">
            <a:spAutoFit/>
          </a:bodyPr>
          <a:lstStyle/>
          <a:p>
            <a:pPr algn="ctr"/>
            <a:r>
              <a:rPr sz="2400" b="1" i="0">
                <a:solidFill>
                  <a:srgbClr val="2E5FA3"/>
                </a:solidFill>
              </a:rPr>
              <a:t>50</a:t>
            </a:r>
          </a:p>
        </p:txBody>
      </p:sp>
      <p:sp>
        <p:nvSpPr>
          <p:cNvPr id="11" name="TextBox 10"/>
          <p:cNvSpPr txBox="1"/>
          <p:nvPr/>
        </p:nvSpPr>
        <p:spPr>
          <a:xfrm>
            <a:off x="403200" y="3438000"/>
            <a:ext cx="1936800" cy="306000"/>
          </a:xfrm>
          <a:prstGeom prst="rect">
            <a:avLst/>
          </a:prstGeom>
          <a:noFill/>
        </p:spPr>
        <p:txBody>
          <a:bodyPr wrap="square">
            <a:spAutoFit/>
          </a:bodyPr>
          <a:lstStyle/>
          <a:p>
            <a:pPr algn="ctr"/>
            <a:r>
              <a:rPr sz="850" b="0" i="0">
                <a:solidFill>
                  <a:srgbClr val="1B3A6B"/>
                </a:solidFill>
              </a:rPr>
              <a:t>Score FinSight
CAC 40</a:t>
            </a:r>
          </a:p>
        </p:txBody>
      </p:sp>
      <p:sp>
        <p:nvSpPr>
          <p:cNvPr id="12" name="Rectangle 11"/>
          <p:cNvSpPr/>
          <p:nvPr/>
        </p:nvSpPr>
        <p:spPr>
          <a:xfrm>
            <a:off x="2430000" y="2880000"/>
            <a:ext cx="2015999" cy="864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30000" y="2880000"/>
            <a:ext cx="79200" cy="86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09200" y="2934000"/>
            <a:ext cx="1936800" cy="486000"/>
          </a:xfrm>
          <a:prstGeom prst="rect">
            <a:avLst/>
          </a:prstGeom>
          <a:noFill/>
        </p:spPr>
        <p:txBody>
          <a:bodyPr wrap="square">
            <a:spAutoFit/>
          </a:bodyPr>
          <a:lstStyle/>
          <a:p>
            <a:pPr algn="ctr"/>
            <a:r>
              <a:rPr sz="2400" b="1" i="0">
                <a:solidFill>
                  <a:srgbClr val="1A7A4A"/>
                </a:solidFill>
              </a:rPr>
              <a:t>50</a:t>
            </a:r>
          </a:p>
        </p:txBody>
      </p:sp>
      <p:sp>
        <p:nvSpPr>
          <p:cNvPr id="15" name="TextBox 14"/>
          <p:cNvSpPr txBox="1"/>
          <p:nvPr/>
        </p:nvSpPr>
        <p:spPr>
          <a:xfrm>
            <a:off x="2509200" y="3438000"/>
            <a:ext cx="1936800" cy="306000"/>
          </a:xfrm>
          <a:prstGeom prst="rect">
            <a:avLst/>
          </a:prstGeom>
          <a:noFill/>
        </p:spPr>
        <p:txBody>
          <a:bodyPr wrap="square">
            <a:spAutoFit/>
          </a:bodyPr>
          <a:lstStyle/>
          <a:p>
            <a:pPr algn="ctr"/>
            <a:r>
              <a:rPr sz="850" b="0" i="0">
                <a:solidFill>
                  <a:srgbClr val="1B3A6B"/>
                </a:solidFill>
              </a:rPr>
              <a:t>Score FinSight
S&amp;P 500</a:t>
            </a:r>
          </a:p>
        </p:txBody>
      </p:sp>
      <p:sp>
        <p:nvSpPr>
          <p:cNvPr id="16" name="Rectangle 15"/>
          <p:cNvSpPr/>
          <p:nvPr/>
        </p:nvSpPr>
        <p:spPr>
          <a:xfrm>
            <a:off x="4536000" y="2880000"/>
            <a:ext cx="2015999" cy="86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36000" y="2880000"/>
            <a:ext cx="79200" cy="86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5200" y="2934000"/>
            <a:ext cx="1936800" cy="486000"/>
          </a:xfrm>
          <a:prstGeom prst="rect">
            <a:avLst/>
          </a:prstGeom>
          <a:noFill/>
        </p:spPr>
        <p:txBody>
          <a:bodyPr wrap="square">
            <a:spAutoFit/>
          </a:bodyPr>
          <a:lstStyle/>
          <a:p>
            <a:pPr algn="ctr"/>
            <a:r>
              <a:rPr sz="2400" b="1" i="0">
                <a:solidFill>
                  <a:srgbClr val="2E5FA3"/>
                </a:solidFill>
              </a:rPr>
              <a:t>+16,3 %</a:t>
            </a:r>
          </a:p>
        </p:txBody>
      </p:sp>
      <p:sp>
        <p:nvSpPr>
          <p:cNvPr id="19" name="TextBox 18"/>
          <p:cNvSpPr txBox="1"/>
          <p:nvPr/>
        </p:nvSpPr>
        <p:spPr>
          <a:xfrm>
            <a:off x="4615200" y="3438000"/>
            <a:ext cx="1936800" cy="306000"/>
          </a:xfrm>
          <a:prstGeom prst="rect">
            <a:avLst/>
          </a:prstGeom>
          <a:noFill/>
        </p:spPr>
        <p:txBody>
          <a:bodyPr wrap="square">
            <a:spAutoFit/>
          </a:bodyPr>
          <a:lstStyle/>
          <a:p>
            <a:pPr algn="ctr"/>
            <a:r>
              <a:rPr sz="850" b="0" i="0">
                <a:solidFill>
                  <a:srgbClr val="1B3A6B"/>
                </a:solidFill>
              </a:rPr>
              <a:t>Performance 1 an
CAC 40</a:t>
            </a:r>
          </a:p>
        </p:txBody>
      </p:sp>
      <p:sp>
        <p:nvSpPr>
          <p:cNvPr id="20" name="Rectangle 19"/>
          <p:cNvSpPr/>
          <p:nvPr/>
        </p:nvSpPr>
        <p:spPr>
          <a:xfrm>
            <a:off x="6641999" y="2880000"/>
            <a:ext cx="2015999" cy="864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41999" y="2880000"/>
            <a:ext cx="79200" cy="86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1199" y="2934000"/>
            <a:ext cx="1936800" cy="486000"/>
          </a:xfrm>
          <a:prstGeom prst="rect">
            <a:avLst/>
          </a:prstGeom>
          <a:noFill/>
        </p:spPr>
        <p:txBody>
          <a:bodyPr wrap="square">
            <a:spAutoFit/>
          </a:bodyPr>
          <a:lstStyle/>
          <a:p>
            <a:pPr algn="ctr"/>
            <a:r>
              <a:rPr sz="2400" b="1" i="0">
                <a:solidFill>
                  <a:srgbClr val="1A7A4A"/>
                </a:solidFill>
              </a:rPr>
              <a:t>+27,1 %</a:t>
            </a:r>
          </a:p>
        </p:txBody>
      </p:sp>
      <p:sp>
        <p:nvSpPr>
          <p:cNvPr id="23" name="TextBox 22"/>
          <p:cNvSpPr txBox="1"/>
          <p:nvPr/>
        </p:nvSpPr>
        <p:spPr>
          <a:xfrm>
            <a:off x="6721199" y="3438000"/>
            <a:ext cx="1936800" cy="306000"/>
          </a:xfrm>
          <a:prstGeom prst="rect">
            <a:avLst/>
          </a:prstGeom>
          <a:noFill/>
        </p:spPr>
        <p:txBody>
          <a:bodyPr wrap="square">
            <a:spAutoFit/>
          </a:bodyPr>
          <a:lstStyle/>
          <a:p>
            <a:pPr algn="ctr"/>
            <a:r>
              <a:rPr sz="850" b="0" i="0">
                <a:solidFill>
                  <a:srgbClr val="1B3A6B"/>
                </a:solidFill>
              </a:rPr>
              <a:t>Performance 1 an
S&amp;P 500</a:t>
            </a:r>
          </a:p>
        </p:txBody>
      </p:sp>
      <p:sp>
        <p:nvSpPr>
          <p:cNvPr id="24" name="Rectangle 23"/>
          <p:cNvSpPr/>
          <p:nvPr/>
        </p:nvSpPr>
        <p:spPr>
          <a:xfrm>
            <a:off x="792000" y="3960000"/>
            <a:ext cx="1620000" cy="32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2000" y="3988800"/>
            <a:ext cx="1620000" cy="270000"/>
          </a:xfrm>
          <a:prstGeom prst="rect">
            <a:avLst/>
          </a:prstGeom>
          <a:noFill/>
        </p:spPr>
        <p:txBody>
          <a:bodyPr wrap="square">
            <a:spAutoFit/>
          </a:bodyPr>
          <a:lstStyle/>
          <a:p>
            <a:pPr algn="ctr"/>
            <a:r>
              <a:rPr sz="950" b="1" i="0">
                <a:solidFill>
                  <a:srgbClr val="FFFFFF"/>
                </a:solidFill>
              </a:rPr>
              <a:t>● Neutre</a:t>
            </a:r>
          </a:p>
        </p:txBody>
      </p:sp>
      <p:sp>
        <p:nvSpPr>
          <p:cNvPr id="26" name="Rectangle 25"/>
          <p:cNvSpPr/>
          <p:nvPr/>
        </p:nvSpPr>
        <p:spPr>
          <a:xfrm>
            <a:off x="6732000" y="3960000"/>
            <a:ext cx="1620000" cy="32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32000" y="3988800"/>
            <a:ext cx="1620000" cy="270000"/>
          </a:xfrm>
          <a:prstGeom prst="rect">
            <a:avLst/>
          </a:prstGeom>
          <a:noFill/>
        </p:spPr>
        <p:txBody>
          <a:bodyPr wrap="square">
            <a:spAutoFit/>
          </a:bodyPr>
          <a:lstStyle/>
          <a:p>
            <a:pPr algn="ctr"/>
            <a:r>
              <a:rPr sz="950" b="1" i="0">
                <a:solidFill>
                  <a:srgbClr val="FFFFFF"/>
                </a:solidFill>
              </a:rPr>
              <a:t>● Neutre</a:t>
            </a:r>
          </a:p>
        </p:txBody>
      </p:sp>
      <p:sp>
        <p:nvSpPr>
          <p:cNvPr id="28" name="Rectangle 27"/>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914000"/>
            <a:ext cx="4320000" cy="180000"/>
          </a:xfrm>
          <a:prstGeom prst="rect">
            <a:avLst/>
          </a:prstGeom>
          <a:noFill/>
        </p:spPr>
        <p:txBody>
          <a:bodyPr wrap="square">
            <a:spAutoFit/>
          </a:bodyPr>
          <a:lstStyle/>
          <a:p>
            <a:pPr algn="l"/>
            <a:r>
              <a:rPr sz="750" b="0" i="0">
                <a:solidFill>
                  <a:srgbClr val="555555"/>
                </a:solidFill>
              </a:rPr>
              <a:t>Rapport confidentiel  |  FinSight IA</a:t>
            </a:r>
          </a:p>
        </p:txBody>
      </p:sp>
      <p:sp>
        <p:nvSpPr>
          <p:cNvPr id="30" name="TextBox 29"/>
          <p:cNvSpPr txBox="1"/>
          <p:nvPr/>
        </p:nvSpPr>
        <p:spPr>
          <a:xfrm>
            <a:off x="0" y="4914000"/>
            <a:ext cx="8784000" cy="180000"/>
          </a:xfrm>
          <a:prstGeom prst="rect">
            <a:avLst/>
          </a:prstGeom>
          <a:noFill/>
        </p:spPr>
        <p:txBody>
          <a:bodyPr wrap="square">
            <a:spAutoFit/>
          </a:bodyPr>
          <a:lstStyle/>
          <a:p>
            <a:pPr algn="r"/>
            <a:r>
              <a:rPr sz="750" b="0" i="0">
                <a:solidFill>
                  <a:srgbClr val="555555"/>
                </a:solidFill>
              </a:rPr>
              <a:t>11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Executive Summary  —  CAC 40 vs S&amp;P 500</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Indicateurs clés et signal d'allocation</a:t>
            </a:r>
          </a:p>
        </p:txBody>
      </p:sp>
      <p:sp>
        <p:nvSpPr>
          <p:cNvPr id="5" name="Rectangle 4"/>
          <p:cNvSpPr/>
          <p:nvPr/>
        </p:nvSpPr>
        <p:spPr>
          <a:xfrm>
            <a:off x="7056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1B3A6B"/>
                </a:solidFill>
              </a:rPr>
              <a:t>1</a:t>
            </a:r>
          </a:p>
        </p:txBody>
      </p:sp>
      <p:sp>
        <p:nvSpPr>
          <p:cNvPr id="7" name="Rectangle 6"/>
          <p:cNvSpPr/>
          <p:nvPr/>
        </p:nvSpPr>
        <p:spPr>
          <a:xfrm>
            <a:off x="7362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FFFFFF"/>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24000" y="756000"/>
            <a:ext cx="4104000" cy="378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756000"/>
            <a:ext cx="43200" cy="37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792000"/>
            <a:ext cx="3816000" cy="144000"/>
          </a:xfrm>
          <a:prstGeom prst="rect">
            <a:avLst/>
          </a:prstGeom>
          <a:noFill/>
        </p:spPr>
        <p:txBody>
          <a:bodyPr wrap="square">
            <a:spAutoFit/>
          </a:bodyPr>
          <a:lstStyle/>
          <a:p>
            <a:pPr algn="l"/>
            <a:r>
              <a:rPr sz="1000" b="1" i="0">
                <a:solidFill>
                  <a:srgbClr val="B06000"/>
                </a:solidFill>
              </a:rPr>
              <a:t>CAC 40  —  Neutre</a:t>
            </a:r>
          </a:p>
        </p:txBody>
      </p:sp>
      <p:sp>
        <p:nvSpPr>
          <p:cNvPr id="18" name="TextBox 17"/>
          <p:cNvSpPr txBox="1"/>
          <p:nvPr/>
        </p:nvSpPr>
        <p:spPr>
          <a:xfrm>
            <a:off x="468000" y="943200"/>
            <a:ext cx="3816000" cy="162000"/>
          </a:xfrm>
          <a:prstGeom prst="rect">
            <a:avLst/>
          </a:prstGeom>
          <a:noFill/>
        </p:spPr>
        <p:txBody>
          <a:bodyPr wrap="square">
            <a:spAutoFit/>
          </a:bodyPr>
          <a:lstStyle/>
          <a:p>
            <a:pPr algn="l"/>
            <a:r>
              <a:rPr sz="800" b="0" i="0">
                <a:solidFill>
                  <a:srgbClr val="1B3A6B"/>
                </a:solidFill>
              </a:rPr>
              <a:t>Score 50/100  |  P/E Fwd 18,9x  |  Vol 16,4 %  |  Sharpe 0,75</a:t>
            </a:r>
          </a:p>
        </p:txBody>
      </p:sp>
      <p:sp>
        <p:nvSpPr>
          <p:cNvPr id="19" name="Rectangle 18"/>
          <p:cNvSpPr/>
          <p:nvPr/>
        </p:nvSpPr>
        <p:spPr>
          <a:xfrm>
            <a:off x="4716000" y="756000"/>
            <a:ext cx="4104000" cy="378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16000" y="756000"/>
            <a:ext cx="43200" cy="37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0000" y="792000"/>
            <a:ext cx="3816000" cy="144000"/>
          </a:xfrm>
          <a:prstGeom prst="rect">
            <a:avLst/>
          </a:prstGeom>
          <a:noFill/>
        </p:spPr>
        <p:txBody>
          <a:bodyPr wrap="square">
            <a:spAutoFit/>
          </a:bodyPr>
          <a:lstStyle/>
          <a:p>
            <a:pPr algn="l"/>
            <a:r>
              <a:rPr sz="1000" b="1" i="0">
                <a:solidFill>
                  <a:srgbClr val="B06000"/>
                </a:solidFill>
              </a:rPr>
              <a:t>S&amp;P 500  —  Neutre</a:t>
            </a:r>
          </a:p>
        </p:txBody>
      </p:sp>
      <p:sp>
        <p:nvSpPr>
          <p:cNvPr id="22" name="TextBox 21"/>
          <p:cNvSpPr txBox="1"/>
          <p:nvPr/>
        </p:nvSpPr>
        <p:spPr>
          <a:xfrm>
            <a:off x="4860000" y="943200"/>
            <a:ext cx="3816000" cy="162000"/>
          </a:xfrm>
          <a:prstGeom prst="rect">
            <a:avLst/>
          </a:prstGeom>
          <a:noFill/>
        </p:spPr>
        <p:txBody>
          <a:bodyPr wrap="square">
            <a:spAutoFit/>
          </a:bodyPr>
          <a:lstStyle/>
          <a:p>
            <a:pPr algn="l"/>
            <a:r>
              <a:rPr sz="800" b="0" i="0">
                <a:solidFill>
                  <a:srgbClr val="1A7A4A"/>
                </a:solidFill>
              </a:rPr>
              <a:t>Score 50/100  |  P/E Fwd —x  |  Vol 18,3 %  |  Sharpe 1,26</a:t>
            </a:r>
          </a:p>
        </p:txBody>
      </p:sp>
      <p:graphicFrame>
        <p:nvGraphicFramePr>
          <p:cNvPr id="23" name="Table 22"/>
          <p:cNvGraphicFramePr>
            <a:graphicFrameLocks noGrp="1"/>
          </p:cNvGraphicFramePr>
          <p:nvPr/>
        </p:nvGraphicFramePr>
        <p:xfrm>
          <a:off x="324000" y="1224000"/>
          <a:ext cx="8496000" cy="2862000"/>
        </p:xfrm>
        <a:graphic>
          <a:graphicData uri="http://schemas.openxmlformats.org/drawingml/2006/table">
            <a:tbl>
              <a:tblPr firstRow="1" bandRow="1">
                <a:tableStyleId>{5C22544A-7EE6-4342-B048-85BDC9FD1C3A}</a:tableStyleId>
              </a:tblPr>
              <a:tblGrid>
                <a:gridCol w="2920500"/>
                <a:gridCol w="1858500"/>
                <a:gridCol w="1858500"/>
                <a:gridCol w="1858500"/>
              </a:tblGrid>
              <a:tr h="260181">
                <a:tc>
                  <a:txBody>
                    <a:bodyPr/>
                    <a:lstStyle/>
                    <a:p>
                      <a:pPr algn="l"/>
                      <a:r>
                        <a:rPr sz="850" b="1">
                          <a:solidFill>
                            <a:srgbClr val="FFFFFF"/>
                          </a:solidFill>
                        </a:rPr>
                        <a:t>Indicateur</a:t>
                      </a:r>
                    </a:p>
                  </a:txBody>
                  <a:tcPr>
                    <a:solidFill>
                      <a:srgbClr val="1B3A6B"/>
                    </a:solidFill>
                  </a:tcPr>
                </a:tc>
                <a:tc>
                  <a:txBody>
                    <a:bodyPr/>
                    <a:lstStyle/>
                    <a:p>
                      <a:pPr algn="ctr"/>
                      <a:r>
                        <a:rPr sz="850" b="1">
                          <a:solidFill>
                            <a:srgbClr val="FFFFFF"/>
                          </a:solidFill>
                        </a:rPr>
                        <a:t>CAC 40</a:t>
                      </a:r>
                    </a:p>
                  </a:txBody>
                  <a:tcPr>
                    <a:solidFill>
                      <a:srgbClr val="1B3A6B"/>
                    </a:solidFill>
                  </a:tcPr>
                </a:tc>
                <a:tc>
                  <a:txBody>
                    <a:bodyPr/>
                    <a:lstStyle/>
                    <a:p>
                      <a:pPr algn="ctr"/>
                      <a:r>
                        <a:rPr sz="850" b="1">
                          <a:solidFill>
                            <a:srgbClr val="FFFFFF"/>
                          </a:solidFill>
                        </a:rPr>
                        <a:t>S&amp;P 500</a:t>
                      </a:r>
                    </a:p>
                  </a:txBody>
                  <a:tcPr>
                    <a:solidFill>
                      <a:srgbClr val="1B3A6B"/>
                    </a:solidFill>
                  </a:tcPr>
                </a:tc>
                <a:tc>
                  <a:txBody>
                    <a:bodyPr/>
                    <a:lstStyle/>
                    <a:p>
                      <a:pPr algn="ctr"/>
                      <a:r>
                        <a:rPr sz="850" b="1">
                          <a:solidFill>
                            <a:srgbClr val="FFFFFF"/>
                          </a:solidFill>
                        </a:rPr>
                        <a:t>Avantage</a:t>
                      </a:r>
                    </a:p>
                  </a:txBody>
                  <a:tcPr>
                    <a:solidFill>
                      <a:srgbClr val="1B3A6B"/>
                    </a:solidFill>
                  </a:tcPr>
                </a:tc>
              </a:tr>
              <a:tr h="260181">
                <a:tc>
                  <a:txBody>
                    <a:bodyPr/>
                    <a:lstStyle/>
                    <a:p>
                      <a:pPr algn="l"/>
                      <a:r>
                        <a:rPr sz="850" b="0">
                          <a:solidFill>
                            <a:srgbClr val="1A1A1A"/>
                          </a:solidFill>
                        </a:rPr>
                        <a:t>Score FinSight</a:t>
                      </a:r>
                    </a:p>
                  </a:txBody>
                  <a:tcPr>
                    <a:solidFill>
                      <a:srgbClr val="FFFFFF"/>
                    </a:solidFill>
                  </a:tcPr>
                </a:tc>
                <a:tc>
                  <a:txBody>
                    <a:bodyPr/>
                    <a:lstStyle/>
                    <a:p>
                      <a:pPr algn="ctr"/>
                      <a:r>
                        <a:rPr sz="850" b="0">
                          <a:solidFill>
                            <a:srgbClr val="1A1A1A"/>
                          </a:solidFill>
                        </a:rPr>
                        <a:t>50/100</a:t>
                      </a:r>
                    </a:p>
                  </a:txBody>
                  <a:tcPr>
                    <a:solidFill>
                      <a:srgbClr val="FFFFFF"/>
                    </a:solidFill>
                  </a:tcPr>
                </a:tc>
                <a:tc>
                  <a:txBody>
                    <a:bodyPr/>
                    <a:lstStyle/>
                    <a:p>
                      <a:pPr algn="ctr"/>
                      <a:r>
                        <a:rPr sz="850" b="0">
                          <a:solidFill>
                            <a:srgbClr val="1A1A1A"/>
                          </a:solidFill>
                        </a:rPr>
                        <a:t>50/100</a:t>
                      </a:r>
                    </a:p>
                  </a:txBody>
                  <a:tcPr>
                    <a:solidFill>
                      <a:srgbClr val="FFFFFF"/>
                    </a:solidFill>
                  </a:tcPr>
                </a:tc>
                <a:tc>
                  <a:txBody>
                    <a:bodyPr/>
                    <a:lstStyle/>
                    <a:p>
                      <a:pPr algn="ctr"/>
                      <a:r>
                        <a:rPr sz="850" b="0">
                          <a:solidFill>
                            <a:srgbClr val="1A1A1A"/>
                          </a:solidFill>
                        </a:rPr>
                        <a:t>CAC 40</a:t>
                      </a:r>
                    </a:p>
                  </a:txBody>
                  <a:tcPr>
                    <a:solidFill>
                      <a:srgbClr val="FFFFFF"/>
                    </a:solidFill>
                  </a:tcPr>
                </a:tc>
              </a:tr>
              <a:tr h="260181">
                <a:tc>
                  <a:txBody>
                    <a:bodyPr/>
                    <a:lstStyle/>
                    <a:p>
                      <a:pPr algn="l"/>
                      <a:r>
                        <a:rPr sz="850" b="0">
                          <a:solidFill>
                            <a:srgbClr val="1A1A1A"/>
                          </a:solidFill>
                        </a:rPr>
                        <a:t>Performance YTD</a:t>
                      </a:r>
                    </a:p>
                  </a:txBody>
                  <a:tcPr>
                    <a:solidFill>
                      <a:srgbClr val="F5F7FA"/>
                    </a:solidFill>
                  </a:tcPr>
                </a:tc>
                <a:tc>
                  <a:txBody>
                    <a:bodyPr/>
                    <a:lstStyle/>
                    <a:p>
                      <a:pPr algn="ctr"/>
                      <a:r>
                        <a:rPr sz="850" b="0">
                          <a:solidFill>
                            <a:srgbClr val="1A1A1A"/>
                          </a:solidFill>
                        </a:rPr>
                        <a:t>+1,4 %</a:t>
                      </a:r>
                    </a:p>
                  </a:txBody>
                  <a:tcPr>
                    <a:solidFill>
                      <a:srgbClr val="F5F7FA"/>
                    </a:solidFill>
                  </a:tcPr>
                </a:tc>
                <a:tc>
                  <a:txBody>
                    <a:bodyPr/>
                    <a:lstStyle/>
                    <a:p>
                      <a:pPr algn="ctr"/>
                      <a:r>
                        <a:rPr sz="850" b="0">
                          <a:solidFill>
                            <a:srgbClr val="1A1A1A"/>
                          </a:solidFill>
                        </a:rPr>
                        <a:t>-0,4 %</a:t>
                      </a:r>
                    </a:p>
                  </a:txBody>
                  <a:tcPr>
                    <a:solidFill>
                      <a:srgbClr val="F5F7FA"/>
                    </a:solidFill>
                  </a:tcPr>
                </a:tc>
                <a:tc>
                  <a:txBody>
                    <a:bodyPr/>
                    <a:lstStyle/>
                    <a:p>
                      <a:pPr algn="ctr"/>
                      <a:r>
                        <a:rPr sz="850" b="0">
                          <a:solidFill>
                            <a:srgbClr val="1A1A1A"/>
                          </a:solidFill>
                        </a:rPr>
                        <a:t>CAC 40</a:t>
                      </a:r>
                    </a:p>
                  </a:txBody>
                  <a:tcPr>
                    <a:solidFill>
                      <a:srgbClr val="F5F7FA"/>
                    </a:solidFill>
                  </a:tcPr>
                </a:tc>
              </a:tr>
              <a:tr h="260181">
                <a:tc>
                  <a:txBody>
                    <a:bodyPr/>
                    <a:lstStyle/>
                    <a:p>
                      <a:pPr algn="l"/>
                      <a:r>
                        <a:rPr sz="850" b="0">
                          <a:solidFill>
                            <a:srgbClr val="1A1A1A"/>
                          </a:solidFill>
                        </a:rPr>
                        <a:t>Performance 1 an</a:t>
                      </a:r>
                    </a:p>
                  </a:txBody>
                  <a:tcPr>
                    <a:solidFill>
                      <a:srgbClr val="FFFFFF"/>
                    </a:solidFill>
                  </a:tcPr>
                </a:tc>
                <a:tc>
                  <a:txBody>
                    <a:bodyPr/>
                    <a:lstStyle/>
                    <a:p>
                      <a:pPr algn="ctr"/>
                      <a:r>
                        <a:rPr sz="850" b="0">
                          <a:solidFill>
                            <a:srgbClr val="1A1A1A"/>
                          </a:solidFill>
                        </a:rPr>
                        <a:t>+16,3 %</a:t>
                      </a:r>
                    </a:p>
                  </a:txBody>
                  <a:tcPr>
                    <a:solidFill>
                      <a:srgbClr val="FFFFFF"/>
                    </a:solidFill>
                  </a:tcPr>
                </a:tc>
                <a:tc>
                  <a:txBody>
                    <a:bodyPr/>
                    <a:lstStyle/>
                    <a:p>
                      <a:pPr algn="ctr"/>
                      <a:r>
                        <a:rPr sz="850" b="0">
                          <a:solidFill>
                            <a:srgbClr val="1A1A1A"/>
                          </a:solidFill>
                        </a:rPr>
                        <a:t>+27,1 %</a:t>
                      </a:r>
                    </a:p>
                  </a:txBody>
                  <a:tcPr>
                    <a:solidFill>
                      <a:srgbClr val="FFFFFF"/>
                    </a:solidFill>
                  </a:tcPr>
                </a:tc>
                <a:tc>
                  <a:txBody>
                    <a:bodyPr/>
                    <a:lstStyle/>
                    <a:p>
                      <a:pPr algn="ctr"/>
                      <a:r>
                        <a:rPr sz="850" b="0">
                          <a:solidFill>
                            <a:srgbClr val="1A1A1A"/>
                          </a:solidFill>
                        </a:rPr>
                        <a:t>S&amp;P 500</a:t>
                      </a:r>
                    </a:p>
                  </a:txBody>
                  <a:tcPr>
                    <a:solidFill>
                      <a:srgbClr val="FFFFFF"/>
                    </a:solidFill>
                  </a:tcPr>
                </a:tc>
              </a:tr>
              <a:tr h="260181">
                <a:tc>
                  <a:txBody>
                    <a:bodyPr/>
                    <a:lstStyle/>
                    <a:p>
                      <a:pPr algn="l"/>
                      <a:r>
                        <a:rPr sz="850" b="0">
                          <a:solidFill>
                            <a:srgbClr val="1A1A1A"/>
                          </a:solidFill>
                        </a:rPr>
                        <a:t>Performance 3 ans</a:t>
                      </a:r>
                    </a:p>
                  </a:txBody>
                  <a:tcPr>
                    <a:solidFill>
                      <a:srgbClr val="F5F7FA"/>
                    </a:solidFill>
                  </a:tcPr>
                </a:tc>
                <a:tc>
                  <a:txBody>
                    <a:bodyPr/>
                    <a:lstStyle/>
                    <a:p>
                      <a:pPr algn="ctr"/>
                      <a:r>
                        <a:rPr sz="850" b="0">
                          <a:solidFill>
                            <a:srgbClr val="1A1A1A"/>
                          </a:solidFill>
                        </a:rPr>
                        <a:t>+11,7 %</a:t>
                      </a:r>
                    </a:p>
                  </a:txBody>
                  <a:tcPr>
                    <a:solidFill>
                      <a:srgbClr val="F5F7FA"/>
                    </a:solidFill>
                  </a:tcPr>
                </a:tc>
                <a:tc>
                  <a:txBody>
                    <a:bodyPr/>
                    <a:lstStyle/>
                    <a:p>
                      <a:pPr algn="ctr"/>
                      <a:r>
                        <a:rPr sz="850" b="0">
                          <a:solidFill>
                            <a:srgbClr val="1A1A1A"/>
                          </a:solidFill>
                        </a:rPr>
                        <a:t>+66,6 %</a:t>
                      </a:r>
                    </a:p>
                  </a:txBody>
                  <a:tcPr>
                    <a:solidFill>
                      <a:srgbClr val="F5F7FA"/>
                    </a:solidFill>
                  </a:tcPr>
                </a:tc>
                <a:tc>
                  <a:txBody>
                    <a:bodyPr/>
                    <a:lstStyle/>
                    <a:p>
                      <a:pPr algn="ctr"/>
                      <a:r>
                        <a:rPr sz="850" b="0">
                          <a:solidFill>
                            <a:srgbClr val="1A1A1A"/>
                          </a:solidFill>
                        </a:rPr>
                        <a:t>S&amp;P 500</a:t>
                      </a:r>
                    </a:p>
                  </a:txBody>
                  <a:tcPr>
                    <a:solidFill>
                      <a:srgbClr val="F5F7FA"/>
                    </a:solidFill>
                  </a:tcPr>
                </a:tc>
              </a:tr>
              <a:tr h="260181">
                <a:tc>
                  <a:txBody>
                    <a:bodyPr/>
                    <a:lstStyle/>
                    <a:p>
                      <a:pPr algn="l"/>
                      <a:r>
                        <a:rPr sz="850" b="0">
                          <a:solidFill>
                            <a:srgbClr val="1A1A1A"/>
                          </a:solidFill>
                        </a:rPr>
                        <a:t>Volatilité 1 an</a:t>
                      </a:r>
                    </a:p>
                  </a:txBody>
                  <a:tcPr>
                    <a:solidFill>
                      <a:srgbClr val="FFFFFF"/>
                    </a:solidFill>
                  </a:tcPr>
                </a:tc>
                <a:tc>
                  <a:txBody>
                    <a:bodyPr/>
                    <a:lstStyle/>
                    <a:p>
                      <a:pPr algn="ctr"/>
                      <a:r>
                        <a:rPr sz="850" b="0">
                          <a:solidFill>
                            <a:srgbClr val="1A1A1A"/>
                          </a:solidFill>
                        </a:rPr>
                        <a:t>16,4 %</a:t>
                      </a:r>
                    </a:p>
                  </a:txBody>
                  <a:tcPr>
                    <a:solidFill>
                      <a:srgbClr val="FFFFFF"/>
                    </a:solidFill>
                  </a:tcPr>
                </a:tc>
                <a:tc>
                  <a:txBody>
                    <a:bodyPr/>
                    <a:lstStyle/>
                    <a:p>
                      <a:pPr algn="ctr"/>
                      <a:r>
                        <a:rPr sz="850" b="0">
                          <a:solidFill>
                            <a:srgbClr val="1A1A1A"/>
                          </a:solidFill>
                        </a:rPr>
                        <a:t>18,3 %</a:t>
                      </a:r>
                    </a:p>
                  </a:txBody>
                  <a:tcPr>
                    <a:solidFill>
                      <a:srgbClr val="FFFFFF"/>
                    </a:solidFill>
                  </a:tcPr>
                </a:tc>
                <a:tc>
                  <a:txBody>
                    <a:bodyPr/>
                    <a:lstStyle/>
                    <a:p>
                      <a:pPr algn="ctr"/>
                      <a:r>
                        <a:rPr sz="850" b="0">
                          <a:solidFill>
                            <a:srgbClr val="1A1A1A"/>
                          </a:solidFill>
                        </a:rPr>
                        <a:t>CAC 40</a:t>
                      </a:r>
                    </a:p>
                  </a:txBody>
                  <a:tcPr>
                    <a:solidFill>
                      <a:srgbClr val="FFFFFF"/>
                    </a:solidFill>
                  </a:tcPr>
                </a:tc>
              </a:tr>
              <a:tr h="260181">
                <a:tc>
                  <a:txBody>
                    <a:bodyPr/>
                    <a:lstStyle/>
                    <a:p>
                      <a:pPr algn="l"/>
                      <a:r>
                        <a:rPr sz="850" b="0">
                          <a:solidFill>
                            <a:srgbClr val="1A1A1A"/>
                          </a:solidFill>
                        </a:rPr>
                        <a:t>Sharpe Ratio 1 an</a:t>
                      </a:r>
                    </a:p>
                  </a:txBody>
                  <a:tcPr>
                    <a:solidFill>
                      <a:srgbClr val="F5F7FA"/>
                    </a:solidFill>
                  </a:tcPr>
                </a:tc>
                <a:tc>
                  <a:txBody>
                    <a:bodyPr/>
                    <a:lstStyle/>
                    <a:p>
                      <a:pPr algn="ctr"/>
                      <a:r>
                        <a:rPr sz="850" b="0">
                          <a:solidFill>
                            <a:srgbClr val="1A1A1A"/>
                          </a:solidFill>
                        </a:rPr>
                        <a:t>0,75</a:t>
                      </a:r>
                    </a:p>
                  </a:txBody>
                  <a:tcPr>
                    <a:solidFill>
                      <a:srgbClr val="F5F7FA"/>
                    </a:solidFill>
                  </a:tcPr>
                </a:tc>
                <a:tc>
                  <a:txBody>
                    <a:bodyPr/>
                    <a:lstStyle/>
                    <a:p>
                      <a:pPr algn="ctr"/>
                      <a:r>
                        <a:rPr sz="850" b="0">
                          <a:solidFill>
                            <a:srgbClr val="1A1A1A"/>
                          </a:solidFill>
                        </a:rPr>
                        <a:t>1,26</a:t>
                      </a:r>
                    </a:p>
                  </a:txBody>
                  <a:tcPr>
                    <a:solidFill>
                      <a:srgbClr val="F5F7FA"/>
                    </a:solidFill>
                  </a:tcPr>
                </a:tc>
                <a:tc>
                  <a:txBody>
                    <a:bodyPr/>
                    <a:lstStyle/>
                    <a:p>
                      <a:pPr algn="ctr"/>
                      <a:r>
                        <a:rPr sz="850" b="0">
                          <a:solidFill>
                            <a:srgbClr val="1A1A1A"/>
                          </a:solidFill>
                        </a:rPr>
                        <a:t>CAC 40</a:t>
                      </a:r>
                    </a:p>
                  </a:txBody>
                  <a:tcPr>
                    <a:solidFill>
                      <a:srgbClr val="F5F7FA"/>
                    </a:solidFill>
                  </a:tcPr>
                </a:tc>
              </a:tr>
              <a:tr h="260181">
                <a:tc>
                  <a:txBody>
                    <a:bodyPr/>
                    <a:lstStyle/>
                    <a:p>
                      <a:pPr algn="l"/>
                      <a:r>
                        <a:rPr sz="850" b="0">
                          <a:solidFill>
                            <a:srgbClr val="1A1A1A"/>
                          </a:solidFill>
                        </a:rPr>
                        <a:t>Max Drawdown</a:t>
                      </a:r>
                    </a:p>
                  </a:txBody>
                  <a:tcPr>
                    <a:solidFill>
                      <a:srgbClr val="FFFFFF"/>
                    </a:solidFill>
                  </a:tcPr>
                </a:tc>
                <a:tc>
                  <a:txBody>
                    <a:bodyPr/>
                    <a:lstStyle/>
                    <a:p>
                      <a:pPr algn="ctr"/>
                      <a:r>
                        <a:rPr sz="850" b="0">
                          <a:solidFill>
                            <a:srgbClr val="1A1A1A"/>
                          </a:solidFill>
                        </a:rPr>
                        <a:t>-14,1 %</a:t>
                      </a:r>
                    </a:p>
                  </a:txBody>
                  <a:tcPr>
                    <a:solidFill>
                      <a:srgbClr val="FFFFFF"/>
                    </a:solidFill>
                  </a:tcPr>
                </a:tc>
                <a:tc>
                  <a:txBody>
                    <a:bodyPr/>
                    <a:lstStyle/>
                    <a:p>
                      <a:pPr algn="ctr"/>
                      <a:r>
                        <a:rPr sz="850" b="0">
                          <a:solidFill>
                            <a:srgbClr val="1A1A1A"/>
                          </a:solidFill>
                        </a:rPr>
                        <a:t>-12,5 %</a:t>
                      </a:r>
                    </a:p>
                  </a:txBody>
                  <a:tcPr>
                    <a:solidFill>
                      <a:srgbClr val="FFFFFF"/>
                    </a:solidFill>
                  </a:tcPr>
                </a:tc>
                <a:tc>
                  <a:txBody>
                    <a:bodyPr/>
                    <a:lstStyle/>
                    <a:p>
                      <a:pPr algn="ctr"/>
                      <a:r>
                        <a:rPr sz="850" b="0">
                          <a:solidFill>
                            <a:srgbClr val="1A1A1A"/>
                          </a:solidFill>
                        </a:rPr>
                        <a:t>S&amp;P 500</a:t>
                      </a:r>
                    </a:p>
                  </a:txBody>
                  <a:tcPr>
                    <a:solidFill>
                      <a:srgbClr val="FFFFFF"/>
                    </a:solidFill>
                  </a:tcPr>
                </a:tc>
              </a:tr>
              <a:tr h="260181">
                <a:tc>
                  <a:txBody>
                    <a:bodyPr/>
                    <a:lstStyle/>
                    <a:p>
                      <a:pPr algn="l"/>
                      <a:r>
                        <a:rPr sz="850" b="0">
                          <a:solidFill>
                            <a:srgbClr val="1A1A1A"/>
                          </a:solidFill>
                        </a:rPr>
                        <a:t>P/E Forward</a:t>
                      </a:r>
                    </a:p>
                  </a:txBody>
                  <a:tcPr>
                    <a:solidFill>
                      <a:srgbClr val="F5F7FA"/>
                    </a:solidFill>
                  </a:tcPr>
                </a:tc>
                <a:tc>
                  <a:txBody>
                    <a:bodyPr/>
                    <a:lstStyle/>
                    <a:p>
                      <a:pPr algn="ctr"/>
                      <a:r>
                        <a:rPr sz="850" b="0">
                          <a:solidFill>
                            <a:srgbClr val="1A1A1A"/>
                          </a:solidFill>
                        </a:rPr>
                        <a:t>18,9x</a:t>
                      </a:r>
                    </a:p>
                  </a:txBody>
                  <a:tcPr>
                    <a:solidFill>
                      <a:srgbClr val="F5F7FA"/>
                    </a:solidFill>
                  </a:tcPr>
                </a:tc>
                <a:tc>
                  <a:txBody>
                    <a:bodyPr/>
                    <a:lstStyle/>
                    <a:p>
                      <a:pPr algn="ctr"/>
                      <a:r>
                        <a:rPr sz="850" b="0">
                          <a:solidFill>
                            <a:srgbClr val="1A1A1A"/>
                          </a:solidFill>
                        </a:rPr>
                        <a:t>—x</a:t>
                      </a:r>
                    </a:p>
                  </a:txBody>
                  <a:tcPr>
                    <a:solidFill>
                      <a:srgbClr val="F5F7FA"/>
                    </a:solidFill>
                  </a:tcPr>
                </a:tc>
                <a:tc>
                  <a:txBody>
                    <a:bodyPr/>
                    <a:lstStyle/>
                    <a:p>
                      <a:pPr algn="ctr"/>
                      <a:r>
                        <a:rPr sz="850" b="0">
                          <a:solidFill>
                            <a:srgbClr val="1A1A1A"/>
                          </a:solidFill>
                        </a:rPr>
                        <a:t>—</a:t>
                      </a:r>
                    </a:p>
                  </a:txBody>
                  <a:tcPr>
                    <a:solidFill>
                      <a:srgbClr val="F5F7FA"/>
                    </a:solidFill>
                  </a:tcPr>
                </a:tc>
              </a:tr>
              <a:tr h="260181">
                <a:tc>
                  <a:txBody>
                    <a:bodyPr/>
                    <a:lstStyle/>
                    <a:p>
                      <a:pPr algn="l"/>
                      <a:r>
                        <a:rPr sz="850" b="0">
                          <a:solidFill>
                            <a:srgbClr val="1A1A1A"/>
                          </a:solidFill>
                        </a:rPr>
                        <a:t>P/B (Book Value)</a:t>
                      </a:r>
                    </a:p>
                  </a:txBody>
                  <a:tcPr>
                    <a:solidFill>
                      <a:srgbClr val="FFFFFF"/>
                    </a:solidFill>
                  </a:tcPr>
                </a:tc>
                <a:tc>
                  <a:txBody>
                    <a:bodyPr/>
                    <a:lstStyle/>
                    <a:p>
                      <a:pPr algn="ctr"/>
                      <a:r>
                        <a:rPr sz="850" b="0">
                          <a:solidFill>
                            <a:srgbClr val="1A1A1A"/>
                          </a:solidFill>
                        </a:rPr>
                        <a:t>—x</a:t>
                      </a:r>
                    </a:p>
                  </a:txBody>
                  <a:tcPr>
                    <a:solidFill>
                      <a:srgbClr val="FFFFFF"/>
                    </a:solidFill>
                  </a:tcPr>
                </a:tc>
                <a:tc>
                  <a:txBody>
                    <a:bodyPr/>
                    <a:lstStyle/>
                    <a:p>
                      <a:pPr algn="ctr"/>
                      <a:r>
                        <a:rPr sz="850" b="0">
                          <a:solidFill>
                            <a:srgbClr val="1A1A1A"/>
                          </a:solidFill>
                        </a:rPr>
                        <a:t>—x</a:t>
                      </a:r>
                    </a:p>
                  </a:txBody>
                  <a:tcPr>
                    <a:solidFill>
                      <a:srgbClr val="FFFFFF"/>
                    </a:solidFill>
                  </a:tcPr>
                </a:tc>
                <a:tc>
                  <a:txBody>
                    <a:bodyPr/>
                    <a:lstStyle/>
                    <a:p>
                      <a:pPr algn="ctr"/>
                      <a:r>
                        <a:rPr sz="850" b="0">
                          <a:solidFill>
                            <a:srgbClr val="1A1A1A"/>
                          </a:solidFill>
                        </a:rPr>
                        <a:t>—</a:t>
                      </a:r>
                    </a:p>
                  </a:txBody>
                  <a:tcPr>
                    <a:solidFill>
                      <a:srgbClr val="FFFFFF"/>
                    </a:solidFill>
                  </a:tcPr>
                </a:tc>
              </a:tr>
              <a:tr h="260190">
                <a:tc>
                  <a:txBody>
                    <a:bodyPr/>
                    <a:lstStyle/>
                    <a:p>
                      <a:pPr algn="l"/>
                      <a:r>
                        <a:rPr sz="850" b="0">
                          <a:solidFill>
                            <a:srgbClr val="1A1A1A"/>
                          </a:solidFill>
                        </a:rPr>
                        <a:t>Rendement dividende</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a:t>
                      </a:r>
                    </a:p>
                  </a:txBody>
                  <a:tcPr>
                    <a:solidFill>
                      <a:srgbClr val="F5F7FA"/>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Sommaire</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Analyse comparative : CAC 40 vs S&amp;P 500</a:t>
            </a:r>
          </a:p>
        </p:txBody>
      </p:sp>
      <p:sp>
        <p:nvSpPr>
          <p:cNvPr id="5" name="Rectangle 4"/>
          <p:cNvSpPr/>
          <p:nvPr/>
        </p:nvSpPr>
        <p:spPr>
          <a:xfrm>
            <a:off x="7056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1B3A6B"/>
                </a:solidFill>
              </a:rPr>
              <a:t>1</a:t>
            </a:r>
          </a:p>
        </p:txBody>
      </p:sp>
      <p:sp>
        <p:nvSpPr>
          <p:cNvPr id="7" name="Rectangle 6"/>
          <p:cNvSpPr/>
          <p:nvPr/>
        </p:nvSpPr>
        <p:spPr>
          <a:xfrm>
            <a:off x="7362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FFFFFF"/>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24000" y="864000"/>
            <a:ext cx="8496000" cy="917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64800" cy="917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1999"/>
            <a:ext cx="1152000" cy="702000"/>
          </a:xfrm>
          <a:prstGeom prst="rect">
            <a:avLst/>
          </a:prstGeom>
          <a:noFill/>
        </p:spPr>
        <p:txBody>
          <a:bodyPr wrap="square">
            <a:spAutoFit/>
          </a:bodyPr>
          <a:lstStyle/>
          <a:p>
            <a:pPr algn="ctr"/>
            <a:r>
              <a:rPr sz="4400" b="1" i="0">
                <a:solidFill>
                  <a:srgbClr val="2E5FA3"/>
                </a:solidFill>
              </a:rPr>
              <a:t>01</a:t>
            </a:r>
          </a:p>
        </p:txBody>
      </p:sp>
      <p:sp>
        <p:nvSpPr>
          <p:cNvPr id="18" name="TextBox 17"/>
          <p:cNvSpPr txBox="1"/>
          <p:nvPr/>
        </p:nvSpPr>
        <p:spPr>
          <a:xfrm>
            <a:off x="1764000" y="1026000"/>
            <a:ext cx="5616000" cy="288000"/>
          </a:xfrm>
          <a:prstGeom prst="rect">
            <a:avLst/>
          </a:prstGeom>
          <a:noFill/>
        </p:spPr>
        <p:txBody>
          <a:bodyPr wrap="square">
            <a:spAutoFit/>
          </a:bodyPr>
          <a:lstStyle/>
          <a:p>
            <a:pPr algn="l"/>
            <a:r>
              <a:rPr sz="1500" b="1" i="0">
                <a:solidFill>
                  <a:srgbClr val="1B3A6B"/>
                </a:solidFill>
              </a:rPr>
              <a:t>Profil &amp; Composition</a:t>
            </a:r>
          </a:p>
        </p:txBody>
      </p:sp>
      <p:sp>
        <p:nvSpPr>
          <p:cNvPr id="19" name="TextBox 18"/>
          <p:cNvSpPr txBox="1"/>
          <p:nvPr/>
        </p:nvSpPr>
        <p:spPr>
          <a:xfrm>
            <a:off x="1764000" y="1332000"/>
            <a:ext cx="5616000" cy="360000"/>
          </a:xfrm>
          <a:prstGeom prst="rect">
            <a:avLst/>
          </a:prstGeom>
          <a:noFill/>
        </p:spPr>
        <p:txBody>
          <a:bodyPr wrap="square">
            <a:spAutoFit/>
          </a:bodyPr>
          <a:lstStyle/>
          <a:p>
            <a:pPr algn="l"/>
            <a:r>
              <a:rPr sz="1000" b="0" i="0">
                <a:solidFill>
                  <a:srgbClr val="555555"/>
                </a:solidFill>
              </a:rPr>
              <a:t>Structure des indices, secteurs, top constituants</a:t>
            </a:r>
          </a:p>
        </p:txBody>
      </p:sp>
      <p:sp>
        <p:nvSpPr>
          <p:cNvPr id="20" name="Rectangle 19"/>
          <p:cNvSpPr/>
          <p:nvPr/>
        </p:nvSpPr>
        <p:spPr>
          <a:xfrm>
            <a:off x="7596000" y="1170000"/>
            <a:ext cx="1080000" cy="30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96000" y="1242000"/>
            <a:ext cx="1080000" cy="162000"/>
          </a:xfrm>
          <a:prstGeom prst="rect">
            <a:avLst/>
          </a:prstGeom>
          <a:noFill/>
        </p:spPr>
        <p:txBody>
          <a:bodyPr wrap="square">
            <a:spAutoFit/>
          </a:bodyPr>
          <a:lstStyle/>
          <a:p>
            <a:pPr algn="ctr"/>
            <a:r>
              <a:rPr sz="1000" b="1" i="0">
                <a:solidFill>
                  <a:srgbClr val="FFFFFF"/>
                </a:solidFill>
              </a:rPr>
              <a:t>Slides 5-8</a:t>
            </a:r>
          </a:p>
        </p:txBody>
      </p:sp>
      <p:sp>
        <p:nvSpPr>
          <p:cNvPr id="22" name="Rectangle 21"/>
          <p:cNvSpPr/>
          <p:nvPr/>
        </p:nvSpPr>
        <p:spPr>
          <a:xfrm>
            <a:off x="324000" y="1854000"/>
            <a:ext cx="8496000" cy="917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4000" y="1854000"/>
            <a:ext cx="64800" cy="917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8000" y="1962000"/>
            <a:ext cx="1152000" cy="702000"/>
          </a:xfrm>
          <a:prstGeom prst="rect">
            <a:avLst/>
          </a:prstGeom>
          <a:noFill/>
        </p:spPr>
        <p:txBody>
          <a:bodyPr wrap="square">
            <a:spAutoFit/>
          </a:bodyPr>
          <a:lstStyle/>
          <a:p>
            <a:pPr algn="ctr"/>
            <a:r>
              <a:rPr sz="4400" b="1" i="0">
                <a:solidFill>
                  <a:srgbClr val="2E5FA3"/>
                </a:solidFill>
              </a:rPr>
              <a:t>02</a:t>
            </a:r>
          </a:p>
        </p:txBody>
      </p:sp>
      <p:sp>
        <p:nvSpPr>
          <p:cNvPr id="25" name="TextBox 24"/>
          <p:cNvSpPr txBox="1"/>
          <p:nvPr/>
        </p:nvSpPr>
        <p:spPr>
          <a:xfrm>
            <a:off x="1764000" y="2016000"/>
            <a:ext cx="5616000" cy="288000"/>
          </a:xfrm>
          <a:prstGeom prst="rect">
            <a:avLst/>
          </a:prstGeom>
          <a:noFill/>
        </p:spPr>
        <p:txBody>
          <a:bodyPr wrap="square">
            <a:spAutoFit/>
          </a:bodyPr>
          <a:lstStyle/>
          <a:p>
            <a:pPr algn="l"/>
            <a:r>
              <a:rPr sz="1500" b="1" i="0">
                <a:solidFill>
                  <a:srgbClr val="1B3A6B"/>
                </a:solidFill>
              </a:rPr>
              <a:t>Performance &amp; Risque</a:t>
            </a:r>
          </a:p>
        </p:txBody>
      </p:sp>
      <p:sp>
        <p:nvSpPr>
          <p:cNvPr id="26" name="TextBox 25"/>
          <p:cNvSpPr txBox="1"/>
          <p:nvPr/>
        </p:nvSpPr>
        <p:spPr>
          <a:xfrm>
            <a:off x="1764000" y="2322000"/>
            <a:ext cx="5616000" cy="360000"/>
          </a:xfrm>
          <a:prstGeom prst="rect">
            <a:avLst/>
          </a:prstGeom>
          <a:noFill/>
        </p:spPr>
        <p:txBody>
          <a:bodyPr wrap="square">
            <a:spAutoFit/>
          </a:bodyPr>
          <a:lstStyle/>
          <a:p>
            <a:pPr algn="l"/>
            <a:r>
              <a:rPr sz="1000" b="0" i="0">
                <a:solidFill>
                  <a:srgbClr val="555555"/>
                </a:solidFill>
              </a:rPr>
              <a:t>Cours 52S base 100, décomposition perfs, vol/Sharpe/drawdown</a:t>
            </a:r>
          </a:p>
        </p:txBody>
      </p:sp>
      <p:sp>
        <p:nvSpPr>
          <p:cNvPr id="27" name="Rectangle 26"/>
          <p:cNvSpPr/>
          <p:nvPr/>
        </p:nvSpPr>
        <p:spPr>
          <a:xfrm>
            <a:off x="7596000" y="2160000"/>
            <a:ext cx="1080000" cy="30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96000" y="2232000"/>
            <a:ext cx="1080000" cy="162000"/>
          </a:xfrm>
          <a:prstGeom prst="rect">
            <a:avLst/>
          </a:prstGeom>
          <a:noFill/>
        </p:spPr>
        <p:txBody>
          <a:bodyPr wrap="square">
            <a:spAutoFit/>
          </a:bodyPr>
          <a:lstStyle/>
          <a:p>
            <a:pPr algn="ctr"/>
            <a:r>
              <a:rPr sz="1000" b="1" i="0">
                <a:solidFill>
                  <a:srgbClr val="FFFFFF"/>
                </a:solidFill>
              </a:rPr>
              <a:t>Slides 10-13</a:t>
            </a:r>
          </a:p>
        </p:txBody>
      </p:sp>
      <p:sp>
        <p:nvSpPr>
          <p:cNvPr id="29" name="Rectangle 28"/>
          <p:cNvSpPr/>
          <p:nvPr/>
        </p:nvSpPr>
        <p:spPr>
          <a:xfrm>
            <a:off x="324000" y="2844000"/>
            <a:ext cx="8496000" cy="917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4000" y="2844000"/>
            <a:ext cx="64800" cy="917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2952000"/>
            <a:ext cx="1152000" cy="702000"/>
          </a:xfrm>
          <a:prstGeom prst="rect">
            <a:avLst/>
          </a:prstGeom>
          <a:noFill/>
        </p:spPr>
        <p:txBody>
          <a:bodyPr wrap="square">
            <a:spAutoFit/>
          </a:bodyPr>
          <a:lstStyle/>
          <a:p>
            <a:pPr algn="ctr"/>
            <a:r>
              <a:rPr sz="4400" b="1" i="0">
                <a:solidFill>
                  <a:srgbClr val="2E5FA3"/>
                </a:solidFill>
              </a:rPr>
              <a:t>03</a:t>
            </a:r>
          </a:p>
        </p:txBody>
      </p:sp>
      <p:sp>
        <p:nvSpPr>
          <p:cNvPr id="32" name="TextBox 31"/>
          <p:cNvSpPr txBox="1"/>
          <p:nvPr/>
        </p:nvSpPr>
        <p:spPr>
          <a:xfrm>
            <a:off x="1764000" y="3006000"/>
            <a:ext cx="5616000" cy="288000"/>
          </a:xfrm>
          <a:prstGeom prst="rect">
            <a:avLst/>
          </a:prstGeom>
          <a:noFill/>
        </p:spPr>
        <p:txBody>
          <a:bodyPr wrap="square">
            <a:spAutoFit/>
          </a:bodyPr>
          <a:lstStyle/>
          <a:p>
            <a:pPr algn="l"/>
            <a:r>
              <a:rPr sz="1500" b="1" i="0">
                <a:solidFill>
                  <a:srgbClr val="1B3A6B"/>
                </a:solidFill>
              </a:rPr>
              <a:t>Valorisation &amp; Qualité</a:t>
            </a:r>
          </a:p>
        </p:txBody>
      </p:sp>
      <p:sp>
        <p:nvSpPr>
          <p:cNvPr id="33" name="TextBox 32"/>
          <p:cNvSpPr txBox="1"/>
          <p:nvPr/>
        </p:nvSpPr>
        <p:spPr>
          <a:xfrm>
            <a:off x="1764000" y="3312000"/>
            <a:ext cx="5616000" cy="360000"/>
          </a:xfrm>
          <a:prstGeom prst="rect">
            <a:avLst/>
          </a:prstGeom>
          <a:noFill/>
        </p:spPr>
        <p:txBody>
          <a:bodyPr wrap="square">
            <a:spAutoFit/>
          </a:bodyPr>
          <a:lstStyle/>
          <a:p>
            <a:pPr algn="l"/>
            <a:r>
              <a:rPr sz="1000" b="0" i="0">
                <a:solidFill>
                  <a:srgbClr val="555555"/>
                </a:solidFill>
              </a:rPr>
              <a:t>P/E, P/B, dividendes, ERP et signal FinSight</a:t>
            </a:r>
          </a:p>
        </p:txBody>
      </p:sp>
      <p:sp>
        <p:nvSpPr>
          <p:cNvPr id="34" name="Rectangle 33"/>
          <p:cNvSpPr/>
          <p:nvPr/>
        </p:nvSpPr>
        <p:spPr>
          <a:xfrm>
            <a:off x="7596000" y="3150000"/>
            <a:ext cx="1080000" cy="30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96000" y="3222000"/>
            <a:ext cx="1080000" cy="162000"/>
          </a:xfrm>
          <a:prstGeom prst="rect">
            <a:avLst/>
          </a:prstGeom>
          <a:noFill/>
        </p:spPr>
        <p:txBody>
          <a:bodyPr wrap="square">
            <a:spAutoFit/>
          </a:bodyPr>
          <a:lstStyle/>
          <a:p>
            <a:pPr algn="ctr"/>
            <a:r>
              <a:rPr sz="1000" b="1" i="0">
                <a:solidFill>
                  <a:srgbClr val="FFFFFF"/>
                </a:solidFill>
              </a:rPr>
              <a:t>Slides 15-17</a:t>
            </a:r>
          </a:p>
        </p:txBody>
      </p:sp>
      <p:sp>
        <p:nvSpPr>
          <p:cNvPr id="36" name="Rectangle 35"/>
          <p:cNvSpPr/>
          <p:nvPr/>
        </p:nvSpPr>
        <p:spPr>
          <a:xfrm>
            <a:off x="324000" y="3834000"/>
            <a:ext cx="8496000" cy="917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3834000"/>
            <a:ext cx="64800" cy="917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8000" y="3942000"/>
            <a:ext cx="1152000" cy="702000"/>
          </a:xfrm>
          <a:prstGeom prst="rect">
            <a:avLst/>
          </a:prstGeom>
          <a:noFill/>
        </p:spPr>
        <p:txBody>
          <a:bodyPr wrap="square">
            <a:spAutoFit/>
          </a:bodyPr>
          <a:lstStyle/>
          <a:p>
            <a:pPr algn="ctr"/>
            <a:r>
              <a:rPr sz="4400" b="1" i="0">
                <a:solidFill>
                  <a:srgbClr val="2E5FA3"/>
                </a:solidFill>
              </a:rPr>
              <a:t>04</a:t>
            </a:r>
          </a:p>
        </p:txBody>
      </p:sp>
      <p:sp>
        <p:nvSpPr>
          <p:cNvPr id="39" name="TextBox 38"/>
          <p:cNvSpPr txBox="1"/>
          <p:nvPr/>
        </p:nvSpPr>
        <p:spPr>
          <a:xfrm>
            <a:off x="1764000" y="3996000"/>
            <a:ext cx="5616000" cy="288000"/>
          </a:xfrm>
          <a:prstGeom prst="rect">
            <a:avLst/>
          </a:prstGeom>
          <a:noFill/>
        </p:spPr>
        <p:txBody>
          <a:bodyPr wrap="square">
            <a:spAutoFit/>
          </a:bodyPr>
          <a:lstStyle/>
          <a:p>
            <a:pPr algn="l"/>
            <a:r>
              <a:rPr sz="1500" b="1" i="0">
                <a:solidFill>
                  <a:srgbClr val="1B3A6B"/>
                </a:solidFill>
              </a:rPr>
              <a:t>Décision d'allocation</a:t>
            </a:r>
          </a:p>
        </p:txBody>
      </p:sp>
      <p:sp>
        <p:nvSpPr>
          <p:cNvPr id="40" name="TextBox 39"/>
          <p:cNvSpPr txBox="1"/>
          <p:nvPr/>
        </p:nvSpPr>
        <p:spPr>
          <a:xfrm>
            <a:off x="1764000" y="4302000"/>
            <a:ext cx="5616000" cy="360000"/>
          </a:xfrm>
          <a:prstGeom prst="rect">
            <a:avLst/>
          </a:prstGeom>
          <a:noFill/>
        </p:spPr>
        <p:txBody>
          <a:bodyPr wrap="square">
            <a:spAutoFit/>
          </a:bodyPr>
          <a:lstStyle/>
          <a:p>
            <a:pPr algn="l"/>
            <a:r>
              <a:rPr sz="1000" b="0" i="0">
                <a:solidFill>
                  <a:srgbClr val="555555"/>
                </a:solidFill>
              </a:rPr>
              <a:t>Thèses bull/bear, recommandation, verdict et invalidation</a:t>
            </a:r>
          </a:p>
        </p:txBody>
      </p:sp>
      <p:sp>
        <p:nvSpPr>
          <p:cNvPr id="41" name="Rectangle 40"/>
          <p:cNvSpPr/>
          <p:nvPr/>
        </p:nvSpPr>
        <p:spPr>
          <a:xfrm>
            <a:off x="7596000" y="4140000"/>
            <a:ext cx="1080000" cy="30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96000" y="4212000"/>
            <a:ext cx="1080000" cy="162000"/>
          </a:xfrm>
          <a:prstGeom prst="rect">
            <a:avLst/>
          </a:prstGeom>
          <a:noFill/>
        </p:spPr>
        <p:txBody>
          <a:bodyPr wrap="square">
            <a:spAutoFit/>
          </a:bodyPr>
          <a:lstStyle/>
          <a:p>
            <a:pPr algn="ctr"/>
            <a:r>
              <a:rPr sz="1000" b="1" i="0">
                <a:solidFill>
                  <a:srgbClr val="FFFFFF"/>
                </a:solidFill>
              </a:rPr>
              <a:t>Slides 19-21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60000"/>
            <a:ext cx="8229600" cy="1645200"/>
          </a:xfrm>
          <a:prstGeom prst="rect">
            <a:avLst/>
          </a:prstGeom>
          <a:noFill/>
        </p:spPr>
        <p:txBody>
          <a:bodyPr wrap="none">
            <a:spAutoFit/>
          </a:bodyPr>
          <a:lstStyle/>
          <a:p>
            <a:r>
              <a:rPr sz="9600" b="1">
                <a:solidFill>
                  <a:srgbClr val="FFFFFF">
                    <a:alpha val="15000"/>
                  </a:srgbClr>
                </a:solidFill>
              </a:rPr>
              <a:t>01</a:t>
            </a:r>
          </a:p>
        </p:txBody>
      </p:sp>
      <p:sp>
        <p:nvSpPr>
          <p:cNvPr id="4" name="TextBox 3"/>
          <p:cNvSpPr txBox="1"/>
          <p:nvPr/>
        </p:nvSpPr>
        <p:spPr>
          <a:xfrm>
            <a:off x="457200" y="1980000"/>
            <a:ext cx="8229600" cy="648000"/>
          </a:xfrm>
          <a:prstGeom prst="rect">
            <a:avLst/>
          </a:prstGeom>
          <a:noFill/>
        </p:spPr>
        <p:txBody>
          <a:bodyPr wrap="square">
            <a:spAutoFit/>
          </a:bodyPr>
          <a:lstStyle/>
          <a:p>
            <a:pPr algn="l"/>
            <a:r>
              <a:rPr sz="3200" b="1" i="0">
                <a:solidFill>
                  <a:srgbClr val="FFFFFF"/>
                </a:solidFill>
              </a:rPr>
              <a:t>Profil &amp; Composition</a:t>
            </a:r>
          </a:p>
        </p:txBody>
      </p:sp>
      <p:sp>
        <p:nvSpPr>
          <p:cNvPr id="5" name="Rectangle 4"/>
          <p:cNvSpPr/>
          <p:nvPr/>
        </p:nvSpPr>
        <p:spPr>
          <a:xfrm>
            <a:off x="457200" y="2880000"/>
            <a:ext cx="27432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88000"/>
            <a:ext cx="8229600" cy="342000"/>
          </a:xfrm>
          <a:prstGeom prst="rect">
            <a:avLst/>
          </a:prstGeom>
          <a:noFill/>
        </p:spPr>
        <p:txBody>
          <a:bodyPr wrap="square">
            <a:spAutoFit/>
          </a:bodyPr>
          <a:lstStyle/>
          <a:p>
            <a:pPr algn="l"/>
            <a:r>
              <a:rPr sz="1100" b="0" i="0">
                <a:solidFill>
                  <a:srgbClr val="AABBDD"/>
                </a:solidFill>
              </a:rPr>
              <a:t>Structure, secteurs et top constituants des deux indices</a:t>
            </a:r>
          </a:p>
        </p:txBody>
      </p:sp>
      <p:sp>
        <p:nvSpPr>
          <p:cNvPr id="7" name="TextBox 6"/>
          <p:cNvSpPr txBox="1"/>
          <p:nvPr/>
        </p:nvSpPr>
        <p:spPr>
          <a:xfrm>
            <a:off x="367200" y="4860000"/>
            <a:ext cx="8413200" cy="201600"/>
          </a:xfrm>
          <a:prstGeom prst="rect">
            <a:avLst/>
          </a:prstGeom>
          <a:noFill/>
        </p:spPr>
        <p:txBody>
          <a:bodyPr wrap="square">
            <a:spAutoFit/>
          </a:bodyPr>
          <a:lstStyle/>
          <a:p>
            <a:pPr algn="l"/>
            <a:r>
              <a:rPr sz="700" b="0" i="0">
                <a:solidFill>
                  <a:srgbClr val="6677AA"/>
                </a:solidFill>
              </a:rPr>
              <a:t>FinSight IA  ·  Comparatif Indices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Profil  —  CAC 40</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Composition, métriques clés et caractéristiques structurelles</a:t>
            </a:r>
          </a:p>
        </p:txBody>
      </p:sp>
      <p:sp>
        <p:nvSpPr>
          <p:cNvPr id="5" name="Rectangle 4"/>
          <p:cNvSpPr/>
          <p:nvPr/>
        </p:nvSpPr>
        <p:spPr>
          <a:xfrm>
            <a:off x="7056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1B3A6B"/>
                </a:solidFill>
              </a:rPr>
              <a:t>1</a:t>
            </a:r>
          </a:p>
        </p:txBody>
      </p:sp>
      <p:sp>
        <p:nvSpPr>
          <p:cNvPr id="7" name="Rectangle 6"/>
          <p:cNvSpPr/>
          <p:nvPr/>
        </p:nvSpPr>
        <p:spPr>
          <a:xfrm>
            <a:off x="7362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FFFFFF"/>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67200" y="756000"/>
            <a:ext cx="8413200" cy="251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000" y="799200"/>
            <a:ext cx="8280000" cy="180000"/>
          </a:xfrm>
          <a:prstGeom prst="rect">
            <a:avLst/>
          </a:prstGeom>
          <a:noFill/>
        </p:spPr>
        <p:txBody>
          <a:bodyPr wrap="square">
            <a:spAutoFit/>
          </a:bodyPr>
          <a:lstStyle/>
          <a:p>
            <a:pPr algn="l"/>
            <a:r>
              <a:rPr sz="1100" b="1" i="0">
                <a:solidFill>
                  <a:srgbClr val="FFFFFF"/>
                </a:solidFill>
              </a:rPr>
              <a:t>CAC 40  (CAC40)  ·  Devise : EUR</a:t>
            </a:r>
          </a:p>
        </p:txBody>
      </p:sp>
      <p:sp>
        <p:nvSpPr>
          <p:cNvPr id="17" name="Rectangle 16"/>
          <p:cNvSpPr/>
          <p:nvPr/>
        </p:nvSpPr>
        <p:spPr>
          <a:xfrm>
            <a:off x="367200" y="1116000"/>
            <a:ext cx="2015999" cy="70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1116000"/>
            <a:ext cx="54000" cy="70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400" y="1152000"/>
            <a:ext cx="1871999" cy="386100"/>
          </a:xfrm>
          <a:prstGeom prst="rect">
            <a:avLst/>
          </a:prstGeom>
          <a:noFill/>
        </p:spPr>
        <p:txBody>
          <a:bodyPr wrap="square">
            <a:spAutoFit/>
          </a:bodyPr>
          <a:lstStyle/>
          <a:p>
            <a:pPr algn="ctr"/>
            <a:r>
              <a:rPr sz="1600" b="1" i="0">
                <a:solidFill>
                  <a:srgbClr val="1B3A6B"/>
                </a:solidFill>
              </a:rPr>
              <a:t>50/100</a:t>
            </a:r>
          </a:p>
        </p:txBody>
      </p:sp>
      <p:sp>
        <p:nvSpPr>
          <p:cNvPr id="20" name="TextBox 19"/>
          <p:cNvSpPr txBox="1"/>
          <p:nvPr/>
        </p:nvSpPr>
        <p:spPr>
          <a:xfrm>
            <a:off x="464400" y="1520100"/>
            <a:ext cx="1871999" cy="175500"/>
          </a:xfrm>
          <a:prstGeom prst="rect">
            <a:avLst/>
          </a:prstGeom>
          <a:noFill/>
        </p:spPr>
        <p:txBody>
          <a:bodyPr wrap="square">
            <a:spAutoFit/>
          </a:bodyPr>
          <a:lstStyle/>
          <a:p>
            <a:pPr algn="ctr"/>
            <a:r>
              <a:rPr sz="800" b="1" i="0">
                <a:solidFill>
                  <a:srgbClr val="555555"/>
                </a:solidFill>
              </a:rPr>
              <a:t>Score FinSight</a:t>
            </a:r>
          </a:p>
        </p:txBody>
      </p:sp>
      <p:sp>
        <p:nvSpPr>
          <p:cNvPr id="21" name="TextBox 20"/>
          <p:cNvSpPr txBox="1"/>
          <p:nvPr/>
        </p:nvSpPr>
        <p:spPr>
          <a:xfrm>
            <a:off x="464400" y="1663560"/>
            <a:ext cx="1871999" cy="140400"/>
          </a:xfrm>
          <a:prstGeom prst="rect">
            <a:avLst/>
          </a:prstGeom>
          <a:noFill/>
        </p:spPr>
        <p:txBody>
          <a:bodyPr wrap="square">
            <a:spAutoFit/>
          </a:bodyPr>
          <a:lstStyle/>
          <a:p>
            <a:pPr algn="ctr"/>
            <a:r>
              <a:rPr sz="700" b="0" i="0">
                <a:solidFill>
                  <a:srgbClr val="555555"/>
                </a:solidFill>
              </a:rPr>
              <a:t>Neutre</a:t>
            </a:r>
          </a:p>
        </p:txBody>
      </p:sp>
      <p:sp>
        <p:nvSpPr>
          <p:cNvPr id="22" name="Rectangle 21"/>
          <p:cNvSpPr/>
          <p:nvPr/>
        </p:nvSpPr>
        <p:spPr>
          <a:xfrm>
            <a:off x="2491200" y="1116000"/>
            <a:ext cx="2015999" cy="70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491200" y="1116000"/>
            <a:ext cx="54000" cy="70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88400" y="1152000"/>
            <a:ext cx="1871999" cy="386100"/>
          </a:xfrm>
          <a:prstGeom prst="rect">
            <a:avLst/>
          </a:prstGeom>
          <a:noFill/>
        </p:spPr>
        <p:txBody>
          <a:bodyPr wrap="square">
            <a:spAutoFit/>
          </a:bodyPr>
          <a:lstStyle/>
          <a:p>
            <a:pPr algn="ctr"/>
            <a:r>
              <a:rPr sz="1600" b="1" i="0">
                <a:solidFill>
                  <a:srgbClr val="1B3A6B"/>
                </a:solidFill>
              </a:rPr>
              <a:t>+16,3 %</a:t>
            </a:r>
          </a:p>
        </p:txBody>
      </p:sp>
      <p:sp>
        <p:nvSpPr>
          <p:cNvPr id="25" name="TextBox 24"/>
          <p:cNvSpPr txBox="1"/>
          <p:nvPr/>
        </p:nvSpPr>
        <p:spPr>
          <a:xfrm>
            <a:off x="2588400" y="1520100"/>
            <a:ext cx="1871999" cy="175500"/>
          </a:xfrm>
          <a:prstGeom prst="rect">
            <a:avLst/>
          </a:prstGeom>
          <a:noFill/>
        </p:spPr>
        <p:txBody>
          <a:bodyPr wrap="square">
            <a:spAutoFit/>
          </a:bodyPr>
          <a:lstStyle/>
          <a:p>
            <a:pPr algn="ctr"/>
            <a:r>
              <a:rPr sz="800" b="1" i="0">
                <a:solidFill>
                  <a:srgbClr val="555555"/>
                </a:solidFill>
              </a:rPr>
              <a:t>Performance 1 an</a:t>
            </a:r>
          </a:p>
        </p:txBody>
      </p:sp>
      <p:sp>
        <p:nvSpPr>
          <p:cNvPr id="26" name="TextBox 25"/>
          <p:cNvSpPr txBox="1"/>
          <p:nvPr/>
        </p:nvSpPr>
        <p:spPr>
          <a:xfrm>
            <a:off x="2588400" y="1663560"/>
            <a:ext cx="1871999" cy="140400"/>
          </a:xfrm>
          <a:prstGeom prst="rect">
            <a:avLst/>
          </a:prstGeom>
          <a:noFill/>
        </p:spPr>
        <p:txBody>
          <a:bodyPr wrap="square">
            <a:spAutoFit/>
          </a:bodyPr>
          <a:lstStyle/>
          <a:p>
            <a:pPr algn="ctr"/>
            <a:r>
              <a:rPr sz="700" b="0" i="0">
                <a:solidFill>
                  <a:srgbClr val="555555"/>
                </a:solidFill>
              </a:rPr>
              <a:t>vs 5 ans</a:t>
            </a:r>
          </a:p>
        </p:txBody>
      </p:sp>
      <p:sp>
        <p:nvSpPr>
          <p:cNvPr id="27" name="Rectangle 26"/>
          <p:cNvSpPr/>
          <p:nvPr/>
        </p:nvSpPr>
        <p:spPr>
          <a:xfrm>
            <a:off x="4611600" y="1116000"/>
            <a:ext cx="2015999" cy="70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11600" y="1116000"/>
            <a:ext cx="54000" cy="70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08800" y="1152000"/>
            <a:ext cx="1871999" cy="386100"/>
          </a:xfrm>
          <a:prstGeom prst="rect">
            <a:avLst/>
          </a:prstGeom>
          <a:noFill/>
        </p:spPr>
        <p:txBody>
          <a:bodyPr wrap="square">
            <a:spAutoFit/>
          </a:bodyPr>
          <a:lstStyle/>
          <a:p>
            <a:pPr algn="ctr"/>
            <a:r>
              <a:rPr sz="1600" b="1" i="0">
                <a:solidFill>
                  <a:srgbClr val="1B3A6B"/>
                </a:solidFill>
              </a:rPr>
              <a:t>18,9x</a:t>
            </a:r>
          </a:p>
        </p:txBody>
      </p:sp>
      <p:sp>
        <p:nvSpPr>
          <p:cNvPr id="30" name="TextBox 29"/>
          <p:cNvSpPr txBox="1"/>
          <p:nvPr/>
        </p:nvSpPr>
        <p:spPr>
          <a:xfrm>
            <a:off x="4708800" y="1520100"/>
            <a:ext cx="1871999" cy="175500"/>
          </a:xfrm>
          <a:prstGeom prst="rect">
            <a:avLst/>
          </a:prstGeom>
          <a:noFill/>
        </p:spPr>
        <p:txBody>
          <a:bodyPr wrap="square">
            <a:spAutoFit/>
          </a:bodyPr>
          <a:lstStyle/>
          <a:p>
            <a:pPr algn="ctr"/>
            <a:r>
              <a:rPr sz="800" b="1" i="0">
                <a:solidFill>
                  <a:srgbClr val="555555"/>
                </a:solidFill>
              </a:rPr>
              <a:t>P/E Forward</a:t>
            </a:r>
          </a:p>
        </p:txBody>
      </p:sp>
      <p:sp>
        <p:nvSpPr>
          <p:cNvPr id="31" name="TextBox 30"/>
          <p:cNvSpPr txBox="1"/>
          <p:nvPr/>
        </p:nvSpPr>
        <p:spPr>
          <a:xfrm>
            <a:off x="4708800" y="1663560"/>
            <a:ext cx="1871999" cy="140400"/>
          </a:xfrm>
          <a:prstGeom prst="rect">
            <a:avLst/>
          </a:prstGeom>
          <a:noFill/>
        </p:spPr>
        <p:txBody>
          <a:bodyPr wrap="square">
            <a:spAutoFit/>
          </a:bodyPr>
          <a:lstStyle/>
          <a:p>
            <a:pPr algn="ctr"/>
            <a:r>
              <a:rPr sz="700" b="0" i="0">
                <a:solidFill>
                  <a:srgbClr val="555555"/>
                </a:solidFill>
              </a:rPr>
              <a:t>mediane des constituants</a:t>
            </a:r>
          </a:p>
        </p:txBody>
      </p:sp>
      <p:sp>
        <p:nvSpPr>
          <p:cNvPr id="32" name="Rectangle 31"/>
          <p:cNvSpPr/>
          <p:nvPr/>
        </p:nvSpPr>
        <p:spPr>
          <a:xfrm>
            <a:off x="6732000" y="1116000"/>
            <a:ext cx="2015999" cy="70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32000" y="1116000"/>
            <a:ext cx="54000" cy="70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29200" y="1152000"/>
            <a:ext cx="1871999" cy="386100"/>
          </a:xfrm>
          <a:prstGeom prst="rect">
            <a:avLst/>
          </a:prstGeom>
          <a:noFill/>
        </p:spPr>
        <p:txBody>
          <a:bodyPr wrap="square">
            <a:spAutoFit/>
          </a:bodyPr>
          <a:lstStyle/>
          <a:p>
            <a:pPr algn="ctr"/>
            <a:r>
              <a:rPr sz="1600" b="1" i="0">
                <a:solidFill>
                  <a:srgbClr val="1B3A6B"/>
                </a:solidFill>
              </a:rPr>
              <a:t>—</a:t>
            </a:r>
          </a:p>
        </p:txBody>
      </p:sp>
      <p:sp>
        <p:nvSpPr>
          <p:cNvPr id="35" name="TextBox 34"/>
          <p:cNvSpPr txBox="1"/>
          <p:nvPr/>
        </p:nvSpPr>
        <p:spPr>
          <a:xfrm>
            <a:off x="6829200" y="1520100"/>
            <a:ext cx="1871999" cy="175500"/>
          </a:xfrm>
          <a:prstGeom prst="rect">
            <a:avLst/>
          </a:prstGeom>
          <a:noFill/>
        </p:spPr>
        <p:txBody>
          <a:bodyPr wrap="square">
            <a:spAutoFit/>
          </a:bodyPr>
          <a:lstStyle/>
          <a:p>
            <a:pPr algn="ctr"/>
            <a:r>
              <a:rPr sz="800" b="1" i="0">
                <a:solidFill>
                  <a:srgbClr val="555555"/>
                </a:solidFill>
              </a:rPr>
              <a:t>Rendement dividende</a:t>
            </a:r>
          </a:p>
        </p:txBody>
      </p:sp>
      <p:sp>
        <p:nvSpPr>
          <p:cNvPr id="36" name="TextBox 35"/>
          <p:cNvSpPr txBox="1"/>
          <p:nvPr/>
        </p:nvSpPr>
        <p:spPr>
          <a:xfrm>
            <a:off x="6829200" y="1663560"/>
            <a:ext cx="1871999" cy="140400"/>
          </a:xfrm>
          <a:prstGeom prst="rect">
            <a:avLst/>
          </a:prstGeom>
          <a:noFill/>
        </p:spPr>
        <p:txBody>
          <a:bodyPr wrap="square">
            <a:spAutoFit/>
          </a:bodyPr>
          <a:lstStyle/>
          <a:p>
            <a:pPr algn="ctr"/>
            <a:r>
              <a:rPr sz="700" b="0" i="0">
                <a:solidFill>
                  <a:srgbClr val="555555"/>
                </a:solidFill>
              </a:rPr>
              <a:t>mediane pondérée</a:t>
            </a:r>
          </a:p>
        </p:txBody>
      </p:sp>
      <p:graphicFrame>
        <p:nvGraphicFramePr>
          <p:cNvPr id="37" name="Table 36"/>
          <p:cNvGraphicFramePr>
            <a:graphicFrameLocks noGrp="1"/>
          </p:cNvGraphicFramePr>
          <p:nvPr/>
        </p:nvGraphicFramePr>
        <p:xfrm>
          <a:off x="367200" y="1980000"/>
          <a:ext cx="4680000" cy="1548000"/>
        </p:xfrm>
        <a:graphic>
          <a:graphicData uri="http://schemas.openxmlformats.org/drawingml/2006/table">
            <a:tbl>
              <a:tblPr firstRow="1" bandRow="1">
                <a:tableStyleId>{5C22544A-7EE6-4342-B048-85BDC9FD1C3A}</a:tableStyleId>
              </a:tblPr>
              <a:tblGrid>
                <a:gridCol w="2520000"/>
                <a:gridCol w="900000"/>
                <a:gridCol w="1260000"/>
              </a:tblGrid>
              <a:tr h="258000">
                <a:tc>
                  <a:txBody>
                    <a:bodyPr/>
                    <a:lstStyle/>
                    <a:p>
                      <a:pPr algn="l"/>
                      <a:r>
                        <a:rPr sz="900" b="1">
                          <a:solidFill>
                            <a:srgbClr val="FFFFFF"/>
                          </a:solidFill>
                        </a:rPr>
                        <a:t>Société (Ticker)</a:t>
                      </a:r>
                    </a:p>
                  </a:txBody>
                  <a:tcPr>
                    <a:solidFill>
                      <a:srgbClr val="2E5FA3"/>
                    </a:solidFill>
                  </a:tcPr>
                </a:tc>
                <a:tc>
                  <a:txBody>
                    <a:bodyPr/>
                    <a:lstStyle/>
                    <a:p>
                      <a:pPr algn="ctr"/>
                      <a:r>
                        <a:rPr sz="900" b="1">
                          <a:solidFill>
                            <a:srgbClr val="FFFFFF"/>
                          </a:solidFill>
                        </a:rPr>
                        <a:t>Poids (%)</a:t>
                      </a:r>
                    </a:p>
                  </a:txBody>
                  <a:tcPr>
                    <a:solidFill>
                      <a:srgbClr val="2E5FA3"/>
                    </a:solidFill>
                  </a:tcPr>
                </a:tc>
                <a:tc>
                  <a:txBody>
                    <a:bodyPr/>
                    <a:lstStyle/>
                    <a:p>
                      <a:pPr algn="ctr"/>
                      <a:r>
                        <a:rPr sz="900" b="1">
                          <a:solidFill>
                            <a:srgbClr val="FFFFFF"/>
                          </a:solidFill>
                        </a:rPr>
                        <a:t>Secteur</a:t>
                      </a:r>
                    </a:p>
                  </a:txBody>
                  <a:tcPr>
                    <a:solidFill>
                      <a:srgbClr val="2E5FA3"/>
                    </a:solidFill>
                  </a:tcPr>
                </a:tc>
              </a:tr>
              <a:tr h="258000">
                <a:tc>
                  <a:txBody>
                    <a:bodyPr/>
                    <a:lstStyle/>
                    <a:p>
                      <a:pPr algn="l"/>
                      <a:r>
                        <a:rPr sz="900" b="0">
                          <a:solidFill>
                            <a:srgbClr val="1A1A1A"/>
                          </a:solidFill>
                        </a:rPr>
                        <a:t>Unibail-Rodamco-Westfield SE (URW.PA)</a:t>
                      </a:r>
                    </a:p>
                  </a:txBody>
                  <a:tcPr>
                    <a:solidFill>
                      <a:srgbClr val="FFFFFF"/>
                    </a:solidFill>
                  </a:tcPr>
                </a:tc>
                <a:tc>
                  <a:txBody>
                    <a:bodyPr/>
                    <a:lstStyle/>
                    <a:p>
                      <a:pPr algn="ctr"/>
                      <a:r>
                        <a:rPr sz="900" b="0">
                          <a:solidFill>
                            <a:srgbClr val="1A1A1A"/>
                          </a:solidFill>
                        </a:rPr>
                        <a:t>—</a:t>
                      </a:r>
                    </a:p>
                  </a:txBody>
                  <a:tcPr>
                    <a:solidFill>
                      <a:srgbClr val="FFFFFF"/>
                    </a:solidFill>
                  </a:tcPr>
                </a:tc>
                <a:tc>
                  <a:txBody>
                    <a:bodyPr/>
                    <a:lstStyle/>
                    <a:p>
                      <a:pPr algn="ctr"/>
                      <a:r>
                        <a:rPr sz="900" b="0">
                          <a:solidFill>
                            <a:srgbClr val="1A1A1A"/>
                          </a:solidFill>
                        </a:rPr>
                        <a:t>Real Estate</a:t>
                      </a:r>
                    </a:p>
                  </a:txBody>
                  <a:tcPr>
                    <a:solidFill>
                      <a:srgbClr val="FFFFFF"/>
                    </a:solidFill>
                  </a:tcPr>
                </a:tc>
              </a:tr>
              <a:tr h="258000">
                <a:tc>
                  <a:txBody>
                    <a:bodyPr/>
                    <a:lstStyle/>
                    <a:p>
                      <a:pPr algn="l"/>
                      <a:r>
                        <a:rPr sz="900" b="0">
                          <a:solidFill>
                            <a:srgbClr val="1A1A1A"/>
                          </a:solidFill>
                        </a:rPr>
                        <a:t>Safran SA (SAF.PA)</a:t>
                      </a:r>
                    </a:p>
                  </a:txBody>
                  <a:tcPr>
                    <a:solidFill>
                      <a:srgbClr val="F5F7FA"/>
                    </a:solidFill>
                  </a:tcPr>
                </a:tc>
                <a:tc>
                  <a:txBody>
                    <a:bodyPr/>
                    <a:lstStyle/>
                    <a:p>
                      <a:pPr algn="ctr"/>
                      <a:r>
                        <a:rPr sz="900" b="0">
                          <a:solidFill>
                            <a:srgbClr val="1A1A1A"/>
                          </a:solidFill>
                        </a:rPr>
                        <a:t>—</a:t>
                      </a:r>
                    </a:p>
                  </a:txBody>
                  <a:tcPr>
                    <a:solidFill>
                      <a:srgbClr val="F5F7FA"/>
                    </a:solidFill>
                  </a:tcPr>
                </a:tc>
                <a:tc>
                  <a:txBody>
                    <a:bodyPr/>
                    <a:lstStyle/>
                    <a:p>
                      <a:pPr algn="ctr"/>
                      <a:r>
                        <a:rPr sz="900" b="0">
                          <a:solidFill>
                            <a:srgbClr val="1A1A1A"/>
                          </a:solidFill>
                        </a:rPr>
                        <a:t>Industrials</a:t>
                      </a:r>
                    </a:p>
                  </a:txBody>
                  <a:tcPr>
                    <a:solidFill>
                      <a:srgbClr val="F5F7FA"/>
                    </a:solidFill>
                  </a:tcPr>
                </a:tc>
              </a:tr>
              <a:tr h="258000">
                <a:tc>
                  <a:txBody>
                    <a:bodyPr/>
                    <a:lstStyle/>
                    <a:p>
                      <a:pPr algn="l"/>
                      <a:r>
                        <a:rPr sz="900" b="0">
                          <a:solidFill>
                            <a:srgbClr val="1A1A1A"/>
                          </a:solidFill>
                        </a:rPr>
                        <a:t>Sanofi (SAN.PA)</a:t>
                      </a:r>
                    </a:p>
                  </a:txBody>
                  <a:tcPr>
                    <a:solidFill>
                      <a:srgbClr val="FFFFFF"/>
                    </a:solidFill>
                  </a:tcPr>
                </a:tc>
                <a:tc>
                  <a:txBody>
                    <a:bodyPr/>
                    <a:lstStyle/>
                    <a:p>
                      <a:pPr algn="ctr"/>
                      <a:r>
                        <a:rPr sz="900" b="0">
                          <a:solidFill>
                            <a:srgbClr val="1A1A1A"/>
                          </a:solidFill>
                        </a:rPr>
                        <a:t>—</a:t>
                      </a:r>
                    </a:p>
                  </a:txBody>
                  <a:tcPr>
                    <a:solidFill>
                      <a:srgbClr val="FFFFFF"/>
                    </a:solidFill>
                  </a:tcPr>
                </a:tc>
                <a:tc>
                  <a:txBody>
                    <a:bodyPr/>
                    <a:lstStyle/>
                    <a:p>
                      <a:pPr algn="ctr"/>
                      <a:r>
                        <a:rPr sz="900" b="0">
                          <a:solidFill>
                            <a:srgbClr val="1A1A1A"/>
                          </a:solidFill>
                        </a:rPr>
                        <a:t>Healthcare</a:t>
                      </a:r>
                    </a:p>
                  </a:txBody>
                  <a:tcPr>
                    <a:solidFill>
                      <a:srgbClr val="FFFFFF"/>
                    </a:solidFill>
                  </a:tcPr>
                </a:tc>
              </a:tr>
              <a:tr h="258000">
                <a:tc>
                  <a:txBody>
                    <a:bodyPr/>
                    <a:lstStyle/>
                    <a:p>
                      <a:pPr algn="l"/>
                      <a:r>
                        <a:rPr sz="900" b="0">
                          <a:solidFill>
                            <a:srgbClr val="1A1A1A"/>
                          </a:solidFill>
                        </a:rPr>
                        <a:t>TotalEnergies SE (TTE.PA)</a:t>
                      </a:r>
                    </a:p>
                  </a:txBody>
                  <a:tcPr>
                    <a:solidFill>
                      <a:srgbClr val="F5F7FA"/>
                    </a:solidFill>
                  </a:tcPr>
                </a:tc>
                <a:tc>
                  <a:txBody>
                    <a:bodyPr/>
                    <a:lstStyle/>
                    <a:p>
                      <a:pPr algn="ctr"/>
                      <a:r>
                        <a:rPr sz="900" b="0">
                          <a:solidFill>
                            <a:srgbClr val="1A1A1A"/>
                          </a:solidFill>
                        </a:rPr>
                        <a:t>—</a:t>
                      </a:r>
                    </a:p>
                  </a:txBody>
                  <a:tcPr>
                    <a:solidFill>
                      <a:srgbClr val="F5F7FA"/>
                    </a:solidFill>
                  </a:tcPr>
                </a:tc>
                <a:tc>
                  <a:txBody>
                    <a:bodyPr/>
                    <a:lstStyle/>
                    <a:p>
                      <a:pPr algn="ctr"/>
                      <a:r>
                        <a:rPr sz="900" b="0">
                          <a:solidFill>
                            <a:srgbClr val="1A1A1A"/>
                          </a:solidFill>
                        </a:rPr>
                        <a:t>Energy</a:t>
                      </a:r>
                    </a:p>
                  </a:txBody>
                  <a:tcPr>
                    <a:solidFill>
                      <a:srgbClr val="F5F7FA"/>
                    </a:solidFill>
                  </a:tcPr>
                </a:tc>
              </a:tr>
              <a:tr h="258000">
                <a:tc>
                  <a:txBody>
                    <a:bodyPr/>
                    <a:lstStyle/>
                    <a:p>
                      <a:pPr algn="l"/>
                      <a:r>
                        <a:rPr sz="900" b="0">
                          <a:solidFill>
                            <a:srgbClr val="1A1A1A"/>
                          </a:solidFill>
                        </a:rPr>
                        <a:t>Crédit Agricole S.A. (ACA.PA)</a:t>
                      </a:r>
                    </a:p>
                  </a:txBody>
                  <a:tcPr>
                    <a:solidFill>
                      <a:srgbClr val="FFFFFF"/>
                    </a:solidFill>
                  </a:tcPr>
                </a:tc>
                <a:tc>
                  <a:txBody>
                    <a:bodyPr/>
                    <a:lstStyle/>
                    <a:p>
                      <a:pPr algn="ctr"/>
                      <a:r>
                        <a:rPr sz="900" b="0">
                          <a:solidFill>
                            <a:srgbClr val="1A1A1A"/>
                          </a:solidFill>
                        </a:rPr>
                        <a:t>—</a:t>
                      </a:r>
                    </a:p>
                  </a:txBody>
                  <a:tcPr>
                    <a:solidFill>
                      <a:srgbClr val="FFFFFF"/>
                    </a:solidFill>
                  </a:tcPr>
                </a:tc>
                <a:tc>
                  <a:txBody>
                    <a:bodyPr/>
                    <a:lstStyle/>
                    <a:p>
                      <a:pPr algn="ctr"/>
                      <a:r>
                        <a:rPr sz="900" b="0">
                          <a:solidFill>
                            <a:srgbClr val="1A1A1A"/>
                          </a:solidFill>
                        </a:rPr>
                        <a:t>Financial Services</a:t>
                      </a:r>
                    </a:p>
                  </a:txBody>
                  <a:tcPr>
                    <a:solidFill>
                      <a:srgbClr val="FFFFFF"/>
                    </a:solidFill>
                  </a:tcPr>
                </a:tc>
              </a:tr>
            </a:tbl>
          </a:graphicData>
        </a:graphic>
      </p:graphicFrame>
      <p:sp>
        <p:nvSpPr>
          <p:cNvPr id="38" name="Rectangle 37"/>
          <p:cNvSpPr/>
          <p:nvPr/>
        </p:nvSpPr>
        <p:spPr>
          <a:xfrm>
            <a:off x="5148000" y="1980000"/>
            <a:ext cx="3636000" cy="15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148000" y="1980000"/>
            <a:ext cx="46800" cy="15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56000" y="2015999"/>
            <a:ext cx="3491999" cy="129600"/>
          </a:xfrm>
          <a:prstGeom prst="rect">
            <a:avLst/>
          </a:prstGeom>
          <a:noFill/>
        </p:spPr>
        <p:txBody>
          <a:bodyPr wrap="square">
            <a:spAutoFit/>
          </a:bodyPr>
          <a:lstStyle/>
          <a:p>
            <a:pPr algn="l"/>
            <a:r>
              <a:rPr sz="900" b="1" i="0">
                <a:solidFill>
                  <a:srgbClr val="1B3A6B"/>
                </a:solidFill>
              </a:rPr>
              <a:t>CAC 40 (CAC40) — PERF 1Y +16,3 %, P/E 18,9X</a:t>
            </a:r>
          </a:p>
        </p:txBody>
      </p:sp>
      <p:sp>
        <p:nvSpPr>
          <p:cNvPr id="41" name="TextBox 40"/>
          <p:cNvSpPr txBox="1"/>
          <p:nvPr/>
        </p:nvSpPr>
        <p:spPr>
          <a:xfrm>
            <a:off x="5256000" y="2160000"/>
            <a:ext cx="3456000" cy="1324800"/>
          </a:xfrm>
          <a:prstGeom prst="rect">
            <a:avLst/>
          </a:prstGeom>
          <a:noFill/>
        </p:spPr>
        <p:txBody>
          <a:bodyPr wrap="square">
            <a:spAutoFit/>
          </a:bodyPr>
          <a:lstStyle/>
          <a:p>
            <a:pPr algn="l"/>
            <a:r>
              <a:rPr sz="900" b="0" i="0">
                <a:solidFill>
                  <a:srgbClr val="1B3A6B"/>
                </a:solidFill>
              </a:rPr>
              <a:t>CAC 40 regroupe les sociétés cotées sur l'univers CAC40 et constitue un baromètre représentatif de l'économie sous-jacente. Ses caractéristiques structurelles (composition sectorielle, biais croissance/value, liquidité) déterminent son comportement face aux cycles macroéconomiques. L'horizon recommandé pour une allocation cœur de portefeuille est de 3 à 5 ans.</a:t>
            </a:r>
          </a:p>
        </p:txBody>
      </p:sp>
      <p:sp>
        <p:nvSpPr>
          <p:cNvPr id="42" name="Rectangle 41"/>
          <p:cNvSpPr/>
          <p:nvPr/>
        </p:nvSpPr>
        <p:spPr>
          <a:xfrm>
            <a:off x="367200" y="3636000"/>
            <a:ext cx="8413200" cy="115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7200" y="3636000"/>
            <a:ext cx="46800" cy="115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5200" y="3671999"/>
            <a:ext cx="8269200" cy="129600"/>
          </a:xfrm>
          <a:prstGeom prst="rect">
            <a:avLst/>
          </a:prstGeom>
          <a:noFill/>
        </p:spPr>
        <p:txBody>
          <a:bodyPr wrap="square">
            <a:spAutoFit/>
          </a:bodyPr>
          <a:lstStyle/>
          <a:p>
            <a:pPr algn="l"/>
            <a:r>
              <a:rPr sz="900" b="1" i="0">
                <a:solidFill>
                  <a:srgbClr val="1B3A6B"/>
                </a:solidFill>
              </a:rPr>
              <a:t>CAC 40 — SCORE FINSIGHT 50/100 : SIGNAL NEUTRE SUR 6-12 MOIS</a:t>
            </a:r>
          </a:p>
        </p:txBody>
      </p:sp>
      <p:sp>
        <p:nvSpPr>
          <p:cNvPr id="45" name="TextBox 44"/>
          <p:cNvSpPr txBox="1"/>
          <p:nvPr/>
        </p:nvSpPr>
        <p:spPr>
          <a:xfrm>
            <a:off x="475200" y="3816000"/>
            <a:ext cx="8233200" cy="928800"/>
          </a:xfrm>
          <a:prstGeom prst="rect">
            <a:avLst/>
          </a:prstGeom>
          <a:noFill/>
        </p:spPr>
        <p:txBody>
          <a:bodyPr wrap="square">
            <a:spAutoFit/>
          </a:bodyPr>
          <a:lstStyle/>
          <a:p>
            <a:pPr algn="l"/>
            <a:r>
              <a:rPr sz="900" b="0" i="0">
                <a:solidFill>
                  <a:srgbClr val="1B3A6B"/>
                </a:solidFill>
              </a:rPr>
              <a:t>L'évaluation du profil de CAC 40 doit être croisée avec les conditions de marché actuelles : niveau des taux directeurs, cycle économique, et flux de capitaux. Le score FinSight 50/100 traduit un signal neutre sur un horizon 6-12 mois.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Profil  —  S&amp;P 500</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Composition, métriques clés et caractéristiques structurelles</a:t>
            </a:r>
          </a:p>
        </p:txBody>
      </p:sp>
      <p:sp>
        <p:nvSpPr>
          <p:cNvPr id="5" name="Rectangle 4"/>
          <p:cNvSpPr/>
          <p:nvPr/>
        </p:nvSpPr>
        <p:spPr>
          <a:xfrm>
            <a:off x="7056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1B3A6B"/>
                </a:solidFill>
              </a:rPr>
              <a:t>1</a:t>
            </a:r>
          </a:p>
        </p:txBody>
      </p:sp>
      <p:sp>
        <p:nvSpPr>
          <p:cNvPr id="7" name="Rectangle 6"/>
          <p:cNvSpPr/>
          <p:nvPr/>
        </p:nvSpPr>
        <p:spPr>
          <a:xfrm>
            <a:off x="7362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FFFFFF"/>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67200" y="756000"/>
            <a:ext cx="84132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000" y="799200"/>
            <a:ext cx="8280000" cy="180000"/>
          </a:xfrm>
          <a:prstGeom prst="rect">
            <a:avLst/>
          </a:prstGeom>
          <a:noFill/>
        </p:spPr>
        <p:txBody>
          <a:bodyPr wrap="square">
            <a:spAutoFit/>
          </a:bodyPr>
          <a:lstStyle/>
          <a:p>
            <a:pPr algn="l"/>
            <a:r>
              <a:rPr sz="1100" b="1" i="0">
                <a:solidFill>
                  <a:srgbClr val="FFFFFF"/>
                </a:solidFill>
              </a:rPr>
              <a:t>S&amp;P 500  (SP500)  ·  Devise : USD</a:t>
            </a:r>
          </a:p>
        </p:txBody>
      </p:sp>
      <p:sp>
        <p:nvSpPr>
          <p:cNvPr id="17" name="Rectangle 16"/>
          <p:cNvSpPr/>
          <p:nvPr/>
        </p:nvSpPr>
        <p:spPr>
          <a:xfrm>
            <a:off x="367200" y="1116000"/>
            <a:ext cx="2015999" cy="70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1116000"/>
            <a:ext cx="54000" cy="70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400" y="1152000"/>
            <a:ext cx="1871999" cy="386100"/>
          </a:xfrm>
          <a:prstGeom prst="rect">
            <a:avLst/>
          </a:prstGeom>
          <a:noFill/>
        </p:spPr>
        <p:txBody>
          <a:bodyPr wrap="square">
            <a:spAutoFit/>
          </a:bodyPr>
          <a:lstStyle/>
          <a:p>
            <a:pPr algn="ctr"/>
            <a:r>
              <a:rPr sz="1600" b="1" i="0">
                <a:solidFill>
                  <a:srgbClr val="1B3A6B"/>
                </a:solidFill>
              </a:rPr>
              <a:t>50/100</a:t>
            </a:r>
          </a:p>
        </p:txBody>
      </p:sp>
      <p:sp>
        <p:nvSpPr>
          <p:cNvPr id="20" name="TextBox 19"/>
          <p:cNvSpPr txBox="1"/>
          <p:nvPr/>
        </p:nvSpPr>
        <p:spPr>
          <a:xfrm>
            <a:off x="464400" y="1520100"/>
            <a:ext cx="1871999" cy="175500"/>
          </a:xfrm>
          <a:prstGeom prst="rect">
            <a:avLst/>
          </a:prstGeom>
          <a:noFill/>
        </p:spPr>
        <p:txBody>
          <a:bodyPr wrap="square">
            <a:spAutoFit/>
          </a:bodyPr>
          <a:lstStyle/>
          <a:p>
            <a:pPr algn="ctr"/>
            <a:r>
              <a:rPr sz="800" b="1" i="0">
                <a:solidFill>
                  <a:srgbClr val="555555"/>
                </a:solidFill>
              </a:rPr>
              <a:t>Score FinSight</a:t>
            </a:r>
          </a:p>
        </p:txBody>
      </p:sp>
      <p:sp>
        <p:nvSpPr>
          <p:cNvPr id="21" name="TextBox 20"/>
          <p:cNvSpPr txBox="1"/>
          <p:nvPr/>
        </p:nvSpPr>
        <p:spPr>
          <a:xfrm>
            <a:off x="464400" y="1663560"/>
            <a:ext cx="1871999" cy="140400"/>
          </a:xfrm>
          <a:prstGeom prst="rect">
            <a:avLst/>
          </a:prstGeom>
          <a:noFill/>
        </p:spPr>
        <p:txBody>
          <a:bodyPr wrap="square">
            <a:spAutoFit/>
          </a:bodyPr>
          <a:lstStyle/>
          <a:p>
            <a:pPr algn="ctr"/>
            <a:r>
              <a:rPr sz="700" b="0" i="0">
                <a:solidFill>
                  <a:srgbClr val="555555"/>
                </a:solidFill>
              </a:rPr>
              <a:t>Neutre</a:t>
            </a:r>
          </a:p>
        </p:txBody>
      </p:sp>
      <p:sp>
        <p:nvSpPr>
          <p:cNvPr id="22" name="Rectangle 21"/>
          <p:cNvSpPr/>
          <p:nvPr/>
        </p:nvSpPr>
        <p:spPr>
          <a:xfrm>
            <a:off x="2491200" y="1116000"/>
            <a:ext cx="2015999" cy="70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491200" y="1116000"/>
            <a:ext cx="54000" cy="70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88400" y="1152000"/>
            <a:ext cx="1871999" cy="386100"/>
          </a:xfrm>
          <a:prstGeom prst="rect">
            <a:avLst/>
          </a:prstGeom>
          <a:noFill/>
        </p:spPr>
        <p:txBody>
          <a:bodyPr wrap="square">
            <a:spAutoFit/>
          </a:bodyPr>
          <a:lstStyle/>
          <a:p>
            <a:pPr algn="ctr"/>
            <a:r>
              <a:rPr sz="1600" b="1" i="0">
                <a:solidFill>
                  <a:srgbClr val="1B3A6B"/>
                </a:solidFill>
              </a:rPr>
              <a:t>+27,1 %</a:t>
            </a:r>
          </a:p>
        </p:txBody>
      </p:sp>
      <p:sp>
        <p:nvSpPr>
          <p:cNvPr id="25" name="TextBox 24"/>
          <p:cNvSpPr txBox="1"/>
          <p:nvPr/>
        </p:nvSpPr>
        <p:spPr>
          <a:xfrm>
            <a:off x="2588400" y="1520100"/>
            <a:ext cx="1871999" cy="175500"/>
          </a:xfrm>
          <a:prstGeom prst="rect">
            <a:avLst/>
          </a:prstGeom>
          <a:noFill/>
        </p:spPr>
        <p:txBody>
          <a:bodyPr wrap="square">
            <a:spAutoFit/>
          </a:bodyPr>
          <a:lstStyle/>
          <a:p>
            <a:pPr algn="ctr"/>
            <a:r>
              <a:rPr sz="800" b="1" i="0">
                <a:solidFill>
                  <a:srgbClr val="555555"/>
                </a:solidFill>
              </a:rPr>
              <a:t>Performance 1 an</a:t>
            </a:r>
          </a:p>
        </p:txBody>
      </p:sp>
      <p:sp>
        <p:nvSpPr>
          <p:cNvPr id="26" name="TextBox 25"/>
          <p:cNvSpPr txBox="1"/>
          <p:nvPr/>
        </p:nvSpPr>
        <p:spPr>
          <a:xfrm>
            <a:off x="2588400" y="1663560"/>
            <a:ext cx="1871999" cy="140400"/>
          </a:xfrm>
          <a:prstGeom prst="rect">
            <a:avLst/>
          </a:prstGeom>
          <a:noFill/>
        </p:spPr>
        <p:txBody>
          <a:bodyPr wrap="square">
            <a:spAutoFit/>
          </a:bodyPr>
          <a:lstStyle/>
          <a:p>
            <a:pPr algn="ctr"/>
            <a:r>
              <a:rPr sz="700" b="0" i="0">
                <a:solidFill>
                  <a:srgbClr val="555555"/>
                </a:solidFill>
              </a:rPr>
              <a:t>vs 5 ans</a:t>
            </a:r>
          </a:p>
        </p:txBody>
      </p:sp>
      <p:sp>
        <p:nvSpPr>
          <p:cNvPr id="27" name="Rectangle 26"/>
          <p:cNvSpPr/>
          <p:nvPr/>
        </p:nvSpPr>
        <p:spPr>
          <a:xfrm>
            <a:off x="4611600" y="1116000"/>
            <a:ext cx="2015999" cy="70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11600" y="1116000"/>
            <a:ext cx="54000" cy="70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08800" y="1152000"/>
            <a:ext cx="1871999" cy="386100"/>
          </a:xfrm>
          <a:prstGeom prst="rect">
            <a:avLst/>
          </a:prstGeom>
          <a:noFill/>
        </p:spPr>
        <p:txBody>
          <a:bodyPr wrap="square">
            <a:spAutoFit/>
          </a:bodyPr>
          <a:lstStyle/>
          <a:p>
            <a:pPr algn="ctr"/>
            <a:r>
              <a:rPr sz="1600" b="1" i="0">
                <a:solidFill>
                  <a:srgbClr val="1B3A6B"/>
                </a:solidFill>
              </a:rPr>
              <a:t>—x</a:t>
            </a:r>
          </a:p>
        </p:txBody>
      </p:sp>
      <p:sp>
        <p:nvSpPr>
          <p:cNvPr id="30" name="TextBox 29"/>
          <p:cNvSpPr txBox="1"/>
          <p:nvPr/>
        </p:nvSpPr>
        <p:spPr>
          <a:xfrm>
            <a:off x="4708800" y="1520100"/>
            <a:ext cx="1871999" cy="175500"/>
          </a:xfrm>
          <a:prstGeom prst="rect">
            <a:avLst/>
          </a:prstGeom>
          <a:noFill/>
        </p:spPr>
        <p:txBody>
          <a:bodyPr wrap="square">
            <a:spAutoFit/>
          </a:bodyPr>
          <a:lstStyle/>
          <a:p>
            <a:pPr algn="ctr"/>
            <a:r>
              <a:rPr sz="800" b="1" i="0">
                <a:solidFill>
                  <a:srgbClr val="555555"/>
                </a:solidFill>
              </a:rPr>
              <a:t>P/E Forward</a:t>
            </a:r>
          </a:p>
        </p:txBody>
      </p:sp>
      <p:sp>
        <p:nvSpPr>
          <p:cNvPr id="31" name="TextBox 30"/>
          <p:cNvSpPr txBox="1"/>
          <p:nvPr/>
        </p:nvSpPr>
        <p:spPr>
          <a:xfrm>
            <a:off x="4708800" y="1663560"/>
            <a:ext cx="1871999" cy="140400"/>
          </a:xfrm>
          <a:prstGeom prst="rect">
            <a:avLst/>
          </a:prstGeom>
          <a:noFill/>
        </p:spPr>
        <p:txBody>
          <a:bodyPr wrap="square">
            <a:spAutoFit/>
          </a:bodyPr>
          <a:lstStyle/>
          <a:p>
            <a:pPr algn="ctr"/>
            <a:r>
              <a:rPr sz="700" b="0" i="0">
                <a:solidFill>
                  <a:srgbClr val="555555"/>
                </a:solidFill>
              </a:rPr>
              <a:t>mediane des constituants</a:t>
            </a:r>
          </a:p>
        </p:txBody>
      </p:sp>
      <p:sp>
        <p:nvSpPr>
          <p:cNvPr id="32" name="Rectangle 31"/>
          <p:cNvSpPr/>
          <p:nvPr/>
        </p:nvSpPr>
        <p:spPr>
          <a:xfrm>
            <a:off x="6732000" y="1116000"/>
            <a:ext cx="2015999" cy="70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32000" y="1116000"/>
            <a:ext cx="54000" cy="70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29200" y="1152000"/>
            <a:ext cx="1871999" cy="386100"/>
          </a:xfrm>
          <a:prstGeom prst="rect">
            <a:avLst/>
          </a:prstGeom>
          <a:noFill/>
        </p:spPr>
        <p:txBody>
          <a:bodyPr wrap="square">
            <a:spAutoFit/>
          </a:bodyPr>
          <a:lstStyle/>
          <a:p>
            <a:pPr algn="ctr"/>
            <a:r>
              <a:rPr sz="1600" b="1" i="0">
                <a:solidFill>
                  <a:srgbClr val="1B3A6B"/>
                </a:solidFill>
              </a:rPr>
              <a:t>—</a:t>
            </a:r>
          </a:p>
        </p:txBody>
      </p:sp>
      <p:sp>
        <p:nvSpPr>
          <p:cNvPr id="35" name="TextBox 34"/>
          <p:cNvSpPr txBox="1"/>
          <p:nvPr/>
        </p:nvSpPr>
        <p:spPr>
          <a:xfrm>
            <a:off x="6829200" y="1520100"/>
            <a:ext cx="1871999" cy="175500"/>
          </a:xfrm>
          <a:prstGeom prst="rect">
            <a:avLst/>
          </a:prstGeom>
          <a:noFill/>
        </p:spPr>
        <p:txBody>
          <a:bodyPr wrap="square">
            <a:spAutoFit/>
          </a:bodyPr>
          <a:lstStyle/>
          <a:p>
            <a:pPr algn="ctr"/>
            <a:r>
              <a:rPr sz="800" b="1" i="0">
                <a:solidFill>
                  <a:srgbClr val="555555"/>
                </a:solidFill>
              </a:rPr>
              <a:t>Rendement dividende</a:t>
            </a:r>
          </a:p>
        </p:txBody>
      </p:sp>
      <p:sp>
        <p:nvSpPr>
          <p:cNvPr id="36" name="TextBox 35"/>
          <p:cNvSpPr txBox="1"/>
          <p:nvPr/>
        </p:nvSpPr>
        <p:spPr>
          <a:xfrm>
            <a:off x="6829200" y="1663560"/>
            <a:ext cx="1871999" cy="140400"/>
          </a:xfrm>
          <a:prstGeom prst="rect">
            <a:avLst/>
          </a:prstGeom>
          <a:noFill/>
        </p:spPr>
        <p:txBody>
          <a:bodyPr wrap="square">
            <a:spAutoFit/>
          </a:bodyPr>
          <a:lstStyle/>
          <a:p>
            <a:pPr algn="ctr"/>
            <a:r>
              <a:rPr sz="700" b="0" i="0">
                <a:solidFill>
                  <a:srgbClr val="555555"/>
                </a:solidFill>
              </a:rPr>
              <a:t>mediane pondérée</a:t>
            </a:r>
          </a:p>
        </p:txBody>
      </p:sp>
      <p:graphicFrame>
        <p:nvGraphicFramePr>
          <p:cNvPr id="37" name="Table 36"/>
          <p:cNvGraphicFramePr>
            <a:graphicFrameLocks noGrp="1"/>
          </p:cNvGraphicFramePr>
          <p:nvPr/>
        </p:nvGraphicFramePr>
        <p:xfrm>
          <a:off x="367200" y="1980000"/>
          <a:ext cx="4680000" cy="1548000"/>
        </p:xfrm>
        <a:graphic>
          <a:graphicData uri="http://schemas.openxmlformats.org/drawingml/2006/table">
            <a:tbl>
              <a:tblPr firstRow="1" bandRow="1">
                <a:tableStyleId>{5C22544A-7EE6-4342-B048-85BDC9FD1C3A}</a:tableStyleId>
              </a:tblPr>
              <a:tblGrid>
                <a:gridCol w="2520000"/>
                <a:gridCol w="900000"/>
                <a:gridCol w="1260000"/>
              </a:tblGrid>
              <a:tr h="258000">
                <a:tc>
                  <a:txBody>
                    <a:bodyPr/>
                    <a:lstStyle/>
                    <a:p>
                      <a:pPr algn="l"/>
                      <a:r>
                        <a:rPr sz="900" b="1">
                          <a:solidFill>
                            <a:srgbClr val="FFFFFF"/>
                          </a:solidFill>
                        </a:rPr>
                        <a:t>Société (Ticker)</a:t>
                      </a:r>
                    </a:p>
                  </a:txBody>
                  <a:tcPr>
                    <a:solidFill>
                      <a:srgbClr val="1A7A4A"/>
                    </a:solidFill>
                  </a:tcPr>
                </a:tc>
                <a:tc>
                  <a:txBody>
                    <a:bodyPr/>
                    <a:lstStyle/>
                    <a:p>
                      <a:pPr algn="ctr"/>
                      <a:r>
                        <a:rPr sz="900" b="1">
                          <a:solidFill>
                            <a:srgbClr val="FFFFFF"/>
                          </a:solidFill>
                        </a:rPr>
                        <a:t>Poids (%)</a:t>
                      </a:r>
                    </a:p>
                  </a:txBody>
                  <a:tcPr>
                    <a:solidFill>
                      <a:srgbClr val="1A7A4A"/>
                    </a:solidFill>
                  </a:tcPr>
                </a:tc>
                <a:tc>
                  <a:txBody>
                    <a:bodyPr/>
                    <a:lstStyle/>
                    <a:p>
                      <a:pPr algn="ctr"/>
                      <a:r>
                        <a:rPr sz="900" b="1">
                          <a:solidFill>
                            <a:srgbClr val="FFFFFF"/>
                          </a:solidFill>
                        </a:rPr>
                        <a:t>Secteur</a:t>
                      </a:r>
                    </a:p>
                  </a:txBody>
                  <a:tcPr>
                    <a:solidFill>
                      <a:srgbClr val="1A7A4A"/>
                    </a:solidFill>
                  </a:tcPr>
                </a:tc>
              </a:tr>
              <a:tr h="258000">
                <a:tc>
                  <a:txBody>
                    <a:bodyPr/>
                    <a:lstStyle/>
                    <a:p>
                      <a:pPr algn="l"/>
                      <a:r>
                        <a:rPr sz="900" b="0">
                          <a:solidFill>
                            <a:srgbClr val="1A1A1A"/>
                          </a:solidFill>
                        </a:rPr>
                        <a:t>Apple Inc. (AAPL)</a:t>
                      </a:r>
                    </a:p>
                  </a:txBody>
                  <a:tcPr>
                    <a:solidFill>
                      <a:srgbClr val="FFFFFF"/>
                    </a:solidFill>
                  </a:tcPr>
                </a:tc>
                <a:tc>
                  <a:txBody>
                    <a:bodyPr/>
                    <a:lstStyle/>
                    <a:p>
                      <a:pPr algn="ctr"/>
                      <a:r>
                        <a:rPr sz="900" b="0">
                          <a:solidFill>
                            <a:srgbClr val="1A1A1A"/>
                          </a:solidFill>
                        </a:rPr>
                        <a:t>7,2 %</a:t>
                      </a:r>
                    </a:p>
                  </a:txBody>
                  <a:tcPr>
                    <a:solidFill>
                      <a:srgbClr val="FFFFFF"/>
                    </a:solidFill>
                  </a:tcPr>
                </a:tc>
                <a:tc>
                  <a:txBody>
                    <a:bodyPr/>
                    <a:lstStyle/>
                    <a:p>
                      <a:pPr algn="ctr"/>
                      <a:r>
                        <a:rPr sz="900" b="0">
                          <a:solidFill>
                            <a:srgbClr val="1A1A1A"/>
                          </a:solidFill>
                        </a:rPr>
                        <a:t>Technology</a:t>
                      </a:r>
                    </a:p>
                  </a:txBody>
                  <a:tcPr>
                    <a:solidFill>
                      <a:srgbClr val="FFFFFF"/>
                    </a:solidFill>
                  </a:tcPr>
                </a:tc>
              </a:tr>
              <a:tr h="258000">
                <a:tc>
                  <a:txBody>
                    <a:bodyPr/>
                    <a:lstStyle/>
                    <a:p>
                      <a:pPr algn="l"/>
                      <a:r>
                        <a:rPr sz="900" b="0">
                          <a:solidFill>
                            <a:srgbClr val="1A1A1A"/>
                          </a:solidFill>
                        </a:rPr>
                        <a:t>Microsoft Corp. (MSFT)</a:t>
                      </a:r>
                    </a:p>
                  </a:txBody>
                  <a:tcPr>
                    <a:solidFill>
                      <a:srgbClr val="F5F7FA"/>
                    </a:solidFill>
                  </a:tcPr>
                </a:tc>
                <a:tc>
                  <a:txBody>
                    <a:bodyPr/>
                    <a:lstStyle/>
                    <a:p>
                      <a:pPr algn="ctr"/>
                      <a:r>
                        <a:rPr sz="900" b="0">
                          <a:solidFill>
                            <a:srgbClr val="1A1A1A"/>
                          </a:solidFill>
                        </a:rPr>
                        <a:t>6,8 %</a:t>
                      </a:r>
                    </a:p>
                  </a:txBody>
                  <a:tcPr>
                    <a:solidFill>
                      <a:srgbClr val="F5F7FA"/>
                    </a:solidFill>
                  </a:tcPr>
                </a:tc>
                <a:tc>
                  <a:txBody>
                    <a:bodyPr/>
                    <a:lstStyle/>
                    <a:p>
                      <a:pPr algn="ctr"/>
                      <a:r>
                        <a:rPr sz="900" b="0">
                          <a:solidFill>
                            <a:srgbClr val="1A1A1A"/>
                          </a:solidFill>
                        </a:rPr>
                        <a:t>Technology</a:t>
                      </a:r>
                    </a:p>
                  </a:txBody>
                  <a:tcPr>
                    <a:solidFill>
                      <a:srgbClr val="F5F7FA"/>
                    </a:solidFill>
                  </a:tcPr>
                </a:tc>
              </a:tr>
              <a:tr h="258000">
                <a:tc>
                  <a:txBody>
                    <a:bodyPr/>
                    <a:lstStyle/>
                    <a:p>
                      <a:pPr algn="l"/>
                      <a:r>
                        <a:rPr sz="900" b="0">
                          <a:solidFill>
                            <a:srgbClr val="1A1A1A"/>
                          </a:solidFill>
                        </a:rPr>
                        <a:t>NVIDIA Corp. (NVDA)</a:t>
                      </a:r>
                    </a:p>
                  </a:txBody>
                  <a:tcPr>
                    <a:solidFill>
                      <a:srgbClr val="FFFFFF"/>
                    </a:solidFill>
                  </a:tcPr>
                </a:tc>
                <a:tc>
                  <a:txBody>
                    <a:bodyPr/>
                    <a:lstStyle/>
                    <a:p>
                      <a:pPr algn="ctr"/>
                      <a:r>
                        <a:rPr sz="900" b="0">
                          <a:solidFill>
                            <a:srgbClr val="1A1A1A"/>
                          </a:solidFill>
                        </a:rPr>
                        <a:t>5,5 %</a:t>
                      </a:r>
                    </a:p>
                  </a:txBody>
                  <a:tcPr>
                    <a:solidFill>
                      <a:srgbClr val="FFFFFF"/>
                    </a:solidFill>
                  </a:tcPr>
                </a:tc>
                <a:tc>
                  <a:txBody>
                    <a:bodyPr/>
                    <a:lstStyle/>
                    <a:p>
                      <a:pPr algn="ctr"/>
                      <a:r>
                        <a:rPr sz="900" b="0">
                          <a:solidFill>
                            <a:srgbClr val="1A1A1A"/>
                          </a:solidFill>
                        </a:rPr>
                        <a:t>Technology</a:t>
                      </a:r>
                    </a:p>
                  </a:txBody>
                  <a:tcPr>
                    <a:solidFill>
                      <a:srgbClr val="FFFFFF"/>
                    </a:solidFill>
                  </a:tcPr>
                </a:tc>
              </a:tr>
              <a:tr h="258000">
                <a:tc>
                  <a:txBody>
                    <a:bodyPr/>
                    <a:lstStyle/>
                    <a:p>
                      <a:pPr algn="l"/>
                      <a:r>
                        <a:rPr sz="900" b="0">
                          <a:solidFill>
                            <a:srgbClr val="1A1A1A"/>
                          </a:solidFill>
                        </a:rPr>
                        <a:t>Amazon.com Inc. (AMZN)</a:t>
                      </a:r>
                    </a:p>
                  </a:txBody>
                  <a:tcPr>
                    <a:solidFill>
                      <a:srgbClr val="F5F7FA"/>
                    </a:solidFill>
                  </a:tcPr>
                </a:tc>
                <a:tc>
                  <a:txBody>
                    <a:bodyPr/>
                    <a:lstStyle/>
                    <a:p>
                      <a:pPr algn="ctr"/>
                      <a:r>
                        <a:rPr sz="900" b="0">
                          <a:solidFill>
                            <a:srgbClr val="1A1A1A"/>
                          </a:solidFill>
                        </a:rPr>
                        <a:t>3,6 %</a:t>
                      </a:r>
                    </a:p>
                  </a:txBody>
                  <a:tcPr>
                    <a:solidFill>
                      <a:srgbClr val="F5F7FA"/>
                    </a:solidFill>
                  </a:tcPr>
                </a:tc>
                <a:tc>
                  <a:txBody>
                    <a:bodyPr/>
                    <a:lstStyle/>
                    <a:p>
                      <a:pPr algn="ctr"/>
                      <a:r>
                        <a:rPr sz="900" b="0">
                          <a:solidFill>
                            <a:srgbClr val="1A1A1A"/>
                          </a:solidFill>
                        </a:rPr>
                        <a:t>Consumer Discretionary</a:t>
                      </a:r>
                    </a:p>
                  </a:txBody>
                  <a:tcPr>
                    <a:solidFill>
                      <a:srgbClr val="F5F7FA"/>
                    </a:solidFill>
                  </a:tcPr>
                </a:tc>
              </a:tr>
              <a:tr h="258000">
                <a:tc>
                  <a:txBody>
                    <a:bodyPr/>
                    <a:lstStyle/>
                    <a:p>
                      <a:pPr algn="l"/>
                      <a:r>
                        <a:rPr sz="900" b="0">
                          <a:solidFill>
                            <a:srgbClr val="1A1A1A"/>
                          </a:solidFill>
                        </a:rPr>
                        <a:t>Alphabet Inc. A (GOOGL)</a:t>
                      </a:r>
                    </a:p>
                  </a:txBody>
                  <a:tcPr>
                    <a:solidFill>
                      <a:srgbClr val="FFFFFF"/>
                    </a:solidFill>
                  </a:tcPr>
                </a:tc>
                <a:tc>
                  <a:txBody>
                    <a:bodyPr/>
                    <a:lstStyle/>
                    <a:p>
                      <a:pPr algn="ctr"/>
                      <a:r>
                        <a:rPr sz="900" b="0">
                          <a:solidFill>
                            <a:srgbClr val="1A1A1A"/>
                          </a:solidFill>
                        </a:rPr>
                        <a:t>2,1 %</a:t>
                      </a:r>
                    </a:p>
                  </a:txBody>
                  <a:tcPr>
                    <a:solidFill>
                      <a:srgbClr val="FFFFFF"/>
                    </a:solidFill>
                  </a:tcPr>
                </a:tc>
                <a:tc>
                  <a:txBody>
                    <a:bodyPr/>
                    <a:lstStyle/>
                    <a:p>
                      <a:pPr algn="ctr"/>
                      <a:r>
                        <a:rPr sz="900" b="0">
                          <a:solidFill>
                            <a:srgbClr val="1A1A1A"/>
                          </a:solidFill>
                        </a:rPr>
                        <a:t>Communication Services</a:t>
                      </a:r>
                    </a:p>
                  </a:txBody>
                  <a:tcPr>
                    <a:solidFill>
                      <a:srgbClr val="FFFFFF"/>
                    </a:solidFill>
                  </a:tcPr>
                </a:tc>
              </a:tr>
            </a:tbl>
          </a:graphicData>
        </a:graphic>
      </p:graphicFrame>
      <p:sp>
        <p:nvSpPr>
          <p:cNvPr id="38" name="Rectangle 37"/>
          <p:cNvSpPr/>
          <p:nvPr/>
        </p:nvSpPr>
        <p:spPr>
          <a:xfrm>
            <a:off x="5148000" y="1980000"/>
            <a:ext cx="3636000" cy="15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148000" y="1980000"/>
            <a:ext cx="46800" cy="15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56000" y="2015999"/>
            <a:ext cx="3491999" cy="129600"/>
          </a:xfrm>
          <a:prstGeom prst="rect">
            <a:avLst/>
          </a:prstGeom>
          <a:noFill/>
        </p:spPr>
        <p:txBody>
          <a:bodyPr wrap="square">
            <a:spAutoFit/>
          </a:bodyPr>
          <a:lstStyle/>
          <a:p>
            <a:pPr algn="l"/>
            <a:r>
              <a:rPr sz="900" b="1" i="0">
                <a:solidFill>
                  <a:srgbClr val="1B3A6B"/>
                </a:solidFill>
              </a:rPr>
              <a:t>S&amp;P 500 (SP500) — PERF 1Y +27,1 %, P/E —X</a:t>
            </a:r>
          </a:p>
        </p:txBody>
      </p:sp>
      <p:sp>
        <p:nvSpPr>
          <p:cNvPr id="41" name="TextBox 40"/>
          <p:cNvSpPr txBox="1"/>
          <p:nvPr/>
        </p:nvSpPr>
        <p:spPr>
          <a:xfrm>
            <a:off x="5256000" y="2160000"/>
            <a:ext cx="3456000" cy="1324800"/>
          </a:xfrm>
          <a:prstGeom prst="rect">
            <a:avLst/>
          </a:prstGeom>
          <a:noFill/>
        </p:spPr>
        <p:txBody>
          <a:bodyPr wrap="square">
            <a:spAutoFit/>
          </a:bodyPr>
          <a:lstStyle/>
          <a:p>
            <a:pPr algn="l"/>
            <a:r>
              <a:rPr sz="900" b="0" i="0">
                <a:solidFill>
                  <a:srgbClr val="1B3A6B"/>
                </a:solidFill>
              </a:rPr>
              <a:t>S&amp;P 500 regroupe les sociétés cotées sur l'univers SP500 et constitue un baromètre représentatif de l'économie sous-jacente. Ses caractéristiques structurelles (composition sectorielle, biais croissance/value, liquidité) déterminent son comportement face aux cycles macroéconomiques. L'horizon recommandé pour une allocation cœur de portefeuille est de 3 à 5 ans.</a:t>
            </a:r>
          </a:p>
        </p:txBody>
      </p:sp>
      <p:sp>
        <p:nvSpPr>
          <p:cNvPr id="42" name="Rectangle 41"/>
          <p:cNvSpPr/>
          <p:nvPr/>
        </p:nvSpPr>
        <p:spPr>
          <a:xfrm>
            <a:off x="367200" y="3636000"/>
            <a:ext cx="8413200" cy="115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7200" y="3636000"/>
            <a:ext cx="46800" cy="115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5200" y="3671999"/>
            <a:ext cx="8269200" cy="129600"/>
          </a:xfrm>
          <a:prstGeom prst="rect">
            <a:avLst/>
          </a:prstGeom>
          <a:noFill/>
        </p:spPr>
        <p:txBody>
          <a:bodyPr wrap="square">
            <a:spAutoFit/>
          </a:bodyPr>
          <a:lstStyle/>
          <a:p>
            <a:pPr algn="l"/>
            <a:r>
              <a:rPr sz="900" b="1" i="0">
                <a:solidFill>
                  <a:srgbClr val="1B3A6B"/>
                </a:solidFill>
              </a:rPr>
              <a:t>S&amp;P 500 — SCORE FINSIGHT 50/100 : SIGNAL NEUTRE SUR 6-12 MOIS</a:t>
            </a:r>
          </a:p>
        </p:txBody>
      </p:sp>
      <p:sp>
        <p:nvSpPr>
          <p:cNvPr id="45" name="TextBox 44"/>
          <p:cNvSpPr txBox="1"/>
          <p:nvPr/>
        </p:nvSpPr>
        <p:spPr>
          <a:xfrm>
            <a:off x="475200" y="3816000"/>
            <a:ext cx="8233200" cy="928800"/>
          </a:xfrm>
          <a:prstGeom prst="rect">
            <a:avLst/>
          </a:prstGeom>
          <a:noFill/>
        </p:spPr>
        <p:txBody>
          <a:bodyPr wrap="square">
            <a:spAutoFit/>
          </a:bodyPr>
          <a:lstStyle/>
          <a:p>
            <a:pPr algn="l"/>
            <a:r>
              <a:rPr sz="900" b="0" i="0">
                <a:solidFill>
                  <a:srgbClr val="1B3A6B"/>
                </a:solidFill>
              </a:rPr>
              <a:t>L'évaluation du profil de S&amp;P 500 doit être croisée avec les conditions de marché actuelles : niveau des taux directeurs, cycle économique, et flux de capitaux. Le score FinSight 50/100 traduit un signal neutre sur un horizon 6-12 mois.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Composition Sectorielle Comparée</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Poids sectoriels (%) — CAC 40 vs S&amp;P 500</a:t>
            </a:r>
          </a:p>
        </p:txBody>
      </p:sp>
      <p:sp>
        <p:nvSpPr>
          <p:cNvPr id="5" name="Rectangle 4"/>
          <p:cNvSpPr/>
          <p:nvPr/>
        </p:nvSpPr>
        <p:spPr>
          <a:xfrm>
            <a:off x="7056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1B3A6B"/>
                </a:solidFill>
              </a:rPr>
              <a:t>1</a:t>
            </a:r>
          </a:p>
        </p:txBody>
      </p:sp>
      <p:sp>
        <p:nvSpPr>
          <p:cNvPr id="7" name="Rectangle 6"/>
          <p:cNvSpPr/>
          <p:nvPr/>
        </p:nvSpPr>
        <p:spPr>
          <a:xfrm>
            <a:off x="7362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FFFFFF"/>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67200" y="827999"/>
            <a:ext cx="4118400" cy="223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7200" y="827999"/>
            <a:ext cx="54000" cy="223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64000"/>
            <a:ext cx="3960000" cy="165600"/>
          </a:xfrm>
          <a:prstGeom prst="rect">
            <a:avLst/>
          </a:prstGeom>
          <a:noFill/>
        </p:spPr>
        <p:txBody>
          <a:bodyPr wrap="square">
            <a:spAutoFit/>
          </a:bodyPr>
          <a:lstStyle/>
          <a:p>
            <a:pPr algn="l"/>
            <a:r>
              <a:rPr sz="1000" b="1" i="0">
                <a:solidFill>
                  <a:srgbClr val="1B3A6B"/>
                </a:solidFill>
              </a:rPr>
              <a:t>CAC 40</a:t>
            </a:r>
          </a:p>
        </p:txBody>
      </p:sp>
      <p:sp>
        <p:nvSpPr>
          <p:cNvPr id="18" name="Rectangle 17"/>
          <p:cNvSpPr/>
          <p:nvPr/>
        </p:nvSpPr>
        <p:spPr>
          <a:xfrm>
            <a:off x="4658400" y="827999"/>
            <a:ext cx="4118400" cy="223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58400" y="827999"/>
            <a:ext cx="54000" cy="223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9200" y="864000"/>
            <a:ext cx="3960000" cy="165600"/>
          </a:xfrm>
          <a:prstGeom prst="rect">
            <a:avLst/>
          </a:prstGeom>
          <a:noFill/>
        </p:spPr>
        <p:txBody>
          <a:bodyPr wrap="square">
            <a:spAutoFit/>
          </a:bodyPr>
          <a:lstStyle/>
          <a:p>
            <a:pPr algn="l"/>
            <a:r>
              <a:rPr sz="1000" b="1" i="0">
                <a:solidFill>
                  <a:srgbClr val="1A7A4A"/>
                </a:solidFill>
              </a:rPr>
              <a:t>S&amp;P 500</a:t>
            </a:r>
          </a:p>
        </p:txBody>
      </p:sp>
      <p:pic>
        <p:nvPicPr>
          <p:cNvPr id="21" name="Picture 20" descr="image.png"/>
          <p:cNvPicPr>
            <a:picLocks noChangeAspect="1"/>
          </p:cNvPicPr>
          <p:nvPr/>
        </p:nvPicPr>
        <p:blipFill>
          <a:blip r:embed="rId2"/>
          <a:stretch>
            <a:fillRect/>
          </a:stretch>
        </p:blipFill>
        <p:spPr>
          <a:xfrm>
            <a:off x="367200" y="1116000"/>
            <a:ext cx="5220000" cy="2700000"/>
          </a:xfrm>
          <a:prstGeom prst="rect">
            <a:avLst/>
          </a:prstGeom>
        </p:spPr>
      </p:pic>
      <p:sp>
        <p:nvSpPr>
          <p:cNvPr id="22" name="Rectangle 21"/>
          <p:cNvSpPr/>
          <p:nvPr/>
        </p:nvSpPr>
        <p:spPr>
          <a:xfrm>
            <a:off x="5760000" y="1116000"/>
            <a:ext cx="3024000" cy="270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760000" y="1116000"/>
            <a:ext cx="46800" cy="2700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68000" y="1152000"/>
            <a:ext cx="2880000" cy="129600"/>
          </a:xfrm>
          <a:prstGeom prst="rect">
            <a:avLst/>
          </a:prstGeom>
          <a:noFill/>
        </p:spPr>
        <p:txBody>
          <a:bodyPr wrap="square">
            <a:spAutoFit/>
          </a:bodyPr>
          <a:lstStyle/>
          <a:p>
            <a:pPr algn="l"/>
            <a:r>
              <a:rPr sz="900" b="1" i="0">
                <a:solidFill>
                  <a:srgbClr val="1B3A6B"/>
                </a:solidFill>
              </a:rPr>
              <a:t>S&amp;P 500 SURPONDÈRE TECHNOLOGY (+19.0 PTS) — BIAIS STRUCTUREL PRINCIPAL</a:t>
            </a:r>
          </a:p>
        </p:txBody>
      </p:sp>
      <p:sp>
        <p:nvSpPr>
          <p:cNvPr id="25" name="TextBox 24"/>
          <p:cNvSpPr txBox="1"/>
          <p:nvPr/>
        </p:nvSpPr>
        <p:spPr>
          <a:xfrm>
            <a:off x="5868000" y="1296000"/>
            <a:ext cx="2844000" cy="2476800"/>
          </a:xfrm>
          <a:prstGeom prst="rect">
            <a:avLst/>
          </a:prstGeom>
          <a:noFill/>
        </p:spPr>
        <p:txBody>
          <a:bodyPr wrap="square">
            <a:spAutoFit/>
          </a:bodyPr>
          <a:lstStyle/>
          <a:p>
            <a:pPr algn="l"/>
            <a:r>
              <a:rPr sz="900" b="0" i="0">
                <a:solidFill>
                  <a:srgbClr val="1B3A6B"/>
                </a:solidFill>
              </a:rPr>
              <a:t>La composition sectorielle révèle les biais structurels de chaque indice. Les écarts de pondération entre CAC 40 et S&amp;P 500 traduisent des différences fondamentales : exposition aux cycles, sensibilité aux taux, orientation croissance vs value. Un investisseur peut combiner les deux indices pour obtenir une exposition équilibrée ou en privilégier un selon sa conviction sectorielle.</a:t>
            </a:r>
          </a:p>
        </p:txBody>
      </p:sp>
      <p:sp>
        <p:nvSpPr>
          <p:cNvPr id="26" name="Rectangle 25"/>
          <p:cNvSpPr/>
          <p:nvPr/>
        </p:nvSpPr>
        <p:spPr>
          <a:xfrm>
            <a:off x="367200" y="3906000"/>
            <a:ext cx="8413200" cy="88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7200" y="3906000"/>
            <a:ext cx="46800" cy="88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200" y="3941999"/>
            <a:ext cx="8269200" cy="129600"/>
          </a:xfrm>
          <a:prstGeom prst="rect">
            <a:avLst/>
          </a:prstGeom>
          <a:noFill/>
        </p:spPr>
        <p:txBody>
          <a:bodyPr wrap="square">
            <a:spAutoFit/>
          </a:bodyPr>
          <a:lstStyle/>
          <a:p>
            <a:pPr algn="l"/>
            <a:r>
              <a:rPr sz="900" b="1" i="0">
                <a:solidFill>
                  <a:srgbClr val="1B3A6B"/>
                </a:solidFill>
              </a:rPr>
              <a:t>IMPLICATIONS POUR L'ALLOCATION</a:t>
            </a:r>
          </a:p>
        </p:txBody>
      </p:sp>
      <p:sp>
        <p:nvSpPr>
          <p:cNvPr id="29" name="TextBox 28"/>
          <p:cNvSpPr txBox="1"/>
          <p:nvPr/>
        </p:nvSpPr>
        <p:spPr>
          <a:xfrm>
            <a:off x="475200" y="4086000"/>
            <a:ext cx="8233200" cy="658800"/>
          </a:xfrm>
          <a:prstGeom prst="rect">
            <a:avLst/>
          </a:prstGeom>
          <a:noFill/>
        </p:spPr>
        <p:txBody>
          <a:bodyPr wrap="square">
            <a:spAutoFit/>
          </a:bodyPr>
          <a:lstStyle/>
          <a:p>
            <a:pPr algn="l"/>
            <a:r>
              <a:rPr sz="900" b="0" i="0">
                <a:solidFill>
                  <a:srgbClr val="1B3A6B"/>
                </a:solidFill>
              </a:rPr>
              <a:t>Les surpondérations sectorielles déterminent la sensibilité de l'indice aux cycles macroéconomiques : un indice tech-heavy bénéficie des phases de baisse des taux et d'innovation, tandis qu'un indice financials-heavy profite des hausses de taux et d'une courbe pentue. À pondérer selon le régime macro.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Top Constituants Comparés</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Principales valeurs de CAC 40 et S&amp;P 500</a:t>
            </a:r>
          </a:p>
        </p:txBody>
      </p:sp>
      <p:sp>
        <p:nvSpPr>
          <p:cNvPr id="5" name="Rectangle 4"/>
          <p:cNvSpPr/>
          <p:nvPr/>
        </p:nvSpPr>
        <p:spPr>
          <a:xfrm>
            <a:off x="7056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1B3A6B"/>
                </a:solidFill>
              </a:rPr>
              <a:t>1</a:t>
            </a:r>
          </a:p>
        </p:txBody>
      </p:sp>
      <p:sp>
        <p:nvSpPr>
          <p:cNvPr id="7" name="Rectangle 6"/>
          <p:cNvSpPr/>
          <p:nvPr/>
        </p:nvSpPr>
        <p:spPr>
          <a:xfrm>
            <a:off x="7362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FFFFFF"/>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67200" y="756000"/>
            <a:ext cx="4118400" cy="251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8000" y="799200"/>
            <a:ext cx="3960000" cy="180000"/>
          </a:xfrm>
          <a:prstGeom prst="rect">
            <a:avLst/>
          </a:prstGeom>
          <a:noFill/>
        </p:spPr>
        <p:txBody>
          <a:bodyPr wrap="square">
            <a:spAutoFit/>
          </a:bodyPr>
          <a:lstStyle/>
          <a:p>
            <a:pPr algn="l"/>
            <a:r>
              <a:rPr sz="1100" b="1" i="0">
                <a:solidFill>
                  <a:srgbClr val="FFFFFF"/>
                </a:solidFill>
              </a:rPr>
              <a:t>Top 5  —  CAC 40</a:t>
            </a:r>
          </a:p>
        </p:txBody>
      </p:sp>
      <p:graphicFrame>
        <p:nvGraphicFramePr>
          <p:cNvPr id="17" name="Table 16"/>
          <p:cNvGraphicFramePr>
            <a:graphicFrameLocks noGrp="1"/>
          </p:cNvGraphicFramePr>
          <p:nvPr/>
        </p:nvGraphicFramePr>
        <p:xfrm>
          <a:off x="367200" y="1062000"/>
          <a:ext cx="4118398" cy="1620000"/>
        </p:xfrm>
        <a:graphic>
          <a:graphicData uri="http://schemas.openxmlformats.org/drawingml/2006/table">
            <a:tbl>
              <a:tblPr firstRow="1" bandRow="1">
                <a:tableStyleId>{5C22544A-7EE6-4342-B048-85BDC9FD1C3A}</a:tableStyleId>
              </a:tblPr>
              <a:tblGrid>
                <a:gridCol w="2339999"/>
                <a:gridCol w="647999"/>
                <a:gridCol w="1130400"/>
              </a:tblGrid>
              <a:tr h="270000">
                <a:tc>
                  <a:txBody>
                    <a:bodyPr/>
                    <a:lstStyle/>
                    <a:p>
                      <a:pPr algn="l"/>
                      <a:r>
                        <a:rPr sz="850" b="1">
                          <a:solidFill>
                            <a:srgbClr val="FFFFFF"/>
                          </a:solidFill>
                        </a:rPr>
                        <a:t>Société (Ticker)</a:t>
                      </a:r>
                    </a:p>
                  </a:txBody>
                  <a:tcPr>
                    <a:solidFill>
                      <a:srgbClr val="2E5FA3"/>
                    </a:solidFill>
                  </a:tcPr>
                </a:tc>
                <a:tc>
                  <a:txBody>
                    <a:bodyPr/>
                    <a:lstStyle/>
                    <a:p>
                      <a:pPr algn="ctr"/>
                      <a:r>
                        <a:rPr sz="850" b="1">
                          <a:solidFill>
                            <a:srgbClr val="FFFFFF"/>
                          </a:solidFill>
                        </a:rPr>
                        <a:t>Poids</a:t>
                      </a:r>
                    </a:p>
                  </a:txBody>
                  <a:tcPr>
                    <a:solidFill>
                      <a:srgbClr val="2E5FA3"/>
                    </a:solidFill>
                  </a:tcPr>
                </a:tc>
                <a:tc>
                  <a:txBody>
                    <a:bodyPr/>
                    <a:lstStyle/>
                    <a:p>
                      <a:pPr algn="ctr"/>
                      <a:r>
                        <a:rPr sz="850" b="1">
                          <a:solidFill>
                            <a:srgbClr val="FFFFFF"/>
                          </a:solidFill>
                        </a:rPr>
                        <a:t>Secteur</a:t>
                      </a:r>
                    </a:p>
                  </a:txBody>
                  <a:tcPr>
                    <a:solidFill>
                      <a:srgbClr val="2E5FA3"/>
                    </a:solidFill>
                  </a:tcPr>
                </a:tc>
              </a:tr>
              <a:tr h="270000">
                <a:tc>
                  <a:txBody>
                    <a:bodyPr/>
                    <a:lstStyle/>
                    <a:p>
                      <a:pPr algn="l"/>
                      <a:r>
                        <a:rPr sz="850" b="0">
                          <a:solidFill>
                            <a:srgbClr val="1A1A1A"/>
                          </a:solidFill>
                        </a:rPr>
                        <a:t>Unibail-Rodamco-Westfield SE (URW.PA)</a:t>
                      </a:r>
                    </a:p>
                  </a:txBody>
                  <a:tcPr>
                    <a:solidFill>
                      <a:srgbClr val="FFFFFF"/>
                    </a:solidFill>
                  </a:tcPr>
                </a:tc>
                <a:tc>
                  <a:txBody>
                    <a:bodyPr/>
                    <a:lstStyle/>
                    <a:p>
                      <a:pPr algn="ctr"/>
                      <a:r>
                        <a:rPr sz="850" b="0">
                          <a:solidFill>
                            <a:srgbClr val="1A1A1A"/>
                          </a:solidFill>
                        </a:rPr>
                        <a:t>—</a:t>
                      </a:r>
                    </a:p>
                  </a:txBody>
                  <a:tcPr>
                    <a:solidFill>
                      <a:srgbClr val="FFFFFF"/>
                    </a:solidFill>
                  </a:tcPr>
                </a:tc>
                <a:tc>
                  <a:txBody>
                    <a:bodyPr/>
                    <a:lstStyle/>
                    <a:p>
                      <a:pPr algn="ctr"/>
                      <a:r>
                        <a:rPr sz="850" b="0">
                          <a:solidFill>
                            <a:srgbClr val="1A1A1A"/>
                          </a:solidFill>
                        </a:rPr>
                        <a:t>Real Estate</a:t>
                      </a:r>
                    </a:p>
                  </a:txBody>
                  <a:tcPr>
                    <a:solidFill>
                      <a:srgbClr val="FFFFFF"/>
                    </a:solidFill>
                  </a:tcPr>
                </a:tc>
              </a:tr>
              <a:tr h="270000">
                <a:tc>
                  <a:txBody>
                    <a:bodyPr/>
                    <a:lstStyle/>
                    <a:p>
                      <a:pPr algn="l"/>
                      <a:r>
                        <a:rPr sz="850" b="0">
                          <a:solidFill>
                            <a:srgbClr val="1A1A1A"/>
                          </a:solidFill>
                        </a:rPr>
                        <a:t>Safran SA (SAF.PA)</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Industrials</a:t>
                      </a:r>
                    </a:p>
                  </a:txBody>
                  <a:tcPr>
                    <a:solidFill>
                      <a:srgbClr val="F5F7FA"/>
                    </a:solidFill>
                  </a:tcPr>
                </a:tc>
              </a:tr>
              <a:tr h="270000">
                <a:tc>
                  <a:txBody>
                    <a:bodyPr/>
                    <a:lstStyle/>
                    <a:p>
                      <a:pPr algn="l"/>
                      <a:r>
                        <a:rPr sz="850" b="0">
                          <a:solidFill>
                            <a:srgbClr val="1A1A1A"/>
                          </a:solidFill>
                        </a:rPr>
                        <a:t>Sanofi (SAN.PA)</a:t>
                      </a:r>
                    </a:p>
                  </a:txBody>
                  <a:tcPr>
                    <a:solidFill>
                      <a:srgbClr val="FFFFFF"/>
                    </a:solidFill>
                  </a:tcPr>
                </a:tc>
                <a:tc>
                  <a:txBody>
                    <a:bodyPr/>
                    <a:lstStyle/>
                    <a:p>
                      <a:pPr algn="ctr"/>
                      <a:r>
                        <a:rPr sz="850" b="0">
                          <a:solidFill>
                            <a:srgbClr val="1A1A1A"/>
                          </a:solidFill>
                        </a:rPr>
                        <a:t>—</a:t>
                      </a:r>
                    </a:p>
                  </a:txBody>
                  <a:tcPr>
                    <a:solidFill>
                      <a:srgbClr val="FFFFFF"/>
                    </a:solidFill>
                  </a:tcPr>
                </a:tc>
                <a:tc>
                  <a:txBody>
                    <a:bodyPr/>
                    <a:lstStyle/>
                    <a:p>
                      <a:pPr algn="ctr"/>
                      <a:r>
                        <a:rPr sz="850" b="0">
                          <a:solidFill>
                            <a:srgbClr val="1A1A1A"/>
                          </a:solidFill>
                        </a:rPr>
                        <a:t>Healthcare</a:t>
                      </a:r>
                    </a:p>
                  </a:txBody>
                  <a:tcPr>
                    <a:solidFill>
                      <a:srgbClr val="FFFFFF"/>
                    </a:solidFill>
                  </a:tcPr>
                </a:tc>
              </a:tr>
              <a:tr h="270000">
                <a:tc>
                  <a:txBody>
                    <a:bodyPr/>
                    <a:lstStyle/>
                    <a:p>
                      <a:pPr algn="l"/>
                      <a:r>
                        <a:rPr sz="850" b="0">
                          <a:solidFill>
                            <a:srgbClr val="1A1A1A"/>
                          </a:solidFill>
                        </a:rPr>
                        <a:t>TotalEnergies SE (TTE.PA)</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Energy</a:t>
                      </a:r>
                    </a:p>
                  </a:txBody>
                  <a:tcPr>
                    <a:solidFill>
                      <a:srgbClr val="F5F7FA"/>
                    </a:solidFill>
                  </a:tcPr>
                </a:tc>
              </a:tr>
              <a:tr h="270000">
                <a:tc>
                  <a:txBody>
                    <a:bodyPr/>
                    <a:lstStyle/>
                    <a:p>
                      <a:pPr algn="l"/>
                      <a:r>
                        <a:rPr sz="850" b="0">
                          <a:solidFill>
                            <a:srgbClr val="1A1A1A"/>
                          </a:solidFill>
                        </a:rPr>
                        <a:t>Crédit Agricole S.A. (ACA.PA)</a:t>
                      </a:r>
                    </a:p>
                  </a:txBody>
                  <a:tcPr>
                    <a:solidFill>
                      <a:srgbClr val="FFFFFF"/>
                    </a:solidFill>
                  </a:tcPr>
                </a:tc>
                <a:tc>
                  <a:txBody>
                    <a:bodyPr/>
                    <a:lstStyle/>
                    <a:p>
                      <a:pPr algn="ctr"/>
                      <a:r>
                        <a:rPr sz="850" b="0">
                          <a:solidFill>
                            <a:srgbClr val="1A1A1A"/>
                          </a:solidFill>
                        </a:rPr>
                        <a:t>—</a:t>
                      </a:r>
                    </a:p>
                  </a:txBody>
                  <a:tcPr>
                    <a:solidFill>
                      <a:srgbClr val="FFFFFF"/>
                    </a:solidFill>
                  </a:tcPr>
                </a:tc>
                <a:tc>
                  <a:txBody>
                    <a:bodyPr/>
                    <a:lstStyle/>
                    <a:p>
                      <a:pPr algn="ctr"/>
                      <a:r>
                        <a:rPr sz="850" b="0">
                          <a:solidFill>
                            <a:srgbClr val="1A1A1A"/>
                          </a:solidFill>
                        </a:rPr>
                        <a:t>Financial Services</a:t>
                      </a:r>
                    </a:p>
                  </a:txBody>
                  <a:tcPr>
                    <a:solidFill>
                      <a:srgbClr val="FFFFFF"/>
                    </a:solidFill>
                  </a:tcPr>
                </a:tc>
              </a:tr>
            </a:tbl>
          </a:graphicData>
        </a:graphic>
      </p:graphicFrame>
      <p:sp>
        <p:nvSpPr>
          <p:cNvPr id="18" name="Rectangle 17"/>
          <p:cNvSpPr/>
          <p:nvPr/>
        </p:nvSpPr>
        <p:spPr>
          <a:xfrm>
            <a:off x="4658400" y="756000"/>
            <a:ext cx="41184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0" y="799200"/>
            <a:ext cx="3960000" cy="180000"/>
          </a:xfrm>
          <a:prstGeom prst="rect">
            <a:avLst/>
          </a:prstGeom>
          <a:noFill/>
        </p:spPr>
        <p:txBody>
          <a:bodyPr wrap="square">
            <a:spAutoFit/>
          </a:bodyPr>
          <a:lstStyle/>
          <a:p>
            <a:pPr algn="l"/>
            <a:r>
              <a:rPr sz="1100" b="1" i="0">
                <a:solidFill>
                  <a:srgbClr val="FFFFFF"/>
                </a:solidFill>
              </a:rPr>
              <a:t>Top 5  —  S&amp;P 500</a:t>
            </a:r>
          </a:p>
        </p:txBody>
      </p:sp>
      <p:graphicFrame>
        <p:nvGraphicFramePr>
          <p:cNvPr id="20" name="Table 19"/>
          <p:cNvGraphicFramePr>
            <a:graphicFrameLocks noGrp="1"/>
          </p:cNvGraphicFramePr>
          <p:nvPr/>
        </p:nvGraphicFramePr>
        <p:xfrm>
          <a:off x="4658400" y="1062000"/>
          <a:ext cx="4118398" cy="1620000"/>
        </p:xfrm>
        <a:graphic>
          <a:graphicData uri="http://schemas.openxmlformats.org/drawingml/2006/table">
            <a:tbl>
              <a:tblPr firstRow="1" bandRow="1">
                <a:tableStyleId>{5C22544A-7EE6-4342-B048-85BDC9FD1C3A}</a:tableStyleId>
              </a:tblPr>
              <a:tblGrid>
                <a:gridCol w="2339999"/>
                <a:gridCol w="647999"/>
                <a:gridCol w="1130400"/>
              </a:tblGrid>
              <a:tr h="270000">
                <a:tc>
                  <a:txBody>
                    <a:bodyPr/>
                    <a:lstStyle/>
                    <a:p>
                      <a:pPr algn="l"/>
                      <a:r>
                        <a:rPr sz="850" b="1">
                          <a:solidFill>
                            <a:srgbClr val="FFFFFF"/>
                          </a:solidFill>
                        </a:rPr>
                        <a:t>Société (Ticker)</a:t>
                      </a:r>
                    </a:p>
                  </a:txBody>
                  <a:tcPr>
                    <a:solidFill>
                      <a:srgbClr val="1A7A4A"/>
                    </a:solidFill>
                  </a:tcPr>
                </a:tc>
                <a:tc>
                  <a:txBody>
                    <a:bodyPr/>
                    <a:lstStyle/>
                    <a:p>
                      <a:pPr algn="ctr"/>
                      <a:r>
                        <a:rPr sz="850" b="1">
                          <a:solidFill>
                            <a:srgbClr val="FFFFFF"/>
                          </a:solidFill>
                        </a:rPr>
                        <a:t>Poids</a:t>
                      </a:r>
                    </a:p>
                  </a:txBody>
                  <a:tcPr>
                    <a:solidFill>
                      <a:srgbClr val="1A7A4A"/>
                    </a:solidFill>
                  </a:tcPr>
                </a:tc>
                <a:tc>
                  <a:txBody>
                    <a:bodyPr/>
                    <a:lstStyle/>
                    <a:p>
                      <a:pPr algn="ctr"/>
                      <a:r>
                        <a:rPr sz="850" b="1">
                          <a:solidFill>
                            <a:srgbClr val="FFFFFF"/>
                          </a:solidFill>
                        </a:rPr>
                        <a:t>Secteur</a:t>
                      </a:r>
                    </a:p>
                  </a:txBody>
                  <a:tcPr>
                    <a:solidFill>
                      <a:srgbClr val="1A7A4A"/>
                    </a:solidFill>
                  </a:tcPr>
                </a:tc>
              </a:tr>
              <a:tr h="270000">
                <a:tc>
                  <a:txBody>
                    <a:bodyPr/>
                    <a:lstStyle/>
                    <a:p>
                      <a:pPr algn="l"/>
                      <a:r>
                        <a:rPr sz="850" b="0">
                          <a:solidFill>
                            <a:srgbClr val="1A1A1A"/>
                          </a:solidFill>
                        </a:rPr>
                        <a:t>Apple Inc. (AAPL)</a:t>
                      </a:r>
                    </a:p>
                  </a:txBody>
                  <a:tcPr>
                    <a:solidFill>
                      <a:srgbClr val="FFFFFF"/>
                    </a:solidFill>
                  </a:tcPr>
                </a:tc>
                <a:tc>
                  <a:txBody>
                    <a:bodyPr/>
                    <a:lstStyle/>
                    <a:p>
                      <a:pPr algn="ctr"/>
                      <a:r>
                        <a:rPr sz="850" b="0">
                          <a:solidFill>
                            <a:srgbClr val="1A1A1A"/>
                          </a:solidFill>
                        </a:rPr>
                        <a:t>7,2 %</a:t>
                      </a:r>
                    </a:p>
                  </a:txBody>
                  <a:tcPr>
                    <a:solidFill>
                      <a:srgbClr val="FFFFFF"/>
                    </a:solidFill>
                  </a:tcPr>
                </a:tc>
                <a:tc>
                  <a:txBody>
                    <a:bodyPr/>
                    <a:lstStyle/>
                    <a:p>
                      <a:pPr algn="ctr"/>
                      <a:r>
                        <a:rPr sz="850" b="0">
                          <a:solidFill>
                            <a:srgbClr val="1A1A1A"/>
                          </a:solidFill>
                        </a:rPr>
                        <a:t>Technology</a:t>
                      </a:r>
                    </a:p>
                  </a:txBody>
                  <a:tcPr>
                    <a:solidFill>
                      <a:srgbClr val="FFFFFF"/>
                    </a:solidFill>
                  </a:tcPr>
                </a:tc>
              </a:tr>
              <a:tr h="270000">
                <a:tc>
                  <a:txBody>
                    <a:bodyPr/>
                    <a:lstStyle/>
                    <a:p>
                      <a:pPr algn="l"/>
                      <a:r>
                        <a:rPr sz="850" b="0">
                          <a:solidFill>
                            <a:srgbClr val="1A1A1A"/>
                          </a:solidFill>
                        </a:rPr>
                        <a:t>Microsoft Corp. (MSFT)</a:t>
                      </a:r>
                    </a:p>
                  </a:txBody>
                  <a:tcPr>
                    <a:solidFill>
                      <a:srgbClr val="F5F7FA"/>
                    </a:solidFill>
                  </a:tcPr>
                </a:tc>
                <a:tc>
                  <a:txBody>
                    <a:bodyPr/>
                    <a:lstStyle/>
                    <a:p>
                      <a:pPr algn="ctr"/>
                      <a:r>
                        <a:rPr sz="850" b="0">
                          <a:solidFill>
                            <a:srgbClr val="1A1A1A"/>
                          </a:solidFill>
                        </a:rPr>
                        <a:t>6,8 %</a:t>
                      </a:r>
                    </a:p>
                  </a:txBody>
                  <a:tcPr>
                    <a:solidFill>
                      <a:srgbClr val="F5F7FA"/>
                    </a:solidFill>
                  </a:tcPr>
                </a:tc>
                <a:tc>
                  <a:txBody>
                    <a:bodyPr/>
                    <a:lstStyle/>
                    <a:p>
                      <a:pPr algn="ctr"/>
                      <a:r>
                        <a:rPr sz="850" b="0">
                          <a:solidFill>
                            <a:srgbClr val="1A1A1A"/>
                          </a:solidFill>
                        </a:rPr>
                        <a:t>Technology</a:t>
                      </a:r>
                    </a:p>
                  </a:txBody>
                  <a:tcPr>
                    <a:solidFill>
                      <a:srgbClr val="F5F7FA"/>
                    </a:solidFill>
                  </a:tcPr>
                </a:tc>
              </a:tr>
              <a:tr h="270000">
                <a:tc>
                  <a:txBody>
                    <a:bodyPr/>
                    <a:lstStyle/>
                    <a:p>
                      <a:pPr algn="l"/>
                      <a:r>
                        <a:rPr sz="850" b="0">
                          <a:solidFill>
                            <a:srgbClr val="1A1A1A"/>
                          </a:solidFill>
                        </a:rPr>
                        <a:t>NVIDIA Corp. (NVDA)</a:t>
                      </a:r>
                    </a:p>
                  </a:txBody>
                  <a:tcPr>
                    <a:solidFill>
                      <a:srgbClr val="FFFFFF"/>
                    </a:solidFill>
                  </a:tcPr>
                </a:tc>
                <a:tc>
                  <a:txBody>
                    <a:bodyPr/>
                    <a:lstStyle/>
                    <a:p>
                      <a:pPr algn="ctr"/>
                      <a:r>
                        <a:rPr sz="850" b="0">
                          <a:solidFill>
                            <a:srgbClr val="1A1A1A"/>
                          </a:solidFill>
                        </a:rPr>
                        <a:t>5,5 %</a:t>
                      </a:r>
                    </a:p>
                  </a:txBody>
                  <a:tcPr>
                    <a:solidFill>
                      <a:srgbClr val="FFFFFF"/>
                    </a:solidFill>
                  </a:tcPr>
                </a:tc>
                <a:tc>
                  <a:txBody>
                    <a:bodyPr/>
                    <a:lstStyle/>
                    <a:p>
                      <a:pPr algn="ctr"/>
                      <a:r>
                        <a:rPr sz="850" b="0">
                          <a:solidFill>
                            <a:srgbClr val="1A1A1A"/>
                          </a:solidFill>
                        </a:rPr>
                        <a:t>Technology</a:t>
                      </a:r>
                    </a:p>
                  </a:txBody>
                  <a:tcPr>
                    <a:solidFill>
                      <a:srgbClr val="FFFFFF"/>
                    </a:solidFill>
                  </a:tcPr>
                </a:tc>
              </a:tr>
              <a:tr h="270000">
                <a:tc>
                  <a:txBody>
                    <a:bodyPr/>
                    <a:lstStyle/>
                    <a:p>
                      <a:pPr algn="l"/>
                      <a:r>
                        <a:rPr sz="850" b="0">
                          <a:solidFill>
                            <a:srgbClr val="1A1A1A"/>
                          </a:solidFill>
                        </a:rPr>
                        <a:t>Amazon.com Inc. (AMZN)</a:t>
                      </a:r>
                    </a:p>
                  </a:txBody>
                  <a:tcPr>
                    <a:solidFill>
                      <a:srgbClr val="F5F7FA"/>
                    </a:solidFill>
                  </a:tcPr>
                </a:tc>
                <a:tc>
                  <a:txBody>
                    <a:bodyPr/>
                    <a:lstStyle/>
                    <a:p>
                      <a:pPr algn="ctr"/>
                      <a:r>
                        <a:rPr sz="850" b="0">
                          <a:solidFill>
                            <a:srgbClr val="1A1A1A"/>
                          </a:solidFill>
                        </a:rPr>
                        <a:t>3,6 %</a:t>
                      </a:r>
                    </a:p>
                  </a:txBody>
                  <a:tcPr>
                    <a:solidFill>
                      <a:srgbClr val="F5F7FA"/>
                    </a:solidFill>
                  </a:tcPr>
                </a:tc>
                <a:tc>
                  <a:txBody>
                    <a:bodyPr/>
                    <a:lstStyle/>
                    <a:p>
                      <a:pPr algn="ctr"/>
                      <a:r>
                        <a:rPr sz="850" b="0">
                          <a:solidFill>
                            <a:srgbClr val="1A1A1A"/>
                          </a:solidFill>
                        </a:rPr>
                        <a:t>Consumer Discretio</a:t>
                      </a:r>
                    </a:p>
                  </a:txBody>
                  <a:tcPr>
                    <a:solidFill>
                      <a:srgbClr val="F5F7FA"/>
                    </a:solidFill>
                  </a:tcPr>
                </a:tc>
              </a:tr>
              <a:tr h="270000">
                <a:tc>
                  <a:txBody>
                    <a:bodyPr/>
                    <a:lstStyle/>
                    <a:p>
                      <a:pPr algn="l"/>
                      <a:r>
                        <a:rPr sz="850" b="0">
                          <a:solidFill>
                            <a:srgbClr val="1A1A1A"/>
                          </a:solidFill>
                        </a:rPr>
                        <a:t>Alphabet Inc. A (GOOGL)</a:t>
                      </a:r>
                    </a:p>
                  </a:txBody>
                  <a:tcPr>
                    <a:solidFill>
                      <a:srgbClr val="FFFFFF"/>
                    </a:solidFill>
                  </a:tcPr>
                </a:tc>
                <a:tc>
                  <a:txBody>
                    <a:bodyPr/>
                    <a:lstStyle/>
                    <a:p>
                      <a:pPr algn="ctr"/>
                      <a:r>
                        <a:rPr sz="850" b="0">
                          <a:solidFill>
                            <a:srgbClr val="1A1A1A"/>
                          </a:solidFill>
                        </a:rPr>
                        <a:t>2,1 %</a:t>
                      </a:r>
                    </a:p>
                  </a:txBody>
                  <a:tcPr>
                    <a:solidFill>
                      <a:srgbClr val="FFFFFF"/>
                    </a:solidFill>
                  </a:tcPr>
                </a:tc>
                <a:tc>
                  <a:txBody>
                    <a:bodyPr/>
                    <a:lstStyle/>
                    <a:p>
                      <a:pPr algn="ctr"/>
                      <a:r>
                        <a:rPr sz="850" b="0">
                          <a:solidFill>
                            <a:srgbClr val="1A1A1A"/>
                          </a:solidFill>
                        </a:rPr>
                        <a:t>Communication Serv</a:t>
                      </a:r>
                    </a:p>
                  </a:txBody>
                  <a:tcPr>
                    <a:solidFill>
                      <a:srgbClr val="FFFFFF"/>
                    </a:solidFill>
                  </a:tcPr>
                </a:tc>
              </a:tr>
            </a:tbl>
          </a:graphicData>
        </a:graphic>
      </p:graphicFrame>
      <p:sp>
        <p:nvSpPr>
          <p:cNvPr id="21" name="Rectangle 20"/>
          <p:cNvSpPr/>
          <p:nvPr/>
        </p:nvSpPr>
        <p:spPr>
          <a:xfrm>
            <a:off x="367200" y="2754000"/>
            <a:ext cx="8413200" cy="203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2754000"/>
            <a:ext cx="46800" cy="20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200" y="2790000"/>
            <a:ext cx="8269200" cy="129600"/>
          </a:xfrm>
          <a:prstGeom prst="rect">
            <a:avLst/>
          </a:prstGeom>
          <a:noFill/>
        </p:spPr>
        <p:txBody>
          <a:bodyPr wrap="square">
            <a:spAutoFit/>
          </a:bodyPr>
          <a:lstStyle/>
          <a:p>
            <a:pPr algn="l"/>
            <a:r>
              <a:rPr sz="900" b="1" i="0">
                <a:solidFill>
                  <a:srgbClr val="1B3A6B"/>
                </a:solidFill>
              </a:rPr>
              <a:t>CONCENTRATION DES PRINCIPAUX CONSTITUANTS</a:t>
            </a:r>
          </a:p>
        </p:txBody>
      </p:sp>
      <p:sp>
        <p:nvSpPr>
          <p:cNvPr id="24" name="TextBox 23"/>
          <p:cNvSpPr txBox="1"/>
          <p:nvPr/>
        </p:nvSpPr>
        <p:spPr>
          <a:xfrm>
            <a:off x="475200" y="2934000"/>
            <a:ext cx="8233200" cy="1810800"/>
          </a:xfrm>
          <a:prstGeom prst="rect">
            <a:avLst/>
          </a:prstGeom>
          <a:noFill/>
        </p:spPr>
        <p:txBody>
          <a:bodyPr wrap="square">
            <a:spAutoFit/>
          </a:bodyPr>
          <a:lstStyle/>
          <a:p>
            <a:pPr algn="l"/>
            <a:r>
              <a:rPr sz="900" b="0" i="0">
                <a:solidFill>
                  <a:srgbClr val="1B3A6B"/>
                </a:solidFill>
              </a:rPr>
              <a:t>La concentration des principaux constituants détermine le risque idiosyncrasique de l'indice. Les top 5 valeurs de CAC 40 pèsent typiquement 20-30 % du total, contre 10-15 % pour S&amp;P 500. Une concentration élevée amplifie l'impact des publications individuelles sur la performance de l'indice (effet 'magnificent 7' sur le S&amp;P 500). À l'inverse, une dispersion plus large offre une diversification intrinsèque mais réduit la sensibilité aux leaders technologiques.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60000"/>
            <a:ext cx="8229600" cy="1645200"/>
          </a:xfrm>
          <a:prstGeom prst="rect">
            <a:avLst/>
          </a:prstGeom>
          <a:noFill/>
        </p:spPr>
        <p:txBody>
          <a:bodyPr wrap="none">
            <a:spAutoFit/>
          </a:bodyPr>
          <a:lstStyle/>
          <a:p>
            <a:r>
              <a:rPr sz="9600" b="1">
                <a:solidFill>
                  <a:srgbClr val="FFFFFF">
                    <a:alpha val="15000"/>
                  </a:srgbClr>
                </a:solidFill>
              </a:rPr>
              <a:t>02</a:t>
            </a:r>
          </a:p>
        </p:txBody>
      </p:sp>
      <p:sp>
        <p:nvSpPr>
          <p:cNvPr id="4" name="TextBox 3"/>
          <p:cNvSpPr txBox="1"/>
          <p:nvPr/>
        </p:nvSpPr>
        <p:spPr>
          <a:xfrm>
            <a:off x="457200" y="1980000"/>
            <a:ext cx="8229600" cy="648000"/>
          </a:xfrm>
          <a:prstGeom prst="rect">
            <a:avLst/>
          </a:prstGeom>
          <a:noFill/>
        </p:spPr>
        <p:txBody>
          <a:bodyPr wrap="square">
            <a:spAutoFit/>
          </a:bodyPr>
          <a:lstStyle/>
          <a:p>
            <a:pPr algn="l"/>
            <a:r>
              <a:rPr sz="3200" b="1" i="0">
                <a:solidFill>
                  <a:srgbClr val="FFFFFF"/>
                </a:solidFill>
              </a:rPr>
              <a:t>Performance &amp; Risque</a:t>
            </a:r>
          </a:p>
        </p:txBody>
      </p:sp>
      <p:sp>
        <p:nvSpPr>
          <p:cNvPr id="5" name="Rectangle 4"/>
          <p:cNvSpPr/>
          <p:nvPr/>
        </p:nvSpPr>
        <p:spPr>
          <a:xfrm>
            <a:off x="457200" y="2880000"/>
            <a:ext cx="27432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88000"/>
            <a:ext cx="8229600" cy="342000"/>
          </a:xfrm>
          <a:prstGeom prst="rect">
            <a:avLst/>
          </a:prstGeom>
          <a:noFill/>
        </p:spPr>
        <p:txBody>
          <a:bodyPr wrap="square">
            <a:spAutoFit/>
          </a:bodyPr>
          <a:lstStyle/>
          <a:p>
            <a:pPr algn="l"/>
            <a:r>
              <a:rPr sz="1100" b="0" i="0">
                <a:solidFill>
                  <a:srgbClr val="AABBDD"/>
                </a:solidFill>
              </a:rPr>
              <a:t>Cours 52S, décomposition perfs et métriques de risque</a:t>
            </a:r>
          </a:p>
        </p:txBody>
      </p:sp>
      <p:sp>
        <p:nvSpPr>
          <p:cNvPr id="7" name="TextBox 6"/>
          <p:cNvSpPr txBox="1"/>
          <p:nvPr/>
        </p:nvSpPr>
        <p:spPr>
          <a:xfrm>
            <a:off x="367200" y="4860000"/>
            <a:ext cx="8413200" cy="201600"/>
          </a:xfrm>
          <a:prstGeom prst="rect">
            <a:avLst/>
          </a:prstGeom>
          <a:noFill/>
        </p:spPr>
        <p:txBody>
          <a:bodyPr wrap="square">
            <a:spAutoFit/>
          </a:bodyPr>
          <a:lstStyle/>
          <a:p>
            <a:pPr algn="l"/>
            <a:r>
              <a:rPr sz="700" b="0" i="0">
                <a:solidFill>
                  <a:srgbClr val="6677AA"/>
                </a:solidFill>
              </a:rPr>
              <a:t>FinSight IA  ·  Comparatif Indices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Performance Historique  —  52 Semaines</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Évolution normalisée base 100 — CAC 40 vs S&amp;P 500</a:t>
            </a:r>
          </a:p>
        </p:txBody>
      </p:sp>
      <p:sp>
        <p:nvSpPr>
          <p:cNvPr id="5" name="Rectangle 4"/>
          <p:cNvSpPr/>
          <p:nvPr/>
        </p:nvSpPr>
        <p:spPr>
          <a:xfrm>
            <a:off x="7056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FFFFFF"/>
                </a:solidFill>
              </a:rPr>
              <a:t>1</a:t>
            </a:r>
          </a:p>
        </p:txBody>
      </p:sp>
      <p:sp>
        <p:nvSpPr>
          <p:cNvPr id="7" name="Rectangle 6"/>
          <p:cNvSpPr/>
          <p:nvPr/>
        </p:nvSpPr>
        <p:spPr>
          <a:xfrm>
            <a:off x="7362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1B3A6B"/>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67200" y="827999"/>
            <a:ext cx="4118400" cy="223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7200" y="827999"/>
            <a:ext cx="54000" cy="223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64000"/>
            <a:ext cx="3960000" cy="165600"/>
          </a:xfrm>
          <a:prstGeom prst="rect">
            <a:avLst/>
          </a:prstGeom>
          <a:noFill/>
        </p:spPr>
        <p:txBody>
          <a:bodyPr wrap="square">
            <a:spAutoFit/>
          </a:bodyPr>
          <a:lstStyle/>
          <a:p>
            <a:pPr algn="l"/>
            <a:r>
              <a:rPr sz="1000" b="1" i="0">
                <a:solidFill>
                  <a:srgbClr val="1B3A6B"/>
                </a:solidFill>
              </a:rPr>
              <a:t>CAC 40</a:t>
            </a:r>
          </a:p>
        </p:txBody>
      </p:sp>
      <p:sp>
        <p:nvSpPr>
          <p:cNvPr id="18" name="Rectangle 17"/>
          <p:cNvSpPr/>
          <p:nvPr/>
        </p:nvSpPr>
        <p:spPr>
          <a:xfrm>
            <a:off x="4658400" y="827999"/>
            <a:ext cx="4118400" cy="223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58400" y="827999"/>
            <a:ext cx="54000" cy="223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9200" y="864000"/>
            <a:ext cx="3960000" cy="165600"/>
          </a:xfrm>
          <a:prstGeom prst="rect">
            <a:avLst/>
          </a:prstGeom>
          <a:noFill/>
        </p:spPr>
        <p:txBody>
          <a:bodyPr wrap="square">
            <a:spAutoFit/>
          </a:bodyPr>
          <a:lstStyle/>
          <a:p>
            <a:pPr algn="l"/>
            <a:r>
              <a:rPr sz="1000" b="1" i="0">
                <a:solidFill>
                  <a:srgbClr val="1A7A4A"/>
                </a:solidFill>
              </a:rPr>
              <a:t>S&amp;P 500</a:t>
            </a:r>
          </a:p>
        </p:txBody>
      </p:sp>
      <p:pic>
        <p:nvPicPr>
          <p:cNvPr id="21" name="Picture 20" descr="image.png"/>
          <p:cNvPicPr>
            <a:picLocks noChangeAspect="1"/>
          </p:cNvPicPr>
          <p:nvPr/>
        </p:nvPicPr>
        <p:blipFill>
          <a:blip r:embed="rId2"/>
          <a:stretch>
            <a:fillRect/>
          </a:stretch>
        </p:blipFill>
        <p:spPr>
          <a:xfrm>
            <a:off x="367200" y="1116000"/>
            <a:ext cx="5940000" cy="2700000"/>
          </a:xfrm>
          <a:prstGeom prst="rect">
            <a:avLst/>
          </a:prstGeom>
        </p:spPr>
      </p:pic>
      <p:graphicFrame>
        <p:nvGraphicFramePr>
          <p:cNvPr id="22" name="Table 21"/>
          <p:cNvGraphicFramePr>
            <a:graphicFrameLocks noGrp="1"/>
          </p:cNvGraphicFramePr>
          <p:nvPr/>
        </p:nvGraphicFramePr>
        <p:xfrm>
          <a:off x="6426000" y="1116000"/>
          <a:ext cx="2357998" cy="1620000"/>
        </p:xfrm>
        <a:graphic>
          <a:graphicData uri="http://schemas.openxmlformats.org/drawingml/2006/table">
            <a:tbl>
              <a:tblPr firstRow="1" bandRow="1">
                <a:tableStyleId>{5C22544A-7EE6-4342-B048-85BDC9FD1C3A}</a:tableStyleId>
              </a:tblPr>
              <a:tblGrid>
                <a:gridCol w="693529"/>
                <a:gridCol w="554823"/>
                <a:gridCol w="554823"/>
                <a:gridCol w="554823"/>
              </a:tblGrid>
              <a:tr h="324000">
                <a:tc>
                  <a:txBody>
                    <a:bodyPr/>
                    <a:lstStyle/>
                    <a:p>
                      <a:pPr algn="l"/>
                      <a:r>
                        <a:rPr sz="850" b="1">
                          <a:solidFill>
                            <a:srgbClr val="FFFFFF"/>
                          </a:solidFill>
                        </a:rPr>
                        <a:t>Horizon</a:t>
                      </a:r>
                    </a:p>
                  </a:txBody>
                  <a:tcPr>
                    <a:solidFill>
                      <a:srgbClr val="1B3A6B"/>
                    </a:solidFill>
                  </a:tcPr>
                </a:tc>
                <a:tc>
                  <a:txBody>
                    <a:bodyPr/>
                    <a:lstStyle/>
                    <a:p>
                      <a:pPr algn="ctr"/>
                      <a:r>
                        <a:rPr sz="850" b="1">
                          <a:solidFill>
                            <a:srgbClr val="FFFFFF"/>
                          </a:solidFill>
                        </a:rPr>
                        <a:t>CAC 40</a:t>
                      </a:r>
                    </a:p>
                  </a:txBody>
                  <a:tcPr>
                    <a:solidFill>
                      <a:srgbClr val="1B3A6B"/>
                    </a:solidFill>
                  </a:tcPr>
                </a:tc>
                <a:tc>
                  <a:txBody>
                    <a:bodyPr/>
                    <a:lstStyle/>
                    <a:p>
                      <a:pPr algn="ctr"/>
                      <a:r>
                        <a:rPr sz="850" b="1">
                          <a:solidFill>
                            <a:srgbClr val="FFFFFF"/>
                          </a:solidFill>
                        </a:rPr>
                        <a:t>S&amp;P 500</a:t>
                      </a:r>
                    </a:p>
                  </a:txBody>
                  <a:tcPr>
                    <a:solidFill>
                      <a:srgbClr val="1B3A6B"/>
                    </a:solidFill>
                  </a:tcPr>
                </a:tc>
                <a:tc>
                  <a:txBody>
                    <a:bodyPr/>
                    <a:lstStyle/>
                    <a:p>
                      <a:pPr algn="ctr"/>
                      <a:r>
                        <a:rPr sz="850" b="1">
                          <a:solidFill>
                            <a:srgbClr val="FFFFFF"/>
                          </a:solidFill>
                        </a:rPr>
                        <a:t>Écart</a:t>
                      </a:r>
                    </a:p>
                  </a:txBody>
                  <a:tcPr>
                    <a:solidFill>
                      <a:srgbClr val="1B3A6B"/>
                    </a:solidFill>
                  </a:tcPr>
                </a:tc>
              </a:tr>
              <a:tr h="324000">
                <a:tc>
                  <a:txBody>
                    <a:bodyPr/>
                    <a:lstStyle/>
                    <a:p>
                      <a:pPr algn="l"/>
                      <a:r>
                        <a:rPr sz="850" b="0">
                          <a:solidFill>
                            <a:srgbClr val="1A1A1A"/>
                          </a:solidFill>
                        </a:rPr>
                        <a:t>YTD</a:t>
                      </a:r>
                    </a:p>
                  </a:txBody>
                  <a:tcPr>
                    <a:solidFill>
                      <a:srgbClr val="FFFFFF"/>
                    </a:solidFill>
                  </a:tcPr>
                </a:tc>
                <a:tc>
                  <a:txBody>
                    <a:bodyPr/>
                    <a:lstStyle/>
                    <a:p>
                      <a:pPr algn="ctr"/>
                      <a:r>
                        <a:rPr sz="850" b="0">
                          <a:solidFill>
                            <a:srgbClr val="1A1A1A"/>
                          </a:solidFill>
                        </a:rPr>
                        <a:t>+1,4 %</a:t>
                      </a:r>
                    </a:p>
                  </a:txBody>
                  <a:tcPr>
                    <a:solidFill>
                      <a:srgbClr val="FFFFFF"/>
                    </a:solidFill>
                  </a:tcPr>
                </a:tc>
                <a:tc>
                  <a:txBody>
                    <a:bodyPr/>
                    <a:lstStyle/>
                    <a:p>
                      <a:pPr algn="ctr"/>
                      <a:r>
                        <a:rPr sz="850" b="0">
                          <a:solidFill>
                            <a:srgbClr val="1A1A1A"/>
                          </a:solidFill>
                        </a:rPr>
                        <a:t>-0,4 %</a:t>
                      </a:r>
                    </a:p>
                  </a:txBody>
                  <a:tcPr>
                    <a:solidFill>
                      <a:srgbClr val="FFFFFF"/>
                    </a:solidFill>
                  </a:tcPr>
                </a:tc>
                <a:tc>
                  <a:txBody>
                    <a:bodyPr/>
                    <a:lstStyle/>
                    <a:p>
                      <a:pPr algn="ctr"/>
                      <a:r>
                        <a:rPr sz="850" b="0">
                          <a:solidFill>
                            <a:srgbClr val="1A1A1A"/>
                          </a:solidFill>
                        </a:rPr>
                        <a:t>+1,8 pp</a:t>
                      </a:r>
                    </a:p>
                  </a:txBody>
                  <a:tcPr>
                    <a:solidFill>
                      <a:srgbClr val="FFFFFF"/>
                    </a:solidFill>
                  </a:tcPr>
                </a:tc>
              </a:tr>
              <a:tr h="324000">
                <a:tc>
                  <a:txBody>
                    <a:bodyPr/>
                    <a:lstStyle/>
                    <a:p>
                      <a:pPr algn="l"/>
                      <a:r>
                        <a:rPr sz="850" b="0">
                          <a:solidFill>
                            <a:srgbClr val="1A1A1A"/>
                          </a:solidFill>
                        </a:rPr>
                        <a:t>1 an</a:t>
                      </a:r>
                    </a:p>
                  </a:txBody>
                  <a:tcPr>
                    <a:solidFill>
                      <a:srgbClr val="F5F7FA"/>
                    </a:solidFill>
                  </a:tcPr>
                </a:tc>
                <a:tc>
                  <a:txBody>
                    <a:bodyPr/>
                    <a:lstStyle/>
                    <a:p>
                      <a:pPr algn="ctr"/>
                      <a:r>
                        <a:rPr sz="850" b="0">
                          <a:solidFill>
                            <a:srgbClr val="1A1A1A"/>
                          </a:solidFill>
                        </a:rPr>
                        <a:t>+16,3 %</a:t>
                      </a:r>
                    </a:p>
                  </a:txBody>
                  <a:tcPr>
                    <a:solidFill>
                      <a:srgbClr val="F5F7FA"/>
                    </a:solidFill>
                  </a:tcPr>
                </a:tc>
                <a:tc>
                  <a:txBody>
                    <a:bodyPr/>
                    <a:lstStyle/>
                    <a:p>
                      <a:pPr algn="ctr"/>
                      <a:r>
                        <a:rPr sz="850" b="0">
                          <a:solidFill>
                            <a:srgbClr val="1A1A1A"/>
                          </a:solidFill>
                        </a:rPr>
                        <a:t>+27,1 %</a:t>
                      </a:r>
                    </a:p>
                  </a:txBody>
                  <a:tcPr>
                    <a:solidFill>
                      <a:srgbClr val="F5F7FA"/>
                    </a:solidFill>
                  </a:tcPr>
                </a:tc>
                <a:tc>
                  <a:txBody>
                    <a:bodyPr/>
                    <a:lstStyle/>
                    <a:p>
                      <a:pPr algn="ctr"/>
                      <a:r>
                        <a:rPr sz="850" b="0">
                          <a:solidFill>
                            <a:srgbClr val="1A1A1A"/>
                          </a:solidFill>
                        </a:rPr>
                        <a:t>-10,8 pp</a:t>
                      </a:r>
                    </a:p>
                  </a:txBody>
                  <a:tcPr>
                    <a:solidFill>
                      <a:srgbClr val="F5F7FA"/>
                    </a:solidFill>
                  </a:tcPr>
                </a:tc>
              </a:tr>
              <a:tr h="324000">
                <a:tc>
                  <a:txBody>
                    <a:bodyPr/>
                    <a:lstStyle/>
                    <a:p>
                      <a:pPr algn="l"/>
                      <a:r>
                        <a:rPr sz="850" b="0">
                          <a:solidFill>
                            <a:srgbClr val="1A1A1A"/>
                          </a:solidFill>
                        </a:rPr>
                        <a:t>3 ans</a:t>
                      </a:r>
                    </a:p>
                  </a:txBody>
                  <a:tcPr>
                    <a:solidFill>
                      <a:srgbClr val="FFFFFF"/>
                    </a:solidFill>
                  </a:tcPr>
                </a:tc>
                <a:tc>
                  <a:txBody>
                    <a:bodyPr/>
                    <a:lstStyle/>
                    <a:p>
                      <a:pPr algn="ctr"/>
                      <a:r>
                        <a:rPr sz="850" b="0">
                          <a:solidFill>
                            <a:srgbClr val="1A1A1A"/>
                          </a:solidFill>
                        </a:rPr>
                        <a:t>+11,7 %</a:t>
                      </a:r>
                    </a:p>
                  </a:txBody>
                  <a:tcPr>
                    <a:solidFill>
                      <a:srgbClr val="FFFFFF"/>
                    </a:solidFill>
                  </a:tcPr>
                </a:tc>
                <a:tc>
                  <a:txBody>
                    <a:bodyPr/>
                    <a:lstStyle/>
                    <a:p>
                      <a:pPr algn="ctr"/>
                      <a:r>
                        <a:rPr sz="850" b="0">
                          <a:solidFill>
                            <a:srgbClr val="1A1A1A"/>
                          </a:solidFill>
                        </a:rPr>
                        <a:t>+66,6 %</a:t>
                      </a:r>
                    </a:p>
                  </a:txBody>
                  <a:tcPr>
                    <a:solidFill>
                      <a:srgbClr val="FFFFFF"/>
                    </a:solidFill>
                  </a:tcPr>
                </a:tc>
                <a:tc>
                  <a:txBody>
                    <a:bodyPr/>
                    <a:lstStyle/>
                    <a:p>
                      <a:pPr algn="ctr"/>
                      <a:r>
                        <a:rPr sz="850" b="0">
                          <a:solidFill>
                            <a:srgbClr val="1A1A1A"/>
                          </a:solidFill>
                        </a:rPr>
                        <a:t>-54,9 pp</a:t>
                      </a:r>
                    </a:p>
                  </a:txBody>
                  <a:tcPr>
                    <a:solidFill>
                      <a:srgbClr val="FFFFFF"/>
                    </a:solidFill>
                  </a:tcPr>
                </a:tc>
              </a:tr>
              <a:tr h="324000">
                <a:tc>
                  <a:txBody>
                    <a:bodyPr/>
                    <a:lstStyle/>
                    <a:p>
                      <a:pPr algn="l"/>
                      <a:r>
                        <a:rPr sz="850" b="0">
                          <a:solidFill>
                            <a:srgbClr val="1A1A1A"/>
                          </a:solidFill>
                        </a:rPr>
                        <a:t>5 ans</a:t>
                      </a:r>
                    </a:p>
                  </a:txBody>
                  <a:tcPr>
                    <a:solidFill>
                      <a:srgbClr val="F5F7FA"/>
                    </a:solidFill>
                  </a:tcPr>
                </a:tc>
                <a:tc>
                  <a:txBody>
                    <a:bodyPr/>
                    <a:lstStyle/>
                    <a:p>
                      <a:pPr algn="ctr"/>
                      <a:r>
                        <a:rPr sz="850" b="0">
                          <a:solidFill>
                            <a:srgbClr val="1A1A1A"/>
                          </a:solidFill>
                        </a:rPr>
                        <a:t>+34,0 %</a:t>
                      </a:r>
                    </a:p>
                  </a:txBody>
                  <a:tcPr>
                    <a:solidFill>
                      <a:srgbClr val="F5F7FA"/>
                    </a:solidFill>
                  </a:tcPr>
                </a:tc>
                <a:tc>
                  <a:txBody>
                    <a:bodyPr/>
                    <a:lstStyle/>
                    <a:p>
                      <a:pPr algn="ctr"/>
                      <a:r>
                        <a:rPr sz="850" b="0">
                          <a:solidFill>
                            <a:srgbClr val="1A1A1A"/>
                          </a:solidFill>
                        </a:rPr>
                        <a:t>+65,1 %</a:t>
                      </a:r>
                    </a:p>
                  </a:txBody>
                  <a:tcPr>
                    <a:solidFill>
                      <a:srgbClr val="F5F7FA"/>
                    </a:solidFill>
                  </a:tcPr>
                </a:tc>
                <a:tc>
                  <a:txBody>
                    <a:bodyPr/>
                    <a:lstStyle/>
                    <a:p>
                      <a:pPr algn="ctr"/>
                      <a:r>
                        <a:rPr sz="850" b="0">
                          <a:solidFill>
                            <a:srgbClr val="1A1A1A"/>
                          </a:solidFill>
                        </a:rPr>
                        <a:t>-31,1 pp</a:t>
                      </a:r>
                    </a:p>
                  </a:txBody>
                  <a:tcPr>
                    <a:solidFill>
                      <a:srgbClr val="F5F7FA"/>
                    </a:solidFill>
                  </a:tcPr>
                </a:tc>
              </a:tr>
            </a:tbl>
          </a:graphicData>
        </a:graphic>
      </p:graphicFrame>
      <p:sp>
        <p:nvSpPr>
          <p:cNvPr id="23" name="Rectangle 22"/>
          <p:cNvSpPr/>
          <p:nvPr/>
        </p:nvSpPr>
        <p:spPr>
          <a:xfrm>
            <a:off x="6426000" y="2826000"/>
            <a:ext cx="2358000" cy="99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26000" y="2826000"/>
            <a:ext cx="46800" cy="990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4000" y="2861999"/>
            <a:ext cx="2214000" cy="129600"/>
          </a:xfrm>
          <a:prstGeom prst="rect">
            <a:avLst/>
          </a:prstGeom>
          <a:noFill/>
        </p:spPr>
        <p:txBody>
          <a:bodyPr wrap="square">
            <a:spAutoFit/>
          </a:bodyPr>
          <a:lstStyle/>
          <a:p>
            <a:pPr algn="l"/>
            <a:r>
              <a:rPr sz="850" b="1" i="0">
                <a:solidFill>
                  <a:srgbClr val="1B3A6B"/>
                </a:solidFill>
              </a:rPr>
              <a:t>CONTEXTE MACRO 12 MOIS — TAUX, FX, ROTATION SECTORIELLE</a:t>
            </a:r>
          </a:p>
        </p:txBody>
      </p:sp>
      <p:sp>
        <p:nvSpPr>
          <p:cNvPr id="26" name="TextBox 25"/>
          <p:cNvSpPr txBox="1"/>
          <p:nvPr/>
        </p:nvSpPr>
        <p:spPr>
          <a:xfrm>
            <a:off x="6534000" y="3006000"/>
            <a:ext cx="2178000" cy="766800"/>
          </a:xfrm>
          <a:prstGeom prst="rect">
            <a:avLst/>
          </a:prstGeom>
          <a:noFill/>
        </p:spPr>
        <p:txBody>
          <a:bodyPr wrap="square">
            <a:spAutoFit/>
          </a:bodyPr>
          <a:lstStyle/>
          <a:p>
            <a:pPr algn="l"/>
            <a:r>
              <a:rPr sz="850" b="0" i="0">
                <a:solidFill>
                  <a:srgbClr val="1B3A6B"/>
                </a:solidFill>
              </a:rPr>
              <a:t>Sur les 52 dernières semaines, le contexte macro a été marqué par la stabilisation des taux directeurs (Fed 4,25-4,50 %, BCE 3,00 % après le pivot mi-2024), un atterrissage en douceur de l'économie américaine et une rotation sectorielle au profit des valeurs de qualité. Le dollar est resté fort vs euro (EUR/USD ~1,06), pénalisant les revenus européens convertis. La trajectoire des deux indices reflète ces dynamiques croisées et leur exposition différenciée.</a:t>
            </a:r>
          </a:p>
        </p:txBody>
      </p:sp>
      <p:sp>
        <p:nvSpPr>
          <p:cNvPr id="27" name="Rectangle 26"/>
          <p:cNvSpPr/>
          <p:nvPr/>
        </p:nvSpPr>
        <p:spPr>
          <a:xfrm>
            <a:off x="367200" y="3906000"/>
            <a:ext cx="8413200" cy="88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7200" y="3906000"/>
            <a:ext cx="46800" cy="88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200" y="3941999"/>
            <a:ext cx="8269200" cy="129600"/>
          </a:xfrm>
          <a:prstGeom prst="rect">
            <a:avLst/>
          </a:prstGeom>
          <a:noFill/>
        </p:spPr>
        <p:txBody>
          <a:bodyPr wrap="square">
            <a:spAutoFit/>
          </a:bodyPr>
          <a:lstStyle/>
          <a:p>
            <a:pPr algn="l"/>
            <a:r>
              <a:rPr sz="900" b="1" i="0">
                <a:solidFill>
                  <a:srgbClr val="1B3A6B"/>
                </a:solidFill>
              </a:rPr>
              <a:t>S&amp;P 500 SURPERFORME SUR 52S (+0.3%) — DIVERGENCE STRUCTURELLE</a:t>
            </a:r>
          </a:p>
        </p:txBody>
      </p:sp>
      <p:sp>
        <p:nvSpPr>
          <p:cNvPr id="30" name="TextBox 29"/>
          <p:cNvSpPr txBox="1"/>
          <p:nvPr/>
        </p:nvSpPr>
        <p:spPr>
          <a:xfrm>
            <a:off x="475200" y="4086000"/>
            <a:ext cx="8233200" cy="658800"/>
          </a:xfrm>
          <a:prstGeom prst="rect">
            <a:avLst/>
          </a:prstGeom>
          <a:noFill/>
        </p:spPr>
        <p:txBody>
          <a:bodyPr wrap="square">
            <a:spAutoFit/>
          </a:bodyPr>
          <a:lstStyle/>
          <a:p>
            <a:pPr algn="l"/>
            <a:r>
              <a:rPr sz="900" b="0" i="0">
                <a:solidFill>
                  <a:srgbClr val="1B3A6B"/>
                </a:solidFill>
              </a:rPr>
              <a:t>La courbe normalisée base 100 permet d'isoler la performance pure de chaque indice, indépendamment de leur niveau absolu. La zone ombragée matérialise l'écart relatif sur la période. Une divergence persistante signale une rotation structurelle entre les deux univers, à confronter aux flux institutionnels et aux révisions de consensus.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Décomposition de la Performance</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YTD, 1 an, 3 ans, 5 ans  —  écarts relatifs et lecture comparative</a:t>
            </a:r>
          </a:p>
        </p:txBody>
      </p:sp>
      <p:sp>
        <p:nvSpPr>
          <p:cNvPr id="5" name="Rectangle 4"/>
          <p:cNvSpPr/>
          <p:nvPr/>
        </p:nvSpPr>
        <p:spPr>
          <a:xfrm>
            <a:off x="7056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FFFFFF"/>
                </a:solidFill>
              </a:rPr>
              <a:t>1</a:t>
            </a:r>
          </a:p>
        </p:txBody>
      </p:sp>
      <p:sp>
        <p:nvSpPr>
          <p:cNvPr id="7" name="Rectangle 6"/>
          <p:cNvSpPr/>
          <p:nvPr/>
        </p:nvSpPr>
        <p:spPr>
          <a:xfrm>
            <a:off x="7362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1B3A6B"/>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67200" y="827999"/>
            <a:ext cx="4118400" cy="223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7200" y="827999"/>
            <a:ext cx="54000" cy="223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64000"/>
            <a:ext cx="3960000" cy="165600"/>
          </a:xfrm>
          <a:prstGeom prst="rect">
            <a:avLst/>
          </a:prstGeom>
          <a:noFill/>
        </p:spPr>
        <p:txBody>
          <a:bodyPr wrap="square">
            <a:spAutoFit/>
          </a:bodyPr>
          <a:lstStyle/>
          <a:p>
            <a:pPr algn="l"/>
            <a:r>
              <a:rPr sz="1000" b="1" i="0">
                <a:solidFill>
                  <a:srgbClr val="1B3A6B"/>
                </a:solidFill>
              </a:rPr>
              <a:t>CAC 40</a:t>
            </a:r>
          </a:p>
        </p:txBody>
      </p:sp>
      <p:sp>
        <p:nvSpPr>
          <p:cNvPr id="18" name="Rectangle 17"/>
          <p:cNvSpPr/>
          <p:nvPr/>
        </p:nvSpPr>
        <p:spPr>
          <a:xfrm>
            <a:off x="4658400" y="827999"/>
            <a:ext cx="4118400" cy="223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58400" y="827999"/>
            <a:ext cx="54000" cy="223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9200" y="864000"/>
            <a:ext cx="3960000" cy="165600"/>
          </a:xfrm>
          <a:prstGeom prst="rect">
            <a:avLst/>
          </a:prstGeom>
          <a:noFill/>
        </p:spPr>
        <p:txBody>
          <a:bodyPr wrap="square">
            <a:spAutoFit/>
          </a:bodyPr>
          <a:lstStyle/>
          <a:p>
            <a:pPr algn="l"/>
            <a:r>
              <a:rPr sz="1000" b="1" i="0">
                <a:solidFill>
                  <a:srgbClr val="1A7A4A"/>
                </a:solidFill>
              </a:rPr>
              <a:t>S&amp;P 500</a:t>
            </a:r>
          </a:p>
        </p:txBody>
      </p:sp>
      <p:pic>
        <p:nvPicPr>
          <p:cNvPr id="21" name="Picture 20" descr="image.png"/>
          <p:cNvPicPr>
            <a:picLocks noChangeAspect="1"/>
          </p:cNvPicPr>
          <p:nvPr/>
        </p:nvPicPr>
        <p:blipFill>
          <a:blip r:embed="rId2"/>
          <a:stretch>
            <a:fillRect/>
          </a:stretch>
        </p:blipFill>
        <p:spPr>
          <a:xfrm>
            <a:off x="367200" y="1116000"/>
            <a:ext cx="5220000" cy="2340000"/>
          </a:xfrm>
          <a:prstGeom prst="rect">
            <a:avLst/>
          </a:prstGeom>
        </p:spPr>
      </p:pic>
      <p:graphicFrame>
        <p:nvGraphicFramePr>
          <p:cNvPr id="22" name="Table 21"/>
          <p:cNvGraphicFramePr>
            <a:graphicFrameLocks noGrp="1"/>
          </p:cNvGraphicFramePr>
          <p:nvPr/>
        </p:nvGraphicFramePr>
        <p:xfrm>
          <a:off x="5760000" y="1116000"/>
          <a:ext cx="3023998" cy="1620000"/>
        </p:xfrm>
        <a:graphic>
          <a:graphicData uri="http://schemas.openxmlformats.org/drawingml/2006/table">
            <a:tbl>
              <a:tblPr firstRow="1" bandRow="1">
                <a:tableStyleId>{5C22544A-7EE6-4342-B048-85BDC9FD1C3A}</a:tableStyleId>
              </a:tblPr>
              <a:tblGrid>
                <a:gridCol w="889411"/>
                <a:gridCol w="711529"/>
                <a:gridCol w="711529"/>
                <a:gridCol w="711529"/>
              </a:tblGrid>
              <a:tr h="324000">
                <a:tc>
                  <a:txBody>
                    <a:bodyPr/>
                    <a:lstStyle/>
                    <a:p>
                      <a:pPr algn="l"/>
                      <a:r>
                        <a:rPr sz="900" b="1">
                          <a:solidFill>
                            <a:srgbClr val="FFFFFF"/>
                          </a:solidFill>
                        </a:rPr>
                        <a:t>Horizon</a:t>
                      </a:r>
                    </a:p>
                  </a:txBody>
                  <a:tcPr>
                    <a:solidFill>
                      <a:srgbClr val="1B3A6B"/>
                    </a:solidFill>
                  </a:tcPr>
                </a:tc>
                <a:tc>
                  <a:txBody>
                    <a:bodyPr/>
                    <a:lstStyle/>
                    <a:p>
                      <a:pPr algn="ctr"/>
                      <a:r>
                        <a:rPr sz="900" b="1">
                          <a:solidFill>
                            <a:srgbClr val="FFFFFF"/>
                          </a:solidFill>
                        </a:rPr>
                        <a:t>CAC 40</a:t>
                      </a:r>
                    </a:p>
                  </a:txBody>
                  <a:tcPr>
                    <a:solidFill>
                      <a:srgbClr val="1B3A6B"/>
                    </a:solidFill>
                  </a:tcPr>
                </a:tc>
                <a:tc>
                  <a:txBody>
                    <a:bodyPr/>
                    <a:lstStyle/>
                    <a:p>
                      <a:pPr algn="ctr"/>
                      <a:r>
                        <a:rPr sz="900" b="1">
                          <a:solidFill>
                            <a:srgbClr val="FFFFFF"/>
                          </a:solidFill>
                        </a:rPr>
                        <a:t>S&amp;P 500</a:t>
                      </a:r>
                    </a:p>
                  </a:txBody>
                  <a:tcPr>
                    <a:solidFill>
                      <a:srgbClr val="1B3A6B"/>
                    </a:solidFill>
                  </a:tcPr>
                </a:tc>
                <a:tc>
                  <a:txBody>
                    <a:bodyPr/>
                    <a:lstStyle/>
                    <a:p>
                      <a:pPr algn="ctr"/>
                      <a:r>
                        <a:rPr sz="900" b="1">
                          <a:solidFill>
                            <a:srgbClr val="FFFFFF"/>
                          </a:solidFill>
                        </a:rPr>
                        <a:t>Écart (pp)</a:t>
                      </a:r>
                    </a:p>
                  </a:txBody>
                  <a:tcPr>
                    <a:solidFill>
                      <a:srgbClr val="1B3A6B"/>
                    </a:solidFill>
                  </a:tcPr>
                </a:tc>
              </a:tr>
              <a:tr h="324000">
                <a:tc>
                  <a:txBody>
                    <a:bodyPr/>
                    <a:lstStyle/>
                    <a:p>
                      <a:pPr algn="l"/>
                      <a:r>
                        <a:rPr sz="900" b="0">
                          <a:solidFill>
                            <a:srgbClr val="1A1A1A"/>
                          </a:solidFill>
                        </a:rPr>
                        <a:t>YTD</a:t>
                      </a:r>
                    </a:p>
                  </a:txBody>
                  <a:tcPr>
                    <a:solidFill>
                      <a:srgbClr val="FFFFFF"/>
                    </a:solidFill>
                  </a:tcPr>
                </a:tc>
                <a:tc>
                  <a:txBody>
                    <a:bodyPr/>
                    <a:lstStyle/>
                    <a:p>
                      <a:pPr algn="ctr"/>
                      <a:r>
                        <a:rPr sz="900" b="0">
                          <a:solidFill>
                            <a:srgbClr val="1A1A1A"/>
                          </a:solidFill>
                        </a:rPr>
                        <a:t>+1,4 %</a:t>
                      </a:r>
                    </a:p>
                  </a:txBody>
                  <a:tcPr>
                    <a:solidFill>
                      <a:srgbClr val="FFFFFF"/>
                    </a:solidFill>
                  </a:tcPr>
                </a:tc>
                <a:tc>
                  <a:txBody>
                    <a:bodyPr/>
                    <a:lstStyle/>
                    <a:p>
                      <a:pPr algn="ctr"/>
                      <a:r>
                        <a:rPr sz="900" b="0">
                          <a:solidFill>
                            <a:srgbClr val="1A1A1A"/>
                          </a:solidFill>
                        </a:rPr>
                        <a:t>-0,4 %</a:t>
                      </a:r>
                    </a:p>
                  </a:txBody>
                  <a:tcPr>
                    <a:solidFill>
                      <a:srgbClr val="FFFFFF"/>
                    </a:solidFill>
                  </a:tcPr>
                </a:tc>
                <a:tc>
                  <a:txBody>
                    <a:bodyPr/>
                    <a:lstStyle/>
                    <a:p>
                      <a:pPr algn="ctr"/>
                      <a:r>
                        <a:rPr sz="900" b="0">
                          <a:solidFill>
                            <a:srgbClr val="1A1A1A"/>
                          </a:solidFill>
                        </a:rPr>
                        <a:t>+1,8 pp</a:t>
                      </a:r>
                    </a:p>
                  </a:txBody>
                  <a:tcPr>
                    <a:solidFill>
                      <a:srgbClr val="FFFFFF"/>
                    </a:solidFill>
                  </a:tcPr>
                </a:tc>
              </a:tr>
              <a:tr h="324000">
                <a:tc>
                  <a:txBody>
                    <a:bodyPr/>
                    <a:lstStyle/>
                    <a:p>
                      <a:pPr algn="l"/>
                      <a:r>
                        <a:rPr sz="900" b="0">
                          <a:solidFill>
                            <a:srgbClr val="1A1A1A"/>
                          </a:solidFill>
                        </a:rPr>
                        <a:t>1 an</a:t>
                      </a:r>
                    </a:p>
                  </a:txBody>
                  <a:tcPr>
                    <a:solidFill>
                      <a:srgbClr val="F5F7FA"/>
                    </a:solidFill>
                  </a:tcPr>
                </a:tc>
                <a:tc>
                  <a:txBody>
                    <a:bodyPr/>
                    <a:lstStyle/>
                    <a:p>
                      <a:pPr algn="ctr"/>
                      <a:r>
                        <a:rPr sz="900" b="0">
                          <a:solidFill>
                            <a:srgbClr val="1A1A1A"/>
                          </a:solidFill>
                        </a:rPr>
                        <a:t>+16,3 %</a:t>
                      </a:r>
                    </a:p>
                  </a:txBody>
                  <a:tcPr>
                    <a:solidFill>
                      <a:srgbClr val="F5F7FA"/>
                    </a:solidFill>
                  </a:tcPr>
                </a:tc>
                <a:tc>
                  <a:txBody>
                    <a:bodyPr/>
                    <a:lstStyle/>
                    <a:p>
                      <a:pPr algn="ctr"/>
                      <a:r>
                        <a:rPr sz="900" b="0">
                          <a:solidFill>
                            <a:srgbClr val="1A1A1A"/>
                          </a:solidFill>
                        </a:rPr>
                        <a:t>+27,1 %</a:t>
                      </a:r>
                    </a:p>
                  </a:txBody>
                  <a:tcPr>
                    <a:solidFill>
                      <a:srgbClr val="F5F7FA"/>
                    </a:solidFill>
                  </a:tcPr>
                </a:tc>
                <a:tc>
                  <a:txBody>
                    <a:bodyPr/>
                    <a:lstStyle/>
                    <a:p>
                      <a:pPr algn="ctr"/>
                      <a:r>
                        <a:rPr sz="900" b="0">
                          <a:solidFill>
                            <a:srgbClr val="1A1A1A"/>
                          </a:solidFill>
                        </a:rPr>
                        <a:t>-10,8 pp</a:t>
                      </a:r>
                    </a:p>
                  </a:txBody>
                  <a:tcPr>
                    <a:solidFill>
                      <a:srgbClr val="F5F7FA"/>
                    </a:solidFill>
                  </a:tcPr>
                </a:tc>
              </a:tr>
              <a:tr h="324000">
                <a:tc>
                  <a:txBody>
                    <a:bodyPr/>
                    <a:lstStyle/>
                    <a:p>
                      <a:pPr algn="l"/>
                      <a:r>
                        <a:rPr sz="900" b="0">
                          <a:solidFill>
                            <a:srgbClr val="1A1A1A"/>
                          </a:solidFill>
                        </a:rPr>
                        <a:t>3 ans</a:t>
                      </a:r>
                    </a:p>
                  </a:txBody>
                  <a:tcPr>
                    <a:solidFill>
                      <a:srgbClr val="FFFFFF"/>
                    </a:solidFill>
                  </a:tcPr>
                </a:tc>
                <a:tc>
                  <a:txBody>
                    <a:bodyPr/>
                    <a:lstStyle/>
                    <a:p>
                      <a:pPr algn="ctr"/>
                      <a:r>
                        <a:rPr sz="900" b="0">
                          <a:solidFill>
                            <a:srgbClr val="1A1A1A"/>
                          </a:solidFill>
                        </a:rPr>
                        <a:t>+11,7 %</a:t>
                      </a:r>
                    </a:p>
                  </a:txBody>
                  <a:tcPr>
                    <a:solidFill>
                      <a:srgbClr val="FFFFFF"/>
                    </a:solidFill>
                  </a:tcPr>
                </a:tc>
                <a:tc>
                  <a:txBody>
                    <a:bodyPr/>
                    <a:lstStyle/>
                    <a:p>
                      <a:pPr algn="ctr"/>
                      <a:r>
                        <a:rPr sz="900" b="0">
                          <a:solidFill>
                            <a:srgbClr val="1A1A1A"/>
                          </a:solidFill>
                        </a:rPr>
                        <a:t>+66,6 %</a:t>
                      </a:r>
                    </a:p>
                  </a:txBody>
                  <a:tcPr>
                    <a:solidFill>
                      <a:srgbClr val="FFFFFF"/>
                    </a:solidFill>
                  </a:tcPr>
                </a:tc>
                <a:tc>
                  <a:txBody>
                    <a:bodyPr/>
                    <a:lstStyle/>
                    <a:p>
                      <a:pPr algn="ctr"/>
                      <a:r>
                        <a:rPr sz="900" b="0">
                          <a:solidFill>
                            <a:srgbClr val="1A1A1A"/>
                          </a:solidFill>
                        </a:rPr>
                        <a:t>-54,9 pp</a:t>
                      </a:r>
                    </a:p>
                  </a:txBody>
                  <a:tcPr>
                    <a:solidFill>
                      <a:srgbClr val="FFFFFF"/>
                    </a:solidFill>
                  </a:tcPr>
                </a:tc>
              </a:tr>
              <a:tr h="324000">
                <a:tc>
                  <a:txBody>
                    <a:bodyPr/>
                    <a:lstStyle/>
                    <a:p>
                      <a:pPr algn="l"/>
                      <a:r>
                        <a:rPr sz="900" b="0">
                          <a:solidFill>
                            <a:srgbClr val="1A1A1A"/>
                          </a:solidFill>
                        </a:rPr>
                        <a:t>5 ans</a:t>
                      </a:r>
                    </a:p>
                  </a:txBody>
                  <a:tcPr>
                    <a:solidFill>
                      <a:srgbClr val="F5F7FA"/>
                    </a:solidFill>
                  </a:tcPr>
                </a:tc>
                <a:tc>
                  <a:txBody>
                    <a:bodyPr/>
                    <a:lstStyle/>
                    <a:p>
                      <a:pPr algn="ctr"/>
                      <a:r>
                        <a:rPr sz="900" b="0">
                          <a:solidFill>
                            <a:srgbClr val="1A1A1A"/>
                          </a:solidFill>
                        </a:rPr>
                        <a:t>+34,0 %</a:t>
                      </a:r>
                    </a:p>
                  </a:txBody>
                  <a:tcPr>
                    <a:solidFill>
                      <a:srgbClr val="F5F7FA"/>
                    </a:solidFill>
                  </a:tcPr>
                </a:tc>
                <a:tc>
                  <a:txBody>
                    <a:bodyPr/>
                    <a:lstStyle/>
                    <a:p>
                      <a:pPr algn="ctr"/>
                      <a:r>
                        <a:rPr sz="900" b="0">
                          <a:solidFill>
                            <a:srgbClr val="1A1A1A"/>
                          </a:solidFill>
                        </a:rPr>
                        <a:t>+65,1 %</a:t>
                      </a:r>
                    </a:p>
                  </a:txBody>
                  <a:tcPr>
                    <a:solidFill>
                      <a:srgbClr val="F5F7FA"/>
                    </a:solidFill>
                  </a:tcPr>
                </a:tc>
                <a:tc>
                  <a:txBody>
                    <a:bodyPr/>
                    <a:lstStyle/>
                    <a:p>
                      <a:pPr algn="ctr"/>
                      <a:r>
                        <a:rPr sz="900" b="0">
                          <a:solidFill>
                            <a:srgbClr val="1A1A1A"/>
                          </a:solidFill>
                        </a:rPr>
                        <a:t>-31,1 pp</a:t>
                      </a:r>
                    </a:p>
                  </a:txBody>
                  <a:tcPr>
                    <a:solidFill>
                      <a:srgbClr val="F5F7FA"/>
                    </a:solidFill>
                  </a:tcPr>
                </a:tc>
              </a:tr>
            </a:tbl>
          </a:graphicData>
        </a:graphic>
      </p:graphicFrame>
      <p:sp>
        <p:nvSpPr>
          <p:cNvPr id="23" name="Rectangle 22"/>
          <p:cNvSpPr/>
          <p:nvPr/>
        </p:nvSpPr>
        <p:spPr>
          <a:xfrm>
            <a:off x="5760000" y="2826000"/>
            <a:ext cx="3024000" cy="196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760000" y="2826000"/>
            <a:ext cx="46800" cy="196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68000" y="2861999"/>
            <a:ext cx="2880000" cy="129600"/>
          </a:xfrm>
          <a:prstGeom prst="rect">
            <a:avLst/>
          </a:prstGeom>
          <a:noFill/>
        </p:spPr>
        <p:txBody>
          <a:bodyPr wrap="square">
            <a:spAutoFit/>
          </a:bodyPr>
          <a:lstStyle/>
          <a:p>
            <a:pPr algn="l"/>
            <a:r>
              <a:rPr sz="850" b="1" i="0">
                <a:solidFill>
                  <a:srgbClr val="1B3A6B"/>
                </a:solidFill>
              </a:rPr>
              <a:t>LECTURE DÉCOMPOSITION PERFS</a:t>
            </a:r>
          </a:p>
        </p:txBody>
      </p:sp>
      <p:sp>
        <p:nvSpPr>
          <p:cNvPr id="26" name="TextBox 25"/>
          <p:cNvSpPr txBox="1"/>
          <p:nvPr/>
        </p:nvSpPr>
        <p:spPr>
          <a:xfrm>
            <a:off x="5868000" y="3006000"/>
            <a:ext cx="2844000" cy="1738800"/>
          </a:xfrm>
          <a:prstGeom prst="rect">
            <a:avLst/>
          </a:prstGeom>
          <a:noFill/>
        </p:spPr>
        <p:txBody>
          <a:bodyPr wrap="square">
            <a:spAutoFit/>
          </a:bodyPr>
          <a:lstStyle/>
          <a:p>
            <a:pPr algn="l"/>
            <a:r>
              <a:rPr sz="850" b="0" i="0">
                <a:solidFill>
                  <a:srgbClr val="1B3A6B"/>
                </a:solidFill>
              </a:rPr>
              <a:t>La comparaison sur 4 horizons révèle si la surperformance d'un indice est récente (momentum court terme) ou structurelle (avantage long terme). Un indice qui surperforme YTD mais sous-performe sur 5 ans peut traduire une rotation tactique passagère, tandis qu'une surperformance constante signale un avantage compétitif durable de l'écosystème sous-jacent (innovation, démographie, productivité). À croiser avec les valorisations relatives pour identifier les opportunités de mean reversion.</a:t>
            </a:r>
          </a:p>
        </p:txBody>
      </p:sp>
      <p:sp>
        <p:nvSpPr>
          <p:cNvPr id="27" name="Rectangle 26"/>
          <p:cNvSpPr/>
          <p:nvPr/>
        </p:nvSpPr>
        <p:spPr>
          <a:xfrm>
            <a:off x="367200" y="3546000"/>
            <a:ext cx="5220000" cy="124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7200" y="3546000"/>
            <a:ext cx="46800" cy="124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200" y="3581999"/>
            <a:ext cx="5076000" cy="129600"/>
          </a:xfrm>
          <a:prstGeom prst="rect">
            <a:avLst/>
          </a:prstGeom>
          <a:noFill/>
        </p:spPr>
        <p:txBody>
          <a:bodyPr wrap="square">
            <a:spAutoFit/>
          </a:bodyPr>
          <a:lstStyle/>
          <a:p>
            <a:pPr algn="l"/>
            <a:r>
              <a:rPr sz="900" b="1" i="0">
                <a:solidFill>
                  <a:srgbClr val="1B3A6B"/>
                </a:solidFill>
              </a:rPr>
              <a:t>IMPLICATIONS POUR L'HORIZON D'INVESTISSEMENT</a:t>
            </a:r>
          </a:p>
        </p:txBody>
      </p:sp>
      <p:sp>
        <p:nvSpPr>
          <p:cNvPr id="30" name="TextBox 29"/>
          <p:cNvSpPr txBox="1"/>
          <p:nvPr/>
        </p:nvSpPr>
        <p:spPr>
          <a:xfrm>
            <a:off x="475200" y="3726000"/>
            <a:ext cx="5040000" cy="1018800"/>
          </a:xfrm>
          <a:prstGeom prst="rect">
            <a:avLst/>
          </a:prstGeom>
          <a:noFill/>
        </p:spPr>
        <p:txBody>
          <a:bodyPr wrap="square">
            <a:spAutoFit/>
          </a:bodyPr>
          <a:lstStyle/>
          <a:p>
            <a:pPr algn="l"/>
            <a:r>
              <a:rPr sz="900" b="0" i="0">
                <a:solidFill>
                  <a:srgbClr val="1B3A6B"/>
                </a:solidFill>
              </a:rPr>
              <a:t>Pour un investisseur long terme, c'est la performance 5 ans qui importe : elle capture les cycles complets et lisse les effets de marché temporaires. Pour un investisseur tactique, l'horizon YTD/1Y est plus pertinent. Le bon mix dépend du mandat de gestion et du benchmark de référence.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Risque Comparatif</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Volatilité, Sharpe ratio et Max Drawdown sur 12 mois</a:t>
            </a:r>
          </a:p>
        </p:txBody>
      </p:sp>
      <p:sp>
        <p:nvSpPr>
          <p:cNvPr id="5" name="Rectangle 4"/>
          <p:cNvSpPr/>
          <p:nvPr/>
        </p:nvSpPr>
        <p:spPr>
          <a:xfrm>
            <a:off x="7056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FFFFFF"/>
                </a:solidFill>
              </a:rPr>
              <a:t>1</a:t>
            </a:r>
          </a:p>
        </p:txBody>
      </p:sp>
      <p:sp>
        <p:nvSpPr>
          <p:cNvPr id="7" name="Rectangle 6"/>
          <p:cNvSpPr/>
          <p:nvPr/>
        </p:nvSpPr>
        <p:spPr>
          <a:xfrm>
            <a:off x="7362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1B3A6B"/>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67200" y="827999"/>
            <a:ext cx="4118400" cy="223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7200" y="827999"/>
            <a:ext cx="54000" cy="223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64000"/>
            <a:ext cx="3960000" cy="165600"/>
          </a:xfrm>
          <a:prstGeom prst="rect">
            <a:avLst/>
          </a:prstGeom>
          <a:noFill/>
        </p:spPr>
        <p:txBody>
          <a:bodyPr wrap="square">
            <a:spAutoFit/>
          </a:bodyPr>
          <a:lstStyle/>
          <a:p>
            <a:pPr algn="l"/>
            <a:r>
              <a:rPr sz="1000" b="1" i="0">
                <a:solidFill>
                  <a:srgbClr val="1B3A6B"/>
                </a:solidFill>
              </a:rPr>
              <a:t>CAC 40</a:t>
            </a:r>
          </a:p>
        </p:txBody>
      </p:sp>
      <p:sp>
        <p:nvSpPr>
          <p:cNvPr id="18" name="Rectangle 17"/>
          <p:cNvSpPr/>
          <p:nvPr/>
        </p:nvSpPr>
        <p:spPr>
          <a:xfrm>
            <a:off x="4658400" y="827999"/>
            <a:ext cx="4118400" cy="223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58400" y="827999"/>
            <a:ext cx="54000" cy="223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9200" y="864000"/>
            <a:ext cx="3960000" cy="165600"/>
          </a:xfrm>
          <a:prstGeom prst="rect">
            <a:avLst/>
          </a:prstGeom>
          <a:noFill/>
        </p:spPr>
        <p:txBody>
          <a:bodyPr wrap="square">
            <a:spAutoFit/>
          </a:bodyPr>
          <a:lstStyle/>
          <a:p>
            <a:pPr algn="l"/>
            <a:r>
              <a:rPr sz="1000" b="1" i="0">
                <a:solidFill>
                  <a:srgbClr val="1A7A4A"/>
                </a:solidFill>
              </a:rPr>
              <a:t>S&amp;P 500</a:t>
            </a:r>
          </a:p>
        </p:txBody>
      </p:sp>
      <p:sp>
        <p:nvSpPr>
          <p:cNvPr id="21" name="Rectangle 20"/>
          <p:cNvSpPr/>
          <p:nvPr/>
        </p:nvSpPr>
        <p:spPr>
          <a:xfrm>
            <a:off x="367200" y="1116000"/>
            <a:ext cx="2808000" cy="90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116000"/>
            <a:ext cx="54000" cy="900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200" y="1152000"/>
            <a:ext cx="2664000" cy="396000"/>
          </a:xfrm>
          <a:prstGeom prst="rect">
            <a:avLst/>
          </a:prstGeom>
          <a:noFill/>
        </p:spPr>
        <p:txBody>
          <a:bodyPr wrap="square">
            <a:spAutoFit/>
          </a:bodyPr>
          <a:lstStyle/>
          <a:p>
            <a:pPr algn="l"/>
            <a:r>
              <a:rPr sz="1600" b="1" i="0">
                <a:solidFill>
                  <a:srgbClr val="1B3A6B"/>
                </a:solidFill>
              </a:rPr>
              <a:t>16,4 / 18,3 %</a:t>
            </a:r>
          </a:p>
        </p:txBody>
      </p:sp>
      <p:sp>
        <p:nvSpPr>
          <p:cNvPr id="24" name="TextBox 23"/>
          <p:cNvSpPr txBox="1"/>
          <p:nvPr/>
        </p:nvSpPr>
        <p:spPr>
          <a:xfrm>
            <a:off x="475200" y="1530000"/>
            <a:ext cx="2664000" cy="162000"/>
          </a:xfrm>
          <a:prstGeom prst="rect">
            <a:avLst/>
          </a:prstGeom>
          <a:noFill/>
        </p:spPr>
        <p:txBody>
          <a:bodyPr wrap="square">
            <a:spAutoFit/>
          </a:bodyPr>
          <a:lstStyle/>
          <a:p>
            <a:pPr algn="l"/>
            <a:r>
              <a:rPr sz="800" b="1" i="0">
                <a:solidFill>
                  <a:srgbClr val="555555"/>
                </a:solidFill>
              </a:rPr>
              <a:t>Volatilité annualisée (A / B)</a:t>
            </a:r>
          </a:p>
        </p:txBody>
      </p:sp>
      <p:sp>
        <p:nvSpPr>
          <p:cNvPr id="25" name="TextBox 24"/>
          <p:cNvSpPr txBox="1"/>
          <p:nvPr/>
        </p:nvSpPr>
        <p:spPr>
          <a:xfrm>
            <a:off x="475200" y="1692000"/>
            <a:ext cx="2664000" cy="288000"/>
          </a:xfrm>
          <a:prstGeom prst="rect">
            <a:avLst/>
          </a:prstGeom>
          <a:noFill/>
        </p:spPr>
        <p:txBody>
          <a:bodyPr wrap="square">
            <a:spAutoFit/>
          </a:bodyPr>
          <a:lstStyle/>
          <a:p>
            <a:pPr algn="l"/>
            <a:r>
              <a:rPr sz="750" b="0" i="0">
                <a:solidFill>
                  <a:srgbClr val="555555"/>
                </a:solidFill>
              </a:rPr>
              <a:t>Écart-type des rendements quotidiens annualisé</a:t>
            </a:r>
          </a:p>
        </p:txBody>
      </p:sp>
      <p:sp>
        <p:nvSpPr>
          <p:cNvPr id="26" name="Rectangle 25"/>
          <p:cNvSpPr/>
          <p:nvPr/>
        </p:nvSpPr>
        <p:spPr>
          <a:xfrm>
            <a:off x="3319200" y="1116000"/>
            <a:ext cx="2808000" cy="90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19200" y="1116000"/>
            <a:ext cx="54000" cy="900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27200" y="1152000"/>
            <a:ext cx="2664000" cy="396000"/>
          </a:xfrm>
          <a:prstGeom prst="rect">
            <a:avLst/>
          </a:prstGeom>
          <a:noFill/>
        </p:spPr>
        <p:txBody>
          <a:bodyPr wrap="square">
            <a:spAutoFit/>
          </a:bodyPr>
          <a:lstStyle/>
          <a:p>
            <a:pPr algn="l"/>
            <a:r>
              <a:rPr sz="1600" b="1" i="0">
                <a:solidFill>
                  <a:srgbClr val="1B3A6B"/>
                </a:solidFill>
              </a:rPr>
              <a:t>0,75 / 1,26</a:t>
            </a:r>
          </a:p>
        </p:txBody>
      </p:sp>
      <p:sp>
        <p:nvSpPr>
          <p:cNvPr id="29" name="TextBox 28"/>
          <p:cNvSpPr txBox="1"/>
          <p:nvPr/>
        </p:nvSpPr>
        <p:spPr>
          <a:xfrm>
            <a:off x="3427200" y="1530000"/>
            <a:ext cx="2664000" cy="162000"/>
          </a:xfrm>
          <a:prstGeom prst="rect">
            <a:avLst/>
          </a:prstGeom>
          <a:noFill/>
        </p:spPr>
        <p:txBody>
          <a:bodyPr wrap="square">
            <a:spAutoFit/>
          </a:bodyPr>
          <a:lstStyle/>
          <a:p>
            <a:pPr algn="l"/>
            <a:r>
              <a:rPr sz="800" b="1" i="0">
                <a:solidFill>
                  <a:srgbClr val="555555"/>
                </a:solidFill>
              </a:rPr>
              <a:t>Sharpe ratio 1 an (A / B)</a:t>
            </a:r>
          </a:p>
        </p:txBody>
      </p:sp>
      <p:sp>
        <p:nvSpPr>
          <p:cNvPr id="30" name="TextBox 29"/>
          <p:cNvSpPr txBox="1"/>
          <p:nvPr/>
        </p:nvSpPr>
        <p:spPr>
          <a:xfrm>
            <a:off x="3427200" y="1692000"/>
            <a:ext cx="2664000" cy="288000"/>
          </a:xfrm>
          <a:prstGeom prst="rect">
            <a:avLst/>
          </a:prstGeom>
          <a:noFill/>
        </p:spPr>
        <p:txBody>
          <a:bodyPr wrap="square">
            <a:spAutoFit/>
          </a:bodyPr>
          <a:lstStyle/>
          <a:p>
            <a:pPr algn="l"/>
            <a:r>
              <a:rPr sz="750" b="0" i="0">
                <a:solidFill>
                  <a:srgbClr val="555555"/>
                </a:solidFill>
              </a:rPr>
              <a:t>Rendement ajusté du risque — taux sans risque 4 %</a:t>
            </a:r>
          </a:p>
        </p:txBody>
      </p:sp>
      <p:sp>
        <p:nvSpPr>
          <p:cNvPr id="31" name="Rectangle 30"/>
          <p:cNvSpPr/>
          <p:nvPr/>
        </p:nvSpPr>
        <p:spPr>
          <a:xfrm>
            <a:off x="6271200" y="1116000"/>
            <a:ext cx="2808000" cy="90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71200" y="1116000"/>
            <a:ext cx="54000" cy="900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79200" y="1152000"/>
            <a:ext cx="2664000" cy="396000"/>
          </a:xfrm>
          <a:prstGeom prst="rect">
            <a:avLst/>
          </a:prstGeom>
          <a:noFill/>
        </p:spPr>
        <p:txBody>
          <a:bodyPr wrap="square">
            <a:spAutoFit/>
          </a:bodyPr>
          <a:lstStyle/>
          <a:p>
            <a:pPr algn="l"/>
            <a:r>
              <a:rPr sz="1600" b="1" i="0">
                <a:solidFill>
                  <a:srgbClr val="1B3A6B"/>
                </a:solidFill>
              </a:rPr>
              <a:t>-14,1 % / -12,5 %</a:t>
            </a:r>
          </a:p>
        </p:txBody>
      </p:sp>
      <p:sp>
        <p:nvSpPr>
          <p:cNvPr id="34" name="TextBox 33"/>
          <p:cNvSpPr txBox="1"/>
          <p:nvPr/>
        </p:nvSpPr>
        <p:spPr>
          <a:xfrm>
            <a:off x="6379200" y="1530000"/>
            <a:ext cx="2664000" cy="162000"/>
          </a:xfrm>
          <a:prstGeom prst="rect">
            <a:avLst/>
          </a:prstGeom>
          <a:noFill/>
        </p:spPr>
        <p:txBody>
          <a:bodyPr wrap="square">
            <a:spAutoFit/>
          </a:bodyPr>
          <a:lstStyle/>
          <a:p>
            <a:pPr algn="l"/>
            <a:r>
              <a:rPr sz="800" b="1" i="0">
                <a:solidFill>
                  <a:srgbClr val="555555"/>
                </a:solidFill>
              </a:rPr>
              <a:t>Max Drawdown (A / B)</a:t>
            </a:r>
          </a:p>
        </p:txBody>
      </p:sp>
      <p:sp>
        <p:nvSpPr>
          <p:cNvPr id="35" name="TextBox 34"/>
          <p:cNvSpPr txBox="1"/>
          <p:nvPr/>
        </p:nvSpPr>
        <p:spPr>
          <a:xfrm>
            <a:off x="6379200" y="1692000"/>
            <a:ext cx="2664000" cy="288000"/>
          </a:xfrm>
          <a:prstGeom prst="rect">
            <a:avLst/>
          </a:prstGeom>
          <a:noFill/>
        </p:spPr>
        <p:txBody>
          <a:bodyPr wrap="square">
            <a:spAutoFit/>
          </a:bodyPr>
          <a:lstStyle/>
          <a:p>
            <a:pPr algn="l"/>
            <a:r>
              <a:rPr sz="750" b="0" i="0">
                <a:solidFill>
                  <a:srgbClr val="555555"/>
                </a:solidFill>
              </a:rPr>
              <a:t>Perte maximale du plus haut au plus bas sur la période</a:t>
            </a:r>
          </a:p>
        </p:txBody>
      </p:sp>
      <p:pic>
        <p:nvPicPr>
          <p:cNvPr id="36" name="Picture 35" descr="image.png"/>
          <p:cNvPicPr>
            <a:picLocks noChangeAspect="1"/>
          </p:cNvPicPr>
          <p:nvPr/>
        </p:nvPicPr>
        <p:blipFill>
          <a:blip r:embed="rId2"/>
          <a:stretch>
            <a:fillRect/>
          </a:stretch>
        </p:blipFill>
        <p:spPr>
          <a:xfrm>
            <a:off x="367200" y="2106000"/>
            <a:ext cx="8413200" cy="1620000"/>
          </a:xfrm>
          <a:prstGeom prst="rect">
            <a:avLst/>
          </a:prstGeom>
        </p:spPr>
      </p:pic>
      <p:sp>
        <p:nvSpPr>
          <p:cNvPr id="37" name="Rectangle 36"/>
          <p:cNvSpPr/>
          <p:nvPr/>
        </p:nvSpPr>
        <p:spPr>
          <a:xfrm>
            <a:off x="367200" y="3780000"/>
            <a:ext cx="8413200" cy="1007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7200" y="3780000"/>
            <a:ext cx="46800" cy="1007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200" y="3816000"/>
            <a:ext cx="8269200" cy="129600"/>
          </a:xfrm>
          <a:prstGeom prst="rect">
            <a:avLst/>
          </a:prstGeom>
          <a:noFill/>
        </p:spPr>
        <p:txBody>
          <a:bodyPr wrap="square">
            <a:spAutoFit/>
          </a:bodyPr>
          <a:lstStyle/>
          <a:p>
            <a:pPr algn="l"/>
            <a:r>
              <a:rPr sz="900" b="1" i="0">
                <a:solidFill>
                  <a:srgbClr val="1B3A6B"/>
                </a:solidFill>
              </a:rPr>
              <a:t>CAC 40 MOINS VOLATIL (16.4%) — MEILLEUR COUPLE RENDEMENT/RISQUE</a:t>
            </a:r>
          </a:p>
        </p:txBody>
      </p:sp>
      <p:sp>
        <p:nvSpPr>
          <p:cNvPr id="40" name="TextBox 39"/>
          <p:cNvSpPr txBox="1"/>
          <p:nvPr/>
        </p:nvSpPr>
        <p:spPr>
          <a:xfrm>
            <a:off x="475200" y="3960000"/>
            <a:ext cx="8233200" cy="784799"/>
          </a:xfrm>
          <a:prstGeom prst="rect">
            <a:avLst/>
          </a:prstGeom>
          <a:noFill/>
        </p:spPr>
        <p:txBody>
          <a:bodyPr wrap="square">
            <a:spAutoFit/>
          </a:bodyPr>
          <a:lstStyle/>
          <a:p>
            <a:pPr algn="l"/>
            <a:r>
              <a:rPr sz="900" b="0" i="0">
                <a:solidFill>
                  <a:srgbClr val="1B3A6B"/>
                </a:solidFill>
              </a:rPr>
              <a:t>Le profil de risque détermine la taille de position en portefeuille : un indice plus volatil impose une pondération réduite pour maintenir un budget risque équivalent. Le Sharpe ratio mesure l'efficience du couple rendement/risque. Un Sharpe &gt; 1 est considéré comme excellent, 0,5-1 comme correct, &lt; 0,5 comme décevant. Le Max Drawdown capture le pire scénario réalisé sur la période et informe sur la résilience en phase de stress.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Profil Rendement / Risque</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Positionnement CAC 40 vs S&amp;P 500 sur le plan vol-rendement</a:t>
            </a:r>
          </a:p>
        </p:txBody>
      </p:sp>
      <p:sp>
        <p:nvSpPr>
          <p:cNvPr id="5" name="Rectangle 4"/>
          <p:cNvSpPr/>
          <p:nvPr/>
        </p:nvSpPr>
        <p:spPr>
          <a:xfrm>
            <a:off x="7056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FFFFFF"/>
                </a:solidFill>
              </a:rPr>
              <a:t>1</a:t>
            </a:r>
          </a:p>
        </p:txBody>
      </p:sp>
      <p:sp>
        <p:nvSpPr>
          <p:cNvPr id="7" name="Rectangle 6"/>
          <p:cNvSpPr/>
          <p:nvPr/>
        </p:nvSpPr>
        <p:spPr>
          <a:xfrm>
            <a:off x="7362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1B3A6B"/>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67200" y="827999"/>
            <a:ext cx="4118400" cy="223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7200" y="827999"/>
            <a:ext cx="54000" cy="223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64000"/>
            <a:ext cx="3960000" cy="165600"/>
          </a:xfrm>
          <a:prstGeom prst="rect">
            <a:avLst/>
          </a:prstGeom>
          <a:noFill/>
        </p:spPr>
        <p:txBody>
          <a:bodyPr wrap="square">
            <a:spAutoFit/>
          </a:bodyPr>
          <a:lstStyle/>
          <a:p>
            <a:pPr algn="l"/>
            <a:r>
              <a:rPr sz="1000" b="1" i="0">
                <a:solidFill>
                  <a:srgbClr val="1B3A6B"/>
                </a:solidFill>
              </a:rPr>
              <a:t>CAC 40</a:t>
            </a:r>
          </a:p>
        </p:txBody>
      </p:sp>
      <p:sp>
        <p:nvSpPr>
          <p:cNvPr id="18" name="Rectangle 17"/>
          <p:cNvSpPr/>
          <p:nvPr/>
        </p:nvSpPr>
        <p:spPr>
          <a:xfrm>
            <a:off x="4658400" y="827999"/>
            <a:ext cx="4118400" cy="223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58400" y="827999"/>
            <a:ext cx="54000" cy="223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9200" y="864000"/>
            <a:ext cx="3960000" cy="165600"/>
          </a:xfrm>
          <a:prstGeom prst="rect">
            <a:avLst/>
          </a:prstGeom>
          <a:noFill/>
        </p:spPr>
        <p:txBody>
          <a:bodyPr wrap="square">
            <a:spAutoFit/>
          </a:bodyPr>
          <a:lstStyle/>
          <a:p>
            <a:pPr algn="l"/>
            <a:r>
              <a:rPr sz="1000" b="1" i="0">
                <a:solidFill>
                  <a:srgbClr val="1A7A4A"/>
                </a:solidFill>
              </a:rPr>
              <a:t>S&amp;P 500</a:t>
            </a:r>
          </a:p>
        </p:txBody>
      </p:sp>
      <p:pic>
        <p:nvPicPr>
          <p:cNvPr id="21" name="Picture 20" descr="image.png"/>
          <p:cNvPicPr>
            <a:picLocks noChangeAspect="1"/>
          </p:cNvPicPr>
          <p:nvPr/>
        </p:nvPicPr>
        <p:blipFill>
          <a:blip r:embed="rId2"/>
          <a:stretch>
            <a:fillRect/>
          </a:stretch>
        </p:blipFill>
        <p:spPr>
          <a:xfrm>
            <a:off x="367200" y="1116000"/>
            <a:ext cx="5220000" cy="2700000"/>
          </a:xfrm>
          <a:prstGeom prst="rect">
            <a:avLst/>
          </a:prstGeom>
        </p:spPr>
      </p:pic>
      <p:sp>
        <p:nvSpPr>
          <p:cNvPr id="22" name="Rectangle 21"/>
          <p:cNvSpPr/>
          <p:nvPr/>
        </p:nvSpPr>
        <p:spPr>
          <a:xfrm>
            <a:off x="5760000" y="1116000"/>
            <a:ext cx="3024000" cy="270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760000" y="1116000"/>
            <a:ext cx="46800" cy="2700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68000" y="1152000"/>
            <a:ext cx="2880000" cy="129600"/>
          </a:xfrm>
          <a:prstGeom prst="rect">
            <a:avLst/>
          </a:prstGeom>
          <a:noFill/>
        </p:spPr>
        <p:txBody>
          <a:bodyPr wrap="square">
            <a:spAutoFit/>
          </a:bodyPr>
          <a:lstStyle/>
          <a:p>
            <a:pPr algn="l"/>
            <a:r>
              <a:rPr sz="900" b="1" i="0">
                <a:solidFill>
                  <a:srgbClr val="1B3A6B"/>
                </a:solidFill>
              </a:rPr>
              <a:t>LECTURE RENDEMENT / RISQUE</a:t>
            </a:r>
          </a:p>
        </p:txBody>
      </p:sp>
      <p:sp>
        <p:nvSpPr>
          <p:cNvPr id="25" name="TextBox 24"/>
          <p:cNvSpPr txBox="1"/>
          <p:nvPr/>
        </p:nvSpPr>
        <p:spPr>
          <a:xfrm>
            <a:off x="5868000" y="1296000"/>
            <a:ext cx="2844000" cy="2476800"/>
          </a:xfrm>
          <a:prstGeom prst="rect">
            <a:avLst/>
          </a:prstGeom>
          <a:noFill/>
        </p:spPr>
        <p:txBody>
          <a:bodyPr wrap="square">
            <a:spAutoFit/>
          </a:bodyPr>
          <a:lstStyle/>
          <a:p>
            <a:pPr algn="l"/>
            <a:r>
              <a:rPr sz="900" b="0" i="0">
                <a:solidFill>
                  <a:srgbClr val="1B3A6B"/>
                </a:solidFill>
              </a:rPr>
              <a:t>Le plan rendement-risque permet de visualiser instantanément l'efficience relative des deux indices. L'indice idéal se situe en haut à gauche (rendement élevé, volatilité basse), zone des allocations défensives premium. Inversement, le quadrant bas-droite (rendement faible, volatilité élevée) signale un mauvais couple risk/reward à éviter. Pour un mandat balanced, viser le quadrant haut-droite (rendement élevé même au prix d'une volatilité supérieure) reste rationnel si l'horizon est suffisamment long.</a:t>
            </a:r>
          </a:p>
        </p:txBody>
      </p:sp>
      <p:sp>
        <p:nvSpPr>
          <p:cNvPr id="26" name="Rectangle 25"/>
          <p:cNvSpPr/>
          <p:nvPr/>
        </p:nvSpPr>
        <p:spPr>
          <a:xfrm>
            <a:off x="367200" y="3906000"/>
            <a:ext cx="5220000" cy="88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7200" y="3906000"/>
            <a:ext cx="46800" cy="88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200" y="3941999"/>
            <a:ext cx="5076000" cy="129600"/>
          </a:xfrm>
          <a:prstGeom prst="rect">
            <a:avLst/>
          </a:prstGeom>
          <a:noFill/>
        </p:spPr>
        <p:txBody>
          <a:bodyPr wrap="square">
            <a:spAutoFit/>
          </a:bodyPr>
          <a:lstStyle/>
          <a:p>
            <a:pPr algn="l"/>
            <a:r>
              <a:rPr sz="900" b="1" i="0">
                <a:solidFill>
                  <a:srgbClr val="1B3A6B"/>
                </a:solidFill>
              </a:rPr>
              <a:t>IMPLICATIONS POUR LA CONSTRUCTION DE PORTEFEUILLE</a:t>
            </a:r>
          </a:p>
        </p:txBody>
      </p:sp>
      <p:sp>
        <p:nvSpPr>
          <p:cNvPr id="29" name="TextBox 28"/>
          <p:cNvSpPr txBox="1"/>
          <p:nvPr/>
        </p:nvSpPr>
        <p:spPr>
          <a:xfrm>
            <a:off x="475200" y="4086000"/>
            <a:ext cx="5040000" cy="658800"/>
          </a:xfrm>
          <a:prstGeom prst="rect">
            <a:avLst/>
          </a:prstGeom>
          <a:noFill/>
        </p:spPr>
        <p:txBody>
          <a:bodyPr wrap="square">
            <a:spAutoFit/>
          </a:bodyPr>
          <a:lstStyle/>
          <a:p>
            <a:pPr algn="l"/>
            <a:r>
              <a:rPr sz="900" b="0" i="0">
                <a:solidFill>
                  <a:srgbClr val="1B3A6B"/>
                </a:solidFill>
              </a:rPr>
              <a:t>La position relative de chaque indice oriente l'allocation : si CAC 40 domine sur l'efficience, le surpondérer en cœur de portefeuille. Si S&amp;P 500 offre une meilleure protection en phase de stress (Max DD plus contenu), l'utiliser comme hedge. Une combinaison équilibrée 60/40 ou 70/30 capture le meilleur des deux mondes.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60000"/>
            <a:ext cx="8229600" cy="1645200"/>
          </a:xfrm>
          <a:prstGeom prst="rect">
            <a:avLst/>
          </a:prstGeom>
          <a:noFill/>
        </p:spPr>
        <p:txBody>
          <a:bodyPr wrap="none">
            <a:spAutoFit/>
          </a:bodyPr>
          <a:lstStyle/>
          <a:p>
            <a:r>
              <a:rPr sz="9600" b="1">
                <a:solidFill>
                  <a:srgbClr val="FFFFFF">
                    <a:alpha val="15000"/>
                  </a:srgbClr>
                </a:solidFill>
              </a:rPr>
              <a:t>03</a:t>
            </a:r>
          </a:p>
        </p:txBody>
      </p:sp>
      <p:sp>
        <p:nvSpPr>
          <p:cNvPr id="4" name="TextBox 3"/>
          <p:cNvSpPr txBox="1"/>
          <p:nvPr/>
        </p:nvSpPr>
        <p:spPr>
          <a:xfrm>
            <a:off x="457200" y="1980000"/>
            <a:ext cx="8229600" cy="648000"/>
          </a:xfrm>
          <a:prstGeom prst="rect">
            <a:avLst/>
          </a:prstGeom>
          <a:noFill/>
        </p:spPr>
        <p:txBody>
          <a:bodyPr wrap="square">
            <a:spAutoFit/>
          </a:bodyPr>
          <a:lstStyle/>
          <a:p>
            <a:pPr algn="l"/>
            <a:r>
              <a:rPr sz="3200" b="1" i="0">
                <a:solidFill>
                  <a:srgbClr val="FFFFFF"/>
                </a:solidFill>
              </a:rPr>
              <a:t>Valorisation &amp; Qualité</a:t>
            </a:r>
          </a:p>
        </p:txBody>
      </p:sp>
      <p:sp>
        <p:nvSpPr>
          <p:cNvPr id="5" name="Rectangle 4"/>
          <p:cNvSpPr/>
          <p:nvPr/>
        </p:nvSpPr>
        <p:spPr>
          <a:xfrm>
            <a:off x="457200" y="2880000"/>
            <a:ext cx="27432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88000"/>
            <a:ext cx="8229600" cy="342000"/>
          </a:xfrm>
          <a:prstGeom prst="rect">
            <a:avLst/>
          </a:prstGeom>
          <a:noFill/>
        </p:spPr>
        <p:txBody>
          <a:bodyPr wrap="square">
            <a:spAutoFit/>
          </a:bodyPr>
          <a:lstStyle/>
          <a:p>
            <a:pPr algn="l"/>
            <a:r>
              <a:rPr sz="1100" b="0" i="0">
                <a:solidFill>
                  <a:srgbClr val="AABBDD"/>
                </a:solidFill>
              </a:rPr>
              <a:t>Multiples, ERP et signal FinSight composite</a:t>
            </a:r>
          </a:p>
        </p:txBody>
      </p:sp>
      <p:sp>
        <p:nvSpPr>
          <p:cNvPr id="7" name="TextBox 6"/>
          <p:cNvSpPr txBox="1"/>
          <p:nvPr/>
        </p:nvSpPr>
        <p:spPr>
          <a:xfrm>
            <a:off x="367200" y="4860000"/>
            <a:ext cx="8413200" cy="201600"/>
          </a:xfrm>
          <a:prstGeom prst="rect">
            <a:avLst/>
          </a:prstGeom>
          <a:noFill/>
        </p:spPr>
        <p:txBody>
          <a:bodyPr wrap="square">
            <a:spAutoFit/>
          </a:bodyPr>
          <a:lstStyle/>
          <a:p>
            <a:pPr algn="l"/>
            <a:r>
              <a:rPr sz="700" b="0" i="0">
                <a:solidFill>
                  <a:srgbClr val="6677AA"/>
                </a:solidFill>
              </a:rPr>
              <a:t>FinSight IA  ·  Comparatif Indices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Valorisation Comparée</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P/E Forward, P/B, Rendement du dividende</a:t>
            </a:r>
          </a:p>
        </p:txBody>
      </p:sp>
      <p:sp>
        <p:nvSpPr>
          <p:cNvPr id="5" name="Rectangle 4"/>
          <p:cNvSpPr/>
          <p:nvPr/>
        </p:nvSpPr>
        <p:spPr>
          <a:xfrm>
            <a:off x="7056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FFFFFF"/>
                </a:solidFill>
              </a:rPr>
              <a:t>1</a:t>
            </a:r>
          </a:p>
        </p:txBody>
      </p:sp>
      <p:sp>
        <p:nvSpPr>
          <p:cNvPr id="7" name="Rectangle 6"/>
          <p:cNvSpPr/>
          <p:nvPr/>
        </p:nvSpPr>
        <p:spPr>
          <a:xfrm>
            <a:off x="7362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FFFFFF"/>
                </a:solidFill>
              </a:rPr>
              <a:t>2</a:t>
            </a:r>
          </a:p>
        </p:txBody>
      </p:sp>
      <p:sp>
        <p:nvSpPr>
          <p:cNvPr id="9" name="Rectangle 8"/>
          <p:cNvSpPr/>
          <p:nvPr/>
        </p:nvSpPr>
        <p:spPr>
          <a:xfrm>
            <a:off x="7668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1B3A6B"/>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67200" y="827999"/>
            <a:ext cx="4118400" cy="223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7200" y="827999"/>
            <a:ext cx="54000" cy="223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64000"/>
            <a:ext cx="3960000" cy="165600"/>
          </a:xfrm>
          <a:prstGeom prst="rect">
            <a:avLst/>
          </a:prstGeom>
          <a:noFill/>
        </p:spPr>
        <p:txBody>
          <a:bodyPr wrap="square">
            <a:spAutoFit/>
          </a:bodyPr>
          <a:lstStyle/>
          <a:p>
            <a:pPr algn="l"/>
            <a:r>
              <a:rPr sz="1000" b="1" i="0">
                <a:solidFill>
                  <a:srgbClr val="1B3A6B"/>
                </a:solidFill>
              </a:rPr>
              <a:t>CAC 40</a:t>
            </a:r>
          </a:p>
        </p:txBody>
      </p:sp>
      <p:sp>
        <p:nvSpPr>
          <p:cNvPr id="18" name="Rectangle 17"/>
          <p:cNvSpPr/>
          <p:nvPr/>
        </p:nvSpPr>
        <p:spPr>
          <a:xfrm>
            <a:off x="4658400" y="827999"/>
            <a:ext cx="4118400" cy="223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58400" y="827999"/>
            <a:ext cx="54000" cy="223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9200" y="864000"/>
            <a:ext cx="3960000" cy="165600"/>
          </a:xfrm>
          <a:prstGeom prst="rect">
            <a:avLst/>
          </a:prstGeom>
          <a:noFill/>
        </p:spPr>
        <p:txBody>
          <a:bodyPr wrap="square">
            <a:spAutoFit/>
          </a:bodyPr>
          <a:lstStyle/>
          <a:p>
            <a:pPr algn="l"/>
            <a:r>
              <a:rPr sz="1000" b="1" i="0">
                <a:solidFill>
                  <a:srgbClr val="1A7A4A"/>
                </a:solidFill>
              </a:rPr>
              <a:t>S&amp;P 500</a:t>
            </a:r>
          </a:p>
        </p:txBody>
      </p:sp>
      <p:graphicFrame>
        <p:nvGraphicFramePr>
          <p:cNvPr id="21" name="Table 20"/>
          <p:cNvGraphicFramePr>
            <a:graphicFrameLocks noGrp="1"/>
          </p:cNvGraphicFramePr>
          <p:nvPr/>
        </p:nvGraphicFramePr>
        <p:xfrm>
          <a:off x="367200" y="1116000"/>
          <a:ext cx="5220000" cy="1620000"/>
        </p:xfrm>
        <a:graphic>
          <a:graphicData uri="http://schemas.openxmlformats.org/drawingml/2006/table">
            <a:tbl>
              <a:tblPr firstRow="1" bandRow="1">
                <a:tableStyleId>{5C22544A-7EE6-4342-B048-85BDC9FD1C3A}</a:tableStyleId>
              </a:tblPr>
              <a:tblGrid>
                <a:gridCol w="1620000"/>
                <a:gridCol w="900000"/>
                <a:gridCol w="900000"/>
                <a:gridCol w="900000"/>
                <a:gridCol w="900000"/>
              </a:tblGrid>
              <a:tr h="405000">
                <a:tc>
                  <a:txBody>
                    <a:bodyPr/>
                    <a:lstStyle/>
                    <a:p>
                      <a:pPr algn="l"/>
                      <a:r>
                        <a:rPr sz="900" b="1">
                          <a:solidFill>
                            <a:srgbClr val="FFFFFF"/>
                          </a:solidFill>
                        </a:rPr>
                        <a:t>Indicateur</a:t>
                      </a:r>
                    </a:p>
                  </a:txBody>
                  <a:tcPr>
                    <a:solidFill>
                      <a:srgbClr val="1B3A6B"/>
                    </a:solidFill>
                  </a:tcPr>
                </a:tc>
                <a:tc>
                  <a:txBody>
                    <a:bodyPr/>
                    <a:lstStyle/>
                    <a:p>
                      <a:pPr algn="ctr"/>
                      <a:r>
                        <a:rPr sz="900" b="1">
                          <a:solidFill>
                            <a:srgbClr val="FFFFFF"/>
                          </a:solidFill>
                        </a:rPr>
                        <a:t>CAC 40</a:t>
                      </a:r>
                    </a:p>
                  </a:txBody>
                  <a:tcPr>
                    <a:solidFill>
                      <a:srgbClr val="1B3A6B"/>
                    </a:solidFill>
                  </a:tcPr>
                </a:tc>
                <a:tc>
                  <a:txBody>
                    <a:bodyPr/>
                    <a:lstStyle/>
                    <a:p>
                      <a:pPr algn="ctr"/>
                      <a:r>
                        <a:rPr sz="900" b="1">
                          <a:solidFill>
                            <a:srgbClr val="FFFFFF"/>
                          </a:solidFill>
                        </a:rPr>
                        <a:t>S&amp;P 500</a:t>
                      </a:r>
                    </a:p>
                  </a:txBody>
                  <a:tcPr>
                    <a:solidFill>
                      <a:srgbClr val="1B3A6B"/>
                    </a:solidFill>
                  </a:tcPr>
                </a:tc>
                <a:tc>
                  <a:txBody>
                    <a:bodyPr/>
                    <a:lstStyle/>
                    <a:p>
                      <a:pPr algn="ctr"/>
                      <a:r>
                        <a:rPr sz="900" b="1">
                          <a:solidFill>
                            <a:srgbClr val="FFFFFF"/>
                          </a:solidFill>
                        </a:rPr>
                        <a:t>Écart</a:t>
                      </a:r>
                    </a:p>
                  </a:txBody>
                  <a:tcPr>
                    <a:solidFill>
                      <a:srgbClr val="1B3A6B"/>
                    </a:solidFill>
                  </a:tcPr>
                </a:tc>
                <a:tc>
                  <a:txBody>
                    <a:bodyPr/>
                    <a:lstStyle/>
                    <a:p>
                      <a:pPr algn="ctr"/>
                      <a:r>
                        <a:rPr sz="900" b="1">
                          <a:solidFill>
                            <a:srgbClr val="FFFFFF"/>
                          </a:solidFill>
                        </a:rPr>
                        <a:t>Avantage</a:t>
                      </a:r>
                    </a:p>
                  </a:txBody>
                  <a:tcPr>
                    <a:solidFill>
                      <a:srgbClr val="1B3A6B"/>
                    </a:solidFill>
                  </a:tcPr>
                </a:tc>
              </a:tr>
              <a:tr h="405000">
                <a:tc>
                  <a:txBody>
                    <a:bodyPr/>
                    <a:lstStyle/>
                    <a:p>
                      <a:pPr algn="l"/>
                      <a:r>
                        <a:rPr sz="900" b="0">
                          <a:solidFill>
                            <a:srgbClr val="1A1A1A"/>
                          </a:solidFill>
                        </a:rPr>
                        <a:t>P/E Forward</a:t>
                      </a:r>
                    </a:p>
                  </a:txBody>
                  <a:tcPr>
                    <a:solidFill>
                      <a:srgbClr val="FFFFFF"/>
                    </a:solidFill>
                  </a:tcPr>
                </a:tc>
                <a:tc>
                  <a:txBody>
                    <a:bodyPr/>
                    <a:lstStyle/>
                    <a:p>
                      <a:pPr algn="ctr"/>
                      <a:r>
                        <a:rPr sz="900" b="0">
                          <a:solidFill>
                            <a:srgbClr val="1A1A1A"/>
                          </a:solidFill>
                        </a:rPr>
                        <a:t>18,9x</a:t>
                      </a:r>
                    </a:p>
                  </a:txBody>
                  <a:tcPr>
                    <a:solidFill>
                      <a:srgbClr val="FFFFFF"/>
                    </a:solidFill>
                  </a:tcPr>
                </a:tc>
                <a:tc>
                  <a:txBody>
                    <a:bodyPr/>
                    <a:lstStyle/>
                    <a:p>
                      <a:pPr algn="ctr"/>
                      <a:r>
                        <a:rPr sz="900" b="0">
                          <a:solidFill>
                            <a:srgbClr val="1A1A1A"/>
                          </a:solidFill>
                        </a:rPr>
                        <a:t>—x</a:t>
                      </a:r>
                    </a:p>
                  </a:txBody>
                  <a:tcPr>
                    <a:solidFill>
                      <a:srgbClr val="FFFFFF"/>
                    </a:solidFill>
                  </a:tcPr>
                </a:tc>
                <a:tc>
                  <a:txBody>
                    <a:bodyPr/>
                    <a:lstStyle/>
                    <a:p>
                      <a:pPr algn="ctr"/>
                      <a:r>
                        <a:rPr sz="900" b="0">
                          <a:solidFill>
                            <a:srgbClr val="1A1A1A"/>
                          </a:solidFill>
                        </a:rPr>
                        <a:t>—</a:t>
                      </a:r>
                    </a:p>
                  </a:txBody>
                  <a:tcPr>
                    <a:solidFill>
                      <a:srgbClr val="FFFFFF"/>
                    </a:solidFill>
                  </a:tcPr>
                </a:tc>
                <a:tc>
                  <a:txBody>
                    <a:bodyPr/>
                    <a:lstStyle/>
                    <a:p>
                      <a:pPr algn="ctr"/>
                      <a:r>
                        <a:rPr sz="900" b="0">
                          <a:solidFill>
                            <a:srgbClr val="1A1A1A"/>
                          </a:solidFill>
                        </a:rPr>
                        <a:t>—</a:t>
                      </a:r>
                    </a:p>
                  </a:txBody>
                  <a:tcPr>
                    <a:solidFill>
                      <a:srgbClr val="FFFFFF"/>
                    </a:solidFill>
                  </a:tcPr>
                </a:tc>
              </a:tr>
              <a:tr h="405000">
                <a:tc>
                  <a:txBody>
                    <a:bodyPr/>
                    <a:lstStyle/>
                    <a:p>
                      <a:pPr algn="l"/>
                      <a:r>
                        <a:rPr sz="900" b="0">
                          <a:solidFill>
                            <a:srgbClr val="1A1A1A"/>
                          </a:solidFill>
                        </a:rPr>
                        <a:t>P/B (Book Value)</a:t>
                      </a:r>
                    </a:p>
                  </a:txBody>
                  <a:tcPr>
                    <a:solidFill>
                      <a:srgbClr val="F5F7FA"/>
                    </a:solidFill>
                  </a:tcPr>
                </a:tc>
                <a:tc>
                  <a:txBody>
                    <a:bodyPr/>
                    <a:lstStyle/>
                    <a:p>
                      <a:pPr algn="ctr"/>
                      <a:r>
                        <a:rPr sz="900" b="0">
                          <a:solidFill>
                            <a:srgbClr val="1A1A1A"/>
                          </a:solidFill>
                        </a:rPr>
                        <a:t>—x</a:t>
                      </a:r>
                    </a:p>
                  </a:txBody>
                  <a:tcPr>
                    <a:solidFill>
                      <a:srgbClr val="F5F7FA"/>
                    </a:solidFill>
                  </a:tcPr>
                </a:tc>
                <a:tc>
                  <a:txBody>
                    <a:bodyPr/>
                    <a:lstStyle/>
                    <a:p>
                      <a:pPr algn="ctr"/>
                      <a:r>
                        <a:rPr sz="900" b="0">
                          <a:solidFill>
                            <a:srgbClr val="1A1A1A"/>
                          </a:solidFill>
                        </a:rPr>
                        <a:t>—x</a:t>
                      </a:r>
                    </a:p>
                  </a:txBody>
                  <a:tcPr>
                    <a:solidFill>
                      <a:srgbClr val="F5F7FA"/>
                    </a:solidFill>
                  </a:tcPr>
                </a:tc>
                <a:tc>
                  <a:txBody>
                    <a:bodyPr/>
                    <a:lstStyle/>
                    <a:p>
                      <a:pPr algn="ctr"/>
                      <a:r>
                        <a:rPr sz="900" b="0">
                          <a:solidFill>
                            <a:srgbClr val="1A1A1A"/>
                          </a:solidFill>
                        </a:rPr>
                        <a:t>—</a:t>
                      </a:r>
                    </a:p>
                  </a:txBody>
                  <a:tcPr>
                    <a:solidFill>
                      <a:srgbClr val="F5F7FA"/>
                    </a:solidFill>
                  </a:tcPr>
                </a:tc>
                <a:tc>
                  <a:txBody>
                    <a:bodyPr/>
                    <a:lstStyle/>
                    <a:p>
                      <a:pPr algn="ctr"/>
                      <a:r>
                        <a:rPr sz="900" b="0">
                          <a:solidFill>
                            <a:srgbClr val="1A1A1A"/>
                          </a:solidFill>
                        </a:rPr>
                        <a:t>—</a:t>
                      </a:r>
                    </a:p>
                  </a:txBody>
                  <a:tcPr>
                    <a:solidFill>
                      <a:srgbClr val="F5F7FA"/>
                    </a:solidFill>
                  </a:tcPr>
                </a:tc>
              </a:tr>
              <a:tr h="405000">
                <a:tc>
                  <a:txBody>
                    <a:bodyPr/>
                    <a:lstStyle/>
                    <a:p>
                      <a:pPr algn="l"/>
                      <a:r>
                        <a:rPr sz="900" b="0">
                          <a:solidFill>
                            <a:srgbClr val="1A1A1A"/>
                          </a:solidFill>
                        </a:rPr>
                        <a:t>Rendement dividende</a:t>
                      </a:r>
                    </a:p>
                  </a:txBody>
                  <a:tcPr>
                    <a:solidFill>
                      <a:srgbClr val="FFFFFF"/>
                    </a:solidFill>
                  </a:tcPr>
                </a:tc>
                <a:tc>
                  <a:txBody>
                    <a:bodyPr/>
                    <a:lstStyle/>
                    <a:p>
                      <a:pPr algn="ctr"/>
                      <a:r>
                        <a:rPr sz="900" b="0">
                          <a:solidFill>
                            <a:srgbClr val="1A1A1A"/>
                          </a:solidFill>
                        </a:rPr>
                        <a:t>—</a:t>
                      </a:r>
                    </a:p>
                  </a:txBody>
                  <a:tcPr>
                    <a:solidFill>
                      <a:srgbClr val="FFFFFF"/>
                    </a:solidFill>
                  </a:tcPr>
                </a:tc>
                <a:tc>
                  <a:txBody>
                    <a:bodyPr/>
                    <a:lstStyle/>
                    <a:p>
                      <a:pPr algn="ctr"/>
                      <a:r>
                        <a:rPr sz="900" b="0">
                          <a:solidFill>
                            <a:srgbClr val="1A1A1A"/>
                          </a:solidFill>
                        </a:rPr>
                        <a:t>—</a:t>
                      </a:r>
                    </a:p>
                  </a:txBody>
                  <a:tcPr>
                    <a:solidFill>
                      <a:srgbClr val="FFFFFF"/>
                    </a:solidFill>
                  </a:tcPr>
                </a:tc>
                <a:tc>
                  <a:txBody>
                    <a:bodyPr/>
                    <a:lstStyle/>
                    <a:p>
                      <a:pPr algn="ctr"/>
                      <a:r>
                        <a:rPr sz="900" b="0">
                          <a:solidFill>
                            <a:srgbClr val="1A1A1A"/>
                          </a:solidFill>
                        </a:rPr>
                        <a:t>—</a:t>
                      </a:r>
                    </a:p>
                  </a:txBody>
                  <a:tcPr>
                    <a:solidFill>
                      <a:srgbClr val="FFFFFF"/>
                    </a:solidFill>
                  </a:tcPr>
                </a:tc>
                <a:tc>
                  <a:txBody>
                    <a:bodyPr/>
                    <a:lstStyle/>
                    <a:p>
                      <a:pPr algn="ctr"/>
                      <a:r>
                        <a:rPr sz="900" b="0">
                          <a:solidFill>
                            <a:srgbClr val="1A1A1A"/>
                          </a:solidFill>
                        </a:rPr>
                        <a:t>—</a:t>
                      </a:r>
                    </a:p>
                  </a:txBody>
                  <a:tcPr>
                    <a:solidFill>
                      <a:srgbClr val="FFFFFF"/>
                    </a:solidFill>
                  </a:tcPr>
                </a:tc>
              </a:tr>
            </a:tbl>
          </a:graphicData>
        </a:graphic>
      </p:graphicFrame>
      <p:pic>
        <p:nvPicPr>
          <p:cNvPr id="22" name="Picture 21" descr="image.png"/>
          <p:cNvPicPr>
            <a:picLocks noChangeAspect="1"/>
          </p:cNvPicPr>
          <p:nvPr/>
        </p:nvPicPr>
        <p:blipFill>
          <a:blip r:embed="rId2"/>
          <a:stretch>
            <a:fillRect/>
          </a:stretch>
        </p:blipFill>
        <p:spPr>
          <a:xfrm>
            <a:off x="367200" y="2826000"/>
            <a:ext cx="5220000" cy="1962000"/>
          </a:xfrm>
          <a:prstGeom prst="rect">
            <a:avLst/>
          </a:prstGeom>
        </p:spPr>
      </p:pic>
      <p:sp>
        <p:nvSpPr>
          <p:cNvPr id="23" name="Rectangle 22"/>
          <p:cNvSpPr/>
          <p:nvPr/>
        </p:nvSpPr>
        <p:spPr>
          <a:xfrm>
            <a:off x="5760000" y="1116000"/>
            <a:ext cx="3024000" cy="3671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760000" y="1116000"/>
            <a:ext cx="46800" cy="3671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68000" y="1152000"/>
            <a:ext cx="2880000" cy="129600"/>
          </a:xfrm>
          <a:prstGeom prst="rect">
            <a:avLst/>
          </a:prstGeom>
          <a:noFill/>
        </p:spPr>
        <p:txBody>
          <a:bodyPr wrap="square">
            <a:spAutoFit/>
          </a:bodyPr>
          <a:lstStyle/>
          <a:p>
            <a:pPr algn="l"/>
            <a:r>
              <a:rPr sz="900" b="1" i="0">
                <a:solidFill>
                  <a:srgbClr val="1B3A6B"/>
                </a:solidFill>
              </a:rPr>
              <a:t>S&amp;P 500 DÉCOTÉ (0.0X P/E FWD) — OPPORTUNITÉ DE RE-RATING</a:t>
            </a:r>
          </a:p>
        </p:txBody>
      </p:sp>
      <p:sp>
        <p:nvSpPr>
          <p:cNvPr id="26" name="TextBox 25"/>
          <p:cNvSpPr txBox="1"/>
          <p:nvPr/>
        </p:nvSpPr>
        <p:spPr>
          <a:xfrm>
            <a:off x="5868000" y="1296000"/>
            <a:ext cx="2844000" cy="3448800"/>
          </a:xfrm>
          <a:prstGeom prst="rect">
            <a:avLst/>
          </a:prstGeom>
          <a:noFill/>
        </p:spPr>
        <p:txBody>
          <a:bodyPr wrap="square">
            <a:spAutoFit/>
          </a:bodyPr>
          <a:lstStyle/>
          <a:p>
            <a:pPr algn="l"/>
            <a:r>
              <a:rPr sz="900" b="0" i="0">
                <a:solidFill>
                  <a:srgbClr val="1B3A6B"/>
                </a:solidFill>
              </a:rPr>
              <a:t>Les multiples agrégés des indices reflètent la prime de valorisation que le marché attribue à chaque univers. Un P/E élevé peut traduire (1) des anticipations de croissance supérieures, (2) une qualité bilancielle premium, ou (3) une exubérance de marché. Le P/B complète l'analyse en mesurant la prime sur les actifs nets. Le rendement du dividende informe sur la maturité bilancielle et la politique de distribution agrégée. À comparer aux moyennes historiques 5-10 ans pour identifier les anomalies de mean reversion.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Equity Risk Premium  —  Prime de Risque Actions</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Comparaison du couple rendement-prime</a:t>
            </a:r>
          </a:p>
        </p:txBody>
      </p:sp>
      <p:sp>
        <p:nvSpPr>
          <p:cNvPr id="5" name="Rectangle 4"/>
          <p:cNvSpPr/>
          <p:nvPr/>
        </p:nvSpPr>
        <p:spPr>
          <a:xfrm>
            <a:off x="7056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FFFFFF"/>
                </a:solidFill>
              </a:rPr>
              <a:t>1</a:t>
            </a:r>
          </a:p>
        </p:txBody>
      </p:sp>
      <p:sp>
        <p:nvSpPr>
          <p:cNvPr id="7" name="Rectangle 6"/>
          <p:cNvSpPr/>
          <p:nvPr/>
        </p:nvSpPr>
        <p:spPr>
          <a:xfrm>
            <a:off x="7362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FFFFFF"/>
                </a:solidFill>
              </a:rPr>
              <a:t>2</a:t>
            </a:r>
          </a:p>
        </p:txBody>
      </p:sp>
      <p:sp>
        <p:nvSpPr>
          <p:cNvPr id="9" name="Rectangle 8"/>
          <p:cNvSpPr/>
          <p:nvPr/>
        </p:nvSpPr>
        <p:spPr>
          <a:xfrm>
            <a:off x="7668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1B3A6B"/>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67200" y="827999"/>
            <a:ext cx="4118400" cy="223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7200" y="827999"/>
            <a:ext cx="54000" cy="223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64000"/>
            <a:ext cx="3960000" cy="165600"/>
          </a:xfrm>
          <a:prstGeom prst="rect">
            <a:avLst/>
          </a:prstGeom>
          <a:noFill/>
        </p:spPr>
        <p:txBody>
          <a:bodyPr wrap="square">
            <a:spAutoFit/>
          </a:bodyPr>
          <a:lstStyle/>
          <a:p>
            <a:pPr algn="l"/>
            <a:r>
              <a:rPr sz="1000" b="1" i="0">
                <a:solidFill>
                  <a:srgbClr val="1B3A6B"/>
                </a:solidFill>
              </a:rPr>
              <a:t>CAC 40</a:t>
            </a:r>
          </a:p>
        </p:txBody>
      </p:sp>
      <p:sp>
        <p:nvSpPr>
          <p:cNvPr id="18" name="Rectangle 17"/>
          <p:cNvSpPr/>
          <p:nvPr/>
        </p:nvSpPr>
        <p:spPr>
          <a:xfrm>
            <a:off x="4658400" y="827999"/>
            <a:ext cx="4118400" cy="223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58400" y="827999"/>
            <a:ext cx="54000" cy="223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9200" y="864000"/>
            <a:ext cx="3960000" cy="165600"/>
          </a:xfrm>
          <a:prstGeom prst="rect">
            <a:avLst/>
          </a:prstGeom>
          <a:noFill/>
        </p:spPr>
        <p:txBody>
          <a:bodyPr wrap="square">
            <a:spAutoFit/>
          </a:bodyPr>
          <a:lstStyle/>
          <a:p>
            <a:pPr algn="l"/>
            <a:r>
              <a:rPr sz="1000" b="1" i="0">
                <a:solidFill>
                  <a:srgbClr val="1A7A4A"/>
                </a:solidFill>
              </a:rPr>
              <a:t>S&amp;P 500</a:t>
            </a:r>
          </a:p>
        </p:txBody>
      </p:sp>
      <p:sp>
        <p:nvSpPr>
          <p:cNvPr id="21" name="Rectangle 20"/>
          <p:cNvSpPr/>
          <p:nvPr/>
        </p:nvSpPr>
        <p:spPr>
          <a:xfrm>
            <a:off x="367200" y="1116000"/>
            <a:ext cx="4118400" cy="151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116000"/>
            <a:ext cx="54000" cy="151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170000"/>
            <a:ext cx="3960000" cy="180000"/>
          </a:xfrm>
          <a:prstGeom prst="rect">
            <a:avLst/>
          </a:prstGeom>
          <a:noFill/>
        </p:spPr>
        <p:txBody>
          <a:bodyPr wrap="square">
            <a:spAutoFit/>
          </a:bodyPr>
          <a:lstStyle/>
          <a:p>
            <a:pPr algn="l"/>
            <a:r>
              <a:rPr sz="1200" b="1" i="0">
                <a:solidFill>
                  <a:srgbClr val="1B3A6B"/>
                </a:solidFill>
              </a:rPr>
              <a:t>CAC 40</a:t>
            </a:r>
          </a:p>
        </p:txBody>
      </p:sp>
      <p:sp>
        <p:nvSpPr>
          <p:cNvPr id="24" name="TextBox 23"/>
          <p:cNvSpPr txBox="1"/>
          <p:nvPr/>
        </p:nvSpPr>
        <p:spPr>
          <a:xfrm>
            <a:off x="468000" y="1422000"/>
            <a:ext cx="3960000" cy="468000"/>
          </a:xfrm>
          <a:prstGeom prst="rect">
            <a:avLst/>
          </a:prstGeom>
          <a:noFill/>
        </p:spPr>
        <p:txBody>
          <a:bodyPr wrap="square">
            <a:spAutoFit/>
          </a:bodyPr>
          <a:lstStyle/>
          <a:p>
            <a:pPr algn="l"/>
            <a:r>
              <a:rPr sz="3200" b="1" i="0">
                <a:solidFill>
                  <a:srgbClr val="2E5FA3"/>
                </a:solidFill>
              </a:rPr>
              <a:t>-0.6%</a:t>
            </a:r>
          </a:p>
        </p:txBody>
      </p:sp>
      <p:sp>
        <p:nvSpPr>
          <p:cNvPr id="25" name="TextBox 24"/>
          <p:cNvSpPr txBox="1"/>
          <p:nvPr/>
        </p:nvSpPr>
        <p:spPr>
          <a:xfrm>
            <a:off x="468000" y="1944000"/>
            <a:ext cx="3960000" cy="162000"/>
          </a:xfrm>
          <a:prstGeom prst="rect">
            <a:avLst/>
          </a:prstGeom>
          <a:noFill/>
        </p:spPr>
        <p:txBody>
          <a:bodyPr wrap="square">
            <a:spAutoFit/>
          </a:bodyPr>
          <a:lstStyle/>
          <a:p>
            <a:pPr algn="l"/>
            <a:r>
              <a:rPr sz="900" b="0" i="0">
                <a:solidFill>
                  <a:srgbClr val="555555"/>
                </a:solidFill>
              </a:rPr>
              <a:t>ERP estimé sur 12 mois</a:t>
            </a:r>
          </a:p>
        </p:txBody>
      </p:sp>
      <p:sp>
        <p:nvSpPr>
          <p:cNvPr id="26" name="Rectangle 25"/>
          <p:cNvSpPr/>
          <p:nvPr/>
        </p:nvSpPr>
        <p:spPr>
          <a:xfrm>
            <a:off x="468000" y="2160000"/>
            <a:ext cx="2160000" cy="32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196000"/>
            <a:ext cx="2160000" cy="251999"/>
          </a:xfrm>
          <a:prstGeom prst="rect">
            <a:avLst/>
          </a:prstGeom>
          <a:noFill/>
        </p:spPr>
        <p:txBody>
          <a:bodyPr wrap="square">
            <a:spAutoFit/>
          </a:bodyPr>
          <a:lstStyle/>
          <a:p>
            <a:pPr algn="ctr"/>
            <a:r>
              <a:rPr sz="1100" b="1" i="0">
                <a:solidFill>
                  <a:srgbClr val="FFFFFF"/>
                </a:solidFill>
              </a:rPr>
              <a:t>Négatif</a:t>
            </a:r>
          </a:p>
        </p:txBody>
      </p:sp>
      <p:sp>
        <p:nvSpPr>
          <p:cNvPr id="28" name="Rectangle 27"/>
          <p:cNvSpPr/>
          <p:nvPr/>
        </p:nvSpPr>
        <p:spPr>
          <a:xfrm>
            <a:off x="4658400" y="1116000"/>
            <a:ext cx="4118400" cy="1512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58400" y="1116000"/>
            <a:ext cx="54000" cy="151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9200" y="1170000"/>
            <a:ext cx="3960000" cy="180000"/>
          </a:xfrm>
          <a:prstGeom prst="rect">
            <a:avLst/>
          </a:prstGeom>
          <a:noFill/>
        </p:spPr>
        <p:txBody>
          <a:bodyPr wrap="square">
            <a:spAutoFit/>
          </a:bodyPr>
          <a:lstStyle/>
          <a:p>
            <a:pPr algn="l"/>
            <a:r>
              <a:rPr sz="1200" b="1" i="0">
                <a:solidFill>
                  <a:srgbClr val="1A7A4A"/>
                </a:solidFill>
              </a:rPr>
              <a:t>S&amp;P 500</a:t>
            </a:r>
          </a:p>
        </p:txBody>
      </p:sp>
      <p:sp>
        <p:nvSpPr>
          <p:cNvPr id="31" name="TextBox 30"/>
          <p:cNvSpPr txBox="1"/>
          <p:nvPr/>
        </p:nvSpPr>
        <p:spPr>
          <a:xfrm>
            <a:off x="4759200" y="1422000"/>
            <a:ext cx="3960000" cy="468000"/>
          </a:xfrm>
          <a:prstGeom prst="rect">
            <a:avLst/>
          </a:prstGeom>
          <a:noFill/>
        </p:spPr>
        <p:txBody>
          <a:bodyPr wrap="square">
            <a:spAutoFit/>
          </a:bodyPr>
          <a:lstStyle/>
          <a:p>
            <a:pPr algn="l"/>
            <a:r>
              <a:rPr sz="3200" b="1" i="0">
                <a:solidFill>
                  <a:srgbClr val="1A7A4A"/>
                </a:solidFill>
              </a:rPr>
              <a:t>+22,8 %</a:t>
            </a:r>
          </a:p>
        </p:txBody>
      </p:sp>
      <p:sp>
        <p:nvSpPr>
          <p:cNvPr id="32" name="TextBox 31"/>
          <p:cNvSpPr txBox="1"/>
          <p:nvPr/>
        </p:nvSpPr>
        <p:spPr>
          <a:xfrm>
            <a:off x="4759200" y="1944000"/>
            <a:ext cx="3960000" cy="162000"/>
          </a:xfrm>
          <a:prstGeom prst="rect">
            <a:avLst/>
          </a:prstGeom>
          <a:noFill/>
        </p:spPr>
        <p:txBody>
          <a:bodyPr wrap="square">
            <a:spAutoFit/>
          </a:bodyPr>
          <a:lstStyle/>
          <a:p>
            <a:pPr algn="l"/>
            <a:r>
              <a:rPr sz="900" b="0" i="0">
                <a:solidFill>
                  <a:srgbClr val="555555"/>
                </a:solidFill>
              </a:rPr>
              <a:t>ERP estimé sur 12 mois</a:t>
            </a:r>
          </a:p>
        </p:txBody>
      </p:sp>
      <p:sp>
        <p:nvSpPr>
          <p:cNvPr id="33" name="Rectangle 32"/>
          <p:cNvSpPr/>
          <p:nvPr/>
        </p:nvSpPr>
        <p:spPr>
          <a:xfrm>
            <a:off x="4759200" y="2160000"/>
            <a:ext cx="21600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9200" y="2196000"/>
            <a:ext cx="2160000" cy="251999"/>
          </a:xfrm>
          <a:prstGeom prst="rect">
            <a:avLst/>
          </a:prstGeom>
          <a:noFill/>
        </p:spPr>
        <p:txBody>
          <a:bodyPr wrap="square">
            <a:spAutoFit/>
          </a:bodyPr>
          <a:lstStyle/>
          <a:p>
            <a:pPr algn="ctr"/>
            <a:r>
              <a:rPr sz="1100" b="1" i="0">
                <a:solidFill>
                  <a:srgbClr val="FFFFFF"/>
                </a:solidFill>
              </a:rPr>
              <a:t>Très attractif</a:t>
            </a:r>
          </a:p>
        </p:txBody>
      </p:sp>
      <p:sp>
        <p:nvSpPr>
          <p:cNvPr id="35" name="Rectangle 34"/>
          <p:cNvSpPr/>
          <p:nvPr/>
        </p:nvSpPr>
        <p:spPr>
          <a:xfrm>
            <a:off x="367200" y="2754000"/>
            <a:ext cx="8413200" cy="203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7200" y="2754000"/>
            <a:ext cx="46800" cy="20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200" y="2790000"/>
            <a:ext cx="8269200" cy="129600"/>
          </a:xfrm>
          <a:prstGeom prst="rect">
            <a:avLst/>
          </a:prstGeom>
          <a:noFill/>
        </p:spPr>
        <p:txBody>
          <a:bodyPr wrap="square">
            <a:spAutoFit/>
          </a:bodyPr>
          <a:lstStyle/>
          <a:p>
            <a:pPr algn="l"/>
            <a:r>
              <a:rPr sz="900" b="1" i="0">
                <a:solidFill>
                  <a:srgbClr val="1B3A6B"/>
                </a:solidFill>
              </a:rPr>
              <a:t>ERP CAC 40 -0.6% VS S&amp;P 500 +22,8 % — PRIME DE RISQUE ACTIONS COMPARÉE</a:t>
            </a:r>
          </a:p>
        </p:txBody>
      </p:sp>
      <p:sp>
        <p:nvSpPr>
          <p:cNvPr id="38" name="TextBox 37"/>
          <p:cNvSpPr txBox="1"/>
          <p:nvPr/>
        </p:nvSpPr>
        <p:spPr>
          <a:xfrm>
            <a:off x="475200" y="2934000"/>
            <a:ext cx="8233200" cy="1810800"/>
          </a:xfrm>
          <a:prstGeom prst="rect">
            <a:avLst/>
          </a:prstGeom>
          <a:noFill/>
        </p:spPr>
        <p:txBody>
          <a:bodyPr wrap="square">
            <a:spAutoFit/>
          </a:bodyPr>
          <a:lstStyle/>
          <a:p>
            <a:pPr algn="l"/>
            <a:r>
              <a:rPr sz="900" b="0" i="0">
                <a:solidFill>
                  <a:srgbClr val="1B3A6B"/>
                </a:solidFill>
              </a:rPr>
              <a:t>L'Equity Risk Premium (ERP) mesure la prime exigée par les investisseurs pour détenir des actions plutôt que des obligations souveraines (proxy taux 10 ans local). Un ERP élevé (&gt;4 %) traduit une valorisation actions historiquement attractive : le surplus de rendement compense largement le risque additionnel. Un ERP faible (&lt;2 %) signale au contraire une prime insuffisante, exposant à un re-rating baissier en cas de hausse des taux ou de déception sur les bénéfices. La comparaison ERP entre deux indices permet d'identifier le mieux rémunéré relativement au risque.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Signal FinSight Comparatif</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Score 0-100 et recommandation d'allocation</a:t>
            </a:r>
          </a:p>
        </p:txBody>
      </p:sp>
      <p:sp>
        <p:nvSpPr>
          <p:cNvPr id="5" name="Rectangle 4"/>
          <p:cNvSpPr/>
          <p:nvPr/>
        </p:nvSpPr>
        <p:spPr>
          <a:xfrm>
            <a:off x="7056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FFFFFF"/>
                </a:solidFill>
              </a:rPr>
              <a:t>1</a:t>
            </a:r>
          </a:p>
        </p:txBody>
      </p:sp>
      <p:sp>
        <p:nvSpPr>
          <p:cNvPr id="7" name="Rectangle 6"/>
          <p:cNvSpPr/>
          <p:nvPr/>
        </p:nvSpPr>
        <p:spPr>
          <a:xfrm>
            <a:off x="7362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FFFFFF"/>
                </a:solidFill>
              </a:rPr>
              <a:t>2</a:t>
            </a:r>
          </a:p>
        </p:txBody>
      </p:sp>
      <p:sp>
        <p:nvSpPr>
          <p:cNvPr id="9" name="Rectangle 8"/>
          <p:cNvSpPr/>
          <p:nvPr/>
        </p:nvSpPr>
        <p:spPr>
          <a:xfrm>
            <a:off x="7668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1B3A6B"/>
                </a:solidFill>
              </a:rPr>
              <a:t>3</a:t>
            </a:r>
          </a:p>
        </p:txBody>
      </p:sp>
      <p:sp>
        <p:nvSpPr>
          <p:cNvPr id="11" name="Rectangle 10"/>
          <p:cNvSpPr/>
          <p:nvPr/>
        </p:nvSpPr>
        <p:spPr>
          <a:xfrm>
            <a:off x="7974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FFFFFF"/>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67200" y="827999"/>
            <a:ext cx="4118400" cy="223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7200" y="827999"/>
            <a:ext cx="54000" cy="223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64000"/>
            <a:ext cx="3960000" cy="165600"/>
          </a:xfrm>
          <a:prstGeom prst="rect">
            <a:avLst/>
          </a:prstGeom>
          <a:noFill/>
        </p:spPr>
        <p:txBody>
          <a:bodyPr wrap="square">
            <a:spAutoFit/>
          </a:bodyPr>
          <a:lstStyle/>
          <a:p>
            <a:pPr algn="l"/>
            <a:r>
              <a:rPr sz="1000" b="1" i="0">
                <a:solidFill>
                  <a:srgbClr val="1B3A6B"/>
                </a:solidFill>
              </a:rPr>
              <a:t>CAC 40</a:t>
            </a:r>
          </a:p>
        </p:txBody>
      </p:sp>
      <p:sp>
        <p:nvSpPr>
          <p:cNvPr id="18" name="Rectangle 17"/>
          <p:cNvSpPr/>
          <p:nvPr/>
        </p:nvSpPr>
        <p:spPr>
          <a:xfrm>
            <a:off x="4658400" y="827999"/>
            <a:ext cx="4118400" cy="223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58400" y="827999"/>
            <a:ext cx="54000" cy="223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9200" y="864000"/>
            <a:ext cx="3960000" cy="165600"/>
          </a:xfrm>
          <a:prstGeom prst="rect">
            <a:avLst/>
          </a:prstGeom>
          <a:noFill/>
        </p:spPr>
        <p:txBody>
          <a:bodyPr wrap="square">
            <a:spAutoFit/>
          </a:bodyPr>
          <a:lstStyle/>
          <a:p>
            <a:pPr algn="l"/>
            <a:r>
              <a:rPr sz="1000" b="1" i="0">
                <a:solidFill>
                  <a:srgbClr val="1A7A4A"/>
                </a:solidFill>
              </a:rPr>
              <a:t>S&amp;P 500</a:t>
            </a:r>
          </a:p>
        </p:txBody>
      </p:sp>
      <p:sp>
        <p:nvSpPr>
          <p:cNvPr id="21" name="Rectangle 20"/>
          <p:cNvSpPr/>
          <p:nvPr/>
        </p:nvSpPr>
        <p:spPr>
          <a:xfrm>
            <a:off x="367200" y="1116000"/>
            <a:ext cx="3960000" cy="1908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116000"/>
            <a:ext cx="64800" cy="190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1200" y="1224000"/>
            <a:ext cx="3671999" cy="864000"/>
          </a:xfrm>
          <a:prstGeom prst="rect">
            <a:avLst/>
          </a:prstGeom>
          <a:noFill/>
        </p:spPr>
        <p:txBody>
          <a:bodyPr wrap="square">
            <a:spAutoFit/>
          </a:bodyPr>
          <a:lstStyle/>
          <a:p>
            <a:pPr algn="ctr"/>
            <a:r>
              <a:rPr sz="5800" b="1" i="0">
                <a:solidFill>
                  <a:srgbClr val="B06000"/>
                </a:solidFill>
              </a:rPr>
              <a:t>50</a:t>
            </a:r>
          </a:p>
        </p:txBody>
      </p:sp>
      <p:sp>
        <p:nvSpPr>
          <p:cNvPr id="24" name="TextBox 23"/>
          <p:cNvSpPr txBox="1"/>
          <p:nvPr/>
        </p:nvSpPr>
        <p:spPr>
          <a:xfrm>
            <a:off x="511200" y="1944000"/>
            <a:ext cx="3671999" cy="216000"/>
          </a:xfrm>
          <a:prstGeom prst="rect">
            <a:avLst/>
          </a:prstGeom>
          <a:noFill/>
        </p:spPr>
        <p:txBody>
          <a:bodyPr wrap="square">
            <a:spAutoFit/>
          </a:bodyPr>
          <a:lstStyle/>
          <a:p>
            <a:pPr algn="ctr"/>
            <a:r>
              <a:rPr sz="1600" b="0" i="0">
                <a:solidFill>
                  <a:srgbClr val="555555"/>
                </a:solidFill>
              </a:rPr>
              <a:t>/ 100</a:t>
            </a:r>
          </a:p>
        </p:txBody>
      </p:sp>
      <p:sp>
        <p:nvSpPr>
          <p:cNvPr id="25" name="TextBox 24"/>
          <p:cNvSpPr txBox="1"/>
          <p:nvPr/>
        </p:nvSpPr>
        <p:spPr>
          <a:xfrm>
            <a:off x="511200" y="2196000"/>
            <a:ext cx="3671999" cy="306000"/>
          </a:xfrm>
          <a:prstGeom prst="rect">
            <a:avLst/>
          </a:prstGeom>
          <a:noFill/>
        </p:spPr>
        <p:txBody>
          <a:bodyPr wrap="square">
            <a:spAutoFit/>
          </a:bodyPr>
          <a:lstStyle/>
          <a:p>
            <a:pPr algn="ctr"/>
            <a:r>
              <a:rPr sz="1400" b="1" i="0">
                <a:solidFill>
                  <a:srgbClr val="B06000"/>
                </a:solidFill>
              </a:rPr>
              <a:t>Neutre</a:t>
            </a:r>
          </a:p>
        </p:txBody>
      </p:sp>
      <p:sp>
        <p:nvSpPr>
          <p:cNvPr id="26" name="TextBox 25"/>
          <p:cNvSpPr txBox="1"/>
          <p:nvPr/>
        </p:nvSpPr>
        <p:spPr>
          <a:xfrm>
            <a:off x="511200" y="2556000"/>
            <a:ext cx="3671999" cy="180000"/>
          </a:xfrm>
          <a:prstGeom prst="rect">
            <a:avLst/>
          </a:prstGeom>
          <a:noFill/>
        </p:spPr>
        <p:txBody>
          <a:bodyPr wrap="square">
            <a:spAutoFit/>
          </a:bodyPr>
          <a:lstStyle/>
          <a:p>
            <a:pPr algn="ctr"/>
            <a:r>
              <a:rPr sz="800" b="0" i="0">
                <a:solidFill>
                  <a:srgbClr val="555555"/>
                </a:solidFill>
              </a:rPr>
              <a:t>Signal FinSight  —  CAC 40</a:t>
            </a:r>
          </a:p>
        </p:txBody>
      </p:sp>
      <p:sp>
        <p:nvSpPr>
          <p:cNvPr id="27" name="Rectangle 26"/>
          <p:cNvSpPr/>
          <p:nvPr/>
        </p:nvSpPr>
        <p:spPr>
          <a:xfrm>
            <a:off x="4813200" y="1116000"/>
            <a:ext cx="3960000" cy="1908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813200" y="1116000"/>
            <a:ext cx="64800" cy="190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7200" y="1224000"/>
            <a:ext cx="3671999" cy="864000"/>
          </a:xfrm>
          <a:prstGeom prst="rect">
            <a:avLst/>
          </a:prstGeom>
          <a:noFill/>
        </p:spPr>
        <p:txBody>
          <a:bodyPr wrap="square">
            <a:spAutoFit/>
          </a:bodyPr>
          <a:lstStyle/>
          <a:p>
            <a:pPr algn="ctr"/>
            <a:r>
              <a:rPr sz="5800" b="1" i="0">
                <a:solidFill>
                  <a:srgbClr val="B06000"/>
                </a:solidFill>
              </a:rPr>
              <a:t>50</a:t>
            </a:r>
          </a:p>
        </p:txBody>
      </p:sp>
      <p:sp>
        <p:nvSpPr>
          <p:cNvPr id="30" name="TextBox 29"/>
          <p:cNvSpPr txBox="1"/>
          <p:nvPr/>
        </p:nvSpPr>
        <p:spPr>
          <a:xfrm>
            <a:off x="4957200" y="1944000"/>
            <a:ext cx="3671999" cy="216000"/>
          </a:xfrm>
          <a:prstGeom prst="rect">
            <a:avLst/>
          </a:prstGeom>
          <a:noFill/>
        </p:spPr>
        <p:txBody>
          <a:bodyPr wrap="square">
            <a:spAutoFit/>
          </a:bodyPr>
          <a:lstStyle/>
          <a:p>
            <a:pPr algn="ctr"/>
            <a:r>
              <a:rPr sz="1600" b="0" i="0">
                <a:solidFill>
                  <a:srgbClr val="555555"/>
                </a:solidFill>
              </a:rPr>
              <a:t>/ 100</a:t>
            </a:r>
          </a:p>
        </p:txBody>
      </p:sp>
      <p:sp>
        <p:nvSpPr>
          <p:cNvPr id="31" name="TextBox 30"/>
          <p:cNvSpPr txBox="1"/>
          <p:nvPr/>
        </p:nvSpPr>
        <p:spPr>
          <a:xfrm>
            <a:off x="4957200" y="2196000"/>
            <a:ext cx="3671999" cy="306000"/>
          </a:xfrm>
          <a:prstGeom prst="rect">
            <a:avLst/>
          </a:prstGeom>
          <a:noFill/>
        </p:spPr>
        <p:txBody>
          <a:bodyPr wrap="square">
            <a:spAutoFit/>
          </a:bodyPr>
          <a:lstStyle/>
          <a:p>
            <a:pPr algn="ctr"/>
            <a:r>
              <a:rPr sz="1400" b="1" i="0">
                <a:solidFill>
                  <a:srgbClr val="B06000"/>
                </a:solidFill>
              </a:rPr>
              <a:t>Neutre</a:t>
            </a:r>
          </a:p>
        </p:txBody>
      </p:sp>
      <p:sp>
        <p:nvSpPr>
          <p:cNvPr id="32" name="TextBox 31"/>
          <p:cNvSpPr txBox="1"/>
          <p:nvPr/>
        </p:nvSpPr>
        <p:spPr>
          <a:xfrm>
            <a:off x="4957200" y="2556000"/>
            <a:ext cx="3671999" cy="180000"/>
          </a:xfrm>
          <a:prstGeom prst="rect">
            <a:avLst/>
          </a:prstGeom>
          <a:noFill/>
        </p:spPr>
        <p:txBody>
          <a:bodyPr wrap="square">
            <a:spAutoFit/>
          </a:bodyPr>
          <a:lstStyle/>
          <a:p>
            <a:pPr algn="ctr"/>
            <a:r>
              <a:rPr sz="800" b="0" i="0">
                <a:solidFill>
                  <a:srgbClr val="555555"/>
                </a:solidFill>
              </a:rPr>
              <a:t>Signal FinSight  —  S&amp;P 500</a:t>
            </a:r>
          </a:p>
        </p:txBody>
      </p:sp>
      <p:sp>
        <p:nvSpPr>
          <p:cNvPr id="33" name="Rectangle 32"/>
          <p:cNvSpPr/>
          <p:nvPr/>
        </p:nvSpPr>
        <p:spPr>
          <a:xfrm>
            <a:off x="367200" y="3131999"/>
            <a:ext cx="8413200" cy="1655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131999"/>
            <a:ext cx="46800" cy="1655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200" y="3167999"/>
            <a:ext cx="8269200" cy="129600"/>
          </a:xfrm>
          <a:prstGeom prst="rect">
            <a:avLst/>
          </a:prstGeom>
          <a:noFill/>
        </p:spPr>
        <p:txBody>
          <a:bodyPr wrap="square">
            <a:spAutoFit/>
          </a:bodyPr>
          <a:lstStyle/>
          <a:p>
            <a:pPr algn="l"/>
            <a:r>
              <a:rPr sz="900" b="1" i="0">
                <a:solidFill>
                  <a:srgbClr val="1B3A6B"/>
                </a:solidFill>
              </a:rPr>
              <a:t>LECTURE DU SIGNAL FINSIGHT</a:t>
            </a:r>
          </a:p>
        </p:txBody>
      </p:sp>
      <p:sp>
        <p:nvSpPr>
          <p:cNvPr id="36" name="TextBox 35"/>
          <p:cNvSpPr txBox="1"/>
          <p:nvPr/>
        </p:nvSpPr>
        <p:spPr>
          <a:xfrm>
            <a:off x="475200" y="3311999"/>
            <a:ext cx="8233200" cy="1432799"/>
          </a:xfrm>
          <a:prstGeom prst="rect">
            <a:avLst/>
          </a:prstGeom>
          <a:noFill/>
        </p:spPr>
        <p:txBody>
          <a:bodyPr wrap="square">
            <a:spAutoFit/>
          </a:bodyPr>
          <a:lstStyle/>
          <a:p>
            <a:pPr algn="l"/>
            <a:r>
              <a:rPr sz="900" b="0" i="0">
                <a:solidFill>
                  <a:srgbClr val="1B3A6B"/>
                </a:solidFill>
              </a:rPr>
              <a:t>Le score FinSight est un indicateur propriétaire 0-100 agrégeant 4 dimensions : valorisation, croissance, qualité bilancielle et momentum. Les seuils d'allocation sont : ≥ 65 = Surpondérer (signal positif fort), 45-64 = Neutre (équilibré), &lt; 45 = Sous-pondérer (signal négatif). Le différentiel de score entre les deux indices (50 vs 50) traduit l'avantage relatif structurel. Égalité ressort avec le meilleur signal global, méritant une surpondération tactique sur un horizon 6-12 mois sous réserve de stabilité macroéconomique.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60000"/>
            <a:ext cx="8229600" cy="1645200"/>
          </a:xfrm>
          <a:prstGeom prst="rect">
            <a:avLst/>
          </a:prstGeom>
          <a:noFill/>
        </p:spPr>
        <p:txBody>
          <a:bodyPr wrap="none">
            <a:spAutoFit/>
          </a:bodyPr>
          <a:lstStyle/>
          <a:p>
            <a:r>
              <a:rPr sz="9600" b="1">
                <a:solidFill>
                  <a:srgbClr val="FFFFFF">
                    <a:alpha val="15000"/>
                  </a:srgbClr>
                </a:solidFill>
              </a:rPr>
              <a:t>04</a:t>
            </a:r>
          </a:p>
        </p:txBody>
      </p:sp>
      <p:sp>
        <p:nvSpPr>
          <p:cNvPr id="4" name="TextBox 3"/>
          <p:cNvSpPr txBox="1"/>
          <p:nvPr/>
        </p:nvSpPr>
        <p:spPr>
          <a:xfrm>
            <a:off x="457200" y="1980000"/>
            <a:ext cx="8229600" cy="648000"/>
          </a:xfrm>
          <a:prstGeom prst="rect">
            <a:avLst/>
          </a:prstGeom>
          <a:noFill/>
        </p:spPr>
        <p:txBody>
          <a:bodyPr wrap="square">
            <a:spAutoFit/>
          </a:bodyPr>
          <a:lstStyle/>
          <a:p>
            <a:pPr algn="l"/>
            <a:r>
              <a:rPr sz="3200" b="1" i="0">
                <a:solidFill>
                  <a:srgbClr val="FFFFFF"/>
                </a:solidFill>
              </a:rPr>
              <a:t>Décision d'Allocation</a:t>
            </a:r>
          </a:p>
        </p:txBody>
      </p:sp>
      <p:sp>
        <p:nvSpPr>
          <p:cNvPr id="5" name="Rectangle 4"/>
          <p:cNvSpPr/>
          <p:nvPr/>
        </p:nvSpPr>
        <p:spPr>
          <a:xfrm>
            <a:off x="457200" y="2880000"/>
            <a:ext cx="27432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88000"/>
            <a:ext cx="8229600" cy="342000"/>
          </a:xfrm>
          <a:prstGeom prst="rect">
            <a:avLst/>
          </a:prstGeom>
          <a:noFill/>
        </p:spPr>
        <p:txBody>
          <a:bodyPr wrap="square">
            <a:spAutoFit/>
          </a:bodyPr>
          <a:lstStyle/>
          <a:p>
            <a:pPr algn="l"/>
            <a:r>
              <a:rPr sz="1100" b="0" i="0">
                <a:solidFill>
                  <a:srgbClr val="AABBDD"/>
                </a:solidFill>
              </a:rPr>
              <a:t>Thèses bull/bear, verdict et conditions d'invalidation</a:t>
            </a:r>
          </a:p>
        </p:txBody>
      </p:sp>
      <p:sp>
        <p:nvSpPr>
          <p:cNvPr id="7" name="TextBox 6"/>
          <p:cNvSpPr txBox="1"/>
          <p:nvPr/>
        </p:nvSpPr>
        <p:spPr>
          <a:xfrm>
            <a:off x="367200" y="4860000"/>
            <a:ext cx="8413200" cy="201600"/>
          </a:xfrm>
          <a:prstGeom prst="rect">
            <a:avLst/>
          </a:prstGeom>
          <a:noFill/>
        </p:spPr>
        <p:txBody>
          <a:bodyPr wrap="square">
            <a:spAutoFit/>
          </a:bodyPr>
          <a:lstStyle/>
          <a:p>
            <a:pPr algn="l"/>
            <a:r>
              <a:rPr sz="700" b="0" i="0">
                <a:solidFill>
                  <a:srgbClr val="6677AA"/>
                </a:solidFill>
              </a:rPr>
              <a:t>FinSight IA  ·  Comparatif Indices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Thèses d'Investissement Bull / Bear</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Arguments structurels et risques majeurs : CAC 40 vs S&amp;P 500</a:t>
            </a:r>
          </a:p>
        </p:txBody>
      </p:sp>
      <p:sp>
        <p:nvSpPr>
          <p:cNvPr id="5" name="Rectangle 4"/>
          <p:cNvSpPr/>
          <p:nvPr/>
        </p:nvSpPr>
        <p:spPr>
          <a:xfrm>
            <a:off x="7056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FFFFFF"/>
                </a:solidFill>
              </a:rPr>
              <a:t>1</a:t>
            </a:r>
          </a:p>
        </p:txBody>
      </p:sp>
      <p:sp>
        <p:nvSpPr>
          <p:cNvPr id="7" name="Rectangle 6"/>
          <p:cNvSpPr/>
          <p:nvPr/>
        </p:nvSpPr>
        <p:spPr>
          <a:xfrm>
            <a:off x="7362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FFFFFF"/>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1B3A6B"/>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24000" y="756000"/>
            <a:ext cx="41184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6000" y="792000"/>
            <a:ext cx="3960000" cy="180000"/>
          </a:xfrm>
          <a:prstGeom prst="rect">
            <a:avLst/>
          </a:prstGeom>
          <a:noFill/>
        </p:spPr>
        <p:txBody>
          <a:bodyPr wrap="square">
            <a:spAutoFit/>
          </a:bodyPr>
          <a:lstStyle/>
          <a:p>
            <a:pPr algn="l"/>
            <a:r>
              <a:rPr sz="1000" b="1" i="0">
                <a:solidFill>
                  <a:srgbClr val="FFFFFF"/>
                </a:solidFill>
              </a:rPr>
              <a:t>THÈSE LONG  —  CAC 40</a:t>
            </a:r>
          </a:p>
        </p:txBody>
      </p:sp>
      <p:sp>
        <p:nvSpPr>
          <p:cNvPr id="17" name="Rectangle 16"/>
          <p:cNvSpPr/>
          <p:nvPr/>
        </p:nvSpPr>
        <p:spPr>
          <a:xfrm>
            <a:off x="4694400" y="756000"/>
            <a:ext cx="4118400" cy="234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66400" y="792000"/>
            <a:ext cx="3960000" cy="180000"/>
          </a:xfrm>
          <a:prstGeom prst="rect">
            <a:avLst/>
          </a:prstGeom>
          <a:noFill/>
        </p:spPr>
        <p:txBody>
          <a:bodyPr wrap="square">
            <a:spAutoFit/>
          </a:bodyPr>
          <a:lstStyle/>
          <a:p>
            <a:pPr algn="l"/>
            <a:r>
              <a:rPr sz="1000" b="1" i="0">
                <a:solidFill>
                  <a:srgbClr val="FFFFFF"/>
                </a:solidFill>
              </a:rPr>
              <a:t>THÈSE LONG  —  S&amp;P 500</a:t>
            </a:r>
          </a:p>
        </p:txBody>
      </p:sp>
      <p:sp>
        <p:nvSpPr>
          <p:cNvPr id="19" name="Rectangle 18"/>
          <p:cNvSpPr/>
          <p:nvPr/>
        </p:nvSpPr>
        <p:spPr>
          <a:xfrm>
            <a:off x="342000" y="1098000"/>
            <a:ext cx="79200" cy="79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000" y="1062000"/>
            <a:ext cx="3960000" cy="162000"/>
          </a:xfrm>
          <a:prstGeom prst="rect">
            <a:avLst/>
          </a:prstGeom>
          <a:noFill/>
        </p:spPr>
        <p:txBody>
          <a:bodyPr wrap="square">
            <a:spAutoFit/>
          </a:bodyPr>
          <a:lstStyle/>
          <a:p>
            <a:pPr algn="l"/>
            <a:r>
              <a:rPr sz="1000" b="1" i="0">
                <a:solidFill>
                  <a:srgbClr val="1B3A6B"/>
                </a:solidFill>
              </a:rPr>
              <a:t>Avantage structurel</a:t>
            </a:r>
          </a:p>
        </p:txBody>
      </p:sp>
      <p:sp>
        <p:nvSpPr>
          <p:cNvPr id="21" name="TextBox 20"/>
          <p:cNvSpPr txBox="1"/>
          <p:nvPr/>
        </p:nvSpPr>
        <p:spPr>
          <a:xfrm>
            <a:off x="468000" y="1242000"/>
            <a:ext cx="3960000" cy="630000"/>
          </a:xfrm>
          <a:prstGeom prst="rect">
            <a:avLst/>
          </a:prstGeom>
          <a:noFill/>
        </p:spPr>
        <p:txBody>
          <a:bodyPr wrap="square">
            <a:spAutoFit/>
          </a:bodyPr>
          <a:lstStyle/>
          <a:p>
            <a:pPr algn="l"/>
            <a:r>
              <a:rPr sz="850" b="0" i="1">
                <a:solidFill>
                  <a:srgbClr val="555555"/>
                </a:solidFill>
              </a:rPr>
              <a:t>Composition sectorielle alignée avec les moteurs de croissance long terme.</a:t>
            </a:r>
          </a:p>
        </p:txBody>
      </p:sp>
      <p:sp>
        <p:nvSpPr>
          <p:cNvPr id="22" name="Rectangle 21"/>
          <p:cNvSpPr/>
          <p:nvPr/>
        </p:nvSpPr>
        <p:spPr>
          <a:xfrm>
            <a:off x="342000" y="1961999"/>
            <a:ext cx="79200" cy="79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925999"/>
            <a:ext cx="3960000" cy="162000"/>
          </a:xfrm>
          <a:prstGeom prst="rect">
            <a:avLst/>
          </a:prstGeom>
          <a:noFill/>
        </p:spPr>
        <p:txBody>
          <a:bodyPr wrap="square">
            <a:spAutoFit/>
          </a:bodyPr>
          <a:lstStyle/>
          <a:p>
            <a:pPr algn="l"/>
            <a:r>
              <a:rPr sz="1000" b="1" i="0">
                <a:solidFill>
                  <a:srgbClr val="1B3A6B"/>
                </a:solidFill>
              </a:rPr>
              <a:t>Profil rendement-risque</a:t>
            </a:r>
          </a:p>
        </p:txBody>
      </p:sp>
      <p:sp>
        <p:nvSpPr>
          <p:cNvPr id="24" name="TextBox 23"/>
          <p:cNvSpPr txBox="1"/>
          <p:nvPr/>
        </p:nvSpPr>
        <p:spPr>
          <a:xfrm>
            <a:off x="468000" y="2106000"/>
            <a:ext cx="3960000" cy="630000"/>
          </a:xfrm>
          <a:prstGeom prst="rect">
            <a:avLst/>
          </a:prstGeom>
          <a:noFill/>
        </p:spPr>
        <p:txBody>
          <a:bodyPr wrap="square">
            <a:spAutoFit/>
          </a:bodyPr>
          <a:lstStyle/>
          <a:p>
            <a:pPr algn="l"/>
            <a:r>
              <a:rPr sz="850" b="0" i="1">
                <a:solidFill>
                  <a:srgbClr val="555555"/>
                </a:solidFill>
              </a:rPr>
              <a:t>Couple performance/volatilité historiquement attractif sur 5 ans.</a:t>
            </a:r>
          </a:p>
        </p:txBody>
      </p:sp>
      <p:sp>
        <p:nvSpPr>
          <p:cNvPr id="25" name="Rectangle 24"/>
          <p:cNvSpPr/>
          <p:nvPr/>
        </p:nvSpPr>
        <p:spPr>
          <a:xfrm>
            <a:off x="342000" y="2826000"/>
            <a:ext cx="79200" cy="79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8000" y="2790000"/>
            <a:ext cx="3960000" cy="162000"/>
          </a:xfrm>
          <a:prstGeom prst="rect">
            <a:avLst/>
          </a:prstGeom>
          <a:noFill/>
        </p:spPr>
        <p:txBody>
          <a:bodyPr wrap="square">
            <a:spAutoFit/>
          </a:bodyPr>
          <a:lstStyle/>
          <a:p>
            <a:pPr algn="l"/>
            <a:r>
              <a:rPr sz="1000" b="1" i="0">
                <a:solidFill>
                  <a:srgbClr val="1B3A6B"/>
                </a:solidFill>
              </a:rPr>
              <a:t>Liquidité institutionnelle</a:t>
            </a:r>
          </a:p>
        </p:txBody>
      </p:sp>
      <p:sp>
        <p:nvSpPr>
          <p:cNvPr id="27" name="TextBox 26"/>
          <p:cNvSpPr txBox="1"/>
          <p:nvPr/>
        </p:nvSpPr>
        <p:spPr>
          <a:xfrm>
            <a:off x="468000" y="2970000"/>
            <a:ext cx="3960000" cy="630000"/>
          </a:xfrm>
          <a:prstGeom prst="rect">
            <a:avLst/>
          </a:prstGeom>
          <a:noFill/>
        </p:spPr>
        <p:txBody>
          <a:bodyPr wrap="square">
            <a:spAutoFit/>
          </a:bodyPr>
          <a:lstStyle/>
          <a:p>
            <a:pPr algn="l"/>
            <a:r>
              <a:rPr sz="850" b="0" i="1">
                <a:solidFill>
                  <a:srgbClr val="555555"/>
                </a:solidFill>
              </a:rPr>
              <a:t>Univers profond et liquide, accessible via ETF à coût réduit.</a:t>
            </a:r>
          </a:p>
        </p:txBody>
      </p:sp>
      <p:sp>
        <p:nvSpPr>
          <p:cNvPr id="28" name="Rectangle 27"/>
          <p:cNvSpPr/>
          <p:nvPr/>
        </p:nvSpPr>
        <p:spPr>
          <a:xfrm>
            <a:off x="4712400" y="1098000"/>
            <a:ext cx="79200" cy="792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38400" y="1062000"/>
            <a:ext cx="3960000" cy="162000"/>
          </a:xfrm>
          <a:prstGeom prst="rect">
            <a:avLst/>
          </a:prstGeom>
          <a:noFill/>
        </p:spPr>
        <p:txBody>
          <a:bodyPr wrap="square">
            <a:spAutoFit/>
          </a:bodyPr>
          <a:lstStyle/>
          <a:p>
            <a:pPr algn="l"/>
            <a:r>
              <a:rPr sz="1000" b="1" i="0">
                <a:solidFill>
                  <a:srgbClr val="1A7A4A"/>
                </a:solidFill>
              </a:rPr>
              <a:t>Diversification</a:t>
            </a:r>
          </a:p>
        </p:txBody>
      </p:sp>
      <p:sp>
        <p:nvSpPr>
          <p:cNvPr id="30" name="TextBox 29"/>
          <p:cNvSpPr txBox="1"/>
          <p:nvPr/>
        </p:nvSpPr>
        <p:spPr>
          <a:xfrm>
            <a:off x="4838400" y="1242000"/>
            <a:ext cx="3960000" cy="630000"/>
          </a:xfrm>
          <a:prstGeom prst="rect">
            <a:avLst/>
          </a:prstGeom>
          <a:noFill/>
        </p:spPr>
        <p:txBody>
          <a:bodyPr wrap="square">
            <a:spAutoFit/>
          </a:bodyPr>
          <a:lstStyle/>
          <a:p>
            <a:pPr algn="l"/>
            <a:r>
              <a:rPr sz="850" b="0" i="1">
                <a:solidFill>
                  <a:srgbClr val="555555"/>
                </a:solidFill>
              </a:rPr>
              <a:t>Indice complémentaire offrant une exposition différenciée.</a:t>
            </a:r>
          </a:p>
        </p:txBody>
      </p:sp>
      <p:sp>
        <p:nvSpPr>
          <p:cNvPr id="31" name="Rectangle 30"/>
          <p:cNvSpPr/>
          <p:nvPr/>
        </p:nvSpPr>
        <p:spPr>
          <a:xfrm>
            <a:off x="4712400" y="1961999"/>
            <a:ext cx="79200" cy="792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38400" y="1925999"/>
            <a:ext cx="3960000" cy="162000"/>
          </a:xfrm>
          <a:prstGeom prst="rect">
            <a:avLst/>
          </a:prstGeom>
          <a:noFill/>
        </p:spPr>
        <p:txBody>
          <a:bodyPr wrap="square">
            <a:spAutoFit/>
          </a:bodyPr>
          <a:lstStyle/>
          <a:p>
            <a:pPr algn="l"/>
            <a:r>
              <a:rPr sz="1000" b="1" i="0">
                <a:solidFill>
                  <a:srgbClr val="1A7A4A"/>
                </a:solidFill>
              </a:rPr>
              <a:t>Valorisation relative</a:t>
            </a:r>
          </a:p>
        </p:txBody>
      </p:sp>
      <p:sp>
        <p:nvSpPr>
          <p:cNvPr id="33" name="TextBox 32"/>
          <p:cNvSpPr txBox="1"/>
          <p:nvPr/>
        </p:nvSpPr>
        <p:spPr>
          <a:xfrm>
            <a:off x="4838400" y="2106000"/>
            <a:ext cx="3960000" cy="630000"/>
          </a:xfrm>
          <a:prstGeom prst="rect">
            <a:avLst/>
          </a:prstGeom>
          <a:noFill/>
        </p:spPr>
        <p:txBody>
          <a:bodyPr wrap="square">
            <a:spAutoFit/>
          </a:bodyPr>
          <a:lstStyle/>
          <a:p>
            <a:pPr algn="l"/>
            <a:r>
              <a:rPr sz="850" b="0" i="1">
                <a:solidFill>
                  <a:srgbClr val="555555"/>
                </a:solidFill>
              </a:rPr>
              <a:t>Multiples plus attractifs vs moyennes historiques.</a:t>
            </a:r>
          </a:p>
        </p:txBody>
      </p:sp>
      <p:sp>
        <p:nvSpPr>
          <p:cNvPr id="34" name="Rectangle 33"/>
          <p:cNvSpPr/>
          <p:nvPr/>
        </p:nvSpPr>
        <p:spPr>
          <a:xfrm>
            <a:off x="4712400" y="2826000"/>
            <a:ext cx="79200" cy="792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38400" y="2790000"/>
            <a:ext cx="3960000" cy="162000"/>
          </a:xfrm>
          <a:prstGeom prst="rect">
            <a:avLst/>
          </a:prstGeom>
          <a:noFill/>
        </p:spPr>
        <p:txBody>
          <a:bodyPr wrap="square">
            <a:spAutoFit/>
          </a:bodyPr>
          <a:lstStyle/>
          <a:p>
            <a:pPr algn="l"/>
            <a:r>
              <a:rPr sz="1000" b="1" i="0">
                <a:solidFill>
                  <a:srgbClr val="1A7A4A"/>
                </a:solidFill>
              </a:rPr>
              <a:t>Catalyseurs sectoriels</a:t>
            </a:r>
          </a:p>
        </p:txBody>
      </p:sp>
      <p:sp>
        <p:nvSpPr>
          <p:cNvPr id="36" name="TextBox 35"/>
          <p:cNvSpPr txBox="1"/>
          <p:nvPr/>
        </p:nvSpPr>
        <p:spPr>
          <a:xfrm>
            <a:off x="4838400" y="2970000"/>
            <a:ext cx="3960000" cy="630000"/>
          </a:xfrm>
          <a:prstGeom prst="rect">
            <a:avLst/>
          </a:prstGeom>
          <a:noFill/>
        </p:spPr>
        <p:txBody>
          <a:bodyPr wrap="square">
            <a:spAutoFit/>
          </a:bodyPr>
          <a:lstStyle/>
          <a:p>
            <a:pPr algn="l"/>
            <a:r>
              <a:rPr sz="850" b="0" i="1">
                <a:solidFill>
                  <a:srgbClr val="555555"/>
                </a:solidFill>
              </a:rPr>
              <a:t>Bénéficiaire des rotations à venir sur cycle macro.</a:t>
            </a:r>
          </a:p>
        </p:txBody>
      </p:sp>
      <p:sp>
        <p:nvSpPr>
          <p:cNvPr id="37" name="Rectangle 36"/>
          <p:cNvSpPr/>
          <p:nvPr/>
        </p:nvSpPr>
        <p:spPr>
          <a:xfrm>
            <a:off x="324000" y="3744000"/>
            <a:ext cx="8496000" cy="198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3765600"/>
            <a:ext cx="8352000" cy="162000"/>
          </a:xfrm>
          <a:prstGeom prst="rect">
            <a:avLst/>
          </a:prstGeom>
          <a:noFill/>
        </p:spPr>
        <p:txBody>
          <a:bodyPr wrap="square">
            <a:spAutoFit/>
          </a:bodyPr>
          <a:lstStyle/>
          <a:p>
            <a:pPr algn="ctr"/>
            <a:r>
              <a:rPr sz="1000" b="1" i="0">
                <a:solidFill>
                  <a:srgbClr val="FFFFFF"/>
                </a:solidFill>
              </a:rPr>
              <a:t>RISQUES PRINCIPAUX</a:t>
            </a:r>
          </a:p>
        </p:txBody>
      </p:sp>
      <p:sp>
        <p:nvSpPr>
          <p:cNvPr id="39" name="Rectangle 38"/>
          <p:cNvSpPr/>
          <p:nvPr/>
        </p:nvSpPr>
        <p:spPr>
          <a:xfrm>
            <a:off x="324000" y="3960000"/>
            <a:ext cx="8496000" cy="827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24000" y="3960000"/>
            <a:ext cx="46800" cy="827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2000" y="3996000"/>
            <a:ext cx="8352000" cy="129600"/>
          </a:xfrm>
          <a:prstGeom prst="rect">
            <a:avLst/>
          </a:prstGeom>
          <a:noFill/>
        </p:spPr>
        <p:txBody>
          <a:bodyPr wrap="square">
            <a:spAutoFit/>
          </a:bodyPr>
          <a:lstStyle/>
          <a:p>
            <a:pPr algn="l"/>
            <a:r>
              <a:rPr sz="900" b="1" i="0">
                <a:solidFill>
                  <a:srgbClr val="1B3A6B"/>
                </a:solidFill>
              </a:rPr>
              <a:t>CAC 40 VS S&amp;P 500 — RISQUES STRUCTURELS ET POINTS D'INVALIDATION</a:t>
            </a:r>
          </a:p>
        </p:txBody>
      </p:sp>
      <p:sp>
        <p:nvSpPr>
          <p:cNvPr id="42" name="TextBox 41"/>
          <p:cNvSpPr txBox="1"/>
          <p:nvPr/>
        </p:nvSpPr>
        <p:spPr>
          <a:xfrm>
            <a:off x="432000" y="4140000"/>
            <a:ext cx="8316000" cy="604799"/>
          </a:xfrm>
          <a:prstGeom prst="rect">
            <a:avLst/>
          </a:prstGeom>
          <a:noFill/>
        </p:spPr>
        <p:txBody>
          <a:bodyPr wrap="square">
            <a:spAutoFit/>
          </a:bodyPr>
          <a:lstStyle/>
          <a:p>
            <a:pPr algn="l"/>
            <a:r>
              <a:rPr sz="900" b="0" i="0">
                <a:solidFill>
                  <a:srgbClr val="1B3A6B"/>
                </a:solidFill>
              </a:rPr>
              <a:t>CAC 40 : exposition aux cycles macro et risques de re-rating en cas de hausse des taux. Concentration sur les leaders amplifie l'impact des publications individuelles. S&amp;P 500 : sensibilité aux flux de capitaux et aux décisions des banques centrales. Les deux indices sont corrélés sur les chocs systémiques (récession, crise de liquidité).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7200" y="100800"/>
            <a:ext cx="6480000" cy="349200"/>
          </a:xfrm>
          <a:prstGeom prst="rect">
            <a:avLst/>
          </a:prstGeom>
          <a:noFill/>
        </p:spPr>
        <p:txBody>
          <a:bodyPr wrap="square">
            <a:spAutoFit/>
          </a:bodyPr>
          <a:lstStyle/>
          <a:p>
            <a:pPr algn="l"/>
            <a:r>
              <a:rPr sz="1300" b="1" i="0">
                <a:solidFill>
                  <a:srgbClr val="FFFFFF"/>
                </a:solidFill>
              </a:rPr>
              <a:t>Verdict Comparatif  —  Conviction d'Allocation</a:t>
            </a:r>
          </a:p>
        </p:txBody>
      </p:sp>
      <p:sp>
        <p:nvSpPr>
          <p:cNvPr id="4" name="TextBox 3"/>
          <p:cNvSpPr txBox="1"/>
          <p:nvPr/>
        </p:nvSpPr>
        <p:spPr>
          <a:xfrm>
            <a:off x="367200" y="622800"/>
            <a:ext cx="8413200" cy="180000"/>
          </a:xfrm>
          <a:prstGeom prst="rect">
            <a:avLst/>
          </a:prstGeom>
          <a:noFill/>
        </p:spPr>
        <p:txBody>
          <a:bodyPr wrap="square">
            <a:spAutoFit/>
          </a:bodyPr>
          <a:lstStyle/>
          <a:p>
            <a:pPr algn="l"/>
            <a:r>
              <a:rPr sz="900" b="0" i="1">
                <a:solidFill>
                  <a:srgbClr val="2E5FA3"/>
                </a:solidFill>
              </a:rPr>
              <a:t>Indice à privilégier, arguments décisionnels et conditions d'invalidation</a:t>
            </a:r>
          </a:p>
        </p:txBody>
      </p:sp>
      <p:sp>
        <p:nvSpPr>
          <p:cNvPr id="5" name="Rectangle 4"/>
          <p:cNvSpPr/>
          <p:nvPr/>
        </p:nvSpPr>
        <p:spPr>
          <a:xfrm>
            <a:off x="7056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6000" y="180000"/>
            <a:ext cx="234000" cy="198000"/>
          </a:xfrm>
          <a:prstGeom prst="rect">
            <a:avLst/>
          </a:prstGeom>
          <a:noFill/>
        </p:spPr>
        <p:txBody>
          <a:bodyPr wrap="none">
            <a:spAutoFit/>
          </a:bodyPr>
          <a:lstStyle/>
          <a:p>
            <a:pPr algn="ctr"/>
            <a:r>
              <a:rPr sz="850" b="1" i="0">
                <a:solidFill>
                  <a:srgbClr val="FFFFFF"/>
                </a:solidFill>
              </a:rPr>
              <a:t>1</a:t>
            </a:r>
          </a:p>
        </p:txBody>
      </p:sp>
      <p:sp>
        <p:nvSpPr>
          <p:cNvPr id="7" name="Rectangle 6"/>
          <p:cNvSpPr/>
          <p:nvPr/>
        </p:nvSpPr>
        <p:spPr>
          <a:xfrm>
            <a:off x="7362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2000" y="180000"/>
            <a:ext cx="234000" cy="198000"/>
          </a:xfrm>
          <a:prstGeom prst="rect">
            <a:avLst/>
          </a:prstGeom>
          <a:noFill/>
        </p:spPr>
        <p:txBody>
          <a:bodyPr wrap="none">
            <a:spAutoFit/>
          </a:bodyPr>
          <a:lstStyle/>
          <a:p>
            <a:pPr algn="ctr"/>
            <a:r>
              <a:rPr sz="850" b="1" i="0">
                <a:solidFill>
                  <a:srgbClr val="FFFFFF"/>
                </a:solidFill>
              </a:rPr>
              <a:t>2</a:t>
            </a:r>
          </a:p>
        </p:txBody>
      </p:sp>
      <p:sp>
        <p:nvSpPr>
          <p:cNvPr id="9" name="Rectangle 8"/>
          <p:cNvSpPr/>
          <p:nvPr/>
        </p:nvSpPr>
        <p:spPr>
          <a:xfrm>
            <a:off x="7668000" y="162000"/>
            <a:ext cx="2340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8000" y="180000"/>
            <a:ext cx="234000" cy="198000"/>
          </a:xfrm>
          <a:prstGeom prst="rect">
            <a:avLst/>
          </a:prstGeom>
          <a:noFill/>
        </p:spPr>
        <p:txBody>
          <a:bodyPr wrap="none">
            <a:spAutoFit/>
          </a:bodyPr>
          <a:lstStyle/>
          <a:p>
            <a:pPr algn="ctr"/>
            <a:r>
              <a:rPr sz="850" b="1" i="0">
                <a:solidFill>
                  <a:srgbClr val="FFFFFF"/>
                </a:solidFill>
              </a:rPr>
              <a:t>3</a:t>
            </a:r>
          </a:p>
        </p:txBody>
      </p:sp>
      <p:sp>
        <p:nvSpPr>
          <p:cNvPr id="11" name="Rectangle 10"/>
          <p:cNvSpPr/>
          <p:nvPr/>
        </p:nvSpPr>
        <p:spPr>
          <a:xfrm>
            <a:off x="7974000" y="162000"/>
            <a:ext cx="234000" cy="23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4000" y="180000"/>
            <a:ext cx="234000" cy="198000"/>
          </a:xfrm>
          <a:prstGeom prst="rect">
            <a:avLst/>
          </a:prstGeom>
          <a:noFill/>
        </p:spPr>
        <p:txBody>
          <a:bodyPr wrap="none">
            <a:spAutoFit/>
          </a:bodyPr>
          <a:lstStyle/>
          <a:p>
            <a:pPr algn="ctr"/>
            <a:r>
              <a:rPr sz="850" b="1" i="0">
                <a:solidFill>
                  <a:srgbClr val="1B3A6B"/>
                </a:solidFill>
              </a:rPr>
              <a:t>4</a:t>
            </a:r>
          </a:p>
        </p:txBody>
      </p:sp>
      <p:sp>
        <p:nvSpPr>
          <p:cNvPr id="13" name="Rectangle 12"/>
          <p:cNvSpPr/>
          <p:nvPr/>
        </p:nvSpPr>
        <p:spPr>
          <a:xfrm>
            <a:off x="0" y="4820400"/>
            <a:ext cx="9144000" cy="327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200" y="4849200"/>
            <a:ext cx="8413200" cy="180000"/>
          </a:xfrm>
          <a:prstGeom prst="rect">
            <a:avLst/>
          </a:prstGeom>
          <a:noFill/>
        </p:spPr>
        <p:txBody>
          <a:bodyPr wrap="square">
            <a:spAutoFit/>
          </a:bodyPr>
          <a:lstStyle/>
          <a:p>
            <a:pPr algn="l"/>
            <a:r>
              <a:rPr sz="700" b="0" i="0">
                <a:solidFill>
                  <a:srgbClr val="FFFFFF"/>
                </a:solidFill>
              </a:rPr>
              <a:t>FinSight IA  ·  Comparatif Indices  ·  Usage confidentiel</a:t>
            </a:r>
          </a:p>
        </p:txBody>
      </p:sp>
      <p:sp>
        <p:nvSpPr>
          <p:cNvPr id="15" name="Rectangle 14"/>
          <p:cNvSpPr/>
          <p:nvPr/>
        </p:nvSpPr>
        <p:spPr>
          <a:xfrm>
            <a:off x="324000" y="756000"/>
            <a:ext cx="8496000" cy="503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000" y="792000"/>
            <a:ext cx="8424000" cy="270000"/>
          </a:xfrm>
          <a:prstGeom prst="rect">
            <a:avLst/>
          </a:prstGeom>
          <a:noFill/>
        </p:spPr>
        <p:txBody>
          <a:bodyPr wrap="square">
            <a:spAutoFit/>
          </a:bodyPr>
          <a:lstStyle/>
          <a:p>
            <a:pPr algn="ctr"/>
            <a:r>
              <a:rPr sz="1700" b="1" i="0">
                <a:solidFill>
                  <a:srgbClr val="FFFFFF"/>
                </a:solidFill>
              </a:rPr>
              <a:t>INDICE PRIVILÉGIÉ : CAC 40</a:t>
            </a:r>
          </a:p>
        </p:txBody>
      </p:sp>
      <p:sp>
        <p:nvSpPr>
          <p:cNvPr id="17" name="TextBox 16"/>
          <p:cNvSpPr txBox="1"/>
          <p:nvPr/>
        </p:nvSpPr>
        <p:spPr>
          <a:xfrm>
            <a:off x="360000" y="1069200"/>
            <a:ext cx="8424000" cy="144000"/>
          </a:xfrm>
          <a:prstGeom prst="rect">
            <a:avLst/>
          </a:prstGeom>
          <a:noFill/>
        </p:spPr>
        <p:txBody>
          <a:bodyPr wrap="square">
            <a:spAutoFit/>
          </a:bodyPr>
          <a:lstStyle/>
          <a:p>
            <a:pPr algn="ctr"/>
            <a:r>
              <a:rPr sz="900" b="0" i="0">
                <a:solidFill>
                  <a:srgbClr val="FFFFFF"/>
                </a:solidFill>
              </a:rPr>
              <a:t>Signal : Neutre  |  Score 50/100 vs 50/100  |  Écart 0 pts</a:t>
            </a:r>
          </a:p>
        </p:txBody>
      </p:sp>
      <p:sp>
        <p:nvSpPr>
          <p:cNvPr id="18" name="Rectangle 17"/>
          <p:cNvSpPr/>
          <p:nvPr/>
        </p:nvSpPr>
        <p:spPr>
          <a:xfrm>
            <a:off x="324000" y="1332000"/>
            <a:ext cx="8496000" cy="827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1332000"/>
            <a:ext cx="46800" cy="827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000" y="1368000"/>
            <a:ext cx="8352000" cy="129600"/>
          </a:xfrm>
          <a:prstGeom prst="rect">
            <a:avLst/>
          </a:prstGeom>
          <a:noFill/>
        </p:spPr>
        <p:txBody>
          <a:bodyPr wrap="square">
            <a:spAutoFit/>
          </a:bodyPr>
          <a:lstStyle/>
          <a:p>
            <a:pPr algn="l"/>
            <a:r>
              <a:rPr sz="900" b="1" i="0">
                <a:solidFill>
                  <a:srgbClr val="1B3A6B"/>
                </a:solidFill>
              </a:rPr>
              <a:t>CAC 40 PRIVILÉGIÉ (50/100) — ÉCART 0 PTS : CONVICTION NEUTRE</a:t>
            </a:r>
          </a:p>
        </p:txBody>
      </p:sp>
      <p:sp>
        <p:nvSpPr>
          <p:cNvPr id="21" name="TextBox 20"/>
          <p:cNvSpPr txBox="1"/>
          <p:nvPr/>
        </p:nvSpPr>
        <p:spPr>
          <a:xfrm>
            <a:off x="432000" y="1512000"/>
            <a:ext cx="8316000" cy="604799"/>
          </a:xfrm>
          <a:prstGeom prst="rect">
            <a:avLst/>
          </a:prstGeom>
          <a:noFill/>
        </p:spPr>
        <p:txBody>
          <a:bodyPr wrap="square">
            <a:spAutoFit/>
          </a:bodyPr>
          <a:lstStyle/>
          <a:p>
            <a:pPr algn="l"/>
            <a:r>
              <a:rPr sz="900" b="0" i="0">
                <a:solidFill>
                  <a:srgbClr val="1B3A6B"/>
                </a:solidFill>
              </a:rPr>
              <a:t>CAC 40 présente le profil risque/rendement le plus attractif sur l'horizon 6-12 mois. Le score FinSight de 50/100 traduit une supériorité structurelle sur les dimensions performance, risque et valorisation. L'écart de 0 pts vs l'autre indice (50/100) légitime une surpondération tactique, sous réserve de stabilité macroéconomique et d'absence de choc réglementaire majeur.</a:t>
            </a:r>
          </a:p>
        </p:txBody>
      </p:sp>
      <p:sp>
        <p:nvSpPr>
          <p:cNvPr id="22" name="Rectangle 21"/>
          <p:cNvSpPr/>
          <p:nvPr/>
        </p:nvSpPr>
        <p:spPr>
          <a:xfrm>
            <a:off x="324000" y="2232000"/>
            <a:ext cx="26640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250000"/>
            <a:ext cx="2664000" cy="144000"/>
          </a:xfrm>
          <a:prstGeom prst="rect">
            <a:avLst/>
          </a:prstGeom>
          <a:noFill/>
        </p:spPr>
        <p:txBody>
          <a:bodyPr wrap="square">
            <a:spAutoFit/>
          </a:bodyPr>
          <a:lstStyle/>
          <a:p>
            <a:pPr algn="ctr"/>
            <a:r>
              <a:rPr sz="900" b="1" i="0">
                <a:solidFill>
                  <a:srgbClr val="FFFFFF"/>
                </a:solidFill>
              </a:rPr>
              <a:t>CATALYSEURS CLÉS</a:t>
            </a:r>
          </a:p>
        </p:txBody>
      </p:sp>
      <p:sp>
        <p:nvSpPr>
          <p:cNvPr id="24" name="Rectangle 23"/>
          <p:cNvSpPr/>
          <p:nvPr/>
        </p:nvSpPr>
        <p:spPr>
          <a:xfrm>
            <a:off x="324000" y="2466000"/>
            <a:ext cx="72000" cy="7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9200" y="2458800"/>
            <a:ext cx="2520000" cy="162000"/>
          </a:xfrm>
          <a:prstGeom prst="rect">
            <a:avLst/>
          </a:prstGeom>
          <a:noFill/>
        </p:spPr>
        <p:txBody>
          <a:bodyPr wrap="square">
            <a:spAutoFit/>
          </a:bodyPr>
          <a:lstStyle/>
          <a:p>
            <a:pPr algn="l"/>
            <a:r>
              <a:rPr sz="850" b="1" i="0">
                <a:solidFill>
                  <a:srgbClr val="1B3A6B"/>
                </a:solidFill>
              </a:rPr>
              <a:t>Stabilisation des taux</a:t>
            </a:r>
          </a:p>
        </p:txBody>
      </p:sp>
      <p:sp>
        <p:nvSpPr>
          <p:cNvPr id="26" name="TextBox 25"/>
          <p:cNvSpPr txBox="1"/>
          <p:nvPr/>
        </p:nvSpPr>
        <p:spPr>
          <a:xfrm>
            <a:off x="439200" y="2628000"/>
            <a:ext cx="2520000" cy="503999"/>
          </a:xfrm>
          <a:prstGeom prst="rect">
            <a:avLst/>
          </a:prstGeom>
          <a:noFill/>
        </p:spPr>
        <p:txBody>
          <a:bodyPr wrap="square">
            <a:spAutoFit/>
          </a:bodyPr>
          <a:lstStyle/>
          <a:p>
            <a:pPr algn="l"/>
            <a:r>
              <a:rPr sz="750" b="0" i="0">
                <a:solidFill>
                  <a:srgbClr val="555555"/>
                </a:solidFill>
              </a:rPr>
              <a:t>Pivot dovish des banques centrales soutient les actions risquées.</a:t>
            </a:r>
          </a:p>
        </p:txBody>
      </p:sp>
      <p:sp>
        <p:nvSpPr>
          <p:cNvPr id="27" name="Rectangle 26"/>
          <p:cNvSpPr/>
          <p:nvPr/>
        </p:nvSpPr>
        <p:spPr>
          <a:xfrm>
            <a:off x="324000" y="3167999"/>
            <a:ext cx="72000" cy="7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9200" y="3160800"/>
            <a:ext cx="2520000" cy="162000"/>
          </a:xfrm>
          <a:prstGeom prst="rect">
            <a:avLst/>
          </a:prstGeom>
          <a:noFill/>
        </p:spPr>
        <p:txBody>
          <a:bodyPr wrap="square">
            <a:spAutoFit/>
          </a:bodyPr>
          <a:lstStyle/>
          <a:p>
            <a:pPr algn="l"/>
            <a:r>
              <a:rPr sz="850" b="1" i="0">
                <a:solidFill>
                  <a:srgbClr val="1B3A6B"/>
                </a:solidFill>
              </a:rPr>
              <a:t>Révisions positives</a:t>
            </a:r>
          </a:p>
        </p:txBody>
      </p:sp>
      <p:sp>
        <p:nvSpPr>
          <p:cNvPr id="29" name="TextBox 28"/>
          <p:cNvSpPr txBox="1"/>
          <p:nvPr/>
        </p:nvSpPr>
        <p:spPr>
          <a:xfrm>
            <a:off x="439200" y="3329999"/>
            <a:ext cx="2520000" cy="503999"/>
          </a:xfrm>
          <a:prstGeom prst="rect">
            <a:avLst/>
          </a:prstGeom>
          <a:noFill/>
        </p:spPr>
        <p:txBody>
          <a:bodyPr wrap="square">
            <a:spAutoFit/>
          </a:bodyPr>
          <a:lstStyle/>
          <a:p>
            <a:pPr algn="l"/>
            <a:r>
              <a:rPr sz="750" b="0" i="0">
                <a:solidFill>
                  <a:srgbClr val="555555"/>
                </a:solidFill>
              </a:rPr>
              <a:t>Consensus EPS attendu en hausse sur les 2 prochains trimestres.</a:t>
            </a:r>
          </a:p>
        </p:txBody>
      </p:sp>
      <p:sp>
        <p:nvSpPr>
          <p:cNvPr id="30" name="Rectangle 29"/>
          <p:cNvSpPr/>
          <p:nvPr/>
        </p:nvSpPr>
        <p:spPr>
          <a:xfrm>
            <a:off x="3096000" y="2232000"/>
            <a:ext cx="26640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96000" y="2250000"/>
            <a:ext cx="2664000" cy="144000"/>
          </a:xfrm>
          <a:prstGeom prst="rect">
            <a:avLst/>
          </a:prstGeom>
          <a:noFill/>
        </p:spPr>
        <p:txBody>
          <a:bodyPr wrap="square">
            <a:spAutoFit/>
          </a:bodyPr>
          <a:lstStyle/>
          <a:p>
            <a:pPr algn="ctr"/>
            <a:r>
              <a:rPr sz="900" b="1" i="0">
                <a:solidFill>
                  <a:srgbClr val="FFFFFF"/>
                </a:solidFill>
              </a:rPr>
              <a:t>RISQUES PRINCIPAUX</a:t>
            </a:r>
          </a:p>
        </p:txBody>
      </p:sp>
      <p:sp>
        <p:nvSpPr>
          <p:cNvPr id="32" name="Rectangle 31"/>
          <p:cNvSpPr/>
          <p:nvPr/>
        </p:nvSpPr>
        <p:spPr>
          <a:xfrm>
            <a:off x="3096000" y="2466000"/>
            <a:ext cx="72000" cy="7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11200" y="2458800"/>
            <a:ext cx="2520000" cy="162000"/>
          </a:xfrm>
          <a:prstGeom prst="rect">
            <a:avLst/>
          </a:prstGeom>
          <a:noFill/>
        </p:spPr>
        <p:txBody>
          <a:bodyPr wrap="square">
            <a:spAutoFit/>
          </a:bodyPr>
          <a:lstStyle/>
          <a:p>
            <a:pPr algn="l"/>
            <a:r>
              <a:rPr sz="850" b="1" i="0">
                <a:solidFill>
                  <a:srgbClr val="1B3A6B"/>
                </a:solidFill>
              </a:rPr>
              <a:t>Choc géopolitique</a:t>
            </a:r>
          </a:p>
        </p:txBody>
      </p:sp>
      <p:sp>
        <p:nvSpPr>
          <p:cNvPr id="34" name="TextBox 33"/>
          <p:cNvSpPr txBox="1"/>
          <p:nvPr/>
        </p:nvSpPr>
        <p:spPr>
          <a:xfrm>
            <a:off x="3211200" y="2628000"/>
            <a:ext cx="2520000" cy="503999"/>
          </a:xfrm>
          <a:prstGeom prst="rect">
            <a:avLst/>
          </a:prstGeom>
          <a:noFill/>
        </p:spPr>
        <p:txBody>
          <a:bodyPr wrap="square">
            <a:spAutoFit/>
          </a:bodyPr>
          <a:lstStyle/>
          <a:p>
            <a:pPr algn="l"/>
            <a:r>
              <a:rPr sz="750" b="0" i="0">
                <a:solidFill>
                  <a:srgbClr val="555555"/>
                </a:solidFill>
              </a:rPr>
              <a:t>Tension commerciale ou conflit majeur déclenchant un risk-off généralisé.</a:t>
            </a:r>
          </a:p>
        </p:txBody>
      </p:sp>
      <p:sp>
        <p:nvSpPr>
          <p:cNvPr id="35" name="Rectangle 34"/>
          <p:cNvSpPr/>
          <p:nvPr/>
        </p:nvSpPr>
        <p:spPr>
          <a:xfrm>
            <a:off x="3096000" y="3167999"/>
            <a:ext cx="72000" cy="7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11200" y="3160800"/>
            <a:ext cx="2520000" cy="162000"/>
          </a:xfrm>
          <a:prstGeom prst="rect">
            <a:avLst/>
          </a:prstGeom>
          <a:noFill/>
        </p:spPr>
        <p:txBody>
          <a:bodyPr wrap="square">
            <a:spAutoFit/>
          </a:bodyPr>
          <a:lstStyle/>
          <a:p>
            <a:pPr algn="l"/>
            <a:r>
              <a:rPr sz="850" b="1" i="0">
                <a:solidFill>
                  <a:srgbClr val="1B3A6B"/>
                </a:solidFill>
              </a:rPr>
              <a:t>Inflation persistante</a:t>
            </a:r>
          </a:p>
        </p:txBody>
      </p:sp>
      <p:sp>
        <p:nvSpPr>
          <p:cNvPr id="37" name="TextBox 36"/>
          <p:cNvSpPr txBox="1"/>
          <p:nvPr/>
        </p:nvSpPr>
        <p:spPr>
          <a:xfrm>
            <a:off x="3211200" y="3329999"/>
            <a:ext cx="2520000" cy="503999"/>
          </a:xfrm>
          <a:prstGeom prst="rect">
            <a:avLst/>
          </a:prstGeom>
          <a:noFill/>
        </p:spPr>
        <p:txBody>
          <a:bodyPr wrap="square">
            <a:spAutoFit/>
          </a:bodyPr>
          <a:lstStyle/>
          <a:p>
            <a:pPr algn="l"/>
            <a:r>
              <a:rPr sz="750" b="0" i="0">
                <a:solidFill>
                  <a:srgbClr val="555555"/>
                </a:solidFill>
              </a:rPr>
              <a:t>Repli du pivot dovish, hausse des taux longs et compression des multiples.</a:t>
            </a:r>
          </a:p>
        </p:txBody>
      </p:sp>
      <p:sp>
        <p:nvSpPr>
          <p:cNvPr id="38" name="Rectangle 37"/>
          <p:cNvSpPr/>
          <p:nvPr/>
        </p:nvSpPr>
        <p:spPr>
          <a:xfrm>
            <a:off x="5868000" y="2232000"/>
            <a:ext cx="26640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8000" y="2250000"/>
            <a:ext cx="2664000" cy="144000"/>
          </a:xfrm>
          <a:prstGeom prst="rect">
            <a:avLst/>
          </a:prstGeom>
          <a:noFill/>
        </p:spPr>
        <p:txBody>
          <a:bodyPr wrap="square">
            <a:spAutoFit/>
          </a:bodyPr>
          <a:lstStyle/>
          <a:p>
            <a:pPr algn="ctr"/>
            <a:r>
              <a:rPr sz="900" b="1" i="0">
                <a:solidFill>
                  <a:srgbClr val="FFFFFF"/>
                </a:solidFill>
              </a:rPr>
              <a:t>CONDITIONS D'INVALIDATION</a:t>
            </a:r>
          </a:p>
        </p:txBody>
      </p:sp>
      <p:sp>
        <p:nvSpPr>
          <p:cNvPr id="40" name="Rectangle 39"/>
          <p:cNvSpPr/>
          <p:nvPr/>
        </p:nvSpPr>
        <p:spPr>
          <a:xfrm>
            <a:off x="5868000" y="2466000"/>
            <a:ext cx="72000" cy="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3200" y="2458800"/>
            <a:ext cx="2520000" cy="162000"/>
          </a:xfrm>
          <a:prstGeom prst="rect">
            <a:avLst/>
          </a:prstGeom>
          <a:noFill/>
        </p:spPr>
        <p:txBody>
          <a:bodyPr wrap="square">
            <a:spAutoFit/>
          </a:bodyPr>
          <a:lstStyle/>
          <a:p>
            <a:pPr algn="l"/>
            <a:r>
              <a:rPr sz="850" b="1" i="0">
                <a:solidFill>
                  <a:srgbClr val="1B3A6B"/>
                </a:solidFill>
              </a:rPr>
              <a:t>Détérioration macro</a:t>
            </a:r>
          </a:p>
        </p:txBody>
      </p:sp>
      <p:sp>
        <p:nvSpPr>
          <p:cNvPr id="42" name="TextBox 41"/>
          <p:cNvSpPr txBox="1"/>
          <p:nvPr/>
        </p:nvSpPr>
        <p:spPr>
          <a:xfrm>
            <a:off x="5983200" y="2628000"/>
            <a:ext cx="2520000" cy="503999"/>
          </a:xfrm>
          <a:prstGeom prst="rect">
            <a:avLst/>
          </a:prstGeom>
          <a:noFill/>
        </p:spPr>
        <p:txBody>
          <a:bodyPr wrap="square">
            <a:spAutoFit/>
          </a:bodyPr>
          <a:lstStyle/>
          <a:p>
            <a:pPr algn="l"/>
            <a:r>
              <a:rPr sz="750" b="0" i="0">
                <a:solidFill>
                  <a:srgbClr val="555555"/>
                </a:solidFill>
              </a:rPr>
              <a:t>Récession ou hausse taux matérielle — revoir le positionnement.</a:t>
            </a:r>
          </a:p>
        </p:txBody>
      </p:sp>
      <p:sp>
        <p:nvSpPr>
          <p:cNvPr id="43" name="Rectangle 42"/>
          <p:cNvSpPr/>
          <p:nvPr/>
        </p:nvSpPr>
        <p:spPr>
          <a:xfrm>
            <a:off x="5868000" y="3167999"/>
            <a:ext cx="72000" cy="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83200" y="3160800"/>
            <a:ext cx="2520000" cy="162000"/>
          </a:xfrm>
          <a:prstGeom prst="rect">
            <a:avLst/>
          </a:prstGeom>
          <a:noFill/>
        </p:spPr>
        <p:txBody>
          <a:bodyPr wrap="square">
            <a:spAutoFit/>
          </a:bodyPr>
          <a:lstStyle/>
          <a:p>
            <a:pPr algn="l"/>
            <a:r>
              <a:rPr sz="850" b="1" i="0">
                <a:solidFill>
                  <a:srgbClr val="1B3A6B"/>
                </a:solidFill>
              </a:rPr>
              <a:t>Révision bénéfices</a:t>
            </a:r>
          </a:p>
        </p:txBody>
      </p:sp>
      <p:sp>
        <p:nvSpPr>
          <p:cNvPr id="45" name="TextBox 44"/>
          <p:cNvSpPr txBox="1"/>
          <p:nvPr/>
        </p:nvSpPr>
        <p:spPr>
          <a:xfrm>
            <a:off x="5983200" y="3329999"/>
            <a:ext cx="2520000" cy="503999"/>
          </a:xfrm>
          <a:prstGeom prst="rect">
            <a:avLst/>
          </a:prstGeom>
          <a:noFill/>
        </p:spPr>
        <p:txBody>
          <a:bodyPr wrap="square">
            <a:spAutoFit/>
          </a:bodyPr>
          <a:lstStyle/>
          <a:p>
            <a:pPr algn="l"/>
            <a:r>
              <a:rPr sz="750" b="0" i="0">
                <a:solidFill>
                  <a:srgbClr val="555555"/>
                </a:solidFill>
              </a:rPr>
              <a:t>Profit warning &gt; -10 % sur 2 trimestres — signal de sortie.</a:t>
            </a:r>
          </a:p>
        </p:txBody>
      </p:sp>
      <p:sp>
        <p:nvSpPr>
          <p:cNvPr id="46" name="Rectangle 45"/>
          <p:cNvSpPr/>
          <p:nvPr/>
        </p:nvSpPr>
        <p:spPr>
          <a:xfrm>
            <a:off x="324000" y="3906000"/>
            <a:ext cx="8496000" cy="198000"/>
          </a:xfrm>
          <a:prstGeom prst="rect">
            <a:avLst/>
          </a:prstGeom>
          <a:solidFill>
            <a:srgbClr val="F5F7FA"/>
          </a:solidFill>
          <a:ln w="508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0000" y="3941999"/>
            <a:ext cx="8424000" cy="144000"/>
          </a:xfrm>
          <a:prstGeom prst="rect">
            <a:avLst/>
          </a:prstGeom>
          <a:noFill/>
        </p:spPr>
        <p:txBody>
          <a:bodyPr wrap="square">
            <a:spAutoFit/>
          </a:bodyPr>
          <a:lstStyle/>
          <a:p>
            <a:pPr algn="ctr"/>
            <a:r>
              <a:rPr sz="800" b="1" i="1">
                <a:solidFill>
                  <a:srgbClr val="1B3A6B"/>
                </a:solidFill>
              </a:rPr>
              <a:t>Horizon recommandé : 6-12 mois  |  Conviction FORTE si écart score &gt; 15 pts  |  Rééquilibrer si écart &lt; 5 pts  |  Révisable à chaque publication trimestrielle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08000"/>
            <a:ext cx="8496000" cy="396000"/>
          </a:xfrm>
          <a:prstGeom prst="rect">
            <a:avLst/>
          </a:prstGeom>
          <a:noFill/>
        </p:spPr>
        <p:txBody>
          <a:bodyPr wrap="square">
            <a:spAutoFit/>
          </a:bodyPr>
          <a:lstStyle/>
          <a:p>
            <a:pPr algn="l"/>
            <a:r>
              <a:rPr sz="1300" b="1" i="0">
                <a:solidFill>
                  <a:srgbClr val="FFFFFF"/>
                </a:solidFill>
              </a:rPr>
              <a:t>Méthodologie &amp; Mentions Légales</a:t>
            </a:r>
          </a:p>
        </p:txBody>
      </p:sp>
      <p:sp>
        <p:nvSpPr>
          <p:cNvPr id="4" name="Rectangle 3"/>
          <p:cNvSpPr/>
          <p:nvPr/>
        </p:nvSpPr>
        <p:spPr>
          <a:xfrm>
            <a:off x="324000" y="720000"/>
            <a:ext cx="4031999" cy="151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4000" y="730799"/>
            <a:ext cx="4031999" cy="129600"/>
          </a:xfrm>
          <a:prstGeom prst="rect">
            <a:avLst/>
          </a:prstGeom>
          <a:noFill/>
        </p:spPr>
        <p:txBody>
          <a:bodyPr wrap="square">
            <a:spAutoFit/>
          </a:bodyPr>
          <a:lstStyle/>
          <a:p>
            <a:pPr algn="ctr"/>
            <a:r>
              <a:rPr sz="900" b="1" i="0">
                <a:solidFill>
                  <a:srgbClr val="FFFFFF"/>
                </a:solidFill>
              </a:rPr>
              <a:t>MÉTHODOLOGIE</a:t>
            </a:r>
          </a:p>
        </p:txBody>
      </p:sp>
      <p:sp>
        <p:nvSpPr>
          <p:cNvPr id="6" name="TextBox 5"/>
          <p:cNvSpPr txBox="1"/>
          <p:nvPr/>
        </p:nvSpPr>
        <p:spPr>
          <a:xfrm>
            <a:off x="324000" y="917999"/>
            <a:ext cx="4031999" cy="122400"/>
          </a:xfrm>
          <a:prstGeom prst="rect">
            <a:avLst/>
          </a:prstGeom>
          <a:noFill/>
        </p:spPr>
        <p:txBody>
          <a:bodyPr wrap="square">
            <a:spAutoFit/>
          </a:bodyPr>
          <a:lstStyle/>
          <a:p>
            <a:pPr algn="l"/>
            <a:r>
              <a:rPr sz="750" b="1" i="0">
                <a:solidFill>
                  <a:srgbClr val="1B3A6B"/>
                </a:solidFill>
              </a:rPr>
              <a:t>Scoring FinSight (0-100)</a:t>
            </a:r>
          </a:p>
        </p:txBody>
      </p:sp>
      <p:sp>
        <p:nvSpPr>
          <p:cNvPr id="7" name="TextBox 6"/>
          <p:cNvSpPr txBox="1"/>
          <p:nvPr/>
        </p:nvSpPr>
        <p:spPr>
          <a:xfrm>
            <a:off x="324000" y="1054800"/>
            <a:ext cx="4031999" cy="594000"/>
          </a:xfrm>
          <a:prstGeom prst="rect">
            <a:avLst/>
          </a:prstGeom>
          <a:noFill/>
        </p:spPr>
        <p:txBody>
          <a:bodyPr wrap="square">
            <a:spAutoFit/>
          </a:bodyPr>
          <a:lstStyle/>
          <a:p>
            <a:pPr algn="l"/>
            <a:r>
              <a:rPr sz="650" b="0" i="0">
                <a:solidFill>
                  <a:srgbClr val="555555"/>
                </a:solidFill>
              </a:rPr>
              <a:t>Indicateur propriétaire agrégeant performance ajustée du risque (Sharpe), valorisation relative (P/E Forward, P/B), résilience (Max Drawdown) et qualité de la rémunération de l'actionnaire (rendement dividende). Seuils d'allocation : ≥ 65 = Surpondérer, 45-64 = Neutre, &lt; 45 = Sous-pondérer.</a:t>
            </a:r>
          </a:p>
        </p:txBody>
      </p:sp>
      <p:sp>
        <p:nvSpPr>
          <p:cNvPr id="8" name="TextBox 7"/>
          <p:cNvSpPr txBox="1"/>
          <p:nvPr/>
        </p:nvSpPr>
        <p:spPr>
          <a:xfrm>
            <a:off x="324000" y="1655999"/>
            <a:ext cx="4031999" cy="122400"/>
          </a:xfrm>
          <a:prstGeom prst="rect">
            <a:avLst/>
          </a:prstGeom>
          <a:noFill/>
        </p:spPr>
        <p:txBody>
          <a:bodyPr wrap="square">
            <a:spAutoFit/>
          </a:bodyPr>
          <a:lstStyle/>
          <a:p>
            <a:pPr algn="l"/>
            <a:r>
              <a:rPr sz="750" b="1" i="0">
                <a:solidFill>
                  <a:srgbClr val="1B3A6B"/>
                </a:solidFill>
              </a:rPr>
              <a:t>Equity Risk Premium (ERP)</a:t>
            </a:r>
          </a:p>
        </p:txBody>
      </p:sp>
      <p:sp>
        <p:nvSpPr>
          <p:cNvPr id="9" name="TextBox 8"/>
          <p:cNvSpPr txBox="1"/>
          <p:nvPr/>
        </p:nvSpPr>
        <p:spPr>
          <a:xfrm>
            <a:off x="324000" y="1792799"/>
            <a:ext cx="4031999" cy="594000"/>
          </a:xfrm>
          <a:prstGeom prst="rect">
            <a:avLst/>
          </a:prstGeom>
          <a:noFill/>
        </p:spPr>
        <p:txBody>
          <a:bodyPr wrap="square">
            <a:spAutoFit/>
          </a:bodyPr>
          <a:lstStyle/>
          <a:p>
            <a:pPr algn="l"/>
            <a:r>
              <a:rPr sz="650" b="0" i="0">
                <a:solidFill>
                  <a:srgbClr val="555555"/>
                </a:solidFill>
              </a:rPr>
              <a:t>Calculé comme la différence entre la performance 1 an de l'indice et le taux sans risque local (proxy : taux 10 ans souverain). Un ERP &gt; 4 % est historiquement attractif vs obligations, &lt; 2 % signale une prime tendue exposant à un re-rating baissier.</a:t>
            </a:r>
          </a:p>
        </p:txBody>
      </p:sp>
      <p:sp>
        <p:nvSpPr>
          <p:cNvPr id="10" name="TextBox 9"/>
          <p:cNvSpPr txBox="1"/>
          <p:nvPr/>
        </p:nvSpPr>
        <p:spPr>
          <a:xfrm>
            <a:off x="324000" y="2394000"/>
            <a:ext cx="4031999" cy="122400"/>
          </a:xfrm>
          <a:prstGeom prst="rect">
            <a:avLst/>
          </a:prstGeom>
          <a:noFill/>
        </p:spPr>
        <p:txBody>
          <a:bodyPr wrap="square">
            <a:spAutoFit/>
          </a:bodyPr>
          <a:lstStyle/>
          <a:p>
            <a:pPr algn="l"/>
            <a:r>
              <a:rPr sz="750" b="1" i="0">
                <a:solidFill>
                  <a:srgbClr val="1B3A6B"/>
                </a:solidFill>
              </a:rPr>
              <a:t>Volatilité, Sharpe et Drawdown</a:t>
            </a:r>
          </a:p>
        </p:txBody>
      </p:sp>
      <p:sp>
        <p:nvSpPr>
          <p:cNvPr id="11" name="TextBox 10"/>
          <p:cNvSpPr txBox="1"/>
          <p:nvPr/>
        </p:nvSpPr>
        <p:spPr>
          <a:xfrm>
            <a:off x="324000" y="2530800"/>
            <a:ext cx="4031999" cy="594000"/>
          </a:xfrm>
          <a:prstGeom prst="rect">
            <a:avLst/>
          </a:prstGeom>
          <a:noFill/>
        </p:spPr>
        <p:txBody>
          <a:bodyPr wrap="square">
            <a:spAutoFit/>
          </a:bodyPr>
          <a:lstStyle/>
          <a:p>
            <a:pPr algn="l"/>
            <a:r>
              <a:rPr sz="650" b="0" i="0">
                <a:solidFill>
                  <a:srgbClr val="555555"/>
                </a:solidFill>
              </a:rPr>
              <a:t>Vol annualisée = écart-type des rendements quotidiens × √252. Sharpe = (Perf annualisée - taux sans risque) / Vol. Max Drawdown = perte maximale du plus haut au plus bas sur la fenêtre 12 mois. Calculs sur données yfinance ajustées.</a:t>
            </a:r>
          </a:p>
        </p:txBody>
      </p:sp>
      <p:sp>
        <p:nvSpPr>
          <p:cNvPr id="12" name="TextBox 11"/>
          <p:cNvSpPr txBox="1"/>
          <p:nvPr/>
        </p:nvSpPr>
        <p:spPr>
          <a:xfrm>
            <a:off x="324000" y="3131999"/>
            <a:ext cx="4031999" cy="122400"/>
          </a:xfrm>
          <a:prstGeom prst="rect">
            <a:avLst/>
          </a:prstGeom>
          <a:noFill/>
        </p:spPr>
        <p:txBody>
          <a:bodyPr wrap="square">
            <a:spAutoFit/>
          </a:bodyPr>
          <a:lstStyle/>
          <a:p>
            <a:pPr algn="l"/>
            <a:r>
              <a:rPr sz="750" b="1" i="0">
                <a:solidFill>
                  <a:srgbClr val="1B3A6B"/>
                </a:solidFill>
              </a:rPr>
              <a:t>Sources et limites</a:t>
            </a:r>
          </a:p>
        </p:txBody>
      </p:sp>
      <p:sp>
        <p:nvSpPr>
          <p:cNvPr id="13" name="TextBox 12"/>
          <p:cNvSpPr txBox="1"/>
          <p:nvPr/>
        </p:nvSpPr>
        <p:spPr>
          <a:xfrm>
            <a:off x="324000" y="3268800"/>
            <a:ext cx="4031999" cy="594000"/>
          </a:xfrm>
          <a:prstGeom prst="rect">
            <a:avLst/>
          </a:prstGeom>
          <a:noFill/>
        </p:spPr>
        <p:txBody>
          <a:bodyPr wrap="square">
            <a:spAutoFit/>
          </a:bodyPr>
          <a:lstStyle/>
          <a:p>
            <a:pPr algn="l"/>
            <a:r>
              <a:rPr sz="650" b="0" i="0">
                <a:solidFill>
                  <a:srgbClr val="555555"/>
                </a:solidFill>
              </a:rPr>
              <a:t>Données yfinance (Yahoo Finance) — cours, P/E forward, P/B, rendements dividende. Composition sectorielle approximée pour l'indice B (poids fournis par yfinance ou estimations sur les principaux indices). Top constituants : top 5 par market cap. Données retardées de 24 h sur free tier.</a:t>
            </a:r>
          </a:p>
        </p:txBody>
      </p:sp>
      <p:sp>
        <p:nvSpPr>
          <p:cNvPr id="14" name="Rectangle 13"/>
          <p:cNvSpPr/>
          <p:nvPr/>
        </p:nvSpPr>
        <p:spPr>
          <a:xfrm>
            <a:off x="4716000" y="720000"/>
            <a:ext cx="4031999" cy="151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16000" y="730799"/>
            <a:ext cx="4031999" cy="129600"/>
          </a:xfrm>
          <a:prstGeom prst="rect">
            <a:avLst/>
          </a:prstGeom>
          <a:noFill/>
        </p:spPr>
        <p:txBody>
          <a:bodyPr wrap="square">
            <a:spAutoFit/>
          </a:bodyPr>
          <a:lstStyle/>
          <a:p>
            <a:pPr algn="ctr"/>
            <a:r>
              <a:rPr sz="900" b="1" i="0">
                <a:solidFill>
                  <a:srgbClr val="FFFFFF"/>
                </a:solidFill>
              </a:rPr>
              <a:t>MENTIONS LÉGALES</a:t>
            </a:r>
          </a:p>
        </p:txBody>
      </p:sp>
      <p:sp>
        <p:nvSpPr>
          <p:cNvPr id="16" name="TextBox 15"/>
          <p:cNvSpPr txBox="1"/>
          <p:nvPr/>
        </p:nvSpPr>
        <p:spPr>
          <a:xfrm>
            <a:off x="4716000" y="917999"/>
            <a:ext cx="4031999" cy="122400"/>
          </a:xfrm>
          <a:prstGeom prst="rect">
            <a:avLst/>
          </a:prstGeom>
          <a:noFill/>
        </p:spPr>
        <p:txBody>
          <a:bodyPr wrap="square">
            <a:spAutoFit/>
          </a:bodyPr>
          <a:lstStyle/>
          <a:p>
            <a:pPr algn="l"/>
            <a:r>
              <a:rPr sz="750" b="1" i="0">
                <a:solidFill>
                  <a:srgbClr val="1B3A6B"/>
                </a:solidFill>
              </a:rPr>
              <a:t>Caractère informatif et pédagogique</a:t>
            </a:r>
          </a:p>
        </p:txBody>
      </p:sp>
      <p:sp>
        <p:nvSpPr>
          <p:cNvPr id="17" name="TextBox 16"/>
          <p:cNvSpPr txBox="1"/>
          <p:nvPr/>
        </p:nvSpPr>
        <p:spPr>
          <a:xfrm>
            <a:off x="4716000" y="1054800"/>
            <a:ext cx="4031999" cy="594000"/>
          </a:xfrm>
          <a:prstGeom prst="rect">
            <a:avLst/>
          </a:prstGeom>
          <a:noFill/>
        </p:spPr>
        <p:txBody>
          <a:bodyPr wrap="square">
            <a:spAutoFit/>
          </a:bodyPr>
          <a:lstStyle/>
          <a:p>
            <a:pPr algn="l"/>
            <a:r>
              <a:rPr sz="650" b="0" i="0">
                <a:solidFill>
                  <a:srgbClr val="555555"/>
                </a:solidFill>
              </a:rPr>
              <a:t>Ce document est produit exclusivement à des fins d'information et de démonstration pédagogique. Il ne constitue en aucun cas un conseil en investissement, une recommandation personnalisée, une incitation à l'achat ou à la vente, ni une offre ou sollicitation de souscription au sens du Règlement Général de l'AMF. Toute décision d'investissement demeure de la seule responsabilité de l'utilisateur.</a:t>
            </a:r>
          </a:p>
        </p:txBody>
      </p:sp>
      <p:sp>
        <p:nvSpPr>
          <p:cNvPr id="18" name="TextBox 17"/>
          <p:cNvSpPr txBox="1"/>
          <p:nvPr/>
        </p:nvSpPr>
        <p:spPr>
          <a:xfrm>
            <a:off x="4716000" y="1655999"/>
            <a:ext cx="4031999" cy="122400"/>
          </a:xfrm>
          <a:prstGeom prst="rect">
            <a:avLst/>
          </a:prstGeom>
          <a:noFill/>
        </p:spPr>
        <p:txBody>
          <a:bodyPr wrap="square">
            <a:spAutoFit/>
          </a:bodyPr>
          <a:lstStyle/>
          <a:p>
            <a:pPr algn="l"/>
            <a:r>
              <a:rPr sz="750" b="1" i="0">
                <a:solidFill>
                  <a:srgbClr val="1B3A6B"/>
                </a:solidFill>
              </a:rPr>
              <a:t>Absence de due diligence</a:t>
            </a:r>
          </a:p>
        </p:txBody>
      </p:sp>
      <p:sp>
        <p:nvSpPr>
          <p:cNvPr id="19" name="TextBox 18"/>
          <p:cNvSpPr txBox="1"/>
          <p:nvPr/>
        </p:nvSpPr>
        <p:spPr>
          <a:xfrm>
            <a:off x="4716000" y="1792799"/>
            <a:ext cx="4031999" cy="594000"/>
          </a:xfrm>
          <a:prstGeom prst="rect">
            <a:avLst/>
          </a:prstGeom>
          <a:noFill/>
        </p:spPr>
        <p:txBody>
          <a:bodyPr wrap="square">
            <a:spAutoFit/>
          </a:bodyPr>
          <a:lstStyle/>
          <a:p>
            <a:pPr algn="l"/>
            <a:r>
              <a:rPr sz="650" b="0" i="0">
                <a:solidFill>
                  <a:srgbClr val="555555"/>
                </a:solidFill>
              </a:rPr>
              <a:t>FinSight IA est un outil algorithmique de screening basé sur des données publiques. Les analyses sont generees automatiquement par des modèles statistiques et un LLM, sans validation manuelle, sans rencontre avec les émetteurs des indices, sans audit des compositions. Les modèles peuvent contenir des biais ou erreurs de spécification. FinSight IA et ses auteurs déclinent toute responsabilité quant aux pertes décolant de l'utilisation de ce document.</a:t>
            </a:r>
          </a:p>
        </p:txBody>
      </p:sp>
      <p:sp>
        <p:nvSpPr>
          <p:cNvPr id="20" name="TextBox 19"/>
          <p:cNvSpPr txBox="1"/>
          <p:nvPr/>
        </p:nvSpPr>
        <p:spPr>
          <a:xfrm>
            <a:off x="4716000" y="2394000"/>
            <a:ext cx="4031999" cy="122400"/>
          </a:xfrm>
          <a:prstGeom prst="rect">
            <a:avLst/>
          </a:prstGeom>
          <a:noFill/>
        </p:spPr>
        <p:txBody>
          <a:bodyPr wrap="square">
            <a:spAutoFit/>
          </a:bodyPr>
          <a:lstStyle/>
          <a:p>
            <a:pPr algn="l"/>
            <a:r>
              <a:rPr sz="750" b="1" i="0">
                <a:solidFill>
                  <a:srgbClr val="1B3A6B"/>
                </a:solidFill>
              </a:rPr>
              <a:t>Risques d'investissement</a:t>
            </a:r>
          </a:p>
        </p:txBody>
      </p:sp>
      <p:sp>
        <p:nvSpPr>
          <p:cNvPr id="21" name="TextBox 20"/>
          <p:cNvSpPr txBox="1"/>
          <p:nvPr/>
        </p:nvSpPr>
        <p:spPr>
          <a:xfrm>
            <a:off x="4716000" y="2530800"/>
            <a:ext cx="4031999" cy="594000"/>
          </a:xfrm>
          <a:prstGeom prst="rect">
            <a:avLst/>
          </a:prstGeom>
          <a:noFill/>
        </p:spPr>
        <p:txBody>
          <a:bodyPr wrap="square">
            <a:spAutoFit/>
          </a:bodyPr>
          <a:lstStyle/>
          <a:p>
            <a:pPr algn="l"/>
            <a:r>
              <a:rPr sz="650" b="0" i="0">
                <a:solidFill>
                  <a:srgbClr val="555555"/>
                </a:solidFill>
              </a:rPr>
              <a:t>Tout investissement en valeurs mobilières comporte un risque de perte partielle ou totale en capital. Les performances passées ne préjugent pas des performances futures. Les conditions de marché, le contexte macroéconomique, les décisions des banques centrales et les évènements géopolitiques peuvent évoluer rapidement et invalider les signaux présentés. Diversification et horizon adapté fortement recommandés.</a:t>
            </a:r>
          </a:p>
        </p:txBody>
      </p:sp>
      <p:sp>
        <p:nvSpPr>
          <p:cNvPr id="22" name="TextBox 21"/>
          <p:cNvSpPr txBox="1"/>
          <p:nvPr/>
        </p:nvSpPr>
        <p:spPr>
          <a:xfrm>
            <a:off x="4716000" y="3131999"/>
            <a:ext cx="4031999" cy="122400"/>
          </a:xfrm>
          <a:prstGeom prst="rect">
            <a:avLst/>
          </a:prstGeom>
          <a:noFill/>
        </p:spPr>
        <p:txBody>
          <a:bodyPr wrap="square">
            <a:spAutoFit/>
          </a:bodyPr>
          <a:lstStyle/>
          <a:p>
            <a:pPr algn="l"/>
            <a:r>
              <a:rPr sz="750" b="1" i="0">
                <a:solidFill>
                  <a:srgbClr val="1B3A6B"/>
                </a:solidFill>
              </a:rPr>
              <a:t>Confidentialité et propriété intellectuelle</a:t>
            </a:r>
          </a:p>
        </p:txBody>
      </p:sp>
      <p:sp>
        <p:nvSpPr>
          <p:cNvPr id="23" name="TextBox 22"/>
          <p:cNvSpPr txBox="1"/>
          <p:nvPr/>
        </p:nvSpPr>
        <p:spPr>
          <a:xfrm>
            <a:off x="4716000" y="3268800"/>
            <a:ext cx="4031999" cy="594000"/>
          </a:xfrm>
          <a:prstGeom prst="rect">
            <a:avLst/>
          </a:prstGeom>
          <a:noFill/>
        </p:spPr>
        <p:txBody>
          <a:bodyPr wrap="square">
            <a:spAutoFit/>
          </a:bodyPr>
          <a:lstStyle/>
          <a:p>
            <a:pPr algn="l"/>
            <a:r>
              <a:rPr sz="650" b="0" i="0">
                <a:solidFill>
                  <a:srgbClr val="555555"/>
                </a:solidFill>
              </a:rPr>
              <a:t>Ce document est destiné à un usage privé et confidentiel. Sa reproduction, distribution ou diffusion, même partielle, est strictement interdite sans autorisation écrite expresse. Le scoring FinSight, la méthodologie et les visuels sont la propriété intellectuelle exclusive de FinSight IA. Toute exploitation commerciale est prohibée.</a:t>
            </a:r>
          </a:p>
        </p:txBody>
      </p:sp>
      <p:sp>
        <p:nvSpPr>
          <p:cNvPr id="24" name="Rectangle 23"/>
          <p:cNvSpPr/>
          <p:nvPr/>
        </p:nvSpPr>
        <p:spPr>
          <a:xfrm>
            <a:off x="324000" y="4788000"/>
            <a:ext cx="8496000" cy="9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000" y="4795200"/>
            <a:ext cx="8496000" cy="79200"/>
          </a:xfrm>
          <a:prstGeom prst="rect">
            <a:avLst/>
          </a:prstGeom>
          <a:noFill/>
        </p:spPr>
        <p:txBody>
          <a:bodyPr wrap="square">
            <a:spAutoFit/>
          </a:bodyPr>
          <a:lstStyle/>
          <a:p>
            <a:pPr algn="ctr"/>
            <a:r>
              <a:rPr sz="700" b="1" i="0">
                <a:solidFill>
                  <a:srgbClr val="1B3A6B"/>
                </a:solidFill>
              </a:rPr>
              <a:t>Généré par FinSight IA  |  11 avril 2026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