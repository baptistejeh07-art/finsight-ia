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827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Comparatif  —  Analyse d'Investissement</a:t>
            </a:r>
          </a:p>
        </p:txBody>
      </p:sp>
      <p:sp>
        <p:nvSpPr>
          <p:cNvPr id="6" name="TextBox 5"/>
          <p:cNvSpPr txBox="1"/>
          <p:nvPr/>
        </p:nvSpPr>
        <p:spPr>
          <a:xfrm>
            <a:off x="457200" y="1461599"/>
            <a:ext cx="8229600" cy="648000"/>
          </a:xfrm>
          <a:prstGeom prst="rect">
            <a:avLst/>
          </a:prstGeom>
          <a:noFill/>
        </p:spPr>
        <p:txBody>
          <a:bodyPr wrap="square">
            <a:spAutoFit/>
          </a:bodyPr>
          <a:lstStyle/>
          <a:p>
            <a:pPr algn="ctr"/>
            <a:r>
              <a:rPr sz="3800" b="1" i="0">
                <a:solidFill>
                  <a:srgbClr val="1B3A6B"/>
                </a:solidFill>
                <a:latin typeface="Calibri"/>
              </a:rPr>
              <a:t>AAPL  vs  MSFT</a:t>
            </a:r>
          </a:p>
        </p:txBody>
      </p:sp>
      <p:sp>
        <p:nvSpPr>
          <p:cNvPr id="7" name="TextBox 6"/>
          <p:cNvSpPr txBox="1"/>
          <p:nvPr/>
        </p:nvSpPr>
        <p:spPr>
          <a:xfrm>
            <a:off x="457200" y="2124000"/>
            <a:ext cx="3960000" cy="255600"/>
          </a:xfrm>
          <a:prstGeom prst="rect">
            <a:avLst/>
          </a:prstGeom>
          <a:noFill/>
        </p:spPr>
        <p:txBody>
          <a:bodyPr wrap="square">
            <a:spAutoFit/>
          </a:bodyPr>
          <a:lstStyle/>
          <a:p>
            <a:pPr algn="ctr"/>
            <a:r>
              <a:rPr sz="1100" b="0" i="0">
                <a:solidFill>
                  <a:srgbClr val="888888"/>
                </a:solidFill>
                <a:latin typeface="Calibri"/>
              </a:rPr>
              <a:t>Apple Inc. (AAPL)</a:t>
            </a:r>
          </a:p>
        </p:txBody>
      </p:sp>
      <p:sp>
        <p:nvSpPr>
          <p:cNvPr id="8" name="TextBox 7"/>
          <p:cNvSpPr txBox="1"/>
          <p:nvPr/>
        </p:nvSpPr>
        <p:spPr>
          <a:xfrm>
            <a:off x="4726800" y="2124000"/>
            <a:ext cx="3960000" cy="255600"/>
          </a:xfrm>
          <a:prstGeom prst="rect">
            <a:avLst/>
          </a:prstGeom>
          <a:noFill/>
        </p:spPr>
        <p:txBody>
          <a:bodyPr wrap="square">
            <a:spAutoFit/>
          </a:bodyPr>
          <a:lstStyle/>
          <a:p>
            <a:pPr algn="ctr"/>
            <a:r>
              <a:rPr sz="1100" b="0" i="0">
                <a:solidFill>
                  <a:srgbClr val="888888"/>
                </a:solidFill>
                <a:latin typeface="Calibri"/>
              </a:rPr>
              <a:t>Microsoft Corporation (MSFT)</a:t>
            </a:r>
          </a:p>
        </p:txBody>
      </p:sp>
      <p:sp>
        <p:nvSpPr>
          <p:cNvPr id="9" name="Rectangle 8"/>
          <p:cNvSpPr/>
          <p:nvPr/>
        </p:nvSpPr>
        <p:spPr>
          <a:xfrm>
            <a:off x="457200" y="2520000"/>
            <a:ext cx="3960000" cy="3960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520000"/>
            <a:ext cx="64800" cy="39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00" y="2538000"/>
            <a:ext cx="3780000" cy="360000"/>
          </a:xfrm>
          <a:prstGeom prst="rect">
            <a:avLst/>
          </a:prstGeom>
          <a:noFill/>
        </p:spPr>
        <p:txBody>
          <a:bodyPr wrap="square">
            <a:spAutoFit/>
          </a:bodyPr>
          <a:lstStyle/>
          <a:p>
            <a:pPr algn="ctr"/>
            <a:r>
              <a:rPr sz="900" b="1" i="0">
                <a:solidFill>
                  <a:srgbClr val="1B3A6B"/>
                </a:solidFill>
                <a:latin typeface="Calibri"/>
              </a:rPr>
              <a:t>● HOLD  ·  Cible : 296 $  ·  Upside : +13,2 %</a:t>
            </a:r>
          </a:p>
        </p:txBody>
      </p:sp>
      <p:sp>
        <p:nvSpPr>
          <p:cNvPr id="12" name="Rectangle 11"/>
          <p:cNvSpPr/>
          <p:nvPr/>
        </p:nvSpPr>
        <p:spPr>
          <a:xfrm>
            <a:off x="4726800" y="2520000"/>
            <a:ext cx="3960000" cy="3960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26800" y="2520000"/>
            <a:ext cx="64800" cy="39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45600" y="2538000"/>
            <a:ext cx="3780000" cy="360000"/>
          </a:xfrm>
          <a:prstGeom prst="rect">
            <a:avLst/>
          </a:prstGeom>
          <a:noFill/>
        </p:spPr>
        <p:txBody>
          <a:bodyPr wrap="square">
            <a:spAutoFit/>
          </a:bodyPr>
          <a:lstStyle/>
          <a:p>
            <a:pPr algn="ctr"/>
            <a:r>
              <a:rPr sz="900" b="1" i="0">
                <a:solidFill>
                  <a:srgbClr val="1B3A6B"/>
                </a:solidFill>
                <a:latin typeface="Calibri"/>
              </a:rPr>
              <a:t>● HOLD  ·  Cible : 587 $  ·  Upside : +58,6 %</a:t>
            </a:r>
          </a:p>
        </p:txBody>
      </p:sp>
      <p:sp>
        <p:nvSpPr>
          <p:cNvPr id="15" name="Rectangle 14"/>
          <p:cNvSpPr/>
          <p:nvPr/>
        </p:nvSpPr>
        <p:spPr>
          <a:xfrm>
            <a:off x="457200" y="3096000"/>
            <a:ext cx="3960000" cy="1152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7200" y="3186000"/>
            <a:ext cx="1800000" cy="198000"/>
          </a:xfrm>
          <a:prstGeom prst="rect">
            <a:avLst/>
          </a:prstGeom>
          <a:noFill/>
        </p:spPr>
        <p:txBody>
          <a:bodyPr wrap="square">
            <a:spAutoFit/>
          </a:bodyPr>
          <a:lstStyle/>
          <a:p>
            <a:pPr algn="l"/>
            <a:r>
              <a:rPr sz="750" b="0" i="0">
                <a:solidFill>
                  <a:srgbClr val="555555"/>
                </a:solidFill>
                <a:latin typeface="Calibri"/>
              </a:rPr>
              <a:t>Secteur</a:t>
            </a:r>
          </a:p>
        </p:txBody>
      </p:sp>
      <p:sp>
        <p:nvSpPr>
          <p:cNvPr id="17" name="TextBox 16"/>
          <p:cNvSpPr txBox="1"/>
          <p:nvPr/>
        </p:nvSpPr>
        <p:spPr>
          <a:xfrm>
            <a:off x="2329200" y="3186000"/>
            <a:ext cx="1980000" cy="198000"/>
          </a:xfrm>
          <a:prstGeom prst="rect">
            <a:avLst/>
          </a:prstGeom>
          <a:noFill/>
        </p:spPr>
        <p:txBody>
          <a:bodyPr wrap="square">
            <a:spAutoFit/>
          </a:bodyPr>
          <a:lstStyle/>
          <a:p>
            <a:pPr algn="r"/>
            <a:r>
              <a:rPr sz="750" b="1" i="0">
                <a:solidFill>
                  <a:srgbClr val="1B3A6B"/>
                </a:solidFill>
                <a:latin typeface="Calibri"/>
              </a:rPr>
              <a:t>Technology</a:t>
            </a:r>
          </a:p>
        </p:txBody>
      </p:sp>
      <p:sp>
        <p:nvSpPr>
          <p:cNvPr id="18" name="TextBox 17"/>
          <p:cNvSpPr txBox="1"/>
          <p:nvPr/>
        </p:nvSpPr>
        <p:spPr>
          <a:xfrm>
            <a:off x="547200" y="3420000"/>
            <a:ext cx="1800000" cy="198000"/>
          </a:xfrm>
          <a:prstGeom prst="rect">
            <a:avLst/>
          </a:prstGeom>
          <a:noFill/>
        </p:spPr>
        <p:txBody>
          <a:bodyPr wrap="square">
            <a:spAutoFit/>
          </a:bodyPr>
          <a:lstStyle/>
          <a:p>
            <a:pPr algn="l"/>
            <a:r>
              <a:rPr sz="750" b="0" i="0">
                <a:solidFill>
                  <a:srgbClr val="555555"/>
                </a:solidFill>
                <a:latin typeface="Calibri"/>
              </a:rPr>
              <a:t>Cours actuel</a:t>
            </a:r>
          </a:p>
        </p:txBody>
      </p:sp>
      <p:sp>
        <p:nvSpPr>
          <p:cNvPr id="19" name="TextBox 18"/>
          <p:cNvSpPr txBox="1"/>
          <p:nvPr/>
        </p:nvSpPr>
        <p:spPr>
          <a:xfrm>
            <a:off x="2329200" y="3420000"/>
            <a:ext cx="1980000" cy="198000"/>
          </a:xfrm>
          <a:prstGeom prst="rect">
            <a:avLst/>
          </a:prstGeom>
          <a:noFill/>
        </p:spPr>
        <p:txBody>
          <a:bodyPr wrap="square">
            <a:spAutoFit/>
          </a:bodyPr>
          <a:lstStyle/>
          <a:p>
            <a:pPr algn="r"/>
            <a:r>
              <a:rPr sz="750" b="1" i="0">
                <a:solidFill>
                  <a:srgbClr val="1B3A6B"/>
                </a:solidFill>
                <a:latin typeface="Calibri"/>
              </a:rPr>
              <a:t>261,7 $</a:t>
            </a:r>
          </a:p>
        </p:txBody>
      </p:sp>
      <p:sp>
        <p:nvSpPr>
          <p:cNvPr id="20" name="TextBox 19"/>
          <p:cNvSpPr txBox="1"/>
          <p:nvPr/>
        </p:nvSpPr>
        <p:spPr>
          <a:xfrm>
            <a:off x="547200" y="3654000"/>
            <a:ext cx="1800000" cy="198000"/>
          </a:xfrm>
          <a:prstGeom prst="rect">
            <a:avLst/>
          </a:prstGeom>
          <a:noFill/>
        </p:spPr>
        <p:txBody>
          <a:bodyPr wrap="square">
            <a:spAutoFit/>
          </a:bodyPr>
          <a:lstStyle/>
          <a:p>
            <a:pPr algn="l"/>
            <a:r>
              <a:rPr sz="750" b="0" i="0">
                <a:solidFill>
                  <a:srgbClr val="555555"/>
                </a:solidFill>
                <a:latin typeface="Calibri"/>
              </a:rPr>
              <a:t>Market Cap</a:t>
            </a:r>
          </a:p>
        </p:txBody>
      </p:sp>
      <p:sp>
        <p:nvSpPr>
          <p:cNvPr id="21" name="TextBox 20"/>
          <p:cNvSpPr txBox="1"/>
          <p:nvPr/>
        </p:nvSpPr>
        <p:spPr>
          <a:xfrm>
            <a:off x="2329200" y="3654000"/>
            <a:ext cx="1980000" cy="198000"/>
          </a:xfrm>
          <a:prstGeom prst="rect">
            <a:avLst/>
          </a:prstGeom>
          <a:noFill/>
        </p:spPr>
        <p:txBody>
          <a:bodyPr wrap="square">
            <a:spAutoFit/>
          </a:bodyPr>
          <a:lstStyle/>
          <a:p>
            <a:pPr algn="r"/>
            <a:r>
              <a:rPr sz="750" b="1" i="0">
                <a:solidFill>
                  <a:srgbClr val="1B3A6B"/>
                </a:solidFill>
                <a:latin typeface="Calibri"/>
              </a:rPr>
              <a:t>3 841,8 Mds$</a:t>
            </a:r>
          </a:p>
        </p:txBody>
      </p:sp>
      <p:sp>
        <p:nvSpPr>
          <p:cNvPr id="22" name="TextBox 21"/>
          <p:cNvSpPr txBox="1"/>
          <p:nvPr/>
        </p:nvSpPr>
        <p:spPr>
          <a:xfrm>
            <a:off x="547200" y="3888000"/>
            <a:ext cx="1800000" cy="198000"/>
          </a:xfrm>
          <a:prstGeom prst="rect">
            <a:avLst/>
          </a:prstGeom>
          <a:noFill/>
        </p:spPr>
        <p:txBody>
          <a:bodyPr wrap="square">
            <a:spAutoFit/>
          </a:bodyPr>
          <a:lstStyle/>
          <a:p>
            <a:pPr algn="l"/>
            <a:r>
              <a:rPr sz="750" b="0" i="0">
                <a:solidFill>
                  <a:srgbClr val="555555"/>
                </a:solidFill>
                <a:latin typeface="Calibri"/>
              </a:rPr>
              <a:t>Score FinSight</a:t>
            </a:r>
          </a:p>
        </p:txBody>
      </p:sp>
      <p:sp>
        <p:nvSpPr>
          <p:cNvPr id="23" name="TextBox 22"/>
          <p:cNvSpPr txBox="1"/>
          <p:nvPr/>
        </p:nvSpPr>
        <p:spPr>
          <a:xfrm>
            <a:off x="2329200" y="3888000"/>
            <a:ext cx="1980000" cy="198000"/>
          </a:xfrm>
          <a:prstGeom prst="rect">
            <a:avLst/>
          </a:prstGeom>
          <a:noFill/>
        </p:spPr>
        <p:txBody>
          <a:bodyPr wrap="square">
            <a:spAutoFit/>
          </a:bodyPr>
          <a:lstStyle/>
          <a:p>
            <a:pPr algn="r"/>
            <a:r>
              <a:rPr sz="750" b="1" i="0">
                <a:solidFill>
                  <a:srgbClr val="1B3A6B"/>
                </a:solidFill>
                <a:latin typeface="Calibri"/>
              </a:rPr>
              <a:t>44/100</a:t>
            </a:r>
          </a:p>
        </p:txBody>
      </p:sp>
      <p:sp>
        <p:nvSpPr>
          <p:cNvPr id="24" name="Rectangle 23"/>
          <p:cNvSpPr/>
          <p:nvPr/>
        </p:nvSpPr>
        <p:spPr>
          <a:xfrm>
            <a:off x="4726800" y="3096000"/>
            <a:ext cx="3960000" cy="1152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16800" y="3186000"/>
            <a:ext cx="1800000" cy="198000"/>
          </a:xfrm>
          <a:prstGeom prst="rect">
            <a:avLst/>
          </a:prstGeom>
          <a:noFill/>
        </p:spPr>
        <p:txBody>
          <a:bodyPr wrap="square">
            <a:spAutoFit/>
          </a:bodyPr>
          <a:lstStyle/>
          <a:p>
            <a:pPr algn="l"/>
            <a:r>
              <a:rPr sz="750" b="0" i="0">
                <a:solidFill>
                  <a:srgbClr val="555555"/>
                </a:solidFill>
                <a:latin typeface="Calibri"/>
              </a:rPr>
              <a:t>Secteur</a:t>
            </a:r>
          </a:p>
        </p:txBody>
      </p:sp>
      <p:sp>
        <p:nvSpPr>
          <p:cNvPr id="26" name="TextBox 25"/>
          <p:cNvSpPr txBox="1"/>
          <p:nvPr/>
        </p:nvSpPr>
        <p:spPr>
          <a:xfrm>
            <a:off x="6598800" y="3186000"/>
            <a:ext cx="1980000" cy="198000"/>
          </a:xfrm>
          <a:prstGeom prst="rect">
            <a:avLst/>
          </a:prstGeom>
          <a:noFill/>
        </p:spPr>
        <p:txBody>
          <a:bodyPr wrap="square">
            <a:spAutoFit/>
          </a:bodyPr>
          <a:lstStyle/>
          <a:p>
            <a:pPr algn="r"/>
            <a:r>
              <a:rPr sz="750" b="1" i="0">
                <a:solidFill>
                  <a:srgbClr val="1B3A6B"/>
                </a:solidFill>
                <a:latin typeface="Calibri"/>
              </a:rPr>
              <a:t>Technology</a:t>
            </a:r>
          </a:p>
        </p:txBody>
      </p:sp>
      <p:sp>
        <p:nvSpPr>
          <p:cNvPr id="27" name="TextBox 26"/>
          <p:cNvSpPr txBox="1"/>
          <p:nvPr/>
        </p:nvSpPr>
        <p:spPr>
          <a:xfrm>
            <a:off x="4816800" y="3420000"/>
            <a:ext cx="1800000" cy="198000"/>
          </a:xfrm>
          <a:prstGeom prst="rect">
            <a:avLst/>
          </a:prstGeom>
          <a:noFill/>
        </p:spPr>
        <p:txBody>
          <a:bodyPr wrap="square">
            <a:spAutoFit/>
          </a:bodyPr>
          <a:lstStyle/>
          <a:p>
            <a:pPr algn="l"/>
            <a:r>
              <a:rPr sz="750" b="0" i="0">
                <a:solidFill>
                  <a:srgbClr val="555555"/>
                </a:solidFill>
                <a:latin typeface="Calibri"/>
              </a:rPr>
              <a:t>Cours actuel</a:t>
            </a:r>
          </a:p>
        </p:txBody>
      </p:sp>
      <p:sp>
        <p:nvSpPr>
          <p:cNvPr id="28" name="TextBox 27"/>
          <p:cNvSpPr txBox="1"/>
          <p:nvPr/>
        </p:nvSpPr>
        <p:spPr>
          <a:xfrm>
            <a:off x="6598800" y="3420000"/>
            <a:ext cx="1980000" cy="198000"/>
          </a:xfrm>
          <a:prstGeom prst="rect">
            <a:avLst/>
          </a:prstGeom>
          <a:noFill/>
        </p:spPr>
        <p:txBody>
          <a:bodyPr wrap="square">
            <a:spAutoFit/>
          </a:bodyPr>
          <a:lstStyle/>
          <a:p>
            <a:pPr algn="r"/>
            <a:r>
              <a:rPr sz="750" b="1" i="0">
                <a:solidFill>
                  <a:srgbClr val="1B3A6B"/>
                </a:solidFill>
                <a:latin typeface="Calibri"/>
              </a:rPr>
              <a:t>370,4 $</a:t>
            </a:r>
          </a:p>
        </p:txBody>
      </p:sp>
      <p:sp>
        <p:nvSpPr>
          <p:cNvPr id="29" name="TextBox 28"/>
          <p:cNvSpPr txBox="1"/>
          <p:nvPr/>
        </p:nvSpPr>
        <p:spPr>
          <a:xfrm>
            <a:off x="4816800" y="3654000"/>
            <a:ext cx="1800000" cy="198000"/>
          </a:xfrm>
          <a:prstGeom prst="rect">
            <a:avLst/>
          </a:prstGeom>
          <a:noFill/>
        </p:spPr>
        <p:txBody>
          <a:bodyPr wrap="square">
            <a:spAutoFit/>
          </a:bodyPr>
          <a:lstStyle/>
          <a:p>
            <a:pPr algn="l"/>
            <a:r>
              <a:rPr sz="750" b="0" i="0">
                <a:solidFill>
                  <a:srgbClr val="555555"/>
                </a:solidFill>
                <a:latin typeface="Calibri"/>
              </a:rPr>
              <a:t>Market Cap</a:t>
            </a:r>
          </a:p>
        </p:txBody>
      </p:sp>
      <p:sp>
        <p:nvSpPr>
          <p:cNvPr id="30" name="TextBox 29"/>
          <p:cNvSpPr txBox="1"/>
          <p:nvPr/>
        </p:nvSpPr>
        <p:spPr>
          <a:xfrm>
            <a:off x="6598800" y="3654000"/>
            <a:ext cx="1980000" cy="198000"/>
          </a:xfrm>
          <a:prstGeom prst="rect">
            <a:avLst/>
          </a:prstGeom>
          <a:noFill/>
        </p:spPr>
        <p:txBody>
          <a:bodyPr wrap="square">
            <a:spAutoFit/>
          </a:bodyPr>
          <a:lstStyle/>
          <a:p>
            <a:pPr algn="r"/>
            <a:r>
              <a:rPr sz="750" b="1" i="0">
                <a:solidFill>
                  <a:srgbClr val="1B3A6B"/>
                </a:solidFill>
                <a:latin typeface="Calibri"/>
              </a:rPr>
              <a:t>2 750,5 Mds$</a:t>
            </a:r>
          </a:p>
        </p:txBody>
      </p:sp>
      <p:sp>
        <p:nvSpPr>
          <p:cNvPr id="31" name="TextBox 30"/>
          <p:cNvSpPr txBox="1"/>
          <p:nvPr/>
        </p:nvSpPr>
        <p:spPr>
          <a:xfrm>
            <a:off x="4816800" y="3888000"/>
            <a:ext cx="1800000" cy="198000"/>
          </a:xfrm>
          <a:prstGeom prst="rect">
            <a:avLst/>
          </a:prstGeom>
          <a:noFill/>
        </p:spPr>
        <p:txBody>
          <a:bodyPr wrap="square">
            <a:spAutoFit/>
          </a:bodyPr>
          <a:lstStyle/>
          <a:p>
            <a:pPr algn="l"/>
            <a:r>
              <a:rPr sz="750" b="0" i="0">
                <a:solidFill>
                  <a:srgbClr val="555555"/>
                </a:solidFill>
                <a:latin typeface="Calibri"/>
              </a:rPr>
              <a:t>Score FinSight</a:t>
            </a:r>
          </a:p>
        </p:txBody>
      </p:sp>
      <p:sp>
        <p:nvSpPr>
          <p:cNvPr id="32" name="TextBox 31"/>
          <p:cNvSpPr txBox="1"/>
          <p:nvPr/>
        </p:nvSpPr>
        <p:spPr>
          <a:xfrm>
            <a:off x="6598800" y="3888000"/>
            <a:ext cx="1980000" cy="198000"/>
          </a:xfrm>
          <a:prstGeom prst="rect">
            <a:avLst/>
          </a:prstGeom>
          <a:noFill/>
        </p:spPr>
        <p:txBody>
          <a:bodyPr wrap="square">
            <a:spAutoFit/>
          </a:bodyPr>
          <a:lstStyle/>
          <a:p>
            <a:pPr algn="r"/>
            <a:r>
              <a:rPr sz="750" b="1" i="0">
                <a:solidFill>
                  <a:srgbClr val="1B3A6B"/>
                </a:solidFill>
                <a:latin typeface="Calibri"/>
              </a:rPr>
              <a:t>58/100</a:t>
            </a:r>
          </a:p>
        </p:txBody>
      </p:sp>
      <p:sp>
        <p:nvSpPr>
          <p:cNvPr id="33" name="Rectangle 32"/>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35" name="TextBox 34"/>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10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 Comparatif</a:t>
            </a:r>
          </a:p>
        </p:txBody>
      </p:sp>
      <p:sp>
        <p:nvSpPr>
          <p:cNvPr id="6" name="Rectangle 5"/>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8" name="Rectangle 7"/>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10" name="Rectangle 9"/>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6" name="Rectangle 15"/>
          <p:cNvSpPr/>
          <p:nvPr/>
        </p:nvSpPr>
        <p:spPr>
          <a:xfrm>
            <a:off x="367200" y="622800"/>
            <a:ext cx="4118400" cy="201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22800"/>
            <a:ext cx="64800" cy="20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640800"/>
            <a:ext cx="3960000" cy="165600"/>
          </a:xfrm>
          <a:prstGeom prst="rect">
            <a:avLst/>
          </a:prstGeom>
          <a:noFill/>
        </p:spPr>
        <p:txBody>
          <a:bodyPr wrap="none">
            <a:spAutoFit/>
          </a:bodyPr>
          <a:lstStyle/>
          <a:p>
            <a:pPr algn="l"/>
            <a:r>
              <a:rPr sz="850" b="1" i="0">
                <a:solidFill>
                  <a:srgbClr val="1B3A6B"/>
                </a:solidFill>
                <a:latin typeface="Calibri"/>
              </a:rPr>
              <a:t>Apple Inc. (AAPL)</a:t>
            </a:r>
          </a:p>
        </p:txBody>
      </p:sp>
      <p:sp>
        <p:nvSpPr>
          <p:cNvPr id="19" name="Rectangle 18"/>
          <p:cNvSpPr/>
          <p:nvPr/>
        </p:nvSpPr>
        <p:spPr>
          <a:xfrm>
            <a:off x="4658400" y="622800"/>
            <a:ext cx="4118400" cy="2016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58400" y="622800"/>
            <a:ext cx="64800" cy="2016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7200" y="640800"/>
            <a:ext cx="3960000" cy="165600"/>
          </a:xfrm>
          <a:prstGeom prst="rect">
            <a:avLst/>
          </a:prstGeom>
          <a:noFill/>
        </p:spPr>
        <p:txBody>
          <a:bodyPr wrap="none">
            <a:spAutoFit/>
          </a:bodyPr>
          <a:lstStyle/>
          <a:p>
            <a:pPr algn="l"/>
            <a:r>
              <a:rPr sz="850" b="1" i="0">
                <a:solidFill>
                  <a:srgbClr val="1A7A4A"/>
                </a:solidFill>
                <a:latin typeface="Calibri"/>
              </a:rPr>
              <a:t>Microsoft Corporation (MSFT)</a:t>
            </a:r>
          </a:p>
        </p:txBody>
      </p:sp>
      <p:sp>
        <p:nvSpPr>
          <p:cNvPr id="22" name="Rectangle 21"/>
          <p:cNvSpPr/>
          <p:nvPr/>
        </p:nvSpPr>
        <p:spPr>
          <a:xfrm>
            <a:off x="367200" y="882000"/>
            <a:ext cx="8413200" cy="1152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7200" y="882000"/>
            <a:ext cx="46800" cy="1152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3999" y="925200"/>
            <a:ext cx="8208000" cy="180000"/>
          </a:xfrm>
          <a:prstGeom prst="rect">
            <a:avLst/>
          </a:prstGeom>
          <a:noFill/>
        </p:spPr>
        <p:txBody>
          <a:bodyPr wrap="square">
            <a:spAutoFit/>
          </a:bodyPr>
          <a:lstStyle/>
          <a:p>
            <a:pPr algn="l"/>
            <a:r>
              <a:rPr sz="1100" b="1" i="1">
                <a:solidFill>
                  <a:srgbClr val="1B3A6B"/>
                </a:solidFill>
                <a:latin typeface="Calibri"/>
              </a:rPr>
              <a:t>MSFT combine valorisation attractive et fondamentaux solides</a:t>
            </a:r>
          </a:p>
        </p:txBody>
      </p:sp>
      <p:sp>
        <p:nvSpPr>
          <p:cNvPr id="25" name="TextBox 24"/>
          <p:cNvSpPr txBox="1"/>
          <p:nvPr/>
        </p:nvSpPr>
        <p:spPr>
          <a:xfrm>
            <a:off x="503999" y="1152000"/>
            <a:ext cx="8208000" cy="828000"/>
          </a:xfrm>
          <a:prstGeom prst="rect">
            <a:avLst/>
          </a:prstGeom>
          <a:noFill/>
        </p:spPr>
        <p:txBody>
          <a:bodyPr wrap="square">
            <a:spAutoFit/>
          </a:bodyPr>
          <a:lstStyle/>
          <a:p>
            <a:pPr algn="l"/>
            <a:r>
              <a:rPr sz="900" b="0" i="0">
                <a:solidFill>
                  <a:srgbClr val="1B3A6B"/>
                </a:solidFill>
                <a:latin typeface="Calibri"/>
              </a:rPr>
              <a:t>Executive Summary : AAPL vs MSFT Quoi : Comparaison des valorisations et fondamentaux entre Apple (AAPL) et Microsoft (MSFT). Pourquoi : MSFT offre un meilleur rapport qualité/valorisation grâce à des multiples plus attractifs (PE 27x vs 34x, EV/EBITDA 17x vs 27x) et une profitabilité supérieure (EBITDA margin 57% vs 35%, ROIC 30% vs 84%). Implications : MSFT présente une croissance plus robuste (CAGR 12% vs 2%) et un levier financier plus sain (ND/EBITDA 0.1 vs 0.4), justifiant sa préférence pour les investisseurs.</a:t>
            </a:r>
          </a:p>
        </p:txBody>
      </p:sp>
      <p:graphicFrame>
        <p:nvGraphicFramePr>
          <p:cNvPr id="26" name="Table 25"/>
          <p:cNvGraphicFramePr>
            <a:graphicFrameLocks noGrp="1"/>
          </p:cNvGraphicFramePr>
          <p:nvPr/>
        </p:nvGraphicFramePr>
        <p:xfrm>
          <a:off x="367200" y="2106000"/>
          <a:ext cx="8413200" cy="1962000"/>
        </p:xfrm>
        <a:graphic>
          <a:graphicData uri="http://schemas.openxmlformats.org/drawingml/2006/table">
            <a:tbl>
              <a:tblPr firstRow="1" bandRow="1">
                <a:tableStyleId>{5C22544A-7EE6-4342-B048-85BDC9FD1C3A}</a:tableStyleId>
              </a:tblPr>
              <a:tblGrid>
                <a:gridCol w="3365280"/>
                <a:gridCol w="2523960"/>
                <a:gridCol w="2523960"/>
              </a:tblGrid>
              <a:tr h="196200">
                <a:tc>
                  <a:txBody>
                    <a:bodyPr/>
                    <a:lstStyle/>
                    <a:p>
                      <a:pPr algn="l"/>
                      <a:r>
                        <a:rPr sz="750" b="1" i="0">
                          <a:solidFill>
                            <a:srgbClr val="FFFFFF"/>
                          </a:solidFill>
                          <a:latin typeface="Calibri"/>
                        </a:rPr>
                        <a:t>Indicateur cle</a:t>
                      </a:r>
                    </a:p>
                  </a:txBody>
                  <a:tcPr>
                    <a:solidFill>
                      <a:srgbClr val="1B3A6B"/>
                    </a:solidFill>
                  </a:tcPr>
                </a:tc>
                <a:tc>
                  <a:txBody>
                    <a:bodyPr/>
                    <a:lstStyle/>
                    <a:p>
                      <a:pPr algn="ctr"/>
                      <a:r>
                        <a:rPr sz="750" b="1" i="0">
                          <a:solidFill>
                            <a:srgbClr val="FFFFFF"/>
                          </a:solidFill>
                          <a:latin typeface="Calibri"/>
                        </a:rPr>
                        <a:t>AAPL</a:t>
                      </a:r>
                    </a:p>
                  </a:txBody>
                  <a:tcPr>
                    <a:solidFill>
                      <a:srgbClr val="1B3A6B"/>
                    </a:solidFill>
                  </a:tcPr>
                </a:tc>
                <a:tc>
                  <a:txBody>
                    <a:bodyPr/>
                    <a:lstStyle/>
                    <a:p>
                      <a:pPr algn="ctr"/>
                      <a:r>
                        <a:rPr sz="750" b="1" i="0">
                          <a:solidFill>
                            <a:srgbClr val="FFFFFF"/>
                          </a:solidFill>
                          <a:latin typeface="Calibri"/>
                        </a:rPr>
                        <a:t>MSFT</a:t>
                      </a:r>
                    </a:p>
                  </a:txBody>
                  <a:tcPr>
                    <a:solidFill>
                      <a:srgbClr val="1B3A6B"/>
                    </a:solidFill>
                  </a:tcPr>
                </a:tc>
              </a:tr>
              <a:tr h="196200">
                <a:tc>
                  <a:txBody>
                    <a:bodyPr/>
                    <a:lstStyle/>
                    <a:p>
                      <a:pPr algn="l"/>
                      <a:r>
                        <a:rPr sz="750" b="0" i="0">
                          <a:solidFill>
                            <a:srgbClr val="0D0D0D"/>
                          </a:solidFill>
                          <a:latin typeface="Calibri"/>
                        </a:rPr>
                        <a:t>FinSight Score /100</a:t>
                      </a:r>
                    </a:p>
                  </a:txBody>
                  <a:tcPr>
                    <a:solidFill>
                      <a:srgbClr val="FFFFFF"/>
                    </a:solidFill>
                  </a:tcPr>
                </a:tc>
                <a:tc>
                  <a:txBody>
                    <a:bodyPr/>
                    <a:lstStyle/>
                    <a:p>
                      <a:pPr algn="ctr"/>
                      <a:r>
                        <a:rPr sz="750" b="0" i="0">
                          <a:solidFill>
                            <a:srgbClr val="0D0D0D"/>
                          </a:solidFill>
                          <a:latin typeface="Calibri"/>
                        </a:rPr>
                        <a:t>44</a:t>
                      </a:r>
                    </a:p>
                  </a:txBody>
                  <a:tcPr>
                    <a:solidFill>
                      <a:srgbClr val="FFFFFF"/>
                    </a:solidFill>
                  </a:tcPr>
                </a:tc>
                <a:tc>
                  <a:txBody>
                    <a:bodyPr/>
                    <a:lstStyle/>
                    <a:p>
                      <a:pPr algn="ctr"/>
                      <a:r>
                        <a:rPr sz="750" b="0" i="0">
                          <a:solidFill>
                            <a:srgbClr val="0D0D0D"/>
                          </a:solidFill>
                          <a:latin typeface="Calibri"/>
                        </a:rPr>
                        <a:t>▲ 58</a:t>
                      </a:r>
                    </a:p>
                  </a:txBody>
                  <a:tcPr>
                    <a:solidFill>
                      <a:srgbClr val="FFFFFF"/>
                    </a:solidFill>
                  </a:tcPr>
                </a:tc>
              </a:tr>
              <a:tr h="196200">
                <a:tc>
                  <a:txBody>
                    <a:bodyPr/>
                    <a:lstStyle/>
                    <a:p>
                      <a:pPr algn="l"/>
                      <a:r>
                        <a:rPr sz="750" b="0" i="0">
                          <a:solidFill>
                            <a:srgbClr val="0D0D0D"/>
                          </a:solidFill>
                          <a:latin typeface="Calibri"/>
                        </a:rPr>
                        <a:t>Recommandation</a:t>
                      </a:r>
                    </a:p>
                  </a:txBody>
                  <a:tcPr>
                    <a:solidFill>
                      <a:srgbClr val="F7F8FA"/>
                    </a:solidFill>
                  </a:tcPr>
                </a:tc>
                <a:tc>
                  <a:txBody>
                    <a:bodyPr/>
                    <a:lstStyle/>
                    <a:p>
                      <a:pPr algn="ctr"/>
                      <a:r>
                        <a:rPr sz="750" b="0" i="0">
                          <a:solidFill>
                            <a:srgbClr val="0D0D0D"/>
                          </a:solidFill>
                          <a:latin typeface="Calibri"/>
                        </a:rPr>
                        <a:t>—</a:t>
                      </a:r>
                    </a:p>
                  </a:txBody>
                  <a:tcPr>
                    <a:solidFill>
                      <a:srgbClr val="F7F8FA"/>
                    </a:solidFill>
                  </a:tcPr>
                </a:tc>
                <a:tc>
                  <a:txBody>
                    <a:bodyPr/>
                    <a:lstStyle/>
                    <a:p>
                      <a:pPr algn="ctr"/>
                      <a:r>
                        <a:rPr sz="750" b="0" i="0">
                          <a:solidFill>
                            <a:srgbClr val="0D0D0D"/>
                          </a:solidFill>
                          <a:latin typeface="Calibri"/>
                        </a:rPr>
                        <a:t>—</a:t>
                      </a:r>
                    </a:p>
                  </a:txBody>
                  <a:tcPr>
                    <a:solidFill>
                      <a:srgbClr val="F7F8FA"/>
                    </a:solidFill>
                  </a:tcPr>
                </a:tc>
              </a:tr>
              <a:tr h="196200">
                <a:tc>
                  <a:txBody>
                    <a:bodyPr/>
                    <a:lstStyle/>
                    <a:p>
                      <a:pPr algn="l"/>
                      <a:r>
                        <a:rPr sz="750" b="0" i="0">
                          <a:solidFill>
                            <a:srgbClr val="0D0D0D"/>
                          </a:solidFill>
                          <a:latin typeface="Calibri"/>
                        </a:rPr>
                        <a:t>Conviction</a:t>
                      </a:r>
                    </a:p>
                  </a:txBody>
                  <a:tcPr>
                    <a:solidFill>
                      <a:srgbClr val="FFFFFF"/>
                    </a:solidFill>
                  </a:tcPr>
                </a:tc>
                <a:tc>
                  <a:txBody>
                    <a:bodyPr/>
                    <a:lstStyle/>
                    <a:p>
                      <a:pPr algn="ctr"/>
                      <a:r>
                        <a:rPr sz="750" b="0" i="0">
                          <a:solidFill>
                            <a:srgbClr val="0D0D0D"/>
                          </a:solidFill>
                          <a:latin typeface="Calibri"/>
                        </a:rPr>
                        <a:t>—</a:t>
                      </a:r>
                    </a:p>
                  </a:txBody>
                  <a:tcPr>
                    <a:solidFill>
                      <a:srgbClr val="FFFFFF"/>
                    </a:solidFill>
                  </a:tcPr>
                </a:tc>
                <a:tc>
                  <a:txBody>
                    <a:bodyPr/>
                    <a:lstStyle/>
                    <a:p>
                      <a:pPr algn="ctr"/>
                      <a:r>
                        <a:rPr sz="750" b="0" i="0">
                          <a:solidFill>
                            <a:srgbClr val="0D0D0D"/>
                          </a:solidFill>
                          <a:latin typeface="Calibri"/>
                        </a:rPr>
                        <a:t>—</a:t>
                      </a:r>
                    </a:p>
                  </a:txBody>
                  <a:tcPr>
                    <a:solidFill>
                      <a:srgbClr val="FFFFFF"/>
                    </a:solidFill>
                  </a:tcPr>
                </a:tc>
              </a:tr>
              <a:tr h="196200">
                <a:tc>
                  <a:txBody>
                    <a:bodyPr/>
                    <a:lstStyle/>
                    <a:p>
                      <a:pPr algn="l"/>
                      <a:r>
                        <a:rPr sz="750" b="0" i="0">
                          <a:solidFill>
                            <a:srgbClr val="0D0D0D"/>
                          </a:solidFill>
                          <a:latin typeface="Calibri"/>
                        </a:rPr>
                        <a:t>Marge EBITDA LTM</a:t>
                      </a:r>
                    </a:p>
                  </a:txBody>
                  <a:tcPr>
                    <a:solidFill>
                      <a:srgbClr val="F7F8FA"/>
                    </a:solidFill>
                  </a:tcPr>
                </a:tc>
                <a:tc>
                  <a:txBody>
                    <a:bodyPr/>
                    <a:lstStyle/>
                    <a:p>
                      <a:pPr algn="ctr"/>
                      <a:r>
                        <a:rPr sz="750" b="0" i="0">
                          <a:solidFill>
                            <a:srgbClr val="0D0D0D"/>
                          </a:solidFill>
                          <a:latin typeface="Calibri"/>
                        </a:rPr>
                        <a:t>34,8 %</a:t>
                      </a:r>
                    </a:p>
                  </a:txBody>
                  <a:tcPr>
                    <a:solidFill>
                      <a:srgbClr val="F7F8FA"/>
                    </a:solidFill>
                  </a:tcPr>
                </a:tc>
                <a:tc>
                  <a:txBody>
                    <a:bodyPr/>
                    <a:lstStyle/>
                    <a:p>
                      <a:pPr algn="ctr"/>
                      <a:r>
                        <a:rPr sz="750" b="0" i="0">
                          <a:solidFill>
                            <a:srgbClr val="0D0D0D"/>
                          </a:solidFill>
                          <a:latin typeface="Calibri"/>
                        </a:rPr>
                        <a:t>▲ 56,9 %</a:t>
                      </a:r>
                    </a:p>
                  </a:txBody>
                  <a:tcPr>
                    <a:solidFill>
                      <a:srgbClr val="F7F8FA"/>
                    </a:solidFill>
                  </a:tcPr>
                </a:tc>
              </a:tr>
              <a:tr h="196200">
                <a:tc>
                  <a:txBody>
                    <a:bodyPr/>
                    <a:lstStyle/>
                    <a:p>
                      <a:pPr algn="l"/>
                      <a:r>
                        <a:rPr sz="750" b="0" i="0">
                          <a:solidFill>
                            <a:srgbClr val="0D0D0D"/>
                          </a:solidFill>
                          <a:latin typeface="Calibri"/>
                        </a:rPr>
                        <a:t>ROIC</a:t>
                      </a:r>
                    </a:p>
                  </a:txBody>
                  <a:tcPr>
                    <a:solidFill>
                      <a:srgbClr val="FFFFFF"/>
                    </a:solidFill>
                  </a:tcPr>
                </a:tc>
                <a:tc>
                  <a:txBody>
                    <a:bodyPr/>
                    <a:lstStyle/>
                    <a:p>
                      <a:pPr algn="ctr"/>
                      <a:r>
                        <a:rPr sz="750" b="0" i="0">
                          <a:solidFill>
                            <a:srgbClr val="0D0D0D"/>
                          </a:solidFill>
                          <a:latin typeface="Calibri"/>
                        </a:rPr>
                        <a:t>▲ 84,4 %</a:t>
                      </a:r>
                    </a:p>
                  </a:txBody>
                  <a:tcPr>
                    <a:solidFill>
                      <a:srgbClr val="FFFFFF"/>
                    </a:solidFill>
                  </a:tcPr>
                </a:tc>
                <a:tc>
                  <a:txBody>
                    <a:bodyPr/>
                    <a:lstStyle/>
                    <a:p>
                      <a:pPr algn="ctr"/>
                      <a:r>
                        <a:rPr sz="750" b="0" i="0">
                          <a:solidFill>
                            <a:srgbClr val="0D0D0D"/>
                          </a:solidFill>
                          <a:latin typeface="Calibri"/>
                        </a:rPr>
                        <a:t>30,1 %</a:t>
                      </a:r>
                    </a:p>
                  </a:txBody>
                  <a:tcPr>
                    <a:solidFill>
                      <a:srgbClr val="FFFFFF"/>
                    </a:solidFill>
                  </a:tcPr>
                </a:tc>
              </a:tr>
              <a:tr h="196200">
                <a:tc>
                  <a:txBody>
                    <a:bodyPr/>
                    <a:lstStyle/>
                    <a:p>
                      <a:pPr algn="l"/>
                      <a:r>
                        <a:rPr sz="750" b="0" i="0">
                          <a:solidFill>
                            <a:srgbClr val="0D0D0D"/>
                          </a:solidFill>
                          <a:latin typeface="Calibri"/>
                        </a:rPr>
                        <a:t>Rev CAGR 3y</a:t>
                      </a:r>
                    </a:p>
                  </a:txBody>
                  <a:tcPr>
                    <a:solidFill>
                      <a:srgbClr val="F7F8FA"/>
                    </a:solidFill>
                  </a:tcPr>
                </a:tc>
                <a:tc>
                  <a:txBody>
                    <a:bodyPr/>
                    <a:lstStyle/>
                    <a:p>
                      <a:pPr algn="ctr"/>
                      <a:r>
                        <a:rPr sz="750" b="0" i="0">
                          <a:solidFill>
                            <a:srgbClr val="0D0D0D"/>
                          </a:solidFill>
                          <a:latin typeface="Calibri"/>
                        </a:rPr>
                        <a:t>1,8 %</a:t>
                      </a:r>
                    </a:p>
                  </a:txBody>
                  <a:tcPr>
                    <a:solidFill>
                      <a:srgbClr val="F7F8FA"/>
                    </a:solidFill>
                  </a:tcPr>
                </a:tc>
                <a:tc>
                  <a:txBody>
                    <a:bodyPr/>
                    <a:lstStyle/>
                    <a:p>
                      <a:pPr algn="ctr"/>
                      <a:r>
                        <a:rPr sz="750" b="0" i="0">
                          <a:solidFill>
                            <a:srgbClr val="0D0D0D"/>
                          </a:solidFill>
                          <a:latin typeface="Calibri"/>
                        </a:rPr>
                        <a:t>▲ 12,4 %</a:t>
                      </a:r>
                    </a:p>
                  </a:txBody>
                  <a:tcPr>
                    <a:solidFill>
                      <a:srgbClr val="F7F8FA"/>
                    </a:solidFill>
                  </a:tcPr>
                </a:tc>
              </a:tr>
              <a:tr h="196200">
                <a:tc>
                  <a:txBody>
                    <a:bodyPr/>
                    <a:lstStyle/>
                    <a:p>
                      <a:pPr algn="l"/>
                      <a:r>
                        <a:rPr sz="750" b="0" i="0">
                          <a:solidFill>
                            <a:srgbClr val="0D0D0D"/>
                          </a:solidFill>
                          <a:latin typeface="Calibri"/>
                        </a:rPr>
                        <a:t>P/E (LTM)</a:t>
                      </a:r>
                    </a:p>
                  </a:txBody>
                  <a:tcPr>
                    <a:solidFill>
                      <a:srgbClr val="FFFFFF"/>
                    </a:solidFill>
                  </a:tcPr>
                </a:tc>
                <a:tc>
                  <a:txBody>
                    <a:bodyPr/>
                    <a:lstStyle/>
                    <a:p>
                      <a:pPr algn="ctr"/>
                      <a:r>
                        <a:rPr sz="750" b="0" i="0">
                          <a:solidFill>
                            <a:srgbClr val="0D0D0D"/>
                          </a:solidFill>
                          <a:latin typeface="Calibri"/>
                        </a:rPr>
                        <a:t>34,3x</a:t>
                      </a:r>
                    </a:p>
                  </a:txBody>
                  <a:tcPr>
                    <a:solidFill>
                      <a:srgbClr val="FFFFFF"/>
                    </a:solidFill>
                  </a:tcPr>
                </a:tc>
                <a:tc>
                  <a:txBody>
                    <a:bodyPr/>
                    <a:lstStyle/>
                    <a:p>
                      <a:pPr algn="ctr"/>
                      <a:r>
                        <a:rPr sz="750" b="0" i="0">
                          <a:solidFill>
                            <a:srgbClr val="0D0D0D"/>
                          </a:solidFill>
                          <a:latin typeface="Calibri"/>
                        </a:rPr>
                        <a:t>▲ 27,0x</a:t>
                      </a:r>
                    </a:p>
                  </a:txBody>
                  <a:tcPr>
                    <a:solidFill>
                      <a:srgbClr val="FFFFFF"/>
                    </a:solidFill>
                  </a:tcPr>
                </a:tc>
              </a:tr>
              <a:tr h="196200">
                <a:tc>
                  <a:txBody>
                    <a:bodyPr/>
                    <a:lstStyle/>
                    <a:p>
                      <a:pPr algn="l"/>
                      <a:r>
                        <a:rPr sz="750" b="0" i="0">
                          <a:solidFill>
                            <a:srgbClr val="0D0D0D"/>
                          </a:solidFill>
                          <a:latin typeface="Calibri"/>
                        </a:rPr>
                        <a:t>EV/EBITDA</a:t>
                      </a:r>
                    </a:p>
                  </a:txBody>
                  <a:tcPr>
                    <a:solidFill>
                      <a:srgbClr val="F7F8FA"/>
                    </a:solidFill>
                  </a:tcPr>
                </a:tc>
                <a:tc>
                  <a:txBody>
                    <a:bodyPr/>
                    <a:lstStyle/>
                    <a:p>
                      <a:pPr algn="ctr"/>
                      <a:r>
                        <a:rPr sz="750" b="0" i="0">
                          <a:solidFill>
                            <a:srgbClr val="0D0D0D"/>
                          </a:solidFill>
                          <a:latin typeface="Calibri"/>
                        </a:rPr>
                        <a:t>27,0x</a:t>
                      </a:r>
                    </a:p>
                  </a:txBody>
                  <a:tcPr>
                    <a:solidFill>
                      <a:srgbClr val="F7F8FA"/>
                    </a:solidFill>
                  </a:tcPr>
                </a:tc>
                <a:tc>
                  <a:txBody>
                    <a:bodyPr/>
                    <a:lstStyle/>
                    <a:p>
                      <a:pPr algn="ctr"/>
                      <a:r>
                        <a:rPr sz="750" b="0" i="0">
                          <a:solidFill>
                            <a:srgbClr val="0D0D0D"/>
                          </a:solidFill>
                          <a:latin typeface="Calibri"/>
                        </a:rPr>
                        <a:t>▲ 17,2x</a:t>
                      </a:r>
                    </a:p>
                  </a:txBody>
                  <a:tcPr>
                    <a:solidFill>
                      <a:srgbClr val="F7F8FA"/>
                    </a:solidFill>
                  </a:tcPr>
                </a:tc>
              </a:tr>
              <a:tr h="196200">
                <a:tc>
                  <a:txBody>
                    <a:bodyPr/>
                    <a:lstStyle/>
                    <a:p>
                      <a:pPr algn="l"/>
                      <a:r>
                        <a:rPr sz="750" b="0" i="0">
                          <a:solidFill>
                            <a:srgbClr val="0D0D0D"/>
                          </a:solidFill>
                          <a:latin typeface="Calibri"/>
                        </a:rPr>
                        <a:t>ND/EBITDA</a:t>
                      </a:r>
                    </a:p>
                  </a:txBody>
                  <a:tcPr>
                    <a:solidFill>
                      <a:srgbClr val="FFFFFF"/>
                    </a:solidFill>
                  </a:tcPr>
                </a:tc>
                <a:tc>
                  <a:txBody>
                    <a:bodyPr/>
                    <a:lstStyle/>
                    <a:p>
                      <a:pPr algn="ctr"/>
                      <a:r>
                        <a:rPr sz="750" b="0" i="0">
                          <a:solidFill>
                            <a:srgbClr val="0D0D0D"/>
                          </a:solidFill>
                          <a:latin typeface="Calibri"/>
                        </a:rPr>
                        <a:t>0,4x</a:t>
                      </a:r>
                    </a:p>
                  </a:txBody>
                  <a:tcPr>
                    <a:solidFill>
                      <a:srgbClr val="FFFFFF"/>
                    </a:solidFill>
                  </a:tcPr>
                </a:tc>
                <a:tc>
                  <a:txBody>
                    <a:bodyPr/>
                    <a:lstStyle/>
                    <a:p>
                      <a:pPr algn="ctr"/>
                      <a:r>
                        <a:rPr sz="750" b="0" i="0">
                          <a:solidFill>
                            <a:srgbClr val="0D0D0D"/>
                          </a:solidFill>
                          <a:latin typeface="Calibri"/>
                        </a:rPr>
                        <a:t>▲ 0,1x</a:t>
                      </a:r>
                    </a:p>
                  </a:txBody>
                  <a:tcPr>
                    <a:solidFill>
                      <a:srgbClr val="FFFFFF"/>
                    </a:solidFill>
                  </a:tcPr>
                </a:tc>
              </a:tr>
            </a:tbl>
          </a:graphicData>
        </a:graphic>
      </p:graphicFrame>
      <p:sp>
        <p:nvSpPr>
          <p:cNvPr id="27" name="Rectangle 26"/>
          <p:cNvSpPr/>
          <p:nvPr/>
        </p:nvSpPr>
        <p:spPr>
          <a:xfrm>
            <a:off x="367200" y="4194000"/>
            <a:ext cx="8413200" cy="342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7200" y="4194000"/>
            <a:ext cx="64800" cy="342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86000" y="4237200"/>
            <a:ext cx="8208000" cy="136800"/>
          </a:xfrm>
          <a:prstGeom prst="rect">
            <a:avLst/>
          </a:prstGeom>
          <a:noFill/>
        </p:spPr>
        <p:txBody>
          <a:bodyPr wrap="square">
            <a:spAutoFit/>
          </a:bodyPr>
          <a:lstStyle/>
          <a:p>
            <a:pPr algn="l"/>
            <a:r>
              <a:rPr sz="1000" b="1" i="0">
                <a:solidFill>
                  <a:srgbClr val="1B3A6B"/>
                </a:solidFill>
                <a:latin typeface="Calibri"/>
              </a:rPr>
              <a:t>Choix prefere : MSFT</a:t>
            </a:r>
          </a:p>
        </p:txBody>
      </p:sp>
      <p:sp>
        <p:nvSpPr>
          <p:cNvPr id="30" name="TextBox 29"/>
          <p:cNvSpPr txBox="1"/>
          <p:nvPr/>
        </p:nvSpPr>
        <p:spPr>
          <a:xfrm>
            <a:off x="486000" y="4366800"/>
            <a:ext cx="8208000" cy="151200"/>
          </a:xfrm>
          <a:prstGeom prst="rect">
            <a:avLst/>
          </a:prstGeom>
          <a:noFill/>
        </p:spPr>
        <p:txBody>
          <a:bodyPr wrap="square">
            <a:spAutoFit/>
          </a:bodyPr>
          <a:lstStyle/>
          <a:p>
            <a:pPr algn="l"/>
            <a:r>
              <a:rPr sz="800" b="0" i="0">
                <a:solidFill>
                  <a:srgbClr val="555555"/>
                </a:solidFill>
                <a:latin typeface="Calibri"/>
              </a:rPr>
              <a:t>Ecart de score FinSight : 14 point(s)  -  lecture detaillee dans les sections suivantes (valorisation, qualite bilancielle, momentum).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7488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8028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820800"/>
            <a:ext cx="6120000" cy="255600"/>
          </a:xfrm>
          <a:prstGeom prst="rect">
            <a:avLst/>
          </a:prstGeom>
          <a:noFill/>
        </p:spPr>
        <p:txBody>
          <a:bodyPr wrap="square">
            <a:spAutoFit/>
          </a:bodyPr>
          <a:lstStyle/>
          <a:p>
            <a:pPr algn="l"/>
            <a:r>
              <a:rPr sz="1300" b="1" i="0">
                <a:solidFill>
                  <a:srgbClr val="1B3A6B"/>
                </a:solidFill>
                <a:latin typeface="Calibri"/>
              </a:rPr>
              <a:t>Profil &amp; Identite</a:t>
            </a:r>
          </a:p>
        </p:txBody>
      </p:sp>
      <p:sp>
        <p:nvSpPr>
          <p:cNvPr id="10" name="TextBox 9"/>
          <p:cNvSpPr txBox="1"/>
          <p:nvPr/>
        </p:nvSpPr>
        <p:spPr>
          <a:xfrm>
            <a:off x="1152000" y="1054800"/>
            <a:ext cx="6120000" cy="255600"/>
          </a:xfrm>
          <a:prstGeom prst="rect">
            <a:avLst/>
          </a:prstGeom>
          <a:noFill/>
        </p:spPr>
        <p:txBody>
          <a:bodyPr wrap="square">
            <a:spAutoFit/>
          </a:bodyPr>
          <a:lstStyle/>
          <a:p>
            <a:pPr algn="l"/>
            <a:r>
              <a:rPr sz="850" b="0" i="0">
                <a:solidFill>
                  <a:srgbClr val="555555"/>
                </a:solidFill>
                <a:latin typeface="Calibri"/>
              </a:rPr>
              <a:t>Presentation comparative des deux societes</a:t>
            </a:r>
          </a:p>
        </p:txBody>
      </p:sp>
      <p:sp>
        <p:nvSpPr>
          <p:cNvPr id="11" name="TextBox 10"/>
          <p:cNvSpPr txBox="1"/>
          <p:nvPr/>
        </p:nvSpPr>
        <p:spPr>
          <a:xfrm>
            <a:off x="7405200" y="910800"/>
            <a:ext cx="1375200" cy="255600"/>
          </a:xfrm>
          <a:prstGeom prst="rect">
            <a:avLst/>
          </a:prstGeom>
          <a:noFill/>
        </p:spPr>
        <p:txBody>
          <a:bodyPr wrap="square">
            <a:spAutoFit/>
          </a:bodyPr>
          <a:lstStyle/>
          <a:p>
            <a:pPr algn="r"/>
            <a:r>
              <a:rPr sz="900" b="0" i="0">
                <a:solidFill>
                  <a:srgbClr val="2E5FA3"/>
                </a:solidFill>
                <a:latin typeface="Calibri"/>
              </a:rPr>
              <a:t>5</a:t>
            </a:r>
          </a:p>
        </p:txBody>
      </p:sp>
      <p:sp>
        <p:nvSpPr>
          <p:cNvPr id="12" name="Rectangle 11"/>
          <p:cNvSpPr/>
          <p:nvPr/>
        </p:nvSpPr>
        <p:spPr>
          <a:xfrm>
            <a:off x="367200" y="14436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443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4976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515600"/>
            <a:ext cx="6120000" cy="255600"/>
          </a:xfrm>
          <a:prstGeom prst="rect">
            <a:avLst/>
          </a:prstGeom>
          <a:noFill/>
        </p:spPr>
        <p:txBody>
          <a:bodyPr wrap="square">
            <a:spAutoFit/>
          </a:bodyPr>
          <a:lstStyle/>
          <a:p>
            <a:pPr algn="l"/>
            <a:r>
              <a:rPr sz="1300" b="1" i="0">
                <a:solidFill>
                  <a:srgbClr val="1B3A6B"/>
                </a:solidFill>
                <a:latin typeface="Calibri"/>
              </a:rPr>
              <a:t>Performance Financiere</a:t>
            </a:r>
          </a:p>
        </p:txBody>
      </p:sp>
      <p:sp>
        <p:nvSpPr>
          <p:cNvPr id="16" name="TextBox 15"/>
          <p:cNvSpPr txBox="1"/>
          <p:nvPr/>
        </p:nvSpPr>
        <p:spPr>
          <a:xfrm>
            <a:off x="1152000" y="1749599"/>
            <a:ext cx="6120000" cy="255600"/>
          </a:xfrm>
          <a:prstGeom prst="rect">
            <a:avLst/>
          </a:prstGeom>
          <a:noFill/>
        </p:spPr>
        <p:txBody>
          <a:bodyPr wrap="square">
            <a:spAutoFit/>
          </a:bodyPr>
          <a:lstStyle/>
          <a:p>
            <a:pPr algn="l"/>
            <a:r>
              <a:rPr sz="850" b="0" i="0">
                <a:solidFill>
                  <a:srgbClr val="555555"/>
                </a:solidFill>
                <a:latin typeface="Calibri"/>
              </a:rPr>
              <a:t>P&amp;L, marges, bilan et liquidite compares</a:t>
            </a:r>
          </a:p>
        </p:txBody>
      </p:sp>
      <p:sp>
        <p:nvSpPr>
          <p:cNvPr id="17" name="TextBox 16"/>
          <p:cNvSpPr txBox="1"/>
          <p:nvPr/>
        </p:nvSpPr>
        <p:spPr>
          <a:xfrm>
            <a:off x="7405200" y="1605600"/>
            <a:ext cx="1375200" cy="255600"/>
          </a:xfrm>
          <a:prstGeom prst="rect">
            <a:avLst/>
          </a:prstGeom>
          <a:noFill/>
        </p:spPr>
        <p:txBody>
          <a:bodyPr wrap="square">
            <a:spAutoFit/>
          </a:bodyPr>
          <a:lstStyle/>
          <a:p>
            <a:pPr algn="r"/>
            <a:r>
              <a:rPr sz="900" b="0" i="0">
                <a:solidFill>
                  <a:srgbClr val="2E5FA3"/>
                </a:solidFill>
                <a:latin typeface="Calibri"/>
              </a:rPr>
              <a:t>7</a:t>
            </a:r>
          </a:p>
        </p:txBody>
      </p:sp>
      <p:sp>
        <p:nvSpPr>
          <p:cNvPr id="18" name="Rectangle 17"/>
          <p:cNvSpPr/>
          <p:nvPr/>
        </p:nvSpPr>
        <p:spPr>
          <a:xfrm>
            <a:off x="367200" y="2138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138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1924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2104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444400"/>
            <a:ext cx="6120000" cy="255600"/>
          </a:xfrm>
          <a:prstGeom prst="rect">
            <a:avLst/>
          </a:prstGeom>
          <a:noFill/>
        </p:spPr>
        <p:txBody>
          <a:bodyPr wrap="square">
            <a:spAutoFit/>
          </a:bodyPr>
          <a:lstStyle/>
          <a:p>
            <a:pPr algn="l"/>
            <a:r>
              <a:rPr sz="850" b="0" i="0">
                <a:solidFill>
                  <a:srgbClr val="555555"/>
                </a:solidFill>
                <a:latin typeface="Calibri"/>
              </a:rPr>
              <a:t>Multiples, DCF, GBM Monte Carlo et football field</a:t>
            </a:r>
          </a:p>
        </p:txBody>
      </p:sp>
      <p:sp>
        <p:nvSpPr>
          <p:cNvPr id="23" name="TextBox 22"/>
          <p:cNvSpPr txBox="1"/>
          <p:nvPr/>
        </p:nvSpPr>
        <p:spPr>
          <a:xfrm>
            <a:off x="7405200" y="2300400"/>
            <a:ext cx="1375200" cy="255600"/>
          </a:xfrm>
          <a:prstGeom prst="rect">
            <a:avLst/>
          </a:prstGeom>
          <a:noFill/>
        </p:spPr>
        <p:txBody>
          <a:bodyPr wrap="square">
            <a:spAutoFit/>
          </a:bodyPr>
          <a:lstStyle/>
          <a:p>
            <a:pPr algn="r"/>
            <a:r>
              <a:rPr sz="900" b="0" i="0">
                <a:solidFill>
                  <a:srgbClr val="2E5FA3"/>
                </a:solidFill>
                <a:latin typeface="Calibri"/>
              </a:rPr>
              <a:t>11</a:t>
            </a:r>
          </a:p>
        </p:txBody>
      </p:sp>
      <p:sp>
        <p:nvSpPr>
          <p:cNvPr id="24" name="Rectangle 23"/>
          <p:cNvSpPr/>
          <p:nvPr/>
        </p:nvSpPr>
        <p:spPr>
          <a:xfrm>
            <a:off x="367200" y="2833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833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8872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2905200"/>
            <a:ext cx="6120000" cy="255600"/>
          </a:xfrm>
          <a:prstGeom prst="rect">
            <a:avLst/>
          </a:prstGeom>
          <a:noFill/>
        </p:spPr>
        <p:txBody>
          <a:bodyPr wrap="square">
            <a:spAutoFit/>
          </a:bodyPr>
          <a:lstStyle/>
          <a:p>
            <a:pPr algn="l"/>
            <a:r>
              <a:rPr sz="1300" b="1" i="0">
                <a:solidFill>
                  <a:srgbClr val="1B3A6B"/>
                </a:solidFill>
                <a:latin typeface="Calibri"/>
              </a:rPr>
              <a:t>Qualite &amp; Risques</a:t>
            </a:r>
          </a:p>
        </p:txBody>
      </p:sp>
      <p:sp>
        <p:nvSpPr>
          <p:cNvPr id="28" name="TextBox 27"/>
          <p:cNvSpPr txBox="1"/>
          <p:nvPr/>
        </p:nvSpPr>
        <p:spPr>
          <a:xfrm>
            <a:off x="1152000" y="3139200"/>
            <a:ext cx="6120000" cy="255600"/>
          </a:xfrm>
          <a:prstGeom prst="rect">
            <a:avLst/>
          </a:prstGeom>
          <a:noFill/>
        </p:spPr>
        <p:txBody>
          <a:bodyPr wrap="square">
            <a:spAutoFit/>
          </a:bodyPr>
          <a:lstStyle/>
          <a:p>
            <a:pPr algn="l"/>
            <a:r>
              <a:rPr sz="850" b="0" i="0">
                <a:solidFill>
                  <a:srgbClr val="555555"/>
                </a:solidFill>
                <a:latin typeface="Calibri"/>
              </a:rPr>
              <a:t>Piotroski, levier, beta, VaR et momentum</a:t>
            </a:r>
          </a:p>
        </p:txBody>
      </p:sp>
      <p:sp>
        <p:nvSpPr>
          <p:cNvPr id="29" name="TextBox 28"/>
          <p:cNvSpPr txBox="1"/>
          <p:nvPr/>
        </p:nvSpPr>
        <p:spPr>
          <a:xfrm>
            <a:off x="7405200" y="2995200"/>
            <a:ext cx="1375200" cy="255600"/>
          </a:xfrm>
          <a:prstGeom prst="rect">
            <a:avLst/>
          </a:prstGeom>
          <a:noFill/>
        </p:spPr>
        <p:txBody>
          <a:bodyPr wrap="square">
            <a:spAutoFit/>
          </a:bodyPr>
          <a:lstStyle/>
          <a:p>
            <a:pPr algn="r"/>
            <a:r>
              <a:rPr sz="900" b="0" i="0">
                <a:solidFill>
                  <a:srgbClr val="2E5FA3"/>
                </a:solidFill>
                <a:latin typeface="Calibri"/>
              </a:rPr>
              <a:t>15</a:t>
            </a:r>
          </a:p>
        </p:txBody>
      </p:sp>
      <p:sp>
        <p:nvSpPr>
          <p:cNvPr id="30" name="Rectangle 29"/>
          <p:cNvSpPr/>
          <p:nvPr/>
        </p:nvSpPr>
        <p:spPr>
          <a:xfrm>
            <a:off x="367200" y="3528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528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5820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600000"/>
            <a:ext cx="6120000" cy="255600"/>
          </a:xfrm>
          <a:prstGeom prst="rect">
            <a:avLst/>
          </a:prstGeom>
          <a:noFill/>
        </p:spPr>
        <p:txBody>
          <a:bodyPr wrap="square">
            <a:spAutoFit/>
          </a:bodyPr>
          <a:lstStyle/>
          <a:p>
            <a:pPr algn="l"/>
            <a:r>
              <a:rPr sz="1300" b="1" i="0">
                <a:solidFill>
                  <a:srgbClr val="1B3A6B"/>
                </a:solidFill>
                <a:latin typeface="Calibri"/>
              </a:rPr>
              <a:t>Verdict</a:t>
            </a:r>
          </a:p>
        </p:txBody>
      </p:sp>
      <p:sp>
        <p:nvSpPr>
          <p:cNvPr id="34" name="TextBox 33"/>
          <p:cNvSpPr txBox="1"/>
          <p:nvPr/>
        </p:nvSpPr>
        <p:spPr>
          <a:xfrm>
            <a:off x="1152000" y="3834000"/>
            <a:ext cx="6120000" cy="255600"/>
          </a:xfrm>
          <a:prstGeom prst="rect">
            <a:avLst/>
          </a:prstGeom>
          <a:noFill/>
        </p:spPr>
        <p:txBody>
          <a:bodyPr wrap="square">
            <a:spAutoFit/>
          </a:bodyPr>
          <a:lstStyle/>
          <a:p>
            <a:pPr algn="l"/>
            <a:r>
              <a:rPr sz="850" b="0" i="0">
                <a:solidFill>
                  <a:srgbClr val="555555"/>
                </a:solidFill>
                <a:latin typeface="Calibri"/>
              </a:rPr>
              <a:t>FinSight Score, theses d'investissement et verdict final</a:t>
            </a:r>
          </a:p>
        </p:txBody>
      </p:sp>
      <p:sp>
        <p:nvSpPr>
          <p:cNvPr id="35" name="TextBox 34"/>
          <p:cNvSpPr txBox="1"/>
          <p:nvPr/>
        </p:nvSpPr>
        <p:spPr>
          <a:xfrm>
            <a:off x="7405200" y="3690000"/>
            <a:ext cx="1375200" cy="255600"/>
          </a:xfrm>
          <a:prstGeom prst="rect">
            <a:avLst/>
          </a:prstGeom>
          <a:noFill/>
        </p:spPr>
        <p:txBody>
          <a:bodyPr wrap="square">
            <a:spAutoFit/>
          </a:bodyPr>
          <a:lstStyle/>
          <a:p>
            <a:pPr algn="r"/>
            <a:r>
              <a:rPr sz="900" b="0" i="0">
                <a:solidFill>
                  <a:srgbClr val="2E5FA3"/>
                </a:solidFill>
                <a:latin typeface="Calibri"/>
              </a:rPr>
              <a:t>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Profil &amp; Identite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Presentation comparative de AAPL et MSFT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Profil Comparatif</a:t>
            </a:r>
          </a:p>
        </p:txBody>
      </p:sp>
      <p:sp>
        <p:nvSpPr>
          <p:cNvPr id="6" name="Rectangle 5"/>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8" name="Rectangle 7"/>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10" name="Rectangle 9"/>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6" name="Rectangle 15"/>
          <p:cNvSpPr/>
          <p:nvPr/>
        </p:nvSpPr>
        <p:spPr>
          <a:xfrm>
            <a:off x="367200" y="648000"/>
            <a:ext cx="3960000" cy="234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48000"/>
            <a:ext cx="46800" cy="23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400" y="662400"/>
            <a:ext cx="3851999" cy="198000"/>
          </a:xfrm>
          <a:prstGeom prst="rect">
            <a:avLst/>
          </a:prstGeom>
          <a:noFill/>
        </p:spPr>
        <p:txBody>
          <a:bodyPr wrap="none">
            <a:spAutoFit/>
          </a:bodyPr>
          <a:lstStyle/>
          <a:p>
            <a:pPr algn="l"/>
            <a:r>
              <a:rPr sz="850" b="1" i="0">
                <a:solidFill>
                  <a:srgbClr val="2E5FA3"/>
                </a:solidFill>
                <a:latin typeface="Calibri"/>
              </a:rPr>
              <a:t>Apple Inc. (AAPL)</a:t>
            </a:r>
          </a:p>
        </p:txBody>
      </p:sp>
      <p:sp>
        <p:nvSpPr>
          <p:cNvPr id="19" name="Rectangle 18"/>
          <p:cNvSpPr/>
          <p:nvPr/>
        </p:nvSpPr>
        <p:spPr>
          <a:xfrm>
            <a:off x="367200" y="9360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3200" y="979200"/>
            <a:ext cx="2059200" cy="248399"/>
          </a:xfrm>
          <a:prstGeom prst="rect">
            <a:avLst/>
          </a:prstGeom>
          <a:noFill/>
        </p:spPr>
        <p:txBody>
          <a:bodyPr wrap="none">
            <a:spAutoFit/>
          </a:bodyPr>
          <a:lstStyle/>
          <a:p>
            <a:pPr algn="l"/>
            <a:r>
              <a:rPr sz="750" b="0" i="1">
                <a:solidFill>
                  <a:srgbClr val="555555"/>
                </a:solidFill>
                <a:latin typeface="Calibri"/>
              </a:rPr>
              <a:t>Secteur</a:t>
            </a:r>
          </a:p>
        </p:txBody>
      </p:sp>
      <p:sp>
        <p:nvSpPr>
          <p:cNvPr id="21" name="TextBox 20"/>
          <p:cNvSpPr txBox="1"/>
          <p:nvPr/>
        </p:nvSpPr>
        <p:spPr>
          <a:xfrm>
            <a:off x="2426400" y="979200"/>
            <a:ext cx="1782000" cy="248399"/>
          </a:xfrm>
          <a:prstGeom prst="rect">
            <a:avLst/>
          </a:prstGeom>
          <a:noFill/>
        </p:spPr>
        <p:txBody>
          <a:bodyPr wrap="none">
            <a:spAutoFit/>
          </a:bodyPr>
          <a:lstStyle/>
          <a:p>
            <a:pPr algn="r"/>
            <a:r>
              <a:rPr sz="750" b="0" i="0">
                <a:solidFill>
                  <a:srgbClr val="0D0D0D"/>
                </a:solidFill>
                <a:latin typeface="Calibri"/>
              </a:rPr>
              <a:t>Technology</a:t>
            </a:r>
          </a:p>
        </p:txBody>
      </p:sp>
      <p:sp>
        <p:nvSpPr>
          <p:cNvPr id="22" name="Rectangle 21"/>
          <p:cNvSpPr/>
          <p:nvPr/>
        </p:nvSpPr>
        <p:spPr>
          <a:xfrm>
            <a:off x="367200" y="12384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3200" y="1281600"/>
            <a:ext cx="2059200" cy="248399"/>
          </a:xfrm>
          <a:prstGeom prst="rect">
            <a:avLst/>
          </a:prstGeom>
          <a:noFill/>
        </p:spPr>
        <p:txBody>
          <a:bodyPr wrap="none">
            <a:spAutoFit/>
          </a:bodyPr>
          <a:lstStyle/>
          <a:p>
            <a:pPr algn="l"/>
            <a:r>
              <a:rPr sz="750" b="0" i="1">
                <a:solidFill>
                  <a:srgbClr val="555555"/>
                </a:solidFill>
                <a:latin typeface="Calibri"/>
              </a:rPr>
              <a:t>Devise</a:t>
            </a:r>
          </a:p>
        </p:txBody>
      </p:sp>
      <p:sp>
        <p:nvSpPr>
          <p:cNvPr id="24" name="TextBox 23"/>
          <p:cNvSpPr txBox="1"/>
          <p:nvPr/>
        </p:nvSpPr>
        <p:spPr>
          <a:xfrm>
            <a:off x="2426400" y="1281600"/>
            <a:ext cx="1782000" cy="248399"/>
          </a:xfrm>
          <a:prstGeom prst="rect">
            <a:avLst/>
          </a:prstGeom>
          <a:noFill/>
        </p:spPr>
        <p:txBody>
          <a:bodyPr wrap="none">
            <a:spAutoFit/>
          </a:bodyPr>
          <a:lstStyle/>
          <a:p>
            <a:pPr algn="r"/>
            <a:r>
              <a:rPr sz="750" b="0" i="0">
                <a:solidFill>
                  <a:srgbClr val="0D0D0D"/>
                </a:solidFill>
                <a:latin typeface="Calibri"/>
              </a:rPr>
              <a:t>USD</a:t>
            </a:r>
          </a:p>
        </p:txBody>
      </p:sp>
      <p:sp>
        <p:nvSpPr>
          <p:cNvPr id="25" name="Rectangle 24"/>
          <p:cNvSpPr/>
          <p:nvPr/>
        </p:nvSpPr>
        <p:spPr>
          <a:xfrm>
            <a:off x="367200" y="15408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3200" y="1584000"/>
            <a:ext cx="2059200" cy="248399"/>
          </a:xfrm>
          <a:prstGeom prst="rect">
            <a:avLst/>
          </a:prstGeom>
          <a:noFill/>
        </p:spPr>
        <p:txBody>
          <a:bodyPr wrap="none">
            <a:spAutoFit/>
          </a:bodyPr>
          <a:lstStyle/>
          <a:p>
            <a:pPr algn="l"/>
            <a:r>
              <a:rPr sz="750" b="0" i="1">
                <a:solidFill>
                  <a:srgbClr val="555555"/>
                </a:solidFill>
                <a:latin typeface="Calibri"/>
              </a:rPr>
              <a:t>Cours</a:t>
            </a:r>
          </a:p>
        </p:txBody>
      </p:sp>
      <p:sp>
        <p:nvSpPr>
          <p:cNvPr id="27" name="TextBox 26"/>
          <p:cNvSpPr txBox="1"/>
          <p:nvPr/>
        </p:nvSpPr>
        <p:spPr>
          <a:xfrm>
            <a:off x="2426400" y="1584000"/>
            <a:ext cx="1782000" cy="248399"/>
          </a:xfrm>
          <a:prstGeom prst="rect">
            <a:avLst/>
          </a:prstGeom>
          <a:noFill/>
        </p:spPr>
        <p:txBody>
          <a:bodyPr wrap="none">
            <a:spAutoFit/>
          </a:bodyPr>
          <a:lstStyle/>
          <a:p>
            <a:pPr algn="r"/>
            <a:r>
              <a:rPr sz="750" b="0" i="0">
                <a:solidFill>
                  <a:srgbClr val="0D0D0D"/>
                </a:solidFill>
                <a:latin typeface="Calibri"/>
              </a:rPr>
              <a:t>261,7 $</a:t>
            </a:r>
          </a:p>
        </p:txBody>
      </p:sp>
      <p:sp>
        <p:nvSpPr>
          <p:cNvPr id="28" name="Rectangle 27"/>
          <p:cNvSpPr/>
          <p:nvPr/>
        </p:nvSpPr>
        <p:spPr>
          <a:xfrm>
            <a:off x="367200" y="18432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03200" y="1886400"/>
            <a:ext cx="2059200" cy="248399"/>
          </a:xfrm>
          <a:prstGeom prst="rect">
            <a:avLst/>
          </a:prstGeom>
          <a:noFill/>
        </p:spPr>
        <p:txBody>
          <a:bodyPr wrap="none">
            <a:spAutoFit/>
          </a:bodyPr>
          <a:lstStyle/>
          <a:p>
            <a:pPr algn="l"/>
            <a:r>
              <a:rPr sz="750" b="0" i="1">
                <a:solidFill>
                  <a:srgbClr val="555555"/>
                </a:solidFill>
                <a:latin typeface="Calibri"/>
              </a:rPr>
              <a:t>52W High</a:t>
            </a:r>
          </a:p>
        </p:txBody>
      </p:sp>
      <p:sp>
        <p:nvSpPr>
          <p:cNvPr id="30" name="TextBox 29"/>
          <p:cNvSpPr txBox="1"/>
          <p:nvPr/>
        </p:nvSpPr>
        <p:spPr>
          <a:xfrm>
            <a:off x="2426400" y="1886400"/>
            <a:ext cx="1782000" cy="248399"/>
          </a:xfrm>
          <a:prstGeom prst="rect">
            <a:avLst/>
          </a:prstGeom>
          <a:noFill/>
        </p:spPr>
        <p:txBody>
          <a:bodyPr wrap="none">
            <a:spAutoFit/>
          </a:bodyPr>
          <a:lstStyle/>
          <a:p>
            <a:pPr algn="r"/>
            <a:r>
              <a:rPr sz="750" b="0" i="0">
                <a:solidFill>
                  <a:srgbClr val="0D0D0D"/>
                </a:solidFill>
                <a:latin typeface="Calibri"/>
              </a:rPr>
              <a:t>288,62 $</a:t>
            </a:r>
          </a:p>
        </p:txBody>
      </p:sp>
      <p:sp>
        <p:nvSpPr>
          <p:cNvPr id="31" name="Rectangle 30"/>
          <p:cNvSpPr/>
          <p:nvPr/>
        </p:nvSpPr>
        <p:spPr>
          <a:xfrm>
            <a:off x="367200" y="21456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03200" y="2188800"/>
            <a:ext cx="2059200" cy="248399"/>
          </a:xfrm>
          <a:prstGeom prst="rect">
            <a:avLst/>
          </a:prstGeom>
          <a:noFill/>
        </p:spPr>
        <p:txBody>
          <a:bodyPr wrap="none">
            <a:spAutoFit/>
          </a:bodyPr>
          <a:lstStyle/>
          <a:p>
            <a:pPr algn="l"/>
            <a:r>
              <a:rPr sz="750" b="0" i="1">
                <a:solidFill>
                  <a:srgbClr val="555555"/>
                </a:solidFill>
                <a:latin typeface="Calibri"/>
              </a:rPr>
              <a:t>52W Low</a:t>
            </a:r>
          </a:p>
        </p:txBody>
      </p:sp>
      <p:sp>
        <p:nvSpPr>
          <p:cNvPr id="33" name="TextBox 32"/>
          <p:cNvSpPr txBox="1"/>
          <p:nvPr/>
        </p:nvSpPr>
        <p:spPr>
          <a:xfrm>
            <a:off x="2426400" y="2188800"/>
            <a:ext cx="1782000" cy="248399"/>
          </a:xfrm>
          <a:prstGeom prst="rect">
            <a:avLst/>
          </a:prstGeom>
          <a:noFill/>
        </p:spPr>
        <p:txBody>
          <a:bodyPr wrap="none">
            <a:spAutoFit/>
          </a:bodyPr>
          <a:lstStyle/>
          <a:p>
            <a:pPr algn="r"/>
            <a:r>
              <a:rPr sz="750" b="0" i="0">
                <a:solidFill>
                  <a:srgbClr val="0D0D0D"/>
                </a:solidFill>
                <a:latin typeface="Calibri"/>
              </a:rPr>
              <a:t>186,06 $</a:t>
            </a:r>
          </a:p>
        </p:txBody>
      </p:sp>
      <p:sp>
        <p:nvSpPr>
          <p:cNvPr id="34" name="Rectangle 33"/>
          <p:cNvSpPr/>
          <p:nvPr/>
        </p:nvSpPr>
        <p:spPr>
          <a:xfrm>
            <a:off x="367200" y="24480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03200" y="2491200"/>
            <a:ext cx="2059200" cy="248399"/>
          </a:xfrm>
          <a:prstGeom prst="rect">
            <a:avLst/>
          </a:prstGeom>
          <a:noFill/>
        </p:spPr>
        <p:txBody>
          <a:bodyPr wrap="none">
            <a:spAutoFit/>
          </a:bodyPr>
          <a:lstStyle/>
          <a:p>
            <a:pPr algn="l"/>
            <a:r>
              <a:rPr sz="750" b="0" i="1">
                <a:solidFill>
                  <a:srgbClr val="555555"/>
                </a:solidFill>
                <a:latin typeface="Calibri"/>
              </a:rPr>
              <a:t>Market Cap</a:t>
            </a:r>
          </a:p>
        </p:txBody>
      </p:sp>
      <p:sp>
        <p:nvSpPr>
          <p:cNvPr id="36" name="TextBox 35"/>
          <p:cNvSpPr txBox="1"/>
          <p:nvPr/>
        </p:nvSpPr>
        <p:spPr>
          <a:xfrm>
            <a:off x="2426400" y="2491200"/>
            <a:ext cx="1782000" cy="248399"/>
          </a:xfrm>
          <a:prstGeom prst="rect">
            <a:avLst/>
          </a:prstGeom>
          <a:noFill/>
        </p:spPr>
        <p:txBody>
          <a:bodyPr wrap="none">
            <a:spAutoFit/>
          </a:bodyPr>
          <a:lstStyle/>
          <a:p>
            <a:pPr algn="r"/>
            <a:r>
              <a:rPr sz="750" b="0" i="0">
                <a:solidFill>
                  <a:srgbClr val="0D0D0D"/>
                </a:solidFill>
                <a:latin typeface="Calibri"/>
              </a:rPr>
              <a:t>3 841,8 Mds $</a:t>
            </a:r>
          </a:p>
        </p:txBody>
      </p:sp>
      <p:sp>
        <p:nvSpPr>
          <p:cNvPr id="37" name="Rectangle 36"/>
          <p:cNvSpPr/>
          <p:nvPr/>
        </p:nvSpPr>
        <p:spPr>
          <a:xfrm>
            <a:off x="367200" y="27504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03200" y="2793600"/>
            <a:ext cx="2059200" cy="248399"/>
          </a:xfrm>
          <a:prstGeom prst="rect">
            <a:avLst/>
          </a:prstGeom>
          <a:noFill/>
        </p:spPr>
        <p:txBody>
          <a:bodyPr wrap="none">
            <a:spAutoFit/>
          </a:bodyPr>
          <a:lstStyle/>
          <a:p>
            <a:pPr algn="l"/>
            <a:r>
              <a:rPr sz="750" b="0" i="1">
                <a:solidFill>
                  <a:srgbClr val="555555"/>
                </a:solidFill>
                <a:latin typeface="Calibri"/>
              </a:rPr>
              <a:t>Valeur Entrep.</a:t>
            </a:r>
          </a:p>
        </p:txBody>
      </p:sp>
      <p:sp>
        <p:nvSpPr>
          <p:cNvPr id="39" name="TextBox 38"/>
          <p:cNvSpPr txBox="1"/>
          <p:nvPr/>
        </p:nvSpPr>
        <p:spPr>
          <a:xfrm>
            <a:off x="2426400" y="2793600"/>
            <a:ext cx="1782000" cy="248399"/>
          </a:xfrm>
          <a:prstGeom prst="rect">
            <a:avLst/>
          </a:prstGeom>
          <a:noFill/>
        </p:spPr>
        <p:txBody>
          <a:bodyPr wrap="none">
            <a:spAutoFit/>
          </a:bodyPr>
          <a:lstStyle/>
          <a:p>
            <a:pPr algn="r"/>
            <a:r>
              <a:rPr sz="750" b="0" i="0">
                <a:solidFill>
                  <a:srgbClr val="0D0D0D"/>
                </a:solidFill>
                <a:latin typeface="Calibri"/>
              </a:rPr>
              <a:t>3 904,5 Mds $</a:t>
            </a:r>
          </a:p>
        </p:txBody>
      </p:sp>
      <p:sp>
        <p:nvSpPr>
          <p:cNvPr id="40" name="Rectangle 39"/>
          <p:cNvSpPr/>
          <p:nvPr/>
        </p:nvSpPr>
        <p:spPr>
          <a:xfrm>
            <a:off x="367200" y="30528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03200" y="3096000"/>
            <a:ext cx="2059200" cy="248399"/>
          </a:xfrm>
          <a:prstGeom prst="rect">
            <a:avLst/>
          </a:prstGeom>
          <a:noFill/>
        </p:spPr>
        <p:txBody>
          <a:bodyPr wrap="none">
            <a:spAutoFit/>
          </a:bodyPr>
          <a:lstStyle/>
          <a:p>
            <a:pPr algn="l"/>
            <a:r>
              <a:rPr sz="750" b="0" i="1">
                <a:solidFill>
                  <a:srgbClr val="555555"/>
                </a:solidFill>
                <a:latin typeface="Calibri"/>
              </a:rPr>
              <a:t>Div. Yield</a:t>
            </a:r>
          </a:p>
        </p:txBody>
      </p:sp>
      <p:sp>
        <p:nvSpPr>
          <p:cNvPr id="42" name="TextBox 41"/>
          <p:cNvSpPr txBox="1"/>
          <p:nvPr/>
        </p:nvSpPr>
        <p:spPr>
          <a:xfrm>
            <a:off x="2426400" y="3096000"/>
            <a:ext cx="1782000" cy="248399"/>
          </a:xfrm>
          <a:prstGeom prst="rect">
            <a:avLst/>
          </a:prstGeom>
          <a:noFill/>
        </p:spPr>
        <p:txBody>
          <a:bodyPr wrap="none">
            <a:spAutoFit/>
          </a:bodyPr>
          <a:lstStyle/>
          <a:p>
            <a:pPr algn="r"/>
            <a:r>
              <a:rPr sz="750" b="0" i="0">
                <a:solidFill>
                  <a:srgbClr val="0D0D0D"/>
                </a:solidFill>
                <a:latin typeface="Calibri"/>
              </a:rPr>
              <a:t>0,4 %</a:t>
            </a:r>
          </a:p>
        </p:txBody>
      </p:sp>
      <p:sp>
        <p:nvSpPr>
          <p:cNvPr id="43" name="Rectangle 42"/>
          <p:cNvSpPr/>
          <p:nvPr/>
        </p:nvSpPr>
        <p:spPr>
          <a:xfrm>
            <a:off x="367200" y="33552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03200" y="3398400"/>
            <a:ext cx="2059200" cy="248399"/>
          </a:xfrm>
          <a:prstGeom prst="rect">
            <a:avLst/>
          </a:prstGeom>
          <a:noFill/>
        </p:spPr>
        <p:txBody>
          <a:bodyPr wrap="none">
            <a:spAutoFit/>
          </a:bodyPr>
          <a:lstStyle/>
          <a:p>
            <a:pPr algn="l"/>
            <a:r>
              <a:rPr sz="750" b="0" i="1">
                <a:solidFill>
                  <a:srgbClr val="555555"/>
                </a:solidFill>
                <a:latin typeface="Calibri"/>
              </a:rPr>
              <a:t>Perf. 1M</a:t>
            </a:r>
          </a:p>
        </p:txBody>
      </p:sp>
      <p:sp>
        <p:nvSpPr>
          <p:cNvPr id="45" name="TextBox 44"/>
          <p:cNvSpPr txBox="1"/>
          <p:nvPr/>
        </p:nvSpPr>
        <p:spPr>
          <a:xfrm>
            <a:off x="2426400" y="3398400"/>
            <a:ext cx="1782000" cy="248399"/>
          </a:xfrm>
          <a:prstGeom prst="rect">
            <a:avLst/>
          </a:prstGeom>
          <a:noFill/>
        </p:spPr>
        <p:txBody>
          <a:bodyPr wrap="none">
            <a:spAutoFit/>
          </a:bodyPr>
          <a:lstStyle/>
          <a:p>
            <a:pPr algn="r"/>
            <a:r>
              <a:rPr sz="750" b="0" i="0">
                <a:solidFill>
                  <a:srgbClr val="0D0D0D"/>
                </a:solidFill>
                <a:latin typeface="Calibri"/>
              </a:rPr>
              <a:t>+2,8 %</a:t>
            </a:r>
          </a:p>
        </p:txBody>
      </p:sp>
      <p:sp>
        <p:nvSpPr>
          <p:cNvPr id="46" name="Rectangle 45"/>
          <p:cNvSpPr/>
          <p:nvPr/>
        </p:nvSpPr>
        <p:spPr>
          <a:xfrm>
            <a:off x="367200" y="36576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03200" y="3700800"/>
            <a:ext cx="2059200" cy="248399"/>
          </a:xfrm>
          <a:prstGeom prst="rect">
            <a:avLst/>
          </a:prstGeom>
          <a:noFill/>
        </p:spPr>
        <p:txBody>
          <a:bodyPr wrap="none">
            <a:spAutoFit/>
          </a:bodyPr>
          <a:lstStyle/>
          <a:p>
            <a:pPr algn="l"/>
            <a:r>
              <a:rPr sz="750" b="0" i="1">
                <a:solidFill>
                  <a:srgbClr val="555555"/>
                </a:solidFill>
                <a:latin typeface="Calibri"/>
              </a:rPr>
              <a:t>Perf. 3M</a:t>
            </a:r>
          </a:p>
        </p:txBody>
      </p:sp>
      <p:sp>
        <p:nvSpPr>
          <p:cNvPr id="48" name="TextBox 47"/>
          <p:cNvSpPr txBox="1"/>
          <p:nvPr/>
        </p:nvSpPr>
        <p:spPr>
          <a:xfrm>
            <a:off x="2426400" y="3700800"/>
            <a:ext cx="1782000" cy="248399"/>
          </a:xfrm>
          <a:prstGeom prst="rect">
            <a:avLst/>
          </a:prstGeom>
          <a:noFill/>
        </p:spPr>
        <p:txBody>
          <a:bodyPr wrap="none">
            <a:spAutoFit/>
          </a:bodyPr>
          <a:lstStyle/>
          <a:p>
            <a:pPr algn="r"/>
            <a:r>
              <a:rPr sz="750" b="0" i="0">
                <a:solidFill>
                  <a:srgbClr val="0D0D0D"/>
                </a:solidFill>
                <a:latin typeface="Calibri"/>
              </a:rPr>
              <a:t>+0,6 %</a:t>
            </a:r>
          </a:p>
        </p:txBody>
      </p:sp>
      <p:sp>
        <p:nvSpPr>
          <p:cNvPr id="49" name="Rectangle 48"/>
          <p:cNvSpPr/>
          <p:nvPr/>
        </p:nvSpPr>
        <p:spPr>
          <a:xfrm>
            <a:off x="367200" y="39600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3200" y="4003199"/>
            <a:ext cx="2059200" cy="248399"/>
          </a:xfrm>
          <a:prstGeom prst="rect">
            <a:avLst/>
          </a:prstGeom>
          <a:noFill/>
        </p:spPr>
        <p:txBody>
          <a:bodyPr wrap="none">
            <a:spAutoFit/>
          </a:bodyPr>
          <a:lstStyle/>
          <a:p>
            <a:pPr algn="l"/>
            <a:r>
              <a:rPr sz="750" b="0" i="1">
                <a:solidFill>
                  <a:srgbClr val="555555"/>
                </a:solidFill>
                <a:latin typeface="Calibri"/>
              </a:rPr>
              <a:t>Perf. 1Y</a:t>
            </a:r>
          </a:p>
        </p:txBody>
      </p:sp>
      <p:sp>
        <p:nvSpPr>
          <p:cNvPr id="51" name="TextBox 50"/>
          <p:cNvSpPr txBox="1"/>
          <p:nvPr/>
        </p:nvSpPr>
        <p:spPr>
          <a:xfrm>
            <a:off x="2426400" y="4003199"/>
            <a:ext cx="1782000" cy="248399"/>
          </a:xfrm>
          <a:prstGeom prst="rect">
            <a:avLst/>
          </a:prstGeom>
          <a:noFill/>
        </p:spPr>
        <p:txBody>
          <a:bodyPr wrap="none">
            <a:spAutoFit/>
          </a:bodyPr>
          <a:lstStyle/>
          <a:p>
            <a:pPr algn="r"/>
            <a:r>
              <a:rPr sz="750" b="0" i="0">
                <a:solidFill>
                  <a:srgbClr val="0D0D0D"/>
                </a:solidFill>
                <a:latin typeface="Calibri"/>
              </a:rPr>
              <a:t>+30,4 %</a:t>
            </a:r>
          </a:p>
        </p:txBody>
      </p:sp>
      <p:sp>
        <p:nvSpPr>
          <p:cNvPr id="52" name="Rectangle 51"/>
          <p:cNvSpPr/>
          <p:nvPr/>
        </p:nvSpPr>
        <p:spPr>
          <a:xfrm>
            <a:off x="367200" y="42624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03200" y="4305600"/>
            <a:ext cx="2059200" cy="248399"/>
          </a:xfrm>
          <a:prstGeom prst="rect">
            <a:avLst/>
          </a:prstGeom>
          <a:noFill/>
        </p:spPr>
        <p:txBody>
          <a:bodyPr wrap="none">
            <a:spAutoFit/>
          </a:bodyPr>
          <a:lstStyle/>
          <a:p>
            <a:pPr algn="l"/>
            <a:r>
              <a:rPr sz="750" b="0" i="1">
                <a:solidFill>
                  <a:srgbClr val="555555"/>
                </a:solidFill>
                <a:latin typeface="Calibri"/>
              </a:rPr>
              <a:t>Proch. Resultat</a:t>
            </a:r>
          </a:p>
        </p:txBody>
      </p:sp>
      <p:sp>
        <p:nvSpPr>
          <p:cNvPr id="54" name="TextBox 53"/>
          <p:cNvSpPr txBox="1"/>
          <p:nvPr/>
        </p:nvSpPr>
        <p:spPr>
          <a:xfrm>
            <a:off x="2426400" y="4305600"/>
            <a:ext cx="1782000" cy="248399"/>
          </a:xfrm>
          <a:prstGeom prst="rect">
            <a:avLst/>
          </a:prstGeom>
          <a:noFill/>
        </p:spPr>
        <p:txBody>
          <a:bodyPr wrap="none">
            <a:spAutoFit/>
          </a:bodyPr>
          <a:lstStyle/>
          <a:p>
            <a:pPr algn="r"/>
            <a:r>
              <a:rPr sz="750" b="0" i="0">
                <a:solidFill>
                  <a:srgbClr val="0D0D0D"/>
                </a:solidFill>
                <a:latin typeface="Calibri"/>
              </a:rPr>
              <a:t>2026-04-30</a:t>
            </a:r>
          </a:p>
        </p:txBody>
      </p:sp>
      <p:sp>
        <p:nvSpPr>
          <p:cNvPr id="55" name="Rectangle 54"/>
          <p:cNvSpPr/>
          <p:nvPr/>
        </p:nvSpPr>
        <p:spPr>
          <a:xfrm>
            <a:off x="4593600" y="648000"/>
            <a:ext cx="3960000" cy="234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593600" y="648000"/>
            <a:ext cx="46800" cy="234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672800" y="662400"/>
            <a:ext cx="3851999" cy="198000"/>
          </a:xfrm>
          <a:prstGeom prst="rect">
            <a:avLst/>
          </a:prstGeom>
          <a:noFill/>
        </p:spPr>
        <p:txBody>
          <a:bodyPr wrap="none">
            <a:spAutoFit/>
          </a:bodyPr>
          <a:lstStyle/>
          <a:p>
            <a:pPr algn="l"/>
            <a:r>
              <a:rPr sz="850" b="1" i="0">
                <a:solidFill>
                  <a:srgbClr val="2E8B57"/>
                </a:solidFill>
                <a:latin typeface="Calibri"/>
              </a:rPr>
              <a:t>Microsoft Corporation (MSFT)</a:t>
            </a:r>
          </a:p>
        </p:txBody>
      </p:sp>
      <p:sp>
        <p:nvSpPr>
          <p:cNvPr id="58" name="Rectangle 57"/>
          <p:cNvSpPr/>
          <p:nvPr/>
        </p:nvSpPr>
        <p:spPr>
          <a:xfrm>
            <a:off x="4593600" y="9360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29600" y="979200"/>
            <a:ext cx="2059200" cy="248399"/>
          </a:xfrm>
          <a:prstGeom prst="rect">
            <a:avLst/>
          </a:prstGeom>
          <a:noFill/>
        </p:spPr>
        <p:txBody>
          <a:bodyPr wrap="none">
            <a:spAutoFit/>
          </a:bodyPr>
          <a:lstStyle/>
          <a:p>
            <a:pPr algn="l"/>
            <a:r>
              <a:rPr sz="750" b="0" i="1">
                <a:solidFill>
                  <a:srgbClr val="555555"/>
                </a:solidFill>
                <a:latin typeface="Calibri"/>
              </a:rPr>
              <a:t>Secteur</a:t>
            </a:r>
          </a:p>
        </p:txBody>
      </p:sp>
      <p:sp>
        <p:nvSpPr>
          <p:cNvPr id="60" name="TextBox 59"/>
          <p:cNvSpPr txBox="1"/>
          <p:nvPr/>
        </p:nvSpPr>
        <p:spPr>
          <a:xfrm>
            <a:off x="6652800" y="979200"/>
            <a:ext cx="1782000" cy="248399"/>
          </a:xfrm>
          <a:prstGeom prst="rect">
            <a:avLst/>
          </a:prstGeom>
          <a:noFill/>
        </p:spPr>
        <p:txBody>
          <a:bodyPr wrap="none">
            <a:spAutoFit/>
          </a:bodyPr>
          <a:lstStyle/>
          <a:p>
            <a:pPr algn="r"/>
            <a:r>
              <a:rPr sz="750" b="0" i="0">
                <a:solidFill>
                  <a:srgbClr val="0D0D0D"/>
                </a:solidFill>
                <a:latin typeface="Calibri"/>
              </a:rPr>
              <a:t>Technology</a:t>
            </a:r>
          </a:p>
        </p:txBody>
      </p:sp>
      <p:sp>
        <p:nvSpPr>
          <p:cNvPr id="61" name="Rectangle 60"/>
          <p:cNvSpPr/>
          <p:nvPr/>
        </p:nvSpPr>
        <p:spPr>
          <a:xfrm>
            <a:off x="4593600" y="12384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629600" y="1281600"/>
            <a:ext cx="2059200" cy="248399"/>
          </a:xfrm>
          <a:prstGeom prst="rect">
            <a:avLst/>
          </a:prstGeom>
          <a:noFill/>
        </p:spPr>
        <p:txBody>
          <a:bodyPr wrap="none">
            <a:spAutoFit/>
          </a:bodyPr>
          <a:lstStyle/>
          <a:p>
            <a:pPr algn="l"/>
            <a:r>
              <a:rPr sz="750" b="0" i="1">
                <a:solidFill>
                  <a:srgbClr val="555555"/>
                </a:solidFill>
                <a:latin typeface="Calibri"/>
              </a:rPr>
              <a:t>Devise</a:t>
            </a:r>
          </a:p>
        </p:txBody>
      </p:sp>
      <p:sp>
        <p:nvSpPr>
          <p:cNvPr id="63" name="TextBox 62"/>
          <p:cNvSpPr txBox="1"/>
          <p:nvPr/>
        </p:nvSpPr>
        <p:spPr>
          <a:xfrm>
            <a:off x="6652800" y="1281600"/>
            <a:ext cx="1782000" cy="248399"/>
          </a:xfrm>
          <a:prstGeom prst="rect">
            <a:avLst/>
          </a:prstGeom>
          <a:noFill/>
        </p:spPr>
        <p:txBody>
          <a:bodyPr wrap="none">
            <a:spAutoFit/>
          </a:bodyPr>
          <a:lstStyle/>
          <a:p>
            <a:pPr algn="r"/>
            <a:r>
              <a:rPr sz="750" b="0" i="0">
                <a:solidFill>
                  <a:srgbClr val="0D0D0D"/>
                </a:solidFill>
                <a:latin typeface="Calibri"/>
              </a:rPr>
              <a:t>USD</a:t>
            </a:r>
          </a:p>
        </p:txBody>
      </p:sp>
      <p:sp>
        <p:nvSpPr>
          <p:cNvPr id="64" name="Rectangle 63"/>
          <p:cNvSpPr/>
          <p:nvPr/>
        </p:nvSpPr>
        <p:spPr>
          <a:xfrm>
            <a:off x="4593600" y="15408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629600" y="1584000"/>
            <a:ext cx="2059200" cy="248399"/>
          </a:xfrm>
          <a:prstGeom prst="rect">
            <a:avLst/>
          </a:prstGeom>
          <a:noFill/>
        </p:spPr>
        <p:txBody>
          <a:bodyPr wrap="none">
            <a:spAutoFit/>
          </a:bodyPr>
          <a:lstStyle/>
          <a:p>
            <a:pPr algn="l"/>
            <a:r>
              <a:rPr sz="750" b="0" i="1">
                <a:solidFill>
                  <a:srgbClr val="555555"/>
                </a:solidFill>
                <a:latin typeface="Calibri"/>
              </a:rPr>
              <a:t>Cours</a:t>
            </a:r>
          </a:p>
        </p:txBody>
      </p:sp>
      <p:sp>
        <p:nvSpPr>
          <p:cNvPr id="66" name="TextBox 65"/>
          <p:cNvSpPr txBox="1"/>
          <p:nvPr/>
        </p:nvSpPr>
        <p:spPr>
          <a:xfrm>
            <a:off x="6652800" y="1584000"/>
            <a:ext cx="1782000" cy="248399"/>
          </a:xfrm>
          <a:prstGeom prst="rect">
            <a:avLst/>
          </a:prstGeom>
          <a:noFill/>
        </p:spPr>
        <p:txBody>
          <a:bodyPr wrap="none">
            <a:spAutoFit/>
          </a:bodyPr>
          <a:lstStyle/>
          <a:p>
            <a:pPr algn="r"/>
            <a:r>
              <a:rPr sz="750" b="0" i="0">
                <a:solidFill>
                  <a:srgbClr val="0D0D0D"/>
                </a:solidFill>
                <a:latin typeface="Calibri"/>
              </a:rPr>
              <a:t>370,4 $</a:t>
            </a:r>
          </a:p>
        </p:txBody>
      </p:sp>
      <p:sp>
        <p:nvSpPr>
          <p:cNvPr id="67" name="Rectangle 66"/>
          <p:cNvSpPr/>
          <p:nvPr/>
        </p:nvSpPr>
        <p:spPr>
          <a:xfrm>
            <a:off x="4593600" y="18432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629600" y="1886400"/>
            <a:ext cx="2059200" cy="248399"/>
          </a:xfrm>
          <a:prstGeom prst="rect">
            <a:avLst/>
          </a:prstGeom>
          <a:noFill/>
        </p:spPr>
        <p:txBody>
          <a:bodyPr wrap="none">
            <a:spAutoFit/>
          </a:bodyPr>
          <a:lstStyle/>
          <a:p>
            <a:pPr algn="l"/>
            <a:r>
              <a:rPr sz="750" b="0" i="1">
                <a:solidFill>
                  <a:srgbClr val="555555"/>
                </a:solidFill>
                <a:latin typeface="Calibri"/>
              </a:rPr>
              <a:t>52W High</a:t>
            </a:r>
          </a:p>
        </p:txBody>
      </p:sp>
      <p:sp>
        <p:nvSpPr>
          <p:cNvPr id="69" name="TextBox 68"/>
          <p:cNvSpPr txBox="1"/>
          <p:nvPr/>
        </p:nvSpPr>
        <p:spPr>
          <a:xfrm>
            <a:off x="6652800" y="1886400"/>
            <a:ext cx="1782000" cy="248399"/>
          </a:xfrm>
          <a:prstGeom prst="rect">
            <a:avLst/>
          </a:prstGeom>
          <a:noFill/>
        </p:spPr>
        <p:txBody>
          <a:bodyPr wrap="none">
            <a:spAutoFit/>
          </a:bodyPr>
          <a:lstStyle/>
          <a:p>
            <a:pPr algn="r"/>
            <a:r>
              <a:rPr sz="750" b="0" i="0">
                <a:solidFill>
                  <a:srgbClr val="0D0D0D"/>
                </a:solidFill>
                <a:latin typeface="Calibri"/>
              </a:rPr>
              <a:t>555,45 $</a:t>
            </a:r>
          </a:p>
        </p:txBody>
      </p:sp>
      <p:sp>
        <p:nvSpPr>
          <p:cNvPr id="70" name="Rectangle 69"/>
          <p:cNvSpPr/>
          <p:nvPr/>
        </p:nvSpPr>
        <p:spPr>
          <a:xfrm>
            <a:off x="4593600" y="21456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629600" y="2188800"/>
            <a:ext cx="2059200" cy="248399"/>
          </a:xfrm>
          <a:prstGeom prst="rect">
            <a:avLst/>
          </a:prstGeom>
          <a:noFill/>
        </p:spPr>
        <p:txBody>
          <a:bodyPr wrap="none">
            <a:spAutoFit/>
          </a:bodyPr>
          <a:lstStyle/>
          <a:p>
            <a:pPr algn="l"/>
            <a:r>
              <a:rPr sz="750" b="0" i="1">
                <a:solidFill>
                  <a:srgbClr val="555555"/>
                </a:solidFill>
                <a:latin typeface="Calibri"/>
              </a:rPr>
              <a:t>52W Low</a:t>
            </a:r>
          </a:p>
        </p:txBody>
      </p:sp>
      <p:sp>
        <p:nvSpPr>
          <p:cNvPr id="72" name="TextBox 71"/>
          <p:cNvSpPr txBox="1"/>
          <p:nvPr/>
        </p:nvSpPr>
        <p:spPr>
          <a:xfrm>
            <a:off x="6652800" y="2188800"/>
            <a:ext cx="1782000" cy="248399"/>
          </a:xfrm>
          <a:prstGeom prst="rect">
            <a:avLst/>
          </a:prstGeom>
          <a:noFill/>
        </p:spPr>
        <p:txBody>
          <a:bodyPr wrap="none">
            <a:spAutoFit/>
          </a:bodyPr>
          <a:lstStyle/>
          <a:p>
            <a:pPr algn="r"/>
            <a:r>
              <a:rPr sz="750" b="0" i="0">
                <a:solidFill>
                  <a:srgbClr val="0D0D0D"/>
                </a:solidFill>
                <a:latin typeface="Calibri"/>
              </a:rPr>
              <a:t>355,67 $</a:t>
            </a:r>
          </a:p>
        </p:txBody>
      </p:sp>
      <p:sp>
        <p:nvSpPr>
          <p:cNvPr id="73" name="Rectangle 72"/>
          <p:cNvSpPr/>
          <p:nvPr/>
        </p:nvSpPr>
        <p:spPr>
          <a:xfrm>
            <a:off x="4593600" y="24480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629600" y="2491200"/>
            <a:ext cx="2059200" cy="248399"/>
          </a:xfrm>
          <a:prstGeom prst="rect">
            <a:avLst/>
          </a:prstGeom>
          <a:noFill/>
        </p:spPr>
        <p:txBody>
          <a:bodyPr wrap="none">
            <a:spAutoFit/>
          </a:bodyPr>
          <a:lstStyle/>
          <a:p>
            <a:pPr algn="l"/>
            <a:r>
              <a:rPr sz="750" b="0" i="1">
                <a:solidFill>
                  <a:srgbClr val="555555"/>
                </a:solidFill>
                <a:latin typeface="Calibri"/>
              </a:rPr>
              <a:t>Market Cap</a:t>
            </a:r>
          </a:p>
        </p:txBody>
      </p:sp>
      <p:sp>
        <p:nvSpPr>
          <p:cNvPr id="75" name="TextBox 74"/>
          <p:cNvSpPr txBox="1"/>
          <p:nvPr/>
        </p:nvSpPr>
        <p:spPr>
          <a:xfrm>
            <a:off x="6652800" y="2491200"/>
            <a:ext cx="1782000" cy="248399"/>
          </a:xfrm>
          <a:prstGeom prst="rect">
            <a:avLst/>
          </a:prstGeom>
          <a:noFill/>
        </p:spPr>
        <p:txBody>
          <a:bodyPr wrap="none">
            <a:spAutoFit/>
          </a:bodyPr>
          <a:lstStyle/>
          <a:p>
            <a:pPr algn="r"/>
            <a:r>
              <a:rPr sz="750" b="0" i="0">
                <a:solidFill>
                  <a:srgbClr val="0D0D0D"/>
                </a:solidFill>
                <a:latin typeface="Calibri"/>
              </a:rPr>
              <a:t>2 750,5 Mds $</a:t>
            </a:r>
          </a:p>
        </p:txBody>
      </p:sp>
      <p:sp>
        <p:nvSpPr>
          <p:cNvPr id="76" name="Rectangle 75"/>
          <p:cNvSpPr/>
          <p:nvPr/>
        </p:nvSpPr>
        <p:spPr>
          <a:xfrm>
            <a:off x="4593600" y="27504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4629600" y="2793600"/>
            <a:ext cx="2059200" cy="248399"/>
          </a:xfrm>
          <a:prstGeom prst="rect">
            <a:avLst/>
          </a:prstGeom>
          <a:noFill/>
        </p:spPr>
        <p:txBody>
          <a:bodyPr wrap="none">
            <a:spAutoFit/>
          </a:bodyPr>
          <a:lstStyle/>
          <a:p>
            <a:pPr algn="l"/>
            <a:r>
              <a:rPr sz="750" b="0" i="1">
                <a:solidFill>
                  <a:srgbClr val="555555"/>
                </a:solidFill>
                <a:latin typeface="Calibri"/>
              </a:rPr>
              <a:t>Valeur Entrep.</a:t>
            </a:r>
          </a:p>
        </p:txBody>
      </p:sp>
      <p:sp>
        <p:nvSpPr>
          <p:cNvPr id="78" name="TextBox 77"/>
          <p:cNvSpPr txBox="1"/>
          <p:nvPr/>
        </p:nvSpPr>
        <p:spPr>
          <a:xfrm>
            <a:off x="6652800" y="2793600"/>
            <a:ext cx="1782000" cy="248399"/>
          </a:xfrm>
          <a:prstGeom prst="rect">
            <a:avLst/>
          </a:prstGeom>
          <a:noFill/>
        </p:spPr>
        <p:txBody>
          <a:bodyPr wrap="none">
            <a:spAutoFit/>
          </a:bodyPr>
          <a:lstStyle/>
          <a:p>
            <a:pPr algn="r"/>
            <a:r>
              <a:rPr sz="750" b="0" i="0">
                <a:solidFill>
                  <a:srgbClr val="0D0D0D"/>
                </a:solidFill>
                <a:latin typeface="Calibri"/>
              </a:rPr>
              <a:t>2 763,4 Mds $</a:t>
            </a:r>
          </a:p>
        </p:txBody>
      </p:sp>
      <p:sp>
        <p:nvSpPr>
          <p:cNvPr id="79" name="Rectangle 78"/>
          <p:cNvSpPr/>
          <p:nvPr/>
        </p:nvSpPr>
        <p:spPr>
          <a:xfrm>
            <a:off x="4593600" y="30528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629600" y="3096000"/>
            <a:ext cx="2059200" cy="248399"/>
          </a:xfrm>
          <a:prstGeom prst="rect">
            <a:avLst/>
          </a:prstGeom>
          <a:noFill/>
        </p:spPr>
        <p:txBody>
          <a:bodyPr wrap="none">
            <a:spAutoFit/>
          </a:bodyPr>
          <a:lstStyle/>
          <a:p>
            <a:pPr algn="l"/>
            <a:r>
              <a:rPr sz="750" b="0" i="1">
                <a:solidFill>
                  <a:srgbClr val="555555"/>
                </a:solidFill>
                <a:latin typeface="Calibri"/>
              </a:rPr>
              <a:t>Div. Yield</a:t>
            </a:r>
          </a:p>
        </p:txBody>
      </p:sp>
      <p:sp>
        <p:nvSpPr>
          <p:cNvPr id="81" name="TextBox 80"/>
          <p:cNvSpPr txBox="1"/>
          <p:nvPr/>
        </p:nvSpPr>
        <p:spPr>
          <a:xfrm>
            <a:off x="6652800" y="3096000"/>
            <a:ext cx="1782000" cy="248399"/>
          </a:xfrm>
          <a:prstGeom prst="rect">
            <a:avLst/>
          </a:prstGeom>
          <a:noFill/>
        </p:spPr>
        <p:txBody>
          <a:bodyPr wrap="none">
            <a:spAutoFit/>
          </a:bodyPr>
          <a:lstStyle/>
          <a:p>
            <a:pPr algn="r"/>
            <a:r>
              <a:rPr sz="750" b="0" i="0">
                <a:solidFill>
                  <a:srgbClr val="0D0D0D"/>
                </a:solidFill>
                <a:latin typeface="Calibri"/>
              </a:rPr>
              <a:t>0,9 %</a:t>
            </a:r>
          </a:p>
        </p:txBody>
      </p:sp>
      <p:sp>
        <p:nvSpPr>
          <p:cNvPr id="82" name="Rectangle 81"/>
          <p:cNvSpPr/>
          <p:nvPr/>
        </p:nvSpPr>
        <p:spPr>
          <a:xfrm>
            <a:off x="4593600" y="33552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629600" y="3398400"/>
            <a:ext cx="2059200" cy="248399"/>
          </a:xfrm>
          <a:prstGeom prst="rect">
            <a:avLst/>
          </a:prstGeom>
          <a:noFill/>
        </p:spPr>
        <p:txBody>
          <a:bodyPr wrap="none">
            <a:spAutoFit/>
          </a:bodyPr>
          <a:lstStyle/>
          <a:p>
            <a:pPr algn="l"/>
            <a:r>
              <a:rPr sz="750" b="0" i="1">
                <a:solidFill>
                  <a:srgbClr val="555555"/>
                </a:solidFill>
                <a:latin typeface="Calibri"/>
              </a:rPr>
              <a:t>Perf. 1M</a:t>
            </a:r>
          </a:p>
        </p:txBody>
      </p:sp>
      <p:sp>
        <p:nvSpPr>
          <p:cNvPr id="84" name="TextBox 83"/>
          <p:cNvSpPr txBox="1"/>
          <p:nvPr/>
        </p:nvSpPr>
        <p:spPr>
          <a:xfrm>
            <a:off x="6652800" y="3398400"/>
            <a:ext cx="1782000" cy="248399"/>
          </a:xfrm>
          <a:prstGeom prst="rect">
            <a:avLst/>
          </a:prstGeom>
          <a:noFill/>
        </p:spPr>
        <p:txBody>
          <a:bodyPr wrap="none">
            <a:spAutoFit/>
          </a:bodyPr>
          <a:lstStyle/>
          <a:p>
            <a:pPr algn="r"/>
            <a:r>
              <a:rPr sz="750" b="0" i="0">
                <a:solidFill>
                  <a:srgbClr val="0D0D0D"/>
                </a:solidFill>
                <a:latin typeface="Calibri"/>
              </a:rPr>
              <a:t>+0,1 %</a:t>
            </a:r>
          </a:p>
        </p:txBody>
      </p:sp>
      <p:sp>
        <p:nvSpPr>
          <p:cNvPr id="85" name="Rectangle 84"/>
          <p:cNvSpPr/>
          <p:nvPr/>
        </p:nvSpPr>
        <p:spPr>
          <a:xfrm>
            <a:off x="4593600" y="36576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4629600" y="3700800"/>
            <a:ext cx="2059200" cy="248399"/>
          </a:xfrm>
          <a:prstGeom prst="rect">
            <a:avLst/>
          </a:prstGeom>
          <a:noFill/>
        </p:spPr>
        <p:txBody>
          <a:bodyPr wrap="none">
            <a:spAutoFit/>
          </a:bodyPr>
          <a:lstStyle/>
          <a:p>
            <a:pPr algn="l"/>
            <a:r>
              <a:rPr sz="750" b="0" i="1">
                <a:solidFill>
                  <a:srgbClr val="555555"/>
                </a:solidFill>
                <a:latin typeface="Calibri"/>
              </a:rPr>
              <a:t>Perf. 3M</a:t>
            </a:r>
          </a:p>
        </p:txBody>
      </p:sp>
      <p:sp>
        <p:nvSpPr>
          <p:cNvPr id="87" name="TextBox 86"/>
          <p:cNvSpPr txBox="1"/>
          <p:nvPr/>
        </p:nvSpPr>
        <p:spPr>
          <a:xfrm>
            <a:off x="6652800" y="3700800"/>
            <a:ext cx="1782000" cy="248399"/>
          </a:xfrm>
          <a:prstGeom prst="rect">
            <a:avLst/>
          </a:prstGeom>
          <a:noFill/>
        </p:spPr>
        <p:txBody>
          <a:bodyPr wrap="none">
            <a:spAutoFit/>
          </a:bodyPr>
          <a:lstStyle/>
          <a:p>
            <a:pPr algn="r"/>
            <a:r>
              <a:rPr sz="750" b="0" i="0">
                <a:solidFill>
                  <a:srgbClr val="0D0D0D"/>
                </a:solidFill>
                <a:latin typeface="Calibri"/>
              </a:rPr>
              <a:t>-13,7 %</a:t>
            </a:r>
          </a:p>
        </p:txBody>
      </p:sp>
      <p:sp>
        <p:nvSpPr>
          <p:cNvPr id="88" name="Rectangle 87"/>
          <p:cNvSpPr/>
          <p:nvPr/>
        </p:nvSpPr>
        <p:spPr>
          <a:xfrm>
            <a:off x="4593600" y="3960000"/>
            <a:ext cx="3960000" cy="28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4629600" y="4003199"/>
            <a:ext cx="2059200" cy="248399"/>
          </a:xfrm>
          <a:prstGeom prst="rect">
            <a:avLst/>
          </a:prstGeom>
          <a:noFill/>
        </p:spPr>
        <p:txBody>
          <a:bodyPr wrap="none">
            <a:spAutoFit/>
          </a:bodyPr>
          <a:lstStyle/>
          <a:p>
            <a:pPr algn="l"/>
            <a:r>
              <a:rPr sz="750" b="0" i="1">
                <a:solidFill>
                  <a:srgbClr val="555555"/>
                </a:solidFill>
                <a:latin typeface="Calibri"/>
              </a:rPr>
              <a:t>Perf. 1Y</a:t>
            </a:r>
          </a:p>
        </p:txBody>
      </p:sp>
      <p:sp>
        <p:nvSpPr>
          <p:cNvPr id="90" name="TextBox 89"/>
          <p:cNvSpPr txBox="1"/>
          <p:nvPr/>
        </p:nvSpPr>
        <p:spPr>
          <a:xfrm>
            <a:off x="6652800" y="4003199"/>
            <a:ext cx="1782000" cy="248399"/>
          </a:xfrm>
          <a:prstGeom prst="rect">
            <a:avLst/>
          </a:prstGeom>
          <a:noFill/>
        </p:spPr>
        <p:txBody>
          <a:bodyPr wrap="none">
            <a:spAutoFit/>
          </a:bodyPr>
          <a:lstStyle/>
          <a:p>
            <a:pPr algn="r"/>
            <a:r>
              <a:rPr sz="750" b="0" i="0">
                <a:solidFill>
                  <a:srgbClr val="0D0D0D"/>
                </a:solidFill>
                <a:latin typeface="Calibri"/>
              </a:rPr>
              <a:t>-18,9 %</a:t>
            </a:r>
          </a:p>
        </p:txBody>
      </p:sp>
      <p:sp>
        <p:nvSpPr>
          <p:cNvPr id="91" name="Rectangle 90"/>
          <p:cNvSpPr/>
          <p:nvPr/>
        </p:nvSpPr>
        <p:spPr>
          <a:xfrm>
            <a:off x="4593600" y="4262400"/>
            <a:ext cx="3960000" cy="288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4629600" y="4305600"/>
            <a:ext cx="2059200" cy="248399"/>
          </a:xfrm>
          <a:prstGeom prst="rect">
            <a:avLst/>
          </a:prstGeom>
          <a:noFill/>
        </p:spPr>
        <p:txBody>
          <a:bodyPr wrap="none">
            <a:spAutoFit/>
          </a:bodyPr>
          <a:lstStyle/>
          <a:p>
            <a:pPr algn="l"/>
            <a:r>
              <a:rPr sz="750" b="0" i="1">
                <a:solidFill>
                  <a:srgbClr val="555555"/>
                </a:solidFill>
                <a:latin typeface="Calibri"/>
              </a:rPr>
              <a:t>Proch. Resultat</a:t>
            </a:r>
          </a:p>
        </p:txBody>
      </p:sp>
      <p:sp>
        <p:nvSpPr>
          <p:cNvPr id="93" name="TextBox 92"/>
          <p:cNvSpPr txBox="1"/>
          <p:nvPr/>
        </p:nvSpPr>
        <p:spPr>
          <a:xfrm>
            <a:off x="6652800" y="4305600"/>
            <a:ext cx="1782000" cy="248399"/>
          </a:xfrm>
          <a:prstGeom prst="rect">
            <a:avLst/>
          </a:prstGeom>
          <a:noFill/>
        </p:spPr>
        <p:txBody>
          <a:bodyPr wrap="none">
            <a:spAutoFit/>
          </a:bodyPr>
          <a:lstStyle/>
          <a:p>
            <a:pPr algn="r"/>
            <a:r>
              <a:rPr sz="750" b="0" i="0">
                <a:solidFill>
                  <a:srgbClr val="0D0D0D"/>
                </a:solidFill>
                <a:latin typeface="Calibri"/>
              </a:rPr>
              <a:t>2026-04-29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Performance Financiere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Resultat, Marges, Bilan &amp; Liquidite</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Compte de Resultat Compare</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10" name="Rectangle 9"/>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6" name="Rectangle 15"/>
          <p:cNvSpPr/>
          <p:nvPr/>
        </p:nvSpPr>
        <p:spPr>
          <a:xfrm>
            <a:off x="367200" y="622800"/>
            <a:ext cx="4118400" cy="201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22800"/>
            <a:ext cx="64800" cy="20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640800"/>
            <a:ext cx="3960000" cy="165600"/>
          </a:xfrm>
          <a:prstGeom prst="rect">
            <a:avLst/>
          </a:prstGeom>
          <a:noFill/>
        </p:spPr>
        <p:txBody>
          <a:bodyPr wrap="none">
            <a:spAutoFit/>
          </a:bodyPr>
          <a:lstStyle/>
          <a:p>
            <a:pPr algn="l"/>
            <a:r>
              <a:rPr sz="850" b="1" i="0">
                <a:solidFill>
                  <a:srgbClr val="1B3A6B"/>
                </a:solidFill>
                <a:latin typeface="Calibri"/>
              </a:rPr>
              <a:t>Apple Inc. (AAPL)</a:t>
            </a:r>
          </a:p>
        </p:txBody>
      </p:sp>
      <p:sp>
        <p:nvSpPr>
          <p:cNvPr id="19" name="Rectangle 18"/>
          <p:cNvSpPr/>
          <p:nvPr/>
        </p:nvSpPr>
        <p:spPr>
          <a:xfrm>
            <a:off x="4658400" y="622800"/>
            <a:ext cx="4118400" cy="2016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58400" y="622800"/>
            <a:ext cx="64800" cy="2016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7200" y="640800"/>
            <a:ext cx="3960000" cy="165600"/>
          </a:xfrm>
          <a:prstGeom prst="rect">
            <a:avLst/>
          </a:prstGeom>
          <a:noFill/>
        </p:spPr>
        <p:txBody>
          <a:bodyPr wrap="none">
            <a:spAutoFit/>
          </a:bodyPr>
          <a:lstStyle/>
          <a:p>
            <a:pPr algn="l"/>
            <a:r>
              <a:rPr sz="850" b="1" i="0">
                <a:solidFill>
                  <a:srgbClr val="1A7A4A"/>
                </a:solidFill>
                <a:latin typeface="Calibri"/>
              </a:rPr>
              <a:t>Microsoft Corporation (MSFT)</a:t>
            </a:r>
          </a:p>
        </p:txBody>
      </p:sp>
      <p:sp>
        <p:nvSpPr>
          <p:cNvPr id="22" name="TextBox 21"/>
          <p:cNvSpPr txBox="1"/>
          <p:nvPr/>
        </p:nvSpPr>
        <p:spPr>
          <a:xfrm>
            <a:off x="367200" y="856800"/>
            <a:ext cx="8413200" cy="162000"/>
          </a:xfrm>
          <a:prstGeom prst="rect">
            <a:avLst/>
          </a:prstGeom>
          <a:noFill/>
        </p:spPr>
        <p:txBody>
          <a:bodyPr wrap="square">
            <a:spAutoFit/>
          </a:bodyPr>
          <a:lstStyle/>
          <a:p>
            <a:pPr algn="l"/>
            <a:r>
              <a:rPr sz="1000" b="1" i="1">
                <a:solidFill>
                  <a:srgbClr val="2E5FA3"/>
                </a:solidFill>
                <a:latin typeface="Calibri"/>
              </a:rPr>
              <a:t>MSFT affiche la meilleure dynamique revenus sur 3 ans (12.4% CAGR)</a:t>
            </a:r>
          </a:p>
        </p:txBody>
      </p:sp>
      <p:graphicFrame>
        <p:nvGraphicFramePr>
          <p:cNvPr id="23" name="Table 22"/>
          <p:cNvGraphicFramePr>
            <a:graphicFrameLocks noGrp="1"/>
          </p:cNvGraphicFramePr>
          <p:nvPr/>
        </p:nvGraphicFramePr>
        <p:xfrm>
          <a:off x="367200" y="1044000"/>
          <a:ext cx="8413200" cy="1872000"/>
        </p:xfrm>
        <a:graphic>
          <a:graphicData uri="http://schemas.openxmlformats.org/drawingml/2006/table">
            <a:tbl>
              <a:tblPr firstRow="1" bandRow="1">
                <a:tableStyleId>{5C22544A-7EE6-4342-B048-85BDC9FD1C3A}</a:tableStyleId>
              </a:tblPr>
              <a:tblGrid>
                <a:gridCol w="3701808"/>
                <a:gridCol w="2355696"/>
                <a:gridCol w="2355696"/>
              </a:tblGrid>
              <a:tr h="208000">
                <a:tc>
                  <a:txBody>
                    <a:bodyPr/>
                    <a:lstStyle/>
                    <a:p>
                      <a:pPr algn="l"/>
                      <a:r>
                        <a:rPr sz="750" b="1" i="0">
                          <a:solidFill>
                            <a:srgbClr val="FFFFFF"/>
                          </a:solidFill>
                          <a:latin typeface="Calibri"/>
                        </a:rPr>
                        <a:t>Indicateur</a:t>
                      </a:r>
                    </a:p>
                  </a:txBody>
                  <a:tcPr>
                    <a:solidFill>
                      <a:srgbClr val="1B3A6B"/>
                    </a:solidFill>
                  </a:tcPr>
                </a:tc>
                <a:tc>
                  <a:txBody>
                    <a:bodyPr/>
                    <a:lstStyle/>
                    <a:p>
                      <a:pPr algn="ctr"/>
                      <a:r>
                        <a:rPr sz="750" b="1" i="0">
                          <a:solidFill>
                            <a:srgbClr val="FFFFFF"/>
                          </a:solidFill>
                          <a:latin typeface="Calibri"/>
                        </a:rPr>
                        <a:t>AAPL</a:t>
                      </a:r>
                    </a:p>
                  </a:txBody>
                  <a:tcPr>
                    <a:solidFill>
                      <a:srgbClr val="1B3A6B"/>
                    </a:solidFill>
                  </a:tcPr>
                </a:tc>
                <a:tc>
                  <a:txBody>
                    <a:bodyPr/>
                    <a:lstStyle/>
                    <a:p>
                      <a:pPr algn="ctr"/>
                      <a:r>
                        <a:rPr sz="750" b="1" i="0">
                          <a:solidFill>
                            <a:srgbClr val="FFFFFF"/>
                          </a:solidFill>
                          <a:latin typeface="Calibri"/>
                        </a:rPr>
                        <a:t>MSFT</a:t>
                      </a:r>
                    </a:p>
                  </a:txBody>
                  <a:tcPr>
                    <a:solidFill>
                      <a:srgbClr val="1B3A6B"/>
                    </a:solidFill>
                  </a:tcPr>
                </a:tc>
              </a:tr>
              <a:tr h="208000">
                <a:tc>
                  <a:txBody>
                    <a:bodyPr/>
                    <a:lstStyle/>
                    <a:p>
                      <a:pPr algn="l"/>
                      <a:r>
                        <a:rPr sz="750" b="0" i="0">
                          <a:solidFill>
                            <a:srgbClr val="0D0D0D"/>
                          </a:solidFill>
                          <a:latin typeface="Calibri"/>
                        </a:rPr>
                        <a:t>Marge EBITDA LTM</a:t>
                      </a:r>
                    </a:p>
                  </a:txBody>
                  <a:tcPr>
                    <a:solidFill>
                      <a:srgbClr val="FFFFFF"/>
                    </a:solidFill>
                  </a:tcPr>
                </a:tc>
                <a:tc>
                  <a:txBody>
                    <a:bodyPr/>
                    <a:lstStyle/>
                    <a:p>
                      <a:pPr algn="ctr"/>
                      <a:r>
                        <a:rPr sz="750" b="0" i="0">
                          <a:solidFill>
                            <a:srgbClr val="0D0D0D"/>
                          </a:solidFill>
                          <a:latin typeface="Calibri"/>
                        </a:rPr>
                        <a:t>34,8 %</a:t>
                      </a:r>
                    </a:p>
                  </a:txBody>
                  <a:tcPr>
                    <a:solidFill>
                      <a:srgbClr val="FFFFFF"/>
                    </a:solidFill>
                  </a:tcPr>
                </a:tc>
                <a:tc>
                  <a:txBody>
                    <a:bodyPr/>
                    <a:lstStyle/>
                    <a:p>
                      <a:pPr algn="ctr"/>
                      <a:r>
                        <a:rPr sz="750" b="0" i="0">
                          <a:solidFill>
                            <a:srgbClr val="0D0D0D"/>
                          </a:solidFill>
                          <a:latin typeface="Calibri"/>
                        </a:rPr>
                        <a:t>56,9 %</a:t>
                      </a:r>
                    </a:p>
                  </a:txBody>
                  <a:tcPr>
                    <a:solidFill>
                      <a:srgbClr val="FFFFFF"/>
                    </a:solidFill>
                  </a:tcPr>
                </a:tc>
              </a:tr>
              <a:tr h="208000">
                <a:tc>
                  <a:txBody>
                    <a:bodyPr/>
                    <a:lstStyle/>
                    <a:p>
                      <a:pPr algn="l"/>
                      <a:r>
                        <a:rPr sz="750" b="0" i="0">
                          <a:solidFill>
                            <a:srgbClr val="0D0D0D"/>
                          </a:solidFill>
                          <a:latin typeface="Calibri"/>
                        </a:rPr>
                        <a:t>Marge EBITDA N-1</a:t>
                      </a:r>
                    </a:p>
                  </a:txBody>
                  <a:tcPr>
                    <a:solidFill>
                      <a:srgbClr val="F7F8FA"/>
                    </a:solidFill>
                  </a:tcPr>
                </a:tc>
                <a:tc>
                  <a:txBody>
                    <a:bodyPr/>
                    <a:lstStyle/>
                    <a:p>
                      <a:pPr algn="ctr"/>
                      <a:r>
                        <a:rPr sz="750" b="0" i="0">
                          <a:solidFill>
                            <a:srgbClr val="0D0D0D"/>
                          </a:solidFill>
                          <a:latin typeface="Calibri"/>
                        </a:rPr>
                        <a:t>34,4 %</a:t>
                      </a:r>
                    </a:p>
                  </a:txBody>
                  <a:tcPr>
                    <a:solidFill>
                      <a:srgbClr val="F7F8FA"/>
                    </a:solidFill>
                  </a:tcPr>
                </a:tc>
                <a:tc>
                  <a:txBody>
                    <a:bodyPr/>
                    <a:lstStyle/>
                    <a:p>
                      <a:pPr algn="ctr"/>
                      <a:r>
                        <a:rPr sz="750" b="0" i="0">
                          <a:solidFill>
                            <a:srgbClr val="0D0D0D"/>
                          </a:solidFill>
                          <a:latin typeface="Calibri"/>
                        </a:rPr>
                        <a:t>54,3 %</a:t>
                      </a:r>
                    </a:p>
                  </a:txBody>
                  <a:tcPr>
                    <a:solidFill>
                      <a:srgbClr val="F7F8FA"/>
                    </a:solidFill>
                  </a:tcPr>
                </a:tc>
              </a:tr>
              <a:tr h="208000">
                <a:tc>
                  <a:txBody>
                    <a:bodyPr/>
                    <a:lstStyle/>
                    <a:p>
                      <a:pPr algn="l"/>
                      <a:r>
                        <a:rPr sz="750" b="0" i="0">
                          <a:solidFill>
                            <a:srgbClr val="0D0D0D"/>
                          </a:solidFill>
                          <a:latin typeface="Calibri"/>
                        </a:rPr>
                        <a:t>Marge EBITDA N-2</a:t>
                      </a:r>
                    </a:p>
                  </a:txBody>
                  <a:tcPr>
                    <a:solidFill>
                      <a:srgbClr val="FFFFFF"/>
                    </a:solidFill>
                  </a:tcPr>
                </a:tc>
                <a:tc>
                  <a:txBody>
                    <a:bodyPr/>
                    <a:lstStyle/>
                    <a:p>
                      <a:pPr algn="ctr"/>
                      <a:r>
                        <a:rPr sz="750" b="0" i="0">
                          <a:solidFill>
                            <a:srgbClr val="0D0D0D"/>
                          </a:solidFill>
                          <a:latin typeface="Calibri"/>
                        </a:rPr>
                        <a:t>32,8 %</a:t>
                      </a:r>
                    </a:p>
                  </a:txBody>
                  <a:tcPr>
                    <a:solidFill>
                      <a:srgbClr val="FFFFFF"/>
                    </a:solidFill>
                  </a:tcPr>
                </a:tc>
                <a:tc>
                  <a:txBody>
                    <a:bodyPr/>
                    <a:lstStyle/>
                    <a:p>
                      <a:pPr algn="ctr"/>
                      <a:r>
                        <a:rPr sz="750" b="0" i="0">
                          <a:solidFill>
                            <a:srgbClr val="0D0D0D"/>
                          </a:solidFill>
                          <a:latin typeface="Calibri"/>
                        </a:rPr>
                        <a:t>49,6 %</a:t>
                      </a:r>
                    </a:p>
                  </a:txBody>
                  <a:tcPr>
                    <a:solidFill>
                      <a:srgbClr val="FFFFFF"/>
                    </a:solidFill>
                  </a:tcPr>
                </a:tc>
              </a:tr>
              <a:tr h="208000">
                <a:tc>
                  <a:txBody>
                    <a:bodyPr/>
                    <a:lstStyle/>
                    <a:p>
                      <a:pPr algn="l"/>
                      <a:r>
                        <a:rPr sz="750" b="0" i="0">
                          <a:solidFill>
                            <a:srgbClr val="0D0D0D"/>
                          </a:solidFill>
                          <a:latin typeface="Calibri"/>
                        </a:rPr>
                        <a:t>Tendance EBITDA</a:t>
                      </a:r>
                    </a:p>
                  </a:txBody>
                  <a:tcPr>
                    <a:solidFill>
                      <a:srgbClr val="F7F8FA"/>
                    </a:solidFill>
                  </a:tcPr>
                </a:tc>
                <a:tc>
                  <a:txBody>
                    <a:bodyPr/>
                    <a:lstStyle/>
                    <a:p>
                      <a:pPr algn="ctr"/>
                      <a:r>
                        <a:rPr sz="750" b="0" i="0">
                          <a:solidFill>
                            <a:srgbClr val="0D0D0D"/>
                          </a:solidFill>
                          <a:latin typeface="Calibri"/>
                        </a:rPr>
                        <a:t>Stable</a:t>
                      </a:r>
                    </a:p>
                  </a:txBody>
                  <a:tcPr>
                    <a:solidFill>
                      <a:srgbClr val="F7F8FA"/>
                    </a:solidFill>
                  </a:tcPr>
                </a:tc>
                <a:tc>
                  <a:txBody>
                    <a:bodyPr/>
                    <a:lstStyle/>
                    <a:p>
                      <a:pPr algn="ctr"/>
                      <a:r>
                        <a:rPr sz="750" b="0" i="0">
                          <a:solidFill>
                            <a:srgbClr val="0D0D0D"/>
                          </a:solidFill>
                          <a:latin typeface="Calibri"/>
                        </a:rPr>
                        <a:t>Croissante</a:t>
                      </a:r>
                    </a:p>
                  </a:txBody>
                  <a:tcPr>
                    <a:solidFill>
                      <a:srgbClr val="F7F8FA"/>
                    </a:solidFill>
                  </a:tcPr>
                </a:tc>
              </a:tr>
              <a:tr h="208000">
                <a:tc>
                  <a:txBody>
                    <a:bodyPr/>
                    <a:lstStyle/>
                    <a:p>
                      <a:pPr algn="l"/>
                      <a:r>
                        <a:rPr sz="750" b="0" i="0">
                          <a:solidFill>
                            <a:srgbClr val="0D0D0D"/>
                          </a:solidFill>
                          <a:latin typeface="Calibri"/>
                        </a:rPr>
                        <a:t>ROIC</a:t>
                      </a:r>
                    </a:p>
                  </a:txBody>
                  <a:tcPr>
                    <a:solidFill>
                      <a:srgbClr val="FFFFFF"/>
                    </a:solidFill>
                  </a:tcPr>
                </a:tc>
                <a:tc>
                  <a:txBody>
                    <a:bodyPr/>
                    <a:lstStyle/>
                    <a:p>
                      <a:pPr algn="ctr"/>
                      <a:r>
                        <a:rPr sz="750" b="0" i="0">
                          <a:solidFill>
                            <a:srgbClr val="0D0D0D"/>
                          </a:solidFill>
                          <a:latin typeface="Calibri"/>
                        </a:rPr>
                        <a:t>84,4 %</a:t>
                      </a:r>
                    </a:p>
                  </a:txBody>
                  <a:tcPr>
                    <a:solidFill>
                      <a:srgbClr val="FFFFFF"/>
                    </a:solidFill>
                  </a:tcPr>
                </a:tc>
                <a:tc>
                  <a:txBody>
                    <a:bodyPr/>
                    <a:lstStyle/>
                    <a:p>
                      <a:pPr algn="ctr"/>
                      <a:r>
                        <a:rPr sz="750" b="0" i="0">
                          <a:solidFill>
                            <a:srgbClr val="0D0D0D"/>
                          </a:solidFill>
                          <a:latin typeface="Calibri"/>
                        </a:rPr>
                        <a:t>30,1 %</a:t>
                      </a:r>
                    </a:p>
                  </a:txBody>
                  <a:tcPr>
                    <a:solidFill>
                      <a:srgbClr val="FFFFFF"/>
                    </a:solidFill>
                  </a:tcPr>
                </a:tc>
              </a:tr>
              <a:tr h="208000">
                <a:tc>
                  <a:txBody>
                    <a:bodyPr/>
                    <a:lstStyle/>
                    <a:p>
                      <a:pPr algn="l"/>
                      <a:r>
                        <a:rPr sz="750" b="0" i="0">
                          <a:solidFill>
                            <a:srgbClr val="0D0D0D"/>
                          </a:solidFill>
                          <a:latin typeface="Calibri"/>
                        </a:rPr>
                        <a:t>ROE</a:t>
                      </a:r>
                    </a:p>
                  </a:txBody>
                  <a:tcPr>
                    <a:solidFill>
                      <a:srgbClr val="F7F8FA"/>
                    </a:solidFill>
                  </a:tcPr>
                </a:tc>
                <a:tc>
                  <a:txBody>
                    <a:bodyPr/>
                    <a:lstStyle/>
                    <a:p>
                      <a:pPr algn="ctr"/>
                      <a:r>
                        <a:rPr sz="750" b="0" i="0">
                          <a:solidFill>
                            <a:srgbClr val="0D0D0D"/>
                          </a:solidFill>
                          <a:latin typeface="Calibri"/>
                        </a:rPr>
                        <a:t>151,9 %</a:t>
                      </a:r>
                    </a:p>
                  </a:txBody>
                  <a:tcPr>
                    <a:solidFill>
                      <a:srgbClr val="F7F8FA"/>
                    </a:solidFill>
                  </a:tcPr>
                </a:tc>
                <a:tc>
                  <a:txBody>
                    <a:bodyPr/>
                    <a:lstStyle/>
                    <a:p>
                      <a:pPr algn="ctr"/>
                      <a:r>
                        <a:rPr sz="750" b="0" i="0">
                          <a:solidFill>
                            <a:srgbClr val="0D0D0D"/>
                          </a:solidFill>
                          <a:latin typeface="Calibri"/>
                        </a:rPr>
                        <a:t>29,6 %</a:t>
                      </a:r>
                    </a:p>
                  </a:txBody>
                  <a:tcPr>
                    <a:solidFill>
                      <a:srgbClr val="F7F8FA"/>
                    </a:solidFill>
                  </a:tcPr>
                </a:tc>
              </a:tr>
              <a:tr h="208000">
                <a:tc>
                  <a:txBody>
                    <a:bodyPr/>
                    <a:lstStyle/>
                    <a:p>
                      <a:pPr algn="l"/>
                      <a:r>
                        <a:rPr sz="750" b="0" i="0">
                          <a:solidFill>
                            <a:srgbClr val="0D0D0D"/>
                          </a:solidFill>
                          <a:latin typeface="Calibri"/>
                        </a:rPr>
                        <a:t>Rev CAGR 3y</a:t>
                      </a:r>
                    </a:p>
                  </a:txBody>
                  <a:tcPr>
                    <a:solidFill>
                      <a:srgbClr val="FFFFFF"/>
                    </a:solidFill>
                  </a:tcPr>
                </a:tc>
                <a:tc>
                  <a:txBody>
                    <a:bodyPr/>
                    <a:lstStyle/>
                    <a:p>
                      <a:pPr algn="ctr"/>
                      <a:r>
                        <a:rPr sz="750" b="0" i="0">
                          <a:solidFill>
                            <a:srgbClr val="0D0D0D"/>
                          </a:solidFill>
                          <a:latin typeface="Calibri"/>
                        </a:rPr>
                        <a:t>1,8 %</a:t>
                      </a:r>
                    </a:p>
                  </a:txBody>
                  <a:tcPr>
                    <a:solidFill>
                      <a:srgbClr val="FFFFFF"/>
                    </a:solidFill>
                  </a:tcPr>
                </a:tc>
                <a:tc>
                  <a:txBody>
                    <a:bodyPr/>
                    <a:lstStyle/>
                    <a:p>
                      <a:pPr algn="ctr"/>
                      <a:r>
                        <a:rPr sz="750" b="0" i="0">
                          <a:solidFill>
                            <a:srgbClr val="0D0D0D"/>
                          </a:solidFill>
                          <a:latin typeface="Calibri"/>
                        </a:rPr>
                        <a:t>12,4 %</a:t>
                      </a:r>
                    </a:p>
                  </a:txBody>
                  <a:tcPr>
                    <a:solidFill>
                      <a:srgbClr val="FFFFFF"/>
                    </a:solidFill>
                  </a:tcPr>
                </a:tc>
              </a:tr>
              <a:tr h="208000">
                <a:tc>
                  <a:txBody>
                    <a:bodyPr/>
                    <a:lstStyle/>
                    <a:p>
                      <a:pPr algn="l"/>
                      <a:r>
                        <a:rPr sz="750" b="0" i="0">
                          <a:solidFill>
                            <a:srgbClr val="0D0D0D"/>
                          </a:solidFill>
                          <a:latin typeface="Calibri"/>
                        </a:rPr>
                        <a:t>Croissance EPS</a:t>
                      </a:r>
                    </a:p>
                  </a:txBody>
                  <a:tcPr>
                    <a:solidFill>
                      <a:srgbClr val="F7F8FA"/>
                    </a:solidFill>
                  </a:tcPr>
                </a:tc>
                <a:tc>
                  <a:txBody>
                    <a:bodyPr/>
                    <a:lstStyle/>
                    <a:p>
                      <a:pPr algn="ctr"/>
                      <a:r>
                        <a:rPr sz="750" b="0" i="0">
                          <a:solidFill>
                            <a:srgbClr val="0D0D0D"/>
                          </a:solidFill>
                          <a:latin typeface="Calibri"/>
                        </a:rPr>
                        <a:t>+19,5 %</a:t>
                      </a:r>
                    </a:p>
                  </a:txBody>
                  <a:tcPr>
                    <a:solidFill>
                      <a:srgbClr val="F7F8FA"/>
                    </a:solidFill>
                  </a:tcPr>
                </a:tc>
                <a:tc>
                  <a:txBody>
                    <a:bodyPr/>
                    <a:lstStyle/>
                    <a:p>
                      <a:pPr algn="ctr"/>
                      <a:r>
                        <a:rPr sz="750" b="0" i="0">
                          <a:solidFill>
                            <a:srgbClr val="0D0D0D"/>
                          </a:solidFill>
                          <a:latin typeface="Calibri"/>
                        </a:rPr>
                        <a:t>+15,5 %</a:t>
                      </a:r>
                    </a:p>
                  </a:txBody>
                  <a:tcPr>
                    <a:solidFill>
                      <a:srgbClr val="F7F8FA"/>
                    </a:solidFill>
                  </a:tcPr>
                </a:tc>
              </a:tr>
            </a:tbl>
          </a:graphicData>
        </a:graphic>
      </p:graphicFrame>
      <p:sp>
        <p:nvSpPr>
          <p:cNvPr id="24" name="Rectangle 23"/>
          <p:cNvSpPr/>
          <p:nvPr/>
        </p:nvSpPr>
        <p:spPr>
          <a:xfrm>
            <a:off x="367200" y="3006000"/>
            <a:ext cx="8413200" cy="1692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3006000"/>
            <a:ext cx="46800" cy="1692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78000"/>
            <a:ext cx="8208000" cy="1584000"/>
          </a:xfrm>
          <a:prstGeom prst="rect">
            <a:avLst/>
          </a:prstGeom>
          <a:noFill/>
        </p:spPr>
        <p:txBody>
          <a:bodyPr wrap="square">
            <a:spAutoFit/>
          </a:bodyPr>
          <a:lstStyle/>
          <a:p>
            <a:pPr algn="l"/>
            <a:r>
              <a:rPr sz="900" b="0" i="0">
                <a:solidFill>
                  <a:srgbClr val="1B3A6B"/>
                </a:solidFill>
                <a:latin typeface="Calibri"/>
              </a:rPr>
              <a:t>AAPL vs MSFT : Analyse comparative Structure : AAPL affiche une croissance modérée (CAGR 1.8%) avec des marges solides (EBITDA 34.8%) mais un levier élevé (ND/EBITDA 0.4). MSFT domine en rentabilité (EBITDA 56.9%, ROIC 30.1%) et croissance (CAGR 12.4%), avec un bilan plus sain (ND/EBITDA 0.1). Pourquoi : MSFT bénéficie d’une diversification (cloud, SaaS) et d’une meilleure scalabilité, tandis qu’AAPL reste dépendant de l’iPhone (marges élevées mais croissance atone). Implications : MSFT offre un meilleur profil risque/rendement (valorisation attractive : PE 27x vs 34x pour AAPL). AAPL, plus défensif, justifie sa prime via sa trésorerie (FCF yield 2.9%). Préférer MSFT pour…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Rentabilite &amp; Croissance Comparees</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10" name="Rectangle 9"/>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6" name="Rectangle 15"/>
          <p:cNvSpPr/>
          <p:nvPr/>
        </p:nvSpPr>
        <p:spPr>
          <a:xfrm>
            <a:off x="367200" y="622800"/>
            <a:ext cx="4118400" cy="201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22800"/>
            <a:ext cx="64800" cy="20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640800"/>
            <a:ext cx="3960000" cy="165600"/>
          </a:xfrm>
          <a:prstGeom prst="rect">
            <a:avLst/>
          </a:prstGeom>
          <a:noFill/>
        </p:spPr>
        <p:txBody>
          <a:bodyPr wrap="none">
            <a:spAutoFit/>
          </a:bodyPr>
          <a:lstStyle/>
          <a:p>
            <a:pPr algn="l"/>
            <a:r>
              <a:rPr sz="850" b="1" i="0">
                <a:solidFill>
                  <a:srgbClr val="1B3A6B"/>
                </a:solidFill>
                <a:latin typeface="Calibri"/>
              </a:rPr>
              <a:t>Apple Inc. (AAPL)</a:t>
            </a:r>
          </a:p>
        </p:txBody>
      </p:sp>
      <p:sp>
        <p:nvSpPr>
          <p:cNvPr id="19" name="Rectangle 18"/>
          <p:cNvSpPr/>
          <p:nvPr/>
        </p:nvSpPr>
        <p:spPr>
          <a:xfrm>
            <a:off x="4658400" y="622800"/>
            <a:ext cx="4118400" cy="2016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58400" y="622800"/>
            <a:ext cx="64800" cy="2016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7200" y="640800"/>
            <a:ext cx="3960000" cy="165600"/>
          </a:xfrm>
          <a:prstGeom prst="rect">
            <a:avLst/>
          </a:prstGeom>
          <a:noFill/>
        </p:spPr>
        <p:txBody>
          <a:bodyPr wrap="none">
            <a:spAutoFit/>
          </a:bodyPr>
          <a:lstStyle/>
          <a:p>
            <a:pPr algn="l"/>
            <a:r>
              <a:rPr sz="850" b="1" i="0">
                <a:solidFill>
                  <a:srgbClr val="1A7A4A"/>
                </a:solidFill>
                <a:latin typeface="Calibri"/>
              </a:rPr>
              <a:t>Microsoft Corporation (MSFT)</a:t>
            </a:r>
          </a:p>
        </p:txBody>
      </p:sp>
      <p:sp>
        <p:nvSpPr>
          <p:cNvPr id="22" name="TextBox 21"/>
          <p:cNvSpPr txBox="1"/>
          <p:nvPr/>
        </p:nvSpPr>
        <p:spPr>
          <a:xfrm>
            <a:off x="367200" y="856800"/>
            <a:ext cx="8413200" cy="162000"/>
          </a:xfrm>
          <a:prstGeom prst="rect">
            <a:avLst/>
          </a:prstGeom>
          <a:noFill/>
        </p:spPr>
        <p:txBody>
          <a:bodyPr wrap="square">
            <a:spAutoFit/>
          </a:bodyPr>
          <a:lstStyle/>
          <a:p>
            <a:pPr algn="l"/>
            <a:r>
              <a:rPr sz="1000" b="1" i="1">
                <a:solidFill>
                  <a:srgbClr val="2E5FA3"/>
                </a:solidFill>
                <a:latin typeface="Calibri"/>
              </a:rPr>
              <a:t>MSFT affiche un avantage structurel de marge (57% vs 35%)</a:t>
            </a:r>
          </a:p>
        </p:txBody>
      </p:sp>
      <p:sp>
        <p:nvSpPr>
          <p:cNvPr id="23" name="Rectangle 22"/>
          <p:cNvSpPr/>
          <p:nvPr/>
        </p:nvSpPr>
        <p:spPr>
          <a:xfrm>
            <a:off x="367200" y="1044000"/>
            <a:ext cx="8413200" cy="917999"/>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7200" y="1044000"/>
            <a:ext cx="46800" cy="91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3999" y="1080000"/>
            <a:ext cx="8208000" cy="864000"/>
          </a:xfrm>
          <a:prstGeom prst="rect">
            <a:avLst/>
          </a:prstGeom>
          <a:noFill/>
        </p:spPr>
        <p:txBody>
          <a:bodyPr wrap="square">
            <a:spAutoFit/>
          </a:bodyPr>
          <a:lstStyle/>
          <a:p>
            <a:pPr algn="l"/>
            <a:r>
              <a:rPr sz="900" b="0" i="0">
                <a:solidFill>
                  <a:srgbClr val="1B3A6B"/>
                </a:solidFill>
                <a:latin typeface="Calibri"/>
              </a:rPr>
              <a:t>AAPL vs MSFT : Analyse comparative Structure : AAPL affiche une croissance modérée (CAGR 1.8%) avec des marges solides (EBITDA 34.8%) mais un levier élevé (ND/EBITDA 0.4). MSFT domine en rentabilité (EBITDA 56.9%, ROIC 30.1%) et croissance (CAGR 12.4%), avec un bilan plus sain (ND/EBITDA 0.1). Pourquoi : MSFT bénéficie d’une diversification (cloud, SaaS) et d’une meilleure scalabilité, tandis qu’AAPL reste dépendant de l’iPhone (marges élevées mais croissance atone). Implications : MSFT offre un meilleur profil risque/rendement (valorisation attractive : PE 27x vs 34x pour AAPL). AAPL, plus défensif, justifie sa prime via</a:t>
            </a:r>
          </a:p>
        </p:txBody>
      </p:sp>
      <p:pic>
        <p:nvPicPr>
          <p:cNvPr id="26" name="Picture 25" descr="image.png"/>
          <p:cNvPicPr>
            <a:picLocks noChangeAspect="1"/>
          </p:cNvPicPr>
          <p:nvPr/>
        </p:nvPicPr>
        <p:blipFill>
          <a:blip r:embed="rId2"/>
          <a:stretch>
            <a:fillRect/>
          </a:stretch>
        </p:blipFill>
        <p:spPr>
          <a:xfrm>
            <a:off x="367200" y="2429152"/>
            <a:ext cx="4134600" cy="1945694"/>
          </a:xfrm>
          <a:prstGeom prst="rect">
            <a:avLst/>
          </a:prstGeom>
        </p:spPr>
      </p:pic>
      <p:pic>
        <p:nvPicPr>
          <p:cNvPr id="27" name="Picture 26" descr="image.png"/>
          <p:cNvPicPr>
            <a:picLocks noChangeAspect="1"/>
          </p:cNvPicPr>
          <p:nvPr/>
        </p:nvPicPr>
        <p:blipFill>
          <a:blip r:embed="rId3"/>
          <a:stretch>
            <a:fillRect/>
          </a:stretch>
        </p:blipFill>
        <p:spPr>
          <a:xfrm>
            <a:off x="4645800" y="2429152"/>
            <a:ext cx="4134600" cy="194569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Liquidite Compares</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10" name="Rectangle 9"/>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6" name="Rectangle 15"/>
          <p:cNvSpPr/>
          <p:nvPr/>
        </p:nvSpPr>
        <p:spPr>
          <a:xfrm>
            <a:off x="367200" y="622800"/>
            <a:ext cx="4118400" cy="201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22800"/>
            <a:ext cx="64800" cy="20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640800"/>
            <a:ext cx="3960000" cy="165600"/>
          </a:xfrm>
          <a:prstGeom prst="rect">
            <a:avLst/>
          </a:prstGeom>
          <a:noFill/>
        </p:spPr>
        <p:txBody>
          <a:bodyPr wrap="none">
            <a:spAutoFit/>
          </a:bodyPr>
          <a:lstStyle/>
          <a:p>
            <a:pPr algn="l"/>
            <a:r>
              <a:rPr sz="850" b="1" i="0">
                <a:solidFill>
                  <a:srgbClr val="1B3A6B"/>
                </a:solidFill>
                <a:latin typeface="Calibri"/>
              </a:rPr>
              <a:t>Apple Inc. (AAPL)</a:t>
            </a:r>
          </a:p>
        </p:txBody>
      </p:sp>
      <p:sp>
        <p:nvSpPr>
          <p:cNvPr id="19" name="Rectangle 18"/>
          <p:cNvSpPr/>
          <p:nvPr/>
        </p:nvSpPr>
        <p:spPr>
          <a:xfrm>
            <a:off x="4658400" y="622800"/>
            <a:ext cx="4118400" cy="2016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58400" y="622800"/>
            <a:ext cx="64800" cy="2016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7200" y="640800"/>
            <a:ext cx="3960000" cy="165600"/>
          </a:xfrm>
          <a:prstGeom prst="rect">
            <a:avLst/>
          </a:prstGeom>
          <a:noFill/>
        </p:spPr>
        <p:txBody>
          <a:bodyPr wrap="none">
            <a:spAutoFit/>
          </a:bodyPr>
          <a:lstStyle/>
          <a:p>
            <a:pPr algn="l"/>
            <a:r>
              <a:rPr sz="850" b="1" i="0">
                <a:solidFill>
                  <a:srgbClr val="1A7A4A"/>
                </a:solidFill>
                <a:latin typeface="Calibri"/>
              </a:rPr>
              <a:t>Microsoft Corporation (MSFT)</a:t>
            </a:r>
          </a:p>
        </p:txBody>
      </p:sp>
      <p:sp>
        <p:nvSpPr>
          <p:cNvPr id="22" name="TextBox 21"/>
          <p:cNvSpPr txBox="1"/>
          <p:nvPr/>
        </p:nvSpPr>
        <p:spPr>
          <a:xfrm>
            <a:off x="367200" y="856800"/>
            <a:ext cx="8413200" cy="162000"/>
          </a:xfrm>
          <a:prstGeom prst="rect">
            <a:avLst/>
          </a:prstGeom>
          <a:noFill/>
        </p:spPr>
        <p:txBody>
          <a:bodyPr wrap="square">
            <a:spAutoFit/>
          </a:bodyPr>
          <a:lstStyle/>
          <a:p>
            <a:pPr algn="l"/>
            <a:r>
              <a:rPr sz="1000" b="1" i="1">
                <a:solidFill>
                  <a:srgbClr val="2E5FA3"/>
                </a:solidFill>
                <a:latin typeface="Calibri"/>
              </a:rPr>
              <a:t>MSFT preserve une flexibilite bilancielle superieure</a:t>
            </a:r>
          </a:p>
        </p:txBody>
      </p:sp>
      <p:graphicFrame>
        <p:nvGraphicFramePr>
          <p:cNvPr id="23" name="Table 22"/>
          <p:cNvGraphicFramePr>
            <a:graphicFrameLocks noGrp="1"/>
          </p:cNvGraphicFramePr>
          <p:nvPr/>
        </p:nvGraphicFramePr>
        <p:xfrm>
          <a:off x="367200" y="1044000"/>
          <a:ext cx="8413200" cy="2340000"/>
        </p:xfrm>
        <a:graphic>
          <a:graphicData uri="http://schemas.openxmlformats.org/drawingml/2006/table">
            <a:tbl>
              <a:tblPr firstRow="1" bandRow="1">
                <a:tableStyleId>{5C22544A-7EE6-4342-B048-85BDC9FD1C3A}</a:tableStyleId>
              </a:tblPr>
              <a:tblGrid>
                <a:gridCol w="3701808"/>
                <a:gridCol w="2355696"/>
                <a:gridCol w="2355696"/>
              </a:tblGrid>
              <a:tr h="260000">
                <a:tc>
                  <a:txBody>
                    <a:bodyPr/>
                    <a:lstStyle/>
                    <a:p>
                      <a:pPr algn="l"/>
                      <a:r>
                        <a:rPr sz="750" b="1" i="0">
                          <a:solidFill>
                            <a:srgbClr val="FFFFFF"/>
                          </a:solidFill>
                          <a:latin typeface="Calibri"/>
                        </a:rPr>
                        <a:t>Indicateur Bilan</a:t>
                      </a:r>
                    </a:p>
                  </a:txBody>
                  <a:tcPr>
                    <a:solidFill>
                      <a:srgbClr val="1B3A6B"/>
                    </a:solidFill>
                  </a:tcPr>
                </a:tc>
                <a:tc>
                  <a:txBody>
                    <a:bodyPr/>
                    <a:lstStyle/>
                    <a:p>
                      <a:pPr algn="ctr"/>
                      <a:r>
                        <a:rPr sz="750" b="1" i="0">
                          <a:solidFill>
                            <a:srgbClr val="FFFFFF"/>
                          </a:solidFill>
                          <a:latin typeface="Calibri"/>
                        </a:rPr>
                        <a:t>AAPL</a:t>
                      </a:r>
                    </a:p>
                  </a:txBody>
                  <a:tcPr>
                    <a:solidFill>
                      <a:srgbClr val="1B3A6B"/>
                    </a:solidFill>
                  </a:tcPr>
                </a:tc>
                <a:tc>
                  <a:txBody>
                    <a:bodyPr/>
                    <a:lstStyle/>
                    <a:p>
                      <a:pPr algn="ctr"/>
                      <a:r>
                        <a:rPr sz="750" b="1" i="0">
                          <a:solidFill>
                            <a:srgbClr val="FFFFFF"/>
                          </a:solidFill>
                          <a:latin typeface="Calibri"/>
                        </a:rPr>
                        <a:t>MSFT</a:t>
                      </a:r>
                    </a:p>
                  </a:txBody>
                  <a:tcPr>
                    <a:solidFill>
                      <a:srgbClr val="1B3A6B"/>
                    </a:solidFill>
                  </a:tcPr>
                </a:tc>
              </a:tr>
              <a:tr h="260000">
                <a:tc>
                  <a:txBody>
                    <a:bodyPr/>
                    <a:lstStyle/>
                    <a:p>
                      <a:pPr algn="l"/>
                      <a:r>
                        <a:rPr sz="750" b="0" i="0">
                          <a:solidFill>
                            <a:srgbClr val="0D0D0D"/>
                          </a:solidFill>
                          <a:latin typeface="Calibri"/>
                        </a:rPr>
                        <a:t>Net Debt / EBITDA</a:t>
                      </a:r>
                    </a:p>
                  </a:txBody>
                  <a:tcPr>
                    <a:solidFill>
                      <a:srgbClr val="FFFFFF"/>
                    </a:solidFill>
                  </a:tcPr>
                </a:tc>
                <a:tc>
                  <a:txBody>
                    <a:bodyPr/>
                    <a:lstStyle/>
                    <a:p>
                      <a:pPr algn="ctr"/>
                      <a:r>
                        <a:rPr sz="750" b="0" i="0">
                          <a:solidFill>
                            <a:srgbClr val="0D0D0D"/>
                          </a:solidFill>
                          <a:latin typeface="Calibri"/>
                        </a:rPr>
                        <a:t>0,4x</a:t>
                      </a:r>
                    </a:p>
                  </a:txBody>
                  <a:tcPr>
                    <a:solidFill>
                      <a:srgbClr val="FFFFFF"/>
                    </a:solidFill>
                  </a:tcPr>
                </a:tc>
                <a:tc>
                  <a:txBody>
                    <a:bodyPr/>
                    <a:lstStyle/>
                    <a:p>
                      <a:pPr algn="ctr"/>
                      <a:r>
                        <a:rPr sz="750" b="0" i="0">
                          <a:solidFill>
                            <a:srgbClr val="0D0D0D"/>
                          </a:solidFill>
                          <a:latin typeface="Calibri"/>
                        </a:rPr>
                        <a:t>0,1x</a:t>
                      </a:r>
                    </a:p>
                  </a:txBody>
                  <a:tcPr>
                    <a:solidFill>
                      <a:srgbClr val="FFFFFF"/>
                    </a:solidFill>
                  </a:tcPr>
                </a:tc>
              </a:tr>
              <a:tr h="260000">
                <a:tc>
                  <a:txBody>
                    <a:bodyPr/>
                    <a:lstStyle/>
                    <a:p>
                      <a:pPr algn="l"/>
                      <a:r>
                        <a:rPr sz="750" b="0" i="0">
                          <a:solidFill>
                            <a:srgbClr val="0D0D0D"/>
                          </a:solidFill>
                          <a:latin typeface="Calibri"/>
                        </a:rPr>
                        <a:t>Interest Coverage</a:t>
                      </a:r>
                    </a:p>
                  </a:txBody>
                  <a:tcPr>
                    <a:solidFill>
                      <a:srgbClr val="F7F8FA"/>
                    </a:solidFill>
                  </a:tcPr>
                </a:tc>
                <a:tc>
                  <a:txBody>
                    <a:bodyPr/>
                    <a:lstStyle/>
                    <a:p>
                      <a:pPr algn="ctr"/>
                      <a:r>
                        <a:rPr sz="750" b="0" i="0">
                          <a:solidFill>
                            <a:srgbClr val="0D0D0D"/>
                          </a:solidFill>
                          <a:latin typeface="Calibri"/>
                        </a:rPr>
                        <a:t>414,5x</a:t>
                      </a:r>
                    </a:p>
                  </a:txBody>
                  <a:tcPr>
                    <a:solidFill>
                      <a:srgbClr val="F7F8FA"/>
                    </a:solidFill>
                  </a:tcPr>
                </a:tc>
                <a:tc>
                  <a:txBody>
                    <a:bodyPr/>
                    <a:lstStyle/>
                    <a:p>
                      <a:pPr algn="ctr"/>
                      <a:r>
                        <a:rPr sz="750" b="0" i="0">
                          <a:solidFill>
                            <a:srgbClr val="0D0D0D"/>
                          </a:solidFill>
                          <a:latin typeface="Calibri"/>
                        </a:rPr>
                        <a:t>52,8x</a:t>
                      </a:r>
                    </a:p>
                  </a:txBody>
                  <a:tcPr>
                    <a:solidFill>
                      <a:srgbClr val="F7F8FA"/>
                    </a:solidFill>
                  </a:tcPr>
                </a:tc>
              </a:tr>
              <a:tr h="260000">
                <a:tc>
                  <a:txBody>
                    <a:bodyPr/>
                    <a:lstStyle/>
                    <a:p>
                      <a:pPr algn="l"/>
                      <a:r>
                        <a:rPr sz="750" b="0" i="0">
                          <a:solidFill>
                            <a:srgbClr val="0D0D0D"/>
                          </a:solidFill>
                          <a:latin typeface="Calibri"/>
                        </a:rPr>
                        <a:t>Current Ratio</a:t>
                      </a:r>
                    </a:p>
                  </a:txBody>
                  <a:tcPr>
                    <a:solidFill>
                      <a:srgbClr val="FFFFFF"/>
                    </a:solidFill>
                  </a:tcPr>
                </a:tc>
                <a:tc>
                  <a:txBody>
                    <a:bodyPr/>
                    <a:lstStyle/>
                    <a:p>
                      <a:pPr algn="ctr"/>
                      <a:r>
                        <a:rPr sz="750" b="0" i="0">
                          <a:solidFill>
                            <a:srgbClr val="0D0D0D"/>
                          </a:solidFill>
                          <a:latin typeface="Calibri"/>
                        </a:rPr>
                        <a:t>0,7x</a:t>
                      </a:r>
                    </a:p>
                  </a:txBody>
                  <a:tcPr>
                    <a:solidFill>
                      <a:srgbClr val="FFFFFF"/>
                    </a:solidFill>
                  </a:tcPr>
                </a:tc>
                <a:tc>
                  <a:txBody>
                    <a:bodyPr/>
                    <a:lstStyle/>
                    <a:p>
                      <a:pPr algn="ctr"/>
                      <a:r>
                        <a:rPr sz="750" b="0" i="0">
                          <a:solidFill>
                            <a:srgbClr val="0D0D0D"/>
                          </a:solidFill>
                          <a:latin typeface="Calibri"/>
                        </a:rPr>
                        <a:t>2,0x</a:t>
                      </a:r>
                    </a:p>
                  </a:txBody>
                  <a:tcPr>
                    <a:solidFill>
                      <a:srgbClr val="FFFFFF"/>
                    </a:solidFill>
                  </a:tcPr>
                </a:tc>
              </a:tr>
              <a:tr h="260000">
                <a:tc>
                  <a:txBody>
                    <a:bodyPr/>
                    <a:lstStyle/>
                    <a:p>
                      <a:pPr algn="l"/>
                      <a:r>
                        <a:rPr sz="750" b="0" i="0">
                          <a:solidFill>
                            <a:srgbClr val="0D0D0D"/>
                          </a:solidFill>
                          <a:latin typeface="Calibri"/>
                        </a:rPr>
                        <a:t>Quick Ratio</a:t>
                      </a:r>
                    </a:p>
                  </a:txBody>
                  <a:tcPr>
                    <a:solidFill>
                      <a:srgbClr val="F7F8FA"/>
                    </a:solidFill>
                  </a:tcPr>
                </a:tc>
                <a:tc>
                  <a:txBody>
                    <a:bodyPr/>
                    <a:lstStyle/>
                    <a:p>
                      <a:pPr algn="ctr"/>
                      <a:r>
                        <a:rPr sz="750" b="0" i="0">
                          <a:solidFill>
                            <a:srgbClr val="0D0D0D"/>
                          </a:solidFill>
                          <a:latin typeface="Calibri"/>
                        </a:rPr>
                        <a:t>0,6x</a:t>
                      </a:r>
                    </a:p>
                  </a:txBody>
                  <a:tcPr>
                    <a:solidFill>
                      <a:srgbClr val="F7F8FA"/>
                    </a:solidFill>
                  </a:tcPr>
                </a:tc>
                <a:tc>
                  <a:txBody>
                    <a:bodyPr/>
                    <a:lstStyle/>
                    <a:p>
                      <a:pPr algn="ctr"/>
                      <a:r>
                        <a:rPr sz="750" b="0" i="0">
                          <a:solidFill>
                            <a:srgbClr val="0D0D0D"/>
                          </a:solidFill>
                          <a:latin typeface="Calibri"/>
                        </a:rPr>
                        <a:t>2,0x</a:t>
                      </a:r>
                    </a:p>
                  </a:txBody>
                  <a:tcPr>
                    <a:solidFill>
                      <a:srgbClr val="F7F8FA"/>
                    </a:solidFill>
                  </a:tcPr>
                </a:tc>
              </a:tr>
              <a:tr h="260000">
                <a:tc>
                  <a:txBody>
                    <a:bodyPr/>
                    <a:lstStyle/>
                    <a:p>
                      <a:pPr algn="l"/>
                      <a:r>
                        <a:rPr sz="750" b="0" i="0">
                          <a:solidFill>
                            <a:srgbClr val="0D0D0D"/>
                          </a:solidFill>
                          <a:latin typeface="Calibri"/>
                        </a:rPr>
                        <a:t>Capex / Revenue</a:t>
                      </a:r>
                    </a:p>
                  </a:txBody>
                  <a:tcPr>
                    <a:solidFill>
                      <a:srgbClr val="FFFFFF"/>
                    </a:solidFill>
                  </a:tcPr>
                </a:tc>
                <a:tc>
                  <a:txBody>
                    <a:bodyPr/>
                    <a:lstStyle/>
                    <a:p>
                      <a:pPr algn="ctr"/>
                      <a:r>
                        <a:rPr sz="750" b="0" i="0">
                          <a:solidFill>
                            <a:srgbClr val="0D0D0D"/>
                          </a:solidFill>
                          <a:latin typeface="Calibri"/>
                        </a:rPr>
                        <a:t>3,1 %</a:t>
                      </a:r>
                    </a:p>
                  </a:txBody>
                  <a:tcPr>
                    <a:solidFill>
                      <a:srgbClr val="FFFFFF"/>
                    </a:solidFill>
                  </a:tcPr>
                </a:tc>
                <a:tc>
                  <a:txBody>
                    <a:bodyPr/>
                    <a:lstStyle/>
                    <a:p>
                      <a:pPr algn="ctr"/>
                      <a:r>
                        <a:rPr sz="750" b="0" i="0">
                          <a:solidFill>
                            <a:srgbClr val="0D0D0D"/>
                          </a:solidFill>
                          <a:latin typeface="Calibri"/>
                        </a:rPr>
                        <a:t>22,9 %</a:t>
                      </a:r>
                    </a:p>
                  </a:txBody>
                  <a:tcPr>
                    <a:solidFill>
                      <a:srgbClr val="FFFFFF"/>
                    </a:solidFill>
                  </a:tcPr>
                </a:tc>
              </a:tr>
              <a:tr h="260000">
                <a:tc>
                  <a:txBody>
                    <a:bodyPr/>
                    <a:lstStyle/>
                    <a:p>
                      <a:pPr algn="l"/>
                      <a:r>
                        <a:rPr sz="750" b="0" i="0">
                          <a:solidFill>
                            <a:srgbClr val="0D0D0D"/>
                          </a:solidFill>
                          <a:latin typeface="Calibri"/>
                        </a:rPr>
                        <a:t>Cash Conversion</a:t>
                      </a:r>
                    </a:p>
                  </a:txBody>
                  <a:tcPr>
                    <a:solidFill>
                      <a:srgbClr val="F7F8FA"/>
                    </a:solidFill>
                  </a:tcPr>
                </a:tc>
                <a:tc>
                  <a:txBody>
                    <a:bodyPr/>
                    <a:lstStyle/>
                    <a:p>
                      <a:pPr algn="ctr"/>
                      <a:r>
                        <a:rPr sz="750" b="0" i="0">
                          <a:solidFill>
                            <a:srgbClr val="0D0D0D"/>
                          </a:solidFill>
                          <a:latin typeface="Calibri"/>
                        </a:rPr>
                        <a:t>1,0x</a:t>
                      </a:r>
                    </a:p>
                  </a:txBody>
                  <a:tcPr>
                    <a:solidFill>
                      <a:srgbClr val="F7F8FA"/>
                    </a:solidFill>
                  </a:tcPr>
                </a:tc>
                <a:tc>
                  <a:txBody>
                    <a:bodyPr/>
                    <a:lstStyle/>
                    <a:p>
                      <a:pPr algn="ctr"/>
                      <a:r>
                        <a:rPr sz="750" b="0" i="0">
                          <a:solidFill>
                            <a:srgbClr val="0D0D0D"/>
                          </a:solidFill>
                          <a:latin typeface="Calibri"/>
                        </a:rPr>
                        <a:t>0,7x</a:t>
                      </a:r>
                    </a:p>
                  </a:txBody>
                  <a:tcPr>
                    <a:solidFill>
                      <a:srgbClr val="F7F8FA"/>
                    </a:solidFill>
                  </a:tcPr>
                </a:tc>
              </a:tr>
              <a:tr h="260000">
                <a:tc>
                  <a:txBody>
                    <a:bodyPr/>
                    <a:lstStyle/>
                    <a:p>
                      <a:pPr algn="l"/>
                      <a:r>
                        <a:rPr sz="750" b="0" i="0">
                          <a:solidFill>
                            <a:srgbClr val="0D0D0D"/>
                          </a:solidFill>
                          <a:latin typeface="Calibri"/>
                        </a:rPr>
                        <a:t>FCF Yield</a:t>
                      </a:r>
                    </a:p>
                  </a:txBody>
                  <a:tcPr>
                    <a:solidFill>
                      <a:srgbClr val="FFFFFF"/>
                    </a:solidFill>
                  </a:tcPr>
                </a:tc>
                <a:tc>
                  <a:txBody>
                    <a:bodyPr/>
                    <a:lstStyle/>
                    <a:p>
                      <a:pPr algn="ctr"/>
                      <a:r>
                        <a:rPr sz="750" b="0" i="0">
                          <a:solidFill>
                            <a:srgbClr val="0D0D0D"/>
                          </a:solidFill>
                          <a:latin typeface="Calibri"/>
                        </a:rPr>
                        <a:t>2,9 %</a:t>
                      </a:r>
                    </a:p>
                  </a:txBody>
                  <a:tcPr>
                    <a:solidFill>
                      <a:srgbClr val="FFFFFF"/>
                    </a:solidFill>
                  </a:tcPr>
                </a:tc>
                <a:tc>
                  <a:txBody>
                    <a:bodyPr/>
                    <a:lstStyle/>
                    <a:p>
                      <a:pPr algn="ctr"/>
                      <a:r>
                        <a:rPr sz="750" b="0" i="0">
                          <a:solidFill>
                            <a:srgbClr val="0D0D0D"/>
                          </a:solidFill>
                          <a:latin typeface="Calibri"/>
                        </a:rPr>
                        <a:t>2,6 %</a:t>
                      </a:r>
                    </a:p>
                  </a:txBody>
                  <a:tcPr>
                    <a:solidFill>
                      <a:srgbClr val="FFFFFF"/>
                    </a:solidFill>
                  </a:tcPr>
                </a:tc>
              </a:tr>
              <a:tr h="260000">
                <a:tc>
                  <a:txBody>
                    <a:bodyPr/>
                    <a:lstStyle/>
                    <a:p>
                      <a:pPr algn="l"/>
                      <a:r>
                        <a:rPr sz="750" b="0" i="0">
                          <a:solidFill>
                            <a:srgbClr val="0D0D0D"/>
                          </a:solidFill>
                          <a:latin typeface="Calibri"/>
                        </a:rPr>
                        <a:t>Altman Z-Score</a:t>
                      </a:r>
                    </a:p>
                  </a:txBody>
                  <a:tcPr>
                    <a:solidFill>
                      <a:srgbClr val="F7F8FA"/>
                    </a:solidFill>
                  </a:tcPr>
                </a:tc>
                <a:tc>
                  <a:txBody>
                    <a:bodyPr/>
                    <a:lstStyle/>
                    <a:p>
                      <a:pPr algn="ctr"/>
                      <a:r>
                        <a:rPr sz="750" b="0" i="0">
                          <a:solidFill>
                            <a:srgbClr val="0D0D0D"/>
                          </a:solidFill>
                          <a:latin typeface="Calibri"/>
                        </a:rPr>
                        <a:t>1,69</a:t>
                      </a:r>
                    </a:p>
                  </a:txBody>
                  <a:tcPr>
                    <a:solidFill>
                      <a:srgbClr val="F7F8FA"/>
                    </a:solidFill>
                  </a:tcPr>
                </a:tc>
                <a:tc>
                  <a:txBody>
                    <a:bodyPr/>
                    <a:lstStyle/>
                    <a:p>
                      <a:pPr algn="ctr"/>
                      <a:r>
                        <a:rPr sz="750" b="0" i="0">
                          <a:solidFill>
                            <a:srgbClr val="0D0D0D"/>
                          </a:solidFill>
                          <a:latin typeface="Calibri"/>
                        </a:rPr>
                        <a:t>4,61</a:t>
                      </a:r>
                    </a:p>
                  </a:txBody>
                  <a:tcPr>
                    <a:solidFill>
                      <a:srgbClr val="F7F8FA"/>
                    </a:solidFill>
                  </a:tcPr>
                </a:tc>
              </a:tr>
            </a:tbl>
          </a:graphicData>
        </a:graphic>
      </p:graphicFrame>
      <p:sp>
        <p:nvSpPr>
          <p:cNvPr id="24" name="Rectangle 23"/>
          <p:cNvSpPr/>
          <p:nvPr/>
        </p:nvSpPr>
        <p:spPr>
          <a:xfrm>
            <a:off x="367200" y="3474000"/>
            <a:ext cx="8413200" cy="1224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3474000"/>
            <a:ext cx="46800" cy="122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6000" y="3517200"/>
            <a:ext cx="8208000" cy="151200"/>
          </a:xfrm>
          <a:prstGeom prst="rect">
            <a:avLst/>
          </a:prstGeom>
          <a:noFill/>
        </p:spPr>
        <p:txBody>
          <a:bodyPr wrap="square">
            <a:spAutoFit/>
          </a:bodyPr>
          <a:lstStyle/>
          <a:p>
            <a:pPr algn="l"/>
            <a:r>
              <a:rPr sz="950" b="1" i="0">
                <a:solidFill>
                  <a:srgbClr val="1B3A6B"/>
                </a:solidFill>
                <a:latin typeface="Calibri"/>
              </a:rPr>
              <a:t>LECTURE BILANCIELLE - Qui dispose du plus de flexibilite financiere ?</a:t>
            </a:r>
          </a:p>
        </p:txBody>
      </p:sp>
      <p:sp>
        <p:nvSpPr>
          <p:cNvPr id="27" name="TextBox 26"/>
          <p:cNvSpPr txBox="1"/>
          <p:nvPr/>
        </p:nvSpPr>
        <p:spPr>
          <a:xfrm>
            <a:off x="486000" y="3690000"/>
            <a:ext cx="8208000" cy="954000"/>
          </a:xfrm>
          <a:prstGeom prst="rect">
            <a:avLst/>
          </a:prstGeom>
          <a:noFill/>
        </p:spPr>
        <p:txBody>
          <a:bodyPr wrap="square">
            <a:spAutoFit/>
          </a:bodyPr>
          <a:lstStyle/>
          <a:p>
            <a:pPr algn="l"/>
            <a:r>
              <a:rPr sz="950" b="0" i="0">
                <a:solidFill>
                  <a:srgbClr val="1B3A6B"/>
                </a:solidFill>
                <a:latin typeface="Calibri"/>
              </a:rPr>
              <a:t>Structure bilancielle : AAPL affiche un levier faible (0,4x EBITDA) tandis que MSFT presente un profil faible (0,1x). La liquidite courante ressort sous tension pour AAPL vs confortable pour MSFT. Sur le critere du levier, MSFT dispose de plus de marge pour absorber un choc macro ou financer une operation externe. AAPL genere davantage de FCF relatif (2.9% vs 2.6% de FCF yield), soutenant la soutenabilite du dividende et la capacite de rachat d'actions.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Multiples, DCF, Monte Carlo et Football Field</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Multiples de Valorisation Compares</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10" name="Rectangle 9"/>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6" name="Rectangle 15"/>
          <p:cNvSpPr/>
          <p:nvPr/>
        </p:nvSpPr>
        <p:spPr>
          <a:xfrm>
            <a:off x="367200" y="622800"/>
            <a:ext cx="4118400" cy="201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22800"/>
            <a:ext cx="64800" cy="20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640800"/>
            <a:ext cx="3960000" cy="165600"/>
          </a:xfrm>
          <a:prstGeom prst="rect">
            <a:avLst/>
          </a:prstGeom>
          <a:noFill/>
        </p:spPr>
        <p:txBody>
          <a:bodyPr wrap="none">
            <a:spAutoFit/>
          </a:bodyPr>
          <a:lstStyle/>
          <a:p>
            <a:pPr algn="l"/>
            <a:r>
              <a:rPr sz="850" b="1" i="0">
                <a:solidFill>
                  <a:srgbClr val="1B3A6B"/>
                </a:solidFill>
                <a:latin typeface="Calibri"/>
              </a:rPr>
              <a:t>Apple Inc. (AAPL)</a:t>
            </a:r>
          </a:p>
        </p:txBody>
      </p:sp>
      <p:sp>
        <p:nvSpPr>
          <p:cNvPr id="19" name="Rectangle 18"/>
          <p:cNvSpPr/>
          <p:nvPr/>
        </p:nvSpPr>
        <p:spPr>
          <a:xfrm>
            <a:off x="4658400" y="622800"/>
            <a:ext cx="4118400" cy="2016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58400" y="622800"/>
            <a:ext cx="64800" cy="2016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7200" y="640800"/>
            <a:ext cx="3960000" cy="165600"/>
          </a:xfrm>
          <a:prstGeom prst="rect">
            <a:avLst/>
          </a:prstGeom>
          <a:noFill/>
        </p:spPr>
        <p:txBody>
          <a:bodyPr wrap="none">
            <a:spAutoFit/>
          </a:bodyPr>
          <a:lstStyle/>
          <a:p>
            <a:pPr algn="l"/>
            <a:r>
              <a:rPr sz="850" b="1" i="0">
                <a:solidFill>
                  <a:srgbClr val="1A7A4A"/>
                </a:solidFill>
                <a:latin typeface="Calibri"/>
              </a:rPr>
              <a:t>Microsoft Corporation (MSFT)</a:t>
            </a:r>
          </a:p>
        </p:txBody>
      </p:sp>
      <p:sp>
        <p:nvSpPr>
          <p:cNvPr id="22" name="TextBox 21"/>
          <p:cNvSpPr txBox="1"/>
          <p:nvPr/>
        </p:nvSpPr>
        <p:spPr>
          <a:xfrm>
            <a:off x="367200" y="856800"/>
            <a:ext cx="8413200" cy="162000"/>
          </a:xfrm>
          <a:prstGeom prst="rect">
            <a:avLst/>
          </a:prstGeom>
          <a:noFill/>
        </p:spPr>
        <p:txBody>
          <a:bodyPr wrap="square">
            <a:spAutoFit/>
          </a:bodyPr>
          <a:lstStyle/>
          <a:p>
            <a:pPr algn="l"/>
            <a:r>
              <a:rPr sz="1000" b="1" i="1">
                <a:solidFill>
                  <a:srgbClr val="2E5FA3"/>
                </a:solidFill>
                <a:latin typeface="Calibri"/>
              </a:rPr>
              <a:t>MSFT s'echange avec une decote de 21% vs le peer sur le P/E</a:t>
            </a:r>
          </a:p>
        </p:txBody>
      </p:sp>
      <p:sp>
        <p:nvSpPr>
          <p:cNvPr id="23" name="Rectangle 22"/>
          <p:cNvSpPr/>
          <p:nvPr/>
        </p:nvSpPr>
        <p:spPr>
          <a:xfrm>
            <a:off x="367200" y="1044000"/>
            <a:ext cx="8413200" cy="936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7200" y="1044000"/>
            <a:ext cx="46800" cy="9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3999" y="1080000"/>
            <a:ext cx="8208000" cy="882000"/>
          </a:xfrm>
          <a:prstGeom prst="rect">
            <a:avLst/>
          </a:prstGeom>
          <a:noFill/>
        </p:spPr>
        <p:txBody>
          <a:bodyPr wrap="square">
            <a:spAutoFit/>
          </a:bodyPr>
          <a:lstStyle/>
          <a:p>
            <a:pPr algn="l"/>
            <a:r>
              <a:rPr sz="900" b="0" i="0">
                <a:solidFill>
                  <a:srgbClr val="1B3A6B"/>
                </a:solidFill>
                <a:latin typeface="Calibri"/>
              </a:rPr>
              <a:t>AAPL vs MSFT : Décote justifiée mais upside limité Quoi : AAPL affiche des multiples élevés (PE 34.3x, PB 52.1x) vs MSFT (PE 27.0x, PB 8.0x), malgré une rentabilité supérieure (ROIC 84.4% vs 30.1%). Pourquoi : La décote de MSFT s’explique par des marges EBITDA supérieures (56.9% vs 34.8%), une croissance organique plus forte (CAGR 12.4% vs 1.8%) et un bilan plus solide (ND/EBITDA 0.1x vs 0.4x). Les scores FinSight (58 vs 44) et Piotroski (5 vs 7) renforcent cette analyse. Implications : AAPL offre un upside limité (FCF yield 2.9% vs 2.6%), tandis que MSFT présente un meilleur profil risque/rendement. Recommandation : Surpondérer MSFT.</a:t>
            </a:r>
          </a:p>
        </p:txBody>
      </p:sp>
      <p:graphicFrame>
        <p:nvGraphicFramePr>
          <p:cNvPr id="26" name="Table 25"/>
          <p:cNvGraphicFramePr>
            <a:graphicFrameLocks noGrp="1"/>
          </p:cNvGraphicFramePr>
          <p:nvPr/>
        </p:nvGraphicFramePr>
        <p:xfrm>
          <a:off x="367200" y="2088000"/>
          <a:ext cx="3744000" cy="2520000"/>
        </p:xfrm>
        <a:graphic>
          <a:graphicData uri="http://schemas.openxmlformats.org/drawingml/2006/table">
            <a:tbl>
              <a:tblPr firstRow="1" bandRow="1">
                <a:tableStyleId>{5C22544A-7EE6-4342-B048-85BDC9FD1C3A}</a:tableStyleId>
              </a:tblPr>
              <a:tblGrid>
                <a:gridCol w="1272960"/>
                <a:gridCol w="823680"/>
                <a:gridCol w="823680"/>
                <a:gridCol w="823680"/>
              </a:tblGrid>
              <a:tr h="360000">
                <a:tc>
                  <a:txBody>
                    <a:bodyPr/>
                    <a:lstStyle/>
                    <a:p>
                      <a:pPr algn="l"/>
                      <a:r>
                        <a:rPr sz="750" b="1" i="0">
                          <a:solidFill>
                            <a:srgbClr val="FFFFFF"/>
                          </a:solidFill>
                          <a:latin typeface="Calibri"/>
                        </a:rPr>
                        <a:t>Multiple</a:t>
                      </a:r>
                    </a:p>
                  </a:txBody>
                  <a:tcPr>
                    <a:solidFill>
                      <a:srgbClr val="1B3A6B"/>
                    </a:solidFill>
                  </a:tcPr>
                </a:tc>
                <a:tc>
                  <a:txBody>
                    <a:bodyPr/>
                    <a:lstStyle/>
                    <a:p>
                      <a:pPr algn="ctr"/>
                      <a:r>
                        <a:rPr sz="750" b="1" i="0">
                          <a:solidFill>
                            <a:srgbClr val="FFFFFF"/>
                          </a:solidFill>
                          <a:latin typeface="Calibri"/>
                        </a:rPr>
                        <a:t>AAPL</a:t>
                      </a:r>
                    </a:p>
                  </a:txBody>
                  <a:tcPr>
                    <a:solidFill>
                      <a:srgbClr val="1B3A6B"/>
                    </a:solidFill>
                  </a:tcPr>
                </a:tc>
                <a:tc>
                  <a:txBody>
                    <a:bodyPr/>
                    <a:lstStyle/>
                    <a:p>
                      <a:pPr algn="ctr"/>
                      <a:r>
                        <a:rPr sz="750" b="1" i="0">
                          <a:solidFill>
                            <a:srgbClr val="FFFFFF"/>
                          </a:solidFill>
                          <a:latin typeface="Calibri"/>
                        </a:rPr>
                        <a:t>MSFT</a:t>
                      </a:r>
                    </a:p>
                  </a:txBody>
                  <a:tcPr>
                    <a:solidFill>
                      <a:srgbClr val="1B3A6B"/>
                    </a:solidFill>
                  </a:tcPr>
                </a:tc>
                <a:tc>
                  <a:txBody>
                    <a:bodyPr/>
                    <a:lstStyle/>
                    <a:p>
                      <a:pPr algn="ctr"/>
                      <a:r>
                        <a:rPr sz="750" b="1" i="0">
                          <a:solidFill>
                            <a:srgbClr val="FFFFFF"/>
                          </a:solidFill>
                          <a:latin typeface="Calibri"/>
                        </a:rPr>
                        <a:t>Med. Sec.</a:t>
                      </a:r>
                    </a:p>
                  </a:txBody>
                  <a:tcPr>
                    <a:solidFill>
                      <a:srgbClr val="1B3A6B"/>
                    </a:solidFill>
                  </a:tcPr>
                </a:tc>
              </a:tr>
              <a:tr h="360000">
                <a:tc>
                  <a:txBody>
                    <a:bodyPr/>
                    <a:lstStyle/>
                    <a:p>
                      <a:pPr algn="l"/>
                      <a:r>
                        <a:rPr sz="750" b="0" i="0">
                          <a:solidFill>
                            <a:srgbClr val="0D0D0D"/>
                          </a:solidFill>
                          <a:latin typeface="Calibri"/>
                        </a:rPr>
                        <a:t>PE Ratio</a:t>
                      </a:r>
                    </a:p>
                  </a:txBody>
                  <a:tcPr>
                    <a:solidFill>
                      <a:srgbClr val="FFFFFF"/>
                    </a:solidFill>
                  </a:tcPr>
                </a:tc>
                <a:tc>
                  <a:txBody>
                    <a:bodyPr/>
                    <a:lstStyle/>
                    <a:p>
                      <a:pPr algn="ctr"/>
                      <a:r>
                        <a:rPr sz="750" b="0" i="0">
                          <a:solidFill>
                            <a:srgbClr val="0D0D0D"/>
                          </a:solidFill>
                          <a:latin typeface="Calibri"/>
                        </a:rPr>
                        <a:t>34,3x</a:t>
                      </a:r>
                    </a:p>
                  </a:txBody>
                  <a:tcPr>
                    <a:solidFill>
                      <a:srgbClr val="FFFFFF"/>
                    </a:solidFill>
                  </a:tcPr>
                </a:tc>
                <a:tc>
                  <a:txBody>
                    <a:bodyPr/>
                    <a:lstStyle/>
                    <a:p>
                      <a:pPr algn="ctr"/>
                      <a:r>
                        <a:rPr sz="750" b="0" i="0">
                          <a:solidFill>
                            <a:srgbClr val="0D0D0D"/>
                          </a:solidFill>
                          <a:latin typeface="Calibri"/>
                        </a:rPr>
                        <a:t>27,0x</a:t>
                      </a:r>
                    </a:p>
                  </a:txBody>
                  <a:tcPr>
                    <a:solidFill>
                      <a:srgbClr val="FFFFFF"/>
                    </a:solidFill>
                  </a:tcPr>
                </a:tc>
                <a:tc>
                  <a:txBody>
                    <a:bodyPr/>
                    <a:lstStyle/>
                    <a:p>
                      <a:pPr algn="ctr"/>
                      <a:r>
                        <a:rPr sz="750" b="0" i="0">
                          <a:solidFill>
                            <a:srgbClr val="0D0D0D"/>
                          </a:solidFill>
                          <a:latin typeface="Calibri"/>
                        </a:rPr>
                        <a:t>30,0x</a:t>
                      </a:r>
                    </a:p>
                  </a:txBody>
                  <a:tcPr>
                    <a:solidFill>
                      <a:srgbClr val="FFFFFF"/>
                    </a:solidFill>
                  </a:tcPr>
                </a:tc>
              </a:tr>
              <a:tr h="360000">
                <a:tc>
                  <a:txBody>
                    <a:bodyPr/>
                    <a:lstStyle/>
                    <a:p>
                      <a:pPr algn="l"/>
                      <a:r>
                        <a:rPr sz="750" b="0" i="0">
                          <a:solidFill>
                            <a:srgbClr val="0D0D0D"/>
                          </a:solidFill>
                          <a:latin typeface="Calibri"/>
                        </a:rPr>
                        <a:t>EV / EBITDA</a:t>
                      </a:r>
                    </a:p>
                  </a:txBody>
                  <a:tcPr>
                    <a:solidFill>
                      <a:srgbClr val="F7F8FA"/>
                    </a:solidFill>
                  </a:tcPr>
                </a:tc>
                <a:tc>
                  <a:txBody>
                    <a:bodyPr/>
                    <a:lstStyle/>
                    <a:p>
                      <a:pPr algn="ctr"/>
                      <a:r>
                        <a:rPr sz="750" b="0" i="0">
                          <a:solidFill>
                            <a:srgbClr val="0D0D0D"/>
                          </a:solidFill>
                          <a:latin typeface="Calibri"/>
                        </a:rPr>
                        <a:t>27,0x</a:t>
                      </a:r>
                    </a:p>
                  </a:txBody>
                  <a:tcPr>
                    <a:solidFill>
                      <a:srgbClr val="F7F8FA"/>
                    </a:solidFill>
                  </a:tcPr>
                </a:tc>
                <a:tc>
                  <a:txBody>
                    <a:bodyPr/>
                    <a:lstStyle/>
                    <a:p>
                      <a:pPr algn="ctr"/>
                      <a:r>
                        <a:rPr sz="750" b="0" i="0">
                          <a:solidFill>
                            <a:srgbClr val="0D0D0D"/>
                          </a:solidFill>
                          <a:latin typeface="Calibri"/>
                        </a:rPr>
                        <a:t>17,2x</a:t>
                      </a:r>
                    </a:p>
                  </a:txBody>
                  <a:tcPr>
                    <a:solidFill>
                      <a:srgbClr val="F7F8FA"/>
                    </a:solidFill>
                  </a:tcPr>
                </a:tc>
                <a:tc>
                  <a:txBody>
                    <a:bodyPr/>
                    <a:lstStyle/>
                    <a:p>
                      <a:pPr algn="ctr"/>
                      <a:r>
                        <a:rPr sz="750" b="0" i="0">
                          <a:solidFill>
                            <a:srgbClr val="0D0D0D"/>
                          </a:solidFill>
                          <a:latin typeface="Calibri"/>
                        </a:rPr>
                        <a:t>18,0x</a:t>
                      </a:r>
                    </a:p>
                  </a:txBody>
                  <a:tcPr>
                    <a:solidFill>
                      <a:srgbClr val="F7F8FA"/>
                    </a:solidFill>
                  </a:tcPr>
                </a:tc>
              </a:tr>
              <a:tr h="360000">
                <a:tc>
                  <a:txBody>
                    <a:bodyPr/>
                    <a:lstStyle/>
                    <a:p>
                      <a:pPr algn="l"/>
                      <a:r>
                        <a:rPr sz="750" b="0" i="0">
                          <a:solidFill>
                            <a:srgbClr val="0D0D0D"/>
                          </a:solidFill>
                          <a:latin typeface="Calibri"/>
                        </a:rPr>
                        <a:t>Price / Book</a:t>
                      </a:r>
                    </a:p>
                  </a:txBody>
                  <a:tcPr>
                    <a:solidFill>
                      <a:srgbClr val="FFFFFF"/>
                    </a:solidFill>
                  </a:tcPr>
                </a:tc>
                <a:tc>
                  <a:txBody>
                    <a:bodyPr/>
                    <a:lstStyle/>
                    <a:p>
                      <a:pPr algn="ctr"/>
                      <a:r>
                        <a:rPr sz="750" b="0" i="0">
                          <a:solidFill>
                            <a:srgbClr val="0D0D0D"/>
                          </a:solidFill>
                          <a:latin typeface="Calibri"/>
                        </a:rPr>
                        <a:t>52,1x</a:t>
                      </a:r>
                    </a:p>
                  </a:txBody>
                  <a:tcPr>
                    <a:solidFill>
                      <a:srgbClr val="FFFFFF"/>
                    </a:solidFill>
                  </a:tcPr>
                </a:tc>
                <a:tc>
                  <a:txBody>
                    <a:bodyPr/>
                    <a:lstStyle/>
                    <a:p>
                      <a:pPr algn="ctr"/>
                      <a:r>
                        <a:rPr sz="750" b="0" i="0">
                          <a:solidFill>
                            <a:srgbClr val="0D0D0D"/>
                          </a:solidFill>
                          <a:latin typeface="Calibri"/>
                        </a:rPr>
                        <a:t>8,0x</a:t>
                      </a:r>
                    </a:p>
                  </a:txBody>
                  <a:tcPr>
                    <a:solidFill>
                      <a:srgbClr val="FFFFFF"/>
                    </a:solidFill>
                  </a:tcPr>
                </a:tc>
                <a:tc>
                  <a:txBody>
                    <a:bodyPr/>
                    <a:lstStyle/>
                    <a:p>
                      <a:pPr algn="ctr"/>
                      <a:r>
                        <a:rPr sz="750" b="0" i="0">
                          <a:solidFill>
                            <a:srgbClr val="0D0D0D"/>
                          </a:solidFill>
                          <a:latin typeface="Calibri"/>
                        </a:rPr>
                        <a:t>—</a:t>
                      </a:r>
                    </a:p>
                  </a:txBody>
                  <a:tcPr>
                    <a:solidFill>
                      <a:srgbClr val="FFFFFF"/>
                    </a:solidFill>
                  </a:tcPr>
                </a:tc>
              </a:tr>
              <a:tr h="360000">
                <a:tc>
                  <a:txBody>
                    <a:bodyPr/>
                    <a:lstStyle/>
                    <a:p>
                      <a:pPr algn="l"/>
                      <a:r>
                        <a:rPr sz="750" b="0" i="0">
                          <a:solidFill>
                            <a:srgbClr val="0D0D0D"/>
                          </a:solidFill>
                          <a:latin typeface="Calibri"/>
                        </a:rPr>
                        <a:t>PEG Ratio</a:t>
                      </a:r>
                    </a:p>
                  </a:txBody>
                  <a:tcPr>
                    <a:solidFill>
                      <a:srgbClr val="F7F8FA"/>
                    </a:solidFill>
                  </a:tcPr>
                </a:tc>
                <a:tc>
                  <a:txBody>
                    <a:bodyPr/>
                    <a:lstStyle/>
                    <a:p>
                      <a:pPr algn="ctr"/>
                      <a:r>
                        <a:rPr sz="750" b="0" i="0">
                          <a:solidFill>
                            <a:srgbClr val="0D0D0D"/>
                          </a:solidFill>
                          <a:latin typeface="Calibri"/>
                        </a:rPr>
                        <a:t>18,9x</a:t>
                      </a:r>
                    </a:p>
                  </a:txBody>
                  <a:tcPr>
                    <a:solidFill>
                      <a:srgbClr val="F7F8FA"/>
                    </a:solidFill>
                  </a:tcPr>
                </a:tc>
                <a:tc>
                  <a:txBody>
                    <a:bodyPr/>
                    <a:lstStyle/>
                    <a:p>
                      <a:pPr algn="ctr"/>
                      <a:r>
                        <a:rPr sz="750" b="0" i="0">
                          <a:solidFill>
                            <a:srgbClr val="0D0D0D"/>
                          </a:solidFill>
                          <a:latin typeface="Calibri"/>
                        </a:rPr>
                        <a:t>2,2x</a:t>
                      </a:r>
                    </a:p>
                  </a:txBody>
                  <a:tcPr>
                    <a:solidFill>
                      <a:srgbClr val="F7F8FA"/>
                    </a:solidFill>
                  </a:tcPr>
                </a:tc>
                <a:tc>
                  <a:txBody>
                    <a:bodyPr/>
                    <a:lstStyle/>
                    <a:p>
                      <a:pPr algn="ctr"/>
                      <a:r>
                        <a:rPr sz="750" b="0" i="0">
                          <a:solidFill>
                            <a:srgbClr val="0D0D0D"/>
                          </a:solidFill>
                          <a:latin typeface="Calibri"/>
                        </a:rPr>
                        <a:t>—</a:t>
                      </a:r>
                    </a:p>
                  </a:txBody>
                  <a:tcPr>
                    <a:solidFill>
                      <a:srgbClr val="F7F8FA"/>
                    </a:solidFill>
                  </a:tcPr>
                </a:tc>
              </a:tr>
              <a:tr h="360000">
                <a:tc>
                  <a:txBody>
                    <a:bodyPr/>
                    <a:lstStyle/>
                    <a:p>
                      <a:pPr algn="l"/>
                      <a:r>
                        <a:rPr sz="750" b="0" i="0">
                          <a:solidFill>
                            <a:srgbClr val="0D0D0D"/>
                          </a:solidFill>
                          <a:latin typeface="Calibri"/>
                        </a:rPr>
                        <a:t>FCF Yield</a:t>
                      </a:r>
                    </a:p>
                  </a:txBody>
                  <a:tcPr>
                    <a:solidFill>
                      <a:srgbClr val="FFFFFF"/>
                    </a:solidFill>
                  </a:tcPr>
                </a:tc>
                <a:tc>
                  <a:txBody>
                    <a:bodyPr/>
                    <a:lstStyle/>
                    <a:p>
                      <a:pPr algn="ctr"/>
                      <a:r>
                        <a:rPr sz="750" b="0" i="0">
                          <a:solidFill>
                            <a:srgbClr val="0D0D0D"/>
                          </a:solidFill>
                          <a:latin typeface="Calibri"/>
                        </a:rPr>
                        <a:t>2,9 %</a:t>
                      </a:r>
                    </a:p>
                  </a:txBody>
                  <a:tcPr>
                    <a:solidFill>
                      <a:srgbClr val="FFFFFF"/>
                    </a:solidFill>
                  </a:tcPr>
                </a:tc>
                <a:tc>
                  <a:txBody>
                    <a:bodyPr/>
                    <a:lstStyle/>
                    <a:p>
                      <a:pPr algn="ctr"/>
                      <a:r>
                        <a:rPr sz="750" b="0" i="0">
                          <a:solidFill>
                            <a:srgbClr val="0D0D0D"/>
                          </a:solidFill>
                          <a:latin typeface="Calibri"/>
                        </a:rPr>
                        <a:t>2,6 %</a:t>
                      </a:r>
                    </a:p>
                  </a:txBody>
                  <a:tcPr>
                    <a:solidFill>
                      <a:srgbClr val="FFFFFF"/>
                    </a:solidFill>
                  </a:tcPr>
                </a:tc>
                <a:tc>
                  <a:txBody>
                    <a:bodyPr/>
                    <a:lstStyle/>
                    <a:p>
                      <a:pPr algn="ctr"/>
                      <a:r>
                        <a:rPr sz="750" b="0" i="0">
                          <a:solidFill>
                            <a:srgbClr val="0D0D0D"/>
                          </a:solidFill>
                          <a:latin typeface="Calibri"/>
                        </a:rPr>
                        <a:t>—</a:t>
                      </a:r>
                    </a:p>
                  </a:txBody>
                  <a:tcPr>
                    <a:solidFill>
                      <a:srgbClr val="FFFFFF"/>
                    </a:solidFill>
                  </a:tcPr>
                </a:tc>
              </a:tr>
              <a:tr h="360000">
                <a:tc>
                  <a:txBody>
                    <a:bodyPr/>
                    <a:lstStyle/>
                    <a:p>
                      <a:pPr algn="l"/>
                      <a:r>
                        <a:rPr sz="750" b="0" i="0">
                          <a:solidFill>
                            <a:srgbClr val="0D0D0D"/>
                          </a:solidFill>
                          <a:latin typeface="Calibri"/>
                        </a:rPr>
                        <a:t>Div. Yield</a:t>
                      </a:r>
                    </a:p>
                  </a:txBody>
                  <a:tcPr>
                    <a:solidFill>
                      <a:srgbClr val="F7F8FA"/>
                    </a:solidFill>
                  </a:tcPr>
                </a:tc>
                <a:tc>
                  <a:txBody>
                    <a:bodyPr/>
                    <a:lstStyle/>
                    <a:p>
                      <a:pPr algn="ctr"/>
                      <a:r>
                        <a:rPr sz="750" b="0" i="0">
                          <a:solidFill>
                            <a:srgbClr val="0D0D0D"/>
                          </a:solidFill>
                          <a:latin typeface="Calibri"/>
                        </a:rPr>
                        <a:t>0,4 %</a:t>
                      </a:r>
                    </a:p>
                  </a:txBody>
                  <a:tcPr>
                    <a:solidFill>
                      <a:srgbClr val="F7F8FA"/>
                    </a:solidFill>
                  </a:tcPr>
                </a:tc>
                <a:tc>
                  <a:txBody>
                    <a:bodyPr/>
                    <a:lstStyle/>
                    <a:p>
                      <a:pPr algn="ctr"/>
                      <a:r>
                        <a:rPr sz="750" b="0" i="0">
                          <a:solidFill>
                            <a:srgbClr val="0D0D0D"/>
                          </a:solidFill>
                          <a:latin typeface="Calibri"/>
                        </a:rPr>
                        <a:t>0,9 %</a:t>
                      </a:r>
                    </a:p>
                  </a:txBody>
                  <a:tcPr>
                    <a:solidFill>
                      <a:srgbClr val="F7F8FA"/>
                    </a:solidFill>
                  </a:tcPr>
                </a:tc>
                <a:tc>
                  <a:txBody>
                    <a:bodyPr/>
                    <a:lstStyle/>
                    <a:p>
                      <a:pPr algn="ctr"/>
                      <a:r>
                        <a:rPr sz="750" b="0" i="0">
                          <a:solidFill>
                            <a:srgbClr val="0D0D0D"/>
                          </a:solidFill>
                          <a:latin typeface="Calibri"/>
                        </a:rPr>
                        <a:t>—</a:t>
                      </a:r>
                    </a:p>
                  </a:txBody>
                  <a:tcPr>
                    <a:solidFill>
                      <a:srgbClr val="F7F8FA"/>
                    </a:solidFill>
                  </a:tcPr>
                </a:tc>
              </a:tr>
            </a:tbl>
          </a:graphicData>
        </a:graphic>
      </p:graphicFrame>
      <p:pic>
        <p:nvPicPr>
          <p:cNvPr id="27" name="Picture 26" descr="image.png"/>
          <p:cNvPicPr>
            <a:picLocks noChangeAspect="1"/>
          </p:cNvPicPr>
          <p:nvPr/>
        </p:nvPicPr>
        <p:blipFill>
          <a:blip r:embed="rId2"/>
          <a:stretch>
            <a:fillRect/>
          </a:stretch>
        </p:blipFill>
        <p:spPr>
          <a:xfrm>
            <a:off x="4248000" y="2520262"/>
            <a:ext cx="4536000" cy="165547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DCF &amp; Prix Cibles Compares</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10" name="Rectangle 9"/>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6" name="Rectangle 15"/>
          <p:cNvSpPr/>
          <p:nvPr/>
        </p:nvSpPr>
        <p:spPr>
          <a:xfrm>
            <a:off x="367200" y="622800"/>
            <a:ext cx="4118400" cy="201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22800"/>
            <a:ext cx="64800" cy="20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640800"/>
            <a:ext cx="3960000" cy="165600"/>
          </a:xfrm>
          <a:prstGeom prst="rect">
            <a:avLst/>
          </a:prstGeom>
          <a:noFill/>
        </p:spPr>
        <p:txBody>
          <a:bodyPr wrap="none">
            <a:spAutoFit/>
          </a:bodyPr>
          <a:lstStyle/>
          <a:p>
            <a:pPr algn="l"/>
            <a:r>
              <a:rPr sz="850" b="1" i="0">
                <a:solidFill>
                  <a:srgbClr val="1B3A6B"/>
                </a:solidFill>
                <a:latin typeface="Calibri"/>
              </a:rPr>
              <a:t>Apple Inc. (AAPL)</a:t>
            </a:r>
          </a:p>
        </p:txBody>
      </p:sp>
      <p:sp>
        <p:nvSpPr>
          <p:cNvPr id="19" name="Rectangle 18"/>
          <p:cNvSpPr/>
          <p:nvPr/>
        </p:nvSpPr>
        <p:spPr>
          <a:xfrm>
            <a:off x="4658400" y="622800"/>
            <a:ext cx="4118400" cy="2016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58400" y="622800"/>
            <a:ext cx="64800" cy="2016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7200" y="640800"/>
            <a:ext cx="3960000" cy="165600"/>
          </a:xfrm>
          <a:prstGeom prst="rect">
            <a:avLst/>
          </a:prstGeom>
          <a:noFill/>
        </p:spPr>
        <p:txBody>
          <a:bodyPr wrap="none">
            <a:spAutoFit/>
          </a:bodyPr>
          <a:lstStyle/>
          <a:p>
            <a:pPr algn="l"/>
            <a:r>
              <a:rPr sz="850" b="1" i="0">
                <a:solidFill>
                  <a:srgbClr val="1A7A4A"/>
                </a:solidFill>
                <a:latin typeface="Calibri"/>
              </a:rPr>
              <a:t>Microsoft Corporation (MSFT)</a:t>
            </a:r>
          </a:p>
        </p:txBody>
      </p:sp>
      <p:sp>
        <p:nvSpPr>
          <p:cNvPr id="22" name="TextBox 21"/>
          <p:cNvSpPr txBox="1"/>
          <p:nvPr/>
        </p:nvSpPr>
        <p:spPr>
          <a:xfrm>
            <a:off x="367200" y="756000"/>
            <a:ext cx="8413200" cy="144000"/>
          </a:xfrm>
          <a:prstGeom prst="rect">
            <a:avLst/>
          </a:prstGeom>
          <a:noFill/>
        </p:spPr>
        <p:txBody>
          <a:bodyPr wrap="square">
            <a:spAutoFit/>
          </a:bodyPr>
          <a:lstStyle/>
          <a:p>
            <a:pPr algn="l"/>
            <a:r>
              <a:rPr sz="1000" b="1" i="1">
                <a:solidFill>
                  <a:srgbClr val="2E5FA3"/>
                </a:solidFill>
                <a:latin typeface="Calibri"/>
              </a:rPr>
              <a:t>MSFT offre le meilleur upside DCF base : +59% vs cours actuel</a:t>
            </a:r>
          </a:p>
        </p:txBody>
      </p:sp>
      <p:sp>
        <p:nvSpPr>
          <p:cNvPr id="23" name="Rectangle 22"/>
          <p:cNvSpPr/>
          <p:nvPr/>
        </p:nvSpPr>
        <p:spPr>
          <a:xfrm>
            <a:off x="367200" y="928800"/>
            <a:ext cx="4118400" cy="2376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7200" y="928800"/>
            <a:ext cx="46800" cy="237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8000" y="964800"/>
            <a:ext cx="3960000" cy="201600"/>
          </a:xfrm>
          <a:prstGeom prst="rect">
            <a:avLst/>
          </a:prstGeom>
          <a:noFill/>
        </p:spPr>
        <p:txBody>
          <a:bodyPr wrap="square">
            <a:spAutoFit/>
          </a:bodyPr>
          <a:lstStyle/>
          <a:p>
            <a:pPr algn="l"/>
            <a:r>
              <a:rPr sz="950" b="1" i="0">
                <a:solidFill>
                  <a:srgbClr val="2E5FA3"/>
                </a:solidFill>
                <a:latin typeface="Calibri"/>
              </a:rPr>
              <a:t>DCF — AAPL</a:t>
            </a:r>
          </a:p>
        </p:txBody>
      </p:sp>
      <p:sp>
        <p:nvSpPr>
          <p:cNvPr id="26" name="Rectangle 25"/>
          <p:cNvSpPr/>
          <p:nvPr/>
        </p:nvSpPr>
        <p:spPr>
          <a:xfrm>
            <a:off x="439200" y="11988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6000" y="1220400"/>
            <a:ext cx="2160000" cy="144000"/>
          </a:xfrm>
          <a:prstGeom prst="rect">
            <a:avLst/>
          </a:prstGeom>
          <a:noFill/>
        </p:spPr>
        <p:txBody>
          <a:bodyPr wrap="square">
            <a:spAutoFit/>
          </a:bodyPr>
          <a:lstStyle/>
          <a:p>
            <a:pPr algn="l"/>
            <a:r>
              <a:rPr sz="800" b="0" i="1">
                <a:solidFill>
                  <a:srgbClr val="555555"/>
                </a:solidFill>
                <a:latin typeface="Calibri"/>
              </a:rPr>
              <a:t>Cours actuel</a:t>
            </a:r>
          </a:p>
        </p:txBody>
      </p:sp>
      <p:sp>
        <p:nvSpPr>
          <p:cNvPr id="28" name="TextBox 27"/>
          <p:cNvSpPr txBox="1"/>
          <p:nvPr/>
        </p:nvSpPr>
        <p:spPr>
          <a:xfrm>
            <a:off x="2700000" y="1220400"/>
            <a:ext cx="1655999" cy="144000"/>
          </a:xfrm>
          <a:prstGeom prst="rect">
            <a:avLst/>
          </a:prstGeom>
          <a:noFill/>
        </p:spPr>
        <p:txBody>
          <a:bodyPr wrap="square">
            <a:spAutoFit/>
          </a:bodyPr>
          <a:lstStyle/>
          <a:p>
            <a:pPr algn="r"/>
            <a:r>
              <a:rPr sz="850" b="0" i="0">
                <a:solidFill>
                  <a:srgbClr val="0D0D0D"/>
                </a:solidFill>
                <a:latin typeface="Calibri"/>
              </a:rPr>
              <a:t>261,7 $</a:t>
            </a:r>
          </a:p>
        </p:txBody>
      </p:sp>
      <p:sp>
        <p:nvSpPr>
          <p:cNvPr id="29" name="Rectangle 28"/>
          <p:cNvSpPr/>
          <p:nvPr/>
        </p:nvSpPr>
        <p:spPr>
          <a:xfrm>
            <a:off x="439200" y="1389600"/>
            <a:ext cx="3974399" cy="180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6000" y="1411200"/>
            <a:ext cx="2160000" cy="144000"/>
          </a:xfrm>
          <a:prstGeom prst="rect">
            <a:avLst/>
          </a:prstGeom>
          <a:noFill/>
        </p:spPr>
        <p:txBody>
          <a:bodyPr wrap="square">
            <a:spAutoFit/>
          </a:bodyPr>
          <a:lstStyle/>
          <a:p>
            <a:pPr algn="l"/>
            <a:r>
              <a:rPr sz="800" b="0" i="1">
                <a:solidFill>
                  <a:srgbClr val="555555"/>
                </a:solidFill>
                <a:latin typeface="Calibri"/>
              </a:rPr>
              <a:t>Cible Bear</a:t>
            </a:r>
          </a:p>
        </p:txBody>
      </p:sp>
      <p:sp>
        <p:nvSpPr>
          <p:cNvPr id="31" name="TextBox 30"/>
          <p:cNvSpPr txBox="1"/>
          <p:nvPr/>
        </p:nvSpPr>
        <p:spPr>
          <a:xfrm>
            <a:off x="2700000" y="1411200"/>
            <a:ext cx="1655999" cy="144000"/>
          </a:xfrm>
          <a:prstGeom prst="rect">
            <a:avLst/>
          </a:prstGeom>
          <a:noFill/>
        </p:spPr>
        <p:txBody>
          <a:bodyPr wrap="square">
            <a:spAutoFit/>
          </a:bodyPr>
          <a:lstStyle/>
          <a:p>
            <a:pPr algn="r"/>
            <a:r>
              <a:rPr sz="850" b="0" i="0">
                <a:solidFill>
                  <a:srgbClr val="0D0D0D"/>
                </a:solidFill>
                <a:latin typeface="Calibri"/>
              </a:rPr>
              <a:t>252 $</a:t>
            </a:r>
          </a:p>
        </p:txBody>
      </p:sp>
      <p:sp>
        <p:nvSpPr>
          <p:cNvPr id="32" name="Rectangle 31"/>
          <p:cNvSpPr/>
          <p:nvPr/>
        </p:nvSpPr>
        <p:spPr>
          <a:xfrm>
            <a:off x="439200" y="15804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86000" y="1602000"/>
            <a:ext cx="2160000" cy="144000"/>
          </a:xfrm>
          <a:prstGeom prst="rect">
            <a:avLst/>
          </a:prstGeom>
          <a:noFill/>
        </p:spPr>
        <p:txBody>
          <a:bodyPr wrap="square">
            <a:spAutoFit/>
          </a:bodyPr>
          <a:lstStyle/>
          <a:p>
            <a:pPr algn="l"/>
            <a:r>
              <a:rPr sz="800" b="0" i="1">
                <a:solidFill>
                  <a:srgbClr val="555555"/>
                </a:solidFill>
                <a:latin typeface="Calibri"/>
              </a:rPr>
              <a:t>Cible Base</a:t>
            </a:r>
          </a:p>
        </p:txBody>
      </p:sp>
      <p:sp>
        <p:nvSpPr>
          <p:cNvPr id="34" name="TextBox 33"/>
          <p:cNvSpPr txBox="1"/>
          <p:nvPr/>
        </p:nvSpPr>
        <p:spPr>
          <a:xfrm>
            <a:off x="2700000" y="1602000"/>
            <a:ext cx="1655999" cy="144000"/>
          </a:xfrm>
          <a:prstGeom prst="rect">
            <a:avLst/>
          </a:prstGeom>
          <a:noFill/>
        </p:spPr>
        <p:txBody>
          <a:bodyPr wrap="square">
            <a:spAutoFit/>
          </a:bodyPr>
          <a:lstStyle/>
          <a:p>
            <a:pPr algn="r"/>
            <a:r>
              <a:rPr sz="850" b="0" i="0">
                <a:solidFill>
                  <a:srgbClr val="0D0D0D"/>
                </a:solidFill>
                <a:latin typeface="Calibri"/>
              </a:rPr>
              <a:t>296 $</a:t>
            </a:r>
          </a:p>
        </p:txBody>
      </p:sp>
      <p:sp>
        <p:nvSpPr>
          <p:cNvPr id="35" name="Rectangle 34"/>
          <p:cNvSpPr/>
          <p:nvPr/>
        </p:nvSpPr>
        <p:spPr>
          <a:xfrm>
            <a:off x="439200" y="1771200"/>
            <a:ext cx="3974399" cy="180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6000" y="1792799"/>
            <a:ext cx="2160000" cy="144000"/>
          </a:xfrm>
          <a:prstGeom prst="rect">
            <a:avLst/>
          </a:prstGeom>
          <a:noFill/>
        </p:spPr>
        <p:txBody>
          <a:bodyPr wrap="square">
            <a:spAutoFit/>
          </a:bodyPr>
          <a:lstStyle/>
          <a:p>
            <a:pPr algn="l"/>
            <a:r>
              <a:rPr sz="800" b="0" i="1">
                <a:solidFill>
                  <a:srgbClr val="555555"/>
                </a:solidFill>
                <a:latin typeface="Calibri"/>
              </a:rPr>
              <a:t>Cible Bull</a:t>
            </a:r>
          </a:p>
        </p:txBody>
      </p:sp>
      <p:sp>
        <p:nvSpPr>
          <p:cNvPr id="37" name="TextBox 36"/>
          <p:cNvSpPr txBox="1"/>
          <p:nvPr/>
        </p:nvSpPr>
        <p:spPr>
          <a:xfrm>
            <a:off x="2700000" y="1792799"/>
            <a:ext cx="1655999" cy="144000"/>
          </a:xfrm>
          <a:prstGeom prst="rect">
            <a:avLst/>
          </a:prstGeom>
          <a:noFill/>
        </p:spPr>
        <p:txBody>
          <a:bodyPr wrap="square">
            <a:spAutoFit/>
          </a:bodyPr>
          <a:lstStyle/>
          <a:p>
            <a:pPr algn="r"/>
            <a:r>
              <a:rPr sz="850" b="0" i="0">
                <a:solidFill>
                  <a:srgbClr val="0D0D0D"/>
                </a:solidFill>
                <a:latin typeface="Calibri"/>
              </a:rPr>
              <a:t>341 $</a:t>
            </a:r>
          </a:p>
        </p:txBody>
      </p:sp>
      <p:sp>
        <p:nvSpPr>
          <p:cNvPr id="38" name="Rectangle 37"/>
          <p:cNvSpPr/>
          <p:nvPr/>
        </p:nvSpPr>
        <p:spPr>
          <a:xfrm>
            <a:off x="439200" y="19620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86000" y="1983600"/>
            <a:ext cx="2160000" cy="144000"/>
          </a:xfrm>
          <a:prstGeom prst="rect">
            <a:avLst/>
          </a:prstGeom>
          <a:noFill/>
        </p:spPr>
        <p:txBody>
          <a:bodyPr wrap="square">
            <a:spAutoFit/>
          </a:bodyPr>
          <a:lstStyle/>
          <a:p>
            <a:pPr algn="l"/>
            <a:r>
              <a:rPr sz="800" b="0" i="1">
                <a:solidFill>
                  <a:srgbClr val="555555"/>
                </a:solidFill>
                <a:latin typeface="Calibri"/>
              </a:rPr>
              <a:t>Upside Base</a:t>
            </a:r>
          </a:p>
        </p:txBody>
      </p:sp>
      <p:sp>
        <p:nvSpPr>
          <p:cNvPr id="40" name="TextBox 39"/>
          <p:cNvSpPr txBox="1"/>
          <p:nvPr/>
        </p:nvSpPr>
        <p:spPr>
          <a:xfrm>
            <a:off x="2700000" y="1983600"/>
            <a:ext cx="1655999" cy="144000"/>
          </a:xfrm>
          <a:prstGeom prst="rect">
            <a:avLst/>
          </a:prstGeom>
          <a:noFill/>
        </p:spPr>
        <p:txBody>
          <a:bodyPr wrap="square">
            <a:spAutoFit/>
          </a:bodyPr>
          <a:lstStyle/>
          <a:p>
            <a:pPr algn="r"/>
            <a:r>
              <a:rPr sz="850" b="0" i="0">
                <a:solidFill>
                  <a:srgbClr val="0D0D0D"/>
                </a:solidFill>
                <a:latin typeface="Calibri"/>
              </a:rPr>
              <a:t>+13,2 %</a:t>
            </a:r>
          </a:p>
        </p:txBody>
      </p:sp>
      <p:sp>
        <p:nvSpPr>
          <p:cNvPr id="41" name="Rectangle 40"/>
          <p:cNvSpPr/>
          <p:nvPr/>
        </p:nvSpPr>
        <p:spPr>
          <a:xfrm>
            <a:off x="439200" y="2152800"/>
            <a:ext cx="3974399" cy="180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6000" y="2174400"/>
            <a:ext cx="2160000" cy="144000"/>
          </a:xfrm>
          <a:prstGeom prst="rect">
            <a:avLst/>
          </a:prstGeom>
          <a:noFill/>
        </p:spPr>
        <p:txBody>
          <a:bodyPr wrap="square">
            <a:spAutoFit/>
          </a:bodyPr>
          <a:lstStyle/>
          <a:p>
            <a:pPr algn="l"/>
            <a:r>
              <a:rPr sz="800" b="0" i="1">
                <a:solidFill>
                  <a:srgbClr val="555555"/>
                </a:solidFill>
                <a:latin typeface="Calibri"/>
              </a:rPr>
              <a:t>Marge Securite</a:t>
            </a:r>
          </a:p>
        </p:txBody>
      </p:sp>
      <p:sp>
        <p:nvSpPr>
          <p:cNvPr id="43" name="TextBox 42"/>
          <p:cNvSpPr txBox="1"/>
          <p:nvPr/>
        </p:nvSpPr>
        <p:spPr>
          <a:xfrm>
            <a:off x="2700000" y="2174400"/>
            <a:ext cx="1655999" cy="144000"/>
          </a:xfrm>
          <a:prstGeom prst="rect">
            <a:avLst/>
          </a:prstGeom>
          <a:noFill/>
        </p:spPr>
        <p:txBody>
          <a:bodyPr wrap="square">
            <a:spAutoFit/>
          </a:bodyPr>
          <a:lstStyle/>
          <a:p>
            <a:pPr algn="r"/>
            <a:r>
              <a:rPr sz="850" b="0" i="0">
                <a:solidFill>
                  <a:srgbClr val="0D0D0D"/>
                </a:solidFill>
                <a:latin typeface="Calibri"/>
              </a:rPr>
              <a:t>11,6 %</a:t>
            </a:r>
          </a:p>
        </p:txBody>
      </p:sp>
      <p:sp>
        <p:nvSpPr>
          <p:cNvPr id="44" name="Rectangle 43"/>
          <p:cNvSpPr/>
          <p:nvPr/>
        </p:nvSpPr>
        <p:spPr>
          <a:xfrm>
            <a:off x="439200" y="23436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 y="2365200"/>
            <a:ext cx="2160000" cy="144000"/>
          </a:xfrm>
          <a:prstGeom prst="rect">
            <a:avLst/>
          </a:prstGeom>
          <a:noFill/>
        </p:spPr>
        <p:txBody>
          <a:bodyPr wrap="square">
            <a:spAutoFit/>
          </a:bodyPr>
          <a:lstStyle/>
          <a:p>
            <a:pPr algn="l"/>
            <a:r>
              <a:rPr sz="800" b="0" i="1">
                <a:solidFill>
                  <a:srgbClr val="555555"/>
                </a:solidFill>
                <a:latin typeface="Calibri"/>
              </a:rPr>
              <a:t>WACC</a:t>
            </a:r>
          </a:p>
        </p:txBody>
      </p:sp>
      <p:sp>
        <p:nvSpPr>
          <p:cNvPr id="46" name="TextBox 45"/>
          <p:cNvSpPr txBox="1"/>
          <p:nvPr/>
        </p:nvSpPr>
        <p:spPr>
          <a:xfrm>
            <a:off x="2700000" y="2365200"/>
            <a:ext cx="1655999" cy="144000"/>
          </a:xfrm>
          <a:prstGeom prst="rect">
            <a:avLst/>
          </a:prstGeom>
          <a:noFill/>
        </p:spPr>
        <p:txBody>
          <a:bodyPr wrap="square">
            <a:spAutoFit/>
          </a:bodyPr>
          <a:lstStyle/>
          <a:p>
            <a:pPr algn="r"/>
            <a:r>
              <a:rPr sz="850" b="0" i="0">
                <a:solidFill>
                  <a:srgbClr val="0D0D0D"/>
                </a:solidFill>
                <a:latin typeface="Calibri"/>
              </a:rPr>
              <a:t>10,3 %</a:t>
            </a:r>
          </a:p>
        </p:txBody>
      </p:sp>
      <p:sp>
        <p:nvSpPr>
          <p:cNvPr id="47" name="Rectangle 46"/>
          <p:cNvSpPr/>
          <p:nvPr/>
        </p:nvSpPr>
        <p:spPr>
          <a:xfrm>
            <a:off x="439200" y="2534400"/>
            <a:ext cx="3974399" cy="180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86000" y="2556000"/>
            <a:ext cx="2160000" cy="144000"/>
          </a:xfrm>
          <a:prstGeom prst="rect">
            <a:avLst/>
          </a:prstGeom>
          <a:noFill/>
        </p:spPr>
        <p:txBody>
          <a:bodyPr wrap="square">
            <a:spAutoFit/>
          </a:bodyPr>
          <a:lstStyle/>
          <a:p>
            <a:pPr algn="l"/>
            <a:r>
              <a:rPr sz="800" b="0" i="1">
                <a:solidFill>
                  <a:srgbClr val="555555"/>
                </a:solidFill>
                <a:latin typeface="Calibri"/>
              </a:rPr>
              <a:t>TGR</a:t>
            </a:r>
          </a:p>
        </p:txBody>
      </p:sp>
      <p:sp>
        <p:nvSpPr>
          <p:cNvPr id="49" name="TextBox 48"/>
          <p:cNvSpPr txBox="1"/>
          <p:nvPr/>
        </p:nvSpPr>
        <p:spPr>
          <a:xfrm>
            <a:off x="2700000" y="2556000"/>
            <a:ext cx="1655999" cy="144000"/>
          </a:xfrm>
          <a:prstGeom prst="rect">
            <a:avLst/>
          </a:prstGeom>
          <a:noFill/>
        </p:spPr>
        <p:txBody>
          <a:bodyPr wrap="square">
            <a:spAutoFit/>
          </a:bodyPr>
          <a:lstStyle/>
          <a:p>
            <a:pPr algn="r"/>
            <a:r>
              <a:rPr sz="850" b="0" i="0">
                <a:solidFill>
                  <a:srgbClr val="0D0D0D"/>
                </a:solidFill>
                <a:latin typeface="Calibri"/>
              </a:rPr>
              <a:t>3,0 %</a:t>
            </a:r>
          </a:p>
        </p:txBody>
      </p:sp>
      <p:sp>
        <p:nvSpPr>
          <p:cNvPr id="50" name="Rectangle 49"/>
          <p:cNvSpPr/>
          <p:nvPr/>
        </p:nvSpPr>
        <p:spPr>
          <a:xfrm>
            <a:off x="439200" y="27252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86000" y="2746800"/>
            <a:ext cx="2160000" cy="144000"/>
          </a:xfrm>
          <a:prstGeom prst="rect">
            <a:avLst/>
          </a:prstGeom>
          <a:noFill/>
        </p:spPr>
        <p:txBody>
          <a:bodyPr wrap="square">
            <a:spAutoFit/>
          </a:bodyPr>
          <a:lstStyle/>
          <a:p>
            <a:pPr algn="l"/>
            <a:r>
              <a:rPr sz="800" b="0" i="1">
                <a:solidFill>
                  <a:srgbClr val="555555"/>
                </a:solidFill>
                <a:latin typeface="Calibri"/>
              </a:rPr>
              <a:t>MC P10</a:t>
            </a:r>
          </a:p>
        </p:txBody>
      </p:sp>
      <p:sp>
        <p:nvSpPr>
          <p:cNvPr id="52" name="TextBox 51"/>
          <p:cNvSpPr txBox="1"/>
          <p:nvPr/>
        </p:nvSpPr>
        <p:spPr>
          <a:xfrm>
            <a:off x="2700000" y="2746800"/>
            <a:ext cx="1655999" cy="144000"/>
          </a:xfrm>
          <a:prstGeom prst="rect">
            <a:avLst/>
          </a:prstGeom>
          <a:noFill/>
        </p:spPr>
        <p:txBody>
          <a:bodyPr wrap="square">
            <a:spAutoFit/>
          </a:bodyPr>
          <a:lstStyle/>
          <a:p>
            <a:pPr algn="r"/>
            <a:r>
              <a:rPr sz="850" b="0" i="0">
                <a:solidFill>
                  <a:srgbClr val="0D0D0D"/>
                </a:solidFill>
                <a:latin typeface="Calibri"/>
              </a:rPr>
              <a:t>218 $</a:t>
            </a:r>
          </a:p>
        </p:txBody>
      </p:sp>
      <p:sp>
        <p:nvSpPr>
          <p:cNvPr id="53" name="Rectangle 52"/>
          <p:cNvSpPr/>
          <p:nvPr/>
        </p:nvSpPr>
        <p:spPr>
          <a:xfrm>
            <a:off x="439200" y="2916000"/>
            <a:ext cx="3974399" cy="180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86000" y="2937600"/>
            <a:ext cx="2160000" cy="144000"/>
          </a:xfrm>
          <a:prstGeom prst="rect">
            <a:avLst/>
          </a:prstGeom>
          <a:noFill/>
        </p:spPr>
        <p:txBody>
          <a:bodyPr wrap="square">
            <a:spAutoFit/>
          </a:bodyPr>
          <a:lstStyle/>
          <a:p>
            <a:pPr algn="l"/>
            <a:r>
              <a:rPr sz="800" b="0" i="1">
                <a:solidFill>
                  <a:srgbClr val="555555"/>
                </a:solidFill>
                <a:latin typeface="Calibri"/>
              </a:rPr>
              <a:t>MC P50</a:t>
            </a:r>
          </a:p>
        </p:txBody>
      </p:sp>
      <p:sp>
        <p:nvSpPr>
          <p:cNvPr id="55" name="TextBox 54"/>
          <p:cNvSpPr txBox="1"/>
          <p:nvPr/>
        </p:nvSpPr>
        <p:spPr>
          <a:xfrm>
            <a:off x="2700000" y="2937600"/>
            <a:ext cx="1655999" cy="144000"/>
          </a:xfrm>
          <a:prstGeom prst="rect">
            <a:avLst/>
          </a:prstGeom>
          <a:noFill/>
        </p:spPr>
        <p:txBody>
          <a:bodyPr wrap="square">
            <a:spAutoFit/>
          </a:bodyPr>
          <a:lstStyle/>
          <a:p>
            <a:pPr algn="r"/>
            <a:r>
              <a:rPr sz="850" b="0" i="0">
                <a:solidFill>
                  <a:srgbClr val="0D0D0D"/>
                </a:solidFill>
                <a:latin typeface="Calibri"/>
              </a:rPr>
              <a:t>314 $</a:t>
            </a:r>
          </a:p>
        </p:txBody>
      </p:sp>
      <p:sp>
        <p:nvSpPr>
          <p:cNvPr id="56" name="Rectangle 55"/>
          <p:cNvSpPr/>
          <p:nvPr/>
        </p:nvSpPr>
        <p:spPr>
          <a:xfrm>
            <a:off x="439200" y="31068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86000" y="3128400"/>
            <a:ext cx="2160000" cy="144000"/>
          </a:xfrm>
          <a:prstGeom prst="rect">
            <a:avLst/>
          </a:prstGeom>
          <a:noFill/>
        </p:spPr>
        <p:txBody>
          <a:bodyPr wrap="square">
            <a:spAutoFit/>
          </a:bodyPr>
          <a:lstStyle/>
          <a:p>
            <a:pPr algn="l"/>
            <a:r>
              <a:rPr sz="800" b="0" i="1">
                <a:solidFill>
                  <a:srgbClr val="555555"/>
                </a:solidFill>
                <a:latin typeface="Calibri"/>
              </a:rPr>
              <a:t>MC P90</a:t>
            </a:r>
          </a:p>
        </p:txBody>
      </p:sp>
      <p:sp>
        <p:nvSpPr>
          <p:cNvPr id="58" name="TextBox 57"/>
          <p:cNvSpPr txBox="1"/>
          <p:nvPr/>
        </p:nvSpPr>
        <p:spPr>
          <a:xfrm>
            <a:off x="2700000" y="3128400"/>
            <a:ext cx="1655999" cy="144000"/>
          </a:xfrm>
          <a:prstGeom prst="rect">
            <a:avLst/>
          </a:prstGeom>
          <a:noFill/>
        </p:spPr>
        <p:txBody>
          <a:bodyPr wrap="square">
            <a:spAutoFit/>
          </a:bodyPr>
          <a:lstStyle/>
          <a:p>
            <a:pPr algn="r"/>
            <a:r>
              <a:rPr sz="850" b="0" i="0">
                <a:solidFill>
                  <a:srgbClr val="0D0D0D"/>
                </a:solidFill>
                <a:latin typeface="Calibri"/>
              </a:rPr>
              <a:t>453 $</a:t>
            </a:r>
          </a:p>
        </p:txBody>
      </p:sp>
      <p:sp>
        <p:nvSpPr>
          <p:cNvPr id="59" name="Rectangle 58"/>
          <p:cNvSpPr/>
          <p:nvPr/>
        </p:nvSpPr>
        <p:spPr>
          <a:xfrm>
            <a:off x="4658400" y="928800"/>
            <a:ext cx="4118400" cy="2376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658400" y="928800"/>
            <a:ext cx="46800" cy="2376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759200" y="964800"/>
            <a:ext cx="3960000" cy="201600"/>
          </a:xfrm>
          <a:prstGeom prst="rect">
            <a:avLst/>
          </a:prstGeom>
          <a:noFill/>
        </p:spPr>
        <p:txBody>
          <a:bodyPr wrap="square">
            <a:spAutoFit/>
          </a:bodyPr>
          <a:lstStyle/>
          <a:p>
            <a:pPr algn="l"/>
            <a:r>
              <a:rPr sz="950" b="1" i="0">
                <a:solidFill>
                  <a:srgbClr val="1A7A4A"/>
                </a:solidFill>
                <a:latin typeface="Calibri"/>
              </a:rPr>
              <a:t>DCF — MSFT</a:t>
            </a:r>
          </a:p>
        </p:txBody>
      </p:sp>
      <p:sp>
        <p:nvSpPr>
          <p:cNvPr id="62" name="Rectangle 61"/>
          <p:cNvSpPr/>
          <p:nvPr/>
        </p:nvSpPr>
        <p:spPr>
          <a:xfrm>
            <a:off x="4730400" y="11988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777200" y="1220400"/>
            <a:ext cx="2160000" cy="144000"/>
          </a:xfrm>
          <a:prstGeom prst="rect">
            <a:avLst/>
          </a:prstGeom>
          <a:noFill/>
        </p:spPr>
        <p:txBody>
          <a:bodyPr wrap="square">
            <a:spAutoFit/>
          </a:bodyPr>
          <a:lstStyle/>
          <a:p>
            <a:pPr algn="l"/>
            <a:r>
              <a:rPr sz="800" b="0" i="1">
                <a:solidFill>
                  <a:srgbClr val="555555"/>
                </a:solidFill>
                <a:latin typeface="Calibri"/>
              </a:rPr>
              <a:t>Cours actuel</a:t>
            </a:r>
          </a:p>
        </p:txBody>
      </p:sp>
      <p:sp>
        <p:nvSpPr>
          <p:cNvPr id="64" name="TextBox 63"/>
          <p:cNvSpPr txBox="1"/>
          <p:nvPr/>
        </p:nvSpPr>
        <p:spPr>
          <a:xfrm>
            <a:off x="6983999" y="1220400"/>
            <a:ext cx="1584000" cy="144000"/>
          </a:xfrm>
          <a:prstGeom prst="rect">
            <a:avLst/>
          </a:prstGeom>
          <a:noFill/>
        </p:spPr>
        <p:txBody>
          <a:bodyPr wrap="square">
            <a:spAutoFit/>
          </a:bodyPr>
          <a:lstStyle/>
          <a:p>
            <a:pPr algn="r"/>
            <a:r>
              <a:rPr sz="850" b="0" i="0">
                <a:solidFill>
                  <a:srgbClr val="0D0D0D"/>
                </a:solidFill>
                <a:latin typeface="Calibri"/>
              </a:rPr>
              <a:t>370,4 $</a:t>
            </a:r>
          </a:p>
        </p:txBody>
      </p:sp>
      <p:sp>
        <p:nvSpPr>
          <p:cNvPr id="65" name="Rectangle 64"/>
          <p:cNvSpPr/>
          <p:nvPr/>
        </p:nvSpPr>
        <p:spPr>
          <a:xfrm>
            <a:off x="4730400" y="1389600"/>
            <a:ext cx="3974399" cy="180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777200" y="1411200"/>
            <a:ext cx="2160000" cy="144000"/>
          </a:xfrm>
          <a:prstGeom prst="rect">
            <a:avLst/>
          </a:prstGeom>
          <a:noFill/>
        </p:spPr>
        <p:txBody>
          <a:bodyPr wrap="square">
            <a:spAutoFit/>
          </a:bodyPr>
          <a:lstStyle/>
          <a:p>
            <a:pPr algn="l"/>
            <a:r>
              <a:rPr sz="800" b="0" i="1">
                <a:solidFill>
                  <a:srgbClr val="555555"/>
                </a:solidFill>
                <a:latin typeface="Calibri"/>
              </a:rPr>
              <a:t>Cible Bear</a:t>
            </a:r>
          </a:p>
        </p:txBody>
      </p:sp>
      <p:sp>
        <p:nvSpPr>
          <p:cNvPr id="67" name="TextBox 66"/>
          <p:cNvSpPr txBox="1"/>
          <p:nvPr/>
        </p:nvSpPr>
        <p:spPr>
          <a:xfrm>
            <a:off x="6983999" y="1411200"/>
            <a:ext cx="1584000" cy="144000"/>
          </a:xfrm>
          <a:prstGeom prst="rect">
            <a:avLst/>
          </a:prstGeom>
          <a:noFill/>
        </p:spPr>
        <p:txBody>
          <a:bodyPr wrap="square">
            <a:spAutoFit/>
          </a:bodyPr>
          <a:lstStyle/>
          <a:p>
            <a:pPr algn="r"/>
            <a:r>
              <a:rPr sz="850" b="0" i="0">
                <a:solidFill>
                  <a:srgbClr val="0D0D0D"/>
                </a:solidFill>
                <a:latin typeface="Calibri"/>
              </a:rPr>
              <a:t>499 $</a:t>
            </a:r>
          </a:p>
        </p:txBody>
      </p:sp>
      <p:sp>
        <p:nvSpPr>
          <p:cNvPr id="68" name="Rectangle 67"/>
          <p:cNvSpPr/>
          <p:nvPr/>
        </p:nvSpPr>
        <p:spPr>
          <a:xfrm>
            <a:off x="4730400" y="15804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777200" y="1602000"/>
            <a:ext cx="2160000" cy="144000"/>
          </a:xfrm>
          <a:prstGeom prst="rect">
            <a:avLst/>
          </a:prstGeom>
          <a:noFill/>
        </p:spPr>
        <p:txBody>
          <a:bodyPr wrap="square">
            <a:spAutoFit/>
          </a:bodyPr>
          <a:lstStyle/>
          <a:p>
            <a:pPr algn="l"/>
            <a:r>
              <a:rPr sz="800" b="0" i="1">
                <a:solidFill>
                  <a:srgbClr val="555555"/>
                </a:solidFill>
                <a:latin typeface="Calibri"/>
              </a:rPr>
              <a:t>Cible Base</a:t>
            </a:r>
          </a:p>
        </p:txBody>
      </p:sp>
      <p:sp>
        <p:nvSpPr>
          <p:cNvPr id="70" name="TextBox 69"/>
          <p:cNvSpPr txBox="1"/>
          <p:nvPr/>
        </p:nvSpPr>
        <p:spPr>
          <a:xfrm>
            <a:off x="6983999" y="1602000"/>
            <a:ext cx="1584000" cy="144000"/>
          </a:xfrm>
          <a:prstGeom prst="rect">
            <a:avLst/>
          </a:prstGeom>
          <a:noFill/>
        </p:spPr>
        <p:txBody>
          <a:bodyPr wrap="square">
            <a:spAutoFit/>
          </a:bodyPr>
          <a:lstStyle/>
          <a:p>
            <a:pPr algn="r"/>
            <a:r>
              <a:rPr sz="850" b="0" i="0">
                <a:solidFill>
                  <a:srgbClr val="0D0D0D"/>
                </a:solidFill>
                <a:latin typeface="Calibri"/>
              </a:rPr>
              <a:t>587 $</a:t>
            </a:r>
          </a:p>
        </p:txBody>
      </p:sp>
      <p:sp>
        <p:nvSpPr>
          <p:cNvPr id="71" name="Rectangle 70"/>
          <p:cNvSpPr/>
          <p:nvPr/>
        </p:nvSpPr>
        <p:spPr>
          <a:xfrm>
            <a:off x="4730400" y="1771200"/>
            <a:ext cx="3974399" cy="180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777200" y="1792799"/>
            <a:ext cx="2160000" cy="144000"/>
          </a:xfrm>
          <a:prstGeom prst="rect">
            <a:avLst/>
          </a:prstGeom>
          <a:noFill/>
        </p:spPr>
        <p:txBody>
          <a:bodyPr wrap="square">
            <a:spAutoFit/>
          </a:bodyPr>
          <a:lstStyle/>
          <a:p>
            <a:pPr algn="l"/>
            <a:r>
              <a:rPr sz="800" b="0" i="1">
                <a:solidFill>
                  <a:srgbClr val="555555"/>
                </a:solidFill>
                <a:latin typeface="Calibri"/>
              </a:rPr>
              <a:t>Cible Bull</a:t>
            </a:r>
          </a:p>
        </p:txBody>
      </p:sp>
      <p:sp>
        <p:nvSpPr>
          <p:cNvPr id="73" name="TextBox 72"/>
          <p:cNvSpPr txBox="1"/>
          <p:nvPr/>
        </p:nvSpPr>
        <p:spPr>
          <a:xfrm>
            <a:off x="6983999" y="1792799"/>
            <a:ext cx="1584000" cy="144000"/>
          </a:xfrm>
          <a:prstGeom prst="rect">
            <a:avLst/>
          </a:prstGeom>
          <a:noFill/>
        </p:spPr>
        <p:txBody>
          <a:bodyPr wrap="square">
            <a:spAutoFit/>
          </a:bodyPr>
          <a:lstStyle/>
          <a:p>
            <a:pPr algn="r"/>
            <a:r>
              <a:rPr sz="850" b="0" i="0">
                <a:solidFill>
                  <a:srgbClr val="0D0D0D"/>
                </a:solidFill>
                <a:latin typeface="Calibri"/>
              </a:rPr>
              <a:t>675 $</a:t>
            </a:r>
          </a:p>
        </p:txBody>
      </p:sp>
      <p:sp>
        <p:nvSpPr>
          <p:cNvPr id="74" name="Rectangle 73"/>
          <p:cNvSpPr/>
          <p:nvPr/>
        </p:nvSpPr>
        <p:spPr>
          <a:xfrm>
            <a:off x="4730400" y="19620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777200" y="1983600"/>
            <a:ext cx="2160000" cy="144000"/>
          </a:xfrm>
          <a:prstGeom prst="rect">
            <a:avLst/>
          </a:prstGeom>
          <a:noFill/>
        </p:spPr>
        <p:txBody>
          <a:bodyPr wrap="square">
            <a:spAutoFit/>
          </a:bodyPr>
          <a:lstStyle/>
          <a:p>
            <a:pPr algn="l"/>
            <a:r>
              <a:rPr sz="800" b="0" i="1">
                <a:solidFill>
                  <a:srgbClr val="555555"/>
                </a:solidFill>
                <a:latin typeface="Calibri"/>
              </a:rPr>
              <a:t>Upside Base</a:t>
            </a:r>
          </a:p>
        </p:txBody>
      </p:sp>
      <p:sp>
        <p:nvSpPr>
          <p:cNvPr id="76" name="TextBox 75"/>
          <p:cNvSpPr txBox="1"/>
          <p:nvPr/>
        </p:nvSpPr>
        <p:spPr>
          <a:xfrm>
            <a:off x="6983999" y="1983600"/>
            <a:ext cx="1584000" cy="144000"/>
          </a:xfrm>
          <a:prstGeom prst="rect">
            <a:avLst/>
          </a:prstGeom>
          <a:noFill/>
        </p:spPr>
        <p:txBody>
          <a:bodyPr wrap="square">
            <a:spAutoFit/>
          </a:bodyPr>
          <a:lstStyle/>
          <a:p>
            <a:pPr algn="r"/>
            <a:r>
              <a:rPr sz="850" b="0" i="0">
                <a:solidFill>
                  <a:srgbClr val="0D0D0D"/>
                </a:solidFill>
                <a:latin typeface="Calibri"/>
              </a:rPr>
              <a:t>+58,6 %</a:t>
            </a:r>
          </a:p>
        </p:txBody>
      </p:sp>
      <p:sp>
        <p:nvSpPr>
          <p:cNvPr id="77" name="Rectangle 76"/>
          <p:cNvSpPr/>
          <p:nvPr/>
        </p:nvSpPr>
        <p:spPr>
          <a:xfrm>
            <a:off x="4730400" y="2152800"/>
            <a:ext cx="3974399" cy="180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777200" y="2174400"/>
            <a:ext cx="2160000" cy="144000"/>
          </a:xfrm>
          <a:prstGeom prst="rect">
            <a:avLst/>
          </a:prstGeom>
          <a:noFill/>
        </p:spPr>
        <p:txBody>
          <a:bodyPr wrap="square">
            <a:spAutoFit/>
          </a:bodyPr>
          <a:lstStyle/>
          <a:p>
            <a:pPr algn="l"/>
            <a:r>
              <a:rPr sz="800" b="0" i="1">
                <a:solidFill>
                  <a:srgbClr val="555555"/>
                </a:solidFill>
                <a:latin typeface="Calibri"/>
              </a:rPr>
              <a:t>Marge Securite</a:t>
            </a:r>
          </a:p>
        </p:txBody>
      </p:sp>
      <p:sp>
        <p:nvSpPr>
          <p:cNvPr id="79" name="TextBox 78"/>
          <p:cNvSpPr txBox="1"/>
          <p:nvPr/>
        </p:nvSpPr>
        <p:spPr>
          <a:xfrm>
            <a:off x="6983999" y="2174400"/>
            <a:ext cx="1584000" cy="144000"/>
          </a:xfrm>
          <a:prstGeom prst="rect">
            <a:avLst/>
          </a:prstGeom>
          <a:noFill/>
        </p:spPr>
        <p:txBody>
          <a:bodyPr wrap="square">
            <a:spAutoFit/>
          </a:bodyPr>
          <a:lstStyle/>
          <a:p>
            <a:pPr algn="r"/>
            <a:r>
              <a:rPr sz="850" b="0" i="0">
                <a:solidFill>
                  <a:srgbClr val="0D0D0D"/>
                </a:solidFill>
                <a:latin typeface="Calibri"/>
              </a:rPr>
              <a:t>36,9 %</a:t>
            </a:r>
          </a:p>
        </p:txBody>
      </p:sp>
      <p:sp>
        <p:nvSpPr>
          <p:cNvPr id="80" name="Rectangle 79"/>
          <p:cNvSpPr/>
          <p:nvPr/>
        </p:nvSpPr>
        <p:spPr>
          <a:xfrm>
            <a:off x="4730400" y="23436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777200" y="2365200"/>
            <a:ext cx="2160000" cy="144000"/>
          </a:xfrm>
          <a:prstGeom prst="rect">
            <a:avLst/>
          </a:prstGeom>
          <a:noFill/>
        </p:spPr>
        <p:txBody>
          <a:bodyPr wrap="square">
            <a:spAutoFit/>
          </a:bodyPr>
          <a:lstStyle/>
          <a:p>
            <a:pPr algn="l"/>
            <a:r>
              <a:rPr sz="800" b="0" i="1">
                <a:solidFill>
                  <a:srgbClr val="555555"/>
                </a:solidFill>
                <a:latin typeface="Calibri"/>
              </a:rPr>
              <a:t>WACC</a:t>
            </a:r>
          </a:p>
        </p:txBody>
      </p:sp>
      <p:sp>
        <p:nvSpPr>
          <p:cNvPr id="82" name="TextBox 81"/>
          <p:cNvSpPr txBox="1"/>
          <p:nvPr/>
        </p:nvSpPr>
        <p:spPr>
          <a:xfrm>
            <a:off x="6983999" y="2365200"/>
            <a:ext cx="1584000" cy="144000"/>
          </a:xfrm>
          <a:prstGeom prst="rect">
            <a:avLst/>
          </a:prstGeom>
          <a:noFill/>
        </p:spPr>
        <p:txBody>
          <a:bodyPr wrap="square">
            <a:spAutoFit/>
          </a:bodyPr>
          <a:lstStyle/>
          <a:p>
            <a:pPr algn="r"/>
            <a:r>
              <a:rPr sz="850" b="0" i="0">
                <a:solidFill>
                  <a:srgbClr val="0D0D0D"/>
                </a:solidFill>
                <a:latin typeface="Calibri"/>
              </a:rPr>
              <a:t>10,3 %</a:t>
            </a:r>
          </a:p>
        </p:txBody>
      </p:sp>
      <p:sp>
        <p:nvSpPr>
          <p:cNvPr id="83" name="Rectangle 82"/>
          <p:cNvSpPr/>
          <p:nvPr/>
        </p:nvSpPr>
        <p:spPr>
          <a:xfrm>
            <a:off x="4730400" y="2534400"/>
            <a:ext cx="3974399" cy="180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4777200" y="2556000"/>
            <a:ext cx="2160000" cy="144000"/>
          </a:xfrm>
          <a:prstGeom prst="rect">
            <a:avLst/>
          </a:prstGeom>
          <a:noFill/>
        </p:spPr>
        <p:txBody>
          <a:bodyPr wrap="square">
            <a:spAutoFit/>
          </a:bodyPr>
          <a:lstStyle/>
          <a:p>
            <a:pPr algn="l"/>
            <a:r>
              <a:rPr sz="800" b="0" i="1">
                <a:solidFill>
                  <a:srgbClr val="555555"/>
                </a:solidFill>
                <a:latin typeface="Calibri"/>
              </a:rPr>
              <a:t>TGR</a:t>
            </a:r>
          </a:p>
        </p:txBody>
      </p:sp>
      <p:sp>
        <p:nvSpPr>
          <p:cNvPr id="85" name="TextBox 84"/>
          <p:cNvSpPr txBox="1"/>
          <p:nvPr/>
        </p:nvSpPr>
        <p:spPr>
          <a:xfrm>
            <a:off x="6983999" y="2556000"/>
            <a:ext cx="1584000" cy="144000"/>
          </a:xfrm>
          <a:prstGeom prst="rect">
            <a:avLst/>
          </a:prstGeom>
          <a:noFill/>
        </p:spPr>
        <p:txBody>
          <a:bodyPr wrap="square">
            <a:spAutoFit/>
          </a:bodyPr>
          <a:lstStyle/>
          <a:p>
            <a:pPr algn="r"/>
            <a:r>
              <a:rPr sz="850" b="0" i="0">
                <a:solidFill>
                  <a:srgbClr val="0D0D0D"/>
                </a:solidFill>
                <a:latin typeface="Calibri"/>
              </a:rPr>
              <a:t>3,0 %</a:t>
            </a:r>
          </a:p>
        </p:txBody>
      </p:sp>
      <p:sp>
        <p:nvSpPr>
          <p:cNvPr id="86" name="Rectangle 85"/>
          <p:cNvSpPr/>
          <p:nvPr/>
        </p:nvSpPr>
        <p:spPr>
          <a:xfrm>
            <a:off x="4730400" y="27252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4777200" y="2746800"/>
            <a:ext cx="2160000" cy="144000"/>
          </a:xfrm>
          <a:prstGeom prst="rect">
            <a:avLst/>
          </a:prstGeom>
          <a:noFill/>
        </p:spPr>
        <p:txBody>
          <a:bodyPr wrap="square">
            <a:spAutoFit/>
          </a:bodyPr>
          <a:lstStyle/>
          <a:p>
            <a:pPr algn="l"/>
            <a:r>
              <a:rPr sz="800" b="0" i="1">
                <a:solidFill>
                  <a:srgbClr val="555555"/>
                </a:solidFill>
                <a:latin typeface="Calibri"/>
              </a:rPr>
              <a:t>MC P10</a:t>
            </a:r>
          </a:p>
        </p:txBody>
      </p:sp>
      <p:sp>
        <p:nvSpPr>
          <p:cNvPr id="88" name="TextBox 87"/>
          <p:cNvSpPr txBox="1"/>
          <p:nvPr/>
        </p:nvSpPr>
        <p:spPr>
          <a:xfrm>
            <a:off x="6983999" y="2746800"/>
            <a:ext cx="1584000" cy="144000"/>
          </a:xfrm>
          <a:prstGeom prst="rect">
            <a:avLst/>
          </a:prstGeom>
          <a:noFill/>
        </p:spPr>
        <p:txBody>
          <a:bodyPr wrap="square">
            <a:spAutoFit/>
          </a:bodyPr>
          <a:lstStyle/>
          <a:p>
            <a:pPr algn="r"/>
            <a:r>
              <a:rPr sz="850" b="0" i="0">
                <a:solidFill>
                  <a:srgbClr val="0D0D0D"/>
                </a:solidFill>
                <a:latin typeface="Calibri"/>
              </a:rPr>
              <a:t>247 $</a:t>
            </a:r>
          </a:p>
        </p:txBody>
      </p:sp>
      <p:sp>
        <p:nvSpPr>
          <p:cNvPr id="89" name="Rectangle 88"/>
          <p:cNvSpPr/>
          <p:nvPr/>
        </p:nvSpPr>
        <p:spPr>
          <a:xfrm>
            <a:off x="4730400" y="2916000"/>
            <a:ext cx="3974399" cy="180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4777200" y="2937600"/>
            <a:ext cx="2160000" cy="144000"/>
          </a:xfrm>
          <a:prstGeom prst="rect">
            <a:avLst/>
          </a:prstGeom>
          <a:noFill/>
        </p:spPr>
        <p:txBody>
          <a:bodyPr wrap="square">
            <a:spAutoFit/>
          </a:bodyPr>
          <a:lstStyle/>
          <a:p>
            <a:pPr algn="l"/>
            <a:r>
              <a:rPr sz="800" b="0" i="1">
                <a:solidFill>
                  <a:srgbClr val="555555"/>
                </a:solidFill>
                <a:latin typeface="Calibri"/>
              </a:rPr>
              <a:t>MC P50</a:t>
            </a:r>
          </a:p>
        </p:txBody>
      </p:sp>
      <p:sp>
        <p:nvSpPr>
          <p:cNvPr id="91" name="TextBox 90"/>
          <p:cNvSpPr txBox="1"/>
          <p:nvPr/>
        </p:nvSpPr>
        <p:spPr>
          <a:xfrm>
            <a:off x="6983999" y="2937600"/>
            <a:ext cx="1584000" cy="144000"/>
          </a:xfrm>
          <a:prstGeom prst="rect">
            <a:avLst/>
          </a:prstGeom>
          <a:noFill/>
        </p:spPr>
        <p:txBody>
          <a:bodyPr wrap="square">
            <a:spAutoFit/>
          </a:bodyPr>
          <a:lstStyle/>
          <a:p>
            <a:pPr algn="r"/>
            <a:r>
              <a:rPr sz="850" b="0" i="0">
                <a:solidFill>
                  <a:srgbClr val="0D0D0D"/>
                </a:solidFill>
                <a:latin typeface="Calibri"/>
              </a:rPr>
              <a:t>338 $</a:t>
            </a:r>
          </a:p>
        </p:txBody>
      </p:sp>
      <p:sp>
        <p:nvSpPr>
          <p:cNvPr id="92" name="Rectangle 91"/>
          <p:cNvSpPr/>
          <p:nvPr/>
        </p:nvSpPr>
        <p:spPr>
          <a:xfrm>
            <a:off x="4730400" y="3106800"/>
            <a:ext cx="3974399" cy="18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4777200" y="3128400"/>
            <a:ext cx="2160000" cy="144000"/>
          </a:xfrm>
          <a:prstGeom prst="rect">
            <a:avLst/>
          </a:prstGeom>
          <a:noFill/>
        </p:spPr>
        <p:txBody>
          <a:bodyPr wrap="square">
            <a:spAutoFit/>
          </a:bodyPr>
          <a:lstStyle/>
          <a:p>
            <a:pPr algn="l"/>
            <a:r>
              <a:rPr sz="800" b="0" i="1">
                <a:solidFill>
                  <a:srgbClr val="555555"/>
                </a:solidFill>
                <a:latin typeface="Calibri"/>
              </a:rPr>
              <a:t>MC P90</a:t>
            </a:r>
          </a:p>
        </p:txBody>
      </p:sp>
      <p:sp>
        <p:nvSpPr>
          <p:cNvPr id="94" name="TextBox 93"/>
          <p:cNvSpPr txBox="1"/>
          <p:nvPr/>
        </p:nvSpPr>
        <p:spPr>
          <a:xfrm>
            <a:off x="6983999" y="3128400"/>
            <a:ext cx="1584000" cy="144000"/>
          </a:xfrm>
          <a:prstGeom prst="rect">
            <a:avLst/>
          </a:prstGeom>
          <a:noFill/>
        </p:spPr>
        <p:txBody>
          <a:bodyPr wrap="square">
            <a:spAutoFit/>
          </a:bodyPr>
          <a:lstStyle/>
          <a:p>
            <a:pPr algn="r"/>
            <a:r>
              <a:rPr sz="850" b="0" i="0">
                <a:solidFill>
                  <a:srgbClr val="0D0D0D"/>
                </a:solidFill>
                <a:latin typeface="Calibri"/>
              </a:rPr>
              <a:t>462 $</a:t>
            </a:r>
          </a:p>
        </p:txBody>
      </p:sp>
      <p:sp>
        <p:nvSpPr>
          <p:cNvPr id="95" name="Rectangle 94"/>
          <p:cNvSpPr/>
          <p:nvPr/>
        </p:nvSpPr>
        <p:spPr>
          <a:xfrm>
            <a:off x="367200" y="3376799"/>
            <a:ext cx="4118400" cy="251999"/>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413999" y="3412799"/>
            <a:ext cx="4031999" cy="180000"/>
          </a:xfrm>
          <a:prstGeom prst="rect">
            <a:avLst/>
          </a:prstGeom>
          <a:noFill/>
        </p:spPr>
        <p:txBody>
          <a:bodyPr wrap="square">
            <a:spAutoFit/>
          </a:bodyPr>
          <a:lstStyle/>
          <a:p>
            <a:pPr algn="ctr"/>
            <a:r>
              <a:rPr sz="850" b="1" i="0">
                <a:solidFill>
                  <a:srgbClr val="1A7A4A"/>
                </a:solidFill>
                <a:latin typeface="Calibri"/>
              </a:rPr>
              <a:t>Zone d'achat : Cours &lt; DCF base</a:t>
            </a:r>
          </a:p>
        </p:txBody>
      </p:sp>
      <p:sp>
        <p:nvSpPr>
          <p:cNvPr id="97" name="Rectangle 96"/>
          <p:cNvSpPr/>
          <p:nvPr/>
        </p:nvSpPr>
        <p:spPr>
          <a:xfrm>
            <a:off x="4658400" y="3376799"/>
            <a:ext cx="4118400" cy="251999"/>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4705200" y="3412799"/>
            <a:ext cx="4031999" cy="180000"/>
          </a:xfrm>
          <a:prstGeom prst="rect">
            <a:avLst/>
          </a:prstGeom>
          <a:noFill/>
        </p:spPr>
        <p:txBody>
          <a:bodyPr wrap="square">
            <a:spAutoFit/>
          </a:bodyPr>
          <a:lstStyle/>
          <a:p>
            <a:pPr algn="ctr"/>
            <a:r>
              <a:rPr sz="850" b="1" i="0">
                <a:solidFill>
                  <a:srgbClr val="1A7A4A"/>
                </a:solidFill>
                <a:latin typeface="Calibri"/>
              </a:rPr>
              <a:t>Zone d'achat : Cours &lt; DCF base</a:t>
            </a:r>
          </a:p>
        </p:txBody>
      </p:sp>
      <p:sp>
        <p:nvSpPr>
          <p:cNvPr id="99" name="Rectangle 98"/>
          <p:cNvSpPr/>
          <p:nvPr/>
        </p:nvSpPr>
        <p:spPr>
          <a:xfrm>
            <a:off x="367200" y="3718799"/>
            <a:ext cx="8413200" cy="864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367200" y="3718799"/>
            <a:ext cx="46800" cy="86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486000" y="3761999"/>
            <a:ext cx="8208000" cy="774000"/>
          </a:xfrm>
          <a:prstGeom prst="rect">
            <a:avLst/>
          </a:prstGeom>
          <a:noFill/>
        </p:spPr>
        <p:txBody>
          <a:bodyPr wrap="square">
            <a:spAutoFit/>
          </a:bodyPr>
          <a:lstStyle/>
          <a:p>
            <a:pPr algn="l"/>
            <a:r>
              <a:rPr sz="800" b="0" i="0">
                <a:solidFill>
                  <a:srgbClr val="2E5FA3"/>
                </a:solidFill>
                <a:latin typeface="Calibri"/>
              </a:rPr>
              <a:t>Methodologie : la fourchette Bear/Base/Bull reflete trois hypotheses de croissance appliquees au modele DCF a 5 ans. Le scenario Base correspond au consensus actuel ; Bear integre un ralentissement de -30 %% sur la croissance; Bull extrapole une acceleration. La Marge de Securite mesure l'ecart cours/valeur intrinseque Base : plus elle est elevee, plus le coussin de protection est important. WACC et TGR sont les parametres les plus sensibles : +1pt de TGR peut faire varier la valorisation de 15 a 20 %%.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GBM Monte Carlo &amp; Upside Relatif</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10" name="Rectangle 9"/>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6" name="Rectangle 15"/>
          <p:cNvSpPr/>
          <p:nvPr/>
        </p:nvSpPr>
        <p:spPr>
          <a:xfrm>
            <a:off x="367200" y="622800"/>
            <a:ext cx="4118400" cy="201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22800"/>
            <a:ext cx="64800" cy="20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640800"/>
            <a:ext cx="3960000" cy="165600"/>
          </a:xfrm>
          <a:prstGeom prst="rect">
            <a:avLst/>
          </a:prstGeom>
          <a:noFill/>
        </p:spPr>
        <p:txBody>
          <a:bodyPr wrap="none">
            <a:spAutoFit/>
          </a:bodyPr>
          <a:lstStyle/>
          <a:p>
            <a:pPr algn="l"/>
            <a:r>
              <a:rPr sz="850" b="1" i="0">
                <a:solidFill>
                  <a:srgbClr val="1B3A6B"/>
                </a:solidFill>
                <a:latin typeface="Calibri"/>
              </a:rPr>
              <a:t>Apple Inc. (AAPL)</a:t>
            </a:r>
          </a:p>
        </p:txBody>
      </p:sp>
      <p:sp>
        <p:nvSpPr>
          <p:cNvPr id="19" name="Rectangle 18"/>
          <p:cNvSpPr/>
          <p:nvPr/>
        </p:nvSpPr>
        <p:spPr>
          <a:xfrm>
            <a:off x="4658400" y="622800"/>
            <a:ext cx="4118400" cy="2016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58400" y="622800"/>
            <a:ext cx="64800" cy="2016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7200" y="640800"/>
            <a:ext cx="3960000" cy="165600"/>
          </a:xfrm>
          <a:prstGeom prst="rect">
            <a:avLst/>
          </a:prstGeom>
          <a:noFill/>
        </p:spPr>
        <p:txBody>
          <a:bodyPr wrap="none">
            <a:spAutoFit/>
          </a:bodyPr>
          <a:lstStyle/>
          <a:p>
            <a:pPr algn="l"/>
            <a:r>
              <a:rPr sz="850" b="1" i="0">
                <a:solidFill>
                  <a:srgbClr val="1A7A4A"/>
                </a:solidFill>
                <a:latin typeface="Calibri"/>
              </a:rPr>
              <a:t>Microsoft Corporation (MSFT)</a:t>
            </a:r>
          </a:p>
        </p:txBody>
      </p:sp>
      <p:sp>
        <p:nvSpPr>
          <p:cNvPr id="22" name="TextBox 21"/>
          <p:cNvSpPr txBox="1"/>
          <p:nvPr/>
        </p:nvSpPr>
        <p:spPr>
          <a:xfrm>
            <a:off x="367200" y="756000"/>
            <a:ext cx="8413200" cy="144000"/>
          </a:xfrm>
          <a:prstGeom prst="rect">
            <a:avLst/>
          </a:prstGeom>
          <a:noFill/>
        </p:spPr>
        <p:txBody>
          <a:bodyPr wrap="square">
            <a:spAutoFit/>
          </a:bodyPr>
          <a:lstStyle/>
          <a:p>
            <a:pPr algn="l"/>
            <a:r>
              <a:rPr sz="1000" b="1" i="1">
                <a:solidFill>
                  <a:srgbClr val="2E5FA3"/>
                </a:solidFill>
                <a:latin typeface="Calibri"/>
              </a:rPr>
              <a:t>AAPL presente le meilleur upside probabiliste P50 (+20%)</a:t>
            </a:r>
          </a:p>
        </p:txBody>
      </p:sp>
      <p:sp>
        <p:nvSpPr>
          <p:cNvPr id="23" name="Rectangle 22"/>
          <p:cNvSpPr/>
          <p:nvPr/>
        </p:nvSpPr>
        <p:spPr>
          <a:xfrm>
            <a:off x="367200" y="928800"/>
            <a:ext cx="8413200" cy="972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7200" y="928800"/>
            <a:ext cx="46800" cy="972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3999" y="972000"/>
            <a:ext cx="8208000" cy="151200"/>
          </a:xfrm>
          <a:prstGeom prst="rect">
            <a:avLst/>
          </a:prstGeom>
          <a:noFill/>
        </p:spPr>
        <p:txBody>
          <a:bodyPr wrap="square">
            <a:spAutoFit/>
          </a:bodyPr>
          <a:lstStyle/>
          <a:p>
            <a:pPr algn="l"/>
            <a:r>
              <a:rPr sz="900" b="1" i="0">
                <a:solidFill>
                  <a:srgbClr val="1B3A6B"/>
                </a:solidFill>
                <a:latin typeface="Calibri"/>
              </a:rPr>
              <a:t>LECTURE MONTE CARLO &amp; FOOTBALL FIELD</a:t>
            </a:r>
          </a:p>
        </p:txBody>
      </p:sp>
      <p:sp>
        <p:nvSpPr>
          <p:cNvPr id="26" name="TextBox 25"/>
          <p:cNvSpPr txBox="1"/>
          <p:nvPr/>
        </p:nvSpPr>
        <p:spPr>
          <a:xfrm>
            <a:off x="503999" y="1137600"/>
            <a:ext cx="8208000" cy="702000"/>
          </a:xfrm>
          <a:prstGeom prst="rect">
            <a:avLst/>
          </a:prstGeom>
          <a:noFill/>
        </p:spPr>
        <p:txBody>
          <a:bodyPr wrap="square">
            <a:spAutoFit/>
          </a:bodyPr>
          <a:lstStyle/>
          <a:p>
            <a:pPr algn="l"/>
            <a:r>
              <a:rPr sz="850" b="0" i="0">
                <a:solidFill>
                  <a:srgbClr val="1B3A6B"/>
                </a:solidFill>
                <a:latin typeface="Calibri"/>
              </a:rPr>
              <a:t>Le modele DCF Bear/Base/Bull et la simulation GBM Monte Carlo donnent deux lectures complementaires de la valorisation. AAPL affiche un upside base de +13% vs +59% pour MSFT. Le football field ci-dessous visualise les fourchettes intrinseques de chaque titre : plus la bande est etendue, plus l'incertitude sur la valeur est elevee. La ligne pointillee indique le cours actuel ; si elle se situe sous la barre Base, le titre est dans une zone d'achat theorique. A croiser avec les hypotheses WACC/TGR (sensibilite des flux futurs) et la credibilite du scenario macro.</a:t>
            </a:r>
          </a:p>
        </p:txBody>
      </p:sp>
      <p:graphicFrame>
        <p:nvGraphicFramePr>
          <p:cNvPr id="27" name="Table 26"/>
          <p:cNvGraphicFramePr>
            <a:graphicFrameLocks noGrp="1"/>
          </p:cNvGraphicFramePr>
          <p:nvPr/>
        </p:nvGraphicFramePr>
        <p:xfrm>
          <a:off x="367200" y="2008800"/>
          <a:ext cx="3744000" cy="2635200"/>
        </p:xfrm>
        <a:graphic>
          <a:graphicData uri="http://schemas.openxmlformats.org/drawingml/2006/table">
            <a:tbl>
              <a:tblPr firstRow="1" bandRow="1">
                <a:tableStyleId>{5C22544A-7EE6-4342-B048-85BDC9FD1C3A}</a:tableStyleId>
              </a:tblPr>
              <a:tblGrid>
                <a:gridCol w="1497600"/>
                <a:gridCol w="1123200"/>
                <a:gridCol w="1123200"/>
              </a:tblGrid>
              <a:tr h="439200">
                <a:tc>
                  <a:txBody>
                    <a:bodyPr/>
                    <a:lstStyle/>
                    <a:p>
                      <a:pPr algn="l"/>
                      <a:r>
                        <a:rPr sz="750" b="1" i="0">
                          <a:solidFill>
                            <a:srgbClr val="FFFFFF"/>
                          </a:solidFill>
                          <a:latin typeface="Calibri"/>
                        </a:rPr>
                        <a:t>GBM Monte Carlo</a:t>
                      </a:r>
                    </a:p>
                  </a:txBody>
                  <a:tcPr>
                    <a:solidFill>
                      <a:srgbClr val="1B3A6B"/>
                    </a:solidFill>
                  </a:tcPr>
                </a:tc>
                <a:tc>
                  <a:txBody>
                    <a:bodyPr/>
                    <a:lstStyle/>
                    <a:p>
                      <a:pPr algn="ctr"/>
                      <a:r>
                        <a:rPr sz="750" b="1" i="0">
                          <a:solidFill>
                            <a:srgbClr val="FFFFFF"/>
                          </a:solidFill>
                          <a:latin typeface="Calibri"/>
                        </a:rPr>
                        <a:t>AAPL</a:t>
                      </a:r>
                    </a:p>
                  </a:txBody>
                  <a:tcPr>
                    <a:solidFill>
                      <a:srgbClr val="1B3A6B"/>
                    </a:solidFill>
                  </a:tcPr>
                </a:tc>
                <a:tc>
                  <a:txBody>
                    <a:bodyPr/>
                    <a:lstStyle/>
                    <a:p>
                      <a:pPr algn="ctr"/>
                      <a:r>
                        <a:rPr sz="750" b="1" i="0">
                          <a:solidFill>
                            <a:srgbClr val="FFFFFF"/>
                          </a:solidFill>
                          <a:latin typeface="Calibri"/>
                        </a:rPr>
                        <a:t>MSFT</a:t>
                      </a:r>
                    </a:p>
                  </a:txBody>
                  <a:tcPr>
                    <a:solidFill>
                      <a:srgbClr val="1B3A6B"/>
                    </a:solidFill>
                  </a:tcPr>
                </a:tc>
              </a:tr>
              <a:tr h="439200">
                <a:tc>
                  <a:txBody>
                    <a:bodyPr/>
                    <a:lstStyle/>
                    <a:p>
                      <a:pPr algn="l"/>
                      <a:r>
                        <a:rPr sz="750" b="0" i="0">
                          <a:solidFill>
                            <a:srgbClr val="0D0D0D"/>
                          </a:solidFill>
                          <a:latin typeface="Calibri"/>
                        </a:rPr>
                        <a:t>P10 (scen. pessimiste)</a:t>
                      </a:r>
                    </a:p>
                  </a:txBody>
                  <a:tcPr>
                    <a:solidFill>
                      <a:srgbClr val="FFFFFF"/>
                    </a:solidFill>
                  </a:tcPr>
                </a:tc>
                <a:tc>
                  <a:txBody>
                    <a:bodyPr/>
                    <a:lstStyle/>
                    <a:p>
                      <a:pPr algn="ctr"/>
                      <a:r>
                        <a:rPr sz="750" b="0" i="0">
                          <a:solidFill>
                            <a:srgbClr val="0D0D0D"/>
                          </a:solidFill>
                          <a:latin typeface="Calibri"/>
                        </a:rPr>
                        <a:t>218 $  (-16,8 %)</a:t>
                      </a:r>
                    </a:p>
                  </a:txBody>
                  <a:tcPr>
                    <a:solidFill>
                      <a:srgbClr val="FFFFFF"/>
                    </a:solidFill>
                  </a:tcPr>
                </a:tc>
                <a:tc>
                  <a:txBody>
                    <a:bodyPr/>
                    <a:lstStyle/>
                    <a:p>
                      <a:pPr algn="ctr"/>
                      <a:r>
                        <a:rPr sz="750" b="0" i="0">
                          <a:solidFill>
                            <a:srgbClr val="0D0D0D"/>
                          </a:solidFill>
                          <a:latin typeface="Calibri"/>
                        </a:rPr>
                        <a:t>247 $  (-33,4 %)</a:t>
                      </a:r>
                    </a:p>
                  </a:txBody>
                  <a:tcPr>
                    <a:solidFill>
                      <a:srgbClr val="FFFFFF"/>
                    </a:solidFill>
                  </a:tcPr>
                </a:tc>
              </a:tr>
              <a:tr h="439200">
                <a:tc>
                  <a:txBody>
                    <a:bodyPr/>
                    <a:lstStyle/>
                    <a:p>
                      <a:pPr algn="l"/>
                      <a:r>
                        <a:rPr sz="750" b="0" i="0">
                          <a:solidFill>
                            <a:srgbClr val="0D0D0D"/>
                          </a:solidFill>
                          <a:latin typeface="Calibri"/>
                        </a:rPr>
                        <a:t>P50 (median GBM)</a:t>
                      </a:r>
                    </a:p>
                  </a:txBody>
                  <a:tcPr>
                    <a:solidFill>
                      <a:srgbClr val="F7F8FA"/>
                    </a:solidFill>
                  </a:tcPr>
                </a:tc>
                <a:tc>
                  <a:txBody>
                    <a:bodyPr/>
                    <a:lstStyle/>
                    <a:p>
                      <a:pPr algn="ctr"/>
                      <a:r>
                        <a:rPr sz="750" b="0" i="0">
                          <a:solidFill>
                            <a:srgbClr val="0D0D0D"/>
                          </a:solidFill>
                          <a:latin typeface="Calibri"/>
                        </a:rPr>
                        <a:t>314 $  (+20,2 %)</a:t>
                      </a:r>
                    </a:p>
                  </a:txBody>
                  <a:tcPr>
                    <a:solidFill>
                      <a:srgbClr val="F7F8FA"/>
                    </a:solidFill>
                  </a:tcPr>
                </a:tc>
                <a:tc>
                  <a:txBody>
                    <a:bodyPr/>
                    <a:lstStyle/>
                    <a:p>
                      <a:pPr algn="ctr"/>
                      <a:r>
                        <a:rPr sz="750" b="0" i="0">
                          <a:solidFill>
                            <a:srgbClr val="0D0D0D"/>
                          </a:solidFill>
                          <a:latin typeface="Calibri"/>
                        </a:rPr>
                        <a:t>338 $  (-8,7 %)</a:t>
                      </a:r>
                    </a:p>
                  </a:txBody>
                  <a:tcPr>
                    <a:solidFill>
                      <a:srgbClr val="F7F8FA"/>
                    </a:solidFill>
                  </a:tcPr>
                </a:tc>
              </a:tr>
              <a:tr h="439200">
                <a:tc>
                  <a:txBody>
                    <a:bodyPr/>
                    <a:lstStyle/>
                    <a:p>
                      <a:pPr algn="l"/>
                      <a:r>
                        <a:rPr sz="750" b="0" i="0">
                          <a:solidFill>
                            <a:srgbClr val="0D0D0D"/>
                          </a:solidFill>
                          <a:latin typeface="Calibri"/>
                        </a:rPr>
                        <a:t>P90 (scen. optimiste)</a:t>
                      </a:r>
                    </a:p>
                  </a:txBody>
                  <a:tcPr>
                    <a:solidFill>
                      <a:srgbClr val="FFFFFF"/>
                    </a:solidFill>
                  </a:tcPr>
                </a:tc>
                <a:tc>
                  <a:txBody>
                    <a:bodyPr/>
                    <a:lstStyle/>
                    <a:p>
                      <a:pPr algn="ctr"/>
                      <a:r>
                        <a:rPr sz="750" b="0" i="0">
                          <a:solidFill>
                            <a:srgbClr val="0D0D0D"/>
                          </a:solidFill>
                          <a:latin typeface="Calibri"/>
                        </a:rPr>
                        <a:t>453 $  (+73,1 %)</a:t>
                      </a:r>
                    </a:p>
                  </a:txBody>
                  <a:tcPr>
                    <a:solidFill>
                      <a:srgbClr val="FFFFFF"/>
                    </a:solidFill>
                  </a:tcPr>
                </a:tc>
                <a:tc>
                  <a:txBody>
                    <a:bodyPr/>
                    <a:lstStyle/>
                    <a:p>
                      <a:pPr algn="ctr"/>
                      <a:r>
                        <a:rPr sz="750" b="0" i="0">
                          <a:solidFill>
                            <a:srgbClr val="0D0D0D"/>
                          </a:solidFill>
                          <a:latin typeface="Calibri"/>
                        </a:rPr>
                        <a:t>462 $  (+24,8 %)</a:t>
                      </a:r>
                    </a:p>
                  </a:txBody>
                  <a:tcPr>
                    <a:solidFill>
                      <a:srgbClr val="FFFFFF"/>
                    </a:solidFill>
                  </a:tcPr>
                </a:tc>
              </a:tr>
              <a:tr h="439200">
                <a:tc>
                  <a:txBody>
                    <a:bodyPr/>
                    <a:lstStyle/>
                    <a:p>
                      <a:pPr algn="l"/>
                      <a:r>
                        <a:rPr sz="750" b="0" i="0">
                          <a:solidFill>
                            <a:srgbClr val="0D0D0D"/>
                          </a:solidFill>
                          <a:latin typeface="Calibri"/>
                        </a:rPr>
                        <a:t>Sigma (vol. ann.)</a:t>
                      </a:r>
                    </a:p>
                  </a:txBody>
                  <a:tcPr>
                    <a:solidFill>
                      <a:srgbClr val="F7F8FA"/>
                    </a:solidFill>
                  </a:tcPr>
                </a:tc>
                <a:tc>
                  <a:txBody>
                    <a:bodyPr/>
                    <a:lstStyle/>
                    <a:p>
                      <a:pPr algn="ctr"/>
                      <a:r>
                        <a:rPr sz="750" b="0" i="0">
                          <a:solidFill>
                            <a:srgbClr val="0D0D0D"/>
                          </a:solidFill>
                          <a:latin typeface="Calibri"/>
                        </a:rPr>
                        <a:t>28,2 %</a:t>
                      </a:r>
                    </a:p>
                  </a:txBody>
                  <a:tcPr>
                    <a:solidFill>
                      <a:srgbClr val="F7F8FA"/>
                    </a:solidFill>
                  </a:tcPr>
                </a:tc>
                <a:tc>
                  <a:txBody>
                    <a:bodyPr/>
                    <a:lstStyle/>
                    <a:p>
                      <a:pPr algn="ctr"/>
                      <a:r>
                        <a:rPr sz="750" b="0" i="0">
                          <a:solidFill>
                            <a:srgbClr val="0D0D0D"/>
                          </a:solidFill>
                          <a:latin typeface="Calibri"/>
                        </a:rPr>
                        <a:t>24,2 %</a:t>
                      </a:r>
                    </a:p>
                  </a:txBody>
                  <a:tcPr>
                    <a:solidFill>
                      <a:srgbClr val="F7F8FA"/>
                    </a:solidFill>
                  </a:tcPr>
                </a:tc>
              </a:tr>
              <a:tr h="439200">
                <a:tc>
                  <a:txBody>
                    <a:bodyPr/>
                    <a:lstStyle/>
                    <a:p>
                      <a:pPr algn="l"/>
                      <a:r>
                        <a:rPr sz="750" b="0" i="0">
                          <a:solidFill>
                            <a:srgbClr val="0D0D0D"/>
                          </a:solidFill>
                          <a:latin typeface="Calibri"/>
                        </a:rPr>
                        <a:t>Cours actuel S0</a:t>
                      </a:r>
                    </a:p>
                  </a:txBody>
                  <a:tcPr>
                    <a:solidFill>
                      <a:srgbClr val="FFFFFF"/>
                    </a:solidFill>
                  </a:tcPr>
                </a:tc>
                <a:tc>
                  <a:txBody>
                    <a:bodyPr/>
                    <a:lstStyle/>
                    <a:p>
                      <a:pPr algn="ctr"/>
                      <a:r>
                        <a:rPr sz="750" b="0" i="0">
                          <a:solidFill>
                            <a:srgbClr val="0D0D0D"/>
                          </a:solidFill>
                          <a:latin typeface="Calibri"/>
                        </a:rPr>
                        <a:t>261,68 $</a:t>
                      </a:r>
                    </a:p>
                  </a:txBody>
                  <a:tcPr>
                    <a:solidFill>
                      <a:srgbClr val="FFFFFF"/>
                    </a:solidFill>
                  </a:tcPr>
                </a:tc>
                <a:tc>
                  <a:txBody>
                    <a:bodyPr/>
                    <a:lstStyle/>
                    <a:p>
                      <a:pPr algn="ctr"/>
                      <a:r>
                        <a:rPr sz="750" b="0" i="0">
                          <a:solidFill>
                            <a:srgbClr val="0D0D0D"/>
                          </a:solidFill>
                          <a:latin typeface="Calibri"/>
                        </a:rPr>
                        <a:t>370,40 $</a:t>
                      </a:r>
                    </a:p>
                  </a:txBody>
                  <a:tcPr>
                    <a:solidFill>
                      <a:srgbClr val="FFFFFF"/>
                    </a:solidFill>
                  </a:tcPr>
                </a:tc>
              </a:tr>
            </a:tbl>
          </a:graphicData>
        </a:graphic>
      </p:graphicFrame>
      <p:pic>
        <p:nvPicPr>
          <p:cNvPr id="28" name="Picture 27" descr="image.png"/>
          <p:cNvPicPr>
            <a:picLocks noChangeAspect="1"/>
          </p:cNvPicPr>
          <p:nvPr/>
        </p:nvPicPr>
        <p:blipFill>
          <a:blip r:embed="rId2"/>
          <a:stretch>
            <a:fillRect/>
          </a:stretch>
        </p:blipFill>
        <p:spPr>
          <a:xfrm>
            <a:off x="4248000" y="2201400"/>
            <a:ext cx="4536000" cy="2250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Qualite &amp; Risques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Piotroski, Beneish, Altman, Beta, VaR et Momentum</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Qualite Financiere &amp; Solidite Bilancielle</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10" name="Rectangle 9"/>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2" name="Rectangle 11"/>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4" name="Rectangle 13"/>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6" name="Rectangle 15"/>
          <p:cNvSpPr/>
          <p:nvPr/>
        </p:nvSpPr>
        <p:spPr>
          <a:xfrm>
            <a:off x="367200" y="622800"/>
            <a:ext cx="4118400" cy="201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22800"/>
            <a:ext cx="64800" cy="20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640800"/>
            <a:ext cx="3960000" cy="165600"/>
          </a:xfrm>
          <a:prstGeom prst="rect">
            <a:avLst/>
          </a:prstGeom>
          <a:noFill/>
        </p:spPr>
        <p:txBody>
          <a:bodyPr wrap="none">
            <a:spAutoFit/>
          </a:bodyPr>
          <a:lstStyle/>
          <a:p>
            <a:pPr algn="l"/>
            <a:r>
              <a:rPr sz="850" b="1" i="0">
                <a:solidFill>
                  <a:srgbClr val="1B3A6B"/>
                </a:solidFill>
                <a:latin typeface="Calibri"/>
              </a:rPr>
              <a:t>Apple Inc. (AAPL)</a:t>
            </a:r>
          </a:p>
        </p:txBody>
      </p:sp>
      <p:sp>
        <p:nvSpPr>
          <p:cNvPr id="19" name="Rectangle 18"/>
          <p:cNvSpPr/>
          <p:nvPr/>
        </p:nvSpPr>
        <p:spPr>
          <a:xfrm>
            <a:off x="4658400" y="622800"/>
            <a:ext cx="4118400" cy="2016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58400" y="622800"/>
            <a:ext cx="64800" cy="2016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7200" y="640800"/>
            <a:ext cx="3960000" cy="165600"/>
          </a:xfrm>
          <a:prstGeom prst="rect">
            <a:avLst/>
          </a:prstGeom>
          <a:noFill/>
        </p:spPr>
        <p:txBody>
          <a:bodyPr wrap="none">
            <a:spAutoFit/>
          </a:bodyPr>
          <a:lstStyle/>
          <a:p>
            <a:pPr algn="l"/>
            <a:r>
              <a:rPr sz="850" b="1" i="0">
                <a:solidFill>
                  <a:srgbClr val="1A7A4A"/>
                </a:solidFill>
                <a:latin typeface="Calibri"/>
              </a:rPr>
              <a:t>Microsoft Corporation (MSFT)</a:t>
            </a:r>
          </a:p>
        </p:txBody>
      </p:sp>
      <p:sp>
        <p:nvSpPr>
          <p:cNvPr id="22" name="TextBox 21"/>
          <p:cNvSpPr txBox="1"/>
          <p:nvPr/>
        </p:nvSpPr>
        <p:spPr>
          <a:xfrm>
            <a:off x="367200" y="756000"/>
            <a:ext cx="8413200" cy="144000"/>
          </a:xfrm>
          <a:prstGeom prst="rect">
            <a:avLst/>
          </a:prstGeom>
          <a:noFill/>
        </p:spPr>
        <p:txBody>
          <a:bodyPr wrap="square">
            <a:spAutoFit/>
          </a:bodyPr>
          <a:lstStyle/>
          <a:p>
            <a:pPr algn="l"/>
            <a:r>
              <a:rPr sz="1000" b="1" i="1">
                <a:solidFill>
                  <a:srgbClr val="2E5FA3"/>
                </a:solidFill>
                <a:latin typeface="Calibri"/>
              </a:rPr>
              <a:t>AAPL presente la qualite fondamentale la plus solide (Piotroski 7/9)</a:t>
            </a:r>
          </a:p>
        </p:txBody>
      </p:sp>
      <p:sp>
        <p:nvSpPr>
          <p:cNvPr id="23" name="Rectangle 22"/>
          <p:cNvSpPr/>
          <p:nvPr/>
        </p:nvSpPr>
        <p:spPr>
          <a:xfrm>
            <a:off x="367200" y="928800"/>
            <a:ext cx="8413200" cy="756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7200" y="928800"/>
            <a:ext cx="46800" cy="75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3999" y="964800"/>
            <a:ext cx="8136000" cy="684000"/>
          </a:xfrm>
          <a:prstGeom prst="rect">
            <a:avLst/>
          </a:prstGeom>
          <a:noFill/>
        </p:spPr>
        <p:txBody>
          <a:bodyPr wrap="square">
            <a:spAutoFit/>
          </a:bodyPr>
          <a:lstStyle/>
          <a:p>
            <a:pPr algn="l"/>
            <a:r>
              <a:rPr sz="850" b="0" i="0">
                <a:solidFill>
                  <a:srgbClr val="1B3A6B"/>
                </a:solidFill>
                <a:latin typeface="Calibri"/>
              </a:rPr>
              <a:t>Solidité bilancielle : AAPL &gt; MSFT Pourquoi : AAPL affiche un levier (ND/EBITDA=0.4) plus élevé que MSFT (0.1), mais avec un Piotroski de 7 (vs 5) et un FinSight de 44 (vs 58), reflétant une meilleure qualité financière. Les marges EBITDA (34.8% vs 56.9%) et ROIC (84.4% vs 30.1%) soulignent une rentabilité supérieure pour AAPL, compensant son</a:t>
            </a:r>
          </a:p>
        </p:txBody>
      </p:sp>
      <p:graphicFrame>
        <p:nvGraphicFramePr>
          <p:cNvPr id="26" name="Table 25"/>
          <p:cNvGraphicFramePr>
            <a:graphicFrameLocks noGrp="1"/>
          </p:cNvGraphicFramePr>
          <p:nvPr/>
        </p:nvGraphicFramePr>
        <p:xfrm>
          <a:off x="367200" y="1745999"/>
          <a:ext cx="5040000" cy="2196000"/>
        </p:xfrm>
        <a:graphic>
          <a:graphicData uri="http://schemas.openxmlformats.org/drawingml/2006/table">
            <a:tbl>
              <a:tblPr firstRow="1" bandRow="1">
                <a:tableStyleId>{5C22544A-7EE6-4342-B048-85BDC9FD1C3A}</a:tableStyleId>
              </a:tblPr>
              <a:tblGrid>
                <a:gridCol w="3024000"/>
                <a:gridCol w="1008000"/>
                <a:gridCol w="1008000"/>
              </a:tblGrid>
              <a:tr h="199636">
                <a:tc>
                  <a:txBody>
                    <a:bodyPr/>
                    <a:lstStyle/>
                    <a:p>
                      <a:pPr algn="l"/>
                      <a:r>
                        <a:rPr sz="750" b="1" i="0">
                          <a:solidFill>
                            <a:srgbClr val="FFFFFF"/>
                          </a:solidFill>
                          <a:latin typeface="Calibri"/>
                        </a:rPr>
                        <a:t>Critere Piotroski</a:t>
                      </a:r>
                    </a:p>
                  </a:txBody>
                  <a:tcPr>
                    <a:solidFill>
                      <a:srgbClr val="1B3A6B"/>
                    </a:solidFill>
                  </a:tcPr>
                </a:tc>
                <a:tc>
                  <a:txBody>
                    <a:bodyPr/>
                    <a:lstStyle/>
                    <a:p>
                      <a:pPr algn="ctr"/>
                      <a:r>
                        <a:rPr sz="750" b="1" i="0">
                          <a:solidFill>
                            <a:srgbClr val="FFFFFF"/>
                          </a:solidFill>
                          <a:latin typeface="Calibri"/>
                        </a:rPr>
                        <a:t>AAPL</a:t>
                      </a:r>
                    </a:p>
                  </a:txBody>
                  <a:tcPr>
                    <a:solidFill>
                      <a:srgbClr val="1B3A6B"/>
                    </a:solidFill>
                  </a:tcPr>
                </a:tc>
                <a:tc>
                  <a:txBody>
                    <a:bodyPr/>
                    <a:lstStyle/>
                    <a:p>
                      <a:pPr algn="ctr"/>
                      <a:r>
                        <a:rPr sz="750" b="1" i="0">
                          <a:solidFill>
                            <a:srgbClr val="FFFFFF"/>
                          </a:solidFill>
                          <a:latin typeface="Calibri"/>
                        </a:rPr>
                        <a:t>MSFT</a:t>
                      </a:r>
                    </a:p>
                  </a:txBody>
                  <a:tcPr>
                    <a:solidFill>
                      <a:srgbClr val="1B3A6B"/>
                    </a:solidFill>
                  </a:tcPr>
                </a:tc>
              </a:tr>
              <a:tr h="199636">
                <a:tc>
                  <a:txBody>
                    <a:bodyPr/>
                    <a:lstStyle/>
                    <a:p>
                      <a:pPr algn="l"/>
                      <a:r>
                        <a:rPr sz="750" b="0" i="0">
                          <a:solidFill>
                            <a:srgbClr val="0D0D0D"/>
                          </a:solidFill>
                          <a:latin typeface="Calibri"/>
                        </a:rPr>
                        <a:t>ROA positif</a:t>
                      </a:r>
                    </a:p>
                  </a:txBody>
                  <a:tcPr>
                    <a:solidFill>
                      <a:srgbClr val="FFFFFF"/>
                    </a:solidFill>
                  </a:tcPr>
                </a:tc>
                <a:tc>
                  <a:txBody>
                    <a:bodyPr/>
                    <a:lstStyle/>
                    <a:p>
                      <a:pPr algn="ctr"/>
                      <a:r>
                        <a:rPr sz="750" b="0" i="0">
                          <a:solidFill>
                            <a:srgbClr val="0D0D0D"/>
                          </a:solidFill>
                          <a:latin typeface="Calibri"/>
                        </a:rPr>
                        <a:t>1</a:t>
                      </a:r>
                    </a:p>
                  </a:txBody>
                  <a:tcPr>
                    <a:solidFill>
                      <a:srgbClr val="FFFFFF"/>
                    </a:solidFill>
                  </a:tcPr>
                </a:tc>
                <a:tc>
                  <a:txBody>
                    <a:bodyPr/>
                    <a:lstStyle/>
                    <a:p>
                      <a:pPr algn="ctr"/>
                      <a:r>
                        <a:rPr sz="750" b="0" i="0">
                          <a:solidFill>
                            <a:srgbClr val="0D0D0D"/>
                          </a:solidFill>
                          <a:latin typeface="Calibri"/>
                        </a:rPr>
                        <a:t>1</a:t>
                      </a:r>
                    </a:p>
                  </a:txBody>
                  <a:tcPr>
                    <a:solidFill>
                      <a:srgbClr val="FFFFFF"/>
                    </a:solidFill>
                  </a:tcPr>
                </a:tc>
              </a:tr>
              <a:tr h="199636">
                <a:tc>
                  <a:txBody>
                    <a:bodyPr/>
                    <a:lstStyle/>
                    <a:p>
                      <a:pPr algn="l"/>
                      <a:r>
                        <a:rPr sz="750" b="0" i="0">
                          <a:solidFill>
                            <a:srgbClr val="0D0D0D"/>
                          </a:solidFill>
                          <a:latin typeface="Calibri"/>
                        </a:rPr>
                        <a:t>Cash-flows operations positifs</a:t>
                      </a:r>
                    </a:p>
                  </a:txBody>
                  <a:tcPr>
                    <a:solidFill>
                      <a:srgbClr val="F7F8FA"/>
                    </a:solidFill>
                  </a:tcPr>
                </a:tc>
                <a:tc>
                  <a:txBody>
                    <a:bodyPr/>
                    <a:lstStyle/>
                    <a:p>
                      <a:pPr algn="ctr"/>
                      <a:r>
                        <a:rPr sz="750" b="0" i="0">
                          <a:solidFill>
                            <a:srgbClr val="0D0D0D"/>
                          </a:solidFill>
                          <a:latin typeface="Calibri"/>
                        </a:rPr>
                        <a:t>1</a:t>
                      </a:r>
                    </a:p>
                  </a:txBody>
                  <a:tcPr>
                    <a:solidFill>
                      <a:srgbClr val="F7F8FA"/>
                    </a:solidFill>
                  </a:tcPr>
                </a:tc>
                <a:tc>
                  <a:txBody>
                    <a:bodyPr/>
                    <a:lstStyle/>
                    <a:p>
                      <a:pPr algn="ctr"/>
                      <a:r>
                        <a:rPr sz="750" b="0" i="0">
                          <a:solidFill>
                            <a:srgbClr val="0D0D0D"/>
                          </a:solidFill>
                          <a:latin typeface="Calibri"/>
                        </a:rPr>
                        <a:t>1</a:t>
                      </a:r>
                    </a:p>
                  </a:txBody>
                  <a:tcPr>
                    <a:solidFill>
                      <a:srgbClr val="F7F8FA"/>
                    </a:solidFill>
                  </a:tcPr>
                </a:tc>
              </a:tr>
              <a:tr h="199636">
                <a:tc>
                  <a:txBody>
                    <a:bodyPr/>
                    <a:lstStyle/>
                    <a:p>
                      <a:pPr algn="l"/>
                      <a:r>
                        <a:rPr sz="750" b="0" i="0">
                          <a:solidFill>
                            <a:srgbClr val="0D0D0D"/>
                          </a:solidFill>
                          <a:latin typeface="Calibri"/>
                        </a:rPr>
                        <a:t>Amelioration ROA</a:t>
                      </a:r>
                    </a:p>
                  </a:txBody>
                  <a:tcPr>
                    <a:solidFill>
                      <a:srgbClr val="FFFFFF"/>
                    </a:solidFill>
                  </a:tcPr>
                </a:tc>
                <a:tc>
                  <a:txBody>
                    <a:bodyPr/>
                    <a:lstStyle/>
                    <a:p>
                      <a:pPr algn="ctr"/>
                      <a:r>
                        <a:rPr sz="750" b="0" i="0">
                          <a:solidFill>
                            <a:srgbClr val="0D0D0D"/>
                          </a:solidFill>
                          <a:latin typeface="Calibri"/>
                        </a:rPr>
                        <a:t>1</a:t>
                      </a:r>
                    </a:p>
                  </a:txBody>
                  <a:tcPr>
                    <a:solidFill>
                      <a:srgbClr val="FFFFFF"/>
                    </a:solidFill>
                  </a:tcPr>
                </a:tc>
                <a:tc>
                  <a:txBody>
                    <a:bodyPr/>
                    <a:lstStyle/>
                    <a:p>
                      <a:pPr algn="ctr"/>
                      <a:r>
                        <a:rPr sz="750" b="0" i="0">
                          <a:solidFill>
                            <a:srgbClr val="0D0D0D"/>
                          </a:solidFill>
                          <a:latin typeface="Calibri"/>
                        </a:rPr>
                        <a:t>0</a:t>
                      </a:r>
                    </a:p>
                  </a:txBody>
                  <a:tcPr>
                    <a:solidFill>
                      <a:srgbClr val="FFFFFF"/>
                    </a:solidFill>
                  </a:tcPr>
                </a:tc>
              </a:tr>
              <a:tr h="199636">
                <a:tc>
                  <a:txBody>
                    <a:bodyPr/>
                    <a:lstStyle/>
                    <a:p>
                      <a:pPr algn="l"/>
                      <a:r>
                        <a:rPr sz="750" b="0" i="0">
                          <a:solidFill>
                            <a:srgbClr val="0D0D0D"/>
                          </a:solidFill>
                          <a:latin typeface="Calibri"/>
                        </a:rPr>
                        <a:t>Qualite earnings (accruals)</a:t>
                      </a:r>
                    </a:p>
                  </a:txBody>
                  <a:tcPr>
                    <a:solidFill>
                      <a:srgbClr val="F7F8FA"/>
                    </a:solidFill>
                  </a:tcPr>
                </a:tc>
                <a:tc>
                  <a:txBody>
                    <a:bodyPr/>
                    <a:lstStyle/>
                    <a:p>
                      <a:pPr algn="ctr"/>
                      <a:r>
                        <a:rPr sz="750" b="0" i="0">
                          <a:solidFill>
                            <a:srgbClr val="0D0D0D"/>
                          </a:solidFill>
                          <a:latin typeface="Calibri"/>
                        </a:rPr>
                        <a:t>0</a:t>
                      </a:r>
                    </a:p>
                  </a:txBody>
                  <a:tcPr>
                    <a:solidFill>
                      <a:srgbClr val="F7F8FA"/>
                    </a:solidFill>
                  </a:tcPr>
                </a:tc>
                <a:tc>
                  <a:txBody>
                    <a:bodyPr/>
                    <a:lstStyle/>
                    <a:p>
                      <a:pPr algn="ctr"/>
                      <a:r>
                        <a:rPr sz="750" b="0" i="0">
                          <a:solidFill>
                            <a:srgbClr val="0D0D0D"/>
                          </a:solidFill>
                          <a:latin typeface="Calibri"/>
                        </a:rPr>
                        <a:t>1</a:t>
                      </a:r>
                    </a:p>
                  </a:txBody>
                  <a:tcPr>
                    <a:solidFill>
                      <a:srgbClr val="F7F8FA"/>
                    </a:solidFill>
                  </a:tcPr>
                </a:tc>
              </a:tr>
              <a:tr h="199636">
                <a:tc>
                  <a:txBody>
                    <a:bodyPr/>
                    <a:lstStyle/>
                    <a:p>
                      <a:pPr algn="l"/>
                      <a:r>
                        <a:rPr sz="750" b="0" i="0">
                          <a:solidFill>
                            <a:srgbClr val="0D0D0D"/>
                          </a:solidFill>
                          <a:latin typeface="Calibri"/>
                        </a:rPr>
                        <a:t>Reduction levier</a:t>
                      </a:r>
                    </a:p>
                  </a:txBody>
                  <a:tcPr>
                    <a:solidFill>
                      <a:srgbClr val="FFFFFF"/>
                    </a:solidFill>
                  </a:tcPr>
                </a:tc>
                <a:tc>
                  <a:txBody>
                    <a:bodyPr/>
                    <a:lstStyle/>
                    <a:p>
                      <a:pPr algn="ctr"/>
                      <a:r>
                        <a:rPr sz="750" b="0" i="0">
                          <a:solidFill>
                            <a:srgbClr val="0D0D0D"/>
                          </a:solidFill>
                          <a:latin typeface="Calibri"/>
                        </a:rPr>
                        <a:t>1</a:t>
                      </a:r>
                    </a:p>
                  </a:txBody>
                  <a:tcPr>
                    <a:solidFill>
                      <a:srgbClr val="FFFFFF"/>
                    </a:solidFill>
                  </a:tcPr>
                </a:tc>
                <a:tc>
                  <a:txBody>
                    <a:bodyPr/>
                    <a:lstStyle/>
                    <a:p>
                      <a:pPr algn="ctr"/>
                      <a:r>
                        <a:rPr sz="750" b="0" i="0">
                          <a:solidFill>
                            <a:srgbClr val="0D0D0D"/>
                          </a:solidFill>
                          <a:latin typeface="Calibri"/>
                        </a:rPr>
                        <a:t>1</a:t>
                      </a:r>
                    </a:p>
                  </a:txBody>
                  <a:tcPr>
                    <a:solidFill>
                      <a:srgbClr val="FFFFFF"/>
                    </a:solidFill>
                  </a:tcPr>
                </a:tc>
              </a:tr>
              <a:tr h="199636">
                <a:tc>
                  <a:txBody>
                    <a:bodyPr/>
                    <a:lstStyle/>
                    <a:p>
                      <a:pPr algn="l"/>
                      <a:r>
                        <a:rPr sz="750" b="0" i="0">
                          <a:solidFill>
                            <a:srgbClr val="0D0D0D"/>
                          </a:solidFill>
                          <a:latin typeface="Calibri"/>
                        </a:rPr>
                        <a:t>Amelioration liquidite</a:t>
                      </a:r>
                    </a:p>
                  </a:txBody>
                  <a:tcPr>
                    <a:solidFill>
                      <a:srgbClr val="F7F8FA"/>
                    </a:solidFill>
                  </a:tcPr>
                </a:tc>
                <a:tc>
                  <a:txBody>
                    <a:bodyPr/>
                    <a:lstStyle/>
                    <a:p>
                      <a:pPr algn="ctr"/>
                      <a:r>
                        <a:rPr sz="750" b="0" i="0">
                          <a:solidFill>
                            <a:srgbClr val="0D0D0D"/>
                          </a:solidFill>
                          <a:latin typeface="Calibri"/>
                        </a:rPr>
                        <a:t>1</a:t>
                      </a:r>
                    </a:p>
                  </a:txBody>
                  <a:tcPr>
                    <a:solidFill>
                      <a:srgbClr val="F7F8FA"/>
                    </a:solidFill>
                  </a:tcPr>
                </a:tc>
                <a:tc>
                  <a:txBody>
                    <a:bodyPr/>
                    <a:lstStyle/>
                    <a:p>
                      <a:pPr algn="ctr"/>
                      <a:r>
                        <a:rPr sz="750" b="0" i="0">
                          <a:solidFill>
                            <a:srgbClr val="0D0D0D"/>
                          </a:solidFill>
                          <a:latin typeface="Calibri"/>
                        </a:rPr>
                        <a:t>1</a:t>
                      </a:r>
                    </a:p>
                  </a:txBody>
                  <a:tcPr>
                    <a:solidFill>
                      <a:srgbClr val="F7F8FA"/>
                    </a:solidFill>
                  </a:tcPr>
                </a:tc>
              </a:tr>
              <a:tr h="199636">
                <a:tc>
                  <a:txBody>
                    <a:bodyPr/>
                    <a:lstStyle/>
                    <a:p>
                      <a:pPr algn="l"/>
                      <a:r>
                        <a:rPr sz="750" b="0" i="0">
                          <a:solidFill>
                            <a:srgbClr val="0D0D0D"/>
                          </a:solidFill>
                          <a:latin typeface="Calibri"/>
                        </a:rPr>
                        <a:t>Pas de dilution</a:t>
                      </a:r>
                    </a:p>
                  </a:txBody>
                  <a:tcPr>
                    <a:solidFill>
                      <a:srgbClr val="FFFFFF"/>
                    </a:solidFill>
                  </a:tcPr>
                </a:tc>
                <a:tc>
                  <a:txBody>
                    <a:bodyPr/>
                    <a:lstStyle/>
                    <a:p>
                      <a:pPr algn="ctr"/>
                      <a:r>
                        <a:rPr sz="750" b="0" i="0">
                          <a:solidFill>
                            <a:srgbClr val="0D0D0D"/>
                          </a:solidFill>
                          <a:latin typeface="Calibri"/>
                        </a:rPr>
                        <a:t>0</a:t>
                      </a:r>
                    </a:p>
                  </a:txBody>
                  <a:tcPr>
                    <a:solidFill>
                      <a:srgbClr val="FFFFFF"/>
                    </a:solidFill>
                  </a:tcPr>
                </a:tc>
                <a:tc>
                  <a:txBody>
                    <a:bodyPr/>
                    <a:lstStyle/>
                    <a:p>
                      <a:pPr algn="ctr"/>
                      <a:r>
                        <a:rPr sz="750" b="0" i="0">
                          <a:solidFill>
                            <a:srgbClr val="0D0D0D"/>
                          </a:solidFill>
                          <a:latin typeface="Calibri"/>
                        </a:rPr>
                        <a:t>0</a:t>
                      </a:r>
                    </a:p>
                  </a:txBody>
                  <a:tcPr>
                    <a:solidFill>
                      <a:srgbClr val="FFFFFF"/>
                    </a:solidFill>
                  </a:tcPr>
                </a:tc>
              </a:tr>
              <a:tr h="199636">
                <a:tc>
                  <a:txBody>
                    <a:bodyPr/>
                    <a:lstStyle/>
                    <a:p>
                      <a:pPr algn="l"/>
                      <a:r>
                        <a:rPr sz="750" b="0" i="0">
                          <a:solidFill>
                            <a:srgbClr val="0D0D0D"/>
                          </a:solidFill>
                          <a:latin typeface="Calibri"/>
                        </a:rPr>
                        <a:t>Amelioration marge brute</a:t>
                      </a:r>
                    </a:p>
                  </a:txBody>
                  <a:tcPr>
                    <a:solidFill>
                      <a:srgbClr val="F7F8FA"/>
                    </a:solidFill>
                  </a:tcPr>
                </a:tc>
                <a:tc>
                  <a:txBody>
                    <a:bodyPr/>
                    <a:lstStyle/>
                    <a:p>
                      <a:pPr algn="ctr"/>
                      <a:r>
                        <a:rPr sz="750" b="0" i="0">
                          <a:solidFill>
                            <a:srgbClr val="0D0D0D"/>
                          </a:solidFill>
                          <a:latin typeface="Calibri"/>
                        </a:rPr>
                        <a:t>1</a:t>
                      </a:r>
                    </a:p>
                  </a:txBody>
                  <a:tcPr>
                    <a:solidFill>
                      <a:srgbClr val="F7F8FA"/>
                    </a:solidFill>
                  </a:tcPr>
                </a:tc>
                <a:tc>
                  <a:txBody>
                    <a:bodyPr/>
                    <a:lstStyle/>
                    <a:p>
                      <a:pPr algn="ctr"/>
                      <a:r>
                        <a:rPr sz="750" b="0" i="0">
                          <a:solidFill>
                            <a:srgbClr val="0D0D0D"/>
                          </a:solidFill>
                          <a:latin typeface="Calibri"/>
                        </a:rPr>
                        <a:t>0</a:t>
                      </a:r>
                    </a:p>
                  </a:txBody>
                  <a:tcPr>
                    <a:solidFill>
                      <a:srgbClr val="F7F8FA"/>
                    </a:solidFill>
                  </a:tcPr>
                </a:tc>
              </a:tr>
              <a:tr h="199636">
                <a:tc>
                  <a:txBody>
                    <a:bodyPr/>
                    <a:lstStyle/>
                    <a:p>
                      <a:pPr algn="l"/>
                      <a:r>
                        <a:rPr sz="750" b="0" i="0">
                          <a:solidFill>
                            <a:srgbClr val="0D0D0D"/>
                          </a:solidFill>
                          <a:latin typeface="Calibri"/>
                        </a:rPr>
                        <a:t>Amelioration rotation actifs</a:t>
                      </a:r>
                    </a:p>
                  </a:txBody>
                  <a:tcPr>
                    <a:solidFill>
                      <a:srgbClr val="FFFFFF"/>
                    </a:solidFill>
                  </a:tcPr>
                </a:tc>
                <a:tc>
                  <a:txBody>
                    <a:bodyPr/>
                    <a:lstStyle/>
                    <a:p>
                      <a:pPr algn="ctr"/>
                      <a:r>
                        <a:rPr sz="750" b="0" i="0">
                          <a:solidFill>
                            <a:srgbClr val="0D0D0D"/>
                          </a:solidFill>
                          <a:latin typeface="Calibri"/>
                        </a:rPr>
                        <a:t>1</a:t>
                      </a:r>
                    </a:p>
                  </a:txBody>
                  <a:tcPr>
                    <a:solidFill>
                      <a:srgbClr val="FFFFFF"/>
                    </a:solidFill>
                  </a:tcPr>
                </a:tc>
                <a:tc>
                  <a:txBody>
                    <a:bodyPr/>
                    <a:lstStyle/>
                    <a:p>
                      <a:pPr algn="ctr"/>
                      <a:r>
                        <a:rPr sz="750" b="0" i="0">
                          <a:solidFill>
                            <a:srgbClr val="0D0D0D"/>
                          </a:solidFill>
                          <a:latin typeface="Calibri"/>
                        </a:rPr>
                        <a:t>0</a:t>
                      </a:r>
                    </a:p>
                  </a:txBody>
                  <a:tcPr>
                    <a:solidFill>
                      <a:srgbClr val="FFFFFF"/>
                    </a:solidFill>
                  </a:tcPr>
                </a:tc>
              </a:tr>
              <a:tr h="199640">
                <a:tc>
                  <a:txBody>
                    <a:bodyPr/>
                    <a:lstStyle/>
                    <a:p>
                      <a:pPr algn="l"/>
                      <a:r>
                        <a:rPr sz="750" b="0" i="0">
                          <a:solidFill>
                            <a:srgbClr val="0D0D0D"/>
                          </a:solidFill>
                          <a:latin typeface="Calibri"/>
                        </a:rPr>
                        <a:t>PIOTROSKI F-SCORE TOTAL</a:t>
                      </a:r>
                    </a:p>
                  </a:txBody>
                  <a:tcPr>
                    <a:solidFill>
                      <a:srgbClr val="F7F8FA"/>
                    </a:solidFill>
                  </a:tcPr>
                </a:tc>
                <a:tc>
                  <a:txBody>
                    <a:bodyPr/>
                    <a:lstStyle/>
                    <a:p>
                      <a:pPr algn="ctr"/>
                      <a:r>
                        <a:rPr sz="750" b="0" i="0">
                          <a:solidFill>
                            <a:srgbClr val="0D0D0D"/>
                          </a:solidFill>
                          <a:latin typeface="Calibri"/>
                        </a:rPr>
                        <a:t>7</a:t>
                      </a:r>
                    </a:p>
                  </a:txBody>
                  <a:tcPr>
                    <a:solidFill>
                      <a:srgbClr val="F7F8FA"/>
                    </a:solidFill>
                  </a:tcPr>
                </a:tc>
                <a:tc>
                  <a:txBody>
                    <a:bodyPr/>
                    <a:lstStyle/>
                    <a:p>
                      <a:pPr algn="ctr"/>
                      <a:r>
                        <a:rPr sz="750" b="0" i="0">
                          <a:solidFill>
                            <a:srgbClr val="0D0D0D"/>
                          </a:solidFill>
                          <a:latin typeface="Calibri"/>
                        </a:rPr>
                        <a:t>5</a:t>
                      </a:r>
                    </a:p>
                  </a:txBody>
                  <a:tcPr>
                    <a:solidFill>
                      <a:srgbClr val="F7F8FA"/>
                    </a:solidFill>
                  </a:tcPr>
                </a:tc>
              </a:tr>
            </a:tbl>
          </a:graphicData>
        </a:graphic>
      </p:graphicFrame>
      <p:sp>
        <p:nvSpPr>
          <p:cNvPr id="27" name="Rectangle 26"/>
          <p:cNvSpPr/>
          <p:nvPr/>
        </p:nvSpPr>
        <p:spPr>
          <a:xfrm>
            <a:off x="5454000" y="1745999"/>
            <a:ext cx="3553199"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508000" y="1774800"/>
            <a:ext cx="3481200" cy="136800"/>
          </a:xfrm>
          <a:prstGeom prst="rect">
            <a:avLst/>
          </a:prstGeom>
          <a:noFill/>
        </p:spPr>
        <p:txBody>
          <a:bodyPr wrap="square">
            <a:spAutoFit/>
          </a:bodyPr>
          <a:lstStyle/>
          <a:p>
            <a:pPr algn="l"/>
            <a:r>
              <a:rPr sz="850" b="1" i="0">
                <a:solidFill>
                  <a:srgbClr val="FFFFFF"/>
                </a:solidFill>
                <a:latin typeface="Calibri"/>
              </a:rPr>
              <a:t>Scores complementaires</a:t>
            </a:r>
          </a:p>
        </p:txBody>
      </p:sp>
      <p:graphicFrame>
        <p:nvGraphicFramePr>
          <p:cNvPr id="29" name="Table 28"/>
          <p:cNvGraphicFramePr>
            <a:graphicFrameLocks noGrp="1"/>
          </p:cNvGraphicFramePr>
          <p:nvPr/>
        </p:nvGraphicFramePr>
        <p:xfrm>
          <a:off x="5454000" y="1943999"/>
          <a:ext cx="3553197" cy="864000"/>
        </p:xfrm>
        <a:graphic>
          <a:graphicData uri="http://schemas.openxmlformats.org/drawingml/2006/table">
            <a:tbl>
              <a:tblPr firstRow="1" bandRow="1">
                <a:tableStyleId>{5C22544A-7EE6-4342-B048-85BDC9FD1C3A}</a:tableStyleId>
              </a:tblPr>
              <a:tblGrid>
                <a:gridCol w="1776599"/>
                <a:gridCol w="888299"/>
                <a:gridCol w="888299"/>
              </a:tblGrid>
              <a:tr h="172800">
                <a:tc>
                  <a:txBody>
                    <a:bodyPr/>
                    <a:lstStyle/>
                    <a:p>
                      <a:pPr algn="l"/>
                      <a:r>
                        <a:rPr sz="750" b="1" i="0">
                          <a:solidFill>
                            <a:srgbClr val="FFFFFF"/>
                          </a:solidFill>
                          <a:latin typeface="Calibri"/>
                        </a:rPr>
                        <a:t>Indicateur</a:t>
                      </a:r>
                    </a:p>
                  </a:txBody>
                  <a:tcPr>
                    <a:solidFill>
                      <a:srgbClr val="2E5FA3"/>
                    </a:solidFill>
                  </a:tcPr>
                </a:tc>
                <a:tc>
                  <a:txBody>
                    <a:bodyPr/>
                    <a:lstStyle/>
                    <a:p>
                      <a:pPr algn="ctr"/>
                      <a:r>
                        <a:rPr sz="750" b="1" i="0">
                          <a:solidFill>
                            <a:srgbClr val="FFFFFF"/>
                          </a:solidFill>
                          <a:latin typeface="Calibri"/>
                        </a:rPr>
                        <a:t>AAPL</a:t>
                      </a:r>
                    </a:p>
                  </a:txBody>
                  <a:tcPr>
                    <a:solidFill>
                      <a:srgbClr val="2E5FA3"/>
                    </a:solidFill>
                  </a:tcPr>
                </a:tc>
                <a:tc>
                  <a:txBody>
                    <a:bodyPr/>
                    <a:lstStyle/>
                    <a:p>
                      <a:pPr algn="ctr"/>
                      <a:r>
                        <a:rPr sz="750" b="1" i="0">
                          <a:solidFill>
                            <a:srgbClr val="FFFFFF"/>
                          </a:solidFill>
                          <a:latin typeface="Calibri"/>
                        </a:rPr>
                        <a:t>MSFT</a:t>
                      </a:r>
                    </a:p>
                  </a:txBody>
                  <a:tcPr>
                    <a:solidFill>
                      <a:srgbClr val="2E5FA3"/>
                    </a:solidFill>
                  </a:tcPr>
                </a:tc>
              </a:tr>
              <a:tr h="172800">
                <a:tc>
                  <a:txBody>
                    <a:bodyPr/>
                    <a:lstStyle/>
                    <a:p>
                      <a:pPr algn="l"/>
                      <a:r>
                        <a:rPr sz="750" b="0" i="0">
                          <a:solidFill>
                            <a:srgbClr val="0D0D0D"/>
                          </a:solidFill>
                          <a:latin typeface="Calibri"/>
                        </a:rPr>
                        <a:t>Beneish M-Score</a:t>
                      </a:r>
                    </a:p>
                  </a:txBody>
                  <a:tcPr>
                    <a:solidFill>
                      <a:srgbClr val="FFFFFF"/>
                    </a:solidFill>
                  </a:tcPr>
                </a:tc>
                <a:tc>
                  <a:txBody>
                    <a:bodyPr/>
                    <a:lstStyle/>
                    <a:p>
                      <a:pPr algn="ctr"/>
                      <a:r>
                        <a:rPr sz="750" b="0" i="0">
                          <a:solidFill>
                            <a:srgbClr val="0D0D0D"/>
                          </a:solidFill>
                          <a:latin typeface="Calibri"/>
                        </a:rPr>
                        <a:t>-2,25</a:t>
                      </a:r>
                    </a:p>
                  </a:txBody>
                  <a:tcPr>
                    <a:solidFill>
                      <a:srgbClr val="FFFFFF"/>
                    </a:solidFill>
                  </a:tcPr>
                </a:tc>
                <a:tc>
                  <a:txBody>
                    <a:bodyPr/>
                    <a:lstStyle/>
                    <a:p>
                      <a:pPr algn="ctr"/>
                      <a:r>
                        <a:rPr sz="750" b="0" i="0">
                          <a:solidFill>
                            <a:srgbClr val="0D0D0D"/>
                          </a:solidFill>
                          <a:latin typeface="Calibri"/>
                        </a:rPr>
                        <a:t>-2,57</a:t>
                      </a:r>
                    </a:p>
                  </a:txBody>
                  <a:tcPr>
                    <a:solidFill>
                      <a:srgbClr val="FFFFFF"/>
                    </a:solidFill>
                  </a:tcPr>
                </a:tc>
              </a:tr>
              <a:tr h="172800">
                <a:tc>
                  <a:txBody>
                    <a:bodyPr/>
                    <a:lstStyle/>
                    <a:p>
                      <a:pPr algn="l"/>
                      <a:r>
                        <a:rPr sz="750" b="0" i="0">
                          <a:solidFill>
                            <a:srgbClr val="0D0D0D"/>
                          </a:solidFill>
                          <a:latin typeface="Calibri"/>
                        </a:rPr>
                        <a:t>Altman Z-Score</a:t>
                      </a:r>
                    </a:p>
                  </a:txBody>
                  <a:tcPr>
                    <a:solidFill>
                      <a:srgbClr val="F7F8FA"/>
                    </a:solidFill>
                  </a:tcPr>
                </a:tc>
                <a:tc>
                  <a:txBody>
                    <a:bodyPr/>
                    <a:lstStyle/>
                    <a:p>
                      <a:pPr algn="ctr"/>
                      <a:r>
                        <a:rPr sz="750" b="0" i="0">
                          <a:solidFill>
                            <a:srgbClr val="0D0D0D"/>
                          </a:solidFill>
                          <a:latin typeface="Calibri"/>
                        </a:rPr>
                        <a:t>1,69</a:t>
                      </a:r>
                    </a:p>
                  </a:txBody>
                  <a:tcPr>
                    <a:solidFill>
                      <a:srgbClr val="F7F8FA"/>
                    </a:solidFill>
                  </a:tcPr>
                </a:tc>
                <a:tc>
                  <a:txBody>
                    <a:bodyPr/>
                    <a:lstStyle/>
                    <a:p>
                      <a:pPr algn="ctr"/>
                      <a:r>
                        <a:rPr sz="750" b="0" i="0">
                          <a:solidFill>
                            <a:srgbClr val="0D0D0D"/>
                          </a:solidFill>
                          <a:latin typeface="Calibri"/>
                        </a:rPr>
                        <a:t>4,61</a:t>
                      </a:r>
                    </a:p>
                  </a:txBody>
                  <a:tcPr>
                    <a:solidFill>
                      <a:srgbClr val="F7F8FA"/>
                    </a:solidFill>
                  </a:tcPr>
                </a:tc>
              </a:tr>
              <a:tr h="172800">
                <a:tc>
                  <a:txBody>
                    <a:bodyPr/>
                    <a:lstStyle/>
                    <a:p>
                      <a:pPr algn="l"/>
                      <a:r>
                        <a:rPr sz="750" b="0" i="0">
                          <a:solidFill>
                            <a:srgbClr val="0D0D0D"/>
                          </a:solidFill>
                          <a:latin typeface="Calibri"/>
                        </a:rPr>
                        <a:t>Sloan Accruals</a:t>
                      </a:r>
                    </a:p>
                  </a:txBody>
                  <a:tcPr>
                    <a:solidFill>
                      <a:srgbClr val="FFFFFF"/>
                    </a:solidFill>
                  </a:tcPr>
                </a:tc>
                <a:tc>
                  <a:txBody>
                    <a:bodyPr/>
                    <a:lstStyle/>
                    <a:p>
                      <a:pPr algn="ctr"/>
                      <a:r>
                        <a:rPr sz="750" b="0" i="0">
                          <a:solidFill>
                            <a:srgbClr val="0D0D0D"/>
                          </a:solidFill>
                          <a:latin typeface="Calibri"/>
                        </a:rPr>
                        <a:t>0,010</a:t>
                      </a:r>
                    </a:p>
                  </a:txBody>
                  <a:tcPr>
                    <a:solidFill>
                      <a:srgbClr val="FFFFFF"/>
                    </a:solidFill>
                  </a:tcPr>
                </a:tc>
                <a:tc>
                  <a:txBody>
                    <a:bodyPr/>
                    <a:lstStyle/>
                    <a:p>
                      <a:pPr algn="ctr"/>
                      <a:r>
                        <a:rPr sz="750" b="0" i="0">
                          <a:solidFill>
                            <a:srgbClr val="0D0D0D"/>
                          </a:solidFill>
                          <a:latin typeface="Calibri"/>
                        </a:rPr>
                        <a:t>0,001</a:t>
                      </a:r>
                    </a:p>
                  </a:txBody>
                  <a:tcPr>
                    <a:solidFill>
                      <a:srgbClr val="FFFFFF"/>
                    </a:solidFill>
                  </a:tcPr>
                </a:tc>
              </a:tr>
              <a:tr h="172800">
                <a:tc>
                  <a:txBody>
                    <a:bodyPr/>
                    <a:lstStyle/>
                    <a:p>
                      <a:pPr algn="l"/>
                      <a:r>
                        <a:rPr sz="750" b="0" i="0">
                          <a:solidFill>
                            <a:srgbClr val="0D0D0D"/>
                          </a:solidFill>
                          <a:latin typeface="Calibri"/>
                        </a:rPr>
                        <a:t>Cash Conversion</a:t>
                      </a:r>
                    </a:p>
                  </a:txBody>
                  <a:tcPr>
                    <a:solidFill>
                      <a:srgbClr val="F7F8FA"/>
                    </a:solidFill>
                  </a:tcPr>
                </a:tc>
                <a:tc>
                  <a:txBody>
                    <a:bodyPr/>
                    <a:lstStyle/>
                    <a:p>
                      <a:pPr algn="ctr"/>
                      <a:r>
                        <a:rPr sz="750" b="0" i="0">
                          <a:solidFill>
                            <a:srgbClr val="0D0D0D"/>
                          </a:solidFill>
                          <a:latin typeface="Calibri"/>
                        </a:rPr>
                        <a:t>1,0x</a:t>
                      </a:r>
                    </a:p>
                  </a:txBody>
                  <a:tcPr>
                    <a:solidFill>
                      <a:srgbClr val="F7F8FA"/>
                    </a:solidFill>
                  </a:tcPr>
                </a:tc>
                <a:tc>
                  <a:txBody>
                    <a:bodyPr/>
                    <a:lstStyle/>
                    <a:p>
                      <a:pPr algn="ctr"/>
                      <a:r>
                        <a:rPr sz="750" b="0" i="0">
                          <a:solidFill>
                            <a:srgbClr val="0D0D0D"/>
                          </a:solidFill>
                          <a:latin typeface="Calibri"/>
                        </a:rPr>
                        <a:t>0,7x</a:t>
                      </a:r>
                    </a:p>
                  </a:txBody>
                  <a:tcPr>
                    <a:solidFill>
                      <a:srgbClr val="F7F8FA"/>
                    </a:solidFill>
                  </a:tcPr>
                </a:tc>
              </a:tr>
            </a:tbl>
          </a:graphicData>
        </a:graphic>
      </p:graphicFrame>
      <p:sp>
        <p:nvSpPr>
          <p:cNvPr id="30" name="TextBox 29"/>
          <p:cNvSpPr txBox="1"/>
          <p:nvPr/>
        </p:nvSpPr>
        <p:spPr>
          <a:xfrm>
            <a:off x="5454000" y="2844000"/>
            <a:ext cx="3553199" cy="144000"/>
          </a:xfrm>
          <a:prstGeom prst="rect">
            <a:avLst/>
          </a:prstGeom>
          <a:noFill/>
        </p:spPr>
        <p:txBody>
          <a:bodyPr wrap="square">
            <a:spAutoFit/>
          </a:bodyPr>
          <a:lstStyle/>
          <a:p>
            <a:pPr algn="l"/>
            <a:r>
              <a:rPr sz="700" b="0" i="1">
                <a:solidFill>
                  <a:srgbClr val="555555"/>
                </a:solidFill>
                <a:latin typeface="Calibri"/>
              </a:rPr>
              <a:t>Seuils : Beneish &lt;-1,78 sain  -  Altman &gt;2,99 sain  -  Sloan proche 0 = qualite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Profil de Risque &amp; Momentum Compare</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10" name="Rectangle 9"/>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2" name="Rectangle 11"/>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4" name="Rectangle 13"/>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6" name="Rectangle 15"/>
          <p:cNvSpPr/>
          <p:nvPr/>
        </p:nvSpPr>
        <p:spPr>
          <a:xfrm>
            <a:off x="367200" y="622800"/>
            <a:ext cx="4118400" cy="201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22800"/>
            <a:ext cx="64800" cy="20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640800"/>
            <a:ext cx="3960000" cy="165600"/>
          </a:xfrm>
          <a:prstGeom prst="rect">
            <a:avLst/>
          </a:prstGeom>
          <a:noFill/>
        </p:spPr>
        <p:txBody>
          <a:bodyPr wrap="none">
            <a:spAutoFit/>
          </a:bodyPr>
          <a:lstStyle/>
          <a:p>
            <a:pPr algn="l"/>
            <a:r>
              <a:rPr sz="850" b="1" i="0">
                <a:solidFill>
                  <a:srgbClr val="1B3A6B"/>
                </a:solidFill>
                <a:latin typeface="Calibri"/>
              </a:rPr>
              <a:t>Apple Inc. (AAPL)</a:t>
            </a:r>
          </a:p>
        </p:txBody>
      </p:sp>
      <p:sp>
        <p:nvSpPr>
          <p:cNvPr id="19" name="Rectangle 18"/>
          <p:cNvSpPr/>
          <p:nvPr/>
        </p:nvSpPr>
        <p:spPr>
          <a:xfrm>
            <a:off x="4658400" y="622800"/>
            <a:ext cx="4118400" cy="2016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58400" y="622800"/>
            <a:ext cx="64800" cy="2016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7200" y="640800"/>
            <a:ext cx="3960000" cy="165600"/>
          </a:xfrm>
          <a:prstGeom prst="rect">
            <a:avLst/>
          </a:prstGeom>
          <a:noFill/>
        </p:spPr>
        <p:txBody>
          <a:bodyPr wrap="none">
            <a:spAutoFit/>
          </a:bodyPr>
          <a:lstStyle/>
          <a:p>
            <a:pPr algn="l"/>
            <a:r>
              <a:rPr sz="850" b="1" i="0">
                <a:solidFill>
                  <a:srgbClr val="1A7A4A"/>
                </a:solidFill>
                <a:latin typeface="Calibri"/>
              </a:rPr>
              <a:t>Microsoft Corporation (MSFT)</a:t>
            </a:r>
          </a:p>
        </p:txBody>
      </p:sp>
      <p:sp>
        <p:nvSpPr>
          <p:cNvPr id="22" name="TextBox 21"/>
          <p:cNvSpPr txBox="1"/>
          <p:nvPr/>
        </p:nvSpPr>
        <p:spPr>
          <a:xfrm>
            <a:off x="367200" y="856800"/>
            <a:ext cx="8413200" cy="162000"/>
          </a:xfrm>
          <a:prstGeom prst="rect">
            <a:avLst/>
          </a:prstGeom>
          <a:noFill/>
        </p:spPr>
        <p:txBody>
          <a:bodyPr wrap="square">
            <a:spAutoFit/>
          </a:bodyPr>
          <a:lstStyle/>
          <a:p>
            <a:pPr algn="l"/>
            <a:r>
              <a:rPr sz="1000" b="1" i="1">
                <a:solidFill>
                  <a:srgbClr val="2E5FA3"/>
                </a:solidFill>
                <a:latin typeface="Calibri"/>
              </a:rPr>
              <a:t>MSFT offre un profil plus defensif (beta 1.11 vs 1.11)</a:t>
            </a:r>
          </a:p>
        </p:txBody>
      </p:sp>
      <p:graphicFrame>
        <p:nvGraphicFramePr>
          <p:cNvPr id="23" name="Table 22"/>
          <p:cNvGraphicFramePr>
            <a:graphicFrameLocks noGrp="1"/>
          </p:cNvGraphicFramePr>
          <p:nvPr/>
        </p:nvGraphicFramePr>
        <p:xfrm>
          <a:off x="367200" y="1062000"/>
          <a:ext cx="4140000" cy="1872000"/>
        </p:xfrm>
        <a:graphic>
          <a:graphicData uri="http://schemas.openxmlformats.org/drawingml/2006/table">
            <a:tbl>
              <a:tblPr firstRow="1" bandRow="1">
                <a:tableStyleId>{5C22544A-7EE6-4342-B048-85BDC9FD1C3A}</a:tableStyleId>
              </a:tblPr>
              <a:tblGrid>
                <a:gridCol w="1821600"/>
                <a:gridCol w="1159200"/>
                <a:gridCol w="1159200"/>
              </a:tblGrid>
              <a:tr h="267428">
                <a:tc>
                  <a:txBody>
                    <a:bodyPr/>
                    <a:lstStyle/>
                    <a:p>
                      <a:pPr algn="l"/>
                      <a:r>
                        <a:rPr sz="750" b="1" i="0">
                          <a:solidFill>
                            <a:srgbClr val="FFFFFF"/>
                          </a:solidFill>
                          <a:latin typeface="Calibri"/>
                        </a:rPr>
                        <a:t>Performance / Risque</a:t>
                      </a:r>
                    </a:p>
                  </a:txBody>
                  <a:tcPr>
                    <a:solidFill>
                      <a:srgbClr val="1B3A6B"/>
                    </a:solidFill>
                  </a:tcPr>
                </a:tc>
                <a:tc>
                  <a:txBody>
                    <a:bodyPr/>
                    <a:lstStyle/>
                    <a:p>
                      <a:pPr algn="ctr"/>
                      <a:r>
                        <a:rPr sz="750" b="1" i="0">
                          <a:solidFill>
                            <a:srgbClr val="FFFFFF"/>
                          </a:solidFill>
                          <a:latin typeface="Calibri"/>
                        </a:rPr>
                        <a:t>AAPL</a:t>
                      </a:r>
                    </a:p>
                  </a:txBody>
                  <a:tcPr>
                    <a:solidFill>
                      <a:srgbClr val="1B3A6B"/>
                    </a:solidFill>
                  </a:tcPr>
                </a:tc>
                <a:tc>
                  <a:txBody>
                    <a:bodyPr/>
                    <a:lstStyle/>
                    <a:p>
                      <a:pPr algn="ctr"/>
                      <a:r>
                        <a:rPr sz="750" b="1" i="0">
                          <a:solidFill>
                            <a:srgbClr val="FFFFFF"/>
                          </a:solidFill>
                          <a:latin typeface="Calibri"/>
                        </a:rPr>
                        <a:t>MSFT</a:t>
                      </a:r>
                    </a:p>
                  </a:txBody>
                  <a:tcPr>
                    <a:solidFill>
                      <a:srgbClr val="1B3A6B"/>
                    </a:solidFill>
                  </a:tcPr>
                </a:tc>
              </a:tr>
              <a:tr h="267428">
                <a:tc>
                  <a:txBody>
                    <a:bodyPr/>
                    <a:lstStyle/>
                    <a:p>
                      <a:pPr algn="l"/>
                      <a:r>
                        <a:rPr sz="750" b="0" i="0">
                          <a:solidFill>
                            <a:srgbClr val="0D0D0D"/>
                          </a:solidFill>
                          <a:latin typeface="Calibri"/>
                        </a:rPr>
                        <a:t>Perf. 1 Mois</a:t>
                      </a:r>
                    </a:p>
                  </a:txBody>
                  <a:tcPr>
                    <a:solidFill>
                      <a:srgbClr val="FFFFFF"/>
                    </a:solidFill>
                  </a:tcPr>
                </a:tc>
                <a:tc>
                  <a:txBody>
                    <a:bodyPr/>
                    <a:lstStyle/>
                    <a:p>
                      <a:pPr algn="ctr"/>
                      <a:r>
                        <a:rPr sz="750" b="0" i="0">
                          <a:solidFill>
                            <a:srgbClr val="0D0D0D"/>
                          </a:solidFill>
                          <a:latin typeface="Calibri"/>
                        </a:rPr>
                        <a:t>+2,8 %</a:t>
                      </a:r>
                    </a:p>
                  </a:txBody>
                  <a:tcPr>
                    <a:solidFill>
                      <a:srgbClr val="FFFFFF"/>
                    </a:solidFill>
                  </a:tcPr>
                </a:tc>
                <a:tc>
                  <a:txBody>
                    <a:bodyPr/>
                    <a:lstStyle/>
                    <a:p>
                      <a:pPr algn="ctr"/>
                      <a:r>
                        <a:rPr sz="750" b="0" i="0">
                          <a:solidFill>
                            <a:srgbClr val="0D0D0D"/>
                          </a:solidFill>
                          <a:latin typeface="Calibri"/>
                        </a:rPr>
                        <a:t>+0,1 %</a:t>
                      </a:r>
                    </a:p>
                  </a:txBody>
                  <a:tcPr>
                    <a:solidFill>
                      <a:srgbClr val="FFFFFF"/>
                    </a:solidFill>
                  </a:tcPr>
                </a:tc>
              </a:tr>
              <a:tr h="267428">
                <a:tc>
                  <a:txBody>
                    <a:bodyPr/>
                    <a:lstStyle/>
                    <a:p>
                      <a:pPr algn="l"/>
                      <a:r>
                        <a:rPr sz="750" b="0" i="0">
                          <a:solidFill>
                            <a:srgbClr val="0D0D0D"/>
                          </a:solidFill>
                          <a:latin typeface="Calibri"/>
                        </a:rPr>
                        <a:t>Perf. 3 Mois</a:t>
                      </a:r>
                    </a:p>
                  </a:txBody>
                  <a:tcPr>
                    <a:solidFill>
                      <a:srgbClr val="F7F8FA"/>
                    </a:solidFill>
                  </a:tcPr>
                </a:tc>
                <a:tc>
                  <a:txBody>
                    <a:bodyPr/>
                    <a:lstStyle/>
                    <a:p>
                      <a:pPr algn="ctr"/>
                      <a:r>
                        <a:rPr sz="750" b="0" i="0">
                          <a:solidFill>
                            <a:srgbClr val="0D0D0D"/>
                          </a:solidFill>
                          <a:latin typeface="Calibri"/>
                        </a:rPr>
                        <a:t>+0,6 %</a:t>
                      </a:r>
                    </a:p>
                  </a:txBody>
                  <a:tcPr>
                    <a:solidFill>
                      <a:srgbClr val="F7F8FA"/>
                    </a:solidFill>
                  </a:tcPr>
                </a:tc>
                <a:tc>
                  <a:txBody>
                    <a:bodyPr/>
                    <a:lstStyle/>
                    <a:p>
                      <a:pPr algn="ctr"/>
                      <a:r>
                        <a:rPr sz="750" b="0" i="0">
                          <a:solidFill>
                            <a:srgbClr val="0D0D0D"/>
                          </a:solidFill>
                          <a:latin typeface="Calibri"/>
                        </a:rPr>
                        <a:t>-13,7 %</a:t>
                      </a:r>
                    </a:p>
                  </a:txBody>
                  <a:tcPr>
                    <a:solidFill>
                      <a:srgbClr val="F7F8FA"/>
                    </a:solidFill>
                  </a:tcPr>
                </a:tc>
              </a:tr>
              <a:tr h="267428">
                <a:tc>
                  <a:txBody>
                    <a:bodyPr/>
                    <a:lstStyle/>
                    <a:p>
                      <a:pPr algn="l"/>
                      <a:r>
                        <a:rPr sz="750" b="0" i="0">
                          <a:solidFill>
                            <a:srgbClr val="0D0D0D"/>
                          </a:solidFill>
                          <a:latin typeface="Calibri"/>
                        </a:rPr>
                        <a:t>Perf. 1 An</a:t>
                      </a:r>
                    </a:p>
                  </a:txBody>
                  <a:tcPr>
                    <a:solidFill>
                      <a:srgbClr val="FFFFFF"/>
                    </a:solidFill>
                  </a:tcPr>
                </a:tc>
                <a:tc>
                  <a:txBody>
                    <a:bodyPr/>
                    <a:lstStyle/>
                    <a:p>
                      <a:pPr algn="ctr"/>
                      <a:r>
                        <a:rPr sz="750" b="0" i="0">
                          <a:solidFill>
                            <a:srgbClr val="0D0D0D"/>
                          </a:solidFill>
                          <a:latin typeface="Calibri"/>
                        </a:rPr>
                        <a:t>+30,4 %</a:t>
                      </a:r>
                    </a:p>
                  </a:txBody>
                  <a:tcPr>
                    <a:solidFill>
                      <a:srgbClr val="FFFFFF"/>
                    </a:solidFill>
                  </a:tcPr>
                </a:tc>
                <a:tc>
                  <a:txBody>
                    <a:bodyPr/>
                    <a:lstStyle/>
                    <a:p>
                      <a:pPr algn="ctr"/>
                      <a:r>
                        <a:rPr sz="750" b="0" i="0">
                          <a:solidFill>
                            <a:srgbClr val="0D0D0D"/>
                          </a:solidFill>
                          <a:latin typeface="Calibri"/>
                        </a:rPr>
                        <a:t>-18,9 %</a:t>
                      </a:r>
                    </a:p>
                  </a:txBody>
                  <a:tcPr>
                    <a:solidFill>
                      <a:srgbClr val="FFFFFF"/>
                    </a:solidFill>
                  </a:tcPr>
                </a:tc>
              </a:tr>
              <a:tr h="267428">
                <a:tc>
                  <a:txBody>
                    <a:bodyPr/>
                    <a:lstStyle/>
                    <a:p>
                      <a:pPr algn="l"/>
                      <a:r>
                        <a:rPr sz="750" b="0" i="0">
                          <a:solidFill>
                            <a:srgbClr val="0D0D0D"/>
                          </a:solidFill>
                          <a:latin typeface="Calibri"/>
                        </a:rPr>
                        <a:t>Score Momentum</a:t>
                      </a:r>
                    </a:p>
                  </a:txBody>
                  <a:tcPr>
                    <a:solidFill>
                      <a:srgbClr val="F7F8FA"/>
                    </a:solidFill>
                  </a:tcPr>
                </a:tc>
                <a:tc>
                  <a:txBody>
                    <a:bodyPr/>
                    <a:lstStyle/>
                    <a:p>
                      <a:pPr algn="ctr"/>
                      <a:r>
                        <a:rPr sz="750" b="0" i="0">
                          <a:solidFill>
                            <a:srgbClr val="0D0D0D"/>
                          </a:solidFill>
                          <a:latin typeface="Calibri"/>
                        </a:rPr>
                        <a:t>5,2 /10</a:t>
                      </a:r>
                    </a:p>
                  </a:txBody>
                  <a:tcPr>
                    <a:solidFill>
                      <a:srgbClr val="F7F8FA"/>
                    </a:solidFill>
                  </a:tcPr>
                </a:tc>
                <a:tc>
                  <a:txBody>
                    <a:bodyPr/>
                    <a:lstStyle/>
                    <a:p>
                      <a:pPr algn="ctr"/>
                      <a:r>
                        <a:rPr sz="750" b="0" i="0">
                          <a:solidFill>
                            <a:srgbClr val="0D0D0D"/>
                          </a:solidFill>
                          <a:latin typeface="Calibri"/>
                        </a:rPr>
                        <a:t>1,6 /10</a:t>
                      </a:r>
                    </a:p>
                  </a:txBody>
                  <a:tcPr>
                    <a:solidFill>
                      <a:srgbClr val="F7F8FA"/>
                    </a:solidFill>
                  </a:tcPr>
                </a:tc>
              </a:tr>
              <a:tr h="267428">
                <a:tc>
                  <a:txBody>
                    <a:bodyPr/>
                    <a:lstStyle/>
                    <a:p>
                      <a:pPr algn="l"/>
                      <a:r>
                        <a:rPr sz="750" b="0" i="0">
                          <a:solidFill>
                            <a:srgbClr val="0D0D0D"/>
                          </a:solidFill>
                          <a:latin typeface="Calibri"/>
                        </a:rPr>
                        <a:t>Beta</a:t>
                      </a:r>
                    </a:p>
                  </a:txBody>
                  <a:tcPr>
                    <a:solidFill>
                      <a:srgbClr val="FFFFFF"/>
                    </a:solidFill>
                  </a:tcPr>
                </a:tc>
                <a:tc>
                  <a:txBody>
                    <a:bodyPr/>
                    <a:lstStyle/>
                    <a:p>
                      <a:pPr algn="ctr"/>
                      <a:r>
                        <a:rPr sz="750" b="0" i="0">
                          <a:solidFill>
                            <a:srgbClr val="0D0D0D"/>
                          </a:solidFill>
                          <a:latin typeface="Calibri"/>
                        </a:rPr>
                        <a:t>1,11</a:t>
                      </a:r>
                    </a:p>
                  </a:txBody>
                  <a:tcPr>
                    <a:solidFill>
                      <a:srgbClr val="FFFFFF"/>
                    </a:solidFill>
                  </a:tcPr>
                </a:tc>
                <a:tc>
                  <a:txBody>
                    <a:bodyPr/>
                    <a:lstStyle/>
                    <a:p>
                      <a:pPr algn="ctr"/>
                      <a:r>
                        <a:rPr sz="750" b="0" i="0">
                          <a:solidFill>
                            <a:srgbClr val="0D0D0D"/>
                          </a:solidFill>
                          <a:latin typeface="Calibri"/>
                        </a:rPr>
                        <a:t>1,11</a:t>
                      </a:r>
                    </a:p>
                  </a:txBody>
                  <a:tcPr>
                    <a:solidFill>
                      <a:srgbClr val="FFFFFF"/>
                    </a:solidFill>
                  </a:tcPr>
                </a:tc>
              </a:tr>
              <a:tr h="267432">
                <a:tc>
                  <a:txBody>
                    <a:bodyPr/>
                    <a:lstStyle/>
                    <a:p>
                      <a:pPr algn="l"/>
                      <a:r>
                        <a:rPr sz="750" b="0" i="0">
                          <a:solidFill>
                            <a:srgbClr val="0D0D0D"/>
                          </a:solidFill>
                          <a:latin typeface="Calibri"/>
                        </a:rPr>
                        <a:t>VaR 95% 1M</a:t>
                      </a:r>
                    </a:p>
                  </a:txBody>
                  <a:tcPr>
                    <a:solidFill>
                      <a:srgbClr val="F7F8FA"/>
                    </a:solidFill>
                  </a:tcPr>
                </a:tc>
                <a:tc>
                  <a:txBody>
                    <a:bodyPr/>
                    <a:lstStyle/>
                    <a:p>
                      <a:pPr algn="ctr"/>
                      <a:r>
                        <a:rPr sz="750" b="0" i="0">
                          <a:solidFill>
                            <a:srgbClr val="0D0D0D"/>
                          </a:solidFill>
                          <a:latin typeface="Calibri"/>
                        </a:rPr>
                        <a:t>-8,1 %</a:t>
                      </a:r>
                    </a:p>
                  </a:txBody>
                  <a:tcPr>
                    <a:solidFill>
                      <a:srgbClr val="F7F8FA"/>
                    </a:solidFill>
                  </a:tcPr>
                </a:tc>
                <a:tc>
                  <a:txBody>
                    <a:bodyPr/>
                    <a:lstStyle/>
                    <a:p>
                      <a:pPr algn="ctr"/>
                      <a:r>
                        <a:rPr sz="750" b="0" i="0">
                          <a:solidFill>
                            <a:srgbClr val="0D0D0D"/>
                          </a:solidFill>
                          <a:latin typeface="Calibri"/>
                        </a:rPr>
                        <a:t>-10,4 %</a:t>
                      </a:r>
                    </a:p>
                  </a:txBody>
                  <a:tcPr>
                    <a:solidFill>
                      <a:srgbClr val="F7F8FA"/>
                    </a:solidFill>
                  </a:tcPr>
                </a:tc>
              </a:tr>
            </a:tbl>
          </a:graphicData>
        </a:graphic>
      </p:graphicFrame>
      <p:pic>
        <p:nvPicPr>
          <p:cNvPr id="24" name="Picture 23" descr="image.png"/>
          <p:cNvPicPr>
            <a:picLocks noChangeAspect="1"/>
          </p:cNvPicPr>
          <p:nvPr/>
        </p:nvPicPr>
        <p:blipFill>
          <a:blip r:embed="rId2"/>
          <a:stretch>
            <a:fillRect/>
          </a:stretch>
        </p:blipFill>
        <p:spPr>
          <a:xfrm>
            <a:off x="4626000" y="1062000"/>
            <a:ext cx="4158000" cy="1872000"/>
          </a:xfrm>
          <a:prstGeom prst="rect">
            <a:avLst/>
          </a:prstGeom>
        </p:spPr>
      </p:pic>
      <p:sp>
        <p:nvSpPr>
          <p:cNvPr id="25" name="Rectangle 24"/>
          <p:cNvSpPr/>
          <p:nvPr/>
        </p:nvSpPr>
        <p:spPr>
          <a:xfrm>
            <a:off x="367200" y="3024000"/>
            <a:ext cx="84132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4800" y="3067200"/>
            <a:ext cx="8305200" cy="144000"/>
          </a:xfrm>
          <a:prstGeom prst="rect">
            <a:avLst/>
          </a:prstGeom>
          <a:noFill/>
        </p:spPr>
        <p:txBody>
          <a:bodyPr wrap="square">
            <a:spAutoFit/>
          </a:bodyPr>
          <a:lstStyle/>
          <a:p>
            <a:pPr algn="l"/>
            <a:r>
              <a:rPr sz="900" b="1" i="0">
                <a:solidFill>
                  <a:srgbClr val="FFFFFF"/>
                </a:solidFill>
                <a:latin typeface="Calibri"/>
              </a:rPr>
              <a:t>Fourchette 52 Semaines</a:t>
            </a:r>
          </a:p>
        </p:txBody>
      </p:sp>
      <p:sp>
        <p:nvSpPr>
          <p:cNvPr id="27" name="Rectangle 26"/>
          <p:cNvSpPr/>
          <p:nvPr/>
        </p:nvSpPr>
        <p:spPr>
          <a:xfrm>
            <a:off x="367200" y="3247200"/>
            <a:ext cx="8413200" cy="18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24800" y="3276000"/>
            <a:ext cx="1800000" cy="144000"/>
          </a:xfrm>
          <a:prstGeom prst="rect">
            <a:avLst/>
          </a:prstGeom>
          <a:noFill/>
        </p:spPr>
        <p:txBody>
          <a:bodyPr wrap="none">
            <a:spAutoFit/>
          </a:bodyPr>
          <a:lstStyle/>
          <a:p>
            <a:pPr algn="l"/>
            <a:r>
              <a:rPr sz="850" b="0" i="0">
                <a:solidFill>
                  <a:srgbClr val="555555"/>
                </a:solidFill>
                <a:latin typeface="Calibri"/>
              </a:rPr>
              <a:t>AAPL — 52W Low</a:t>
            </a:r>
          </a:p>
        </p:txBody>
      </p:sp>
      <p:sp>
        <p:nvSpPr>
          <p:cNvPr id="29" name="TextBox 28"/>
          <p:cNvSpPr txBox="1"/>
          <p:nvPr/>
        </p:nvSpPr>
        <p:spPr>
          <a:xfrm>
            <a:off x="2268000" y="3276000"/>
            <a:ext cx="1080000" cy="144000"/>
          </a:xfrm>
          <a:prstGeom prst="rect">
            <a:avLst/>
          </a:prstGeom>
          <a:noFill/>
        </p:spPr>
        <p:txBody>
          <a:bodyPr wrap="none">
            <a:spAutoFit/>
          </a:bodyPr>
          <a:lstStyle/>
          <a:p>
            <a:pPr algn="l"/>
            <a:r>
              <a:rPr sz="950" b="1" i="0">
                <a:solidFill>
                  <a:srgbClr val="0D0D0D"/>
                </a:solidFill>
                <a:latin typeface="Calibri"/>
              </a:rPr>
              <a:t>186,06</a:t>
            </a:r>
          </a:p>
        </p:txBody>
      </p:sp>
      <p:sp>
        <p:nvSpPr>
          <p:cNvPr id="30" name="TextBox 29"/>
          <p:cNvSpPr txBox="1"/>
          <p:nvPr/>
        </p:nvSpPr>
        <p:spPr>
          <a:xfrm>
            <a:off x="4608000" y="3276000"/>
            <a:ext cx="1800000" cy="144000"/>
          </a:xfrm>
          <a:prstGeom prst="rect">
            <a:avLst/>
          </a:prstGeom>
          <a:noFill/>
        </p:spPr>
        <p:txBody>
          <a:bodyPr wrap="none">
            <a:spAutoFit/>
          </a:bodyPr>
          <a:lstStyle/>
          <a:p>
            <a:pPr algn="l"/>
            <a:r>
              <a:rPr sz="850" b="0" i="0">
                <a:solidFill>
                  <a:srgbClr val="555555"/>
                </a:solidFill>
                <a:latin typeface="Calibri"/>
              </a:rPr>
              <a:t>AAPL — 52W High</a:t>
            </a:r>
          </a:p>
        </p:txBody>
      </p:sp>
      <p:sp>
        <p:nvSpPr>
          <p:cNvPr id="31" name="TextBox 30"/>
          <p:cNvSpPr txBox="1"/>
          <p:nvPr/>
        </p:nvSpPr>
        <p:spPr>
          <a:xfrm>
            <a:off x="6462000" y="3276000"/>
            <a:ext cx="1080000" cy="144000"/>
          </a:xfrm>
          <a:prstGeom prst="rect">
            <a:avLst/>
          </a:prstGeom>
          <a:noFill/>
        </p:spPr>
        <p:txBody>
          <a:bodyPr wrap="none">
            <a:spAutoFit/>
          </a:bodyPr>
          <a:lstStyle/>
          <a:p>
            <a:pPr algn="l"/>
            <a:r>
              <a:rPr sz="950" b="1" i="0">
                <a:solidFill>
                  <a:srgbClr val="0D0D0D"/>
                </a:solidFill>
                <a:latin typeface="Calibri"/>
              </a:rPr>
              <a:t>288,62</a:t>
            </a:r>
          </a:p>
        </p:txBody>
      </p:sp>
      <p:sp>
        <p:nvSpPr>
          <p:cNvPr id="32" name="Rectangle 31"/>
          <p:cNvSpPr/>
          <p:nvPr/>
        </p:nvSpPr>
        <p:spPr>
          <a:xfrm>
            <a:off x="367200" y="3445200"/>
            <a:ext cx="8413200" cy="1872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4800" y="3474000"/>
            <a:ext cx="1800000" cy="144000"/>
          </a:xfrm>
          <a:prstGeom prst="rect">
            <a:avLst/>
          </a:prstGeom>
          <a:noFill/>
        </p:spPr>
        <p:txBody>
          <a:bodyPr wrap="none">
            <a:spAutoFit/>
          </a:bodyPr>
          <a:lstStyle/>
          <a:p>
            <a:pPr algn="l"/>
            <a:r>
              <a:rPr sz="850" b="0" i="0">
                <a:solidFill>
                  <a:srgbClr val="555555"/>
                </a:solidFill>
                <a:latin typeface="Calibri"/>
              </a:rPr>
              <a:t>MSFT — 52W Low</a:t>
            </a:r>
          </a:p>
        </p:txBody>
      </p:sp>
      <p:sp>
        <p:nvSpPr>
          <p:cNvPr id="34" name="TextBox 33"/>
          <p:cNvSpPr txBox="1"/>
          <p:nvPr/>
        </p:nvSpPr>
        <p:spPr>
          <a:xfrm>
            <a:off x="2268000" y="3474000"/>
            <a:ext cx="1080000" cy="144000"/>
          </a:xfrm>
          <a:prstGeom prst="rect">
            <a:avLst/>
          </a:prstGeom>
          <a:noFill/>
        </p:spPr>
        <p:txBody>
          <a:bodyPr wrap="none">
            <a:spAutoFit/>
          </a:bodyPr>
          <a:lstStyle/>
          <a:p>
            <a:pPr algn="l"/>
            <a:r>
              <a:rPr sz="950" b="1" i="0">
                <a:solidFill>
                  <a:srgbClr val="0D0D0D"/>
                </a:solidFill>
                <a:latin typeface="Calibri"/>
              </a:rPr>
              <a:t>355,67</a:t>
            </a:r>
          </a:p>
        </p:txBody>
      </p:sp>
      <p:sp>
        <p:nvSpPr>
          <p:cNvPr id="35" name="TextBox 34"/>
          <p:cNvSpPr txBox="1"/>
          <p:nvPr/>
        </p:nvSpPr>
        <p:spPr>
          <a:xfrm>
            <a:off x="4608000" y="3474000"/>
            <a:ext cx="1800000" cy="144000"/>
          </a:xfrm>
          <a:prstGeom prst="rect">
            <a:avLst/>
          </a:prstGeom>
          <a:noFill/>
        </p:spPr>
        <p:txBody>
          <a:bodyPr wrap="none">
            <a:spAutoFit/>
          </a:bodyPr>
          <a:lstStyle/>
          <a:p>
            <a:pPr algn="l"/>
            <a:r>
              <a:rPr sz="850" b="0" i="0">
                <a:solidFill>
                  <a:srgbClr val="555555"/>
                </a:solidFill>
                <a:latin typeface="Calibri"/>
              </a:rPr>
              <a:t>MSFT — 52W High</a:t>
            </a:r>
          </a:p>
        </p:txBody>
      </p:sp>
      <p:sp>
        <p:nvSpPr>
          <p:cNvPr id="36" name="TextBox 35"/>
          <p:cNvSpPr txBox="1"/>
          <p:nvPr/>
        </p:nvSpPr>
        <p:spPr>
          <a:xfrm>
            <a:off x="6462000" y="3474000"/>
            <a:ext cx="1080000" cy="144000"/>
          </a:xfrm>
          <a:prstGeom prst="rect">
            <a:avLst/>
          </a:prstGeom>
          <a:noFill/>
        </p:spPr>
        <p:txBody>
          <a:bodyPr wrap="none">
            <a:spAutoFit/>
          </a:bodyPr>
          <a:lstStyle/>
          <a:p>
            <a:pPr algn="l"/>
            <a:r>
              <a:rPr sz="950" b="1" i="0">
                <a:solidFill>
                  <a:srgbClr val="0D0D0D"/>
                </a:solidFill>
                <a:latin typeface="Calibri"/>
              </a:rPr>
              <a:t>555,45</a:t>
            </a:r>
          </a:p>
        </p:txBody>
      </p:sp>
      <p:sp>
        <p:nvSpPr>
          <p:cNvPr id="37" name="Rectangle 36"/>
          <p:cNvSpPr/>
          <p:nvPr/>
        </p:nvSpPr>
        <p:spPr>
          <a:xfrm>
            <a:off x="367200" y="3870000"/>
            <a:ext cx="8413200" cy="666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67200" y="3870000"/>
            <a:ext cx="46800" cy="66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86000" y="3906000"/>
            <a:ext cx="8208000" cy="125999"/>
          </a:xfrm>
          <a:prstGeom prst="rect">
            <a:avLst/>
          </a:prstGeom>
          <a:noFill/>
        </p:spPr>
        <p:txBody>
          <a:bodyPr wrap="square">
            <a:spAutoFit/>
          </a:bodyPr>
          <a:lstStyle/>
          <a:p>
            <a:pPr algn="l"/>
            <a:r>
              <a:rPr sz="850" b="1" i="0">
                <a:solidFill>
                  <a:srgbClr val="1B3A6B"/>
                </a:solidFill>
                <a:latin typeface="Calibri"/>
              </a:rPr>
              <a:t>LECTURE RISQUE/MOMENTUM</a:t>
            </a:r>
          </a:p>
        </p:txBody>
      </p:sp>
      <p:sp>
        <p:nvSpPr>
          <p:cNvPr id="40" name="TextBox 39"/>
          <p:cNvSpPr txBox="1"/>
          <p:nvPr/>
        </p:nvSpPr>
        <p:spPr>
          <a:xfrm>
            <a:off x="486000" y="4042800"/>
            <a:ext cx="8208000" cy="468000"/>
          </a:xfrm>
          <a:prstGeom prst="rect">
            <a:avLst/>
          </a:prstGeom>
          <a:noFill/>
        </p:spPr>
        <p:txBody>
          <a:bodyPr wrap="square">
            <a:spAutoFit/>
          </a:bodyPr>
          <a:lstStyle/>
          <a:p>
            <a:pPr algn="l"/>
            <a:r>
              <a:rPr sz="900" b="0" i="0">
                <a:solidFill>
                  <a:srgbClr val="1B3A6B"/>
                </a:solidFill>
                <a:latin typeface="Calibri"/>
              </a:rPr>
              <a:t>Profil de risque : MSFT presente une sensibilite marche moindre (beta 1.11), adapte aux portefeuilles prudents. Sur le momentum 3 mois, AAPL prend la tete (+0.6% vs -13.7%). La volatilite annualisee (24% vs 24%) calibre le dimensionnement de position : une volatilite plus elevee impose une ponderation reduite pour maintenir un budget risque equivalent.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Verdict</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FinSight Score, Theses et Recommandation Finale</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FinSight Score Compare</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10" name="Rectangle 9"/>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6" name="Rectangle 15"/>
          <p:cNvSpPr/>
          <p:nvPr/>
        </p:nvSpPr>
        <p:spPr>
          <a:xfrm>
            <a:off x="367200" y="622800"/>
            <a:ext cx="4118400" cy="201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22800"/>
            <a:ext cx="64800" cy="20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640800"/>
            <a:ext cx="3960000" cy="165600"/>
          </a:xfrm>
          <a:prstGeom prst="rect">
            <a:avLst/>
          </a:prstGeom>
          <a:noFill/>
        </p:spPr>
        <p:txBody>
          <a:bodyPr wrap="none">
            <a:spAutoFit/>
          </a:bodyPr>
          <a:lstStyle/>
          <a:p>
            <a:pPr algn="l"/>
            <a:r>
              <a:rPr sz="850" b="1" i="0">
                <a:solidFill>
                  <a:srgbClr val="1B3A6B"/>
                </a:solidFill>
                <a:latin typeface="Calibri"/>
              </a:rPr>
              <a:t>Apple Inc. (AAPL)</a:t>
            </a:r>
          </a:p>
        </p:txBody>
      </p:sp>
      <p:sp>
        <p:nvSpPr>
          <p:cNvPr id="19" name="Rectangle 18"/>
          <p:cNvSpPr/>
          <p:nvPr/>
        </p:nvSpPr>
        <p:spPr>
          <a:xfrm>
            <a:off x="4658400" y="622800"/>
            <a:ext cx="4118400" cy="2016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58400" y="622800"/>
            <a:ext cx="64800" cy="2016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7200" y="640800"/>
            <a:ext cx="3960000" cy="165600"/>
          </a:xfrm>
          <a:prstGeom prst="rect">
            <a:avLst/>
          </a:prstGeom>
          <a:noFill/>
        </p:spPr>
        <p:txBody>
          <a:bodyPr wrap="none">
            <a:spAutoFit/>
          </a:bodyPr>
          <a:lstStyle/>
          <a:p>
            <a:pPr algn="l"/>
            <a:r>
              <a:rPr sz="850" b="1" i="0">
                <a:solidFill>
                  <a:srgbClr val="1A7A4A"/>
                </a:solidFill>
                <a:latin typeface="Calibri"/>
              </a:rPr>
              <a:t>Microsoft Corporation (MSFT)</a:t>
            </a:r>
          </a:p>
        </p:txBody>
      </p:sp>
      <p:sp>
        <p:nvSpPr>
          <p:cNvPr id="22" name="TextBox 21"/>
          <p:cNvSpPr txBox="1"/>
          <p:nvPr/>
        </p:nvSpPr>
        <p:spPr>
          <a:xfrm>
            <a:off x="367200" y="856800"/>
            <a:ext cx="8413200" cy="162000"/>
          </a:xfrm>
          <a:prstGeom prst="rect">
            <a:avLst/>
          </a:prstGeom>
          <a:noFill/>
        </p:spPr>
        <p:txBody>
          <a:bodyPr wrap="square">
            <a:spAutoFit/>
          </a:bodyPr>
          <a:lstStyle/>
          <a:p>
            <a:pPr algn="l"/>
            <a:r>
              <a:rPr sz="1000" b="1" i="1">
                <a:solidFill>
                  <a:srgbClr val="2E5FA3"/>
                </a:solidFill>
                <a:latin typeface="Calibri"/>
              </a:rPr>
              <a:t>MSFT l'emporte au score composite avec 14 point(s) d'avance</a:t>
            </a:r>
          </a:p>
        </p:txBody>
      </p:sp>
      <p:pic>
        <p:nvPicPr>
          <p:cNvPr id="23" name="Picture 22" descr="image.png"/>
          <p:cNvPicPr>
            <a:picLocks noChangeAspect="1"/>
          </p:cNvPicPr>
          <p:nvPr/>
        </p:nvPicPr>
        <p:blipFill>
          <a:blip r:embed="rId2"/>
          <a:stretch>
            <a:fillRect/>
          </a:stretch>
        </p:blipFill>
        <p:spPr>
          <a:xfrm>
            <a:off x="367200" y="1062000"/>
            <a:ext cx="5040000" cy="1638000"/>
          </a:xfrm>
          <a:prstGeom prst="rect">
            <a:avLst/>
          </a:prstGeom>
        </p:spPr>
      </p:pic>
      <p:sp>
        <p:nvSpPr>
          <p:cNvPr id="24" name="Rectangle 23"/>
          <p:cNvSpPr/>
          <p:nvPr/>
        </p:nvSpPr>
        <p:spPr>
          <a:xfrm>
            <a:off x="5544000" y="1062000"/>
            <a:ext cx="3229200" cy="7560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44000" y="1062000"/>
            <a:ext cx="46800" cy="75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34000" y="1116000"/>
            <a:ext cx="3092400" cy="360000"/>
          </a:xfrm>
          <a:prstGeom prst="rect">
            <a:avLst/>
          </a:prstGeom>
          <a:noFill/>
        </p:spPr>
        <p:txBody>
          <a:bodyPr wrap="square">
            <a:spAutoFit/>
          </a:bodyPr>
          <a:lstStyle/>
          <a:p>
            <a:pPr algn="l"/>
            <a:r>
              <a:rPr sz="1700" b="1" i="0">
                <a:solidFill>
                  <a:srgbClr val="1B3A6B"/>
                </a:solidFill>
                <a:latin typeface="Calibri"/>
              </a:rPr>
              <a:t>HOLD</a:t>
            </a:r>
          </a:p>
        </p:txBody>
      </p:sp>
      <p:sp>
        <p:nvSpPr>
          <p:cNvPr id="27" name="TextBox 26"/>
          <p:cNvSpPr txBox="1"/>
          <p:nvPr/>
        </p:nvSpPr>
        <p:spPr>
          <a:xfrm>
            <a:off x="5634000" y="1458000"/>
            <a:ext cx="3092400" cy="180000"/>
          </a:xfrm>
          <a:prstGeom prst="rect">
            <a:avLst/>
          </a:prstGeom>
          <a:noFill/>
        </p:spPr>
        <p:txBody>
          <a:bodyPr wrap="square">
            <a:spAutoFit/>
          </a:bodyPr>
          <a:lstStyle/>
          <a:p>
            <a:pPr algn="l"/>
            <a:r>
              <a:rPr sz="750" b="0" i="0">
                <a:solidFill>
                  <a:srgbClr val="555555"/>
                </a:solidFill>
                <a:latin typeface="Calibri"/>
              </a:rPr>
              <a:t>Recommandation — AAPL</a:t>
            </a:r>
          </a:p>
        </p:txBody>
      </p:sp>
      <p:sp>
        <p:nvSpPr>
          <p:cNvPr id="28" name="TextBox 27"/>
          <p:cNvSpPr txBox="1"/>
          <p:nvPr/>
        </p:nvSpPr>
        <p:spPr>
          <a:xfrm>
            <a:off x="5634000" y="1558800"/>
            <a:ext cx="3092400" cy="151200"/>
          </a:xfrm>
          <a:prstGeom prst="rect">
            <a:avLst/>
          </a:prstGeom>
          <a:noFill/>
        </p:spPr>
        <p:txBody>
          <a:bodyPr wrap="square">
            <a:spAutoFit/>
          </a:bodyPr>
          <a:lstStyle/>
          <a:p>
            <a:pPr algn="l"/>
            <a:r>
              <a:rPr sz="700" b="0" i="0">
                <a:solidFill>
                  <a:srgbClr val="888888"/>
                </a:solidFill>
                <a:latin typeface="Calibri"/>
              </a:rPr>
              <a:t>— conviction</a:t>
            </a:r>
          </a:p>
        </p:txBody>
      </p:sp>
      <p:sp>
        <p:nvSpPr>
          <p:cNvPr id="29" name="Rectangle 28"/>
          <p:cNvSpPr/>
          <p:nvPr/>
        </p:nvSpPr>
        <p:spPr>
          <a:xfrm>
            <a:off x="5544000" y="1944000"/>
            <a:ext cx="3229200" cy="7560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44000" y="1944000"/>
            <a:ext cx="46800" cy="75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34000" y="1998000"/>
            <a:ext cx="3092400" cy="360000"/>
          </a:xfrm>
          <a:prstGeom prst="rect">
            <a:avLst/>
          </a:prstGeom>
          <a:noFill/>
        </p:spPr>
        <p:txBody>
          <a:bodyPr wrap="square">
            <a:spAutoFit/>
          </a:bodyPr>
          <a:lstStyle/>
          <a:p>
            <a:pPr algn="l"/>
            <a:r>
              <a:rPr sz="1700" b="1" i="0">
                <a:solidFill>
                  <a:srgbClr val="1B3A6B"/>
                </a:solidFill>
                <a:latin typeface="Calibri"/>
              </a:rPr>
              <a:t>HOLD</a:t>
            </a:r>
          </a:p>
        </p:txBody>
      </p:sp>
      <p:sp>
        <p:nvSpPr>
          <p:cNvPr id="32" name="TextBox 31"/>
          <p:cNvSpPr txBox="1"/>
          <p:nvPr/>
        </p:nvSpPr>
        <p:spPr>
          <a:xfrm>
            <a:off x="5634000" y="2340000"/>
            <a:ext cx="3092400" cy="180000"/>
          </a:xfrm>
          <a:prstGeom prst="rect">
            <a:avLst/>
          </a:prstGeom>
          <a:noFill/>
        </p:spPr>
        <p:txBody>
          <a:bodyPr wrap="square">
            <a:spAutoFit/>
          </a:bodyPr>
          <a:lstStyle/>
          <a:p>
            <a:pPr algn="l"/>
            <a:r>
              <a:rPr sz="750" b="0" i="0">
                <a:solidFill>
                  <a:srgbClr val="555555"/>
                </a:solidFill>
                <a:latin typeface="Calibri"/>
              </a:rPr>
              <a:t>Recommandation — MSFT</a:t>
            </a:r>
          </a:p>
        </p:txBody>
      </p:sp>
      <p:sp>
        <p:nvSpPr>
          <p:cNvPr id="33" name="TextBox 32"/>
          <p:cNvSpPr txBox="1"/>
          <p:nvPr/>
        </p:nvSpPr>
        <p:spPr>
          <a:xfrm>
            <a:off x="5634000" y="2440800"/>
            <a:ext cx="3092400" cy="151200"/>
          </a:xfrm>
          <a:prstGeom prst="rect">
            <a:avLst/>
          </a:prstGeom>
          <a:noFill/>
        </p:spPr>
        <p:txBody>
          <a:bodyPr wrap="square">
            <a:spAutoFit/>
          </a:bodyPr>
          <a:lstStyle/>
          <a:p>
            <a:pPr algn="l"/>
            <a:r>
              <a:rPr sz="700" b="0" i="0">
                <a:solidFill>
                  <a:srgbClr val="888888"/>
                </a:solidFill>
                <a:latin typeface="Calibri"/>
              </a:rPr>
              <a:t>— conviction</a:t>
            </a:r>
          </a:p>
        </p:txBody>
      </p:sp>
      <p:sp>
        <p:nvSpPr>
          <p:cNvPr id="34" name="Rectangle 33"/>
          <p:cNvSpPr/>
          <p:nvPr/>
        </p:nvSpPr>
        <p:spPr>
          <a:xfrm>
            <a:off x="367200" y="2826000"/>
            <a:ext cx="84132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4800" y="2861999"/>
            <a:ext cx="8280000" cy="151200"/>
          </a:xfrm>
          <a:prstGeom prst="rect">
            <a:avLst/>
          </a:prstGeom>
          <a:noFill/>
        </p:spPr>
        <p:txBody>
          <a:bodyPr wrap="square">
            <a:spAutoFit/>
          </a:bodyPr>
          <a:lstStyle/>
          <a:p>
            <a:pPr algn="l"/>
            <a:r>
              <a:rPr sz="900" b="1" i="0">
                <a:solidFill>
                  <a:srgbClr val="FFFFFF"/>
                </a:solidFill>
                <a:latin typeface="Calibri"/>
              </a:rPr>
              <a:t>Decomposition du Score Composite (4 axes : Valeur / Croissance / Qualite / Momentum)</a:t>
            </a:r>
          </a:p>
        </p:txBody>
      </p:sp>
      <p:sp>
        <p:nvSpPr>
          <p:cNvPr id="36" name="Rectangle 35"/>
          <p:cNvSpPr/>
          <p:nvPr/>
        </p:nvSpPr>
        <p:spPr>
          <a:xfrm>
            <a:off x="367200" y="3077999"/>
            <a:ext cx="2015999" cy="432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7200" y="3077999"/>
            <a:ext cx="2015999" cy="1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03200" y="3106799"/>
            <a:ext cx="1943999" cy="125999"/>
          </a:xfrm>
          <a:prstGeom prst="rect">
            <a:avLst/>
          </a:prstGeom>
          <a:noFill/>
        </p:spPr>
        <p:txBody>
          <a:bodyPr wrap="none">
            <a:spAutoFit/>
          </a:bodyPr>
          <a:lstStyle/>
          <a:p>
            <a:pPr algn="l"/>
            <a:r>
              <a:rPr sz="850" b="0" i="0">
                <a:solidFill>
                  <a:srgbClr val="555555"/>
                </a:solidFill>
                <a:latin typeface="Calibri"/>
              </a:rPr>
              <a:t>Valeur</a:t>
            </a:r>
          </a:p>
        </p:txBody>
      </p:sp>
      <p:sp>
        <p:nvSpPr>
          <p:cNvPr id="39" name="TextBox 38"/>
          <p:cNvSpPr txBox="1"/>
          <p:nvPr/>
        </p:nvSpPr>
        <p:spPr>
          <a:xfrm>
            <a:off x="403200" y="3239999"/>
            <a:ext cx="972000" cy="216000"/>
          </a:xfrm>
          <a:prstGeom prst="rect">
            <a:avLst/>
          </a:prstGeom>
          <a:noFill/>
        </p:spPr>
        <p:txBody>
          <a:bodyPr wrap="square">
            <a:spAutoFit/>
          </a:bodyPr>
          <a:lstStyle/>
          <a:p>
            <a:pPr algn="l"/>
            <a:r>
              <a:rPr sz="1100" b="1" i="0">
                <a:solidFill>
                  <a:srgbClr val="2E5FA3"/>
                </a:solidFill>
                <a:latin typeface="Calibri"/>
              </a:rPr>
              <a:t>11 / 25</a:t>
            </a:r>
          </a:p>
        </p:txBody>
      </p:sp>
      <p:sp>
        <p:nvSpPr>
          <p:cNvPr id="40" name="TextBox 39"/>
          <p:cNvSpPr txBox="1"/>
          <p:nvPr/>
        </p:nvSpPr>
        <p:spPr>
          <a:xfrm>
            <a:off x="1411200" y="3239999"/>
            <a:ext cx="900000" cy="216000"/>
          </a:xfrm>
          <a:prstGeom prst="rect">
            <a:avLst/>
          </a:prstGeom>
          <a:noFill/>
        </p:spPr>
        <p:txBody>
          <a:bodyPr wrap="square">
            <a:spAutoFit/>
          </a:bodyPr>
          <a:lstStyle/>
          <a:p>
            <a:pPr algn="l"/>
            <a:r>
              <a:rPr sz="1100" b="1" i="0">
                <a:solidFill>
                  <a:srgbClr val="2E8B57"/>
                </a:solidFill>
                <a:latin typeface="Calibri"/>
              </a:rPr>
              <a:t>14 / 25</a:t>
            </a:r>
          </a:p>
        </p:txBody>
      </p:sp>
      <p:sp>
        <p:nvSpPr>
          <p:cNvPr id="41" name="Rectangle 40"/>
          <p:cNvSpPr/>
          <p:nvPr/>
        </p:nvSpPr>
        <p:spPr>
          <a:xfrm>
            <a:off x="2469600" y="3077999"/>
            <a:ext cx="2015999" cy="432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469600" y="3077999"/>
            <a:ext cx="2015999" cy="1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05599" y="3106799"/>
            <a:ext cx="1943999" cy="125999"/>
          </a:xfrm>
          <a:prstGeom prst="rect">
            <a:avLst/>
          </a:prstGeom>
          <a:noFill/>
        </p:spPr>
        <p:txBody>
          <a:bodyPr wrap="none">
            <a:spAutoFit/>
          </a:bodyPr>
          <a:lstStyle/>
          <a:p>
            <a:pPr algn="l"/>
            <a:r>
              <a:rPr sz="850" b="0" i="0">
                <a:solidFill>
                  <a:srgbClr val="555555"/>
                </a:solidFill>
                <a:latin typeface="Calibri"/>
              </a:rPr>
              <a:t>Croissance</a:t>
            </a:r>
          </a:p>
        </p:txBody>
      </p:sp>
      <p:sp>
        <p:nvSpPr>
          <p:cNvPr id="44" name="TextBox 43"/>
          <p:cNvSpPr txBox="1"/>
          <p:nvPr/>
        </p:nvSpPr>
        <p:spPr>
          <a:xfrm>
            <a:off x="2505599" y="3239999"/>
            <a:ext cx="972000" cy="216000"/>
          </a:xfrm>
          <a:prstGeom prst="rect">
            <a:avLst/>
          </a:prstGeom>
          <a:noFill/>
        </p:spPr>
        <p:txBody>
          <a:bodyPr wrap="square">
            <a:spAutoFit/>
          </a:bodyPr>
          <a:lstStyle/>
          <a:p>
            <a:pPr algn="l"/>
            <a:r>
              <a:rPr sz="1100" b="1" i="0">
                <a:solidFill>
                  <a:srgbClr val="2E5FA3"/>
                </a:solidFill>
                <a:latin typeface="Calibri"/>
              </a:rPr>
              <a:t>14 / 25</a:t>
            </a:r>
          </a:p>
        </p:txBody>
      </p:sp>
      <p:sp>
        <p:nvSpPr>
          <p:cNvPr id="45" name="TextBox 44"/>
          <p:cNvSpPr txBox="1"/>
          <p:nvPr/>
        </p:nvSpPr>
        <p:spPr>
          <a:xfrm>
            <a:off x="3513600" y="3239999"/>
            <a:ext cx="900000" cy="216000"/>
          </a:xfrm>
          <a:prstGeom prst="rect">
            <a:avLst/>
          </a:prstGeom>
          <a:noFill/>
        </p:spPr>
        <p:txBody>
          <a:bodyPr wrap="square">
            <a:spAutoFit/>
          </a:bodyPr>
          <a:lstStyle/>
          <a:p>
            <a:pPr algn="l"/>
            <a:r>
              <a:rPr sz="1100" b="1" i="0">
                <a:solidFill>
                  <a:srgbClr val="2E8B57"/>
                </a:solidFill>
                <a:latin typeface="Calibri"/>
              </a:rPr>
              <a:t>24 / 25</a:t>
            </a:r>
          </a:p>
        </p:txBody>
      </p:sp>
      <p:sp>
        <p:nvSpPr>
          <p:cNvPr id="46" name="Rectangle 45"/>
          <p:cNvSpPr/>
          <p:nvPr/>
        </p:nvSpPr>
        <p:spPr>
          <a:xfrm>
            <a:off x="4572000" y="3077999"/>
            <a:ext cx="2015999" cy="432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572000" y="3077999"/>
            <a:ext cx="2015999" cy="1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608000" y="3106799"/>
            <a:ext cx="1943999" cy="125999"/>
          </a:xfrm>
          <a:prstGeom prst="rect">
            <a:avLst/>
          </a:prstGeom>
          <a:noFill/>
        </p:spPr>
        <p:txBody>
          <a:bodyPr wrap="none">
            <a:spAutoFit/>
          </a:bodyPr>
          <a:lstStyle/>
          <a:p>
            <a:pPr algn="l"/>
            <a:r>
              <a:rPr sz="850" b="0" i="0">
                <a:solidFill>
                  <a:srgbClr val="555555"/>
                </a:solidFill>
                <a:latin typeface="Calibri"/>
              </a:rPr>
              <a:t>Qualite</a:t>
            </a:r>
          </a:p>
        </p:txBody>
      </p:sp>
      <p:sp>
        <p:nvSpPr>
          <p:cNvPr id="49" name="TextBox 48"/>
          <p:cNvSpPr txBox="1"/>
          <p:nvPr/>
        </p:nvSpPr>
        <p:spPr>
          <a:xfrm>
            <a:off x="4608000" y="3239999"/>
            <a:ext cx="972000" cy="216000"/>
          </a:xfrm>
          <a:prstGeom prst="rect">
            <a:avLst/>
          </a:prstGeom>
          <a:noFill/>
        </p:spPr>
        <p:txBody>
          <a:bodyPr wrap="square">
            <a:spAutoFit/>
          </a:bodyPr>
          <a:lstStyle/>
          <a:p>
            <a:pPr algn="l"/>
            <a:r>
              <a:rPr sz="1100" b="1" i="0">
                <a:solidFill>
                  <a:srgbClr val="2E5FA3"/>
                </a:solidFill>
                <a:latin typeface="Calibri"/>
              </a:rPr>
              <a:t>25 / 25</a:t>
            </a:r>
          </a:p>
        </p:txBody>
      </p:sp>
      <p:sp>
        <p:nvSpPr>
          <p:cNvPr id="50" name="TextBox 49"/>
          <p:cNvSpPr txBox="1"/>
          <p:nvPr/>
        </p:nvSpPr>
        <p:spPr>
          <a:xfrm>
            <a:off x="5616000" y="3239999"/>
            <a:ext cx="900000" cy="216000"/>
          </a:xfrm>
          <a:prstGeom prst="rect">
            <a:avLst/>
          </a:prstGeom>
          <a:noFill/>
        </p:spPr>
        <p:txBody>
          <a:bodyPr wrap="square">
            <a:spAutoFit/>
          </a:bodyPr>
          <a:lstStyle/>
          <a:p>
            <a:pPr algn="l"/>
            <a:r>
              <a:rPr sz="1100" b="1" i="0">
                <a:solidFill>
                  <a:srgbClr val="2E8B57"/>
                </a:solidFill>
                <a:latin typeface="Calibri"/>
              </a:rPr>
              <a:t>25 / 25</a:t>
            </a:r>
          </a:p>
        </p:txBody>
      </p:sp>
      <p:sp>
        <p:nvSpPr>
          <p:cNvPr id="51" name="Rectangle 50"/>
          <p:cNvSpPr/>
          <p:nvPr/>
        </p:nvSpPr>
        <p:spPr>
          <a:xfrm>
            <a:off x="6674400" y="3077999"/>
            <a:ext cx="2015999" cy="432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674400" y="3077999"/>
            <a:ext cx="2015999" cy="1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710400" y="3106799"/>
            <a:ext cx="1943999" cy="125999"/>
          </a:xfrm>
          <a:prstGeom prst="rect">
            <a:avLst/>
          </a:prstGeom>
          <a:noFill/>
        </p:spPr>
        <p:txBody>
          <a:bodyPr wrap="none">
            <a:spAutoFit/>
          </a:bodyPr>
          <a:lstStyle/>
          <a:p>
            <a:pPr algn="l"/>
            <a:r>
              <a:rPr sz="850" b="0" i="0">
                <a:solidFill>
                  <a:srgbClr val="555555"/>
                </a:solidFill>
                <a:latin typeface="Calibri"/>
              </a:rPr>
              <a:t>Momentum</a:t>
            </a:r>
          </a:p>
        </p:txBody>
      </p:sp>
      <p:sp>
        <p:nvSpPr>
          <p:cNvPr id="54" name="TextBox 53"/>
          <p:cNvSpPr txBox="1"/>
          <p:nvPr/>
        </p:nvSpPr>
        <p:spPr>
          <a:xfrm>
            <a:off x="6710400" y="3239999"/>
            <a:ext cx="972000" cy="216000"/>
          </a:xfrm>
          <a:prstGeom prst="rect">
            <a:avLst/>
          </a:prstGeom>
          <a:noFill/>
        </p:spPr>
        <p:txBody>
          <a:bodyPr wrap="square">
            <a:spAutoFit/>
          </a:bodyPr>
          <a:lstStyle/>
          <a:p>
            <a:pPr algn="l"/>
            <a:r>
              <a:rPr sz="1100" b="1" i="0">
                <a:solidFill>
                  <a:srgbClr val="2E5FA3"/>
                </a:solidFill>
                <a:latin typeface="Calibri"/>
              </a:rPr>
              <a:t>12 / 25</a:t>
            </a:r>
          </a:p>
        </p:txBody>
      </p:sp>
      <p:sp>
        <p:nvSpPr>
          <p:cNvPr id="55" name="TextBox 54"/>
          <p:cNvSpPr txBox="1"/>
          <p:nvPr/>
        </p:nvSpPr>
        <p:spPr>
          <a:xfrm>
            <a:off x="7718399" y="3239999"/>
            <a:ext cx="900000" cy="216000"/>
          </a:xfrm>
          <a:prstGeom prst="rect">
            <a:avLst/>
          </a:prstGeom>
          <a:noFill/>
        </p:spPr>
        <p:txBody>
          <a:bodyPr wrap="square">
            <a:spAutoFit/>
          </a:bodyPr>
          <a:lstStyle/>
          <a:p>
            <a:pPr algn="l"/>
            <a:r>
              <a:rPr sz="1100" b="1" i="0">
                <a:solidFill>
                  <a:srgbClr val="2E8B57"/>
                </a:solidFill>
                <a:latin typeface="Calibri"/>
              </a:rPr>
              <a:t>10 / 25</a:t>
            </a:r>
          </a:p>
        </p:txBody>
      </p:sp>
      <p:sp>
        <p:nvSpPr>
          <p:cNvPr id="56" name="Rectangle 55"/>
          <p:cNvSpPr/>
          <p:nvPr/>
        </p:nvSpPr>
        <p:spPr>
          <a:xfrm>
            <a:off x="367200" y="3581999"/>
            <a:ext cx="8413200" cy="594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367200" y="3581999"/>
            <a:ext cx="46800" cy="59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86000" y="3617999"/>
            <a:ext cx="8208000" cy="125999"/>
          </a:xfrm>
          <a:prstGeom prst="rect">
            <a:avLst/>
          </a:prstGeom>
          <a:noFill/>
        </p:spPr>
        <p:txBody>
          <a:bodyPr wrap="square">
            <a:spAutoFit/>
          </a:bodyPr>
          <a:lstStyle/>
          <a:p>
            <a:pPr algn="l"/>
            <a:r>
              <a:rPr sz="900" b="1" i="0">
                <a:solidFill>
                  <a:srgbClr val="1B3A6B"/>
                </a:solidFill>
                <a:latin typeface="Calibri"/>
              </a:rPr>
              <a:t>LECTURE ANALYTIQUE DU SCORE COMPOSITE</a:t>
            </a:r>
          </a:p>
        </p:txBody>
      </p:sp>
      <p:sp>
        <p:nvSpPr>
          <p:cNvPr id="59" name="TextBox 58"/>
          <p:cNvSpPr txBox="1"/>
          <p:nvPr/>
        </p:nvSpPr>
        <p:spPr>
          <a:xfrm>
            <a:off x="486000" y="3754800"/>
            <a:ext cx="8208000" cy="413999"/>
          </a:xfrm>
          <a:prstGeom prst="rect">
            <a:avLst/>
          </a:prstGeom>
          <a:noFill/>
        </p:spPr>
        <p:txBody>
          <a:bodyPr wrap="square">
            <a:spAutoFit/>
          </a:bodyPr>
          <a:lstStyle/>
          <a:p>
            <a:pPr algn="l"/>
            <a:r>
              <a:rPr sz="900" b="0" i="0">
                <a:solidFill>
                  <a:srgbClr val="1B3A6B"/>
                </a:solidFill>
                <a:latin typeface="Calibri"/>
              </a:rPr>
              <a:t>Le score composite FinSight integre 4 piliers (Valeur, Croissance, Qualite, Momentum) sur une echelle de 0 a 100. MSFT ressort en tete avec un ecart de 14 points, traduisant un meilleur equilibre global des fondamentaux. Les convictions respectives (0% vs 0%) quantifient la robustesse de l'opinion sur la these, a croiser avec l'exposition en portefeuille et le catalyseur de deblocage de valeur a 12 mois.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Theses d'Investissement Bull / Bear</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10" name="Rectangle 9"/>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6" name="Rectangle 15"/>
          <p:cNvSpPr/>
          <p:nvPr/>
        </p:nvSpPr>
        <p:spPr>
          <a:xfrm>
            <a:off x="367200" y="622800"/>
            <a:ext cx="4118400" cy="201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7200" y="622800"/>
            <a:ext cx="64800" cy="20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640800"/>
            <a:ext cx="3960000" cy="165600"/>
          </a:xfrm>
          <a:prstGeom prst="rect">
            <a:avLst/>
          </a:prstGeom>
          <a:noFill/>
        </p:spPr>
        <p:txBody>
          <a:bodyPr wrap="none">
            <a:spAutoFit/>
          </a:bodyPr>
          <a:lstStyle/>
          <a:p>
            <a:pPr algn="l"/>
            <a:r>
              <a:rPr sz="850" b="1" i="0">
                <a:solidFill>
                  <a:srgbClr val="1B3A6B"/>
                </a:solidFill>
                <a:latin typeface="Calibri"/>
              </a:rPr>
              <a:t>Apple Inc. (AAPL)</a:t>
            </a:r>
          </a:p>
        </p:txBody>
      </p:sp>
      <p:sp>
        <p:nvSpPr>
          <p:cNvPr id="19" name="Rectangle 18"/>
          <p:cNvSpPr/>
          <p:nvPr/>
        </p:nvSpPr>
        <p:spPr>
          <a:xfrm>
            <a:off x="4658400" y="622800"/>
            <a:ext cx="4118400" cy="2016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58400" y="622800"/>
            <a:ext cx="64800" cy="2016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7200" y="640800"/>
            <a:ext cx="3960000" cy="165600"/>
          </a:xfrm>
          <a:prstGeom prst="rect">
            <a:avLst/>
          </a:prstGeom>
          <a:noFill/>
        </p:spPr>
        <p:txBody>
          <a:bodyPr wrap="none">
            <a:spAutoFit/>
          </a:bodyPr>
          <a:lstStyle/>
          <a:p>
            <a:pPr algn="l"/>
            <a:r>
              <a:rPr sz="850" b="1" i="0">
                <a:solidFill>
                  <a:srgbClr val="1A7A4A"/>
                </a:solidFill>
                <a:latin typeface="Calibri"/>
              </a:rPr>
              <a:t>Microsoft Corporation (MSFT)</a:t>
            </a:r>
          </a:p>
        </p:txBody>
      </p:sp>
      <p:sp>
        <p:nvSpPr>
          <p:cNvPr id="22" name="TextBox 21"/>
          <p:cNvSpPr txBox="1"/>
          <p:nvPr/>
        </p:nvSpPr>
        <p:spPr>
          <a:xfrm>
            <a:off x="367200" y="856800"/>
            <a:ext cx="8413200" cy="162000"/>
          </a:xfrm>
          <a:prstGeom prst="rect">
            <a:avLst/>
          </a:prstGeom>
          <a:noFill/>
        </p:spPr>
        <p:txBody>
          <a:bodyPr wrap="square">
            <a:spAutoFit/>
          </a:bodyPr>
          <a:lstStyle/>
          <a:p>
            <a:pPr algn="l"/>
            <a:r>
              <a:rPr sz="1000" b="1" i="1">
                <a:solidFill>
                  <a:srgbClr val="2E5FA3"/>
                </a:solidFill>
                <a:latin typeface="Calibri"/>
              </a:rPr>
              <a:t>Theses bull / bear comparees — arguments de conviction et risques d'execution AAPL vs MSFT</a:t>
            </a:r>
          </a:p>
        </p:txBody>
      </p:sp>
      <p:sp>
        <p:nvSpPr>
          <p:cNvPr id="23" name="Rectangle 22"/>
          <p:cNvSpPr/>
          <p:nvPr/>
        </p:nvSpPr>
        <p:spPr>
          <a:xfrm>
            <a:off x="367200" y="1051200"/>
            <a:ext cx="4118400" cy="270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7200" y="1051200"/>
            <a:ext cx="46800" cy="270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0000" y="1080000"/>
            <a:ext cx="3600000" cy="115200"/>
          </a:xfrm>
          <a:prstGeom prst="rect">
            <a:avLst/>
          </a:prstGeom>
          <a:noFill/>
        </p:spPr>
        <p:txBody>
          <a:bodyPr wrap="none">
            <a:spAutoFit/>
          </a:bodyPr>
          <a:lstStyle/>
          <a:p>
            <a:pPr algn="l"/>
            <a:r>
              <a:rPr sz="800" b="1" i="0">
                <a:solidFill>
                  <a:srgbClr val="1B3A6B"/>
                </a:solidFill>
                <a:latin typeface="Calibri"/>
              </a:rPr>
              <a:t>Cours : 261,7 $  ·  52W : 186,1 - 288,6 $</a:t>
            </a:r>
          </a:p>
        </p:txBody>
      </p:sp>
      <p:sp>
        <p:nvSpPr>
          <p:cNvPr id="26" name="TextBox 25"/>
          <p:cNvSpPr txBox="1"/>
          <p:nvPr/>
        </p:nvSpPr>
        <p:spPr>
          <a:xfrm>
            <a:off x="450000" y="1195200"/>
            <a:ext cx="3600000" cy="115200"/>
          </a:xfrm>
          <a:prstGeom prst="rect">
            <a:avLst/>
          </a:prstGeom>
          <a:noFill/>
        </p:spPr>
        <p:txBody>
          <a:bodyPr wrap="none">
            <a:spAutoFit/>
          </a:bodyPr>
          <a:lstStyle/>
          <a:p>
            <a:pPr algn="l"/>
            <a:r>
              <a:rPr sz="800" b="0" i="0">
                <a:solidFill>
                  <a:srgbClr val="555555"/>
                </a:solidFill>
                <a:latin typeface="Calibri"/>
              </a:rPr>
              <a:t>Perf 1Y : +30,4 %  ·  Div. : 0,4 %</a:t>
            </a:r>
          </a:p>
        </p:txBody>
      </p:sp>
      <p:sp>
        <p:nvSpPr>
          <p:cNvPr id="27" name="Rectangle 26"/>
          <p:cNvSpPr/>
          <p:nvPr/>
        </p:nvSpPr>
        <p:spPr>
          <a:xfrm>
            <a:off x="4658400" y="1051200"/>
            <a:ext cx="4118400" cy="270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58400" y="1051200"/>
            <a:ext cx="46800" cy="27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41200" y="1080000"/>
            <a:ext cx="3600000" cy="115200"/>
          </a:xfrm>
          <a:prstGeom prst="rect">
            <a:avLst/>
          </a:prstGeom>
          <a:noFill/>
        </p:spPr>
        <p:txBody>
          <a:bodyPr wrap="none">
            <a:spAutoFit/>
          </a:bodyPr>
          <a:lstStyle/>
          <a:p>
            <a:pPr algn="l"/>
            <a:r>
              <a:rPr sz="800" b="1" i="0">
                <a:solidFill>
                  <a:srgbClr val="1A7A4A"/>
                </a:solidFill>
                <a:latin typeface="Calibri"/>
              </a:rPr>
              <a:t>Cours : 370,4 $  ·  52W : 355,7 - 555,5 $</a:t>
            </a:r>
          </a:p>
        </p:txBody>
      </p:sp>
      <p:sp>
        <p:nvSpPr>
          <p:cNvPr id="30" name="TextBox 29"/>
          <p:cNvSpPr txBox="1"/>
          <p:nvPr/>
        </p:nvSpPr>
        <p:spPr>
          <a:xfrm>
            <a:off x="4741200" y="1195200"/>
            <a:ext cx="3600000" cy="115200"/>
          </a:xfrm>
          <a:prstGeom prst="rect">
            <a:avLst/>
          </a:prstGeom>
          <a:noFill/>
        </p:spPr>
        <p:txBody>
          <a:bodyPr wrap="none">
            <a:spAutoFit/>
          </a:bodyPr>
          <a:lstStyle/>
          <a:p>
            <a:pPr algn="l"/>
            <a:r>
              <a:rPr sz="800" b="0" i="0">
                <a:solidFill>
                  <a:srgbClr val="555555"/>
                </a:solidFill>
                <a:latin typeface="Calibri"/>
              </a:rPr>
              <a:t>Perf 1Y : -18,9 %  ·  Div. : 0,9 %</a:t>
            </a:r>
          </a:p>
        </p:txBody>
      </p:sp>
      <p:sp>
        <p:nvSpPr>
          <p:cNvPr id="31" name="Rectangle 30"/>
          <p:cNvSpPr/>
          <p:nvPr/>
        </p:nvSpPr>
        <p:spPr>
          <a:xfrm>
            <a:off x="367200" y="1404000"/>
            <a:ext cx="4118400" cy="198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7200" y="1404000"/>
            <a:ext cx="648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86000" y="1440000"/>
            <a:ext cx="3960000" cy="136800"/>
          </a:xfrm>
          <a:prstGeom prst="rect">
            <a:avLst/>
          </a:prstGeom>
          <a:noFill/>
        </p:spPr>
        <p:txBody>
          <a:bodyPr wrap="square">
            <a:spAutoFit/>
          </a:bodyPr>
          <a:lstStyle/>
          <a:p>
            <a:pPr algn="l"/>
            <a:r>
              <a:rPr sz="900" b="1" i="0">
                <a:solidFill>
                  <a:srgbClr val="1A7A4A"/>
                </a:solidFill>
                <a:latin typeface="Calibri"/>
              </a:rPr>
              <a:t>▲ BULL THESIS — AAPL</a:t>
            </a:r>
          </a:p>
        </p:txBody>
      </p:sp>
      <p:sp>
        <p:nvSpPr>
          <p:cNvPr id="34" name="Rectangle 33"/>
          <p:cNvSpPr/>
          <p:nvPr/>
        </p:nvSpPr>
        <p:spPr>
          <a:xfrm>
            <a:off x="367200" y="1620000"/>
            <a:ext cx="4118400" cy="1242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4800" y="1655999"/>
            <a:ext cx="4003199" cy="1188000"/>
          </a:xfrm>
          <a:prstGeom prst="rect">
            <a:avLst/>
          </a:prstGeom>
          <a:noFill/>
        </p:spPr>
        <p:txBody>
          <a:bodyPr wrap="square">
            <a:spAutoFit/>
          </a:bodyPr>
          <a:lstStyle/>
          <a:p>
            <a:pPr algn="l"/>
            <a:r>
              <a:rPr sz="900" b="0" i="0">
                <a:solidFill>
                  <a:srgbClr val="0D0D0D"/>
                </a:solidFill>
                <a:latin typeface="Calibri"/>
              </a:rPr>
              <a:t>Thèse bull (AAPL):
Apple capitalise sur son écosystème intégré (iPhone, services, wearables) et sa marge brute élevée (40%+), avec une croissance des services (+14% YoY) et un ROIC exceptionnel (84%). La valorisation reste justifiée par la résilience de la demande premium et l'innovation (IA, AR/VR).</a:t>
            </a:r>
          </a:p>
        </p:txBody>
      </p:sp>
      <p:sp>
        <p:nvSpPr>
          <p:cNvPr id="36" name="Rectangle 35"/>
          <p:cNvSpPr/>
          <p:nvPr/>
        </p:nvSpPr>
        <p:spPr>
          <a:xfrm>
            <a:off x="4658400" y="1404000"/>
            <a:ext cx="4118400" cy="198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658400" y="1404000"/>
            <a:ext cx="648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77200" y="1440000"/>
            <a:ext cx="3960000" cy="136800"/>
          </a:xfrm>
          <a:prstGeom prst="rect">
            <a:avLst/>
          </a:prstGeom>
          <a:noFill/>
        </p:spPr>
        <p:txBody>
          <a:bodyPr wrap="square">
            <a:spAutoFit/>
          </a:bodyPr>
          <a:lstStyle/>
          <a:p>
            <a:pPr algn="l"/>
            <a:r>
              <a:rPr sz="900" b="1" i="0">
                <a:solidFill>
                  <a:srgbClr val="1A7A4A"/>
                </a:solidFill>
                <a:latin typeface="Calibri"/>
              </a:rPr>
              <a:t>▲ BULL THESIS — MSFT</a:t>
            </a:r>
          </a:p>
        </p:txBody>
      </p:sp>
      <p:sp>
        <p:nvSpPr>
          <p:cNvPr id="39" name="Rectangle 38"/>
          <p:cNvSpPr/>
          <p:nvPr/>
        </p:nvSpPr>
        <p:spPr>
          <a:xfrm>
            <a:off x="4658400" y="1620000"/>
            <a:ext cx="4118400" cy="1242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716000" y="1655999"/>
            <a:ext cx="4003199" cy="1188000"/>
          </a:xfrm>
          <a:prstGeom prst="rect">
            <a:avLst/>
          </a:prstGeom>
          <a:noFill/>
        </p:spPr>
        <p:txBody>
          <a:bodyPr wrap="square">
            <a:spAutoFit/>
          </a:bodyPr>
          <a:lstStyle/>
          <a:p>
            <a:pPr algn="l"/>
            <a:r>
              <a:rPr sz="900" b="0" i="0">
                <a:solidFill>
                  <a:srgbClr val="0D0D0D"/>
                </a:solidFill>
                <a:latin typeface="Calibri"/>
              </a:rPr>
              <a:t>Thèse bull (MSFT) : Croissance soutenue des revenus (+12,4% CAGR 3 ans) portée par l’IA (Azure, Copilot) et les abonnements (Office 365, LinkedIn). Marges EBITDA élevées (56,9%) et faible levier (ND/EBITDA=0,1) offrent une visibilité opérationnelle et une capacité d’investissement accrue. Valorisation attractive vs AAPL (EV/EBITDA 17,2x vs 27,0</a:t>
            </a:r>
          </a:p>
        </p:txBody>
      </p:sp>
      <p:sp>
        <p:nvSpPr>
          <p:cNvPr id="41" name="Rectangle 40"/>
          <p:cNvSpPr/>
          <p:nvPr/>
        </p:nvSpPr>
        <p:spPr>
          <a:xfrm>
            <a:off x="367200" y="2970000"/>
            <a:ext cx="4118400" cy="1980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2970000"/>
            <a:ext cx="64800" cy="198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86000" y="3006000"/>
            <a:ext cx="3960000" cy="136800"/>
          </a:xfrm>
          <a:prstGeom prst="rect">
            <a:avLst/>
          </a:prstGeom>
          <a:noFill/>
        </p:spPr>
        <p:txBody>
          <a:bodyPr wrap="square">
            <a:spAutoFit/>
          </a:bodyPr>
          <a:lstStyle/>
          <a:p>
            <a:pPr algn="l"/>
            <a:r>
              <a:rPr sz="900" b="1" i="0">
                <a:solidFill>
                  <a:srgbClr val="A82020"/>
                </a:solidFill>
                <a:latin typeface="Calibri"/>
              </a:rPr>
              <a:t>▼ BEAR THESIS — AAPL</a:t>
            </a:r>
          </a:p>
        </p:txBody>
      </p:sp>
      <p:sp>
        <p:nvSpPr>
          <p:cNvPr id="44" name="Rectangle 43"/>
          <p:cNvSpPr/>
          <p:nvPr/>
        </p:nvSpPr>
        <p:spPr>
          <a:xfrm>
            <a:off x="367200" y="3186000"/>
            <a:ext cx="4118400" cy="1242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24800" y="3221999"/>
            <a:ext cx="4003199" cy="1188000"/>
          </a:xfrm>
          <a:prstGeom prst="rect">
            <a:avLst/>
          </a:prstGeom>
          <a:noFill/>
        </p:spPr>
        <p:txBody>
          <a:bodyPr wrap="square">
            <a:spAutoFit/>
          </a:bodyPr>
          <a:lstStyle/>
          <a:p>
            <a:pPr algn="l"/>
            <a:r>
              <a:rPr sz="900" b="0" i="0">
                <a:solidFill>
                  <a:srgbClr val="0D0D0D"/>
                </a:solidFill>
                <a:latin typeface="Calibri"/>
              </a:rPr>
              <a:t>Thèse bear (AAPL):
La dépendance à l'iPhone (50% des revenus) et la saturation du marché premium limitent la croissance organique. Les marges des services sont sous pression (coûts de contenu, régulation), et la valorisation élevée (PE=34x) n'est pas compensée par un levier financier modéré (ND/EBITDA=0.4).</a:t>
            </a:r>
          </a:p>
        </p:txBody>
      </p:sp>
      <p:sp>
        <p:nvSpPr>
          <p:cNvPr id="46" name="Rectangle 45"/>
          <p:cNvSpPr/>
          <p:nvPr/>
        </p:nvSpPr>
        <p:spPr>
          <a:xfrm>
            <a:off x="4658400" y="2970000"/>
            <a:ext cx="4118400" cy="1980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58400" y="2970000"/>
            <a:ext cx="64800" cy="198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77200" y="3006000"/>
            <a:ext cx="3960000" cy="136800"/>
          </a:xfrm>
          <a:prstGeom prst="rect">
            <a:avLst/>
          </a:prstGeom>
          <a:noFill/>
        </p:spPr>
        <p:txBody>
          <a:bodyPr wrap="square">
            <a:spAutoFit/>
          </a:bodyPr>
          <a:lstStyle/>
          <a:p>
            <a:pPr algn="l"/>
            <a:r>
              <a:rPr sz="900" b="1" i="0">
                <a:solidFill>
                  <a:srgbClr val="A82020"/>
                </a:solidFill>
                <a:latin typeface="Calibri"/>
              </a:rPr>
              <a:t>▼ BEAR THESIS — MSFT</a:t>
            </a:r>
          </a:p>
        </p:txBody>
      </p:sp>
      <p:sp>
        <p:nvSpPr>
          <p:cNvPr id="49" name="Rectangle 48"/>
          <p:cNvSpPr/>
          <p:nvPr/>
        </p:nvSpPr>
        <p:spPr>
          <a:xfrm>
            <a:off x="4658400" y="3186000"/>
            <a:ext cx="4118400" cy="1242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16000" y="3221999"/>
            <a:ext cx="4003199" cy="1188000"/>
          </a:xfrm>
          <a:prstGeom prst="rect">
            <a:avLst/>
          </a:prstGeom>
          <a:noFill/>
        </p:spPr>
        <p:txBody>
          <a:bodyPr wrap="square">
            <a:spAutoFit/>
          </a:bodyPr>
          <a:lstStyle/>
          <a:p>
            <a:pPr algn="l"/>
            <a:r>
              <a:rPr sz="900" b="0" i="0">
                <a:solidFill>
                  <a:srgbClr val="0D0D0D"/>
                </a:solidFill>
                <a:latin typeface="Calibri"/>
              </a:rPr>
              <a:t>
Thèse bear (MSFT) : Concurrence accrue dans le cloud (AWS, Google Cloud) et pression sur les marges de l’IA malgré les investissements massifs. Risque de ralentissement des dépenses IT des entreprises en cas de récession. Valorisation élevée en termes de PB (8,0x) malgré un ROE solide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Performance Boursiere 52 Semaines</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10" name="Rectangle 9"/>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6" name="TextBox 15"/>
          <p:cNvSpPr txBox="1"/>
          <p:nvPr/>
        </p:nvSpPr>
        <p:spPr>
          <a:xfrm>
            <a:off x="367200" y="763200"/>
            <a:ext cx="8413200" cy="162000"/>
          </a:xfrm>
          <a:prstGeom prst="rect">
            <a:avLst/>
          </a:prstGeom>
          <a:noFill/>
        </p:spPr>
        <p:txBody>
          <a:bodyPr wrap="square">
            <a:spAutoFit/>
          </a:bodyPr>
          <a:lstStyle/>
          <a:p>
            <a:pPr algn="l"/>
            <a:r>
              <a:rPr sz="1100" b="1" i="1">
                <a:solidFill>
                  <a:srgbClr val="2E5FA3"/>
                </a:solidFill>
                <a:latin typeface="Calibri"/>
              </a:rPr>
              <a:t>AAPL surperforme sur 12 mois (ecart de 49 pts)</a:t>
            </a:r>
          </a:p>
        </p:txBody>
      </p:sp>
      <p:pic>
        <p:nvPicPr>
          <p:cNvPr id="17" name="Picture 16" descr="image.png"/>
          <p:cNvPicPr>
            <a:picLocks noChangeAspect="1"/>
          </p:cNvPicPr>
          <p:nvPr/>
        </p:nvPicPr>
        <p:blipFill>
          <a:blip r:embed="rId2"/>
          <a:stretch>
            <a:fillRect/>
          </a:stretch>
        </p:blipFill>
        <p:spPr>
          <a:xfrm>
            <a:off x="367200" y="972000"/>
            <a:ext cx="5112000" cy="3744000"/>
          </a:xfrm>
          <a:prstGeom prst="rect">
            <a:avLst/>
          </a:prstGeom>
        </p:spPr>
      </p:pic>
      <p:sp>
        <p:nvSpPr>
          <p:cNvPr id="18" name="Rectangle 17"/>
          <p:cNvSpPr/>
          <p:nvPr/>
        </p:nvSpPr>
        <p:spPr>
          <a:xfrm>
            <a:off x="5598000" y="972000"/>
            <a:ext cx="3131999" cy="1080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98000" y="972000"/>
            <a:ext cx="50400" cy="1080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77200" y="1008000"/>
            <a:ext cx="3023999" cy="144000"/>
          </a:xfrm>
          <a:prstGeom prst="rect">
            <a:avLst/>
          </a:prstGeom>
          <a:noFill/>
        </p:spPr>
        <p:txBody>
          <a:bodyPr wrap="none">
            <a:spAutoFit/>
          </a:bodyPr>
          <a:lstStyle/>
          <a:p>
            <a:pPr algn="l"/>
            <a:r>
              <a:rPr sz="950" b="1" i="0">
                <a:solidFill>
                  <a:srgbClr val="2E5FA3"/>
                </a:solidFill>
                <a:latin typeface="Calibri"/>
              </a:rPr>
              <a:t>AAPL  ·  Performance &amp; Prix</a:t>
            </a:r>
          </a:p>
        </p:txBody>
      </p:sp>
      <p:sp>
        <p:nvSpPr>
          <p:cNvPr id="21" name="TextBox 20"/>
          <p:cNvSpPr txBox="1"/>
          <p:nvPr/>
        </p:nvSpPr>
        <p:spPr>
          <a:xfrm>
            <a:off x="5688000" y="1170000"/>
            <a:ext cx="720000" cy="125999"/>
          </a:xfrm>
          <a:prstGeom prst="rect">
            <a:avLst/>
          </a:prstGeom>
          <a:noFill/>
        </p:spPr>
        <p:txBody>
          <a:bodyPr wrap="none">
            <a:spAutoFit/>
          </a:bodyPr>
          <a:lstStyle/>
          <a:p>
            <a:pPr algn="l"/>
            <a:r>
              <a:rPr sz="700" b="0" i="0">
                <a:solidFill>
                  <a:srgbClr val="555555"/>
                </a:solidFill>
                <a:latin typeface="Calibri"/>
              </a:rPr>
              <a:t>Cours</a:t>
            </a:r>
          </a:p>
        </p:txBody>
      </p:sp>
      <p:sp>
        <p:nvSpPr>
          <p:cNvPr id="22" name="TextBox 21"/>
          <p:cNvSpPr txBox="1"/>
          <p:nvPr/>
        </p:nvSpPr>
        <p:spPr>
          <a:xfrm>
            <a:off x="6408000" y="1170000"/>
            <a:ext cx="720000" cy="125999"/>
          </a:xfrm>
          <a:prstGeom prst="rect">
            <a:avLst/>
          </a:prstGeom>
          <a:noFill/>
        </p:spPr>
        <p:txBody>
          <a:bodyPr wrap="none">
            <a:spAutoFit/>
          </a:bodyPr>
          <a:lstStyle/>
          <a:p>
            <a:pPr algn="l"/>
            <a:r>
              <a:rPr sz="800" b="1" i="0">
                <a:solidFill>
                  <a:srgbClr val="0D0D0D"/>
                </a:solidFill>
                <a:latin typeface="Calibri"/>
              </a:rPr>
              <a:t>261,7 $</a:t>
            </a:r>
          </a:p>
        </p:txBody>
      </p:sp>
      <p:sp>
        <p:nvSpPr>
          <p:cNvPr id="23" name="TextBox 22"/>
          <p:cNvSpPr txBox="1"/>
          <p:nvPr/>
        </p:nvSpPr>
        <p:spPr>
          <a:xfrm>
            <a:off x="7218000" y="1170000"/>
            <a:ext cx="720000" cy="125999"/>
          </a:xfrm>
          <a:prstGeom prst="rect">
            <a:avLst/>
          </a:prstGeom>
          <a:noFill/>
        </p:spPr>
        <p:txBody>
          <a:bodyPr wrap="none">
            <a:spAutoFit/>
          </a:bodyPr>
          <a:lstStyle/>
          <a:p>
            <a:pPr algn="l"/>
            <a:r>
              <a:rPr sz="700" b="0" i="0">
                <a:solidFill>
                  <a:srgbClr val="555555"/>
                </a:solidFill>
                <a:latin typeface="Calibri"/>
              </a:rPr>
              <a:t>52W High</a:t>
            </a:r>
          </a:p>
        </p:txBody>
      </p:sp>
      <p:sp>
        <p:nvSpPr>
          <p:cNvPr id="24" name="TextBox 23"/>
          <p:cNvSpPr txBox="1"/>
          <p:nvPr/>
        </p:nvSpPr>
        <p:spPr>
          <a:xfrm>
            <a:off x="7938000" y="1170000"/>
            <a:ext cx="720000" cy="125999"/>
          </a:xfrm>
          <a:prstGeom prst="rect">
            <a:avLst/>
          </a:prstGeom>
          <a:noFill/>
        </p:spPr>
        <p:txBody>
          <a:bodyPr wrap="none">
            <a:spAutoFit/>
          </a:bodyPr>
          <a:lstStyle/>
          <a:p>
            <a:pPr algn="l"/>
            <a:r>
              <a:rPr sz="800" b="1" i="0">
                <a:solidFill>
                  <a:srgbClr val="0D0D0D"/>
                </a:solidFill>
                <a:latin typeface="Calibri"/>
              </a:rPr>
              <a:t>288,6</a:t>
            </a:r>
          </a:p>
        </p:txBody>
      </p:sp>
      <p:sp>
        <p:nvSpPr>
          <p:cNvPr id="25" name="TextBox 24"/>
          <p:cNvSpPr txBox="1"/>
          <p:nvPr/>
        </p:nvSpPr>
        <p:spPr>
          <a:xfrm>
            <a:off x="5688000" y="1368000"/>
            <a:ext cx="720000" cy="125999"/>
          </a:xfrm>
          <a:prstGeom prst="rect">
            <a:avLst/>
          </a:prstGeom>
          <a:noFill/>
        </p:spPr>
        <p:txBody>
          <a:bodyPr wrap="none">
            <a:spAutoFit/>
          </a:bodyPr>
          <a:lstStyle/>
          <a:p>
            <a:pPr algn="l"/>
            <a:r>
              <a:rPr sz="700" b="0" i="0">
                <a:solidFill>
                  <a:srgbClr val="555555"/>
                </a:solidFill>
                <a:latin typeface="Calibri"/>
              </a:rPr>
              <a:t>Perf. 1M</a:t>
            </a:r>
          </a:p>
        </p:txBody>
      </p:sp>
      <p:sp>
        <p:nvSpPr>
          <p:cNvPr id="26" name="TextBox 25"/>
          <p:cNvSpPr txBox="1"/>
          <p:nvPr/>
        </p:nvSpPr>
        <p:spPr>
          <a:xfrm>
            <a:off x="6408000" y="1368000"/>
            <a:ext cx="720000" cy="125999"/>
          </a:xfrm>
          <a:prstGeom prst="rect">
            <a:avLst/>
          </a:prstGeom>
          <a:noFill/>
        </p:spPr>
        <p:txBody>
          <a:bodyPr wrap="none">
            <a:spAutoFit/>
          </a:bodyPr>
          <a:lstStyle/>
          <a:p>
            <a:pPr algn="l"/>
            <a:r>
              <a:rPr sz="800" b="1" i="0">
                <a:solidFill>
                  <a:srgbClr val="0D0D0D"/>
                </a:solidFill>
                <a:latin typeface="Calibri"/>
              </a:rPr>
              <a:t>+2,8 %</a:t>
            </a:r>
          </a:p>
        </p:txBody>
      </p:sp>
      <p:sp>
        <p:nvSpPr>
          <p:cNvPr id="27" name="TextBox 26"/>
          <p:cNvSpPr txBox="1"/>
          <p:nvPr/>
        </p:nvSpPr>
        <p:spPr>
          <a:xfrm>
            <a:off x="7218000" y="1368000"/>
            <a:ext cx="720000" cy="125999"/>
          </a:xfrm>
          <a:prstGeom prst="rect">
            <a:avLst/>
          </a:prstGeom>
          <a:noFill/>
        </p:spPr>
        <p:txBody>
          <a:bodyPr wrap="none">
            <a:spAutoFit/>
          </a:bodyPr>
          <a:lstStyle/>
          <a:p>
            <a:pPr algn="l"/>
            <a:r>
              <a:rPr sz="700" b="0" i="0">
                <a:solidFill>
                  <a:srgbClr val="555555"/>
                </a:solidFill>
                <a:latin typeface="Calibri"/>
              </a:rPr>
              <a:t>52W Low</a:t>
            </a:r>
          </a:p>
        </p:txBody>
      </p:sp>
      <p:sp>
        <p:nvSpPr>
          <p:cNvPr id="28" name="TextBox 27"/>
          <p:cNvSpPr txBox="1"/>
          <p:nvPr/>
        </p:nvSpPr>
        <p:spPr>
          <a:xfrm>
            <a:off x="7938000" y="1368000"/>
            <a:ext cx="720000" cy="125999"/>
          </a:xfrm>
          <a:prstGeom prst="rect">
            <a:avLst/>
          </a:prstGeom>
          <a:noFill/>
        </p:spPr>
        <p:txBody>
          <a:bodyPr wrap="none">
            <a:spAutoFit/>
          </a:bodyPr>
          <a:lstStyle/>
          <a:p>
            <a:pPr algn="l"/>
            <a:r>
              <a:rPr sz="800" b="1" i="0">
                <a:solidFill>
                  <a:srgbClr val="0D0D0D"/>
                </a:solidFill>
                <a:latin typeface="Calibri"/>
              </a:rPr>
              <a:t>186,1</a:t>
            </a:r>
          </a:p>
        </p:txBody>
      </p:sp>
      <p:sp>
        <p:nvSpPr>
          <p:cNvPr id="29" name="TextBox 28"/>
          <p:cNvSpPr txBox="1"/>
          <p:nvPr/>
        </p:nvSpPr>
        <p:spPr>
          <a:xfrm>
            <a:off x="5688000" y="1565999"/>
            <a:ext cx="720000" cy="125999"/>
          </a:xfrm>
          <a:prstGeom prst="rect">
            <a:avLst/>
          </a:prstGeom>
          <a:noFill/>
        </p:spPr>
        <p:txBody>
          <a:bodyPr wrap="none">
            <a:spAutoFit/>
          </a:bodyPr>
          <a:lstStyle/>
          <a:p>
            <a:pPr algn="l"/>
            <a:r>
              <a:rPr sz="700" b="0" i="0">
                <a:solidFill>
                  <a:srgbClr val="555555"/>
                </a:solidFill>
                <a:latin typeface="Calibri"/>
              </a:rPr>
              <a:t>Perf. 3M</a:t>
            </a:r>
          </a:p>
        </p:txBody>
      </p:sp>
      <p:sp>
        <p:nvSpPr>
          <p:cNvPr id="30" name="TextBox 29"/>
          <p:cNvSpPr txBox="1"/>
          <p:nvPr/>
        </p:nvSpPr>
        <p:spPr>
          <a:xfrm>
            <a:off x="6408000" y="1565999"/>
            <a:ext cx="720000" cy="125999"/>
          </a:xfrm>
          <a:prstGeom prst="rect">
            <a:avLst/>
          </a:prstGeom>
          <a:noFill/>
        </p:spPr>
        <p:txBody>
          <a:bodyPr wrap="none">
            <a:spAutoFit/>
          </a:bodyPr>
          <a:lstStyle/>
          <a:p>
            <a:pPr algn="l"/>
            <a:r>
              <a:rPr sz="800" b="1" i="0">
                <a:solidFill>
                  <a:srgbClr val="0D0D0D"/>
                </a:solidFill>
                <a:latin typeface="Calibri"/>
              </a:rPr>
              <a:t>+0,6 %</a:t>
            </a:r>
          </a:p>
        </p:txBody>
      </p:sp>
      <p:sp>
        <p:nvSpPr>
          <p:cNvPr id="31" name="TextBox 30"/>
          <p:cNvSpPr txBox="1"/>
          <p:nvPr/>
        </p:nvSpPr>
        <p:spPr>
          <a:xfrm>
            <a:off x="7218000" y="1565999"/>
            <a:ext cx="720000" cy="125999"/>
          </a:xfrm>
          <a:prstGeom prst="rect">
            <a:avLst/>
          </a:prstGeom>
          <a:noFill/>
        </p:spPr>
        <p:txBody>
          <a:bodyPr wrap="none">
            <a:spAutoFit/>
          </a:bodyPr>
          <a:lstStyle/>
          <a:p>
            <a:pPr algn="l"/>
            <a:r>
              <a:rPr sz="700" b="0" i="0">
                <a:solidFill>
                  <a:srgbClr val="555555"/>
                </a:solidFill>
                <a:latin typeface="Calibri"/>
              </a:rPr>
              <a:t>Div. Yield</a:t>
            </a:r>
          </a:p>
        </p:txBody>
      </p:sp>
      <p:sp>
        <p:nvSpPr>
          <p:cNvPr id="32" name="TextBox 31"/>
          <p:cNvSpPr txBox="1"/>
          <p:nvPr/>
        </p:nvSpPr>
        <p:spPr>
          <a:xfrm>
            <a:off x="7938000" y="1565999"/>
            <a:ext cx="720000" cy="125999"/>
          </a:xfrm>
          <a:prstGeom prst="rect">
            <a:avLst/>
          </a:prstGeom>
          <a:noFill/>
        </p:spPr>
        <p:txBody>
          <a:bodyPr wrap="none">
            <a:spAutoFit/>
          </a:bodyPr>
          <a:lstStyle/>
          <a:p>
            <a:pPr algn="l"/>
            <a:r>
              <a:rPr sz="800" b="1" i="0">
                <a:solidFill>
                  <a:srgbClr val="0D0D0D"/>
                </a:solidFill>
                <a:latin typeface="Calibri"/>
              </a:rPr>
              <a:t>0,4 %</a:t>
            </a:r>
          </a:p>
        </p:txBody>
      </p:sp>
      <p:sp>
        <p:nvSpPr>
          <p:cNvPr id="33" name="TextBox 32"/>
          <p:cNvSpPr txBox="1"/>
          <p:nvPr/>
        </p:nvSpPr>
        <p:spPr>
          <a:xfrm>
            <a:off x="5688000" y="1764000"/>
            <a:ext cx="720000" cy="125999"/>
          </a:xfrm>
          <a:prstGeom prst="rect">
            <a:avLst/>
          </a:prstGeom>
          <a:noFill/>
        </p:spPr>
        <p:txBody>
          <a:bodyPr wrap="none">
            <a:spAutoFit/>
          </a:bodyPr>
          <a:lstStyle/>
          <a:p>
            <a:pPr algn="l"/>
            <a:r>
              <a:rPr sz="700" b="0" i="0">
                <a:solidFill>
                  <a:srgbClr val="555555"/>
                </a:solidFill>
                <a:latin typeface="Calibri"/>
              </a:rPr>
              <a:t>Perf. 1Y</a:t>
            </a:r>
          </a:p>
        </p:txBody>
      </p:sp>
      <p:sp>
        <p:nvSpPr>
          <p:cNvPr id="34" name="TextBox 33"/>
          <p:cNvSpPr txBox="1"/>
          <p:nvPr/>
        </p:nvSpPr>
        <p:spPr>
          <a:xfrm>
            <a:off x="6408000" y="1764000"/>
            <a:ext cx="720000" cy="125999"/>
          </a:xfrm>
          <a:prstGeom prst="rect">
            <a:avLst/>
          </a:prstGeom>
          <a:noFill/>
        </p:spPr>
        <p:txBody>
          <a:bodyPr wrap="none">
            <a:spAutoFit/>
          </a:bodyPr>
          <a:lstStyle/>
          <a:p>
            <a:pPr algn="l"/>
            <a:r>
              <a:rPr sz="800" b="1" i="0">
                <a:solidFill>
                  <a:srgbClr val="0D0D0D"/>
                </a:solidFill>
                <a:latin typeface="Calibri"/>
              </a:rPr>
              <a:t>+30,4 %</a:t>
            </a:r>
          </a:p>
        </p:txBody>
      </p:sp>
      <p:sp>
        <p:nvSpPr>
          <p:cNvPr id="35" name="TextBox 34"/>
          <p:cNvSpPr txBox="1"/>
          <p:nvPr/>
        </p:nvSpPr>
        <p:spPr>
          <a:xfrm>
            <a:off x="7218000" y="1764000"/>
            <a:ext cx="720000" cy="125999"/>
          </a:xfrm>
          <a:prstGeom prst="rect">
            <a:avLst/>
          </a:prstGeom>
          <a:noFill/>
        </p:spPr>
        <p:txBody>
          <a:bodyPr wrap="none">
            <a:spAutoFit/>
          </a:bodyPr>
          <a:lstStyle/>
          <a:p>
            <a:pPr algn="l"/>
            <a:r>
              <a:rPr sz="700" b="0" i="0">
                <a:solidFill>
                  <a:srgbClr val="555555"/>
                </a:solidFill>
                <a:latin typeface="Calibri"/>
              </a:rPr>
              <a:t>Volatilite</a:t>
            </a:r>
          </a:p>
        </p:txBody>
      </p:sp>
      <p:sp>
        <p:nvSpPr>
          <p:cNvPr id="36" name="TextBox 35"/>
          <p:cNvSpPr txBox="1"/>
          <p:nvPr/>
        </p:nvSpPr>
        <p:spPr>
          <a:xfrm>
            <a:off x="7938000" y="1764000"/>
            <a:ext cx="720000" cy="125999"/>
          </a:xfrm>
          <a:prstGeom prst="rect">
            <a:avLst/>
          </a:prstGeom>
          <a:noFill/>
        </p:spPr>
        <p:txBody>
          <a:bodyPr wrap="none">
            <a:spAutoFit/>
          </a:bodyPr>
          <a:lstStyle/>
          <a:p>
            <a:pPr algn="l"/>
            <a:r>
              <a:rPr sz="800" b="1" i="0">
                <a:solidFill>
                  <a:srgbClr val="0D0D0D"/>
                </a:solidFill>
                <a:latin typeface="Calibri"/>
              </a:rPr>
              <a:t>24,0 %</a:t>
            </a:r>
          </a:p>
        </p:txBody>
      </p:sp>
      <p:sp>
        <p:nvSpPr>
          <p:cNvPr id="37" name="Rectangle 36"/>
          <p:cNvSpPr/>
          <p:nvPr/>
        </p:nvSpPr>
        <p:spPr>
          <a:xfrm>
            <a:off x="5598000" y="2116800"/>
            <a:ext cx="3131999" cy="1080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598000" y="2116800"/>
            <a:ext cx="50400" cy="108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677200" y="2152800"/>
            <a:ext cx="3023999" cy="144000"/>
          </a:xfrm>
          <a:prstGeom prst="rect">
            <a:avLst/>
          </a:prstGeom>
          <a:noFill/>
        </p:spPr>
        <p:txBody>
          <a:bodyPr wrap="none">
            <a:spAutoFit/>
          </a:bodyPr>
          <a:lstStyle/>
          <a:p>
            <a:pPr algn="l"/>
            <a:r>
              <a:rPr sz="950" b="1" i="0">
                <a:solidFill>
                  <a:srgbClr val="2E8B57"/>
                </a:solidFill>
                <a:latin typeface="Calibri"/>
              </a:rPr>
              <a:t>MSFT  ·  Performance &amp; Prix</a:t>
            </a:r>
          </a:p>
        </p:txBody>
      </p:sp>
      <p:sp>
        <p:nvSpPr>
          <p:cNvPr id="40" name="TextBox 39"/>
          <p:cNvSpPr txBox="1"/>
          <p:nvPr/>
        </p:nvSpPr>
        <p:spPr>
          <a:xfrm>
            <a:off x="5688000" y="2314800"/>
            <a:ext cx="720000" cy="125999"/>
          </a:xfrm>
          <a:prstGeom prst="rect">
            <a:avLst/>
          </a:prstGeom>
          <a:noFill/>
        </p:spPr>
        <p:txBody>
          <a:bodyPr wrap="none">
            <a:spAutoFit/>
          </a:bodyPr>
          <a:lstStyle/>
          <a:p>
            <a:pPr algn="l"/>
            <a:r>
              <a:rPr sz="700" b="0" i="0">
                <a:solidFill>
                  <a:srgbClr val="555555"/>
                </a:solidFill>
                <a:latin typeface="Calibri"/>
              </a:rPr>
              <a:t>Cours</a:t>
            </a:r>
          </a:p>
        </p:txBody>
      </p:sp>
      <p:sp>
        <p:nvSpPr>
          <p:cNvPr id="41" name="TextBox 40"/>
          <p:cNvSpPr txBox="1"/>
          <p:nvPr/>
        </p:nvSpPr>
        <p:spPr>
          <a:xfrm>
            <a:off x="6408000" y="2314800"/>
            <a:ext cx="720000" cy="125999"/>
          </a:xfrm>
          <a:prstGeom prst="rect">
            <a:avLst/>
          </a:prstGeom>
          <a:noFill/>
        </p:spPr>
        <p:txBody>
          <a:bodyPr wrap="none">
            <a:spAutoFit/>
          </a:bodyPr>
          <a:lstStyle/>
          <a:p>
            <a:pPr algn="l"/>
            <a:r>
              <a:rPr sz="800" b="1" i="0">
                <a:solidFill>
                  <a:srgbClr val="0D0D0D"/>
                </a:solidFill>
                <a:latin typeface="Calibri"/>
              </a:rPr>
              <a:t>370,4 $</a:t>
            </a:r>
          </a:p>
        </p:txBody>
      </p:sp>
      <p:sp>
        <p:nvSpPr>
          <p:cNvPr id="42" name="TextBox 41"/>
          <p:cNvSpPr txBox="1"/>
          <p:nvPr/>
        </p:nvSpPr>
        <p:spPr>
          <a:xfrm>
            <a:off x="7218000" y="2314800"/>
            <a:ext cx="720000" cy="125999"/>
          </a:xfrm>
          <a:prstGeom prst="rect">
            <a:avLst/>
          </a:prstGeom>
          <a:noFill/>
        </p:spPr>
        <p:txBody>
          <a:bodyPr wrap="none">
            <a:spAutoFit/>
          </a:bodyPr>
          <a:lstStyle/>
          <a:p>
            <a:pPr algn="l"/>
            <a:r>
              <a:rPr sz="700" b="0" i="0">
                <a:solidFill>
                  <a:srgbClr val="555555"/>
                </a:solidFill>
                <a:latin typeface="Calibri"/>
              </a:rPr>
              <a:t>52W High</a:t>
            </a:r>
          </a:p>
        </p:txBody>
      </p:sp>
      <p:sp>
        <p:nvSpPr>
          <p:cNvPr id="43" name="TextBox 42"/>
          <p:cNvSpPr txBox="1"/>
          <p:nvPr/>
        </p:nvSpPr>
        <p:spPr>
          <a:xfrm>
            <a:off x="7938000" y="2314800"/>
            <a:ext cx="720000" cy="125999"/>
          </a:xfrm>
          <a:prstGeom prst="rect">
            <a:avLst/>
          </a:prstGeom>
          <a:noFill/>
        </p:spPr>
        <p:txBody>
          <a:bodyPr wrap="none">
            <a:spAutoFit/>
          </a:bodyPr>
          <a:lstStyle/>
          <a:p>
            <a:pPr algn="l"/>
            <a:r>
              <a:rPr sz="800" b="1" i="0">
                <a:solidFill>
                  <a:srgbClr val="0D0D0D"/>
                </a:solidFill>
                <a:latin typeface="Calibri"/>
              </a:rPr>
              <a:t>555,5</a:t>
            </a:r>
          </a:p>
        </p:txBody>
      </p:sp>
      <p:sp>
        <p:nvSpPr>
          <p:cNvPr id="44" name="TextBox 43"/>
          <p:cNvSpPr txBox="1"/>
          <p:nvPr/>
        </p:nvSpPr>
        <p:spPr>
          <a:xfrm>
            <a:off x="5688000" y="2512800"/>
            <a:ext cx="720000" cy="125999"/>
          </a:xfrm>
          <a:prstGeom prst="rect">
            <a:avLst/>
          </a:prstGeom>
          <a:noFill/>
        </p:spPr>
        <p:txBody>
          <a:bodyPr wrap="none">
            <a:spAutoFit/>
          </a:bodyPr>
          <a:lstStyle/>
          <a:p>
            <a:pPr algn="l"/>
            <a:r>
              <a:rPr sz="700" b="0" i="0">
                <a:solidFill>
                  <a:srgbClr val="555555"/>
                </a:solidFill>
                <a:latin typeface="Calibri"/>
              </a:rPr>
              <a:t>Perf. 1M</a:t>
            </a:r>
          </a:p>
        </p:txBody>
      </p:sp>
      <p:sp>
        <p:nvSpPr>
          <p:cNvPr id="45" name="TextBox 44"/>
          <p:cNvSpPr txBox="1"/>
          <p:nvPr/>
        </p:nvSpPr>
        <p:spPr>
          <a:xfrm>
            <a:off x="6408000" y="2512800"/>
            <a:ext cx="720000" cy="125999"/>
          </a:xfrm>
          <a:prstGeom prst="rect">
            <a:avLst/>
          </a:prstGeom>
          <a:noFill/>
        </p:spPr>
        <p:txBody>
          <a:bodyPr wrap="none">
            <a:spAutoFit/>
          </a:bodyPr>
          <a:lstStyle/>
          <a:p>
            <a:pPr algn="l"/>
            <a:r>
              <a:rPr sz="800" b="1" i="0">
                <a:solidFill>
                  <a:srgbClr val="0D0D0D"/>
                </a:solidFill>
                <a:latin typeface="Calibri"/>
              </a:rPr>
              <a:t>+0,1 %</a:t>
            </a:r>
          </a:p>
        </p:txBody>
      </p:sp>
      <p:sp>
        <p:nvSpPr>
          <p:cNvPr id="46" name="TextBox 45"/>
          <p:cNvSpPr txBox="1"/>
          <p:nvPr/>
        </p:nvSpPr>
        <p:spPr>
          <a:xfrm>
            <a:off x="7218000" y="2512800"/>
            <a:ext cx="720000" cy="125999"/>
          </a:xfrm>
          <a:prstGeom prst="rect">
            <a:avLst/>
          </a:prstGeom>
          <a:noFill/>
        </p:spPr>
        <p:txBody>
          <a:bodyPr wrap="none">
            <a:spAutoFit/>
          </a:bodyPr>
          <a:lstStyle/>
          <a:p>
            <a:pPr algn="l"/>
            <a:r>
              <a:rPr sz="700" b="0" i="0">
                <a:solidFill>
                  <a:srgbClr val="555555"/>
                </a:solidFill>
                <a:latin typeface="Calibri"/>
              </a:rPr>
              <a:t>52W Low</a:t>
            </a:r>
          </a:p>
        </p:txBody>
      </p:sp>
      <p:sp>
        <p:nvSpPr>
          <p:cNvPr id="47" name="TextBox 46"/>
          <p:cNvSpPr txBox="1"/>
          <p:nvPr/>
        </p:nvSpPr>
        <p:spPr>
          <a:xfrm>
            <a:off x="7938000" y="2512800"/>
            <a:ext cx="720000" cy="125999"/>
          </a:xfrm>
          <a:prstGeom prst="rect">
            <a:avLst/>
          </a:prstGeom>
          <a:noFill/>
        </p:spPr>
        <p:txBody>
          <a:bodyPr wrap="none">
            <a:spAutoFit/>
          </a:bodyPr>
          <a:lstStyle/>
          <a:p>
            <a:pPr algn="l"/>
            <a:r>
              <a:rPr sz="800" b="1" i="0">
                <a:solidFill>
                  <a:srgbClr val="0D0D0D"/>
                </a:solidFill>
                <a:latin typeface="Calibri"/>
              </a:rPr>
              <a:t>355,7</a:t>
            </a:r>
          </a:p>
        </p:txBody>
      </p:sp>
      <p:sp>
        <p:nvSpPr>
          <p:cNvPr id="48" name="TextBox 47"/>
          <p:cNvSpPr txBox="1"/>
          <p:nvPr/>
        </p:nvSpPr>
        <p:spPr>
          <a:xfrm>
            <a:off x="5688000" y="2710800"/>
            <a:ext cx="720000" cy="125999"/>
          </a:xfrm>
          <a:prstGeom prst="rect">
            <a:avLst/>
          </a:prstGeom>
          <a:noFill/>
        </p:spPr>
        <p:txBody>
          <a:bodyPr wrap="none">
            <a:spAutoFit/>
          </a:bodyPr>
          <a:lstStyle/>
          <a:p>
            <a:pPr algn="l"/>
            <a:r>
              <a:rPr sz="700" b="0" i="0">
                <a:solidFill>
                  <a:srgbClr val="555555"/>
                </a:solidFill>
                <a:latin typeface="Calibri"/>
              </a:rPr>
              <a:t>Perf. 3M</a:t>
            </a:r>
          </a:p>
        </p:txBody>
      </p:sp>
      <p:sp>
        <p:nvSpPr>
          <p:cNvPr id="49" name="TextBox 48"/>
          <p:cNvSpPr txBox="1"/>
          <p:nvPr/>
        </p:nvSpPr>
        <p:spPr>
          <a:xfrm>
            <a:off x="6408000" y="2710800"/>
            <a:ext cx="720000" cy="125999"/>
          </a:xfrm>
          <a:prstGeom prst="rect">
            <a:avLst/>
          </a:prstGeom>
          <a:noFill/>
        </p:spPr>
        <p:txBody>
          <a:bodyPr wrap="none">
            <a:spAutoFit/>
          </a:bodyPr>
          <a:lstStyle/>
          <a:p>
            <a:pPr algn="l"/>
            <a:r>
              <a:rPr sz="800" b="1" i="0">
                <a:solidFill>
                  <a:srgbClr val="0D0D0D"/>
                </a:solidFill>
                <a:latin typeface="Calibri"/>
              </a:rPr>
              <a:t>-13,7 %</a:t>
            </a:r>
          </a:p>
        </p:txBody>
      </p:sp>
      <p:sp>
        <p:nvSpPr>
          <p:cNvPr id="50" name="TextBox 49"/>
          <p:cNvSpPr txBox="1"/>
          <p:nvPr/>
        </p:nvSpPr>
        <p:spPr>
          <a:xfrm>
            <a:off x="7218000" y="2710800"/>
            <a:ext cx="720000" cy="125999"/>
          </a:xfrm>
          <a:prstGeom prst="rect">
            <a:avLst/>
          </a:prstGeom>
          <a:noFill/>
        </p:spPr>
        <p:txBody>
          <a:bodyPr wrap="none">
            <a:spAutoFit/>
          </a:bodyPr>
          <a:lstStyle/>
          <a:p>
            <a:pPr algn="l"/>
            <a:r>
              <a:rPr sz="700" b="0" i="0">
                <a:solidFill>
                  <a:srgbClr val="555555"/>
                </a:solidFill>
                <a:latin typeface="Calibri"/>
              </a:rPr>
              <a:t>Div. Yield</a:t>
            </a:r>
          </a:p>
        </p:txBody>
      </p:sp>
      <p:sp>
        <p:nvSpPr>
          <p:cNvPr id="51" name="TextBox 50"/>
          <p:cNvSpPr txBox="1"/>
          <p:nvPr/>
        </p:nvSpPr>
        <p:spPr>
          <a:xfrm>
            <a:off x="7938000" y="2710800"/>
            <a:ext cx="720000" cy="125999"/>
          </a:xfrm>
          <a:prstGeom prst="rect">
            <a:avLst/>
          </a:prstGeom>
          <a:noFill/>
        </p:spPr>
        <p:txBody>
          <a:bodyPr wrap="none">
            <a:spAutoFit/>
          </a:bodyPr>
          <a:lstStyle/>
          <a:p>
            <a:pPr algn="l"/>
            <a:r>
              <a:rPr sz="800" b="1" i="0">
                <a:solidFill>
                  <a:srgbClr val="0D0D0D"/>
                </a:solidFill>
                <a:latin typeface="Calibri"/>
              </a:rPr>
              <a:t>0,9 %</a:t>
            </a:r>
          </a:p>
        </p:txBody>
      </p:sp>
      <p:sp>
        <p:nvSpPr>
          <p:cNvPr id="52" name="TextBox 51"/>
          <p:cNvSpPr txBox="1"/>
          <p:nvPr/>
        </p:nvSpPr>
        <p:spPr>
          <a:xfrm>
            <a:off x="5688000" y="2908800"/>
            <a:ext cx="720000" cy="125999"/>
          </a:xfrm>
          <a:prstGeom prst="rect">
            <a:avLst/>
          </a:prstGeom>
          <a:noFill/>
        </p:spPr>
        <p:txBody>
          <a:bodyPr wrap="none">
            <a:spAutoFit/>
          </a:bodyPr>
          <a:lstStyle/>
          <a:p>
            <a:pPr algn="l"/>
            <a:r>
              <a:rPr sz="700" b="0" i="0">
                <a:solidFill>
                  <a:srgbClr val="555555"/>
                </a:solidFill>
                <a:latin typeface="Calibri"/>
              </a:rPr>
              <a:t>Perf. 1Y</a:t>
            </a:r>
          </a:p>
        </p:txBody>
      </p:sp>
      <p:sp>
        <p:nvSpPr>
          <p:cNvPr id="53" name="TextBox 52"/>
          <p:cNvSpPr txBox="1"/>
          <p:nvPr/>
        </p:nvSpPr>
        <p:spPr>
          <a:xfrm>
            <a:off x="6408000" y="2908800"/>
            <a:ext cx="720000" cy="125999"/>
          </a:xfrm>
          <a:prstGeom prst="rect">
            <a:avLst/>
          </a:prstGeom>
          <a:noFill/>
        </p:spPr>
        <p:txBody>
          <a:bodyPr wrap="none">
            <a:spAutoFit/>
          </a:bodyPr>
          <a:lstStyle/>
          <a:p>
            <a:pPr algn="l"/>
            <a:r>
              <a:rPr sz="800" b="1" i="0">
                <a:solidFill>
                  <a:srgbClr val="0D0D0D"/>
                </a:solidFill>
                <a:latin typeface="Calibri"/>
              </a:rPr>
              <a:t>-18,9 %</a:t>
            </a:r>
          </a:p>
        </p:txBody>
      </p:sp>
      <p:sp>
        <p:nvSpPr>
          <p:cNvPr id="54" name="TextBox 53"/>
          <p:cNvSpPr txBox="1"/>
          <p:nvPr/>
        </p:nvSpPr>
        <p:spPr>
          <a:xfrm>
            <a:off x="7218000" y="2908800"/>
            <a:ext cx="720000" cy="125999"/>
          </a:xfrm>
          <a:prstGeom prst="rect">
            <a:avLst/>
          </a:prstGeom>
          <a:noFill/>
        </p:spPr>
        <p:txBody>
          <a:bodyPr wrap="none">
            <a:spAutoFit/>
          </a:bodyPr>
          <a:lstStyle/>
          <a:p>
            <a:pPr algn="l"/>
            <a:r>
              <a:rPr sz="700" b="0" i="0">
                <a:solidFill>
                  <a:srgbClr val="555555"/>
                </a:solidFill>
                <a:latin typeface="Calibri"/>
              </a:rPr>
              <a:t>Volatilite</a:t>
            </a:r>
          </a:p>
        </p:txBody>
      </p:sp>
      <p:sp>
        <p:nvSpPr>
          <p:cNvPr id="55" name="TextBox 54"/>
          <p:cNvSpPr txBox="1"/>
          <p:nvPr/>
        </p:nvSpPr>
        <p:spPr>
          <a:xfrm>
            <a:off x="7938000" y="2908800"/>
            <a:ext cx="720000" cy="125999"/>
          </a:xfrm>
          <a:prstGeom prst="rect">
            <a:avLst/>
          </a:prstGeom>
          <a:noFill/>
        </p:spPr>
        <p:txBody>
          <a:bodyPr wrap="none">
            <a:spAutoFit/>
          </a:bodyPr>
          <a:lstStyle/>
          <a:p>
            <a:pPr algn="l"/>
            <a:r>
              <a:rPr sz="800" b="1" i="0">
                <a:solidFill>
                  <a:srgbClr val="0D0D0D"/>
                </a:solidFill>
                <a:latin typeface="Calibri"/>
              </a:rPr>
              <a:t>23,9 %</a:t>
            </a:r>
          </a:p>
        </p:txBody>
      </p:sp>
      <p:sp>
        <p:nvSpPr>
          <p:cNvPr id="56" name="Rectangle 55"/>
          <p:cNvSpPr/>
          <p:nvPr/>
        </p:nvSpPr>
        <p:spPr>
          <a:xfrm>
            <a:off x="5598000" y="3286799"/>
            <a:ext cx="3131999" cy="1429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598000" y="3286799"/>
            <a:ext cx="50400" cy="14292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688000" y="3322799"/>
            <a:ext cx="3023999" cy="144000"/>
          </a:xfrm>
          <a:prstGeom prst="rect">
            <a:avLst/>
          </a:prstGeom>
          <a:noFill/>
        </p:spPr>
        <p:txBody>
          <a:bodyPr wrap="square">
            <a:spAutoFit/>
          </a:bodyPr>
          <a:lstStyle/>
          <a:p>
            <a:pPr algn="l"/>
            <a:r>
              <a:rPr sz="900" b="1" i="0">
                <a:solidFill>
                  <a:srgbClr val="1B3A6B"/>
                </a:solidFill>
                <a:latin typeface="Calibri"/>
              </a:rPr>
              <a:t>LECTURE MACRO &amp; PERSPECTIVES</a:t>
            </a:r>
          </a:p>
        </p:txBody>
      </p:sp>
      <p:sp>
        <p:nvSpPr>
          <p:cNvPr id="59" name="TextBox 58"/>
          <p:cNvSpPr txBox="1"/>
          <p:nvPr/>
        </p:nvSpPr>
        <p:spPr>
          <a:xfrm>
            <a:off x="5688000" y="3473999"/>
            <a:ext cx="2951999" cy="1177200"/>
          </a:xfrm>
          <a:prstGeom prst="rect">
            <a:avLst/>
          </a:prstGeom>
          <a:noFill/>
        </p:spPr>
        <p:txBody>
          <a:bodyPr wrap="square">
            <a:spAutoFit/>
          </a:bodyPr>
          <a:lstStyle/>
          <a:p>
            <a:pPr algn="l"/>
            <a:r>
              <a:rPr sz="800" b="0" i="0">
                <a:solidFill>
                  <a:srgbClr val="1B3A6B"/>
                </a:solidFill>
                <a:latin typeface="Calibri"/>
              </a:rPr>
              <a:t>Contexte macro : La divergence s’explique par un environnement de hausse des taux (Fed +525bps depuis 2022) favorisant les valeurs défensives (AAPL) et pénalisant les growth (MSFT), ainsi que par une rotation sectorielle vers la tech hardware (soutenue par l’IA et les données) au détriment des logiciels (concurrence accrue, pression sur les marges). Événements clés : - AAPL : +30.4% porté par des résultats solides (Q4’23 : +8% CA, iPhone résilient) et une guidance optimiste (croissance services +10% en 2024), malgré des tensions géopolitiques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Verdict Final Comparatif</a:t>
            </a:r>
          </a:p>
        </p:txBody>
      </p:sp>
      <p:sp>
        <p:nvSpPr>
          <p:cNvPr id="6" name="Rectangle 5"/>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8" name="Rectangle 7"/>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10" name="Rectangle 9"/>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2" name="Rectangle 11"/>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4" name="Rectangle 13"/>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6" name="Rectangle 15"/>
          <p:cNvSpPr/>
          <p:nvPr/>
        </p:nvSpPr>
        <p:spPr>
          <a:xfrm>
            <a:off x="367200" y="756000"/>
            <a:ext cx="8413200" cy="234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784800"/>
            <a:ext cx="8229600" cy="180000"/>
          </a:xfrm>
          <a:prstGeom prst="rect">
            <a:avLst/>
          </a:prstGeom>
          <a:noFill/>
        </p:spPr>
        <p:txBody>
          <a:bodyPr wrap="square">
            <a:spAutoFit/>
          </a:bodyPr>
          <a:lstStyle/>
          <a:p>
            <a:pPr algn="ctr"/>
            <a:r>
              <a:rPr sz="1100" b="1" i="0">
                <a:solidFill>
                  <a:srgbClr val="FFFFFF"/>
                </a:solidFill>
                <a:latin typeface="Calibri"/>
              </a:rPr>
              <a:t>CHOIX PREFERE : MSFT</a:t>
            </a:r>
          </a:p>
        </p:txBody>
      </p:sp>
      <p:sp>
        <p:nvSpPr>
          <p:cNvPr id="18" name="Rectangle 17"/>
          <p:cNvSpPr/>
          <p:nvPr/>
        </p:nvSpPr>
        <p:spPr>
          <a:xfrm>
            <a:off x="367200" y="1116000"/>
            <a:ext cx="3060000" cy="1512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1116000"/>
            <a:ext cx="72000"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1188000"/>
            <a:ext cx="2880000" cy="468000"/>
          </a:xfrm>
          <a:prstGeom prst="rect">
            <a:avLst/>
          </a:prstGeom>
          <a:noFill/>
        </p:spPr>
        <p:txBody>
          <a:bodyPr wrap="square">
            <a:spAutoFit/>
          </a:bodyPr>
          <a:lstStyle/>
          <a:p>
            <a:pPr algn="ctr"/>
            <a:r>
              <a:rPr sz="4200" b="1" i="0">
                <a:solidFill>
                  <a:srgbClr val="1A7A4A"/>
                </a:solidFill>
                <a:latin typeface="Calibri"/>
              </a:rPr>
              <a:t>BUY</a:t>
            </a:r>
          </a:p>
        </p:txBody>
      </p:sp>
      <p:sp>
        <p:nvSpPr>
          <p:cNvPr id="21" name="TextBox 20"/>
          <p:cNvSpPr txBox="1"/>
          <p:nvPr/>
        </p:nvSpPr>
        <p:spPr>
          <a:xfrm>
            <a:off x="475200" y="1674000"/>
            <a:ext cx="2880000" cy="180000"/>
          </a:xfrm>
          <a:prstGeom prst="rect">
            <a:avLst/>
          </a:prstGeom>
          <a:noFill/>
        </p:spPr>
        <p:txBody>
          <a:bodyPr wrap="square">
            <a:spAutoFit/>
          </a:bodyPr>
          <a:lstStyle/>
          <a:p>
            <a:pPr algn="ctr"/>
            <a:r>
              <a:rPr sz="1300" b="0" i="0">
                <a:solidFill>
                  <a:srgbClr val="1B3A6B"/>
                </a:solidFill>
                <a:latin typeface="Calibri"/>
              </a:rPr>
              <a:t>Conviction : 0%</a:t>
            </a:r>
          </a:p>
        </p:txBody>
      </p:sp>
      <p:sp>
        <p:nvSpPr>
          <p:cNvPr id="22" name="TextBox 21"/>
          <p:cNvSpPr txBox="1"/>
          <p:nvPr/>
        </p:nvSpPr>
        <p:spPr>
          <a:xfrm>
            <a:off x="475200" y="1872000"/>
            <a:ext cx="2880000" cy="144000"/>
          </a:xfrm>
          <a:prstGeom prst="rect">
            <a:avLst/>
          </a:prstGeom>
          <a:noFill/>
        </p:spPr>
        <p:txBody>
          <a:bodyPr wrap="square">
            <a:spAutoFit/>
          </a:bodyPr>
          <a:lstStyle/>
          <a:p>
            <a:pPr algn="ctr"/>
            <a:r>
              <a:rPr sz="900" b="0" i="0">
                <a:solidFill>
                  <a:srgbClr val="555555"/>
                </a:solidFill>
                <a:latin typeface="Calibri"/>
              </a:rPr>
              <a:t>10 avril 2026</a:t>
            </a:r>
          </a:p>
        </p:txBody>
      </p:sp>
      <p:sp>
        <p:nvSpPr>
          <p:cNvPr id="23" name="TextBox 22"/>
          <p:cNvSpPr txBox="1"/>
          <p:nvPr/>
        </p:nvSpPr>
        <p:spPr>
          <a:xfrm>
            <a:off x="511200" y="2070000"/>
            <a:ext cx="2808000" cy="108000"/>
          </a:xfrm>
          <a:prstGeom prst="rect">
            <a:avLst/>
          </a:prstGeom>
          <a:noFill/>
        </p:spPr>
        <p:txBody>
          <a:bodyPr wrap="square">
            <a:spAutoFit/>
          </a:bodyPr>
          <a:lstStyle/>
          <a:p>
            <a:pPr algn="ctr"/>
            <a:r>
              <a:rPr sz="700" b="1" i="0">
                <a:solidFill>
                  <a:srgbClr val="555555"/>
                </a:solidFill>
                <a:latin typeface="Calibri"/>
              </a:rPr>
              <a:t>NIVEAU DE CONVICTION</a:t>
            </a:r>
          </a:p>
        </p:txBody>
      </p:sp>
      <p:sp>
        <p:nvSpPr>
          <p:cNvPr id="24" name="Rectangle 23"/>
          <p:cNvSpPr/>
          <p:nvPr/>
        </p:nvSpPr>
        <p:spPr>
          <a:xfrm>
            <a:off x="511200" y="2185200"/>
            <a:ext cx="2772000" cy="1008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1200" y="2185200"/>
            <a:ext cx="36000" cy="1008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718000"/>
            <a:ext cx="3060000" cy="19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761200"/>
            <a:ext cx="2880000" cy="115200"/>
          </a:xfrm>
          <a:prstGeom prst="rect">
            <a:avLst/>
          </a:prstGeom>
          <a:noFill/>
        </p:spPr>
        <p:txBody>
          <a:bodyPr wrap="square">
            <a:spAutoFit/>
          </a:bodyPr>
          <a:lstStyle/>
          <a:p>
            <a:pPr algn="ctr"/>
            <a:r>
              <a:rPr sz="900" b="1" i="0">
                <a:solidFill>
                  <a:srgbClr val="1B3A6B"/>
                </a:solidFill>
                <a:latin typeface="Calibri"/>
              </a:rPr>
              <a:t>Delta FinSight Score : +14 vs AAPL</a:t>
            </a:r>
          </a:p>
        </p:txBody>
      </p:sp>
      <p:sp>
        <p:nvSpPr>
          <p:cNvPr id="28" name="Rectangle 27"/>
          <p:cNvSpPr/>
          <p:nvPr/>
        </p:nvSpPr>
        <p:spPr>
          <a:xfrm>
            <a:off x="3546000" y="1116000"/>
            <a:ext cx="5238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36000" y="1152000"/>
            <a:ext cx="5058000" cy="144000"/>
          </a:xfrm>
          <a:prstGeom prst="rect">
            <a:avLst/>
          </a:prstGeom>
          <a:noFill/>
        </p:spPr>
        <p:txBody>
          <a:bodyPr wrap="square">
            <a:spAutoFit/>
          </a:bodyPr>
          <a:lstStyle/>
          <a:p>
            <a:pPr algn="l"/>
            <a:r>
              <a:rPr sz="1000" b="1" i="0">
                <a:solidFill>
                  <a:srgbClr val="FFFFFF"/>
                </a:solidFill>
                <a:latin typeface="Calibri"/>
              </a:rPr>
              <a:t>THESE D'INVESTISSEMENT</a:t>
            </a:r>
          </a:p>
        </p:txBody>
      </p:sp>
      <p:sp>
        <p:nvSpPr>
          <p:cNvPr id="30" name="Rectangle 29"/>
          <p:cNvSpPr/>
          <p:nvPr/>
        </p:nvSpPr>
        <p:spPr>
          <a:xfrm>
            <a:off x="3546000" y="1314000"/>
            <a:ext cx="5238000" cy="1062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36000" y="1350000"/>
            <a:ext cx="5058000" cy="1007999"/>
          </a:xfrm>
          <a:prstGeom prst="rect">
            <a:avLst/>
          </a:prstGeom>
          <a:noFill/>
        </p:spPr>
        <p:txBody>
          <a:bodyPr wrap="square">
            <a:spAutoFit/>
          </a:bodyPr>
          <a:lstStyle/>
          <a:p>
            <a:pPr algn="l"/>
            <a:r>
              <a:rPr sz="850" b="0" i="0">
                <a:solidFill>
                  <a:srgbClr val="0D0D0D"/>
                </a:solidFill>
                <a:latin typeface="Calibri"/>
              </a:rPr>
              <a:t>Choix : MSFT. Pourquoi : MSFT affiche une valorisation plus attractive (PE 27.0x vs 34.3x, EV/EBITDA 17.2x vs 27.0x) malgré une croissance supérieure (Rev CAGR 3y : 12.4% vs 1.8%). Sa profitabilité est exceptionnelle (EBITDA margin 56.9% vs 34.8%, ROIC 30.1% vs 84.4%), avec un bilan solide (ND/EBITDA 0.1 vs 0.4). Les catalyseurs incluent l’adoption croissante de l’IA via Azure et la résilience des revenus récurrents (licences, cloud). Risque principal : Dépendance au segment cloud (Azure) et pression concurrentielle dans l’IA, pouvant impacter les marges à long terme.</a:t>
            </a:r>
          </a:p>
        </p:txBody>
      </p:sp>
      <p:sp>
        <p:nvSpPr>
          <p:cNvPr id="32" name="Rectangle 31"/>
          <p:cNvSpPr/>
          <p:nvPr/>
        </p:nvSpPr>
        <p:spPr>
          <a:xfrm>
            <a:off x="3546000" y="2412000"/>
            <a:ext cx="25830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36000" y="2448000"/>
            <a:ext cx="2439000" cy="144000"/>
          </a:xfrm>
          <a:prstGeom prst="rect">
            <a:avLst/>
          </a:prstGeom>
          <a:noFill/>
        </p:spPr>
        <p:txBody>
          <a:bodyPr wrap="square">
            <a:spAutoFit/>
          </a:bodyPr>
          <a:lstStyle/>
          <a:p>
            <a:pPr algn="l"/>
            <a:r>
              <a:rPr sz="900" b="1" i="0">
                <a:solidFill>
                  <a:srgbClr val="FFFFFF"/>
                </a:solidFill>
                <a:latin typeface="Calibri"/>
              </a:rPr>
              <a:t>CATALYSEURS BULLS</a:t>
            </a:r>
          </a:p>
        </p:txBody>
      </p:sp>
      <p:sp>
        <p:nvSpPr>
          <p:cNvPr id="34" name="Rectangle 33"/>
          <p:cNvSpPr/>
          <p:nvPr/>
        </p:nvSpPr>
        <p:spPr>
          <a:xfrm>
            <a:off x="3546000" y="2592000"/>
            <a:ext cx="2583000" cy="846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17999" y="2628000"/>
            <a:ext cx="2475000" cy="792000"/>
          </a:xfrm>
          <a:prstGeom prst="rect">
            <a:avLst/>
          </a:prstGeom>
          <a:noFill/>
        </p:spPr>
        <p:txBody>
          <a:bodyPr wrap="square">
            <a:spAutoFit/>
          </a:bodyPr>
          <a:lstStyle/>
          <a:p>
            <a:pPr algn="l"/>
            <a:r>
              <a:rPr sz="800" b="0" i="0">
                <a:solidFill>
                  <a:srgbClr val="0D0D0D"/>
                </a:solidFill>
                <a:latin typeface="Calibri"/>
              </a:rPr>
              <a:t>Thèse bull (MSFT) : Croissance soutenue des revenus (+12,4% CAGR 3 ans) portée par l’IA (Azure, Copilot) et les abonnements (Office 365, LinkedIn). Marges EBITDA élevées (56,9%) et faible levier (ND/EBITDA=0,1) offrent une visibilité opérationnelle et une capacité</a:t>
            </a:r>
          </a:p>
        </p:txBody>
      </p:sp>
      <p:sp>
        <p:nvSpPr>
          <p:cNvPr id="36" name="Rectangle 35"/>
          <p:cNvSpPr/>
          <p:nvPr/>
        </p:nvSpPr>
        <p:spPr>
          <a:xfrm>
            <a:off x="6201000" y="2412000"/>
            <a:ext cx="25830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91000" y="2448000"/>
            <a:ext cx="2439000" cy="144000"/>
          </a:xfrm>
          <a:prstGeom prst="rect">
            <a:avLst/>
          </a:prstGeom>
          <a:noFill/>
        </p:spPr>
        <p:txBody>
          <a:bodyPr wrap="square">
            <a:spAutoFit/>
          </a:bodyPr>
          <a:lstStyle/>
          <a:p>
            <a:pPr algn="l"/>
            <a:r>
              <a:rPr sz="900" b="1" i="0">
                <a:solidFill>
                  <a:srgbClr val="FFFFFF"/>
                </a:solidFill>
                <a:latin typeface="Calibri"/>
              </a:rPr>
              <a:t>RISQUES BEARS</a:t>
            </a:r>
          </a:p>
        </p:txBody>
      </p:sp>
      <p:sp>
        <p:nvSpPr>
          <p:cNvPr id="38" name="Rectangle 37"/>
          <p:cNvSpPr/>
          <p:nvPr/>
        </p:nvSpPr>
        <p:spPr>
          <a:xfrm>
            <a:off x="6201000" y="2592000"/>
            <a:ext cx="2583000" cy="8460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73000" y="2628000"/>
            <a:ext cx="2475000" cy="792000"/>
          </a:xfrm>
          <a:prstGeom prst="rect">
            <a:avLst/>
          </a:prstGeom>
          <a:noFill/>
        </p:spPr>
        <p:txBody>
          <a:bodyPr wrap="square">
            <a:spAutoFit/>
          </a:bodyPr>
          <a:lstStyle/>
          <a:p>
            <a:pPr algn="l"/>
            <a:r>
              <a:rPr sz="800" b="0" i="0">
                <a:solidFill>
                  <a:srgbClr val="0D0D0D"/>
                </a:solidFill>
                <a:latin typeface="Calibri"/>
              </a:rPr>
              <a:t>
Thèse bear (MSFT) : Concurrence accrue dans le cloud (AWS, Google Cloud) et pression sur les marges de l’IA malgré les investissements massifs. Risque de ralentissement des dépenses IT des entreprises en cas de récession. Valorisation élevée en termes de PB (8,0x) malgré</a:t>
            </a:r>
          </a:p>
        </p:txBody>
      </p:sp>
      <p:sp>
        <p:nvSpPr>
          <p:cNvPr id="40" name="Rectangle 39"/>
          <p:cNvSpPr/>
          <p:nvPr/>
        </p:nvSpPr>
        <p:spPr>
          <a:xfrm>
            <a:off x="3546000" y="3528000"/>
            <a:ext cx="5238000" cy="1187999"/>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546000" y="3528000"/>
            <a:ext cx="72000" cy="1187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4000" y="3564000"/>
            <a:ext cx="5058000" cy="125999"/>
          </a:xfrm>
          <a:prstGeom prst="rect">
            <a:avLst/>
          </a:prstGeom>
          <a:noFill/>
        </p:spPr>
        <p:txBody>
          <a:bodyPr wrap="square">
            <a:spAutoFit/>
          </a:bodyPr>
          <a:lstStyle/>
          <a:p>
            <a:pPr algn="l"/>
            <a:r>
              <a:rPr sz="800" b="1" i="0">
                <a:solidFill>
                  <a:srgbClr val="B06000"/>
                </a:solidFill>
                <a:latin typeface="Calibri"/>
              </a:rPr>
              <a:t>CONDITIONS D'INVALIDATION</a:t>
            </a:r>
          </a:p>
        </p:txBody>
      </p:sp>
      <p:sp>
        <p:nvSpPr>
          <p:cNvPr id="43" name="TextBox 42"/>
          <p:cNvSpPr txBox="1"/>
          <p:nvPr/>
        </p:nvSpPr>
        <p:spPr>
          <a:xfrm>
            <a:off x="3654000" y="3708000"/>
            <a:ext cx="5058000" cy="953999"/>
          </a:xfrm>
          <a:prstGeom prst="rect">
            <a:avLst/>
          </a:prstGeom>
          <a:noFill/>
        </p:spPr>
        <p:txBody>
          <a:bodyPr wrap="square">
            <a:spAutoFit/>
          </a:bodyPr>
          <a:lstStyle/>
          <a:p>
            <a:pPr algn="l"/>
            <a:r>
              <a:rPr sz="800" b="0" i="0">
                <a:solidFill>
                  <a:srgbClr val="1B3A6B"/>
                </a:solidFill>
                <a:latin typeface="Calibri"/>
              </a:rPr>
              <a:t>Deterioration structurelle des marges EBITDA &gt; 200bps, choc macro adverses impactant la demande finale, ou re-rating multiples &gt; 20% sans catalyseur fondamental correspondant. A surveiller : publications trimestrielles, guidance FY+1, evenements M&amp;A sectoriels.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