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7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Comparatif  —  Analyse d'Investissement</a:t>
            </a:r>
          </a:p>
        </p:txBody>
      </p:sp>
      <p:sp>
        <p:nvSpPr>
          <p:cNvPr id="6" name="TextBox 5"/>
          <p:cNvSpPr txBox="1"/>
          <p:nvPr/>
        </p:nvSpPr>
        <p:spPr>
          <a:xfrm>
            <a:off x="457200" y="1461599"/>
            <a:ext cx="8229600" cy="648000"/>
          </a:xfrm>
          <a:prstGeom prst="rect">
            <a:avLst/>
          </a:prstGeom>
          <a:noFill/>
        </p:spPr>
        <p:txBody>
          <a:bodyPr wrap="square">
            <a:spAutoFit/>
          </a:bodyPr>
          <a:lstStyle/>
          <a:p>
            <a:pPr algn="ctr"/>
            <a:r>
              <a:rPr sz="3800" b="1" i="0">
                <a:solidFill>
                  <a:srgbClr val="1B3A6B"/>
                </a:solidFill>
                <a:latin typeface="Calibri"/>
              </a:rPr>
              <a:t>AAPL  vs  MSFT</a:t>
            </a:r>
          </a:p>
        </p:txBody>
      </p:sp>
      <p:sp>
        <p:nvSpPr>
          <p:cNvPr id="7" name="TextBox 6"/>
          <p:cNvSpPr txBox="1"/>
          <p:nvPr/>
        </p:nvSpPr>
        <p:spPr>
          <a:xfrm>
            <a:off x="457200" y="2124000"/>
            <a:ext cx="3960000" cy="255600"/>
          </a:xfrm>
          <a:prstGeom prst="rect">
            <a:avLst/>
          </a:prstGeom>
          <a:noFill/>
        </p:spPr>
        <p:txBody>
          <a:bodyPr wrap="square">
            <a:spAutoFit/>
          </a:bodyPr>
          <a:lstStyle/>
          <a:p>
            <a:pPr algn="ctr"/>
            <a:r>
              <a:rPr sz="1100" b="0" i="0">
                <a:solidFill>
                  <a:srgbClr val="888888"/>
                </a:solidFill>
                <a:latin typeface="Calibri"/>
              </a:rPr>
              <a:t>Apple Inc. (AAPL)</a:t>
            </a:r>
          </a:p>
        </p:txBody>
      </p:sp>
      <p:sp>
        <p:nvSpPr>
          <p:cNvPr id="8" name="TextBox 7"/>
          <p:cNvSpPr txBox="1"/>
          <p:nvPr/>
        </p:nvSpPr>
        <p:spPr>
          <a:xfrm>
            <a:off x="4726800" y="2124000"/>
            <a:ext cx="3960000" cy="255600"/>
          </a:xfrm>
          <a:prstGeom prst="rect">
            <a:avLst/>
          </a:prstGeom>
          <a:noFill/>
        </p:spPr>
        <p:txBody>
          <a:bodyPr wrap="square">
            <a:spAutoFit/>
          </a:bodyPr>
          <a:lstStyle/>
          <a:p>
            <a:pPr algn="ctr"/>
            <a:r>
              <a:rPr sz="1100" b="0" i="0">
                <a:solidFill>
                  <a:srgbClr val="888888"/>
                </a:solidFill>
                <a:latin typeface="Calibri"/>
              </a:rPr>
              <a:t>Microsoft Corporation (MSFT)</a:t>
            </a:r>
          </a:p>
        </p:txBody>
      </p:sp>
      <p:sp>
        <p:nvSpPr>
          <p:cNvPr id="9" name="Rectangle 8"/>
          <p:cNvSpPr/>
          <p:nvPr/>
        </p:nvSpPr>
        <p:spPr>
          <a:xfrm>
            <a:off x="457200" y="2520000"/>
            <a:ext cx="3960000" cy="396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520000"/>
            <a:ext cx="648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00" y="2538000"/>
            <a:ext cx="3780000" cy="360000"/>
          </a:xfrm>
          <a:prstGeom prst="rect">
            <a:avLst/>
          </a:prstGeom>
          <a:noFill/>
        </p:spPr>
        <p:txBody>
          <a:bodyPr wrap="square">
            <a:spAutoFit/>
          </a:bodyPr>
          <a:lstStyle/>
          <a:p>
            <a:pPr algn="ctr"/>
            <a:r>
              <a:rPr sz="900" b="1" i="0">
                <a:solidFill>
                  <a:srgbClr val="1B3A6B"/>
                </a:solidFill>
                <a:latin typeface="Calibri"/>
              </a:rPr>
              <a:t>● BUY  ·  Cible : 285 $  ·  Upside : +12,4 %</a:t>
            </a:r>
          </a:p>
        </p:txBody>
      </p:sp>
      <p:sp>
        <p:nvSpPr>
          <p:cNvPr id="12" name="Rectangle 11"/>
          <p:cNvSpPr/>
          <p:nvPr/>
        </p:nvSpPr>
        <p:spPr>
          <a:xfrm>
            <a:off x="4726800" y="2520000"/>
            <a:ext cx="3960000" cy="396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26800" y="2520000"/>
            <a:ext cx="648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5600" y="2538000"/>
            <a:ext cx="3780000" cy="360000"/>
          </a:xfrm>
          <a:prstGeom prst="rect">
            <a:avLst/>
          </a:prstGeom>
          <a:noFill/>
        </p:spPr>
        <p:txBody>
          <a:bodyPr wrap="square">
            <a:spAutoFit/>
          </a:bodyPr>
          <a:lstStyle/>
          <a:p>
            <a:pPr algn="ctr"/>
            <a:r>
              <a:rPr sz="900" b="1" i="0">
                <a:solidFill>
                  <a:srgbClr val="1B3A6B"/>
                </a:solidFill>
                <a:latin typeface="Calibri"/>
              </a:rPr>
              <a:t>● BUY  ·  Cible : 410 $  ·  Upside : +10,1 %</a:t>
            </a:r>
          </a:p>
        </p:txBody>
      </p:sp>
      <p:sp>
        <p:nvSpPr>
          <p:cNvPr id="15" name="TextBox 14"/>
          <p:cNvSpPr txBox="1"/>
          <p:nvPr/>
        </p:nvSpPr>
        <p:spPr>
          <a:xfrm>
            <a:off x="457200" y="2988000"/>
            <a:ext cx="3960000" cy="201600"/>
          </a:xfrm>
          <a:prstGeom prst="rect">
            <a:avLst/>
          </a:prstGeom>
          <a:noFill/>
        </p:spPr>
        <p:txBody>
          <a:bodyPr wrap="square">
            <a:spAutoFit/>
          </a:bodyPr>
          <a:lstStyle/>
          <a:p>
            <a:pPr algn="ctr"/>
            <a:r>
              <a:rPr sz="900" b="0" i="0">
                <a:solidFill>
                  <a:srgbClr val="555555"/>
                </a:solidFill>
                <a:latin typeface="Calibri"/>
              </a:rPr>
              <a:t>Technology</a:t>
            </a:r>
          </a:p>
        </p:txBody>
      </p:sp>
      <p:sp>
        <p:nvSpPr>
          <p:cNvPr id="16" name="TextBox 15"/>
          <p:cNvSpPr txBox="1"/>
          <p:nvPr/>
        </p:nvSpPr>
        <p:spPr>
          <a:xfrm>
            <a:off x="4726800" y="2988000"/>
            <a:ext cx="3960000" cy="201600"/>
          </a:xfrm>
          <a:prstGeom prst="rect">
            <a:avLst/>
          </a:prstGeom>
          <a:noFill/>
        </p:spPr>
        <p:txBody>
          <a:bodyPr wrap="square">
            <a:spAutoFit/>
          </a:bodyPr>
          <a:lstStyle/>
          <a:p>
            <a:pPr algn="ctr"/>
            <a:r>
              <a:rPr sz="900" b="0" i="0">
                <a:solidFill>
                  <a:srgbClr val="555555"/>
                </a:solidFill>
                <a:latin typeface="Calibri"/>
              </a:rPr>
              <a:t>Technology</a:t>
            </a:r>
          </a:p>
        </p:txBody>
      </p:sp>
      <p:sp>
        <p:nvSpPr>
          <p:cNvPr id="17" name="Rectangle 16"/>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9" name="TextBox 18"/>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8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 Comparatif</a:t>
            </a:r>
          </a:p>
        </p:txBody>
      </p:sp>
      <p:sp>
        <p:nvSpPr>
          <p:cNvPr id="6" name="Rectangle 5"/>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sp>
        <p:nvSpPr>
          <p:cNvPr id="22" name="Rectangle 21"/>
          <p:cNvSpPr/>
          <p:nvPr/>
        </p:nvSpPr>
        <p:spPr>
          <a:xfrm>
            <a:off x="367200" y="882000"/>
            <a:ext cx="84132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8820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3999" y="917999"/>
            <a:ext cx="8208000" cy="576000"/>
          </a:xfrm>
          <a:prstGeom prst="rect">
            <a:avLst/>
          </a:prstGeom>
          <a:noFill/>
        </p:spPr>
        <p:txBody>
          <a:bodyPr wrap="square">
            <a:spAutoFit/>
          </a:bodyPr>
          <a:lstStyle/>
          <a:p>
            <a:pPr algn="l"/>
            <a:r>
              <a:rPr sz="850" b="0" i="0">
                <a:solidFill>
                  <a:srgbClr val="1B3A6B"/>
                </a:solidFill>
                <a:latin typeface="Calibri"/>
              </a:rPr>
              <a:t>Executive Summary : AAPL vs MSFT Quoi : MSFT affiche une valorisation plus attractive (PE 27.1x vs 33.2x, EV/EBITDA 17.3x vs 26.1x) avec une rentabilité supérieure (EBITDA margin 56.9% vs 34.8%, ROIC 30.1% vs 84.4%) et une croissance plus robuste (Rev CAGR 12.4% vs 1.8%). Pourquoi : MSFT combine efficacité opérationnelle, bilan solide</a:t>
            </a:r>
          </a:p>
        </p:txBody>
      </p:sp>
      <p:sp>
        <p:nvSpPr>
          <p:cNvPr id="25" name="Rectangle 24"/>
          <p:cNvSpPr/>
          <p:nvPr/>
        </p:nvSpPr>
        <p:spPr>
          <a:xfrm>
            <a:off x="367200" y="1692000"/>
            <a:ext cx="2015999" cy="68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1692000"/>
            <a:ext cx="46800" cy="68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746000"/>
            <a:ext cx="1879200" cy="360000"/>
          </a:xfrm>
          <a:prstGeom prst="rect">
            <a:avLst/>
          </a:prstGeom>
          <a:noFill/>
        </p:spPr>
        <p:txBody>
          <a:bodyPr wrap="square">
            <a:spAutoFit/>
          </a:bodyPr>
          <a:lstStyle/>
          <a:p>
            <a:pPr algn="l"/>
            <a:r>
              <a:rPr sz="1700" b="1" i="0">
                <a:solidFill>
                  <a:srgbClr val="1B3A6B"/>
                </a:solidFill>
                <a:latin typeface="Calibri"/>
              </a:rPr>
              <a:t>253,5 / 372,3</a:t>
            </a:r>
          </a:p>
        </p:txBody>
      </p:sp>
      <p:sp>
        <p:nvSpPr>
          <p:cNvPr id="28" name="TextBox 27"/>
          <p:cNvSpPr txBox="1"/>
          <p:nvPr/>
        </p:nvSpPr>
        <p:spPr>
          <a:xfrm>
            <a:off x="457200" y="2088000"/>
            <a:ext cx="1879200" cy="180000"/>
          </a:xfrm>
          <a:prstGeom prst="rect">
            <a:avLst/>
          </a:prstGeom>
          <a:noFill/>
        </p:spPr>
        <p:txBody>
          <a:bodyPr wrap="square">
            <a:spAutoFit/>
          </a:bodyPr>
          <a:lstStyle/>
          <a:p>
            <a:pPr algn="l"/>
            <a:r>
              <a:rPr sz="750" b="0" i="0">
                <a:solidFill>
                  <a:srgbClr val="555555"/>
                </a:solidFill>
                <a:latin typeface="Calibri"/>
              </a:rPr>
              <a:t>Cours actuel A / B</a:t>
            </a:r>
          </a:p>
        </p:txBody>
      </p:sp>
      <p:sp>
        <p:nvSpPr>
          <p:cNvPr id="29" name="Rectangle 28"/>
          <p:cNvSpPr/>
          <p:nvPr/>
        </p:nvSpPr>
        <p:spPr>
          <a:xfrm>
            <a:off x="2491200" y="1692000"/>
            <a:ext cx="2015999" cy="68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491200" y="1692000"/>
            <a:ext cx="46800" cy="68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81200" y="1746000"/>
            <a:ext cx="1879200" cy="360000"/>
          </a:xfrm>
          <a:prstGeom prst="rect">
            <a:avLst/>
          </a:prstGeom>
          <a:noFill/>
        </p:spPr>
        <p:txBody>
          <a:bodyPr wrap="square">
            <a:spAutoFit/>
          </a:bodyPr>
          <a:lstStyle/>
          <a:p>
            <a:pPr algn="l"/>
            <a:r>
              <a:rPr sz="1700" b="1" i="0">
                <a:solidFill>
                  <a:srgbClr val="1B3A6B"/>
                </a:solidFill>
                <a:latin typeface="Calibri"/>
              </a:rPr>
              <a:t>3 721,7 / 2 764,5</a:t>
            </a:r>
          </a:p>
        </p:txBody>
      </p:sp>
      <p:sp>
        <p:nvSpPr>
          <p:cNvPr id="32" name="TextBox 31"/>
          <p:cNvSpPr txBox="1"/>
          <p:nvPr/>
        </p:nvSpPr>
        <p:spPr>
          <a:xfrm>
            <a:off x="2581200" y="2088000"/>
            <a:ext cx="1879200" cy="180000"/>
          </a:xfrm>
          <a:prstGeom prst="rect">
            <a:avLst/>
          </a:prstGeom>
          <a:noFill/>
        </p:spPr>
        <p:txBody>
          <a:bodyPr wrap="square">
            <a:spAutoFit/>
          </a:bodyPr>
          <a:lstStyle/>
          <a:p>
            <a:pPr algn="l"/>
            <a:r>
              <a:rPr sz="750" b="0" i="0">
                <a:solidFill>
                  <a:srgbClr val="555555"/>
                </a:solidFill>
                <a:latin typeface="Calibri"/>
              </a:rPr>
              <a:t>Market Cap (Mds) A / B</a:t>
            </a:r>
          </a:p>
        </p:txBody>
      </p:sp>
      <p:sp>
        <p:nvSpPr>
          <p:cNvPr id="33" name="Rectangle 32"/>
          <p:cNvSpPr/>
          <p:nvPr/>
        </p:nvSpPr>
        <p:spPr>
          <a:xfrm>
            <a:off x="4611600" y="1692000"/>
            <a:ext cx="2015999" cy="68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11600" y="1692000"/>
            <a:ext cx="46800" cy="68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01600" y="1746000"/>
            <a:ext cx="1879200" cy="360000"/>
          </a:xfrm>
          <a:prstGeom prst="rect">
            <a:avLst/>
          </a:prstGeom>
          <a:noFill/>
        </p:spPr>
        <p:txBody>
          <a:bodyPr wrap="square">
            <a:spAutoFit/>
          </a:bodyPr>
          <a:lstStyle/>
          <a:p>
            <a:pPr algn="l"/>
            <a:r>
              <a:rPr sz="1700" b="1" i="0">
                <a:solidFill>
                  <a:srgbClr val="1B3A6B"/>
                </a:solidFill>
                <a:latin typeface="Calibri"/>
              </a:rPr>
              <a:t>33,2x / 27,1x</a:t>
            </a:r>
          </a:p>
        </p:txBody>
      </p:sp>
      <p:sp>
        <p:nvSpPr>
          <p:cNvPr id="36" name="TextBox 35"/>
          <p:cNvSpPr txBox="1"/>
          <p:nvPr/>
        </p:nvSpPr>
        <p:spPr>
          <a:xfrm>
            <a:off x="4701600" y="2088000"/>
            <a:ext cx="1879200" cy="180000"/>
          </a:xfrm>
          <a:prstGeom prst="rect">
            <a:avLst/>
          </a:prstGeom>
          <a:noFill/>
        </p:spPr>
        <p:txBody>
          <a:bodyPr wrap="square">
            <a:spAutoFit/>
          </a:bodyPr>
          <a:lstStyle/>
          <a:p>
            <a:pPr algn="l"/>
            <a:r>
              <a:rPr sz="750" b="0" i="0">
                <a:solidFill>
                  <a:srgbClr val="555555"/>
                </a:solidFill>
                <a:latin typeface="Calibri"/>
              </a:rPr>
              <a:t>PE A / B</a:t>
            </a:r>
          </a:p>
        </p:txBody>
      </p:sp>
      <p:sp>
        <p:nvSpPr>
          <p:cNvPr id="37" name="Rectangle 36"/>
          <p:cNvSpPr/>
          <p:nvPr/>
        </p:nvSpPr>
        <p:spPr>
          <a:xfrm>
            <a:off x="6732000" y="1692000"/>
            <a:ext cx="2015999" cy="68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732000" y="1692000"/>
            <a:ext cx="46800" cy="68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22000" y="1746000"/>
            <a:ext cx="1879200" cy="360000"/>
          </a:xfrm>
          <a:prstGeom prst="rect">
            <a:avLst/>
          </a:prstGeom>
          <a:noFill/>
        </p:spPr>
        <p:txBody>
          <a:bodyPr wrap="square">
            <a:spAutoFit/>
          </a:bodyPr>
          <a:lstStyle/>
          <a:p>
            <a:pPr algn="l"/>
            <a:r>
              <a:rPr sz="1700" b="1" i="0">
                <a:solidFill>
                  <a:srgbClr val="1B3A6B"/>
                </a:solidFill>
                <a:latin typeface="Calibri"/>
              </a:rPr>
              <a:t>26,1x / 17,3x</a:t>
            </a:r>
          </a:p>
        </p:txBody>
      </p:sp>
      <p:sp>
        <p:nvSpPr>
          <p:cNvPr id="40" name="TextBox 39"/>
          <p:cNvSpPr txBox="1"/>
          <p:nvPr/>
        </p:nvSpPr>
        <p:spPr>
          <a:xfrm>
            <a:off x="6822000" y="2088000"/>
            <a:ext cx="1879200" cy="180000"/>
          </a:xfrm>
          <a:prstGeom prst="rect">
            <a:avLst/>
          </a:prstGeom>
          <a:noFill/>
        </p:spPr>
        <p:txBody>
          <a:bodyPr wrap="square">
            <a:spAutoFit/>
          </a:bodyPr>
          <a:lstStyle/>
          <a:p>
            <a:pPr algn="l"/>
            <a:r>
              <a:rPr sz="750" b="0" i="0">
                <a:solidFill>
                  <a:srgbClr val="555555"/>
                </a:solidFill>
                <a:latin typeface="Calibri"/>
              </a:rPr>
              <a:t>EV/EBITDA A / B</a:t>
            </a:r>
          </a:p>
        </p:txBody>
      </p:sp>
      <p:graphicFrame>
        <p:nvGraphicFramePr>
          <p:cNvPr id="41" name="Table 40"/>
          <p:cNvGraphicFramePr>
            <a:graphicFrameLocks noGrp="1"/>
          </p:cNvGraphicFramePr>
          <p:nvPr/>
        </p:nvGraphicFramePr>
        <p:xfrm>
          <a:off x="367200" y="2466000"/>
          <a:ext cx="8413200" cy="1800000"/>
        </p:xfrm>
        <a:graphic>
          <a:graphicData uri="http://schemas.openxmlformats.org/drawingml/2006/table">
            <a:tbl>
              <a:tblPr firstRow="1" bandRow="1">
                <a:tableStyleId>{5C22544A-7EE6-4342-B048-85BDC9FD1C3A}</a:tableStyleId>
              </a:tblPr>
              <a:tblGrid>
                <a:gridCol w="3533544"/>
                <a:gridCol w="2439828"/>
                <a:gridCol w="2439828"/>
              </a:tblGrid>
              <a:tr h="225000">
                <a:tc>
                  <a:txBody>
                    <a:bodyPr/>
                    <a:lstStyle/>
                    <a:p>
                      <a:pPr algn="l"/>
                      <a:r>
                        <a:rPr sz="750" b="1" i="0">
                          <a:solidFill>
                            <a:srgbClr val="FFFFFF"/>
                          </a:solidFill>
                          <a:latin typeface="Calibri"/>
                        </a:rPr>
                        <a:t>Metrique</a:t>
                      </a:r>
                    </a:p>
                  </a:txBody>
                  <a:tcPr>
                    <a:solidFill>
                      <a:srgbClr val="1B3A6B"/>
                    </a:solidFill>
                  </a:tcPr>
                </a:tc>
                <a:tc>
                  <a:txBody>
                    <a:bodyPr/>
                    <a:lstStyle/>
                    <a:p>
                      <a:pPr algn="ctr"/>
                      <a:r>
                        <a:rPr sz="750" b="1" i="0">
                          <a:solidFill>
                            <a:srgbClr val="FFFFFF"/>
                          </a:solidFill>
                          <a:latin typeface="Calibri"/>
                        </a:rPr>
                        <a:t>AAPL</a:t>
                      </a:r>
                    </a:p>
                  </a:txBody>
                  <a:tcPr>
                    <a:solidFill>
                      <a:srgbClr val="1B3A6B"/>
                    </a:solidFill>
                  </a:tcPr>
                </a:tc>
                <a:tc>
                  <a:txBody>
                    <a:bodyPr/>
                    <a:lstStyle/>
                    <a:p>
                      <a:pPr algn="ctr"/>
                      <a:r>
                        <a:rPr sz="750" b="1" i="0">
                          <a:solidFill>
                            <a:srgbClr val="FFFFFF"/>
                          </a:solidFill>
                          <a:latin typeface="Calibri"/>
                        </a:rPr>
                        <a:t>MSFT</a:t>
                      </a:r>
                    </a:p>
                  </a:txBody>
                  <a:tcPr>
                    <a:solidFill>
                      <a:srgbClr val="1B3A6B"/>
                    </a:solidFill>
                  </a:tcPr>
                </a:tc>
              </a:tr>
              <a:tr h="225000">
                <a:tc>
                  <a:txBody>
                    <a:bodyPr/>
                    <a:lstStyle/>
                    <a:p>
                      <a:pPr algn="l"/>
                      <a:r>
                        <a:rPr sz="750" b="0" i="0">
                          <a:solidFill>
                            <a:srgbClr val="0D0D0D"/>
                          </a:solidFill>
                          <a:latin typeface="Calibri"/>
                        </a:rPr>
                        <a:t>FinSight Score</a:t>
                      </a:r>
                    </a:p>
                  </a:txBody>
                  <a:tcPr>
                    <a:solidFill>
                      <a:srgbClr val="FFFFFF"/>
                    </a:solidFill>
                  </a:tcPr>
                </a:tc>
                <a:tc>
                  <a:txBody>
                    <a:bodyPr/>
                    <a:lstStyle/>
                    <a:p>
                      <a:pPr algn="ctr"/>
                      <a:r>
                        <a:rPr sz="750" b="0" i="0">
                          <a:solidFill>
                            <a:srgbClr val="0D0D0D"/>
                          </a:solidFill>
                          <a:latin typeface="Calibri"/>
                        </a:rPr>
                        <a:t>44</a:t>
                      </a:r>
                    </a:p>
                  </a:txBody>
                  <a:tcPr>
                    <a:solidFill>
                      <a:srgbClr val="FFFFFF"/>
                    </a:solidFill>
                  </a:tcPr>
                </a:tc>
                <a:tc>
                  <a:txBody>
                    <a:bodyPr/>
                    <a:lstStyle/>
                    <a:p>
                      <a:pPr algn="ctr"/>
                      <a:r>
                        <a:rPr sz="750" b="0" i="0">
                          <a:solidFill>
                            <a:srgbClr val="0D0D0D"/>
                          </a:solidFill>
                          <a:latin typeface="Calibri"/>
                        </a:rPr>
                        <a:t>58</a:t>
                      </a:r>
                    </a:p>
                  </a:txBody>
                  <a:tcPr>
                    <a:solidFill>
                      <a:srgbClr val="FFFFFF"/>
                    </a:solidFill>
                  </a:tcPr>
                </a:tc>
              </a:tr>
              <a:tr h="225000">
                <a:tc>
                  <a:txBody>
                    <a:bodyPr/>
                    <a:lstStyle/>
                    <a:p>
                      <a:pPr algn="l"/>
                      <a:r>
                        <a:rPr sz="750" b="0" i="0">
                          <a:solidFill>
                            <a:srgbClr val="0D0D0D"/>
                          </a:solidFill>
                          <a:latin typeface="Calibri"/>
                        </a:rPr>
                        <a:t>Recommandation</a:t>
                      </a:r>
                    </a:p>
                  </a:txBody>
                  <a:tcPr>
                    <a:solidFill>
                      <a:srgbClr val="F7F8FA"/>
                    </a:solidFill>
                  </a:tcPr>
                </a:tc>
                <a:tc>
                  <a:txBody>
                    <a:bodyPr/>
                    <a:lstStyle/>
                    <a:p>
                      <a:pPr algn="ctr"/>
                      <a:r>
                        <a:rPr sz="750" b="0" i="0">
                          <a:solidFill>
                            <a:srgbClr val="0D0D0D"/>
                          </a:solidFill>
                          <a:latin typeface="Calibri"/>
                        </a:rPr>
                        <a:t>BUY</a:t>
                      </a:r>
                    </a:p>
                  </a:txBody>
                  <a:tcPr>
                    <a:solidFill>
                      <a:srgbClr val="F7F8FA"/>
                    </a:solidFill>
                  </a:tcPr>
                </a:tc>
                <a:tc>
                  <a:txBody>
                    <a:bodyPr/>
                    <a:lstStyle/>
                    <a:p>
                      <a:pPr algn="ctr"/>
                      <a:r>
                        <a:rPr sz="750" b="0" i="0">
                          <a:solidFill>
                            <a:srgbClr val="0D0D0D"/>
                          </a:solidFill>
                          <a:latin typeface="Calibri"/>
                        </a:rPr>
                        <a:t>BUY</a:t>
                      </a:r>
                    </a:p>
                  </a:txBody>
                  <a:tcPr>
                    <a:solidFill>
                      <a:srgbClr val="F7F8FA"/>
                    </a:solidFill>
                  </a:tcPr>
                </a:tc>
              </a:tr>
              <a:tr h="225000">
                <a:tc>
                  <a:txBody>
                    <a:bodyPr/>
                    <a:lstStyle/>
                    <a:p>
                      <a:pPr algn="l"/>
                      <a:r>
                        <a:rPr sz="750" b="0" i="0">
                          <a:solidFill>
                            <a:srgbClr val="0D0D0D"/>
                          </a:solidFill>
                          <a:latin typeface="Calibri"/>
                        </a:rPr>
                        <a:t>Conviction</a:t>
                      </a:r>
                    </a:p>
                  </a:txBody>
                  <a:tcPr>
                    <a:solidFill>
                      <a:srgbClr val="FFFFFF"/>
                    </a:solidFill>
                  </a:tcPr>
                </a:tc>
                <a:tc>
                  <a:txBody>
                    <a:bodyPr/>
                    <a:lstStyle/>
                    <a:p>
                      <a:pPr algn="ctr"/>
                      <a:r>
                        <a:rPr sz="750" b="0" i="0">
                          <a:solidFill>
                            <a:srgbClr val="0D0D0D"/>
                          </a:solidFill>
                          <a:latin typeface="Calibri"/>
                        </a:rPr>
                        <a:t>78,0 %</a:t>
                      </a:r>
                    </a:p>
                  </a:txBody>
                  <a:tcPr>
                    <a:solidFill>
                      <a:srgbClr val="FFFFFF"/>
                    </a:solidFill>
                  </a:tcPr>
                </a:tc>
                <a:tc>
                  <a:txBody>
                    <a:bodyPr/>
                    <a:lstStyle/>
                    <a:p>
                      <a:pPr algn="ctr"/>
                      <a:r>
                        <a:rPr sz="750" b="0" i="0">
                          <a:solidFill>
                            <a:srgbClr val="0D0D0D"/>
                          </a:solidFill>
                          <a:latin typeface="Calibri"/>
                        </a:rPr>
                        <a:t>78,0 %</a:t>
                      </a:r>
                    </a:p>
                  </a:txBody>
                  <a:tcPr>
                    <a:solidFill>
                      <a:srgbClr val="FFFFFF"/>
                    </a:solidFill>
                  </a:tcPr>
                </a:tc>
              </a:tr>
              <a:tr h="225000">
                <a:tc>
                  <a:txBody>
                    <a:bodyPr/>
                    <a:lstStyle/>
                    <a:p>
                      <a:pPr algn="l"/>
                      <a:r>
                        <a:rPr sz="750" b="0" i="0">
                          <a:solidFill>
                            <a:srgbClr val="0D0D0D"/>
                          </a:solidFill>
                          <a:latin typeface="Calibri"/>
                        </a:rPr>
                        <a:t>Marge EBITDA LTM</a:t>
                      </a:r>
                    </a:p>
                  </a:txBody>
                  <a:tcPr>
                    <a:solidFill>
                      <a:srgbClr val="F7F8FA"/>
                    </a:solidFill>
                  </a:tcPr>
                </a:tc>
                <a:tc>
                  <a:txBody>
                    <a:bodyPr/>
                    <a:lstStyle/>
                    <a:p>
                      <a:pPr algn="ctr"/>
                      <a:r>
                        <a:rPr sz="750" b="0" i="0">
                          <a:solidFill>
                            <a:srgbClr val="0D0D0D"/>
                          </a:solidFill>
                          <a:latin typeface="Calibri"/>
                        </a:rPr>
                        <a:t>34,8 %</a:t>
                      </a:r>
                    </a:p>
                  </a:txBody>
                  <a:tcPr>
                    <a:solidFill>
                      <a:srgbClr val="F7F8FA"/>
                    </a:solidFill>
                  </a:tcPr>
                </a:tc>
                <a:tc>
                  <a:txBody>
                    <a:bodyPr/>
                    <a:lstStyle/>
                    <a:p>
                      <a:pPr algn="ctr"/>
                      <a:r>
                        <a:rPr sz="750" b="0" i="0">
                          <a:solidFill>
                            <a:srgbClr val="0D0D0D"/>
                          </a:solidFill>
                          <a:latin typeface="Calibri"/>
                        </a:rPr>
                        <a:t>56,9 %</a:t>
                      </a:r>
                    </a:p>
                  </a:txBody>
                  <a:tcPr>
                    <a:solidFill>
                      <a:srgbClr val="F7F8FA"/>
                    </a:solidFill>
                  </a:tcPr>
                </a:tc>
              </a:tr>
              <a:tr h="225000">
                <a:tc>
                  <a:txBody>
                    <a:bodyPr/>
                    <a:lstStyle/>
                    <a:p>
                      <a:pPr algn="l"/>
                      <a:r>
                        <a:rPr sz="750" b="0" i="0">
                          <a:solidFill>
                            <a:srgbClr val="0D0D0D"/>
                          </a:solidFill>
                          <a:latin typeface="Calibri"/>
                        </a:rPr>
                        <a:t>ROIC</a:t>
                      </a:r>
                    </a:p>
                  </a:txBody>
                  <a:tcPr>
                    <a:solidFill>
                      <a:srgbClr val="FFFFFF"/>
                    </a:solidFill>
                  </a:tcPr>
                </a:tc>
                <a:tc>
                  <a:txBody>
                    <a:bodyPr/>
                    <a:lstStyle/>
                    <a:p>
                      <a:pPr algn="ctr"/>
                      <a:r>
                        <a:rPr sz="750" b="0" i="0">
                          <a:solidFill>
                            <a:srgbClr val="0D0D0D"/>
                          </a:solidFill>
                          <a:latin typeface="Calibri"/>
                        </a:rPr>
                        <a:t>84,4 %</a:t>
                      </a:r>
                    </a:p>
                  </a:txBody>
                  <a:tcPr>
                    <a:solidFill>
                      <a:srgbClr val="FFFFFF"/>
                    </a:solidFill>
                  </a:tcPr>
                </a:tc>
                <a:tc>
                  <a:txBody>
                    <a:bodyPr/>
                    <a:lstStyle/>
                    <a:p>
                      <a:pPr algn="ctr"/>
                      <a:r>
                        <a:rPr sz="750" b="0" i="0">
                          <a:solidFill>
                            <a:srgbClr val="0D0D0D"/>
                          </a:solidFill>
                          <a:latin typeface="Calibri"/>
                        </a:rPr>
                        <a:t>30,1 %</a:t>
                      </a:r>
                    </a:p>
                  </a:txBody>
                  <a:tcPr>
                    <a:solidFill>
                      <a:srgbClr val="FFFFFF"/>
                    </a:solidFill>
                  </a:tcPr>
                </a:tc>
              </a:tr>
              <a:tr h="225000">
                <a:tc>
                  <a:txBody>
                    <a:bodyPr/>
                    <a:lstStyle/>
                    <a:p>
                      <a:pPr algn="l"/>
                      <a:r>
                        <a:rPr sz="750" b="0" i="0">
                          <a:solidFill>
                            <a:srgbClr val="0D0D0D"/>
                          </a:solidFill>
                          <a:latin typeface="Calibri"/>
                        </a:rPr>
                        <a:t>Rev CAGR 3y</a:t>
                      </a:r>
                    </a:p>
                  </a:txBody>
                  <a:tcPr>
                    <a:solidFill>
                      <a:srgbClr val="F7F8FA"/>
                    </a:solidFill>
                  </a:tcPr>
                </a:tc>
                <a:tc>
                  <a:txBody>
                    <a:bodyPr/>
                    <a:lstStyle/>
                    <a:p>
                      <a:pPr algn="ctr"/>
                      <a:r>
                        <a:rPr sz="750" b="0" i="0">
                          <a:solidFill>
                            <a:srgbClr val="0D0D0D"/>
                          </a:solidFill>
                          <a:latin typeface="Calibri"/>
                        </a:rPr>
                        <a:t>1,8 %</a:t>
                      </a:r>
                    </a:p>
                  </a:txBody>
                  <a:tcPr>
                    <a:solidFill>
                      <a:srgbClr val="F7F8FA"/>
                    </a:solidFill>
                  </a:tcPr>
                </a:tc>
                <a:tc>
                  <a:txBody>
                    <a:bodyPr/>
                    <a:lstStyle/>
                    <a:p>
                      <a:pPr algn="ctr"/>
                      <a:r>
                        <a:rPr sz="750" b="0" i="0">
                          <a:solidFill>
                            <a:srgbClr val="0D0D0D"/>
                          </a:solidFill>
                          <a:latin typeface="Calibri"/>
                        </a:rPr>
                        <a:t>12,4 %</a:t>
                      </a:r>
                    </a:p>
                  </a:txBody>
                  <a:tcPr>
                    <a:solidFill>
                      <a:srgbClr val="F7F8FA"/>
                    </a:solidFill>
                  </a:tcPr>
                </a:tc>
              </a:tr>
              <a:tr h="225000">
                <a:tc>
                  <a:txBody>
                    <a:bodyPr/>
                    <a:lstStyle/>
                    <a:p>
                      <a:pPr algn="l"/>
                      <a:r>
                        <a:rPr sz="750" b="0" i="0">
                          <a:solidFill>
                            <a:srgbClr val="0D0D0D"/>
                          </a:solidFill>
                          <a:latin typeface="Calibri"/>
                        </a:rPr>
                        <a:t>ND/EBITDA</a:t>
                      </a:r>
                    </a:p>
                  </a:txBody>
                  <a:tcPr>
                    <a:solidFill>
                      <a:srgbClr val="FFFFFF"/>
                    </a:solidFill>
                  </a:tcPr>
                </a:tc>
                <a:tc>
                  <a:txBody>
                    <a:bodyPr/>
                    <a:lstStyle/>
                    <a:p>
                      <a:pPr algn="ctr"/>
                      <a:r>
                        <a:rPr sz="750" b="0" i="0">
                          <a:solidFill>
                            <a:srgbClr val="0D0D0D"/>
                          </a:solidFill>
                          <a:latin typeface="Calibri"/>
                        </a:rPr>
                        <a:t>0,4x</a:t>
                      </a:r>
                    </a:p>
                  </a:txBody>
                  <a:tcPr>
                    <a:solidFill>
                      <a:srgbClr val="FFFFFF"/>
                    </a:solidFill>
                  </a:tcPr>
                </a:tc>
                <a:tc>
                  <a:txBody>
                    <a:bodyPr/>
                    <a:lstStyle/>
                    <a:p>
                      <a:pPr algn="ctr"/>
                      <a:r>
                        <a:rPr sz="750" b="0" i="0">
                          <a:solidFill>
                            <a:srgbClr val="0D0D0D"/>
                          </a:solidFill>
                          <a:latin typeface="Calibri"/>
                        </a:rPr>
                        <a:t>0,1x</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7488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8028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820800"/>
            <a:ext cx="6120000" cy="255600"/>
          </a:xfrm>
          <a:prstGeom prst="rect">
            <a:avLst/>
          </a:prstGeom>
          <a:noFill/>
        </p:spPr>
        <p:txBody>
          <a:bodyPr wrap="square">
            <a:spAutoFit/>
          </a:bodyPr>
          <a:lstStyle/>
          <a:p>
            <a:pPr algn="l"/>
            <a:r>
              <a:rPr sz="1300" b="1" i="0">
                <a:solidFill>
                  <a:srgbClr val="1B3A6B"/>
                </a:solidFill>
                <a:latin typeface="Calibri"/>
              </a:rPr>
              <a:t>Profil &amp; Identite</a:t>
            </a:r>
          </a:p>
        </p:txBody>
      </p:sp>
      <p:sp>
        <p:nvSpPr>
          <p:cNvPr id="10" name="TextBox 9"/>
          <p:cNvSpPr txBox="1"/>
          <p:nvPr/>
        </p:nvSpPr>
        <p:spPr>
          <a:xfrm>
            <a:off x="1152000" y="1054800"/>
            <a:ext cx="6120000" cy="255600"/>
          </a:xfrm>
          <a:prstGeom prst="rect">
            <a:avLst/>
          </a:prstGeom>
          <a:noFill/>
        </p:spPr>
        <p:txBody>
          <a:bodyPr wrap="square">
            <a:spAutoFit/>
          </a:bodyPr>
          <a:lstStyle/>
          <a:p>
            <a:pPr algn="l"/>
            <a:r>
              <a:rPr sz="850" b="0" i="0">
                <a:solidFill>
                  <a:srgbClr val="555555"/>
                </a:solidFill>
                <a:latin typeface="Calibri"/>
              </a:rPr>
              <a:t>Presentation comparative des deux societes</a:t>
            </a:r>
          </a:p>
        </p:txBody>
      </p:sp>
      <p:sp>
        <p:nvSpPr>
          <p:cNvPr id="11" name="TextBox 10"/>
          <p:cNvSpPr txBox="1"/>
          <p:nvPr/>
        </p:nvSpPr>
        <p:spPr>
          <a:xfrm>
            <a:off x="7405200" y="910800"/>
            <a:ext cx="1375200" cy="255600"/>
          </a:xfrm>
          <a:prstGeom prst="rect">
            <a:avLst/>
          </a:prstGeom>
          <a:noFill/>
        </p:spPr>
        <p:txBody>
          <a:bodyPr wrap="square">
            <a:spAutoFit/>
          </a:bodyPr>
          <a:lstStyle/>
          <a:p>
            <a:pPr algn="r"/>
            <a:r>
              <a:rPr sz="900" b="0" i="0">
                <a:solidFill>
                  <a:srgbClr val="2E5FA3"/>
                </a:solidFill>
                <a:latin typeface="Calibri"/>
              </a:rPr>
              <a:t>5</a:t>
            </a:r>
          </a:p>
        </p:txBody>
      </p:sp>
      <p:sp>
        <p:nvSpPr>
          <p:cNvPr id="12" name="Rectangle 11"/>
          <p:cNvSpPr/>
          <p:nvPr/>
        </p:nvSpPr>
        <p:spPr>
          <a:xfrm>
            <a:off x="367200" y="14436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443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4976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515600"/>
            <a:ext cx="6120000" cy="255600"/>
          </a:xfrm>
          <a:prstGeom prst="rect">
            <a:avLst/>
          </a:prstGeom>
          <a:noFill/>
        </p:spPr>
        <p:txBody>
          <a:bodyPr wrap="square">
            <a:spAutoFit/>
          </a:bodyPr>
          <a:lstStyle/>
          <a:p>
            <a:pPr algn="l"/>
            <a:r>
              <a:rPr sz="1300" b="1" i="0">
                <a:solidFill>
                  <a:srgbClr val="1B3A6B"/>
                </a:solidFill>
                <a:latin typeface="Calibri"/>
              </a:rPr>
              <a:t>Performance Financiere</a:t>
            </a:r>
          </a:p>
        </p:txBody>
      </p:sp>
      <p:sp>
        <p:nvSpPr>
          <p:cNvPr id="16" name="TextBox 15"/>
          <p:cNvSpPr txBox="1"/>
          <p:nvPr/>
        </p:nvSpPr>
        <p:spPr>
          <a:xfrm>
            <a:off x="1152000" y="1749599"/>
            <a:ext cx="6120000" cy="255600"/>
          </a:xfrm>
          <a:prstGeom prst="rect">
            <a:avLst/>
          </a:prstGeom>
          <a:noFill/>
        </p:spPr>
        <p:txBody>
          <a:bodyPr wrap="square">
            <a:spAutoFit/>
          </a:bodyPr>
          <a:lstStyle/>
          <a:p>
            <a:pPr algn="l"/>
            <a:r>
              <a:rPr sz="850" b="0" i="0">
                <a:solidFill>
                  <a:srgbClr val="555555"/>
                </a:solidFill>
                <a:latin typeface="Calibri"/>
              </a:rPr>
              <a:t>P&amp;L, marges, bilan et liquidite compares</a:t>
            </a:r>
          </a:p>
        </p:txBody>
      </p:sp>
      <p:sp>
        <p:nvSpPr>
          <p:cNvPr id="17" name="TextBox 16"/>
          <p:cNvSpPr txBox="1"/>
          <p:nvPr/>
        </p:nvSpPr>
        <p:spPr>
          <a:xfrm>
            <a:off x="7405200" y="1605600"/>
            <a:ext cx="1375200" cy="255600"/>
          </a:xfrm>
          <a:prstGeom prst="rect">
            <a:avLst/>
          </a:prstGeom>
          <a:noFill/>
        </p:spPr>
        <p:txBody>
          <a:bodyPr wrap="square">
            <a:spAutoFit/>
          </a:bodyPr>
          <a:lstStyle/>
          <a:p>
            <a:pPr algn="r"/>
            <a:r>
              <a:rPr sz="900" b="0" i="0">
                <a:solidFill>
                  <a:srgbClr val="2E5FA3"/>
                </a:solidFill>
                <a:latin typeface="Calibri"/>
              </a:rPr>
              <a:t>7</a:t>
            </a:r>
          </a:p>
        </p:txBody>
      </p:sp>
      <p:sp>
        <p:nvSpPr>
          <p:cNvPr id="18" name="Rectangle 17"/>
          <p:cNvSpPr/>
          <p:nvPr/>
        </p:nvSpPr>
        <p:spPr>
          <a:xfrm>
            <a:off x="367200" y="2138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138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1924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2104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444400"/>
            <a:ext cx="6120000" cy="255600"/>
          </a:xfrm>
          <a:prstGeom prst="rect">
            <a:avLst/>
          </a:prstGeom>
          <a:noFill/>
        </p:spPr>
        <p:txBody>
          <a:bodyPr wrap="square">
            <a:spAutoFit/>
          </a:bodyPr>
          <a:lstStyle/>
          <a:p>
            <a:pPr algn="l"/>
            <a:r>
              <a:rPr sz="850" b="0" i="0">
                <a:solidFill>
                  <a:srgbClr val="555555"/>
                </a:solidFill>
                <a:latin typeface="Calibri"/>
              </a:rPr>
              <a:t>Multiples, DCF, GBM Monte Carlo et football field</a:t>
            </a:r>
          </a:p>
        </p:txBody>
      </p:sp>
      <p:sp>
        <p:nvSpPr>
          <p:cNvPr id="23" name="TextBox 22"/>
          <p:cNvSpPr txBox="1"/>
          <p:nvPr/>
        </p:nvSpPr>
        <p:spPr>
          <a:xfrm>
            <a:off x="7405200" y="2300400"/>
            <a:ext cx="1375200" cy="255600"/>
          </a:xfrm>
          <a:prstGeom prst="rect">
            <a:avLst/>
          </a:prstGeom>
          <a:noFill/>
        </p:spPr>
        <p:txBody>
          <a:bodyPr wrap="square">
            <a:spAutoFit/>
          </a:bodyPr>
          <a:lstStyle/>
          <a:p>
            <a:pPr algn="r"/>
            <a:r>
              <a:rPr sz="900" b="0" i="0">
                <a:solidFill>
                  <a:srgbClr val="2E5FA3"/>
                </a:solidFill>
                <a:latin typeface="Calibri"/>
              </a:rPr>
              <a:t>11</a:t>
            </a:r>
          </a:p>
        </p:txBody>
      </p:sp>
      <p:sp>
        <p:nvSpPr>
          <p:cNvPr id="24" name="Rectangle 23"/>
          <p:cNvSpPr/>
          <p:nvPr/>
        </p:nvSpPr>
        <p:spPr>
          <a:xfrm>
            <a:off x="367200" y="2833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833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8872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2905200"/>
            <a:ext cx="6120000" cy="255600"/>
          </a:xfrm>
          <a:prstGeom prst="rect">
            <a:avLst/>
          </a:prstGeom>
          <a:noFill/>
        </p:spPr>
        <p:txBody>
          <a:bodyPr wrap="square">
            <a:spAutoFit/>
          </a:bodyPr>
          <a:lstStyle/>
          <a:p>
            <a:pPr algn="l"/>
            <a:r>
              <a:rPr sz="1300" b="1" i="0">
                <a:solidFill>
                  <a:srgbClr val="1B3A6B"/>
                </a:solidFill>
                <a:latin typeface="Calibri"/>
              </a:rPr>
              <a:t>Qualite &amp; Risques</a:t>
            </a:r>
          </a:p>
        </p:txBody>
      </p:sp>
      <p:sp>
        <p:nvSpPr>
          <p:cNvPr id="28" name="TextBox 27"/>
          <p:cNvSpPr txBox="1"/>
          <p:nvPr/>
        </p:nvSpPr>
        <p:spPr>
          <a:xfrm>
            <a:off x="1152000" y="3139200"/>
            <a:ext cx="6120000" cy="255600"/>
          </a:xfrm>
          <a:prstGeom prst="rect">
            <a:avLst/>
          </a:prstGeom>
          <a:noFill/>
        </p:spPr>
        <p:txBody>
          <a:bodyPr wrap="square">
            <a:spAutoFit/>
          </a:bodyPr>
          <a:lstStyle/>
          <a:p>
            <a:pPr algn="l"/>
            <a:r>
              <a:rPr sz="850" b="0" i="0">
                <a:solidFill>
                  <a:srgbClr val="555555"/>
                </a:solidFill>
                <a:latin typeface="Calibri"/>
              </a:rPr>
              <a:t>Piotroski, levier, beta, VaR et momentum</a:t>
            </a:r>
          </a:p>
        </p:txBody>
      </p:sp>
      <p:sp>
        <p:nvSpPr>
          <p:cNvPr id="29" name="TextBox 28"/>
          <p:cNvSpPr txBox="1"/>
          <p:nvPr/>
        </p:nvSpPr>
        <p:spPr>
          <a:xfrm>
            <a:off x="7405200" y="2995200"/>
            <a:ext cx="1375200" cy="255600"/>
          </a:xfrm>
          <a:prstGeom prst="rect">
            <a:avLst/>
          </a:prstGeom>
          <a:noFill/>
        </p:spPr>
        <p:txBody>
          <a:bodyPr wrap="square">
            <a:spAutoFit/>
          </a:bodyPr>
          <a:lstStyle/>
          <a:p>
            <a:pPr algn="r"/>
            <a:r>
              <a:rPr sz="900" b="0" i="0">
                <a:solidFill>
                  <a:srgbClr val="2E5FA3"/>
                </a:solidFill>
                <a:latin typeface="Calibri"/>
              </a:rPr>
              <a:t>15</a:t>
            </a:r>
          </a:p>
        </p:txBody>
      </p:sp>
      <p:sp>
        <p:nvSpPr>
          <p:cNvPr id="30" name="Rectangle 29"/>
          <p:cNvSpPr/>
          <p:nvPr/>
        </p:nvSpPr>
        <p:spPr>
          <a:xfrm>
            <a:off x="367200" y="3528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528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5820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600000"/>
            <a:ext cx="6120000" cy="255600"/>
          </a:xfrm>
          <a:prstGeom prst="rect">
            <a:avLst/>
          </a:prstGeom>
          <a:noFill/>
        </p:spPr>
        <p:txBody>
          <a:bodyPr wrap="square">
            <a:spAutoFit/>
          </a:bodyPr>
          <a:lstStyle/>
          <a:p>
            <a:pPr algn="l"/>
            <a:r>
              <a:rPr sz="1300" b="1" i="0">
                <a:solidFill>
                  <a:srgbClr val="1B3A6B"/>
                </a:solidFill>
                <a:latin typeface="Calibri"/>
              </a:rPr>
              <a:t>Verdict</a:t>
            </a:r>
          </a:p>
        </p:txBody>
      </p:sp>
      <p:sp>
        <p:nvSpPr>
          <p:cNvPr id="34" name="TextBox 33"/>
          <p:cNvSpPr txBox="1"/>
          <p:nvPr/>
        </p:nvSpPr>
        <p:spPr>
          <a:xfrm>
            <a:off x="1152000" y="3834000"/>
            <a:ext cx="6120000" cy="255600"/>
          </a:xfrm>
          <a:prstGeom prst="rect">
            <a:avLst/>
          </a:prstGeom>
          <a:noFill/>
        </p:spPr>
        <p:txBody>
          <a:bodyPr wrap="square">
            <a:spAutoFit/>
          </a:bodyPr>
          <a:lstStyle/>
          <a:p>
            <a:pPr algn="l"/>
            <a:r>
              <a:rPr sz="850" b="0" i="0">
                <a:solidFill>
                  <a:srgbClr val="555555"/>
                </a:solidFill>
                <a:latin typeface="Calibri"/>
              </a:rPr>
              <a:t>FinSight Score, theses d'investissement et verdict final</a:t>
            </a:r>
          </a:p>
        </p:txBody>
      </p:sp>
      <p:sp>
        <p:nvSpPr>
          <p:cNvPr id="35" name="TextBox 34"/>
          <p:cNvSpPr txBox="1"/>
          <p:nvPr/>
        </p:nvSpPr>
        <p:spPr>
          <a:xfrm>
            <a:off x="7405200" y="3690000"/>
            <a:ext cx="1375200" cy="255600"/>
          </a:xfrm>
          <a:prstGeom prst="rect">
            <a:avLst/>
          </a:prstGeom>
          <a:noFill/>
        </p:spPr>
        <p:txBody>
          <a:bodyPr wrap="square">
            <a:spAutoFit/>
          </a:bodyPr>
          <a:lstStyle/>
          <a:p>
            <a:pPr algn="r"/>
            <a:r>
              <a:rPr sz="900" b="0" i="0">
                <a:solidFill>
                  <a:srgbClr val="2E5FA3"/>
                </a:solidFill>
                <a:latin typeface="Calibri"/>
              </a:rPr>
              <a:t>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Profil &amp; Identite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Presentation comparative de AAPL et MSFT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Profil Comparatif</a:t>
            </a:r>
          </a:p>
        </p:txBody>
      </p:sp>
      <p:sp>
        <p:nvSpPr>
          <p:cNvPr id="6" name="Rectangle 5"/>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sp>
        <p:nvSpPr>
          <p:cNvPr id="22" name="Rectangle 21"/>
          <p:cNvSpPr/>
          <p:nvPr/>
        </p:nvSpPr>
        <p:spPr>
          <a:xfrm>
            <a:off x="367200" y="882000"/>
            <a:ext cx="3960000" cy="216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882000"/>
            <a:ext cx="46800" cy="21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6400" y="900000"/>
            <a:ext cx="3851999" cy="180000"/>
          </a:xfrm>
          <a:prstGeom prst="rect">
            <a:avLst/>
          </a:prstGeom>
          <a:noFill/>
        </p:spPr>
        <p:txBody>
          <a:bodyPr wrap="none">
            <a:spAutoFit/>
          </a:bodyPr>
          <a:lstStyle/>
          <a:p>
            <a:pPr algn="l"/>
            <a:r>
              <a:rPr sz="800" b="1" i="0">
                <a:solidFill>
                  <a:srgbClr val="2E5FA3"/>
                </a:solidFill>
                <a:latin typeface="Calibri"/>
              </a:rPr>
              <a:t>Apple Inc. (AAPL)</a:t>
            </a:r>
          </a:p>
        </p:txBody>
      </p:sp>
      <p:sp>
        <p:nvSpPr>
          <p:cNvPr id="25" name="Rectangle 24"/>
          <p:cNvSpPr/>
          <p:nvPr/>
        </p:nvSpPr>
        <p:spPr>
          <a:xfrm>
            <a:off x="367200" y="11448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3200" y="1188000"/>
            <a:ext cx="2059200" cy="190800"/>
          </a:xfrm>
          <a:prstGeom prst="rect">
            <a:avLst/>
          </a:prstGeom>
          <a:noFill/>
        </p:spPr>
        <p:txBody>
          <a:bodyPr wrap="none">
            <a:spAutoFit/>
          </a:bodyPr>
          <a:lstStyle/>
          <a:p>
            <a:pPr algn="l"/>
            <a:r>
              <a:rPr sz="750" b="0" i="1">
                <a:solidFill>
                  <a:srgbClr val="555555"/>
                </a:solidFill>
                <a:latin typeface="Calibri"/>
              </a:rPr>
              <a:t>Secteur</a:t>
            </a:r>
          </a:p>
        </p:txBody>
      </p:sp>
      <p:sp>
        <p:nvSpPr>
          <p:cNvPr id="27" name="TextBox 26"/>
          <p:cNvSpPr txBox="1"/>
          <p:nvPr/>
        </p:nvSpPr>
        <p:spPr>
          <a:xfrm>
            <a:off x="2426400" y="1188000"/>
            <a:ext cx="1782000" cy="190800"/>
          </a:xfrm>
          <a:prstGeom prst="rect">
            <a:avLst/>
          </a:prstGeom>
          <a:noFill/>
        </p:spPr>
        <p:txBody>
          <a:bodyPr wrap="none">
            <a:spAutoFit/>
          </a:bodyPr>
          <a:lstStyle/>
          <a:p>
            <a:pPr algn="r"/>
            <a:r>
              <a:rPr sz="750" b="0" i="0">
                <a:solidFill>
                  <a:srgbClr val="0D0D0D"/>
                </a:solidFill>
                <a:latin typeface="Calibri"/>
              </a:rPr>
              <a:t>Technology</a:t>
            </a:r>
          </a:p>
        </p:txBody>
      </p:sp>
      <p:sp>
        <p:nvSpPr>
          <p:cNvPr id="28" name="Rectangle 27"/>
          <p:cNvSpPr/>
          <p:nvPr/>
        </p:nvSpPr>
        <p:spPr>
          <a:xfrm>
            <a:off x="367200" y="13896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3200" y="1432800"/>
            <a:ext cx="2059200" cy="190800"/>
          </a:xfrm>
          <a:prstGeom prst="rect">
            <a:avLst/>
          </a:prstGeom>
          <a:noFill/>
        </p:spPr>
        <p:txBody>
          <a:bodyPr wrap="none">
            <a:spAutoFit/>
          </a:bodyPr>
          <a:lstStyle/>
          <a:p>
            <a:pPr algn="l"/>
            <a:r>
              <a:rPr sz="750" b="0" i="1">
                <a:solidFill>
                  <a:srgbClr val="555555"/>
                </a:solidFill>
                <a:latin typeface="Calibri"/>
              </a:rPr>
              <a:t>Devise</a:t>
            </a:r>
          </a:p>
        </p:txBody>
      </p:sp>
      <p:sp>
        <p:nvSpPr>
          <p:cNvPr id="30" name="TextBox 29"/>
          <p:cNvSpPr txBox="1"/>
          <p:nvPr/>
        </p:nvSpPr>
        <p:spPr>
          <a:xfrm>
            <a:off x="2426400" y="1432800"/>
            <a:ext cx="1782000" cy="190800"/>
          </a:xfrm>
          <a:prstGeom prst="rect">
            <a:avLst/>
          </a:prstGeom>
          <a:noFill/>
        </p:spPr>
        <p:txBody>
          <a:bodyPr wrap="none">
            <a:spAutoFit/>
          </a:bodyPr>
          <a:lstStyle/>
          <a:p>
            <a:pPr algn="r"/>
            <a:r>
              <a:rPr sz="750" b="0" i="0">
                <a:solidFill>
                  <a:srgbClr val="0D0D0D"/>
                </a:solidFill>
                <a:latin typeface="Calibri"/>
              </a:rPr>
              <a:t>USD</a:t>
            </a:r>
          </a:p>
        </p:txBody>
      </p:sp>
      <p:sp>
        <p:nvSpPr>
          <p:cNvPr id="31" name="Rectangle 30"/>
          <p:cNvSpPr/>
          <p:nvPr/>
        </p:nvSpPr>
        <p:spPr>
          <a:xfrm>
            <a:off x="367200" y="16344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3200" y="1677600"/>
            <a:ext cx="2059200" cy="190800"/>
          </a:xfrm>
          <a:prstGeom prst="rect">
            <a:avLst/>
          </a:prstGeom>
          <a:noFill/>
        </p:spPr>
        <p:txBody>
          <a:bodyPr wrap="none">
            <a:spAutoFit/>
          </a:bodyPr>
          <a:lstStyle/>
          <a:p>
            <a:pPr algn="l"/>
            <a:r>
              <a:rPr sz="750" b="0" i="1">
                <a:solidFill>
                  <a:srgbClr val="555555"/>
                </a:solidFill>
                <a:latin typeface="Calibri"/>
              </a:rPr>
              <a:t>Cours</a:t>
            </a:r>
          </a:p>
        </p:txBody>
      </p:sp>
      <p:sp>
        <p:nvSpPr>
          <p:cNvPr id="33" name="TextBox 32"/>
          <p:cNvSpPr txBox="1"/>
          <p:nvPr/>
        </p:nvSpPr>
        <p:spPr>
          <a:xfrm>
            <a:off x="2426400" y="1677600"/>
            <a:ext cx="1782000" cy="190800"/>
          </a:xfrm>
          <a:prstGeom prst="rect">
            <a:avLst/>
          </a:prstGeom>
          <a:noFill/>
        </p:spPr>
        <p:txBody>
          <a:bodyPr wrap="none">
            <a:spAutoFit/>
          </a:bodyPr>
          <a:lstStyle/>
          <a:p>
            <a:pPr algn="r"/>
            <a:r>
              <a:rPr sz="750" b="0" i="0">
                <a:solidFill>
                  <a:srgbClr val="0D0D0D"/>
                </a:solidFill>
                <a:latin typeface="Calibri"/>
              </a:rPr>
              <a:t>253,5 $</a:t>
            </a:r>
          </a:p>
        </p:txBody>
      </p:sp>
      <p:sp>
        <p:nvSpPr>
          <p:cNvPr id="34" name="Rectangle 33"/>
          <p:cNvSpPr/>
          <p:nvPr/>
        </p:nvSpPr>
        <p:spPr>
          <a:xfrm>
            <a:off x="367200" y="18792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3200" y="1922400"/>
            <a:ext cx="2059200" cy="190800"/>
          </a:xfrm>
          <a:prstGeom prst="rect">
            <a:avLst/>
          </a:prstGeom>
          <a:noFill/>
        </p:spPr>
        <p:txBody>
          <a:bodyPr wrap="none">
            <a:spAutoFit/>
          </a:bodyPr>
          <a:lstStyle/>
          <a:p>
            <a:pPr algn="l"/>
            <a:r>
              <a:rPr sz="750" b="0" i="1">
                <a:solidFill>
                  <a:srgbClr val="555555"/>
                </a:solidFill>
                <a:latin typeface="Calibri"/>
              </a:rPr>
              <a:t>52W High</a:t>
            </a:r>
          </a:p>
        </p:txBody>
      </p:sp>
      <p:sp>
        <p:nvSpPr>
          <p:cNvPr id="36" name="TextBox 35"/>
          <p:cNvSpPr txBox="1"/>
          <p:nvPr/>
        </p:nvSpPr>
        <p:spPr>
          <a:xfrm>
            <a:off x="2426400" y="1922400"/>
            <a:ext cx="1782000" cy="190800"/>
          </a:xfrm>
          <a:prstGeom prst="rect">
            <a:avLst/>
          </a:prstGeom>
          <a:noFill/>
        </p:spPr>
        <p:txBody>
          <a:bodyPr wrap="none">
            <a:spAutoFit/>
          </a:bodyPr>
          <a:lstStyle/>
          <a:p>
            <a:pPr algn="r"/>
            <a:r>
              <a:rPr sz="750" b="0" i="0">
                <a:solidFill>
                  <a:srgbClr val="0D0D0D"/>
                </a:solidFill>
                <a:latin typeface="Calibri"/>
              </a:rPr>
              <a:t>288,62 $</a:t>
            </a:r>
          </a:p>
        </p:txBody>
      </p:sp>
      <p:sp>
        <p:nvSpPr>
          <p:cNvPr id="37" name="Rectangle 36"/>
          <p:cNvSpPr/>
          <p:nvPr/>
        </p:nvSpPr>
        <p:spPr>
          <a:xfrm>
            <a:off x="367200" y="21240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3200" y="2167200"/>
            <a:ext cx="2059200" cy="190800"/>
          </a:xfrm>
          <a:prstGeom prst="rect">
            <a:avLst/>
          </a:prstGeom>
          <a:noFill/>
        </p:spPr>
        <p:txBody>
          <a:bodyPr wrap="none">
            <a:spAutoFit/>
          </a:bodyPr>
          <a:lstStyle/>
          <a:p>
            <a:pPr algn="l"/>
            <a:r>
              <a:rPr sz="750" b="0" i="1">
                <a:solidFill>
                  <a:srgbClr val="555555"/>
                </a:solidFill>
                <a:latin typeface="Calibri"/>
              </a:rPr>
              <a:t>52W Low</a:t>
            </a:r>
          </a:p>
        </p:txBody>
      </p:sp>
      <p:sp>
        <p:nvSpPr>
          <p:cNvPr id="39" name="TextBox 38"/>
          <p:cNvSpPr txBox="1"/>
          <p:nvPr/>
        </p:nvSpPr>
        <p:spPr>
          <a:xfrm>
            <a:off x="2426400" y="2167200"/>
            <a:ext cx="1782000" cy="190800"/>
          </a:xfrm>
          <a:prstGeom prst="rect">
            <a:avLst/>
          </a:prstGeom>
          <a:noFill/>
        </p:spPr>
        <p:txBody>
          <a:bodyPr wrap="none">
            <a:spAutoFit/>
          </a:bodyPr>
          <a:lstStyle/>
          <a:p>
            <a:pPr algn="r"/>
            <a:r>
              <a:rPr sz="750" b="0" i="0">
                <a:solidFill>
                  <a:srgbClr val="0D0D0D"/>
                </a:solidFill>
                <a:latin typeface="Calibri"/>
              </a:rPr>
              <a:t>171,89 $</a:t>
            </a:r>
          </a:p>
        </p:txBody>
      </p:sp>
      <p:sp>
        <p:nvSpPr>
          <p:cNvPr id="40" name="Rectangle 39"/>
          <p:cNvSpPr/>
          <p:nvPr/>
        </p:nvSpPr>
        <p:spPr>
          <a:xfrm>
            <a:off x="367200" y="23688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3200" y="2412000"/>
            <a:ext cx="2059200" cy="190800"/>
          </a:xfrm>
          <a:prstGeom prst="rect">
            <a:avLst/>
          </a:prstGeom>
          <a:noFill/>
        </p:spPr>
        <p:txBody>
          <a:bodyPr wrap="none">
            <a:spAutoFit/>
          </a:bodyPr>
          <a:lstStyle/>
          <a:p>
            <a:pPr algn="l"/>
            <a:r>
              <a:rPr sz="750" b="0" i="1">
                <a:solidFill>
                  <a:srgbClr val="555555"/>
                </a:solidFill>
                <a:latin typeface="Calibri"/>
              </a:rPr>
              <a:t>Market Cap</a:t>
            </a:r>
          </a:p>
        </p:txBody>
      </p:sp>
      <p:sp>
        <p:nvSpPr>
          <p:cNvPr id="42" name="TextBox 41"/>
          <p:cNvSpPr txBox="1"/>
          <p:nvPr/>
        </p:nvSpPr>
        <p:spPr>
          <a:xfrm>
            <a:off x="2426400" y="2412000"/>
            <a:ext cx="1782000" cy="190800"/>
          </a:xfrm>
          <a:prstGeom prst="rect">
            <a:avLst/>
          </a:prstGeom>
          <a:noFill/>
        </p:spPr>
        <p:txBody>
          <a:bodyPr wrap="none">
            <a:spAutoFit/>
          </a:bodyPr>
          <a:lstStyle/>
          <a:p>
            <a:pPr algn="r"/>
            <a:r>
              <a:rPr sz="750" b="0" i="0">
                <a:solidFill>
                  <a:srgbClr val="0D0D0D"/>
                </a:solidFill>
                <a:latin typeface="Calibri"/>
              </a:rPr>
              <a:t>3 721,7 Mds $</a:t>
            </a:r>
          </a:p>
        </p:txBody>
      </p:sp>
      <p:sp>
        <p:nvSpPr>
          <p:cNvPr id="43" name="Rectangle 42"/>
          <p:cNvSpPr/>
          <p:nvPr/>
        </p:nvSpPr>
        <p:spPr>
          <a:xfrm>
            <a:off x="367200" y="26136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3200" y="2656800"/>
            <a:ext cx="2059200" cy="190800"/>
          </a:xfrm>
          <a:prstGeom prst="rect">
            <a:avLst/>
          </a:prstGeom>
          <a:noFill/>
        </p:spPr>
        <p:txBody>
          <a:bodyPr wrap="none">
            <a:spAutoFit/>
          </a:bodyPr>
          <a:lstStyle/>
          <a:p>
            <a:pPr algn="l"/>
            <a:r>
              <a:rPr sz="750" b="0" i="1">
                <a:solidFill>
                  <a:srgbClr val="555555"/>
                </a:solidFill>
                <a:latin typeface="Calibri"/>
              </a:rPr>
              <a:t>Valeur Entrep.</a:t>
            </a:r>
          </a:p>
        </p:txBody>
      </p:sp>
      <p:sp>
        <p:nvSpPr>
          <p:cNvPr id="45" name="TextBox 44"/>
          <p:cNvSpPr txBox="1"/>
          <p:nvPr/>
        </p:nvSpPr>
        <p:spPr>
          <a:xfrm>
            <a:off x="2426400" y="2656800"/>
            <a:ext cx="1782000" cy="190800"/>
          </a:xfrm>
          <a:prstGeom prst="rect">
            <a:avLst/>
          </a:prstGeom>
          <a:noFill/>
        </p:spPr>
        <p:txBody>
          <a:bodyPr wrap="none">
            <a:spAutoFit/>
          </a:bodyPr>
          <a:lstStyle/>
          <a:p>
            <a:pPr algn="r"/>
            <a:r>
              <a:rPr sz="750" b="0" i="0">
                <a:solidFill>
                  <a:srgbClr val="0D0D0D"/>
                </a:solidFill>
                <a:latin typeface="Calibri"/>
              </a:rPr>
              <a:t>3 784,4 Mds $</a:t>
            </a:r>
          </a:p>
        </p:txBody>
      </p:sp>
      <p:sp>
        <p:nvSpPr>
          <p:cNvPr id="46" name="Rectangle 45"/>
          <p:cNvSpPr/>
          <p:nvPr/>
        </p:nvSpPr>
        <p:spPr>
          <a:xfrm>
            <a:off x="367200" y="28584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03200" y="2901600"/>
            <a:ext cx="2059200" cy="190800"/>
          </a:xfrm>
          <a:prstGeom prst="rect">
            <a:avLst/>
          </a:prstGeom>
          <a:noFill/>
        </p:spPr>
        <p:txBody>
          <a:bodyPr wrap="none">
            <a:spAutoFit/>
          </a:bodyPr>
          <a:lstStyle/>
          <a:p>
            <a:pPr algn="l"/>
            <a:r>
              <a:rPr sz="750" b="0" i="1">
                <a:solidFill>
                  <a:srgbClr val="555555"/>
                </a:solidFill>
                <a:latin typeface="Calibri"/>
              </a:rPr>
              <a:t>Div. Yield</a:t>
            </a:r>
          </a:p>
        </p:txBody>
      </p:sp>
      <p:sp>
        <p:nvSpPr>
          <p:cNvPr id="48" name="TextBox 47"/>
          <p:cNvSpPr txBox="1"/>
          <p:nvPr/>
        </p:nvSpPr>
        <p:spPr>
          <a:xfrm>
            <a:off x="2426400" y="2901600"/>
            <a:ext cx="1782000" cy="190800"/>
          </a:xfrm>
          <a:prstGeom prst="rect">
            <a:avLst/>
          </a:prstGeom>
          <a:noFill/>
        </p:spPr>
        <p:txBody>
          <a:bodyPr wrap="none">
            <a:spAutoFit/>
          </a:bodyPr>
          <a:lstStyle/>
          <a:p>
            <a:pPr algn="r"/>
            <a:r>
              <a:rPr sz="750" b="0" i="0">
                <a:solidFill>
                  <a:srgbClr val="0D0D0D"/>
                </a:solidFill>
                <a:latin typeface="Calibri"/>
              </a:rPr>
              <a:t>0,4 %</a:t>
            </a:r>
          </a:p>
        </p:txBody>
      </p:sp>
      <p:sp>
        <p:nvSpPr>
          <p:cNvPr id="49" name="Rectangle 48"/>
          <p:cNvSpPr/>
          <p:nvPr/>
        </p:nvSpPr>
        <p:spPr>
          <a:xfrm>
            <a:off x="367200" y="31032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3200" y="3146400"/>
            <a:ext cx="2059200" cy="190800"/>
          </a:xfrm>
          <a:prstGeom prst="rect">
            <a:avLst/>
          </a:prstGeom>
          <a:noFill/>
        </p:spPr>
        <p:txBody>
          <a:bodyPr wrap="none">
            <a:spAutoFit/>
          </a:bodyPr>
          <a:lstStyle/>
          <a:p>
            <a:pPr algn="l"/>
            <a:r>
              <a:rPr sz="750" b="0" i="1">
                <a:solidFill>
                  <a:srgbClr val="555555"/>
                </a:solidFill>
                <a:latin typeface="Calibri"/>
              </a:rPr>
              <a:t>Perf. 1M</a:t>
            </a:r>
          </a:p>
        </p:txBody>
      </p:sp>
      <p:sp>
        <p:nvSpPr>
          <p:cNvPr id="51" name="TextBox 50"/>
          <p:cNvSpPr txBox="1"/>
          <p:nvPr/>
        </p:nvSpPr>
        <p:spPr>
          <a:xfrm>
            <a:off x="2426400" y="3146400"/>
            <a:ext cx="1782000" cy="190800"/>
          </a:xfrm>
          <a:prstGeom prst="rect">
            <a:avLst/>
          </a:prstGeom>
          <a:noFill/>
        </p:spPr>
        <p:txBody>
          <a:bodyPr wrap="none">
            <a:spAutoFit/>
          </a:bodyPr>
          <a:lstStyle/>
          <a:p>
            <a:pPr algn="r"/>
            <a:r>
              <a:rPr sz="750" b="0" i="0">
                <a:solidFill>
                  <a:srgbClr val="0D0D0D"/>
                </a:solidFill>
                <a:latin typeface="Calibri"/>
              </a:rPr>
              <a:t>-0,1 %</a:t>
            </a:r>
          </a:p>
        </p:txBody>
      </p:sp>
      <p:sp>
        <p:nvSpPr>
          <p:cNvPr id="52" name="Rectangle 51"/>
          <p:cNvSpPr/>
          <p:nvPr/>
        </p:nvSpPr>
        <p:spPr>
          <a:xfrm>
            <a:off x="367200" y="33480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3200" y="3391200"/>
            <a:ext cx="2059200" cy="190800"/>
          </a:xfrm>
          <a:prstGeom prst="rect">
            <a:avLst/>
          </a:prstGeom>
          <a:noFill/>
        </p:spPr>
        <p:txBody>
          <a:bodyPr wrap="none">
            <a:spAutoFit/>
          </a:bodyPr>
          <a:lstStyle/>
          <a:p>
            <a:pPr algn="l"/>
            <a:r>
              <a:rPr sz="750" b="0" i="1">
                <a:solidFill>
                  <a:srgbClr val="555555"/>
                </a:solidFill>
                <a:latin typeface="Calibri"/>
              </a:rPr>
              <a:t>Perf. 3M</a:t>
            </a:r>
          </a:p>
        </p:txBody>
      </p:sp>
      <p:sp>
        <p:nvSpPr>
          <p:cNvPr id="54" name="TextBox 53"/>
          <p:cNvSpPr txBox="1"/>
          <p:nvPr/>
        </p:nvSpPr>
        <p:spPr>
          <a:xfrm>
            <a:off x="2426400" y="3391200"/>
            <a:ext cx="1782000" cy="190800"/>
          </a:xfrm>
          <a:prstGeom prst="rect">
            <a:avLst/>
          </a:prstGeom>
          <a:noFill/>
        </p:spPr>
        <p:txBody>
          <a:bodyPr wrap="none">
            <a:spAutoFit/>
          </a:bodyPr>
          <a:lstStyle/>
          <a:p>
            <a:pPr algn="r"/>
            <a:r>
              <a:rPr sz="750" b="0" i="0">
                <a:solidFill>
                  <a:srgbClr val="0D0D0D"/>
                </a:solidFill>
                <a:latin typeface="Calibri"/>
              </a:rPr>
              <a:t>-2,2 %</a:t>
            </a:r>
          </a:p>
        </p:txBody>
      </p:sp>
      <p:sp>
        <p:nvSpPr>
          <p:cNvPr id="55" name="Rectangle 54"/>
          <p:cNvSpPr/>
          <p:nvPr/>
        </p:nvSpPr>
        <p:spPr>
          <a:xfrm>
            <a:off x="367200" y="35928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3200" y="3636000"/>
            <a:ext cx="2059200" cy="190800"/>
          </a:xfrm>
          <a:prstGeom prst="rect">
            <a:avLst/>
          </a:prstGeom>
          <a:noFill/>
        </p:spPr>
        <p:txBody>
          <a:bodyPr wrap="none">
            <a:spAutoFit/>
          </a:bodyPr>
          <a:lstStyle/>
          <a:p>
            <a:pPr algn="l"/>
            <a:r>
              <a:rPr sz="750" b="0" i="1">
                <a:solidFill>
                  <a:srgbClr val="555555"/>
                </a:solidFill>
                <a:latin typeface="Calibri"/>
              </a:rPr>
              <a:t>Perf. 1Y</a:t>
            </a:r>
          </a:p>
        </p:txBody>
      </p:sp>
      <p:sp>
        <p:nvSpPr>
          <p:cNvPr id="57" name="TextBox 56"/>
          <p:cNvSpPr txBox="1"/>
          <p:nvPr/>
        </p:nvSpPr>
        <p:spPr>
          <a:xfrm>
            <a:off x="2426400" y="3636000"/>
            <a:ext cx="1782000" cy="190800"/>
          </a:xfrm>
          <a:prstGeom prst="rect">
            <a:avLst/>
          </a:prstGeom>
          <a:noFill/>
        </p:spPr>
        <p:txBody>
          <a:bodyPr wrap="none">
            <a:spAutoFit/>
          </a:bodyPr>
          <a:lstStyle/>
          <a:p>
            <a:pPr algn="r"/>
            <a:r>
              <a:rPr sz="750" b="0" i="0">
                <a:solidFill>
                  <a:srgbClr val="0D0D0D"/>
                </a:solidFill>
                <a:latin typeface="Calibri"/>
              </a:rPr>
              <a:t>+26,8 %</a:t>
            </a:r>
          </a:p>
        </p:txBody>
      </p:sp>
      <p:sp>
        <p:nvSpPr>
          <p:cNvPr id="58" name="Rectangle 57"/>
          <p:cNvSpPr/>
          <p:nvPr/>
        </p:nvSpPr>
        <p:spPr>
          <a:xfrm>
            <a:off x="367200" y="38376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3200" y="3880800"/>
            <a:ext cx="2059200" cy="190800"/>
          </a:xfrm>
          <a:prstGeom prst="rect">
            <a:avLst/>
          </a:prstGeom>
          <a:noFill/>
        </p:spPr>
        <p:txBody>
          <a:bodyPr wrap="none">
            <a:spAutoFit/>
          </a:bodyPr>
          <a:lstStyle/>
          <a:p>
            <a:pPr algn="l"/>
            <a:r>
              <a:rPr sz="750" b="0" i="1">
                <a:solidFill>
                  <a:srgbClr val="555555"/>
                </a:solidFill>
                <a:latin typeface="Calibri"/>
              </a:rPr>
              <a:t>Proch. Resultat</a:t>
            </a:r>
          </a:p>
        </p:txBody>
      </p:sp>
      <p:sp>
        <p:nvSpPr>
          <p:cNvPr id="60" name="TextBox 59"/>
          <p:cNvSpPr txBox="1"/>
          <p:nvPr/>
        </p:nvSpPr>
        <p:spPr>
          <a:xfrm>
            <a:off x="2426400" y="3880800"/>
            <a:ext cx="1782000" cy="190800"/>
          </a:xfrm>
          <a:prstGeom prst="rect">
            <a:avLst/>
          </a:prstGeom>
          <a:noFill/>
        </p:spPr>
        <p:txBody>
          <a:bodyPr wrap="none">
            <a:spAutoFit/>
          </a:bodyPr>
          <a:lstStyle/>
          <a:p>
            <a:pPr algn="r"/>
            <a:r>
              <a:rPr sz="750" b="0" i="0">
                <a:solidFill>
                  <a:srgbClr val="0D0D0D"/>
                </a:solidFill>
                <a:latin typeface="Calibri"/>
              </a:rPr>
              <a:t>2026-04-30</a:t>
            </a:r>
          </a:p>
        </p:txBody>
      </p:sp>
      <p:sp>
        <p:nvSpPr>
          <p:cNvPr id="61" name="Rectangle 60"/>
          <p:cNvSpPr/>
          <p:nvPr/>
        </p:nvSpPr>
        <p:spPr>
          <a:xfrm>
            <a:off x="4593600" y="882000"/>
            <a:ext cx="3960000" cy="216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593600" y="882000"/>
            <a:ext cx="46800" cy="216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672800" y="900000"/>
            <a:ext cx="3851999" cy="180000"/>
          </a:xfrm>
          <a:prstGeom prst="rect">
            <a:avLst/>
          </a:prstGeom>
          <a:noFill/>
        </p:spPr>
        <p:txBody>
          <a:bodyPr wrap="none">
            <a:spAutoFit/>
          </a:bodyPr>
          <a:lstStyle/>
          <a:p>
            <a:pPr algn="l"/>
            <a:r>
              <a:rPr sz="800" b="1" i="0">
                <a:solidFill>
                  <a:srgbClr val="2E8B57"/>
                </a:solidFill>
                <a:latin typeface="Calibri"/>
              </a:rPr>
              <a:t>Microsoft Corporation (MSFT)</a:t>
            </a:r>
          </a:p>
        </p:txBody>
      </p:sp>
      <p:sp>
        <p:nvSpPr>
          <p:cNvPr id="64" name="Rectangle 63"/>
          <p:cNvSpPr/>
          <p:nvPr/>
        </p:nvSpPr>
        <p:spPr>
          <a:xfrm>
            <a:off x="4593600" y="11448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29600" y="1188000"/>
            <a:ext cx="2059200" cy="190800"/>
          </a:xfrm>
          <a:prstGeom prst="rect">
            <a:avLst/>
          </a:prstGeom>
          <a:noFill/>
        </p:spPr>
        <p:txBody>
          <a:bodyPr wrap="none">
            <a:spAutoFit/>
          </a:bodyPr>
          <a:lstStyle/>
          <a:p>
            <a:pPr algn="l"/>
            <a:r>
              <a:rPr sz="750" b="0" i="1">
                <a:solidFill>
                  <a:srgbClr val="555555"/>
                </a:solidFill>
                <a:latin typeface="Calibri"/>
              </a:rPr>
              <a:t>Secteur</a:t>
            </a:r>
          </a:p>
        </p:txBody>
      </p:sp>
      <p:sp>
        <p:nvSpPr>
          <p:cNvPr id="66" name="TextBox 65"/>
          <p:cNvSpPr txBox="1"/>
          <p:nvPr/>
        </p:nvSpPr>
        <p:spPr>
          <a:xfrm>
            <a:off x="6652800" y="1188000"/>
            <a:ext cx="1782000" cy="190800"/>
          </a:xfrm>
          <a:prstGeom prst="rect">
            <a:avLst/>
          </a:prstGeom>
          <a:noFill/>
        </p:spPr>
        <p:txBody>
          <a:bodyPr wrap="none">
            <a:spAutoFit/>
          </a:bodyPr>
          <a:lstStyle/>
          <a:p>
            <a:pPr algn="r"/>
            <a:r>
              <a:rPr sz="750" b="0" i="0">
                <a:solidFill>
                  <a:srgbClr val="0D0D0D"/>
                </a:solidFill>
                <a:latin typeface="Calibri"/>
              </a:rPr>
              <a:t>Technology</a:t>
            </a:r>
          </a:p>
        </p:txBody>
      </p:sp>
      <p:sp>
        <p:nvSpPr>
          <p:cNvPr id="67" name="Rectangle 66"/>
          <p:cNvSpPr/>
          <p:nvPr/>
        </p:nvSpPr>
        <p:spPr>
          <a:xfrm>
            <a:off x="4593600" y="13896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629600" y="1432800"/>
            <a:ext cx="2059200" cy="190800"/>
          </a:xfrm>
          <a:prstGeom prst="rect">
            <a:avLst/>
          </a:prstGeom>
          <a:noFill/>
        </p:spPr>
        <p:txBody>
          <a:bodyPr wrap="none">
            <a:spAutoFit/>
          </a:bodyPr>
          <a:lstStyle/>
          <a:p>
            <a:pPr algn="l"/>
            <a:r>
              <a:rPr sz="750" b="0" i="1">
                <a:solidFill>
                  <a:srgbClr val="555555"/>
                </a:solidFill>
                <a:latin typeface="Calibri"/>
              </a:rPr>
              <a:t>Devise</a:t>
            </a:r>
          </a:p>
        </p:txBody>
      </p:sp>
      <p:sp>
        <p:nvSpPr>
          <p:cNvPr id="69" name="TextBox 68"/>
          <p:cNvSpPr txBox="1"/>
          <p:nvPr/>
        </p:nvSpPr>
        <p:spPr>
          <a:xfrm>
            <a:off x="6652800" y="1432800"/>
            <a:ext cx="1782000" cy="190800"/>
          </a:xfrm>
          <a:prstGeom prst="rect">
            <a:avLst/>
          </a:prstGeom>
          <a:noFill/>
        </p:spPr>
        <p:txBody>
          <a:bodyPr wrap="none">
            <a:spAutoFit/>
          </a:bodyPr>
          <a:lstStyle/>
          <a:p>
            <a:pPr algn="r"/>
            <a:r>
              <a:rPr sz="750" b="0" i="0">
                <a:solidFill>
                  <a:srgbClr val="0D0D0D"/>
                </a:solidFill>
                <a:latin typeface="Calibri"/>
              </a:rPr>
              <a:t>USD</a:t>
            </a:r>
          </a:p>
        </p:txBody>
      </p:sp>
      <p:sp>
        <p:nvSpPr>
          <p:cNvPr id="70" name="Rectangle 69"/>
          <p:cNvSpPr/>
          <p:nvPr/>
        </p:nvSpPr>
        <p:spPr>
          <a:xfrm>
            <a:off x="4593600" y="16344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629600" y="1677600"/>
            <a:ext cx="2059200" cy="190800"/>
          </a:xfrm>
          <a:prstGeom prst="rect">
            <a:avLst/>
          </a:prstGeom>
          <a:noFill/>
        </p:spPr>
        <p:txBody>
          <a:bodyPr wrap="none">
            <a:spAutoFit/>
          </a:bodyPr>
          <a:lstStyle/>
          <a:p>
            <a:pPr algn="l"/>
            <a:r>
              <a:rPr sz="750" b="0" i="1">
                <a:solidFill>
                  <a:srgbClr val="555555"/>
                </a:solidFill>
                <a:latin typeface="Calibri"/>
              </a:rPr>
              <a:t>Cours</a:t>
            </a:r>
          </a:p>
        </p:txBody>
      </p:sp>
      <p:sp>
        <p:nvSpPr>
          <p:cNvPr id="72" name="TextBox 71"/>
          <p:cNvSpPr txBox="1"/>
          <p:nvPr/>
        </p:nvSpPr>
        <p:spPr>
          <a:xfrm>
            <a:off x="6652800" y="1677600"/>
            <a:ext cx="1782000" cy="190800"/>
          </a:xfrm>
          <a:prstGeom prst="rect">
            <a:avLst/>
          </a:prstGeom>
          <a:noFill/>
        </p:spPr>
        <p:txBody>
          <a:bodyPr wrap="none">
            <a:spAutoFit/>
          </a:bodyPr>
          <a:lstStyle/>
          <a:p>
            <a:pPr algn="r"/>
            <a:r>
              <a:rPr sz="750" b="0" i="0">
                <a:solidFill>
                  <a:srgbClr val="0D0D0D"/>
                </a:solidFill>
                <a:latin typeface="Calibri"/>
              </a:rPr>
              <a:t>372,3 $</a:t>
            </a:r>
          </a:p>
        </p:txBody>
      </p:sp>
      <p:sp>
        <p:nvSpPr>
          <p:cNvPr id="73" name="Rectangle 72"/>
          <p:cNvSpPr/>
          <p:nvPr/>
        </p:nvSpPr>
        <p:spPr>
          <a:xfrm>
            <a:off x="4593600" y="18792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629600" y="1922400"/>
            <a:ext cx="2059200" cy="190800"/>
          </a:xfrm>
          <a:prstGeom prst="rect">
            <a:avLst/>
          </a:prstGeom>
          <a:noFill/>
        </p:spPr>
        <p:txBody>
          <a:bodyPr wrap="none">
            <a:spAutoFit/>
          </a:bodyPr>
          <a:lstStyle/>
          <a:p>
            <a:pPr algn="l"/>
            <a:r>
              <a:rPr sz="750" b="0" i="1">
                <a:solidFill>
                  <a:srgbClr val="555555"/>
                </a:solidFill>
                <a:latin typeface="Calibri"/>
              </a:rPr>
              <a:t>52W High</a:t>
            </a:r>
          </a:p>
        </p:txBody>
      </p:sp>
      <p:sp>
        <p:nvSpPr>
          <p:cNvPr id="75" name="TextBox 74"/>
          <p:cNvSpPr txBox="1"/>
          <p:nvPr/>
        </p:nvSpPr>
        <p:spPr>
          <a:xfrm>
            <a:off x="6652800" y="1922400"/>
            <a:ext cx="1782000" cy="190800"/>
          </a:xfrm>
          <a:prstGeom prst="rect">
            <a:avLst/>
          </a:prstGeom>
          <a:noFill/>
        </p:spPr>
        <p:txBody>
          <a:bodyPr wrap="none">
            <a:spAutoFit/>
          </a:bodyPr>
          <a:lstStyle/>
          <a:p>
            <a:pPr algn="r"/>
            <a:r>
              <a:rPr sz="750" b="0" i="0">
                <a:solidFill>
                  <a:srgbClr val="0D0D0D"/>
                </a:solidFill>
                <a:latin typeface="Calibri"/>
              </a:rPr>
              <a:t>555,45 $</a:t>
            </a:r>
          </a:p>
        </p:txBody>
      </p:sp>
      <p:sp>
        <p:nvSpPr>
          <p:cNvPr id="76" name="Rectangle 75"/>
          <p:cNvSpPr/>
          <p:nvPr/>
        </p:nvSpPr>
        <p:spPr>
          <a:xfrm>
            <a:off x="4593600" y="21240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629600" y="2167200"/>
            <a:ext cx="2059200" cy="190800"/>
          </a:xfrm>
          <a:prstGeom prst="rect">
            <a:avLst/>
          </a:prstGeom>
          <a:noFill/>
        </p:spPr>
        <p:txBody>
          <a:bodyPr wrap="none">
            <a:spAutoFit/>
          </a:bodyPr>
          <a:lstStyle/>
          <a:p>
            <a:pPr algn="l"/>
            <a:r>
              <a:rPr sz="750" b="0" i="1">
                <a:solidFill>
                  <a:srgbClr val="555555"/>
                </a:solidFill>
                <a:latin typeface="Calibri"/>
              </a:rPr>
              <a:t>52W Low</a:t>
            </a:r>
          </a:p>
        </p:txBody>
      </p:sp>
      <p:sp>
        <p:nvSpPr>
          <p:cNvPr id="78" name="TextBox 77"/>
          <p:cNvSpPr txBox="1"/>
          <p:nvPr/>
        </p:nvSpPr>
        <p:spPr>
          <a:xfrm>
            <a:off x="6652800" y="2167200"/>
            <a:ext cx="1782000" cy="190800"/>
          </a:xfrm>
          <a:prstGeom prst="rect">
            <a:avLst/>
          </a:prstGeom>
          <a:noFill/>
        </p:spPr>
        <p:txBody>
          <a:bodyPr wrap="none">
            <a:spAutoFit/>
          </a:bodyPr>
          <a:lstStyle/>
          <a:p>
            <a:pPr algn="r"/>
            <a:r>
              <a:rPr sz="750" b="0" i="0">
                <a:solidFill>
                  <a:srgbClr val="0D0D0D"/>
                </a:solidFill>
                <a:latin typeface="Calibri"/>
              </a:rPr>
              <a:t>353,10 $</a:t>
            </a:r>
          </a:p>
        </p:txBody>
      </p:sp>
      <p:sp>
        <p:nvSpPr>
          <p:cNvPr id="79" name="Rectangle 78"/>
          <p:cNvSpPr/>
          <p:nvPr/>
        </p:nvSpPr>
        <p:spPr>
          <a:xfrm>
            <a:off x="4593600" y="23688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629600" y="2412000"/>
            <a:ext cx="2059200" cy="190800"/>
          </a:xfrm>
          <a:prstGeom prst="rect">
            <a:avLst/>
          </a:prstGeom>
          <a:noFill/>
        </p:spPr>
        <p:txBody>
          <a:bodyPr wrap="none">
            <a:spAutoFit/>
          </a:bodyPr>
          <a:lstStyle/>
          <a:p>
            <a:pPr algn="l"/>
            <a:r>
              <a:rPr sz="750" b="0" i="1">
                <a:solidFill>
                  <a:srgbClr val="555555"/>
                </a:solidFill>
                <a:latin typeface="Calibri"/>
              </a:rPr>
              <a:t>Market Cap</a:t>
            </a:r>
          </a:p>
        </p:txBody>
      </p:sp>
      <p:sp>
        <p:nvSpPr>
          <p:cNvPr id="81" name="TextBox 80"/>
          <p:cNvSpPr txBox="1"/>
          <p:nvPr/>
        </p:nvSpPr>
        <p:spPr>
          <a:xfrm>
            <a:off x="6652800" y="2412000"/>
            <a:ext cx="1782000" cy="190800"/>
          </a:xfrm>
          <a:prstGeom prst="rect">
            <a:avLst/>
          </a:prstGeom>
          <a:noFill/>
        </p:spPr>
        <p:txBody>
          <a:bodyPr wrap="none">
            <a:spAutoFit/>
          </a:bodyPr>
          <a:lstStyle/>
          <a:p>
            <a:pPr algn="r"/>
            <a:r>
              <a:rPr sz="750" b="0" i="0">
                <a:solidFill>
                  <a:srgbClr val="0D0D0D"/>
                </a:solidFill>
                <a:latin typeface="Calibri"/>
              </a:rPr>
              <a:t>2 764,5 Mds $</a:t>
            </a:r>
          </a:p>
        </p:txBody>
      </p:sp>
      <p:sp>
        <p:nvSpPr>
          <p:cNvPr id="82" name="Rectangle 81"/>
          <p:cNvSpPr/>
          <p:nvPr/>
        </p:nvSpPr>
        <p:spPr>
          <a:xfrm>
            <a:off x="4593600" y="26136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629600" y="2656800"/>
            <a:ext cx="2059200" cy="190800"/>
          </a:xfrm>
          <a:prstGeom prst="rect">
            <a:avLst/>
          </a:prstGeom>
          <a:noFill/>
        </p:spPr>
        <p:txBody>
          <a:bodyPr wrap="none">
            <a:spAutoFit/>
          </a:bodyPr>
          <a:lstStyle/>
          <a:p>
            <a:pPr algn="l"/>
            <a:r>
              <a:rPr sz="750" b="0" i="1">
                <a:solidFill>
                  <a:srgbClr val="555555"/>
                </a:solidFill>
                <a:latin typeface="Calibri"/>
              </a:rPr>
              <a:t>Valeur Entrep.</a:t>
            </a:r>
          </a:p>
        </p:txBody>
      </p:sp>
      <p:sp>
        <p:nvSpPr>
          <p:cNvPr id="84" name="TextBox 83"/>
          <p:cNvSpPr txBox="1"/>
          <p:nvPr/>
        </p:nvSpPr>
        <p:spPr>
          <a:xfrm>
            <a:off x="6652800" y="2656800"/>
            <a:ext cx="1782000" cy="190800"/>
          </a:xfrm>
          <a:prstGeom prst="rect">
            <a:avLst/>
          </a:prstGeom>
          <a:noFill/>
        </p:spPr>
        <p:txBody>
          <a:bodyPr wrap="none">
            <a:spAutoFit/>
          </a:bodyPr>
          <a:lstStyle/>
          <a:p>
            <a:pPr algn="r"/>
            <a:r>
              <a:rPr sz="750" b="0" i="0">
                <a:solidFill>
                  <a:srgbClr val="0D0D0D"/>
                </a:solidFill>
                <a:latin typeface="Calibri"/>
              </a:rPr>
              <a:t>2 777,4 Mds $</a:t>
            </a:r>
          </a:p>
        </p:txBody>
      </p:sp>
      <p:sp>
        <p:nvSpPr>
          <p:cNvPr id="85" name="Rectangle 84"/>
          <p:cNvSpPr/>
          <p:nvPr/>
        </p:nvSpPr>
        <p:spPr>
          <a:xfrm>
            <a:off x="4593600" y="28584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629600" y="2901600"/>
            <a:ext cx="2059200" cy="190800"/>
          </a:xfrm>
          <a:prstGeom prst="rect">
            <a:avLst/>
          </a:prstGeom>
          <a:noFill/>
        </p:spPr>
        <p:txBody>
          <a:bodyPr wrap="none">
            <a:spAutoFit/>
          </a:bodyPr>
          <a:lstStyle/>
          <a:p>
            <a:pPr algn="l"/>
            <a:r>
              <a:rPr sz="750" b="0" i="1">
                <a:solidFill>
                  <a:srgbClr val="555555"/>
                </a:solidFill>
                <a:latin typeface="Calibri"/>
              </a:rPr>
              <a:t>Div. Yield</a:t>
            </a:r>
          </a:p>
        </p:txBody>
      </p:sp>
      <p:sp>
        <p:nvSpPr>
          <p:cNvPr id="87" name="TextBox 86"/>
          <p:cNvSpPr txBox="1"/>
          <p:nvPr/>
        </p:nvSpPr>
        <p:spPr>
          <a:xfrm>
            <a:off x="6652800" y="2901600"/>
            <a:ext cx="1782000" cy="190800"/>
          </a:xfrm>
          <a:prstGeom prst="rect">
            <a:avLst/>
          </a:prstGeom>
          <a:noFill/>
        </p:spPr>
        <p:txBody>
          <a:bodyPr wrap="none">
            <a:spAutoFit/>
          </a:bodyPr>
          <a:lstStyle/>
          <a:p>
            <a:pPr algn="r"/>
            <a:r>
              <a:rPr sz="750" b="0" i="0">
                <a:solidFill>
                  <a:srgbClr val="0D0D0D"/>
                </a:solidFill>
                <a:latin typeface="Calibri"/>
              </a:rPr>
              <a:t>0,9 %</a:t>
            </a:r>
          </a:p>
        </p:txBody>
      </p:sp>
      <p:sp>
        <p:nvSpPr>
          <p:cNvPr id="88" name="Rectangle 87"/>
          <p:cNvSpPr/>
          <p:nvPr/>
        </p:nvSpPr>
        <p:spPr>
          <a:xfrm>
            <a:off x="4593600" y="31032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629600" y="3146400"/>
            <a:ext cx="2059200" cy="190800"/>
          </a:xfrm>
          <a:prstGeom prst="rect">
            <a:avLst/>
          </a:prstGeom>
          <a:noFill/>
        </p:spPr>
        <p:txBody>
          <a:bodyPr wrap="none">
            <a:spAutoFit/>
          </a:bodyPr>
          <a:lstStyle/>
          <a:p>
            <a:pPr algn="l"/>
            <a:r>
              <a:rPr sz="750" b="0" i="1">
                <a:solidFill>
                  <a:srgbClr val="555555"/>
                </a:solidFill>
                <a:latin typeface="Calibri"/>
              </a:rPr>
              <a:t>Perf. 1M</a:t>
            </a:r>
          </a:p>
        </p:txBody>
      </p:sp>
      <p:sp>
        <p:nvSpPr>
          <p:cNvPr id="90" name="TextBox 89"/>
          <p:cNvSpPr txBox="1"/>
          <p:nvPr/>
        </p:nvSpPr>
        <p:spPr>
          <a:xfrm>
            <a:off x="6652800" y="3146400"/>
            <a:ext cx="1782000" cy="190800"/>
          </a:xfrm>
          <a:prstGeom prst="rect">
            <a:avLst/>
          </a:prstGeom>
          <a:noFill/>
        </p:spPr>
        <p:txBody>
          <a:bodyPr wrap="none">
            <a:spAutoFit/>
          </a:bodyPr>
          <a:lstStyle/>
          <a:p>
            <a:pPr algn="r"/>
            <a:r>
              <a:rPr sz="750" b="0" i="0">
                <a:solidFill>
                  <a:srgbClr val="0D0D0D"/>
                </a:solidFill>
                <a:latin typeface="Calibri"/>
              </a:rPr>
              <a:t>+0,6 %</a:t>
            </a:r>
          </a:p>
        </p:txBody>
      </p:sp>
      <p:sp>
        <p:nvSpPr>
          <p:cNvPr id="91" name="Rectangle 90"/>
          <p:cNvSpPr/>
          <p:nvPr/>
        </p:nvSpPr>
        <p:spPr>
          <a:xfrm>
            <a:off x="4593600" y="33480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629600" y="3391200"/>
            <a:ext cx="2059200" cy="190800"/>
          </a:xfrm>
          <a:prstGeom prst="rect">
            <a:avLst/>
          </a:prstGeom>
          <a:noFill/>
        </p:spPr>
        <p:txBody>
          <a:bodyPr wrap="none">
            <a:spAutoFit/>
          </a:bodyPr>
          <a:lstStyle/>
          <a:p>
            <a:pPr algn="l"/>
            <a:r>
              <a:rPr sz="750" b="0" i="1">
                <a:solidFill>
                  <a:srgbClr val="555555"/>
                </a:solidFill>
                <a:latin typeface="Calibri"/>
              </a:rPr>
              <a:t>Perf. 3M</a:t>
            </a:r>
          </a:p>
        </p:txBody>
      </p:sp>
      <p:sp>
        <p:nvSpPr>
          <p:cNvPr id="93" name="TextBox 92"/>
          <p:cNvSpPr txBox="1"/>
          <p:nvPr/>
        </p:nvSpPr>
        <p:spPr>
          <a:xfrm>
            <a:off x="6652800" y="3391200"/>
            <a:ext cx="1782000" cy="190800"/>
          </a:xfrm>
          <a:prstGeom prst="rect">
            <a:avLst/>
          </a:prstGeom>
          <a:noFill/>
        </p:spPr>
        <p:txBody>
          <a:bodyPr wrap="none">
            <a:spAutoFit/>
          </a:bodyPr>
          <a:lstStyle/>
          <a:p>
            <a:pPr algn="r"/>
            <a:r>
              <a:rPr sz="750" b="0" i="0">
                <a:solidFill>
                  <a:srgbClr val="0D0D0D"/>
                </a:solidFill>
                <a:latin typeface="Calibri"/>
              </a:rPr>
              <a:t>-13,3 %</a:t>
            </a:r>
          </a:p>
        </p:txBody>
      </p:sp>
      <p:sp>
        <p:nvSpPr>
          <p:cNvPr id="94" name="Rectangle 93"/>
          <p:cNvSpPr/>
          <p:nvPr/>
        </p:nvSpPr>
        <p:spPr>
          <a:xfrm>
            <a:off x="4593600" y="3592800"/>
            <a:ext cx="3960000" cy="23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629600" y="3636000"/>
            <a:ext cx="2059200" cy="190800"/>
          </a:xfrm>
          <a:prstGeom prst="rect">
            <a:avLst/>
          </a:prstGeom>
          <a:noFill/>
        </p:spPr>
        <p:txBody>
          <a:bodyPr wrap="none">
            <a:spAutoFit/>
          </a:bodyPr>
          <a:lstStyle/>
          <a:p>
            <a:pPr algn="l"/>
            <a:r>
              <a:rPr sz="750" b="0" i="1">
                <a:solidFill>
                  <a:srgbClr val="555555"/>
                </a:solidFill>
                <a:latin typeface="Calibri"/>
              </a:rPr>
              <a:t>Perf. 1Y</a:t>
            </a:r>
          </a:p>
        </p:txBody>
      </p:sp>
      <p:sp>
        <p:nvSpPr>
          <p:cNvPr id="96" name="TextBox 95"/>
          <p:cNvSpPr txBox="1"/>
          <p:nvPr/>
        </p:nvSpPr>
        <p:spPr>
          <a:xfrm>
            <a:off x="6652800" y="3636000"/>
            <a:ext cx="1782000" cy="190800"/>
          </a:xfrm>
          <a:prstGeom prst="rect">
            <a:avLst/>
          </a:prstGeom>
          <a:noFill/>
        </p:spPr>
        <p:txBody>
          <a:bodyPr wrap="none">
            <a:spAutoFit/>
          </a:bodyPr>
          <a:lstStyle/>
          <a:p>
            <a:pPr algn="r"/>
            <a:r>
              <a:rPr sz="750" b="0" i="0">
                <a:solidFill>
                  <a:srgbClr val="0D0D0D"/>
                </a:solidFill>
                <a:latin typeface="Calibri"/>
              </a:rPr>
              <a:t>-18,5 %</a:t>
            </a:r>
          </a:p>
        </p:txBody>
      </p:sp>
      <p:sp>
        <p:nvSpPr>
          <p:cNvPr id="97" name="Rectangle 96"/>
          <p:cNvSpPr/>
          <p:nvPr/>
        </p:nvSpPr>
        <p:spPr>
          <a:xfrm>
            <a:off x="4593600" y="3837600"/>
            <a:ext cx="3960000" cy="2304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629600" y="3880800"/>
            <a:ext cx="2059200" cy="190800"/>
          </a:xfrm>
          <a:prstGeom prst="rect">
            <a:avLst/>
          </a:prstGeom>
          <a:noFill/>
        </p:spPr>
        <p:txBody>
          <a:bodyPr wrap="none">
            <a:spAutoFit/>
          </a:bodyPr>
          <a:lstStyle/>
          <a:p>
            <a:pPr algn="l"/>
            <a:r>
              <a:rPr sz="750" b="0" i="1">
                <a:solidFill>
                  <a:srgbClr val="555555"/>
                </a:solidFill>
                <a:latin typeface="Calibri"/>
              </a:rPr>
              <a:t>Proch. Resultat</a:t>
            </a:r>
          </a:p>
        </p:txBody>
      </p:sp>
      <p:sp>
        <p:nvSpPr>
          <p:cNvPr id="99" name="TextBox 98"/>
          <p:cNvSpPr txBox="1"/>
          <p:nvPr/>
        </p:nvSpPr>
        <p:spPr>
          <a:xfrm>
            <a:off x="6652800" y="3880800"/>
            <a:ext cx="1782000" cy="190800"/>
          </a:xfrm>
          <a:prstGeom prst="rect">
            <a:avLst/>
          </a:prstGeom>
          <a:noFill/>
        </p:spPr>
        <p:txBody>
          <a:bodyPr wrap="none">
            <a:spAutoFit/>
          </a:bodyPr>
          <a:lstStyle/>
          <a:p>
            <a:pPr algn="r"/>
            <a:r>
              <a:rPr sz="750" b="0" i="0">
                <a:solidFill>
                  <a:srgbClr val="0D0D0D"/>
                </a:solidFill>
                <a:latin typeface="Calibri"/>
              </a:rPr>
              <a:t>2026-04-29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Performance Financiere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Resultat, Marges, Bilan &amp; Liquidite</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Compte de Resultat Compare</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graphicFrame>
        <p:nvGraphicFramePr>
          <p:cNvPr id="22" name="Table 21"/>
          <p:cNvGraphicFramePr>
            <a:graphicFrameLocks noGrp="1"/>
          </p:cNvGraphicFramePr>
          <p:nvPr/>
        </p:nvGraphicFramePr>
        <p:xfrm>
          <a:off x="367200" y="882000"/>
          <a:ext cx="8413200" cy="2015999"/>
        </p:xfrm>
        <a:graphic>
          <a:graphicData uri="http://schemas.openxmlformats.org/drawingml/2006/table">
            <a:tbl>
              <a:tblPr firstRow="1" bandRow="1">
                <a:tableStyleId>{5C22544A-7EE6-4342-B048-85BDC9FD1C3A}</a:tableStyleId>
              </a:tblPr>
              <a:tblGrid>
                <a:gridCol w="3701808"/>
                <a:gridCol w="2355696"/>
                <a:gridCol w="2355696"/>
              </a:tblGrid>
              <a:tr h="223999">
                <a:tc>
                  <a:txBody>
                    <a:bodyPr/>
                    <a:lstStyle/>
                    <a:p>
                      <a:pPr algn="l"/>
                      <a:r>
                        <a:rPr sz="750" b="1" i="0">
                          <a:solidFill>
                            <a:srgbClr val="FFFFFF"/>
                          </a:solidFill>
                          <a:latin typeface="Calibri"/>
                        </a:rPr>
                        <a:t>Indicateur</a:t>
                      </a:r>
                    </a:p>
                  </a:txBody>
                  <a:tcPr>
                    <a:solidFill>
                      <a:srgbClr val="1B3A6B"/>
                    </a:solidFill>
                  </a:tcPr>
                </a:tc>
                <a:tc>
                  <a:txBody>
                    <a:bodyPr/>
                    <a:lstStyle/>
                    <a:p>
                      <a:pPr algn="ctr"/>
                      <a:r>
                        <a:rPr sz="750" b="1" i="0">
                          <a:solidFill>
                            <a:srgbClr val="FFFFFF"/>
                          </a:solidFill>
                          <a:latin typeface="Calibri"/>
                        </a:rPr>
                        <a:t>AAPL</a:t>
                      </a:r>
                    </a:p>
                  </a:txBody>
                  <a:tcPr>
                    <a:solidFill>
                      <a:srgbClr val="1B3A6B"/>
                    </a:solidFill>
                  </a:tcPr>
                </a:tc>
                <a:tc>
                  <a:txBody>
                    <a:bodyPr/>
                    <a:lstStyle/>
                    <a:p>
                      <a:pPr algn="ctr"/>
                      <a:r>
                        <a:rPr sz="750" b="1" i="0">
                          <a:solidFill>
                            <a:srgbClr val="FFFFFF"/>
                          </a:solidFill>
                          <a:latin typeface="Calibri"/>
                        </a:rPr>
                        <a:t>MSFT</a:t>
                      </a:r>
                    </a:p>
                  </a:txBody>
                  <a:tcPr>
                    <a:solidFill>
                      <a:srgbClr val="1B3A6B"/>
                    </a:solidFill>
                  </a:tcPr>
                </a:tc>
              </a:tr>
              <a:tr h="223999">
                <a:tc>
                  <a:txBody>
                    <a:bodyPr/>
                    <a:lstStyle/>
                    <a:p>
                      <a:pPr algn="l"/>
                      <a:r>
                        <a:rPr sz="750" b="0" i="0">
                          <a:solidFill>
                            <a:srgbClr val="0D0D0D"/>
                          </a:solidFill>
                          <a:latin typeface="Calibri"/>
                        </a:rPr>
                        <a:t>Marge EBITDA LTM</a:t>
                      </a:r>
                    </a:p>
                  </a:txBody>
                  <a:tcPr>
                    <a:solidFill>
                      <a:srgbClr val="FFFFFF"/>
                    </a:solidFill>
                  </a:tcPr>
                </a:tc>
                <a:tc>
                  <a:txBody>
                    <a:bodyPr/>
                    <a:lstStyle/>
                    <a:p>
                      <a:pPr algn="ctr"/>
                      <a:r>
                        <a:rPr sz="750" b="0" i="0">
                          <a:solidFill>
                            <a:srgbClr val="0D0D0D"/>
                          </a:solidFill>
                          <a:latin typeface="Calibri"/>
                        </a:rPr>
                        <a:t>34,8 %</a:t>
                      </a:r>
                    </a:p>
                  </a:txBody>
                  <a:tcPr>
                    <a:solidFill>
                      <a:srgbClr val="FFFFFF"/>
                    </a:solidFill>
                  </a:tcPr>
                </a:tc>
                <a:tc>
                  <a:txBody>
                    <a:bodyPr/>
                    <a:lstStyle/>
                    <a:p>
                      <a:pPr algn="ctr"/>
                      <a:r>
                        <a:rPr sz="750" b="0" i="0">
                          <a:solidFill>
                            <a:srgbClr val="0D0D0D"/>
                          </a:solidFill>
                          <a:latin typeface="Calibri"/>
                        </a:rPr>
                        <a:t>56,9 %</a:t>
                      </a:r>
                    </a:p>
                  </a:txBody>
                  <a:tcPr>
                    <a:solidFill>
                      <a:srgbClr val="FFFFFF"/>
                    </a:solidFill>
                  </a:tcPr>
                </a:tc>
              </a:tr>
              <a:tr h="223999">
                <a:tc>
                  <a:txBody>
                    <a:bodyPr/>
                    <a:lstStyle/>
                    <a:p>
                      <a:pPr algn="l"/>
                      <a:r>
                        <a:rPr sz="750" b="0" i="0">
                          <a:solidFill>
                            <a:srgbClr val="0D0D0D"/>
                          </a:solidFill>
                          <a:latin typeface="Calibri"/>
                        </a:rPr>
                        <a:t>Marge EBITDA N-1</a:t>
                      </a:r>
                    </a:p>
                  </a:txBody>
                  <a:tcPr>
                    <a:solidFill>
                      <a:srgbClr val="F7F8FA"/>
                    </a:solidFill>
                  </a:tcPr>
                </a:tc>
                <a:tc>
                  <a:txBody>
                    <a:bodyPr/>
                    <a:lstStyle/>
                    <a:p>
                      <a:pPr algn="ctr"/>
                      <a:r>
                        <a:rPr sz="750" b="0" i="0">
                          <a:solidFill>
                            <a:srgbClr val="0D0D0D"/>
                          </a:solidFill>
                          <a:latin typeface="Calibri"/>
                        </a:rPr>
                        <a:t>34,4 %</a:t>
                      </a:r>
                    </a:p>
                  </a:txBody>
                  <a:tcPr>
                    <a:solidFill>
                      <a:srgbClr val="F7F8FA"/>
                    </a:solidFill>
                  </a:tcPr>
                </a:tc>
                <a:tc>
                  <a:txBody>
                    <a:bodyPr/>
                    <a:lstStyle/>
                    <a:p>
                      <a:pPr algn="ctr"/>
                      <a:r>
                        <a:rPr sz="750" b="0" i="0">
                          <a:solidFill>
                            <a:srgbClr val="0D0D0D"/>
                          </a:solidFill>
                          <a:latin typeface="Calibri"/>
                        </a:rPr>
                        <a:t>54,3 %</a:t>
                      </a:r>
                    </a:p>
                  </a:txBody>
                  <a:tcPr>
                    <a:solidFill>
                      <a:srgbClr val="F7F8FA"/>
                    </a:solidFill>
                  </a:tcPr>
                </a:tc>
              </a:tr>
              <a:tr h="223999">
                <a:tc>
                  <a:txBody>
                    <a:bodyPr/>
                    <a:lstStyle/>
                    <a:p>
                      <a:pPr algn="l"/>
                      <a:r>
                        <a:rPr sz="750" b="0" i="0">
                          <a:solidFill>
                            <a:srgbClr val="0D0D0D"/>
                          </a:solidFill>
                          <a:latin typeface="Calibri"/>
                        </a:rPr>
                        <a:t>Marge EBITDA N-2</a:t>
                      </a:r>
                    </a:p>
                  </a:txBody>
                  <a:tcPr>
                    <a:solidFill>
                      <a:srgbClr val="FFFFFF"/>
                    </a:solidFill>
                  </a:tcPr>
                </a:tc>
                <a:tc>
                  <a:txBody>
                    <a:bodyPr/>
                    <a:lstStyle/>
                    <a:p>
                      <a:pPr algn="ctr"/>
                      <a:r>
                        <a:rPr sz="750" b="0" i="0">
                          <a:solidFill>
                            <a:srgbClr val="0D0D0D"/>
                          </a:solidFill>
                          <a:latin typeface="Calibri"/>
                        </a:rPr>
                        <a:t>32,8 %</a:t>
                      </a:r>
                    </a:p>
                  </a:txBody>
                  <a:tcPr>
                    <a:solidFill>
                      <a:srgbClr val="FFFFFF"/>
                    </a:solidFill>
                  </a:tcPr>
                </a:tc>
                <a:tc>
                  <a:txBody>
                    <a:bodyPr/>
                    <a:lstStyle/>
                    <a:p>
                      <a:pPr algn="ctr"/>
                      <a:r>
                        <a:rPr sz="750" b="0" i="0">
                          <a:solidFill>
                            <a:srgbClr val="0D0D0D"/>
                          </a:solidFill>
                          <a:latin typeface="Calibri"/>
                        </a:rPr>
                        <a:t>49,6 %</a:t>
                      </a:r>
                    </a:p>
                  </a:txBody>
                  <a:tcPr>
                    <a:solidFill>
                      <a:srgbClr val="FFFFFF"/>
                    </a:solidFill>
                  </a:tcPr>
                </a:tc>
              </a:tr>
              <a:tr h="223999">
                <a:tc>
                  <a:txBody>
                    <a:bodyPr/>
                    <a:lstStyle/>
                    <a:p>
                      <a:pPr algn="l"/>
                      <a:r>
                        <a:rPr sz="750" b="0" i="0">
                          <a:solidFill>
                            <a:srgbClr val="0D0D0D"/>
                          </a:solidFill>
                          <a:latin typeface="Calibri"/>
                        </a:rPr>
                        <a:t>Tendance EBITDA</a:t>
                      </a:r>
                    </a:p>
                  </a:txBody>
                  <a:tcPr>
                    <a:solidFill>
                      <a:srgbClr val="F7F8FA"/>
                    </a:solidFill>
                  </a:tcPr>
                </a:tc>
                <a:tc>
                  <a:txBody>
                    <a:bodyPr/>
                    <a:lstStyle/>
                    <a:p>
                      <a:pPr algn="ctr"/>
                      <a:r>
                        <a:rPr sz="750" b="0" i="0">
                          <a:solidFill>
                            <a:srgbClr val="0D0D0D"/>
                          </a:solidFill>
                          <a:latin typeface="Calibri"/>
                        </a:rPr>
                        <a:t>Stable</a:t>
                      </a:r>
                    </a:p>
                  </a:txBody>
                  <a:tcPr>
                    <a:solidFill>
                      <a:srgbClr val="F7F8FA"/>
                    </a:solidFill>
                  </a:tcPr>
                </a:tc>
                <a:tc>
                  <a:txBody>
                    <a:bodyPr/>
                    <a:lstStyle/>
                    <a:p>
                      <a:pPr algn="ctr"/>
                      <a:r>
                        <a:rPr sz="750" b="0" i="0">
                          <a:solidFill>
                            <a:srgbClr val="0D0D0D"/>
                          </a:solidFill>
                          <a:latin typeface="Calibri"/>
                        </a:rPr>
                        <a:t>Croissante</a:t>
                      </a:r>
                    </a:p>
                  </a:txBody>
                  <a:tcPr>
                    <a:solidFill>
                      <a:srgbClr val="F7F8FA"/>
                    </a:solidFill>
                  </a:tcPr>
                </a:tc>
              </a:tr>
              <a:tr h="223999">
                <a:tc>
                  <a:txBody>
                    <a:bodyPr/>
                    <a:lstStyle/>
                    <a:p>
                      <a:pPr algn="l"/>
                      <a:r>
                        <a:rPr sz="750" b="0" i="0">
                          <a:solidFill>
                            <a:srgbClr val="0D0D0D"/>
                          </a:solidFill>
                          <a:latin typeface="Calibri"/>
                        </a:rPr>
                        <a:t>ROIC</a:t>
                      </a:r>
                    </a:p>
                  </a:txBody>
                  <a:tcPr>
                    <a:solidFill>
                      <a:srgbClr val="FFFFFF"/>
                    </a:solidFill>
                  </a:tcPr>
                </a:tc>
                <a:tc>
                  <a:txBody>
                    <a:bodyPr/>
                    <a:lstStyle/>
                    <a:p>
                      <a:pPr algn="ctr"/>
                      <a:r>
                        <a:rPr sz="750" b="0" i="0">
                          <a:solidFill>
                            <a:srgbClr val="0D0D0D"/>
                          </a:solidFill>
                          <a:latin typeface="Calibri"/>
                        </a:rPr>
                        <a:t>84,4 %</a:t>
                      </a:r>
                    </a:p>
                  </a:txBody>
                  <a:tcPr>
                    <a:solidFill>
                      <a:srgbClr val="FFFFFF"/>
                    </a:solidFill>
                  </a:tcPr>
                </a:tc>
                <a:tc>
                  <a:txBody>
                    <a:bodyPr/>
                    <a:lstStyle/>
                    <a:p>
                      <a:pPr algn="ctr"/>
                      <a:r>
                        <a:rPr sz="750" b="0" i="0">
                          <a:solidFill>
                            <a:srgbClr val="0D0D0D"/>
                          </a:solidFill>
                          <a:latin typeface="Calibri"/>
                        </a:rPr>
                        <a:t>30,1 %</a:t>
                      </a:r>
                    </a:p>
                  </a:txBody>
                  <a:tcPr>
                    <a:solidFill>
                      <a:srgbClr val="FFFFFF"/>
                    </a:solidFill>
                  </a:tcPr>
                </a:tc>
              </a:tr>
              <a:tr h="223999">
                <a:tc>
                  <a:txBody>
                    <a:bodyPr/>
                    <a:lstStyle/>
                    <a:p>
                      <a:pPr algn="l"/>
                      <a:r>
                        <a:rPr sz="750" b="0" i="0">
                          <a:solidFill>
                            <a:srgbClr val="0D0D0D"/>
                          </a:solidFill>
                          <a:latin typeface="Calibri"/>
                        </a:rPr>
                        <a:t>ROE</a:t>
                      </a:r>
                    </a:p>
                  </a:txBody>
                  <a:tcPr>
                    <a:solidFill>
                      <a:srgbClr val="F7F8FA"/>
                    </a:solidFill>
                  </a:tcPr>
                </a:tc>
                <a:tc>
                  <a:txBody>
                    <a:bodyPr/>
                    <a:lstStyle/>
                    <a:p>
                      <a:pPr algn="ctr"/>
                      <a:r>
                        <a:rPr sz="750" b="0" i="0">
                          <a:solidFill>
                            <a:srgbClr val="0D0D0D"/>
                          </a:solidFill>
                          <a:latin typeface="Calibri"/>
                        </a:rPr>
                        <a:t>151,9 %</a:t>
                      </a:r>
                    </a:p>
                  </a:txBody>
                  <a:tcPr>
                    <a:solidFill>
                      <a:srgbClr val="F7F8FA"/>
                    </a:solidFill>
                  </a:tcPr>
                </a:tc>
                <a:tc>
                  <a:txBody>
                    <a:bodyPr/>
                    <a:lstStyle/>
                    <a:p>
                      <a:pPr algn="ctr"/>
                      <a:r>
                        <a:rPr sz="750" b="0" i="0">
                          <a:solidFill>
                            <a:srgbClr val="0D0D0D"/>
                          </a:solidFill>
                          <a:latin typeface="Calibri"/>
                        </a:rPr>
                        <a:t>29,6 %</a:t>
                      </a:r>
                    </a:p>
                  </a:txBody>
                  <a:tcPr>
                    <a:solidFill>
                      <a:srgbClr val="F7F8FA"/>
                    </a:solidFill>
                  </a:tcPr>
                </a:tc>
              </a:tr>
              <a:tr h="223999">
                <a:tc>
                  <a:txBody>
                    <a:bodyPr/>
                    <a:lstStyle/>
                    <a:p>
                      <a:pPr algn="l"/>
                      <a:r>
                        <a:rPr sz="750" b="0" i="0">
                          <a:solidFill>
                            <a:srgbClr val="0D0D0D"/>
                          </a:solidFill>
                          <a:latin typeface="Calibri"/>
                        </a:rPr>
                        <a:t>Rev CAGR 3y</a:t>
                      </a:r>
                    </a:p>
                  </a:txBody>
                  <a:tcPr>
                    <a:solidFill>
                      <a:srgbClr val="FFFFFF"/>
                    </a:solidFill>
                  </a:tcPr>
                </a:tc>
                <a:tc>
                  <a:txBody>
                    <a:bodyPr/>
                    <a:lstStyle/>
                    <a:p>
                      <a:pPr algn="ctr"/>
                      <a:r>
                        <a:rPr sz="750" b="0" i="0">
                          <a:solidFill>
                            <a:srgbClr val="0D0D0D"/>
                          </a:solidFill>
                          <a:latin typeface="Calibri"/>
                        </a:rPr>
                        <a:t>1,8 %</a:t>
                      </a:r>
                    </a:p>
                  </a:txBody>
                  <a:tcPr>
                    <a:solidFill>
                      <a:srgbClr val="FFFFFF"/>
                    </a:solidFill>
                  </a:tcPr>
                </a:tc>
                <a:tc>
                  <a:txBody>
                    <a:bodyPr/>
                    <a:lstStyle/>
                    <a:p>
                      <a:pPr algn="ctr"/>
                      <a:r>
                        <a:rPr sz="750" b="0" i="0">
                          <a:solidFill>
                            <a:srgbClr val="0D0D0D"/>
                          </a:solidFill>
                          <a:latin typeface="Calibri"/>
                        </a:rPr>
                        <a:t>12,4 %</a:t>
                      </a:r>
                    </a:p>
                  </a:txBody>
                  <a:tcPr>
                    <a:solidFill>
                      <a:srgbClr val="FFFFFF"/>
                    </a:solidFill>
                  </a:tcPr>
                </a:tc>
              </a:tr>
              <a:tr h="224007">
                <a:tc>
                  <a:txBody>
                    <a:bodyPr/>
                    <a:lstStyle/>
                    <a:p>
                      <a:pPr algn="l"/>
                      <a:r>
                        <a:rPr sz="750" b="0" i="0">
                          <a:solidFill>
                            <a:srgbClr val="0D0D0D"/>
                          </a:solidFill>
                          <a:latin typeface="Calibri"/>
                        </a:rPr>
                        <a:t>Croissance EPS</a:t>
                      </a:r>
                    </a:p>
                  </a:txBody>
                  <a:tcPr>
                    <a:solidFill>
                      <a:srgbClr val="F7F8FA"/>
                    </a:solidFill>
                  </a:tcPr>
                </a:tc>
                <a:tc>
                  <a:txBody>
                    <a:bodyPr/>
                    <a:lstStyle/>
                    <a:p>
                      <a:pPr algn="ctr"/>
                      <a:r>
                        <a:rPr sz="750" b="0" i="0">
                          <a:solidFill>
                            <a:srgbClr val="0D0D0D"/>
                          </a:solidFill>
                          <a:latin typeface="Calibri"/>
                        </a:rPr>
                        <a:t>+19,5 %</a:t>
                      </a:r>
                    </a:p>
                  </a:txBody>
                  <a:tcPr>
                    <a:solidFill>
                      <a:srgbClr val="F7F8FA"/>
                    </a:solidFill>
                  </a:tcPr>
                </a:tc>
                <a:tc>
                  <a:txBody>
                    <a:bodyPr/>
                    <a:lstStyle/>
                    <a:p>
                      <a:pPr algn="ctr"/>
                      <a:r>
                        <a:rPr sz="750" b="0" i="0">
                          <a:solidFill>
                            <a:srgbClr val="0D0D0D"/>
                          </a:solidFill>
                          <a:latin typeface="Calibri"/>
                        </a:rPr>
                        <a:t>+15,5 %</a:t>
                      </a:r>
                    </a:p>
                  </a:txBody>
                  <a:tcPr>
                    <a:solidFill>
                      <a:srgbClr val="F7F8FA"/>
                    </a:solidFill>
                  </a:tcPr>
                </a:tc>
              </a:tr>
            </a:tbl>
          </a:graphicData>
        </a:graphic>
      </p:graphicFrame>
      <p:sp>
        <p:nvSpPr>
          <p:cNvPr id="23" name="Rectangle 22"/>
          <p:cNvSpPr/>
          <p:nvPr/>
        </p:nvSpPr>
        <p:spPr>
          <a:xfrm>
            <a:off x="367200" y="3006000"/>
            <a:ext cx="8413200" cy="576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7200" y="3006000"/>
            <a:ext cx="46800" cy="57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3999" y="3041999"/>
            <a:ext cx="8208000" cy="540000"/>
          </a:xfrm>
          <a:prstGeom prst="rect">
            <a:avLst/>
          </a:prstGeom>
          <a:noFill/>
        </p:spPr>
        <p:txBody>
          <a:bodyPr wrap="square">
            <a:spAutoFit/>
          </a:bodyPr>
          <a:lstStyle/>
          <a:p>
            <a:pPr algn="l"/>
            <a:r>
              <a:rPr sz="850" b="0" i="0">
                <a:solidFill>
                  <a:srgbClr val="1B3A6B"/>
                </a:solidFill>
                <a:latin typeface="Calibri"/>
              </a:rPr>
              <a:t>AAPL vs MSFT : Analyse comparative Quoi : MSFT affiche des marges EBITDA supérieures (56,9% vs 34,8%), une croissance du CA plus forte (CAGR 3 ans : 12,4% vs 1,8%) et des ratios de rentabilité (ROIC/ROE) plus modérés mais soutenables. AAPL domine en rentabilité absolue (ROIC 84,4%, ROE 151,9%) mais avec une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Rentabilite &amp; Croissance Comparees</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sp>
        <p:nvSpPr>
          <p:cNvPr id="22" name="Rectangle 21"/>
          <p:cNvSpPr/>
          <p:nvPr/>
        </p:nvSpPr>
        <p:spPr>
          <a:xfrm>
            <a:off x="367200" y="882000"/>
            <a:ext cx="84132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8820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3999" y="917999"/>
            <a:ext cx="8208000" cy="612000"/>
          </a:xfrm>
          <a:prstGeom prst="rect">
            <a:avLst/>
          </a:prstGeom>
          <a:noFill/>
        </p:spPr>
        <p:txBody>
          <a:bodyPr wrap="square">
            <a:spAutoFit/>
          </a:bodyPr>
          <a:lstStyle/>
          <a:p>
            <a:pPr algn="l"/>
            <a:r>
              <a:rPr sz="850" b="0" i="0">
                <a:solidFill>
                  <a:srgbClr val="1B3A6B"/>
                </a:solidFill>
                <a:latin typeface="Calibri"/>
              </a:rPr>
              <a:t>AAPL vs MSFT : Analyse comparative Quoi : MSFT affiche des marges EBITDA supérieures (56,9% vs 34,8%), une croissance du CA plus forte (CAGR 3 ans : 12,4% vs 1,8%) et des ratios de rentabilité (ROIC/ROE) plus modérés mais soutenables. AAPL domine en rentabilité absolue</a:t>
            </a:r>
          </a:p>
        </p:txBody>
      </p:sp>
      <p:sp>
        <p:nvSpPr>
          <p:cNvPr id="25" name="Rectangle 24"/>
          <p:cNvSpPr/>
          <p:nvPr/>
        </p:nvSpPr>
        <p:spPr>
          <a:xfrm>
            <a:off x="367200" y="1512000"/>
            <a:ext cx="19800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15120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566000"/>
            <a:ext cx="1843200" cy="360000"/>
          </a:xfrm>
          <a:prstGeom prst="rect">
            <a:avLst/>
          </a:prstGeom>
          <a:noFill/>
        </p:spPr>
        <p:txBody>
          <a:bodyPr wrap="square">
            <a:spAutoFit/>
          </a:bodyPr>
          <a:lstStyle/>
          <a:p>
            <a:pPr algn="l"/>
            <a:r>
              <a:rPr sz="1700" b="1" i="0">
                <a:solidFill>
                  <a:srgbClr val="1B3A6B"/>
                </a:solidFill>
                <a:latin typeface="Calibri"/>
              </a:rPr>
              <a:t>34,8 %</a:t>
            </a:r>
          </a:p>
        </p:txBody>
      </p:sp>
      <p:sp>
        <p:nvSpPr>
          <p:cNvPr id="28" name="TextBox 27"/>
          <p:cNvSpPr txBox="1"/>
          <p:nvPr/>
        </p:nvSpPr>
        <p:spPr>
          <a:xfrm>
            <a:off x="457200" y="1908000"/>
            <a:ext cx="1843200" cy="180000"/>
          </a:xfrm>
          <a:prstGeom prst="rect">
            <a:avLst/>
          </a:prstGeom>
          <a:noFill/>
        </p:spPr>
        <p:txBody>
          <a:bodyPr wrap="square">
            <a:spAutoFit/>
          </a:bodyPr>
          <a:lstStyle/>
          <a:p>
            <a:pPr algn="l"/>
            <a:r>
              <a:rPr sz="750" b="0" i="0">
                <a:solidFill>
                  <a:srgbClr val="555555"/>
                </a:solidFill>
                <a:latin typeface="Calibri"/>
              </a:rPr>
              <a:t>Marge EBITDA LTM — AAPL</a:t>
            </a:r>
          </a:p>
        </p:txBody>
      </p:sp>
      <p:sp>
        <p:nvSpPr>
          <p:cNvPr id="29" name="Rectangle 28"/>
          <p:cNvSpPr/>
          <p:nvPr/>
        </p:nvSpPr>
        <p:spPr>
          <a:xfrm>
            <a:off x="2520000" y="1512000"/>
            <a:ext cx="1980000" cy="648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20000" y="1512000"/>
            <a:ext cx="46800" cy="648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10000" y="1566000"/>
            <a:ext cx="1843200" cy="360000"/>
          </a:xfrm>
          <a:prstGeom prst="rect">
            <a:avLst/>
          </a:prstGeom>
          <a:noFill/>
        </p:spPr>
        <p:txBody>
          <a:bodyPr wrap="square">
            <a:spAutoFit/>
          </a:bodyPr>
          <a:lstStyle/>
          <a:p>
            <a:pPr algn="l"/>
            <a:r>
              <a:rPr sz="1700" b="1" i="0">
                <a:solidFill>
                  <a:srgbClr val="1B3A6B"/>
                </a:solidFill>
                <a:latin typeface="Calibri"/>
              </a:rPr>
              <a:t>56,9 %</a:t>
            </a:r>
          </a:p>
        </p:txBody>
      </p:sp>
      <p:sp>
        <p:nvSpPr>
          <p:cNvPr id="32" name="TextBox 31"/>
          <p:cNvSpPr txBox="1"/>
          <p:nvPr/>
        </p:nvSpPr>
        <p:spPr>
          <a:xfrm>
            <a:off x="2610000" y="1908000"/>
            <a:ext cx="1843200" cy="180000"/>
          </a:xfrm>
          <a:prstGeom prst="rect">
            <a:avLst/>
          </a:prstGeom>
          <a:noFill/>
        </p:spPr>
        <p:txBody>
          <a:bodyPr wrap="square">
            <a:spAutoFit/>
          </a:bodyPr>
          <a:lstStyle/>
          <a:p>
            <a:pPr algn="l"/>
            <a:r>
              <a:rPr sz="750" b="0" i="0">
                <a:solidFill>
                  <a:srgbClr val="555555"/>
                </a:solidFill>
                <a:latin typeface="Calibri"/>
              </a:rPr>
              <a:t>Marge EBITDA LTM — MSFT</a:t>
            </a:r>
          </a:p>
        </p:txBody>
      </p:sp>
      <p:sp>
        <p:nvSpPr>
          <p:cNvPr id="33" name="Rectangle 32"/>
          <p:cNvSpPr/>
          <p:nvPr/>
        </p:nvSpPr>
        <p:spPr>
          <a:xfrm>
            <a:off x="4672800" y="1512000"/>
            <a:ext cx="19800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72800" y="15120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62800" y="1566000"/>
            <a:ext cx="1843200" cy="360000"/>
          </a:xfrm>
          <a:prstGeom prst="rect">
            <a:avLst/>
          </a:prstGeom>
          <a:noFill/>
        </p:spPr>
        <p:txBody>
          <a:bodyPr wrap="square">
            <a:spAutoFit/>
          </a:bodyPr>
          <a:lstStyle/>
          <a:p>
            <a:pPr algn="l"/>
            <a:r>
              <a:rPr sz="1700" b="1" i="0">
                <a:solidFill>
                  <a:srgbClr val="1B3A6B"/>
                </a:solidFill>
                <a:latin typeface="Calibri"/>
              </a:rPr>
              <a:t>84,4 %</a:t>
            </a:r>
          </a:p>
        </p:txBody>
      </p:sp>
      <p:sp>
        <p:nvSpPr>
          <p:cNvPr id="36" name="TextBox 35"/>
          <p:cNvSpPr txBox="1"/>
          <p:nvPr/>
        </p:nvSpPr>
        <p:spPr>
          <a:xfrm>
            <a:off x="4762800" y="1908000"/>
            <a:ext cx="1843200" cy="180000"/>
          </a:xfrm>
          <a:prstGeom prst="rect">
            <a:avLst/>
          </a:prstGeom>
          <a:noFill/>
        </p:spPr>
        <p:txBody>
          <a:bodyPr wrap="square">
            <a:spAutoFit/>
          </a:bodyPr>
          <a:lstStyle/>
          <a:p>
            <a:pPr algn="l"/>
            <a:r>
              <a:rPr sz="750" b="0" i="0">
                <a:solidFill>
                  <a:srgbClr val="555555"/>
                </a:solidFill>
                <a:latin typeface="Calibri"/>
              </a:rPr>
              <a:t>ROIC — AAPL</a:t>
            </a:r>
          </a:p>
        </p:txBody>
      </p:sp>
      <p:sp>
        <p:nvSpPr>
          <p:cNvPr id="37" name="Rectangle 36"/>
          <p:cNvSpPr/>
          <p:nvPr/>
        </p:nvSpPr>
        <p:spPr>
          <a:xfrm>
            <a:off x="6822000" y="1512000"/>
            <a:ext cx="1980000" cy="648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22000" y="1512000"/>
            <a:ext cx="46800" cy="648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12000" y="1566000"/>
            <a:ext cx="1843200" cy="360000"/>
          </a:xfrm>
          <a:prstGeom prst="rect">
            <a:avLst/>
          </a:prstGeom>
          <a:noFill/>
        </p:spPr>
        <p:txBody>
          <a:bodyPr wrap="square">
            <a:spAutoFit/>
          </a:bodyPr>
          <a:lstStyle/>
          <a:p>
            <a:pPr algn="l"/>
            <a:r>
              <a:rPr sz="1700" b="1" i="0">
                <a:solidFill>
                  <a:srgbClr val="1B3A6B"/>
                </a:solidFill>
                <a:latin typeface="Calibri"/>
              </a:rPr>
              <a:t>30,1 %</a:t>
            </a:r>
          </a:p>
        </p:txBody>
      </p:sp>
      <p:sp>
        <p:nvSpPr>
          <p:cNvPr id="40" name="TextBox 39"/>
          <p:cNvSpPr txBox="1"/>
          <p:nvPr/>
        </p:nvSpPr>
        <p:spPr>
          <a:xfrm>
            <a:off x="6912000" y="1908000"/>
            <a:ext cx="1843200" cy="180000"/>
          </a:xfrm>
          <a:prstGeom prst="rect">
            <a:avLst/>
          </a:prstGeom>
          <a:noFill/>
        </p:spPr>
        <p:txBody>
          <a:bodyPr wrap="square">
            <a:spAutoFit/>
          </a:bodyPr>
          <a:lstStyle/>
          <a:p>
            <a:pPr algn="l"/>
            <a:r>
              <a:rPr sz="750" b="0" i="0">
                <a:solidFill>
                  <a:srgbClr val="555555"/>
                </a:solidFill>
                <a:latin typeface="Calibri"/>
              </a:rPr>
              <a:t>ROIC — MSFT</a:t>
            </a:r>
          </a:p>
        </p:txBody>
      </p:sp>
      <p:sp>
        <p:nvSpPr>
          <p:cNvPr id="41" name="Rectangle 40"/>
          <p:cNvSpPr/>
          <p:nvPr/>
        </p:nvSpPr>
        <p:spPr>
          <a:xfrm>
            <a:off x="367200" y="2250000"/>
            <a:ext cx="19800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22500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2304000"/>
            <a:ext cx="1843200" cy="360000"/>
          </a:xfrm>
          <a:prstGeom prst="rect">
            <a:avLst/>
          </a:prstGeom>
          <a:noFill/>
        </p:spPr>
        <p:txBody>
          <a:bodyPr wrap="square">
            <a:spAutoFit/>
          </a:bodyPr>
          <a:lstStyle/>
          <a:p>
            <a:pPr algn="l"/>
            <a:r>
              <a:rPr sz="1700" b="1" i="0">
                <a:solidFill>
                  <a:srgbClr val="1B3A6B"/>
                </a:solidFill>
                <a:latin typeface="Calibri"/>
              </a:rPr>
              <a:t>1,8 %</a:t>
            </a:r>
          </a:p>
        </p:txBody>
      </p:sp>
      <p:sp>
        <p:nvSpPr>
          <p:cNvPr id="44" name="TextBox 43"/>
          <p:cNvSpPr txBox="1"/>
          <p:nvPr/>
        </p:nvSpPr>
        <p:spPr>
          <a:xfrm>
            <a:off x="457200" y="2646000"/>
            <a:ext cx="1843200" cy="180000"/>
          </a:xfrm>
          <a:prstGeom prst="rect">
            <a:avLst/>
          </a:prstGeom>
          <a:noFill/>
        </p:spPr>
        <p:txBody>
          <a:bodyPr wrap="square">
            <a:spAutoFit/>
          </a:bodyPr>
          <a:lstStyle/>
          <a:p>
            <a:pPr algn="l"/>
            <a:r>
              <a:rPr sz="750" b="0" i="0">
                <a:solidFill>
                  <a:srgbClr val="555555"/>
                </a:solidFill>
                <a:latin typeface="Calibri"/>
              </a:rPr>
              <a:t>Rev CAGR 3y — AAPL</a:t>
            </a:r>
          </a:p>
        </p:txBody>
      </p:sp>
      <p:sp>
        <p:nvSpPr>
          <p:cNvPr id="45" name="Rectangle 44"/>
          <p:cNvSpPr/>
          <p:nvPr/>
        </p:nvSpPr>
        <p:spPr>
          <a:xfrm>
            <a:off x="2520000" y="2250000"/>
            <a:ext cx="1980000" cy="648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520000" y="2250000"/>
            <a:ext cx="46800" cy="648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10000" y="2304000"/>
            <a:ext cx="1843200" cy="360000"/>
          </a:xfrm>
          <a:prstGeom prst="rect">
            <a:avLst/>
          </a:prstGeom>
          <a:noFill/>
        </p:spPr>
        <p:txBody>
          <a:bodyPr wrap="square">
            <a:spAutoFit/>
          </a:bodyPr>
          <a:lstStyle/>
          <a:p>
            <a:pPr algn="l"/>
            <a:r>
              <a:rPr sz="1700" b="1" i="0">
                <a:solidFill>
                  <a:srgbClr val="1B3A6B"/>
                </a:solidFill>
                <a:latin typeface="Calibri"/>
              </a:rPr>
              <a:t>12,4 %</a:t>
            </a:r>
          </a:p>
        </p:txBody>
      </p:sp>
      <p:sp>
        <p:nvSpPr>
          <p:cNvPr id="48" name="TextBox 47"/>
          <p:cNvSpPr txBox="1"/>
          <p:nvPr/>
        </p:nvSpPr>
        <p:spPr>
          <a:xfrm>
            <a:off x="2610000" y="2646000"/>
            <a:ext cx="1843200" cy="180000"/>
          </a:xfrm>
          <a:prstGeom prst="rect">
            <a:avLst/>
          </a:prstGeom>
          <a:noFill/>
        </p:spPr>
        <p:txBody>
          <a:bodyPr wrap="square">
            <a:spAutoFit/>
          </a:bodyPr>
          <a:lstStyle/>
          <a:p>
            <a:pPr algn="l"/>
            <a:r>
              <a:rPr sz="750" b="0" i="0">
                <a:solidFill>
                  <a:srgbClr val="555555"/>
                </a:solidFill>
                <a:latin typeface="Calibri"/>
              </a:rPr>
              <a:t>Rev CAGR 3y — MSFT</a:t>
            </a:r>
          </a:p>
        </p:txBody>
      </p:sp>
      <p:sp>
        <p:nvSpPr>
          <p:cNvPr id="49" name="Rectangle 48"/>
          <p:cNvSpPr/>
          <p:nvPr/>
        </p:nvSpPr>
        <p:spPr>
          <a:xfrm>
            <a:off x="4672800" y="2250000"/>
            <a:ext cx="19800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672800" y="22500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62800" y="2304000"/>
            <a:ext cx="1843200" cy="360000"/>
          </a:xfrm>
          <a:prstGeom prst="rect">
            <a:avLst/>
          </a:prstGeom>
          <a:noFill/>
        </p:spPr>
        <p:txBody>
          <a:bodyPr wrap="square">
            <a:spAutoFit/>
          </a:bodyPr>
          <a:lstStyle/>
          <a:p>
            <a:pPr algn="l"/>
            <a:r>
              <a:rPr sz="1700" b="1" i="0">
                <a:solidFill>
                  <a:srgbClr val="1B3A6B"/>
                </a:solidFill>
                <a:latin typeface="Calibri"/>
              </a:rPr>
              <a:t>151,9 %</a:t>
            </a:r>
          </a:p>
        </p:txBody>
      </p:sp>
      <p:sp>
        <p:nvSpPr>
          <p:cNvPr id="52" name="TextBox 51"/>
          <p:cNvSpPr txBox="1"/>
          <p:nvPr/>
        </p:nvSpPr>
        <p:spPr>
          <a:xfrm>
            <a:off x="4762800" y="2646000"/>
            <a:ext cx="1843200" cy="180000"/>
          </a:xfrm>
          <a:prstGeom prst="rect">
            <a:avLst/>
          </a:prstGeom>
          <a:noFill/>
        </p:spPr>
        <p:txBody>
          <a:bodyPr wrap="square">
            <a:spAutoFit/>
          </a:bodyPr>
          <a:lstStyle/>
          <a:p>
            <a:pPr algn="l"/>
            <a:r>
              <a:rPr sz="750" b="0" i="0">
                <a:solidFill>
                  <a:srgbClr val="555555"/>
                </a:solidFill>
                <a:latin typeface="Calibri"/>
              </a:rPr>
              <a:t>ROE — AAPL</a:t>
            </a:r>
          </a:p>
        </p:txBody>
      </p:sp>
      <p:sp>
        <p:nvSpPr>
          <p:cNvPr id="53" name="Rectangle 52"/>
          <p:cNvSpPr/>
          <p:nvPr/>
        </p:nvSpPr>
        <p:spPr>
          <a:xfrm>
            <a:off x="6822000" y="2250000"/>
            <a:ext cx="1980000" cy="648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822000" y="2250000"/>
            <a:ext cx="46800" cy="648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912000" y="2304000"/>
            <a:ext cx="1843200" cy="360000"/>
          </a:xfrm>
          <a:prstGeom prst="rect">
            <a:avLst/>
          </a:prstGeom>
          <a:noFill/>
        </p:spPr>
        <p:txBody>
          <a:bodyPr wrap="square">
            <a:spAutoFit/>
          </a:bodyPr>
          <a:lstStyle/>
          <a:p>
            <a:pPr algn="l"/>
            <a:r>
              <a:rPr sz="1700" b="1" i="0">
                <a:solidFill>
                  <a:srgbClr val="1B3A6B"/>
                </a:solidFill>
                <a:latin typeface="Calibri"/>
              </a:rPr>
              <a:t>29,6 %</a:t>
            </a:r>
          </a:p>
        </p:txBody>
      </p:sp>
      <p:sp>
        <p:nvSpPr>
          <p:cNvPr id="56" name="TextBox 55"/>
          <p:cNvSpPr txBox="1"/>
          <p:nvPr/>
        </p:nvSpPr>
        <p:spPr>
          <a:xfrm>
            <a:off x="6912000" y="2646000"/>
            <a:ext cx="1843200" cy="180000"/>
          </a:xfrm>
          <a:prstGeom prst="rect">
            <a:avLst/>
          </a:prstGeom>
          <a:noFill/>
        </p:spPr>
        <p:txBody>
          <a:bodyPr wrap="square">
            <a:spAutoFit/>
          </a:bodyPr>
          <a:lstStyle/>
          <a:p>
            <a:pPr algn="l"/>
            <a:r>
              <a:rPr sz="750" b="0" i="0">
                <a:solidFill>
                  <a:srgbClr val="555555"/>
                </a:solidFill>
                <a:latin typeface="Calibri"/>
              </a:rPr>
              <a:t>ROE — MSFT</a:t>
            </a:r>
          </a:p>
        </p:txBody>
      </p:sp>
      <p:pic>
        <p:nvPicPr>
          <p:cNvPr id="57" name="Picture 56" descr="image.png"/>
          <p:cNvPicPr>
            <a:picLocks noChangeAspect="1"/>
          </p:cNvPicPr>
          <p:nvPr/>
        </p:nvPicPr>
        <p:blipFill>
          <a:blip r:embed="rId2"/>
          <a:stretch>
            <a:fillRect/>
          </a:stretch>
        </p:blipFill>
        <p:spPr>
          <a:xfrm>
            <a:off x="367200" y="3006000"/>
            <a:ext cx="3960000" cy="1980000"/>
          </a:xfrm>
          <a:prstGeom prst="rect">
            <a:avLst/>
          </a:prstGeom>
        </p:spPr>
      </p:pic>
      <p:pic>
        <p:nvPicPr>
          <p:cNvPr id="58" name="Picture 57" descr="image.png"/>
          <p:cNvPicPr>
            <a:picLocks noChangeAspect="1"/>
          </p:cNvPicPr>
          <p:nvPr/>
        </p:nvPicPr>
        <p:blipFill>
          <a:blip r:embed="rId3"/>
          <a:stretch>
            <a:fillRect/>
          </a:stretch>
        </p:blipFill>
        <p:spPr>
          <a:xfrm>
            <a:off x="4788000" y="3006000"/>
            <a:ext cx="3985200" cy="1980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Liquidite Compares</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graphicFrame>
        <p:nvGraphicFramePr>
          <p:cNvPr id="22" name="Table 21"/>
          <p:cNvGraphicFramePr>
            <a:graphicFrameLocks noGrp="1"/>
          </p:cNvGraphicFramePr>
          <p:nvPr/>
        </p:nvGraphicFramePr>
        <p:xfrm>
          <a:off x="367200" y="882000"/>
          <a:ext cx="8413200" cy="2088000"/>
        </p:xfrm>
        <a:graphic>
          <a:graphicData uri="http://schemas.openxmlformats.org/drawingml/2006/table">
            <a:tbl>
              <a:tblPr firstRow="1" bandRow="1">
                <a:tableStyleId>{5C22544A-7EE6-4342-B048-85BDC9FD1C3A}</a:tableStyleId>
              </a:tblPr>
              <a:tblGrid>
                <a:gridCol w="3701808"/>
                <a:gridCol w="2355696"/>
                <a:gridCol w="2355696"/>
              </a:tblGrid>
              <a:tr h="232000">
                <a:tc>
                  <a:txBody>
                    <a:bodyPr/>
                    <a:lstStyle/>
                    <a:p>
                      <a:pPr algn="l"/>
                      <a:r>
                        <a:rPr sz="750" b="1" i="0">
                          <a:solidFill>
                            <a:srgbClr val="FFFFFF"/>
                          </a:solidFill>
                          <a:latin typeface="Calibri"/>
                        </a:rPr>
                        <a:t>Indicateur Bilan</a:t>
                      </a:r>
                    </a:p>
                  </a:txBody>
                  <a:tcPr>
                    <a:solidFill>
                      <a:srgbClr val="1B3A6B"/>
                    </a:solidFill>
                  </a:tcPr>
                </a:tc>
                <a:tc>
                  <a:txBody>
                    <a:bodyPr/>
                    <a:lstStyle/>
                    <a:p>
                      <a:pPr algn="ctr"/>
                      <a:r>
                        <a:rPr sz="750" b="1" i="0">
                          <a:solidFill>
                            <a:srgbClr val="FFFFFF"/>
                          </a:solidFill>
                          <a:latin typeface="Calibri"/>
                        </a:rPr>
                        <a:t>AAPL</a:t>
                      </a:r>
                    </a:p>
                  </a:txBody>
                  <a:tcPr>
                    <a:solidFill>
                      <a:srgbClr val="1B3A6B"/>
                    </a:solidFill>
                  </a:tcPr>
                </a:tc>
                <a:tc>
                  <a:txBody>
                    <a:bodyPr/>
                    <a:lstStyle/>
                    <a:p>
                      <a:pPr algn="ctr"/>
                      <a:r>
                        <a:rPr sz="750" b="1" i="0">
                          <a:solidFill>
                            <a:srgbClr val="FFFFFF"/>
                          </a:solidFill>
                          <a:latin typeface="Calibri"/>
                        </a:rPr>
                        <a:t>MSFT</a:t>
                      </a:r>
                    </a:p>
                  </a:txBody>
                  <a:tcPr>
                    <a:solidFill>
                      <a:srgbClr val="1B3A6B"/>
                    </a:solidFill>
                  </a:tcPr>
                </a:tc>
              </a:tr>
              <a:tr h="232000">
                <a:tc>
                  <a:txBody>
                    <a:bodyPr/>
                    <a:lstStyle/>
                    <a:p>
                      <a:pPr algn="l"/>
                      <a:r>
                        <a:rPr sz="750" b="0" i="0">
                          <a:solidFill>
                            <a:srgbClr val="0D0D0D"/>
                          </a:solidFill>
                          <a:latin typeface="Calibri"/>
                        </a:rPr>
                        <a:t>Net Debt / EBITDA</a:t>
                      </a:r>
                    </a:p>
                  </a:txBody>
                  <a:tcPr>
                    <a:solidFill>
                      <a:srgbClr val="FFFFFF"/>
                    </a:solidFill>
                  </a:tcPr>
                </a:tc>
                <a:tc>
                  <a:txBody>
                    <a:bodyPr/>
                    <a:lstStyle/>
                    <a:p>
                      <a:pPr algn="ctr"/>
                      <a:r>
                        <a:rPr sz="750" b="0" i="0">
                          <a:solidFill>
                            <a:srgbClr val="0D0D0D"/>
                          </a:solidFill>
                          <a:latin typeface="Calibri"/>
                        </a:rPr>
                        <a:t>0,4x</a:t>
                      </a:r>
                    </a:p>
                  </a:txBody>
                  <a:tcPr>
                    <a:solidFill>
                      <a:srgbClr val="FFFFFF"/>
                    </a:solidFill>
                  </a:tcPr>
                </a:tc>
                <a:tc>
                  <a:txBody>
                    <a:bodyPr/>
                    <a:lstStyle/>
                    <a:p>
                      <a:pPr algn="ctr"/>
                      <a:r>
                        <a:rPr sz="750" b="0" i="0">
                          <a:solidFill>
                            <a:srgbClr val="0D0D0D"/>
                          </a:solidFill>
                          <a:latin typeface="Calibri"/>
                        </a:rPr>
                        <a:t>0,1x</a:t>
                      </a:r>
                    </a:p>
                  </a:txBody>
                  <a:tcPr>
                    <a:solidFill>
                      <a:srgbClr val="FFFFFF"/>
                    </a:solidFill>
                  </a:tcPr>
                </a:tc>
              </a:tr>
              <a:tr h="232000">
                <a:tc>
                  <a:txBody>
                    <a:bodyPr/>
                    <a:lstStyle/>
                    <a:p>
                      <a:pPr algn="l"/>
                      <a:r>
                        <a:rPr sz="750" b="0" i="0">
                          <a:solidFill>
                            <a:srgbClr val="0D0D0D"/>
                          </a:solidFill>
                          <a:latin typeface="Calibri"/>
                        </a:rPr>
                        <a:t>Interest Coverage</a:t>
                      </a:r>
                    </a:p>
                  </a:txBody>
                  <a:tcPr>
                    <a:solidFill>
                      <a:srgbClr val="F7F8FA"/>
                    </a:solidFill>
                  </a:tcPr>
                </a:tc>
                <a:tc>
                  <a:txBody>
                    <a:bodyPr/>
                    <a:lstStyle/>
                    <a:p>
                      <a:pPr algn="ctr"/>
                      <a:r>
                        <a:rPr sz="750" b="0" i="0">
                          <a:solidFill>
                            <a:srgbClr val="0D0D0D"/>
                          </a:solidFill>
                          <a:latin typeface="Calibri"/>
                        </a:rPr>
                        <a:t>414,5x</a:t>
                      </a:r>
                    </a:p>
                  </a:txBody>
                  <a:tcPr>
                    <a:solidFill>
                      <a:srgbClr val="F7F8FA"/>
                    </a:solidFill>
                  </a:tcPr>
                </a:tc>
                <a:tc>
                  <a:txBody>
                    <a:bodyPr/>
                    <a:lstStyle/>
                    <a:p>
                      <a:pPr algn="ctr"/>
                      <a:r>
                        <a:rPr sz="750" b="0" i="0">
                          <a:solidFill>
                            <a:srgbClr val="0D0D0D"/>
                          </a:solidFill>
                          <a:latin typeface="Calibri"/>
                        </a:rPr>
                        <a:t>52,8x</a:t>
                      </a:r>
                    </a:p>
                  </a:txBody>
                  <a:tcPr>
                    <a:solidFill>
                      <a:srgbClr val="F7F8FA"/>
                    </a:solidFill>
                  </a:tcPr>
                </a:tc>
              </a:tr>
              <a:tr h="232000">
                <a:tc>
                  <a:txBody>
                    <a:bodyPr/>
                    <a:lstStyle/>
                    <a:p>
                      <a:pPr algn="l"/>
                      <a:r>
                        <a:rPr sz="750" b="0" i="0">
                          <a:solidFill>
                            <a:srgbClr val="0D0D0D"/>
                          </a:solidFill>
                          <a:latin typeface="Calibri"/>
                        </a:rPr>
                        <a:t>Current Ratio</a:t>
                      </a:r>
                    </a:p>
                  </a:txBody>
                  <a:tcPr>
                    <a:solidFill>
                      <a:srgbClr val="FFFFFF"/>
                    </a:solidFill>
                  </a:tcPr>
                </a:tc>
                <a:tc>
                  <a:txBody>
                    <a:bodyPr/>
                    <a:lstStyle/>
                    <a:p>
                      <a:pPr algn="ctr"/>
                      <a:r>
                        <a:rPr sz="750" b="0" i="0">
                          <a:solidFill>
                            <a:srgbClr val="0D0D0D"/>
                          </a:solidFill>
                          <a:latin typeface="Calibri"/>
                        </a:rPr>
                        <a:t>0,7x</a:t>
                      </a:r>
                    </a:p>
                  </a:txBody>
                  <a:tcPr>
                    <a:solidFill>
                      <a:srgbClr val="FFFFFF"/>
                    </a:solidFill>
                  </a:tcPr>
                </a:tc>
                <a:tc>
                  <a:txBody>
                    <a:bodyPr/>
                    <a:lstStyle/>
                    <a:p>
                      <a:pPr algn="ctr"/>
                      <a:r>
                        <a:rPr sz="750" b="0" i="0">
                          <a:solidFill>
                            <a:srgbClr val="0D0D0D"/>
                          </a:solidFill>
                          <a:latin typeface="Calibri"/>
                        </a:rPr>
                        <a:t>2,0x</a:t>
                      </a:r>
                    </a:p>
                  </a:txBody>
                  <a:tcPr>
                    <a:solidFill>
                      <a:srgbClr val="FFFFFF"/>
                    </a:solidFill>
                  </a:tcPr>
                </a:tc>
              </a:tr>
              <a:tr h="232000">
                <a:tc>
                  <a:txBody>
                    <a:bodyPr/>
                    <a:lstStyle/>
                    <a:p>
                      <a:pPr algn="l"/>
                      <a:r>
                        <a:rPr sz="750" b="0" i="0">
                          <a:solidFill>
                            <a:srgbClr val="0D0D0D"/>
                          </a:solidFill>
                          <a:latin typeface="Calibri"/>
                        </a:rPr>
                        <a:t>Quick Ratio</a:t>
                      </a:r>
                    </a:p>
                  </a:txBody>
                  <a:tcPr>
                    <a:solidFill>
                      <a:srgbClr val="F7F8FA"/>
                    </a:solidFill>
                  </a:tcPr>
                </a:tc>
                <a:tc>
                  <a:txBody>
                    <a:bodyPr/>
                    <a:lstStyle/>
                    <a:p>
                      <a:pPr algn="ctr"/>
                      <a:r>
                        <a:rPr sz="750" b="0" i="0">
                          <a:solidFill>
                            <a:srgbClr val="0D0D0D"/>
                          </a:solidFill>
                          <a:latin typeface="Calibri"/>
                        </a:rPr>
                        <a:t>0,6x</a:t>
                      </a:r>
                    </a:p>
                  </a:txBody>
                  <a:tcPr>
                    <a:solidFill>
                      <a:srgbClr val="F7F8FA"/>
                    </a:solidFill>
                  </a:tcPr>
                </a:tc>
                <a:tc>
                  <a:txBody>
                    <a:bodyPr/>
                    <a:lstStyle/>
                    <a:p>
                      <a:pPr algn="ctr"/>
                      <a:r>
                        <a:rPr sz="750" b="0" i="0">
                          <a:solidFill>
                            <a:srgbClr val="0D0D0D"/>
                          </a:solidFill>
                          <a:latin typeface="Calibri"/>
                        </a:rPr>
                        <a:t>2,0x</a:t>
                      </a:r>
                    </a:p>
                  </a:txBody>
                  <a:tcPr>
                    <a:solidFill>
                      <a:srgbClr val="F7F8FA"/>
                    </a:solidFill>
                  </a:tcPr>
                </a:tc>
              </a:tr>
              <a:tr h="232000">
                <a:tc>
                  <a:txBody>
                    <a:bodyPr/>
                    <a:lstStyle/>
                    <a:p>
                      <a:pPr algn="l"/>
                      <a:r>
                        <a:rPr sz="750" b="0" i="0">
                          <a:solidFill>
                            <a:srgbClr val="0D0D0D"/>
                          </a:solidFill>
                          <a:latin typeface="Calibri"/>
                        </a:rPr>
                        <a:t>Capex / Revenue</a:t>
                      </a:r>
                    </a:p>
                  </a:txBody>
                  <a:tcPr>
                    <a:solidFill>
                      <a:srgbClr val="FFFFFF"/>
                    </a:solidFill>
                  </a:tcPr>
                </a:tc>
                <a:tc>
                  <a:txBody>
                    <a:bodyPr/>
                    <a:lstStyle/>
                    <a:p>
                      <a:pPr algn="ctr"/>
                      <a:r>
                        <a:rPr sz="750" b="0" i="0">
                          <a:solidFill>
                            <a:srgbClr val="0D0D0D"/>
                          </a:solidFill>
                          <a:latin typeface="Calibri"/>
                        </a:rPr>
                        <a:t>3,1 %</a:t>
                      </a:r>
                    </a:p>
                  </a:txBody>
                  <a:tcPr>
                    <a:solidFill>
                      <a:srgbClr val="FFFFFF"/>
                    </a:solidFill>
                  </a:tcPr>
                </a:tc>
                <a:tc>
                  <a:txBody>
                    <a:bodyPr/>
                    <a:lstStyle/>
                    <a:p>
                      <a:pPr algn="ctr"/>
                      <a:r>
                        <a:rPr sz="750" b="0" i="0">
                          <a:solidFill>
                            <a:srgbClr val="0D0D0D"/>
                          </a:solidFill>
                          <a:latin typeface="Calibri"/>
                        </a:rPr>
                        <a:t>22,9 %</a:t>
                      </a:r>
                    </a:p>
                  </a:txBody>
                  <a:tcPr>
                    <a:solidFill>
                      <a:srgbClr val="FFFFFF"/>
                    </a:solidFill>
                  </a:tcPr>
                </a:tc>
              </a:tr>
              <a:tr h="232000">
                <a:tc>
                  <a:txBody>
                    <a:bodyPr/>
                    <a:lstStyle/>
                    <a:p>
                      <a:pPr algn="l"/>
                      <a:r>
                        <a:rPr sz="750" b="0" i="0">
                          <a:solidFill>
                            <a:srgbClr val="0D0D0D"/>
                          </a:solidFill>
                          <a:latin typeface="Calibri"/>
                        </a:rPr>
                        <a:t>Cash Conversion</a:t>
                      </a:r>
                    </a:p>
                  </a:txBody>
                  <a:tcPr>
                    <a:solidFill>
                      <a:srgbClr val="F7F8FA"/>
                    </a:solidFill>
                  </a:tcPr>
                </a:tc>
                <a:tc>
                  <a:txBody>
                    <a:bodyPr/>
                    <a:lstStyle/>
                    <a:p>
                      <a:pPr algn="ctr"/>
                      <a:r>
                        <a:rPr sz="750" b="0" i="0">
                          <a:solidFill>
                            <a:srgbClr val="0D0D0D"/>
                          </a:solidFill>
                          <a:latin typeface="Calibri"/>
                        </a:rPr>
                        <a:t>1,0x</a:t>
                      </a:r>
                    </a:p>
                  </a:txBody>
                  <a:tcPr>
                    <a:solidFill>
                      <a:srgbClr val="F7F8FA"/>
                    </a:solidFill>
                  </a:tcPr>
                </a:tc>
                <a:tc>
                  <a:txBody>
                    <a:bodyPr/>
                    <a:lstStyle/>
                    <a:p>
                      <a:pPr algn="ctr"/>
                      <a:r>
                        <a:rPr sz="750" b="0" i="0">
                          <a:solidFill>
                            <a:srgbClr val="0D0D0D"/>
                          </a:solidFill>
                          <a:latin typeface="Calibri"/>
                        </a:rPr>
                        <a:t>0,7x</a:t>
                      </a:r>
                    </a:p>
                  </a:txBody>
                  <a:tcPr>
                    <a:solidFill>
                      <a:srgbClr val="F7F8FA"/>
                    </a:solidFill>
                  </a:tcPr>
                </a:tc>
              </a:tr>
              <a:tr h="232000">
                <a:tc>
                  <a:txBody>
                    <a:bodyPr/>
                    <a:lstStyle/>
                    <a:p>
                      <a:pPr algn="l"/>
                      <a:r>
                        <a:rPr sz="750" b="0" i="0">
                          <a:solidFill>
                            <a:srgbClr val="0D0D0D"/>
                          </a:solidFill>
                          <a:latin typeface="Calibri"/>
                        </a:rPr>
                        <a:t>FCF Yield</a:t>
                      </a:r>
                    </a:p>
                  </a:txBody>
                  <a:tcPr>
                    <a:solidFill>
                      <a:srgbClr val="FFFFFF"/>
                    </a:solidFill>
                  </a:tcPr>
                </a:tc>
                <a:tc>
                  <a:txBody>
                    <a:bodyPr/>
                    <a:lstStyle/>
                    <a:p>
                      <a:pPr algn="ctr"/>
                      <a:r>
                        <a:rPr sz="750" b="0" i="0">
                          <a:solidFill>
                            <a:srgbClr val="0D0D0D"/>
                          </a:solidFill>
                          <a:latin typeface="Calibri"/>
                        </a:rPr>
                        <a:t>3,0 %</a:t>
                      </a:r>
                    </a:p>
                  </a:txBody>
                  <a:tcPr>
                    <a:solidFill>
                      <a:srgbClr val="FFFFFF"/>
                    </a:solidFill>
                  </a:tcPr>
                </a:tc>
                <a:tc>
                  <a:txBody>
                    <a:bodyPr/>
                    <a:lstStyle/>
                    <a:p>
                      <a:pPr algn="ctr"/>
                      <a:r>
                        <a:rPr sz="750" b="0" i="0">
                          <a:solidFill>
                            <a:srgbClr val="0D0D0D"/>
                          </a:solidFill>
                          <a:latin typeface="Calibri"/>
                        </a:rPr>
                        <a:t>2,6 %</a:t>
                      </a:r>
                    </a:p>
                  </a:txBody>
                  <a:tcPr>
                    <a:solidFill>
                      <a:srgbClr val="FFFFFF"/>
                    </a:solidFill>
                  </a:tcPr>
                </a:tc>
              </a:tr>
              <a:tr h="232000">
                <a:tc>
                  <a:txBody>
                    <a:bodyPr/>
                    <a:lstStyle/>
                    <a:p>
                      <a:pPr algn="l"/>
                      <a:r>
                        <a:rPr sz="750" b="0" i="0">
                          <a:solidFill>
                            <a:srgbClr val="0D0D0D"/>
                          </a:solidFill>
                          <a:latin typeface="Calibri"/>
                        </a:rPr>
                        <a:t>Altman Z-Score</a:t>
                      </a:r>
                    </a:p>
                  </a:txBody>
                  <a:tcPr>
                    <a:solidFill>
                      <a:srgbClr val="F7F8FA"/>
                    </a:solidFill>
                  </a:tcPr>
                </a:tc>
                <a:tc>
                  <a:txBody>
                    <a:bodyPr/>
                    <a:lstStyle/>
                    <a:p>
                      <a:pPr algn="ctr"/>
                      <a:r>
                        <a:rPr sz="750" b="0" i="0">
                          <a:solidFill>
                            <a:srgbClr val="0D0D0D"/>
                          </a:solidFill>
                          <a:latin typeface="Calibri"/>
                        </a:rPr>
                        <a:t>1,69</a:t>
                      </a:r>
                    </a:p>
                  </a:txBody>
                  <a:tcPr>
                    <a:solidFill>
                      <a:srgbClr val="F7F8FA"/>
                    </a:solidFill>
                  </a:tcPr>
                </a:tc>
                <a:tc>
                  <a:txBody>
                    <a:bodyPr/>
                    <a:lstStyle/>
                    <a:p>
                      <a:pPr algn="ctr"/>
                      <a:r>
                        <a:rPr sz="750" b="0" i="0">
                          <a:solidFill>
                            <a:srgbClr val="0D0D0D"/>
                          </a:solidFill>
                          <a:latin typeface="Calibri"/>
                        </a:rPr>
                        <a:t>4,61</a:t>
                      </a:r>
                    </a:p>
                  </a:txBody>
                  <a:tcPr>
                    <a:solidFill>
                      <a:srgbClr val="F7F8FA"/>
                    </a:solidFill>
                  </a:tcPr>
                </a:tc>
              </a:tr>
            </a:tbl>
          </a:graphicData>
        </a:graphic>
      </p:graphicFrame>
      <p:sp>
        <p:nvSpPr>
          <p:cNvPr id="23" name="Rectangle 22"/>
          <p:cNvSpPr/>
          <p:nvPr/>
        </p:nvSpPr>
        <p:spPr>
          <a:xfrm>
            <a:off x="367200" y="3078000"/>
            <a:ext cx="19800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7200" y="30780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132000"/>
            <a:ext cx="1843200" cy="360000"/>
          </a:xfrm>
          <a:prstGeom prst="rect">
            <a:avLst/>
          </a:prstGeom>
          <a:noFill/>
        </p:spPr>
        <p:txBody>
          <a:bodyPr wrap="square">
            <a:spAutoFit/>
          </a:bodyPr>
          <a:lstStyle/>
          <a:p>
            <a:pPr algn="l"/>
            <a:r>
              <a:rPr sz="1700" b="1" i="0">
                <a:solidFill>
                  <a:srgbClr val="1B3A6B"/>
                </a:solidFill>
                <a:latin typeface="Calibri"/>
              </a:rPr>
              <a:t>0,4x</a:t>
            </a:r>
          </a:p>
        </p:txBody>
      </p:sp>
      <p:sp>
        <p:nvSpPr>
          <p:cNvPr id="26" name="TextBox 25"/>
          <p:cNvSpPr txBox="1"/>
          <p:nvPr/>
        </p:nvSpPr>
        <p:spPr>
          <a:xfrm>
            <a:off x="457200" y="3474000"/>
            <a:ext cx="1843200" cy="180000"/>
          </a:xfrm>
          <a:prstGeom prst="rect">
            <a:avLst/>
          </a:prstGeom>
          <a:noFill/>
        </p:spPr>
        <p:txBody>
          <a:bodyPr wrap="square">
            <a:spAutoFit/>
          </a:bodyPr>
          <a:lstStyle/>
          <a:p>
            <a:pPr algn="l"/>
            <a:r>
              <a:rPr sz="750" b="0" i="0">
                <a:solidFill>
                  <a:srgbClr val="555555"/>
                </a:solidFill>
                <a:latin typeface="Calibri"/>
              </a:rPr>
              <a:t>Net Debt/EBITDA — AAPL</a:t>
            </a:r>
          </a:p>
        </p:txBody>
      </p:sp>
      <p:sp>
        <p:nvSpPr>
          <p:cNvPr id="27" name="Rectangle 26"/>
          <p:cNvSpPr/>
          <p:nvPr/>
        </p:nvSpPr>
        <p:spPr>
          <a:xfrm>
            <a:off x="2520000" y="3078000"/>
            <a:ext cx="1980000" cy="648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20000" y="3078000"/>
            <a:ext cx="46800" cy="648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10000" y="3132000"/>
            <a:ext cx="1843200" cy="360000"/>
          </a:xfrm>
          <a:prstGeom prst="rect">
            <a:avLst/>
          </a:prstGeom>
          <a:noFill/>
        </p:spPr>
        <p:txBody>
          <a:bodyPr wrap="square">
            <a:spAutoFit/>
          </a:bodyPr>
          <a:lstStyle/>
          <a:p>
            <a:pPr algn="l"/>
            <a:r>
              <a:rPr sz="1700" b="1" i="0">
                <a:solidFill>
                  <a:srgbClr val="1B3A6B"/>
                </a:solidFill>
                <a:latin typeface="Calibri"/>
              </a:rPr>
              <a:t>0,1x</a:t>
            </a:r>
          </a:p>
        </p:txBody>
      </p:sp>
      <p:sp>
        <p:nvSpPr>
          <p:cNvPr id="30" name="TextBox 29"/>
          <p:cNvSpPr txBox="1"/>
          <p:nvPr/>
        </p:nvSpPr>
        <p:spPr>
          <a:xfrm>
            <a:off x="2610000" y="3474000"/>
            <a:ext cx="1843200" cy="180000"/>
          </a:xfrm>
          <a:prstGeom prst="rect">
            <a:avLst/>
          </a:prstGeom>
          <a:noFill/>
        </p:spPr>
        <p:txBody>
          <a:bodyPr wrap="square">
            <a:spAutoFit/>
          </a:bodyPr>
          <a:lstStyle/>
          <a:p>
            <a:pPr algn="l"/>
            <a:r>
              <a:rPr sz="750" b="0" i="0">
                <a:solidFill>
                  <a:srgbClr val="555555"/>
                </a:solidFill>
                <a:latin typeface="Calibri"/>
              </a:rPr>
              <a:t>Net Debt/EBITDA — MSFT</a:t>
            </a:r>
          </a:p>
        </p:txBody>
      </p:sp>
      <p:sp>
        <p:nvSpPr>
          <p:cNvPr id="31" name="Rectangle 30"/>
          <p:cNvSpPr/>
          <p:nvPr/>
        </p:nvSpPr>
        <p:spPr>
          <a:xfrm>
            <a:off x="4672800" y="3078000"/>
            <a:ext cx="1980000" cy="6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72800" y="3078000"/>
            <a:ext cx="46800" cy="6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62800" y="3132000"/>
            <a:ext cx="1843200" cy="360000"/>
          </a:xfrm>
          <a:prstGeom prst="rect">
            <a:avLst/>
          </a:prstGeom>
          <a:noFill/>
        </p:spPr>
        <p:txBody>
          <a:bodyPr wrap="square">
            <a:spAutoFit/>
          </a:bodyPr>
          <a:lstStyle/>
          <a:p>
            <a:pPr algn="l"/>
            <a:r>
              <a:rPr sz="1700" b="1" i="0">
                <a:solidFill>
                  <a:srgbClr val="1B3A6B"/>
                </a:solidFill>
                <a:latin typeface="Calibri"/>
              </a:rPr>
              <a:t>3,0 %</a:t>
            </a:r>
          </a:p>
        </p:txBody>
      </p:sp>
      <p:sp>
        <p:nvSpPr>
          <p:cNvPr id="34" name="TextBox 33"/>
          <p:cNvSpPr txBox="1"/>
          <p:nvPr/>
        </p:nvSpPr>
        <p:spPr>
          <a:xfrm>
            <a:off x="4762800" y="3474000"/>
            <a:ext cx="1843200" cy="180000"/>
          </a:xfrm>
          <a:prstGeom prst="rect">
            <a:avLst/>
          </a:prstGeom>
          <a:noFill/>
        </p:spPr>
        <p:txBody>
          <a:bodyPr wrap="square">
            <a:spAutoFit/>
          </a:bodyPr>
          <a:lstStyle/>
          <a:p>
            <a:pPr algn="l"/>
            <a:r>
              <a:rPr sz="750" b="0" i="0">
                <a:solidFill>
                  <a:srgbClr val="555555"/>
                </a:solidFill>
                <a:latin typeface="Calibri"/>
              </a:rPr>
              <a:t>FCF Yield — AAPL</a:t>
            </a:r>
          </a:p>
        </p:txBody>
      </p:sp>
      <p:sp>
        <p:nvSpPr>
          <p:cNvPr id="35" name="Rectangle 34"/>
          <p:cNvSpPr/>
          <p:nvPr/>
        </p:nvSpPr>
        <p:spPr>
          <a:xfrm>
            <a:off x="6822000" y="3078000"/>
            <a:ext cx="1980000" cy="648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22000" y="3078000"/>
            <a:ext cx="46800" cy="648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12000" y="3132000"/>
            <a:ext cx="1843200" cy="360000"/>
          </a:xfrm>
          <a:prstGeom prst="rect">
            <a:avLst/>
          </a:prstGeom>
          <a:noFill/>
        </p:spPr>
        <p:txBody>
          <a:bodyPr wrap="square">
            <a:spAutoFit/>
          </a:bodyPr>
          <a:lstStyle/>
          <a:p>
            <a:pPr algn="l"/>
            <a:r>
              <a:rPr sz="1700" b="1" i="0">
                <a:solidFill>
                  <a:srgbClr val="1B3A6B"/>
                </a:solidFill>
                <a:latin typeface="Calibri"/>
              </a:rPr>
              <a:t>2,6 %</a:t>
            </a:r>
          </a:p>
        </p:txBody>
      </p:sp>
      <p:sp>
        <p:nvSpPr>
          <p:cNvPr id="38" name="TextBox 37"/>
          <p:cNvSpPr txBox="1"/>
          <p:nvPr/>
        </p:nvSpPr>
        <p:spPr>
          <a:xfrm>
            <a:off x="6912000" y="3474000"/>
            <a:ext cx="1843200" cy="180000"/>
          </a:xfrm>
          <a:prstGeom prst="rect">
            <a:avLst/>
          </a:prstGeom>
          <a:noFill/>
        </p:spPr>
        <p:txBody>
          <a:bodyPr wrap="square">
            <a:spAutoFit/>
          </a:bodyPr>
          <a:lstStyle/>
          <a:p>
            <a:pPr algn="l"/>
            <a:r>
              <a:rPr sz="750" b="0" i="0">
                <a:solidFill>
                  <a:srgbClr val="555555"/>
                </a:solidFill>
                <a:latin typeface="Calibri"/>
              </a:rPr>
              <a:t>FCF Yield — MSFT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Multiples, DCF, Monte Carlo et Football Field</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Multiples de Valorisation Compares</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graphicFrame>
        <p:nvGraphicFramePr>
          <p:cNvPr id="22" name="Table 21"/>
          <p:cNvGraphicFramePr>
            <a:graphicFrameLocks noGrp="1"/>
          </p:cNvGraphicFramePr>
          <p:nvPr/>
        </p:nvGraphicFramePr>
        <p:xfrm>
          <a:off x="367200" y="1440000"/>
          <a:ext cx="8413200" cy="1620000"/>
        </p:xfrm>
        <a:graphic>
          <a:graphicData uri="http://schemas.openxmlformats.org/drawingml/2006/table">
            <a:tbl>
              <a:tblPr firstRow="1" bandRow="1">
                <a:tableStyleId>{5C22544A-7EE6-4342-B048-85BDC9FD1C3A}</a:tableStyleId>
              </a:tblPr>
              <a:tblGrid>
                <a:gridCol w="3028752"/>
                <a:gridCol w="1766772"/>
                <a:gridCol w="1766772"/>
                <a:gridCol w="1850904"/>
              </a:tblGrid>
              <a:tr h="231428">
                <a:tc>
                  <a:txBody>
                    <a:bodyPr/>
                    <a:lstStyle/>
                    <a:p>
                      <a:pPr algn="l"/>
                      <a:r>
                        <a:rPr sz="750" b="1" i="0">
                          <a:solidFill>
                            <a:srgbClr val="FFFFFF"/>
                          </a:solidFill>
                          <a:latin typeface="Calibri"/>
                        </a:rPr>
                        <a:t>Multiple</a:t>
                      </a:r>
                    </a:p>
                  </a:txBody>
                  <a:tcPr>
                    <a:solidFill>
                      <a:srgbClr val="1B3A6B"/>
                    </a:solidFill>
                  </a:tcPr>
                </a:tc>
                <a:tc>
                  <a:txBody>
                    <a:bodyPr/>
                    <a:lstStyle/>
                    <a:p>
                      <a:pPr algn="ctr"/>
                      <a:r>
                        <a:rPr sz="750" b="1" i="0">
                          <a:solidFill>
                            <a:srgbClr val="FFFFFF"/>
                          </a:solidFill>
                          <a:latin typeface="Calibri"/>
                        </a:rPr>
                        <a:t>AAPL</a:t>
                      </a:r>
                    </a:p>
                  </a:txBody>
                  <a:tcPr>
                    <a:solidFill>
                      <a:srgbClr val="1B3A6B"/>
                    </a:solidFill>
                  </a:tcPr>
                </a:tc>
                <a:tc>
                  <a:txBody>
                    <a:bodyPr/>
                    <a:lstStyle/>
                    <a:p>
                      <a:pPr algn="ctr"/>
                      <a:r>
                        <a:rPr sz="750" b="1" i="0">
                          <a:solidFill>
                            <a:srgbClr val="FFFFFF"/>
                          </a:solidFill>
                          <a:latin typeface="Calibri"/>
                        </a:rPr>
                        <a:t>MSFT</a:t>
                      </a:r>
                    </a:p>
                  </a:txBody>
                  <a:tcPr>
                    <a:solidFill>
                      <a:srgbClr val="1B3A6B"/>
                    </a:solidFill>
                  </a:tcPr>
                </a:tc>
                <a:tc>
                  <a:txBody>
                    <a:bodyPr/>
                    <a:lstStyle/>
                    <a:p>
                      <a:pPr algn="ctr"/>
                      <a:r>
                        <a:rPr sz="750" b="1" i="0">
                          <a:solidFill>
                            <a:srgbClr val="FFFFFF"/>
                          </a:solidFill>
                          <a:latin typeface="Calibri"/>
                        </a:rPr>
                        <a:t>Med. Secteur</a:t>
                      </a:r>
                    </a:p>
                  </a:txBody>
                  <a:tcPr>
                    <a:solidFill>
                      <a:srgbClr val="1B3A6B"/>
                    </a:solidFill>
                  </a:tcPr>
                </a:tc>
              </a:tr>
              <a:tr h="231428">
                <a:tc>
                  <a:txBody>
                    <a:bodyPr/>
                    <a:lstStyle/>
                    <a:p>
                      <a:pPr algn="l"/>
                      <a:r>
                        <a:rPr sz="750" b="0" i="0">
                          <a:solidFill>
                            <a:srgbClr val="0D0D0D"/>
                          </a:solidFill>
                          <a:latin typeface="Calibri"/>
                        </a:rPr>
                        <a:t>PE Ratio</a:t>
                      </a:r>
                    </a:p>
                  </a:txBody>
                  <a:tcPr>
                    <a:solidFill>
                      <a:srgbClr val="FFFFFF"/>
                    </a:solidFill>
                  </a:tcPr>
                </a:tc>
                <a:tc>
                  <a:txBody>
                    <a:bodyPr/>
                    <a:lstStyle/>
                    <a:p>
                      <a:pPr algn="ctr"/>
                      <a:r>
                        <a:rPr sz="750" b="0" i="0">
                          <a:solidFill>
                            <a:srgbClr val="0D0D0D"/>
                          </a:solidFill>
                          <a:latin typeface="Calibri"/>
                        </a:rPr>
                        <a:t>33,2x</a:t>
                      </a:r>
                    </a:p>
                  </a:txBody>
                  <a:tcPr>
                    <a:solidFill>
                      <a:srgbClr val="FFFFFF"/>
                    </a:solidFill>
                  </a:tcPr>
                </a:tc>
                <a:tc>
                  <a:txBody>
                    <a:bodyPr/>
                    <a:lstStyle/>
                    <a:p>
                      <a:pPr algn="ctr"/>
                      <a:r>
                        <a:rPr sz="750" b="0" i="0">
                          <a:solidFill>
                            <a:srgbClr val="0D0D0D"/>
                          </a:solidFill>
                          <a:latin typeface="Calibri"/>
                        </a:rPr>
                        <a:t>27,1x</a:t>
                      </a:r>
                    </a:p>
                  </a:txBody>
                  <a:tcPr>
                    <a:solidFill>
                      <a:srgbClr val="FFFFFF"/>
                    </a:solidFill>
                  </a:tcPr>
                </a:tc>
                <a:tc>
                  <a:txBody>
                    <a:bodyPr/>
                    <a:lstStyle/>
                    <a:p>
                      <a:pPr algn="ctr"/>
                      <a:r>
                        <a:rPr sz="750" b="0" i="0">
                          <a:solidFill>
                            <a:srgbClr val="0D0D0D"/>
                          </a:solidFill>
                          <a:latin typeface="Calibri"/>
                        </a:rPr>
                        <a:t>30,0x</a:t>
                      </a:r>
                    </a:p>
                  </a:txBody>
                  <a:tcPr>
                    <a:solidFill>
                      <a:srgbClr val="FFFFFF"/>
                    </a:solidFill>
                  </a:tcPr>
                </a:tc>
              </a:tr>
              <a:tr h="231428">
                <a:tc>
                  <a:txBody>
                    <a:bodyPr/>
                    <a:lstStyle/>
                    <a:p>
                      <a:pPr algn="l"/>
                      <a:r>
                        <a:rPr sz="750" b="0" i="0">
                          <a:solidFill>
                            <a:srgbClr val="0D0D0D"/>
                          </a:solidFill>
                          <a:latin typeface="Calibri"/>
                        </a:rPr>
                        <a:t>EV / EBITDA</a:t>
                      </a:r>
                    </a:p>
                  </a:txBody>
                  <a:tcPr>
                    <a:solidFill>
                      <a:srgbClr val="F7F8FA"/>
                    </a:solidFill>
                  </a:tcPr>
                </a:tc>
                <a:tc>
                  <a:txBody>
                    <a:bodyPr/>
                    <a:lstStyle/>
                    <a:p>
                      <a:pPr algn="ctr"/>
                      <a:r>
                        <a:rPr sz="750" b="0" i="0">
                          <a:solidFill>
                            <a:srgbClr val="0D0D0D"/>
                          </a:solidFill>
                          <a:latin typeface="Calibri"/>
                        </a:rPr>
                        <a:t>26,1x</a:t>
                      </a:r>
                    </a:p>
                  </a:txBody>
                  <a:tcPr>
                    <a:solidFill>
                      <a:srgbClr val="F7F8FA"/>
                    </a:solidFill>
                  </a:tcPr>
                </a:tc>
                <a:tc>
                  <a:txBody>
                    <a:bodyPr/>
                    <a:lstStyle/>
                    <a:p>
                      <a:pPr algn="ctr"/>
                      <a:r>
                        <a:rPr sz="750" b="0" i="0">
                          <a:solidFill>
                            <a:srgbClr val="0D0D0D"/>
                          </a:solidFill>
                          <a:latin typeface="Calibri"/>
                        </a:rPr>
                        <a:t>17,3x</a:t>
                      </a:r>
                    </a:p>
                  </a:txBody>
                  <a:tcPr>
                    <a:solidFill>
                      <a:srgbClr val="F7F8FA"/>
                    </a:solidFill>
                  </a:tcPr>
                </a:tc>
                <a:tc>
                  <a:txBody>
                    <a:bodyPr/>
                    <a:lstStyle/>
                    <a:p>
                      <a:pPr algn="ctr"/>
                      <a:r>
                        <a:rPr sz="750" b="0" i="0">
                          <a:solidFill>
                            <a:srgbClr val="0D0D0D"/>
                          </a:solidFill>
                          <a:latin typeface="Calibri"/>
                        </a:rPr>
                        <a:t>18,0x</a:t>
                      </a:r>
                    </a:p>
                  </a:txBody>
                  <a:tcPr>
                    <a:solidFill>
                      <a:srgbClr val="F7F8FA"/>
                    </a:solidFill>
                  </a:tcPr>
                </a:tc>
              </a:tr>
              <a:tr h="231428">
                <a:tc>
                  <a:txBody>
                    <a:bodyPr/>
                    <a:lstStyle/>
                    <a:p>
                      <a:pPr algn="l"/>
                      <a:r>
                        <a:rPr sz="750" b="0" i="0">
                          <a:solidFill>
                            <a:srgbClr val="0D0D0D"/>
                          </a:solidFill>
                          <a:latin typeface="Calibri"/>
                        </a:rPr>
                        <a:t>Price / Book</a:t>
                      </a:r>
                    </a:p>
                  </a:txBody>
                  <a:tcPr>
                    <a:solidFill>
                      <a:srgbClr val="FFFFFF"/>
                    </a:solidFill>
                  </a:tcPr>
                </a:tc>
                <a:tc>
                  <a:txBody>
                    <a:bodyPr/>
                    <a:lstStyle/>
                    <a:p>
                      <a:pPr algn="ctr"/>
                      <a:r>
                        <a:rPr sz="750" b="0" i="0">
                          <a:solidFill>
                            <a:srgbClr val="0D0D0D"/>
                          </a:solidFill>
                          <a:latin typeface="Calibri"/>
                        </a:rPr>
                        <a:t>50,5x</a:t>
                      </a:r>
                    </a:p>
                  </a:txBody>
                  <a:tcPr>
                    <a:solidFill>
                      <a:srgbClr val="FFFFFF"/>
                    </a:solidFill>
                  </a:tcPr>
                </a:tc>
                <a:tc>
                  <a:txBody>
                    <a:bodyPr/>
                    <a:lstStyle/>
                    <a:p>
                      <a:pPr algn="ctr"/>
                      <a:r>
                        <a:rPr sz="750" b="0" i="0">
                          <a:solidFill>
                            <a:srgbClr val="0D0D0D"/>
                          </a:solidFill>
                          <a:latin typeface="Calibri"/>
                        </a:rPr>
                        <a:t>8,1x</a:t>
                      </a:r>
                    </a:p>
                  </a:txBody>
                  <a:tcPr>
                    <a:solidFill>
                      <a:srgbClr val="FFFFFF"/>
                    </a:solidFill>
                  </a:tcPr>
                </a:tc>
                <a:tc>
                  <a:txBody>
                    <a:bodyPr/>
                    <a:lstStyle/>
                    <a:p>
                      <a:pPr algn="ctr"/>
                      <a:r>
                        <a:rPr sz="750" b="0" i="0">
                          <a:solidFill>
                            <a:srgbClr val="0D0D0D"/>
                          </a:solidFill>
                          <a:latin typeface="Calibri"/>
                        </a:rPr>
                        <a:t>—</a:t>
                      </a:r>
                    </a:p>
                  </a:txBody>
                  <a:tcPr>
                    <a:solidFill>
                      <a:srgbClr val="FFFFFF"/>
                    </a:solidFill>
                  </a:tcPr>
                </a:tc>
              </a:tr>
              <a:tr h="231428">
                <a:tc>
                  <a:txBody>
                    <a:bodyPr/>
                    <a:lstStyle/>
                    <a:p>
                      <a:pPr algn="l"/>
                      <a:r>
                        <a:rPr sz="750" b="0" i="0">
                          <a:solidFill>
                            <a:srgbClr val="0D0D0D"/>
                          </a:solidFill>
                          <a:latin typeface="Calibri"/>
                        </a:rPr>
                        <a:t>PEG Ratio</a:t>
                      </a:r>
                    </a:p>
                  </a:txBody>
                  <a:tcPr>
                    <a:solidFill>
                      <a:srgbClr val="F7F8FA"/>
                    </a:solidFill>
                  </a:tcPr>
                </a:tc>
                <a:tc>
                  <a:txBody>
                    <a:bodyPr/>
                    <a:lstStyle/>
                    <a:p>
                      <a:pPr algn="ctr"/>
                      <a:r>
                        <a:rPr sz="750" b="0" i="0">
                          <a:solidFill>
                            <a:srgbClr val="0D0D0D"/>
                          </a:solidFill>
                          <a:latin typeface="Calibri"/>
                        </a:rPr>
                        <a:t>18,4x</a:t>
                      </a:r>
                    </a:p>
                  </a:txBody>
                  <a:tcPr>
                    <a:solidFill>
                      <a:srgbClr val="F7F8FA"/>
                    </a:solidFill>
                  </a:tcPr>
                </a:tc>
                <a:tc>
                  <a:txBody>
                    <a:bodyPr/>
                    <a:lstStyle/>
                    <a:p>
                      <a:pPr algn="ctr"/>
                      <a:r>
                        <a:rPr sz="750" b="0" i="0">
                          <a:solidFill>
                            <a:srgbClr val="0D0D0D"/>
                          </a:solidFill>
                          <a:latin typeface="Calibri"/>
                        </a:rPr>
                        <a:t>2,2x</a:t>
                      </a:r>
                    </a:p>
                  </a:txBody>
                  <a:tcPr>
                    <a:solidFill>
                      <a:srgbClr val="F7F8FA"/>
                    </a:solidFill>
                  </a:tcPr>
                </a:tc>
                <a:tc>
                  <a:txBody>
                    <a:bodyPr/>
                    <a:lstStyle/>
                    <a:p>
                      <a:pPr algn="ctr"/>
                      <a:r>
                        <a:rPr sz="750" b="0" i="0">
                          <a:solidFill>
                            <a:srgbClr val="0D0D0D"/>
                          </a:solidFill>
                          <a:latin typeface="Calibri"/>
                        </a:rPr>
                        <a:t>—</a:t>
                      </a:r>
                    </a:p>
                  </a:txBody>
                  <a:tcPr>
                    <a:solidFill>
                      <a:srgbClr val="F7F8FA"/>
                    </a:solidFill>
                  </a:tcPr>
                </a:tc>
              </a:tr>
              <a:tr h="231428">
                <a:tc>
                  <a:txBody>
                    <a:bodyPr/>
                    <a:lstStyle/>
                    <a:p>
                      <a:pPr algn="l"/>
                      <a:r>
                        <a:rPr sz="750" b="0" i="0">
                          <a:solidFill>
                            <a:srgbClr val="0D0D0D"/>
                          </a:solidFill>
                          <a:latin typeface="Calibri"/>
                        </a:rPr>
                        <a:t>FCF Yield</a:t>
                      </a:r>
                    </a:p>
                  </a:txBody>
                  <a:tcPr>
                    <a:solidFill>
                      <a:srgbClr val="FFFFFF"/>
                    </a:solidFill>
                  </a:tcPr>
                </a:tc>
                <a:tc>
                  <a:txBody>
                    <a:bodyPr/>
                    <a:lstStyle/>
                    <a:p>
                      <a:pPr algn="ctr"/>
                      <a:r>
                        <a:rPr sz="750" b="0" i="0">
                          <a:solidFill>
                            <a:srgbClr val="0D0D0D"/>
                          </a:solidFill>
                          <a:latin typeface="Calibri"/>
                        </a:rPr>
                        <a:t>3,0 %</a:t>
                      </a:r>
                    </a:p>
                  </a:txBody>
                  <a:tcPr>
                    <a:solidFill>
                      <a:srgbClr val="FFFFFF"/>
                    </a:solidFill>
                  </a:tcPr>
                </a:tc>
                <a:tc>
                  <a:txBody>
                    <a:bodyPr/>
                    <a:lstStyle/>
                    <a:p>
                      <a:pPr algn="ctr"/>
                      <a:r>
                        <a:rPr sz="750" b="0" i="0">
                          <a:solidFill>
                            <a:srgbClr val="0D0D0D"/>
                          </a:solidFill>
                          <a:latin typeface="Calibri"/>
                        </a:rPr>
                        <a:t>2,6 %</a:t>
                      </a:r>
                    </a:p>
                  </a:txBody>
                  <a:tcPr>
                    <a:solidFill>
                      <a:srgbClr val="FFFFFF"/>
                    </a:solidFill>
                  </a:tcPr>
                </a:tc>
                <a:tc>
                  <a:txBody>
                    <a:bodyPr/>
                    <a:lstStyle/>
                    <a:p>
                      <a:pPr algn="ctr"/>
                      <a:r>
                        <a:rPr sz="750" b="0" i="0">
                          <a:solidFill>
                            <a:srgbClr val="0D0D0D"/>
                          </a:solidFill>
                          <a:latin typeface="Calibri"/>
                        </a:rPr>
                        <a:t>—</a:t>
                      </a:r>
                    </a:p>
                  </a:txBody>
                  <a:tcPr>
                    <a:solidFill>
                      <a:srgbClr val="FFFFFF"/>
                    </a:solidFill>
                  </a:tcPr>
                </a:tc>
              </a:tr>
              <a:tr h="231432">
                <a:tc>
                  <a:txBody>
                    <a:bodyPr/>
                    <a:lstStyle/>
                    <a:p>
                      <a:pPr algn="l"/>
                      <a:r>
                        <a:rPr sz="750" b="0" i="0">
                          <a:solidFill>
                            <a:srgbClr val="0D0D0D"/>
                          </a:solidFill>
                          <a:latin typeface="Calibri"/>
                        </a:rPr>
                        <a:t>Div. Yield</a:t>
                      </a:r>
                    </a:p>
                  </a:txBody>
                  <a:tcPr>
                    <a:solidFill>
                      <a:srgbClr val="F7F8FA"/>
                    </a:solidFill>
                  </a:tcPr>
                </a:tc>
                <a:tc>
                  <a:txBody>
                    <a:bodyPr/>
                    <a:lstStyle/>
                    <a:p>
                      <a:pPr algn="ctr"/>
                      <a:r>
                        <a:rPr sz="750" b="0" i="0">
                          <a:solidFill>
                            <a:srgbClr val="0D0D0D"/>
                          </a:solidFill>
                          <a:latin typeface="Calibri"/>
                        </a:rPr>
                        <a:t>0,4 %</a:t>
                      </a:r>
                    </a:p>
                  </a:txBody>
                  <a:tcPr>
                    <a:solidFill>
                      <a:srgbClr val="F7F8FA"/>
                    </a:solidFill>
                  </a:tcPr>
                </a:tc>
                <a:tc>
                  <a:txBody>
                    <a:bodyPr/>
                    <a:lstStyle/>
                    <a:p>
                      <a:pPr algn="ctr"/>
                      <a:r>
                        <a:rPr sz="750" b="0" i="0">
                          <a:solidFill>
                            <a:srgbClr val="0D0D0D"/>
                          </a:solidFill>
                          <a:latin typeface="Calibri"/>
                        </a:rPr>
                        <a:t>0,9 %</a:t>
                      </a:r>
                    </a:p>
                  </a:txBody>
                  <a:tcPr>
                    <a:solidFill>
                      <a:srgbClr val="F7F8FA"/>
                    </a:solidFill>
                  </a:tcPr>
                </a:tc>
                <a:tc>
                  <a:txBody>
                    <a:bodyPr/>
                    <a:lstStyle/>
                    <a:p>
                      <a:pPr algn="ctr"/>
                      <a:r>
                        <a:rPr sz="750" b="0" i="0">
                          <a:solidFill>
                            <a:srgbClr val="0D0D0D"/>
                          </a:solidFill>
                          <a:latin typeface="Calibri"/>
                        </a:rPr>
                        <a:t>—</a:t>
                      </a:r>
                    </a:p>
                  </a:txBody>
                  <a:tcPr>
                    <a:solidFill>
                      <a:srgbClr val="F7F8FA"/>
                    </a:solidFill>
                  </a:tcPr>
                </a:tc>
              </a:tr>
            </a:tbl>
          </a:graphicData>
        </a:graphic>
      </p:graphicFrame>
      <p:pic>
        <p:nvPicPr>
          <p:cNvPr id="23" name="Picture 22" descr="image.png"/>
          <p:cNvPicPr>
            <a:picLocks noChangeAspect="1"/>
          </p:cNvPicPr>
          <p:nvPr/>
        </p:nvPicPr>
        <p:blipFill>
          <a:blip r:embed="rId2"/>
          <a:stretch>
            <a:fillRect/>
          </a:stretch>
        </p:blipFill>
        <p:spPr>
          <a:xfrm>
            <a:off x="367200" y="3150000"/>
            <a:ext cx="8413200" cy="1440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DCF &amp; Prix Cibles Compares</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sp>
        <p:nvSpPr>
          <p:cNvPr id="22" name="Rectangle 21"/>
          <p:cNvSpPr/>
          <p:nvPr/>
        </p:nvSpPr>
        <p:spPr>
          <a:xfrm>
            <a:off x="367200" y="882000"/>
            <a:ext cx="4118400" cy="2448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882000"/>
            <a:ext cx="46800" cy="2448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8000" y="918000"/>
            <a:ext cx="3960000" cy="201600"/>
          </a:xfrm>
          <a:prstGeom prst="rect">
            <a:avLst/>
          </a:prstGeom>
          <a:noFill/>
        </p:spPr>
        <p:txBody>
          <a:bodyPr wrap="square">
            <a:spAutoFit/>
          </a:bodyPr>
          <a:lstStyle/>
          <a:p>
            <a:pPr algn="l"/>
            <a:r>
              <a:rPr sz="950" b="1" i="0">
                <a:solidFill>
                  <a:srgbClr val="2E5FA3"/>
                </a:solidFill>
                <a:latin typeface="Calibri"/>
              </a:rPr>
              <a:t>DCF — AAPL</a:t>
            </a:r>
          </a:p>
        </p:txBody>
      </p:sp>
      <p:sp>
        <p:nvSpPr>
          <p:cNvPr id="25" name="Rectangle 24"/>
          <p:cNvSpPr/>
          <p:nvPr/>
        </p:nvSpPr>
        <p:spPr>
          <a:xfrm>
            <a:off x="439200" y="11520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6000" y="1173600"/>
            <a:ext cx="2160000" cy="144000"/>
          </a:xfrm>
          <a:prstGeom prst="rect">
            <a:avLst/>
          </a:prstGeom>
          <a:noFill/>
        </p:spPr>
        <p:txBody>
          <a:bodyPr wrap="square">
            <a:spAutoFit/>
          </a:bodyPr>
          <a:lstStyle/>
          <a:p>
            <a:pPr algn="l"/>
            <a:r>
              <a:rPr sz="800" b="0" i="1">
                <a:solidFill>
                  <a:srgbClr val="555555"/>
                </a:solidFill>
                <a:latin typeface="Calibri"/>
              </a:rPr>
              <a:t>Cours actuel</a:t>
            </a:r>
          </a:p>
        </p:txBody>
      </p:sp>
      <p:sp>
        <p:nvSpPr>
          <p:cNvPr id="27" name="TextBox 26"/>
          <p:cNvSpPr txBox="1"/>
          <p:nvPr/>
        </p:nvSpPr>
        <p:spPr>
          <a:xfrm>
            <a:off x="2700000" y="1173600"/>
            <a:ext cx="1655999" cy="144000"/>
          </a:xfrm>
          <a:prstGeom prst="rect">
            <a:avLst/>
          </a:prstGeom>
          <a:noFill/>
        </p:spPr>
        <p:txBody>
          <a:bodyPr wrap="square">
            <a:spAutoFit/>
          </a:bodyPr>
          <a:lstStyle/>
          <a:p>
            <a:pPr algn="r"/>
            <a:r>
              <a:rPr sz="850" b="0" i="0">
                <a:solidFill>
                  <a:srgbClr val="0D0D0D"/>
                </a:solidFill>
                <a:latin typeface="Calibri"/>
              </a:rPr>
              <a:t>253,5 $</a:t>
            </a:r>
          </a:p>
        </p:txBody>
      </p:sp>
      <p:sp>
        <p:nvSpPr>
          <p:cNvPr id="28" name="Rectangle 27"/>
          <p:cNvSpPr/>
          <p:nvPr/>
        </p:nvSpPr>
        <p:spPr>
          <a:xfrm>
            <a:off x="439200" y="1342800"/>
            <a:ext cx="3974399" cy="18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6000" y="1364400"/>
            <a:ext cx="2160000" cy="144000"/>
          </a:xfrm>
          <a:prstGeom prst="rect">
            <a:avLst/>
          </a:prstGeom>
          <a:noFill/>
        </p:spPr>
        <p:txBody>
          <a:bodyPr wrap="square">
            <a:spAutoFit/>
          </a:bodyPr>
          <a:lstStyle/>
          <a:p>
            <a:pPr algn="l"/>
            <a:r>
              <a:rPr sz="800" b="0" i="1">
                <a:solidFill>
                  <a:srgbClr val="555555"/>
                </a:solidFill>
                <a:latin typeface="Calibri"/>
              </a:rPr>
              <a:t>Cible Bear</a:t>
            </a:r>
          </a:p>
        </p:txBody>
      </p:sp>
      <p:sp>
        <p:nvSpPr>
          <p:cNvPr id="30" name="TextBox 29"/>
          <p:cNvSpPr txBox="1"/>
          <p:nvPr/>
        </p:nvSpPr>
        <p:spPr>
          <a:xfrm>
            <a:off x="2700000" y="1364400"/>
            <a:ext cx="1655999" cy="144000"/>
          </a:xfrm>
          <a:prstGeom prst="rect">
            <a:avLst/>
          </a:prstGeom>
          <a:noFill/>
        </p:spPr>
        <p:txBody>
          <a:bodyPr wrap="square">
            <a:spAutoFit/>
          </a:bodyPr>
          <a:lstStyle/>
          <a:p>
            <a:pPr algn="r"/>
            <a:r>
              <a:rPr sz="850" b="0" i="0">
                <a:solidFill>
                  <a:srgbClr val="0D0D0D"/>
                </a:solidFill>
                <a:latin typeface="Calibri"/>
              </a:rPr>
              <a:t>240 $</a:t>
            </a:r>
          </a:p>
        </p:txBody>
      </p:sp>
      <p:sp>
        <p:nvSpPr>
          <p:cNvPr id="31" name="Rectangle 30"/>
          <p:cNvSpPr/>
          <p:nvPr/>
        </p:nvSpPr>
        <p:spPr>
          <a:xfrm>
            <a:off x="439200" y="15336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6000" y="1555199"/>
            <a:ext cx="2160000" cy="144000"/>
          </a:xfrm>
          <a:prstGeom prst="rect">
            <a:avLst/>
          </a:prstGeom>
          <a:noFill/>
        </p:spPr>
        <p:txBody>
          <a:bodyPr wrap="square">
            <a:spAutoFit/>
          </a:bodyPr>
          <a:lstStyle/>
          <a:p>
            <a:pPr algn="l"/>
            <a:r>
              <a:rPr sz="800" b="0" i="1">
                <a:solidFill>
                  <a:srgbClr val="555555"/>
                </a:solidFill>
                <a:latin typeface="Calibri"/>
              </a:rPr>
              <a:t>Cible Base</a:t>
            </a:r>
          </a:p>
        </p:txBody>
      </p:sp>
      <p:sp>
        <p:nvSpPr>
          <p:cNvPr id="33" name="TextBox 32"/>
          <p:cNvSpPr txBox="1"/>
          <p:nvPr/>
        </p:nvSpPr>
        <p:spPr>
          <a:xfrm>
            <a:off x="2700000" y="1555199"/>
            <a:ext cx="1655999" cy="144000"/>
          </a:xfrm>
          <a:prstGeom prst="rect">
            <a:avLst/>
          </a:prstGeom>
          <a:noFill/>
        </p:spPr>
        <p:txBody>
          <a:bodyPr wrap="square">
            <a:spAutoFit/>
          </a:bodyPr>
          <a:lstStyle/>
          <a:p>
            <a:pPr algn="r"/>
            <a:r>
              <a:rPr sz="850" b="0" i="0">
                <a:solidFill>
                  <a:srgbClr val="0D0D0D"/>
                </a:solidFill>
                <a:latin typeface="Calibri"/>
              </a:rPr>
              <a:t>285 $</a:t>
            </a:r>
          </a:p>
        </p:txBody>
      </p:sp>
      <p:sp>
        <p:nvSpPr>
          <p:cNvPr id="34" name="Rectangle 33"/>
          <p:cNvSpPr/>
          <p:nvPr/>
        </p:nvSpPr>
        <p:spPr>
          <a:xfrm>
            <a:off x="439200" y="1724400"/>
            <a:ext cx="3974399" cy="18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 y="1745999"/>
            <a:ext cx="2160000" cy="144000"/>
          </a:xfrm>
          <a:prstGeom prst="rect">
            <a:avLst/>
          </a:prstGeom>
          <a:noFill/>
        </p:spPr>
        <p:txBody>
          <a:bodyPr wrap="square">
            <a:spAutoFit/>
          </a:bodyPr>
          <a:lstStyle/>
          <a:p>
            <a:pPr algn="l"/>
            <a:r>
              <a:rPr sz="800" b="0" i="1">
                <a:solidFill>
                  <a:srgbClr val="555555"/>
                </a:solidFill>
                <a:latin typeface="Calibri"/>
              </a:rPr>
              <a:t>Cible Bull</a:t>
            </a:r>
          </a:p>
        </p:txBody>
      </p:sp>
      <p:sp>
        <p:nvSpPr>
          <p:cNvPr id="36" name="TextBox 35"/>
          <p:cNvSpPr txBox="1"/>
          <p:nvPr/>
        </p:nvSpPr>
        <p:spPr>
          <a:xfrm>
            <a:off x="2700000" y="1745999"/>
            <a:ext cx="1655999" cy="144000"/>
          </a:xfrm>
          <a:prstGeom prst="rect">
            <a:avLst/>
          </a:prstGeom>
          <a:noFill/>
        </p:spPr>
        <p:txBody>
          <a:bodyPr wrap="square">
            <a:spAutoFit/>
          </a:bodyPr>
          <a:lstStyle/>
          <a:p>
            <a:pPr algn="r"/>
            <a:r>
              <a:rPr sz="850" b="0" i="0">
                <a:solidFill>
                  <a:srgbClr val="0D0D0D"/>
                </a:solidFill>
                <a:latin typeface="Calibri"/>
              </a:rPr>
              <a:t>320 $</a:t>
            </a:r>
          </a:p>
        </p:txBody>
      </p:sp>
      <p:sp>
        <p:nvSpPr>
          <p:cNvPr id="37" name="Rectangle 36"/>
          <p:cNvSpPr/>
          <p:nvPr/>
        </p:nvSpPr>
        <p:spPr>
          <a:xfrm>
            <a:off x="439200" y="19152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6000" y="1936800"/>
            <a:ext cx="2160000" cy="144000"/>
          </a:xfrm>
          <a:prstGeom prst="rect">
            <a:avLst/>
          </a:prstGeom>
          <a:noFill/>
        </p:spPr>
        <p:txBody>
          <a:bodyPr wrap="square">
            <a:spAutoFit/>
          </a:bodyPr>
          <a:lstStyle/>
          <a:p>
            <a:pPr algn="l"/>
            <a:r>
              <a:rPr sz="800" b="0" i="1">
                <a:solidFill>
                  <a:srgbClr val="555555"/>
                </a:solidFill>
                <a:latin typeface="Calibri"/>
              </a:rPr>
              <a:t>Upside Base</a:t>
            </a:r>
          </a:p>
        </p:txBody>
      </p:sp>
      <p:sp>
        <p:nvSpPr>
          <p:cNvPr id="39" name="TextBox 38"/>
          <p:cNvSpPr txBox="1"/>
          <p:nvPr/>
        </p:nvSpPr>
        <p:spPr>
          <a:xfrm>
            <a:off x="2700000" y="1936800"/>
            <a:ext cx="1655999" cy="144000"/>
          </a:xfrm>
          <a:prstGeom prst="rect">
            <a:avLst/>
          </a:prstGeom>
          <a:noFill/>
        </p:spPr>
        <p:txBody>
          <a:bodyPr wrap="square">
            <a:spAutoFit/>
          </a:bodyPr>
          <a:lstStyle/>
          <a:p>
            <a:pPr algn="r"/>
            <a:r>
              <a:rPr sz="850" b="0" i="0">
                <a:solidFill>
                  <a:srgbClr val="0D0D0D"/>
                </a:solidFill>
                <a:latin typeface="Calibri"/>
              </a:rPr>
              <a:t>+12,4 %</a:t>
            </a:r>
          </a:p>
        </p:txBody>
      </p:sp>
      <p:sp>
        <p:nvSpPr>
          <p:cNvPr id="40" name="Rectangle 39"/>
          <p:cNvSpPr/>
          <p:nvPr/>
        </p:nvSpPr>
        <p:spPr>
          <a:xfrm>
            <a:off x="439200" y="2106000"/>
            <a:ext cx="3974399" cy="18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 y="2127600"/>
            <a:ext cx="2160000" cy="144000"/>
          </a:xfrm>
          <a:prstGeom prst="rect">
            <a:avLst/>
          </a:prstGeom>
          <a:noFill/>
        </p:spPr>
        <p:txBody>
          <a:bodyPr wrap="square">
            <a:spAutoFit/>
          </a:bodyPr>
          <a:lstStyle/>
          <a:p>
            <a:pPr algn="l"/>
            <a:r>
              <a:rPr sz="800" b="0" i="1">
                <a:solidFill>
                  <a:srgbClr val="555555"/>
                </a:solidFill>
                <a:latin typeface="Calibri"/>
              </a:rPr>
              <a:t>Marge Securite</a:t>
            </a:r>
          </a:p>
        </p:txBody>
      </p:sp>
      <p:sp>
        <p:nvSpPr>
          <p:cNvPr id="42" name="TextBox 41"/>
          <p:cNvSpPr txBox="1"/>
          <p:nvPr/>
        </p:nvSpPr>
        <p:spPr>
          <a:xfrm>
            <a:off x="2700000" y="2127600"/>
            <a:ext cx="1655999" cy="144000"/>
          </a:xfrm>
          <a:prstGeom prst="rect">
            <a:avLst/>
          </a:prstGeom>
          <a:noFill/>
        </p:spPr>
        <p:txBody>
          <a:bodyPr wrap="square">
            <a:spAutoFit/>
          </a:bodyPr>
          <a:lstStyle/>
          <a:p>
            <a:pPr algn="r"/>
            <a:r>
              <a:rPr sz="850" b="0" i="0">
                <a:solidFill>
                  <a:srgbClr val="0D0D0D"/>
                </a:solidFill>
                <a:latin typeface="Calibri"/>
              </a:rPr>
              <a:t>11,1 %</a:t>
            </a:r>
          </a:p>
        </p:txBody>
      </p:sp>
      <p:sp>
        <p:nvSpPr>
          <p:cNvPr id="43" name="Rectangle 42"/>
          <p:cNvSpPr/>
          <p:nvPr/>
        </p:nvSpPr>
        <p:spPr>
          <a:xfrm>
            <a:off x="439200" y="22968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000" y="2318400"/>
            <a:ext cx="2160000" cy="144000"/>
          </a:xfrm>
          <a:prstGeom prst="rect">
            <a:avLst/>
          </a:prstGeom>
          <a:noFill/>
        </p:spPr>
        <p:txBody>
          <a:bodyPr wrap="square">
            <a:spAutoFit/>
          </a:bodyPr>
          <a:lstStyle/>
          <a:p>
            <a:pPr algn="l"/>
            <a:r>
              <a:rPr sz="800" b="0" i="1">
                <a:solidFill>
                  <a:srgbClr val="555555"/>
                </a:solidFill>
                <a:latin typeface="Calibri"/>
              </a:rPr>
              <a:t>WACC</a:t>
            </a:r>
          </a:p>
        </p:txBody>
      </p:sp>
      <p:sp>
        <p:nvSpPr>
          <p:cNvPr id="45" name="TextBox 44"/>
          <p:cNvSpPr txBox="1"/>
          <p:nvPr/>
        </p:nvSpPr>
        <p:spPr>
          <a:xfrm>
            <a:off x="2700000" y="2318400"/>
            <a:ext cx="1655999" cy="144000"/>
          </a:xfrm>
          <a:prstGeom prst="rect">
            <a:avLst/>
          </a:prstGeom>
          <a:noFill/>
        </p:spPr>
        <p:txBody>
          <a:bodyPr wrap="square">
            <a:spAutoFit/>
          </a:bodyPr>
          <a:lstStyle/>
          <a:p>
            <a:pPr algn="r"/>
            <a:r>
              <a:rPr sz="850" b="0" i="0">
                <a:solidFill>
                  <a:srgbClr val="0D0D0D"/>
                </a:solidFill>
                <a:latin typeface="Calibri"/>
              </a:rPr>
              <a:t>10,3 %</a:t>
            </a:r>
          </a:p>
        </p:txBody>
      </p:sp>
      <p:sp>
        <p:nvSpPr>
          <p:cNvPr id="46" name="Rectangle 45"/>
          <p:cNvSpPr/>
          <p:nvPr/>
        </p:nvSpPr>
        <p:spPr>
          <a:xfrm>
            <a:off x="439200" y="2487600"/>
            <a:ext cx="3974399" cy="18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6000" y="2509200"/>
            <a:ext cx="2160000" cy="144000"/>
          </a:xfrm>
          <a:prstGeom prst="rect">
            <a:avLst/>
          </a:prstGeom>
          <a:noFill/>
        </p:spPr>
        <p:txBody>
          <a:bodyPr wrap="square">
            <a:spAutoFit/>
          </a:bodyPr>
          <a:lstStyle/>
          <a:p>
            <a:pPr algn="l"/>
            <a:r>
              <a:rPr sz="800" b="0" i="1">
                <a:solidFill>
                  <a:srgbClr val="555555"/>
                </a:solidFill>
                <a:latin typeface="Calibri"/>
              </a:rPr>
              <a:t>TGR</a:t>
            </a:r>
          </a:p>
        </p:txBody>
      </p:sp>
      <p:sp>
        <p:nvSpPr>
          <p:cNvPr id="48" name="TextBox 47"/>
          <p:cNvSpPr txBox="1"/>
          <p:nvPr/>
        </p:nvSpPr>
        <p:spPr>
          <a:xfrm>
            <a:off x="2700000" y="2509200"/>
            <a:ext cx="1655999" cy="144000"/>
          </a:xfrm>
          <a:prstGeom prst="rect">
            <a:avLst/>
          </a:prstGeom>
          <a:noFill/>
        </p:spPr>
        <p:txBody>
          <a:bodyPr wrap="square">
            <a:spAutoFit/>
          </a:bodyPr>
          <a:lstStyle/>
          <a:p>
            <a:pPr algn="r"/>
            <a:r>
              <a:rPr sz="850" b="0" i="0">
                <a:solidFill>
                  <a:srgbClr val="0D0D0D"/>
                </a:solidFill>
                <a:latin typeface="Calibri"/>
              </a:rPr>
              <a:t>3,0 %</a:t>
            </a:r>
          </a:p>
        </p:txBody>
      </p:sp>
      <p:sp>
        <p:nvSpPr>
          <p:cNvPr id="49" name="Rectangle 48"/>
          <p:cNvSpPr/>
          <p:nvPr/>
        </p:nvSpPr>
        <p:spPr>
          <a:xfrm>
            <a:off x="439200" y="26784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6000" y="2700000"/>
            <a:ext cx="2160000" cy="144000"/>
          </a:xfrm>
          <a:prstGeom prst="rect">
            <a:avLst/>
          </a:prstGeom>
          <a:noFill/>
        </p:spPr>
        <p:txBody>
          <a:bodyPr wrap="square">
            <a:spAutoFit/>
          </a:bodyPr>
          <a:lstStyle/>
          <a:p>
            <a:pPr algn="l"/>
            <a:r>
              <a:rPr sz="800" b="0" i="1">
                <a:solidFill>
                  <a:srgbClr val="555555"/>
                </a:solidFill>
                <a:latin typeface="Calibri"/>
              </a:rPr>
              <a:t>MC P10</a:t>
            </a:r>
          </a:p>
        </p:txBody>
      </p:sp>
      <p:sp>
        <p:nvSpPr>
          <p:cNvPr id="51" name="TextBox 50"/>
          <p:cNvSpPr txBox="1"/>
          <p:nvPr/>
        </p:nvSpPr>
        <p:spPr>
          <a:xfrm>
            <a:off x="2700000" y="2700000"/>
            <a:ext cx="1655999" cy="144000"/>
          </a:xfrm>
          <a:prstGeom prst="rect">
            <a:avLst/>
          </a:prstGeom>
          <a:noFill/>
        </p:spPr>
        <p:txBody>
          <a:bodyPr wrap="square">
            <a:spAutoFit/>
          </a:bodyPr>
          <a:lstStyle/>
          <a:p>
            <a:pPr algn="r"/>
            <a:r>
              <a:rPr sz="850" b="0" i="0">
                <a:solidFill>
                  <a:srgbClr val="0D0D0D"/>
                </a:solidFill>
                <a:latin typeface="Calibri"/>
              </a:rPr>
              <a:t>207 $</a:t>
            </a:r>
          </a:p>
        </p:txBody>
      </p:sp>
      <p:sp>
        <p:nvSpPr>
          <p:cNvPr id="52" name="Rectangle 51"/>
          <p:cNvSpPr/>
          <p:nvPr/>
        </p:nvSpPr>
        <p:spPr>
          <a:xfrm>
            <a:off x="439200" y="2869200"/>
            <a:ext cx="3974399" cy="18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6000" y="2890800"/>
            <a:ext cx="2160000" cy="144000"/>
          </a:xfrm>
          <a:prstGeom prst="rect">
            <a:avLst/>
          </a:prstGeom>
          <a:noFill/>
        </p:spPr>
        <p:txBody>
          <a:bodyPr wrap="square">
            <a:spAutoFit/>
          </a:bodyPr>
          <a:lstStyle/>
          <a:p>
            <a:pPr algn="l"/>
            <a:r>
              <a:rPr sz="800" b="0" i="1">
                <a:solidFill>
                  <a:srgbClr val="555555"/>
                </a:solidFill>
                <a:latin typeface="Calibri"/>
              </a:rPr>
              <a:t>MC P50</a:t>
            </a:r>
          </a:p>
        </p:txBody>
      </p:sp>
      <p:sp>
        <p:nvSpPr>
          <p:cNvPr id="54" name="TextBox 53"/>
          <p:cNvSpPr txBox="1"/>
          <p:nvPr/>
        </p:nvSpPr>
        <p:spPr>
          <a:xfrm>
            <a:off x="2700000" y="2890800"/>
            <a:ext cx="1655999" cy="144000"/>
          </a:xfrm>
          <a:prstGeom prst="rect">
            <a:avLst/>
          </a:prstGeom>
          <a:noFill/>
        </p:spPr>
        <p:txBody>
          <a:bodyPr wrap="square">
            <a:spAutoFit/>
          </a:bodyPr>
          <a:lstStyle/>
          <a:p>
            <a:pPr algn="r"/>
            <a:r>
              <a:rPr sz="850" b="0" i="0">
                <a:solidFill>
                  <a:srgbClr val="0D0D0D"/>
                </a:solidFill>
                <a:latin typeface="Calibri"/>
              </a:rPr>
              <a:t>300 $</a:t>
            </a:r>
          </a:p>
        </p:txBody>
      </p:sp>
      <p:sp>
        <p:nvSpPr>
          <p:cNvPr id="55" name="Rectangle 54"/>
          <p:cNvSpPr/>
          <p:nvPr/>
        </p:nvSpPr>
        <p:spPr>
          <a:xfrm>
            <a:off x="439200" y="30600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6000" y="3081600"/>
            <a:ext cx="2160000" cy="144000"/>
          </a:xfrm>
          <a:prstGeom prst="rect">
            <a:avLst/>
          </a:prstGeom>
          <a:noFill/>
        </p:spPr>
        <p:txBody>
          <a:bodyPr wrap="square">
            <a:spAutoFit/>
          </a:bodyPr>
          <a:lstStyle/>
          <a:p>
            <a:pPr algn="l"/>
            <a:r>
              <a:rPr sz="800" b="0" i="1">
                <a:solidFill>
                  <a:srgbClr val="555555"/>
                </a:solidFill>
                <a:latin typeface="Calibri"/>
              </a:rPr>
              <a:t>MC P90</a:t>
            </a:r>
          </a:p>
        </p:txBody>
      </p:sp>
      <p:sp>
        <p:nvSpPr>
          <p:cNvPr id="57" name="TextBox 56"/>
          <p:cNvSpPr txBox="1"/>
          <p:nvPr/>
        </p:nvSpPr>
        <p:spPr>
          <a:xfrm>
            <a:off x="2700000" y="3081600"/>
            <a:ext cx="1655999" cy="144000"/>
          </a:xfrm>
          <a:prstGeom prst="rect">
            <a:avLst/>
          </a:prstGeom>
          <a:noFill/>
        </p:spPr>
        <p:txBody>
          <a:bodyPr wrap="square">
            <a:spAutoFit/>
          </a:bodyPr>
          <a:lstStyle/>
          <a:p>
            <a:pPr algn="r"/>
            <a:r>
              <a:rPr sz="850" b="0" i="0">
                <a:solidFill>
                  <a:srgbClr val="0D0D0D"/>
                </a:solidFill>
                <a:latin typeface="Calibri"/>
              </a:rPr>
              <a:t>432 $</a:t>
            </a:r>
          </a:p>
        </p:txBody>
      </p:sp>
      <p:sp>
        <p:nvSpPr>
          <p:cNvPr id="58" name="Rectangle 57"/>
          <p:cNvSpPr/>
          <p:nvPr/>
        </p:nvSpPr>
        <p:spPr>
          <a:xfrm>
            <a:off x="4658400" y="882000"/>
            <a:ext cx="4118400" cy="2448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658400" y="882000"/>
            <a:ext cx="46800" cy="2448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759200" y="918000"/>
            <a:ext cx="3960000" cy="201600"/>
          </a:xfrm>
          <a:prstGeom prst="rect">
            <a:avLst/>
          </a:prstGeom>
          <a:noFill/>
        </p:spPr>
        <p:txBody>
          <a:bodyPr wrap="square">
            <a:spAutoFit/>
          </a:bodyPr>
          <a:lstStyle/>
          <a:p>
            <a:pPr algn="l"/>
            <a:r>
              <a:rPr sz="950" b="1" i="0">
                <a:solidFill>
                  <a:srgbClr val="1A7A4A"/>
                </a:solidFill>
                <a:latin typeface="Calibri"/>
              </a:rPr>
              <a:t>DCF — MSFT</a:t>
            </a:r>
          </a:p>
        </p:txBody>
      </p:sp>
      <p:sp>
        <p:nvSpPr>
          <p:cNvPr id="61" name="Rectangle 60"/>
          <p:cNvSpPr/>
          <p:nvPr/>
        </p:nvSpPr>
        <p:spPr>
          <a:xfrm>
            <a:off x="4730400" y="11520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777200" y="1173600"/>
            <a:ext cx="2160000" cy="144000"/>
          </a:xfrm>
          <a:prstGeom prst="rect">
            <a:avLst/>
          </a:prstGeom>
          <a:noFill/>
        </p:spPr>
        <p:txBody>
          <a:bodyPr wrap="square">
            <a:spAutoFit/>
          </a:bodyPr>
          <a:lstStyle/>
          <a:p>
            <a:pPr algn="l"/>
            <a:r>
              <a:rPr sz="800" b="0" i="1">
                <a:solidFill>
                  <a:srgbClr val="555555"/>
                </a:solidFill>
                <a:latin typeface="Calibri"/>
              </a:rPr>
              <a:t>Cours actuel</a:t>
            </a:r>
          </a:p>
        </p:txBody>
      </p:sp>
      <p:sp>
        <p:nvSpPr>
          <p:cNvPr id="63" name="TextBox 62"/>
          <p:cNvSpPr txBox="1"/>
          <p:nvPr/>
        </p:nvSpPr>
        <p:spPr>
          <a:xfrm>
            <a:off x="6983999" y="1173600"/>
            <a:ext cx="1584000" cy="144000"/>
          </a:xfrm>
          <a:prstGeom prst="rect">
            <a:avLst/>
          </a:prstGeom>
          <a:noFill/>
        </p:spPr>
        <p:txBody>
          <a:bodyPr wrap="square">
            <a:spAutoFit/>
          </a:bodyPr>
          <a:lstStyle/>
          <a:p>
            <a:pPr algn="r"/>
            <a:r>
              <a:rPr sz="850" b="0" i="0">
                <a:solidFill>
                  <a:srgbClr val="0D0D0D"/>
                </a:solidFill>
                <a:latin typeface="Calibri"/>
              </a:rPr>
              <a:t>372,3 $</a:t>
            </a:r>
          </a:p>
        </p:txBody>
      </p:sp>
      <p:sp>
        <p:nvSpPr>
          <p:cNvPr id="64" name="Rectangle 63"/>
          <p:cNvSpPr/>
          <p:nvPr/>
        </p:nvSpPr>
        <p:spPr>
          <a:xfrm>
            <a:off x="4730400" y="1342800"/>
            <a:ext cx="3974399" cy="180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777200" y="1364400"/>
            <a:ext cx="2160000" cy="144000"/>
          </a:xfrm>
          <a:prstGeom prst="rect">
            <a:avLst/>
          </a:prstGeom>
          <a:noFill/>
        </p:spPr>
        <p:txBody>
          <a:bodyPr wrap="square">
            <a:spAutoFit/>
          </a:bodyPr>
          <a:lstStyle/>
          <a:p>
            <a:pPr algn="l"/>
            <a:r>
              <a:rPr sz="800" b="0" i="1">
                <a:solidFill>
                  <a:srgbClr val="555555"/>
                </a:solidFill>
                <a:latin typeface="Calibri"/>
              </a:rPr>
              <a:t>Cible Bear</a:t>
            </a:r>
          </a:p>
        </p:txBody>
      </p:sp>
      <p:sp>
        <p:nvSpPr>
          <p:cNvPr id="66" name="TextBox 65"/>
          <p:cNvSpPr txBox="1"/>
          <p:nvPr/>
        </p:nvSpPr>
        <p:spPr>
          <a:xfrm>
            <a:off x="6983999" y="1364400"/>
            <a:ext cx="1584000" cy="144000"/>
          </a:xfrm>
          <a:prstGeom prst="rect">
            <a:avLst/>
          </a:prstGeom>
          <a:noFill/>
        </p:spPr>
        <p:txBody>
          <a:bodyPr wrap="square">
            <a:spAutoFit/>
          </a:bodyPr>
          <a:lstStyle/>
          <a:p>
            <a:pPr algn="r"/>
            <a:r>
              <a:rPr sz="850" b="0" i="0">
                <a:solidFill>
                  <a:srgbClr val="0D0D0D"/>
                </a:solidFill>
                <a:latin typeface="Calibri"/>
              </a:rPr>
              <a:t>350 $</a:t>
            </a:r>
          </a:p>
        </p:txBody>
      </p:sp>
      <p:sp>
        <p:nvSpPr>
          <p:cNvPr id="67" name="Rectangle 66"/>
          <p:cNvSpPr/>
          <p:nvPr/>
        </p:nvSpPr>
        <p:spPr>
          <a:xfrm>
            <a:off x="4730400" y="15336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777200" y="1555199"/>
            <a:ext cx="2160000" cy="144000"/>
          </a:xfrm>
          <a:prstGeom prst="rect">
            <a:avLst/>
          </a:prstGeom>
          <a:noFill/>
        </p:spPr>
        <p:txBody>
          <a:bodyPr wrap="square">
            <a:spAutoFit/>
          </a:bodyPr>
          <a:lstStyle/>
          <a:p>
            <a:pPr algn="l"/>
            <a:r>
              <a:rPr sz="800" b="0" i="1">
                <a:solidFill>
                  <a:srgbClr val="555555"/>
                </a:solidFill>
                <a:latin typeface="Calibri"/>
              </a:rPr>
              <a:t>Cible Base</a:t>
            </a:r>
          </a:p>
        </p:txBody>
      </p:sp>
      <p:sp>
        <p:nvSpPr>
          <p:cNvPr id="69" name="TextBox 68"/>
          <p:cNvSpPr txBox="1"/>
          <p:nvPr/>
        </p:nvSpPr>
        <p:spPr>
          <a:xfrm>
            <a:off x="6983999" y="1555199"/>
            <a:ext cx="1584000" cy="144000"/>
          </a:xfrm>
          <a:prstGeom prst="rect">
            <a:avLst/>
          </a:prstGeom>
          <a:noFill/>
        </p:spPr>
        <p:txBody>
          <a:bodyPr wrap="square">
            <a:spAutoFit/>
          </a:bodyPr>
          <a:lstStyle/>
          <a:p>
            <a:pPr algn="r"/>
            <a:r>
              <a:rPr sz="850" b="0" i="0">
                <a:solidFill>
                  <a:srgbClr val="0D0D0D"/>
                </a:solidFill>
                <a:latin typeface="Calibri"/>
              </a:rPr>
              <a:t>410 $</a:t>
            </a:r>
          </a:p>
        </p:txBody>
      </p:sp>
      <p:sp>
        <p:nvSpPr>
          <p:cNvPr id="70" name="Rectangle 69"/>
          <p:cNvSpPr/>
          <p:nvPr/>
        </p:nvSpPr>
        <p:spPr>
          <a:xfrm>
            <a:off x="4730400" y="1724400"/>
            <a:ext cx="3974399" cy="180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77200" y="1745999"/>
            <a:ext cx="2160000" cy="144000"/>
          </a:xfrm>
          <a:prstGeom prst="rect">
            <a:avLst/>
          </a:prstGeom>
          <a:noFill/>
        </p:spPr>
        <p:txBody>
          <a:bodyPr wrap="square">
            <a:spAutoFit/>
          </a:bodyPr>
          <a:lstStyle/>
          <a:p>
            <a:pPr algn="l"/>
            <a:r>
              <a:rPr sz="800" b="0" i="1">
                <a:solidFill>
                  <a:srgbClr val="555555"/>
                </a:solidFill>
                <a:latin typeface="Calibri"/>
              </a:rPr>
              <a:t>Cible Bull</a:t>
            </a:r>
          </a:p>
        </p:txBody>
      </p:sp>
      <p:sp>
        <p:nvSpPr>
          <p:cNvPr id="72" name="TextBox 71"/>
          <p:cNvSpPr txBox="1"/>
          <p:nvPr/>
        </p:nvSpPr>
        <p:spPr>
          <a:xfrm>
            <a:off x="6983999" y="1745999"/>
            <a:ext cx="1584000" cy="144000"/>
          </a:xfrm>
          <a:prstGeom prst="rect">
            <a:avLst/>
          </a:prstGeom>
          <a:noFill/>
        </p:spPr>
        <p:txBody>
          <a:bodyPr wrap="square">
            <a:spAutoFit/>
          </a:bodyPr>
          <a:lstStyle/>
          <a:p>
            <a:pPr algn="r"/>
            <a:r>
              <a:rPr sz="850" b="0" i="0">
                <a:solidFill>
                  <a:srgbClr val="0D0D0D"/>
                </a:solidFill>
                <a:latin typeface="Calibri"/>
              </a:rPr>
              <a:t>450 $</a:t>
            </a:r>
          </a:p>
        </p:txBody>
      </p:sp>
      <p:sp>
        <p:nvSpPr>
          <p:cNvPr id="73" name="Rectangle 72"/>
          <p:cNvSpPr/>
          <p:nvPr/>
        </p:nvSpPr>
        <p:spPr>
          <a:xfrm>
            <a:off x="4730400" y="19152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777200" y="1936800"/>
            <a:ext cx="2160000" cy="144000"/>
          </a:xfrm>
          <a:prstGeom prst="rect">
            <a:avLst/>
          </a:prstGeom>
          <a:noFill/>
        </p:spPr>
        <p:txBody>
          <a:bodyPr wrap="square">
            <a:spAutoFit/>
          </a:bodyPr>
          <a:lstStyle/>
          <a:p>
            <a:pPr algn="l"/>
            <a:r>
              <a:rPr sz="800" b="0" i="1">
                <a:solidFill>
                  <a:srgbClr val="555555"/>
                </a:solidFill>
                <a:latin typeface="Calibri"/>
              </a:rPr>
              <a:t>Upside Base</a:t>
            </a:r>
          </a:p>
        </p:txBody>
      </p:sp>
      <p:sp>
        <p:nvSpPr>
          <p:cNvPr id="75" name="TextBox 74"/>
          <p:cNvSpPr txBox="1"/>
          <p:nvPr/>
        </p:nvSpPr>
        <p:spPr>
          <a:xfrm>
            <a:off x="6983999" y="1936800"/>
            <a:ext cx="1584000" cy="144000"/>
          </a:xfrm>
          <a:prstGeom prst="rect">
            <a:avLst/>
          </a:prstGeom>
          <a:noFill/>
        </p:spPr>
        <p:txBody>
          <a:bodyPr wrap="square">
            <a:spAutoFit/>
          </a:bodyPr>
          <a:lstStyle/>
          <a:p>
            <a:pPr algn="r"/>
            <a:r>
              <a:rPr sz="850" b="0" i="0">
                <a:solidFill>
                  <a:srgbClr val="0D0D0D"/>
                </a:solidFill>
                <a:latin typeface="Calibri"/>
              </a:rPr>
              <a:t>+10,1 %</a:t>
            </a:r>
          </a:p>
        </p:txBody>
      </p:sp>
      <p:sp>
        <p:nvSpPr>
          <p:cNvPr id="76" name="Rectangle 75"/>
          <p:cNvSpPr/>
          <p:nvPr/>
        </p:nvSpPr>
        <p:spPr>
          <a:xfrm>
            <a:off x="4730400" y="2106000"/>
            <a:ext cx="3974399" cy="180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777200" y="2127600"/>
            <a:ext cx="2160000" cy="144000"/>
          </a:xfrm>
          <a:prstGeom prst="rect">
            <a:avLst/>
          </a:prstGeom>
          <a:noFill/>
        </p:spPr>
        <p:txBody>
          <a:bodyPr wrap="square">
            <a:spAutoFit/>
          </a:bodyPr>
          <a:lstStyle/>
          <a:p>
            <a:pPr algn="l"/>
            <a:r>
              <a:rPr sz="800" b="0" i="1">
                <a:solidFill>
                  <a:srgbClr val="555555"/>
                </a:solidFill>
                <a:latin typeface="Calibri"/>
              </a:rPr>
              <a:t>Marge Securite</a:t>
            </a:r>
          </a:p>
        </p:txBody>
      </p:sp>
      <p:sp>
        <p:nvSpPr>
          <p:cNvPr id="78" name="TextBox 77"/>
          <p:cNvSpPr txBox="1"/>
          <p:nvPr/>
        </p:nvSpPr>
        <p:spPr>
          <a:xfrm>
            <a:off x="6983999" y="2127600"/>
            <a:ext cx="1584000" cy="144000"/>
          </a:xfrm>
          <a:prstGeom prst="rect">
            <a:avLst/>
          </a:prstGeom>
          <a:noFill/>
        </p:spPr>
        <p:txBody>
          <a:bodyPr wrap="square">
            <a:spAutoFit/>
          </a:bodyPr>
          <a:lstStyle/>
          <a:p>
            <a:pPr algn="r"/>
            <a:r>
              <a:rPr sz="850" b="0" i="0">
                <a:solidFill>
                  <a:srgbClr val="0D0D0D"/>
                </a:solidFill>
                <a:latin typeface="Calibri"/>
              </a:rPr>
              <a:t>9,2 %</a:t>
            </a:r>
          </a:p>
        </p:txBody>
      </p:sp>
      <p:sp>
        <p:nvSpPr>
          <p:cNvPr id="79" name="Rectangle 78"/>
          <p:cNvSpPr/>
          <p:nvPr/>
        </p:nvSpPr>
        <p:spPr>
          <a:xfrm>
            <a:off x="4730400" y="22968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777200" y="2318400"/>
            <a:ext cx="2160000" cy="144000"/>
          </a:xfrm>
          <a:prstGeom prst="rect">
            <a:avLst/>
          </a:prstGeom>
          <a:noFill/>
        </p:spPr>
        <p:txBody>
          <a:bodyPr wrap="square">
            <a:spAutoFit/>
          </a:bodyPr>
          <a:lstStyle/>
          <a:p>
            <a:pPr algn="l"/>
            <a:r>
              <a:rPr sz="800" b="0" i="1">
                <a:solidFill>
                  <a:srgbClr val="555555"/>
                </a:solidFill>
                <a:latin typeface="Calibri"/>
              </a:rPr>
              <a:t>WACC</a:t>
            </a:r>
          </a:p>
        </p:txBody>
      </p:sp>
      <p:sp>
        <p:nvSpPr>
          <p:cNvPr id="81" name="TextBox 80"/>
          <p:cNvSpPr txBox="1"/>
          <p:nvPr/>
        </p:nvSpPr>
        <p:spPr>
          <a:xfrm>
            <a:off x="6983999" y="2318400"/>
            <a:ext cx="1584000" cy="144000"/>
          </a:xfrm>
          <a:prstGeom prst="rect">
            <a:avLst/>
          </a:prstGeom>
          <a:noFill/>
        </p:spPr>
        <p:txBody>
          <a:bodyPr wrap="square">
            <a:spAutoFit/>
          </a:bodyPr>
          <a:lstStyle/>
          <a:p>
            <a:pPr algn="r"/>
            <a:r>
              <a:rPr sz="850" b="0" i="0">
                <a:solidFill>
                  <a:srgbClr val="0D0D0D"/>
                </a:solidFill>
                <a:latin typeface="Calibri"/>
              </a:rPr>
              <a:t>10,3 %</a:t>
            </a:r>
          </a:p>
        </p:txBody>
      </p:sp>
      <p:sp>
        <p:nvSpPr>
          <p:cNvPr id="82" name="Rectangle 81"/>
          <p:cNvSpPr/>
          <p:nvPr/>
        </p:nvSpPr>
        <p:spPr>
          <a:xfrm>
            <a:off x="4730400" y="2487600"/>
            <a:ext cx="3974399" cy="180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777200" y="2509200"/>
            <a:ext cx="2160000" cy="144000"/>
          </a:xfrm>
          <a:prstGeom prst="rect">
            <a:avLst/>
          </a:prstGeom>
          <a:noFill/>
        </p:spPr>
        <p:txBody>
          <a:bodyPr wrap="square">
            <a:spAutoFit/>
          </a:bodyPr>
          <a:lstStyle/>
          <a:p>
            <a:pPr algn="l"/>
            <a:r>
              <a:rPr sz="800" b="0" i="1">
                <a:solidFill>
                  <a:srgbClr val="555555"/>
                </a:solidFill>
                <a:latin typeface="Calibri"/>
              </a:rPr>
              <a:t>TGR</a:t>
            </a:r>
          </a:p>
        </p:txBody>
      </p:sp>
      <p:sp>
        <p:nvSpPr>
          <p:cNvPr id="84" name="TextBox 83"/>
          <p:cNvSpPr txBox="1"/>
          <p:nvPr/>
        </p:nvSpPr>
        <p:spPr>
          <a:xfrm>
            <a:off x="6983999" y="2509200"/>
            <a:ext cx="1584000" cy="144000"/>
          </a:xfrm>
          <a:prstGeom prst="rect">
            <a:avLst/>
          </a:prstGeom>
          <a:noFill/>
        </p:spPr>
        <p:txBody>
          <a:bodyPr wrap="square">
            <a:spAutoFit/>
          </a:bodyPr>
          <a:lstStyle/>
          <a:p>
            <a:pPr algn="r"/>
            <a:r>
              <a:rPr sz="850" b="0" i="0">
                <a:solidFill>
                  <a:srgbClr val="0D0D0D"/>
                </a:solidFill>
                <a:latin typeface="Calibri"/>
              </a:rPr>
              <a:t>3,0 %</a:t>
            </a:r>
          </a:p>
        </p:txBody>
      </p:sp>
      <p:sp>
        <p:nvSpPr>
          <p:cNvPr id="85" name="Rectangle 84"/>
          <p:cNvSpPr/>
          <p:nvPr/>
        </p:nvSpPr>
        <p:spPr>
          <a:xfrm>
            <a:off x="4730400" y="26784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777200" y="2700000"/>
            <a:ext cx="2160000" cy="144000"/>
          </a:xfrm>
          <a:prstGeom prst="rect">
            <a:avLst/>
          </a:prstGeom>
          <a:noFill/>
        </p:spPr>
        <p:txBody>
          <a:bodyPr wrap="square">
            <a:spAutoFit/>
          </a:bodyPr>
          <a:lstStyle/>
          <a:p>
            <a:pPr algn="l"/>
            <a:r>
              <a:rPr sz="800" b="0" i="1">
                <a:solidFill>
                  <a:srgbClr val="555555"/>
                </a:solidFill>
                <a:latin typeface="Calibri"/>
              </a:rPr>
              <a:t>MC P10</a:t>
            </a:r>
          </a:p>
        </p:txBody>
      </p:sp>
      <p:sp>
        <p:nvSpPr>
          <p:cNvPr id="87" name="TextBox 86"/>
          <p:cNvSpPr txBox="1"/>
          <p:nvPr/>
        </p:nvSpPr>
        <p:spPr>
          <a:xfrm>
            <a:off x="6983999" y="2700000"/>
            <a:ext cx="1584000" cy="144000"/>
          </a:xfrm>
          <a:prstGeom prst="rect">
            <a:avLst/>
          </a:prstGeom>
          <a:noFill/>
        </p:spPr>
        <p:txBody>
          <a:bodyPr wrap="square">
            <a:spAutoFit/>
          </a:bodyPr>
          <a:lstStyle/>
          <a:p>
            <a:pPr algn="r"/>
            <a:r>
              <a:rPr sz="850" b="0" i="0">
                <a:solidFill>
                  <a:srgbClr val="0D0D0D"/>
                </a:solidFill>
                <a:latin typeface="Calibri"/>
              </a:rPr>
              <a:t>248 $</a:t>
            </a:r>
          </a:p>
        </p:txBody>
      </p:sp>
      <p:sp>
        <p:nvSpPr>
          <p:cNvPr id="88" name="Rectangle 87"/>
          <p:cNvSpPr/>
          <p:nvPr/>
        </p:nvSpPr>
        <p:spPr>
          <a:xfrm>
            <a:off x="4730400" y="2869200"/>
            <a:ext cx="3974399" cy="180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777200" y="2890800"/>
            <a:ext cx="2160000" cy="144000"/>
          </a:xfrm>
          <a:prstGeom prst="rect">
            <a:avLst/>
          </a:prstGeom>
          <a:noFill/>
        </p:spPr>
        <p:txBody>
          <a:bodyPr wrap="square">
            <a:spAutoFit/>
          </a:bodyPr>
          <a:lstStyle/>
          <a:p>
            <a:pPr algn="l"/>
            <a:r>
              <a:rPr sz="800" b="0" i="1">
                <a:solidFill>
                  <a:srgbClr val="555555"/>
                </a:solidFill>
                <a:latin typeface="Calibri"/>
              </a:rPr>
              <a:t>MC P50</a:t>
            </a:r>
          </a:p>
        </p:txBody>
      </p:sp>
      <p:sp>
        <p:nvSpPr>
          <p:cNvPr id="90" name="TextBox 89"/>
          <p:cNvSpPr txBox="1"/>
          <p:nvPr/>
        </p:nvSpPr>
        <p:spPr>
          <a:xfrm>
            <a:off x="6983999" y="2890800"/>
            <a:ext cx="1584000" cy="144000"/>
          </a:xfrm>
          <a:prstGeom prst="rect">
            <a:avLst/>
          </a:prstGeom>
          <a:noFill/>
        </p:spPr>
        <p:txBody>
          <a:bodyPr wrap="square">
            <a:spAutoFit/>
          </a:bodyPr>
          <a:lstStyle/>
          <a:p>
            <a:pPr algn="r"/>
            <a:r>
              <a:rPr sz="850" b="0" i="0">
                <a:solidFill>
                  <a:srgbClr val="0D0D0D"/>
                </a:solidFill>
                <a:latin typeface="Calibri"/>
              </a:rPr>
              <a:t>340 $</a:t>
            </a:r>
          </a:p>
        </p:txBody>
      </p:sp>
      <p:sp>
        <p:nvSpPr>
          <p:cNvPr id="91" name="Rectangle 90"/>
          <p:cNvSpPr/>
          <p:nvPr/>
        </p:nvSpPr>
        <p:spPr>
          <a:xfrm>
            <a:off x="4730400" y="3060000"/>
            <a:ext cx="3974399" cy="1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777200" y="3081600"/>
            <a:ext cx="2160000" cy="144000"/>
          </a:xfrm>
          <a:prstGeom prst="rect">
            <a:avLst/>
          </a:prstGeom>
          <a:noFill/>
        </p:spPr>
        <p:txBody>
          <a:bodyPr wrap="square">
            <a:spAutoFit/>
          </a:bodyPr>
          <a:lstStyle/>
          <a:p>
            <a:pPr algn="l"/>
            <a:r>
              <a:rPr sz="800" b="0" i="1">
                <a:solidFill>
                  <a:srgbClr val="555555"/>
                </a:solidFill>
                <a:latin typeface="Calibri"/>
              </a:rPr>
              <a:t>MC P90</a:t>
            </a:r>
          </a:p>
        </p:txBody>
      </p:sp>
      <p:sp>
        <p:nvSpPr>
          <p:cNvPr id="93" name="TextBox 92"/>
          <p:cNvSpPr txBox="1"/>
          <p:nvPr/>
        </p:nvSpPr>
        <p:spPr>
          <a:xfrm>
            <a:off x="6983999" y="3081600"/>
            <a:ext cx="1584000" cy="144000"/>
          </a:xfrm>
          <a:prstGeom prst="rect">
            <a:avLst/>
          </a:prstGeom>
          <a:noFill/>
        </p:spPr>
        <p:txBody>
          <a:bodyPr wrap="square">
            <a:spAutoFit/>
          </a:bodyPr>
          <a:lstStyle/>
          <a:p>
            <a:pPr algn="r"/>
            <a:r>
              <a:rPr sz="850" b="0" i="0">
                <a:solidFill>
                  <a:srgbClr val="0D0D0D"/>
                </a:solidFill>
                <a:latin typeface="Calibri"/>
              </a:rPr>
              <a:t>465 $</a:t>
            </a:r>
          </a:p>
        </p:txBody>
      </p:sp>
      <p:sp>
        <p:nvSpPr>
          <p:cNvPr id="94" name="Rectangle 93"/>
          <p:cNvSpPr/>
          <p:nvPr/>
        </p:nvSpPr>
        <p:spPr>
          <a:xfrm>
            <a:off x="367200" y="3438000"/>
            <a:ext cx="4118400" cy="251999"/>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13999" y="3474000"/>
            <a:ext cx="4031999" cy="180000"/>
          </a:xfrm>
          <a:prstGeom prst="rect">
            <a:avLst/>
          </a:prstGeom>
          <a:noFill/>
        </p:spPr>
        <p:txBody>
          <a:bodyPr wrap="square">
            <a:spAutoFit/>
          </a:bodyPr>
          <a:lstStyle/>
          <a:p>
            <a:pPr algn="ctr"/>
            <a:r>
              <a:rPr sz="850" b="1" i="0">
                <a:solidFill>
                  <a:srgbClr val="1A7A4A"/>
                </a:solidFill>
                <a:latin typeface="Calibri"/>
              </a:rPr>
              <a:t>Zone d'achat : Cours &lt; DCF base</a:t>
            </a:r>
          </a:p>
        </p:txBody>
      </p:sp>
      <p:sp>
        <p:nvSpPr>
          <p:cNvPr id="96" name="Rectangle 95"/>
          <p:cNvSpPr/>
          <p:nvPr/>
        </p:nvSpPr>
        <p:spPr>
          <a:xfrm>
            <a:off x="4658400" y="3438000"/>
            <a:ext cx="4118400" cy="251999"/>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705200" y="3474000"/>
            <a:ext cx="4031999" cy="180000"/>
          </a:xfrm>
          <a:prstGeom prst="rect">
            <a:avLst/>
          </a:prstGeom>
          <a:noFill/>
        </p:spPr>
        <p:txBody>
          <a:bodyPr wrap="square">
            <a:spAutoFit/>
          </a:bodyPr>
          <a:lstStyle/>
          <a:p>
            <a:pPr algn="ctr"/>
            <a:r>
              <a:rPr sz="850" b="1" i="0">
                <a:solidFill>
                  <a:srgbClr val="1A7A4A"/>
                </a:solidFill>
                <a:latin typeface="Calibri"/>
              </a:rPr>
              <a:t>Zone d'achat : Cours &lt; DCF base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GBM Monte Carlo &amp; Upside Relatif</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graphicFrame>
        <p:nvGraphicFramePr>
          <p:cNvPr id="22" name="Table 21"/>
          <p:cNvGraphicFramePr>
            <a:graphicFrameLocks noGrp="1"/>
          </p:cNvGraphicFramePr>
          <p:nvPr/>
        </p:nvGraphicFramePr>
        <p:xfrm>
          <a:off x="367200" y="882000"/>
          <a:ext cx="8413200" cy="1368000"/>
        </p:xfrm>
        <a:graphic>
          <a:graphicData uri="http://schemas.openxmlformats.org/drawingml/2006/table">
            <a:tbl>
              <a:tblPr firstRow="1" bandRow="1">
                <a:tableStyleId>{5C22544A-7EE6-4342-B048-85BDC9FD1C3A}</a:tableStyleId>
              </a:tblPr>
              <a:tblGrid>
                <a:gridCol w="3028752"/>
                <a:gridCol w="2692224"/>
                <a:gridCol w="2692224"/>
              </a:tblGrid>
              <a:tr h="228000">
                <a:tc>
                  <a:txBody>
                    <a:bodyPr/>
                    <a:lstStyle/>
                    <a:p>
                      <a:pPr algn="l"/>
                      <a:r>
                        <a:rPr sz="750" b="1" i="0">
                          <a:solidFill>
                            <a:srgbClr val="FFFFFF"/>
                          </a:solidFill>
                          <a:latin typeface="Calibri"/>
                        </a:rPr>
                        <a:t>GBM Monte Carlo</a:t>
                      </a:r>
                    </a:p>
                  </a:txBody>
                  <a:tcPr>
                    <a:solidFill>
                      <a:srgbClr val="1B3A6B"/>
                    </a:solidFill>
                  </a:tcPr>
                </a:tc>
                <a:tc>
                  <a:txBody>
                    <a:bodyPr/>
                    <a:lstStyle/>
                    <a:p>
                      <a:pPr algn="ctr"/>
                      <a:r>
                        <a:rPr sz="750" b="1" i="0">
                          <a:solidFill>
                            <a:srgbClr val="FFFFFF"/>
                          </a:solidFill>
                          <a:latin typeface="Calibri"/>
                        </a:rPr>
                        <a:t>AAPL</a:t>
                      </a:r>
                    </a:p>
                  </a:txBody>
                  <a:tcPr>
                    <a:solidFill>
                      <a:srgbClr val="1B3A6B"/>
                    </a:solidFill>
                  </a:tcPr>
                </a:tc>
                <a:tc>
                  <a:txBody>
                    <a:bodyPr/>
                    <a:lstStyle/>
                    <a:p>
                      <a:pPr algn="ctr"/>
                      <a:r>
                        <a:rPr sz="750" b="1" i="0">
                          <a:solidFill>
                            <a:srgbClr val="FFFFFF"/>
                          </a:solidFill>
                          <a:latin typeface="Calibri"/>
                        </a:rPr>
                        <a:t>MSFT</a:t>
                      </a:r>
                    </a:p>
                  </a:txBody>
                  <a:tcPr>
                    <a:solidFill>
                      <a:srgbClr val="1B3A6B"/>
                    </a:solidFill>
                  </a:tcPr>
                </a:tc>
              </a:tr>
              <a:tr h="228000">
                <a:tc>
                  <a:txBody>
                    <a:bodyPr/>
                    <a:lstStyle/>
                    <a:p>
                      <a:pPr algn="l"/>
                      <a:r>
                        <a:rPr sz="750" b="0" i="0">
                          <a:solidFill>
                            <a:srgbClr val="0D0D0D"/>
                          </a:solidFill>
                          <a:latin typeface="Calibri"/>
                        </a:rPr>
                        <a:t>P10 (scen. pessimiste)</a:t>
                      </a:r>
                    </a:p>
                  </a:txBody>
                  <a:tcPr>
                    <a:solidFill>
                      <a:srgbClr val="FFFFFF"/>
                    </a:solidFill>
                  </a:tcPr>
                </a:tc>
                <a:tc>
                  <a:txBody>
                    <a:bodyPr/>
                    <a:lstStyle/>
                    <a:p>
                      <a:pPr algn="ctr"/>
                      <a:r>
                        <a:rPr sz="750" b="0" i="0">
                          <a:solidFill>
                            <a:srgbClr val="0D0D0D"/>
                          </a:solidFill>
                          <a:latin typeface="Calibri"/>
                        </a:rPr>
                        <a:t>207 $  (-18,2 %)</a:t>
                      </a:r>
                    </a:p>
                  </a:txBody>
                  <a:tcPr>
                    <a:solidFill>
                      <a:srgbClr val="FFFFFF"/>
                    </a:solidFill>
                  </a:tcPr>
                </a:tc>
                <a:tc>
                  <a:txBody>
                    <a:bodyPr/>
                    <a:lstStyle/>
                    <a:p>
                      <a:pPr algn="ctr"/>
                      <a:r>
                        <a:rPr sz="750" b="0" i="0">
                          <a:solidFill>
                            <a:srgbClr val="0D0D0D"/>
                          </a:solidFill>
                          <a:latin typeface="Calibri"/>
                        </a:rPr>
                        <a:t>248 $  (-33,4 %)</a:t>
                      </a:r>
                    </a:p>
                  </a:txBody>
                  <a:tcPr>
                    <a:solidFill>
                      <a:srgbClr val="FFFFFF"/>
                    </a:solidFill>
                  </a:tcPr>
                </a:tc>
              </a:tr>
              <a:tr h="228000">
                <a:tc>
                  <a:txBody>
                    <a:bodyPr/>
                    <a:lstStyle/>
                    <a:p>
                      <a:pPr algn="l"/>
                      <a:r>
                        <a:rPr sz="750" b="0" i="0">
                          <a:solidFill>
                            <a:srgbClr val="0D0D0D"/>
                          </a:solidFill>
                          <a:latin typeface="Calibri"/>
                        </a:rPr>
                        <a:t>P50 (median GBM)</a:t>
                      </a:r>
                    </a:p>
                  </a:txBody>
                  <a:tcPr>
                    <a:solidFill>
                      <a:srgbClr val="F7F8FA"/>
                    </a:solidFill>
                  </a:tcPr>
                </a:tc>
                <a:tc>
                  <a:txBody>
                    <a:bodyPr/>
                    <a:lstStyle/>
                    <a:p>
                      <a:pPr algn="ctr"/>
                      <a:r>
                        <a:rPr sz="750" b="0" i="0">
                          <a:solidFill>
                            <a:srgbClr val="0D0D0D"/>
                          </a:solidFill>
                          <a:latin typeface="Calibri"/>
                        </a:rPr>
                        <a:t>300 $  (+18,2 %)</a:t>
                      </a:r>
                    </a:p>
                  </a:txBody>
                  <a:tcPr>
                    <a:solidFill>
                      <a:srgbClr val="F7F8FA"/>
                    </a:solidFill>
                  </a:tcPr>
                </a:tc>
                <a:tc>
                  <a:txBody>
                    <a:bodyPr/>
                    <a:lstStyle/>
                    <a:p>
                      <a:pPr algn="ctr"/>
                      <a:r>
                        <a:rPr sz="750" b="0" i="0">
                          <a:solidFill>
                            <a:srgbClr val="0D0D0D"/>
                          </a:solidFill>
                          <a:latin typeface="Calibri"/>
                        </a:rPr>
                        <a:t>340 $  (-8,7 %)</a:t>
                      </a:r>
                    </a:p>
                  </a:txBody>
                  <a:tcPr>
                    <a:solidFill>
                      <a:srgbClr val="F7F8FA"/>
                    </a:solidFill>
                  </a:tcPr>
                </a:tc>
              </a:tr>
              <a:tr h="228000">
                <a:tc>
                  <a:txBody>
                    <a:bodyPr/>
                    <a:lstStyle/>
                    <a:p>
                      <a:pPr algn="l"/>
                      <a:r>
                        <a:rPr sz="750" b="0" i="0">
                          <a:solidFill>
                            <a:srgbClr val="0D0D0D"/>
                          </a:solidFill>
                          <a:latin typeface="Calibri"/>
                        </a:rPr>
                        <a:t>P90 (scen. optimiste)</a:t>
                      </a:r>
                    </a:p>
                  </a:txBody>
                  <a:tcPr>
                    <a:solidFill>
                      <a:srgbClr val="FFFFFF"/>
                    </a:solidFill>
                  </a:tcPr>
                </a:tc>
                <a:tc>
                  <a:txBody>
                    <a:bodyPr/>
                    <a:lstStyle/>
                    <a:p>
                      <a:pPr algn="ctr"/>
                      <a:r>
                        <a:rPr sz="750" b="0" i="0">
                          <a:solidFill>
                            <a:srgbClr val="0D0D0D"/>
                          </a:solidFill>
                          <a:latin typeface="Calibri"/>
                        </a:rPr>
                        <a:t>432 $  (+70,3 %)</a:t>
                      </a:r>
                    </a:p>
                  </a:txBody>
                  <a:tcPr>
                    <a:solidFill>
                      <a:srgbClr val="FFFFFF"/>
                    </a:solidFill>
                  </a:tcPr>
                </a:tc>
                <a:tc>
                  <a:txBody>
                    <a:bodyPr/>
                    <a:lstStyle/>
                    <a:p>
                      <a:pPr algn="ctr"/>
                      <a:r>
                        <a:rPr sz="750" b="0" i="0">
                          <a:solidFill>
                            <a:srgbClr val="0D0D0D"/>
                          </a:solidFill>
                          <a:latin typeface="Calibri"/>
                        </a:rPr>
                        <a:t>465 $  (+24,9 %)</a:t>
                      </a:r>
                    </a:p>
                  </a:txBody>
                  <a:tcPr>
                    <a:solidFill>
                      <a:srgbClr val="FFFFFF"/>
                    </a:solidFill>
                  </a:tcPr>
                </a:tc>
              </a:tr>
              <a:tr h="228000">
                <a:tc>
                  <a:txBody>
                    <a:bodyPr/>
                    <a:lstStyle/>
                    <a:p>
                      <a:pPr algn="l"/>
                      <a:r>
                        <a:rPr sz="750" b="0" i="0">
                          <a:solidFill>
                            <a:srgbClr val="0D0D0D"/>
                          </a:solidFill>
                          <a:latin typeface="Calibri"/>
                        </a:rPr>
                        <a:t>Sigma (vol. ann.)</a:t>
                      </a:r>
                    </a:p>
                  </a:txBody>
                  <a:tcPr>
                    <a:solidFill>
                      <a:srgbClr val="F7F8FA"/>
                    </a:solidFill>
                  </a:tcPr>
                </a:tc>
                <a:tc>
                  <a:txBody>
                    <a:bodyPr/>
                    <a:lstStyle/>
                    <a:p>
                      <a:pPr algn="ctr"/>
                      <a:r>
                        <a:rPr sz="750" b="0" i="0">
                          <a:solidFill>
                            <a:srgbClr val="0D0D0D"/>
                          </a:solidFill>
                          <a:latin typeface="Calibri"/>
                        </a:rPr>
                        <a:t>28,2 %</a:t>
                      </a:r>
                    </a:p>
                  </a:txBody>
                  <a:tcPr>
                    <a:solidFill>
                      <a:srgbClr val="F7F8FA"/>
                    </a:solidFill>
                  </a:tcPr>
                </a:tc>
                <a:tc>
                  <a:txBody>
                    <a:bodyPr/>
                    <a:lstStyle/>
                    <a:p>
                      <a:pPr algn="ctr"/>
                      <a:r>
                        <a:rPr sz="750" b="0" i="0">
                          <a:solidFill>
                            <a:srgbClr val="0D0D0D"/>
                          </a:solidFill>
                          <a:latin typeface="Calibri"/>
                        </a:rPr>
                        <a:t>24,2 %</a:t>
                      </a:r>
                    </a:p>
                  </a:txBody>
                  <a:tcPr>
                    <a:solidFill>
                      <a:srgbClr val="F7F8FA"/>
                    </a:solidFill>
                  </a:tcPr>
                </a:tc>
              </a:tr>
              <a:tr h="228000">
                <a:tc>
                  <a:txBody>
                    <a:bodyPr/>
                    <a:lstStyle/>
                    <a:p>
                      <a:pPr algn="l"/>
                      <a:r>
                        <a:rPr sz="750" b="0" i="0">
                          <a:solidFill>
                            <a:srgbClr val="0D0D0D"/>
                          </a:solidFill>
                          <a:latin typeface="Calibri"/>
                        </a:rPr>
                        <a:t>Cours actuel S0</a:t>
                      </a:r>
                    </a:p>
                  </a:txBody>
                  <a:tcPr>
                    <a:solidFill>
                      <a:srgbClr val="FFFFFF"/>
                    </a:solidFill>
                  </a:tcPr>
                </a:tc>
                <a:tc>
                  <a:txBody>
                    <a:bodyPr/>
                    <a:lstStyle/>
                    <a:p>
                      <a:pPr algn="ctr"/>
                      <a:r>
                        <a:rPr sz="750" b="0" i="0">
                          <a:solidFill>
                            <a:srgbClr val="0D0D0D"/>
                          </a:solidFill>
                          <a:latin typeface="Calibri"/>
                        </a:rPr>
                        <a:t>253,50 $</a:t>
                      </a:r>
                    </a:p>
                  </a:txBody>
                  <a:tcPr>
                    <a:solidFill>
                      <a:srgbClr val="FFFFFF"/>
                    </a:solidFill>
                  </a:tcPr>
                </a:tc>
                <a:tc>
                  <a:txBody>
                    <a:bodyPr/>
                    <a:lstStyle/>
                    <a:p>
                      <a:pPr algn="ctr"/>
                      <a:r>
                        <a:rPr sz="750" b="0" i="0">
                          <a:solidFill>
                            <a:srgbClr val="0D0D0D"/>
                          </a:solidFill>
                          <a:latin typeface="Calibri"/>
                        </a:rPr>
                        <a:t>372,29 $</a:t>
                      </a:r>
                    </a:p>
                  </a:txBody>
                  <a:tcPr>
                    <a:solidFill>
                      <a:srgbClr val="FFFFFF"/>
                    </a:solidFill>
                  </a:tcPr>
                </a:tc>
              </a:tr>
            </a:tbl>
          </a:graphicData>
        </a:graphic>
      </p:graphicFrame>
      <p:pic>
        <p:nvPicPr>
          <p:cNvPr id="23" name="Picture 22" descr="image.png"/>
          <p:cNvPicPr>
            <a:picLocks noChangeAspect="1"/>
          </p:cNvPicPr>
          <p:nvPr/>
        </p:nvPicPr>
        <p:blipFill>
          <a:blip r:embed="rId2"/>
          <a:stretch>
            <a:fillRect/>
          </a:stretch>
        </p:blipFill>
        <p:spPr>
          <a:xfrm>
            <a:off x="367200" y="2340000"/>
            <a:ext cx="8413200" cy="2232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Qualite &amp; Risques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Piotroski, Beneish, Altman, Beta, VaR et Momentum</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Qualite Financiere &amp; Solidite Bilancielle</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graphicFrame>
        <p:nvGraphicFramePr>
          <p:cNvPr id="22" name="Table 21"/>
          <p:cNvGraphicFramePr>
            <a:graphicFrameLocks noGrp="1"/>
          </p:cNvGraphicFramePr>
          <p:nvPr/>
        </p:nvGraphicFramePr>
        <p:xfrm>
          <a:off x="367200" y="1494000"/>
          <a:ext cx="5040000" cy="2880000"/>
        </p:xfrm>
        <a:graphic>
          <a:graphicData uri="http://schemas.openxmlformats.org/drawingml/2006/table">
            <a:tbl>
              <a:tblPr firstRow="1" bandRow="1">
                <a:tableStyleId>{5C22544A-7EE6-4342-B048-85BDC9FD1C3A}</a:tableStyleId>
              </a:tblPr>
              <a:tblGrid>
                <a:gridCol w="3024000"/>
                <a:gridCol w="1008000"/>
                <a:gridCol w="1008000"/>
              </a:tblGrid>
              <a:tr h="261818">
                <a:tc>
                  <a:txBody>
                    <a:bodyPr/>
                    <a:lstStyle/>
                    <a:p>
                      <a:pPr algn="l"/>
                      <a:r>
                        <a:rPr sz="750" b="1" i="0">
                          <a:solidFill>
                            <a:srgbClr val="FFFFFF"/>
                          </a:solidFill>
                          <a:latin typeface="Calibri"/>
                        </a:rPr>
                        <a:t>Critere Piotroski</a:t>
                      </a:r>
                    </a:p>
                  </a:txBody>
                  <a:tcPr>
                    <a:solidFill>
                      <a:srgbClr val="1B3A6B"/>
                    </a:solidFill>
                  </a:tcPr>
                </a:tc>
                <a:tc>
                  <a:txBody>
                    <a:bodyPr/>
                    <a:lstStyle/>
                    <a:p>
                      <a:pPr algn="ctr"/>
                      <a:r>
                        <a:rPr sz="750" b="1" i="0">
                          <a:solidFill>
                            <a:srgbClr val="FFFFFF"/>
                          </a:solidFill>
                          <a:latin typeface="Calibri"/>
                        </a:rPr>
                        <a:t>AAPL</a:t>
                      </a:r>
                    </a:p>
                  </a:txBody>
                  <a:tcPr>
                    <a:solidFill>
                      <a:srgbClr val="1B3A6B"/>
                    </a:solidFill>
                  </a:tcPr>
                </a:tc>
                <a:tc>
                  <a:txBody>
                    <a:bodyPr/>
                    <a:lstStyle/>
                    <a:p>
                      <a:pPr algn="ctr"/>
                      <a:r>
                        <a:rPr sz="750" b="1" i="0">
                          <a:solidFill>
                            <a:srgbClr val="FFFFFF"/>
                          </a:solidFill>
                          <a:latin typeface="Calibri"/>
                        </a:rPr>
                        <a:t>MSFT</a:t>
                      </a:r>
                    </a:p>
                  </a:txBody>
                  <a:tcPr>
                    <a:solidFill>
                      <a:srgbClr val="1B3A6B"/>
                    </a:solidFill>
                  </a:tcPr>
                </a:tc>
              </a:tr>
              <a:tr h="261818">
                <a:tc>
                  <a:txBody>
                    <a:bodyPr/>
                    <a:lstStyle/>
                    <a:p>
                      <a:pPr algn="l"/>
                      <a:r>
                        <a:rPr sz="750" b="0" i="0">
                          <a:solidFill>
                            <a:srgbClr val="0D0D0D"/>
                          </a:solidFill>
                          <a:latin typeface="Calibri"/>
                        </a:rPr>
                        <a:t>ROA positif</a:t>
                      </a:r>
                    </a:p>
                  </a:txBody>
                  <a:tcPr>
                    <a:solidFill>
                      <a:srgbClr val="FFFFFF"/>
                    </a:solidFill>
                  </a:tcPr>
                </a:tc>
                <a:tc>
                  <a:txBody>
                    <a:bodyPr/>
                    <a:lstStyle/>
                    <a:p>
                      <a:pPr algn="ctr"/>
                      <a:r>
                        <a:rPr sz="750" b="0" i="0">
                          <a:solidFill>
                            <a:srgbClr val="0D0D0D"/>
                          </a:solidFill>
                          <a:latin typeface="Calibri"/>
                        </a:rPr>
                        <a:t>1</a:t>
                      </a:r>
                    </a:p>
                  </a:txBody>
                  <a:tcPr>
                    <a:solidFill>
                      <a:srgbClr val="FFFFFF"/>
                    </a:solidFill>
                  </a:tcPr>
                </a:tc>
                <a:tc>
                  <a:txBody>
                    <a:bodyPr/>
                    <a:lstStyle/>
                    <a:p>
                      <a:pPr algn="ctr"/>
                      <a:r>
                        <a:rPr sz="750" b="0" i="0">
                          <a:solidFill>
                            <a:srgbClr val="0D0D0D"/>
                          </a:solidFill>
                          <a:latin typeface="Calibri"/>
                        </a:rPr>
                        <a:t>1</a:t>
                      </a:r>
                    </a:p>
                  </a:txBody>
                  <a:tcPr>
                    <a:solidFill>
                      <a:srgbClr val="FFFFFF"/>
                    </a:solidFill>
                  </a:tcPr>
                </a:tc>
              </a:tr>
              <a:tr h="261818">
                <a:tc>
                  <a:txBody>
                    <a:bodyPr/>
                    <a:lstStyle/>
                    <a:p>
                      <a:pPr algn="l"/>
                      <a:r>
                        <a:rPr sz="750" b="0" i="0">
                          <a:solidFill>
                            <a:srgbClr val="0D0D0D"/>
                          </a:solidFill>
                          <a:latin typeface="Calibri"/>
                        </a:rPr>
                        <a:t>Cash-flows operations positifs</a:t>
                      </a:r>
                    </a:p>
                  </a:txBody>
                  <a:tcPr>
                    <a:solidFill>
                      <a:srgbClr val="F7F8FA"/>
                    </a:solidFill>
                  </a:tcPr>
                </a:tc>
                <a:tc>
                  <a:txBody>
                    <a:bodyPr/>
                    <a:lstStyle/>
                    <a:p>
                      <a:pPr algn="ctr"/>
                      <a:r>
                        <a:rPr sz="750" b="0" i="0">
                          <a:solidFill>
                            <a:srgbClr val="0D0D0D"/>
                          </a:solidFill>
                          <a:latin typeface="Calibri"/>
                        </a:rPr>
                        <a:t>1</a:t>
                      </a:r>
                    </a:p>
                  </a:txBody>
                  <a:tcPr>
                    <a:solidFill>
                      <a:srgbClr val="F7F8FA"/>
                    </a:solidFill>
                  </a:tcPr>
                </a:tc>
                <a:tc>
                  <a:txBody>
                    <a:bodyPr/>
                    <a:lstStyle/>
                    <a:p>
                      <a:pPr algn="ctr"/>
                      <a:r>
                        <a:rPr sz="750" b="0" i="0">
                          <a:solidFill>
                            <a:srgbClr val="0D0D0D"/>
                          </a:solidFill>
                          <a:latin typeface="Calibri"/>
                        </a:rPr>
                        <a:t>1</a:t>
                      </a:r>
                    </a:p>
                  </a:txBody>
                  <a:tcPr>
                    <a:solidFill>
                      <a:srgbClr val="F7F8FA"/>
                    </a:solidFill>
                  </a:tcPr>
                </a:tc>
              </a:tr>
              <a:tr h="261818">
                <a:tc>
                  <a:txBody>
                    <a:bodyPr/>
                    <a:lstStyle/>
                    <a:p>
                      <a:pPr algn="l"/>
                      <a:r>
                        <a:rPr sz="750" b="0" i="0">
                          <a:solidFill>
                            <a:srgbClr val="0D0D0D"/>
                          </a:solidFill>
                          <a:latin typeface="Calibri"/>
                        </a:rPr>
                        <a:t>Amelioration ROA</a:t>
                      </a:r>
                    </a:p>
                  </a:txBody>
                  <a:tcPr>
                    <a:solidFill>
                      <a:srgbClr val="FFFFFF"/>
                    </a:solidFill>
                  </a:tcPr>
                </a:tc>
                <a:tc>
                  <a:txBody>
                    <a:bodyPr/>
                    <a:lstStyle/>
                    <a:p>
                      <a:pPr algn="ctr"/>
                      <a:r>
                        <a:rPr sz="750" b="0" i="0">
                          <a:solidFill>
                            <a:srgbClr val="0D0D0D"/>
                          </a:solidFill>
                          <a:latin typeface="Calibri"/>
                        </a:rPr>
                        <a:t>1</a:t>
                      </a:r>
                    </a:p>
                  </a:txBody>
                  <a:tcPr>
                    <a:solidFill>
                      <a:srgbClr val="FFFFFF"/>
                    </a:solidFill>
                  </a:tcPr>
                </a:tc>
                <a:tc>
                  <a:txBody>
                    <a:bodyPr/>
                    <a:lstStyle/>
                    <a:p>
                      <a:pPr algn="ctr"/>
                      <a:r>
                        <a:rPr sz="750" b="0" i="0">
                          <a:solidFill>
                            <a:srgbClr val="0D0D0D"/>
                          </a:solidFill>
                          <a:latin typeface="Calibri"/>
                        </a:rPr>
                        <a:t>0</a:t>
                      </a:r>
                    </a:p>
                  </a:txBody>
                  <a:tcPr>
                    <a:solidFill>
                      <a:srgbClr val="FFFFFF"/>
                    </a:solidFill>
                  </a:tcPr>
                </a:tc>
              </a:tr>
              <a:tr h="261818">
                <a:tc>
                  <a:txBody>
                    <a:bodyPr/>
                    <a:lstStyle/>
                    <a:p>
                      <a:pPr algn="l"/>
                      <a:r>
                        <a:rPr sz="750" b="0" i="0">
                          <a:solidFill>
                            <a:srgbClr val="0D0D0D"/>
                          </a:solidFill>
                          <a:latin typeface="Calibri"/>
                        </a:rPr>
                        <a:t>Qualite earnings (accruals)</a:t>
                      </a:r>
                    </a:p>
                  </a:txBody>
                  <a:tcPr>
                    <a:solidFill>
                      <a:srgbClr val="F7F8FA"/>
                    </a:solidFill>
                  </a:tcPr>
                </a:tc>
                <a:tc>
                  <a:txBody>
                    <a:bodyPr/>
                    <a:lstStyle/>
                    <a:p>
                      <a:pPr algn="ctr"/>
                      <a:r>
                        <a:rPr sz="750" b="0" i="0">
                          <a:solidFill>
                            <a:srgbClr val="0D0D0D"/>
                          </a:solidFill>
                          <a:latin typeface="Calibri"/>
                        </a:rPr>
                        <a:t>0</a:t>
                      </a:r>
                    </a:p>
                  </a:txBody>
                  <a:tcPr>
                    <a:solidFill>
                      <a:srgbClr val="F7F8FA"/>
                    </a:solidFill>
                  </a:tcPr>
                </a:tc>
                <a:tc>
                  <a:txBody>
                    <a:bodyPr/>
                    <a:lstStyle/>
                    <a:p>
                      <a:pPr algn="ctr"/>
                      <a:r>
                        <a:rPr sz="750" b="0" i="0">
                          <a:solidFill>
                            <a:srgbClr val="0D0D0D"/>
                          </a:solidFill>
                          <a:latin typeface="Calibri"/>
                        </a:rPr>
                        <a:t>1</a:t>
                      </a:r>
                    </a:p>
                  </a:txBody>
                  <a:tcPr>
                    <a:solidFill>
                      <a:srgbClr val="F7F8FA"/>
                    </a:solidFill>
                  </a:tcPr>
                </a:tc>
              </a:tr>
              <a:tr h="261818">
                <a:tc>
                  <a:txBody>
                    <a:bodyPr/>
                    <a:lstStyle/>
                    <a:p>
                      <a:pPr algn="l"/>
                      <a:r>
                        <a:rPr sz="750" b="0" i="0">
                          <a:solidFill>
                            <a:srgbClr val="0D0D0D"/>
                          </a:solidFill>
                          <a:latin typeface="Calibri"/>
                        </a:rPr>
                        <a:t>Reduction levier</a:t>
                      </a:r>
                    </a:p>
                  </a:txBody>
                  <a:tcPr>
                    <a:solidFill>
                      <a:srgbClr val="FFFFFF"/>
                    </a:solidFill>
                  </a:tcPr>
                </a:tc>
                <a:tc>
                  <a:txBody>
                    <a:bodyPr/>
                    <a:lstStyle/>
                    <a:p>
                      <a:pPr algn="ctr"/>
                      <a:r>
                        <a:rPr sz="750" b="0" i="0">
                          <a:solidFill>
                            <a:srgbClr val="0D0D0D"/>
                          </a:solidFill>
                          <a:latin typeface="Calibri"/>
                        </a:rPr>
                        <a:t>1</a:t>
                      </a:r>
                    </a:p>
                  </a:txBody>
                  <a:tcPr>
                    <a:solidFill>
                      <a:srgbClr val="FFFFFF"/>
                    </a:solidFill>
                  </a:tcPr>
                </a:tc>
                <a:tc>
                  <a:txBody>
                    <a:bodyPr/>
                    <a:lstStyle/>
                    <a:p>
                      <a:pPr algn="ctr"/>
                      <a:r>
                        <a:rPr sz="750" b="0" i="0">
                          <a:solidFill>
                            <a:srgbClr val="0D0D0D"/>
                          </a:solidFill>
                          <a:latin typeface="Calibri"/>
                        </a:rPr>
                        <a:t>1</a:t>
                      </a:r>
                    </a:p>
                  </a:txBody>
                  <a:tcPr>
                    <a:solidFill>
                      <a:srgbClr val="FFFFFF"/>
                    </a:solidFill>
                  </a:tcPr>
                </a:tc>
              </a:tr>
              <a:tr h="261818">
                <a:tc>
                  <a:txBody>
                    <a:bodyPr/>
                    <a:lstStyle/>
                    <a:p>
                      <a:pPr algn="l"/>
                      <a:r>
                        <a:rPr sz="750" b="0" i="0">
                          <a:solidFill>
                            <a:srgbClr val="0D0D0D"/>
                          </a:solidFill>
                          <a:latin typeface="Calibri"/>
                        </a:rPr>
                        <a:t>Amelioration liquidite</a:t>
                      </a:r>
                    </a:p>
                  </a:txBody>
                  <a:tcPr>
                    <a:solidFill>
                      <a:srgbClr val="F7F8FA"/>
                    </a:solidFill>
                  </a:tcPr>
                </a:tc>
                <a:tc>
                  <a:txBody>
                    <a:bodyPr/>
                    <a:lstStyle/>
                    <a:p>
                      <a:pPr algn="ctr"/>
                      <a:r>
                        <a:rPr sz="750" b="0" i="0">
                          <a:solidFill>
                            <a:srgbClr val="0D0D0D"/>
                          </a:solidFill>
                          <a:latin typeface="Calibri"/>
                        </a:rPr>
                        <a:t>1</a:t>
                      </a:r>
                    </a:p>
                  </a:txBody>
                  <a:tcPr>
                    <a:solidFill>
                      <a:srgbClr val="F7F8FA"/>
                    </a:solidFill>
                  </a:tcPr>
                </a:tc>
                <a:tc>
                  <a:txBody>
                    <a:bodyPr/>
                    <a:lstStyle/>
                    <a:p>
                      <a:pPr algn="ctr"/>
                      <a:r>
                        <a:rPr sz="750" b="0" i="0">
                          <a:solidFill>
                            <a:srgbClr val="0D0D0D"/>
                          </a:solidFill>
                          <a:latin typeface="Calibri"/>
                        </a:rPr>
                        <a:t>1</a:t>
                      </a:r>
                    </a:p>
                  </a:txBody>
                  <a:tcPr>
                    <a:solidFill>
                      <a:srgbClr val="F7F8FA"/>
                    </a:solidFill>
                  </a:tcPr>
                </a:tc>
              </a:tr>
              <a:tr h="261818">
                <a:tc>
                  <a:txBody>
                    <a:bodyPr/>
                    <a:lstStyle/>
                    <a:p>
                      <a:pPr algn="l"/>
                      <a:r>
                        <a:rPr sz="750" b="0" i="0">
                          <a:solidFill>
                            <a:srgbClr val="0D0D0D"/>
                          </a:solidFill>
                          <a:latin typeface="Calibri"/>
                        </a:rPr>
                        <a:t>Pas de dilution</a:t>
                      </a:r>
                    </a:p>
                  </a:txBody>
                  <a:tcPr>
                    <a:solidFill>
                      <a:srgbClr val="FFFFFF"/>
                    </a:solidFill>
                  </a:tcPr>
                </a:tc>
                <a:tc>
                  <a:txBody>
                    <a:bodyPr/>
                    <a:lstStyle/>
                    <a:p>
                      <a:pPr algn="ctr"/>
                      <a:r>
                        <a:rPr sz="750" b="0" i="0">
                          <a:solidFill>
                            <a:srgbClr val="0D0D0D"/>
                          </a:solidFill>
                          <a:latin typeface="Calibri"/>
                        </a:rPr>
                        <a:t>0</a:t>
                      </a:r>
                    </a:p>
                  </a:txBody>
                  <a:tcPr>
                    <a:solidFill>
                      <a:srgbClr val="FFFFFF"/>
                    </a:solidFill>
                  </a:tcPr>
                </a:tc>
                <a:tc>
                  <a:txBody>
                    <a:bodyPr/>
                    <a:lstStyle/>
                    <a:p>
                      <a:pPr algn="ctr"/>
                      <a:r>
                        <a:rPr sz="750" b="0" i="0">
                          <a:solidFill>
                            <a:srgbClr val="0D0D0D"/>
                          </a:solidFill>
                          <a:latin typeface="Calibri"/>
                        </a:rPr>
                        <a:t>0</a:t>
                      </a:r>
                    </a:p>
                  </a:txBody>
                  <a:tcPr>
                    <a:solidFill>
                      <a:srgbClr val="FFFFFF"/>
                    </a:solidFill>
                  </a:tcPr>
                </a:tc>
              </a:tr>
              <a:tr h="261818">
                <a:tc>
                  <a:txBody>
                    <a:bodyPr/>
                    <a:lstStyle/>
                    <a:p>
                      <a:pPr algn="l"/>
                      <a:r>
                        <a:rPr sz="750" b="0" i="0">
                          <a:solidFill>
                            <a:srgbClr val="0D0D0D"/>
                          </a:solidFill>
                          <a:latin typeface="Calibri"/>
                        </a:rPr>
                        <a:t>Amelioration marge brute</a:t>
                      </a:r>
                    </a:p>
                  </a:txBody>
                  <a:tcPr>
                    <a:solidFill>
                      <a:srgbClr val="F7F8FA"/>
                    </a:solidFill>
                  </a:tcPr>
                </a:tc>
                <a:tc>
                  <a:txBody>
                    <a:bodyPr/>
                    <a:lstStyle/>
                    <a:p>
                      <a:pPr algn="ctr"/>
                      <a:r>
                        <a:rPr sz="750" b="0" i="0">
                          <a:solidFill>
                            <a:srgbClr val="0D0D0D"/>
                          </a:solidFill>
                          <a:latin typeface="Calibri"/>
                        </a:rPr>
                        <a:t>1</a:t>
                      </a:r>
                    </a:p>
                  </a:txBody>
                  <a:tcPr>
                    <a:solidFill>
                      <a:srgbClr val="F7F8FA"/>
                    </a:solidFill>
                  </a:tcPr>
                </a:tc>
                <a:tc>
                  <a:txBody>
                    <a:bodyPr/>
                    <a:lstStyle/>
                    <a:p>
                      <a:pPr algn="ctr"/>
                      <a:r>
                        <a:rPr sz="750" b="0" i="0">
                          <a:solidFill>
                            <a:srgbClr val="0D0D0D"/>
                          </a:solidFill>
                          <a:latin typeface="Calibri"/>
                        </a:rPr>
                        <a:t>0</a:t>
                      </a:r>
                    </a:p>
                  </a:txBody>
                  <a:tcPr>
                    <a:solidFill>
                      <a:srgbClr val="F7F8FA"/>
                    </a:solidFill>
                  </a:tcPr>
                </a:tc>
              </a:tr>
              <a:tr h="261818">
                <a:tc>
                  <a:txBody>
                    <a:bodyPr/>
                    <a:lstStyle/>
                    <a:p>
                      <a:pPr algn="l"/>
                      <a:r>
                        <a:rPr sz="750" b="0" i="0">
                          <a:solidFill>
                            <a:srgbClr val="0D0D0D"/>
                          </a:solidFill>
                          <a:latin typeface="Calibri"/>
                        </a:rPr>
                        <a:t>Amelioration rotation actifs</a:t>
                      </a:r>
                    </a:p>
                  </a:txBody>
                  <a:tcPr>
                    <a:solidFill>
                      <a:srgbClr val="FFFFFF"/>
                    </a:solidFill>
                  </a:tcPr>
                </a:tc>
                <a:tc>
                  <a:txBody>
                    <a:bodyPr/>
                    <a:lstStyle/>
                    <a:p>
                      <a:pPr algn="ctr"/>
                      <a:r>
                        <a:rPr sz="750" b="0" i="0">
                          <a:solidFill>
                            <a:srgbClr val="0D0D0D"/>
                          </a:solidFill>
                          <a:latin typeface="Calibri"/>
                        </a:rPr>
                        <a:t>1</a:t>
                      </a:r>
                    </a:p>
                  </a:txBody>
                  <a:tcPr>
                    <a:solidFill>
                      <a:srgbClr val="FFFFFF"/>
                    </a:solidFill>
                  </a:tcPr>
                </a:tc>
                <a:tc>
                  <a:txBody>
                    <a:bodyPr/>
                    <a:lstStyle/>
                    <a:p>
                      <a:pPr algn="ctr"/>
                      <a:r>
                        <a:rPr sz="750" b="0" i="0">
                          <a:solidFill>
                            <a:srgbClr val="0D0D0D"/>
                          </a:solidFill>
                          <a:latin typeface="Calibri"/>
                        </a:rPr>
                        <a:t>0</a:t>
                      </a:r>
                    </a:p>
                  </a:txBody>
                  <a:tcPr>
                    <a:solidFill>
                      <a:srgbClr val="FFFFFF"/>
                    </a:solidFill>
                  </a:tcPr>
                </a:tc>
              </a:tr>
              <a:tr h="261820">
                <a:tc>
                  <a:txBody>
                    <a:bodyPr/>
                    <a:lstStyle/>
                    <a:p>
                      <a:pPr algn="l"/>
                      <a:r>
                        <a:rPr sz="750" b="0" i="0">
                          <a:solidFill>
                            <a:srgbClr val="0D0D0D"/>
                          </a:solidFill>
                          <a:latin typeface="Calibri"/>
                        </a:rPr>
                        <a:t>PIOTROSKI F-SCORE TOTAL</a:t>
                      </a:r>
                    </a:p>
                  </a:txBody>
                  <a:tcPr>
                    <a:solidFill>
                      <a:srgbClr val="F7F8FA"/>
                    </a:solidFill>
                  </a:tcPr>
                </a:tc>
                <a:tc>
                  <a:txBody>
                    <a:bodyPr/>
                    <a:lstStyle/>
                    <a:p>
                      <a:pPr algn="ctr"/>
                      <a:r>
                        <a:rPr sz="750" b="0" i="0">
                          <a:solidFill>
                            <a:srgbClr val="0D0D0D"/>
                          </a:solidFill>
                          <a:latin typeface="Calibri"/>
                        </a:rPr>
                        <a:t>7</a:t>
                      </a:r>
                    </a:p>
                  </a:txBody>
                  <a:tcPr>
                    <a:solidFill>
                      <a:srgbClr val="F7F8FA"/>
                    </a:solidFill>
                  </a:tcPr>
                </a:tc>
                <a:tc>
                  <a:txBody>
                    <a:bodyPr/>
                    <a:lstStyle/>
                    <a:p>
                      <a:pPr algn="ctr"/>
                      <a:r>
                        <a:rPr sz="750" b="0" i="0">
                          <a:solidFill>
                            <a:srgbClr val="0D0D0D"/>
                          </a:solidFill>
                          <a:latin typeface="Calibri"/>
                        </a:rPr>
                        <a:t>5</a:t>
                      </a:r>
                    </a:p>
                  </a:txBody>
                  <a:tcPr>
                    <a:solidFill>
                      <a:srgbClr val="F7F8FA"/>
                    </a:solidFill>
                  </a:tcPr>
                </a:tc>
              </a:tr>
            </a:tbl>
          </a:graphicData>
        </a:graphic>
      </p:graphicFrame>
      <p:sp>
        <p:nvSpPr>
          <p:cNvPr id="23" name="Rectangle 22"/>
          <p:cNvSpPr/>
          <p:nvPr/>
        </p:nvSpPr>
        <p:spPr>
          <a:xfrm>
            <a:off x="5580000" y="1494000"/>
            <a:ext cx="3420000"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34000" y="1512000"/>
            <a:ext cx="3311999" cy="180000"/>
          </a:xfrm>
          <a:prstGeom prst="rect">
            <a:avLst/>
          </a:prstGeom>
          <a:noFill/>
        </p:spPr>
        <p:txBody>
          <a:bodyPr wrap="square">
            <a:spAutoFit/>
          </a:bodyPr>
          <a:lstStyle/>
          <a:p>
            <a:pPr algn="l"/>
            <a:r>
              <a:rPr sz="800" b="1" i="0">
                <a:solidFill>
                  <a:srgbClr val="FFFFFF"/>
                </a:solidFill>
                <a:latin typeface="Calibri"/>
              </a:rPr>
              <a:t>Scores Complementaires</a:t>
            </a:r>
          </a:p>
        </p:txBody>
      </p:sp>
      <p:graphicFrame>
        <p:nvGraphicFramePr>
          <p:cNvPr id="25" name="Table 24"/>
          <p:cNvGraphicFramePr>
            <a:graphicFrameLocks noGrp="1"/>
          </p:cNvGraphicFramePr>
          <p:nvPr/>
        </p:nvGraphicFramePr>
        <p:xfrm>
          <a:off x="5580000" y="1764000"/>
          <a:ext cx="3420000" cy="1080000"/>
        </p:xfrm>
        <a:graphic>
          <a:graphicData uri="http://schemas.openxmlformats.org/drawingml/2006/table">
            <a:tbl>
              <a:tblPr firstRow="1" bandRow="1">
                <a:tableStyleId>{5C22544A-7EE6-4342-B048-85BDC9FD1C3A}</a:tableStyleId>
              </a:tblPr>
              <a:tblGrid>
                <a:gridCol w="1710000"/>
                <a:gridCol w="855000"/>
                <a:gridCol w="855000"/>
              </a:tblGrid>
              <a:tr h="216000">
                <a:tc>
                  <a:txBody>
                    <a:bodyPr/>
                    <a:lstStyle/>
                    <a:p>
                      <a:pPr algn="l"/>
                      <a:r>
                        <a:rPr sz="750" b="1" i="0">
                          <a:solidFill>
                            <a:srgbClr val="FFFFFF"/>
                          </a:solidFill>
                          <a:latin typeface="Calibri"/>
                        </a:rPr>
                        <a:t>Indicateur</a:t>
                      </a:r>
                    </a:p>
                  </a:txBody>
                  <a:tcPr>
                    <a:solidFill>
                      <a:srgbClr val="2E5FA3"/>
                    </a:solidFill>
                  </a:tcPr>
                </a:tc>
                <a:tc>
                  <a:txBody>
                    <a:bodyPr/>
                    <a:lstStyle/>
                    <a:p>
                      <a:pPr algn="ctr"/>
                      <a:r>
                        <a:rPr sz="750" b="1" i="0">
                          <a:solidFill>
                            <a:srgbClr val="FFFFFF"/>
                          </a:solidFill>
                          <a:latin typeface="Calibri"/>
                        </a:rPr>
                        <a:t>AAPL</a:t>
                      </a:r>
                    </a:p>
                  </a:txBody>
                  <a:tcPr>
                    <a:solidFill>
                      <a:srgbClr val="2E5FA3"/>
                    </a:solidFill>
                  </a:tcPr>
                </a:tc>
                <a:tc>
                  <a:txBody>
                    <a:bodyPr/>
                    <a:lstStyle/>
                    <a:p>
                      <a:pPr algn="ctr"/>
                      <a:r>
                        <a:rPr sz="750" b="1" i="0">
                          <a:solidFill>
                            <a:srgbClr val="FFFFFF"/>
                          </a:solidFill>
                          <a:latin typeface="Calibri"/>
                        </a:rPr>
                        <a:t>MSFT</a:t>
                      </a:r>
                    </a:p>
                  </a:txBody>
                  <a:tcPr>
                    <a:solidFill>
                      <a:srgbClr val="2E5FA3"/>
                    </a:solidFill>
                  </a:tcPr>
                </a:tc>
              </a:tr>
              <a:tr h="216000">
                <a:tc>
                  <a:txBody>
                    <a:bodyPr/>
                    <a:lstStyle/>
                    <a:p>
                      <a:pPr algn="l"/>
                      <a:r>
                        <a:rPr sz="750" b="0" i="0">
                          <a:solidFill>
                            <a:srgbClr val="0D0D0D"/>
                          </a:solidFill>
                          <a:latin typeface="Calibri"/>
                        </a:rPr>
                        <a:t>Beneish M-Score</a:t>
                      </a:r>
                    </a:p>
                  </a:txBody>
                  <a:tcPr>
                    <a:solidFill>
                      <a:srgbClr val="FFFFFF"/>
                    </a:solidFill>
                  </a:tcPr>
                </a:tc>
                <a:tc>
                  <a:txBody>
                    <a:bodyPr/>
                    <a:lstStyle/>
                    <a:p>
                      <a:pPr algn="ctr"/>
                      <a:r>
                        <a:rPr sz="750" b="0" i="0">
                          <a:solidFill>
                            <a:srgbClr val="0D0D0D"/>
                          </a:solidFill>
                          <a:latin typeface="Calibri"/>
                        </a:rPr>
                        <a:t>-2,25</a:t>
                      </a:r>
                    </a:p>
                  </a:txBody>
                  <a:tcPr>
                    <a:solidFill>
                      <a:srgbClr val="FFFFFF"/>
                    </a:solidFill>
                  </a:tcPr>
                </a:tc>
                <a:tc>
                  <a:txBody>
                    <a:bodyPr/>
                    <a:lstStyle/>
                    <a:p>
                      <a:pPr algn="ctr"/>
                      <a:r>
                        <a:rPr sz="750" b="0" i="0">
                          <a:solidFill>
                            <a:srgbClr val="0D0D0D"/>
                          </a:solidFill>
                          <a:latin typeface="Calibri"/>
                        </a:rPr>
                        <a:t>-2,57</a:t>
                      </a:r>
                    </a:p>
                  </a:txBody>
                  <a:tcPr>
                    <a:solidFill>
                      <a:srgbClr val="FFFFFF"/>
                    </a:solidFill>
                  </a:tcPr>
                </a:tc>
              </a:tr>
              <a:tr h="216000">
                <a:tc>
                  <a:txBody>
                    <a:bodyPr/>
                    <a:lstStyle/>
                    <a:p>
                      <a:pPr algn="l"/>
                      <a:r>
                        <a:rPr sz="750" b="0" i="0">
                          <a:solidFill>
                            <a:srgbClr val="0D0D0D"/>
                          </a:solidFill>
                          <a:latin typeface="Calibri"/>
                        </a:rPr>
                        <a:t>Altman Z-Score</a:t>
                      </a:r>
                    </a:p>
                  </a:txBody>
                  <a:tcPr>
                    <a:solidFill>
                      <a:srgbClr val="F7F8FA"/>
                    </a:solidFill>
                  </a:tcPr>
                </a:tc>
                <a:tc>
                  <a:txBody>
                    <a:bodyPr/>
                    <a:lstStyle/>
                    <a:p>
                      <a:pPr algn="ctr"/>
                      <a:r>
                        <a:rPr sz="750" b="0" i="0">
                          <a:solidFill>
                            <a:srgbClr val="0D0D0D"/>
                          </a:solidFill>
                          <a:latin typeface="Calibri"/>
                        </a:rPr>
                        <a:t>1,69</a:t>
                      </a:r>
                    </a:p>
                  </a:txBody>
                  <a:tcPr>
                    <a:solidFill>
                      <a:srgbClr val="F7F8FA"/>
                    </a:solidFill>
                  </a:tcPr>
                </a:tc>
                <a:tc>
                  <a:txBody>
                    <a:bodyPr/>
                    <a:lstStyle/>
                    <a:p>
                      <a:pPr algn="ctr"/>
                      <a:r>
                        <a:rPr sz="750" b="0" i="0">
                          <a:solidFill>
                            <a:srgbClr val="0D0D0D"/>
                          </a:solidFill>
                          <a:latin typeface="Calibri"/>
                        </a:rPr>
                        <a:t>4,61</a:t>
                      </a:r>
                    </a:p>
                  </a:txBody>
                  <a:tcPr>
                    <a:solidFill>
                      <a:srgbClr val="F7F8FA"/>
                    </a:solidFill>
                  </a:tcPr>
                </a:tc>
              </a:tr>
              <a:tr h="216000">
                <a:tc>
                  <a:txBody>
                    <a:bodyPr/>
                    <a:lstStyle/>
                    <a:p>
                      <a:pPr algn="l"/>
                      <a:r>
                        <a:rPr sz="750" b="0" i="0">
                          <a:solidFill>
                            <a:srgbClr val="0D0D0D"/>
                          </a:solidFill>
                          <a:latin typeface="Calibri"/>
                        </a:rPr>
                        <a:t>Sloan Accruals</a:t>
                      </a:r>
                    </a:p>
                  </a:txBody>
                  <a:tcPr>
                    <a:solidFill>
                      <a:srgbClr val="FFFFFF"/>
                    </a:solidFill>
                  </a:tcPr>
                </a:tc>
                <a:tc>
                  <a:txBody>
                    <a:bodyPr/>
                    <a:lstStyle/>
                    <a:p>
                      <a:pPr algn="ctr"/>
                      <a:r>
                        <a:rPr sz="750" b="0" i="0">
                          <a:solidFill>
                            <a:srgbClr val="0D0D0D"/>
                          </a:solidFill>
                          <a:latin typeface="Calibri"/>
                        </a:rPr>
                        <a:t>0,010</a:t>
                      </a:r>
                    </a:p>
                  </a:txBody>
                  <a:tcPr>
                    <a:solidFill>
                      <a:srgbClr val="FFFFFF"/>
                    </a:solidFill>
                  </a:tcPr>
                </a:tc>
                <a:tc>
                  <a:txBody>
                    <a:bodyPr/>
                    <a:lstStyle/>
                    <a:p>
                      <a:pPr algn="ctr"/>
                      <a:r>
                        <a:rPr sz="750" b="0" i="0">
                          <a:solidFill>
                            <a:srgbClr val="0D0D0D"/>
                          </a:solidFill>
                          <a:latin typeface="Calibri"/>
                        </a:rPr>
                        <a:t>0,001</a:t>
                      </a:r>
                    </a:p>
                  </a:txBody>
                  <a:tcPr>
                    <a:solidFill>
                      <a:srgbClr val="FFFFFF"/>
                    </a:solidFill>
                  </a:tcPr>
                </a:tc>
              </a:tr>
              <a:tr h="216000">
                <a:tc>
                  <a:txBody>
                    <a:bodyPr/>
                    <a:lstStyle/>
                    <a:p>
                      <a:pPr algn="l"/>
                      <a:r>
                        <a:rPr sz="750" b="0" i="0">
                          <a:solidFill>
                            <a:srgbClr val="0D0D0D"/>
                          </a:solidFill>
                          <a:latin typeface="Calibri"/>
                        </a:rPr>
                        <a:t>Cash Conversion</a:t>
                      </a:r>
                    </a:p>
                  </a:txBody>
                  <a:tcPr>
                    <a:solidFill>
                      <a:srgbClr val="F7F8FA"/>
                    </a:solidFill>
                  </a:tcPr>
                </a:tc>
                <a:tc>
                  <a:txBody>
                    <a:bodyPr/>
                    <a:lstStyle/>
                    <a:p>
                      <a:pPr algn="ctr"/>
                      <a:r>
                        <a:rPr sz="750" b="0" i="0">
                          <a:solidFill>
                            <a:srgbClr val="0D0D0D"/>
                          </a:solidFill>
                          <a:latin typeface="Calibri"/>
                        </a:rPr>
                        <a:t>1,0x</a:t>
                      </a:r>
                    </a:p>
                  </a:txBody>
                  <a:tcPr>
                    <a:solidFill>
                      <a:srgbClr val="F7F8FA"/>
                    </a:solidFill>
                  </a:tcPr>
                </a:tc>
                <a:tc>
                  <a:txBody>
                    <a:bodyPr/>
                    <a:lstStyle/>
                    <a:p>
                      <a:pPr algn="ctr"/>
                      <a:r>
                        <a:rPr sz="750" b="0" i="0">
                          <a:solidFill>
                            <a:srgbClr val="0D0D0D"/>
                          </a:solidFill>
                          <a:latin typeface="Calibri"/>
                        </a:rPr>
                        <a:t>0,7x</a:t>
                      </a:r>
                    </a:p>
                  </a:txBody>
                  <a:tcPr>
                    <a:solidFill>
                      <a:srgbClr val="F7F8FA"/>
                    </a:solidFill>
                  </a:tcPr>
                </a:tc>
              </a:tr>
            </a:tbl>
          </a:graphicData>
        </a:graphic>
      </p:graphicFrame>
      <p:sp>
        <p:nvSpPr>
          <p:cNvPr id="26" name="Rectangle 25"/>
          <p:cNvSpPr/>
          <p:nvPr/>
        </p:nvSpPr>
        <p:spPr>
          <a:xfrm>
            <a:off x="5580000" y="2898000"/>
            <a:ext cx="3420000" cy="1494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52000" y="2951999"/>
            <a:ext cx="3276000" cy="136800"/>
          </a:xfrm>
          <a:prstGeom prst="rect">
            <a:avLst/>
          </a:prstGeom>
          <a:noFill/>
        </p:spPr>
        <p:txBody>
          <a:bodyPr wrap="square">
            <a:spAutoFit/>
          </a:bodyPr>
          <a:lstStyle/>
          <a:p>
            <a:pPr algn="l"/>
            <a:r>
              <a:rPr sz="750" b="0" i="0">
                <a:solidFill>
                  <a:srgbClr val="555555"/>
                </a:solidFill>
                <a:latin typeface="Calibri"/>
              </a:rPr>
              <a:t>Beneish M-Score : &lt; -1,78 = faible risque</a:t>
            </a:r>
          </a:p>
        </p:txBody>
      </p:sp>
      <p:sp>
        <p:nvSpPr>
          <p:cNvPr id="28" name="TextBox 27"/>
          <p:cNvSpPr txBox="1"/>
          <p:nvPr/>
        </p:nvSpPr>
        <p:spPr>
          <a:xfrm>
            <a:off x="5652000" y="3088800"/>
            <a:ext cx="3276000" cy="136800"/>
          </a:xfrm>
          <a:prstGeom prst="rect">
            <a:avLst/>
          </a:prstGeom>
          <a:noFill/>
        </p:spPr>
        <p:txBody>
          <a:bodyPr wrap="square">
            <a:spAutoFit/>
          </a:bodyPr>
          <a:lstStyle/>
          <a:p>
            <a:pPr algn="l"/>
            <a:r>
              <a:rPr sz="750" b="0" i="0">
                <a:solidFill>
                  <a:srgbClr val="555555"/>
                </a:solidFill>
                <a:latin typeface="Calibri"/>
              </a:rPr>
              <a:t>    manipulation comptable ; &gt; -1,78 = risque</a:t>
            </a:r>
          </a:p>
        </p:txBody>
      </p:sp>
      <p:sp>
        <p:nvSpPr>
          <p:cNvPr id="29" name="TextBox 28"/>
          <p:cNvSpPr txBox="1"/>
          <p:nvPr/>
        </p:nvSpPr>
        <p:spPr>
          <a:xfrm>
            <a:off x="5652000" y="3225600"/>
            <a:ext cx="3276000" cy="136800"/>
          </a:xfrm>
          <a:prstGeom prst="rect">
            <a:avLst/>
          </a:prstGeom>
          <a:noFill/>
        </p:spPr>
        <p:txBody>
          <a:bodyPr wrap="square">
            <a:spAutoFit/>
          </a:bodyPr>
          <a:lstStyle/>
          <a:p>
            <a:pPr algn="l"/>
            <a:r>
              <a:rPr sz="750" b="0" i="0">
                <a:solidFill>
                  <a:srgbClr val="555555"/>
                </a:solidFill>
                <a:latin typeface="Calibri"/>
              </a:rPr>
              <a:t/>
            </a:r>
          </a:p>
        </p:txBody>
      </p:sp>
      <p:sp>
        <p:nvSpPr>
          <p:cNvPr id="30" name="TextBox 29"/>
          <p:cNvSpPr txBox="1"/>
          <p:nvPr/>
        </p:nvSpPr>
        <p:spPr>
          <a:xfrm>
            <a:off x="5652000" y="3362400"/>
            <a:ext cx="3276000" cy="136800"/>
          </a:xfrm>
          <a:prstGeom prst="rect">
            <a:avLst/>
          </a:prstGeom>
          <a:noFill/>
        </p:spPr>
        <p:txBody>
          <a:bodyPr wrap="square">
            <a:spAutoFit/>
          </a:bodyPr>
          <a:lstStyle/>
          <a:p>
            <a:pPr algn="l"/>
            <a:r>
              <a:rPr sz="750" b="0" i="0">
                <a:solidFill>
                  <a:srgbClr val="555555"/>
                </a:solidFill>
                <a:latin typeface="Calibri"/>
              </a:rPr>
              <a:t>Altman Z-Score : &gt; 2,99 = sain ;</a:t>
            </a:r>
          </a:p>
        </p:txBody>
      </p:sp>
      <p:sp>
        <p:nvSpPr>
          <p:cNvPr id="31" name="TextBox 30"/>
          <p:cNvSpPr txBox="1"/>
          <p:nvPr/>
        </p:nvSpPr>
        <p:spPr>
          <a:xfrm>
            <a:off x="5652000" y="3499200"/>
            <a:ext cx="3276000" cy="136800"/>
          </a:xfrm>
          <a:prstGeom prst="rect">
            <a:avLst/>
          </a:prstGeom>
          <a:noFill/>
        </p:spPr>
        <p:txBody>
          <a:bodyPr wrap="square">
            <a:spAutoFit/>
          </a:bodyPr>
          <a:lstStyle/>
          <a:p>
            <a:pPr algn="l"/>
            <a:r>
              <a:rPr sz="750" b="0" i="0">
                <a:solidFill>
                  <a:srgbClr val="555555"/>
                </a:solidFill>
                <a:latin typeface="Calibri"/>
              </a:rPr>
              <a:t>    1,81-2,99 = zone grise ;</a:t>
            </a:r>
          </a:p>
        </p:txBody>
      </p:sp>
      <p:sp>
        <p:nvSpPr>
          <p:cNvPr id="32" name="TextBox 31"/>
          <p:cNvSpPr txBox="1"/>
          <p:nvPr/>
        </p:nvSpPr>
        <p:spPr>
          <a:xfrm>
            <a:off x="5652000" y="3636000"/>
            <a:ext cx="3276000" cy="136800"/>
          </a:xfrm>
          <a:prstGeom prst="rect">
            <a:avLst/>
          </a:prstGeom>
          <a:noFill/>
        </p:spPr>
        <p:txBody>
          <a:bodyPr wrap="square">
            <a:spAutoFit/>
          </a:bodyPr>
          <a:lstStyle/>
          <a:p>
            <a:pPr algn="l"/>
            <a:r>
              <a:rPr sz="750" b="0" i="0">
                <a:solidFill>
                  <a:srgbClr val="555555"/>
                </a:solidFill>
                <a:latin typeface="Calibri"/>
              </a:rPr>
              <a:t>    &lt; 1,81 = risque de detresse</a:t>
            </a:r>
          </a:p>
        </p:txBody>
      </p:sp>
      <p:sp>
        <p:nvSpPr>
          <p:cNvPr id="33" name="TextBox 32"/>
          <p:cNvSpPr txBox="1"/>
          <p:nvPr/>
        </p:nvSpPr>
        <p:spPr>
          <a:xfrm>
            <a:off x="5652000" y="3772800"/>
            <a:ext cx="3276000" cy="136800"/>
          </a:xfrm>
          <a:prstGeom prst="rect">
            <a:avLst/>
          </a:prstGeom>
          <a:noFill/>
        </p:spPr>
        <p:txBody>
          <a:bodyPr wrap="square">
            <a:spAutoFit/>
          </a:bodyPr>
          <a:lstStyle/>
          <a:p>
            <a:pPr algn="l"/>
            <a:r>
              <a:rPr sz="750" b="0" i="0">
                <a:solidFill>
                  <a:srgbClr val="555555"/>
                </a:solidFill>
                <a:latin typeface="Calibri"/>
              </a:rPr>
              <a:t/>
            </a:r>
          </a:p>
        </p:txBody>
      </p:sp>
      <p:sp>
        <p:nvSpPr>
          <p:cNvPr id="34" name="TextBox 33"/>
          <p:cNvSpPr txBox="1"/>
          <p:nvPr/>
        </p:nvSpPr>
        <p:spPr>
          <a:xfrm>
            <a:off x="5652000" y="3909600"/>
            <a:ext cx="3276000" cy="136800"/>
          </a:xfrm>
          <a:prstGeom prst="rect">
            <a:avLst/>
          </a:prstGeom>
          <a:noFill/>
        </p:spPr>
        <p:txBody>
          <a:bodyPr wrap="square">
            <a:spAutoFit/>
          </a:bodyPr>
          <a:lstStyle/>
          <a:p>
            <a:pPr algn="l"/>
            <a:r>
              <a:rPr sz="750" b="0" i="0">
                <a:solidFill>
                  <a:srgbClr val="555555"/>
                </a:solidFill>
                <a:latin typeface="Calibri"/>
              </a:rPr>
              <a:t>Sloan Accruals : proche de 0 = qualite</a:t>
            </a:r>
          </a:p>
        </p:txBody>
      </p:sp>
      <p:sp>
        <p:nvSpPr>
          <p:cNvPr id="35" name="TextBox 34"/>
          <p:cNvSpPr txBox="1"/>
          <p:nvPr/>
        </p:nvSpPr>
        <p:spPr>
          <a:xfrm>
            <a:off x="5652000" y="4046400"/>
            <a:ext cx="3276000" cy="136800"/>
          </a:xfrm>
          <a:prstGeom prst="rect">
            <a:avLst/>
          </a:prstGeom>
          <a:noFill/>
        </p:spPr>
        <p:txBody>
          <a:bodyPr wrap="square">
            <a:spAutoFit/>
          </a:bodyPr>
          <a:lstStyle/>
          <a:p>
            <a:pPr algn="l"/>
            <a:r>
              <a:rPr sz="750" b="0" i="0">
                <a:solidFill>
                  <a:srgbClr val="555555"/>
                </a:solidFill>
                <a:latin typeface="Calibri"/>
              </a:rPr>
              <a:t>    earnings elevee (cash-based)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Profil de Risque &amp; Momentum Compare</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4" name="Rectangle 13"/>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sp>
        <p:nvSpPr>
          <p:cNvPr id="22" name="Rectangle 21"/>
          <p:cNvSpPr/>
          <p:nvPr/>
        </p:nvSpPr>
        <p:spPr>
          <a:xfrm>
            <a:off x="367200" y="882000"/>
            <a:ext cx="1980000" cy="68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882000"/>
            <a:ext cx="46800" cy="68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936000"/>
            <a:ext cx="1843200" cy="360000"/>
          </a:xfrm>
          <a:prstGeom prst="rect">
            <a:avLst/>
          </a:prstGeom>
          <a:noFill/>
        </p:spPr>
        <p:txBody>
          <a:bodyPr wrap="square">
            <a:spAutoFit/>
          </a:bodyPr>
          <a:lstStyle/>
          <a:p>
            <a:pPr algn="l"/>
            <a:r>
              <a:rPr sz="1700" b="1" i="0">
                <a:solidFill>
                  <a:srgbClr val="1B3A6B"/>
                </a:solidFill>
                <a:latin typeface="Calibri"/>
              </a:rPr>
              <a:t>1,11</a:t>
            </a:r>
          </a:p>
        </p:txBody>
      </p:sp>
      <p:sp>
        <p:nvSpPr>
          <p:cNvPr id="25" name="TextBox 24"/>
          <p:cNvSpPr txBox="1"/>
          <p:nvPr/>
        </p:nvSpPr>
        <p:spPr>
          <a:xfrm>
            <a:off x="457200" y="1278000"/>
            <a:ext cx="1843200" cy="180000"/>
          </a:xfrm>
          <a:prstGeom prst="rect">
            <a:avLst/>
          </a:prstGeom>
          <a:noFill/>
        </p:spPr>
        <p:txBody>
          <a:bodyPr wrap="square">
            <a:spAutoFit/>
          </a:bodyPr>
          <a:lstStyle/>
          <a:p>
            <a:pPr algn="l"/>
            <a:r>
              <a:rPr sz="750" b="0" i="0">
                <a:solidFill>
                  <a:srgbClr val="555555"/>
                </a:solidFill>
                <a:latin typeface="Calibri"/>
              </a:rPr>
              <a:t>Beta — AAPL</a:t>
            </a:r>
          </a:p>
        </p:txBody>
      </p:sp>
      <p:sp>
        <p:nvSpPr>
          <p:cNvPr id="26" name="TextBox 25"/>
          <p:cNvSpPr txBox="1"/>
          <p:nvPr/>
        </p:nvSpPr>
        <p:spPr>
          <a:xfrm>
            <a:off x="457200" y="1378800"/>
            <a:ext cx="1843200" cy="151200"/>
          </a:xfrm>
          <a:prstGeom prst="rect">
            <a:avLst/>
          </a:prstGeom>
          <a:noFill/>
        </p:spPr>
        <p:txBody>
          <a:bodyPr wrap="square">
            <a:spAutoFit/>
          </a:bodyPr>
          <a:lstStyle/>
          <a:p>
            <a:pPr algn="l"/>
            <a:r>
              <a:rPr sz="700" b="0" i="0">
                <a:solidFill>
                  <a:srgbClr val="888888"/>
                </a:solidFill>
                <a:latin typeface="Calibri"/>
              </a:rPr>
              <a:t>vs marche</a:t>
            </a:r>
          </a:p>
        </p:txBody>
      </p:sp>
      <p:sp>
        <p:nvSpPr>
          <p:cNvPr id="27" name="Rectangle 26"/>
          <p:cNvSpPr/>
          <p:nvPr/>
        </p:nvSpPr>
        <p:spPr>
          <a:xfrm>
            <a:off x="2520000" y="882000"/>
            <a:ext cx="1835999" cy="68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20000" y="882000"/>
            <a:ext cx="46800" cy="68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10000" y="936000"/>
            <a:ext cx="1699200" cy="360000"/>
          </a:xfrm>
          <a:prstGeom prst="rect">
            <a:avLst/>
          </a:prstGeom>
          <a:noFill/>
        </p:spPr>
        <p:txBody>
          <a:bodyPr wrap="square">
            <a:spAutoFit/>
          </a:bodyPr>
          <a:lstStyle/>
          <a:p>
            <a:pPr algn="l"/>
            <a:r>
              <a:rPr sz="1700" b="1" i="0">
                <a:solidFill>
                  <a:srgbClr val="1B3A6B"/>
                </a:solidFill>
                <a:latin typeface="Calibri"/>
              </a:rPr>
              <a:t>-5,9 %</a:t>
            </a:r>
          </a:p>
        </p:txBody>
      </p:sp>
      <p:sp>
        <p:nvSpPr>
          <p:cNvPr id="30" name="TextBox 29"/>
          <p:cNvSpPr txBox="1"/>
          <p:nvPr/>
        </p:nvSpPr>
        <p:spPr>
          <a:xfrm>
            <a:off x="2610000" y="1278000"/>
            <a:ext cx="1699200" cy="180000"/>
          </a:xfrm>
          <a:prstGeom prst="rect">
            <a:avLst/>
          </a:prstGeom>
          <a:noFill/>
        </p:spPr>
        <p:txBody>
          <a:bodyPr wrap="square">
            <a:spAutoFit/>
          </a:bodyPr>
          <a:lstStyle/>
          <a:p>
            <a:pPr algn="l"/>
            <a:r>
              <a:rPr sz="750" b="0" i="0">
                <a:solidFill>
                  <a:srgbClr val="555555"/>
                </a:solidFill>
                <a:latin typeface="Calibri"/>
              </a:rPr>
              <a:t>VaR 95% 1M — AAPL</a:t>
            </a:r>
          </a:p>
        </p:txBody>
      </p:sp>
      <p:sp>
        <p:nvSpPr>
          <p:cNvPr id="31" name="Rectangle 30"/>
          <p:cNvSpPr/>
          <p:nvPr/>
        </p:nvSpPr>
        <p:spPr>
          <a:xfrm>
            <a:off x="4680000" y="882000"/>
            <a:ext cx="1980000" cy="684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80000" y="882000"/>
            <a:ext cx="46800" cy="684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0000" y="936000"/>
            <a:ext cx="1843200" cy="360000"/>
          </a:xfrm>
          <a:prstGeom prst="rect">
            <a:avLst/>
          </a:prstGeom>
          <a:noFill/>
        </p:spPr>
        <p:txBody>
          <a:bodyPr wrap="square">
            <a:spAutoFit/>
          </a:bodyPr>
          <a:lstStyle/>
          <a:p>
            <a:pPr algn="l"/>
            <a:r>
              <a:rPr sz="1700" b="1" i="0">
                <a:solidFill>
                  <a:srgbClr val="1B3A6B"/>
                </a:solidFill>
                <a:latin typeface="Calibri"/>
              </a:rPr>
              <a:t>1,11</a:t>
            </a:r>
          </a:p>
        </p:txBody>
      </p:sp>
      <p:sp>
        <p:nvSpPr>
          <p:cNvPr id="34" name="TextBox 33"/>
          <p:cNvSpPr txBox="1"/>
          <p:nvPr/>
        </p:nvSpPr>
        <p:spPr>
          <a:xfrm>
            <a:off x="4770000" y="1278000"/>
            <a:ext cx="1843200" cy="180000"/>
          </a:xfrm>
          <a:prstGeom prst="rect">
            <a:avLst/>
          </a:prstGeom>
          <a:noFill/>
        </p:spPr>
        <p:txBody>
          <a:bodyPr wrap="square">
            <a:spAutoFit/>
          </a:bodyPr>
          <a:lstStyle/>
          <a:p>
            <a:pPr algn="l"/>
            <a:r>
              <a:rPr sz="750" b="0" i="0">
                <a:solidFill>
                  <a:srgbClr val="555555"/>
                </a:solidFill>
                <a:latin typeface="Calibri"/>
              </a:rPr>
              <a:t>Beta — MSFT</a:t>
            </a:r>
          </a:p>
        </p:txBody>
      </p:sp>
      <p:sp>
        <p:nvSpPr>
          <p:cNvPr id="35" name="TextBox 34"/>
          <p:cNvSpPr txBox="1"/>
          <p:nvPr/>
        </p:nvSpPr>
        <p:spPr>
          <a:xfrm>
            <a:off x="4770000" y="1378800"/>
            <a:ext cx="1843200" cy="151200"/>
          </a:xfrm>
          <a:prstGeom prst="rect">
            <a:avLst/>
          </a:prstGeom>
          <a:noFill/>
        </p:spPr>
        <p:txBody>
          <a:bodyPr wrap="square">
            <a:spAutoFit/>
          </a:bodyPr>
          <a:lstStyle/>
          <a:p>
            <a:pPr algn="l"/>
            <a:r>
              <a:rPr sz="700" b="0" i="0">
                <a:solidFill>
                  <a:srgbClr val="888888"/>
                </a:solidFill>
                <a:latin typeface="Calibri"/>
              </a:rPr>
              <a:t>vs marche</a:t>
            </a:r>
          </a:p>
        </p:txBody>
      </p:sp>
      <p:sp>
        <p:nvSpPr>
          <p:cNvPr id="36" name="Rectangle 35"/>
          <p:cNvSpPr/>
          <p:nvPr/>
        </p:nvSpPr>
        <p:spPr>
          <a:xfrm>
            <a:off x="6822000" y="882000"/>
            <a:ext cx="1944000" cy="684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22000" y="882000"/>
            <a:ext cx="46800" cy="684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12000" y="936000"/>
            <a:ext cx="1807200" cy="360000"/>
          </a:xfrm>
          <a:prstGeom prst="rect">
            <a:avLst/>
          </a:prstGeom>
          <a:noFill/>
        </p:spPr>
        <p:txBody>
          <a:bodyPr wrap="square">
            <a:spAutoFit/>
          </a:bodyPr>
          <a:lstStyle/>
          <a:p>
            <a:pPr algn="l"/>
            <a:r>
              <a:rPr sz="1700" b="1" i="0">
                <a:solidFill>
                  <a:srgbClr val="1B3A6B"/>
                </a:solidFill>
                <a:latin typeface="Calibri"/>
              </a:rPr>
              <a:t>-9,4 %</a:t>
            </a:r>
          </a:p>
        </p:txBody>
      </p:sp>
      <p:sp>
        <p:nvSpPr>
          <p:cNvPr id="39" name="TextBox 38"/>
          <p:cNvSpPr txBox="1"/>
          <p:nvPr/>
        </p:nvSpPr>
        <p:spPr>
          <a:xfrm>
            <a:off x="6912000" y="1278000"/>
            <a:ext cx="1807200" cy="180000"/>
          </a:xfrm>
          <a:prstGeom prst="rect">
            <a:avLst/>
          </a:prstGeom>
          <a:noFill/>
        </p:spPr>
        <p:txBody>
          <a:bodyPr wrap="square">
            <a:spAutoFit/>
          </a:bodyPr>
          <a:lstStyle/>
          <a:p>
            <a:pPr algn="l"/>
            <a:r>
              <a:rPr sz="750" b="0" i="0">
                <a:solidFill>
                  <a:srgbClr val="555555"/>
                </a:solidFill>
                <a:latin typeface="Calibri"/>
              </a:rPr>
              <a:t>VaR 95% 1M — MSFT</a:t>
            </a:r>
          </a:p>
        </p:txBody>
      </p:sp>
      <p:graphicFrame>
        <p:nvGraphicFramePr>
          <p:cNvPr id="40" name="Table 39"/>
          <p:cNvGraphicFramePr>
            <a:graphicFrameLocks noGrp="1"/>
          </p:cNvGraphicFramePr>
          <p:nvPr/>
        </p:nvGraphicFramePr>
        <p:xfrm>
          <a:off x="367200" y="1674000"/>
          <a:ext cx="4500000" cy="1620000"/>
        </p:xfrm>
        <a:graphic>
          <a:graphicData uri="http://schemas.openxmlformats.org/drawingml/2006/table">
            <a:tbl>
              <a:tblPr firstRow="1" bandRow="1">
                <a:tableStyleId>{5C22544A-7EE6-4342-B048-85BDC9FD1C3A}</a:tableStyleId>
              </a:tblPr>
              <a:tblGrid>
                <a:gridCol w="1980000"/>
                <a:gridCol w="1260000"/>
                <a:gridCol w="1260000"/>
              </a:tblGrid>
              <a:tr h="231428">
                <a:tc>
                  <a:txBody>
                    <a:bodyPr/>
                    <a:lstStyle/>
                    <a:p>
                      <a:pPr algn="l"/>
                      <a:r>
                        <a:rPr sz="750" b="1" i="0">
                          <a:solidFill>
                            <a:srgbClr val="FFFFFF"/>
                          </a:solidFill>
                          <a:latin typeface="Calibri"/>
                        </a:rPr>
                        <a:t>Performance / Risque</a:t>
                      </a:r>
                    </a:p>
                  </a:txBody>
                  <a:tcPr>
                    <a:solidFill>
                      <a:srgbClr val="1B3A6B"/>
                    </a:solidFill>
                  </a:tcPr>
                </a:tc>
                <a:tc>
                  <a:txBody>
                    <a:bodyPr/>
                    <a:lstStyle/>
                    <a:p>
                      <a:pPr algn="ctr"/>
                      <a:r>
                        <a:rPr sz="750" b="1" i="0">
                          <a:solidFill>
                            <a:srgbClr val="FFFFFF"/>
                          </a:solidFill>
                          <a:latin typeface="Calibri"/>
                        </a:rPr>
                        <a:t>AAPL</a:t>
                      </a:r>
                    </a:p>
                  </a:txBody>
                  <a:tcPr>
                    <a:solidFill>
                      <a:srgbClr val="1B3A6B"/>
                    </a:solidFill>
                  </a:tcPr>
                </a:tc>
                <a:tc>
                  <a:txBody>
                    <a:bodyPr/>
                    <a:lstStyle/>
                    <a:p>
                      <a:pPr algn="ctr"/>
                      <a:r>
                        <a:rPr sz="750" b="1" i="0">
                          <a:solidFill>
                            <a:srgbClr val="FFFFFF"/>
                          </a:solidFill>
                          <a:latin typeface="Calibri"/>
                        </a:rPr>
                        <a:t>MSFT</a:t>
                      </a:r>
                    </a:p>
                  </a:txBody>
                  <a:tcPr>
                    <a:solidFill>
                      <a:srgbClr val="1B3A6B"/>
                    </a:solidFill>
                  </a:tcPr>
                </a:tc>
              </a:tr>
              <a:tr h="231428">
                <a:tc>
                  <a:txBody>
                    <a:bodyPr/>
                    <a:lstStyle/>
                    <a:p>
                      <a:pPr algn="l"/>
                      <a:r>
                        <a:rPr sz="750" b="0" i="0">
                          <a:solidFill>
                            <a:srgbClr val="0D0D0D"/>
                          </a:solidFill>
                          <a:latin typeface="Calibri"/>
                        </a:rPr>
                        <a:t>Perf. 1 Mois</a:t>
                      </a:r>
                    </a:p>
                  </a:txBody>
                  <a:tcPr>
                    <a:solidFill>
                      <a:srgbClr val="FFFFFF"/>
                    </a:solidFill>
                  </a:tcPr>
                </a:tc>
                <a:tc>
                  <a:txBody>
                    <a:bodyPr/>
                    <a:lstStyle/>
                    <a:p>
                      <a:pPr algn="ctr"/>
                      <a:r>
                        <a:rPr sz="750" b="0" i="0">
                          <a:solidFill>
                            <a:srgbClr val="0D0D0D"/>
                          </a:solidFill>
                          <a:latin typeface="Calibri"/>
                        </a:rPr>
                        <a:t>-0,1 %</a:t>
                      </a:r>
                    </a:p>
                  </a:txBody>
                  <a:tcPr>
                    <a:solidFill>
                      <a:srgbClr val="FFFFFF"/>
                    </a:solidFill>
                  </a:tcPr>
                </a:tc>
                <a:tc>
                  <a:txBody>
                    <a:bodyPr/>
                    <a:lstStyle/>
                    <a:p>
                      <a:pPr algn="ctr"/>
                      <a:r>
                        <a:rPr sz="750" b="0" i="0">
                          <a:solidFill>
                            <a:srgbClr val="0D0D0D"/>
                          </a:solidFill>
                          <a:latin typeface="Calibri"/>
                        </a:rPr>
                        <a:t>+0,6 %</a:t>
                      </a:r>
                    </a:p>
                  </a:txBody>
                  <a:tcPr>
                    <a:solidFill>
                      <a:srgbClr val="FFFFFF"/>
                    </a:solidFill>
                  </a:tcPr>
                </a:tc>
              </a:tr>
              <a:tr h="231428">
                <a:tc>
                  <a:txBody>
                    <a:bodyPr/>
                    <a:lstStyle/>
                    <a:p>
                      <a:pPr algn="l"/>
                      <a:r>
                        <a:rPr sz="750" b="0" i="0">
                          <a:solidFill>
                            <a:srgbClr val="0D0D0D"/>
                          </a:solidFill>
                          <a:latin typeface="Calibri"/>
                        </a:rPr>
                        <a:t>Perf. 3 Mois</a:t>
                      </a:r>
                    </a:p>
                  </a:txBody>
                  <a:tcPr>
                    <a:solidFill>
                      <a:srgbClr val="F7F8FA"/>
                    </a:solidFill>
                  </a:tcPr>
                </a:tc>
                <a:tc>
                  <a:txBody>
                    <a:bodyPr/>
                    <a:lstStyle/>
                    <a:p>
                      <a:pPr algn="ctr"/>
                      <a:r>
                        <a:rPr sz="750" b="0" i="0">
                          <a:solidFill>
                            <a:srgbClr val="0D0D0D"/>
                          </a:solidFill>
                          <a:latin typeface="Calibri"/>
                        </a:rPr>
                        <a:t>-2,2 %</a:t>
                      </a:r>
                    </a:p>
                  </a:txBody>
                  <a:tcPr>
                    <a:solidFill>
                      <a:srgbClr val="F7F8FA"/>
                    </a:solidFill>
                  </a:tcPr>
                </a:tc>
                <a:tc>
                  <a:txBody>
                    <a:bodyPr/>
                    <a:lstStyle/>
                    <a:p>
                      <a:pPr algn="ctr"/>
                      <a:r>
                        <a:rPr sz="750" b="0" i="0">
                          <a:solidFill>
                            <a:srgbClr val="0D0D0D"/>
                          </a:solidFill>
                          <a:latin typeface="Calibri"/>
                        </a:rPr>
                        <a:t>-13,3 %</a:t>
                      </a:r>
                    </a:p>
                  </a:txBody>
                  <a:tcPr>
                    <a:solidFill>
                      <a:srgbClr val="F7F8FA"/>
                    </a:solidFill>
                  </a:tcPr>
                </a:tc>
              </a:tr>
              <a:tr h="231428">
                <a:tc>
                  <a:txBody>
                    <a:bodyPr/>
                    <a:lstStyle/>
                    <a:p>
                      <a:pPr algn="l"/>
                      <a:r>
                        <a:rPr sz="750" b="0" i="0">
                          <a:solidFill>
                            <a:srgbClr val="0D0D0D"/>
                          </a:solidFill>
                          <a:latin typeface="Calibri"/>
                        </a:rPr>
                        <a:t>Perf. 1 An</a:t>
                      </a:r>
                    </a:p>
                  </a:txBody>
                  <a:tcPr>
                    <a:solidFill>
                      <a:srgbClr val="FFFFFF"/>
                    </a:solidFill>
                  </a:tcPr>
                </a:tc>
                <a:tc>
                  <a:txBody>
                    <a:bodyPr/>
                    <a:lstStyle/>
                    <a:p>
                      <a:pPr algn="ctr"/>
                      <a:r>
                        <a:rPr sz="750" b="0" i="0">
                          <a:solidFill>
                            <a:srgbClr val="0D0D0D"/>
                          </a:solidFill>
                          <a:latin typeface="Calibri"/>
                        </a:rPr>
                        <a:t>+26,8 %</a:t>
                      </a:r>
                    </a:p>
                  </a:txBody>
                  <a:tcPr>
                    <a:solidFill>
                      <a:srgbClr val="FFFFFF"/>
                    </a:solidFill>
                  </a:tcPr>
                </a:tc>
                <a:tc>
                  <a:txBody>
                    <a:bodyPr/>
                    <a:lstStyle/>
                    <a:p>
                      <a:pPr algn="ctr"/>
                      <a:r>
                        <a:rPr sz="750" b="0" i="0">
                          <a:solidFill>
                            <a:srgbClr val="0D0D0D"/>
                          </a:solidFill>
                          <a:latin typeface="Calibri"/>
                        </a:rPr>
                        <a:t>-18,5 %</a:t>
                      </a:r>
                    </a:p>
                  </a:txBody>
                  <a:tcPr>
                    <a:solidFill>
                      <a:srgbClr val="FFFFFF"/>
                    </a:solidFill>
                  </a:tcPr>
                </a:tc>
              </a:tr>
              <a:tr h="231428">
                <a:tc>
                  <a:txBody>
                    <a:bodyPr/>
                    <a:lstStyle/>
                    <a:p>
                      <a:pPr algn="l"/>
                      <a:r>
                        <a:rPr sz="750" b="0" i="0">
                          <a:solidFill>
                            <a:srgbClr val="0D0D0D"/>
                          </a:solidFill>
                          <a:latin typeface="Calibri"/>
                        </a:rPr>
                        <a:t>Score Momentum</a:t>
                      </a:r>
                    </a:p>
                  </a:txBody>
                  <a:tcPr>
                    <a:solidFill>
                      <a:srgbClr val="F7F8FA"/>
                    </a:solidFill>
                  </a:tcPr>
                </a:tc>
                <a:tc>
                  <a:txBody>
                    <a:bodyPr/>
                    <a:lstStyle/>
                    <a:p>
                      <a:pPr algn="ctr"/>
                      <a:r>
                        <a:rPr sz="750" b="0" i="0">
                          <a:solidFill>
                            <a:srgbClr val="0D0D0D"/>
                          </a:solidFill>
                          <a:latin typeface="Calibri"/>
                        </a:rPr>
                        <a:t>4,4 /10</a:t>
                      </a:r>
                    </a:p>
                  </a:txBody>
                  <a:tcPr>
                    <a:solidFill>
                      <a:srgbClr val="F7F8FA"/>
                    </a:solidFill>
                  </a:tcPr>
                </a:tc>
                <a:tc>
                  <a:txBody>
                    <a:bodyPr/>
                    <a:lstStyle/>
                    <a:p>
                      <a:pPr algn="ctr"/>
                      <a:r>
                        <a:rPr sz="750" b="0" i="0">
                          <a:solidFill>
                            <a:srgbClr val="0D0D0D"/>
                          </a:solidFill>
                          <a:latin typeface="Calibri"/>
                        </a:rPr>
                        <a:t>1,7 /10</a:t>
                      </a:r>
                    </a:p>
                  </a:txBody>
                  <a:tcPr>
                    <a:solidFill>
                      <a:srgbClr val="F7F8FA"/>
                    </a:solidFill>
                  </a:tcPr>
                </a:tc>
              </a:tr>
              <a:tr h="231428">
                <a:tc>
                  <a:txBody>
                    <a:bodyPr/>
                    <a:lstStyle/>
                    <a:p>
                      <a:pPr algn="l"/>
                      <a:r>
                        <a:rPr sz="750" b="0" i="0">
                          <a:solidFill>
                            <a:srgbClr val="0D0D0D"/>
                          </a:solidFill>
                          <a:latin typeface="Calibri"/>
                        </a:rPr>
                        <a:t>Beta</a:t>
                      </a:r>
                    </a:p>
                  </a:txBody>
                  <a:tcPr>
                    <a:solidFill>
                      <a:srgbClr val="FFFFFF"/>
                    </a:solidFill>
                  </a:tcPr>
                </a:tc>
                <a:tc>
                  <a:txBody>
                    <a:bodyPr/>
                    <a:lstStyle/>
                    <a:p>
                      <a:pPr algn="ctr"/>
                      <a:r>
                        <a:rPr sz="750" b="0" i="0">
                          <a:solidFill>
                            <a:srgbClr val="0D0D0D"/>
                          </a:solidFill>
                          <a:latin typeface="Calibri"/>
                        </a:rPr>
                        <a:t>1,11</a:t>
                      </a:r>
                    </a:p>
                  </a:txBody>
                  <a:tcPr>
                    <a:solidFill>
                      <a:srgbClr val="FFFFFF"/>
                    </a:solidFill>
                  </a:tcPr>
                </a:tc>
                <a:tc>
                  <a:txBody>
                    <a:bodyPr/>
                    <a:lstStyle/>
                    <a:p>
                      <a:pPr algn="ctr"/>
                      <a:r>
                        <a:rPr sz="750" b="0" i="0">
                          <a:solidFill>
                            <a:srgbClr val="0D0D0D"/>
                          </a:solidFill>
                          <a:latin typeface="Calibri"/>
                        </a:rPr>
                        <a:t>1,11</a:t>
                      </a:r>
                    </a:p>
                  </a:txBody>
                  <a:tcPr>
                    <a:solidFill>
                      <a:srgbClr val="FFFFFF"/>
                    </a:solidFill>
                  </a:tcPr>
                </a:tc>
              </a:tr>
              <a:tr h="231432">
                <a:tc>
                  <a:txBody>
                    <a:bodyPr/>
                    <a:lstStyle/>
                    <a:p>
                      <a:pPr algn="l"/>
                      <a:r>
                        <a:rPr sz="750" b="0" i="0">
                          <a:solidFill>
                            <a:srgbClr val="0D0D0D"/>
                          </a:solidFill>
                          <a:latin typeface="Calibri"/>
                        </a:rPr>
                        <a:t>VaR 95% 1M</a:t>
                      </a:r>
                    </a:p>
                  </a:txBody>
                  <a:tcPr>
                    <a:solidFill>
                      <a:srgbClr val="F7F8FA"/>
                    </a:solidFill>
                  </a:tcPr>
                </a:tc>
                <a:tc>
                  <a:txBody>
                    <a:bodyPr/>
                    <a:lstStyle/>
                    <a:p>
                      <a:pPr algn="ctr"/>
                      <a:r>
                        <a:rPr sz="750" b="0" i="0">
                          <a:solidFill>
                            <a:srgbClr val="0D0D0D"/>
                          </a:solidFill>
                          <a:latin typeface="Calibri"/>
                        </a:rPr>
                        <a:t>-5,9 %</a:t>
                      </a:r>
                    </a:p>
                  </a:txBody>
                  <a:tcPr>
                    <a:solidFill>
                      <a:srgbClr val="F7F8FA"/>
                    </a:solidFill>
                  </a:tcPr>
                </a:tc>
                <a:tc>
                  <a:txBody>
                    <a:bodyPr/>
                    <a:lstStyle/>
                    <a:p>
                      <a:pPr algn="ctr"/>
                      <a:r>
                        <a:rPr sz="750" b="0" i="0">
                          <a:solidFill>
                            <a:srgbClr val="0D0D0D"/>
                          </a:solidFill>
                          <a:latin typeface="Calibri"/>
                        </a:rPr>
                        <a:t>-9,4 %</a:t>
                      </a:r>
                    </a:p>
                  </a:txBody>
                  <a:tcPr>
                    <a:solidFill>
                      <a:srgbClr val="F7F8FA"/>
                    </a:solidFill>
                  </a:tcPr>
                </a:tc>
              </a:tr>
            </a:tbl>
          </a:graphicData>
        </a:graphic>
      </p:graphicFrame>
      <p:pic>
        <p:nvPicPr>
          <p:cNvPr id="41" name="Picture 40" descr="image.png"/>
          <p:cNvPicPr>
            <a:picLocks noChangeAspect="1"/>
          </p:cNvPicPr>
          <p:nvPr/>
        </p:nvPicPr>
        <p:blipFill>
          <a:blip r:embed="rId2"/>
          <a:stretch>
            <a:fillRect/>
          </a:stretch>
        </p:blipFill>
        <p:spPr>
          <a:xfrm>
            <a:off x="4968000" y="1620000"/>
            <a:ext cx="3780000" cy="2880000"/>
          </a:xfrm>
          <a:prstGeom prst="rect">
            <a:avLst/>
          </a:prstGeom>
        </p:spPr>
      </p:pic>
      <p:sp>
        <p:nvSpPr>
          <p:cNvPr id="42" name="Rectangle 41"/>
          <p:cNvSpPr/>
          <p:nvPr/>
        </p:nvSpPr>
        <p:spPr>
          <a:xfrm>
            <a:off x="367200" y="3366000"/>
            <a:ext cx="45000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3999" y="3394800"/>
            <a:ext cx="4392000" cy="125999"/>
          </a:xfrm>
          <a:prstGeom prst="rect">
            <a:avLst/>
          </a:prstGeom>
          <a:noFill/>
        </p:spPr>
        <p:txBody>
          <a:bodyPr wrap="square">
            <a:spAutoFit/>
          </a:bodyPr>
          <a:lstStyle/>
          <a:p>
            <a:pPr algn="l"/>
            <a:r>
              <a:rPr sz="800" b="1" i="0">
                <a:solidFill>
                  <a:srgbClr val="FFFFFF"/>
                </a:solidFill>
                <a:latin typeface="Calibri"/>
              </a:rPr>
              <a:t>Fourchette 52 Semaines</a:t>
            </a:r>
          </a:p>
        </p:txBody>
      </p:sp>
      <p:sp>
        <p:nvSpPr>
          <p:cNvPr id="44" name="Rectangle 43"/>
          <p:cNvSpPr/>
          <p:nvPr/>
        </p:nvSpPr>
        <p:spPr>
          <a:xfrm>
            <a:off x="367200" y="3581999"/>
            <a:ext cx="4500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3999" y="3603600"/>
            <a:ext cx="1296000" cy="162000"/>
          </a:xfrm>
          <a:prstGeom prst="rect">
            <a:avLst/>
          </a:prstGeom>
          <a:noFill/>
        </p:spPr>
        <p:txBody>
          <a:bodyPr wrap="none">
            <a:spAutoFit/>
          </a:bodyPr>
          <a:lstStyle/>
          <a:p>
            <a:pPr algn="l"/>
            <a:r>
              <a:rPr sz="750" b="0" i="0">
                <a:solidFill>
                  <a:srgbClr val="555555"/>
                </a:solidFill>
                <a:latin typeface="Calibri"/>
              </a:rPr>
              <a:t>AAPL — 52W Low</a:t>
            </a:r>
          </a:p>
        </p:txBody>
      </p:sp>
      <p:sp>
        <p:nvSpPr>
          <p:cNvPr id="46" name="TextBox 45"/>
          <p:cNvSpPr txBox="1"/>
          <p:nvPr/>
        </p:nvSpPr>
        <p:spPr>
          <a:xfrm>
            <a:off x="1728000" y="3603600"/>
            <a:ext cx="864000" cy="162000"/>
          </a:xfrm>
          <a:prstGeom prst="rect">
            <a:avLst/>
          </a:prstGeom>
          <a:noFill/>
        </p:spPr>
        <p:txBody>
          <a:bodyPr wrap="none">
            <a:spAutoFit/>
          </a:bodyPr>
          <a:lstStyle/>
          <a:p>
            <a:pPr algn="l"/>
            <a:r>
              <a:rPr sz="800" b="1" i="0">
                <a:solidFill>
                  <a:srgbClr val="0D0D0D"/>
                </a:solidFill>
                <a:latin typeface="Calibri"/>
              </a:rPr>
              <a:t>171,89</a:t>
            </a:r>
          </a:p>
        </p:txBody>
      </p:sp>
      <p:sp>
        <p:nvSpPr>
          <p:cNvPr id="47" name="TextBox 46"/>
          <p:cNvSpPr txBox="1"/>
          <p:nvPr/>
        </p:nvSpPr>
        <p:spPr>
          <a:xfrm>
            <a:off x="2628000" y="3603600"/>
            <a:ext cx="1296000" cy="162000"/>
          </a:xfrm>
          <a:prstGeom prst="rect">
            <a:avLst/>
          </a:prstGeom>
          <a:noFill/>
        </p:spPr>
        <p:txBody>
          <a:bodyPr wrap="none">
            <a:spAutoFit/>
          </a:bodyPr>
          <a:lstStyle/>
          <a:p>
            <a:pPr algn="l"/>
            <a:r>
              <a:rPr sz="750" b="0" i="0">
                <a:solidFill>
                  <a:srgbClr val="555555"/>
                </a:solidFill>
                <a:latin typeface="Calibri"/>
              </a:rPr>
              <a:t>AAPL — 52W High</a:t>
            </a:r>
          </a:p>
        </p:txBody>
      </p:sp>
      <p:sp>
        <p:nvSpPr>
          <p:cNvPr id="48" name="TextBox 47"/>
          <p:cNvSpPr txBox="1"/>
          <p:nvPr/>
        </p:nvSpPr>
        <p:spPr>
          <a:xfrm>
            <a:off x="3960000" y="3603600"/>
            <a:ext cx="827999" cy="162000"/>
          </a:xfrm>
          <a:prstGeom prst="rect">
            <a:avLst/>
          </a:prstGeom>
          <a:noFill/>
        </p:spPr>
        <p:txBody>
          <a:bodyPr wrap="none">
            <a:spAutoFit/>
          </a:bodyPr>
          <a:lstStyle/>
          <a:p>
            <a:pPr algn="l"/>
            <a:r>
              <a:rPr sz="800" b="1" i="0">
                <a:solidFill>
                  <a:srgbClr val="0D0D0D"/>
                </a:solidFill>
                <a:latin typeface="Calibri"/>
              </a:rPr>
              <a:t>288,62</a:t>
            </a:r>
          </a:p>
        </p:txBody>
      </p:sp>
      <p:sp>
        <p:nvSpPr>
          <p:cNvPr id="49" name="Rectangle 48"/>
          <p:cNvSpPr/>
          <p:nvPr/>
        </p:nvSpPr>
        <p:spPr>
          <a:xfrm>
            <a:off x="367200" y="3790800"/>
            <a:ext cx="4500000" cy="19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3999" y="3812400"/>
            <a:ext cx="1296000" cy="162000"/>
          </a:xfrm>
          <a:prstGeom prst="rect">
            <a:avLst/>
          </a:prstGeom>
          <a:noFill/>
        </p:spPr>
        <p:txBody>
          <a:bodyPr wrap="none">
            <a:spAutoFit/>
          </a:bodyPr>
          <a:lstStyle/>
          <a:p>
            <a:pPr algn="l"/>
            <a:r>
              <a:rPr sz="750" b="0" i="0">
                <a:solidFill>
                  <a:srgbClr val="555555"/>
                </a:solidFill>
                <a:latin typeface="Calibri"/>
              </a:rPr>
              <a:t>MSFT — 52W Low</a:t>
            </a:r>
          </a:p>
        </p:txBody>
      </p:sp>
      <p:sp>
        <p:nvSpPr>
          <p:cNvPr id="51" name="TextBox 50"/>
          <p:cNvSpPr txBox="1"/>
          <p:nvPr/>
        </p:nvSpPr>
        <p:spPr>
          <a:xfrm>
            <a:off x="1728000" y="3812400"/>
            <a:ext cx="864000" cy="162000"/>
          </a:xfrm>
          <a:prstGeom prst="rect">
            <a:avLst/>
          </a:prstGeom>
          <a:noFill/>
        </p:spPr>
        <p:txBody>
          <a:bodyPr wrap="none">
            <a:spAutoFit/>
          </a:bodyPr>
          <a:lstStyle/>
          <a:p>
            <a:pPr algn="l"/>
            <a:r>
              <a:rPr sz="800" b="1" i="0">
                <a:solidFill>
                  <a:srgbClr val="0D0D0D"/>
                </a:solidFill>
                <a:latin typeface="Calibri"/>
              </a:rPr>
              <a:t>353,10</a:t>
            </a:r>
          </a:p>
        </p:txBody>
      </p:sp>
      <p:sp>
        <p:nvSpPr>
          <p:cNvPr id="52" name="TextBox 51"/>
          <p:cNvSpPr txBox="1"/>
          <p:nvPr/>
        </p:nvSpPr>
        <p:spPr>
          <a:xfrm>
            <a:off x="2628000" y="3812400"/>
            <a:ext cx="1296000" cy="162000"/>
          </a:xfrm>
          <a:prstGeom prst="rect">
            <a:avLst/>
          </a:prstGeom>
          <a:noFill/>
        </p:spPr>
        <p:txBody>
          <a:bodyPr wrap="none">
            <a:spAutoFit/>
          </a:bodyPr>
          <a:lstStyle/>
          <a:p>
            <a:pPr algn="l"/>
            <a:r>
              <a:rPr sz="750" b="0" i="0">
                <a:solidFill>
                  <a:srgbClr val="555555"/>
                </a:solidFill>
                <a:latin typeface="Calibri"/>
              </a:rPr>
              <a:t>MSFT — 52W High</a:t>
            </a:r>
          </a:p>
        </p:txBody>
      </p:sp>
      <p:sp>
        <p:nvSpPr>
          <p:cNvPr id="53" name="TextBox 52"/>
          <p:cNvSpPr txBox="1"/>
          <p:nvPr/>
        </p:nvSpPr>
        <p:spPr>
          <a:xfrm>
            <a:off x="3960000" y="3812400"/>
            <a:ext cx="827999" cy="162000"/>
          </a:xfrm>
          <a:prstGeom prst="rect">
            <a:avLst/>
          </a:prstGeom>
          <a:noFill/>
        </p:spPr>
        <p:txBody>
          <a:bodyPr wrap="none">
            <a:spAutoFit/>
          </a:bodyPr>
          <a:lstStyle/>
          <a:p>
            <a:pPr algn="l"/>
            <a:r>
              <a:rPr sz="800" b="1" i="0">
                <a:solidFill>
                  <a:srgbClr val="0D0D0D"/>
                </a:solidFill>
                <a:latin typeface="Calibri"/>
              </a:rPr>
              <a:t>555,45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Verdict</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FinSight Score, Theses et Recommandation Finale</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FinSight Score Compare</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pic>
        <p:nvPicPr>
          <p:cNvPr id="22" name="Picture 21" descr="image.png"/>
          <p:cNvPicPr>
            <a:picLocks noChangeAspect="1"/>
          </p:cNvPicPr>
          <p:nvPr/>
        </p:nvPicPr>
        <p:blipFill>
          <a:blip r:embed="rId2"/>
          <a:stretch>
            <a:fillRect/>
          </a:stretch>
        </p:blipFill>
        <p:spPr>
          <a:xfrm>
            <a:off x="367200" y="882000"/>
            <a:ext cx="8413200" cy="1620000"/>
          </a:xfrm>
          <a:prstGeom prst="rect">
            <a:avLst/>
          </a:prstGeom>
        </p:spPr>
      </p:pic>
      <p:sp>
        <p:nvSpPr>
          <p:cNvPr id="23" name="Rectangle 22"/>
          <p:cNvSpPr/>
          <p:nvPr/>
        </p:nvSpPr>
        <p:spPr>
          <a:xfrm>
            <a:off x="367200" y="2574000"/>
            <a:ext cx="8413200"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3999" y="2610000"/>
            <a:ext cx="8280000" cy="162000"/>
          </a:xfrm>
          <a:prstGeom prst="rect">
            <a:avLst/>
          </a:prstGeom>
          <a:noFill/>
        </p:spPr>
        <p:txBody>
          <a:bodyPr wrap="square">
            <a:spAutoFit/>
          </a:bodyPr>
          <a:lstStyle/>
          <a:p>
            <a:pPr algn="l"/>
            <a:r>
              <a:rPr sz="850" b="1" i="0">
                <a:solidFill>
                  <a:srgbClr val="FFFFFF"/>
                </a:solidFill>
                <a:latin typeface="Calibri"/>
              </a:rPr>
              <a:t>Decomposition du Score (4 axes)</a:t>
            </a:r>
          </a:p>
        </p:txBody>
      </p:sp>
      <p:sp>
        <p:nvSpPr>
          <p:cNvPr id="25" name="Rectangle 24"/>
          <p:cNvSpPr/>
          <p:nvPr/>
        </p:nvSpPr>
        <p:spPr>
          <a:xfrm>
            <a:off x="367200" y="2844000"/>
            <a:ext cx="2015999" cy="486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2015999" cy="1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3200" y="2872800"/>
            <a:ext cx="1943999" cy="125999"/>
          </a:xfrm>
          <a:prstGeom prst="rect">
            <a:avLst/>
          </a:prstGeom>
          <a:noFill/>
        </p:spPr>
        <p:txBody>
          <a:bodyPr wrap="none">
            <a:spAutoFit/>
          </a:bodyPr>
          <a:lstStyle/>
          <a:p>
            <a:pPr algn="l"/>
            <a:r>
              <a:rPr sz="800" b="0" i="0">
                <a:solidFill>
                  <a:srgbClr val="555555"/>
                </a:solidFill>
                <a:latin typeface="Calibri"/>
              </a:rPr>
              <a:t>Valeur</a:t>
            </a:r>
          </a:p>
        </p:txBody>
      </p:sp>
      <p:sp>
        <p:nvSpPr>
          <p:cNvPr id="28" name="TextBox 27"/>
          <p:cNvSpPr txBox="1"/>
          <p:nvPr/>
        </p:nvSpPr>
        <p:spPr>
          <a:xfrm>
            <a:off x="403200" y="3024000"/>
            <a:ext cx="972000" cy="234000"/>
          </a:xfrm>
          <a:prstGeom prst="rect">
            <a:avLst/>
          </a:prstGeom>
          <a:noFill/>
        </p:spPr>
        <p:txBody>
          <a:bodyPr wrap="square">
            <a:spAutoFit/>
          </a:bodyPr>
          <a:lstStyle/>
          <a:p>
            <a:pPr algn="l"/>
            <a:r>
              <a:rPr sz="1100" b="1" i="0">
                <a:solidFill>
                  <a:srgbClr val="2E5FA3"/>
                </a:solidFill>
                <a:latin typeface="Calibri"/>
              </a:rPr>
              <a:t>12 / 25</a:t>
            </a:r>
          </a:p>
        </p:txBody>
      </p:sp>
      <p:sp>
        <p:nvSpPr>
          <p:cNvPr id="29" name="TextBox 28"/>
          <p:cNvSpPr txBox="1"/>
          <p:nvPr/>
        </p:nvSpPr>
        <p:spPr>
          <a:xfrm>
            <a:off x="1411200" y="3024000"/>
            <a:ext cx="900000" cy="234000"/>
          </a:xfrm>
          <a:prstGeom prst="rect">
            <a:avLst/>
          </a:prstGeom>
          <a:noFill/>
        </p:spPr>
        <p:txBody>
          <a:bodyPr wrap="square">
            <a:spAutoFit/>
          </a:bodyPr>
          <a:lstStyle/>
          <a:p>
            <a:pPr algn="l"/>
            <a:r>
              <a:rPr sz="1100" b="1" i="0">
                <a:solidFill>
                  <a:srgbClr val="2E8B57"/>
                </a:solidFill>
                <a:latin typeface="Calibri"/>
              </a:rPr>
              <a:t>14 / 25</a:t>
            </a:r>
          </a:p>
        </p:txBody>
      </p:sp>
      <p:sp>
        <p:nvSpPr>
          <p:cNvPr id="30" name="Rectangle 29"/>
          <p:cNvSpPr/>
          <p:nvPr/>
        </p:nvSpPr>
        <p:spPr>
          <a:xfrm>
            <a:off x="2469600" y="2844000"/>
            <a:ext cx="2015999" cy="486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469600" y="2844000"/>
            <a:ext cx="2015999" cy="1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05599" y="2872800"/>
            <a:ext cx="1943999" cy="125999"/>
          </a:xfrm>
          <a:prstGeom prst="rect">
            <a:avLst/>
          </a:prstGeom>
          <a:noFill/>
        </p:spPr>
        <p:txBody>
          <a:bodyPr wrap="none">
            <a:spAutoFit/>
          </a:bodyPr>
          <a:lstStyle/>
          <a:p>
            <a:pPr algn="l"/>
            <a:r>
              <a:rPr sz="800" b="0" i="0">
                <a:solidFill>
                  <a:srgbClr val="555555"/>
                </a:solidFill>
                <a:latin typeface="Calibri"/>
              </a:rPr>
              <a:t>Croissance</a:t>
            </a:r>
          </a:p>
        </p:txBody>
      </p:sp>
      <p:sp>
        <p:nvSpPr>
          <p:cNvPr id="33" name="TextBox 32"/>
          <p:cNvSpPr txBox="1"/>
          <p:nvPr/>
        </p:nvSpPr>
        <p:spPr>
          <a:xfrm>
            <a:off x="2505599" y="3024000"/>
            <a:ext cx="972000" cy="234000"/>
          </a:xfrm>
          <a:prstGeom prst="rect">
            <a:avLst/>
          </a:prstGeom>
          <a:noFill/>
        </p:spPr>
        <p:txBody>
          <a:bodyPr wrap="square">
            <a:spAutoFit/>
          </a:bodyPr>
          <a:lstStyle/>
          <a:p>
            <a:pPr algn="l"/>
            <a:r>
              <a:rPr sz="1100" b="1" i="0">
                <a:solidFill>
                  <a:srgbClr val="2E5FA3"/>
                </a:solidFill>
                <a:latin typeface="Calibri"/>
              </a:rPr>
              <a:t>14 / 25</a:t>
            </a:r>
          </a:p>
        </p:txBody>
      </p:sp>
      <p:sp>
        <p:nvSpPr>
          <p:cNvPr id="34" name="TextBox 33"/>
          <p:cNvSpPr txBox="1"/>
          <p:nvPr/>
        </p:nvSpPr>
        <p:spPr>
          <a:xfrm>
            <a:off x="3513600" y="3024000"/>
            <a:ext cx="900000" cy="234000"/>
          </a:xfrm>
          <a:prstGeom prst="rect">
            <a:avLst/>
          </a:prstGeom>
          <a:noFill/>
        </p:spPr>
        <p:txBody>
          <a:bodyPr wrap="square">
            <a:spAutoFit/>
          </a:bodyPr>
          <a:lstStyle/>
          <a:p>
            <a:pPr algn="l"/>
            <a:r>
              <a:rPr sz="1100" b="1" i="0">
                <a:solidFill>
                  <a:srgbClr val="2E8B57"/>
                </a:solidFill>
                <a:latin typeface="Calibri"/>
              </a:rPr>
              <a:t>24 / 25</a:t>
            </a:r>
          </a:p>
        </p:txBody>
      </p:sp>
      <p:sp>
        <p:nvSpPr>
          <p:cNvPr id="35" name="Rectangle 34"/>
          <p:cNvSpPr/>
          <p:nvPr/>
        </p:nvSpPr>
        <p:spPr>
          <a:xfrm>
            <a:off x="4572000" y="2844000"/>
            <a:ext cx="2015999" cy="486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0" y="2844000"/>
            <a:ext cx="2015999" cy="1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08000" y="2872800"/>
            <a:ext cx="1943999" cy="125999"/>
          </a:xfrm>
          <a:prstGeom prst="rect">
            <a:avLst/>
          </a:prstGeom>
          <a:noFill/>
        </p:spPr>
        <p:txBody>
          <a:bodyPr wrap="none">
            <a:spAutoFit/>
          </a:bodyPr>
          <a:lstStyle/>
          <a:p>
            <a:pPr algn="l"/>
            <a:r>
              <a:rPr sz="800" b="0" i="0">
                <a:solidFill>
                  <a:srgbClr val="555555"/>
                </a:solidFill>
                <a:latin typeface="Calibri"/>
              </a:rPr>
              <a:t>Qualite</a:t>
            </a:r>
          </a:p>
        </p:txBody>
      </p:sp>
      <p:sp>
        <p:nvSpPr>
          <p:cNvPr id="38" name="TextBox 37"/>
          <p:cNvSpPr txBox="1"/>
          <p:nvPr/>
        </p:nvSpPr>
        <p:spPr>
          <a:xfrm>
            <a:off x="4608000" y="3024000"/>
            <a:ext cx="972000" cy="234000"/>
          </a:xfrm>
          <a:prstGeom prst="rect">
            <a:avLst/>
          </a:prstGeom>
          <a:noFill/>
        </p:spPr>
        <p:txBody>
          <a:bodyPr wrap="square">
            <a:spAutoFit/>
          </a:bodyPr>
          <a:lstStyle/>
          <a:p>
            <a:pPr algn="l"/>
            <a:r>
              <a:rPr sz="1100" b="1" i="0">
                <a:solidFill>
                  <a:srgbClr val="2E5FA3"/>
                </a:solidFill>
                <a:latin typeface="Calibri"/>
              </a:rPr>
              <a:t>25 / 25</a:t>
            </a:r>
          </a:p>
        </p:txBody>
      </p:sp>
      <p:sp>
        <p:nvSpPr>
          <p:cNvPr id="39" name="TextBox 38"/>
          <p:cNvSpPr txBox="1"/>
          <p:nvPr/>
        </p:nvSpPr>
        <p:spPr>
          <a:xfrm>
            <a:off x="5616000" y="3024000"/>
            <a:ext cx="900000" cy="234000"/>
          </a:xfrm>
          <a:prstGeom prst="rect">
            <a:avLst/>
          </a:prstGeom>
          <a:noFill/>
        </p:spPr>
        <p:txBody>
          <a:bodyPr wrap="square">
            <a:spAutoFit/>
          </a:bodyPr>
          <a:lstStyle/>
          <a:p>
            <a:pPr algn="l"/>
            <a:r>
              <a:rPr sz="1100" b="1" i="0">
                <a:solidFill>
                  <a:srgbClr val="2E8B57"/>
                </a:solidFill>
                <a:latin typeface="Calibri"/>
              </a:rPr>
              <a:t>25 / 25</a:t>
            </a:r>
          </a:p>
        </p:txBody>
      </p:sp>
      <p:sp>
        <p:nvSpPr>
          <p:cNvPr id="40" name="Rectangle 39"/>
          <p:cNvSpPr/>
          <p:nvPr/>
        </p:nvSpPr>
        <p:spPr>
          <a:xfrm>
            <a:off x="6674400" y="2844000"/>
            <a:ext cx="2015999" cy="486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674400" y="2844000"/>
            <a:ext cx="2015999" cy="1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10400" y="2872800"/>
            <a:ext cx="1943999" cy="125999"/>
          </a:xfrm>
          <a:prstGeom prst="rect">
            <a:avLst/>
          </a:prstGeom>
          <a:noFill/>
        </p:spPr>
        <p:txBody>
          <a:bodyPr wrap="none">
            <a:spAutoFit/>
          </a:bodyPr>
          <a:lstStyle/>
          <a:p>
            <a:pPr algn="l"/>
            <a:r>
              <a:rPr sz="800" b="0" i="0">
                <a:solidFill>
                  <a:srgbClr val="555555"/>
                </a:solidFill>
                <a:latin typeface="Calibri"/>
              </a:rPr>
              <a:t>Momentum</a:t>
            </a:r>
          </a:p>
        </p:txBody>
      </p:sp>
      <p:sp>
        <p:nvSpPr>
          <p:cNvPr id="43" name="TextBox 42"/>
          <p:cNvSpPr txBox="1"/>
          <p:nvPr/>
        </p:nvSpPr>
        <p:spPr>
          <a:xfrm>
            <a:off x="6710400" y="3024000"/>
            <a:ext cx="972000" cy="234000"/>
          </a:xfrm>
          <a:prstGeom prst="rect">
            <a:avLst/>
          </a:prstGeom>
          <a:noFill/>
        </p:spPr>
        <p:txBody>
          <a:bodyPr wrap="square">
            <a:spAutoFit/>
          </a:bodyPr>
          <a:lstStyle/>
          <a:p>
            <a:pPr algn="l"/>
            <a:r>
              <a:rPr sz="1100" b="1" i="0">
                <a:solidFill>
                  <a:srgbClr val="2E5FA3"/>
                </a:solidFill>
                <a:latin typeface="Calibri"/>
              </a:rPr>
              <a:t>12 / 25</a:t>
            </a:r>
          </a:p>
        </p:txBody>
      </p:sp>
      <p:sp>
        <p:nvSpPr>
          <p:cNvPr id="44" name="TextBox 43"/>
          <p:cNvSpPr txBox="1"/>
          <p:nvPr/>
        </p:nvSpPr>
        <p:spPr>
          <a:xfrm>
            <a:off x="7718399" y="3024000"/>
            <a:ext cx="900000" cy="234000"/>
          </a:xfrm>
          <a:prstGeom prst="rect">
            <a:avLst/>
          </a:prstGeom>
          <a:noFill/>
        </p:spPr>
        <p:txBody>
          <a:bodyPr wrap="square">
            <a:spAutoFit/>
          </a:bodyPr>
          <a:lstStyle/>
          <a:p>
            <a:pPr algn="l"/>
            <a:r>
              <a:rPr sz="1100" b="1" i="0">
                <a:solidFill>
                  <a:srgbClr val="2E8B57"/>
                </a:solidFill>
                <a:latin typeface="Calibri"/>
              </a:rPr>
              <a:t>10 / 25</a:t>
            </a:r>
          </a:p>
        </p:txBody>
      </p:sp>
      <p:sp>
        <p:nvSpPr>
          <p:cNvPr id="45" name="Rectangle 44"/>
          <p:cNvSpPr/>
          <p:nvPr/>
        </p:nvSpPr>
        <p:spPr>
          <a:xfrm>
            <a:off x="367200" y="3474000"/>
            <a:ext cx="1980000" cy="756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7200" y="3474000"/>
            <a:ext cx="46800" cy="75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528000"/>
            <a:ext cx="1843200" cy="360000"/>
          </a:xfrm>
          <a:prstGeom prst="rect">
            <a:avLst/>
          </a:prstGeom>
          <a:noFill/>
        </p:spPr>
        <p:txBody>
          <a:bodyPr wrap="square">
            <a:spAutoFit/>
          </a:bodyPr>
          <a:lstStyle/>
          <a:p>
            <a:pPr algn="l"/>
            <a:r>
              <a:rPr sz="1700" b="1" i="0">
                <a:solidFill>
                  <a:srgbClr val="1B3A6B"/>
                </a:solidFill>
                <a:latin typeface="Calibri"/>
              </a:rPr>
              <a:t>44 / 100</a:t>
            </a:r>
          </a:p>
        </p:txBody>
      </p:sp>
      <p:sp>
        <p:nvSpPr>
          <p:cNvPr id="48" name="TextBox 47"/>
          <p:cNvSpPr txBox="1"/>
          <p:nvPr/>
        </p:nvSpPr>
        <p:spPr>
          <a:xfrm>
            <a:off x="457200" y="3870000"/>
            <a:ext cx="1843200" cy="180000"/>
          </a:xfrm>
          <a:prstGeom prst="rect">
            <a:avLst/>
          </a:prstGeom>
          <a:noFill/>
        </p:spPr>
        <p:txBody>
          <a:bodyPr wrap="square">
            <a:spAutoFit/>
          </a:bodyPr>
          <a:lstStyle/>
          <a:p>
            <a:pPr algn="l"/>
            <a:r>
              <a:rPr sz="750" b="0" i="0">
                <a:solidFill>
                  <a:srgbClr val="555555"/>
                </a:solidFill>
                <a:latin typeface="Calibri"/>
              </a:rPr>
              <a:t>FinSight Score — AAPL</a:t>
            </a:r>
          </a:p>
        </p:txBody>
      </p:sp>
      <p:sp>
        <p:nvSpPr>
          <p:cNvPr id="49" name="Rectangle 48"/>
          <p:cNvSpPr/>
          <p:nvPr/>
        </p:nvSpPr>
        <p:spPr>
          <a:xfrm>
            <a:off x="2520000" y="3474000"/>
            <a:ext cx="1980000" cy="756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520000" y="3474000"/>
            <a:ext cx="46800" cy="756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610000" y="3528000"/>
            <a:ext cx="1843200" cy="360000"/>
          </a:xfrm>
          <a:prstGeom prst="rect">
            <a:avLst/>
          </a:prstGeom>
          <a:noFill/>
        </p:spPr>
        <p:txBody>
          <a:bodyPr wrap="square">
            <a:spAutoFit/>
          </a:bodyPr>
          <a:lstStyle/>
          <a:p>
            <a:pPr algn="l"/>
            <a:r>
              <a:rPr sz="1700" b="1" i="0">
                <a:solidFill>
                  <a:srgbClr val="1B3A6B"/>
                </a:solidFill>
                <a:latin typeface="Calibri"/>
              </a:rPr>
              <a:t>58 / 100</a:t>
            </a:r>
          </a:p>
        </p:txBody>
      </p:sp>
      <p:sp>
        <p:nvSpPr>
          <p:cNvPr id="52" name="TextBox 51"/>
          <p:cNvSpPr txBox="1"/>
          <p:nvPr/>
        </p:nvSpPr>
        <p:spPr>
          <a:xfrm>
            <a:off x="2610000" y="3870000"/>
            <a:ext cx="1843200" cy="180000"/>
          </a:xfrm>
          <a:prstGeom prst="rect">
            <a:avLst/>
          </a:prstGeom>
          <a:noFill/>
        </p:spPr>
        <p:txBody>
          <a:bodyPr wrap="square">
            <a:spAutoFit/>
          </a:bodyPr>
          <a:lstStyle/>
          <a:p>
            <a:pPr algn="l"/>
            <a:r>
              <a:rPr sz="750" b="0" i="0">
                <a:solidFill>
                  <a:srgbClr val="555555"/>
                </a:solidFill>
                <a:latin typeface="Calibri"/>
              </a:rPr>
              <a:t>FinSight Score — MSFT</a:t>
            </a:r>
          </a:p>
        </p:txBody>
      </p:sp>
      <p:sp>
        <p:nvSpPr>
          <p:cNvPr id="53" name="Rectangle 52"/>
          <p:cNvSpPr/>
          <p:nvPr/>
        </p:nvSpPr>
        <p:spPr>
          <a:xfrm>
            <a:off x="4672800" y="3474000"/>
            <a:ext cx="1980000" cy="756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672800" y="3474000"/>
            <a:ext cx="46800" cy="75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62800" y="3528000"/>
            <a:ext cx="1843200" cy="360000"/>
          </a:xfrm>
          <a:prstGeom prst="rect">
            <a:avLst/>
          </a:prstGeom>
          <a:noFill/>
        </p:spPr>
        <p:txBody>
          <a:bodyPr wrap="square">
            <a:spAutoFit/>
          </a:bodyPr>
          <a:lstStyle/>
          <a:p>
            <a:pPr algn="l"/>
            <a:r>
              <a:rPr sz="1700" b="1" i="0">
                <a:solidFill>
                  <a:srgbClr val="1B3A6B"/>
                </a:solidFill>
                <a:latin typeface="Calibri"/>
              </a:rPr>
              <a:t>BUY</a:t>
            </a:r>
          </a:p>
        </p:txBody>
      </p:sp>
      <p:sp>
        <p:nvSpPr>
          <p:cNvPr id="56" name="TextBox 55"/>
          <p:cNvSpPr txBox="1"/>
          <p:nvPr/>
        </p:nvSpPr>
        <p:spPr>
          <a:xfrm>
            <a:off x="4762800" y="3870000"/>
            <a:ext cx="1843200" cy="180000"/>
          </a:xfrm>
          <a:prstGeom prst="rect">
            <a:avLst/>
          </a:prstGeom>
          <a:noFill/>
        </p:spPr>
        <p:txBody>
          <a:bodyPr wrap="square">
            <a:spAutoFit/>
          </a:bodyPr>
          <a:lstStyle/>
          <a:p>
            <a:pPr algn="l"/>
            <a:r>
              <a:rPr sz="750" b="0" i="0">
                <a:solidFill>
                  <a:srgbClr val="555555"/>
                </a:solidFill>
                <a:latin typeface="Calibri"/>
              </a:rPr>
              <a:t>Recommandation — AAPL</a:t>
            </a:r>
          </a:p>
        </p:txBody>
      </p:sp>
      <p:sp>
        <p:nvSpPr>
          <p:cNvPr id="57" name="TextBox 56"/>
          <p:cNvSpPr txBox="1"/>
          <p:nvPr/>
        </p:nvSpPr>
        <p:spPr>
          <a:xfrm>
            <a:off x="4762800" y="3970800"/>
            <a:ext cx="1843200" cy="151200"/>
          </a:xfrm>
          <a:prstGeom prst="rect">
            <a:avLst/>
          </a:prstGeom>
          <a:noFill/>
        </p:spPr>
        <p:txBody>
          <a:bodyPr wrap="square">
            <a:spAutoFit/>
          </a:bodyPr>
          <a:lstStyle/>
          <a:p>
            <a:pPr algn="l"/>
            <a:r>
              <a:rPr sz="700" b="0" i="0">
                <a:solidFill>
                  <a:srgbClr val="888888"/>
                </a:solidFill>
                <a:latin typeface="Calibri"/>
              </a:rPr>
              <a:t>78,0 % conviction</a:t>
            </a:r>
          </a:p>
        </p:txBody>
      </p:sp>
      <p:sp>
        <p:nvSpPr>
          <p:cNvPr id="58" name="Rectangle 57"/>
          <p:cNvSpPr/>
          <p:nvPr/>
        </p:nvSpPr>
        <p:spPr>
          <a:xfrm>
            <a:off x="6822000" y="3474000"/>
            <a:ext cx="1980000" cy="756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22000" y="3474000"/>
            <a:ext cx="46800" cy="75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12000" y="3528000"/>
            <a:ext cx="1843200" cy="360000"/>
          </a:xfrm>
          <a:prstGeom prst="rect">
            <a:avLst/>
          </a:prstGeom>
          <a:noFill/>
        </p:spPr>
        <p:txBody>
          <a:bodyPr wrap="square">
            <a:spAutoFit/>
          </a:bodyPr>
          <a:lstStyle/>
          <a:p>
            <a:pPr algn="l"/>
            <a:r>
              <a:rPr sz="1700" b="1" i="0">
                <a:solidFill>
                  <a:srgbClr val="1B3A6B"/>
                </a:solidFill>
                <a:latin typeface="Calibri"/>
              </a:rPr>
              <a:t>BUY</a:t>
            </a:r>
          </a:p>
        </p:txBody>
      </p:sp>
      <p:sp>
        <p:nvSpPr>
          <p:cNvPr id="61" name="TextBox 60"/>
          <p:cNvSpPr txBox="1"/>
          <p:nvPr/>
        </p:nvSpPr>
        <p:spPr>
          <a:xfrm>
            <a:off x="6912000" y="3870000"/>
            <a:ext cx="1843200" cy="180000"/>
          </a:xfrm>
          <a:prstGeom prst="rect">
            <a:avLst/>
          </a:prstGeom>
          <a:noFill/>
        </p:spPr>
        <p:txBody>
          <a:bodyPr wrap="square">
            <a:spAutoFit/>
          </a:bodyPr>
          <a:lstStyle/>
          <a:p>
            <a:pPr algn="l"/>
            <a:r>
              <a:rPr sz="750" b="0" i="0">
                <a:solidFill>
                  <a:srgbClr val="555555"/>
                </a:solidFill>
                <a:latin typeface="Calibri"/>
              </a:rPr>
              <a:t>Recommandation — MSFT</a:t>
            </a:r>
          </a:p>
        </p:txBody>
      </p:sp>
      <p:sp>
        <p:nvSpPr>
          <p:cNvPr id="62" name="TextBox 61"/>
          <p:cNvSpPr txBox="1"/>
          <p:nvPr/>
        </p:nvSpPr>
        <p:spPr>
          <a:xfrm>
            <a:off x="6912000" y="3970800"/>
            <a:ext cx="1843200" cy="151200"/>
          </a:xfrm>
          <a:prstGeom prst="rect">
            <a:avLst/>
          </a:prstGeom>
          <a:noFill/>
        </p:spPr>
        <p:txBody>
          <a:bodyPr wrap="square">
            <a:spAutoFit/>
          </a:bodyPr>
          <a:lstStyle/>
          <a:p>
            <a:pPr algn="l"/>
            <a:r>
              <a:rPr sz="700" b="0" i="0">
                <a:solidFill>
                  <a:srgbClr val="888888"/>
                </a:solidFill>
                <a:latin typeface="Calibri"/>
              </a:rPr>
              <a:t>78,0 % conviction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Theses d'Investissement Bull / Bear</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sp>
        <p:nvSpPr>
          <p:cNvPr id="22" name="Rectangle 21"/>
          <p:cNvSpPr/>
          <p:nvPr/>
        </p:nvSpPr>
        <p:spPr>
          <a:xfrm>
            <a:off x="367200" y="871200"/>
            <a:ext cx="4118400" cy="234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871200"/>
            <a:ext cx="46800" cy="23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000" y="889199"/>
            <a:ext cx="1908000" cy="108000"/>
          </a:xfrm>
          <a:prstGeom prst="rect">
            <a:avLst/>
          </a:prstGeom>
          <a:noFill/>
        </p:spPr>
        <p:txBody>
          <a:bodyPr wrap="square">
            <a:spAutoFit/>
          </a:bodyPr>
          <a:lstStyle/>
          <a:p>
            <a:pPr algn="l"/>
            <a:r>
              <a:rPr sz="750" b="1" i="0">
                <a:solidFill>
                  <a:srgbClr val="1B3A6B"/>
                </a:solidFill>
                <a:latin typeface="Calibri"/>
              </a:rPr>
              <a:t>Cours : 253,5 $</a:t>
            </a:r>
          </a:p>
        </p:txBody>
      </p:sp>
      <p:sp>
        <p:nvSpPr>
          <p:cNvPr id="25" name="TextBox 24"/>
          <p:cNvSpPr txBox="1"/>
          <p:nvPr/>
        </p:nvSpPr>
        <p:spPr>
          <a:xfrm>
            <a:off x="450000" y="990000"/>
            <a:ext cx="1908000" cy="108000"/>
          </a:xfrm>
          <a:prstGeom prst="rect">
            <a:avLst/>
          </a:prstGeom>
          <a:noFill/>
        </p:spPr>
        <p:txBody>
          <a:bodyPr wrap="square">
            <a:spAutoFit/>
          </a:bodyPr>
          <a:lstStyle/>
          <a:p>
            <a:pPr algn="l"/>
            <a:r>
              <a:rPr sz="700" b="0" i="0">
                <a:solidFill>
                  <a:srgbClr val="555555"/>
                </a:solidFill>
                <a:latin typeface="Calibri"/>
              </a:rPr>
              <a:t>52W : 171,9 - 288,6 $</a:t>
            </a:r>
          </a:p>
        </p:txBody>
      </p:sp>
      <p:sp>
        <p:nvSpPr>
          <p:cNvPr id="26" name="TextBox 25"/>
          <p:cNvSpPr txBox="1"/>
          <p:nvPr/>
        </p:nvSpPr>
        <p:spPr>
          <a:xfrm>
            <a:off x="2448000" y="889199"/>
            <a:ext cx="1944000" cy="108000"/>
          </a:xfrm>
          <a:prstGeom prst="rect">
            <a:avLst/>
          </a:prstGeom>
          <a:noFill/>
        </p:spPr>
        <p:txBody>
          <a:bodyPr wrap="square">
            <a:spAutoFit/>
          </a:bodyPr>
          <a:lstStyle/>
          <a:p>
            <a:pPr algn="l"/>
            <a:r>
              <a:rPr sz="700" b="0" i="0">
                <a:solidFill>
                  <a:srgbClr val="555555"/>
                </a:solidFill>
                <a:latin typeface="Calibri"/>
              </a:rPr>
              <a:t>Perf 1Y : +26,8 %  ·  Div. : 0,4 %</a:t>
            </a:r>
          </a:p>
        </p:txBody>
      </p:sp>
      <p:sp>
        <p:nvSpPr>
          <p:cNvPr id="27" name="Rectangle 26"/>
          <p:cNvSpPr/>
          <p:nvPr/>
        </p:nvSpPr>
        <p:spPr>
          <a:xfrm>
            <a:off x="4658400" y="871200"/>
            <a:ext cx="4118400" cy="234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58400" y="871200"/>
            <a:ext cx="46800" cy="234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41200" y="889199"/>
            <a:ext cx="1908000" cy="108000"/>
          </a:xfrm>
          <a:prstGeom prst="rect">
            <a:avLst/>
          </a:prstGeom>
          <a:noFill/>
        </p:spPr>
        <p:txBody>
          <a:bodyPr wrap="none">
            <a:spAutoFit/>
          </a:bodyPr>
          <a:lstStyle/>
          <a:p>
            <a:pPr algn="l"/>
            <a:r>
              <a:rPr sz="750" b="1" i="0">
                <a:solidFill>
                  <a:srgbClr val="1A7A4A"/>
                </a:solidFill>
                <a:latin typeface="Calibri"/>
              </a:rPr>
              <a:t>Cours : 372,3 $</a:t>
            </a:r>
          </a:p>
        </p:txBody>
      </p:sp>
      <p:sp>
        <p:nvSpPr>
          <p:cNvPr id="30" name="TextBox 29"/>
          <p:cNvSpPr txBox="1"/>
          <p:nvPr/>
        </p:nvSpPr>
        <p:spPr>
          <a:xfrm>
            <a:off x="4741200" y="990000"/>
            <a:ext cx="1908000" cy="108000"/>
          </a:xfrm>
          <a:prstGeom prst="rect">
            <a:avLst/>
          </a:prstGeom>
          <a:noFill/>
        </p:spPr>
        <p:txBody>
          <a:bodyPr wrap="none">
            <a:spAutoFit/>
          </a:bodyPr>
          <a:lstStyle/>
          <a:p>
            <a:pPr algn="l"/>
            <a:r>
              <a:rPr sz="700" b="0" i="0">
                <a:solidFill>
                  <a:srgbClr val="555555"/>
                </a:solidFill>
                <a:latin typeface="Calibri"/>
              </a:rPr>
              <a:t>52W : 353,1 - 555,5 $</a:t>
            </a:r>
          </a:p>
        </p:txBody>
      </p:sp>
      <p:sp>
        <p:nvSpPr>
          <p:cNvPr id="31" name="TextBox 30"/>
          <p:cNvSpPr txBox="1"/>
          <p:nvPr/>
        </p:nvSpPr>
        <p:spPr>
          <a:xfrm>
            <a:off x="6660000" y="889199"/>
            <a:ext cx="2052000" cy="108000"/>
          </a:xfrm>
          <a:prstGeom prst="rect">
            <a:avLst/>
          </a:prstGeom>
          <a:noFill/>
        </p:spPr>
        <p:txBody>
          <a:bodyPr wrap="none">
            <a:spAutoFit/>
          </a:bodyPr>
          <a:lstStyle/>
          <a:p>
            <a:pPr algn="l"/>
            <a:r>
              <a:rPr sz="700" b="0" i="0">
                <a:solidFill>
                  <a:srgbClr val="555555"/>
                </a:solidFill>
                <a:latin typeface="Calibri"/>
              </a:rPr>
              <a:t>Perf 1Y : -18,5 %  ·  Div. : 0,9 %</a:t>
            </a:r>
          </a:p>
        </p:txBody>
      </p:sp>
      <p:sp>
        <p:nvSpPr>
          <p:cNvPr id="32" name="Rectangle 31"/>
          <p:cNvSpPr/>
          <p:nvPr/>
        </p:nvSpPr>
        <p:spPr>
          <a:xfrm>
            <a:off x="367200" y="1152000"/>
            <a:ext cx="4118400" cy="180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1152000"/>
            <a:ext cx="648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6000" y="1177200"/>
            <a:ext cx="3960000" cy="136800"/>
          </a:xfrm>
          <a:prstGeom prst="rect">
            <a:avLst/>
          </a:prstGeom>
          <a:noFill/>
        </p:spPr>
        <p:txBody>
          <a:bodyPr wrap="square">
            <a:spAutoFit/>
          </a:bodyPr>
          <a:lstStyle/>
          <a:p>
            <a:pPr algn="l"/>
            <a:r>
              <a:rPr sz="850" b="1" i="0">
                <a:solidFill>
                  <a:srgbClr val="1A7A4A"/>
                </a:solidFill>
                <a:latin typeface="Calibri"/>
              </a:rPr>
              <a:t>BULL — AAPL</a:t>
            </a:r>
          </a:p>
        </p:txBody>
      </p:sp>
      <p:sp>
        <p:nvSpPr>
          <p:cNvPr id="35" name="Rectangle 34"/>
          <p:cNvSpPr/>
          <p:nvPr/>
        </p:nvSpPr>
        <p:spPr>
          <a:xfrm>
            <a:off x="367200" y="1350000"/>
            <a:ext cx="4118400" cy="1332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3999" y="1386000"/>
            <a:ext cx="4014000" cy="1260000"/>
          </a:xfrm>
          <a:prstGeom prst="rect">
            <a:avLst/>
          </a:prstGeom>
          <a:noFill/>
        </p:spPr>
        <p:txBody>
          <a:bodyPr wrap="square">
            <a:spAutoFit/>
          </a:bodyPr>
          <a:lstStyle/>
          <a:p>
            <a:pPr algn="l"/>
            <a:r>
              <a:rPr sz="850" b="0" i="0">
                <a:solidFill>
                  <a:srgbClr val="0D0D0D"/>
                </a:solidFill>
                <a:latin typeface="Calibri"/>
              </a:rPr>
              <a:t>AAPL bénéficie d’une marque premium et d’un écosystème intégré (hardware, services, abonnements) générant une rentabilité exceptionnelle (ROIC 84%) et des marges élevées (EBITDA 34.8%), justifiant une prime de valorisation (PE 33.2x) malgré un levier modéré (ND/EBITDA 0.4). La croissance des services (CAGR 3y ~10%) et l’IA (on-device) pourraient so</a:t>
            </a:r>
          </a:p>
        </p:txBody>
      </p:sp>
      <p:sp>
        <p:nvSpPr>
          <p:cNvPr id="37" name="Rectangle 36"/>
          <p:cNvSpPr/>
          <p:nvPr/>
        </p:nvSpPr>
        <p:spPr>
          <a:xfrm>
            <a:off x="367200" y="2772000"/>
            <a:ext cx="4118400" cy="1800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7200" y="2772000"/>
            <a:ext cx="648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6000" y="2797200"/>
            <a:ext cx="3960000" cy="136800"/>
          </a:xfrm>
          <a:prstGeom prst="rect">
            <a:avLst/>
          </a:prstGeom>
          <a:noFill/>
        </p:spPr>
        <p:txBody>
          <a:bodyPr wrap="square">
            <a:spAutoFit/>
          </a:bodyPr>
          <a:lstStyle/>
          <a:p>
            <a:pPr algn="l"/>
            <a:r>
              <a:rPr sz="850" b="1" i="0">
                <a:solidFill>
                  <a:srgbClr val="A82020"/>
                </a:solidFill>
                <a:latin typeface="Calibri"/>
              </a:rPr>
              <a:t>BEAR — AAPL</a:t>
            </a:r>
          </a:p>
        </p:txBody>
      </p:sp>
      <p:sp>
        <p:nvSpPr>
          <p:cNvPr id="40" name="Rectangle 39"/>
          <p:cNvSpPr/>
          <p:nvPr/>
        </p:nvSpPr>
        <p:spPr>
          <a:xfrm>
            <a:off x="367200" y="2970000"/>
            <a:ext cx="4118400" cy="1260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3999" y="3006000"/>
            <a:ext cx="4014000" cy="1188000"/>
          </a:xfrm>
          <a:prstGeom prst="rect">
            <a:avLst/>
          </a:prstGeom>
          <a:noFill/>
        </p:spPr>
        <p:txBody>
          <a:bodyPr wrap="square">
            <a:spAutoFit/>
          </a:bodyPr>
          <a:lstStyle/>
          <a:p>
            <a:pPr algn="l"/>
            <a:r>
              <a:rPr sz="850" b="0" i="0">
                <a:solidFill>
                  <a:srgbClr val="0D0D0D"/>
                </a:solidFill>
                <a:latin typeface="Calibri"/>
              </a:rPr>
              <a:t>La dépendance aux iPhones (50% des revenus) et à la Chine (19% des ventes) expose AAPL à des risques cycliques et géopolitiques, tandis que la rentabilité élevée masque une faible croissance organique (Rev CAGR 3y 1.8%). La valorisation élevée (PB 50.5x) limite la marge de</a:t>
            </a:r>
          </a:p>
        </p:txBody>
      </p:sp>
      <p:sp>
        <p:nvSpPr>
          <p:cNvPr id="42" name="Rectangle 41"/>
          <p:cNvSpPr/>
          <p:nvPr/>
        </p:nvSpPr>
        <p:spPr>
          <a:xfrm>
            <a:off x="4658400" y="1152000"/>
            <a:ext cx="4118400" cy="1800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658400" y="1152000"/>
            <a:ext cx="648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77200" y="1177200"/>
            <a:ext cx="3960000" cy="136800"/>
          </a:xfrm>
          <a:prstGeom prst="rect">
            <a:avLst/>
          </a:prstGeom>
          <a:noFill/>
        </p:spPr>
        <p:txBody>
          <a:bodyPr wrap="square">
            <a:spAutoFit/>
          </a:bodyPr>
          <a:lstStyle/>
          <a:p>
            <a:pPr algn="l"/>
            <a:r>
              <a:rPr sz="850" b="1" i="0">
                <a:solidFill>
                  <a:srgbClr val="1A7A4A"/>
                </a:solidFill>
                <a:latin typeface="Calibri"/>
              </a:rPr>
              <a:t>BULL — MSFT</a:t>
            </a:r>
          </a:p>
        </p:txBody>
      </p:sp>
      <p:sp>
        <p:nvSpPr>
          <p:cNvPr id="45" name="Rectangle 44"/>
          <p:cNvSpPr/>
          <p:nvPr/>
        </p:nvSpPr>
        <p:spPr>
          <a:xfrm>
            <a:off x="4658400" y="1350000"/>
            <a:ext cx="4118400" cy="1332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05200" y="1386000"/>
            <a:ext cx="4014000" cy="1260000"/>
          </a:xfrm>
          <a:prstGeom prst="rect">
            <a:avLst/>
          </a:prstGeom>
          <a:noFill/>
        </p:spPr>
        <p:txBody>
          <a:bodyPr wrap="square">
            <a:spAutoFit/>
          </a:bodyPr>
          <a:lstStyle/>
          <a:p>
            <a:pPr algn="l"/>
            <a:r>
              <a:rPr sz="850" b="0" i="0">
                <a:solidFill>
                  <a:srgbClr val="0D0D0D"/>
                </a:solidFill>
                <a:latin typeface="Calibri"/>
              </a:rPr>
              <a:t>Microsoft bénéficie d'une croissance structurelle de l'IA (Azure, Copilot) et d'une marge EBITDA élevée (56,9%), soutenant une valorisation premium (PE 27x) avec un levier financier minimal (ND/EBITDA 0,1x).</a:t>
            </a:r>
          </a:p>
        </p:txBody>
      </p:sp>
      <p:sp>
        <p:nvSpPr>
          <p:cNvPr id="47" name="Rectangle 46"/>
          <p:cNvSpPr/>
          <p:nvPr/>
        </p:nvSpPr>
        <p:spPr>
          <a:xfrm>
            <a:off x="4658400" y="2772000"/>
            <a:ext cx="4118400" cy="1800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658400" y="2772000"/>
            <a:ext cx="648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77200" y="2797200"/>
            <a:ext cx="3960000" cy="136800"/>
          </a:xfrm>
          <a:prstGeom prst="rect">
            <a:avLst/>
          </a:prstGeom>
          <a:noFill/>
        </p:spPr>
        <p:txBody>
          <a:bodyPr wrap="square">
            <a:spAutoFit/>
          </a:bodyPr>
          <a:lstStyle/>
          <a:p>
            <a:pPr algn="l"/>
            <a:r>
              <a:rPr sz="850" b="1" i="0">
                <a:solidFill>
                  <a:srgbClr val="A82020"/>
                </a:solidFill>
                <a:latin typeface="Calibri"/>
              </a:rPr>
              <a:t>BEAR — MSFT</a:t>
            </a:r>
          </a:p>
        </p:txBody>
      </p:sp>
      <p:sp>
        <p:nvSpPr>
          <p:cNvPr id="50" name="Rectangle 49"/>
          <p:cNvSpPr/>
          <p:nvPr/>
        </p:nvSpPr>
        <p:spPr>
          <a:xfrm>
            <a:off x="4658400" y="2970000"/>
            <a:ext cx="4118400" cy="1260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05200" y="3006000"/>
            <a:ext cx="4014000" cy="1188000"/>
          </a:xfrm>
          <a:prstGeom prst="rect">
            <a:avLst/>
          </a:prstGeom>
          <a:noFill/>
        </p:spPr>
        <p:txBody>
          <a:bodyPr wrap="square">
            <a:spAutoFit/>
          </a:bodyPr>
          <a:lstStyle/>
          <a:p>
            <a:pPr algn="l"/>
            <a:r>
              <a:rPr sz="850" b="0" i="0">
                <a:solidFill>
                  <a:srgbClr val="0D0D0D"/>
                </a:solidFill>
                <a:latin typeface="Calibri"/>
              </a:rPr>
              <a:t>Microsoft pourrait subir une pression sur les marges (cloud, PC) et une croissance ralentie de l'IA si la demande se normalise, avec une valorisation déjà élevée (PB 8,1x) malgré un ROE inférieur à Apple (29,6% vs 151,9%).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Performance Boursiere 52 Semaines</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6" name="Rectangle 15"/>
          <p:cNvSpPr/>
          <p:nvPr/>
        </p:nvSpPr>
        <p:spPr>
          <a:xfrm>
            <a:off x="367200" y="622800"/>
            <a:ext cx="4118400" cy="2016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7200" y="622800"/>
            <a:ext cx="64800" cy="201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6000" y="640800"/>
            <a:ext cx="3960000" cy="165600"/>
          </a:xfrm>
          <a:prstGeom prst="rect">
            <a:avLst/>
          </a:prstGeom>
          <a:noFill/>
        </p:spPr>
        <p:txBody>
          <a:bodyPr wrap="square">
            <a:spAutoFit/>
          </a:bodyPr>
          <a:lstStyle/>
          <a:p>
            <a:pPr algn="l"/>
            <a:r>
              <a:rPr sz="850" b="1" i="0">
                <a:solidFill>
                  <a:srgbClr val="1B3A6B"/>
                </a:solidFill>
                <a:latin typeface="Calibri"/>
              </a:rPr>
              <a:t>AAPL</a:t>
            </a:r>
          </a:p>
        </p:txBody>
      </p:sp>
      <p:sp>
        <p:nvSpPr>
          <p:cNvPr id="19" name="Rectangle 18"/>
          <p:cNvSpPr/>
          <p:nvPr/>
        </p:nvSpPr>
        <p:spPr>
          <a:xfrm>
            <a:off x="4658400" y="622800"/>
            <a:ext cx="4118400" cy="2016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58400" y="622800"/>
            <a:ext cx="64800" cy="2016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7200" y="640800"/>
            <a:ext cx="3960000" cy="165600"/>
          </a:xfrm>
          <a:prstGeom prst="rect">
            <a:avLst/>
          </a:prstGeom>
          <a:noFill/>
        </p:spPr>
        <p:txBody>
          <a:bodyPr wrap="square">
            <a:spAutoFit/>
          </a:bodyPr>
          <a:lstStyle/>
          <a:p>
            <a:pPr algn="l"/>
            <a:r>
              <a:rPr sz="850" b="1" i="0">
                <a:solidFill>
                  <a:srgbClr val="1A7A4A"/>
                </a:solidFill>
                <a:latin typeface="Calibri"/>
              </a:rPr>
              <a:t>MSFT</a:t>
            </a:r>
          </a:p>
        </p:txBody>
      </p:sp>
      <p:sp>
        <p:nvSpPr>
          <p:cNvPr id="22" name="Rectangle 21"/>
          <p:cNvSpPr/>
          <p:nvPr/>
        </p:nvSpPr>
        <p:spPr>
          <a:xfrm>
            <a:off x="367200" y="882000"/>
            <a:ext cx="4140000" cy="1872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7200" y="882000"/>
            <a:ext cx="46800" cy="1872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6400" y="918000"/>
            <a:ext cx="4031999" cy="125999"/>
          </a:xfrm>
          <a:prstGeom prst="rect">
            <a:avLst/>
          </a:prstGeom>
          <a:noFill/>
        </p:spPr>
        <p:txBody>
          <a:bodyPr wrap="none">
            <a:spAutoFit/>
          </a:bodyPr>
          <a:lstStyle/>
          <a:p>
            <a:pPr algn="l"/>
            <a:r>
              <a:rPr sz="850" b="1" i="0">
                <a:solidFill>
                  <a:srgbClr val="2E5FA3"/>
                </a:solidFill>
                <a:latin typeface="Calibri"/>
              </a:rPr>
              <a:t>AAPL — Performance &amp; Prix</a:t>
            </a:r>
          </a:p>
        </p:txBody>
      </p:sp>
      <p:sp>
        <p:nvSpPr>
          <p:cNvPr id="25" name="Rectangle 24"/>
          <p:cNvSpPr/>
          <p:nvPr/>
        </p:nvSpPr>
        <p:spPr>
          <a:xfrm>
            <a:off x="367200" y="1080000"/>
            <a:ext cx="41400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3200" y="1108800"/>
            <a:ext cx="2152800" cy="162000"/>
          </a:xfrm>
          <a:prstGeom prst="rect">
            <a:avLst/>
          </a:prstGeom>
          <a:noFill/>
        </p:spPr>
        <p:txBody>
          <a:bodyPr wrap="none">
            <a:spAutoFit/>
          </a:bodyPr>
          <a:lstStyle/>
          <a:p>
            <a:pPr algn="l"/>
            <a:r>
              <a:rPr sz="700" b="0" i="0">
                <a:solidFill>
                  <a:srgbClr val="555555"/>
                </a:solidFill>
                <a:latin typeface="Calibri"/>
              </a:rPr>
              <a:t>Cours actuel</a:t>
            </a:r>
          </a:p>
        </p:txBody>
      </p:sp>
      <p:sp>
        <p:nvSpPr>
          <p:cNvPr id="27" name="TextBox 26"/>
          <p:cNvSpPr txBox="1"/>
          <p:nvPr/>
        </p:nvSpPr>
        <p:spPr>
          <a:xfrm>
            <a:off x="2520000" y="1108800"/>
            <a:ext cx="1863000" cy="162000"/>
          </a:xfrm>
          <a:prstGeom prst="rect">
            <a:avLst/>
          </a:prstGeom>
          <a:noFill/>
        </p:spPr>
        <p:txBody>
          <a:bodyPr wrap="none">
            <a:spAutoFit/>
          </a:bodyPr>
          <a:lstStyle/>
          <a:p>
            <a:pPr algn="r"/>
            <a:r>
              <a:rPr sz="750" b="0" i="0">
                <a:solidFill>
                  <a:srgbClr val="0D0D0D"/>
                </a:solidFill>
                <a:latin typeface="Calibri"/>
              </a:rPr>
              <a:t>253,50 $</a:t>
            </a:r>
          </a:p>
        </p:txBody>
      </p:sp>
      <p:sp>
        <p:nvSpPr>
          <p:cNvPr id="28" name="Rectangle 27"/>
          <p:cNvSpPr/>
          <p:nvPr/>
        </p:nvSpPr>
        <p:spPr>
          <a:xfrm>
            <a:off x="367200" y="1278000"/>
            <a:ext cx="4140000" cy="1836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3200" y="1306800"/>
            <a:ext cx="2152800" cy="162000"/>
          </a:xfrm>
          <a:prstGeom prst="rect">
            <a:avLst/>
          </a:prstGeom>
          <a:noFill/>
        </p:spPr>
        <p:txBody>
          <a:bodyPr wrap="none">
            <a:spAutoFit/>
          </a:bodyPr>
          <a:lstStyle/>
          <a:p>
            <a:pPr algn="l"/>
            <a:r>
              <a:rPr sz="700" b="0" i="0">
                <a:solidFill>
                  <a:srgbClr val="555555"/>
                </a:solidFill>
                <a:latin typeface="Calibri"/>
              </a:rPr>
              <a:t>52W High</a:t>
            </a:r>
          </a:p>
        </p:txBody>
      </p:sp>
      <p:sp>
        <p:nvSpPr>
          <p:cNvPr id="30" name="TextBox 29"/>
          <p:cNvSpPr txBox="1"/>
          <p:nvPr/>
        </p:nvSpPr>
        <p:spPr>
          <a:xfrm>
            <a:off x="2520000" y="1306800"/>
            <a:ext cx="1863000" cy="162000"/>
          </a:xfrm>
          <a:prstGeom prst="rect">
            <a:avLst/>
          </a:prstGeom>
          <a:noFill/>
        </p:spPr>
        <p:txBody>
          <a:bodyPr wrap="none">
            <a:spAutoFit/>
          </a:bodyPr>
          <a:lstStyle/>
          <a:p>
            <a:pPr algn="r"/>
            <a:r>
              <a:rPr sz="750" b="0" i="0">
                <a:solidFill>
                  <a:srgbClr val="0D0D0D"/>
                </a:solidFill>
                <a:latin typeface="Calibri"/>
              </a:rPr>
              <a:t>288,62 $</a:t>
            </a:r>
          </a:p>
        </p:txBody>
      </p:sp>
      <p:sp>
        <p:nvSpPr>
          <p:cNvPr id="31" name="Rectangle 30"/>
          <p:cNvSpPr/>
          <p:nvPr/>
        </p:nvSpPr>
        <p:spPr>
          <a:xfrm>
            <a:off x="367200" y="1475999"/>
            <a:ext cx="41400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3200" y="1504800"/>
            <a:ext cx="2152800" cy="162000"/>
          </a:xfrm>
          <a:prstGeom prst="rect">
            <a:avLst/>
          </a:prstGeom>
          <a:noFill/>
        </p:spPr>
        <p:txBody>
          <a:bodyPr wrap="none">
            <a:spAutoFit/>
          </a:bodyPr>
          <a:lstStyle/>
          <a:p>
            <a:pPr algn="l"/>
            <a:r>
              <a:rPr sz="700" b="0" i="0">
                <a:solidFill>
                  <a:srgbClr val="555555"/>
                </a:solidFill>
                <a:latin typeface="Calibri"/>
              </a:rPr>
              <a:t>52W Low</a:t>
            </a:r>
          </a:p>
        </p:txBody>
      </p:sp>
      <p:sp>
        <p:nvSpPr>
          <p:cNvPr id="33" name="TextBox 32"/>
          <p:cNvSpPr txBox="1"/>
          <p:nvPr/>
        </p:nvSpPr>
        <p:spPr>
          <a:xfrm>
            <a:off x="2520000" y="1504800"/>
            <a:ext cx="1863000" cy="162000"/>
          </a:xfrm>
          <a:prstGeom prst="rect">
            <a:avLst/>
          </a:prstGeom>
          <a:noFill/>
        </p:spPr>
        <p:txBody>
          <a:bodyPr wrap="none">
            <a:spAutoFit/>
          </a:bodyPr>
          <a:lstStyle/>
          <a:p>
            <a:pPr algn="r"/>
            <a:r>
              <a:rPr sz="750" b="0" i="0">
                <a:solidFill>
                  <a:srgbClr val="0D0D0D"/>
                </a:solidFill>
                <a:latin typeface="Calibri"/>
              </a:rPr>
              <a:t>171,89 $</a:t>
            </a:r>
          </a:p>
        </p:txBody>
      </p:sp>
      <p:sp>
        <p:nvSpPr>
          <p:cNvPr id="34" name="Rectangle 33"/>
          <p:cNvSpPr/>
          <p:nvPr/>
        </p:nvSpPr>
        <p:spPr>
          <a:xfrm>
            <a:off x="367200" y="1674000"/>
            <a:ext cx="4140000" cy="1836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3200" y="1702800"/>
            <a:ext cx="2152800" cy="162000"/>
          </a:xfrm>
          <a:prstGeom prst="rect">
            <a:avLst/>
          </a:prstGeom>
          <a:noFill/>
        </p:spPr>
        <p:txBody>
          <a:bodyPr wrap="none">
            <a:spAutoFit/>
          </a:bodyPr>
          <a:lstStyle/>
          <a:p>
            <a:pPr algn="l"/>
            <a:r>
              <a:rPr sz="700" b="0" i="0">
                <a:solidFill>
                  <a:srgbClr val="555555"/>
                </a:solidFill>
                <a:latin typeface="Calibri"/>
              </a:rPr>
              <a:t>Perf. 1 Mois</a:t>
            </a:r>
          </a:p>
        </p:txBody>
      </p:sp>
      <p:sp>
        <p:nvSpPr>
          <p:cNvPr id="36" name="TextBox 35"/>
          <p:cNvSpPr txBox="1"/>
          <p:nvPr/>
        </p:nvSpPr>
        <p:spPr>
          <a:xfrm>
            <a:off x="2520000" y="1702800"/>
            <a:ext cx="1863000" cy="162000"/>
          </a:xfrm>
          <a:prstGeom prst="rect">
            <a:avLst/>
          </a:prstGeom>
          <a:noFill/>
        </p:spPr>
        <p:txBody>
          <a:bodyPr wrap="none">
            <a:spAutoFit/>
          </a:bodyPr>
          <a:lstStyle/>
          <a:p>
            <a:pPr algn="r"/>
            <a:r>
              <a:rPr sz="750" b="0" i="0">
                <a:solidFill>
                  <a:srgbClr val="0D0D0D"/>
                </a:solidFill>
                <a:latin typeface="Calibri"/>
              </a:rPr>
              <a:t>-0,1 %</a:t>
            </a:r>
          </a:p>
        </p:txBody>
      </p:sp>
      <p:sp>
        <p:nvSpPr>
          <p:cNvPr id="37" name="Rectangle 36"/>
          <p:cNvSpPr/>
          <p:nvPr/>
        </p:nvSpPr>
        <p:spPr>
          <a:xfrm>
            <a:off x="367200" y="1872000"/>
            <a:ext cx="41400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3200" y="1900800"/>
            <a:ext cx="2152800" cy="162000"/>
          </a:xfrm>
          <a:prstGeom prst="rect">
            <a:avLst/>
          </a:prstGeom>
          <a:noFill/>
        </p:spPr>
        <p:txBody>
          <a:bodyPr wrap="none">
            <a:spAutoFit/>
          </a:bodyPr>
          <a:lstStyle/>
          <a:p>
            <a:pPr algn="l"/>
            <a:r>
              <a:rPr sz="700" b="0" i="0">
                <a:solidFill>
                  <a:srgbClr val="555555"/>
                </a:solidFill>
                <a:latin typeface="Calibri"/>
              </a:rPr>
              <a:t>Perf. 3 Mois</a:t>
            </a:r>
          </a:p>
        </p:txBody>
      </p:sp>
      <p:sp>
        <p:nvSpPr>
          <p:cNvPr id="39" name="TextBox 38"/>
          <p:cNvSpPr txBox="1"/>
          <p:nvPr/>
        </p:nvSpPr>
        <p:spPr>
          <a:xfrm>
            <a:off x="2520000" y="1900800"/>
            <a:ext cx="1863000" cy="162000"/>
          </a:xfrm>
          <a:prstGeom prst="rect">
            <a:avLst/>
          </a:prstGeom>
          <a:noFill/>
        </p:spPr>
        <p:txBody>
          <a:bodyPr wrap="none">
            <a:spAutoFit/>
          </a:bodyPr>
          <a:lstStyle/>
          <a:p>
            <a:pPr algn="r"/>
            <a:r>
              <a:rPr sz="750" b="0" i="0">
                <a:solidFill>
                  <a:srgbClr val="0D0D0D"/>
                </a:solidFill>
                <a:latin typeface="Calibri"/>
              </a:rPr>
              <a:t>-2,2 %</a:t>
            </a:r>
          </a:p>
        </p:txBody>
      </p:sp>
      <p:sp>
        <p:nvSpPr>
          <p:cNvPr id="40" name="Rectangle 39"/>
          <p:cNvSpPr/>
          <p:nvPr/>
        </p:nvSpPr>
        <p:spPr>
          <a:xfrm>
            <a:off x="367200" y="2070000"/>
            <a:ext cx="4140000" cy="1836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3200" y="2098800"/>
            <a:ext cx="2152800" cy="162000"/>
          </a:xfrm>
          <a:prstGeom prst="rect">
            <a:avLst/>
          </a:prstGeom>
          <a:noFill/>
        </p:spPr>
        <p:txBody>
          <a:bodyPr wrap="none">
            <a:spAutoFit/>
          </a:bodyPr>
          <a:lstStyle/>
          <a:p>
            <a:pPr algn="l"/>
            <a:r>
              <a:rPr sz="700" b="0" i="0">
                <a:solidFill>
                  <a:srgbClr val="555555"/>
                </a:solidFill>
                <a:latin typeface="Calibri"/>
              </a:rPr>
              <a:t>Perf. 1 An</a:t>
            </a:r>
          </a:p>
        </p:txBody>
      </p:sp>
      <p:sp>
        <p:nvSpPr>
          <p:cNvPr id="42" name="TextBox 41"/>
          <p:cNvSpPr txBox="1"/>
          <p:nvPr/>
        </p:nvSpPr>
        <p:spPr>
          <a:xfrm>
            <a:off x="2520000" y="2098800"/>
            <a:ext cx="1863000" cy="162000"/>
          </a:xfrm>
          <a:prstGeom prst="rect">
            <a:avLst/>
          </a:prstGeom>
          <a:noFill/>
        </p:spPr>
        <p:txBody>
          <a:bodyPr wrap="none">
            <a:spAutoFit/>
          </a:bodyPr>
          <a:lstStyle/>
          <a:p>
            <a:pPr algn="r"/>
            <a:r>
              <a:rPr sz="750" b="0" i="0">
                <a:solidFill>
                  <a:srgbClr val="0D0D0D"/>
                </a:solidFill>
                <a:latin typeface="Calibri"/>
              </a:rPr>
              <a:t>+26,8 %</a:t>
            </a:r>
          </a:p>
        </p:txBody>
      </p:sp>
      <p:sp>
        <p:nvSpPr>
          <p:cNvPr id="43" name="Rectangle 42"/>
          <p:cNvSpPr/>
          <p:nvPr/>
        </p:nvSpPr>
        <p:spPr>
          <a:xfrm>
            <a:off x="367200" y="2268000"/>
            <a:ext cx="41400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3200" y="2296800"/>
            <a:ext cx="2152800" cy="162000"/>
          </a:xfrm>
          <a:prstGeom prst="rect">
            <a:avLst/>
          </a:prstGeom>
          <a:noFill/>
        </p:spPr>
        <p:txBody>
          <a:bodyPr wrap="none">
            <a:spAutoFit/>
          </a:bodyPr>
          <a:lstStyle/>
          <a:p>
            <a:pPr algn="l"/>
            <a:r>
              <a:rPr sz="700" b="0" i="0">
                <a:solidFill>
                  <a:srgbClr val="555555"/>
                </a:solidFill>
                <a:latin typeface="Calibri"/>
              </a:rPr>
              <a:t>Div. Yield</a:t>
            </a:r>
          </a:p>
        </p:txBody>
      </p:sp>
      <p:sp>
        <p:nvSpPr>
          <p:cNvPr id="45" name="TextBox 44"/>
          <p:cNvSpPr txBox="1"/>
          <p:nvPr/>
        </p:nvSpPr>
        <p:spPr>
          <a:xfrm>
            <a:off x="2520000" y="2296800"/>
            <a:ext cx="1863000" cy="162000"/>
          </a:xfrm>
          <a:prstGeom prst="rect">
            <a:avLst/>
          </a:prstGeom>
          <a:noFill/>
        </p:spPr>
        <p:txBody>
          <a:bodyPr wrap="none">
            <a:spAutoFit/>
          </a:bodyPr>
          <a:lstStyle/>
          <a:p>
            <a:pPr algn="r"/>
            <a:r>
              <a:rPr sz="750" b="0" i="0">
                <a:solidFill>
                  <a:srgbClr val="0D0D0D"/>
                </a:solidFill>
                <a:latin typeface="Calibri"/>
              </a:rPr>
              <a:t>0,4 %</a:t>
            </a:r>
          </a:p>
        </p:txBody>
      </p:sp>
      <p:sp>
        <p:nvSpPr>
          <p:cNvPr id="46" name="Rectangle 45"/>
          <p:cNvSpPr/>
          <p:nvPr/>
        </p:nvSpPr>
        <p:spPr>
          <a:xfrm>
            <a:off x="367200" y="2466000"/>
            <a:ext cx="4140000" cy="1836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03200" y="2494800"/>
            <a:ext cx="2152800" cy="162000"/>
          </a:xfrm>
          <a:prstGeom prst="rect">
            <a:avLst/>
          </a:prstGeom>
          <a:noFill/>
        </p:spPr>
        <p:txBody>
          <a:bodyPr wrap="none">
            <a:spAutoFit/>
          </a:bodyPr>
          <a:lstStyle/>
          <a:p>
            <a:pPr algn="l"/>
            <a:r>
              <a:rPr sz="700" b="0" i="0">
                <a:solidFill>
                  <a:srgbClr val="555555"/>
                </a:solidFill>
                <a:latin typeface="Calibri"/>
              </a:rPr>
              <a:t>Volatilite 52S</a:t>
            </a:r>
          </a:p>
        </p:txBody>
      </p:sp>
      <p:sp>
        <p:nvSpPr>
          <p:cNvPr id="48" name="TextBox 47"/>
          <p:cNvSpPr txBox="1"/>
          <p:nvPr/>
        </p:nvSpPr>
        <p:spPr>
          <a:xfrm>
            <a:off x="2520000" y="2494800"/>
            <a:ext cx="1863000" cy="162000"/>
          </a:xfrm>
          <a:prstGeom prst="rect">
            <a:avLst/>
          </a:prstGeom>
          <a:noFill/>
        </p:spPr>
        <p:txBody>
          <a:bodyPr wrap="none">
            <a:spAutoFit/>
          </a:bodyPr>
          <a:lstStyle/>
          <a:p>
            <a:pPr algn="r"/>
            <a:r>
              <a:rPr sz="750" b="0" i="0">
                <a:solidFill>
                  <a:srgbClr val="0D0D0D"/>
                </a:solidFill>
                <a:latin typeface="Calibri"/>
              </a:rPr>
              <a:t>28,8 %</a:t>
            </a:r>
          </a:p>
        </p:txBody>
      </p:sp>
      <p:sp>
        <p:nvSpPr>
          <p:cNvPr id="49" name="Rectangle 48"/>
          <p:cNvSpPr/>
          <p:nvPr/>
        </p:nvSpPr>
        <p:spPr>
          <a:xfrm>
            <a:off x="367200" y="2754000"/>
            <a:ext cx="4140000" cy="187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7200" y="2754000"/>
            <a:ext cx="46800" cy="1872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6400" y="2790000"/>
            <a:ext cx="4031999" cy="125999"/>
          </a:xfrm>
          <a:prstGeom prst="rect">
            <a:avLst/>
          </a:prstGeom>
          <a:noFill/>
        </p:spPr>
        <p:txBody>
          <a:bodyPr wrap="none">
            <a:spAutoFit/>
          </a:bodyPr>
          <a:lstStyle/>
          <a:p>
            <a:pPr algn="l"/>
            <a:r>
              <a:rPr sz="850" b="1" i="0">
                <a:solidFill>
                  <a:srgbClr val="2E8B57"/>
                </a:solidFill>
                <a:latin typeface="Calibri"/>
              </a:rPr>
              <a:t>MSFT — Performance &amp; Prix</a:t>
            </a:r>
          </a:p>
        </p:txBody>
      </p:sp>
      <p:sp>
        <p:nvSpPr>
          <p:cNvPr id="52" name="Rectangle 51"/>
          <p:cNvSpPr/>
          <p:nvPr/>
        </p:nvSpPr>
        <p:spPr>
          <a:xfrm>
            <a:off x="367200" y="2952000"/>
            <a:ext cx="41400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3200" y="2980800"/>
            <a:ext cx="2152800" cy="162000"/>
          </a:xfrm>
          <a:prstGeom prst="rect">
            <a:avLst/>
          </a:prstGeom>
          <a:noFill/>
        </p:spPr>
        <p:txBody>
          <a:bodyPr wrap="none">
            <a:spAutoFit/>
          </a:bodyPr>
          <a:lstStyle/>
          <a:p>
            <a:pPr algn="l"/>
            <a:r>
              <a:rPr sz="700" b="0" i="0">
                <a:solidFill>
                  <a:srgbClr val="555555"/>
                </a:solidFill>
                <a:latin typeface="Calibri"/>
              </a:rPr>
              <a:t>Cours actuel</a:t>
            </a:r>
          </a:p>
        </p:txBody>
      </p:sp>
      <p:sp>
        <p:nvSpPr>
          <p:cNvPr id="54" name="TextBox 53"/>
          <p:cNvSpPr txBox="1"/>
          <p:nvPr/>
        </p:nvSpPr>
        <p:spPr>
          <a:xfrm>
            <a:off x="2520000" y="2980800"/>
            <a:ext cx="1863000" cy="162000"/>
          </a:xfrm>
          <a:prstGeom prst="rect">
            <a:avLst/>
          </a:prstGeom>
          <a:noFill/>
        </p:spPr>
        <p:txBody>
          <a:bodyPr wrap="none">
            <a:spAutoFit/>
          </a:bodyPr>
          <a:lstStyle/>
          <a:p>
            <a:pPr algn="r"/>
            <a:r>
              <a:rPr sz="750" b="0" i="0">
                <a:solidFill>
                  <a:srgbClr val="0D0D0D"/>
                </a:solidFill>
                <a:latin typeface="Calibri"/>
              </a:rPr>
              <a:t>372,29 $</a:t>
            </a:r>
          </a:p>
        </p:txBody>
      </p:sp>
      <p:sp>
        <p:nvSpPr>
          <p:cNvPr id="55" name="Rectangle 54"/>
          <p:cNvSpPr/>
          <p:nvPr/>
        </p:nvSpPr>
        <p:spPr>
          <a:xfrm>
            <a:off x="367200" y="3150000"/>
            <a:ext cx="4140000" cy="1836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3200" y="3178800"/>
            <a:ext cx="2152800" cy="162000"/>
          </a:xfrm>
          <a:prstGeom prst="rect">
            <a:avLst/>
          </a:prstGeom>
          <a:noFill/>
        </p:spPr>
        <p:txBody>
          <a:bodyPr wrap="none">
            <a:spAutoFit/>
          </a:bodyPr>
          <a:lstStyle/>
          <a:p>
            <a:pPr algn="l"/>
            <a:r>
              <a:rPr sz="700" b="0" i="0">
                <a:solidFill>
                  <a:srgbClr val="555555"/>
                </a:solidFill>
                <a:latin typeface="Calibri"/>
              </a:rPr>
              <a:t>52W High</a:t>
            </a:r>
          </a:p>
        </p:txBody>
      </p:sp>
      <p:sp>
        <p:nvSpPr>
          <p:cNvPr id="57" name="TextBox 56"/>
          <p:cNvSpPr txBox="1"/>
          <p:nvPr/>
        </p:nvSpPr>
        <p:spPr>
          <a:xfrm>
            <a:off x="2520000" y="3178800"/>
            <a:ext cx="1863000" cy="162000"/>
          </a:xfrm>
          <a:prstGeom prst="rect">
            <a:avLst/>
          </a:prstGeom>
          <a:noFill/>
        </p:spPr>
        <p:txBody>
          <a:bodyPr wrap="none">
            <a:spAutoFit/>
          </a:bodyPr>
          <a:lstStyle/>
          <a:p>
            <a:pPr algn="r"/>
            <a:r>
              <a:rPr sz="750" b="0" i="0">
                <a:solidFill>
                  <a:srgbClr val="0D0D0D"/>
                </a:solidFill>
                <a:latin typeface="Calibri"/>
              </a:rPr>
              <a:t>555,45 $</a:t>
            </a:r>
          </a:p>
        </p:txBody>
      </p:sp>
      <p:sp>
        <p:nvSpPr>
          <p:cNvPr id="58" name="Rectangle 57"/>
          <p:cNvSpPr/>
          <p:nvPr/>
        </p:nvSpPr>
        <p:spPr>
          <a:xfrm>
            <a:off x="367200" y="3348000"/>
            <a:ext cx="41400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3200" y="3376800"/>
            <a:ext cx="2152800" cy="162000"/>
          </a:xfrm>
          <a:prstGeom prst="rect">
            <a:avLst/>
          </a:prstGeom>
          <a:noFill/>
        </p:spPr>
        <p:txBody>
          <a:bodyPr wrap="none">
            <a:spAutoFit/>
          </a:bodyPr>
          <a:lstStyle/>
          <a:p>
            <a:pPr algn="l"/>
            <a:r>
              <a:rPr sz="700" b="0" i="0">
                <a:solidFill>
                  <a:srgbClr val="555555"/>
                </a:solidFill>
                <a:latin typeface="Calibri"/>
              </a:rPr>
              <a:t>52W Low</a:t>
            </a:r>
          </a:p>
        </p:txBody>
      </p:sp>
      <p:sp>
        <p:nvSpPr>
          <p:cNvPr id="60" name="TextBox 59"/>
          <p:cNvSpPr txBox="1"/>
          <p:nvPr/>
        </p:nvSpPr>
        <p:spPr>
          <a:xfrm>
            <a:off x="2520000" y="3376800"/>
            <a:ext cx="1863000" cy="162000"/>
          </a:xfrm>
          <a:prstGeom prst="rect">
            <a:avLst/>
          </a:prstGeom>
          <a:noFill/>
        </p:spPr>
        <p:txBody>
          <a:bodyPr wrap="none">
            <a:spAutoFit/>
          </a:bodyPr>
          <a:lstStyle/>
          <a:p>
            <a:pPr algn="r"/>
            <a:r>
              <a:rPr sz="750" b="0" i="0">
                <a:solidFill>
                  <a:srgbClr val="0D0D0D"/>
                </a:solidFill>
                <a:latin typeface="Calibri"/>
              </a:rPr>
              <a:t>353,10 $</a:t>
            </a:r>
          </a:p>
        </p:txBody>
      </p:sp>
      <p:sp>
        <p:nvSpPr>
          <p:cNvPr id="61" name="Rectangle 60"/>
          <p:cNvSpPr/>
          <p:nvPr/>
        </p:nvSpPr>
        <p:spPr>
          <a:xfrm>
            <a:off x="367200" y="3546000"/>
            <a:ext cx="4140000" cy="1836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03200" y="3574800"/>
            <a:ext cx="2152800" cy="162000"/>
          </a:xfrm>
          <a:prstGeom prst="rect">
            <a:avLst/>
          </a:prstGeom>
          <a:noFill/>
        </p:spPr>
        <p:txBody>
          <a:bodyPr wrap="none">
            <a:spAutoFit/>
          </a:bodyPr>
          <a:lstStyle/>
          <a:p>
            <a:pPr algn="l"/>
            <a:r>
              <a:rPr sz="700" b="0" i="0">
                <a:solidFill>
                  <a:srgbClr val="555555"/>
                </a:solidFill>
                <a:latin typeface="Calibri"/>
              </a:rPr>
              <a:t>Perf. 1 Mois</a:t>
            </a:r>
          </a:p>
        </p:txBody>
      </p:sp>
      <p:sp>
        <p:nvSpPr>
          <p:cNvPr id="63" name="TextBox 62"/>
          <p:cNvSpPr txBox="1"/>
          <p:nvPr/>
        </p:nvSpPr>
        <p:spPr>
          <a:xfrm>
            <a:off x="2520000" y="3574800"/>
            <a:ext cx="1863000" cy="162000"/>
          </a:xfrm>
          <a:prstGeom prst="rect">
            <a:avLst/>
          </a:prstGeom>
          <a:noFill/>
        </p:spPr>
        <p:txBody>
          <a:bodyPr wrap="none">
            <a:spAutoFit/>
          </a:bodyPr>
          <a:lstStyle/>
          <a:p>
            <a:pPr algn="r"/>
            <a:r>
              <a:rPr sz="750" b="0" i="0">
                <a:solidFill>
                  <a:srgbClr val="0D0D0D"/>
                </a:solidFill>
                <a:latin typeface="Calibri"/>
              </a:rPr>
              <a:t>+0,6 %</a:t>
            </a:r>
          </a:p>
        </p:txBody>
      </p:sp>
      <p:sp>
        <p:nvSpPr>
          <p:cNvPr id="64" name="Rectangle 63"/>
          <p:cNvSpPr/>
          <p:nvPr/>
        </p:nvSpPr>
        <p:spPr>
          <a:xfrm>
            <a:off x="367200" y="3744000"/>
            <a:ext cx="41400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03200" y="3772800"/>
            <a:ext cx="2152800" cy="162000"/>
          </a:xfrm>
          <a:prstGeom prst="rect">
            <a:avLst/>
          </a:prstGeom>
          <a:noFill/>
        </p:spPr>
        <p:txBody>
          <a:bodyPr wrap="none">
            <a:spAutoFit/>
          </a:bodyPr>
          <a:lstStyle/>
          <a:p>
            <a:pPr algn="l"/>
            <a:r>
              <a:rPr sz="700" b="0" i="0">
                <a:solidFill>
                  <a:srgbClr val="555555"/>
                </a:solidFill>
                <a:latin typeface="Calibri"/>
              </a:rPr>
              <a:t>Perf. 3 Mois</a:t>
            </a:r>
          </a:p>
        </p:txBody>
      </p:sp>
      <p:sp>
        <p:nvSpPr>
          <p:cNvPr id="66" name="TextBox 65"/>
          <p:cNvSpPr txBox="1"/>
          <p:nvPr/>
        </p:nvSpPr>
        <p:spPr>
          <a:xfrm>
            <a:off x="2520000" y="3772800"/>
            <a:ext cx="1863000" cy="162000"/>
          </a:xfrm>
          <a:prstGeom prst="rect">
            <a:avLst/>
          </a:prstGeom>
          <a:noFill/>
        </p:spPr>
        <p:txBody>
          <a:bodyPr wrap="none">
            <a:spAutoFit/>
          </a:bodyPr>
          <a:lstStyle/>
          <a:p>
            <a:pPr algn="r"/>
            <a:r>
              <a:rPr sz="750" b="0" i="0">
                <a:solidFill>
                  <a:srgbClr val="0D0D0D"/>
                </a:solidFill>
                <a:latin typeface="Calibri"/>
              </a:rPr>
              <a:t>-13,3 %</a:t>
            </a:r>
          </a:p>
        </p:txBody>
      </p:sp>
      <p:sp>
        <p:nvSpPr>
          <p:cNvPr id="67" name="Rectangle 66"/>
          <p:cNvSpPr/>
          <p:nvPr/>
        </p:nvSpPr>
        <p:spPr>
          <a:xfrm>
            <a:off x="367200" y="3942000"/>
            <a:ext cx="4140000" cy="1836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3200" y="3970800"/>
            <a:ext cx="2152800" cy="162000"/>
          </a:xfrm>
          <a:prstGeom prst="rect">
            <a:avLst/>
          </a:prstGeom>
          <a:noFill/>
        </p:spPr>
        <p:txBody>
          <a:bodyPr wrap="none">
            <a:spAutoFit/>
          </a:bodyPr>
          <a:lstStyle/>
          <a:p>
            <a:pPr algn="l"/>
            <a:r>
              <a:rPr sz="700" b="0" i="0">
                <a:solidFill>
                  <a:srgbClr val="555555"/>
                </a:solidFill>
                <a:latin typeface="Calibri"/>
              </a:rPr>
              <a:t>Perf. 1 An</a:t>
            </a:r>
          </a:p>
        </p:txBody>
      </p:sp>
      <p:sp>
        <p:nvSpPr>
          <p:cNvPr id="69" name="TextBox 68"/>
          <p:cNvSpPr txBox="1"/>
          <p:nvPr/>
        </p:nvSpPr>
        <p:spPr>
          <a:xfrm>
            <a:off x="2520000" y="3970800"/>
            <a:ext cx="1863000" cy="162000"/>
          </a:xfrm>
          <a:prstGeom prst="rect">
            <a:avLst/>
          </a:prstGeom>
          <a:noFill/>
        </p:spPr>
        <p:txBody>
          <a:bodyPr wrap="none">
            <a:spAutoFit/>
          </a:bodyPr>
          <a:lstStyle/>
          <a:p>
            <a:pPr algn="r"/>
            <a:r>
              <a:rPr sz="750" b="0" i="0">
                <a:solidFill>
                  <a:srgbClr val="0D0D0D"/>
                </a:solidFill>
                <a:latin typeface="Calibri"/>
              </a:rPr>
              <a:t>-18,5 %</a:t>
            </a:r>
          </a:p>
        </p:txBody>
      </p:sp>
      <p:sp>
        <p:nvSpPr>
          <p:cNvPr id="70" name="Rectangle 69"/>
          <p:cNvSpPr/>
          <p:nvPr/>
        </p:nvSpPr>
        <p:spPr>
          <a:xfrm>
            <a:off x="367200" y="4140000"/>
            <a:ext cx="41400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03200" y="4168800"/>
            <a:ext cx="2152800" cy="162000"/>
          </a:xfrm>
          <a:prstGeom prst="rect">
            <a:avLst/>
          </a:prstGeom>
          <a:noFill/>
        </p:spPr>
        <p:txBody>
          <a:bodyPr wrap="none">
            <a:spAutoFit/>
          </a:bodyPr>
          <a:lstStyle/>
          <a:p>
            <a:pPr algn="l"/>
            <a:r>
              <a:rPr sz="700" b="0" i="0">
                <a:solidFill>
                  <a:srgbClr val="555555"/>
                </a:solidFill>
                <a:latin typeface="Calibri"/>
              </a:rPr>
              <a:t>Div. Yield</a:t>
            </a:r>
          </a:p>
        </p:txBody>
      </p:sp>
      <p:sp>
        <p:nvSpPr>
          <p:cNvPr id="72" name="TextBox 71"/>
          <p:cNvSpPr txBox="1"/>
          <p:nvPr/>
        </p:nvSpPr>
        <p:spPr>
          <a:xfrm>
            <a:off x="2520000" y="4168800"/>
            <a:ext cx="1863000" cy="162000"/>
          </a:xfrm>
          <a:prstGeom prst="rect">
            <a:avLst/>
          </a:prstGeom>
          <a:noFill/>
        </p:spPr>
        <p:txBody>
          <a:bodyPr wrap="none">
            <a:spAutoFit/>
          </a:bodyPr>
          <a:lstStyle/>
          <a:p>
            <a:pPr algn="r"/>
            <a:r>
              <a:rPr sz="750" b="0" i="0">
                <a:solidFill>
                  <a:srgbClr val="0D0D0D"/>
                </a:solidFill>
                <a:latin typeface="Calibri"/>
              </a:rPr>
              <a:t>0,9 %</a:t>
            </a:r>
          </a:p>
        </p:txBody>
      </p:sp>
      <p:sp>
        <p:nvSpPr>
          <p:cNvPr id="73" name="Rectangle 72"/>
          <p:cNvSpPr/>
          <p:nvPr/>
        </p:nvSpPr>
        <p:spPr>
          <a:xfrm>
            <a:off x="367200" y="4338000"/>
            <a:ext cx="4140000" cy="1836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03200" y="4366800"/>
            <a:ext cx="2152800" cy="162000"/>
          </a:xfrm>
          <a:prstGeom prst="rect">
            <a:avLst/>
          </a:prstGeom>
          <a:noFill/>
        </p:spPr>
        <p:txBody>
          <a:bodyPr wrap="none">
            <a:spAutoFit/>
          </a:bodyPr>
          <a:lstStyle/>
          <a:p>
            <a:pPr algn="l"/>
            <a:r>
              <a:rPr sz="700" b="0" i="0">
                <a:solidFill>
                  <a:srgbClr val="555555"/>
                </a:solidFill>
                <a:latin typeface="Calibri"/>
              </a:rPr>
              <a:t>Volatilite 52S</a:t>
            </a:r>
          </a:p>
        </p:txBody>
      </p:sp>
      <p:sp>
        <p:nvSpPr>
          <p:cNvPr id="75" name="TextBox 74"/>
          <p:cNvSpPr txBox="1"/>
          <p:nvPr/>
        </p:nvSpPr>
        <p:spPr>
          <a:xfrm>
            <a:off x="2520000" y="4366800"/>
            <a:ext cx="1863000" cy="162000"/>
          </a:xfrm>
          <a:prstGeom prst="rect">
            <a:avLst/>
          </a:prstGeom>
          <a:noFill/>
        </p:spPr>
        <p:txBody>
          <a:bodyPr wrap="none">
            <a:spAutoFit/>
          </a:bodyPr>
          <a:lstStyle/>
          <a:p>
            <a:pPr algn="r"/>
            <a:r>
              <a:rPr sz="750" b="0" i="0">
                <a:solidFill>
                  <a:srgbClr val="0D0D0D"/>
                </a:solidFill>
                <a:latin typeface="Calibri"/>
              </a:rPr>
              <a:t>26,1 %</a:t>
            </a:r>
          </a:p>
        </p:txBody>
      </p:sp>
      <p:pic>
        <p:nvPicPr>
          <p:cNvPr id="76" name="Picture 75" descr="image.png"/>
          <p:cNvPicPr>
            <a:picLocks noChangeAspect="1"/>
          </p:cNvPicPr>
          <p:nvPr/>
        </p:nvPicPr>
        <p:blipFill>
          <a:blip r:embed="rId2"/>
          <a:stretch>
            <a:fillRect/>
          </a:stretch>
        </p:blipFill>
        <p:spPr>
          <a:xfrm>
            <a:off x="4687200" y="882000"/>
            <a:ext cx="4276800" cy="3780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Verdict Final Comparatif</a:t>
            </a:r>
          </a:p>
        </p:txBody>
      </p:sp>
      <p:sp>
        <p:nvSpPr>
          <p:cNvPr id="6" name="Rectangle 5"/>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8" name="Rectangle 7"/>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10" name="Rectangle 9"/>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2" name="Rectangle 11"/>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4" name="Rectangle 13"/>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6" name="Rectangle 15"/>
          <p:cNvSpPr/>
          <p:nvPr/>
        </p:nvSpPr>
        <p:spPr>
          <a:xfrm>
            <a:off x="367200" y="622800"/>
            <a:ext cx="8413200" cy="3600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66000"/>
            <a:ext cx="8229600" cy="273600"/>
          </a:xfrm>
          <a:prstGeom prst="rect">
            <a:avLst/>
          </a:prstGeom>
          <a:noFill/>
        </p:spPr>
        <p:txBody>
          <a:bodyPr wrap="square">
            <a:spAutoFit/>
          </a:bodyPr>
          <a:lstStyle/>
          <a:p>
            <a:pPr algn="ctr"/>
            <a:r>
              <a:rPr sz="1600" b="1" i="0">
                <a:solidFill>
                  <a:srgbClr val="FFFFFF"/>
                </a:solidFill>
                <a:latin typeface="Calibri"/>
              </a:rPr>
              <a:t>CHOIX PREFERE : MSFT</a:t>
            </a:r>
          </a:p>
        </p:txBody>
      </p:sp>
      <p:sp>
        <p:nvSpPr>
          <p:cNvPr id="18" name="Rectangle 17"/>
          <p:cNvSpPr/>
          <p:nvPr/>
        </p:nvSpPr>
        <p:spPr>
          <a:xfrm>
            <a:off x="367200" y="1062000"/>
            <a:ext cx="8413200" cy="72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1062000"/>
            <a:ext cx="64800" cy="72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1105200"/>
            <a:ext cx="8172000" cy="666000"/>
          </a:xfrm>
          <a:prstGeom prst="rect">
            <a:avLst/>
          </a:prstGeom>
          <a:noFill/>
        </p:spPr>
        <p:txBody>
          <a:bodyPr wrap="square">
            <a:spAutoFit/>
          </a:bodyPr>
          <a:lstStyle/>
          <a:p>
            <a:pPr algn="l"/>
            <a:r>
              <a:rPr sz="850" b="0" i="0">
                <a:solidFill>
                  <a:srgbClr val="1B3A6B"/>
                </a:solidFill>
                <a:latin typeface="Calibri"/>
              </a:rPr>
              <a:t>MSFT est privilegiee sur la base des criteres de valorisation, de qualite bilancielle et de momentum.</a:t>
            </a:r>
          </a:p>
        </p:txBody>
      </p:sp>
      <p:sp>
        <p:nvSpPr>
          <p:cNvPr id="21" name="Rectangle 20"/>
          <p:cNvSpPr/>
          <p:nvPr/>
        </p:nvSpPr>
        <p:spPr>
          <a:xfrm>
            <a:off x="367200" y="1925999"/>
            <a:ext cx="84132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3999" y="1954800"/>
            <a:ext cx="8280000" cy="151200"/>
          </a:xfrm>
          <a:prstGeom prst="rect">
            <a:avLst/>
          </a:prstGeom>
          <a:noFill/>
        </p:spPr>
        <p:txBody>
          <a:bodyPr wrap="square">
            <a:spAutoFit/>
          </a:bodyPr>
          <a:lstStyle/>
          <a:p>
            <a:pPr algn="l"/>
            <a:r>
              <a:rPr sz="850" b="1" i="0">
                <a:solidFill>
                  <a:srgbClr val="FFFFFF"/>
                </a:solidFill>
                <a:latin typeface="Calibri"/>
              </a:rPr>
              <a:t>Scorecard Comparative</a:t>
            </a:r>
          </a:p>
        </p:txBody>
      </p:sp>
      <p:graphicFrame>
        <p:nvGraphicFramePr>
          <p:cNvPr id="23" name="Table 22"/>
          <p:cNvGraphicFramePr>
            <a:graphicFrameLocks noGrp="1"/>
          </p:cNvGraphicFramePr>
          <p:nvPr/>
        </p:nvGraphicFramePr>
        <p:xfrm>
          <a:off x="367200" y="2141999"/>
          <a:ext cx="8413200" cy="1368000"/>
        </p:xfrm>
        <a:graphic>
          <a:graphicData uri="http://schemas.openxmlformats.org/drawingml/2006/table">
            <a:tbl>
              <a:tblPr firstRow="1" bandRow="1">
                <a:tableStyleId>{5C22544A-7EE6-4342-B048-85BDC9FD1C3A}</a:tableStyleId>
              </a:tblPr>
              <a:tblGrid>
                <a:gridCol w="3701808"/>
                <a:gridCol w="2355696"/>
                <a:gridCol w="2355696"/>
              </a:tblGrid>
              <a:tr h="228000">
                <a:tc>
                  <a:txBody>
                    <a:bodyPr/>
                    <a:lstStyle/>
                    <a:p>
                      <a:pPr algn="l"/>
                      <a:r>
                        <a:rPr sz="750" b="1" i="0">
                          <a:solidFill>
                            <a:srgbClr val="FFFFFF"/>
                          </a:solidFill>
                          <a:latin typeface="Calibri"/>
                        </a:rPr>
                        <a:t>Critere</a:t>
                      </a:r>
                    </a:p>
                  </a:txBody>
                  <a:tcPr>
                    <a:solidFill>
                      <a:srgbClr val="2E5FA3"/>
                    </a:solidFill>
                  </a:tcPr>
                </a:tc>
                <a:tc>
                  <a:txBody>
                    <a:bodyPr/>
                    <a:lstStyle/>
                    <a:p>
                      <a:pPr algn="ctr"/>
                      <a:r>
                        <a:rPr sz="750" b="1" i="0">
                          <a:solidFill>
                            <a:srgbClr val="FFFFFF"/>
                          </a:solidFill>
                          <a:latin typeface="Calibri"/>
                        </a:rPr>
                        <a:t>AAPL</a:t>
                      </a:r>
                    </a:p>
                  </a:txBody>
                  <a:tcPr>
                    <a:solidFill>
                      <a:srgbClr val="2E5FA3"/>
                    </a:solidFill>
                  </a:tcPr>
                </a:tc>
                <a:tc>
                  <a:txBody>
                    <a:bodyPr/>
                    <a:lstStyle/>
                    <a:p>
                      <a:pPr algn="ctr"/>
                      <a:r>
                        <a:rPr sz="750" b="1" i="0">
                          <a:solidFill>
                            <a:srgbClr val="FFFFFF"/>
                          </a:solidFill>
                          <a:latin typeface="Calibri"/>
                        </a:rPr>
                        <a:t>MSFT</a:t>
                      </a:r>
                    </a:p>
                  </a:txBody>
                  <a:tcPr>
                    <a:solidFill>
                      <a:srgbClr val="2E5FA3"/>
                    </a:solidFill>
                  </a:tcPr>
                </a:tc>
              </a:tr>
              <a:tr h="228000">
                <a:tc>
                  <a:txBody>
                    <a:bodyPr/>
                    <a:lstStyle/>
                    <a:p>
                      <a:pPr algn="l"/>
                      <a:r>
                        <a:rPr sz="750" b="0" i="0">
                          <a:solidFill>
                            <a:srgbClr val="0D0D0D"/>
                          </a:solidFill>
                          <a:latin typeface="Calibri"/>
                        </a:rPr>
                        <a:t>FinSight Score /100</a:t>
                      </a:r>
                    </a:p>
                  </a:txBody>
                  <a:tcPr>
                    <a:solidFill>
                      <a:srgbClr val="FFFFFF"/>
                    </a:solidFill>
                  </a:tcPr>
                </a:tc>
                <a:tc>
                  <a:txBody>
                    <a:bodyPr/>
                    <a:lstStyle/>
                    <a:p>
                      <a:pPr algn="ctr"/>
                      <a:r>
                        <a:rPr sz="750" b="0" i="0">
                          <a:solidFill>
                            <a:srgbClr val="0D0D0D"/>
                          </a:solidFill>
                          <a:latin typeface="Calibri"/>
                        </a:rPr>
                        <a:t>44.0</a:t>
                      </a:r>
                    </a:p>
                  </a:txBody>
                  <a:tcPr>
                    <a:solidFill>
                      <a:srgbClr val="FFFFFF"/>
                    </a:solidFill>
                  </a:tcPr>
                </a:tc>
                <a:tc>
                  <a:txBody>
                    <a:bodyPr/>
                    <a:lstStyle/>
                    <a:p>
                      <a:pPr algn="ctr"/>
                      <a:r>
                        <a:rPr sz="750" b="0" i="0">
                          <a:solidFill>
                            <a:srgbClr val="0D0D0D"/>
                          </a:solidFill>
                          <a:latin typeface="Calibri"/>
                        </a:rPr>
                        <a:t>✔ 58.0</a:t>
                      </a:r>
                    </a:p>
                  </a:txBody>
                  <a:tcPr>
                    <a:solidFill>
                      <a:srgbClr val="FFFFFF"/>
                    </a:solidFill>
                  </a:tcPr>
                </a:tc>
              </a:tr>
              <a:tr h="228000">
                <a:tc>
                  <a:txBody>
                    <a:bodyPr/>
                    <a:lstStyle/>
                    <a:p>
                      <a:pPr algn="l"/>
                      <a:r>
                        <a:rPr sz="750" b="0" i="0">
                          <a:solidFill>
                            <a:srgbClr val="0D0D0D"/>
                          </a:solidFill>
                          <a:latin typeface="Calibri"/>
                        </a:rPr>
                        <a:t>Piotroski F-Score /9</a:t>
                      </a:r>
                    </a:p>
                  </a:txBody>
                  <a:tcPr>
                    <a:solidFill>
                      <a:srgbClr val="F7F8FA"/>
                    </a:solidFill>
                  </a:tcPr>
                </a:tc>
                <a:tc>
                  <a:txBody>
                    <a:bodyPr/>
                    <a:lstStyle/>
                    <a:p>
                      <a:pPr algn="ctr"/>
                      <a:r>
                        <a:rPr sz="750" b="0" i="0">
                          <a:solidFill>
                            <a:srgbClr val="0D0D0D"/>
                          </a:solidFill>
                          <a:latin typeface="Calibri"/>
                        </a:rPr>
                        <a:t>✔ 7.0</a:t>
                      </a:r>
                    </a:p>
                  </a:txBody>
                  <a:tcPr>
                    <a:solidFill>
                      <a:srgbClr val="F7F8FA"/>
                    </a:solidFill>
                  </a:tcPr>
                </a:tc>
                <a:tc>
                  <a:txBody>
                    <a:bodyPr/>
                    <a:lstStyle/>
                    <a:p>
                      <a:pPr algn="ctr"/>
                      <a:r>
                        <a:rPr sz="750" b="0" i="0">
                          <a:solidFill>
                            <a:srgbClr val="0D0D0D"/>
                          </a:solidFill>
                          <a:latin typeface="Calibri"/>
                        </a:rPr>
                        <a:t>5.0</a:t>
                      </a:r>
                    </a:p>
                  </a:txBody>
                  <a:tcPr>
                    <a:solidFill>
                      <a:srgbClr val="F7F8FA"/>
                    </a:solidFill>
                  </a:tcPr>
                </a:tc>
              </a:tr>
              <a:tr h="228000">
                <a:tc>
                  <a:txBody>
                    <a:bodyPr/>
                    <a:lstStyle/>
                    <a:p>
                      <a:pPr algn="l"/>
                      <a:r>
                        <a:rPr sz="750" b="0" i="0">
                          <a:solidFill>
                            <a:srgbClr val="0D0D0D"/>
                          </a:solidFill>
                          <a:latin typeface="Calibri"/>
                        </a:rPr>
                        <a:t>Marge EBITDA LTM</a:t>
                      </a:r>
                    </a:p>
                  </a:txBody>
                  <a:tcPr>
                    <a:solidFill>
                      <a:srgbClr val="FFFFFF"/>
                    </a:solidFill>
                  </a:tcPr>
                </a:tc>
                <a:tc>
                  <a:txBody>
                    <a:bodyPr/>
                    <a:lstStyle/>
                    <a:p>
                      <a:pPr algn="ctr"/>
                      <a:r>
                        <a:rPr sz="750" b="0" i="0">
                          <a:solidFill>
                            <a:srgbClr val="0D0D0D"/>
                          </a:solidFill>
                          <a:latin typeface="Calibri"/>
                        </a:rPr>
                        <a:t>34.8</a:t>
                      </a:r>
                    </a:p>
                  </a:txBody>
                  <a:tcPr>
                    <a:solidFill>
                      <a:srgbClr val="FFFFFF"/>
                    </a:solidFill>
                  </a:tcPr>
                </a:tc>
                <a:tc>
                  <a:txBody>
                    <a:bodyPr/>
                    <a:lstStyle/>
                    <a:p>
                      <a:pPr algn="ctr"/>
                      <a:r>
                        <a:rPr sz="750" b="0" i="0">
                          <a:solidFill>
                            <a:srgbClr val="0D0D0D"/>
                          </a:solidFill>
                          <a:latin typeface="Calibri"/>
                        </a:rPr>
                        <a:t>✔ 56.9</a:t>
                      </a:r>
                    </a:p>
                  </a:txBody>
                  <a:tcPr>
                    <a:solidFill>
                      <a:srgbClr val="FFFFFF"/>
                    </a:solidFill>
                  </a:tcPr>
                </a:tc>
              </a:tr>
              <a:tr h="228000">
                <a:tc>
                  <a:txBody>
                    <a:bodyPr/>
                    <a:lstStyle/>
                    <a:p>
                      <a:pPr algn="l"/>
                      <a:r>
                        <a:rPr sz="750" b="0" i="0">
                          <a:solidFill>
                            <a:srgbClr val="0D0D0D"/>
                          </a:solidFill>
                          <a:latin typeface="Calibri"/>
                        </a:rPr>
                        <a:t>ROIC</a:t>
                      </a:r>
                    </a:p>
                  </a:txBody>
                  <a:tcPr>
                    <a:solidFill>
                      <a:srgbClr val="F7F8FA"/>
                    </a:solidFill>
                  </a:tcPr>
                </a:tc>
                <a:tc>
                  <a:txBody>
                    <a:bodyPr/>
                    <a:lstStyle/>
                    <a:p>
                      <a:pPr algn="ctr"/>
                      <a:r>
                        <a:rPr sz="750" b="0" i="0">
                          <a:solidFill>
                            <a:srgbClr val="0D0D0D"/>
                          </a:solidFill>
                          <a:latin typeface="Calibri"/>
                        </a:rPr>
                        <a:t>✔ 84.4</a:t>
                      </a:r>
                    </a:p>
                  </a:txBody>
                  <a:tcPr>
                    <a:solidFill>
                      <a:srgbClr val="F7F8FA"/>
                    </a:solidFill>
                  </a:tcPr>
                </a:tc>
                <a:tc>
                  <a:txBody>
                    <a:bodyPr/>
                    <a:lstStyle/>
                    <a:p>
                      <a:pPr algn="ctr"/>
                      <a:r>
                        <a:rPr sz="750" b="0" i="0">
                          <a:solidFill>
                            <a:srgbClr val="0D0D0D"/>
                          </a:solidFill>
                          <a:latin typeface="Calibri"/>
                        </a:rPr>
                        <a:t>30.1</a:t>
                      </a:r>
                    </a:p>
                  </a:txBody>
                  <a:tcPr>
                    <a:solidFill>
                      <a:srgbClr val="F7F8FA"/>
                    </a:solidFill>
                  </a:tcPr>
                </a:tc>
              </a:tr>
              <a:tr h="228000">
                <a:tc>
                  <a:txBody>
                    <a:bodyPr/>
                    <a:lstStyle/>
                    <a:p>
                      <a:pPr algn="l"/>
                      <a:r>
                        <a:rPr sz="750" b="0" i="0">
                          <a:solidFill>
                            <a:srgbClr val="0D0D0D"/>
                          </a:solidFill>
                          <a:latin typeface="Calibri"/>
                        </a:rPr>
                        <a:t>Rev CAGR 3y</a:t>
                      </a:r>
                    </a:p>
                  </a:txBody>
                  <a:tcPr>
                    <a:solidFill>
                      <a:srgbClr val="FFFFFF"/>
                    </a:solidFill>
                  </a:tcPr>
                </a:tc>
                <a:tc>
                  <a:txBody>
                    <a:bodyPr/>
                    <a:lstStyle/>
                    <a:p>
                      <a:pPr algn="ctr"/>
                      <a:r>
                        <a:rPr sz="750" b="0" i="0">
                          <a:solidFill>
                            <a:srgbClr val="0D0D0D"/>
                          </a:solidFill>
                          <a:latin typeface="Calibri"/>
                        </a:rPr>
                        <a:t>1.8</a:t>
                      </a:r>
                    </a:p>
                  </a:txBody>
                  <a:tcPr>
                    <a:solidFill>
                      <a:srgbClr val="FFFFFF"/>
                    </a:solidFill>
                  </a:tcPr>
                </a:tc>
                <a:tc>
                  <a:txBody>
                    <a:bodyPr/>
                    <a:lstStyle/>
                    <a:p>
                      <a:pPr algn="ctr"/>
                      <a:r>
                        <a:rPr sz="750" b="0" i="0">
                          <a:solidFill>
                            <a:srgbClr val="0D0D0D"/>
                          </a:solidFill>
                          <a:latin typeface="Calibri"/>
                        </a:rPr>
                        <a:t>✔ 12.4</a:t>
                      </a:r>
                    </a:p>
                  </a:txBody>
                  <a:tcPr>
                    <a:solidFill>
                      <a:srgbClr val="FFFFFF"/>
                    </a:solidFill>
                  </a:tcPr>
                </a:tc>
              </a:tr>
            </a:tbl>
          </a:graphicData>
        </a:graphic>
      </p:graphicFrame>
      <p:sp>
        <p:nvSpPr>
          <p:cNvPr id="24" name="Rectangle 23"/>
          <p:cNvSpPr/>
          <p:nvPr/>
        </p:nvSpPr>
        <p:spPr>
          <a:xfrm>
            <a:off x="367200" y="3600000"/>
            <a:ext cx="8413200" cy="540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3600000"/>
            <a:ext cx="46800" cy="540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6000" y="3628800"/>
            <a:ext cx="8208000" cy="162000"/>
          </a:xfrm>
          <a:prstGeom prst="rect">
            <a:avLst/>
          </a:prstGeom>
          <a:noFill/>
        </p:spPr>
        <p:txBody>
          <a:bodyPr wrap="none">
            <a:spAutoFit/>
          </a:bodyPr>
          <a:lstStyle/>
          <a:p>
            <a:pPr algn="l"/>
            <a:r>
              <a:rPr sz="700" b="1" i="0">
                <a:solidFill>
                  <a:srgbClr val="1B3A6B"/>
                </a:solidFill>
                <a:latin typeface="Calibri"/>
              </a:rPr>
              <a:t>TRAJECTOIRE BOURSIERE &amp; CONTEXTE</a:t>
            </a:r>
          </a:p>
        </p:txBody>
      </p:sp>
      <p:sp>
        <p:nvSpPr>
          <p:cNvPr id="27" name="TextBox 26"/>
          <p:cNvSpPr txBox="1"/>
          <p:nvPr/>
        </p:nvSpPr>
        <p:spPr>
          <a:xfrm>
            <a:off x="486000" y="3780000"/>
            <a:ext cx="8208000" cy="144000"/>
          </a:xfrm>
          <a:prstGeom prst="rect">
            <a:avLst/>
          </a:prstGeom>
          <a:noFill/>
        </p:spPr>
        <p:txBody>
          <a:bodyPr wrap="none">
            <a:spAutoFit/>
          </a:bodyPr>
          <a:lstStyle/>
          <a:p>
            <a:pPr algn="l"/>
            <a:r>
              <a:rPr sz="750" b="0" i="0">
                <a:solidFill>
                  <a:srgbClr val="555555"/>
                </a:solidFill>
                <a:latin typeface="Calibri"/>
              </a:rPr>
              <a:t>AAPL : 253,50 $ (1Y : +26,8 %)  |  MSFT : 372,29 $ (1Y : -18,5 %)  |  Leader : AAPL</a:t>
            </a:r>
          </a:p>
        </p:txBody>
      </p:sp>
      <p:sp>
        <p:nvSpPr>
          <p:cNvPr id="28" name="TextBox 27"/>
          <p:cNvSpPr txBox="1"/>
          <p:nvPr/>
        </p:nvSpPr>
        <p:spPr>
          <a:xfrm>
            <a:off x="486000" y="3924000"/>
            <a:ext cx="8208000" cy="180000"/>
          </a:xfrm>
          <a:prstGeom prst="rect">
            <a:avLst/>
          </a:prstGeom>
          <a:noFill/>
        </p:spPr>
        <p:txBody>
          <a:bodyPr wrap="square">
            <a:spAutoFit/>
          </a:bodyPr>
          <a:lstStyle/>
          <a:p>
            <a:pPr algn="l"/>
            <a:r>
              <a:rPr sz="700" b="0" i="0">
                <a:solidFill>
                  <a:srgbClr val="555555"/>
                </a:solidFill>
                <a:latin typeface="Calibri"/>
              </a:rPr>
              <a:t>Contexte : environnement de taux normalises, discrimination accrue entre profils de qualite dans le secteur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