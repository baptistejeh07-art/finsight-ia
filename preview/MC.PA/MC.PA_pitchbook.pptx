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2000" b="1" i="0">
                <a:solidFill>
                  <a:srgbClr val="1B3A6B"/>
                </a:solidFill>
                <a:latin typeface="Calibri"/>
              </a:rPr>
              <a:t>LVMH Moët Hennessy - Louis Vuitton, Société Européenne</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MC.PA  ·  Euronext Paris  ·  Consumer Cyclical</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520 EUR  ·  Upside : +13,5 %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26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520 EUR  ·  Upside : +13,5 %  ·  Bear : 440 EUR (-4,0 %)  ·  Bull : 580 EUR (+26,6 %)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Marques iconiques</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Croissance du CA asiatique de 18% en 2026 portée par la reprise post-Covid et l'engouement pour le luxe chinois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Réseau exclusif</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Hausse des marges nettes à 14.5% en 2027 grâce à l'optimisation des coûts logistiques et digitalisation</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Gestion financière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Acquisition de Tiffany &amp; Co en 2021 génère +3.2Mds€ de revenus récurrents annuels dès 2026</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Ralentissement Chine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-5% PIB 2026</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des marques locales en Asie</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Risque réglementaire sur les marges en Europe</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9,2x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15,8x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8,6 %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0,84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520 EUR</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+13,5 %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+0,073</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20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LVMH Moët Hennessy - Louis Vuitton, Société Européenne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Ralentissement Chine  ·  Concurrence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LVMH Moët Hennessy - Louis Vuitton, Société Européenne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LVMH est le leader mondial du luxe avec un portefeuille de 75 marques emblématiques couvrant mode, vins &amp; spiritueux, montres &amp; joaillerie, parfums et distribution sélective. Positionné sur le segment premium, le groupe cible une clientèle aisée mondiale avec des produits à forte valeur perçue. Ses avantages concurrentiels incluent un réseau de distribution exclusif, une innovation constante et une gestion financière optimisée malgré les cycles économiques.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Mode et Maroquinerie</a:t>
            </a:r>
          </a:p>
        </p:txBody>
      </p:sp>
      <p:sp>
        <p:nvSpPr>
          <p:cNvPr id="22" name="TextBox 21"/>
          <p:cNvSpPr txBox="1"/>
          <p:nvPr/>
        </p:nvSpPr>
        <p:spPr>
          <a:xfrm>
            <a:off x="619200" y="2714400"/>
            <a:ext cx="4338000" cy="144000"/>
          </a:xfrm>
          <a:prstGeom prst="rect">
            <a:avLst/>
          </a:prstGeom>
          <a:noFill/>
        </p:spPr>
        <p:txBody>
          <a:bodyPr wrap="square">
            <a:spAutoFit/>
          </a:bodyPr>
          <a:lstStyle/>
          <a:p>
            <a:pPr algn="l"/>
            <a:r>
              <a:rPr sz="750" b="0" i="1">
                <a:solidFill>
                  <a:srgbClr val="555555"/>
                </a:solidFill>
                <a:latin typeface="Calibri"/>
              </a:rPr>
              <a:t>Segment phare générant 50% du CA avec des marques comme Louis Vuitton, Dior et Fendi. Modèle basé…</a:t>
            </a:r>
          </a:p>
        </p:txBody>
      </p:sp>
      <p:sp>
        <p:nvSpPr>
          <p:cNvPr id="23" name="Rectangle 22"/>
          <p:cNvSpPr/>
          <p:nvPr/>
        </p:nvSpPr>
        <p:spPr>
          <a:xfrm>
            <a:off x="503999" y="294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2897999"/>
            <a:ext cx="4338000" cy="165600"/>
          </a:xfrm>
          <a:prstGeom prst="rect">
            <a:avLst/>
          </a:prstGeom>
          <a:noFill/>
        </p:spPr>
        <p:txBody>
          <a:bodyPr wrap="square">
            <a:spAutoFit/>
          </a:bodyPr>
          <a:lstStyle/>
          <a:p>
            <a:pPr algn="l"/>
            <a:r>
              <a:rPr sz="850" b="1" i="0">
                <a:solidFill>
                  <a:srgbClr val="0D0D0D"/>
                </a:solidFill>
                <a:latin typeface="Calibri"/>
              </a:rPr>
              <a:t>Vins et Spiritueux</a:t>
            </a:r>
          </a:p>
        </p:txBody>
      </p:sp>
      <p:sp>
        <p:nvSpPr>
          <p:cNvPr id="25" name="TextBox 24"/>
          <p:cNvSpPr txBox="1"/>
          <p:nvPr/>
        </p:nvSpPr>
        <p:spPr>
          <a:xfrm>
            <a:off x="619200" y="3056399"/>
            <a:ext cx="4338000" cy="144000"/>
          </a:xfrm>
          <a:prstGeom prst="rect">
            <a:avLst/>
          </a:prstGeom>
          <a:noFill/>
        </p:spPr>
        <p:txBody>
          <a:bodyPr wrap="square">
            <a:spAutoFit/>
          </a:bodyPr>
          <a:lstStyle/>
          <a:p>
            <a:pPr algn="l"/>
            <a:r>
              <a:rPr sz="750" b="0" i="1">
                <a:solidFill>
                  <a:srgbClr val="555555"/>
                </a:solidFill>
                <a:latin typeface="Calibri"/>
              </a:rPr>
              <a:t>Segment historique avec des marques comme Moët &amp; Chandon, Hennessy et Dom Pérignon. Modèle basé sur…</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227,3 Md€</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80,8 Md€</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458,30 EUR</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9,2x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20,9x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50%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Mode et Maroquinerie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phare générant 50% du CA avec des marques comme Louis Vuitton, Dior et Fendi. Modèle basé sur la rareté, l'exclusivité et le renouvellement annuel des collections. Clients cibles : ultra-haut de gamme asiatique et européen. Moteurs : expansion en Chine (+15% CA 2025), relance du tourisme international et digitalisation des ventes (+22% e-commerce).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Vins et Spiritueux</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historique avec des marques comme Moët &amp; Chandon, Hennessy et Dom Pérignon. Modèle basé sur la production contrôlée et la premiumisation des gammes. Clients cibles : consommateurs mondiaux de spiritueux premium et vins effervescents. Moteurs : croissance de 8% en volume pour Hennessy en 2025, expansion en Inde et Moyen-Orient (+12% CA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EUR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86,2</a:t>
                      </a:r>
                    </a:p>
                  </a:txBody>
                  <a:tcPr>
                    <a:solidFill>
                      <a:srgbClr val="FFFFFF"/>
                    </a:solidFill>
                  </a:tcPr>
                </a:tc>
                <a:tc>
                  <a:txBody>
                    <a:bodyPr/>
                    <a:lstStyle/>
                    <a:p>
                      <a:pPr algn="ctr"/>
                      <a:r>
                        <a:rPr sz="800" b="1" i="0">
                          <a:solidFill>
                            <a:srgbClr val="0D0D0D"/>
                          </a:solidFill>
                          <a:latin typeface="Calibri"/>
                        </a:rPr>
                        <a:t>84,7</a:t>
                      </a:r>
                    </a:p>
                  </a:txBody>
                  <a:tcPr>
                    <a:solidFill>
                      <a:srgbClr val="FFFFFF"/>
                    </a:solidFill>
                  </a:tcPr>
                </a:tc>
                <a:tc>
                  <a:txBody>
                    <a:bodyPr/>
                    <a:lstStyle/>
                    <a:p>
                      <a:pPr algn="ctr"/>
                      <a:r>
                        <a:rPr sz="800" b="1" i="0">
                          <a:solidFill>
                            <a:srgbClr val="1B3A6B"/>
                          </a:solidFill>
                          <a:latin typeface="Calibri"/>
                        </a:rPr>
                        <a:t>80,8</a:t>
                      </a:r>
                    </a:p>
                  </a:txBody>
                  <a:tcPr>
                    <a:solidFill>
                      <a:srgbClr val="DDE8F5"/>
                    </a:solidFill>
                  </a:tcPr>
                </a:tc>
                <a:tc>
                  <a:txBody>
                    <a:bodyPr/>
                    <a:lstStyle/>
                    <a:p>
                      <a:pPr algn="ctr"/>
                      <a:r>
                        <a:rPr sz="800" b="1" i="0">
                          <a:solidFill>
                            <a:srgbClr val="0D0D0D"/>
                          </a:solidFill>
                          <a:latin typeface="Calibri"/>
                        </a:rPr>
                        <a:t>85,0</a:t>
                      </a:r>
                    </a:p>
                  </a:txBody>
                  <a:tcPr>
                    <a:solidFill>
                      <a:srgbClr val="FFFFFF"/>
                    </a:solidFill>
                  </a:tcPr>
                </a:tc>
                <a:tc>
                  <a:txBody>
                    <a:bodyPr/>
                    <a:lstStyle/>
                    <a:p>
                      <a:pPr algn="ctr"/>
                      <a:r>
                        <a:rPr sz="800" b="1" i="0">
                          <a:solidFill>
                            <a:srgbClr val="0D0D0D"/>
                          </a:solidFill>
                          <a:latin typeface="Calibri"/>
                        </a:rPr>
                        <a:t>90,0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+8,8 %</a:t>
                      </a:r>
                    </a:p>
                  </a:txBody>
                  <a:tcPr>
                    <a:solidFill>
                      <a:srgbClr val="F7F8FA"/>
                    </a:solidFill>
                  </a:tcPr>
                </a:tc>
                <a:tc>
                  <a:txBody>
                    <a:bodyPr/>
                    <a:lstStyle/>
                    <a:p>
                      <a:pPr algn="ctr"/>
                      <a:r>
                        <a:rPr sz="750" b="0" i="1">
                          <a:solidFill>
                            <a:srgbClr val="555555"/>
                          </a:solidFill>
                          <a:latin typeface="Calibri"/>
                        </a:rPr>
                        <a:t>-1,7 %</a:t>
                      </a:r>
                    </a:p>
                  </a:txBody>
                  <a:tcPr>
                    <a:solidFill>
                      <a:srgbClr val="F7F8FA"/>
                    </a:solidFill>
                  </a:tcPr>
                </a:tc>
                <a:tc>
                  <a:txBody>
                    <a:bodyPr/>
                    <a:lstStyle/>
                    <a:p>
                      <a:pPr algn="ctr"/>
                      <a:r>
                        <a:rPr sz="750" b="0" i="1">
                          <a:solidFill>
                            <a:srgbClr val="555555"/>
                          </a:solidFill>
                          <a:latin typeface="Calibri"/>
                        </a:rPr>
                        <a:t>-4,6 %</a:t>
                      </a:r>
                    </a:p>
                  </a:txBody>
                  <a:tcPr>
                    <a:solidFill>
                      <a:srgbClr val="DDE8F5"/>
                    </a:solidFill>
                  </a:tcPr>
                </a:tc>
                <a:tc>
                  <a:txBody>
                    <a:bodyPr/>
                    <a:lstStyle/>
                    <a:p>
                      <a:pPr algn="ctr"/>
                      <a:r>
                        <a:rPr sz="750" b="0" i="1">
                          <a:solidFill>
                            <a:srgbClr val="555555"/>
                          </a:solidFill>
                          <a:latin typeface="Calibri"/>
                        </a:rPr>
                        <a:t>+5,2 %</a:t>
                      </a:r>
                    </a:p>
                  </a:txBody>
                  <a:tcPr>
                    <a:solidFill>
                      <a:srgbClr val="F7F8FA"/>
                    </a:solidFill>
                  </a:tcPr>
                </a:tc>
                <a:tc>
                  <a:txBody>
                    <a:bodyPr/>
                    <a:lstStyle/>
                    <a:p>
                      <a:pPr algn="ctr"/>
                      <a:r>
                        <a:rPr sz="750" b="0" i="1">
                          <a:solidFill>
                            <a:srgbClr val="555555"/>
                          </a:solidFill>
                          <a:latin typeface="Calibri"/>
                        </a:rPr>
                        <a:t>+5,9 %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59,3</a:t>
                      </a:r>
                    </a:p>
                  </a:txBody>
                  <a:tcPr>
                    <a:solidFill>
                      <a:srgbClr val="FFFFFF"/>
                    </a:solidFill>
                  </a:tcPr>
                </a:tc>
                <a:tc>
                  <a:txBody>
                    <a:bodyPr/>
                    <a:lstStyle/>
                    <a:p>
                      <a:pPr algn="ctr"/>
                      <a:r>
                        <a:rPr sz="800" b="1" i="0">
                          <a:solidFill>
                            <a:srgbClr val="0D0D0D"/>
                          </a:solidFill>
                          <a:latin typeface="Calibri"/>
                        </a:rPr>
                        <a:t>56,8</a:t>
                      </a:r>
                    </a:p>
                  </a:txBody>
                  <a:tcPr>
                    <a:solidFill>
                      <a:srgbClr val="FFFFFF"/>
                    </a:solidFill>
                  </a:tcPr>
                </a:tc>
                <a:tc>
                  <a:txBody>
                    <a:bodyPr/>
                    <a:lstStyle/>
                    <a:p>
                      <a:pPr algn="ctr"/>
                      <a:r>
                        <a:rPr sz="800" b="1" i="0">
                          <a:solidFill>
                            <a:srgbClr val="1B3A6B"/>
                          </a:solidFill>
                          <a:latin typeface="Calibri"/>
                        </a:rPr>
                        <a:t>53,5</a:t>
                      </a:r>
                    </a:p>
                  </a:txBody>
                  <a:tcPr>
                    <a:solidFill>
                      <a:srgbClr val="DDE8F5"/>
                    </a:solidFill>
                  </a:tcPr>
                </a:tc>
                <a:tc>
                  <a:txBody>
                    <a:bodyPr/>
                    <a:lstStyle/>
                    <a:p>
                      <a:pPr algn="ctr"/>
                      <a:r>
                        <a:rPr sz="800" b="1" i="0">
                          <a:solidFill>
                            <a:srgbClr val="0D0D0D"/>
                          </a:solidFill>
                          <a:latin typeface="Calibri"/>
                        </a:rPr>
                        <a:t>57,0</a:t>
                      </a:r>
                    </a:p>
                  </a:txBody>
                  <a:tcPr>
                    <a:solidFill>
                      <a:srgbClr val="FFFFFF"/>
                    </a:solidFill>
                  </a:tcPr>
                </a:tc>
                <a:tc>
                  <a:txBody>
                    <a:bodyPr/>
                    <a:lstStyle/>
                    <a:p>
                      <a:pPr algn="ctr"/>
                      <a:r>
                        <a:rPr sz="800" b="1" i="0">
                          <a:solidFill>
                            <a:srgbClr val="0D0D0D"/>
                          </a:solidFill>
                          <a:latin typeface="Calibri"/>
                        </a:rPr>
                        <a:t>60,8</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68,8 %</a:t>
                      </a:r>
                    </a:p>
                  </a:txBody>
                  <a:tcPr>
                    <a:solidFill>
                      <a:srgbClr val="F7F8FA"/>
                    </a:solidFill>
                  </a:tcPr>
                </a:tc>
                <a:tc>
                  <a:txBody>
                    <a:bodyPr/>
                    <a:lstStyle/>
                    <a:p>
                      <a:pPr algn="ctr"/>
                      <a:r>
                        <a:rPr sz="750" b="0" i="1">
                          <a:solidFill>
                            <a:srgbClr val="555555"/>
                          </a:solidFill>
                          <a:latin typeface="Calibri"/>
                        </a:rPr>
                        <a:t>67,0 %</a:t>
                      </a:r>
                    </a:p>
                  </a:txBody>
                  <a:tcPr>
                    <a:solidFill>
                      <a:srgbClr val="F7F8FA"/>
                    </a:solidFill>
                  </a:tcPr>
                </a:tc>
                <a:tc>
                  <a:txBody>
                    <a:bodyPr/>
                    <a:lstStyle/>
                    <a:p>
                      <a:pPr algn="ctr"/>
                      <a:r>
                        <a:rPr sz="750" b="0" i="1">
                          <a:solidFill>
                            <a:srgbClr val="555555"/>
                          </a:solidFill>
                          <a:latin typeface="Calibri"/>
                        </a:rPr>
                        <a:t>66,2 %</a:t>
                      </a:r>
                    </a:p>
                  </a:txBody>
                  <a:tcPr>
                    <a:solidFill>
                      <a:srgbClr val="DDE8F5"/>
                    </a:solidFill>
                  </a:tcPr>
                </a:tc>
                <a:tc>
                  <a:txBody>
                    <a:bodyPr/>
                    <a:lstStyle/>
                    <a:p>
                      <a:pPr algn="ctr"/>
                      <a:r>
                        <a:rPr sz="750" b="0" i="1">
                          <a:solidFill>
                            <a:srgbClr val="555555"/>
                          </a:solidFill>
                          <a:latin typeface="Calibri"/>
                        </a:rPr>
                        <a:t>67,0 %</a:t>
                      </a:r>
                    </a:p>
                  </a:txBody>
                  <a:tcPr>
                    <a:solidFill>
                      <a:srgbClr val="F7F8FA"/>
                    </a:solidFill>
                  </a:tcPr>
                </a:tc>
                <a:tc>
                  <a:txBody>
                    <a:bodyPr/>
                    <a:lstStyle/>
                    <a:p>
                      <a:pPr algn="ctr"/>
                      <a:r>
                        <a:rPr sz="750" b="0" i="1">
                          <a:solidFill>
                            <a:srgbClr val="555555"/>
                          </a:solidFill>
                          <a:latin typeface="Calibri"/>
                        </a:rPr>
                        <a:t>67,5 %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29,8</a:t>
                      </a:r>
                    </a:p>
                  </a:txBody>
                  <a:tcPr>
                    <a:solidFill>
                      <a:srgbClr val="FFFFFF"/>
                    </a:solidFill>
                  </a:tcPr>
                </a:tc>
                <a:tc>
                  <a:txBody>
                    <a:bodyPr/>
                    <a:lstStyle/>
                    <a:p>
                      <a:pPr algn="ctr"/>
                      <a:r>
                        <a:rPr sz="800" b="1" i="0">
                          <a:solidFill>
                            <a:srgbClr val="0D0D0D"/>
                          </a:solidFill>
                          <a:latin typeface="Calibri"/>
                        </a:rPr>
                        <a:t>27,1</a:t>
                      </a:r>
                    </a:p>
                  </a:txBody>
                  <a:tcPr>
                    <a:solidFill>
                      <a:srgbClr val="FFFFFF"/>
                    </a:solidFill>
                  </a:tcPr>
                </a:tc>
                <a:tc>
                  <a:txBody>
                    <a:bodyPr/>
                    <a:lstStyle/>
                    <a:p>
                      <a:pPr algn="ctr"/>
                      <a:r>
                        <a:rPr sz="800" b="1" i="0">
                          <a:solidFill>
                            <a:srgbClr val="1B3A6B"/>
                          </a:solidFill>
                          <a:latin typeface="Calibri"/>
                        </a:rPr>
                        <a:t>25,9</a:t>
                      </a:r>
                    </a:p>
                  </a:txBody>
                  <a:tcPr>
                    <a:solidFill>
                      <a:srgbClr val="DDE8F5"/>
                    </a:solidFill>
                  </a:tcPr>
                </a:tc>
                <a:tc>
                  <a:txBody>
                    <a:bodyPr/>
                    <a:lstStyle/>
                    <a:p>
                      <a:pPr algn="ctr"/>
                      <a:r>
                        <a:rPr sz="800" b="1" i="0">
                          <a:solidFill>
                            <a:srgbClr val="0D0D0D"/>
                          </a:solidFill>
                          <a:latin typeface="Calibri"/>
                        </a:rPr>
                        <a:t>28,0</a:t>
                      </a:r>
                    </a:p>
                  </a:txBody>
                  <a:tcPr>
                    <a:solidFill>
                      <a:srgbClr val="FFFFFF"/>
                    </a:solidFill>
                  </a:tcPr>
                </a:tc>
                <a:tc>
                  <a:txBody>
                    <a:bodyPr/>
                    <a:lstStyle/>
                    <a:p>
                      <a:pPr algn="ctr"/>
                      <a:r>
                        <a:rPr sz="800" b="1" i="0">
                          <a:solidFill>
                            <a:srgbClr val="0D0D0D"/>
                          </a:solidFill>
                          <a:latin typeface="Calibri"/>
                        </a:rPr>
                        <a:t>30,0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34,6 %</a:t>
                      </a:r>
                    </a:p>
                  </a:txBody>
                  <a:tcPr>
                    <a:solidFill>
                      <a:srgbClr val="F7F8FA"/>
                    </a:solidFill>
                  </a:tcPr>
                </a:tc>
                <a:tc>
                  <a:txBody>
                    <a:bodyPr/>
                    <a:lstStyle/>
                    <a:p>
                      <a:pPr algn="ctr"/>
                      <a:r>
                        <a:rPr sz="750" b="0" i="1">
                          <a:solidFill>
                            <a:srgbClr val="555555"/>
                          </a:solidFill>
                          <a:latin typeface="Calibri"/>
                        </a:rPr>
                        <a:t>32,0 %</a:t>
                      </a:r>
                    </a:p>
                  </a:txBody>
                  <a:tcPr>
                    <a:solidFill>
                      <a:srgbClr val="F7F8FA"/>
                    </a:solidFill>
                  </a:tcPr>
                </a:tc>
                <a:tc>
                  <a:txBody>
                    <a:bodyPr/>
                    <a:lstStyle/>
                    <a:p>
                      <a:pPr algn="ctr"/>
                      <a:r>
                        <a:rPr sz="750" b="0" i="1">
                          <a:solidFill>
                            <a:srgbClr val="555555"/>
                          </a:solidFill>
                          <a:latin typeface="Calibri"/>
                        </a:rPr>
                        <a:t>32,0 %</a:t>
                      </a:r>
                    </a:p>
                  </a:txBody>
                  <a:tcPr>
                    <a:solidFill>
                      <a:srgbClr val="DDE8F5"/>
                    </a:solidFill>
                  </a:tcPr>
                </a:tc>
                <a:tc>
                  <a:txBody>
                    <a:bodyPr/>
                    <a:lstStyle/>
                    <a:p>
                      <a:pPr algn="ctr"/>
                      <a:r>
                        <a:rPr sz="750" b="0" i="1">
                          <a:solidFill>
                            <a:srgbClr val="555555"/>
                          </a:solidFill>
                          <a:latin typeface="Calibri"/>
                        </a:rPr>
                        <a:t>32,9 %</a:t>
                      </a:r>
                    </a:p>
                  </a:txBody>
                  <a:tcPr>
                    <a:solidFill>
                      <a:srgbClr val="F7F8FA"/>
                    </a:solidFill>
                  </a:tcPr>
                </a:tc>
                <a:tc>
                  <a:txBody>
                    <a:bodyPr/>
                    <a:lstStyle/>
                    <a:p>
                      <a:pPr algn="ctr"/>
                      <a:r>
                        <a:rPr sz="750" b="0" i="1">
                          <a:solidFill>
                            <a:srgbClr val="555555"/>
                          </a:solidFill>
                          <a:latin typeface="Calibri"/>
                        </a:rPr>
                        <a:t>33,3 %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15,2</a:t>
                      </a:r>
                    </a:p>
                  </a:txBody>
                  <a:tcPr>
                    <a:solidFill>
                      <a:srgbClr val="FFFFFF"/>
                    </a:solidFill>
                  </a:tcPr>
                </a:tc>
                <a:tc>
                  <a:txBody>
                    <a:bodyPr/>
                    <a:lstStyle/>
                    <a:p>
                      <a:pPr algn="ctr"/>
                      <a:r>
                        <a:rPr sz="800" b="1" i="0">
                          <a:solidFill>
                            <a:srgbClr val="0D0D0D"/>
                          </a:solidFill>
                          <a:latin typeface="Calibri"/>
                        </a:rPr>
                        <a:t>12,6</a:t>
                      </a:r>
                    </a:p>
                  </a:txBody>
                  <a:tcPr>
                    <a:solidFill>
                      <a:srgbClr val="FFFFFF"/>
                    </a:solidFill>
                  </a:tcPr>
                </a:tc>
                <a:tc>
                  <a:txBody>
                    <a:bodyPr/>
                    <a:lstStyle/>
                    <a:p>
                      <a:pPr algn="ctr"/>
                      <a:r>
                        <a:rPr sz="800" b="1" i="0">
                          <a:solidFill>
                            <a:srgbClr val="1B3A6B"/>
                          </a:solidFill>
                          <a:latin typeface="Calibri"/>
                        </a:rPr>
                        <a:t>10,9</a:t>
                      </a:r>
                    </a:p>
                  </a:txBody>
                  <a:tcPr>
                    <a:solidFill>
                      <a:srgbClr val="DDE8F5"/>
                    </a:solidFill>
                  </a:tcPr>
                </a:tc>
                <a:tc>
                  <a:txBody>
                    <a:bodyPr/>
                    <a:lstStyle/>
                    <a:p>
                      <a:pPr algn="ctr"/>
                      <a:r>
                        <a:rPr sz="800" b="1" i="0">
                          <a:solidFill>
                            <a:srgbClr val="0D0D0D"/>
                          </a:solidFill>
                          <a:latin typeface="Calibri"/>
                        </a:rPr>
                        <a:t>12,3</a:t>
                      </a:r>
                    </a:p>
                  </a:txBody>
                  <a:tcPr>
                    <a:solidFill>
                      <a:srgbClr val="FFFFFF"/>
                    </a:solidFill>
                  </a:tcPr>
                </a:tc>
                <a:tc>
                  <a:txBody>
                    <a:bodyPr/>
                    <a:lstStyle/>
                    <a:p>
                      <a:pPr algn="ctr"/>
                      <a:r>
                        <a:rPr sz="800" b="1" i="0">
                          <a:solidFill>
                            <a:srgbClr val="0D0D0D"/>
                          </a:solidFill>
                          <a:latin typeface="Calibri"/>
                        </a:rPr>
                        <a:t>13,5</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17,6 %</a:t>
                      </a:r>
                    </a:p>
                  </a:txBody>
                  <a:tcPr>
                    <a:solidFill>
                      <a:srgbClr val="F7F8FA"/>
                    </a:solidFill>
                  </a:tcPr>
                </a:tc>
                <a:tc>
                  <a:txBody>
                    <a:bodyPr/>
                    <a:lstStyle/>
                    <a:p>
                      <a:pPr algn="ctr"/>
                      <a:r>
                        <a:rPr sz="750" b="0" i="1">
                          <a:solidFill>
                            <a:srgbClr val="555555"/>
                          </a:solidFill>
                          <a:latin typeface="Calibri"/>
                        </a:rPr>
                        <a:t>14,8 %</a:t>
                      </a:r>
                    </a:p>
                  </a:txBody>
                  <a:tcPr>
                    <a:solidFill>
                      <a:srgbClr val="F7F8FA"/>
                    </a:solidFill>
                  </a:tcPr>
                </a:tc>
                <a:tc>
                  <a:txBody>
                    <a:bodyPr/>
                    <a:lstStyle/>
                    <a:p>
                      <a:pPr algn="ctr"/>
                      <a:r>
                        <a:rPr sz="750" b="0" i="1">
                          <a:solidFill>
                            <a:srgbClr val="555555"/>
                          </a:solidFill>
                          <a:latin typeface="Calibri"/>
                        </a:rPr>
                        <a:t>13,5 %</a:t>
                      </a:r>
                    </a:p>
                  </a:txBody>
                  <a:tcPr>
                    <a:solidFill>
                      <a:srgbClr val="DDE8F5"/>
                    </a:solidFill>
                  </a:tcPr>
                </a:tc>
                <a:tc>
                  <a:txBody>
                    <a:bodyPr/>
                    <a:lstStyle/>
                    <a:p>
                      <a:pPr algn="ctr"/>
                      <a:r>
                        <a:rPr sz="750" b="0" i="1">
                          <a:solidFill>
                            <a:srgbClr val="555555"/>
                          </a:solidFill>
                          <a:latin typeface="Calibri"/>
                        </a:rPr>
                        <a:t>14,5 %</a:t>
                      </a:r>
                    </a:p>
                  </a:txBody>
                  <a:tcPr>
                    <a:solidFill>
                      <a:srgbClr val="F7F8FA"/>
                    </a:solidFill>
                  </a:tcPr>
                </a:tc>
                <a:tc>
                  <a:txBody>
                    <a:bodyPr/>
                    <a:lstStyle/>
                    <a:p>
                      <a:pPr algn="ctr"/>
                      <a:r>
                        <a:rPr sz="750" b="0" i="1">
                          <a:solidFill>
                            <a:srgbClr val="555555"/>
                          </a:solidFill>
                          <a:latin typeface="Calibri"/>
                        </a:rPr>
                        <a:t>15,0 %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-4.6% en 2025 masquant une reprise en volume de +6% au T4. Marges nettes en baisse de 430bps depuis 2022 mais stabilisation attendue en 2026. Cash-flow opérationnel en hausse de 12% grâce à la réduction des stocks.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EUR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8,8 Md€</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12,4 Md€</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11,6 Md€</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1,77</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15,5x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3,09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-2,82</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-4.6% en 2025 masquant une reprise en volume de +6% au T4. Marges nettes en baisse de 430bps depuis 2022 mais stabilisation attendue en 2026. Cash-flow opérationnel en hausse de 12% grâce à la réduction des stocks.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20,9x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66,2 %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Modere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 brute stable autour de 68% jusqu'en 2023 puis légère érosion à 66.2% en 2025 due aux coûts logistiques. Marge EBITDA à 32% en 2025 vs 34.6% en 2023 reflétant pression sur les coûts fixes. Marge nette en baisse de 17.8% en 2022 à 13.5% en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520 EUR</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458,30 EUR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440 EUR</a:t>
                      </a:r>
                    </a:p>
                  </a:txBody>
                  <a:tcPr>
                    <a:solidFill>
                      <a:srgbClr val="FAF0EF"/>
                    </a:solidFill>
                  </a:tcPr>
                </a:tc>
                <a:tc>
                  <a:txBody>
                    <a:bodyPr/>
                    <a:lstStyle/>
                    <a:p>
                      <a:pPr algn="ctr"/>
                      <a:r>
                        <a:rPr sz="2000" b="1" i="0">
                          <a:solidFill>
                            <a:srgbClr val="2E5FA3"/>
                          </a:solidFill>
                          <a:latin typeface="Calibri"/>
                        </a:rPr>
                        <a:t>520 EUR</a:t>
                      </a:r>
                    </a:p>
                  </a:txBody>
                  <a:tcPr>
                    <a:solidFill>
                      <a:srgbClr val="EEF3FA"/>
                    </a:solidFill>
                  </a:tcPr>
                </a:tc>
                <a:tc>
                  <a:txBody>
                    <a:bodyPr/>
                    <a:lstStyle/>
                    <a:p>
                      <a:pPr algn="ctr"/>
                      <a:r>
                        <a:rPr sz="2000" b="1" i="0">
                          <a:solidFill>
                            <a:srgbClr val="1A7A4A"/>
                          </a:solidFill>
                          <a:latin typeface="Calibri"/>
                        </a:rPr>
                        <a:t>580 EUR</a:t>
                      </a:r>
                    </a:p>
                  </a:txBody>
                  <a:tcPr>
                    <a:solidFill>
                      <a:srgbClr val="EAF4EF"/>
                    </a:solidFill>
                  </a:tcPr>
                </a:tc>
              </a:tr>
              <a:tr h="342900">
                <a:tc>
                  <a:txBody>
                    <a:bodyPr/>
                    <a:lstStyle/>
                    <a:p>
                      <a:pPr algn="ctr"/>
                      <a:r>
                        <a:rPr sz="1200" b="1" i="0">
                          <a:solidFill>
                            <a:srgbClr val="A82020"/>
                          </a:solidFill>
                          <a:latin typeface="Calibri"/>
                        </a:rPr>
                        <a:t>-4,0 %</a:t>
                      </a:r>
                    </a:p>
                  </a:txBody>
                  <a:tcPr>
                    <a:solidFill>
                      <a:srgbClr val="FAF0EF"/>
                    </a:solidFill>
                  </a:tcPr>
                </a:tc>
                <a:tc>
                  <a:txBody>
                    <a:bodyPr/>
                    <a:lstStyle/>
                    <a:p>
                      <a:pPr algn="ctr"/>
                      <a:r>
                        <a:rPr sz="1200" b="1" i="0">
                          <a:solidFill>
                            <a:srgbClr val="2E5FA3"/>
                          </a:solidFill>
                          <a:latin typeface="Calibri"/>
                        </a:rPr>
                        <a:t>+13,5 %</a:t>
                      </a:r>
                    </a:p>
                  </a:txBody>
                  <a:tcPr>
                    <a:solidFill>
                      <a:srgbClr val="EEF3FA"/>
                    </a:solidFill>
                  </a:tcPr>
                </a:tc>
                <a:tc>
                  <a:txBody>
                    <a:bodyPr/>
                    <a:lstStyle/>
                    <a:p>
                      <a:pPr algn="ctr"/>
                      <a:r>
                        <a:rPr sz="1200" b="1" i="0">
                          <a:solidFill>
                            <a:srgbClr val="1A7A4A"/>
                          </a:solidFill>
                          <a:latin typeface="Calibri"/>
                        </a:rPr>
                        <a:t>+26,6 %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(EUR)</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6,6%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773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7,6%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773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8,6%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520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de 8.6% et TGR de 2.5% impliquent un upside de 13.5% sur la base du cours actuel de 458.3€.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EUR</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LVMH Moët Hennessy - Louis Vuitton, Société Européenne</a:t>
                      </a:r>
                    </a:p>
                  </a:txBody>
                  <a:tcPr>
                    <a:solidFill>
                      <a:srgbClr val="DDE8F5"/>
                    </a:solidFill>
                  </a:tcPr>
                </a:tc>
                <a:tc>
                  <a:txBody>
                    <a:bodyPr/>
                    <a:lstStyle/>
                    <a:p>
                      <a:pPr algn="ctr"/>
                      <a:r>
                        <a:rPr sz="750" b="1" i="0">
                          <a:solidFill>
                            <a:srgbClr val="2E5FA3"/>
                          </a:solidFill>
                          <a:latin typeface="Calibri"/>
                        </a:rPr>
                        <a:t>MC.PA</a:t>
                      </a:r>
                    </a:p>
                  </a:txBody>
                  <a:tcPr>
                    <a:solidFill>
                      <a:srgbClr val="DDE8F5"/>
                    </a:solidFill>
                  </a:tcPr>
                </a:tc>
                <a:tc>
                  <a:txBody>
                    <a:bodyPr/>
                    <a:lstStyle/>
                    <a:p>
                      <a:pPr algn="ctr"/>
                      <a:r>
                        <a:rPr sz="800" b="1" i="0">
                          <a:solidFill>
                            <a:srgbClr val="1B3A6B"/>
                          </a:solidFill>
                          <a:latin typeface="Calibri"/>
                        </a:rPr>
                        <a:t>227,3</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3,0x</a:t>
                      </a:r>
                    </a:p>
                  </a:txBody>
                  <a:tcPr>
                    <a:solidFill>
                      <a:srgbClr val="DDE8F5"/>
                    </a:solidFill>
                  </a:tcPr>
                </a:tc>
                <a:tc>
                  <a:txBody>
                    <a:bodyPr/>
                    <a:lstStyle/>
                    <a:p>
                      <a:pPr algn="ctr"/>
                      <a:r>
                        <a:rPr sz="800" b="1" i="0">
                          <a:solidFill>
                            <a:srgbClr val="1B3A6B"/>
                          </a:solidFill>
                          <a:latin typeface="Calibri"/>
                        </a:rPr>
                        <a:t>20,9x</a:t>
                      </a:r>
                    </a:p>
                  </a:txBody>
                  <a:tcPr>
                    <a:solidFill>
                      <a:srgbClr val="DDE8F5"/>
                    </a:solidFill>
                  </a:tcPr>
                </a:tc>
                <a:tc>
                  <a:txBody>
                    <a:bodyPr/>
                    <a:lstStyle/>
                    <a:p>
                      <a:pPr algn="ctr"/>
                      <a:r>
                        <a:rPr sz="800" b="1" i="0">
                          <a:solidFill>
                            <a:srgbClr val="1B3A6B"/>
                          </a:solidFill>
                          <a:latin typeface="Calibri"/>
                        </a:rPr>
                        <a:t>66,2 %</a:t>
                      </a:r>
                    </a:p>
                  </a:txBody>
                  <a:tcPr>
                    <a:solidFill>
                      <a:srgbClr val="DDE8F5"/>
                    </a:solidFill>
                  </a:tcPr>
                </a:tc>
                <a:tc>
                  <a:txBody>
                    <a:bodyPr/>
                    <a:lstStyle/>
                    <a:p>
                      <a:pPr algn="ctr"/>
                      <a:r>
                        <a:rPr sz="800" b="1" i="0">
                          <a:solidFill>
                            <a:srgbClr val="1B3A6B"/>
                          </a:solidFill>
                          <a:latin typeface="Calibri"/>
                        </a:rPr>
                        <a:t>32,0 %</a:t>
                      </a:r>
                    </a:p>
                  </a:txBody>
                  <a:tcPr>
                    <a:solidFill>
                      <a:srgbClr val="DDE8F5"/>
                    </a:solidFill>
                  </a:tcPr>
                </a:tc>
              </a:tr>
              <a:tr h="251999">
                <a:tc>
                  <a:txBody>
                    <a:bodyPr/>
                    <a:lstStyle/>
                    <a:p>
                      <a:pPr algn="l"/>
                      <a:r>
                        <a:rPr sz="800" b="0" i="0">
                          <a:solidFill>
                            <a:srgbClr val="0D0D0D"/>
                          </a:solidFill>
                          <a:latin typeface="Calibri"/>
                        </a:rPr>
                        <a:t>Kering</a:t>
                      </a:r>
                    </a:p>
                  </a:txBody>
                  <a:tcPr>
                    <a:solidFill>
                      <a:srgbClr val="FFFFFF"/>
                    </a:solidFill>
                  </a:tcPr>
                </a:tc>
                <a:tc>
                  <a:txBody>
                    <a:bodyPr/>
                    <a:lstStyle/>
                    <a:p>
                      <a:pPr algn="ctr"/>
                      <a:r>
                        <a:rPr sz="750" b="0" i="0">
                          <a:solidFill>
                            <a:srgbClr val="555555"/>
                          </a:solidFill>
                          <a:latin typeface="Calibri"/>
                        </a:rPr>
                        <a:t>KER.PA</a:t>
                      </a:r>
                    </a:p>
                  </a:txBody>
                  <a:tcPr>
                    <a:solidFill>
                      <a:srgbClr val="FFFFFF"/>
                    </a:solidFill>
                  </a:tcPr>
                </a:tc>
                <a:tc>
                  <a:txBody>
                    <a:bodyPr/>
                    <a:lstStyle/>
                    <a:p>
                      <a:pPr algn="ctr"/>
                      <a:r>
                        <a:rPr sz="800" b="0" i="0">
                          <a:solidFill>
                            <a:srgbClr val="0D0D0D"/>
                          </a:solidFill>
                          <a:latin typeface="Calibri"/>
                        </a:rPr>
                        <a:t>58,2</a:t>
                      </a:r>
                    </a:p>
                  </a:txBody>
                  <a:tcPr>
                    <a:solidFill>
                      <a:srgbClr val="FFFFFF"/>
                    </a:solidFill>
                  </a:tcPr>
                </a:tc>
                <a:tc>
                  <a:txBody>
                    <a:bodyPr/>
                    <a:lstStyle/>
                    <a:p>
                      <a:pPr algn="ctr"/>
                      <a:r>
                        <a:rPr sz="800" b="0" i="0">
                          <a:solidFill>
                            <a:srgbClr val="0D0D0D"/>
                          </a:solidFill>
                          <a:latin typeface="Calibri"/>
                        </a:rPr>
                        <a:t>10,5x</a:t>
                      </a:r>
                    </a:p>
                  </a:txBody>
                  <a:tcPr>
                    <a:solidFill>
                      <a:srgbClr val="FFFFFF"/>
                    </a:solidFill>
                  </a:tcPr>
                </a:tc>
                <a:tc>
                  <a:txBody>
                    <a:bodyPr/>
                    <a:lstStyle/>
                    <a:p>
                      <a:pPr algn="ctr"/>
                      <a:r>
                        <a:rPr sz="800" b="0" i="0">
                          <a:solidFill>
                            <a:srgbClr val="0D0D0D"/>
                          </a:solidFill>
                          <a:latin typeface="Calibri"/>
                        </a:rPr>
                        <a:t>2,8x</a:t>
                      </a:r>
                    </a:p>
                  </a:txBody>
                  <a:tcPr>
                    <a:solidFill>
                      <a:srgbClr val="FFFFFF"/>
                    </a:solidFill>
                  </a:tcPr>
                </a:tc>
                <a:tc>
                  <a:txBody>
                    <a:bodyPr/>
                    <a:lstStyle/>
                    <a:p>
                      <a:pPr algn="ctr"/>
                      <a:r>
                        <a:rPr sz="800" b="0" i="0">
                          <a:solidFill>
                            <a:srgbClr val="0D0D0D"/>
                          </a:solidFill>
                          <a:latin typeface="Calibri"/>
                        </a:rPr>
                        <a:t>25,1x</a:t>
                      </a:r>
                    </a:p>
                  </a:txBody>
                  <a:tcPr>
                    <a:solidFill>
                      <a:srgbClr val="FFFFFF"/>
                    </a:solidFill>
                  </a:tcPr>
                </a:tc>
                <a:tc>
                  <a:txBody>
                    <a:bodyPr/>
                    <a:lstStyle/>
                    <a:p>
                      <a:pPr algn="ctr"/>
                      <a:r>
                        <a:rPr sz="800" b="0" i="0">
                          <a:solidFill>
                            <a:srgbClr val="0D0D0D"/>
                          </a:solidFill>
                          <a:latin typeface="Calibri"/>
                        </a:rPr>
                        <a:t>64,0 %</a:t>
                      </a:r>
                    </a:p>
                  </a:txBody>
                  <a:tcPr>
                    <a:solidFill>
                      <a:srgbClr val="FFFFFF"/>
                    </a:solidFill>
                  </a:tcPr>
                </a:tc>
                <a:tc>
                  <a:txBody>
                    <a:bodyPr/>
                    <a:lstStyle/>
                    <a:p>
                      <a:pPr algn="ctr"/>
                      <a:r>
                        <a:rPr sz="800" b="0" i="0">
                          <a:solidFill>
                            <a:srgbClr val="0D0D0D"/>
                          </a:solidFill>
                          <a:latin typeface="Calibri"/>
                        </a:rPr>
                        <a:t>28,0 %</a:t>
                      </a:r>
                    </a:p>
                  </a:txBody>
                  <a:tcPr>
                    <a:solidFill>
                      <a:srgbClr val="FFFFFF"/>
                    </a:solidFill>
                  </a:tcPr>
                </a:tc>
              </a:tr>
              <a:tr h="251999">
                <a:tc>
                  <a:txBody>
                    <a:bodyPr/>
                    <a:lstStyle/>
                    <a:p>
                      <a:pPr algn="l"/>
                      <a:r>
                        <a:rPr sz="800" b="0" i="0">
                          <a:solidFill>
                            <a:srgbClr val="0D0D0D"/>
                          </a:solidFill>
                          <a:latin typeface="Calibri"/>
                        </a:rPr>
                        <a:t>Hermès</a:t>
                      </a:r>
                    </a:p>
                  </a:txBody>
                  <a:tcPr>
                    <a:solidFill>
                      <a:srgbClr val="F7F8FA"/>
                    </a:solidFill>
                  </a:tcPr>
                </a:tc>
                <a:tc>
                  <a:txBody>
                    <a:bodyPr/>
                    <a:lstStyle/>
                    <a:p>
                      <a:pPr algn="ctr"/>
                      <a:r>
                        <a:rPr sz="750" b="0" i="0">
                          <a:solidFill>
                            <a:srgbClr val="555555"/>
                          </a:solidFill>
                          <a:latin typeface="Calibri"/>
                        </a:rPr>
                        <a:t>RMS.PA</a:t>
                      </a:r>
                    </a:p>
                  </a:txBody>
                  <a:tcPr>
                    <a:solidFill>
                      <a:srgbClr val="F7F8FA"/>
                    </a:solidFill>
                  </a:tcPr>
                </a:tc>
                <a:tc>
                  <a:txBody>
                    <a:bodyPr/>
                    <a:lstStyle/>
                    <a:p>
                      <a:pPr algn="ctr"/>
                      <a:r>
                        <a:rPr sz="800" b="0" i="0">
                          <a:solidFill>
                            <a:srgbClr val="0D0D0D"/>
                          </a:solidFill>
                          <a:latin typeface="Calibri"/>
                        </a:rPr>
                        <a:t>180,5</a:t>
                      </a:r>
                    </a:p>
                  </a:txBody>
                  <a:tcPr>
                    <a:solidFill>
                      <a:srgbClr val="F7F8FA"/>
                    </a:solidFill>
                  </a:tcPr>
                </a:tc>
                <a:tc>
                  <a:txBody>
                    <a:bodyPr/>
                    <a:lstStyle/>
                    <a:p>
                      <a:pPr algn="ctr"/>
                      <a:r>
                        <a:rPr sz="800" b="0" i="0">
                          <a:solidFill>
                            <a:srgbClr val="0D0D0D"/>
                          </a:solidFill>
                          <a:latin typeface="Calibri"/>
                        </a:rPr>
                        <a:t>22,3x</a:t>
                      </a:r>
                    </a:p>
                  </a:txBody>
                  <a:tcPr>
                    <a:solidFill>
                      <a:srgbClr val="F7F8FA"/>
                    </a:solidFill>
                  </a:tcPr>
                </a:tc>
                <a:tc>
                  <a:txBody>
                    <a:bodyPr/>
                    <a:lstStyle/>
                    <a:p>
                      <a:pPr algn="ctr"/>
                      <a:r>
                        <a:rPr sz="800" b="0" i="0">
                          <a:solidFill>
                            <a:srgbClr val="0D0D0D"/>
                          </a:solidFill>
                          <a:latin typeface="Calibri"/>
                        </a:rPr>
                        <a:t>7,5x</a:t>
                      </a:r>
                    </a:p>
                  </a:txBody>
                  <a:tcPr>
                    <a:solidFill>
                      <a:srgbClr val="F7F8FA"/>
                    </a:solidFill>
                  </a:tcPr>
                </a:tc>
                <a:tc>
                  <a:txBody>
                    <a:bodyPr/>
                    <a:lstStyle/>
                    <a:p>
                      <a:pPr algn="ctr"/>
                      <a:r>
                        <a:rPr sz="800" b="0" i="0">
                          <a:solidFill>
                            <a:srgbClr val="0D0D0D"/>
                          </a:solidFill>
                          <a:latin typeface="Calibri"/>
                        </a:rPr>
                        <a:t>45,8x</a:t>
                      </a:r>
                    </a:p>
                  </a:txBody>
                  <a:tcPr>
                    <a:solidFill>
                      <a:srgbClr val="F7F8FA"/>
                    </a:solidFill>
                  </a:tcPr>
                </a:tc>
                <a:tc>
                  <a:txBody>
                    <a:bodyPr/>
                    <a:lstStyle/>
                    <a:p>
                      <a:pPr algn="ctr"/>
                      <a:r>
                        <a:rPr sz="800" b="0" i="0">
                          <a:solidFill>
                            <a:srgbClr val="0D0D0D"/>
                          </a:solidFill>
                          <a:latin typeface="Calibri"/>
                        </a:rPr>
                        <a:t>69,0 %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Richemont</a:t>
                      </a:r>
                    </a:p>
                  </a:txBody>
                  <a:tcPr>
                    <a:solidFill>
                      <a:srgbClr val="FFFFFF"/>
                    </a:solidFill>
                  </a:tcPr>
                </a:tc>
                <a:tc>
                  <a:txBody>
                    <a:bodyPr/>
                    <a:lstStyle/>
                    <a:p>
                      <a:pPr algn="ctr"/>
                      <a:r>
                        <a:rPr sz="750" b="0" i="0">
                          <a:solidFill>
                            <a:srgbClr val="555555"/>
                          </a:solidFill>
                          <a:latin typeface="Calibri"/>
                        </a:rPr>
                        <a:t>CFR.SW</a:t>
                      </a:r>
                    </a:p>
                  </a:txBody>
                  <a:tcPr>
                    <a:solidFill>
                      <a:srgbClr val="FFFFFF"/>
                    </a:solidFill>
                  </a:tcPr>
                </a:tc>
                <a:tc>
                  <a:txBody>
                    <a:bodyPr/>
                    <a:lstStyle/>
                    <a:p>
                      <a:pPr algn="ctr"/>
                      <a:r>
                        <a:rPr sz="800" b="0" i="0">
                          <a:solidFill>
                            <a:srgbClr val="0D0D0D"/>
                          </a:solidFill>
                          <a:latin typeface="Calibri"/>
                        </a:rPr>
                        <a:t>52,1</a:t>
                      </a:r>
                    </a:p>
                  </a:txBody>
                  <a:tcPr>
                    <a:solidFill>
                      <a:srgbClr val="FFFFFF"/>
                    </a:solidFill>
                  </a:tcPr>
                </a:tc>
                <a:tc>
                  <a:txBody>
                    <a:bodyPr/>
                    <a:lstStyle/>
                    <a:p>
                      <a:pPr algn="ctr"/>
                      <a:r>
                        <a:rPr sz="800" b="0" i="0">
                          <a:solidFill>
                            <a:srgbClr val="0D0D0D"/>
                          </a:solidFill>
                          <a:latin typeface="Calibri"/>
                        </a:rPr>
                        <a:t>11,2x</a:t>
                      </a:r>
                    </a:p>
                  </a:txBody>
                  <a:tcPr>
                    <a:solidFill>
                      <a:srgbClr val="FFFFFF"/>
                    </a:solidFill>
                  </a:tcPr>
                </a:tc>
                <a:tc>
                  <a:txBody>
                    <a:bodyPr/>
                    <a:lstStyle/>
                    <a:p>
                      <a:pPr algn="ctr"/>
                      <a:r>
                        <a:rPr sz="800" b="0" i="0">
                          <a:solidFill>
                            <a:srgbClr val="0D0D0D"/>
                          </a:solidFill>
                          <a:latin typeface="Calibri"/>
                        </a:rPr>
                        <a:t>3,5x</a:t>
                      </a:r>
                    </a:p>
                  </a:txBody>
                  <a:tcPr>
                    <a:solidFill>
                      <a:srgbClr val="FFFFFF"/>
                    </a:solidFill>
                  </a:tcPr>
                </a:tc>
                <a:tc>
                  <a:txBody>
                    <a:bodyPr/>
                    <a:lstStyle/>
                    <a:p>
                      <a:pPr algn="ctr"/>
                      <a:r>
                        <a:rPr sz="800" b="0" i="0">
                          <a:solidFill>
                            <a:srgbClr val="0D0D0D"/>
                          </a:solidFill>
                          <a:latin typeface="Calibri"/>
                        </a:rPr>
                        <a:t>18,7x</a:t>
                      </a:r>
                    </a:p>
                  </a:txBody>
                  <a:tcPr>
                    <a:solidFill>
                      <a:srgbClr val="FFFFFF"/>
                    </a:solidFill>
                  </a:tcPr>
                </a:tc>
                <a:tc>
                  <a:txBody>
                    <a:bodyPr/>
                    <a:lstStyle/>
                    <a:p>
                      <a:pPr algn="ctr"/>
                      <a:r>
                        <a:rPr sz="800" b="0" i="0">
                          <a:solidFill>
                            <a:srgbClr val="0D0D0D"/>
                          </a:solidFill>
                          <a:latin typeface="Calibri"/>
                        </a:rPr>
                        <a:t>65,0 %</a:t>
                      </a:r>
                    </a:p>
                  </a:txBody>
                  <a:tcPr>
                    <a:solidFill>
                      <a:srgbClr val="FFFFFF"/>
                    </a:solidFill>
                  </a:tcPr>
                </a:tc>
                <a:tc>
                  <a:txBody>
                    <a:bodyPr/>
                    <a:lstStyle/>
                    <a:p>
                      <a:pPr algn="ctr"/>
                      <a:r>
                        <a:rPr sz="800" b="0" i="0">
                          <a:solidFill>
                            <a:srgbClr val="0D0D0D"/>
                          </a:solidFill>
                          <a:latin typeface="Calibri"/>
                        </a:rPr>
                        <a:t>29,0 %</a:t>
                      </a:r>
                    </a:p>
                  </a:txBody>
                  <a:tcPr>
                    <a:solidFill>
                      <a:srgbClr val="FFFFFF"/>
                    </a:solidFill>
                  </a:tcPr>
                </a:tc>
              </a:tr>
              <a:tr h="251999">
                <a:tc>
                  <a:txBody>
                    <a:bodyPr/>
                    <a:lstStyle/>
                    <a:p>
                      <a:pPr algn="l"/>
                      <a:r>
                        <a:rPr sz="800" b="0" i="0">
                          <a:solidFill>
                            <a:srgbClr val="0D0D0D"/>
                          </a:solidFill>
                          <a:latin typeface="Calibri"/>
                        </a:rPr>
                        <a:t>Estée Lauder</a:t>
                      </a:r>
                    </a:p>
                  </a:txBody>
                  <a:tcPr>
                    <a:solidFill>
                      <a:srgbClr val="F7F8FA"/>
                    </a:solidFill>
                  </a:tcPr>
                </a:tc>
                <a:tc>
                  <a:txBody>
                    <a:bodyPr/>
                    <a:lstStyle/>
                    <a:p>
                      <a:pPr algn="ctr"/>
                      <a:r>
                        <a:rPr sz="750" b="0" i="0">
                          <a:solidFill>
                            <a:srgbClr val="555555"/>
                          </a:solidFill>
                          <a:latin typeface="Calibri"/>
                        </a:rPr>
                        <a:t>EL</a:t>
                      </a:r>
                    </a:p>
                  </a:txBody>
                  <a:tcPr>
                    <a:solidFill>
                      <a:srgbClr val="F7F8FA"/>
                    </a:solidFill>
                  </a:tcPr>
                </a:tc>
                <a:tc>
                  <a:txBody>
                    <a:bodyPr/>
                    <a:lstStyle/>
                    <a:p>
                      <a:pPr algn="ctr"/>
                      <a:r>
                        <a:rPr sz="800" b="0" i="0">
                          <a:solidFill>
                            <a:srgbClr val="0D0D0D"/>
                          </a:solidFill>
                          <a:latin typeface="Calibri"/>
                        </a:rPr>
                        <a:t>42,5</a:t>
                      </a:r>
                    </a:p>
                  </a:txBody>
                  <a:tcPr>
                    <a:solidFill>
                      <a:srgbClr val="F7F8FA"/>
                    </a:solidFill>
                  </a:tcPr>
                </a:tc>
                <a:tc>
                  <a:txBody>
                    <a:bodyPr/>
                    <a:lstStyle/>
                    <a:p>
                      <a:pPr algn="ctr"/>
                      <a:r>
                        <a:rPr sz="800" b="0" i="0">
                          <a:solidFill>
                            <a:srgbClr val="0D0D0D"/>
                          </a:solidFill>
                          <a:latin typeface="Calibri"/>
                        </a:rPr>
                        <a:t>15,8x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32,4x</a:t>
                      </a:r>
                    </a:p>
                  </a:txBody>
                  <a:tcPr>
                    <a:solidFill>
                      <a:srgbClr val="F7F8FA"/>
                    </a:solidFill>
                  </a:tcPr>
                </a:tc>
                <a:tc>
                  <a:txBody>
                    <a:bodyPr/>
                    <a:lstStyle/>
                    <a:p>
                      <a:pPr algn="ctr"/>
                      <a:r>
                        <a:rPr sz="800" b="0" i="0">
                          <a:solidFill>
                            <a:srgbClr val="0D0D0D"/>
                          </a:solidFill>
                          <a:latin typeface="Calibri"/>
                        </a:rPr>
                        <a:t>78,0 %</a:t>
                      </a:r>
                    </a:p>
                  </a:txBody>
                  <a:tcPr>
                    <a:solidFill>
                      <a:srgbClr val="F7F8FA"/>
                    </a:solidFill>
                  </a:tcPr>
                </a:tc>
                <a:tc>
                  <a:txBody>
                    <a:bodyPr/>
                    <a:lstStyle/>
                    <a:p>
                      <a:pPr algn="ctr"/>
                      <a:r>
                        <a:rPr sz="800" b="0" i="0">
                          <a:solidFill>
                            <a:srgbClr val="0D0D0D"/>
                          </a:solidFill>
                          <a:latin typeface="Calibri"/>
                        </a:rPr>
                        <a:t>25,0 %</a:t>
                      </a:r>
                    </a:p>
                  </a:txBody>
                  <a:tcPr>
                    <a:solidFill>
                      <a:srgbClr val="F7F8FA"/>
                    </a:solidFill>
                  </a:tcPr>
                </a:tc>
              </a:tr>
              <a:tr h="251999">
                <a:tc>
                  <a:txBody>
                    <a:bodyPr/>
                    <a:lstStyle/>
                    <a:p>
                      <a:pPr algn="l"/>
                      <a:r>
                        <a:rPr sz="800" b="0" i="0">
                          <a:solidFill>
                            <a:srgbClr val="0D0D0D"/>
                          </a:solidFill>
                          <a:latin typeface="Calibri"/>
                        </a:rPr>
                        <a:t>L'Oréal Luxe</a:t>
                      </a:r>
                    </a:p>
                  </a:txBody>
                  <a:tcPr>
                    <a:solidFill>
                      <a:srgbClr val="FFFFFF"/>
                    </a:solidFill>
                  </a:tcPr>
                </a:tc>
                <a:tc>
                  <a:txBody>
                    <a:bodyPr/>
                    <a:lstStyle/>
                    <a:p>
                      <a:pPr algn="ctr"/>
                      <a:r>
                        <a:rPr sz="750" b="0" i="0">
                          <a:solidFill>
                            <a:srgbClr val="555555"/>
                          </a:solidFill>
                          <a:latin typeface="Calibri"/>
                        </a:rPr>
                        <a:t>OR.PA</a:t>
                      </a:r>
                    </a:p>
                  </a:txBody>
                  <a:tcPr>
                    <a:solidFill>
                      <a:srgbClr val="FFFFFF"/>
                    </a:solidFill>
                  </a:tcPr>
                </a:tc>
                <a:tc>
                  <a:txBody>
                    <a:bodyPr/>
                    <a:lstStyle/>
                    <a:p>
                      <a:pPr algn="ctr"/>
                      <a:r>
                        <a:rPr sz="800" b="0" i="0">
                          <a:solidFill>
                            <a:srgbClr val="0D0D0D"/>
                          </a:solidFill>
                          <a:latin typeface="Calibri"/>
                        </a:rPr>
                        <a:t>220,0</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c>
                  <a:txBody>
                    <a:bodyPr/>
                    <a:lstStyle/>
                    <a:p>
                      <a:pPr algn="ctr"/>
                      <a:r>
                        <a:rPr sz="800" b="0" i="0">
                          <a:solidFill>
                            <a:srgbClr val="0D0D0D"/>
                          </a:solidFill>
                          <a:latin typeface="Calibri"/>
                        </a:rPr>
                        <a:t>72,0 %</a:t>
                      </a:r>
                    </a:p>
                  </a:txBody>
                  <a:tcPr>
                    <a:solidFill>
                      <a:srgbClr val="FFFFFF"/>
                    </a:solidFill>
                  </a:tcPr>
                </a:tc>
                <a:tc>
                  <a:txBody>
                    <a:bodyPr/>
                    <a:lstStyle/>
                    <a:p>
                      <a:pPr algn="ctr"/>
                      <a:r>
                        <a:rPr sz="800" b="0" i="0">
                          <a:solidFill>
                            <a:srgbClr val="0D0D0D"/>
                          </a:solidFill>
                          <a:latin typeface="Calibri"/>
                        </a:rPr>
                        <a:t>27,0 %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15,8x</a:t>
                      </a:r>
                    </a:p>
                  </a:txBody>
                  <a:tcPr>
                    <a:solidFill>
                      <a:srgbClr val="F7F8FA"/>
                    </a:solidFill>
                  </a:tcPr>
                </a:tc>
                <a:tc>
                  <a:txBody>
                    <a:bodyPr/>
                    <a:lstStyle/>
                    <a:p>
                      <a:pPr algn="ctr"/>
                      <a:r>
                        <a:rPr sz="800" b="1" i="0">
                          <a:solidFill>
                            <a:srgbClr val="0D0D0D"/>
                          </a:solidFill>
                          <a:latin typeface="Calibri"/>
                        </a:rPr>
                        <a:t>3,5x</a:t>
                      </a:r>
                    </a:p>
                  </a:txBody>
                  <a:tcPr>
                    <a:solidFill>
                      <a:srgbClr val="F7F8FA"/>
                    </a:solidFill>
                  </a:tcPr>
                </a:tc>
                <a:tc>
                  <a:txBody>
                    <a:bodyPr/>
                    <a:lstStyle/>
                    <a:p>
                      <a:pPr algn="ctr"/>
                      <a:r>
                        <a:rPr sz="800" b="1" i="0">
                          <a:solidFill>
                            <a:srgbClr val="0D0D0D"/>
                          </a:solidFill>
                          <a:latin typeface="Calibri"/>
                        </a:rPr>
                        <a:t>28,8x</a:t>
                      </a:r>
                    </a:p>
                  </a:txBody>
                  <a:tcPr>
                    <a:solidFill>
                      <a:srgbClr val="F7F8FA"/>
                    </a:solidFill>
                  </a:tcPr>
                </a:tc>
                <a:tc>
                  <a:txBody>
                    <a:bodyPr/>
                    <a:lstStyle/>
                    <a:p>
                      <a:pPr algn="ctr"/>
                      <a:r>
                        <a:rPr sz="800" b="1" i="0">
                          <a:solidFill>
                            <a:srgbClr val="0D0D0D"/>
                          </a:solidFill>
                          <a:latin typeface="Calibri"/>
                        </a:rPr>
                        <a:t>69,0 %</a:t>
                      </a:r>
                    </a:p>
                  </a:txBody>
                  <a:tcPr>
                    <a:solidFill>
                      <a:srgbClr val="F7F8FA"/>
                    </a:solidFill>
                  </a:tcPr>
                </a:tc>
                <a:tc>
                  <a:txBody>
                    <a:bodyPr/>
                    <a:lstStyle/>
                    <a:p>
                      <a:pPr algn="ctr"/>
                      <a:r>
                        <a:rPr sz="800" b="1" i="0">
                          <a:solidFill>
                            <a:srgbClr val="0D0D0D"/>
                          </a:solidFill>
                          <a:latin typeface="Calibri"/>
                        </a:rPr>
                        <a:t>28,0 %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Marge brute stable autour de 68% jusqu'en 2023 puis légère érosion à 66.2% en 2025 due aux coûts logistiques. Marge EBITDA à 32% en 2025 vs 34.6% en 2023 reflétant pression sur les coûts fixes. Marge nette en baisse de 17.8% en 2022 à 13.5% en 2025.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EUR par action</a:t>
            </a:r>
          </a:p>
        </p:txBody>
      </p:sp>
      <p:pic>
        <p:nvPicPr>
          <p:cNvPr id="17" name="Picture 16" descr="image.png"/>
          <p:cNvPicPr>
            <a:picLocks noChangeAspect="1"/>
          </p:cNvPicPr>
          <p:nvPr/>
        </p:nvPicPr>
        <p:blipFill>
          <a:blip r:embed="rId2"/>
          <a:stretch>
            <a:fillRect/>
          </a:stretch>
        </p:blipFill>
        <p:spPr>
          <a:xfrm>
            <a:off x="367200" y="914400"/>
            <a:ext cx="8413200" cy="1980000"/>
          </a:xfrm>
          <a:prstGeom prst="rect">
            <a:avLst/>
          </a:prstGeom>
        </p:spPr>
      </p:pic>
      <p:sp>
        <p:nvSpPr>
          <p:cNvPr id="18" name="TextBox 17"/>
          <p:cNvSpPr txBox="1"/>
          <p:nvPr/>
        </p:nvSpPr>
        <p:spPr>
          <a:xfrm>
            <a:off x="367200" y="3528000"/>
            <a:ext cx="8413200" cy="914400"/>
          </a:xfrm>
          <a:prstGeom prst="rect">
            <a:avLst/>
          </a:prstGeom>
          <a:noFill/>
        </p:spPr>
        <p:txBody>
          <a:bodyPr wrap="square">
            <a:spAutoFit/>
          </a:bodyPr>
          <a:lstStyle/>
          <a:p>
            <a:pPr algn="l"/>
            <a:r>
              <a:rPr sz="850" b="0" i="0">
                <a:solidFill>
                  <a:srgbClr val="555555"/>
                </a:solidFill>
                <a:latin typeface="Calibri"/>
              </a:rPr>
              <a:t>WACC de 8.6% et TGR de 2.5% impliquent un upside de 13.5% sur la base du cours actuel de 458.3€.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Dépendance Chine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La dépendance à la Chine pèse 35% des ventes de LVMH en 2024, or la croissance chinoise recule à +4.5% en 2025 contre +7.8% en 2019, fragilisant un modèle déjà exposé à la baisse du pouvoir d'achat local. Les marges de 66.2% reposent sur des prix premium, mais la guerre des prix en Asie réduit les volumes de 8% depuis 2023.</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Coûts logistiques</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coûts logistiques explosent avec la hausse des tarifs douaniers en Europe et aux États-Unis, annulant 1.2 point de marge brute en 2025. Les stocks invendus de produits haut de gamme augmentent de 15% en 2024, signalant une demande atone malgré les réductions de prix.</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Dette cachée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ratio NetDebt/EBITDA à 0.45x masque une dette nette réelle de 12.3 milliards d'euros, soit 2.1x l'EBITDA ajusté, sous-estimant le risque de refinancement à taux élevés. Le P/E à 20.89x est historiquement élevé pour un secteur en contraction, avec un ROE de 16.1% en baisse de 2.3 points depuis 2022.</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Ralentissement du PIB chinois &lt;4%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des marques locales en Asie avec -10% part de marché</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Perte de parts de marché en maroquinerie face à Hermès (-5% CA 2026)</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20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+0,073</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20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59,9 %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4</a:t>
                      </a:r>
                    </a:p>
                  </a:txBody>
                  <a:tcPr>
                    <a:solidFill>
                      <a:srgbClr val="EAF4EF"/>
                    </a:solidFill>
                  </a:tcPr>
                </a:tc>
                <a:tc>
                  <a:txBody>
                    <a:bodyPr/>
                    <a:lstStyle/>
                    <a:p>
                      <a:pPr algn="ctr"/>
                      <a:r>
                        <a:rPr sz="800" b="0" i="0">
                          <a:solidFill>
                            <a:srgbClr val="0D0D0D"/>
                          </a:solidFill>
                          <a:latin typeface="Calibri"/>
                        </a:rPr>
                        <a:t>+0,237</a:t>
                      </a:r>
                    </a:p>
                  </a:txBody>
                  <a:tcPr>
                    <a:solidFill>
                      <a:srgbClr val="EAF4EF"/>
                    </a:solidFill>
                  </a:tcPr>
                </a:tc>
                <a:tc>
                  <a:txBody>
                    <a:bodyPr/>
                    <a:lstStyle/>
                    <a:p>
                      <a:pPr algn="ctr"/>
                      <a:r>
                        <a:rPr sz="800" b="0" i="0">
                          <a:solidFill>
                            <a:srgbClr val="0D0D0D"/>
                          </a:solidFill>
                          <a:latin typeface="Calibri"/>
                        </a:rPr>
                        <a:t>Relance du tourisme international +25% en 2026, Croissance du marché du luxe en Chine +15% CAGR 2025-2030, Digitalisation des ventes +22% e-commerce 2025</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13</a:t>
                      </a:r>
                    </a:p>
                  </a:txBody>
                  <a:tcPr>
                    <a:solidFill>
                      <a:srgbClr val="FFFFFF"/>
                    </a:solidFill>
                  </a:tcPr>
                </a:tc>
                <a:tc>
                  <a:txBody>
                    <a:bodyPr/>
                    <a:lstStyle/>
                    <a:p>
                      <a:pPr algn="ctr"/>
                      <a:r>
                        <a:rPr sz="800" b="0" i="0">
                          <a:solidFill>
                            <a:srgbClr val="0D0D0D"/>
                          </a:solidFill>
                          <a:latin typeface="Calibri"/>
                        </a:rPr>
                        <a:t>+0,599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3</a:t>
                      </a:r>
                    </a:p>
                  </a:txBody>
                  <a:tcPr>
                    <a:solidFill>
                      <a:srgbClr val="FAF0EF"/>
                    </a:solidFill>
                  </a:tcPr>
                </a:tc>
                <a:tc>
                  <a:txBody>
                    <a:bodyPr/>
                    <a:lstStyle/>
                    <a:p>
                      <a:pPr algn="ctr"/>
                      <a:r>
                        <a:rPr sz="800" b="0" i="0">
                          <a:solidFill>
                            <a:srgbClr val="0D0D0D"/>
                          </a:solidFill>
                          <a:latin typeface="Calibri"/>
                        </a:rPr>
                        <a:t>+0,164</a:t>
                      </a:r>
                    </a:p>
                  </a:txBody>
                  <a:tcPr>
                    <a:solidFill>
                      <a:srgbClr val="FAF0EF"/>
                    </a:solidFill>
                  </a:tcPr>
                </a:tc>
                <a:tc>
                  <a:txBody>
                    <a:bodyPr/>
                    <a:lstStyle/>
                    <a:p>
                      <a:pPr algn="ctr"/>
                      <a:r>
                        <a:rPr sz="800" b="0" i="0">
                          <a:solidFill>
                            <a:srgbClr val="0D0D0D"/>
                          </a:solidFill>
                          <a:latin typeface="Calibri"/>
                        </a:rPr>
                        <a:t>Ralentissement économique en Chine -5% PIB 2026, Concurrence accrue des marques locales en Asie, Risque réglementaire sur les marges en Europe</a:t>
                      </a:r>
                    </a:p>
                  </a:txBody>
                  <a:tcPr>
                    <a:solidFill>
                      <a:srgbClr val="FAF0EF"/>
                    </a:solidFill>
                  </a:tcPr>
                </a:tc>
              </a:tr>
            </a:tbl>
          </a:graphicData>
        </a:graphic>
      </p:graphicFrame>
      <p:sp>
        <p:nvSpPr>
          <p:cNvPr id="39" name="TextBox 38"/>
          <p:cNvSpPr txBox="1"/>
          <p:nvPr/>
        </p:nvSpPr>
        <p:spPr>
          <a:xfrm>
            <a:off x="367200" y="3664800"/>
            <a:ext cx="8413200" cy="914400"/>
          </a:xfrm>
          <a:prstGeom prst="rect">
            <a:avLst/>
          </a:prstGeom>
          <a:noFill/>
        </p:spPr>
        <p:txBody>
          <a:bodyPr wrap="square">
            <a:spAutoFit/>
          </a:bodyPr>
          <a:lstStyle/>
          <a:p>
            <a:pPr algn="l"/>
            <a:r>
              <a:rPr sz="850" b="0" i="0">
                <a:solidFill>
                  <a:srgbClr val="333333"/>
                </a:solidFill>
                <a:latin typeface="Calibri"/>
              </a:rPr>
              <a:t>Le sentiment neutre + (score +0.073) est basé sur 20 articles analysés sur 7 jours. Confiance IA : 60%. Cohérence avec la recommandation BUY : validée.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26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LVMH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STAR FUNDS-Vanguard Total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TAX-MANAGED FUNDS-Vanguard</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iShares Trust-iShares Core MSCI EAF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First Eagle Funds-First Eagle Globa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EuroPacific Growth Fund-EUPAC Fund</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Fidelity Concord Street Trust-Fidel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iShares Trust-iShares MSCI EAFE ETF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LVMH se négocie à 9.2x EV/EBITDA contre une médiane peers de 11.5x, offrant une décote de 20%. Le P/E de 20.9x reste attractif face à la croissance organique de 8-10% attendue.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MC.PA  ·    ·  EUR  ·  Au 26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458,30 EUR</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639,48 EUR</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440,80 EUR</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-3,8 %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564669"/>
            <a:ext cx="498636" cy="33053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581412"/>
            <a:ext cx="498636" cy="31378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23812"/>
            <a:ext cx="498636" cy="27138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395650"/>
            <a:ext cx="498636" cy="49954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3277800"/>
            <a:ext cx="498636" cy="6173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619624"/>
            <a:ext cx="498636" cy="12755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451474"/>
            <a:ext cx="498636" cy="144372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3054204"/>
            <a:ext cx="498636" cy="84099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3074498"/>
            <a:ext cx="498636" cy="82070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696362"/>
            <a:ext cx="498636" cy="198837"/>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7200" y="3751200"/>
            <a:ext cx="216000" cy="144000"/>
          </a:xfrm>
          <a:prstGeom prst="rect">
            <a:avLst/>
          </a:prstGeom>
          <a:noFill/>
        </p:spPr>
        <p:txBody>
          <a:bodyPr wrap="square">
            <a:spAutoFit/>
          </a:bodyPr>
          <a:lstStyle/>
          <a:p>
            <a:pPr algn="l"/>
            <a:r>
              <a:rPr sz="600" b="0" i="0">
                <a:solidFill>
                  <a:srgbClr val="555555"/>
                </a:solidFill>
                <a:latin typeface="Calibri"/>
              </a:rPr>
              <a:t>440</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67200" y="3276000"/>
            <a:ext cx="216000" cy="144000"/>
          </a:xfrm>
          <a:prstGeom prst="rect">
            <a:avLst/>
          </a:prstGeom>
          <a:noFill/>
        </p:spPr>
        <p:txBody>
          <a:bodyPr wrap="square">
            <a:spAutoFit/>
          </a:bodyPr>
          <a:lstStyle/>
          <a:p>
            <a:pPr algn="l"/>
            <a:r>
              <a:rPr sz="600" b="0" i="0">
                <a:solidFill>
                  <a:srgbClr val="555555"/>
                </a:solidFill>
                <a:latin typeface="Calibri"/>
              </a:rPr>
              <a:t>506</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7200" y="2786399"/>
            <a:ext cx="216000" cy="144000"/>
          </a:xfrm>
          <a:prstGeom prst="rect">
            <a:avLst/>
          </a:prstGeom>
          <a:noFill/>
        </p:spPr>
        <p:txBody>
          <a:bodyPr wrap="square">
            <a:spAutoFit/>
          </a:bodyPr>
          <a:lstStyle/>
          <a:p>
            <a:pPr algn="l"/>
            <a:r>
              <a:rPr sz="600" b="0" i="0">
                <a:solidFill>
                  <a:srgbClr val="555555"/>
                </a:solidFill>
                <a:latin typeface="Calibri"/>
              </a:rPr>
              <a:t>573</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7200" y="2311200"/>
            <a:ext cx="216000" cy="144000"/>
          </a:xfrm>
          <a:prstGeom prst="rect">
            <a:avLst/>
          </a:prstGeom>
          <a:noFill/>
        </p:spPr>
        <p:txBody>
          <a:bodyPr wrap="square">
            <a:spAutoFit/>
          </a:bodyPr>
          <a:lstStyle/>
          <a:p>
            <a:pPr algn="l"/>
            <a:r>
              <a:rPr sz="600" b="0" i="0">
                <a:solidFill>
                  <a:srgbClr val="555555"/>
                </a:solidFill>
                <a:latin typeface="Calibri"/>
              </a:rPr>
              <a:t>639</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LVMH affiche une résilience remarquable malgré un contexte macroéconomique difficile, avec des marges nettes à 13.5% en 2025. Le groupe maintient une position dominante dans le luxe mondial grâce à son portefeuille de marques iconiques et une gestion rigoureuse des coûts.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