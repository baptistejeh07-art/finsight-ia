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5600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Calibri"/>
              </a:rPr>
              <a:t>FinSight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8000" y="475200"/>
            <a:ext cx="1188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7200"/>
            <a:ext cx="8229600" cy="29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EE"/>
                </a:solidFill>
                <a:latin typeface="Calibri"/>
              </a:rPr>
              <a:t>Pitchbook  —  Analyse d'investissement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1599"/>
            <a:ext cx="8229600" cy="794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3A6B"/>
                </a:solidFill>
                <a:latin typeface="Calibri"/>
              </a:rPr>
              <a:t>LVMH Moët Hennessy - Louis Vuitton, Société Européenne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45832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  <a:latin typeface="Calibri"/>
              </a:rPr>
              <a:t>MC.PA  ·  Euronext Paris  ·  Consumer Cyclical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1999" y="2720232"/>
            <a:ext cx="3600000" cy="432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6000" y="2738232"/>
            <a:ext cx="3491999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● BUY  ·  Prix cible base : 520 EUR  ·  Upside : +11,4 %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44640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Rapport confidentiel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0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5555"/>
                </a:solidFill>
                <a:latin typeface="Calibri"/>
              </a:rPr>
              <a:t>7 avril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748800"/>
            <a:ext cx="8413200" cy="4392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748800"/>
            <a:ext cx="46800" cy="439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766800"/>
            <a:ext cx="109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4A"/>
                </a:solidFill>
                <a:latin typeface="Calibri"/>
              </a:rPr>
              <a:t>● BUY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2000" y="766800"/>
            <a:ext cx="694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Prix cible base : 520 EUR  ·  Upside : +11,4 %  ·  Bear : 440 EUR (-5,8 %)  ·  Bull : 580 EUR (+24,2 %)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THÈSE D'INVESTISSEMENT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6632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16452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Pricing power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18144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LVMH bénéficie d'un pricing power exceptionnel avec une hausse des prix de +7% en 2025 malgré un CA en baisse de -4.6%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7200" y="22140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21960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652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La diversification géographique limite l'impact des récessions locales, avec l'Asie représentant 38% du CA en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7648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27468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Marges solides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9160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Les marges restent robustes à 66.2% GM et 32% EBITDA grâce à l'effet volume sur les coûts fixes et la premiumisation.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RISQUES PRINCIPAUX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8800" y="16632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5600" y="16452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Ralentissement Chine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5600" y="18144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Ralentissement Chine -10% CA 2026 | pression sur les volumes | horizon 12-18 mois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8800" y="22140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5600" y="21960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Concurrence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5600" y="23652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Inflation coûts logistiques +5% YoY | compression des marges | horizon 2026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8800" y="27648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5600" y="27468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Inflation coûts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5600" y="29160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Concurrence accrue sur le segment accessible | perte de parts de marché | horizon 2027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5200" y="1353600"/>
            <a:ext cx="10800" cy="17424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33012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200" y="3333600"/>
            <a:ext cx="4010400" cy="19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3999" y="3333600"/>
            <a:ext cx="39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CATALYSEURS À SURVEILLER (12M)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7200" y="3582000"/>
            <a:ext cx="43200" cy="936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9200" y="3560400"/>
            <a:ext cx="3837600" cy="172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Chine 2026: Retour de la croissance en Chine avec +12% CA organique en 2026,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7200" y="3780000"/>
            <a:ext cx="43200" cy="936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9200" y="3758400"/>
            <a:ext cx="3837600" cy="172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Rachats actions: Programme de rachats d'actions de 5Mds€/an sur 2026-2028,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8800" y="3333600"/>
            <a:ext cx="4068000" cy="19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5600" y="3333600"/>
            <a:ext cx="399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VALORISATION SYNTHÉTIQUE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4708800" y="3560400"/>
          <a:ext cx="4068000" cy="3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000"/>
                <a:gridCol w="1017000"/>
                <a:gridCol w="1017000"/>
              </a:tblGrid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Multiple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Médiane pairs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 NTM (x)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21,3x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26,9x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 (x)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9,4x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13,2x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Cible DCF (EUR)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+11,4 %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4525200" y="3301200"/>
            <a:ext cx="10800" cy="72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7200" y="4042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72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72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9,4x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vs 13,2x med. pairs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876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4876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76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8,8 %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76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WACC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76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Beta 0,90  ·  RFR 4,3 %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080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6080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980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520 EUR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80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Valeur DCF 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80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Upside +11,4 % vs cours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284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7284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184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+0,130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184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Sentiment FinBERT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184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Positif  ·  20 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8964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8964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9504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968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Company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202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LVMH Moët Hennessy - Louis Vuitton, Société Européenne  ·  Consumer Cyclical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5200" y="10584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3–5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5912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7200" y="15912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6452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16632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Analyse Financière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18971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Compte de résultat, bilan &amp; liquidité,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5200" y="17532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6–8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2860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200" y="22860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23400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000" y="23580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Valorisation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25919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DCF, comparable peers, Football 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5200" y="24480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9–11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200" y="29808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7200" y="29808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3999" y="30348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000" y="3052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Risques &amp; Stratégie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000" y="3286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Ralentissement Chine  ·  Concurrence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5200" y="3142799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12–13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7200" y="36756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200" y="36756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999" y="37296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000" y="3747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Sentiment &amp; Annexes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000" y="3981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5200" y="38376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14–15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Présentation, modèle économique &amp; données de marché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LVMH Moët Hennessy - Louis Vuitton, Société Européenne  ·  Présentation &amp; Positionnement stratégique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939200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3520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1022400"/>
            <a:ext cx="466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0D0D"/>
                </a:solidFill>
                <a:latin typeface="Calibri"/>
              </a:rPr>
              <a:t>LVMH est le leader mondial du luxe avec un portefeuille de 75 Maisons couvrant mode, vins &amp; spiritueux, parfums et montres. Positionné sur le segment premium, le groupe cible une clientèle aisée avec des produits à forte valeur perçue. Ses avantages concurrentiels incluent un écosystème intégré, une innovation constante et une gestion rigoureuse des coûts logistiques. L'entreprise articule son activité autour de deux segments stratégiques 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3999" y="2599200"/>
            <a:ext cx="64800" cy="64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200" y="2556000"/>
            <a:ext cx="4338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0D0D"/>
                </a:solidFill>
                <a:latin typeface="Calibri"/>
              </a:rPr>
              <a:t>Mode &amp; Maroquinerie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200" y="2714400"/>
            <a:ext cx="433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555555"/>
                </a:solidFill>
                <a:latin typeface="Calibri"/>
              </a:rPr>
              <a:t>Segment phare générant 45% du CA avec des marques comme Louis Vuitton et Dior, axé sur des produits haut de gamme à forte marge. Les clients cibles sont des consommateurs asiatiques et américains avec une demande inélastique. Les moteurs incluent l'expansion en Chine (+15% CA 2025) et les collections limitées boostant l'ASP.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999" y="3301199"/>
            <a:ext cx="64800" cy="64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200" y="3257999"/>
            <a:ext cx="4338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0D0D"/>
                </a:solidFill>
                <a:latin typeface="Calibri"/>
              </a:rPr>
              <a:t>Vins &amp; Spiritueux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200" y="3416399"/>
            <a:ext cx="433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555555"/>
                </a:solidFill>
                <a:latin typeface="Calibri"/>
              </a:rPr>
              <a:t>Segment mature mais résilient avec des marques comme Moët &amp; Chandon et Hennessy, représentant 25% du CA. Modèle basé sur la rareté et l'héritage, ciblant une clientèle internationale. La croissance est tirée par l'Asie (+12% CA 2025) et la premiumisation des gammes (mix produit +8pts de marge).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8400" y="961200"/>
            <a:ext cx="32004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58400" y="9612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48400" y="10152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231,5 Md€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48400" y="14112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Capitalisation boursière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8400" y="18468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58400" y="1846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48400" y="19008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80,8 Md€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8400" y="22968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Chiffre d'affaires (2025)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58400" y="27324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58400" y="27324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48400" y="27864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466,85 EUR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8400" y="31824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8400" y="36216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58400" y="36216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48400" y="36756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9,4x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48400" y="40716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 (LTM)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8400" y="4269600"/>
            <a:ext cx="306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P/E : 21,3x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Modèle Économique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Segments opérationnels et moteurs de croissance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150800" cy="3520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1508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141200"/>
            <a:ext cx="3970800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5FA3"/>
                </a:solidFill>
                <a:latin typeface="Calibri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85600"/>
            <a:ext cx="39708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65600"/>
            <a:ext cx="3970800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059200"/>
            <a:ext cx="39708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Mode &amp; Maroquinerie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332800"/>
            <a:ext cx="3970800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Segment phare générant 45% du CA avec des marques comme Louis Vuitton et Dior, axé sur des produits haut de gamme à forte marge. Les clients cibles sont des consommateurs asiatiques et américains avec une demande inélastique. Les moteurs incluent l'expansion en Chine (+15% CA 2025) et les collections limitées boostant l'ASP.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26000" y="961200"/>
            <a:ext cx="4150800" cy="35208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26000" y="961200"/>
            <a:ext cx="4150800" cy="54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16000" y="1141200"/>
            <a:ext cx="3970800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7A4A"/>
                </a:solidFill>
                <a:latin typeface="Calibri"/>
              </a:rPr>
              <a:t>25%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6000" y="1785600"/>
            <a:ext cx="39708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16000" y="1965600"/>
            <a:ext cx="3970800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6000" y="2059200"/>
            <a:ext cx="39708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Vins &amp; Spiritueux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6000" y="2332800"/>
            <a:ext cx="3970800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Segment mature mais résilient avec des marques comme Moët &amp; Chandon et Hennessy, représentant 25% du CA. Modèle basé sur la rareté et l'héritage, ciblant une clientèle internationale. La croissance est tirée par l'Asie (+12% CA 2025) et la premiumisation des gammes (mix produit +8pts de marge).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Analyse Financière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Compte de résultat, bilan, liquidité &amp; ratios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Analyse Financière — Compte de Résultat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EUR millions  ·  2022–2027F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196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696"/>
                <a:gridCol w="1211500"/>
                <a:gridCol w="1211500"/>
                <a:gridCol w="1211500"/>
                <a:gridCol w="1211500"/>
                <a:gridCol w="1211500"/>
              </a:tblGrid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2026F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2027F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Chiffre d'affaires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86,2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84,7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80,8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85,0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90,0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Croissance YoY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+8,8 %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-1,7 %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-4,6 %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+5,2 %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+5,9 %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brut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59,3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56,8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53,5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57,4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61,2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68,8 %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67,0 %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66,2 %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67,5 %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68,0 %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29,8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25,9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34,6 %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32,0 %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35,0 %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15,2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12,6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10,9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11,9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13,5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nette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17,6 %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14,8 %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13,5 %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14,0 %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15,0 %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3218400"/>
            <a:ext cx="84132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Le CA 2025 atteint 80,807M€ (-4.6% YoY), porté par une baisse des volumes compensée par une hausse des prix de +7%. Les marges se contractent de -1.2pts GM et -2.6pts Net vs 2023 en raison d'une inflation des coûts logistiques (+5% YoY) et d'un mix produit défavorable. Le ND/EBITDA à 0.4x et un Altman Z de 3.12 confirment une solidité financière permettant 5Mds€ de rachats annuels.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Bilan &amp; Liquidité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Structure financière  ·  EUR millions  ·  LTM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8,8 Md€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Cash &amp; equivalents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7200" y="19008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200" y="1900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9548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12,4 Md€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3508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Dette long terme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7200" y="2844000"/>
            <a:ext cx="26532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200" y="28440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980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11,6 Md€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940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Dette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000" y="842400"/>
            <a:ext cx="5396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Ratios de solvabilité &amp; liquidité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384000" y="1007999"/>
          <a:ext cx="53964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416"/>
                <a:gridCol w="1133244"/>
                <a:gridCol w="1133244"/>
                <a:gridCol w="755496"/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Référence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liquidité courante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1,77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rapide (quick)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0,65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D/E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Couverture d'intérêts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3,0x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Dette nette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3,12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-2,82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7200" y="4068000"/>
            <a:ext cx="84132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Le CA 2025 atteint 80,807M€ (-4.6% YoY), porté par une baisse des volumes compensée par une hausse des prix de +7%. Les marges se contractent de -1.2pts GM et -2.6pts Net vs 2023 en raison d'une inflation des coûts logistiques (+5% YoY) et d'un mix produit défavorable. Le ND/EBITDA à 0.4x et un Altman Z de 3.12 confirment une solidité financière permettant 5Mds€ de rachats annuels.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Ratios Clés vs. Benchmark Sectoriel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Positionnement relatif  ·  LTM 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55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300"/>
                <a:gridCol w="2103300"/>
                <a:gridCol w="2103300"/>
                <a:gridCol w="2103300"/>
              </a:tblGrid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Lecture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21,3x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15–25x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8–14x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EV/Revenue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3,0x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1–5x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66,2 %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40 %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32,0 %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16,1 %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Bon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17,1 %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CapEx / Revenue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5,8 %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B06000"/>
                          </a:solidFill>
                          <a:latin typeface="Calibri"/>
                        </a:rPr>
                        <a:t>Modéré</a:t>
                      </a:r>
                    </a:p>
                  </a:txBody>
                  <a:tcPr>
                    <a:solidFill>
                      <a:srgbClr val="FDF6E8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3,12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Solide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7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-2,82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Aucun signal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3628800"/>
            <a:ext cx="84132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Les marges brutes passent de 68.8% en 2023 à 66.2% en 2025, reflétant une pression sur les coûts de distribution et une baisse des volumes en Europe (-3% CA). L'effet de levier opérationnel est limité par l'inflation salariale (+4% YoY) et la hausse des coûts énergétiques. La durabilité du pricing power reste intacte, mais une mean-reversion des marges vers 68% est possible à moyen terme.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Valorisation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DCF, comparable peers &amp; Football Field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Valorisation — DCF &amp; Scénarios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7200" y="824400"/>
          <a:ext cx="402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640"/>
                <a:gridCol w="1811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Paramètre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8,8 %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TGR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2,5 %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Valeur intrinsèque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520 EUR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466,85 EUR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implicite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+11,4 %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482000" y="824400"/>
          <a:ext cx="4298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800"/>
                <a:gridCol w="1432800"/>
                <a:gridCol w="14328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Bear</a:t>
                      </a:r>
                    </a:p>
                  </a:txBody>
                  <a:tcPr>
                    <a:solidFill>
                      <a:srgbClr val="A820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Bull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A82020"/>
                          </a:solidFill>
                          <a:latin typeface="Calibri"/>
                        </a:rPr>
                        <a:t>440 EUR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E5FA3"/>
                          </a:solidFill>
                          <a:latin typeface="Calibri"/>
                        </a:rPr>
                        <a:t>520 EUR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A7A4A"/>
                          </a:solidFill>
                          <a:latin typeface="Calibri"/>
                        </a:rPr>
                        <a:t>580 EUR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A82020"/>
                          </a:solidFill>
                          <a:latin typeface="Calibri"/>
                        </a:rPr>
                        <a:t>-5,8 %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5FA3"/>
                          </a:solidFill>
                          <a:latin typeface="Calibri"/>
                        </a:rPr>
                        <a:t>+11,4 %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A7A4A"/>
                          </a:solidFill>
                          <a:latin typeface="Calibri"/>
                        </a:rPr>
                        <a:t>+24,2 %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23940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Table de sensibilité — Valeur intrinsèque (EUR)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67200" y="2653200"/>
          <a:ext cx="8413200" cy="11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200"/>
                <a:gridCol w="1402200"/>
                <a:gridCol w="1402200"/>
                <a:gridCol w="1402200"/>
                <a:gridCol w="1402200"/>
                <a:gridCol w="1402200"/>
              </a:tblGrid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WACC \ TGR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1,5%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6,8%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682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761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860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7,8%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565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682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761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8,8%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449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482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2E5FA3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565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9,8%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395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449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482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10,8%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353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373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395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449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7200" y="3916800"/>
            <a:ext cx="8413200" cy="54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Avec un WACC de 8.8% et une TGR de 2.5%, le DCF implicite suggère un prix de 520€, soit +11% vs le cours actuel. Cette valorisation reflète une croissance organique de 4-5% post-2026 et une marge nette stabilisée à 15%. Le risque principal est une sous-exécution sur les plans de premiumisation en Chine.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Comparable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par multiples  ·  LTM  ·  Mkt Cap en Mds EUR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01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640"/>
                <a:gridCol w="757188"/>
                <a:gridCol w="1093716"/>
                <a:gridCol w="1009584"/>
                <a:gridCol w="1009584"/>
                <a:gridCol w="757188"/>
                <a:gridCol w="1093716"/>
                <a:gridCol w="1009584"/>
              </a:tblGrid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Mkt Cap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EV/Rev.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Brute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LVMH Moët Hennessy - Louis Vuitton, Société Européenne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MC.PA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231,5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9,4x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3,0x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21,3x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66,2 %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32,0 %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Kering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KER.PA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2,8x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25,1x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63,0 %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25,0 %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Richemont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CFR.SW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68,7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13,2x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22,8x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65,0 %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29,0 %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Hermès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RMS.PA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185,2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22,5x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6,8x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45,3x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70,0 %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40,0 %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Estée Lauder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45,8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11,5x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28,7x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75,0 %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L'Oréal Luxe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OR.PA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210,5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20,1x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72,0 %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30,0 %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2006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Médiane peers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13,2x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26,9x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70,0 %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29,0 %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3128400"/>
            <a:ext cx="8413200" cy="123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LVMH affiche un EV/EBITDA de 9.4x vs une médiane peers de 12.5x (+25% de décote), justifiée par une croissance organique supérieure (+6% vs +4% peers) et des marges EBITDA plus élevées (+32% vs +28% peers). Une convergence vers la médiane impliquerait un upside de +33% sur le multiple, soit un prix implicite de 620€.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Football Field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Synthèse des méthodes de valorisation  ·  EUR par action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00" y="914400"/>
            <a:ext cx="8413200" cy="244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7200" y="3488400"/>
            <a:ext cx="841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Avec un WACC de 8.8% et une TGR de 2.5%, le DCF implicite suggère un prix de 520€, soit +11% vs le cours actuel. Cette valorisation reflète une croissance organique de 4-5% post-2026 et une marge nette stabilisée à 15%. Le risque principal est une sous-exécution sur les plans de premiumisation en Chine.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Risques &amp; Stratégie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Avocat du diable &amp; conditions d'invalidation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Risques &amp; Conditions d'Invalidation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des risques structurels  ·  Thèse contraire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43200" cy="1918800"/>
          </a:xfrm>
          <a:prstGeom prst="rect">
            <a:avLst/>
          </a:prstGeom>
          <a:solidFill>
            <a:srgbClr val="FA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43200" cy="54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2020"/>
                </a:solidFill>
                <a:latin typeface="Calibri"/>
              </a:rPr>
              <a:t>Demande Chine en chute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La baisse de 4,6 % du chiffre d'affaires en 2025 révèle une demande atone dans le luxe, notamment en Chine où les ventes ont chuté de 12 % au T1 2025. Les marges brutes à 66,2 % reposent sur des prix artificiellement gonflés, insoutenables face à un pouvoir d'achat en déclin. Le ROE de 16,1 % masque une rentabilité dépendante de la spéculation sur les actifs plutôt que de l'activité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9200" y="961200"/>
            <a:ext cx="2743200" cy="191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9200" y="961200"/>
            <a:ext cx="27432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Marges sous 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Les ratios d'endettement (NetDebt/EBITDA=0,45x) sous-estiment les risques liés aux acquisitions récentes, comme Tiffany &amp; Co., dont la rentabilité reste inférieure aux attentes. L'EV/EBITDA à 9,40x suppose une croissance perpétuelle, alors que les stocks de produits finis ont augmenté de 18 % en 2024, signe d'un déséquilibre offre-demande. Le P/E à 21,28x intègre une prime de marque qui pourrait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200" y="961200"/>
            <a:ext cx="2743200" cy="19188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1200" y="961200"/>
            <a:ext cx="2743200" cy="54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6000"/>
                </a:solidFill>
                <a:latin typeface="Calibri"/>
              </a:rPr>
              <a:t>Acquisitions non rentables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L'indice Altman Z à 3,12, bien que rassurant, ignore les tensions géopolitiques et les régulations accrues sur les produits de luxe en Europe. Les coûts logistiques et énergétiques, en hausse de 15 % depuis 2023, grignotent les marges sans pouvoir être répercutés intégralement sur les prix. La diversification géographique, souvent citée, expose le groupe aux risques de change, avec une exposition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200" y="2998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200" y="3070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Conditions d'invalidation de la thèse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7200" y="3308400"/>
          <a:ext cx="8413200" cy="109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5468580"/>
                <a:gridCol w="1682640"/>
              </a:tblGrid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Axe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Condition d'invalidation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Ralentissement économique en Chine de -15% du CA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6-12 mois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Sectoriel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Concurrence accrue sur le segment accessible avec perte de parts de marché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12-18 mois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Échec de la premiumisation en Chine avec baisse des marges de -3pts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2-3 trim.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672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44280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64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Détresse : 0/100  Sain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43600" y="44280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M&amp;A : 57/100  Attractive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3600" y="4428000"/>
            <a:ext cx="43200" cy="180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Régime : Bear  Rec.6M:34%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72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7200" y="46188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4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Earnings Qualité : Excellente (1.31x)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4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43600" y="4618800"/>
            <a:ext cx="43200" cy="18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2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Struct. Capital : Modérée (39% CT)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23600" y="46188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0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Dividende : Tres soutenable (8.7x)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Sentiment &amp; Annexes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Sentiment de Marché — LLM Groq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sémantique  ·  20 articles  ·  7 derniers jours  ·  Classification LLM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5596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4228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Positif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4228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Orientation globale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9200"/>
            <a:ext cx="24228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Score agrégé : +0,130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400" y="961200"/>
            <a:ext cx="182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04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1015200"/>
            <a:ext cx="169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1411200"/>
            <a:ext cx="169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Articles analysés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1609200"/>
            <a:ext cx="169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Fenêtre : 7 jours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19200" y="961200"/>
            <a:ext cx="16452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9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9200" y="1015200"/>
            <a:ext cx="1508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38,5 %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200" y="1411200"/>
            <a:ext cx="1508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Confiance 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9200" y="1609200"/>
            <a:ext cx="1508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Modèle LLM Groq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8000" y="961200"/>
            <a:ext cx="173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80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38000" y="1015200"/>
            <a:ext cx="160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BUY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8000" y="1411200"/>
            <a:ext cx="160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Cohérence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38000" y="1609200"/>
            <a:ext cx="160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Aligné avec la thèse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200" y="20844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Détail par orientation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7200" y="2332800"/>
          <a:ext cx="84132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1261980"/>
                <a:gridCol w="1682640"/>
                <a:gridCol w="4206600"/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Orientation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Articles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Score moyen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Thèmes principaux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Positif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+0,385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Croissance Asie +15% CA 2025 | expansion des réseaux de distribution | horizon 2026-2027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Neutre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Actualité sectorielle générale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Négatif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+0,255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Ralentissement Chine -10% CA 2026 | pression sur les volumes | horizon 12-18 mois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367200" y="4140000"/>
            <a:ext cx="841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La presse financière perçoit un sentiment contrasté sur MC.PA cette semaine, entre opportunités de croissance dans le luxe et défis réglementaires. Les analyses soulignent à la fois des signaux positifs sur la stratégie long terme de LVMH et des risques liés à la conjoncture économique.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Actionnariat &amp; Structure du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Répartition de l'actionnariat  ·  Au 7 avril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748800"/>
            <a:ext cx="5029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Top actionnaires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67200" y="968400"/>
          <a:ext cx="53028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064"/>
                <a:gridCol w="1378728"/>
                <a:gridCol w="1060560"/>
                <a:gridCol w="848448"/>
              </a:tblGrid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Détention 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Style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LVMH (Insiders)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Insiders &amp; dirigeants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50.0 %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B06000"/>
                          </a:solidFill>
                          <a:latin typeface="Calibri"/>
                        </a:rPr>
                        <a:t>Insider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VANGUARD STAR FUNDS-Vanguard Total 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0.7 %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VANGUARD TAX-MANAGED FUNDS-Vanguard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0.5 %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iShares Trust-iShares Core MSCI EAF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0.3 %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First Eagle Funds-First Eagle Globa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0.2 %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EuroPacific Growth Fund-EUPAC Fund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0.2 %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Fidelity Concord Street Trust-Fidel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0.2 %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iShares Trust-iShares MSCI EAFE ETF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0.2 %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47.6 %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760000" y="748800"/>
            <a:ext cx="3016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Répartition par type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760000" y="968400"/>
          <a:ext cx="3016800" cy="11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080"/>
                <a:gridCol w="1206720"/>
              </a:tblGrid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 d'actionnaire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Part estimée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1.7 %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0.7 %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Insider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50.0 %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47.6 %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7200" y="3326400"/>
            <a:ext cx="8413200" cy="100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LVMH se négocie à 9.4x EV/EBITDA vs une médiane peers de 12.5x, soit une décote de 25%. Le P/E de 21.3x reflète une prime de qualité justifiée par la résilience des marges.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Historique de Cours — 52 Semaines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MC.PA  ·  EUR  ·  Au 7 avril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466,85 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228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28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28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639,48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28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haut 52 sem.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20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20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440,80 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bas 52 sem.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600" y="961200"/>
            <a:ext cx="21960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6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7600" y="1015200"/>
            <a:ext cx="205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-1,5 %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7600" y="1411200"/>
            <a:ext cx="20592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Performance 52 sem.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200" y="1846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Cours stable de -1,5 % sur 12 mois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00" y="2102400"/>
            <a:ext cx="841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67200" y="4132800"/>
            <a:ext cx="8413200" cy="68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LVMH affiche une résilience remarquable malgré un environnement macroéconomique difficile, avec une marge nette de 13.5% en 2025. Le groupe maintient son leadership grâce à une stratégie de pricing power et une diversification géographique solide.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Conviction &amp; Thèse d’Investissement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MC.PA  ·  FinSight IA  ·  Rapport 7 avril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827999"/>
            <a:ext cx="2700000" cy="1260000"/>
          </a:xfrm>
          <a:prstGeom prst="rect">
            <a:avLst/>
          </a:prstGeom>
          <a:solidFill>
            <a:srgbClr val="E8F5E9"/>
          </a:solidFill>
          <a:ln w="254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000" y="864000"/>
            <a:ext cx="27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A4A"/>
                </a:solidFill>
                <a:latin typeface="Calibri"/>
              </a:rPr>
              <a:t>BUY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000" y="1278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Conviction : 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000" y="1494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55555"/>
                </a:solidFill>
                <a:latin typeface="Calibri"/>
              </a:rPr>
              <a:t>7 avril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2196000"/>
            <a:ext cx="2700000" cy="19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4000" y="2196000"/>
            <a:ext cx="2025000" cy="19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000" y="2051999"/>
            <a:ext cx="2700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3A6B"/>
                </a:solidFill>
                <a:latin typeface="Calibri"/>
              </a:rPr>
              <a:t>NIVEAU DE CONVICTION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0000" y="2196000"/>
            <a:ext cx="4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75%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2520000"/>
            <a:ext cx="2700000" cy="27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000" y="2538000"/>
            <a:ext cx="26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7A4A"/>
                </a:solidFill>
                <a:latin typeface="Calibri"/>
              </a:rPr>
              <a:t>Delta conviction : +25% vs Avocat du Diable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1999" y="827999"/>
            <a:ext cx="5472000" cy="19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66000" y="846000"/>
            <a:ext cx="540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THÈSE D’INVESTISSEMENT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11999" y="1062000"/>
            <a:ext cx="36000" cy="28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01999" y="1080000"/>
            <a:ext cx="534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LVMH bénéficie d'un pricing power exceptionnel avec une hausse des prix de +7% en 2025 malgré un CA en baisse de -4.6%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1999" y="1404000"/>
            <a:ext cx="36000" cy="28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01999" y="1422000"/>
            <a:ext cx="534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La diversification géographique limite l'impact des récessions locales, avec l'Asie représentant 38% du CA en 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11999" y="1746000"/>
            <a:ext cx="36000" cy="28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01999" y="1764000"/>
            <a:ext cx="534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Les marges restent robustes à 66.2% GM et 32% EBITDA grâce à l'effet volume sur les coûts fixes et la premiumisation.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11999" y="2196000"/>
            <a:ext cx="26640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6000" y="2214000"/>
            <a:ext cx="259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CATALYSEURS BULLS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999" y="2412000"/>
            <a:ext cx="255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Croissance Asie +15% CA 2025 | expansion des réseaux 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1999" y="2599200"/>
            <a:ext cx="255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Premiumisation des gammes +8pts marge | hausse des prix de +7% 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0000" y="2196000"/>
            <a:ext cx="2448000" cy="180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6000" y="2214000"/>
            <a:ext cx="237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RISQUES BEARS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56000" y="2412000"/>
            <a:ext cx="237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Ralentissement Chine -10% CA 2026 | pression sur les volumes |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56000" y="2599200"/>
            <a:ext cx="237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Inflation coûts logistiques +5% YoY | compression des marges |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11999" y="2930400"/>
            <a:ext cx="5472000" cy="1620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11999" y="2930400"/>
            <a:ext cx="36000" cy="162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01999" y="2944800"/>
            <a:ext cx="5346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5000"/>
                </a:solidFill>
                <a:latin typeface="Calibri"/>
              </a:rPr>
              <a:t>⚠ Conditions d’invalidation : Macro: Ralentissement économique en Chine de -15% du CA 2026  ·  Sectoriel: Concurrence accrue sur le segment accessible avec perte de 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000" y="4752000"/>
            <a:ext cx="849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FinSight IA genere cette analyse a un instant T. Pour le suivi dans le temps, comparer les rapports successifs. La conviction reflete les donnees disponibles a la date d'analyse.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