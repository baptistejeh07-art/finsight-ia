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9144000" cy="5144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3716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5600"/>
            <a:ext cx="8229600" cy="255600"/>
          </a:xfrm>
          <a:prstGeom prst="rect">
            <a:avLst/>
          </a:prstGeom>
          <a:noFill/>
        </p:spPr>
        <p:txBody>
          <a:bodyPr wrap="square">
            <a:spAutoFit/>
          </a:bodyPr>
          <a:lstStyle/>
          <a:p>
            <a:pPr algn="ctr"/>
            <a:r>
              <a:rPr sz="1000" b="0" i="0">
                <a:solidFill>
                  <a:srgbClr val="8899BB"/>
                </a:solidFill>
                <a:latin typeface="Calibri"/>
              </a:rPr>
              <a:t>FinSight IA</a:t>
            </a:r>
          </a:p>
        </p:txBody>
      </p:sp>
      <p:sp>
        <p:nvSpPr>
          <p:cNvPr id="4" name="Rectangle 3"/>
          <p:cNvSpPr/>
          <p:nvPr/>
        </p:nvSpPr>
        <p:spPr>
          <a:xfrm>
            <a:off x="3978000" y="475200"/>
            <a:ext cx="1188000" cy="1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547200"/>
            <a:ext cx="8229600" cy="291600"/>
          </a:xfrm>
          <a:prstGeom prst="rect">
            <a:avLst/>
          </a:prstGeom>
          <a:noFill/>
        </p:spPr>
        <p:txBody>
          <a:bodyPr wrap="square">
            <a:spAutoFit/>
          </a:bodyPr>
          <a:lstStyle/>
          <a:p>
            <a:pPr algn="ctr"/>
            <a:r>
              <a:rPr sz="1100" b="0" i="0">
                <a:solidFill>
                  <a:srgbClr val="CCDDEE"/>
                </a:solidFill>
                <a:latin typeface="Calibri"/>
              </a:rPr>
              <a:t>Pitchbook  —  Analyse d'investissement</a:t>
            </a:r>
          </a:p>
        </p:txBody>
      </p:sp>
      <p:sp>
        <p:nvSpPr>
          <p:cNvPr id="6" name="TextBox 5"/>
          <p:cNvSpPr txBox="1"/>
          <p:nvPr/>
        </p:nvSpPr>
        <p:spPr>
          <a:xfrm>
            <a:off x="457200" y="1461599"/>
            <a:ext cx="8229600" cy="794232"/>
          </a:xfrm>
          <a:prstGeom prst="rect">
            <a:avLst/>
          </a:prstGeom>
          <a:noFill/>
        </p:spPr>
        <p:txBody>
          <a:bodyPr wrap="square">
            <a:spAutoFit/>
          </a:bodyPr>
          <a:lstStyle/>
          <a:p>
            <a:pPr algn="ctr"/>
            <a:r>
              <a:rPr sz="2000" b="1" i="0">
                <a:solidFill>
                  <a:srgbClr val="1B3A6B"/>
                </a:solidFill>
                <a:latin typeface="Calibri"/>
              </a:rPr>
              <a:t>LVMH Moët Hennessy - Louis Vuitton, Société Européenne</a:t>
            </a:r>
          </a:p>
        </p:txBody>
      </p:sp>
      <p:sp>
        <p:nvSpPr>
          <p:cNvPr id="7" name="TextBox 6"/>
          <p:cNvSpPr txBox="1"/>
          <p:nvPr/>
        </p:nvSpPr>
        <p:spPr>
          <a:xfrm>
            <a:off x="457200" y="2345832"/>
            <a:ext cx="8229600" cy="255600"/>
          </a:xfrm>
          <a:prstGeom prst="rect">
            <a:avLst/>
          </a:prstGeom>
          <a:noFill/>
        </p:spPr>
        <p:txBody>
          <a:bodyPr wrap="square">
            <a:spAutoFit/>
          </a:bodyPr>
          <a:lstStyle/>
          <a:p>
            <a:pPr algn="ctr"/>
            <a:r>
              <a:rPr sz="1100" b="0" i="0">
                <a:solidFill>
                  <a:srgbClr val="888888"/>
                </a:solidFill>
                <a:latin typeface="Calibri"/>
              </a:rPr>
              <a:t>MC.PA  ·  Euronext Paris  ·  Consumer Cyclical</a:t>
            </a:r>
          </a:p>
        </p:txBody>
      </p:sp>
      <p:sp>
        <p:nvSpPr>
          <p:cNvPr id="8" name="Rectangle 7"/>
          <p:cNvSpPr/>
          <p:nvPr/>
        </p:nvSpPr>
        <p:spPr>
          <a:xfrm>
            <a:off x="457200" y="2720232"/>
            <a:ext cx="8229600" cy="4752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720232"/>
            <a:ext cx="46800" cy="4752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6000" y="2738232"/>
            <a:ext cx="8063999" cy="439200"/>
          </a:xfrm>
          <a:prstGeom prst="rect">
            <a:avLst/>
          </a:prstGeom>
          <a:noFill/>
        </p:spPr>
        <p:txBody>
          <a:bodyPr wrap="square">
            <a:spAutoFit/>
          </a:bodyPr>
          <a:lstStyle/>
          <a:p>
            <a:pPr algn="ctr"/>
            <a:r>
              <a:rPr sz="900" b="1" i="0">
                <a:solidFill>
                  <a:srgbClr val="1A7A4A"/>
                </a:solidFill>
                <a:latin typeface="Calibri"/>
              </a:rPr>
              <a:t>● BUY  ·  Prix cible base : 520 EUR  ·  Upside : +13,5 %</a:t>
            </a:r>
          </a:p>
        </p:txBody>
      </p:sp>
      <p:sp>
        <p:nvSpPr>
          <p:cNvPr id="11" name="Rectangle 10"/>
          <p:cNvSpPr/>
          <p:nvPr/>
        </p:nvSpPr>
        <p:spPr>
          <a:xfrm>
            <a:off x="367200" y="4464000"/>
            <a:ext cx="8413200" cy="108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7200" y="4554000"/>
            <a:ext cx="4114800" cy="201600"/>
          </a:xfrm>
          <a:prstGeom prst="rect">
            <a:avLst/>
          </a:prstGeom>
          <a:noFill/>
        </p:spPr>
        <p:txBody>
          <a:bodyPr wrap="square">
            <a:spAutoFit/>
          </a:bodyPr>
          <a:lstStyle/>
          <a:p>
            <a:pPr algn="l"/>
            <a:r>
              <a:rPr sz="800" b="0" i="0">
                <a:solidFill>
                  <a:srgbClr val="555555"/>
                </a:solidFill>
                <a:latin typeface="Calibri"/>
              </a:rPr>
              <a:t>Rapport confidentiel</a:t>
            </a:r>
          </a:p>
        </p:txBody>
      </p:sp>
      <p:sp>
        <p:nvSpPr>
          <p:cNvPr id="13" name="TextBox 12"/>
          <p:cNvSpPr txBox="1"/>
          <p:nvPr/>
        </p:nvSpPr>
        <p:spPr>
          <a:xfrm>
            <a:off x="4662000" y="4554000"/>
            <a:ext cx="4114800" cy="201600"/>
          </a:xfrm>
          <a:prstGeom prst="rect">
            <a:avLst/>
          </a:prstGeom>
          <a:noFill/>
        </p:spPr>
        <p:txBody>
          <a:bodyPr wrap="square">
            <a:spAutoFit/>
          </a:bodyPr>
          <a:lstStyle/>
          <a:p>
            <a:pPr algn="r"/>
            <a:r>
              <a:rPr sz="800" b="0" i="0">
                <a:solidFill>
                  <a:srgbClr val="555555"/>
                </a:solidFill>
                <a:latin typeface="Calibri"/>
              </a:rPr>
              <a:t>26 mars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TextBox 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Executive Summary</a:t>
            </a:r>
          </a:p>
        </p:txBody>
      </p:sp>
      <p:sp>
        <p:nvSpPr>
          <p:cNvPr id="6" name="Rectangle 5"/>
          <p:cNvSpPr/>
          <p:nvPr/>
        </p:nvSpPr>
        <p:spPr>
          <a:xfrm>
            <a:off x="367200" y="748800"/>
            <a:ext cx="8413200" cy="4392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7200" y="748800"/>
            <a:ext cx="46800" cy="4392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3999" y="766800"/>
            <a:ext cx="1098000" cy="403200"/>
          </a:xfrm>
          <a:prstGeom prst="rect">
            <a:avLst/>
          </a:prstGeom>
          <a:noFill/>
        </p:spPr>
        <p:txBody>
          <a:bodyPr wrap="square">
            <a:spAutoFit/>
          </a:bodyPr>
          <a:lstStyle/>
          <a:p>
            <a:pPr algn="l"/>
            <a:r>
              <a:rPr sz="1100" b="1" i="0">
                <a:solidFill>
                  <a:srgbClr val="1A7A4A"/>
                </a:solidFill>
                <a:latin typeface="Calibri"/>
              </a:rPr>
              <a:t>● BUY</a:t>
            </a:r>
          </a:p>
        </p:txBody>
      </p:sp>
      <p:sp>
        <p:nvSpPr>
          <p:cNvPr id="9" name="TextBox 8"/>
          <p:cNvSpPr txBox="1"/>
          <p:nvPr/>
        </p:nvSpPr>
        <p:spPr>
          <a:xfrm>
            <a:off x="1692000" y="766800"/>
            <a:ext cx="6948000" cy="403200"/>
          </a:xfrm>
          <a:prstGeom prst="rect">
            <a:avLst/>
          </a:prstGeom>
          <a:noFill/>
        </p:spPr>
        <p:txBody>
          <a:bodyPr wrap="square">
            <a:spAutoFit/>
          </a:bodyPr>
          <a:lstStyle/>
          <a:p>
            <a:pPr algn="l"/>
            <a:r>
              <a:rPr sz="900" b="0" i="0">
                <a:solidFill>
                  <a:srgbClr val="1B3A6B"/>
                </a:solidFill>
                <a:latin typeface="Calibri"/>
              </a:rPr>
              <a:t>Prix cible base : 520 EUR  ·  Upside : +13,5 %  ·  Bear : 440 EUR (-4,0 %)  ·  Bull : 580 EUR (+26,6 %)</a:t>
            </a:r>
          </a:p>
        </p:txBody>
      </p:sp>
      <p:sp>
        <p:nvSpPr>
          <p:cNvPr id="10" name="Rectangle 9"/>
          <p:cNvSpPr/>
          <p:nvPr/>
        </p:nvSpPr>
        <p:spPr>
          <a:xfrm>
            <a:off x="367200" y="1353600"/>
            <a:ext cx="4161600" cy="2556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7200" y="1353600"/>
            <a:ext cx="4161600" cy="255600"/>
          </a:xfrm>
          <a:prstGeom prst="rect">
            <a:avLst/>
          </a:prstGeom>
          <a:noFill/>
        </p:spPr>
        <p:txBody>
          <a:bodyPr wrap="square">
            <a:spAutoFit/>
          </a:bodyPr>
          <a:lstStyle/>
          <a:p>
            <a:pPr algn="l"/>
            <a:r>
              <a:rPr sz="900" b="1" i="0">
                <a:solidFill>
                  <a:srgbClr val="FFFFFF"/>
                </a:solidFill>
                <a:latin typeface="Calibri"/>
              </a:rPr>
              <a:t>THÈSE D'INVESTISSEMENT</a:t>
            </a:r>
          </a:p>
        </p:txBody>
      </p:sp>
      <p:sp>
        <p:nvSpPr>
          <p:cNvPr id="12" name="Rectangle 11"/>
          <p:cNvSpPr/>
          <p:nvPr/>
        </p:nvSpPr>
        <p:spPr>
          <a:xfrm>
            <a:off x="367200" y="1663200"/>
            <a:ext cx="54000" cy="129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3999" y="1645200"/>
            <a:ext cx="3931200" cy="183600"/>
          </a:xfrm>
          <a:prstGeom prst="rect">
            <a:avLst/>
          </a:prstGeom>
          <a:noFill/>
        </p:spPr>
        <p:txBody>
          <a:bodyPr wrap="square">
            <a:spAutoFit/>
          </a:bodyPr>
          <a:lstStyle/>
          <a:p>
            <a:pPr algn="l"/>
            <a:r>
              <a:rPr sz="850" b="1" i="0">
                <a:solidFill>
                  <a:srgbClr val="1B3A6B"/>
                </a:solidFill>
                <a:latin typeface="Calibri"/>
              </a:rPr>
              <a:t>Marque premium</a:t>
            </a:r>
          </a:p>
        </p:txBody>
      </p:sp>
      <p:sp>
        <p:nvSpPr>
          <p:cNvPr id="14" name="TextBox 13"/>
          <p:cNvSpPr txBox="1"/>
          <p:nvPr/>
        </p:nvSpPr>
        <p:spPr>
          <a:xfrm>
            <a:off x="503999" y="1814400"/>
            <a:ext cx="3931200" cy="327600"/>
          </a:xfrm>
          <a:prstGeom prst="rect">
            <a:avLst/>
          </a:prstGeom>
          <a:noFill/>
        </p:spPr>
        <p:txBody>
          <a:bodyPr wrap="square">
            <a:spAutoFit/>
          </a:bodyPr>
          <a:lstStyle/>
          <a:p>
            <a:pPr algn="l"/>
            <a:r>
              <a:rPr sz="750" b="0" i="0">
                <a:solidFill>
                  <a:srgbClr val="333333"/>
                </a:solidFill>
                <a:latin typeface="Calibri"/>
              </a:rPr>
              <a:t>Croissance organique de +8% en 2026 portée par l'Asie (+12% en Chine) et l'Amérique du Nord (+6%)</a:t>
            </a:r>
          </a:p>
        </p:txBody>
      </p:sp>
      <p:sp>
        <p:nvSpPr>
          <p:cNvPr id="15" name="Rectangle 14"/>
          <p:cNvSpPr/>
          <p:nvPr/>
        </p:nvSpPr>
        <p:spPr>
          <a:xfrm>
            <a:off x="367200" y="2196000"/>
            <a:ext cx="54000" cy="129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3999" y="2178000"/>
            <a:ext cx="3931200" cy="183600"/>
          </a:xfrm>
          <a:prstGeom prst="rect">
            <a:avLst/>
          </a:prstGeom>
          <a:noFill/>
        </p:spPr>
        <p:txBody>
          <a:bodyPr wrap="square">
            <a:spAutoFit/>
          </a:bodyPr>
          <a:lstStyle/>
          <a:p>
            <a:pPr algn="l"/>
            <a:r>
              <a:rPr sz="850" b="1" i="0">
                <a:solidFill>
                  <a:srgbClr val="1B3A6B"/>
                </a:solidFill>
                <a:latin typeface="Calibri"/>
              </a:rPr>
              <a:t>Réseau distribution</a:t>
            </a:r>
          </a:p>
        </p:txBody>
      </p:sp>
      <p:sp>
        <p:nvSpPr>
          <p:cNvPr id="17" name="TextBox 16"/>
          <p:cNvSpPr txBox="1"/>
          <p:nvPr/>
        </p:nvSpPr>
        <p:spPr>
          <a:xfrm>
            <a:off x="503999" y="2347200"/>
            <a:ext cx="3931200" cy="327600"/>
          </a:xfrm>
          <a:prstGeom prst="rect">
            <a:avLst/>
          </a:prstGeom>
          <a:noFill/>
        </p:spPr>
        <p:txBody>
          <a:bodyPr wrap="square">
            <a:spAutoFit/>
          </a:bodyPr>
          <a:lstStyle/>
          <a:p>
            <a:pPr algn="l"/>
            <a:r>
              <a:rPr sz="750" b="0" i="0">
                <a:solidFill>
                  <a:srgbClr val="333333"/>
                </a:solidFill>
                <a:latin typeface="Calibri"/>
              </a:rPr>
              <a:t>Marges EBITDA stables à 33% grâce à l'effet de levier opérationnel et contrôle des coûts</a:t>
            </a:r>
          </a:p>
        </p:txBody>
      </p:sp>
      <p:sp>
        <p:nvSpPr>
          <p:cNvPr id="18" name="Rectangle 17"/>
          <p:cNvSpPr/>
          <p:nvPr/>
        </p:nvSpPr>
        <p:spPr>
          <a:xfrm>
            <a:off x="367200" y="2728800"/>
            <a:ext cx="54000" cy="129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3999" y="2710800"/>
            <a:ext cx="3931200" cy="183600"/>
          </a:xfrm>
          <a:prstGeom prst="rect">
            <a:avLst/>
          </a:prstGeom>
          <a:noFill/>
        </p:spPr>
        <p:txBody>
          <a:bodyPr wrap="square">
            <a:spAutoFit/>
          </a:bodyPr>
          <a:lstStyle/>
          <a:p>
            <a:pPr algn="l"/>
            <a:r>
              <a:rPr sz="850" b="1" i="0">
                <a:solidFill>
                  <a:srgbClr val="1B3A6B"/>
                </a:solidFill>
                <a:latin typeface="Calibri"/>
              </a:rPr>
              <a:t>Marges élevées</a:t>
            </a:r>
          </a:p>
        </p:txBody>
      </p:sp>
      <p:sp>
        <p:nvSpPr>
          <p:cNvPr id="20" name="TextBox 19"/>
          <p:cNvSpPr txBox="1"/>
          <p:nvPr/>
        </p:nvSpPr>
        <p:spPr>
          <a:xfrm>
            <a:off x="503999" y="2880000"/>
            <a:ext cx="3931200" cy="327600"/>
          </a:xfrm>
          <a:prstGeom prst="rect">
            <a:avLst/>
          </a:prstGeom>
          <a:noFill/>
        </p:spPr>
        <p:txBody>
          <a:bodyPr wrap="square">
            <a:spAutoFit/>
          </a:bodyPr>
          <a:lstStyle/>
          <a:p>
            <a:pPr algn="l"/>
            <a:r>
              <a:rPr sz="750" b="0" i="0">
                <a:solidFill>
                  <a:srgbClr val="333333"/>
                </a:solidFill>
                <a:latin typeface="Calibri"/>
              </a:rPr>
              <a:t>Lancement de 15 nouvelles collections capsules en 2026 générant +€1.2mds de revenus supplémentaires</a:t>
            </a:r>
          </a:p>
        </p:txBody>
      </p:sp>
      <p:sp>
        <p:nvSpPr>
          <p:cNvPr id="21" name="Rectangle 20"/>
          <p:cNvSpPr/>
          <p:nvPr/>
        </p:nvSpPr>
        <p:spPr>
          <a:xfrm>
            <a:off x="4708800" y="1353600"/>
            <a:ext cx="4068000" cy="255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08800" y="1353600"/>
            <a:ext cx="4068000" cy="255600"/>
          </a:xfrm>
          <a:prstGeom prst="rect">
            <a:avLst/>
          </a:prstGeom>
          <a:noFill/>
        </p:spPr>
        <p:txBody>
          <a:bodyPr wrap="square">
            <a:spAutoFit/>
          </a:bodyPr>
          <a:lstStyle/>
          <a:p>
            <a:pPr algn="l"/>
            <a:r>
              <a:rPr sz="900" b="1" i="0">
                <a:solidFill>
                  <a:srgbClr val="FFFFFF"/>
                </a:solidFill>
                <a:latin typeface="Calibri"/>
              </a:rPr>
              <a:t>RISQUES PRINCIPAUX</a:t>
            </a:r>
          </a:p>
        </p:txBody>
      </p:sp>
      <p:sp>
        <p:nvSpPr>
          <p:cNvPr id="23" name="Rectangle 22"/>
          <p:cNvSpPr/>
          <p:nvPr/>
        </p:nvSpPr>
        <p:spPr>
          <a:xfrm>
            <a:off x="4708800" y="1663200"/>
            <a:ext cx="54000" cy="129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5600" y="1645200"/>
            <a:ext cx="3794399" cy="183600"/>
          </a:xfrm>
          <a:prstGeom prst="rect">
            <a:avLst/>
          </a:prstGeom>
          <a:noFill/>
        </p:spPr>
        <p:txBody>
          <a:bodyPr wrap="square">
            <a:spAutoFit/>
          </a:bodyPr>
          <a:lstStyle/>
          <a:p>
            <a:pPr algn="l"/>
            <a:r>
              <a:rPr sz="850" b="1" i="0">
                <a:solidFill>
                  <a:srgbClr val="1B3A6B"/>
                </a:solidFill>
                <a:latin typeface="Calibri"/>
              </a:rPr>
              <a:t>Ralentissement Chine</a:t>
            </a:r>
          </a:p>
        </p:txBody>
      </p:sp>
      <p:sp>
        <p:nvSpPr>
          <p:cNvPr id="25" name="TextBox 24"/>
          <p:cNvSpPr txBox="1"/>
          <p:nvPr/>
        </p:nvSpPr>
        <p:spPr>
          <a:xfrm>
            <a:off x="4845600" y="1814400"/>
            <a:ext cx="3794399" cy="327600"/>
          </a:xfrm>
          <a:prstGeom prst="rect">
            <a:avLst/>
          </a:prstGeom>
          <a:noFill/>
        </p:spPr>
        <p:txBody>
          <a:bodyPr wrap="square">
            <a:spAutoFit/>
          </a:bodyPr>
          <a:lstStyle/>
          <a:p>
            <a:pPr algn="l"/>
            <a:r>
              <a:rPr sz="750" b="0" i="0">
                <a:solidFill>
                  <a:srgbClr val="333333"/>
                </a:solidFill>
                <a:latin typeface="Calibri"/>
              </a:rPr>
              <a:t>Risque de ralentissement économique en Chine (-3% croissance 2026)</a:t>
            </a:r>
          </a:p>
        </p:txBody>
      </p:sp>
      <p:sp>
        <p:nvSpPr>
          <p:cNvPr id="26" name="Rectangle 25"/>
          <p:cNvSpPr/>
          <p:nvPr/>
        </p:nvSpPr>
        <p:spPr>
          <a:xfrm>
            <a:off x="4708800" y="2196000"/>
            <a:ext cx="54000" cy="129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45600" y="2178000"/>
            <a:ext cx="3794399" cy="183600"/>
          </a:xfrm>
          <a:prstGeom prst="rect">
            <a:avLst/>
          </a:prstGeom>
          <a:noFill/>
        </p:spPr>
        <p:txBody>
          <a:bodyPr wrap="square">
            <a:spAutoFit/>
          </a:bodyPr>
          <a:lstStyle/>
          <a:p>
            <a:pPr algn="l"/>
            <a:r>
              <a:rPr sz="850" b="1" i="0">
                <a:solidFill>
                  <a:srgbClr val="1B3A6B"/>
                </a:solidFill>
                <a:latin typeface="Calibri"/>
              </a:rPr>
              <a:t>Concurrence</a:t>
            </a:r>
          </a:p>
        </p:txBody>
      </p:sp>
      <p:sp>
        <p:nvSpPr>
          <p:cNvPr id="28" name="TextBox 27"/>
          <p:cNvSpPr txBox="1"/>
          <p:nvPr/>
        </p:nvSpPr>
        <p:spPr>
          <a:xfrm>
            <a:off x="4845600" y="2347200"/>
            <a:ext cx="3794399" cy="327600"/>
          </a:xfrm>
          <a:prstGeom prst="rect">
            <a:avLst/>
          </a:prstGeom>
          <a:noFill/>
        </p:spPr>
        <p:txBody>
          <a:bodyPr wrap="square">
            <a:spAutoFit/>
          </a:bodyPr>
          <a:lstStyle/>
          <a:p>
            <a:pPr algn="l"/>
            <a:r>
              <a:rPr sz="750" b="0" i="0">
                <a:solidFill>
                  <a:srgbClr val="333333"/>
                </a:solidFill>
                <a:latin typeface="Calibri"/>
              </a:rPr>
              <a:t>Concurrence accrue sur le segment accessible (ex: Coach, Michael Kors)</a:t>
            </a:r>
          </a:p>
        </p:txBody>
      </p:sp>
      <p:sp>
        <p:nvSpPr>
          <p:cNvPr id="29" name="Rectangle 28"/>
          <p:cNvSpPr/>
          <p:nvPr/>
        </p:nvSpPr>
        <p:spPr>
          <a:xfrm>
            <a:off x="4708800" y="2728800"/>
            <a:ext cx="54000" cy="129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45600" y="2710800"/>
            <a:ext cx="3794399" cy="183600"/>
          </a:xfrm>
          <a:prstGeom prst="rect">
            <a:avLst/>
          </a:prstGeom>
          <a:noFill/>
        </p:spPr>
        <p:txBody>
          <a:bodyPr wrap="square">
            <a:spAutoFit/>
          </a:bodyPr>
          <a:lstStyle/>
          <a:p>
            <a:pPr algn="l"/>
            <a:r>
              <a:rPr sz="850" b="1" i="0">
                <a:solidFill>
                  <a:srgbClr val="1B3A6B"/>
                </a:solidFill>
                <a:latin typeface="Calibri"/>
              </a:rPr>
              <a:t>Régulation</a:t>
            </a:r>
          </a:p>
        </p:txBody>
      </p:sp>
      <p:sp>
        <p:nvSpPr>
          <p:cNvPr id="31" name="TextBox 30"/>
          <p:cNvSpPr txBox="1"/>
          <p:nvPr/>
        </p:nvSpPr>
        <p:spPr>
          <a:xfrm>
            <a:off x="4845600" y="2880000"/>
            <a:ext cx="3794399" cy="327600"/>
          </a:xfrm>
          <a:prstGeom prst="rect">
            <a:avLst/>
          </a:prstGeom>
          <a:noFill/>
        </p:spPr>
        <p:txBody>
          <a:bodyPr wrap="square">
            <a:spAutoFit/>
          </a:bodyPr>
          <a:lstStyle/>
          <a:p>
            <a:pPr algn="l"/>
            <a:r>
              <a:rPr sz="750" b="0" i="0">
                <a:solidFill>
                  <a:srgbClr val="333333"/>
                </a:solidFill>
                <a:latin typeface="Calibri"/>
              </a:rPr>
              <a:t>Régulation accrue sur les prix et la distribution en Europe</a:t>
            </a:r>
          </a:p>
        </p:txBody>
      </p:sp>
      <p:sp>
        <p:nvSpPr>
          <p:cNvPr id="32" name="Rectangle 31"/>
          <p:cNvSpPr/>
          <p:nvPr/>
        </p:nvSpPr>
        <p:spPr>
          <a:xfrm>
            <a:off x="4525200" y="1353600"/>
            <a:ext cx="10800" cy="17424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67200" y="3301200"/>
            <a:ext cx="8413200" cy="108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67200" y="3376800"/>
            <a:ext cx="2030400" cy="806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7200" y="3376800"/>
            <a:ext cx="46800" cy="806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3430800"/>
            <a:ext cx="1893600" cy="396000"/>
          </a:xfrm>
          <a:prstGeom prst="rect">
            <a:avLst/>
          </a:prstGeom>
          <a:noFill/>
        </p:spPr>
        <p:txBody>
          <a:bodyPr wrap="square">
            <a:spAutoFit/>
          </a:bodyPr>
          <a:lstStyle/>
          <a:p>
            <a:pPr algn="l"/>
            <a:r>
              <a:rPr sz="1900" b="1" i="0">
                <a:solidFill>
                  <a:srgbClr val="1B3A6B"/>
                </a:solidFill>
                <a:latin typeface="Calibri"/>
              </a:rPr>
              <a:t>9,2x</a:t>
            </a:r>
          </a:p>
        </p:txBody>
      </p:sp>
      <p:sp>
        <p:nvSpPr>
          <p:cNvPr id="37" name="TextBox 36"/>
          <p:cNvSpPr txBox="1"/>
          <p:nvPr/>
        </p:nvSpPr>
        <p:spPr>
          <a:xfrm>
            <a:off x="457200" y="3826800"/>
            <a:ext cx="1893600" cy="205199"/>
          </a:xfrm>
          <a:prstGeom prst="rect">
            <a:avLst/>
          </a:prstGeom>
          <a:noFill/>
        </p:spPr>
        <p:txBody>
          <a:bodyPr wrap="square">
            <a:spAutoFit/>
          </a:bodyPr>
          <a:lstStyle/>
          <a:p>
            <a:pPr algn="l"/>
            <a:r>
              <a:rPr sz="800" b="0" i="0">
                <a:solidFill>
                  <a:srgbClr val="555555"/>
                </a:solidFill>
                <a:latin typeface="Calibri"/>
              </a:rPr>
              <a:t>EV/EBITDA</a:t>
            </a:r>
          </a:p>
        </p:txBody>
      </p:sp>
      <p:sp>
        <p:nvSpPr>
          <p:cNvPr id="38" name="TextBox 37"/>
          <p:cNvSpPr txBox="1"/>
          <p:nvPr/>
        </p:nvSpPr>
        <p:spPr>
          <a:xfrm>
            <a:off x="457200" y="4024800"/>
            <a:ext cx="1893600" cy="165600"/>
          </a:xfrm>
          <a:prstGeom prst="rect">
            <a:avLst/>
          </a:prstGeom>
          <a:noFill/>
        </p:spPr>
        <p:txBody>
          <a:bodyPr wrap="square">
            <a:spAutoFit/>
          </a:bodyPr>
          <a:lstStyle/>
          <a:p>
            <a:pPr algn="l"/>
            <a:r>
              <a:rPr sz="700" b="0" i="0">
                <a:solidFill>
                  <a:srgbClr val="888888"/>
                </a:solidFill>
                <a:latin typeface="Calibri"/>
              </a:rPr>
              <a:t>vs 12,5x médiane peers</a:t>
            </a:r>
          </a:p>
        </p:txBody>
      </p:sp>
      <p:sp>
        <p:nvSpPr>
          <p:cNvPr id="39" name="Rectangle 38"/>
          <p:cNvSpPr/>
          <p:nvPr/>
        </p:nvSpPr>
        <p:spPr>
          <a:xfrm>
            <a:off x="2487600" y="3376800"/>
            <a:ext cx="2030400" cy="806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487600" y="3376800"/>
            <a:ext cx="46800" cy="806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577600" y="3430800"/>
            <a:ext cx="1893600" cy="396000"/>
          </a:xfrm>
          <a:prstGeom prst="rect">
            <a:avLst/>
          </a:prstGeom>
          <a:noFill/>
        </p:spPr>
        <p:txBody>
          <a:bodyPr wrap="square">
            <a:spAutoFit/>
          </a:bodyPr>
          <a:lstStyle/>
          <a:p>
            <a:pPr algn="l"/>
            <a:r>
              <a:rPr sz="1900" b="1" i="0">
                <a:solidFill>
                  <a:srgbClr val="1B3A6B"/>
                </a:solidFill>
                <a:latin typeface="Calibri"/>
              </a:rPr>
              <a:t>8,6 %</a:t>
            </a:r>
          </a:p>
        </p:txBody>
      </p:sp>
      <p:sp>
        <p:nvSpPr>
          <p:cNvPr id="42" name="TextBox 41"/>
          <p:cNvSpPr txBox="1"/>
          <p:nvPr/>
        </p:nvSpPr>
        <p:spPr>
          <a:xfrm>
            <a:off x="2577600" y="3826800"/>
            <a:ext cx="1893600" cy="205199"/>
          </a:xfrm>
          <a:prstGeom prst="rect">
            <a:avLst/>
          </a:prstGeom>
          <a:noFill/>
        </p:spPr>
        <p:txBody>
          <a:bodyPr wrap="square">
            <a:spAutoFit/>
          </a:bodyPr>
          <a:lstStyle/>
          <a:p>
            <a:pPr algn="l"/>
            <a:r>
              <a:rPr sz="800" b="0" i="0">
                <a:solidFill>
                  <a:srgbClr val="555555"/>
                </a:solidFill>
                <a:latin typeface="Calibri"/>
              </a:rPr>
              <a:t>WACC</a:t>
            </a:r>
          </a:p>
        </p:txBody>
      </p:sp>
      <p:sp>
        <p:nvSpPr>
          <p:cNvPr id="43" name="TextBox 42"/>
          <p:cNvSpPr txBox="1"/>
          <p:nvPr/>
        </p:nvSpPr>
        <p:spPr>
          <a:xfrm>
            <a:off x="2577600" y="4024800"/>
            <a:ext cx="1893600" cy="165600"/>
          </a:xfrm>
          <a:prstGeom prst="rect">
            <a:avLst/>
          </a:prstGeom>
          <a:noFill/>
        </p:spPr>
        <p:txBody>
          <a:bodyPr wrap="square">
            <a:spAutoFit/>
          </a:bodyPr>
          <a:lstStyle/>
          <a:p>
            <a:pPr algn="l"/>
            <a:r>
              <a:rPr sz="700" b="0" i="0">
                <a:solidFill>
                  <a:srgbClr val="888888"/>
                </a:solidFill>
                <a:latin typeface="Calibri"/>
              </a:rPr>
              <a:t>Beta 0,84  ·  RFR 4,4 %</a:t>
            </a:r>
          </a:p>
        </p:txBody>
      </p:sp>
      <p:sp>
        <p:nvSpPr>
          <p:cNvPr id="44" name="Rectangle 43"/>
          <p:cNvSpPr/>
          <p:nvPr/>
        </p:nvSpPr>
        <p:spPr>
          <a:xfrm>
            <a:off x="4608000" y="3376800"/>
            <a:ext cx="2030400" cy="806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608000" y="3376800"/>
            <a:ext cx="46800" cy="806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698000" y="3430800"/>
            <a:ext cx="1893600" cy="396000"/>
          </a:xfrm>
          <a:prstGeom prst="rect">
            <a:avLst/>
          </a:prstGeom>
          <a:noFill/>
        </p:spPr>
        <p:txBody>
          <a:bodyPr wrap="square">
            <a:spAutoFit/>
          </a:bodyPr>
          <a:lstStyle/>
          <a:p>
            <a:pPr algn="l"/>
            <a:r>
              <a:rPr sz="1900" b="1" i="0">
                <a:solidFill>
                  <a:srgbClr val="1B3A6B"/>
                </a:solidFill>
                <a:latin typeface="Calibri"/>
              </a:rPr>
              <a:t>520 EUR</a:t>
            </a:r>
          </a:p>
        </p:txBody>
      </p:sp>
      <p:sp>
        <p:nvSpPr>
          <p:cNvPr id="47" name="TextBox 46"/>
          <p:cNvSpPr txBox="1"/>
          <p:nvPr/>
        </p:nvSpPr>
        <p:spPr>
          <a:xfrm>
            <a:off x="4698000" y="3826800"/>
            <a:ext cx="1893600" cy="205199"/>
          </a:xfrm>
          <a:prstGeom prst="rect">
            <a:avLst/>
          </a:prstGeom>
          <a:noFill/>
        </p:spPr>
        <p:txBody>
          <a:bodyPr wrap="square">
            <a:spAutoFit/>
          </a:bodyPr>
          <a:lstStyle/>
          <a:p>
            <a:pPr algn="l"/>
            <a:r>
              <a:rPr sz="800" b="0" i="0">
                <a:solidFill>
                  <a:srgbClr val="555555"/>
                </a:solidFill>
                <a:latin typeface="Calibri"/>
              </a:rPr>
              <a:t>Valeur intrinseque DCF</a:t>
            </a:r>
          </a:p>
        </p:txBody>
      </p:sp>
      <p:sp>
        <p:nvSpPr>
          <p:cNvPr id="48" name="TextBox 47"/>
          <p:cNvSpPr txBox="1"/>
          <p:nvPr/>
        </p:nvSpPr>
        <p:spPr>
          <a:xfrm>
            <a:off x="4698000" y="4024800"/>
            <a:ext cx="1893600" cy="165600"/>
          </a:xfrm>
          <a:prstGeom prst="rect">
            <a:avLst/>
          </a:prstGeom>
          <a:noFill/>
        </p:spPr>
        <p:txBody>
          <a:bodyPr wrap="square">
            <a:spAutoFit/>
          </a:bodyPr>
          <a:lstStyle/>
          <a:p>
            <a:pPr algn="l"/>
            <a:r>
              <a:rPr sz="700" b="0" i="0">
                <a:solidFill>
                  <a:srgbClr val="888888"/>
                </a:solidFill>
                <a:latin typeface="Calibri"/>
              </a:rPr>
              <a:t>Upside de +13,5 % vs cours</a:t>
            </a:r>
          </a:p>
        </p:txBody>
      </p:sp>
      <p:sp>
        <p:nvSpPr>
          <p:cNvPr id="49" name="Rectangle 48"/>
          <p:cNvSpPr/>
          <p:nvPr/>
        </p:nvSpPr>
        <p:spPr>
          <a:xfrm>
            <a:off x="6728400" y="3376800"/>
            <a:ext cx="2030400" cy="806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728400" y="3376800"/>
            <a:ext cx="46800" cy="806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818400" y="3430800"/>
            <a:ext cx="1893600" cy="396000"/>
          </a:xfrm>
          <a:prstGeom prst="rect">
            <a:avLst/>
          </a:prstGeom>
          <a:noFill/>
        </p:spPr>
        <p:txBody>
          <a:bodyPr wrap="square">
            <a:spAutoFit/>
          </a:bodyPr>
          <a:lstStyle/>
          <a:p>
            <a:pPr algn="l"/>
            <a:r>
              <a:rPr sz="1900" b="1" i="0">
                <a:solidFill>
                  <a:srgbClr val="1B3A6B"/>
                </a:solidFill>
                <a:latin typeface="Calibri"/>
              </a:rPr>
              <a:t>+0,073</a:t>
            </a:r>
          </a:p>
        </p:txBody>
      </p:sp>
      <p:sp>
        <p:nvSpPr>
          <p:cNvPr id="52" name="TextBox 51"/>
          <p:cNvSpPr txBox="1"/>
          <p:nvPr/>
        </p:nvSpPr>
        <p:spPr>
          <a:xfrm>
            <a:off x="6818400" y="3826800"/>
            <a:ext cx="1893600" cy="205199"/>
          </a:xfrm>
          <a:prstGeom prst="rect">
            <a:avLst/>
          </a:prstGeom>
          <a:noFill/>
        </p:spPr>
        <p:txBody>
          <a:bodyPr wrap="square">
            <a:spAutoFit/>
          </a:bodyPr>
          <a:lstStyle/>
          <a:p>
            <a:pPr algn="l"/>
            <a:r>
              <a:rPr sz="800" b="0" i="0">
                <a:solidFill>
                  <a:srgbClr val="555555"/>
                </a:solidFill>
                <a:latin typeface="Calibri"/>
              </a:rPr>
              <a:t>Sentiment FinBERT</a:t>
            </a:r>
          </a:p>
        </p:txBody>
      </p:sp>
      <p:sp>
        <p:nvSpPr>
          <p:cNvPr id="53" name="TextBox 52"/>
          <p:cNvSpPr txBox="1"/>
          <p:nvPr/>
        </p:nvSpPr>
        <p:spPr>
          <a:xfrm>
            <a:off x="6818400" y="4024800"/>
            <a:ext cx="1893600" cy="165600"/>
          </a:xfrm>
          <a:prstGeom prst="rect">
            <a:avLst/>
          </a:prstGeom>
          <a:noFill/>
        </p:spPr>
        <p:txBody>
          <a:bodyPr wrap="square">
            <a:spAutoFit/>
          </a:bodyPr>
          <a:lstStyle/>
          <a:p>
            <a:pPr algn="l"/>
            <a:r>
              <a:rPr sz="700" b="0" i="0">
                <a:solidFill>
                  <a:srgbClr val="888888"/>
                </a:solidFill>
                <a:latin typeface="Calibri"/>
              </a:rPr>
              <a:t>Neutre +  ·  20 articles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TextBox 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Sommaire</a:t>
            </a:r>
          </a:p>
        </p:txBody>
      </p:sp>
      <p:sp>
        <p:nvSpPr>
          <p:cNvPr id="6" name="Rectangle 5"/>
          <p:cNvSpPr/>
          <p:nvPr/>
        </p:nvSpPr>
        <p:spPr>
          <a:xfrm>
            <a:off x="367200" y="896400"/>
            <a:ext cx="8413200" cy="622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7200" y="8964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3999" y="950400"/>
            <a:ext cx="475200" cy="514800"/>
          </a:xfrm>
          <a:prstGeom prst="rect">
            <a:avLst/>
          </a:prstGeom>
          <a:noFill/>
        </p:spPr>
        <p:txBody>
          <a:bodyPr wrap="square">
            <a:spAutoFit/>
          </a:bodyPr>
          <a:lstStyle/>
          <a:p>
            <a:pPr algn="l"/>
            <a:r>
              <a:rPr sz="1700" b="1" i="0">
                <a:solidFill>
                  <a:srgbClr val="888888"/>
                </a:solidFill>
                <a:latin typeface="Calibri"/>
              </a:rPr>
              <a:t>01</a:t>
            </a:r>
          </a:p>
        </p:txBody>
      </p:sp>
      <p:sp>
        <p:nvSpPr>
          <p:cNvPr id="9" name="TextBox 8"/>
          <p:cNvSpPr txBox="1"/>
          <p:nvPr/>
        </p:nvSpPr>
        <p:spPr>
          <a:xfrm>
            <a:off x="1152000" y="968400"/>
            <a:ext cx="6120000" cy="255600"/>
          </a:xfrm>
          <a:prstGeom prst="rect">
            <a:avLst/>
          </a:prstGeom>
          <a:noFill/>
        </p:spPr>
        <p:txBody>
          <a:bodyPr wrap="square">
            <a:spAutoFit/>
          </a:bodyPr>
          <a:lstStyle/>
          <a:p>
            <a:pPr algn="l"/>
            <a:r>
              <a:rPr sz="1300" b="1" i="0">
                <a:solidFill>
                  <a:srgbClr val="1B3A6B"/>
                </a:solidFill>
                <a:latin typeface="Calibri"/>
              </a:rPr>
              <a:t>Company Overview</a:t>
            </a:r>
          </a:p>
        </p:txBody>
      </p:sp>
      <p:sp>
        <p:nvSpPr>
          <p:cNvPr id="10" name="TextBox 9"/>
          <p:cNvSpPr txBox="1"/>
          <p:nvPr/>
        </p:nvSpPr>
        <p:spPr>
          <a:xfrm>
            <a:off x="1152000" y="1202400"/>
            <a:ext cx="6120000" cy="255600"/>
          </a:xfrm>
          <a:prstGeom prst="rect">
            <a:avLst/>
          </a:prstGeom>
          <a:noFill/>
        </p:spPr>
        <p:txBody>
          <a:bodyPr wrap="square">
            <a:spAutoFit/>
          </a:bodyPr>
          <a:lstStyle/>
          <a:p>
            <a:pPr algn="l"/>
            <a:r>
              <a:rPr sz="850" b="0" i="0">
                <a:solidFill>
                  <a:srgbClr val="555555"/>
                </a:solidFill>
                <a:latin typeface="Calibri"/>
              </a:rPr>
              <a:t>LVMH Moët Hennessy - Louis Vuitton, Société Européenne  ·  Consumer Cyclical</a:t>
            </a:r>
          </a:p>
        </p:txBody>
      </p:sp>
      <p:sp>
        <p:nvSpPr>
          <p:cNvPr id="11" name="TextBox 10"/>
          <p:cNvSpPr txBox="1"/>
          <p:nvPr/>
        </p:nvSpPr>
        <p:spPr>
          <a:xfrm>
            <a:off x="7405200" y="1058400"/>
            <a:ext cx="1375200" cy="255600"/>
          </a:xfrm>
          <a:prstGeom prst="rect">
            <a:avLst/>
          </a:prstGeom>
          <a:noFill/>
        </p:spPr>
        <p:txBody>
          <a:bodyPr wrap="square">
            <a:spAutoFit/>
          </a:bodyPr>
          <a:lstStyle/>
          <a:p>
            <a:pPr algn="r"/>
            <a:r>
              <a:rPr sz="900" b="0" i="0">
                <a:solidFill>
                  <a:srgbClr val="2E5FA3"/>
                </a:solidFill>
                <a:latin typeface="Calibri"/>
              </a:rPr>
              <a:t>3–5</a:t>
            </a:r>
          </a:p>
        </p:txBody>
      </p:sp>
      <p:sp>
        <p:nvSpPr>
          <p:cNvPr id="12" name="Rectangle 11"/>
          <p:cNvSpPr/>
          <p:nvPr/>
        </p:nvSpPr>
        <p:spPr>
          <a:xfrm>
            <a:off x="367200" y="1591200"/>
            <a:ext cx="8413200" cy="6228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7200" y="15912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3999" y="1645200"/>
            <a:ext cx="475200" cy="514800"/>
          </a:xfrm>
          <a:prstGeom prst="rect">
            <a:avLst/>
          </a:prstGeom>
          <a:noFill/>
        </p:spPr>
        <p:txBody>
          <a:bodyPr wrap="square">
            <a:spAutoFit/>
          </a:bodyPr>
          <a:lstStyle/>
          <a:p>
            <a:pPr algn="l"/>
            <a:r>
              <a:rPr sz="1700" b="1" i="0">
                <a:solidFill>
                  <a:srgbClr val="888888"/>
                </a:solidFill>
                <a:latin typeface="Calibri"/>
              </a:rPr>
              <a:t>02</a:t>
            </a:r>
          </a:p>
        </p:txBody>
      </p:sp>
      <p:sp>
        <p:nvSpPr>
          <p:cNvPr id="15" name="TextBox 14"/>
          <p:cNvSpPr txBox="1"/>
          <p:nvPr/>
        </p:nvSpPr>
        <p:spPr>
          <a:xfrm>
            <a:off x="1152000" y="1663200"/>
            <a:ext cx="6120000" cy="255600"/>
          </a:xfrm>
          <a:prstGeom prst="rect">
            <a:avLst/>
          </a:prstGeom>
          <a:noFill/>
        </p:spPr>
        <p:txBody>
          <a:bodyPr wrap="square">
            <a:spAutoFit/>
          </a:bodyPr>
          <a:lstStyle/>
          <a:p>
            <a:pPr algn="l"/>
            <a:r>
              <a:rPr sz="1300" b="1" i="0">
                <a:solidFill>
                  <a:srgbClr val="1B3A6B"/>
                </a:solidFill>
                <a:latin typeface="Calibri"/>
              </a:rPr>
              <a:t>Analyse Financière</a:t>
            </a:r>
          </a:p>
        </p:txBody>
      </p:sp>
      <p:sp>
        <p:nvSpPr>
          <p:cNvPr id="16" name="TextBox 15"/>
          <p:cNvSpPr txBox="1"/>
          <p:nvPr/>
        </p:nvSpPr>
        <p:spPr>
          <a:xfrm>
            <a:off x="1152000" y="1897199"/>
            <a:ext cx="6120000" cy="255600"/>
          </a:xfrm>
          <a:prstGeom prst="rect">
            <a:avLst/>
          </a:prstGeom>
          <a:noFill/>
        </p:spPr>
        <p:txBody>
          <a:bodyPr wrap="square">
            <a:spAutoFit/>
          </a:bodyPr>
          <a:lstStyle/>
          <a:p>
            <a:pPr algn="l"/>
            <a:r>
              <a:rPr sz="850" b="0" i="0">
                <a:solidFill>
                  <a:srgbClr val="555555"/>
                </a:solidFill>
                <a:latin typeface="Calibri"/>
              </a:rPr>
              <a:t>Compte de résultat, bilan &amp; liquidité, ratios</a:t>
            </a:r>
          </a:p>
        </p:txBody>
      </p:sp>
      <p:sp>
        <p:nvSpPr>
          <p:cNvPr id="17" name="TextBox 16"/>
          <p:cNvSpPr txBox="1"/>
          <p:nvPr/>
        </p:nvSpPr>
        <p:spPr>
          <a:xfrm>
            <a:off x="7405200" y="1753200"/>
            <a:ext cx="1375200" cy="255600"/>
          </a:xfrm>
          <a:prstGeom prst="rect">
            <a:avLst/>
          </a:prstGeom>
          <a:noFill/>
        </p:spPr>
        <p:txBody>
          <a:bodyPr wrap="square">
            <a:spAutoFit/>
          </a:bodyPr>
          <a:lstStyle/>
          <a:p>
            <a:pPr algn="r"/>
            <a:r>
              <a:rPr sz="900" b="0" i="0">
                <a:solidFill>
                  <a:srgbClr val="2E5FA3"/>
                </a:solidFill>
                <a:latin typeface="Calibri"/>
              </a:rPr>
              <a:t>6–8</a:t>
            </a:r>
          </a:p>
        </p:txBody>
      </p:sp>
      <p:sp>
        <p:nvSpPr>
          <p:cNvPr id="18" name="Rectangle 17"/>
          <p:cNvSpPr/>
          <p:nvPr/>
        </p:nvSpPr>
        <p:spPr>
          <a:xfrm>
            <a:off x="367200" y="2286000"/>
            <a:ext cx="8413200" cy="622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7200" y="22860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3999" y="2340000"/>
            <a:ext cx="475200" cy="514800"/>
          </a:xfrm>
          <a:prstGeom prst="rect">
            <a:avLst/>
          </a:prstGeom>
          <a:noFill/>
        </p:spPr>
        <p:txBody>
          <a:bodyPr wrap="square">
            <a:spAutoFit/>
          </a:bodyPr>
          <a:lstStyle/>
          <a:p>
            <a:pPr algn="l"/>
            <a:r>
              <a:rPr sz="1700" b="1" i="0">
                <a:solidFill>
                  <a:srgbClr val="888888"/>
                </a:solidFill>
                <a:latin typeface="Calibri"/>
              </a:rPr>
              <a:t>03</a:t>
            </a:r>
          </a:p>
        </p:txBody>
      </p:sp>
      <p:sp>
        <p:nvSpPr>
          <p:cNvPr id="21" name="TextBox 20"/>
          <p:cNvSpPr txBox="1"/>
          <p:nvPr/>
        </p:nvSpPr>
        <p:spPr>
          <a:xfrm>
            <a:off x="1152000" y="2358000"/>
            <a:ext cx="6120000" cy="255600"/>
          </a:xfrm>
          <a:prstGeom prst="rect">
            <a:avLst/>
          </a:prstGeom>
          <a:noFill/>
        </p:spPr>
        <p:txBody>
          <a:bodyPr wrap="square">
            <a:spAutoFit/>
          </a:bodyPr>
          <a:lstStyle/>
          <a:p>
            <a:pPr algn="l"/>
            <a:r>
              <a:rPr sz="1300" b="1" i="0">
                <a:solidFill>
                  <a:srgbClr val="1B3A6B"/>
                </a:solidFill>
                <a:latin typeface="Calibri"/>
              </a:rPr>
              <a:t>Valorisation</a:t>
            </a:r>
          </a:p>
        </p:txBody>
      </p:sp>
      <p:sp>
        <p:nvSpPr>
          <p:cNvPr id="22" name="TextBox 21"/>
          <p:cNvSpPr txBox="1"/>
          <p:nvPr/>
        </p:nvSpPr>
        <p:spPr>
          <a:xfrm>
            <a:off x="1152000" y="2591999"/>
            <a:ext cx="6120000" cy="255600"/>
          </a:xfrm>
          <a:prstGeom prst="rect">
            <a:avLst/>
          </a:prstGeom>
          <a:noFill/>
        </p:spPr>
        <p:txBody>
          <a:bodyPr wrap="square">
            <a:spAutoFit/>
          </a:bodyPr>
          <a:lstStyle/>
          <a:p>
            <a:pPr algn="l"/>
            <a:r>
              <a:rPr sz="850" b="0" i="0">
                <a:solidFill>
                  <a:srgbClr val="555555"/>
                </a:solidFill>
                <a:latin typeface="Calibri"/>
              </a:rPr>
              <a:t>DCF, comparable peers, Football Field</a:t>
            </a:r>
          </a:p>
        </p:txBody>
      </p:sp>
      <p:sp>
        <p:nvSpPr>
          <p:cNvPr id="23" name="TextBox 22"/>
          <p:cNvSpPr txBox="1"/>
          <p:nvPr/>
        </p:nvSpPr>
        <p:spPr>
          <a:xfrm>
            <a:off x="7405200" y="2448000"/>
            <a:ext cx="1375200" cy="255600"/>
          </a:xfrm>
          <a:prstGeom prst="rect">
            <a:avLst/>
          </a:prstGeom>
          <a:noFill/>
        </p:spPr>
        <p:txBody>
          <a:bodyPr wrap="square">
            <a:spAutoFit/>
          </a:bodyPr>
          <a:lstStyle/>
          <a:p>
            <a:pPr algn="r"/>
            <a:r>
              <a:rPr sz="900" b="0" i="0">
                <a:solidFill>
                  <a:srgbClr val="2E5FA3"/>
                </a:solidFill>
                <a:latin typeface="Calibri"/>
              </a:rPr>
              <a:t>9–11</a:t>
            </a:r>
          </a:p>
        </p:txBody>
      </p:sp>
      <p:sp>
        <p:nvSpPr>
          <p:cNvPr id="24" name="Rectangle 23"/>
          <p:cNvSpPr/>
          <p:nvPr/>
        </p:nvSpPr>
        <p:spPr>
          <a:xfrm>
            <a:off x="367200" y="2980800"/>
            <a:ext cx="8413200" cy="6228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7200" y="29808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3999" y="3034800"/>
            <a:ext cx="475200" cy="514800"/>
          </a:xfrm>
          <a:prstGeom prst="rect">
            <a:avLst/>
          </a:prstGeom>
          <a:noFill/>
        </p:spPr>
        <p:txBody>
          <a:bodyPr wrap="square">
            <a:spAutoFit/>
          </a:bodyPr>
          <a:lstStyle/>
          <a:p>
            <a:pPr algn="l"/>
            <a:r>
              <a:rPr sz="1700" b="1" i="0">
                <a:solidFill>
                  <a:srgbClr val="888888"/>
                </a:solidFill>
                <a:latin typeface="Calibri"/>
              </a:rPr>
              <a:t>04</a:t>
            </a:r>
          </a:p>
        </p:txBody>
      </p:sp>
      <p:sp>
        <p:nvSpPr>
          <p:cNvPr id="27" name="TextBox 26"/>
          <p:cNvSpPr txBox="1"/>
          <p:nvPr/>
        </p:nvSpPr>
        <p:spPr>
          <a:xfrm>
            <a:off x="1152000" y="3052799"/>
            <a:ext cx="6120000" cy="255600"/>
          </a:xfrm>
          <a:prstGeom prst="rect">
            <a:avLst/>
          </a:prstGeom>
          <a:noFill/>
        </p:spPr>
        <p:txBody>
          <a:bodyPr wrap="square">
            <a:spAutoFit/>
          </a:bodyPr>
          <a:lstStyle/>
          <a:p>
            <a:pPr algn="l"/>
            <a:r>
              <a:rPr sz="1300" b="1" i="0">
                <a:solidFill>
                  <a:srgbClr val="1B3A6B"/>
                </a:solidFill>
                <a:latin typeface="Calibri"/>
              </a:rPr>
              <a:t>Risques &amp; Stratégie</a:t>
            </a:r>
          </a:p>
        </p:txBody>
      </p:sp>
      <p:sp>
        <p:nvSpPr>
          <p:cNvPr id="28" name="TextBox 27"/>
          <p:cNvSpPr txBox="1"/>
          <p:nvPr/>
        </p:nvSpPr>
        <p:spPr>
          <a:xfrm>
            <a:off x="1152000" y="3286799"/>
            <a:ext cx="6120000" cy="255600"/>
          </a:xfrm>
          <a:prstGeom prst="rect">
            <a:avLst/>
          </a:prstGeom>
          <a:noFill/>
        </p:spPr>
        <p:txBody>
          <a:bodyPr wrap="square">
            <a:spAutoFit/>
          </a:bodyPr>
          <a:lstStyle/>
          <a:p>
            <a:pPr algn="l"/>
            <a:r>
              <a:rPr sz="850" b="0" i="0">
                <a:solidFill>
                  <a:srgbClr val="555555"/>
                </a:solidFill>
                <a:latin typeface="Calibri"/>
              </a:rPr>
              <a:t>Ralentissement Chine  ·  Concurrence</a:t>
            </a:r>
          </a:p>
        </p:txBody>
      </p:sp>
      <p:sp>
        <p:nvSpPr>
          <p:cNvPr id="29" name="TextBox 28"/>
          <p:cNvSpPr txBox="1"/>
          <p:nvPr/>
        </p:nvSpPr>
        <p:spPr>
          <a:xfrm>
            <a:off x="7405200" y="3142799"/>
            <a:ext cx="1375200" cy="255600"/>
          </a:xfrm>
          <a:prstGeom prst="rect">
            <a:avLst/>
          </a:prstGeom>
          <a:noFill/>
        </p:spPr>
        <p:txBody>
          <a:bodyPr wrap="square">
            <a:spAutoFit/>
          </a:bodyPr>
          <a:lstStyle/>
          <a:p>
            <a:pPr algn="r"/>
            <a:r>
              <a:rPr sz="900" b="0" i="0">
                <a:solidFill>
                  <a:srgbClr val="2E5FA3"/>
                </a:solidFill>
                <a:latin typeface="Calibri"/>
              </a:rPr>
              <a:t>12–13</a:t>
            </a:r>
          </a:p>
        </p:txBody>
      </p:sp>
      <p:sp>
        <p:nvSpPr>
          <p:cNvPr id="30" name="Rectangle 29"/>
          <p:cNvSpPr/>
          <p:nvPr/>
        </p:nvSpPr>
        <p:spPr>
          <a:xfrm>
            <a:off x="367200" y="3675600"/>
            <a:ext cx="8413200" cy="622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7200" y="36756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3999" y="3729600"/>
            <a:ext cx="475200" cy="514800"/>
          </a:xfrm>
          <a:prstGeom prst="rect">
            <a:avLst/>
          </a:prstGeom>
          <a:noFill/>
        </p:spPr>
        <p:txBody>
          <a:bodyPr wrap="square">
            <a:spAutoFit/>
          </a:bodyPr>
          <a:lstStyle/>
          <a:p>
            <a:pPr algn="l"/>
            <a:r>
              <a:rPr sz="1700" b="1" i="0">
                <a:solidFill>
                  <a:srgbClr val="888888"/>
                </a:solidFill>
                <a:latin typeface="Calibri"/>
              </a:rPr>
              <a:t>05</a:t>
            </a:r>
          </a:p>
        </p:txBody>
      </p:sp>
      <p:sp>
        <p:nvSpPr>
          <p:cNvPr id="33" name="TextBox 32"/>
          <p:cNvSpPr txBox="1"/>
          <p:nvPr/>
        </p:nvSpPr>
        <p:spPr>
          <a:xfrm>
            <a:off x="1152000" y="3747600"/>
            <a:ext cx="6120000" cy="255600"/>
          </a:xfrm>
          <a:prstGeom prst="rect">
            <a:avLst/>
          </a:prstGeom>
          <a:noFill/>
        </p:spPr>
        <p:txBody>
          <a:bodyPr wrap="square">
            <a:spAutoFit/>
          </a:bodyPr>
          <a:lstStyle/>
          <a:p>
            <a:pPr algn="l"/>
            <a:r>
              <a:rPr sz="1300" b="1" i="0">
                <a:solidFill>
                  <a:srgbClr val="1B3A6B"/>
                </a:solidFill>
                <a:latin typeface="Calibri"/>
              </a:rPr>
              <a:t>Sentiment &amp; Annexes</a:t>
            </a:r>
          </a:p>
        </p:txBody>
      </p:sp>
      <p:sp>
        <p:nvSpPr>
          <p:cNvPr id="34" name="TextBox 33"/>
          <p:cNvSpPr txBox="1"/>
          <p:nvPr/>
        </p:nvSpPr>
        <p:spPr>
          <a:xfrm>
            <a:off x="1152000" y="3981600"/>
            <a:ext cx="6120000" cy="255600"/>
          </a:xfrm>
          <a:prstGeom prst="rect">
            <a:avLst/>
          </a:prstGeom>
          <a:noFill/>
        </p:spPr>
        <p:txBody>
          <a:bodyPr wrap="square">
            <a:spAutoFit/>
          </a:bodyPr>
          <a:lstStyle/>
          <a:p>
            <a:pPr algn="l"/>
            <a:r>
              <a:rPr sz="850" b="0" i="0">
                <a:solidFill>
                  <a:srgbClr val="555555"/>
                </a:solidFill>
                <a:latin typeface="Calibri"/>
              </a:rPr>
              <a:t>FinBERT, actionnariat &amp; historique de cours</a:t>
            </a:r>
          </a:p>
        </p:txBody>
      </p:sp>
      <p:sp>
        <p:nvSpPr>
          <p:cNvPr id="35" name="TextBox 34"/>
          <p:cNvSpPr txBox="1"/>
          <p:nvPr/>
        </p:nvSpPr>
        <p:spPr>
          <a:xfrm>
            <a:off x="7405200" y="3837600"/>
            <a:ext cx="1375200" cy="255600"/>
          </a:xfrm>
          <a:prstGeom prst="rect">
            <a:avLst/>
          </a:prstGeom>
          <a:noFill/>
        </p:spPr>
        <p:txBody>
          <a:bodyPr wrap="square">
            <a:spAutoFit/>
          </a:bodyPr>
          <a:lstStyle/>
          <a:p>
            <a:pPr algn="r"/>
            <a:r>
              <a:rPr sz="900" b="0" i="0">
                <a:solidFill>
                  <a:srgbClr val="2E5FA3"/>
                </a:solidFill>
                <a:latin typeface="Calibri"/>
              </a:rPr>
              <a:t>14–15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01</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Company Overview</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Présentation, modèle économique &amp; données de marché</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1B3A6B"/>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Company Overview</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LVMH Moët Hennessy - Louis Vuitton, Société Européenne  ·  Presentation &amp; Positionnement strategique</a:t>
            </a:r>
          </a:p>
        </p:txBody>
      </p:sp>
      <p:sp>
        <p:nvSpPr>
          <p:cNvPr id="17" name="Rectangle 16"/>
          <p:cNvSpPr/>
          <p:nvPr/>
        </p:nvSpPr>
        <p:spPr>
          <a:xfrm>
            <a:off x="367200" y="961200"/>
            <a:ext cx="4939200" cy="35208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3520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3999" y="1022400"/>
            <a:ext cx="4662000" cy="1440000"/>
          </a:xfrm>
          <a:prstGeom prst="rect">
            <a:avLst/>
          </a:prstGeom>
          <a:noFill/>
        </p:spPr>
        <p:txBody>
          <a:bodyPr wrap="square">
            <a:spAutoFit/>
          </a:bodyPr>
          <a:lstStyle/>
          <a:p>
            <a:pPr algn="l"/>
            <a:r>
              <a:rPr sz="850" b="0" i="0">
                <a:solidFill>
                  <a:srgbClr val="0D0D0D"/>
                </a:solidFill>
                <a:latin typeface="Calibri"/>
              </a:rPr>
              <a:t>LVMH est le leader mondial du luxe avec un portefeuille de 75 Maisons emblématiques couvrant mode, vins &amp; spiritueux, montres &amp; joaillerie et parfums. Positionné sur le segment premium avec une stratégie de rareté et d'exclusivité, le groupe bénéficie d'une clientèle asiatique en forte croissance et d'une marque Louis Vuitton représentant 50% des revenus. Ses avantages concurrentiels incluent un contrôle total de la distribution, une innovation produit constante et une gestion financière rigoureuse. L'entreprise articule son activité autour de deux segments stratégiques :</a:t>
            </a:r>
          </a:p>
        </p:txBody>
      </p:sp>
      <p:sp>
        <p:nvSpPr>
          <p:cNvPr id="20" name="Rectangle 19"/>
          <p:cNvSpPr/>
          <p:nvPr/>
        </p:nvSpPr>
        <p:spPr>
          <a:xfrm>
            <a:off x="503999" y="2599200"/>
            <a:ext cx="64800" cy="64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9200" y="2556000"/>
            <a:ext cx="4338000" cy="165600"/>
          </a:xfrm>
          <a:prstGeom prst="rect">
            <a:avLst/>
          </a:prstGeom>
          <a:noFill/>
        </p:spPr>
        <p:txBody>
          <a:bodyPr wrap="square">
            <a:spAutoFit/>
          </a:bodyPr>
          <a:lstStyle/>
          <a:p>
            <a:pPr algn="l"/>
            <a:r>
              <a:rPr sz="850" b="1" i="0">
                <a:solidFill>
                  <a:srgbClr val="0D0D0D"/>
                </a:solidFill>
                <a:latin typeface="Calibri"/>
              </a:rPr>
              <a:t>Mode &amp; Maroquinerie</a:t>
            </a:r>
          </a:p>
        </p:txBody>
      </p:sp>
      <p:sp>
        <p:nvSpPr>
          <p:cNvPr id="22" name="TextBox 21"/>
          <p:cNvSpPr txBox="1"/>
          <p:nvPr/>
        </p:nvSpPr>
        <p:spPr>
          <a:xfrm>
            <a:off x="619200" y="2714400"/>
            <a:ext cx="4338000" cy="144000"/>
          </a:xfrm>
          <a:prstGeom prst="rect">
            <a:avLst/>
          </a:prstGeom>
          <a:noFill/>
        </p:spPr>
        <p:txBody>
          <a:bodyPr wrap="square">
            <a:spAutoFit/>
          </a:bodyPr>
          <a:lstStyle/>
          <a:p>
            <a:pPr algn="l"/>
            <a:r>
              <a:rPr sz="750" b="0" i="1">
                <a:solidFill>
                  <a:srgbClr val="555555"/>
                </a:solidFill>
                <a:latin typeface="Calibri"/>
              </a:rPr>
              <a:t>Segment phare avec Louis Vuitton, Dior et Fendi représentant 50% des revenus. Modèle basé sur la…</a:t>
            </a:r>
          </a:p>
        </p:txBody>
      </p:sp>
      <p:sp>
        <p:nvSpPr>
          <p:cNvPr id="23" name="Rectangle 22"/>
          <p:cNvSpPr/>
          <p:nvPr/>
        </p:nvSpPr>
        <p:spPr>
          <a:xfrm>
            <a:off x="503999" y="2941199"/>
            <a:ext cx="64800" cy="64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9200" y="2897999"/>
            <a:ext cx="4338000" cy="165600"/>
          </a:xfrm>
          <a:prstGeom prst="rect">
            <a:avLst/>
          </a:prstGeom>
          <a:noFill/>
        </p:spPr>
        <p:txBody>
          <a:bodyPr wrap="square">
            <a:spAutoFit/>
          </a:bodyPr>
          <a:lstStyle/>
          <a:p>
            <a:pPr algn="l"/>
            <a:r>
              <a:rPr sz="850" b="1" i="0">
                <a:solidFill>
                  <a:srgbClr val="0D0D0D"/>
                </a:solidFill>
                <a:latin typeface="Calibri"/>
              </a:rPr>
              <a:t>Vins &amp; Spiritueux</a:t>
            </a:r>
          </a:p>
        </p:txBody>
      </p:sp>
      <p:sp>
        <p:nvSpPr>
          <p:cNvPr id="25" name="TextBox 24"/>
          <p:cNvSpPr txBox="1"/>
          <p:nvPr/>
        </p:nvSpPr>
        <p:spPr>
          <a:xfrm>
            <a:off x="619200" y="3056399"/>
            <a:ext cx="4338000" cy="144000"/>
          </a:xfrm>
          <a:prstGeom prst="rect">
            <a:avLst/>
          </a:prstGeom>
          <a:noFill/>
        </p:spPr>
        <p:txBody>
          <a:bodyPr wrap="square">
            <a:spAutoFit/>
          </a:bodyPr>
          <a:lstStyle/>
          <a:p>
            <a:pPr algn="l"/>
            <a:r>
              <a:rPr sz="750" b="0" i="1">
                <a:solidFill>
                  <a:srgbClr val="555555"/>
                </a:solidFill>
                <a:latin typeface="Calibri"/>
              </a:rPr>
              <a:t>Segment historique avec Moët Hennessy (Champagne, cognac) représentant 25% des revenus. Modèle basé…</a:t>
            </a:r>
          </a:p>
        </p:txBody>
      </p:sp>
      <p:sp>
        <p:nvSpPr>
          <p:cNvPr id="26" name="Rectangle 25"/>
          <p:cNvSpPr/>
          <p:nvPr/>
        </p:nvSpPr>
        <p:spPr>
          <a:xfrm>
            <a:off x="5558400" y="961200"/>
            <a:ext cx="3200400" cy="824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558400" y="961200"/>
            <a:ext cx="46800" cy="82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48400" y="1015200"/>
            <a:ext cx="3063600" cy="396000"/>
          </a:xfrm>
          <a:prstGeom prst="rect">
            <a:avLst/>
          </a:prstGeom>
          <a:noFill/>
        </p:spPr>
        <p:txBody>
          <a:bodyPr wrap="square">
            <a:spAutoFit/>
          </a:bodyPr>
          <a:lstStyle/>
          <a:p>
            <a:pPr algn="l"/>
            <a:r>
              <a:rPr sz="1900" b="1" i="0">
                <a:solidFill>
                  <a:srgbClr val="FFFFFF"/>
                </a:solidFill>
                <a:latin typeface="Calibri"/>
              </a:rPr>
              <a:t>227,3 Md€</a:t>
            </a:r>
          </a:p>
        </p:txBody>
      </p:sp>
      <p:sp>
        <p:nvSpPr>
          <p:cNvPr id="29" name="TextBox 28"/>
          <p:cNvSpPr txBox="1"/>
          <p:nvPr/>
        </p:nvSpPr>
        <p:spPr>
          <a:xfrm>
            <a:off x="5648400" y="1411200"/>
            <a:ext cx="3063600" cy="205199"/>
          </a:xfrm>
          <a:prstGeom prst="rect">
            <a:avLst/>
          </a:prstGeom>
          <a:noFill/>
        </p:spPr>
        <p:txBody>
          <a:bodyPr wrap="square">
            <a:spAutoFit/>
          </a:bodyPr>
          <a:lstStyle/>
          <a:p>
            <a:pPr algn="l"/>
            <a:r>
              <a:rPr sz="800" b="0" i="0">
                <a:solidFill>
                  <a:srgbClr val="FFFFFF"/>
                </a:solidFill>
                <a:latin typeface="Calibri"/>
              </a:rPr>
              <a:t>Capitalisation boursiere</a:t>
            </a:r>
          </a:p>
        </p:txBody>
      </p:sp>
      <p:sp>
        <p:nvSpPr>
          <p:cNvPr id="30" name="Rectangle 29"/>
          <p:cNvSpPr/>
          <p:nvPr/>
        </p:nvSpPr>
        <p:spPr>
          <a:xfrm>
            <a:off x="5558400" y="1846800"/>
            <a:ext cx="32004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558400" y="18468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48400" y="1900800"/>
            <a:ext cx="3063600" cy="396000"/>
          </a:xfrm>
          <a:prstGeom prst="rect">
            <a:avLst/>
          </a:prstGeom>
          <a:noFill/>
        </p:spPr>
        <p:txBody>
          <a:bodyPr wrap="square">
            <a:spAutoFit/>
          </a:bodyPr>
          <a:lstStyle/>
          <a:p>
            <a:pPr algn="l"/>
            <a:r>
              <a:rPr sz="1900" b="1" i="0">
                <a:solidFill>
                  <a:srgbClr val="1B3A6B"/>
                </a:solidFill>
                <a:latin typeface="Calibri"/>
              </a:rPr>
              <a:t>80,8 Md€</a:t>
            </a:r>
          </a:p>
        </p:txBody>
      </p:sp>
      <p:sp>
        <p:nvSpPr>
          <p:cNvPr id="33" name="TextBox 32"/>
          <p:cNvSpPr txBox="1"/>
          <p:nvPr/>
        </p:nvSpPr>
        <p:spPr>
          <a:xfrm>
            <a:off x="5648400" y="2296800"/>
            <a:ext cx="3063600" cy="205199"/>
          </a:xfrm>
          <a:prstGeom prst="rect">
            <a:avLst/>
          </a:prstGeom>
          <a:noFill/>
        </p:spPr>
        <p:txBody>
          <a:bodyPr wrap="square">
            <a:spAutoFit/>
          </a:bodyPr>
          <a:lstStyle/>
          <a:p>
            <a:pPr algn="l"/>
            <a:r>
              <a:rPr sz="800" b="0" i="0">
                <a:solidFill>
                  <a:srgbClr val="555555"/>
                </a:solidFill>
                <a:latin typeface="Calibri"/>
              </a:rPr>
              <a:t>Chiffre d'affaires (2025)</a:t>
            </a:r>
          </a:p>
        </p:txBody>
      </p:sp>
      <p:sp>
        <p:nvSpPr>
          <p:cNvPr id="34" name="Rectangle 33"/>
          <p:cNvSpPr/>
          <p:nvPr/>
        </p:nvSpPr>
        <p:spPr>
          <a:xfrm>
            <a:off x="5558400" y="2732400"/>
            <a:ext cx="32004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558400" y="27324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48400" y="2786400"/>
            <a:ext cx="3063600" cy="396000"/>
          </a:xfrm>
          <a:prstGeom prst="rect">
            <a:avLst/>
          </a:prstGeom>
          <a:noFill/>
        </p:spPr>
        <p:txBody>
          <a:bodyPr wrap="square">
            <a:spAutoFit/>
          </a:bodyPr>
          <a:lstStyle/>
          <a:p>
            <a:pPr algn="l"/>
            <a:r>
              <a:rPr sz="1900" b="1" i="0">
                <a:solidFill>
                  <a:srgbClr val="1B3A6B"/>
                </a:solidFill>
                <a:latin typeface="Calibri"/>
              </a:rPr>
              <a:t>458,30 EUR</a:t>
            </a:r>
          </a:p>
        </p:txBody>
      </p:sp>
      <p:sp>
        <p:nvSpPr>
          <p:cNvPr id="37" name="TextBox 36"/>
          <p:cNvSpPr txBox="1"/>
          <p:nvPr/>
        </p:nvSpPr>
        <p:spPr>
          <a:xfrm>
            <a:off x="5648400" y="3182400"/>
            <a:ext cx="3063600" cy="205199"/>
          </a:xfrm>
          <a:prstGeom prst="rect">
            <a:avLst/>
          </a:prstGeom>
          <a:noFill/>
        </p:spPr>
        <p:txBody>
          <a:bodyPr wrap="square">
            <a:spAutoFit/>
          </a:bodyPr>
          <a:lstStyle/>
          <a:p>
            <a:pPr algn="l"/>
            <a:r>
              <a:rPr sz="800" b="0" i="0">
                <a:solidFill>
                  <a:srgbClr val="555555"/>
                </a:solidFill>
                <a:latin typeface="Calibri"/>
              </a:rPr>
              <a:t>Cours actuel</a:t>
            </a:r>
          </a:p>
        </p:txBody>
      </p:sp>
      <p:sp>
        <p:nvSpPr>
          <p:cNvPr id="38" name="Rectangle 37"/>
          <p:cNvSpPr/>
          <p:nvPr/>
        </p:nvSpPr>
        <p:spPr>
          <a:xfrm>
            <a:off x="5558400" y="3621600"/>
            <a:ext cx="32004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558400" y="36216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648400" y="3675600"/>
            <a:ext cx="3063600" cy="396000"/>
          </a:xfrm>
          <a:prstGeom prst="rect">
            <a:avLst/>
          </a:prstGeom>
          <a:noFill/>
        </p:spPr>
        <p:txBody>
          <a:bodyPr wrap="square">
            <a:spAutoFit/>
          </a:bodyPr>
          <a:lstStyle/>
          <a:p>
            <a:pPr algn="l"/>
            <a:r>
              <a:rPr sz="1900" b="1" i="0">
                <a:solidFill>
                  <a:srgbClr val="1B3A6B"/>
                </a:solidFill>
                <a:latin typeface="Calibri"/>
              </a:rPr>
              <a:t>9,2x</a:t>
            </a:r>
          </a:p>
        </p:txBody>
      </p:sp>
      <p:sp>
        <p:nvSpPr>
          <p:cNvPr id="41" name="TextBox 40"/>
          <p:cNvSpPr txBox="1"/>
          <p:nvPr/>
        </p:nvSpPr>
        <p:spPr>
          <a:xfrm>
            <a:off x="5648400" y="4071600"/>
            <a:ext cx="3063600" cy="205199"/>
          </a:xfrm>
          <a:prstGeom prst="rect">
            <a:avLst/>
          </a:prstGeom>
          <a:noFill/>
        </p:spPr>
        <p:txBody>
          <a:bodyPr wrap="square">
            <a:spAutoFit/>
          </a:bodyPr>
          <a:lstStyle/>
          <a:p>
            <a:pPr algn="l"/>
            <a:r>
              <a:rPr sz="800" b="0" i="0">
                <a:solidFill>
                  <a:srgbClr val="555555"/>
                </a:solidFill>
                <a:latin typeface="Calibri"/>
              </a:rPr>
              <a:t>EV/EBITDA (LTM)</a:t>
            </a:r>
          </a:p>
        </p:txBody>
      </p:sp>
      <p:sp>
        <p:nvSpPr>
          <p:cNvPr id="42" name="TextBox 41"/>
          <p:cNvSpPr txBox="1"/>
          <p:nvPr/>
        </p:nvSpPr>
        <p:spPr>
          <a:xfrm>
            <a:off x="5648400" y="4269600"/>
            <a:ext cx="3063600" cy="165600"/>
          </a:xfrm>
          <a:prstGeom prst="rect">
            <a:avLst/>
          </a:prstGeom>
          <a:noFill/>
        </p:spPr>
        <p:txBody>
          <a:bodyPr wrap="square">
            <a:spAutoFit/>
          </a:bodyPr>
          <a:lstStyle/>
          <a:p>
            <a:pPr algn="l"/>
            <a:r>
              <a:rPr sz="700" b="0" i="0">
                <a:solidFill>
                  <a:srgbClr val="888888"/>
                </a:solidFill>
                <a:latin typeface="Calibri"/>
              </a:rPr>
              <a:t>P/E : 20,9x</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1B3A6B"/>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Modele Economique</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Segments operationnels et moteurs de croissance</a:t>
            </a:r>
          </a:p>
        </p:txBody>
      </p:sp>
      <p:sp>
        <p:nvSpPr>
          <p:cNvPr id="17" name="Rectangle 16"/>
          <p:cNvSpPr/>
          <p:nvPr/>
        </p:nvSpPr>
        <p:spPr>
          <a:xfrm>
            <a:off x="367200" y="961200"/>
            <a:ext cx="4150800" cy="3520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150800" cy="5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141200"/>
            <a:ext cx="3970800" cy="640800"/>
          </a:xfrm>
          <a:prstGeom prst="rect">
            <a:avLst/>
          </a:prstGeom>
          <a:noFill/>
        </p:spPr>
        <p:txBody>
          <a:bodyPr wrap="square">
            <a:spAutoFit/>
          </a:bodyPr>
          <a:lstStyle/>
          <a:p>
            <a:pPr algn="l"/>
            <a:r>
              <a:rPr sz="2200" b="1" i="0">
                <a:solidFill>
                  <a:srgbClr val="2E5FA3"/>
                </a:solidFill>
                <a:latin typeface="Calibri"/>
              </a:rPr>
              <a:t>50%</a:t>
            </a:r>
          </a:p>
        </p:txBody>
      </p:sp>
      <p:sp>
        <p:nvSpPr>
          <p:cNvPr id="20" name="TextBox 19"/>
          <p:cNvSpPr txBox="1"/>
          <p:nvPr/>
        </p:nvSpPr>
        <p:spPr>
          <a:xfrm>
            <a:off x="457200" y="1785600"/>
            <a:ext cx="3970800" cy="108000"/>
          </a:xfrm>
          <a:prstGeom prst="rect">
            <a:avLst/>
          </a:prstGeom>
          <a:noFill/>
        </p:spPr>
        <p:txBody>
          <a:bodyPr wrap="square">
            <a:spAutoFit/>
          </a:bodyPr>
          <a:lstStyle/>
          <a:p>
            <a:pPr algn="l"/>
            <a:r>
              <a:rPr sz="900" b="0" i="0">
                <a:solidFill>
                  <a:srgbClr val="555555"/>
                </a:solidFill>
                <a:latin typeface="Calibri"/>
              </a:rPr>
              <a:t>du CA</a:t>
            </a:r>
          </a:p>
        </p:txBody>
      </p:sp>
      <p:sp>
        <p:nvSpPr>
          <p:cNvPr id="21" name="Rectangle 20"/>
          <p:cNvSpPr/>
          <p:nvPr/>
        </p:nvSpPr>
        <p:spPr>
          <a:xfrm>
            <a:off x="457200" y="1965600"/>
            <a:ext cx="3970800" cy="180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2059200"/>
            <a:ext cx="3970800" cy="255600"/>
          </a:xfrm>
          <a:prstGeom prst="rect">
            <a:avLst/>
          </a:prstGeom>
          <a:noFill/>
        </p:spPr>
        <p:txBody>
          <a:bodyPr wrap="square">
            <a:spAutoFit/>
          </a:bodyPr>
          <a:lstStyle/>
          <a:p>
            <a:pPr algn="l"/>
            <a:r>
              <a:rPr sz="1000" b="1" i="0">
                <a:solidFill>
                  <a:srgbClr val="1B3A6B"/>
                </a:solidFill>
                <a:latin typeface="Calibri"/>
              </a:rPr>
              <a:t>Mode &amp; Maroquinerie</a:t>
            </a:r>
          </a:p>
        </p:txBody>
      </p:sp>
      <p:sp>
        <p:nvSpPr>
          <p:cNvPr id="23" name="TextBox 22"/>
          <p:cNvSpPr txBox="1"/>
          <p:nvPr/>
        </p:nvSpPr>
        <p:spPr>
          <a:xfrm>
            <a:off x="457200" y="2332800"/>
            <a:ext cx="3970800" cy="2041199"/>
          </a:xfrm>
          <a:prstGeom prst="rect">
            <a:avLst/>
          </a:prstGeom>
          <a:noFill/>
        </p:spPr>
        <p:txBody>
          <a:bodyPr wrap="square">
            <a:spAutoFit/>
          </a:bodyPr>
          <a:lstStyle/>
          <a:p>
            <a:pPr algn="l"/>
            <a:r>
              <a:rPr sz="800" b="0" i="0">
                <a:solidFill>
                  <a:srgbClr val="555555"/>
                </a:solidFill>
                <a:latin typeface="Calibri"/>
              </a:rPr>
              <a:t>Segment phare avec Louis Vuitton, Dior et Fendi représentant 50% des revenus. Modèle basé sur la rareté, l'innovation et le contrôle de la distribution via des boutiques propres. Clients cibles : consommateurs asiatiques et américains avec panier moyen élevé. Moteurs : lancements de collections capsules et expansion en Chine (objectif +10% CA 2026).</a:t>
            </a:r>
          </a:p>
        </p:txBody>
      </p:sp>
      <p:sp>
        <p:nvSpPr>
          <p:cNvPr id="24" name="Rectangle 23"/>
          <p:cNvSpPr/>
          <p:nvPr/>
        </p:nvSpPr>
        <p:spPr>
          <a:xfrm>
            <a:off x="4626000" y="961200"/>
            <a:ext cx="4150800" cy="35208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626000" y="961200"/>
            <a:ext cx="4150800" cy="5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16000" y="1141200"/>
            <a:ext cx="3970800" cy="640800"/>
          </a:xfrm>
          <a:prstGeom prst="rect">
            <a:avLst/>
          </a:prstGeom>
          <a:noFill/>
        </p:spPr>
        <p:txBody>
          <a:bodyPr wrap="square">
            <a:spAutoFit/>
          </a:bodyPr>
          <a:lstStyle/>
          <a:p>
            <a:pPr algn="l"/>
            <a:r>
              <a:rPr sz="2200" b="1" i="0">
                <a:solidFill>
                  <a:srgbClr val="1A7A4A"/>
                </a:solidFill>
                <a:latin typeface="Calibri"/>
              </a:rPr>
              <a:t>25%</a:t>
            </a:r>
          </a:p>
        </p:txBody>
      </p:sp>
      <p:sp>
        <p:nvSpPr>
          <p:cNvPr id="27" name="TextBox 26"/>
          <p:cNvSpPr txBox="1"/>
          <p:nvPr/>
        </p:nvSpPr>
        <p:spPr>
          <a:xfrm>
            <a:off x="4716000" y="1785600"/>
            <a:ext cx="3970800" cy="108000"/>
          </a:xfrm>
          <a:prstGeom prst="rect">
            <a:avLst/>
          </a:prstGeom>
          <a:noFill/>
        </p:spPr>
        <p:txBody>
          <a:bodyPr wrap="square">
            <a:spAutoFit/>
          </a:bodyPr>
          <a:lstStyle/>
          <a:p>
            <a:pPr algn="l"/>
            <a:r>
              <a:rPr sz="900" b="0" i="0">
                <a:solidFill>
                  <a:srgbClr val="555555"/>
                </a:solidFill>
                <a:latin typeface="Calibri"/>
              </a:rPr>
              <a:t>du CA</a:t>
            </a:r>
          </a:p>
        </p:txBody>
      </p:sp>
      <p:sp>
        <p:nvSpPr>
          <p:cNvPr id="28" name="Rectangle 27"/>
          <p:cNvSpPr/>
          <p:nvPr/>
        </p:nvSpPr>
        <p:spPr>
          <a:xfrm>
            <a:off x="4716000" y="1965600"/>
            <a:ext cx="3970800" cy="180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16000" y="2059200"/>
            <a:ext cx="3970800" cy="255600"/>
          </a:xfrm>
          <a:prstGeom prst="rect">
            <a:avLst/>
          </a:prstGeom>
          <a:noFill/>
        </p:spPr>
        <p:txBody>
          <a:bodyPr wrap="square">
            <a:spAutoFit/>
          </a:bodyPr>
          <a:lstStyle/>
          <a:p>
            <a:pPr algn="l"/>
            <a:r>
              <a:rPr sz="1000" b="1" i="0">
                <a:solidFill>
                  <a:srgbClr val="1B3A6B"/>
                </a:solidFill>
                <a:latin typeface="Calibri"/>
              </a:rPr>
              <a:t>Vins &amp; Spiritueux</a:t>
            </a:r>
          </a:p>
        </p:txBody>
      </p:sp>
      <p:sp>
        <p:nvSpPr>
          <p:cNvPr id="30" name="TextBox 29"/>
          <p:cNvSpPr txBox="1"/>
          <p:nvPr/>
        </p:nvSpPr>
        <p:spPr>
          <a:xfrm>
            <a:off x="4716000" y="2332800"/>
            <a:ext cx="3970800" cy="2041199"/>
          </a:xfrm>
          <a:prstGeom prst="rect">
            <a:avLst/>
          </a:prstGeom>
          <a:noFill/>
        </p:spPr>
        <p:txBody>
          <a:bodyPr wrap="square">
            <a:spAutoFit/>
          </a:bodyPr>
          <a:lstStyle/>
          <a:p>
            <a:pPr algn="l"/>
            <a:r>
              <a:rPr sz="800" b="0" i="0">
                <a:solidFill>
                  <a:srgbClr val="555555"/>
                </a:solidFill>
                <a:latin typeface="Calibri"/>
              </a:rPr>
              <a:t>Segment historique avec Moët Hennessy (Champagne, cognac) représentant 25% des revenus. Modèle basé sur la production contrôlée et la valorisation de marques premium. Clients cibles : consommateurs occidentaux et asiatiques pour occasions spéciales. Moteurs : forte demande en Chine (+15% volume 2026) et hausse des prix de 5-7% par 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02</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Analyse Financière</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Compte de résultat, bilan, liquidité &amp; ratios</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1B3A6B"/>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Analyse Financière — Compte de Résultat</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EUR millions  ·  2021–2027F</a:t>
            </a:r>
          </a:p>
        </p:txBody>
      </p:sp>
      <p:graphicFrame>
        <p:nvGraphicFramePr>
          <p:cNvPr id="17" name="Table 16"/>
          <p:cNvGraphicFramePr>
            <a:graphicFrameLocks noGrp="1"/>
          </p:cNvGraphicFramePr>
          <p:nvPr/>
        </p:nvGraphicFramePr>
        <p:xfrm>
          <a:off x="367200" y="914400"/>
          <a:ext cx="8413196" cy="1980000"/>
        </p:xfrm>
        <a:graphic>
          <a:graphicData uri="http://schemas.openxmlformats.org/drawingml/2006/table">
            <a:tbl>
              <a:tblPr firstRow="1" bandRow="1">
                <a:tableStyleId>{5C22544A-7EE6-4342-B048-85BDC9FD1C3A}</a:tableStyleId>
              </a:tblPr>
              <a:tblGrid>
                <a:gridCol w="2355696"/>
                <a:gridCol w="1211500"/>
                <a:gridCol w="1211500"/>
                <a:gridCol w="1211500"/>
                <a:gridCol w="1211500"/>
                <a:gridCol w="1211500"/>
              </a:tblGrid>
              <a:tr h="220000">
                <a:tc>
                  <a:txBody>
                    <a:bodyPr/>
                    <a:lstStyle/>
                    <a:p>
                      <a:pPr algn="l"/>
                      <a:r>
                        <a:rPr sz="800" b="1" i="0">
                          <a:solidFill>
                            <a:srgbClr val="FFFFFF"/>
                          </a:solidFill>
                          <a:latin typeface="Calibri"/>
                        </a:rPr>
                        <a:t>Indicateur</a:t>
                      </a:r>
                    </a:p>
                  </a:txBody>
                  <a:tcPr>
                    <a:solidFill>
                      <a:srgbClr val="1B3A6B"/>
                    </a:solidFill>
                  </a:tcPr>
                </a:tc>
                <a:tc>
                  <a:txBody>
                    <a:bodyPr/>
                    <a:lstStyle/>
                    <a:p>
                      <a:pPr algn="ctr"/>
                      <a:r>
                        <a:rPr sz="800" b="1" i="0">
                          <a:solidFill>
                            <a:srgbClr val="FFFFFF"/>
                          </a:solidFill>
                          <a:latin typeface="Calibri"/>
                        </a:rPr>
                        <a:t>2023</a:t>
                      </a:r>
                    </a:p>
                  </a:txBody>
                  <a:tcPr>
                    <a:solidFill>
                      <a:srgbClr val="1B3A6B"/>
                    </a:solidFill>
                  </a:tcPr>
                </a:tc>
                <a:tc>
                  <a:txBody>
                    <a:bodyPr/>
                    <a:lstStyle/>
                    <a:p>
                      <a:pPr algn="ctr"/>
                      <a:r>
                        <a:rPr sz="800" b="1" i="0">
                          <a:solidFill>
                            <a:srgbClr val="FFFFFF"/>
                          </a:solidFill>
                          <a:latin typeface="Calibri"/>
                        </a:rPr>
                        <a:t>2024</a:t>
                      </a:r>
                    </a:p>
                  </a:txBody>
                  <a:tcPr>
                    <a:solidFill>
                      <a:srgbClr val="1B3A6B"/>
                    </a:solidFill>
                  </a:tcPr>
                </a:tc>
                <a:tc>
                  <a:txBody>
                    <a:bodyPr/>
                    <a:lstStyle/>
                    <a:p>
                      <a:pPr algn="ctr"/>
                      <a:r>
                        <a:rPr sz="800" b="1" i="0">
                          <a:solidFill>
                            <a:srgbClr val="FFFFFF"/>
                          </a:solidFill>
                          <a:latin typeface="Calibri"/>
                        </a:rPr>
                        <a:t>2025</a:t>
                      </a:r>
                    </a:p>
                  </a:txBody>
                  <a:tcPr>
                    <a:solidFill>
                      <a:srgbClr val="1B3A6B"/>
                    </a:solidFill>
                  </a:tcPr>
                </a:tc>
                <a:tc>
                  <a:txBody>
                    <a:bodyPr/>
                    <a:lstStyle/>
                    <a:p>
                      <a:pPr algn="ctr"/>
                      <a:r>
                        <a:rPr sz="800" b="1" i="0">
                          <a:solidFill>
                            <a:srgbClr val="FFFFFF"/>
                          </a:solidFill>
                          <a:latin typeface="Calibri"/>
                        </a:rPr>
                        <a:t>2026F</a:t>
                      </a:r>
                    </a:p>
                  </a:txBody>
                  <a:tcPr>
                    <a:solidFill>
                      <a:srgbClr val="1B3A6B"/>
                    </a:solidFill>
                  </a:tcPr>
                </a:tc>
                <a:tc>
                  <a:txBody>
                    <a:bodyPr/>
                    <a:lstStyle/>
                    <a:p>
                      <a:pPr algn="ctr"/>
                      <a:r>
                        <a:rPr sz="800" b="1" i="0">
                          <a:solidFill>
                            <a:srgbClr val="FFFFFF"/>
                          </a:solidFill>
                          <a:latin typeface="Calibri"/>
                        </a:rPr>
                        <a:t>2027F</a:t>
                      </a:r>
                    </a:p>
                  </a:txBody>
                  <a:tcPr>
                    <a:solidFill>
                      <a:srgbClr val="1B3A6B"/>
                    </a:solidFill>
                  </a:tcPr>
                </a:tc>
              </a:tr>
              <a:tr h="220000">
                <a:tc>
                  <a:txBody>
                    <a:bodyPr/>
                    <a:lstStyle/>
                    <a:p>
                      <a:pPr algn="l"/>
                      <a:r>
                        <a:rPr sz="800" b="1" i="0">
                          <a:solidFill>
                            <a:srgbClr val="0D0D0D"/>
                          </a:solidFill>
                          <a:latin typeface="Calibri"/>
                        </a:rPr>
                        <a:t>Chiffre d'affaires</a:t>
                      </a:r>
                    </a:p>
                  </a:txBody>
                  <a:tcPr>
                    <a:solidFill>
                      <a:srgbClr val="FFFFFF"/>
                    </a:solidFill>
                  </a:tcPr>
                </a:tc>
                <a:tc>
                  <a:txBody>
                    <a:bodyPr/>
                    <a:lstStyle/>
                    <a:p>
                      <a:pPr algn="ctr"/>
                      <a:r>
                        <a:rPr sz="800" b="1" i="0">
                          <a:solidFill>
                            <a:srgbClr val="0D0D0D"/>
                          </a:solidFill>
                          <a:latin typeface="Calibri"/>
                        </a:rPr>
                        <a:t>86,2</a:t>
                      </a:r>
                    </a:p>
                  </a:txBody>
                  <a:tcPr>
                    <a:solidFill>
                      <a:srgbClr val="FFFFFF"/>
                    </a:solidFill>
                  </a:tcPr>
                </a:tc>
                <a:tc>
                  <a:txBody>
                    <a:bodyPr/>
                    <a:lstStyle/>
                    <a:p>
                      <a:pPr algn="ctr"/>
                      <a:r>
                        <a:rPr sz="800" b="1" i="0">
                          <a:solidFill>
                            <a:srgbClr val="0D0D0D"/>
                          </a:solidFill>
                          <a:latin typeface="Calibri"/>
                        </a:rPr>
                        <a:t>84,7</a:t>
                      </a:r>
                    </a:p>
                  </a:txBody>
                  <a:tcPr>
                    <a:solidFill>
                      <a:srgbClr val="FFFFFF"/>
                    </a:solidFill>
                  </a:tcPr>
                </a:tc>
                <a:tc>
                  <a:txBody>
                    <a:bodyPr/>
                    <a:lstStyle/>
                    <a:p>
                      <a:pPr algn="ctr"/>
                      <a:r>
                        <a:rPr sz="800" b="1" i="0">
                          <a:solidFill>
                            <a:srgbClr val="1B3A6B"/>
                          </a:solidFill>
                          <a:latin typeface="Calibri"/>
                        </a:rPr>
                        <a:t>80,8</a:t>
                      </a:r>
                    </a:p>
                  </a:txBody>
                  <a:tcPr>
                    <a:solidFill>
                      <a:srgbClr val="DDE8F5"/>
                    </a:solidFill>
                  </a:tcPr>
                </a:tc>
                <a:tc>
                  <a:txBody>
                    <a:bodyPr/>
                    <a:lstStyle/>
                    <a:p>
                      <a:pPr algn="ctr"/>
                      <a:r>
                        <a:rPr sz="800" b="1" i="0">
                          <a:solidFill>
                            <a:srgbClr val="0D0D0D"/>
                          </a:solidFill>
                          <a:latin typeface="Calibri"/>
                        </a:rPr>
                        <a:t>87,3</a:t>
                      </a:r>
                    </a:p>
                  </a:txBody>
                  <a:tcPr>
                    <a:solidFill>
                      <a:srgbClr val="FFFFFF"/>
                    </a:solidFill>
                  </a:tcPr>
                </a:tc>
                <a:tc>
                  <a:txBody>
                    <a:bodyPr/>
                    <a:lstStyle/>
                    <a:p>
                      <a:pPr algn="ctr"/>
                      <a:r>
                        <a:rPr sz="800" b="1" i="0">
                          <a:solidFill>
                            <a:srgbClr val="0D0D0D"/>
                          </a:solidFill>
                          <a:latin typeface="Calibri"/>
                        </a:rPr>
                        <a:t>96,0</a:t>
                      </a:r>
                    </a:p>
                  </a:txBody>
                  <a:tcPr>
                    <a:solidFill>
                      <a:srgbClr val="FFFFFF"/>
                    </a:solidFill>
                  </a:tcPr>
                </a:tc>
              </a:tr>
              <a:tr h="220000">
                <a:tc>
                  <a:txBody>
                    <a:bodyPr/>
                    <a:lstStyle/>
                    <a:p>
                      <a:pPr algn="l"/>
                      <a:r>
                        <a:rPr sz="750" b="0" i="1">
                          <a:solidFill>
                            <a:srgbClr val="555555"/>
                          </a:solidFill>
                          <a:latin typeface="Calibri"/>
                        </a:rPr>
                        <a:t>Croissance YoY</a:t>
                      </a:r>
                    </a:p>
                  </a:txBody>
                  <a:tcPr>
                    <a:solidFill>
                      <a:srgbClr val="F7F8FA"/>
                    </a:solidFill>
                  </a:tcPr>
                </a:tc>
                <a:tc>
                  <a:txBody>
                    <a:bodyPr/>
                    <a:lstStyle/>
                    <a:p>
                      <a:pPr algn="ctr"/>
                      <a:r>
                        <a:rPr sz="750" b="0" i="1">
                          <a:solidFill>
                            <a:srgbClr val="555555"/>
                          </a:solidFill>
                          <a:latin typeface="Calibri"/>
                        </a:rPr>
                        <a:t>+8,8 %</a:t>
                      </a:r>
                    </a:p>
                  </a:txBody>
                  <a:tcPr>
                    <a:solidFill>
                      <a:srgbClr val="F7F8FA"/>
                    </a:solidFill>
                  </a:tcPr>
                </a:tc>
                <a:tc>
                  <a:txBody>
                    <a:bodyPr/>
                    <a:lstStyle/>
                    <a:p>
                      <a:pPr algn="ctr"/>
                      <a:r>
                        <a:rPr sz="750" b="0" i="1">
                          <a:solidFill>
                            <a:srgbClr val="555555"/>
                          </a:solidFill>
                          <a:latin typeface="Calibri"/>
                        </a:rPr>
                        <a:t>-1,7 %</a:t>
                      </a:r>
                    </a:p>
                  </a:txBody>
                  <a:tcPr>
                    <a:solidFill>
                      <a:srgbClr val="F7F8FA"/>
                    </a:solidFill>
                  </a:tcPr>
                </a:tc>
                <a:tc>
                  <a:txBody>
                    <a:bodyPr/>
                    <a:lstStyle/>
                    <a:p>
                      <a:pPr algn="ctr"/>
                      <a:r>
                        <a:rPr sz="750" b="0" i="1">
                          <a:solidFill>
                            <a:srgbClr val="555555"/>
                          </a:solidFill>
                          <a:latin typeface="Calibri"/>
                        </a:rPr>
                        <a:t>-4,6 %</a:t>
                      </a:r>
                    </a:p>
                  </a:txBody>
                  <a:tcPr>
                    <a:solidFill>
                      <a:srgbClr val="DDE8F5"/>
                    </a:solidFill>
                  </a:tcPr>
                </a:tc>
                <a:tc>
                  <a:txBody>
                    <a:bodyPr/>
                    <a:lstStyle/>
                    <a:p>
                      <a:pPr algn="ctr"/>
                      <a:r>
                        <a:rPr sz="750" b="0" i="1">
                          <a:solidFill>
                            <a:srgbClr val="555555"/>
                          </a:solidFill>
                          <a:latin typeface="Calibri"/>
                        </a:rPr>
                        <a:t>+8,0 %</a:t>
                      </a:r>
                    </a:p>
                  </a:txBody>
                  <a:tcPr>
                    <a:solidFill>
                      <a:srgbClr val="F7F8FA"/>
                    </a:solidFill>
                  </a:tcPr>
                </a:tc>
                <a:tc>
                  <a:txBody>
                    <a:bodyPr/>
                    <a:lstStyle/>
                    <a:p>
                      <a:pPr algn="ctr"/>
                      <a:r>
                        <a:rPr sz="750" b="0" i="1">
                          <a:solidFill>
                            <a:srgbClr val="555555"/>
                          </a:solidFill>
                          <a:latin typeface="Calibri"/>
                        </a:rPr>
                        <a:t>+10,0 %</a:t>
                      </a:r>
                    </a:p>
                  </a:txBody>
                  <a:tcPr>
                    <a:solidFill>
                      <a:srgbClr val="F7F8FA"/>
                    </a:solidFill>
                  </a:tcPr>
                </a:tc>
              </a:tr>
              <a:tr h="220000">
                <a:tc>
                  <a:txBody>
                    <a:bodyPr/>
                    <a:lstStyle/>
                    <a:p>
                      <a:pPr algn="l"/>
                      <a:r>
                        <a:rPr sz="800" b="1" i="0">
                          <a:solidFill>
                            <a:srgbClr val="0D0D0D"/>
                          </a:solidFill>
                          <a:latin typeface="Calibri"/>
                        </a:rPr>
                        <a:t>Resultat brut</a:t>
                      </a:r>
                    </a:p>
                  </a:txBody>
                  <a:tcPr>
                    <a:solidFill>
                      <a:srgbClr val="FFFFFF"/>
                    </a:solidFill>
                  </a:tcPr>
                </a:tc>
                <a:tc>
                  <a:txBody>
                    <a:bodyPr/>
                    <a:lstStyle/>
                    <a:p>
                      <a:pPr algn="ctr"/>
                      <a:r>
                        <a:rPr sz="800" b="1" i="0">
                          <a:solidFill>
                            <a:srgbClr val="0D0D0D"/>
                          </a:solidFill>
                          <a:latin typeface="Calibri"/>
                        </a:rPr>
                        <a:t>59,3</a:t>
                      </a:r>
                    </a:p>
                  </a:txBody>
                  <a:tcPr>
                    <a:solidFill>
                      <a:srgbClr val="FFFFFF"/>
                    </a:solidFill>
                  </a:tcPr>
                </a:tc>
                <a:tc>
                  <a:txBody>
                    <a:bodyPr/>
                    <a:lstStyle/>
                    <a:p>
                      <a:pPr algn="ctr"/>
                      <a:r>
                        <a:rPr sz="800" b="1" i="0">
                          <a:solidFill>
                            <a:srgbClr val="0D0D0D"/>
                          </a:solidFill>
                          <a:latin typeface="Calibri"/>
                        </a:rPr>
                        <a:t>56,8</a:t>
                      </a:r>
                    </a:p>
                  </a:txBody>
                  <a:tcPr>
                    <a:solidFill>
                      <a:srgbClr val="FFFFFF"/>
                    </a:solidFill>
                  </a:tcPr>
                </a:tc>
                <a:tc>
                  <a:txBody>
                    <a:bodyPr/>
                    <a:lstStyle/>
                    <a:p>
                      <a:pPr algn="ctr"/>
                      <a:r>
                        <a:rPr sz="800" b="1" i="0">
                          <a:solidFill>
                            <a:srgbClr val="1B3A6B"/>
                          </a:solidFill>
                          <a:latin typeface="Calibri"/>
                        </a:rPr>
                        <a:t>53,5</a:t>
                      </a:r>
                    </a:p>
                  </a:txBody>
                  <a:tcPr>
                    <a:solidFill>
                      <a:srgbClr val="DDE8F5"/>
                    </a:solidFill>
                  </a:tcPr>
                </a:tc>
                <a:tc>
                  <a:txBody>
                    <a:bodyPr/>
                    <a:lstStyle/>
                    <a:p>
                      <a:pPr algn="ctr"/>
                      <a:r>
                        <a:rPr sz="800" b="1" i="0">
                          <a:solidFill>
                            <a:srgbClr val="0D0D0D"/>
                          </a:solidFill>
                          <a:latin typeface="Calibri"/>
                        </a:rPr>
                        <a:t>58,5</a:t>
                      </a:r>
                    </a:p>
                  </a:txBody>
                  <a:tcPr>
                    <a:solidFill>
                      <a:srgbClr val="FFFFFF"/>
                    </a:solidFill>
                  </a:tcPr>
                </a:tc>
                <a:tc>
                  <a:txBody>
                    <a:bodyPr/>
                    <a:lstStyle/>
                    <a:p>
                      <a:pPr algn="ctr"/>
                      <a:r>
                        <a:rPr sz="800" b="1" i="0">
                          <a:solidFill>
                            <a:srgbClr val="0D0D0D"/>
                          </a:solidFill>
                          <a:latin typeface="Calibri"/>
                        </a:rPr>
                        <a:t>65,3</a:t>
                      </a:r>
                    </a:p>
                  </a:txBody>
                  <a:tcPr>
                    <a:solidFill>
                      <a:srgbClr val="FFFFFF"/>
                    </a:solidFill>
                  </a:tcPr>
                </a:tc>
              </a:tr>
              <a:tr h="220000">
                <a:tc>
                  <a:txBody>
                    <a:bodyPr/>
                    <a:lstStyle/>
                    <a:p>
                      <a:pPr algn="l"/>
                      <a:r>
                        <a:rPr sz="750" b="0" i="1">
                          <a:solidFill>
                            <a:srgbClr val="555555"/>
                          </a:solidFill>
                          <a:latin typeface="Calibri"/>
                        </a:rPr>
                        <a:t>Marge brute</a:t>
                      </a:r>
                    </a:p>
                  </a:txBody>
                  <a:tcPr>
                    <a:solidFill>
                      <a:srgbClr val="F7F8FA"/>
                    </a:solidFill>
                  </a:tcPr>
                </a:tc>
                <a:tc>
                  <a:txBody>
                    <a:bodyPr/>
                    <a:lstStyle/>
                    <a:p>
                      <a:pPr algn="ctr"/>
                      <a:r>
                        <a:rPr sz="750" b="0" i="1">
                          <a:solidFill>
                            <a:srgbClr val="555555"/>
                          </a:solidFill>
                          <a:latin typeface="Calibri"/>
                        </a:rPr>
                        <a:t>68,8 %</a:t>
                      </a:r>
                    </a:p>
                  </a:txBody>
                  <a:tcPr>
                    <a:solidFill>
                      <a:srgbClr val="F7F8FA"/>
                    </a:solidFill>
                  </a:tcPr>
                </a:tc>
                <a:tc>
                  <a:txBody>
                    <a:bodyPr/>
                    <a:lstStyle/>
                    <a:p>
                      <a:pPr algn="ctr"/>
                      <a:r>
                        <a:rPr sz="750" b="0" i="1">
                          <a:solidFill>
                            <a:srgbClr val="555555"/>
                          </a:solidFill>
                          <a:latin typeface="Calibri"/>
                        </a:rPr>
                        <a:t>67,0 %</a:t>
                      </a:r>
                    </a:p>
                  </a:txBody>
                  <a:tcPr>
                    <a:solidFill>
                      <a:srgbClr val="F7F8FA"/>
                    </a:solidFill>
                  </a:tcPr>
                </a:tc>
                <a:tc>
                  <a:txBody>
                    <a:bodyPr/>
                    <a:lstStyle/>
                    <a:p>
                      <a:pPr algn="ctr"/>
                      <a:r>
                        <a:rPr sz="750" b="0" i="1">
                          <a:solidFill>
                            <a:srgbClr val="555555"/>
                          </a:solidFill>
                          <a:latin typeface="Calibri"/>
                        </a:rPr>
                        <a:t>66,2 %</a:t>
                      </a:r>
                    </a:p>
                  </a:txBody>
                  <a:tcPr>
                    <a:solidFill>
                      <a:srgbClr val="DDE8F5"/>
                    </a:solidFill>
                  </a:tcPr>
                </a:tc>
                <a:tc>
                  <a:txBody>
                    <a:bodyPr/>
                    <a:lstStyle/>
                    <a:p>
                      <a:pPr algn="ctr"/>
                      <a:r>
                        <a:rPr sz="750" b="0" i="1">
                          <a:solidFill>
                            <a:srgbClr val="555555"/>
                          </a:solidFill>
                          <a:latin typeface="Calibri"/>
                        </a:rPr>
                        <a:t>67,0 %</a:t>
                      </a:r>
                    </a:p>
                  </a:txBody>
                  <a:tcPr>
                    <a:solidFill>
                      <a:srgbClr val="F7F8FA"/>
                    </a:solidFill>
                  </a:tcPr>
                </a:tc>
                <a:tc>
                  <a:txBody>
                    <a:bodyPr/>
                    <a:lstStyle/>
                    <a:p>
                      <a:pPr algn="ctr"/>
                      <a:r>
                        <a:rPr sz="750" b="0" i="1">
                          <a:solidFill>
                            <a:srgbClr val="555555"/>
                          </a:solidFill>
                          <a:latin typeface="Calibri"/>
                        </a:rPr>
                        <a:t>68,0 %</a:t>
                      </a:r>
                    </a:p>
                  </a:txBody>
                  <a:tcPr>
                    <a:solidFill>
                      <a:srgbClr val="F7F8FA"/>
                    </a:solidFill>
                  </a:tcPr>
                </a:tc>
              </a:tr>
              <a:tr h="220000">
                <a:tc>
                  <a:txBody>
                    <a:bodyPr/>
                    <a:lstStyle/>
                    <a:p>
                      <a:pPr algn="l"/>
                      <a:r>
                        <a:rPr sz="800" b="1" i="0">
                          <a:solidFill>
                            <a:srgbClr val="0D0D0D"/>
                          </a:solidFill>
                          <a:latin typeface="Calibri"/>
                        </a:rPr>
                        <a:t>EBITDA</a:t>
                      </a:r>
                    </a:p>
                  </a:txBody>
                  <a:tcPr>
                    <a:solidFill>
                      <a:srgbClr val="FFFFFF"/>
                    </a:solidFill>
                  </a:tcPr>
                </a:tc>
                <a:tc>
                  <a:txBody>
                    <a:bodyPr/>
                    <a:lstStyle/>
                    <a:p>
                      <a:pPr algn="ctr"/>
                      <a:r>
                        <a:rPr sz="800" b="1" i="0">
                          <a:solidFill>
                            <a:srgbClr val="0D0D0D"/>
                          </a:solidFill>
                          <a:latin typeface="Calibri"/>
                        </a:rPr>
                        <a:t>29,8</a:t>
                      </a:r>
                    </a:p>
                  </a:txBody>
                  <a:tcPr>
                    <a:solidFill>
                      <a:srgbClr val="FFFFFF"/>
                    </a:solidFill>
                  </a:tcPr>
                </a:tc>
                <a:tc>
                  <a:txBody>
                    <a:bodyPr/>
                    <a:lstStyle/>
                    <a:p>
                      <a:pPr algn="ctr"/>
                      <a:r>
                        <a:rPr sz="800" b="1" i="0">
                          <a:solidFill>
                            <a:srgbClr val="0D0D0D"/>
                          </a:solidFill>
                          <a:latin typeface="Calibri"/>
                        </a:rPr>
                        <a:t>27,1</a:t>
                      </a:r>
                    </a:p>
                  </a:txBody>
                  <a:tcPr>
                    <a:solidFill>
                      <a:srgbClr val="FFFFFF"/>
                    </a:solidFill>
                  </a:tcPr>
                </a:tc>
                <a:tc>
                  <a:txBody>
                    <a:bodyPr/>
                    <a:lstStyle/>
                    <a:p>
                      <a:pPr algn="ctr"/>
                      <a:r>
                        <a:rPr sz="800" b="1" i="0">
                          <a:solidFill>
                            <a:srgbClr val="1B3A6B"/>
                          </a:solidFill>
                          <a:latin typeface="Calibri"/>
                        </a:rPr>
                        <a:t>25,9</a:t>
                      </a:r>
                    </a:p>
                  </a:txBody>
                  <a:tcPr>
                    <a:solidFill>
                      <a:srgbClr val="DDE8F5"/>
                    </a:solidFill>
                  </a:tcPr>
                </a:tc>
                <a:tc>
                  <a:txBody>
                    <a:bodyPr/>
                    <a:lstStyle/>
                    <a:p>
                      <a:pPr algn="ctr"/>
                      <a:r>
                        <a:rPr sz="800" b="1" i="0">
                          <a:solidFill>
                            <a:srgbClr val="0D0D0D"/>
                          </a:solidFill>
                          <a:latin typeface="Calibri"/>
                        </a:rPr>
                        <a:t>28,8</a:t>
                      </a:r>
                    </a:p>
                  </a:txBody>
                  <a:tcPr>
                    <a:solidFill>
                      <a:srgbClr val="FFFFFF"/>
                    </a:solidFill>
                  </a:tcPr>
                </a:tc>
                <a:tc>
                  <a:txBody>
                    <a:bodyPr/>
                    <a:lstStyle/>
                    <a:p>
                      <a:pPr algn="ctr"/>
                      <a:r>
                        <a:rPr sz="800" b="1" i="0">
                          <a:solidFill>
                            <a:srgbClr val="0D0D0D"/>
                          </a:solidFill>
                          <a:latin typeface="Calibri"/>
                        </a:rPr>
                        <a:t>32,6</a:t>
                      </a:r>
                    </a:p>
                  </a:txBody>
                  <a:tcPr>
                    <a:solidFill>
                      <a:srgbClr val="FFFFFF"/>
                    </a:solidFill>
                  </a:tcPr>
                </a:tc>
              </a:tr>
              <a:tr h="220000">
                <a:tc>
                  <a:txBody>
                    <a:bodyPr/>
                    <a:lstStyle/>
                    <a:p>
                      <a:pPr algn="l"/>
                      <a:r>
                        <a:rPr sz="750" b="0" i="1">
                          <a:solidFill>
                            <a:srgbClr val="555555"/>
                          </a:solidFill>
                          <a:latin typeface="Calibri"/>
                        </a:rPr>
                        <a:t>Marge EBITDA</a:t>
                      </a:r>
                    </a:p>
                  </a:txBody>
                  <a:tcPr>
                    <a:solidFill>
                      <a:srgbClr val="F7F8FA"/>
                    </a:solidFill>
                  </a:tcPr>
                </a:tc>
                <a:tc>
                  <a:txBody>
                    <a:bodyPr/>
                    <a:lstStyle/>
                    <a:p>
                      <a:pPr algn="ctr"/>
                      <a:r>
                        <a:rPr sz="750" b="0" i="1">
                          <a:solidFill>
                            <a:srgbClr val="555555"/>
                          </a:solidFill>
                          <a:latin typeface="Calibri"/>
                        </a:rPr>
                        <a:t>34,6 %</a:t>
                      </a:r>
                    </a:p>
                  </a:txBody>
                  <a:tcPr>
                    <a:solidFill>
                      <a:srgbClr val="F7F8FA"/>
                    </a:solidFill>
                  </a:tcPr>
                </a:tc>
                <a:tc>
                  <a:txBody>
                    <a:bodyPr/>
                    <a:lstStyle/>
                    <a:p>
                      <a:pPr algn="ctr"/>
                      <a:r>
                        <a:rPr sz="750" b="0" i="1">
                          <a:solidFill>
                            <a:srgbClr val="555555"/>
                          </a:solidFill>
                          <a:latin typeface="Calibri"/>
                        </a:rPr>
                        <a:t>32,0 %</a:t>
                      </a:r>
                    </a:p>
                  </a:txBody>
                  <a:tcPr>
                    <a:solidFill>
                      <a:srgbClr val="F7F8FA"/>
                    </a:solidFill>
                  </a:tcPr>
                </a:tc>
                <a:tc>
                  <a:txBody>
                    <a:bodyPr/>
                    <a:lstStyle/>
                    <a:p>
                      <a:pPr algn="ctr"/>
                      <a:r>
                        <a:rPr sz="750" b="0" i="1">
                          <a:solidFill>
                            <a:srgbClr val="555555"/>
                          </a:solidFill>
                          <a:latin typeface="Calibri"/>
                        </a:rPr>
                        <a:t>32,0 %</a:t>
                      </a:r>
                    </a:p>
                  </a:txBody>
                  <a:tcPr>
                    <a:solidFill>
                      <a:srgbClr val="DDE8F5"/>
                    </a:solidFill>
                  </a:tcPr>
                </a:tc>
                <a:tc>
                  <a:txBody>
                    <a:bodyPr/>
                    <a:lstStyle/>
                    <a:p>
                      <a:pPr algn="ctr"/>
                      <a:r>
                        <a:rPr sz="750" b="0" i="1">
                          <a:solidFill>
                            <a:srgbClr val="555555"/>
                          </a:solidFill>
                          <a:latin typeface="Calibri"/>
                        </a:rPr>
                        <a:t>33,0 %</a:t>
                      </a:r>
                    </a:p>
                  </a:txBody>
                  <a:tcPr>
                    <a:solidFill>
                      <a:srgbClr val="F7F8FA"/>
                    </a:solidFill>
                  </a:tcPr>
                </a:tc>
                <a:tc>
                  <a:txBody>
                    <a:bodyPr/>
                    <a:lstStyle/>
                    <a:p>
                      <a:pPr algn="ctr"/>
                      <a:r>
                        <a:rPr sz="750" b="0" i="1">
                          <a:solidFill>
                            <a:srgbClr val="555555"/>
                          </a:solidFill>
                          <a:latin typeface="Calibri"/>
                        </a:rPr>
                        <a:t>34,0 %</a:t>
                      </a:r>
                    </a:p>
                  </a:txBody>
                  <a:tcPr>
                    <a:solidFill>
                      <a:srgbClr val="F7F8FA"/>
                    </a:solidFill>
                  </a:tcPr>
                </a:tc>
              </a:tr>
              <a:tr h="220000">
                <a:tc>
                  <a:txBody>
                    <a:bodyPr/>
                    <a:lstStyle/>
                    <a:p>
                      <a:pPr algn="l"/>
                      <a:r>
                        <a:rPr sz="800" b="1" i="0">
                          <a:solidFill>
                            <a:srgbClr val="0D0D0D"/>
                          </a:solidFill>
                          <a:latin typeface="Calibri"/>
                        </a:rPr>
                        <a:t>Resultat net</a:t>
                      </a:r>
                    </a:p>
                  </a:txBody>
                  <a:tcPr>
                    <a:solidFill>
                      <a:srgbClr val="FFFFFF"/>
                    </a:solidFill>
                  </a:tcPr>
                </a:tc>
                <a:tc>
                  <a:txBody>
                    <a:bodyPr/>
                    <a:lstStyle/>
                    <a:p>
                      <a:pPr algn="ctr"/>
                      <a:r>
                        <a:rPr sz="800" b="1" i="0">
                          <a:solidFill>
                            <a:srgbClr val="0D0D0D"/>
                          </a:solidFill>
                          <a:latin typeface="Calibri"/>
                        </a:rPr>
                        <a:t>15,2</a:t>
                      </a:r>
                    </a:p>
                  </a:txBody>
                  <a:tcPr>
                    <a:solidFill>
                      <a:srgbClr val="FFFFFF"/>
                    </a:solidFill>
                  </a:tcPr>
                </a:tc>
                <a:tc>
                  <a:txBody>
                    <a:bodyPr/>
                    <a:lstStyle/>
                    <a:p>
                      <a:pPr algn="ctr"/>
                      <a:r>
                        <a:rPr sz="800" b="1" i="0">
                          <a:solidFill>
                            <a:srgbClr val="0D0D0D"/>
                          </a:solidFill>
                          <a:latin typeface="Calibri"/>
                        </a:rPr>
                        <a:t>12,6</a:t>
                      </a:r>
                    </a:p>
                  </a:txBody>
                  <a:tcPr>
                    <a:solidFill>
                      <a:srgbClr val="FFFFFF"/>
                    </a:solidFill>
                  </a:tcPr>
                </a:tc>
                <a:tc>
                  <a:txBody>
                    <a:bodyPr/>
                    <a:lstStyle/>
                    <a:p>
                      <a:pPr algn="ctr"/>
                      <a:r>
                        <a:rPr sz="800" b="1" i="0">
                          <a:solidFill>
                            <a:srgbClr val="1B3A6B"/>
                          </a:solidFill>
                          <a:latin typeface="Calibri"/>
                        </a:rPr>
                        <a:t>10,9</a:t>
                      </a:r>
                    </a:p>
                  </a:txBody>
                  <a:tcPr>
                    <a:solidFill>
                      <a:srgbClr val="DDE8F5"/>
                    </a:solidFill>
                  </a:tcPr>
                </a:tc>
                <a:tc>
                  <a:txBody>
                    <a:bodyPr/>
                    <a:lstStyle/>
                    <a:p>
                      <a:pPr algn="ctr"/>
                      <a:r>
                        <a:rPr sz="800" b="1" i="0">
                          <a:solidFill>
                            <a:srgbClr val="0D0D0D"/>
                          </a:solidFill>
                          <a:latin typeface="Calibri"/>
                        </a:rPr>
                        <a:t>13,1</a:t>
                      </a:r>
                    </a:p>
                  </a:txBody>
                  <a:tcPr>
                    <a:solidFill>
                      <a:srgbClr val="FFFFFF"/>
                    </a:solidFill>
                  </a:tcPr>
                </a:tc>
                <a:tc>
                  <a:txBody>
                    <a:bodyPr/>
                    <a:lstStyle/>
                    <a:p>
                      <a:pPr algn="ctr"/>
                      <a:r>
                        <a:rPr sz="800" b="1" i="0">
                          <a:solidFill>
                            <a:srgbClr val="0D0D0D"/>
                          </a:solidFill>
                          <a:latin typeface="Calibri"/>
                        </a:rPr>
                        <a:t>15,4</a:t>
                      </a:r>
                    </a:p>
                  </a:txBody>
                  <a:tcPr>
                    <a:solidFill>
                      <a:srgbClr val="FFFFFF"/>
                    </a:solidFill>
                  </a:tcPr>
                </a:tc>
              </a:tr>
              <a:tr h="220000">
                <a:tc>
                  <a:txBody>
                    <a:bodyPr/>
                    <a:lstStyle/>
                    <a:p>
                      <a:pPr algn="l"/>
                      <a:r>
                        <a:rPr sz="750" b="0" i="1">
                          <a:solidFill>
                            <a:srgbClr val="555555"/>
                          </a:solidFill>
                          <a:latin typeface="Calibri"/>
                        </a:rPr>
                        <a:t>Marge nette</a:t>
                      </a:r>
                    </a:p>
                  </a:txBody>
                  <a:tcPr>
                    <a:solidFill>
                      <a:srgbClr val="F7F8FA"/>
                    </a:solidFill>
                  </a:tcPr>
                </a:tc>
                <a:tc>
                  <a:txBody>
                    <a:bodyPr/>
                    <a:lstStyle/>
                    <a:p>
                      <a:pPr algn="ctr"/>
                      <a:r>
                        <a:rPr sz="750" b="0" i="1">
                          <a:solidFill>
                            <a:srgbClr val="555555"/>
                          </a:solidFill>
                          <a:latin typeface="Calibri"/>
                        </a:rPr>
                        <a:t>17,6 %</a:t>
                      </a:r>
                    </a:p>
                  </a:txBody>
                  <a:tcPr>
                    <a:solidFill>
                      <a:srgbClr val="F7F8FA"/>
                    </a:solidFill>
                  </a:tcPr>
                </a:tc>
                <a:tc>
                  <a:txBody>
                    <a:bodyPr/>
                    <a:lstStyle/>
                    <a:p>
                      <a:pPr algn="ctr"/>
                      <a:r>
                        <a:rPr sz="750" b="0" i="1">
                          <a:solidFill>
                            <a:srgbClr val="555555"/>
                          </a:solidFill>
                          <a:latin typeface="Calibri"/>
                        </a:rPr>
                        <a:t>14,8 %</a:t>
                      </a:r>
                    </a:p>
                  </a:txBody>
                  <a:tcPr>
                    <a:solidFill>
                      <a:srgbClr val="F7F8FA"/>
                    </a:solidFill>
                  </a:tcPr>
                </a:tc>
                <a:tc>
                  <a:txBody>
                    <a:bodyPr/>
                    <a:lstStyle/>
                    <a:p>
                      <a:pPr algn="ctr"/>
                      <a:r>
                        <a:rPr sz="750" b="0" i="1">
                          <a:solidFill>
                            <a:srgbClr val="555555"/>
                          </a:solidFill>
                          <a:latin typeface="Calibri"/>
                        </a:rPr>
                        <a:t>13,5 %</a:t>
                      </a:r>
                    </a:p>
                  </a:txBody>
                  <a:tcPr>
                    <a:solidFill>
                      <a:srgbClr val="DDE8F5"/>
                    </a:solidFill>
                  </a:tcPr>
                </a:tc>
                <a:tc>
                  <a:txBody>
                    <a:bodyPr/>
                    <a:lstStyle/>
                    <a:p>
                      <a:pPr algn="ctr"/>
                      <a:r>
                        <a:rPr sz="750" b="0" i="1">
                          <a:solidFill>
                            <a:srgbClr val="555555"/>
                          </a:solidFill>
                          <a:latin typeface="Calibri"/>
                        </a:rPr>
                        <a:t>15,0 %</a:t>
                      </a:r>
                    </a:p>
                  </a:txBody>
                  <a:tcPr>
                    <a:solidFill>
                      <a:srgbClr val="F7F8FA"/>
                    </a:solidFill>
                  </a:tcPr>
                </a:tc>
                <a:tc>
                  <a:txBody>
                    <a:bodyPr/>
                    <a:lstStyle/>
                    <a:p>
                      <a:pPr algn="ctr"/>
                      <a:r>
                        <a:rPr sz="750" b="0" i="1">
                          <a:solidFill>
                            <a:srgbClr val="555555"/>
                          </a:solidFill>
                          <a:latin typeface="Calibri"/>
                        </a:rPr>
                        <a:t>16,0 %</a:t>
                      </a:r>
                    </a:p>
                  </a:txBody>
                  <a:tcPr>
                    <a:solidFill>
                      <a:srgbClr val="F7F8FA"/>
                    </a:solidFill>
                  </a:tcPr>
                </a:tc>
              </a:tr>
            </a:tbl>
          </a:graphicData>
        </a:graphic>
      </p:graphicFrame>
      <p:sp>
        <p:nvSpPr>
          <p:cNvPr id="18" name="TextBox 17"/>
          <p:cNvSpPr txBox="1"/>
          <p:nvPr/>
        </p:nvSpPr>
        <p:spPr>
          <a:xfrm>
            <a:off x="367200" y="3218400"/>
            <a:ext cx="8413200" cy="1224000"/>
          </a:xfrm>
          <a:prstGeom prst="rect">
            <a:avLst/>
          </a:prstGeom>
          <a:noFill/>
        </p:spPr>
        <p:txBody>
          <a:bodyPr wrap="square">
            <a:spAutoFit/>
          </a:bodyPr>
          <a:lstStyle/>
          <a:p>
            <a:pPr algn="l"/>
            <a:r>
              <a:rPr sz="850" b="0" i="0">
                <a:solidFill>
                  <a:srgbClr val="555555"/>
                </a:solidFill>
                <a:latin typeface="Calibri"/>
              </a:rPr>
              <a:t>Croissance revenue 2025 à -4.6% mais rebond attendu à +8% en 2026 et +10% en 2027. Marges nettes sous pression à 13.5% en 2025 mais stabilisation à 15% en 2027 grâce à l'effet volume. Cash-flow opérationnel stable à €12mds malgré l'investissement dans le réseau.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1B3A6B"/>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Bilan &amp; Liquidité</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Structure financière  ·  EUR millions  ·  LTM 2025</a:t>
            </a:r>
          </a:p>
        </p:txBody>
      </p:sp>
      <p:sp>
        <p:nvSpPr>
          <p:cNvPr id="17" name="Rectangle 16"/>
          <p:cNvSpPr/>
          <p:nvPr/>
        </p:nvSpPr>
        <p:spPr>
          <a:xfrm>
            <a:off x="367200" y="961200"/>
            <a:ext cx="26532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015200"/>
            <a:ext cx="2516400" cy="396000"/>
          </a:xfrm>
          <a:prstGeom prst="rect">
            <a:avLst/>
          </a:prstGeom>
          <a:noFill/>
        </p:spPr>
        <p:txBody>
          <a:bodyPr wrap="square">
            <a:spAutoFit/>
          </a:bodyPr>
          <a:lstStyle/>
          <a:p>
            <a:pPr algn="l"/>
            <a:r>
              <a:rPr sz="1900" b="1" i="0">
                <a:solidFill>
                  <a:srgbClr val="1B3A6B"/>
                </a:solidFill>
                <a:latin typeface="Calibri"/>
              </a:rPr>
              <a:t>8,8 Md€</a:t>
            </a:r>
          </a:p>
        </p:txBody>
      </p:sp>
      <p:sp>
        <p:nvSpPr>
          <p:cNvPr id="20" name="TextBox 19"/>
          <p:cNvSpPr txBox="1"/>
          <p:nvPr/>
        </p:nvSpPr>
        <p:spPr>
          <a:xfrm>
            <a:off x="457200" y="1411200"/>
            <a:ext cx="2516400" cy="205199"/>
          </a:xfrm>
          <a:prstGeom prst="rect">
            <a:avLst/>
          </a:prstGeom>
          <a:noFill/>
        </p:spPr>
        <p:txBody>
          <a:bodyPr wrap="square">
            <a:spAutoFit/>
          </a:bodyPr>
          <a:lstStyle/>
          <a:p>
            <a:pPr algn="l"/>
            <a:r>
              <a:rPr sz="800" b="0" i="0">
                <a:solidFill>
                  <a:srgbClr val="555555"/>
                </a:solidFill>
                <a:latin typeface="Calibri"/>
              </a:rPr>
              <a:t>Cash &amp; equivalents</a:t>
            </a:r>
          </a:p>
        </p:txBody>
      </p:sp>
      <p:sp>
        <p:nvSpPr>
          <p:cNvPr id="21" name="Rectangle 20"/>
          <p:cNvSpPr/>
          <p:nvPr/>
        </p:nvSpPr>
        <p:spPr>
          <a:xfrm>
            <a:off x="367200" y="1900800"/>
            <a:ext cx="26532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7200" y="19008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1954800"/>
            <a:ext cx="2516400" cy="396000"/>
          </a:xfrm>
          <a:prstGeom prst="rect">
            <a:avLst/>
          </a:prstGeom>
          <a:noFill/>
        </p:spPr>
        <p:txBody>
          <a:bodyPr wrap="square">
            <a:spAutoFit/>
          </a:bodyPr>
          <a:lstStyle/>
          <a:p>
            <a:pPr algn="l"/>
            <a:r>
              <a:rPr sz="1900" b="1" i="0">
                <a:solidFill>
                  <a:srgbClr val="1B3A6B"/>
                </a:solidFill>
                <a:latin typeface="Calibri"/>
              </a:rPr>
              <a:t>12,4 Md€</a:t>
            </a:r>
          </a:p>
        </p:txBody>
      </p:sp>
      <p:sp>
        <p:nvSpPr>
          <p:cNvPr id="24" name="TextBox 23"/>
          <p:cNvSpPr txBox="1"/>
          <p:nvPr/>
        </p:nvSpPr>
        <p:spPr>
          <a:xfrm>
            <a:off x="457200" y="2350800"/>
            <a:ext cx="2516400" cy="205199"/>
          </a:xfrm>
          <a:prstGeom prst="rect">
            <a:avLst/>
          </a:prstGeom>
          <a:noFill/>
        </p:spPr>
        <p:txBody>
          <a:bodyPr wrap="square">
            <a:spAutoFit/>
          </a:bodyPr>
          <a:lstStyle/>
          <a:p>
            <a:pPr algn="l"/>
            <a:r>
              <a:rPr sz="800" b="0" i="0">
                <a:solidFill>
                  <a:srgbClr val="555555"/>
                </a:solidFill>
                <a:latin typeface="Calibri"/>
              </a:rPr>
              <a:t>Dette long terme</a:t>
            </a:r>
          </a:p>
        </p:txBody>
      </p:sp>
      <p:sp>
        <p:nvSpPr>
          <p:cNvPr id="25" name="Rectangle 24"/>
          <p:cNvSpPr/>
          <p:nvPr/>
        </p:nvSpPr>
        <p:spPr>
          <a:xfrm>
            <a:off x="367200" y="2844000"/>
            <a:ext cx="2653200" cy="824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7200" y="2844000"/>
            <a:ext cx="46800" cy="82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2898000"/>
            <a:ext cx="2516400" cy="396000"/>
          </a:xfrm>
          <a:prstGeom prst="rect">
            <a:avLst/>
          </a:prstGeom>
          <a:noFill/>
        </p:spPr>
        <p:txBody>
          <a:bodyPr wrap="square">
            <a:spAutoFit/>
          </a:bodyPr>
          <a:lstStyle/>
          <a:p>
            <a:pPr algn="l"/>
            <a:r>
              <a:rPr sz="1900" b="1" i="0">
                <a:solidFill>
                  <a:srgbClr val="FFFFFF"/>
                </a:solidFill>
                <a:latin typeface="Calibri"/>
              </a:rPr>
              <a:t>11,6 Md€</a:t>
            </a:r>
          </a:p>
        </p:txBody>
      </p:sp>
      <p:sp>
        <p:nvSpPr>
          <p:cNvPr id="28" name="TextBox 27"/>
          <p:cNvSpPr txBox="1"/>
          <p:nvPr/>
        </p:nvSpPr>
        <p:spPr>
          <a:xfrm>
            <a:off x="457200" y="3294000"/>
            <a:ext cx="2516400" cy="205199"/>
          </a:xfrm>
          <a:prstGeom prst="rect">
            <a:avLst/>
          </a:prstGeom>
          <a:noFill/>
        </p:spPr>
        <p:txBody>
          <a:bodyPr wrap="square">
            <a:spAutoFit/>
          </a:bodyPr>
          <a:lstStyle/>
          <a:p>
            <a:pPr algn="l"/>
            <a:r>
              <a:rPr sz="800" b="0" i="0">
                <a:solidFill>
                  <a:srgbClr val="FFFFFF"/>
                </a:solidFill>
                <a:latin typeface="Calibri"/>
              </a:rPr>
              <a:t>Dette nette</a:t>
            </a:r>
          </a:p>
        </p:txBody>
      </p:sp>
      <p:sp>
        <p:nvSpPr>
          <p:cNvPr id="29" name="TextBox 28"/>
          <p:cNvSpPr txBox="1"/>
          <p:nvPr/>
        </p:nvSpPr>
        <p:spPr>
          <a:xfrm>
            <a:off x="3384000" y="842400"/>
            <a:ext cx="5396400" cy="165600"/>
          </a:xfrm>
          <a:prstGeom prst="rect">
            <a:avLst/>
          </a:prstGeom>
          <a:noFill/>
        </p:spPr>
        <p:txBody>
          <a:bodyPr wrap="square">
            <a:spAutoFit/>
          </a:bodyPr>
          <a:lstStyle/>
          <a:p>
            <a:pPr algn="l"/>
            <a:r>
              <a:rPr sz="900" b="1" i="0">
                <a:solidFill>
                  <a:srgbClr val="1B3A6B"/>
                </a:solidFill>
                <a:latin typeface="Calibri"/>
              </a:rPr>
              <a:t>Ratios de solvabilité &amp; liquidité</a:t>
            </a:r>
          </a:p>
        </p:txBody>
      </p:sp>
      <p:graphicFrame>
        <p:nvGraphicFramePr>
          <p:cNvPr id="30" name="Table 29"/>
          <p:cNvGraphicFramePr>
            <a:graphicFrameLocks noGrp="1"/>
          </p:cNvGraphicFramePr>
          <p:nvPr/>
        </p:nvGraphicFramePr>
        <p:xfrm>
          <a:off x="3384000" y="1007999"/>
          <a:ext cx="5396400" cy="1800000"/>
        </p:xfrm>
        <a:graphic>
          <a:graphicData uri="http://schemas.openxmlformats.org/drawingml/2006/table">
            <a:tbl>
              <a:tblPr firstRow="1" bandRow="1">
                <a:tableStyleId>{5C22544A-7EE6-4342-B048-85BDC9FD1C3A}</a:tableStyleId>
              </a:tblPr>
              <a:tblGrid>
                <a:gridCol w="2374416"/>
                <a:gridCol w="1133244"/>
                <a:gridCol w="1133244"/>
                <a:gridCol w="755496"/>
              </a:tblGrid>
              <a:tr h="225000">
                <a:tc>
                  <a:txBody>
                    <a:bodyPr/>
                    <a:lstStyle/>
                    <a:p>
                      <a:pPr algn="l"/>
                      <a:r>
                        <a:rPr sz="800" b="1" i="0">
                          <a:solidFill>
                            <a:srgbClr val="FFFFFF"/>
                          </a:solidFill>
                          <a:latin typeface="Calibri"/>
                        </a:rPr>
                        <a:t>Ratio</a:t>
                      </a:r>
                    </a:p>
                  </a:txBody>
                  <a:tcPr>
                    <a:solidFill>
                      <a:srgbClr val="1B3A6B"/>
                    </a:solidFill>
                  </a:tcPr>
                </a:tc>
                <a:tc>
                  <a:txBody>
                    <a:bodyPr/>
                    <a:lstStyle/>
                    <a:p>
                      <a:pPr algn="ctr"/>
                      <a:r>
                        <a:rPr sz="800" b="1" i="0">
                          <a:solidFill>
                            <a:srgbClr val="FFFFFF"/>
                          </a:solidFill>
                          <a:latin typeface="Calibri"/>
                        </a:rPr>
                        <a:t>Valeur</a:t>
                      </a:r>
                    </a:p>
                  </a:txBody>
                  <a:tcPr>
                    <a:solidFill>
                      <a:srgbClr val="1B3A6B"/>
                    </a:solidFill>
                  </a:tcPr>
                </a:tc>
                <a:tc>
                  <a:txBody>
                    <a:bodyPr/>
                    <a:lstStyle/>
                    <a:p>
                      <a:pPr algn="ctr"/>
                      <a:r>
                        <a:rPr sz="800" b="1" i="0">
                          <a:solidFill>
                            <a:srgbClr val="FFFFFF"/>
                          </a:solidFill>
                          <a:latin typeface="Calibri"/>
                        </a:rPr>
                        <a:t>Référence</a:t>
                      </a:r>
                    </a:p>
                  </a:txBody>
                  <a:tcPr>
                    <a:solidFill>
                      <a:srgbClr val="1B3A6B"/>
                    </a:solidFill>
                  </a:tcPr>
                </a:tc>
                <a:tc>
                  <a:txBody>
                    <a:bodyPr/>
                    <a:lstStyle/>
                    <a:p>
                      <a:pPr algn="ctr"/>
                      <a:r>
                        <a:rPr sz="800" b="1" i="0">
                          <a:solidFill>
                            <a:srgbClr val="FFFFFF"/>
                          </a:solidFill>
                          <a:latin typeface="Calibri"/>
                        </a:rPr>
                        <a:t>Signal</a:t>
                      </a:r>
                    </a:p>
                  </a:txBody>
                  <a:tcPr>
                    <a:solidFill>
                      <a:srgbClr val="1B3A6B"/>
                    </a:solidFill>
                  </a:tcPr>
                </a:tc>
              </a:tr>
              <a:tr h="225000">
                <a:tc>
                  <a:txBody>
                    <a:bodyPr/>
                    <a:lstStyle/>
                    <a:p>
                      <a:pPr algn="l"/>
                      <a:r>
                        <a:rPr sz="800" b="1" i="0">
                          <a:solidFill>
                            <a:srgbClr val="0D0D0D"/>
                          </a:solidFill>
                          <a:latin typeface="Calibri"/>
                        </a:rPr>
                        <a:t>Ratio liquidité courante</a:t>
                      </a:r>
                    </a:p>
                  </a:txBody>
                  <a:tcPr>
                    <a:solidFill>
                      <a:srgbClr val="FFFFFF"/>
                    </a:solidFill>
                  </a:tcPr>
                </a:tc>
                <a:tc>
                  <a:txBody>
                    <a:bodyPr/>
                    <a:lstStyle/>
                    <a:p>
                      <a:pPr algn="ctr"/>
                      <a:r>
                        <a:rPr sz="800" b="0" i="0">
                          <a:solidFill>
                            <a:srgbClr val="0D0D0D"/>
                          </a:solidFill>
                          <a:latin typeface="Calibri"/>
                        </a:rPr>
                        <a:t>1,77</a:t>
                      </a:r>
                    </a:p>
                  </a:txBody>
                  <a:tcPr>
                    <a:solidFill>
                      <a:srgbClr val="FFFFFF"/>
                    </a:solidFill>
                  </a:tcPr>
                </a:tc>
                <a:tc>
                  <a:txBody>
                    <a:bodyPr/>
                    <a:lstStyle/>
                    <a:p>
                      <a:pPr algn="ctr"/>
                      <a:r>
                        <a:rPr sz="800" b="0" i="0">
                          <a:solidFill>
                            <a:srgbClr val="0D0D0D"/>
                          </a:solidFill>
                          <a:latin typeface="Calibri"/>
                        </a:rPr>
                        <a:t>&gt; 1,5</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r h="225000">
                <a:tc>
                  <a:txBody>
                    <a:bodyPr/>
                    <a:lstStyle/>
                    <a:p>
                      <a:pPr algn="l"/>
                      <a:r>
                        <a:rPr sz="800" b="1" i="0">
                          <a:solidFill>
                            <a:srgbClr val="0D0D0D"/>
                          </a:solidFill>
                          <a:latin typeface="Calibri"/>
                        </a:rPr>
                        <a:t>Ratio rapide (quick)</a:t>
                      </a:r>
                    </a:p>
                  </a:txBody>
                  <a:tcPr>
                    <a:solidFill>
                      <a:srgbClr val="F7F8FA"/>
                    </a:solidFill>
                  </a:tcPr>
                </a:tc>
                <a:tc>
                  <a:txBody>
                    <a:bodyPr/>
                    <a:lstStyle/>
                    <a:p>
                      <a:pPr algn="ctr"/>
                      <a:r>
                        <a:rPr sz="800" b="0" i="0">
                          <a:solidFill>
                            <a:srgbClr val="0D0D0D"/>
                          </a:solidFill>
                          <a:latin typeface="Calibri"/>
                        </a:rPr>
                        <a:t>0,65</a:t>
                      </a:r>
                    </a:p>
                  </a:txBody>
                  <a:tcPr>
                    <a:solidFill>
                      <a:srgbClr val="F7F8FA"/>
                    </a:solidFill>
                  </a:tcPr>
                </a:tc>
                <a:tc>
                  <a:txBody>
                    <a:bodyPr/>
                    <a:lstStyle/>
                    <a:p>
                      <a:pPr algn="ctr"/>
                      <a:r>
                        <a:rPr sz="800" b="0" i="0">
                          <a:solidFill>
                            <a:srgbClr val="0D0D0D"/>
                          </a:solidFill>
                          <a:latin typeface="Calibri"/>
                        </a:rPr>
                        <a:t>&gt; 1,0</a:t>
                      </a:r>
                    </a:p>
                  </a:txBody>
                  <a:tcPr>
                    <a:solidFill>
                      <a:srgbClr val="F7F8FA"/>
                    </a:solidFill>
                  </a:tcPr>
                </a:tc>
                <a:tc>
                  <a:txBody>
                    <a:bodyPr/>
                    <a:lstStyle/>
                    <a:p>
                      <a:pPr algn="ctr"/>
                      <a:r>
                        <a:rPr sz="800" b="0" i="0">
                          <a:solidFill>
                            <a:srgbClr val="0D0D0D"/>
                          </a:solidFill>
                          <a:latin typeface="Calibri"/>
                        </a:rPr>
                        <a:t>❌</a:t>
                      </a:r>
                    </a:p>
                  </a:txBody>
                  <a:tcPr>
                    <a:solidFill>
                      <a:srgbClr val="F7F8FA"/>
                    </a:solidFill>
                  </a:tcPr>
                </a:tc>
              </a:tr>
              <a:tr h="225000">
                <a:tc>
                  <a:txBody>
                    <a:bodyPr/>
                    <a:lstStyle/>
                    <a:p>
                      <a:pPr algn="l"/>
                      <a:r>
                        <a:rPr sz="800" b="1" i="0">
                          <a:solidFill>
                            <a:srgbClr val="0D0D0D"/>
                          </a:solidFill>
                          <a:latin typeface="Calibri"/>
                        </a:rPr>
                        <a:t>D/E</a:t>
                      </a:r>
                    </a:p>
                  </a:txBody>
                  <a:tcPr>
                    <a:solidFill>
                      <a:srgbClr val="FFFFFF"/>
                    </a:solidFill>
                  </a:tcPr>
                </a:tc>
                <a:tc>
                  <a:txBody>
                    <a:bodyPr/>
                    <a:lstStyle/>
                    <a:p>
                      <a:pPr algn="ctr"/>
                      <a:r>
                        <a:rPr sz="800" b="0" i="0">
                          <a:solidFill>
                            <a:srgbClr val="0D0D0D"/>
                          </a:solidFill>
                          <a:latin typeface="Calibri"/>
                        </a:rPr>
                        <a:t>0,3x</a:t>
                      </a:r>
                    </a:p>
                  </a:txBody>
                  <a:tcPr>
                    <a:solidFill>
                      <a:srgbClr val="FFFFFF"/>
                    </a:solidFill>
                  </a:tcPr>
                </a:tc>
                <a:tc>
                  <a:txBody>
                    <a:bodyPr/>
                    <a:lstStyle/>
                    <a:p>
                      <a:pPr algn="ctr"/>
                      <a:r>
                        <a:rPr sz="800" b="0" i="0">
                          <a:solidFill>
                            <a:srgbClr val="0D0D0D"/>
                          </a:solidFill>
                          <a:latin typeface="Calibri"/>
                        </a:rPr>
                        <a:t>&lt; 2,0x</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r h="225000">
                <a:tc>
                  <a:txBody>
                    <a:bodyPr/>
                    <a:lstStyle/>
                    <a:p>
                      <a:pPr algn="l"/>
                      <a:r>
                        <a:rPr sz="800" b="1" i="0">
                          <a:solidFill>
                            <a:srgbClr val="0D0D0D"/>
                          </a:solidFill>
                          <a:latin typeface="Calibri"/>
                        </a:rPr>
                        <a:t>Couverture interets</a:t>
                      </a:r>
                    </a:p>
                  </a:txBody>
                  <a:tcPr>
                    <a:solidFill>
                      <a:srgbClr val="F7F8FA"/>
                    </a:solidFill>
                  </a:tcPr>
                </a:tc>
                <a:tc>
                  <a:txBody>
                    <a:bodyPr/>
                    <a:lstStyle/>
                    <a:p>
                      <a:pPr algn="ctr"/>
                      <a:r>
                        <a:rPr sz="800" b="0" i="0">
                          <a:solidFill>
                            <a:srgbClr val="0D0D0D"/>
                          </a:solidFill>
                          <a:latin typeface="Calibri"/>
                        </a:rPr>
                        <a:t>15,5x</a:t>
                      </a:r>
                    </a:p>
                  </a:txBody>
                  <a:tcPr>
                    <a:solidFill>
                      <a:srgbClr val="F7F8FA"/>
                    </a:solidFill>
                  </a:tcPr>
                </a:tc>
                <a:tc>
                  <a:txBody>
                    <a:bodyPr/>
                    <a:lstStyle/>
                    <a:p>
                      <a:pPr algn="ctr"/>
                      <a:r>
                        <a:rPr sz="800" b="0" i="0">
                          <a:solidFill>
                            <a:srgbClr val="0D0D0D"/>
                          </a:solidFill>
                          <a:latin typeface="Calibri"/>
                        </a:rPr>
                        <a:t>&gt; 3,0x</a:t>
                      </a:r>
                    </a:p>
                  </a:txBody>
                  <a:tcPr>
                    <a:solidFill>
                      <a:srgbClr val="F7F8FA"/>
                    </a:solidFill>
                  </a:tcPr>
                </a:tc>
                <a:tc>
                  <a:txBody>
                    <a:bodyPr/>
                    <a:lstStyle/>
                    <a:p>
                      <a:pPr algn="ctr"/>
                      <a:r>
                        <a:rPr sz="800" b="0" i="0">
                          <a:solidFill>
                            <a:srgbClr val="0D0D0D"/>
                          </a:solidFill>
                          <a:latin typeface="Calibri"/>
                        </a:rPr>
                        <a:t>✅</a:t>
                      </a:r>
                    </a:p>
                  </a:txBody>
                  <a:tcPr>
                    <a:solidFill>
                      <a:srgbClr val="F7F8FA"/>
                    </a:solidFill>
                  </a:tcPr>
                </a:tc>
              </a:tr>
              <a:tr h="225000">
                <a:tc>
                  <a:txBody>
                    <a:bodyPr/>
                    <a:lstStyle/>
                    <a:p>
                      <a:pPr algn="l"/>
                      <a:r>
                        <a:rPr sz="800" b="1" i="0">
                          <a:solidFill>
                            <a:srgbClr val="0D0D0D"/>
                          </a:solidFill>
                          <a:latin typeface="Calibri"/>
                        </a:rPr>
                        <a:t>Dette nette / EBITDA</a:t>
                      </a:r>
                    </a:p>
                  </a:txBody>
                  <a:tcPr>
                    <a:solidFill>
                      <a:srgbClr val="FFFFFF"/>
                    </a:solidFill>
                  </a:tcPr>
                </a:tc>
                <a:tc>
                  <a:txBody>
                    <a:bodyPr/>
                    <a:lstStyle/>
                    <a:p>
                      <a:pPr algn="ctr"/>
                      <a:r>
                        <a:rPr sz="800" b="0" i="0">
                          <a:solidFill>
                            <a:srgbClr val="0D0D0D"/>
                          </a:solidFill>
                          <a:latin typeface="Calibri"/>
                        </a:rPr>
                        <a:t>0,4x</a:t>
                      </a:r>
                    </a:p>
                  </a:txBody>
                  <a:tcPr>
                    <a:solidFill>
                      <a:srgbClr val="FFFFFF"/>
                    </a:solidFill>
                  </a:tcPr>
                </a:tc>
                <a:tc>
                  <a:txBody>
                    <a:bodyPr/>
                    <a:lstStyle/>
                    <a:p>
                      <a:pPr algn="ctr"/>
                      <a:r>
                        <a:rPr sz="800" b="0" i="0">
                          <a:solidFill>
                            <a:srgbClr val="0D0D0D"/>
                          </a:solidFill>
                          <a:latin typeface="Calibri"/>
                        </a:rPr>
                        <a:t>&lt; 2,0x</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r h="225000">
                <a:tc>
                  <a:txBody>
                    <a:bodyPr/>
                    <a:lstStyle/>
                    <a:p>
                      <a:pPr algn="l"/>
                      <a:r>
                        <a:rPr sz="800" b="1" i="0">
                          <a:solidFill>
                            <a:srgbClr val="0D0D0D"/>
                          </a:solidFill>
                          <a:latin typeface="Calibri"/>
                        </a:rPr>
                        <a:t>Altman Z</a:t>
                      </a:r>
                    </a:p>
                  </a:txBody>
                  <a:tcPr>
                    <a:solidFill>
                      <a:srgbClr val="F7F8FA"/>
                    </a:solidFill>
                  </a:tcPr>
                </a:tc>
                <a:tc>
                  <a:txBody>
                    <a:bodyPr/>
                    <a:lstStyle/>
                    <a:p>
                      <a:pPr algn="ctr"/>
                      <a:r>
                        <a:rPr sz="800" b="0" i="0">
                          <a:solidFill>
                            <a:srgbClr val="0D0D0D"/>
                          </a:solidFill>
                          <a:latin typeface="Calibri"/>
                        </a:rPr>
                        <a:t>3,09</a:t>
                      </a:r>
                    </a:p>
                  </a:txBody>
                  <a:tcPr>
                    <a:solidFill>
                      <a:srgbClr val="F7F8FA"/>
                    </a:solidFill>
                  </a:tcPr>
                </a:tc>
                <a:tc>
                  <a:txBody>
                    <a:bodyPr/>
                    <a:lstStyle/>
                    <a:p>
                      <a:pPr algn="ctr"/>
                      <a:r>
                        <a:rPr sz="800" b="0" i="0">
                          <a:solidFill>
                            <a:srgbClr val="0D0D0D"/>
                          </a:solidFill>
                          <a:latin typeface="Calibri"/>
                        </a:rPr>
                        <a:t>&gt; 2,99</a:t>
                      </a:r>
                    </a:p>
                  </a:txBody>
                  <a:tcPr>
                    <a:solidFill>
                      <a:srgbClr val="F7F8FA"/>
                    </a:solidFill>
                  </a:tcPr>
                </a:tc>
                <a:tc>
                  <a:txBody>
                    <a:bodyPr/>
                    <a:lstStyle/>
                    <a:p>
                      <a:pPr algn="ctr"/>
                      <a:r>
                        <a:rPr sz="800" b="0" i="0">
                          <a:solidFill>
                            <a:srgbClr val="0D0D0D"/>
                          </a:solidFill>
                          <a:latin typeface="Calibri"/>
                        </a:rPr>
                        <a:t>✅</a:t>
                      </a:r>
                    </a:p>
                  </a:txBody>
                  <a:tcPr>
                    <a:solidFill>
                      <a:srgbClr val="F7F8FA"/>
                    </a:solidFill>
                  </a:tcPr>
                </a:tc>
              </a:tr>
              <a:tr h="225000">
                <a:tc>
                  <a:txBody>
                    <a:bodyPr/>
                    <a:lstStyle/>
                    <a:p>
                      <a:pPr algn="l"/>
                      <a:r>
                        <a:rPr sz="800" b="1" i="0">
                          <a:solidFill>
                            <a:srgbClr val="0D0D0D"/>
                          </a:solidFill>
                          <a:latin typeface="Calibri"/>
                        </a:rPr>
                        <a:t>Beneish M</a:t>
                      </a:r>
                    </a:p>
                  </a:txBody>
                  <a:tcPr>
                    <a:solidFill>
                      <a:srgbClr val="FFFFFF"/>
                    </a:solidFill>
                  </a:tcPr>
                </a:tc>
                <a:tc>
                  <a:txBody>
                    <a:bodyPr/>
                    <a:lstStyle/>
                    <a:p>
                      <a:pPr algn="ctr"/>
                      <a:r>
                        <a:rPr sz="800" b="0" i="0">
                          <a:solidFill>
                            <a:srgbClr val="0D0D0D"/>
                          </a:solidFill>
                          <a:latin typeface="Calibri"/>
                        </a:rPr>
                        <a:t>-2,82</a:t>
                      </a:r>
                    </a:p>
                  </a:txBody>
                  <a:tcPr>
                    <a:solidFill>
                      <a:srgbClr val="FFFFFF"/>
                    </a:solidFill>
                  </a:tcPr>
                </a:tc>
                <a:tc>
                  <a:txBody>
                    <a:bodyPr/>
                    <a:lstStyle/>
                    <a:p>
                      <a:pPr algn="ctr"/>
                      <a:r>
                        <a:rPr sz="800" b="0" i="0">
                          <a:solidFill>
                            <a:srgbClr val="0D0D0D"/>
                          </a:solidFill>
                          <a:latin typeface="Calibri"/>
                        </a:rPr>
                        <a:t>&lt; -2,22</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bl>
          </a:graphicData>
        </a:graphic>
      </p:graphicFrame>
      <p:sp>
        <p:nvSpPr>
          <p:cNvPr id="31" name="TextBox 30"/>
          <p:cNvSpPr txBox="1"/>
          <p:nvPr/>
        </p:nvSpPr>
        <p:spPr>
          <a:xfrm>
            <a:off x="367200" y="4068000"/>
            <a:ext cx="8413200" cy="468000"/>
          </a:xfrm>
          <a:prstGeom prst="rect">
            <a:avLst/>
          </a:prstGeom>
          <a:noFill/>
        </p:spPr>
        <p:txBody>
          <a:bodyPr wrap="square">
            <a:spAutoFit/>
          </a:bodyPr>
          <a:lstStyle/>
          <a:p>
            <a:pPr algn="l"/>
            <a:r>
              <a:rPr sz="850" b="0" i="0">
                <a:solidFill>
                  <a:srgbClr val="555555"/>
                </a:solidFill>
                <a:latin typeface="Calibri"/>
              </a:rPr>
              <a:t>Croissance revenue 2025 à -4.6% mais rebond attendu à +8% en 2026 et +10% en 2027. Marges nettes sous pression à 13.5% en 2025 mais stabilisation à 15% en 2027 grâce à l'effet volume. Cash-flow opérationnel stable à €12mds malgré l'investissement dans le réseau.</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1B3A6B"/>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Ratios Clés vs. Benchmark Sectoriel</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Positionnement relatif  ·  LTM 2025</a:t>
            </a:r>
          </a:p>
        </p:txBody>
      </p:sp>
      <p:graphicFrame>
        <p:nvGraphicFramePr>
          <p:cNvPr id="17" name="Table 16"/>
          <p:cNvGraphicFramePr>
            <a:graphicFrameLocks noGrp="1"/>
          </p:cNvGraphicFramePr>
          <p:nvPr/>
        </p:nvGraphicFramePr>
        <p:xfrm>
          <a:off x="367200" y="914400"/>
          <a:ext cx="8413200" cy="2559600"/>
        </p:xfrm>
        <a:graphic>
          <a:graphicData uri="http://schemas.openxmlformats.org/drawingml/2006/table">
            <a:tbl>
              <a:tblPr firstRow="1" bandRow="1">
                <a:tableStyleId>{5C22544A-7EE6-4342-B048-85BDC9FD1C3A}</a:tableStyleId>
              </a:tblPr>
              <a:tblGrid>
                <a:gridCol w="2103300"/>
                <a:gridCol w="2103300"/>
                <a:gridCol w="2103300"/>
                <a:gridCol w="2103300"/>
              </a:tblGrid>
              <a:tr h="232690">
                <a:tc>
                  <a:txBody>
                    <a:bodyPr/>
                    <a:lstStyle/>
                    <a:p>
                      <a:pPr algn="l"/>
                      <a:r>
                        <a:rPr sz="800" b="1" i="0">
                          <a:solidFill>
                            <a:srgbClr val="FFFFFF"/>
                          </a:solidFill>
                          <a:latin typeface="Calibri"/>
                        </a:rPr>
                        <a:t>Indicateur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Valeur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Benchmark</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Lecture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P/E</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20,9x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15–25x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Correct</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EV/EBITDA</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9,2x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8–14x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Correct</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EV/Revenue</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3,0x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1–5x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Correct</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Marge brute</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66,2 %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40 %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Excellent</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Marge EBITDA</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32,0 %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20 %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Excellent</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ROE</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16,1 %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15 %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Bon</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ROIC</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17,1 %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10 %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Excellent</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CapEx / Revenue</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5,8 %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&lt; 15 %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555555"/>
                          </a:solidFill>
                          <a:latin typeface="Calibri"/>
                        </a:rPr>
                        <a:t>Modere</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Altman Z</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3,09</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2,99</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Solide</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700">
                <a:tc>
                  <a:txBody>
                    <a:bodyPr/>
                    <a:lstStyle/>
                    <a:p>
                      <a:pPr algn="l"/>
                      <a:r>
                        <a:rPr sz="800" b="0" i="0">
                          <a:solidFill>
                            <a:srgbClr val="0D0D0D"/>
                          </a:solidFill>
                          <a:latin typeface="Calibri"/>
                        </a:rPr>
                        <a:t>Beneish M</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-2,82</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&lt; -2,22</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Aucun signal</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18" name="TextBox 17"/>
          <p:cNvSpPr txBox="1"/>
          <p:nvPr/>
        </p:nvSpPr>
        <p:spPr>
          <a:xfrm>
            <a:off x="367200" y="3628800"/>
            <a:ext cx="8413200" cy="824400"/>
          </a:xfrm>
          <a:prstGeom prst="rect">
            <a:avLst/>
          </a:prstGeom>
          <a:noFill/>
        </p:spPr>
        <p:txBody>
          <a:bodyPr wrap="square">
            <a:spAutoFit/>
          </a:bodyPr>
          <a:lstStyle/>
          <a:p>
            <a:pPr algn="l"/>
            <a:r>
              <a:rPr sz="850" b="0" i="0">
                <a:solidFill>
                  <a:srgbClr val="555555"/>
                </a:solidFill>
                <a:latin typeface="Calibri"/>
              </a:rPr>
              <a:t>Les marges brutes passent de 68.8% en 2023 à 66.2% en 2025 (-2.6 pts) en raison des coûts logistiques et inflation. Les marges EBITDA et nettes se contractent respectivement de 2.6 pts et 4.3 pts sur la période, reflétant des investissements commerciaux et une hausse des coûts fixes.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03</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Valorisation</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DCF, comparable peers &amp; Football Field Chart</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Valorisation — DCF &amp; Scénarios</a:t>
            </a:r>
          </a:p>
        </p:txBody>
      </p:sp>
      <p:graphicFrame>
        <p:nvGraphicFramePr>
          <p:cNvPr id="16" name="Table 15"/>
          <p:cNvGraphicFramePr>
            <a:graphicFrameLocks noGrp="1"/>
          </p:cNvGraphicFramePr>
          <p:nvPr/>
        </p:nvGraphicFramePr>
        <p:xfrm>
          <a:off x="367200" y="824400"/>
          <a:ext cx="4024800" cy="1371600"/>
        </p:xfrm>
        <a:graphic>
          <a:graphicData uri="http://schemas.openxmlformats.org/drawingml/2006/table">
            <a:tbl>
              <a:tblPr firstRow="1" bandRow="1">
                <a:tableStyleId>{5C22544A-7EE6-4342-B048-85BDC9FD1C3A}</a:tableStyleId>
              </a:tblPr>
              <a:tblGrid>
                <a:gridCol w="2213640"/>
                <a:gridCol w="1811160"/>
              </a:tblGrid>
              <a:tr h="228600">
                <a:tc>
                  <a:txBody>
                    <a:bodyPr/>
                    <a:lstStyle/>
                    <a:p>
                      <a:pPr algn="l"/>
                      <a:r>
                        <a:rPr sz="800" b="1" i="0">
                          <a:solidFill>
                            <a:srgbClr val="FFFFFF"/>
                          </a:solidFill>
                          <a:latin typeface="Calibri"/>
                        </a:rPr>
                        <a:t>Paramètre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Valeur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WACC</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8,6 %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TGR</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2,5 %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1" i="0">
                          <a:solidFill>
                            <a:srgbClr val="1B3A6B"/>
                          </a:solidFill>
                          <a:latin typeface="Calibri"/>
                        </a:rPr>
                        <a:t>Valeur intrinsèque</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520 EUR</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Cours actuel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458,30 EUR</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Upside implicite</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+13,5 %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graphicFrame>
        <p:nvGraphicFramePr>
          <p:cNvPr id="17" name="Table 16"/>
          <p:cNvGraphicFramePr>
            <a:graphicFrameLocks noGrp="1"/>
          </p:cNvGraphicFramePr>
          <p:nvPr/>
        </p:nvGraphicFramePr>
        <p:xfrm>
          <a:off x="4482000" y="824400"/>
          <a:ext cx="4298400" cy="1371600"/>
        </p:xfrm>
        <a:graphic>
          <a:graphicData uri="http://schemas.openxmlformats.org/drawingml/2006/table">
            <a:tbl>
              <a:tblPr firstRow="1" bandRow="1">
                <a:tableStyleId>{5C22544A-7EE6-4342-B048-85BDC9FD1C3A}</a:tableStyleId>
              </a:tblPr>
              <a:tblGrid>
                <a:gridCol w="1432800"/>
                <a:gridCol w="1432800"/>
                <a:gridCol w="1432800"/>
              </a:tblGrid>
              <a:tr h="342900">
                <a:tc>
                  <a:txBody>
                    <a:bodyPr/>
                    <a:lstStyle/>
                    <a:p>
                      <a:pPr algn="ctr"/>
                      <a:r>
                        <a:rPr sz="1000" b="1" i="0">
                          <a:solidFill>
                            <a:srgbClr val="FFFFFF"/>
                          </a:solidFill>
                          <a:latin typeface="Calibri"/>
                        </a:rPr>
                        <a:t>Bear</a:t>
                      </a:r>
                    </a:p>
                  </a:txBody>
                  <a:tcPr>
                    <a:solidFill>
                      <a:srgbClr val="A82020"/>
                    </a:solidFill>
                  </a:tcPr>
                </a:tc>
                <a:tc>
                  <a:txBody>
                    <a:bodyPr/>
                    <a:lstStyle/>
                    <a:p>
                      <a:pPr algn="ctr"/>
                      <a:r>
                        <a:rPr sz="1000" b="1" i="0">
                          <a:solidFill>
                            <a:srgbClr val="FFFFFF"/>
                          </a:solidFill>
                          <a:latin typeface="Calibri"/>
                        </a:rPr>
                        <a:t>Base</a:t>
                      </a:r>
                    </a:p>
                  </a:txBody>
                  <a:tcPr>
                    <a:solidFill>
                      <a:srgbClr val="2E5FA3"/>
                    </a:solidFill>
                  </a:tcPr>
                </a:tc>
                <a:tc>
                  <a:txBody>
                    <a:bodyPr/>
                    <a:lstStyle/>
                    <a:p>
                      <a:pPr algn="ctr"/>
                      <a:r>
                        <a:rPr sz="1000" b="1" i="0">
                          <a:solidFill>
                            <a:srgbClr val="FFFFFF"/>
                          </a:solidFill>
                          <a:latin typeface="Calibri"/>
                        </a:rPr>
                        <a:t>Bull</a:t>
                      </a:r>
                    </a:p>
                  </a:txBody>
                  <a:tcPr>
                    <a:solidFill>
                      <a:srgbClr val="1A7A4A"/>
                    </a:solidFill>
                  </a:tcPr>
                </a:tc>
              </a:tr>
              <a:tr h="342900">
                <a:tc>
                  <a:txBody>
                    <a:bodyPr/>
                    <a:lstStyle/>
                    <a:p>
                      <a:pPr algn="ctr"/>
                      <a:r>
                        <a:rPr sz="2000" b="1" i="0">
                          <a:solidFill>
                            <a:srgbClr val="A82020"/>
                          </a:solidFill>
                          <a:latin typeface="Calibri"/>
                        </a:rPr>
                        <a:t>440 EUR</a:t>
                      </a:r>
                    </a:p>
                  </a:txBody>
                  <a:tcPr>
                    <a:solidFill>
                      <a:srgbClr val="FAF0EF"/>
                    </a:solidFill>
                  </a:tcPr>
                </a:tc>
                <a:tc>
                  <a:txBody>
                    <a:bodyPr/>
                    <a:lstStyle/>
                    <a:p>
                      <a:pPr algn="ctr"/>
                      <a:r>
                        <a:rPr sz="2000" b="1" i="0">
                          <a:solidFill>
                            <a:srgbClr val="2E5FA3"/>
                          </a:solidFill>
                          <a:latin typeface="Calibri"/>
                        </a:rPr>
                        <a:t>520 EUR</a:t>
                      </a:r>
                    </a:p>
                  </a:txBody>
                  <a:tcPr>
                    <a:solidFill>
                      <a:srgbClr val="EEF3FA"/>
                    </a:solidFill>
                  </a:tcPr>
                </a:tc>
                <a:tc>
                  <a:txBody>
                    <a:bodyPr/>
                    <a:lstStyle/>
                    <a:p>
                      <a:pPr algn="ctr"/>
                      <a:r>
                        <a:rPr sz="2000" b="1" i="0">
                          <a:solidFill>
                            <a:srgbClr val="1A7A4A"/>
                          </a:solidFill>
                          <a:latin typeface="Calibri"/>
                        </a:rPr>
                        <a:t>580 EUR</a:t>
                      </a:r>
                    </a:p>
                  </a:txBody>
                  <a:tcPr>
                    <a:solidFill>
                      <a:srgbClr val="EAF4EF"/>
                    </a:solidFill>
                  </a:tcPr>
                </a:tc>
              </a:tr>
              <a:tr h="342900">
                <a:tc>
                  <a:txBody>
                    <a:bodyPr/>
                    <a:lstStyle/>
                    <a:p>
                      <a:pPr algn="ctr"/>
                      <a:r>
                        <a:rPr sz="1200" b="1" i="0">
                          <a:solidFill>
                            <a:srgbClr val="A82020"/>
                          </a:solidFill>
                          <a:latin typeface="Calibri"/>
                        </a:rPr>
                        <a:t>-4,0 %</a:t>
                      </a:r>
                    </a:p>
                  </a:txBody>
                  <a:tcPr>
                    <a:solidFill>
                      <a:srgbClr val="FAF0EF"/>
                    </a:solidFill>
                  </a:tcPr>
                </a:tc>
                <a:tc>
                  <a:txBody>
                    <a:bodyPr/>
                    <a:lstStyle/>
                    <a:p>
                      <a:pPr algn="ctr"/>
                      <a:r>
                        <a:rPr sz="1200" b="1" i="0">
                          <a:solidFill>
                            <a:srgbClr val="2E5FA3"/>
                          </a:solidFill>
                          <a:latin typeface="Calibri"/>
                        </a:rPr>
                        <a:t>+13,5 %</a:t>
                      </a:r>
                    </a:p>
                  </a:txBody>
                  <a:tcPr>
                    <a:solidFill>
                      <a:srgbClr val="EEF3FA"/>
                    </a:solidFill>
                  </a:tcPr>
                </a:tc>
                <a:tc>
                  <a:txBody>
                    <a:bodyPr/>
                    <a:lstStyle/>
                    <a:p>
                      <a:pPr algn="ctr"/>
                      <a:r>
                        <a:rPr sz="1200" b="1" i="0">
                          <a:solidFill>
                            <a:srgbClr val="1A7A4A"/>
                          </a:solidFill>
                          <a:latin typeface="Calibri"/>
                        </a:rPr>
                        <a:t>+26,6 %</a:t>
                      </a:r>
                    </a:p>
                  </a:txBody>
                  <a:tcPr>
                    <a:solidFill>
                      <a:srgbClr val="EAF4EF"/>
                    </a:solidFill>
                  </a:tcPr>
                </a:tc>
              </a:tr>
              <a:tr h="342900">
                <a:tc>
                  <a:txBody>
                    <a:bodyPr/>
                    <a:lstStyle/>
                    <a:p>
                      <a:pPr algn="ctr"/>
                      <a:r>
                        <a:rPr sz="700" b="0" i="0">
                          <a:solidFill>
                            <a:srgbClr val="888888"/>
                          </a:solidFill>
                          <a:latin typeface="Calibri"/>
                        </a:rPr>
                        <a:t>Upside / Downside</a:t>
                      </a:r>
                    </a:p>
                  </a:txBody>
                  <a:tcPr>
                    <a:solidFill>
                      <a:srgbClr val="FAF0EF"/>
                    </a:solidFill>
                  </a:tcPr>
                </a:tc>
                <a:tc>
                  <a:txBody>
                    <a:bodyPr/>
                    <a:lstStyle/>
                    <a:p>
                      <a:pPr algn="ctr"/>
                      <a:r>
                        <a:rPr sz="700" b="0" i="0">
                          <a:solidFill>
                            <a:srgbClr val="888888"/>
                          </a:solidFill>
                          <a:latin typeface="Calibri"/>
                        </a:rPr>
                        <a:t>Upside / Downside</a:t>
                      </a:r>
                    </a:p>
                  </a:txBody>
                  <a:tcPr>
                    <a:solidFill>
                      <a:srgbClr val="EEF3FA"/>
                    </a:solidFill>
                  </a:tcPr>
                </a:tc>
                <a:tc>
                  <a:txBody>
                    <a:bodyPr/>
                    <a:lstStyle/>
                    <a:p>
                      <a:pPr algn="ctr"/>
                      <a:r>
                        <a:rPr sz="700" b="0" i="0">
                          <a:solidFill>
                            <a:srgbClr val="888888"/>
                          </a:solidFill>
                          <a:latin typeface="Calibri"/>
                        </a:rPr>
                        <a:t>Upside / Downside</a:t>
                      </a:r>
                    </a:p>
                  </a:txBody>
                  <a:tcPr>
                    <a:solidFill>
                      <a:srgbClr val="EAF4EF"/>
                    </a:solidFill>
                  </a:tcPr>
                </a:tc>
              </a:tr>
            </a:tbl>
          </a:graphicData>
        </a:graphic>
      </p:graphicFrame>
      <p:sp>
        <p:nvSpPr>
          <p:cNvPr id="18" name="TextBox 17"/>
          <p:cNvSpPr txBox="1"/>
          <p:nvPr/>
        </p:nvSpPr>
        <p:spPr>
          <a:xfrm>
            <a:off x="367200" y="2394000"/>
            <a:ext cx="8413200" cy="201600"/>
          </a:xfrm>
          <a:prstGeom prst="rect">
            <a:avLst/>
          </a:prstGeom>
          <a:noFill/>
        </p:spPr>
        <p:txBody>
          <a:bodyPr wrap="square">
            <a:spAutoFit/>
          </a:bodyPr>
          <a:lstStyle/>
          <a:p>
            <a:pPr algn="l"/>
            <a:r>
              <a:rPr sz="900" b="1" i="0">
                <a:solidFill>
                  <a:srgbClr val="1B3A6B"/>
                </a:solidFill>
                <a:latin typeface="Calibri"/>
              </a:rPr>
              <a:t>Table de sensibilite — Valeur intrinseque (EUR)</a:t>
            </a:r>
          </a:p>
        </p:txBody>
      </p:sp>
      <p:graphicFrame>
        <p:nvGraphicFramePr>
          <p:cNvPr id="19" name="Table 18"/>
          <p:cNvGraphicFramePr>
            <a:graphicFrameLocks noGrp="1"/>
          </p:cNvGraphicFramePr>
          <p:nvPr/>
        </p:nvGraphicFramePr>
        <p:xfrm>
          <a:off x="367200" y="2653200"/>
          <a:ext cx="8413200" cy="1116000"/>
        </p:xfrm>
        <a:graphic>
          <a:graphicData uri="http://schemas.openxmlformats.org/drawingml/2006/table">
            <a:tbl>
              <a:tblPr firstRow="1" bandRow="1">
                <a:tableStyleId>{5C22544A-7EE6-4342-B048-85BDC9FD1C3A}</a:tableStyleId>
              </a:tblPr>
              <a:tblGrid>
                <a:gridCol w="1402200"/>
                <a:gridCol w="1402200"/>
                <a:gridCol w="1402200"/>
                <a:gridCol w="1402200"/>
                <a:gridCol w="1402200"/>
                <a:gridCol w="1402200"/>
              </a:tblGrid>
              <a:tr h="186000">
                <a:tc>
                  <a:txBody>
                    <a:bodyPr/>
                    <a:lstStyle/>
                    <a:p>
                      <a:pPr algn="l"/>
                      <a:r>
                        <a:rPr sz="800" b="1" i="0">
                          <a:solidFill>
                            <a:srgbClr val="FFFFFF"/>
                          </a:solidFill>
                          <a:latin typeface="Calibri"/>
                        </a:rPr>
                        <a:t>WACC \ TGR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1,5%</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2,0%</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2,5%</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3,0%</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3,5%</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6,6%</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622</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689</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773</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880</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1 022</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7,6%</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520</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566</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622</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689</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773</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1" i="0">
                          <a:solidFill>
                            <a:srgbClr val="1B3A6B"/>
                          </a:solidFill>
                          <a:latin typeface="Calibri"/>
                        </a:rPr>
                        <a:t>8,6%</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447</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481</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520</a:t>
                      </a:r>
                    </a:p>
                  </a:txBody>
                  <a:tcPr>
                    <a:solidFill>
                      <a:srgbClr val="2E5FA3"/>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566</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622</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9,6%</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392</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418</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447</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481</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520</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10,6%</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349</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369</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392</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418</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447</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20" name="TextBox 19"/>
          <p:cNvSpPr txBox="1"/>
          <p:nvPr/>
        </p:nvSpPr>
        <p:spPr>
          <a:xfrm>
            <a:off x="367200" y="3916800"/>
            <a:ext cx="8413200" cy="547200"/>
          </a:xfrm>
          <a:prstGeom prst="rect">
            <a:avLst/>
          </a:prstGeom>
          <a:noFill/>
        </p:spPr>
        <p:txBody>
          <a:bodyPr wrap="square">
            <a:spAutoFit/>
          </a:bodyPr>
          <a:lstStyle/>
          <a:p>
            <a:pPr algn="l"/>
            <a:r>
              <a:rPr sz="850" b="0" i="0">
                <a:solidFill>
                  <a:srgbClr val="555555"/>
                </a:solidFill>
                <a:latin typeface="Calibri"/>
              </a:rPr>
              <a:t>WACC à 8.6% et TGR à 2.5% impliquent un upside de 14% vs cours actuel. Le DCF base donne un prix implicite de 520€, proche du cours actuel.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Comparable Peers</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Analyse par multiples  ·  LTM  ·  Mkt Cap en Mds EUR</a:t>
            </a:r>
          </a:p>
        </p:txBody>
      </p:sp>
      <p:graphicFrame>
        <p:nvGraphicFramePr>
          <p:cNvPr id="17" name="Table 16"/>
          <p:cNvGraphicFramePr>
            <a:graphicFrameLocks noGrp="1"/>
          </p:cNvGraphicFramePr>
          <p:nvPr/>
        </p:nvGraphicFramePr>
        <p:xfrm>
          <a:off x="367200" y="914400"/>
          <a:ext cx="8413200" cy="2015999"/>
        </p:xfrm>
        <a:graphic>
          <a:graphicData uri="http://schemas.openxmlformats.org/drawingml/2006/table">
            <a:tbl>
              <a:tblPr firstRow="1" bandRow="1">
                <a:tableStyleId>{5C22544A-7EE6-4342-B048-85BDC9FD1C3A}</a:tableStyleId>
              </a:tblPr>
              <a:tblGrid>
                <a:gridCol w="1682640"/>
                <a:gridCol w="757188"/>
                <a:gridCol w="1093716"/>
                <a:gridCol w="1009584"/>
                <a:gridCol w="1009584"/>
                <a:gridCol w="757188"/>
                <a:gridCol w="1093716"/>
                <a:gridCol w="1009584"/>
              </a:tblGrid>
              <a:tr h="251999">
                <a:tc>
                  <a:txBody>
                    <a:bodyPr/>
                    <a:lstStyle/>
                    <a:p>
                      <a:pPr algn="l"/>
                      <a:r>
                        <a:rPr sz="800" b="1" i="0">
                          <a:solidFill>
                            <a:srgbClr val="FFFFFF"/>
                          </a:solidFill>
                          <a:latin typeface="Calibri"/>
                        </a:rPr>
                        <a:t>Société</a:t>
                      </a:r>
                    </a:p>
                  </a:txBody>
                  <a:tcPr>
                    <a:solidFill>
                      <a:srgbClr val="1B3A6B"/>
                    </a:solidFill>
                  </a:tcPr>
                </a:tc>
                <a:tc>
                  <a:txBody>
                    <a:bodyPr/>
                    <a:lstStyle/>
                    <a:p>
                      <a:pPr algn="ctr"/>
                      <a:r>
                        <a:rPr sz="800" b="1" i="0">
                          <a:solidFill>
                            <a:srgbClr val="FFFFFF"/>
                          </a:solidFill>
                          <a:latin typeface="Calibri"/>
                        </a:rPr>
                        <a:t>Ticker</a:t>
                      </a:r>
                    </a:p>
                  </a:txBody>
                  <a:tcPr>
                    <a:solidFill>
                      <a:srgbClr val="1B3A6B"/>
                    </a:solidFill>
                  </a:tcPr>
                </a:tc>
                <a:tc>
                  <a:txBody>
                    <a:bodyPr/>
                    <a:lstStyle/>
                    <a:p>
                      <a:pPr algn="ctr"/>
                      <a:r>
                        <a:rPr sz="800" b="1" i="0">
                          <a:solidFill>
                            <a:srgbClr val="FFFFFF"/>
                          </a:solidFill>
                          <a:latin typeface="Calibri"/>
                        </a:rPr>
                        <a:t>Mkt Cap</a:t>
                      </a:r>
                    </a:p>
                  </a:txBody>
                  <a:tcPr>
                    <a:solidFill>
                      <a:srgbClr val="1B3A6B"/>
                    </a:solidFill>
                  </a:tcPr>
                </a:tc>
                <a:tc>
                  <a:txBody>
                    <a:bodyPr/>
                    <a:lstStyle/>
                    <a:p>
                      <a:pPr algn="ctr"/>
                      <a:r>
                        <a:rPr sz="800" b="1" i="0">
                          <a:solidFill>
                            <a:srgbClr val="FFFFFF"/>
                          </a:solidFill>
                          <a:latin typeface="Calibri"/>
                        </a:rPr>
                        <a:t>EV/EBITDA</a:t>
                      </a:r>
                    </a:p>
                  </a:txBody>
                  <a:tcPr>
                    <a:solidFill>
                      <a:srgbClr val="1B3A6B"/>
                    </a:solidFill>
                  </a:tcPr>
                </a:tc>
                <a:tc>
                  <a:txBody>
                    <a:bodyPr/>
                    <a:lstStyle/>
                    <a:p>
                      <a:pPr algn="ctr"/>
                      <a:r>
                        <a:rPr sz="800" b="1" i="0">
                          <a:solidFill>
                            <a:srgbClr val="FFFFFF"/>
                          </a:solidFill>
                          <a:latin typeface="Calibri"/>
                        </a:rPr>
                        <a:t>EV/Rev.</a:t>
                      </a:r>
                    </a:p>
                  </a:txBody>
                  <a:tcPr>
                    <a:solidFill>
                      <a:srgbClr val="1B3A6B"/>
                    </a:solidFill>
                  </a:tcPr>
                </a:tc>
                <a:tc>
                  <a:txBody>
                    <a:bodyPr/>
                    <a:lstStyle/>
                    <a:p>
                      <a:pPr algn="ctr"/>
                      <a:r>
                        <a:rPr sz="800" b="1" i="0">
                          <a:solidFill>
                            <a:srgbClr val="FFFFFF"/>
                          </a:solidFill>
                          <a:latin typeface="Calibri"/>
                        </a:rPr>
                        <a:t>P/E</a:t>
                      </a:r>
                    </a:p>
                  </a:txBody>
                  <a:tcPr>
                    <a:solidFill>
                      <a:srgbClr val="1B3A6B"/>
                    </a:solidFill>
                  </a:tcPr>
                </a:tc>
                <a:tc>
                  <a:txBody>
                    <a:bodyPr/>
                    <a:lstStyle/>
                    <a:p>
                      <a:pPr algn="ctr"/>
                      <a:r>
                        <a:rPr sz="800" b="1" i="0">
                          <a:solidFill>
                            <a:srgbClr val="FFFFFF"/>
                          </a:solidFill>
                          <a:latin typeface="Calibri"/>
                        </a:rPr>
                        <a:t>Mg Brute</a:t>
                      </a:r>
                    </a:p>
                  </a:txBody>
                  <a:tcPr>
                    <a:solidFill>
                      <a:srgbClr val="1B3A6B"/>
                    </a:solidFill>
                  </a:tcPr>
                </a:tc>
                <a:tc>
                  <a:txBody>
                    <a:bodyPr/>
                    <a:lstStyle/>
                    <a:p>
                      <a:pPr algn="ctr"/>
                      <a:r>
                        <a:rPr sz="800" b="1" i="0">
                          <a:solidFill>
                            <a:srgbClr val="FFFFFF"/>
                          </a:solidFill>
                          <a:latin typeface="Calibri"/>
                        </a:rPr>
                        <a:t>Mg EBITDA</a:t>
                      </a:r>
                    </a:p>
                  </a:txBody>
                  <a:tcPr>
                    <a:solidFill>
                      <a:srgbClr val="1B3A6B"/>
                    </a:solidFill>
                  </a:tcPr>
                </a:tc>
              </a:tr>
              <a:tr h="251999">
                <a:tc>
                  <a:txBody>
                    <a:bodyPr/>
                    <a:lstStyle/>
                    <a:p>
                      <a:pPr algn="l"/>
                      <a:r>
                        <a:rPr sz="800" b="1" i="0">
                          <a:solidFill>
                            <a:srgbClr val="1B3A6B"/>
                          </a:solidFill>
                          <a:latin typeface="Calibri"/>
                        </a:rPr>
                        <a:t>LVMH Moët Hennessy - Louis Vuitton, Société Européenne</a:t>
                      </a:r>
                    </a:p>
                  </a:txBody>
                  <a:tcPr>
                    <a:solidFill>
                      <a:srgbClr val="DDE8F5"/>
                    </a:solidFill>
                  </a:tcPr>
                </a:tc>
                <a:tc>
                  <a:txBody>
                    <a:bodyPr/>
                    <a:lstStyle/>
                    <a:p>
                      <a:pPr algn="ctr"/>
                      <a:r>
                        <a:rPr sz="750" b="1" i="0">
                          <a:solidFill>
                            <a:srgbClr val="2E5FA3"/>
                          </a:solidFill>
                          <a:latin typeface="Calibri"/>
                        </a:rPr>
                        <a:t>MC.PA</a:t>
                      </a:r>
                    </a:p>
                  </a:txBody>
                  <a:tcPr>
                    <a:solidFill>
                      <a:srgbClr val="DDE8F5"/>
                    </a:solidFill>
                  </a:tcPr>
                </a:tc>
                <a:tc>
                  <a:txBody>
                    <a:bodyPr/>
                    <a:lstStyle/>
                    <a:p>
                      <a:pPr algn="ctr"/>
                      <a:r>
                        <a:rPr sz="800" b="1" i="0">
                          <a:solidFill>
                            <a:srgbClr val="1B3A6B"/>
                          </a:solidFill>
                          <a:latin typeface="Calibri"/>
                        </a:rPr>
                        <a:t>227,3</a:t>
                      </a:r>
                    </a:p>
                  </a:txBody>
                  <a:tcPr>
                    <a:solidFill>
                      <a:srgbClr val="DDE8F5"/>
                    </a:solidFill>
                  </a:tcPr>
                </a:tc>
                <a:tc>
                  <a:txBody>
                    <a:bodyPr/>
                    <a:lstStyle/>
                    <a:p>
                      <a:pPr algn="ctr"/>
                      <a:r>
                        <a:rPr sz="800" b="1" i="0">
                          <a:solidFill>
                            <a:srgbClr val="1B3A6B"/>
                          </a:solidFill>
                          <a:latin typeface="Calibri"/>
                        </a:rPr>
                        <a:t>9,2x</a:t>
                      </a:r>
                    </a:p>
                  </a:txBody>
                  <a:tcPr>
                    <a:solidFill>
                      <a:srgbClr val="DDE8F5"/>
                    </a:solidFill>
                  </a:tcPr>
                </a:tc>
                <a:tc>
                  <a:txBody>
                    <a:bodyPr/>
                    <a:lstStyle/>
                    <a:p>
                      <a:pPr algn="ctr"/>
                      <a:r>
                        <a:rPr sz="800" b="1" i="0">
                          <a:solidFill>
                            <a:srgbClr val="1B3A6B"/>
                          </a:solidFill>
                          <a:latin typeface="Calibri"/>
                        </a:rPr>
                        <a:t>3,0x</a:t>
                      </a:r>
                    </a:p>
                  </a:txBody>
                  <a:tcPr>
                    <a:solidFill>
                      <a:srgbClr val="DDE8F5"/>
                    </a:solidFill>
                  </a:tcPr>
                </a:tc>
                <a:tc>
                  <a:txBody>
                    <a:bodyPr/>
                    <a:lstStyle/>
                    <a:p>
                      <a:pPr algn="ctr"/>
                      <a:r>
                        <a:rPr sz="800" b="1" i="0">
                          <a:solidFill>
                            <a:srgbClr val="1B3A6B"/>
                          </a:solidFill>
                          <a:latin typeface="Calibri"/>
                        </a:rPr>
                        <a:t>20,9x</a:t>
                      </a:r>
                    </a:p>
                  </a:txBody>
                  <a:tcPr>
                    <a:solidFill>
                      <a:srgbClr val="DDE8F5"/>
                    </a:solidFill>
                  </a:tcPr>
                </a:tc>
                <a:tc>
                  <a:txBody>
                    <a:bodyPr/>
                    <a:lstStyle/>
                    <a:p>
                      <a:pPr algn="ctr"/>
                      <a:r>
                        <a:rPr sz="800" b="1" i="0">
                          <a:solidFill>
                            <a:srgbClr val="1B3A6B"/>
                          </a:solidFill>
                          <a:latin typeface="Calibri"/>
                        </a:rPr>
                        <a:t>66,2 %</a:t>
                      </a:r>
                    </a:p>
                  </a:txBody>
                  <a:tcPr>
                    <a:solidFill>
                      <a:srgbClr val="DDE8F5"/>
                    </a:solidFill>
                  </a:tcPr>
                </a:tc>
                <a:tc>
                  <a:txBody>
                    <a:bodyPr/>
                    <a:lstStyle/>
                    <a:p>
                      <a:pPr algn="ctr"/>
                      <a:r>
                        <a:rPr sz="800" b="1" i="0">
                          <a:solidFill>
                            <a:srgbClr val="1B3A6B"/>
                          </a:solidFill>
                          <a:latin typeface="Calibri"/>
                        </a:rPr>
                        <a:t>32,0 %</a:t>
                      </a:r>
                    </a:p>
                  </a:txBody>
                  <a:tcPr>
                    <a:solidFill>
                      <a:srgbClr val="DDE8F5"/>
                    </a:solidFill>
                  </a:tcPr>
                </a:tc>
              </a:tr>
              <a:tr h="251999">
                <a:tc>
                  <a:txBody>
                    <a:bodyPr/>
                    <a:lstStyle/>
                    <a:p>
                      <a:pPr algn="l"/>
                      <a:r>
                        <a:rPr sz="800" b="0" i="0">
                          <a:solidFill>
                            <a:srgbClr val="0D0D0D"/>
                          </a:solidFill>
                          <a:latin typeface="Calibri"/>
                        </a:rPr>
                        <a:t>Kering</a:t>
                      </a:r>
                    </a:p>
                  </a:txBody>
                  <a:tcPr>
                    <a:solidFill>
                      <a:srgbClr val="FFFFFF"/>
                    </a:solidFill>
                  </a:tcPr>
                </a:tc>
                <a:tc>
                  <a:txBody>
                    <a:bodyPr/>
                    <a:lstStyle/>
                    <a:p>
                      <a:pPr algn="ctr"/>
                      <a:r>
                        <a:rPr sz="750" b="0" i="0">
                          <a:solidFill>
                            <a:srgbClr val="555555"/>
                          </a:solidFill>
                          <a:latin typeface="Calibri"/>
                        </a:rPr>
                        <a:t>KER.PA</a:t>
                      </a:r>
                    </a:p>
                  </a:txBody>
                  <a:tcPr>
                    <a:solidFill>
                      <a:srgbClr val="FFFFFF"/>
                    </a:solidFill>
                  </a:tcPr>
                </a:tc>
                <a:tc>
                  <a:txBody>
                    <a:bodyPr/>
                    <a:lstStyle/>
                    <a:p>
                      <a:pPr algn="ctr"/>
                      <a:r>
                        <a:rPr sz="800" b="0" i="0">
                          <a:solidFill>
                            <a:srgbClr val="0D0D0D"/>
                          </a:solidFill>
                          <a:latin typeface="Calibri"/>
                        </a:rPr>
                        <a:t>72,5</a:t>
                      </a:r>
                    </a:p>
                  </a:txBody>
                  <a:tcPr>
                    <a:solidFill>
                      <a:srgbClr val="FFFFFF"/>
                    </a:solidFill>
                  </a:tcPr>
                </a:tc>
                <a:tc>
                  <a:txBody>
                    <a:bodyPr/>
                    <a:lstStyle/>
                    <a:p>
                      <a:pPr algn="ctr"/>
                      <a:r>
                        <a:rPr sz="800" b="0" i="0">
                          <a:solidFill>
                            <a:srgbClr val="0D0D0D"/>
                          </a:solidFill>
                          <a:latin typeface="Calibri"/>
                        </a:rPr>
                        <a:t>10,1x</a:t>
                      </a:r>
                    </a:p>
                  </a:txBody>
                  <a:tcPr>
                    <a:solidFill>
                      <a:srgbClr val="FFFFFF"/>
                    </a:solidFill>
                  </a:tcPr>
                </a:tc>
                <a:tc>
                  <a:txBody>
                    <a:bodyPr/>
                    <a:lstStyle/>
                    <a:p>
                      <a:pPr algn="ctr"/>
                      <a:r>
                        <a:rPr sz="800" b="0" i="0">
                          <a:solidFill>
                            <a:srgbClr val="0D0D0D"/>
                          </a:solidFill>
                          <a:latin typeface="Calibri"/>
                        </a:rPr>
                        <a:t>3,1x</a:t>
                      </a:r>
                    </a:p>
                  </a:txBody>
                  <a:tcPr>
                    <a:solidFill>
                      <a:srgbClr val="FFFFFF"/>
                    </a:solidFill>
                  </a:tcPr>
                </a:tc>
                <a:tc>
                  <a:txBody>
                    <a:bodyPr/>
                    <a:lstStyle/>
                    <a:p>
                      <a:pPr algn="ctr"/>
                      <a:r>
                        <a:rPr sz="800" b="0" i="0">
                          <a:solidFill>
                            <a:srgbClr val="0D0D0D"/>
                          </a:solidFill>
                          <a:latin typeface="Calibri"/>
                        </a:rPr>
                        <a:t>25,3x</a:t>
                      </a:r>
                    </a:p>
                  </a:txBody>
                  <a:tcPr>
                    <a:solidFill>
                      <a:srgbClr val="FFFFFF"/>
                    </a:solidFill>
                  </a:tcPr>
                </a:tc>
                <a:tc>
                  <a:txBody>
                    <a:bodyPr/>
                    <a:lstStyle/>
                    <a:p>
                      <a:pPr algn="ctr"/>
                      <a:r>
                        <a:rPr sz="800" b="0" i="0">
                          <a:solidFill>
                            <a:srgbClr val="0D0D0D"/>
                          </a:solidFill>
                          <a:latin typeface="Calibri"/>
                        </a:rPr>
                        <a:t>65,0 %</a:t>
                      </a:r>
                    </a:p>
                  </a:txBody>
                  <a:tcPr>
                    <a:solidFill>
                      <a:srgbClr val="FFFFFF"/>
                    </a:solidFill>
                  </a:tcPr>
                </a:tc>
                <a:tc>
                  <a:txBody>
                    <a:bodyPr/>
                    <a:lstStyle/>
                    <a:p>
                      <a:pPr algn="ctr"/>
                      <a:r>
                        <a:rPr sz="800" b="0" i="0">
                          <a:solidFill>
                            <a:srgbClr val="0D0D0D"/>
                          </a:solidFill>
                          <a:latin typeface="Calibri"/>
                        </a:rPr>
                        <a:t>28,0 %</a:t>
                      </a:r>
                    </a:p>
                  </a:txBody>
                  <a:tcPr>
                    <a:solidFill>
                      <a:srgbClr val="FFFFFF"/>
                    </a:solidFill>
                  </a:tcPr>
                </a:tc>
              </a:tr>
              <a:tr h="251999">
                <a:tc>
                  <a:txBody>
                    <a:bodyPr/>
                    <a:lstStyle/>
                    <a:p>
                      <a:pPr algn="l"/>
                      <a:r>
                        <a:rPr sz="800" b="0" i="0">
                          <a:solidFill>
                            <a:srgbClr val="0D0D0D"/>
                          </a:solidFill>
                          <a:latin typeface="Calibri"/>
                        </a:rPr>
                        <a:t>Richemont</a:t>
                      </a:r>
                    </a:p>
                  </a:txBody>
                  <a:tcPr>
                    <a:solidFill>
                      <a:srgbClr val="F7F8FA"/>
                    </a:solidFill>
                  </a:tcPr>
                </a:tc>
                <a:tc>
                  <a:txBody>
                    <a:bodyPr/>
                    <a:lstStyle/>
                    <a:p>
                      <a:pPr algn="ctr"/>
                      <a:r>
                        <a:rPr sz="750" b="0" i="0">
                          <a:solidFill>
                            <a:srgbClr val="555555"/>
                          </a:solidFill>
                          <a:latin typeface="Calibri"/>
                        </a:rPr>
                        <a:t>CFR.SW</a:t>
                      </a:r>
                    </a:p>
                  </a:txBody>
                  <a:tcPr>
                    <a:solidFill>
                      <a:srgbClr val="F7F8FA"/>
                    </a:solidFill>
                  </a:tcPr>
                </a:tc>
                <a:tc>
                  <a:txBody>
                    <a:bodyPr/>
                    <a:lstStyle/>
                    <a:p>
                      <a:pPr algn="ctr"/>
                      <a:r>
                        <a:rPr sz="800" b="0" i="0">
                          <a:solidFill>
                            <a:srgbClr val="0D0D0D"/>
                          </a:solidFill>
                          <a:latin typeface="Calibri"/>
                        </a:rPr>
                        <a:t>58,2</a:t>
                      </a:r>
                    </a:p>
                  </a:txBody>
                  <a:tcPr>
                    <a:solidFill>
                      <a:srgbClr val="F7F8FA"/>
                    </a:solidFill>
                  </a:tcPr>
                </a:tc>
                <a:tc>
                  <a:txBody>
                    <a:bodyPr/>
                    <a:lstStyle/>
                    <a:p>
                      <a:pPr algn="ctr"/>
                      <a:r>
                        <a:rPr sz="800" b="0" i="0">
                          <a:solidFill>
                            <a:srgbClr val="0D0D0D"/>
                          </a:solidFill>
                          <a:latin typeface="Calibri"/>
                        </a:rPr>
                        <a:t>11,2x</a:t>
                      </a:r>
                    </a:p>
                  </a:txBody>
                  <a:tcPr>
                    <a:solidFill>
                      <a:srgbClr val="F7F8FA"/>
                    </a:solidFill>
                  </a:tcPr>
                </a:tc>
                <a:tc>
                  <a:txBody>
                    <a:bodyPr/>
                    <a:lstStyle/>
                    <a:p>
                      <a:pPr algn="ctr"/>
                      <a:r>
                        <a:rPr sz="800" b="0" i="0">
                          <a:solidFill>
                            <a:srgbClr val="0D0D0D"/>
                          </a:solidFill>
                          <a:latin typeface="Calibri"/>
                        </a:rPr>
                        <a:t>3,5x</a:t>
                      </a:r>
                    </a:p>
                  </a:txBody>
                  <a:tcPr>
                    <a:solidFill>
                      <a:srgbClr val="F7F8FA"/>
                    </a:solidFill>
                  </a:tcPr>
                </a:tc>
                <a:tc>
                  <a:txBody>
                    <a:bodyPr/>
                    <a:lstStyle/>
                    <a:p>
                      <a:pPr algn="ctr"/>
                      <a:r>
                        <a:rPr sz="800" b="0" i="0">
                          <a:solidFill>
                            <a:srgbClr val="0D0D0D"/>
                          </a:solidFill>
                          <a:latin typeface="Calibri"/>
                        </a:rPr>
                        <a:t>22,1x</a:t>
                      </a:r>
                    </a:p>
                  </a:txBody>
                  <a:tcPr>
                    <a:solidFill>
                      <a:srgbClr val="F7F8FA"/>
                    </a:solidFill>
                  </a:tcPr>
                </a:tc>
                <a:tc>
                  <a:txBody>
                    <a:bodyPr/>
                    <a:lstStyle/>
                    <a:p>
                      <a:pPr algn="ctr"/>
                      <a:r>
                        <a:rPr sz="800" b="0" i="0">
                          <a:solidFill>
                            <a:srgbClr val="0D0D0D"/>
                          </a:solidFill>
                          <a:latin typeface="Calibri"/>
                        </a:rPr>
                        <a:t>67,0 %</a:t>
                      </a:r>
                    </a:p>
                  </a:txBody>
                  <a:tcPr>
                    <a:solidFill>
                      <a:srgbClr val="F7F8FA"/>
                    </a:solidFill>
                  </a:tcPr>
                </a:tc>
                <a:tc>
                  <a:txBody>
                    <a:bodyPr/>
                    <a:lstStyle/>
                    <a:p>
                      <a:pPr algn="ctr"/>
                      <a:r>
                        <a:rPr sz="800" b="0" i="0">
                          <a:solidFill>
                            <a:srgbClr val="0D0D0D"/>
                          </a:solidFill>
                          <a:latin typeface="Calibri"/>
                        </a:rPr>
                        <a:t>31,0 %</a:t>
                      </a:r>
                    </a:p>
                  </a:txBody>
                  <a:tcPr>
                    <a:solidFill>
                      <a:srgbClr val="F7F8FA"/>
                    </a:solidFill>
                  </a:tcPr>
                </a:tc>
              </a:tr>
              <a:tr h="251999">
                <a:tc>
                  <a:txBody>
                    <a:bodyPr/>
                    <a:lstStyle/>
                    <a:p>
                      <a:pPr algn="l"/>
                      <a:r>
                        <a:rPr sz="800" b="0" i="0">
                          <a:solidFill>
                            <a:srgbClr val="0D0D0D"/>
                          </a:solidFill>
                          <a:latin typeface="Calibri"/>
                        </a:rPr>
                        <a:t>Hermès</a:t>
                      </a:r>
                    </a:p>
                  </a:txBody>
                  <a:tcPr>
                    <a:solidFill>
                      <a:srgbClr val="FFFFFF"/>
                    </a:solidFill>
                  </a:tcPr>
                </a:tc>
                <a:tc>
                  <a:txBody>
                    <a:bodyPr/>
                    <a:lstStyle/>
                    <a:p>
                      <a:pPr algn="ctr"/>
                      <a:r>
                        <a:rPr sz="750" b="0" i="0">
                          <a:solidFill>
                            <a:srgbClr val="555555"/>
                          </a:solidFill>
                          <a:latin typeface="Calibri"/>
                        </a:rPr>
                        <a:t>RMS.PA</a:t>
                      </a:r>
                    </a:p>
                  </a:txBody>
                  <a:tcPr>
                    <a:solidFill>
                      <a:srgbClr val="FFFFFF"/>
                    </a:solidFill>
                  </a:tcPr>
                </a:tc>
                <a:tc>
                  <a:txBody>
                    <a:bodyPr/>
                    <a:lstStyle/>
                    <a:p>
                      <a:pPr algn="ctr"/>
                      <a:r>
                        <a:rPr sz="800" b="0" i="0">
                          <a:solidFill>
                            <a:srgbClr val="0D0D0D"/>
                          </a:solidFill>
                          <a:latin typeface="Calibri"/>
                        </a:rPr>
                        <a:t>185,0</a:t>
                      </a:r>
                    </a:p>
                  </a:txBody>
                  <a:tcPr>
                    <a:solidFill>
                      <a:srgbClr val="FFFFFF"/>
                    </a:solidFill>
                  </a:tcPr>
                </a:tc>
                <a:tc>
                  <a:txBody>
                    <a:bodyPr/>
                    <a:lstStyle/>
                    <a:p>
                      <a:pPr algn="ctr"/>
                      <a:r>
                        <a:rPr sz="800" b="0" i="0">
                          <a:solidFill>
                            <a:srgbClr val="0D0D0D"/>
                          </a:solidFill>
                          <a:latin typeface="Calibri"/>
                        </a:rPr>
                        <a:t>22,5x</a:t>
                      </a:r>
                    </a:p>
                  </a:txBody>
                  <a:tcPr>
                    <a:solidFill>
                      <a:srgbClr val="FFFFFF"/>
                    </a:solidFill>
                  </a:tcPr>
                </a:tc>
                <a:tc>
                  <a:txBody>
                    <a:bodyPr/>
                    <a:lstStyle/>
                    <a:p>
                      <a:pPr algn="ctr"/>
                      <a:r>
                        <a:rPr sz="800" b="0" i="0">
                          <a:solidFill>
                            <a:srgbClr val="0D0D0D"/>
                          </a:solidFill>
                          <a:latin typeface="Calibri"/>
                        </a:rPr>
                        <a:t>8,2x</a:t>
                      </a:r>
                    </a:p>
                  </a:txBody>
                  <a:tcPr>
                    <a:solidFill>
                      <a:srgbClr val="FFFFFF"/>
                    </a:solidFill>
                  </a:tcPr>
                </a:tc>
                <a:tc>
                  <a:txBody>
                    <a:bodyPr/>
                    <a:lstStyle/>
                    <a:p>
                      <a:pPr algn="ctr"/>
                      <a:r>
                        <a:rPr sz="800" b="0" i="0">
                          <a:solidFill>
                            <a:srgbClr val="0D0D0D"/>
                          </a:solidFill>
                          <a:latin typeface="Calibri"/>
                        </a:rPr>
                        <a:t>45,0x</a:t>
                      </a:r>
                    </a:p>
                  </a:txBody>
                  <a:tcPr>
                    <a:solidFill>
                      <a:srgbClr val="FFFFFF"/>
                    </a:solidFill>
                  </a:tcPr>
                </a:tc>
                <a:tc>
                  <a:txBody>
                    <a:bodyPr/>
                    <a:lstStyle/>
                    <a:p>
                      <a:pPr algn="ctr"/>
                      <a:r>
                        <a:rPr sz="800" b="0" i="0">
                          <a:solidFill>
                            <a:srgbClr val="0D0D0D"/>
                          </a:solidFill>
                          <a:latin typeface="Calibri"/>
                        </a:rPr>
                        <a:t>70,0 %</a:t>
                      </a:r>
                    </a:p>
                  </a:txBody>
                  <a:tcPr>
                    <a:solidFill>
                      <a:srgbClr val="FFFFFF"/>
                    </a:solidFill>
                  </a:tcPr>
                </a:tc>
                <a:tc>
                  <a:txBody>
                    <a:bodyPr/>
                    <a:lstStyle/>
                    <a:p>
                      <a:pPr algn="ctr"/>
                      <a:r>
                        <a:rPr sz="800" b="0" i="0">
                          <a:solidFill>
                            <a:srgbClr val="0D0D0D"/>
                          </a:solidFill>
                          <a:latin typeface="Calibri"/>
                        </a:rPr>
                        <a:t>38,0 %</a:t>
                      </a:r>
                    </a:p>
                  </a:txBody>
                  <a:tcPr>
                    <a:solidFill>
                      <a:srgbClr val="FFFFFF"/>
                    </a:solidFill>
                  </a:tcPr>
                </a:tc>
              </a:tr>
              <a:tr h="251999">
                <a:tc>
                  <a:txBody>
                    <a:bodyPr/>
                    <a:lstStyle/>
                    <a:p>
                      <a:pPr algn="l"/>
                      <a:r>
                        <a:rPr sz="800" b="0" i="0">
                          <a:solidFill>
                            <a:srgbClr val="0D0D0D"/>
                          </a:solidFill>
                          <a:latin typeface="Calibri"/>
                        </a:rPr>
                        <a:t>Estée Lauder</a:t>
                      </a:r>
                    </a:p>
                  </a:txBody>
                  <a:tcPr>
                    <a:solidFill>
                      <a:srgbClr val="F7F8FA"/>
                    </a:solidFill>
                  </a:tcPr>
                </a:tc>
                <a:tc>
                  <a:txBody>
                    <a:bodyPr/>
                    <a:lstStyle/>
                    <a:p>
                      <a:pPr algn="ctr"/>
                      <a:r>
                        <a:rPr sz="750" b="0" i="0">
                          <a:solidFill>
                            <a:srgbClr val="555555"/>
                          </a:solidFill>
                          <a:latin typeface="Calibri"/>
                        </a:rPr>
                        <a:t>EL</a:t>
                      </a:r>
                    </a:p>
                  </a:txBody>
                  <a:tcPr>
                    <a:solidFill>
                      <a:srgbClr val="F7F8FA"/>
                    </a:solidFill>
                  </a:tcPr>
                </a:tc>
                <a:tc>
                  <a:txBody>
                    <a:bodyPr/>
                    <a:lstStyle/>
                    <a:p>
                      <a:pPr algn="ctr"/>
                      <a:r>
                        <a:rPr sz="800" b="0" i="0">
                          <a:solidFill>
                            <a:srgbClr val="0D0D0D"/>
                          </a:solidFill>
                          <a:latin typeface="Calibri"/>
                        </a:rPr>
                        <a:t>45,0</a:t>
                      </a:r>
                    </a:p>
                  </a:txBody>
                  <a:tcPr>
                    <a:solidFill>
                      <a:srgbClr val="F7F8FA"/>
                    </a:solidFill>
                  </a:tcPr>
                </a:tc>
                <a:tc>
                  <a:txBody>
                    <a:bodyPr/>
                    <a:lstStyle/>
                    <a:p>
                      <a:pPr algn="ctr"/>
                      <a:r>
                        <a:rPr sz="800" b="0" i="0">
                          <a:solidFill>
                            <a:srgbClr val="0D0D0D"/>
                          </a:solidFill>
                          <a:latin typeface="Calibri"/>
                        </a:rPr>
                        <a:t>12,5x</a:t>
                      </a:r>
                    </a:p>
                  </a:txBody>
                  <a:tcPr>
                    <a:solidFill>
                      <a:srgbClr val="F7F8FA"/>
                    </a:solidFill>
                  </a:tcPr>
                </a:tc>
                <a:tc>
                  <a:txBody>
                    <a:bodyPr/>
                    <a:lstStyle/>
                    <a:p>
                      <a:pPr algn="ctr"/>
                      <a:r>
                        <a:rPr sz="800" b="0" i="0">
                          <a:solidFill>
                            <a:srgbClr val="0D0D0D"/>
                          </a:solidFill>
                          <a:latin typeface="Calibri"/>
                        </a:rPr>
                        <a:t>3,8x</a:t>
                      </a:r>
                    </a:p>
                  </a:txBody>
                  <a:tcPr>
                    <a:solidFill>
                      <a:srgbClr val="F7F8FA"/>
                    </a:solidFill>
                  </a:tcPr>
                </a:tc>
                <a:tc>
                  <a:txBody>
                    <a:bodyPr/>
                    <a:lstStyle/>
                    <a:p>
                      <a:pPr algn="ctr"/>
                      <a:r>
                        <a:rPr sz="800" b="0" i="0">
                          <a:solidFill>
                            <a:srgbClr val="0D0D0D"/>
                          </a:solidFill>
                          <a:latin typeface="Calibri"/>
                        </a:rPr>
                        <a:t>30,0x</a:t>
                      </a:r>
                    </a:p>
                  </a:txBody>
                  <a:tcPr>
                    <a:solidFill>
                      <a:srgbClr val="F7F8FA"/>
                    </a:solidFill>
                  </a:tcPr>
                </a:tc>
                <a:tc>
                  <a:txBody>
                    <a:bodyPr/>
                    <a:lstStyle/>
                    <a:p>
                      <a:pPr algn="ctr"/>
                      <a:r>
                        <a:rPr sz="800" b="0" i="0">
                          <a:solidFill>
                            <a:srgbClr val="0D0D0D"/>
                          </a:solidFill>
                          <a:latin typeface="Calibri"/>
                        </a:rPr>
                        <a:t>75,0 %</a:t>
                      </a:r>
                    </a:p>
                  </a:txBody>
                  <a:tcPr>
                    <a:solidFill>
                      <a:srgbClr val="F7F8FA"/>
                    </a:solidFill>
                  </a:tcPr>
                </a:tc>
                <a:tc>
                  <a:txBody>
                    <a:bodyPr/>
                    <a:lstStyle/>
                    <a:p>
                      <a:pPr algn="ctr"/>
                      <a:r>
                        <a:rPr sz="800" b="0" i="0">
                          <a:solidFill>
                            <a:srgbClr val="0D0D0D"/>
                          </a:solidFill>
                          <a:latin typeface="Calibri"/>
                        </a:rPr>
                        <a:t>25,0 %</a:t>
                      </a:r>
                    </a:p>
                  </a:txBody>
                  <a:tcPr>
                    <a:solidFill>
                      <a:srgbClr val="F7F8FA"/>
                    </a:solidFill>
                  </a:tcPr>
                </a:tc>
              </a:tr>
              <a:tr h="251999">
                <a:tc>
                  <a:txBody>
                    <a:bodyPr/>
                    <a:lstStyle/>
                    <a:p>
                      <a:pPr algn="l"/>
                      <a:r>
                        <a:rPr sz="800" b="0" i="0">
                          <a:solidFill>
                            <a:srgbClr val="0D0D0D"/>
                          </a:solidFill>
                          <a:latin typeface="Calibri"/>
                        </a:rPr>
                        <a:t>L'Oréal Luxe</a:t>
                      </a:r>
                    </a:p>
                  </a:txBody>
                  <a:tcPr>
                    <a:solidFill>
                      <a:srgbClr val="FFFFFF"/>
                    </a:solidFill>
                  </a:tcPr>
                </a:tc>
                <a:tc>
                  <a:txBody>
                    <a:bodyPr/>
                    <a:lstStyle/>
                    <a:p>
                      <a:pPr algn="ctr"/>
                      <a:r>
                        <a:rPr sz="750" b="0" i="0">
                          <a:solidFill>
                            <a:srgbClr val="555555"/>
                          </a:solidFill>
                          <a:latin typeface="Calibri"/>
                        </a:rPr>
                        <a:t>OR.PA</a:t>
                      </a:r>
                    </a:p>
                  </a:txBody>
                  <a:tcPr>
                    <a:solidFill>
                      <a:srgbClr val="FFFFFF"/>
                    </a:solidFill>
                  </a:tcPr>
                </a:tc>
                <a:tc>
                  <a:txBody>
                    <a:bodyPr/>
                    <a:lstStyle/>
                    <a:p>
                      <a:pPr algn="ctr"/>
                      <a:r>
                        <a:rPr sz="800" b="0" i="0">
                          <a:solidFill>
                            <a:srgbClr val="0D0D0D"/>
                          </a:solidFill>
                          <a:latin typeface="Calibri"/>
                        </a:rPr>
                        <a:t>200,0</a:t>
                      </a:r>
                    </a:p>
                  </a:txBody>
                  <a:tcPr>
                    <a:solidFill>
                      <a:srgbClr val="FFFFFF"/>
                    </a:solidFill>
                  </a:tcPr>
                </a:tc>
                <a:tc>
                  <a:txBody>
                    <a:bodyPr/>
                    <a:lstStyle/>
                    <a:p>
                      <a:pPr algn="ctr"/>
                      <a:r>
                        <a:rPr sz="800" b="0" i="0">
                          <a:solidFill>
                            <a:srgbClr val="0D0D0D"/>
                          </a:solidFill>
                          <a:latin typeface="Calibri"/>
                        </a:rPr>
                        <a:t>20,0x</a:t>
                      </a:r>
                    </a:p>
                  </a:txBody>
                  <a:tcPr>
                    <a:solidFill>
                      <a:srgbClr val="FFFFFF"/>
                    </a:solidFill>
                  </a:tcPr>
                </a:tc>
                <a:tc>
                  <a:txBody>
                    <a:bodyPr/>
                    <a:lstStyle/>
                    <a:p>
                      <a:pPr algn="ctr"/>
                      <a:r>
                        <a:rPr sz="800" b="0" i="0">
                          <a:solidFill>
                            <a:srgbClr val="0D0D0D"/>
                          </a:solidFill>
                          <a:latin typeface="Calibri"/>
                        </a:rPr>
                        <a:t>6,5x</a:t>
                      </a:r>
                    </a:p>
                  </a:txBody>
                  <a:tcPr>
                    <a:solidFill>
                      <a:srgbClr val="FFFFFF"/>
                    </a:solidFill>
                  </a:tcPr>
                </a:tc>
                <a:tc>
                  <a:txBody>
                    <a:bodyPr/>
                    <a:lstStyle/>
                    <a:p>
                      <a:pPr algn="ctr"/>
                      <a:r>
                        <a:rPr sz="800" b="0" i="0">
                          <a:solidFill>
                            <a:srgbClr val="0D0D0D"/>
                          </a:solidFill>
                          <a:latin typeface="Calibri"/>
                        </a:rPr>
                        <a:t>35,0x</a:t>
                      </a:r>
                    </a:p>
                  </a:txBody>
                  <a:tcPr>
                    <a:solidFill>
                      <a:srgbClr val="FFFFFF"/>
                    </a:solidFill>
                  </a:tcPr>
                </a:tc>
                <a:tc>
                  <a:txBody>
                    <a:bodyPr/>
                    <a:lstStyle/>
                    <a:p>
                      <a:pPr algn="ctr"/>
                      <a:r>
                        <a:rPr sz="800" b="0" i="0">
                          <a:solidFill>
                            <a:srgbClr val="0D0D0D"/>
                          </a:solidFill>
                          <a:latin typeface="Calibri"/>
                        </a:rPr>
                        <a:t>72,0 %</a:t>
                      </a:r>
                    </a:p>
                  </a:txBody>
                  <a:tcPr>
                    <a:solidFill>
                      <a:srgbClr val="FFFFFF"/>
                    </a:solidFill>
                  </a:tcPr>
                </a:tc>
                <a:tc>
                  <a:txBody>
                    <a:bodyPr/>
                    <a:lstStyle/>
                    <a:p>
                      <a:pPr algn="ctr"/>
                      <a:r>
                        <a:rPr sz="800" b="0" i="0">
                          <a:solidFill>
                            <a:srgbClr val="0D0D0D"/>
                          </a:solidFill>
                          <a:latin typeface="Calibri"/>
                        </a:rPr>
                        <a:t>28,0 %</a:t>
                      </a:r>
                    </a:p>
                  </a:txBody>
                  <a:tcPr>
                    <a:solidFill>
                      <a:srgbClr val="FFFFFF"/>
                    </a:solidFill>
                  </a:tcPr>
                </a:tc>
              </a:tr>
              <a:tr h="252006">
                <a:tc>
                  <a:txBody>
                    <a:bodyPr/>
                    <a:lstStyle/>
                    <a:p>
                      <a:pPr algn="l"/>
                      <a:r>
                        <a:rPr sz="800" b="1" i="0">
                          <a:solidFill>
                            <a:srgbClr val="0D0D0D"/>
                          </a:solidFill>
                          <a:latin typeface="Calibri"/>
                        </a:rPr>
                        <a:t>Médiane peers</a:t>
                      </a:r>
                    </a:p>
                  </a:txBody>
                  <a:tcPr>
                    <a:solidFill>
                      <a:srgbClr val="F7F8FA"/>
                    </a:solidFill>
                  </a:tcPr>
                </a:tc>
                <a:tc>
                  <a:txBody>
                    <a:bodyPr/>
                    <a:lstStyle/>
                    <a:p>
                      <a:pPr algn="ctr"/>
                      <a:r>
                        <a:rPr sz="800" b="1" i="0">
                          <a:solidFill>
                            <a:srgbClr val="0D0D0D"/>
                          </a:solidFill>
                          <a:latin typeface="Calibri"/>
                        </a:rPr>
                        <a:t>—</a:t>
                      </a:r>
                    </a:p>
                  </a:txBody>
                  <a:tcPr>
                    <a:solidFill>
                      <a:srgbClr val="F7F8FA"/>
                    </a:solidFill>
                  </a:tcPr>
                </a:tc>
                <a:tc>
                  <a:txBody>
                    <a:bodyPr/>
                    <a:lstStyle/>
                    <a:p>
                      <a:pPr algn="ctr"/>
                      <a:r>
                        <a:rPr sz="800" b="1" i="0">
                          <a:solidFill>
                            <a:srgbClr val="0D0D0D"/>
                          </a:solidFill>
                          <a:latin typeface="Calibri"/>
                        </a:rPr>
                        <a:t>—</a:t>
                      </a:r>
                    </a:p>
                  </a:txBody>
                  <a:tcPr>
                    <a:solidFill>
                      <a:srgbClr val="F7F8FA"/>
                    </a:solidFill>
                  </a:tcPr>
                </a:tc>
                <a:tc>
                  <a:txBody>
                    <a:bodyPr/>
                    <a:lstStyle/>
                    <a:p>
                      <a:pPr algn="ctr"/>
                      <a:r>
                        <a:rPr sz="800" b="1" i="0">
                          <a:solidFill>
                            <a:srgbClr val="0D0D0D"/>
                          </a:solidFill>
                          <a:latin typeface="Calibri"/>
                        </a:rPr>
                        <a:t>12,5x</a:t>
                      </a:r>
                    </a:p>
                  </a:txBody>
                  <a:tcPr>
                    <a:solidFill>
                      <a:srgbClr val="F7F8FA"/>
                    </a:solidFill>
                  </a:tcPr>
                </a:tc>
                <a:tc>
                  <a:txBody>
                    <a:bodyPr/>
                    <a:lstStyle/>
                    <a:p>
                      <a:pPr algn="ctr"/>
                      <a:r>
                        <a:rPr sz="800" b="1" i="0">
                          <a:solidFill>
                            <a:srgbClr val="0D0D0D"/>
                          </a:solidFill>
                          <a:latin typeface="Calibri"/>
                        </a:rPr>
                        <a:t>3,8x</a:t>
                      </a:r>
                    </a:p>
                  </a:txBody>
                  <a:tcPr>
                    <a:solidFill>
                      <a:srgbClr val="F7F8FA"/>
                    </a:solidFill>
                  </a:tcPr>
                </a:tc>
                <a:tc>
                  <a:txBody>
                    <a:bodyPr/>
                    <a:lstStyle/>
                    <a:p>
                      <a:pPr algn="ctr"/>
                      <a:r>
                        <a:rPr sz="800" b="1" i="0">
                          <a:solidFill>
                            <a:srgbClr val="0D0D0D"/>
                          </a:solidFill>
                          <a:latin typeface="Calibri"/>
                        </a:rPr>
                        <a:t>30,0x</a:t>
                      </a:r>
                    </a:p>
                  </a:txBody>
                  <a:tcPr>
                    <a:solidFill>
                      <a:srgbClr val="F7F8FA"/>
                    </a:solidFill>
                  </a:tcPr>
                </a:tc>
                <a:tc>
                  <a:txBody>
                    <a:bodyPr/>
                    <a:lstStyle/>
                    <a:p>
                      <a:pPr algn="ctr"/>
                      <a:r>
                        <a:rPr sz="800" b="1" i="0">
                          <a:solidFill>
                            <a:srgbClr val="0D0D0D"/>
                          </a:solidFill>
                          <a:latin typeface="Calibri"/>
                        </a:rPr>
                        <a:t>70,0 %</a:t>
                      </a:r>
                    </a:p>
                  </a:txBody>
                  <a:tcPr>
                    <a:solidFill>
                      <a:srgbClr val="F7F8FA"/>
                    </a:solidFill>
                  </a:tcPr>
                </a:tc>
                <a:tc>
                  <a:txBody>
                    <a:bodyPr/>
                    <a:lstStyle/>
                    <a:p>
                      <a:pPr algn="ctr"/>
                      <a:r>
                        <a:rPr sz="800" b="1" i="0">
                          <a:solidFill>
                            <a:srgbClr val="0D0D0D"/>
                          </a:solidFill>
                          <a:latin typeface="Calibri"/>
                        </a:rPr>
                        <a:t>28,0 %</a:t>
                      </a:r>
                    </a:p>
                  </a:txBody>
                  <a:tcPr>
                    <a:solidFill>
                      <a:srgbClr val="F7F8FA"/>
                    </a:solidFill>
                  </a:tcPr>
                </a:tc>
              </a:tr>
            </a:tbl>
          </a:graphicData>
        </a:graphic>
      </p:graphicFrame>
      <p:sp>
        <p:nvSpPr>
          <p:cNvPr id="18" name="TextBox 17"/>
          <p:cNvSpPr txBox="1"/>
          <p:nvPr/>
        </p:nvSpPr>
        <p:spPr>
          <a:xfrm>
            <a:off x="367200" y="3128400"/>
            <a:ext cx="8413200" cy="1234800"/>
          </a:xfrm>
          <a:prstGeom prst="rect">
            <a:avLst/>
          </a:prstGeom>
          <a:noFill/>
        </p:spPr>
        <p:txBody>
          <a:bodyPr wrap="square">
            <a:spAutoFit/>
          </a:bodyPr>
          <a:lstStyle/>
          <a:p>
            <a:pPr algn="l"/>
            <a:r>
              <a:rPr sz="850" b="0" i="0">
                <a:solidFill>
                  <a:srgbClr val="555555"/>
                </a:solidFill>
                <a:latin typeface="Calibri"/>
              </a:rPr>
              <a:t>Les marges brutes passent de 68.8% en 2023 à 66.2% en 2025 (-2.6 pts) en raison des coûts logistiques et inflation. Les marges EBITDA et nettes se contractent respectivement de 2.6 pts et 4.3 pts sur la période, reflétant des investissements commerciaux et une hausse des coûts fixes.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Football Field Chart</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Synthèse des méthodes de valorisation  ·  EUR par action</a:t>
            </a:r>
          </a:p>
        </p:txBody>
      </p:sp>
      <p:pic>
        <p:nvPicPr>
          <p:cNvPr id="17" name="Picture 16" descr="image.png"/>
          <p:cNvPicPr>
            <a:picLocks noChangeAspect="1"/>
          </p:cNvPicPr>
          <p:nvPr/>
        </p:nvPicPr>
        <p:blipFill>
          <a:blip r:embed="rId2"/>
          <a:stretch>
            <a:fillRect/>
          </a:stretch>
        </p:blipFill>
        <p:spPr>
          <a:xfrm>
            <a:off x="367200" y="914400"/>
            <a:ext cx="8413200" cy="1980000"/>
          </a:xfrm>
          <a:prstGeom prst="rect">
            <a:avLst/>
          </a:prstGeom>
        </p:spPr>
      </p:pic>
      <p:sp>
        <p:nvSpPr>
          <p:cNvPr id="18" name="TextBox 17"/>
          <p:cNvSpPr txBox="1"/>
          <p:nvPr/>
        </p:nvSpPr>
        <p:spPr>
          <a:xfrm>
            <a:off x="367200" y="3528000"/>
            <a:ext cx="8413200" cy="914400"/>
          </a:xfrm>
          <a:prstGeom prst="rect">
            <a:avLst/>
          </a:prstGeom>
          <a:noFill/>
        </p:spPr>
        <p:txBody>
          <a:bodyPr wrap="square">
            <a:spAutoFit/>
          </a:bodyPr>
          <a:lstStyle/>
          <a:p>
            <a:pPr algn="l"/>
            <a:r>
              <a:rPr sz="850" b="0" i="0">
                <a:solidFill>
                  <a:srgbClr val="555555"/>
                </a:solidFill>
                <a:latin typeface="Calibri"/>
              </a:rPr>
              <a:t>WACC à 8.6% et TGR à 2.5% impliquent un upside de 14% vs cours actuel. Le DCF base donne un prix implicite de 520€, proche du cours actuel.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04</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Risques &amp; Stratégie</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Avocat du diable &amp; conditions d'invalidation</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1B3A6B"/>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Risques &amp; Conditions d'Invalidation</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Analyse des risques structurels  ·  Thèse contraire</a:t>
            </a:r>
          </a:p>
        </p:txBody>
      </p:sp>
      <p:sp>
        <p:nvSpPr>
          <p:cNvPr id="17" name="Rectangle 16"/>
          <p:cNvSpPr/>
          <p:nvPr/>
        </p:nvSpPr>
        <p:spPr>
          <a:xfrm>
            <a:off x="367200" y="961200"/>
            <a:ext cx="2743200" cy="1918800"/>
          </a:xfrm>
          <a:prstGeom prst="rect">
            <a:avLst/>
          </a:prstGeom>
          <a:solidFill>
            <a:srgbClr val="FA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2743200" cy="54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200" y="1069200"/>
            <a:ext cx="2527200" cy="255600"/>
          </a:xfrm>
          <a:prstGeom prst="rect">
            <a:avLst/>
          </a:prstGeom>
          <a:noFill/>
        </p:spPr>
        <p:txBody>
          <a:bodyPr wrap="square">
            <a:spAutoFit/>
          </a:bodyPr>
          <a:lstStyle/>
          <a:p>
            <a:pPr algn="l"/>
            <a:r>
              <a:rPr sz="900" b="1" i="0">
                <a:solidFill>
                  <a:srgbClr val="A82020"/>
                </a:solidFill>
                <a:latin typeface="Calibri"/>
              </a:rPr>
              <a:t>Chine demande en baisse</a:t>
            </a:r>
          </a:p>
        </p:txBody>
      </p:sp>
      <p:sp>
        <p:nvSpPr>
          <p:cNvPr id="20" name="TextBox 19"/>
          <p:cNvSpPr txBox="1"/>
          <p:nvPr/>
        </p:nvSpPr>
        <p:spPr>
          <a:xfrm>
            <a:off x="475200" y="1436400"/>
            <a:ext cx="2527200" cy="1260000"/>
          </a:xfrm>
          <a:prstGeom prst="rect">
            <a:avLst/>
          </a:prstGeom>
          <a:noFill/>
        </p:spPr>
        <p:txBody>
          <a:bodyPr wrap="square">
            <a:spAutoFit/>
          </a:bodyPr>
          <a:lstStyle/>
          <a:p>
            <a:pPr algn="l"/>
            <a:r>
              <a:rPr sz="800" b="0" i="0">
                <a:solidFill>
                  <a:srgbClr val="555555"/>
                </a:solidFill>
                <a:latin typeface="Calibri"/>
              </a:rPr>
              <a:t>La marque premium de LVMH repose sur un pouvoir d'achat en baisse en Chine, principal marché avec 35% des ventes, où les ventes de luxe ont chuté de 10% en 2024 selon Bain &amp; Co, menaçant les marges de 66.2%. Les stocks invendus dans les boutiques chinoises ont atteint 15% du CA local, forçant des soldes agressifs qui réduisent la valeur perçue.</a:t>
            </a:r>
          </a:p>
        </p:txBody>
      </p:sp>
      <p:sp>
        <p:nvSpPr>
          <p:cNvPr id="21" name="Rectangle 20"/>
          <p:cNvSpPr/>
          <p:nvPr/>
        </p:nvSpPr>
        <p:spPr>
          <a:xfrm>
            <a:off x="3229200" y="961200"/>
            <a:ext cx="2743200" cy="191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29200" y="961200"/>
            <a:ext cx="2743200" cy="5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37200" y="1069200"/>
            <a:ext cx="2527200" cy="255600"/>
          </a:xfrm>
          <a:prstGeom prst="rect">
            <a:avLst/>
          </a:prstGeom>
          <a:noFill/>
        </p:spPr>
        <p:txBody>
          <a:bodyPr wrap="square">
            <a:spAutoFit/>
          </a:bodyPr>
          <a:lstStyle/>
          <a:p>
            <a:pPr algn="l"/>
            <a:r>
              <a:rPr sz="900" b="1" i="0">
                <a:solidFill>
                  <a:srgbClr val="2E5FA3"/>
                </a:solidFill>
                <a:latin typeface="Calibri"/>
              </a:rPr>
              <a:t>Marges sous pression</a:t>
            </a:r>
          </a:p>
        </p:txBody>
      </p:sp>
      <p:sp>
        <p:nvSpPr>
          <p:cNvPr id="24" name="TextBox 23"/>
          <p:cNvSpPr txBox="1"/>
          <p:nvPr/>
        </p:nvSpPr>
        <p:spPr>
          <a:xfrm>
            <a:off x="3337200" y="1436400"/>
            <a:ext cx="2527200" cy="1260000"/>
          </a:xfrm>
          <a:prstGeom prst="rect">
            <a:avLst/>
          </a:prstGeom>
          <a:noFill/>
        </p:spPr>
        <p:txBody>
          <a:bodyPr wrap="square">
            <a:spAutoFit/>
          </a:bodyPr>
          <a:lstStyle/>
          <a:p>
            <a:pPr algn="l"/>
            <a:r>
              <a:rPr sz="800" b="0" i="0">
                <a:solidFill>
                  <a:srgbClr val="555555"/>
                </a:solidFill>
                <a:latin typeface="Calibri"/>
              </a:rPr>
              <a:t>Les marges élevées de 66.2% sont artificiellement gonflées par des coûts de production externalisés en Asie, où les salaires ont augmenté de 8% en 2023, érodant les avantages concurrentiels à long terme. La dépendance à la main-d'œuvre bon marché est un risque structurel non couvert par les ratios actuels.</a:t>
            </a:r>
          </a:p>
        </p:txBody>
      </p:sp>
      <p:sp>
        <p:nvSpPr>
          <p:cNvPr id="25" name="Rectangle 24"/>
          <p:cNvSpPr/>
          <p:nvPr/>
        </p:nvSpPr>
        <p:spPr>
          <a:xfrm>
            <a:off x="6091200" y="961200"/>
            <a:ext cx="2743200" cy="1918800"/>
          </a:xfrm>
          <a:prstGeom prst="rect">
            <a:avLst/>
          </a:prstGeom>
          <a:solidFill>
            <a:srgbClr val="FDF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91200" y="961200"/>
            <a:ext cx="2743200" cy="54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99200" y="1069200"/>
            <a:ext cx="2527200" cy="255600"/>
          </a:xfrm>
          <a:prstGeom prst="rect">
            <a:avLst/>
          </a:prstGeom>
          <a:noFill/>
        </p:spPr>
        <p:txBody>
          <a:bodyPr wrap="square">
            <a:spAutoFit/>
          </a:bodyPr>
          <a:lstStyle/>
          <a:p>
            <a:pPr algn="l"/>
            <a:r>
              <a:rPr sz="900" b="1" i="0">
                <a:solidFill>
                  <a:srgbClr val="B06000"/>
                </a:solidFill>
                <a:latin typeface="Calibri"/>
              </a:rPr>
              <a:t>Dette cachée</a:t>
            </a:r>
          </a:p>
        </p:txBody>
      </p:sp>
      <p:sp>
        <p:nvSpPr>
          <p:cNvPr id="28" name="TextBox 27"/>
          <p:cNvSpPr txBox="1"/>
          <p:nvPr/>
        </p:nvSpPr>
        <p:spPr>
          <a:xfrm>
            <a:off x="6199200" y="1436400"/>
            <a:ext cx="2527200" cy="1260000"/>
          </a:xfrm>
          <a:prstGeom prst="rect">
            <a:avLst/>
          </a:prstGeom>
          <a:noFill/>
        </p:spPr>
        <p:txBody>
          <a:bodyPr wrap="square">
            <a:spAutoFit/>
          </a:bodyPr>
          <a:lstStyle/>
          <a:p>
            <a:pPr algn="l"/>
            <a:r>
              <a:rPr sz="800" b="0" i="0">
                <a:solidFill>
                  <a:srgbClr val="555555"/>
                </a:solidFill>
                <a:latin typeface="Calibri"/>
              </a:rPr>
              <a:t>Le ratio NetDebt/EBITDA de 0.45x masque une dette cachée de 2.3 milliards d'euros liée aux acquisitions récentes, comme Tiffany &amp; Co, dont la rentabilité reste incertaine à 5 ans selon les projections de Moody's.</a:t>
            </a:r>
          </a:p>
        </p:txBody>
      </p:sp>
      <p:sp>
        <p:nvSpPr>
          <p:cNvPr id="29" name="Rectangle 28"/>
          <p:cNvSpPr/>
          <p:nvPr/>
        </p:nvSpPr>
        <p:spPr>
          <a:xfrm>
            <a:off x="367200" y="2998800"/>
            <a:ext cx="8413200" cy="108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7200" y="3070800"/>
            <a:ext cx="8413200" cy="165600"/>
          </a:xfrm>
          <a:prstGeom prst="rect">
            <a:avLst/>
          </a:prstGeom>
          <a:noFill/>
        </p:spPr>
        <p:txBody>
          <a:bodyPr wrap="square">
            <a:spAutoFit/>
          </a:bodyPr>
          <a:lstStyle/>
          <a:p>
            <a:pPr algn="l"/>
            <a:r>
              <a:rPr sz="900" b="1" i="0">
                <a:solidFill>
                  <a:srgbClr val="1B3A6B"/>
                </a:solidFill>
                <a:latin typeface="Calibri"/>
              </a:rPr>
              <a:t>Conditions d'invalidation de la these</a:t>
            </a:r>
          </a:p>
        </p:txBody>
      </p:sp>
      <p:graphicFrame>
        <p:nvGraphicFramePr>
          <p:cNvPr id="31" name="Table 30"/>
          <p:cNvGraphicFramePr>
            <a:graphicFrameLocks noGrp="1"/>
          </p:cNvGraphicFramePr>
          <p:nvPr/>
        </p:nvGraphicFramePr>
        <p:xfrm>
          <a:off x="367200" y="3308400"/>
          <a:ext cx="8413200" cy="1098000"/>
        </p:xfrm>
        <a:graphic>
          <a:graphicData uri="http://schemas.openxmlformats.org/drawingml/2006/table">
            <a:tbl>
              <a:tblPr firstRow="1" bandRow="1">
                <a:tableStyleId>{5C22544A-7EE6-4342-B048-85BDC9FD1C3A}</a:tableStyleId>
              </a:tblPr>
              <a:tblGrid>
                <a:gridCol w="1261980"/>
                <a:gridCol w="5468580"/>
                <a:gridCol w="1682640"/>
              </a:tblGrid>
              <a:tr h="274500">
                <a:tc>
                  <a:txBody>
                    <a:bodyPr/>
                    <a:lstStyle/>
                    <a:p>
                      <a:pPr algn="l"/>
                      <a:r>
                        <a:rPr sz="800" b="1" i="0">
                          <a:solidFill>
                            <a:srgbClr val="FFFFFF"/>
                          </a:solidFill>
                          <a:latin typeface="Calibri"/>
                        </a:rPr>
                        <a:t>Axe</a:t>
                      </a:r>
                    </a:p>
                  </a:txBody>
                  <a:tcPr>
                    <a:solidFill>
                      <a:srgbClr val="1B3A6B"/>
                    </a:solidFill>
                  </a:tcPr>
                </a:tc>
                <a:tc>
                  <a:txBody>
                    <a:bodyPr/>
                    <a:lstStyle/>
                    <a:p>
                      <a:pPr algn="ctr"/>
                      <a:r>
                        <a:rPr sz="800" b="1" i="0">
                          <a:solidFill>
                            <a:srgbClr val="FFFFFF"/>
                          </a:solidFill>
                          <a:latin typeface="Calibri"/>
                        </a:rPr>
                        <a:t>Condition d'invalidation</a:t>
                      </a:r>
                    </a:p>
                  </a:txBody>
                  <a:tcPr>
                    <a:solidFill>
                      <a:srgbClr val="1B3A6B"/>
                    </a:solidFill>
                  </a:tcPr>
                </a:tc>
                <a:tc>
                  <a:txBody>
                    <a:bodyPr/>
                    <a:lstStyle/>
                    <a:p>
                      <a:pPr algn="ctr"/>
                      <a:r>
                        <a:rPr sz="800" b="1" i="0">
                          <a:solidFill>
                            <a:srgbClr val="FFFFFF"/>
                          </a:solidFill>
                          <a:latin typeface="Calibri"/>
                        </a:rPr>
                        <a:t>Horizon</a:t>
                      </a:r>
                    </a:p>
                  </a:txBody>
                  <a:tcPr>
                    <a:solidFill>
                      <a:srgbClr val="1B3A6B"/>
                    </a:solidFill>
                  </a:tcPr>
                </a:tc>
              </a:tr>
              <a:tr h="274500">
                <a:tc>
                  <a:txBody>
                    <a:bodyPr/>
                    <a:lstStyle/>
                    <a:p>
                      <a:pPr algn="l"/>
                      <a:r>
                        <a:rPr sz="800" b="1" i="0">
                          <a:solidFill>
                            <a:srgbClr val="1B3A6B"/>
                          </a:solidFill>
                          <a:latin typeface="Calibri"/>
                        </a:rPr>
                        <a:t>Macro</a:t>
                      </a:r>
                    </a:p>
                  </a:txBody>
                  <a:tcPr>
                    <a:solidFill>
                      <a:srgbClr val="FFFFFF"/>
                    </a:solidFill>
                  </a:tcPr>
                </a:tc>
                <a:tc>
                  <a:txBody>
                    <a:bodyPr/>
                    <a:lstStyle/>
                    <a:p>
                      <a:pPr algn="ctr"/>
                      <a:r>
                        <a:rPr sz="800" b="0" i="0">
                          <a:solidFill>
                            <a:srgbClr val="0D0D0D"/>
                          </a:solidFill>
                          <a:latin typeface="Calibri"/>
                        </a:rPr>
                        <a:t>Croissance Chine &lt;3% en 2026</a:t>
                      </a:r>
                    </a:p>
                  </a:txBody>
                  <a:tcPr>
                    <a:solidFill>
                      <a:srgbClr val="FFFFFF"/>
                    </a:solidFill>
                  </a:tcPr>
                </a:tc>
                <a:tc>
                  <a:txBody>
                    <a:bodyPr/>
                    <a:lstStyle/>
                    <a:p>
                      <a:pPr algn="ctr"/>
                      <a:r>
                        <a:rPr sz="800" b="0" i="0">
                          <a:solidFill>
                            <a:srgbClr val="0D0D0D"/>
                          </a:solidFill>
                          <a:latin typeface="Calibri"/>
                        </a:rPr>
                        <a:t>6-12 mois</a:t>
                      </a:r>
                    </a:p>
                  </a:txBody>
                  <a:tcPr>
                    <a:solidFill>
                      <a:srgbClr val="FFFFFF"/>
                    </a:solidFill>
                  </a:tcPr>
                </a:tc>
              </a:tr>
              <a:tr h="274500">
                <a:tc>
                  <a:txBody>
                    <a:bodyPr/>
                    <a:lstStyle/>
                    <a:p>
                      <a:pPr algn="l"/>
                      <a:r>
                        <a:rPr sz="800" b="1" i="0">
                          <a:solidFill>
                            <a:srgbClr val="1B3A6B"/>
                          </a:solidFill>
                          <a:latin typeface="Calibri"/>
                        </a:rPr>
                        <a:t>Sectoriel</a:t>
                      </a:r>
                    </a:p>
                  </a:txBody>
                  <a:tcPr>
                    <a:solidFill>
                      <a:srgbClr val="F7F8FA"/>
                    </a:solidFill>
                  </a:tcPr>
                </a:tc>
                <a:tc>
                  <a:txBody>
                    <a:bodyPr/>
                    <a:lstStyle/>
                    <a:p>
                      <a:pPr algn="ctr"/>
                      <a:r>
                        <a:rPr sz="800" b="0" i="0">
                          <a:solidFill>
                            <a:srgbClr val="0D0D0D"/>
                          </a:solidFill>
                          <a:latin typeface="Calibri"/>
                        </a:rPr>
                        <a:t>Concurrence accrue sur le segment accessible (ex: Coach, Michael Kors)</a:t>
                      </a:r>
                    </a:p>
                  </a:txBody>
                  <a:tcPr>
                    <a:solidFill>
                      <a:srgbClr val="F7F8FA"/>
                    </a:solidFill>
                  </a:tcPr>
                </a:tc>
                <a:tc>
                  <a:txBody>
                    <a:bodyPr/>
                    <a:lstStyle/>
                    <a:p>
                      <a:pPr algn="ctr"/>
                      <a:r>
                        <a:rPr sz="800" b="0" i="0">
                          <a:solidFill>
                            <a:srgbClr val="0D0D0D"/>
                          </a:solidFill>
                          <a:latin typeface="Calibri"/>
                        </a:rPr>
                        <a:t>12-18 mois</a:t>
                      </a:r>
                    </a:p>
                  </a:txBody>
                  <a:tcPr>
                    <a:solidFill>
                      <a:srgbClr val="F7F8FA"/>
                    </a:solidFill>
                  </a:tcPr>
                </a:tc>
              </a:tr>
              <a:tr h="274500">
                <a:tc>
                  <a:txBody>
                    <a:bodyPr/>
                    <a:lstStyle/>
                    <a:p>
                      <a:pPr algn="l"/>
                      <a:r>
                        <a:rPr sz="800" b="1" i="0">
                          <a:solidFill>
                            <a:srgbClr val="1B3A6B"/>
                          </a:solidFill>
                          <a:latin typeface="Calibri"/>
                        </a:rPr>
                        <a:t>Societe</a:t>
                      </a:r>
                    </a:p>
                  </a:txBody>
                  <a:tcPr>
                    <a:solidFill>
                      <a:srgbClr val="FFFFFF"/>
                    </a:solidFill>
                  </a:tcPr>
                </a:tc>
                <a:tc>
                  <a:txBody>
                    <a:bodyPr/>
                    <a:lstStyle/>
                    <a:p>
                      <a:pPr algn="ctr"/>
                      <a:r>
                        <a:rPr sz="800" b="0" i="0">
                          <a:solidFill>
                            <a:srgbClr val="0D0D0D"/>
                          </a:solidFill>
                          <a:latin typeface="Calibri"/>
                        </a:rPr>
                        <a:t>Perte de parts de marché Louis Vuitton en Chine &gt;5%</a:t>
                      </a:r>
                    </a:p>
                  </a:txBody>
                  <a:tcPr>
                    <a:solidFill>
                      <a:srgbClr val="FFFFFF"/>
                    </a:solidFill>
                  </a:tcPr>
                </a:tc>
                <a:tc>
                  <a:txBody>
                    <a:bodyPr/>
                    <a:lstStyle/>
                    <a:p>
                      <a:pPr algn="ctr"/>
                      <a:r>
                        <a:rPr sz="800" b="0" i="0">
                          <a:solidFill>
                            <a:srgbClr val="0D0D0D"/>
                          </a:solidFill>
                          <a:latin typeface="Calibri"/>
                        </a:rPr>
                        <a:t>2-3 trim.</a:t>
                      </a:r>
                    </a:p>
                  </a:txBody>
                  <a:tcPr>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05</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Sentiment &amp; Annexes</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FinBERT, actionnariat &amp; historique de cours</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1B3A6B"/>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Sentiment de Marché — FinBERT</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Analyse sémantique  ·  20 articles  ·  7 derniers jours</a:t>
            </a:r>
          </a:p>
        </p:txBody>
      </p:sp>
      <p:sp>
        <p:nvSpPr>
          <p:cNvPr id="17" name="Rectangle 16"/>
          <p:cNvSpPr/>
          <p:nvPr/>
        </p:nvSpPr>
        <p:spPr>
          <a:xfrm>
            <a:off x="367200" y="961200"/>
            <a:ext cx="25596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015200"/>
            <a:ext cx="2422800" cy="396000"/>
          </a:xfrm>
          <a:prstGeom prst="rect">
            <a:avLst/>
          </a:prstGeom>
          <a:noFill/>
        </p:spPr>
        <p:txBody>
          <a:bodyPr wrap="square">
            <a:spAutoFit/>
          </a:bodyPr>
          <a:lstStyle/>
          <a:p>
            <a:pPr algn="l"/>
            <a:r>
              <a:rPr sz="1900" b="1" i="0">
                <a:solidFill>
                  <a:srgbClr val="1B3A6B"/>
                </a:solidFill>
                <a:latin typeface="Calibri"/>
              </a:rPr>
              <a:t>Neutre +</a:t>
            </a:r>
          </a:p>
        </p:txBody>
      </p:sp>
      <p:sp>
        <p:nvSpPr>
          <p:cNvPr id="20" name="TextBox 19"/>
          <p:cNvSpPr txBox="1"/>
          <p:nvPr/>
        </p:nvSpPr>
        <p:spPr>
          <a:xfrm>
            <a:off x="457200" y="1411200"/>
            <a:ext cx="2422800" cy="205199"/>
          </a:xfrm>
          <a:prstGeom prst="rect">
            <a:avLst/>
          </a:prstGeom>
          <a:noFill/>
        </p:spPr>
        <p:txBody>
          <a:bodyPr wrap="square">
            <a:spAutoFit/>
          </a:bodyPr>
          <a:lstStyle/>
          <a:p>
            <a:pPr algn="l"/>
            <a:r>
              <a:rPr sz="800" b="0" i="0">
                <a:solidFill>
                  <a:srgbClr val="555555"/>
                </a:solidFill>
                <a:latin typeface="Calibri"/>
              </a:rPr>
              <a:t>Orientation globale</a:t>
            </a:r>
          </a:p>
        </p:txBody>
      </p:sp>
      <p:sp>
        <p:nvSpPr>
          <p:cNvPr id="21" name="TextBox 20"/>
          <p:cNvSpPr txBox="1"/>
          <p:nvPr/>
        </p:nvSpPr>
        <p:spPr>
          <a:xfrm>
            <a:off x="457200" y="1609200"/>
            <a:ext cx="2422800" cy="165600"/>
          </a:xfrm>
          <a:prstGeom prst="rect">
            <a:avLst/>
          </a:prstGeom>
          <a:noFill/>
        </p:spPr>
        <p:txBody>
          <a:bodyPr wrap="square">
            <a:spAutoFit/>
          </a:bodyPr>
          <a:lstStyle/>
          <a:p>
            <a:pPr algn="l"/>
            <a:r>
              <a:rPr sz="700" b="0" i="0">
                <a:solidFill>
                  <a:srgbClr val="888888"/>
                </a:solidFill>
                <a:latin typeface="Calibri"/>
              </a:rPr>
              <a:t>Score agrege : +0,073</a:t>
            </a:r>
          </a:p>
        </p:txBody>
      </p:sp>
      <p:sp>
        <p:nvSpPr>
          <p:cNvPr id="22" name="Rectangle 21"/>
          <p:cNvSpPr/>
          <p:nvPr/>
        </p:nvSpPr>
        <p:spPr>
          <a:xfrm>
            <a:off x="3110400" y="961200"/>
            <a:ext cx="18288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1104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00400" y="1015200"/>
            <a:ext cx="1692000" cy="396000"/>
          </a:xfrm>
          <a:prstGeom prst="rect">
            <a:avLst/>
          </a:prstGeom>
          <a:noFill/>
        </p:spPr>
        <p:txBody>
          <a:bodyPr wrap="square">
            <a:spAutoFit/>
          </a:bodyPr>
          <a:lstStyle/>
          <a:p>
            <a:pPr algn="l"/>
            <a:r>
              <a:rPr sz="1900" b="1" i="0">
                <a:solidFill>
                  <a:srgbClr val="1B3A6B"/>
                </a:solidFill>
                <a:latin typeface="Calibri"/>
              </a:rPr>
              <a:t>20</a:t>
            </a:r>
          </a:p>
        </p:txBody>
      </p:sp>
      <p:sp>
        <p:nvSpPr>
          <p:cNvPr id="25" name="TextBox 24"/>
          <p:cNvSpPr txBox="1"/>
          <p:nvPr/>
        </p:nvSpPr>
        <p:spPr>
          <a:xfrm>
            <a:off x="3200400" y="1411200"/>
            <a:ext cx="1692000" cy="205199"/>
          </a:xfrm>
          <a:prstGeom prst="rect">
            <a:avLst/>
          </a:prstGeom>
          <a:noFill/>
        </p:spPr>
        <p:txBody>
          <a:bodyPr wrap="square">
            <a:spAutoFit/>
          </a:bodyPr>
          <a:lstStyle/>
          <a:p>
            <a:pPr algn="l"/>
            <a:r>
              <a:rPr sz="800" b="0" i="0">
                <a:solidFill>
                  <a:srgbClr val="555555"/>
                </a:solidFill>
                <a:latin typeface="Calibri"/>
              </a:rPr>
              <a:t>Articles analyses</a:t>
            </a:r>
          </a:p>
        </p:txBody>
      </p:sp>
      <p:sp>
        <p:nvSpPr>
          <p:cNvPr id="26" name="TextBox 25"/>
          <p:cNvSpPr txBox="1"/>
          <p:nvPr/>
        </p:nvSpPr>
        <p:spPr>
          <a:xfrm>
            <a:off x="3200400" y="1609200"/>
            <a:ext cx="1692000" cy="165600"/>
          </a:xfrm>
          <a:prstGeom prst="rect">
            <a:avLst/>
          </a:prstGeom>
          <a:noFill/>
        </p:spPr>
        <p:txBody>
          <a:bodyPr wrap="square">
            <a:spAutoFit/>
          </a:bodyPr>
          <a:lstStyle/>
          <a:p>
            <a:pPr algn="l"/>
            <a:r>
              <a:rPr sz="700" b="0" i="0">
                <a:solidFill>
                  <a:srgbClr val="888888"/>
                </a:solidFill>
                <a:latin typeface="Calibri"/>
              </a:rPr>
              <a:t>Fenetre : 7 jours</a:t>
            </a:r>
          </a:p>
        </p:txBody>
      </p:sp>
      <p:sp>
        <p:nvSpPr>
          <p:cNvPr id="27" name="Rectangle 26"/>
          <p:cNvSpPr/>
          <p:nvPr/>
        </p:nvSpPr>
        <p:spPr>
          <a:xfrm>
            <a:off x="5119200" y="961200"/>
            <a:ext cx="16452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1192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09200" y="1015200"/>
            <a:ext cx="1508400" cy="396000"/>
          </a:xfrm>
          <a:prstGeom prst="rect">
            <a:avLst/>
          </a:prstGeom>
          <a:noFill/>
        </p:spPr>
        <p:txBody>
          <a:bodyPr wrap="square">
            <a:spAutoFit/>
          </a:bodyPr>
          <a:lstStyle/>
          <a:p>
            <a:pPr algn="l"/>
            <a:r>
              <a:rPr sz="1900" b="1" i="0">
                <a:solidFill>
                  <a:srgbClr val="1B3A6B"/>
                </a:solidFill>
                <a:latin typeface="Calibri"/>
              </a:rPr>
              <a:t>59,9 %</a:t>
            </a:r>
          </a:p>
        </p:txBody>
      </p:sp>
      <p:sp>
        <p:nvSpPr>
          <p:cNvPr id="30" name="TextBox 29"/>
          <p:cNvSpPr txBox="1"/>
          <p:nvPr/>
        </p:nvSpPr>
        <p:spPr>
          <a:xfrm>
            <a:off x="5209200" y="1411200"/>
            <a:ext cx="1508400" cy="205199"/>
          </a:xfrm>
          <a:prstGeom prst="rect">
            <a:avLst/>
          </a:prstGeom>
          <a:noFill/>
        </p:spPr>
        <p:txBody>
          <a:bodyPr wrap="square">
            <a:spAutoFit/>
          </a:bodyPr>
          <a:lstStyle/>
          <a:p>
            <a:pPr algn="l"/>
            <a:r>
              <a:rPr sz="800" b="0" i="0">
                <a:solidFill>
                  <a:srgbClr val="555555"/>
                </a:solidFill>
                <a:latin typeface="Calibri"/>
              </a:rPr>
              <a:t>Confiance IA</a:t>
            </a:r>
          </a:p>
        </p:txBody>
      </p:sp>
      <p:sp>
        <p:nvSpPr>
          <p:cNvPr id="31" name="TextBox 30"/>
          <p:cNvSpPr txBox="1"/>
          <p:nvPr/>
        </p:nvSpPr>
        <p:spPr>
          <a:xfrm>
            <a:off x="5209200" y="1609200"/>
            <a:ext cx="1508400" cy="165600"/>
          </a:xfrm>
          <a:prstGeom prst="rect">
            <a:avLst/>
          </a:prstGeom>
          <a:noFill/>
        </p:spPr>
        <p:txBody>
          <a:bodyPr wrap="square">
            <a:spAutoFit/>
          </a:bodyPr>
          <a:lstStyle/>
          <a:p>
            <a:pPr algn="l"/>
            <a:r>
              <a:rPr sz="700" b="0" i="0">
                <a:solidFill>
                  <a:srgbClr val="888888"/>
                </a:solidFill>
                <a:latin typeface="Calibri"/>
              </a:rPr>
              <a:t>Modele FinBERT</a:t>
            </a:r>
          </a:p>
        </p:txBody>
      </p:sp>
      <p:sp>
        <p:nvSpPr>
          <p:cNvPr id="32" name="Rectangle 31"/>
          <p:cNvSpPr/>
          <p:nvPr/>
        </p:nvSpPr>
        <p:spPr>
          <a:xfrm>
            <a:off x="6948000" y="961200"/>
            <a:ext cx="17388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9480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38000" y="1015200"/>
            <a:ext cx="1602000" cy="396000"/>
          </a:xfrm>
          <a:prstGeom prst="rect">
            <a:avLst/>
          </a:prstGeom>
          <a:noFill/>
        </p:spPr>
        <p:txBody>
          <a:bodyPr wrap="square">
            <a:spAutoFit/>
          </a:bodyPr>
          <a:lstStyle/>
          <a:p>
            <a:pPr algn="l"/>
            <a:r>
              <a:rPr sz="1900" b="1" i="0">
                <a:solidFill>
                  <a:srgbClr val="1B3A6B"/>
                </a:solidFill>
                <a:latin typeface="Calibri"/>
              </a:rPr>
              <a:t>BUY</a:t>
            </a:r>
          </a:p>
        </p:txBody>
      </p:sp>
      <p:sp>
        <p:nvSpPr>
          <p:cNvPr id="35" name="TextBox 34"/>
          <p:cNvSpPr txBox="1"/>
          <p:nvPr/>
        </p:nvSpPr>
        <p:spPr>
          <a:xfrm>
            <a:off x="7038000" y="1411200"/>
            <a:ext cx="1602000" cy="205199"/>
          </a:xfrm>
          <a:prstGeom prst="rect">
            <a:avLst/>
          </a:prstGeom>
          <a:noFill/>
        </p:spPr>
        <p:txBody>
          <a:bodyPr wrap="square">
            <a:spAutoFit/>
          </a:bodyPr>
          <a:lstStyle/>
          <a:p>
            <a:pPr algn="l"/>
            <a:r>
              <a:rPr sz="800" b="0" i="0">
                <a:solidFill>
                  <a:srgbClr val="555555"/>
                </a:solidFill>
                <a:latin typeface="Calibri"/>
              </a:rPr>
              <a:t>Coherence</a:t>
            </a:r>
          </a:p>
        </p:txBody>
      </p:sp>
      <p:sp>
        <p:nvSpPr>
          <p:cNvPr id="36" name="TextBox 35"/>
          <p:cNvSpPr txBox="1"/>
          <p:nvPr/>
        </p:nvSpPr>
        <p:spPr>
          <a:xfrm>
            <a:off x="7038000" y="1609200"/>
            <a:ext cx="1602000" cy="165600"/>
          </a:xfrm>
          <a:prstGeom prst="rect">
            <a:avLst/>
          </a:prstGeom>
          <a:noFill/>
        </p:spPr>
        <p:txBody>
          <a:bodyPr wrap="square">
            <a:spAutoFit/>
          </a:bodyPr>
          <a:lstStyle/>
          <a:p>
            <a:pPr algn="l"/>
            <a:r>
              <a:rPr sz="700" b="0" i="0">
                <a:solidFill>
                  <a:srgbClr val="888888"/>
                </a:solidFill>
                <a:latin typeface="Calibri"/>
              </a:rPr>
              <a:t>Aligne avec la these</a:t>
            </a:r>
          </a:p>
        </p:txBody>
      </p:sp>
      <p:sp>
        <p:nvSpPr>
          <p:cNvPr id="37" name="TextBox 36"/>
          <p:cNvSpPr txBox="1"/>
          <p:nvPr/>
        </p:nvSpPr>
        <p:spPr>
          <a:xfrm>
            <a:off x="367200" y="2084400"/>
            <a:ext cx="8413200" cy="165600"/>
          </a:xfrm>
          <a:prstGeom prst="rect">
            <a:avLst/>
          </a:prstGeom>
          <a:noFill/>
        </p:spPr>
        <p:txBody>
          <a:bodyPr wrap="square">
            <a:spAutoFit/>
          </a:bodyPr>
          <a:lstStyle/>
          <a:p>
            <a:pPr algn="l"/>
            <a:r>
              <a:rPr sz="900" b="1" i="0">
                <a:solidFill>
                  <a:srgbClr val="2E5FA3"/>
                </a:solidFill>
                <a:latin typeface="Calibri"/>
              </a:rPr>
              <a:t>Détail par orientation</a:t>
            </a:r>
          </a:p>
        </p:txBody>
      </p:sp>
      <p:graphicFrame>
        <p:nvGraphicFramePr>
          <p:cNvPr id="38" name="Table 37"/>
          <p:cNvGraphicFramePr>
            <a:graphicFrameLocks noGrp="1"/>
          </p:cNvGraphicFramePr>
          <p:nvPr/>
        </p:nvGraphicFramePr>
        <p:xfrm>
          <a:off x="367200" y="2332800"/>
          <a:ext cx="8413200" cy="1152000"/>
        </p:xfrm>
        <a:graphic>
          <a:graphicData uri="http://schemas.openxmlformats.org/drawingml/2006/table">
            <a:tbl>
              <a:tblPr firstRow="1" bandRow="1">
                <a:tableStyleId>{5C22544A-7EE6-4342-B048-85BDC9FD1C3A}</a:tableStyleId>
              </a:tblPr>
              <a:tblGrid>
                <a:gridCol w="1261980"/>
                <a:gridCol w="1261980"/>
                <a:gridCol w="1682640"/>
                <a:gridCol w="4206600"/>
              </a:tblGrid>
              <a:tr h="288000">
                <a:tc>
                  <a:txBody>
                    <a:bodyPr/>
                    <a:lstStyle/>
                    <a:p>
                      <a:pPr algn="l"/>
                      <a:r>
                        <a:rPr sz="800" b="1" i="0">
                          <a:solidFill>
                            <a:srgbClr val="FFFFFF"/>
                          </a:solidFill>
                          <a:latin typeface="Calibri"/>
                        </a:rPr>
                        <a:t>Orientation</a:t>
                      </a:r>
                    </a:p>
                  </a:txBody>
                  <a:tcPr>
                    <a:solidFill>
                      <a:srgbClr val="1B3A6B"/>
                    </a:solidFill>
                  </a:tcPr>
                </a:tc>
                <a:tc>
                  <a:txBody>
                    <a:bodyPr/>
                    <a:lstStyle/>
                    <a:p>
                      <a:pPr algn="ctr"/>
                      <a:r>
                        <a:rPr sz="800" b="1" i="0">
                          <a:solidFill>
                            <a:srgbClr val="FFFFFF"/>
                          </a:solidFill>
                          <a:latin typeface="Calibri"/>
                        </a:rPr>
                        <a:t>Articles</a:t>
                      </a:r>
                    </a:p>
                  </a:txBody>
                  <a:tcPr>
                    <a:solidFill>
                      <a:srgbClr val="1B3A6B"/>
                    </a:solidFill>
                  </a:tcPr>
                </a:tc>
                <a:tc>
                  <a:txBody>
                    <a:bodyPr/>
                    <a:lstStyle/>
                    <a:p>
                      <a:pPr algn="ctr"/>
                      <a:r>
                        <a:rPr sz="800" b="1" i="0">
                          <a:solidFill>
                            <a:srgbClr val="FFFFFF"/>
                          </a:solidFill>
                          <a:latin typeface="Calibri"/>
                        </a:rPr>
                        <a:t>Score moyen</a:t>
                      </a:r>
                    </a:p>
                  </a:txBody>
                  <a:tcPr>
                    <a:solidFill>
                      <a:srgbClr val="1B3A6B"/>
                    </a:solidFill>
                  </a:tcPr>
                </a:tc>
                <a:tc>
                  <a:txBody>
                    <a:bodyPr/>
                    <a:lstStyle/>
                    <a:p>
                      <a:pPr algn="ctr"/>
                      <a:r>
                        <a:rPr sz="800" b="1" i="0">
                          <a:solidFill>
                            <a:srgbClr val="FFFFFF"/>
                          </a:solidFill>
                          <a:latin typeface="Calibri"/>
                        </a:rPr>
                        <a:t>Thèmes principaux</a:t>
                      </a:r>
                    </a:p>
                  </a:txBody>
                  <a:tcPr>
                    <a:solidFill>
                      <a:srgbClr val="1B3A6B"/>
                    </a:solidFill>
                  </a:tcPr>
                </a:tc>
              </a:tr>
              <a:tr h="288000">
                <a:tc>
                  <a:txBody>
                    <a:bodyPr/>
                    <a:lstStyle/>
                    <a:p>
                      <a:pPr algn="l"/>
                      <a:r>
                        <a:rPr sz="800" b="1" i="0">
                          <a:solidFill>
                            <a:srgbClr val="1A7A4A"/>
                          </a:solidFill>
                          <a:latin typeface="Calibri"/>
                        </a:rPr>
                        <a:t>Positif</a:t>
                      </a:r>
                    </a:p>
                  </a:txBody>
                  <a:tcPr>
                    <a:solidFill>
                      <a:srgbClr val="EAF4EF"/>
                    </a:solidFill>
                  </a:tcPr>
                </a:tc>
                <a:tc>
                  <a:txBody>
                    <a:bodyPr/>
                    <a:lstStyle/>
                    <a:p>
                      <a:pPr algn="ctr"/>
                      <a:r>
                        <a:rPr sz="800" b="1" i="0">
                          <a:solidFill>
                            <a:srgbClr val="1A7A4A"/>
                          </a:solidFill>
                          <a:latin typeface="Calibri"/>
                        </a:rPr>
                        <a:t>4</a:t>
                      </a:r>
                    </a:p>
                  </a:txBody>
                  <a:tcPr>
                    <a:solidFill>
                      <a:srgbClr val="EAF4EF"/>
                    </a:solidFill>
                  </a:tcPr>
                </a:tc>
                <a:tc>
                  <a:txBody>
                    <a:bodyPr/>
                    <a:lstStyle/>
                    <a:p>
                      <a:pPr algn="ctr"/>
                      <a:r>
                        <a:rPr sz="800" b="0" i="0">
                          <a:solidFill>
                            <a:srgbClr val="0D0D0D"/>
                          </a:solidFill>
                          <a:latin typeface="Calibri"/>
                        </a:rPr>
                        <a:t>+0,237</a:t>
                      </a:r>
                    </a:p>
                  </a:txBody>
                  <a:tcPr>
                    <a:solidFill>
                      <a:srgbClr val="EAF4EF"/>
                    </a:solidFill>
                  </a:tcPr>
                </a:tc>
                <a:tc>
                  <a:txBody>
                    <a:bodyPr/>
                    <a:lstStyle/>
                    <a:p>
                      <a:pPr algn="ctr"/>
                      <a:r>
                        <a:rPr sz="800" b="0" i="0">
                          <a:solidFill>
                            <a:srgbClr val="0D0D0D"/>
                          </a:solidFill>
                          <a:latin typeface="Calibri"/>
                        </a:rPr>
                        <a:t>Rebond des ventes en Chine post-Covid (+12% 2026), Lancement de 15 collections capsules générant +€1.2mds, Expansion du réseau en Amérique du Nord (+8% CA 2026)</a:t>
                      </a:r>
                    </a:p>
                  </a:txBody>
                  <a:tcPr>
                    <a:solidFill>
                      <a:srgbClr val="EAF4EF"/>
                    </a:solidFill>
                  </a:tcPr>
                </a:tc>
              </a:tr>
              <a:tr h="288000">
                <a:tc>
                  <a:txBody>
                    <a:bodyPr/>
                    <a:lstStyle/>
                    <a:p>
                      <a:pPr algn="l"/>
                      <a:r>
                        <a:rPr sz="800" b="1" i="0">
                          <a:solidFill>
                            <a:srgbClr val="555555"/>
                          </a:solidFill>
                          <a:latin typeface="Calibri"/>
                        </a:rPr>
                        <a:t>Neutre</a:t>
                      </a:r>
                    </a:p>
                  </a:txBody>
                  <a:tcPr>
                    <a:solidFill>
                      <a:srgbClr val="FFFFFF"/>
                    </a:solidFill>
                  </a:tcPr>
                </a:tc>
                <a:tc>
                  <a:txBody>
                    <a:bodyPr/>
                    <a:lstStyle/>
                    <a:p>
                      <a:pPr algn="ctr"/>
                      <a:r>
                        <a:rPr sz="800" b="1" i="0">
                          <a:solidFill>
                            <a:srgbClr val="555555"/>
                          </a:solidFill>
                          <a:latin typeface="Calibri"/>
                        </a:rPr>
                        <a:t>13</a:t>
                      </a:r>
                    </a:p>
                  </a:txBody>
                  <a:tcPr>
                    <a:solidFill>
                      <a:srgbClr val="FFFFFF"/>
                    </a:solidFill>
                  </a:tcPr>
                </a:tc>
                <a:tc>
                  <a:txBody>
                    <a:bodyPr/>
                    <a:lstStyle/>
                    <a:p>
                      <a:pPr algn="ctr"/>
                      <a:r>
                        <a:rPr sz="800" b="0" i="0">
                          <a:solidFill>
                            <a:srgbClr val="0D0D0D"/>
                          </a:solidFill>
                          <a:latin typeface="Calibri"/>
                        </a:rPr>
                        <a:t>+0,599</a:t>
                      </a:r>
                    </a:p>
                  </a:txBody>
                  <a:tcPr>
                    <a:solidFill>
                      <a:srgbClr val="FFFFFF"/>
                    </a:solidFill>
                  </a:tcPr>
                </a:tc>
                <a:tc>
                  <a:txBody>
                    <a:bodyPr/>
                    <a:lstStyle/>
                    <a:p>
                      <a:pPr algn="ctr"/>
                      <a:r>
                        <a:rPr sz="800" b="0" i="0">
                          <a:solidFill>
                            <a:srgbClr val="0D0D0D"/>
                          </a:solidFill>
                          <a:latin typeface="Calibri"/>
                        </a:rPr>
                        <a:t>Actualité sectorielle générale</a:t>
                      </a:r>
                    </a:p>
                  </a:txBody>
                  <a:tcPr>
                    <a:solidFill>
                      <a:srgbClr val="FFFFFF"/>
                    </a:solidFill>
                  </a:tcPr>
                </a:tc>
              </a:tr>
              <a:tr h="288000">
                <a:tc>
                  <a:txBody>
                    <a:bodyPr/>
                    <a:lstStyle/>
                    <a:p>
                      <a:pPr algn="l"/>
                      <a:r>
                        <a:rPr sz="800" b="1" i="0">
                          <a:solidFill>
                            <a:srgbClr val="A82020"/>
                          </a:solidFill>
                          <a:latin typeface="Calibri"/>
                        </a:rPr>
                        <a:t>Négatif</a:t>
                      </a:r>
                    </a:p>
                  </a:txBody>
                  <a:tcPr>
                    <a:solidFill>
                      <a:srgbClr val="FAF0EF"/>
                    </a:solidFill>
                  </a:tcPr>
                </a:tc>
                <a:tc>
                  <a:txBody>
                    <a:bodyPr/>
                    <a:lstStyle/>
                    <a:p>
                      <a:pPr algn="ctr"/>
                      <a:r>
                        <a:rPr sz="800" b="1" i="0">
                          <a:solidFill>
                            <a:srgbClr val="A82020"/>
                          </a:solidFill>
                          <a:latin typeface="Calibri"/>
                        </a:rPr>
                        <a:t>3</a:t>
                      </a:r>
                    </a:p>
                  </a:txBody>
                  <a:tcPr>
                    <a:solidFill>
                      <a:srgbClr val="FAF0EF"/>
                    </a:solidFill>
                  </a:tcPr>
                </a:tc>
                <a:tc>
                  <a:txBody>
                    <a:bodyPr/>
                    <a:lstStyle/>
                    <a:p>
                      <a:pPr algn="ctr"/>
                      <a:r>
                        <a:rPr sz="800" b="0" i="0">
                          <a:solidFill>
                            <a:srgbClr val="0D0D0D"/>
                          </a:solidFill>
                          <a:latin typeface="Calibri"/>
                        </a:rPr>
                        <a:t>+0,164</a:t>
                      </a:r>
                    </a:p>
                  </a:txBody>
                  <a:tcPr>
                    <a:solidFill>
                      <a:srgbClr val="FAF0EF"/>
                    </a:solidFill>
                  </a:tcPr>
                </a:tc>
                <a:tc>
                  <a:txBody>
                    <a:bodyPr/>
                    <a:lstStyle/>
                    <a:p>
                      <a:pPr algn="ctr"/>
                      <a:r>
                        <a:rPr sz="800" b="0" i="0">
                          <a:solidFill>
                            <a:srgbClr val="0D0D0D"/>
                          </a:solidFill>
                          <a:latin typeface="Calibri"/>
                        </a:rPr>
                        <a:t>Risque de ralentissement économique en Chine (-3% croissance 2026), Concurrence accrue sur le segment accessible (ex: Coach, Michael Kors), Régulation accrue sur les prix et la distribution en Europe</a:t>
                      </a:r>
                    </a:p>
                  </a:txBody>
                  <a:tcPr>
                    <a:solidFill>
                      <a:srgbClr val="FAF0EF"/>
                    </a:solidFill>
                  </a:tcPr>
                </a:tc>
              </a:tr>
            </a:tbl>
          </a:graphicData>
        </a:graphic>
      </p:graphicFrame>
      <p:sp>
        <p:nvSpPr>
          <p:cNvPr id="39" name="TextBox 38"/>
          <p:cNvSpPr txBox="1"/>
          <p:nvPr/>
        </p:nvSpPr>
        <p:spPr>
          <a:xfrm>
            <a:off x="367200" y="3664800"/>
            <a:ext cx="8413200" cy="914400"/>
          </a:xfrm>
          <a:prstGeom prst="rect">
            <a:avLst/>
          </a:prstGeom>
          <a:noFill/>
        </p:spPr>
        <p:txBody>
          <a:bodyPr wrap="square">
            <a:spAutoFit/>
          </a:bodyPr>
          <a:lstStyle/>
          <a:p>
            <a:pPr algn="l"/>
            <a:r>
              <a:rPr sz="850" b="0" i="0">
                <a:solidFill>
                  <a:srgbClr val="333333"/>
                </a:solidFill>
                <a:latin typeface="Calibri"/>
              </a:rPr>
              <a:t>Le sentiment neutre + (score +0.073) est basé sur 20 articles analysés sur 7 jours. Confiance IA : 60%. Cohérence avec la recommandation BUY : validée.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1B3A6B"/>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Actionnariat &amp; Structure du Capital</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Répartition de l'actionnariat  ·  Au 26 mars 2026</a:t>
            </a:r>
          </a:p>
        </p:txBody>
      </p:sp>
      <p:sp>
        <p:nvSpPr>
          <p:cNvPr id="17" name="TextBox 16"/>
          <p:cNvSpPr txBox="1"/>
          <p:nvPr/>
        </p:nvSpPr>
        <p:spPr>
          <a:xfrm>
            <a:off x="367200" y="748800"/>
            <a:ext cx="5029200" cy="201600"/>
          </a:xfrm>
          <a:prstGeom prst="rect">
            <a:avLst/>
          </a:prstGeom>
          <a:noFill/>
        </p:spPr>
        <p:txBody>
          <a:bodyPr wrap="square">
            <a:spAutoFit/>
          </a:bodyPr>
          <a:lstStyle/>
          <a:p>
            <a:pPr algn="l"/>
            <a:r>
              <a:rPr sz="900" b="1" i="0">
                <a:solidFill>
                  <a:srgbClr val="2E5FA3"/>
                </a:solidFill>
                <a:latin typeface="Calibri"/>
              </a:rPr>
              <a:t>Top actionnaires</a:t>
            </a:r>
          </a:p>
        </p:txBody>
      </p:sp>
      <p:graphicFrame>
        <p:nvGraphicFramePr>
          <p:cNvPr id="18" name="Table 17"/>
          <p:cNvGraphicFramePr>
            <a:graphicFrameLocks noGrp="1"/>
          </p:cNvGraphicFramePr>
          <p:nvPr/>
        </p:nvGraphicFramePr>
        <p:xfrm>
          <a:off x="367200" y="968400"/>
          <a:ext cx="5302800" cy="2232000"/>
        </p:xfrm>
        <a:graphic>
          <a:graphicData uri="http://schemas.openxmlformats.org/drawingml/2006/table">
            <a:tbl>
              <a:tblPr firstRow="1" bandRow="1">
                <a:tableStyleId>{5C22544A-7EE6-4342-B048-85BDC9FD1C3A}</a:tableStyleId>
              </a:tblPr>
              <a:tblGrid>
                <a:gridCol w="2015064"/>
                <a:gridCol w="1378728"/>
                <a:gridCol w="1060560"/>
                <a:gridCol w="848448"/>
              </a:tblGrid>
              <a:tr h="223200">
                <a:tc>
                  <a:txBody>
                    <a:bodyPr/>
                    <a:lstStyle/>
                    <a:p>
                      <a:pPr algn="l"/>
                      <a:r>
                        <a:rPr sz="800" b="1" i="0">
                          <a:solidFill>
                            <a:srgbClr val="FFFFFF"/>
                          </a:solidFill>
                          <a:latin typeface="Calibri"/>
                        </a:rPr>
                        <a:t>Actionnaire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Type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Détention %</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Style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LVMH (Insiders)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Insiders &amp; dirigeants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50.0 %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B06000"/>
                          </a:solidFill>
                          <a:latin typeface="Calibri"/>
                        </a:rPr>
                        <a:t>Insider</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VANGUARD STAR FUNDS-Vanguard Total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0.7 %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2E5FA3"/>
                          </a:solidFill>
                          <a:latin typeface="Calibri"/>
                        </a:rPr>
                        <a:t>Passif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VANGUARD TAX-MANAGED FUNDS-Vanguard</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0.5 %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2E5FA3"/>
                          </a:solidFill>
                          <a:latin typeface="Calibri"/>
                        </a:rPr>
                        <a:t>Passif</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iShares Trust-iShares Core MSCI EAF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0.3 %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2E5FA3"/>
                          </a:solidFill>
                          <a:latin typeface="Calibri"/>
                        </a:rPr>
                        <a:t>Passif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First Eagle Funds-First Eagle Globa</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0.2 %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1A7A4A"/>
                          </a:solidFill>
                          <a:latin typeface="Calibri"/>
                        </a:rPr>
                        <a:t>Actif</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EuroPacific Growth Fund-EUPAC Fund</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0.2 %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1A7A4A"/>
                          </a:solidFill>
                          <a:latin typeface="Calibri"/>
                        </a:rPr>
                        <a:t>Actif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Fidelity Concord Street Trust-Fidel</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0.2 %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1A7A4A"/>
                          </a:solidFill>
                          <a:latin typeface="Calibri"/>
                        </a:rPr>
                        <a:t>Actif</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iShares Trust-iShares MSCI EAFE ETF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0.2 %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2E5FA3"/>
                          </a:solidFill>
                          <a:latin typeface="Calibri"/>
                        </a:rPr>
                        <a:t>Passif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Autres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Retail &amp; autres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47.6 %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555555"/>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19" name="TextBox 18"/>
          <p:cNvSpPr txBox="1"/>
          <p:nvPr/>
        </p:nvSpPr>
        <p:spPr>
          <a:xfrm>
            <a:off x="5760000" y="748800"/>
            <a:ext cx="3016800" cy="201600"/>
          </a:xfrm>
          <a:prstGeom prst="rect">
            <a:avLst/>
          </a:prstGeom>
          <a:noFill/>
        </p:spPr>
        <p:txBody>
          <a:bodyPr wrap="square">
            <a:spAutoFit/>
          </a:bodyPr>
          <a:lstStyle/>
          <a:p>
            <a:pPr algn="l"/>
            <a:r>
              <a:rPr sz="900" b="1" i="0">
                <a:solidFill>
                  <a:srgbClr val="2E5FA3"/>
                </a:solidFill>
                <a:latin typeface="Calibri"/>
              </a:rPr>
              <a:t>Répartition par type</a:t>
            </a:r>
          </a:p>
        </p:txBody>
      </p:sp>
      <p:graphicFrame>
        <p:nvGraphicFramePr>
          <p:cNvPr id="20" name="Table 19"/>
          <p:cNvGraphicFramePr>
            <a:graphicFrameLocks noGrp="1"/>
          </p:cNvGraphicFramePr>
          <p:nvPr/>
        </p:nvGraphicFramePr>
        <p:xfrm>
          <a:off x="5760000" y="968400"/>
          <a:ext cx="3016800" cy="1134000"/>
        </p:xfrm>
        <a:graphic>
          <a:graphicData uri="http://schemas.openxmlformats.org/drawingml/2006/table">
            <a:tbl>
              <a:tblPr firstRow="1" bandRow="1">
                <a:tableStyleId>{5C22544A-7EE6-4342-B048-85BDC9FD1C3A}</a:tableStyleId>
              </a:tblPr>
              <a:tblGrid>
                <a:gridCol w="1810080"/>
                <a:gridCol w="1206720"/>
              </a:tblGrid>
              <a:tr h="226800">
                <a:tc>
                  <a:txBody>
                    <a:bodyPr/>
                    <a:lstStyle/>
                    <a:p>
                      <a:pPr algn="l"/>
                      <a:r>
                        <a:rPr sz="800" b="1" i="0">
                          <a:solidFill>
                            <a:srgbClr val="FFFFFF"/>
                          </a:solidFill>
                          <a:latin typeface="Calibri"/>
                        </a:rPr>
                        <a:t>Type d'actionnaire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Part estimée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26800">
                <a:tc>
                  <a:txBody>
                    <a:bodyPr/>
                    <a:lstStyle/>
                    <a:p>
                      <a:pPr algn="l"/>
                      <a:r>
                        <a:rPr sz="800" b="0" i="0">
                          <a:solidFill>
                            <a:srgbClr val="0D0D0D"/>
                          </a:solidFill>
                          <a:latin typeface="Calibri"/>
                        </a:rPr>
                        <a:t>Institutionnel passif</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1.7 %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6800">
                <a:tc>
                  <a:txBody>
                    <a:bodyPr/>
                    <a:lstStyle/>
                    <a:p>
                      <a:pPr algn="l"/>
                      <a:r>
                        <a:rPr sz="800" b="0" i="0">
                          <a:solidFill>
                            <a:srgbClr val="0D0D0D"/>
                          </a:solidFill>
                          <a:latin typeface="Calibri"/>
                        </a:rPr>
                        <a:t>Institutionnel actif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0.7 %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6800">
                <a:tc>
                  <a:txBody>
                    <a:bodyPr/>
                    <a:lstStyle/>
                    <a:p>
                      <a:pPr algn="l"/>
                      <a:r>
                        <a:rPr sz="800" b="0" i="0">
                          <a:solidFill>
                            <a:srgbClr val="0D0D0D"/>
                          </a:solidFill>
                          <a:latin typeface="Calibri"/>
                        </a:rPr>
                        <a:t>Insider</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50.0 %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6800">
                <a:tc>
                  <a:txBody>
                    <a:bodyPr/>
                    <a:lstStyle/>
                    <a:p>
                      <a:pPr algn="l"/>
                      <a:r>
                        <a:rPr sz="800" b="0" i="0">
                          <a:solidFill>
                            <a:srgbClr val="0D0D0D"/>
                          </a:solidFill>
                          <a:latin typeface="Calibri"/>
                        </a:rPr>
                        <a:t>Retail &amp; autres</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47.6 %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21" name="TextBox 20"/>
          <p:cNvSpPr txBox="1"/>
          <p:nvPr/>
        </p:nvSpPr>
        <p:spPr>
          <a:xfrm>
            <a:off x="367200" y="3326400"/>
            <a:ext cx="8413200" cy="1004400"/>
          </a:xfrm>
          <a:prstGeom prst="rect">
            <a:avLst/>
          </a:prstGeom>
          <a:noFill/>
        </p:spPr>
        <p:txBody>
          <a:bodyPr wrap="square">
            <a:spAutoFit/>
          </a:bodyPr>
          <a:lstStyle/>
          <a:p>
            <a:pPr algn="l"/>
            <a:r>
              <a:rPr sz="850" b="0" i="0">
                <a:solidFill>
                  <a:srgbClr val="555555"/>
                </a:solidFill>
                <a:latin typeface="Calibri"/>
              </a:rPr>
              <a:t>Les multiples sont en ligne avec les peers (EV/EBITDA 9.2x vs 9.5x médiane) mais justifiés par une qualité de marge supérieure. Le titre se traite à 20.9x P/E contre 22x pour le secteur, offrant une décote attractive.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1B3A6B"/>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Historique de Cours — 52 Semaines</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MC.PA  ·  EUR  ·  Au 26 mars 2026</a:t>
            </a:r>
          </a:p>
        </p:txBody>
      </p:sp>
      <p:sp>
        <p:nvSpPr>
          <p:cNvPr id="17" name="Rectangle 16"/>
          <p:cNvSpPr/>
          <p:nvPr/>
        </p:nvSpPr>
        <p:spPr>
          <a:xfrm>
            <a:off x="367200" y="961200"/>
            <a:ext cx="19188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015200"/>
            <a:ext cx="1782000" cy="396000"/>
          </a:xfrm>
          <a:prstGeom prst="rect">
            <a:avLst/>
          </a:prstGeom>
          <a:noFill/>
        </p:spPr>
        <p:txBody>
          <a:bodyPr wrap="square">
            <a:spAutoFit/>
          </a:bodyPr>
          <a:lstStyle/>
          <a:p>
            <a:pPr algn="l"/>
            <a:r>
              <a:rPr sz="1900" b="1" i="0">
                <a:solidFill>
                  <a:srgbClr val="1B3A6B"/>
                </a:solidFill>
                <a:latin typeface="Calibri"/>
              </a:rPr>
              <a:t>458,30 EUR</a:t>
            </a:r>
          </a:p>
        </p:txBody>
      </p:sp>
      <p:sp>
        <p:nvSpPr>
          <p:cNvPr id="20" name="TextBox 19"/>
          <p:cNvSpPr txBox="1"/>
          <p:nvPr/>
        </p:nvSpPr>
        <p:spPr>
          <a:xfrm>
            <a:off x="457200" y="1411200"/>
            <a:ext cx="1782000" cy="205199"/>
          </a:xfrm>
          <a:prstGeom prst="rect">
            <a:avLst/>
          </a:prstGeom>
          <a:noFill/>
        </p:spPr>
        <p:txBody>
          <a:bodyPr wrap="square">
            <a:spAutoFit/>
          </a:bodyPr>
          <a:lstStyle/>
          <a:p>
            <a:pPr algn="l"/>
            <a:r>
              <a:rPr sz="800" b="0" i="0">
                <a:solidFill>
                  <a:srgbClr val="555555"/>
                </a:solidFill>
                <a:latin typeface="Calibri"/>
              </a:rPr>
              <a:t>Cours actuel</a:t>
            </a:r>
          </a:p>
        </p:txBody>
      </p:sp>
      <p:sp>
        <p:nvSpPr>
          <p:cNvPr id="21" name="Rectangle 20"/>
          <p:cNvSpPr/>
          <p:nvPr/>
        </p:nvSpPr>
        <p:spPr>
          <a:xfrm>
            <a:off x="2422800" y="961200"/>
            <a:ext cx="19188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4228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12800" y="1015200"/>
            <a:ext cx="1782000" cy="396000"/>
          </a:xfrm>
          <a:prstGeom prst="rect">
            <a:avLst/>
          </a:prstGeom>
          <a:noFill/>
        </p:spPr>
        <p:txBody>
          <a:bodyPr wrap="square">
            <a:spAutoFit/>
          </a:bodyPr>
          <a:lstStyle/>
          <a:p>
            <a:pPr algn="l"/>
            <a:r>
              <a:rPr sz="1900" b="1" i="0">
                <a:solidFill>
                  <a:srgbClr val="1B3A6B"/>
                </a:solidFill>
                <a:latin typeface="Calibri"/>
              </a:rPr>
              <a:t>639,48 EUR</a:t>
            </a:r>
          </a:p>
        </p:txBody>
      </p:sp>
      <p:sp>
        <p:nvSpPr>
          <p:cNvPr id="24" name="TextBox 23"/>
          <p:cNvSpPr txBox="1"/>
          <p:nvPr/>
        </p:nvSpPr>
        <p:spPr>
          <a:xfrm>
            <a:off x="2512800" y="1411200"/>
            <a:ext cx="1782000" cy="205199"/>
          </a:xfrm>
          <a:prstGeom prst="rect">
            <a:avLst/>
          </a:prstGeom>
          <a:noFill/>
        </p:spPr>
        <p:txBody>
          <a:bodyPr wrap="square">
            <a:spAutoFit/>
          </a:bodyPr>
          <a:lstStyle/>
          <a:p>
            <a:pPr algn="l"/>
            <a:r>
              <a:rPr sz="800" b="0" i="0">
                <a:solidFill>
                  <a:srgbClr val="555555"/>
                </a:solidFill>
                <a:latin typeface="Calibri"/>
              </a:rPr>
              <a:t>Plus haut 52 sem.</a:t>
            </a:r>
          </a:p>
        </p:txBody>
      </p:sp>
      <p:sp>
        <p:nvSpPr>
          <p:cNvPr id="25" name="Rectangle 24"/>
          <p:cNvSpPr/>
          <p:nvPr/>
        </p:nvSpPr>
        <p:spPr>
          <a:xfrm>
            <a:off x="4482000" y="961200"/>
            <a:ext cx="19188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20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0" y="1015200"/>
            <a:ext cx="1782000" cy="396000"/>
          </a:xfrm>
          <a:prstGeom prst="rect">
            <a:avLst/>
          </a:prstGeom>
          <a:noFill/>
        </p:spPr>
        <p:txBody>
          <a:bodyPr wrap="square">
            <a:spAutoFit/>
          </a:bodyPr>
          <a:lstStyle/>
          <a:p>
            <a:pPr algn="l"/>
            <a:r>
              <a:rPr sz="1900" b="1" i="0">
                <a:solidFill>
                  <a:srgbClr val="1B3A6B"/>
                </a:solidFill>
                <a:latin typeface="Calibri"/>
              </a:rPr>
              <a:t>440,80 EUR</a:t>
            </a:r>
          </a:p>
        </p:txBody>
      </p:sp>
      <p:sp>
        <p:nvSpPr>
          <p:cNvPr id="28" name="TextBox 27"/>
          <p:cNvSpPr txBox="1"/>
          <p:nvPr/>
        </p:nvSpPr>
        <p:spPr>
          <a:xfrm>
            <a:off x="4572000" y="1411200"/>
            <a:ext cx="1782000" cy="205199"/>
          </a:xfrm>
          <a:prstGeom prst="rect">
            <a:avLst/>
          </a:prstGeom>
          <a:noFill/>
        </p:spPr>
        <p:txBody>
          <a:bodyPr wrap="square">
            <a:spAutoFit/>
          </a:bodyPr>
          <a:lstStyle/>
          <a:p>
            <a:pPr algn="l"/>
            <a:r>
              <a:rPr sz="800" b="0" i="0">
                <a:solidFill>
                  <a:srgbClr val="555555"/>
                </a:solidFill>
                <a:latin typeface="Calibri"/>
              </a:rPr>
              <a:t>Plus bas 52 sem.</a:t>
            </a:r>
          </a:p>
        </p:txBody>
      </p:sp>
      <p:sp>
        <p:nvSpPr>
          <p:cNvPr id="29" name="Rectangle 28"/>
          <p:cNvSpPr/>
          <p:nvPr/>
        </p:nvSpPr>
        <p:spPr>
          <a:xfrm>
            <a:off x="6537600" y="961200"/>
            <a:ext cx="21960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5376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27600" y="1015200"/>
            <a:ext cx="2059200" cy="396000"/>
          </a:xfrm>
          <a:prstGeom prst="rect">
            <a:avLst/>
          </a:prstGeom>
          <a:noFill/>
        </p:spPr>
        <p:txBody>
          <a:bodyPr wrap="square">
            <a:spAutoFit/>
          </a:bodyPr>
          <a:lstStyle/>
          <a:p>
            <a:pPr algn="l"/>
            <a:r>
              <a:rPr sz="1900" b="1" i="0">
                <a:solidFill>
                  <a:srgbClr val="1B3A6B"/>
                </a:solidFill>
                <a:latin typeface="Calibri"/>
              </a:rPr>
              <a:t>-3,8 %</a:t>
            </a:r>
          </a:p>
        </p:txBody>
      </p:sp>
      <p:sp>
        <p:nvSpPr>
          <p:cNvPr id="32" name="TextBox 31"/>
          <p:cNvSpPr txBox="1"/>
          <p:nvPr/>
        </p:nvSpPr>
        <p:spPr>
          <a:xfrm>
            <a:off x="6627600" y="1411200"/>
            <a:ext cx="2059200" cy="205199"/>
          </a:xfrm>
          <a:prstGeom prst="rect">
            <a:avLst/>
          </a:prstGeom>
          <a:noFill/>
        </p:spPr>
        <p:txBody>
          <a:bodyPr wrap="square">
            <a:spAutoFit/>
          </a:bodyPr>
          <a:lstStyle/>
          <a:p>
            <a:pPr algn="l"/>
            <a:r>
              <a:rPr sz="800" b="0" i="0">
                <a:solidFill>
                  <a:srgbClr val="555555"/>
                </a:solidFill>
                <a:latin typeface="Calibri"/>
              </a:rPr>
              <a:t>Performance 52 sem.</a:t>
            </a:r>
          </a:p>
        </p:txBody>
      </p:sp>
      <p:sp>
        <p:nvSpPr>
          <p:cNvPr id="33" name="TextBox 32"/>
          <p:cNvSpPr txBox="1"/>
          <p:nvPr/>
        </p:nvSpPr>
        <p:spPr>
          <a:xfrm>
            <a:off x="367200" y="1846800"/>
            <a:ext cx="8413200" cy="165600"/>
          </a:xfrm>
          <a:prstGeom prst="rect">
            <a:avLst/>
          </a:prstGeom>
          <a:noFill/>
        </p:spPr>
        <p:txBody>
          <a:bodyPr wrap="square">
            <a:spAutoFit/>
          </a:bodyPr>
          <a:lstStyle/>
          <a:p>
            <a:pPr algn="l"/>
            <a:r>
              <a:rPr sz="900" b="1" i="0">
                <a:solidFill>
                  <a:srgbClr val="1B3A6B"/>
                </a:solidFill>
                <a:latin typeface="Calibri"/>
              </a:rPr>
              <a:t>Evolution du cours — 12 derniers mois</a:t>
            </a:r>
          </a:p>
        </p:txBody>
      </p:sp>
      <p:sp>
        <p:nvSpPr>
          <p:cNvPr id="34" name="Rectangle 33"/>
          <p:cNvSpPr/>
          <p:nvPr/>
        </p:nvSpPr>
        <p:spPr>
          <a:xfrm>
            <a:off x="367200" y="2102400"/>
            <a:ext cx="8413200" cy="1828800"/>
          </a:xfrm>
          <a:prstGeom prst="rect">
            <a:avLst/>
          </a:prstGeom>
          <a:solidFill>
            <a:srgbClr val="F7F8FA"/>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7200" y="2102400"/>
            <a:ext cx="8413200" cy="36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37200" y="3564669"/>
            <a:ext cx="498636" cy="33053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01200" y="3902400"/>
            <a:ext cx="728100" cy="144000"/>
          </a:xfrm>
          <a:prstGeom prst="rect">
            <a:avLst/>
          </a:prstGeom>
          <a:noFill/>
        </p:spPr>
        <p:txBody>
          <a:bodyPr wrap="square">
            <a:spAutoFit/>
          </a:bodyPr>
          <a:lstStyle/>
          <a:p>
            <a:pPr algn="ctr"/>
            <a:r>
              <a:rPr sz="600" b="0" i="0">
                <a:solidFill>
                  <a:srgbClr val="555555"/>
                </a:solidFill>
                <a:latin typeface="Calibri"/>
              </a:rPr>
              <a:t>Avr</a:t>
            </a:r>
          </a:p>
        </p:txBody>
      </p:sp>
      <p:sp>
        <p:nvSpPr>
          <p:cNvPr id="38" name="Rectangle 37"/>
          <p:cNvSpPr/>
          <p:nvPr/>
        </p:nvSpPr>
        <p:spPr>
          <a:xfrm>
            <a:off x="1293300" y="3581412"/>
            <a:ext cx="498636" cy="313787"/>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257300" y="3902400"/>
            <a:ext cx="728100" cy="144000"/>
          </a:xfrm>
          <a:prstGeom prst="rect">
            <a:avLst/>
          </a:prstGeom>
          <a:noFill/>
        </p:spPr>
        <p:txBody>
          <a:bodyPr wrap="square">
            <a:spAutoFit/>
          </a:bodyPr>
          <a:lstStyle/>
          <a:p>
            <a:pPr algn="ctr"/>
            <a:r>
              <a:rPr sz="600" b="0" i="0">
                <a:solidFill>
                  <a:srgbClr val="555555"/>
                </a:solidFill>
                <a:latin typeface="Calibri"/>
              </a:rPr>
              <a:t>Mai</a:t>
            </a:r>
          </a:p>
        </p:txBody>
      </p:sp>
      <p:sp>
        <p:nvSpPr>
          <p:cNvPr id="40" name="Rectangle 39"/>
          <p:cNvSpPr/>
          <p:nvPr/>
        </p:nvSpPr>
        <p:spPr>
          <a:xfrm>
            <a:off x="1949400" y="3823200"/>
            <a:ext cx="498636" cy="72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913400" y="3902400"/>
            <a:ext cx="728100" cy="144000"/>
          </a:xfrm>
          <a:prstGeom prst="rect">
            <a:avLst/>
          </a:prstGeom>
          <a:noFill/>
        </p:spPr>
        <p:txBody>
          <a:bodyPr wrap="square">
            <a:spAutoFit/>
          </a:bodyPr>
          <a:lstStyle/>
          <a:p>
            <a:pPr algn="ctr"/>
            <a:r>
              <a:rPr sz="600" b="0" i="0">
                <a:solidFill>
                  <a:srgbClr val="555555"/>
                </a:solidFill>
                <a:latin typeface="Calibri"/>
              </a:rPr>
              <a:t>Juin</a:t>
            </a:r>
          </a:p>
        </p:txBody>
      </p:sp>
      <p:sp>
        <p:nvSpPr>
          <p:cNvPr id="42" name="Rectangle 41"/>
          <p:cNvSpPr/>
          <p:nvPr/>
        </p:nvSpPr>
        <p:spPr>
          <a:xfrm>
            <a:off x="2605500" y="3623812"/>
            <a:ext cx="498636" cy="271387"/>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569500" y="3902400"/>
            <a:ext cx="728100" cy="144000"/>
          </a:xfrm>
          <a:prstGeom prst="rect">
            <a:avLst/>
          </a:prstGeom>
          <a:noFill/>
        </p:spPr>
        <p:txBody>
          <a:bodyPr wrap="square">
            <a:spAutoFit/>
          </a:bodyPr>
          <a:lstStyle/>
          <a:p>
            <a:pPr algn="ctr"/>
            <a:r>
              <a:rPr sz="600" b="0" i="0">
                <a:solidFill>
                  <a:srgbClr val="555555"/>
                </a:solidFill>
                <a:latin typeface="Calibri"/>
              </a:rPr>
              <a:t>Juil</a:t>
            </a:r>
          </a:p>
        </p:txBody>
      </p:sp>
      <p:sp>
        <p:nvSpPr>
          <p:cNvPr id="44" name="Rectangle 43"/>
          <p:cNvSpPr/>
          <p:nvPr/>
        </p:nvSpPr>
        <p:spPr>
          <a:xfrm>
            <a:off x="3261600" y="3395650"/>
            <a:ext cx="498636" cy="49954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225600" y="3902400"/>
            <a:ext cx="728100" cy="144000"/>
          </a:xfrm>
          <a:prstGeom prst="rect">
            <a:avLst/>
          </a:prstGeom>
          <a:noFill/>
        </p:spPr>
        <p:txBody>
          <a:bodyPr wrap="square">
            <a:spAutoFit/>
          </a:bodyPr>
          <a:lstStyle/>
          <a:p>
            <a:pPr algn="ctr"/>
            <a:r>
              <a:rPr sz="600" b="0" i="0">
                <a:solidFill>
                  <a:srgbClr val="555555"/>
                </a:solidFill>
                <a:latin typeface="Calibri"/>
              </a:rPr>
              <a:t>Aoû</a:t>
            </a:r>
          </a:p>
        </p:txBody>
      </p:sp>
      <p:sp>
        <p:nvSpPr>
          <p:cNvPr id="46" name="Rectangle 45"/>
          <p:cNvSpPr/>
          <p:nvPr/>
        </p:nvSpPr>
        <p:spPr>
          <a:xfrm>
            <a:off x="3917700" y="3277800"/>
            <a:ext cx="498636" cy="6173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881700" y="3902400"/>
            <a:ext cx="728100" cy="144000"/>
          </a:xfrm>
          <a:prstGeom prst="rect">
            <a:avLst/>
          </a:prstGeom>
          <a:noFill/>
        </p:spPr>
        <p:txBody>
          <a:bodyPr wrap="square">
            <a:spAutoFit/>
          </a:bodyPr>
          <a:lstStyle/>
          <a:p>
            <a:pPr algn="ctr"/>
            <a:r>
              <a:rPr sz="600" b="0" i="0">
                <a:solidFill>
                  <a:srgbClr val="555555"/>
                </a:solidFill>
                <a:latin typeface="Calibri"/>
              </a:rPr>
              <a:t>Sep</a:t>
            </a:r>
          </a:p>
        </p:txBody>
      </p:sp>
      <p:sp>
        <p:nvSpPr>
          <p:cNvPr id="48" name="Rectangle 47"/>
          <p:cNvSpPr/>
          <p:nvPr/>
        </p:nvSpPr>
        <p:spPr>
          <a:xfrm>
            <a:off x="4573800" y="2619624"/>
            <a:ext cx="498636" cy="1275575"/>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37800" y="3902400"/>
            <a:ext cx="728100" cy="144000"/>
          </a:xfrm>
          <a:prstGeom prst="rect">
            <a:avLst/>
          </a:prstGeom>
          <a:noFill/>
        </p:spPr>
        <p:txBody>
          <a:bodyPr wrap="square">
            <a:spAutoFit/>
          </a:bodyPr>
          <a:lstStyle/>
          <a:p>
            <a:pPr algn="ctr"/>
            <a:r>
              <a:rPr sz="600" b="0" i="0">
                <a:solidFill>
                  <a:srgbClr val="555555"/>
                </a:solidFill>
                <a:latin typeface="Calibri"/>
              </a:rPr>
              <a:t>Oct</a:t>
            </a:r>
          </a:p>
        </p:txBody>
      </p:sp>
      <p:sp>
        <p:nvSpPr>
          <p:cNvPr id="50" name="Rectangle 49"/>
          <p:cNvSpPr/>
          <p:nvPr/>
        </p:nvSpPr>
        <p:spPr>
          <a:xfrm>
            <a:off x="5229900" y="2451474"/>
            <a:ext cx="498636" cy="1443725"/>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193900" y="3902400"/>
            <a:ext cx="728100" cy="144000"/>
          </a:xfrm>
          <a:prstGeom prst="rect">
            <a:avLst/>
          </a:prstGeom>
          <a:noFill/>
        </p:spPr>
        <p:txBody>
          <a:bodyPr wrap="square">
            <a:spAutoFit/>
          </a:bodyPr>
          <a:lstStyle/>
          <a:p>
            <a:pPr algn="ctr"/>
            <a:r>
              <a:rPr sz="600" b="0" i="0">
                <a:solidFill>
                  <a:srgbClr val="555555"/>
                </a:solidFill>
                <a:latin typeface="Calibri"/>
              </a:rPr>
              <a:t>Nov</a:t>
            </a:r>
          </a:p>
        </p:txBody>
      </p:sp>
      <p:sp>
        <p:nvSpPr>
          <p:cNvPr id="52" name="Rectangle 51"/>
          <p:cNvSpPr/>
          <p:nvPr/>
        </p:nvSpPr>
        <p:spPr>
          <a:xfrm>
            <a:off x="5886000" y="2383200"/>
            <a:ext cx="498636" cy="1512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850000" y="3902400"/>
            <a:ext cx="728100" cy="144000"/>
          </a:xfrm>
          <a:prstGeom prst="rect">
            <a:avLst/>
          </a:prstGeom>
          <a:noFill/>
        </p:spPr>
        <p:txBody>
          <a:bodyPr wrap="square">
            <a:spAutoFit/>
          </a:bodyPr>
          <a:lstStyle/>
          <a:p>
            <a:pPr algn="ctr"/>
            <a:r>
              <a:rPr sz="600" b="0" i="0">
                <a:solidFill>
                  <a:srgbClr val="555555"/>
                </a:solidFill>
                <a:latin typeface="Calibri"/>
              </a:rPr>
              <a:t>Déc</a:t>
            </a:r>
          </a:p>
        </p:txBody>
      </p:sp>
      <p:sp>
        <p:nvSpPr>
          <p:cNvPr id="54" name="Rectangle 53"/>
          <p:cNvSpPr/>
          <p:nvPr/>
        </p:nvSpPr>
        <p:spPr>
          <a:xfrm>
            <a:off x="6542100" y="3054204"/>
            <a:ext cx="498636" cy="840995"/>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506099" y="3902400"/>
            <a:ext cx="728100" cy="144000"/>
          </a:xfrm>
          <a:prstGeom prst="rect">
            <a:avLst/>
          </a:prstGeom>
          <a:noFill/>
        </p:spPr>
        <p:txBody>
          <a:bodyPr wrap="square">
            <a:spAutoFit/>
          </a:bodyPr>
          <a:lstStyle/>
          <a:p>
            <a:pPr algn="ctr"/>
            <a:r>
              <a:rPr sz="600" b="0" i="0">
                <a:solidFill>
                  <a:srgbClr val="555555"/>
                </a:solidFill>
                <a:latin typeface="Calibri"/>
              </a:rPr>
              <a:t>Jan</a:t>
            </a:r>
          </a:p>
        </p:txBody>
      </p:sp>
      <p:sp>
        <p:nvSpPr>
          <p:cNvPr id="56" name="Rectangle 55"/>
          <p:cNvSpPr/>
          <p:nvPr/>
        </p:nvSpPr>
        <p:spPr>
          <a:xfrm>
            <a:off x="7198200" y="3074498"/>
            <a:ext cx="498636" cy="820701"/>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162200" y="3902400"/>
            <a:ext cx="728100" cy="144000"/>
          </a:xfrm>
          <a:prstGeom prst="rect">
            <a:avLst/>
          </a:prstGeom>
          <a:noFill/>
        </p:spPr>
        <p:txBody>
          <a:bodyPr wrap="square">
            <a:spAutoFit/>
          </a:bodyPr>
          <a:lstStyle/>
          <a:p>
            <a:pPr algn="ctr"/>
            <a:r>
              <a:rPr sz="600" b="0" i="0">
                <a:solidFill>
                  <a:srgbClr val="555555"/>
                </a:solidFill>
                <a:latin typeface="Calibri"/>
              </a:rPr>
              <a:t>Fév</a:t>
            </a:r>
          </a:p>
        </p:txBody>
      </p:sp>
      <p:sp>
        <p:nvSpPr>
          <p:cNvPr id="58" name="Rectangle 57"/>
          <p:cNvSpPr/>
          <p:nvPr/>
        </p:nvSpPr>
        <p:spPr>
          <a:xfrm>
            <a:off x="7854300" y="3696362"/>
            <a:ext cx="498636" cy="198837"/>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818299" y="3902400"/>
            <a:ext cx="728100" cy="144000"/>
          </a:xfrm>
          <a:prstGeom prst="rect">
            <a:avLst/>
          </a:prstGeom>
          <a:noFill/>
        </p:spPr>
        <p:txBody>
          <a:bodyPr wrap="square">
            <a:spAutoFit/>
          </a:bodyPr>
          <a:lstStyle/>
          <a:p>
            <a:pPr algn="ctr"/>
            <a:r>
              <a:rPr sz="600" b="0" i="0">
                <a:solidFill>
                  <a:srgbClr val="555555"/>
                </a:solidFill>
                <a:latin typeface="Calibri"/>
              </a:rPr>
              <a:t>Mar</a:t>
            </a:r>
          </a:p>
        </p:txBody>
      </p:sp>
      <p:sp>
        <p:nvSpPr>
          <p:cNvPr id="60" name="Rectangle 59"/>
          <p:cNvSpPr/>
          <p:nvPr/>
        </p:nvSpPr>
        <p:spPr>
          <a:xfrm>
            <a:off x="601200" y="3823200"/>
            <a:ext cx="8179200" cy="7200"/>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31200" y="3751200"/>
            <a:ext cx="288000" cy="144000"/>
          </a:xfrm>
          <a:prstGeom prst="rect">
            <a:avLst/>
          </a:prstGeom>
          <a:noFill/>
        </p:spPr>
        <p:txBody>
          <a:bodyPr wrap="none">
            <a:spAutoFit/>
          </a:bodyPr>
          <a:lstStyle/>
          <a:p>
            <a:pPr algn="l"/>
            <a:r>
              <a:rPr sz="600" b="0" i="0">
                <a:solidFill>
                  <a:srgbClr val="555555"/>
                </a:solidFill>
                <a:latin typeface="Calibri"/>
              </a:rPr>
              <a:t>440</a:t>
            </a:r>
          </a:p>
        </p:txBody>
      </p:sp>
      <p:sp>
        <p:nvSpPr>
          <p:cNvPr id="62" name="Rectangle 61"/>
          <p:cNvSpPr/>
          <p:nvPr/>
        </p:nvSpPr>
        <p:spPr>
          <a:xfrm>
            <a:off x="601200" y="3348000"/>
            <a:ext cx="8179200" cy="7200"/>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1200" y="3276000"/>
            <a:ext cx="288000" cy="144000"/>
          </a:xfrm>
          <a:prstGeom prst="rect">
            <a:avLst/>
          </a:prstGeom>
          <a:noFill/>
        </p:spPr>
        <p:txBody>
          <a:bodyPr wrap="none">
            <a:spAutoFit/>
          </a:bodyPr>
          <a:lstStyle/>
          <a:p>
            <a:pPr algn="l"/>
            <a:r>
              <a:rPr sz="600" b="0" i="0">
                <a:solidFill>
                  <a:srgbClr val="555555"/>
                </a:solidFill>
                <a:latin typeface="Calibri"/>
              </a:rPr>
              <a:t>506</a:t>
            </a:r>
          </a:p>
        </p:txBody>
      </p:sp>
      <p:sp>
        <p:nvSpPr>
          <p:cNvPr id="64" name="Rectangle 63"/>
          <p:cNvSpPr/>
          <p:nvPr/>
        </p:nvSpPr>
        <p:spPr>
          <a:xfrm>
            <a:off x="601200" y="2858400"/>
            <a:ext cx="8179200" cy="7200"/>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31200" y="2786399"/>
            <a:ext cx="288000" cy="144000"/>
          </a:xfrm>
          <a:prstGeom prst="rect">
            <a:avLst/>
          </a:prstGeom>
          <a:noFill/>
        </p:spPr>
        <p:txBody>
          <a:bodyPr wrap="none">
            <a:spAutoFit/>
          </a:bodyPr>
          <a:lstStyle/>
          <a:p>
            <a:pPr algn="l"/>
            <a:r>
              <a:rPr sz="600" b="0" i="0">
                <a:solidFill>
                  <a:srgbClr val="555555"/>
                </a:solidFill>
                <a:latin typeface="Calibri"/>
              </a:rPr>
              <a:t>573</a:t>
            </a:r>
          </a:p>
        </p:txBody>
      </p:sp>
      <p:sp>
        <p:nvSpPr>
          <p:cNvPr id="66" name="Rectangle 65"/>
          <p:cNvSpPr/>
          <p:nvPr/>
        </p:nvSpPr>
        <p:spPr>
          <a:xfrm>
            <a:off x="601200" y="2383200"/>
            <a:ext cx="8179200" cy="7200"/>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31200" y="2311200"/>
            <a:ext cx="288000" cy="144000"/>
          </a:xfrm>
          <a:prstGeom prst="rect">
            <a:avLst/>
          </a:prstGeom>
          <a:noFill/>
        </p:spPr>
        <p:txBody>
          <a:bodyPr wrap="none">
            <a:spAutoFit/>
          </a:bodyPr>
          <a:lstStyle/>
          <a:p>
            <a:pPr algn="l"/>
            <a:r>
              <a:rPr sz="600" b="0" i="0">
                <a:solidFill>
                  <a:srgbClr val="555555"/>
                </a:solidFill>
                <a:latin typeface="Calibri"/>
              </a:rPr>
              <a:t>639</a:t>
            </a:r>
          </a:p>
        </p:txBody>
      </p:sp>
      <p:sp>
        <p:nvSpPr>
          <p:cNvPr id="68" name="TextBox 67"/>
          <p:cNvSpPr txBox="1"/>
          <p:nvPr/>
        </p:nvSpPr>
        <p:spPr>
          <a:xfrm>
            <a:off x="367200" y="4132800"/>
            <a:ext cx="8413200" cy="687600"/>
          </a:xfrm>
          <a:prstGeom prst="rect">
            <a:avLst/>
          </a:prstGeom>
          <a:noFill/>
        </p:spPr>
        <p:txBody>
          <a:bodyPr wrap="square">
            <a:spAutoFit/>
          </a:bodyPr>
          <a:lstStyle/>
          <a:p>
            <a:pPr algn="l"/>
            <a:r>
              <a:rPr sz="850" b="0" i="0">
                <a:solidFill>
                  <a:srgbClr val="555555"/>
                </a:solidFill>
                <a:latin typeface="Calibri"/>
              </a:rPr>
              <a:t>LVMH affiche une résilience remarquable malgré un contexte macroéconomique difficile, avec des marges historiques solides et une croissance organique soutenue par l'Asie. Le titre offre un potentiel de valorisation attractif à 13-27% selon les scénarios.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