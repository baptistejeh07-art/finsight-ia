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2000" b="1" i="0">
                <a:solidFill>
                  <a:srgbClr val="1B3A6B"/>
                </a:solidFill>
                <a:latin typeface="Calibri"/>
              </a:rPr>
              <a:t>LVMH Moët Hennessy - Louis Vuitton, Société Européenne</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MC.PA  ·  Euronext Paris  ·  Consumer Cyclical</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520 EUR  ·  Upside : +13,5 %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26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520 EUR  ·  Upside : +13,5 %  ·  Bear : 460 EUR (+0,4 %)  ·  Bull : 580 EUR (+26,6 %)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Pricing Power</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LVMH devrait bénéficier d'un rebond des ventes en Chine +15% en 2026 après 3 ans de contraction</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Réseau Distribution</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La marge EBITDA devrait se stabiliser à 33% en 2027 grâce à l'optimisation des coûts logistiques et à la hausse des prix</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Marques Iconiques</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Le groupe pourrait atteindre 85 milliards d'euros de CA en 2026, soit +5.5% vs 2025, avec un effet de levier opérationnel de 1.8x</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Ralentissement Chine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Ralentissement économique en Chine -5% en 2026 avec impact sur les ventes de 12% | Concurrence accrue des marques asiatiques sur le segment premium | Hausse des coûts de production +10% en 2026 due à…</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Concurrence Asiatique</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Le ROE de 16.1% est gonflé par un endettement artificiellement bas grâce à des rachats d'actions pour 12 milliards d'euros en 2022, masquant une rentabilité opérationnelle réelle de 14.2%.</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Risque Réglementaire</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L'EV/EBITDA à 9.24x suppose une croissance perpétuelle des marges, mais les coûts logistiques ont bondi de 18% en 2023, réduisant les marges nettes à 12.8% en glissement annuel.</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9,2x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10,8x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8,6 %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0,84  ·  RFR 4,4 %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520 EUR</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intrinseque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+13,5 %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+0,073</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20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LVMH Moët Hennessy - Louis Vuitton, Société Européenne  ·  Consumer Cyclical</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Ralentissement Chine  ·  Concurrence Asiatique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LVMH Moët Hennessy - Louis Vuitton, Société Européenne  ·  Presentation &amp; Positionnement strategique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LVMH est le leader mondial du luxe avec un portefeuille de 75 Maisons couvrant mode, vins &amp; spiritueux, montres &amp; joaillerie et parfums. Positionné sur le segment ultra-premium, le groupe cible une clientèle aisée mondiale avec des produits à forte valeur ajoutée. Ses avantages concurrentiels incluent un écosystème intégré, une marque omnicanale et une capacité d'innovation inégalée dans l'industrie.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Mode &amp; Maroquinerie</a:t>
            </a:r>
          </a:p>
        </p:txBody>
      </p:sp>
      <p:sp>
        <p:nvSpPr>
          <p:cNvPr id="22" name="TextBox 21"/>
          <p:cNvSpPr txBox="1"/>
          <p:nvPr/>
        </p:nvSpPr>
        <p:spPr>
          <a:xfrm>
            <a:off x="619200" y="2714400"/>
            <a:ext cx="4338000" cy="396000"/>
          </a:xfrm>
          <a:prstGeom prst="rect">
            <a:avLst/>
          </a:prstGeom>
          <a:noFill/>
        </p:spPr>
        <p:txBody>
          <a:bodyPr wrap="square">
            <a:spAutoFit/>
          </a:bodyPr>
          <a:lstStyle/>
          <a:p>
            <a:pPr algn="l"/>
            <a:r>
              <a:rPr sz="750" b="0" i="1">
                <a:solidFill>
                  <a:srgbClr val="555555"/>
                </a:solidFill>
                <a:latin typeface="Calibri"/>
              </a:rPr>
              <a:t>Segment phare avec des marques comme Louis Vuitton et Dior, générant 45% du CA. Modèle basé sur des produits iconiques à forte marge, une distribution sélective et une stratégie de rareté contrôlée. Clients cibles : consommateurs asiatiques et américains avec panier moyen élevé. Croissance portée par l'expansion en…</a:t>
            </a:r>
          </a:p>
        </p:txBody>
      </p:sp>
      <p:sp>
        <p:nvSpPr>
          <p:cNvPr id="23" name="Rectangle 22"/>
          <p:cNvSpPr/>
          <p:nvPr/>
        </p:nvSpPr>
        <p:spPr>
          <a:xfrm>
            <a:off x="503999" y="3193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150000"/>
            <a:ext cx="4338000" cy="165600"/>
          </a:xfrm>
          <a:prstGeom prst="rect">
            <a:avLst/>
          </a:prstGeom>
          <a:noFill/>
        </p:spPr>
        <p:txBody>
          <a:bodyPr wrap="square">
            <a:spAutoFit/>
          </a:bodyPr>
          <a:lstStyle/>
          <a:p>
            <a:pPr algn="l"/>
            <a:r>
              <a:rPr sz="850" b="1" i="0">
                <a:solidFill>
                  <a:srgbClr val="0D0D0D"/>
                </a:solidFill>
                <a:latin typeface="Calibri"/>
              </a:rPr>
              <a:t>Vins &amp; Spiritueux</a:t>
            </a:r>
          </a:p>
        </p:txBody>
      </p:sp>
      <p:sp>
        <p:nvSpPr>
          <p:cNvPr id="25" name="TextBox 24"/>
          <p:cNvSpPr txBox="1"/>
          <p:nvPr/>
        </p:nvSpPr>
        <p:spPr>
          <a:xfrm>
            <a:off x="619200" y="3308400"/>
            <a:ext cx="4338000" cy="396000"/>
          </a:xfrm>
          <a:prstGeom prst="rect">
            <a:avLst/>
          </a:prstGeom>
          <a:noFill/>
        </p:spPr>
        <p:txBody>
          <a:bodyPr wrap="square">
            <a:spAutoFit/>
          </a:bodyPr>
          <a:lstStyle/>
          <a:p>
            <a:pPr algn="l"/>
            <a:r>
              <a:rPr sz="750" b="0" i="1">
                <a:solidFill>
                  <a:srgbClr val="555555"/>
                </a:solidFill>
                <a:latin typeface="Calibri"/>
              </a:rPr>
              <a:t>Segment historique avec Moët Hennessy et Hennessy, contribuant à 25% du CA. Modèle basé sur des marques premium avec pricing power et fidélisation client. Produits phares : champagne Moët &amp; Chandon et cognac Hennessy. Clients cibles : consommateurs asiatiques et américains avec demande stable en volume mais croissance…</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227,3 Md€</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boursiere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80,8 Md€</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458,30 EUR</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9,2x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20,9x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Modele Economique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operationnels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45%</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Mode &amp; Maroquinerie</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phare avec des marques comme Louis Vuitton et Dior, générant 45% du CA. Modèle basé sur des produits iconiques à forte marge, une distribution sélective et une stratégie de rareté contrôlée. Clients cibles : consommateurs asiatiques et américains avec panier moyen élevé. Croissance portée par l'expansion en Chine et l'innovation produit (ex: collaborations limitées).</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25%</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Vins &amp; Spiritueux</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historique avec Moët Hennessy et Hennessy, contribuant à 25% du CA. Modèle basé sur des marques premium avec pricing power et fidélisation client. Produits phares : champagne Moët &amp; Chandon et cognac Hennessy. Clients cibles : consommateurs asiatiques et américains avec demande stable en volume mais croissance en valeur via premiumisation.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EUR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86,2</a:t>
                      </a:r>
                    </a:p>
                  </a:txBody>
                  <a:tcPr>
                    <a:solidFill>
                      <a:srgbClr val="FFFFFF"/>
                    </a:solidFill>
                  </a:tcPr>
                </a:tc>
                <a:tc>
                  <a:txBody>
                    <a:bodyPr/>
                    <a:lstStyle/>
                    <a:p>
                      <a:pPr algn="ctr"/>
                      <a:r>
                        <a:rPr sz="800" b="1" i="0">
                          <a:solidFill>
                            <a:srgbClr val="0D0D0D"/>
                          </a:solidFill>
                          <a:latin typeface="Calibri"/>
                        </a:rPr>
                        <a:t>84,7</a:t>
                      </a:r>
                    </a:p>
                  </a:txBody>
                  <a:tcPr>
                    <a:solidFill>
                      <a:srgbClr val="FFFFFF"/>
                    </a:solidFill>
                  </a:tcPr>
                </a:tc>
                <a:tc>
                  <a:txBody>
                    <a:bodyPr/>
                    <a:lstStyle/>
                    <a:p>
                      <a:pPr algn="ctr"/>
                      <a:r>
                        <a:rPr sz="800" b="1" i="0">
                          <a:solidFill>
                            <a:srgbClr val="1B3A6B"/>
                          </a:solidFill>
                          <a:latin typeface="Calibri"/>
                        </a:rPr>
                        <a:t>80,8</a:t>
                      </a:r>
                    </a:p>
                  </a:txBody>
                  <a:tcPr>
                    <a:solidFill>
                      <a:srgbClr val="DDE8F5"/>
                    </a:solidFill>
                  </a:tcPr>
                </a:tc>
                <a:tc>
                  <a:txBody>
                    <a:bodyPr/>
                    <a:lstStyle/>
                    <a:p>
                      <a:pPr algn="ctr"/>
                      <a:r>
                        <a:rPr sz="800" b="1" i="0">
                          <a:solidFill>
                            <a:srgbClr val="0D0D0D"/>
                          </a:solidFill>
                          <a:latin typeface="Calibri"/>
                        </a:rPr>
                        <a:t>85,0</a:t>
                      </a:r>
                    </a:p>
                  </a:txBody>
                  <a:tcPr>
                    <a:solidFill>
                      <a:srgbClr val="FFFFFF"/>
                    </a:solidFill>
                  </a:tcPr>
                </a:tc>
                <a:tc>
                  <a:txBody>
                    <a:bodyPr/>
                    <a:lstStyle/>
                    <a:p>
                      <a:pPr algn="ctr"/>
                      <a:r>
                        <a:rPr sz="800" b="1" i="0">
                          <a:solidFill>
                            <a:srgbClr val="0D0D0D"/>
                          </a:solidFill>
                          <a:latin typeface="Calibri"/>
                        </a:rPr>
                        <a:t>90,0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+8,8 %</a:t>
                      </a:r>
                    </a:p>
                  </a:txBody>
                  <a:tcPr>
                    <a:solidFill>
                      <a:srgbClr val="F7F8FA"/>
                    </a:solidFill>
                  </a:tcPr>
                </a:tc>
                <a:tc>
                  <a:txBody>
                    <a:bodyPr/>
                    <a:lstStyle/>
                    <a:p>
                      <a:pPr algn="ctr"/>
                      <a:r>
                        <a:rPr sz="750" b="0" i="1">
                          <a:solidFill>
                            <a:srgbClr val="555555"/>
                          </a:solidFill>
                          <a:latin typeface="Calibri"/>
                        </a:rPr>
                        <a:t>-1,7 %</a:t>
                      </a:r>
                    </a:p>
                  </a:txBody>
                  <a:tcPr>
                    <a:solidFill>
                      <a:srgbClr val="F7F8FA"/>
                    </a:solidFill>
                  </a:tcPr>
                </a:tc>
                <a:tc>
                  <a:txBody>
                    <a:bodyPr/>
                    <a:lstStyle/>
                    <a:p>
                      <a:pPr algn="ctr"/>
                      <a:r>
                        <a:rPr sz="750" b="0" i="1">
                          <a:solidFill>
                            <a:srgbClr val="555555"/>
                          </a:solidFill>
                          <a:latin typeface="Calibri"/>
                        </a:rPr>
                        <a:t>-4,6 %</a:t>
                      </a:r>
                    </a:p>
                  </a:txBody>
                  <a:tcPr>
                    <a:solidFill>
                      <a:srgbClr val="DDE8F5"/>
                    </a:solidFill>
                  </a:tcPr>
                </a:tc>
                <a:tc>
                  <a:txBody>
                    <a:bodyPr/>
                    <a:lstStyle/>
                    <a:p>
                      <a:pPr algn="ctr"/>
                      <a:r>
                        <a:rPr sz="750" b="0" i="1">
                          <a:solidFill>
                            <a:srgbClr val="555555"/>
                          </a:solidFill>
                          <a:latin typeface="Calibri"/>
                        </a:rPr>
                        <a:t>+5,5 %</a:t>
                      </a:r>
                    </a:p>
                  </a:txBody>
                  <a:tcPr>
                    <a:solidFill>
                      <a:srgbClr val="F7F8FA"/>
                    </a:solidFill>
                  </a:tcPr>
                </a:tc>
                <a:tc>
                  <a:txBody>
                    <a:bodyPr/>
                    <a:lstStyle/>
                    <a:p>
                      <a:pPr algn="ctr"/>
                      <a:r>
                        <a:rPr sz="750" b="0" i="1">
                          <a:solidFill>
                            <a:srgbClr val="555555"/>
                          </a:solidFill>
                          <a:latin typeface="Calibri"/>
                        </a:rPr>
                        <a:t>+5,9 %</a:t>
                      </a:r>
                    </a:p>
                  </a:txBody>
                  <a:tcPr>
                    <a:solidFill>
                      <a:srgbClr val="F7F8FA"/>
                    </a:solidFill>
                  </a:tcPr>
                </a:tc>
              </a:tr>
              <a:tr h="220000">
                <a:tc>
                  <a:txBody>
                    <a:bodyPr/>
                    <a:lstStyle/>
                    <a:p>
                      <a:pPr algn="l"/>
                      <a:r>
                        <a:rPr sz="800" b="1" i="0">
                          <a:solidFill>
                            <a:srgbClr val="0D0D0D"/>
                          </a:solidFill>
                          <a:latin typeface="Calibri"/>
                        </a:rPr>
                        <a:t>Resultat brut</a:t>
                      </a:r>
                    </a:p>
                  </a:txBody>
                  <a:tcPr>
                    <a:solidFill>
                      <a:srgbClr val="FFFFFF"/>
                    </a:solidFill>
                  </a:tcPr>
                </a:tc>
                <a:tc>
                  <a:txBody>
                    <a:bodyPr/>
                    <a:lstStyle/>
                    <a:p>
                      <a:pPr algn="ctr"/>
                      <a:r>
                        <a:rPr sz="800" b="1" i="0">
                          <a:solidFill>
                            <a:srgbClr val="0D0D0D"/>
                          </a:solidFill>
                          <a:latin typeface="Calibri"/>
                        </a:rPr>
                        <a:t>59,3</a:t>
                      </a:r>
                    </a:p>
                  </a:txBody>
                  <a:tcPr>
                    <a:solidFill>
                      <a:srgbClr val="FFFFFF"/>
                    </a:solidFill>
                  </a:tcPr>
                </a:tc>
                <a:tc>
                  <a:txBody>
                    <a:bodyPr/>
                    <a:lstStyle/>
                    <a:p>
                      <a:pPr algn="ctr"/>
                      <a:r>
                        <a:rPr sz="800" b="1" i="0">
                          <a:solidFill>
                            <a:srgbClr val="0D0D0D"/>
                          </a:solidFill>
                          <a:latin typeface="Calibri"/>
                        </a:rPr>
                        <a:t>56,8</a:t>
                      </a:r>
                    </a:p>
                  </a:txBody>
                  <a:tcPr>
                    <a:solidFill>
                      <a:srgbClr val="FFFFFF"/>
                    </a:solidFill>
                  </a:tcPr>
                </a:tc>
                <a:tc>
                  <a:txBody>
                    <a:bodyPr/>
                    <a:lstStyle/>
                    <a:p>
                      <a:pPr algn="ctr"/>
                      <a:r>
                        <a:rPr sz="800" b="1" i="0">
                          <a:solidFill>
                            <a:srgbClr val="1B3A6B"/>
                          </a:solidFill>
                          <a:latin typeface="Calibri"/>
                        </a:rPr>
                        <a:t>53,5</a:t>
                      </a:r>
                    </a:p>
                  </a:txBody>
                  <a:tcPr>
                    <a:solidFill>
                      <a:srgbClr val="DDE8F5"/>
                    </a:solidFill>
                  </a:tcPr>
                </a:tc>
                <a:tc>
                  <a:txBody>
                    <a:bodyPr/>
                    <a:lstStyle/>
                    <a:p>
                      <a:pPr algn="ctr"/>
                      <a:r>
                        <a:rPr sz="800" b="1" i="0">
                          <a:solidFill>
                            <a:srgbClr val="0D0D0D"/>
                          </a:solidFill>
                          <a:latin typeface="Calibri"/>
                        </a:rPr>
                        <a:t>57,0</a:t>
                      </a:r>
                    </a:p>
                  </a:txBody>
                  <a:tcPr>
                    <a:solidFill>
                      <a:srgbClr val="FFFFFF"/>
                    </a:solidFill>
                  </a:tcPr>
                </a:tc>
                <a:tc>
                  <a:txBody>
                    <a:bodyPr/>
                    <a:lstStyle/>
                    <a:p>
                      <a:pPr algn="ctr"/>
                      <a:r>
                        <a:rPr sz="800" b="1" i="0">
                          <a:solidFill>
                            <a:srgbClr val="0D0D0D"/>
                          </a:solidFill>
                          <a:latin typeface="Calibri"/>
                        </a:rPr>
                        <a:t>60,8</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68,8 %</a:t>
                      </a:r>
                    </a:p>
                  </a:txBody>
                  <a:tcPr>
                    <a:solidFill>
                      <a:srgbClr val="F7F8FA"/>
                    </a:solidFill>
                  </a:tcPr>
                </a:tc>
                <a:tc>
                  <a:txBody>
                    <a:bodyPr/>
                    <a:lstStyle/>
                    <a:p>
                      <a:pPr algn="ctr"/>
                      <a:r>
                        <a:rPr sz="750" b="0" i="1">
                          <a:solidFill>
                            <a:srgbClr val="555555"/>
                          </a:solidFill>
                          <a:latin typeface="Calibri"/>
                        </a:rPr>
                        <a:t>67,0 %</a:t>
                      </a:r>
                    </a:p>
                  </a:txBody>
                  <a:tcPr>
                    <a:solidFill>
                      <a:srgbClr val="F7F8FA"/>
                    </a:solidFill>
                  </a:tcPr>
                </a:tc>
                <a:tc>
                  <a:txBody>
                    <a:bodyPr/>
                    <a:lstStyle/>
                    <a:p>
                      <a:pPr algn="ctr"/>
                      <a:r>
                        <a:rPr sz="750" b="0" i="1">
                          <a:solidFill>
                            <a:srgbClr val="555555"/>
                          </a:solidFill>
                          <a:latin typeface="Calibri"/>
                        </a:rPr>
                        <a:t>66,2 %</a:t>
                      </a:r>
                    </a:p>
                  </a:txBody>
                  <a:tcPr>
                    <a:solidFill>
                      <a:srgbClr val="DDE8F5"/>
                    </a:solidFill>
                  </a:tcPr>
                </a:tc>
                <a:tc>
                  <a:txBody>
                    <a:bodyPr/>
                    <a:lstStyle/>
                    <a:p>
                      <a:pPr algn="ctr"/>
                      <a:r>
                        <a:rPr sz="750" b="0" i="1">
                          <a:solidFill>
                            <a:srgbClr val="555555"/>
                          </a:solidFill>
                          <a:latin typeface="Calibri"/>
                        </a:rPr>
                        <a:t>67,0 %</a:t>
                      </a:r>
                    </a:p>
                  </a:txBody>
                  <a:tcPr>
                    <a:solidFill>
                      <a:srgbClr val="F7F8FA"/>
                    </a:solidFill>
                  </a:tcPr>
                </a:tc>
                <a:tc>
                  <a:txBody>
                    <a:bodyPr/>
                    <a:lstStyle/>
                    <a:p>
                      <a:pPr algn="ctr"/>
                      <a:r>
                        <a:rPr sz="750" b="0" i="1">
                          <a:solidFill>
                            <a:srgbClr val="555555"/>
                          </a:solidFill>
                          <a:latin typeface="Calibri"/>
                        </a:rPr>
                        <a:t>67,5 %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29,8</a:t>
                      </a:r>
                    </a:p>
                  </a:txBody>
                  <a:tcPr>
                    <a:solidFill>
                      <a:srgbClr val="FFFFFF"/>
                    </a:solidFill>
                  </a:tcPr>
                </a:tc>
                <a:tc>
                  <a:txBody>
                    <a:bodyPr/>
                    <a:lstStyle/>
                    <a:p>
                      <a:pPr algn="ctr"/>
                      <a:r>
                        <a:rPr sz="800" b="1" i="0">
                          <a:solidFill>
                            <a:srgbClr val="0D0D0D"/>
                          </a:solidFill>
                          <a:latin typeface="Calibri"/>
                        </a:rPr>
                        <a:t>27,1</a:t>
                      </a:r>
                    </a:p>
                  </a:txBody>
                  <a:tcPr>
                    <a:solidFill>
                      <a:srgbClr val="FFFFFF"/>
                    </a:solidFill>
                  </a:tcPr>
                </a:tc>
                <a:tc>
                  <a:txBody>
                    <a:bodyPr/>
                    <a:lstStyle/>
                    <a:p>
                      <a:pPr algn="ctr"/>
                      <a:r>
                        <a:rPr sz="800" b="1" i="0">
                          <a:solidFill>
                            <a:srgbClr val="1B3A6B"/>
                          </a:solidFill>
                          <a:latin typeface="Calibri"/>
                        </a:rPr>
                        <a:t>25,9</a:t>
                      </a:r>
                    </a:p>
                  </a:txBody>
                  <a:tcPr>
                    <a:solidFill>
                      <a:srgbClr val="DDE8F5"/>
                    </a:solidFill>
                  </a:tcPr>
                </a:tc>
                <a:tc>
                  <a:txBody>
                    <a:bodyPr/>
                    <a:lstStyle/>
                    <a:p>
                      <a:pPr algn="ctr"/>
                      <a:r>
                        <a:rPr sz="800" b="1" i="0">
                          <a:solidFill>
                            <a:srgbClr val="0D0D0D"/>
                          </a:solidFill>
                          <a:latin typeface="Calibri"/>
                        </a:rPr>
                        <a:t>28,1</a:t>
                      </a:r>
                    </a:p>
                  </a:txBody>
                  <a:tcPr>
                    <a:solidFill>
                      <a:srgbClr val="FFFFFF"/>
                    </a:solidFill>
                  </a:tcPr>
                </a:tc>
                <a:tc>
                  <a:txBody>
                    <a:bodyPr/>
                    <a:lstStyle/>
                    <a:p>
                      <a:pPr algn="ctr"/>
                      <a:r>
                        <a:rPr sz="800" b="1" i="0">
                          <a:solidFill>
                            <a:srgbClr val="0D0D0D"/>
                          </a:solidFill>
                          <a:latin typeface="Calibri"/>
                        </a:rPr>
                        <a:t>30,6</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34,6 %</a:t>
                      </a:r>
                    </a:p>
                  </a:txBody>
                  <a:tcPr>
                    <a:solidFill>
                      <a:srgbClr val="F7F8FA"/>
                    </a:solidFill>
                  </a:tcPr>
                </a:tc>
                <a:tc>
                  <a:txBody>
                    <a:bodyPr/>
                    <a:lstStyle/>
                    <a:p>
                      <a:pPr algn="ctr"/>
                      <a:r>
                        <a:rPr sz="750" b="0" i="1">
                          <a:solidFill>
                            <a:srgbClr val="555555"/>
                          </a:solidFill>
                          <a:latin typeface="Calibri"/>
                        </a:rPr>
                        <a:t>32,0 %</a:t>
                      </a:r>
                    </a:p>
                  </a:txBody>
                  <a:tcPr>
                    <a:solidFill>
                      <a:srgbClr val="F7F8FA"/>
                    </a:solidFill>
                  </a:tcPr>
                </a:tc>
                <a:tc>
                  <a:txBody>
                    <a:bodyPr/>
                    <a:lstStyle/>
                    <a:p>
                      <a:pPr algn="ctr"/>
                      <a:r>
                        <a:rPr sz="750" b="0" i="1">
                          <a:solidFill>
                            <a:srgbClr val="555555"/>
                          </a:solidFill>
                          <a:latin typeface="Calibri"/>
                        </a:rPr>
                        <a:t>32,0 %</a:t>
                      </a:r>
                    </a:p>
                  </a:txBody>
                  <a:tcPr>
                    <a:solidFill>
                      <a:srgbClr val="DDE8F5"/>
                    </a:solidFill>
                  </a:tcPr>
                </a:tc>
                <a:tc>
                  <a:txBody>
                    <a:bodyPr/>
                    <a:lstStyle/>
                    <a:p>
                      <a:pPr algn="ctr"/>
                      <a:r>
                        <a:rPr sz="750" b="0" i="1">
                          <a:solidFill>
                            <a:srgbClr val="555555"/>
                          </a:solidFill>
                          <a:latin typeface="Calibri"/>
                        </a:rPr>
                        <a:t>33,0 %</a:t>
                      </a:r>
                    </a:p>
                  </a:txBody>
                  <a:tcPr>
                    <a:solidFill>
                      <a:srgbClr val="F7F8FA"/>
                    </a:solidFill>
                  </a:tcPr>
                </a:tc>
                <a:tc>
                  <a:txBody>
                    <a:bodyPr/>
                    <a:lstStyle/>
                    <a:p>
                      <a:pPr algn="ctr"/>
                      <a:r>
                        <a:rPr sz="750" b="0" i="1">
                          <a:solidFill>
                            <a:srgbClr val="555555"/>
                          </a:solidFill>
                          <a:latin typeface="Calibri"/>
                        </a:rPr>
                        <a:t>34,0 %</a:t>
                      </a:r>
                    </a:p>
                  </a:txBody>
                  <a:tcPr>
                    <a:solidFill>
                      <a:srgbClr val="F7F8FA"/>
                    </a:solidFill>
                  </a:tcPr>
                </a:tc>
              </a:tr>
              <a:tr h="220000">
                <a:tc>
                  <a:txBody>
                    <a:bodyPr/>
                    <a:lstStyle/>
                    <a:p>
                      <a:pPr algn="l"/>
                      <a:r>
                        <a:rPr sz="800" b="1" i="0">
                          <a:solidFill>
                            <a:srgbClr val="0D0D0D"/>
                          </a:solidFill>
                          <a:latin typeface="Calibri"/>
                        </a:rPr>
                        <a:t>Resultat net</a:t>
                      </a:r>
                    </a:p>
                  </a:txBody>
                  <a:tcPr>
                    <a:solidFill>
                      <a:srgbClr val="FFFFFF"/>
                    </a:solidFill>
                  </a:tcPr>
                </a:tc>
                <a:tc>
                  <a:txBody>
                    <a:bodyPr/>
                    <a:lstStyle/>
                    <a:p>
                      <a:pPr algn="ctr"/>
                      <a:r>
                        <a:rPr sz="800" b="1" i="0">
                          <a:solidFill>
                            <a:srgbClr val="0D0D0D"/>
                          </a:solidFill>
                          <a:latin typeface="Calibri"/>
                        </a:rPr>
                        <a:t>15,2</a:t>
                      </a:r>
                    </a:p>
                  </a:txBody>
                  <a:tcPr>
                    <a:solidFill>
                      <a:srgbClr val="FFFFFF"/>
                    </a:solidFill>
                  </a:tcPr>
                </a:tc>
                <a:tc>
                  <a:txBody>
                    <a:bodyPr/>
                    <a:lstStyle/>
                    <a:p>
                      <a:pPr algn="ctr"/>
                      <a:r>
                        <a:rPr sz="800" b="1" i="0">
                          <a:solidFill>
                            <a:srgbClr val="0D0D0D"/>
                          </a:solidFill>
                          <a:latin typeface="Calibri"/>
                        </a:rPr>
                        <a:t>12,6</a:t>
                      </a:r>
                    </a:p>
                  </a:txBody>
                  <a:tcPr>
                    <a:solidFill>
                      <a:srgbClr val="FFFFFF"/>
                    </a:solidFill>
                  </a:tcPr>
                </a:tc>
                <a:tc>
                  <a:txBody>
                    <a:bodyPr/>
                    <a:lstStyle/>
                    <a:p>
                      <a:pPr algn="ctr"/>
                      <a:r>
                        <a:rPr sz="800" b="1" i="0">
                          <a:solidFill>
                            <a:srgbClr val="1B3A6B"/>
                          </a:solidFill>
                          <a:latin typeface="Calibri"/>
                        </a:rPr>
                        <a:t>10,9</a:t>
                      </a:r>
                    </a:p>
                  </a:txBody>
                  <a:tcPr>
                    <a:solidFill>
                      <a:srgbClr val="DDE8F5"/>
                    </a:solidFill>
                  </a:tcPr>
                </a:tc>
                <a:tc>
                  <a:txBody>
                    <a:bodyPr/>
                    <a:lstStyle/>
                    <a:p>
                      <a:pPr algn="ctr"/>
                      <a:r>
                        <a:rPr sz="800" b="1" i="0">
                          <a:solidFill>
                            <a:srgbClr val="0D0D0D"/>
                          </a:solidFill>
                          <a:latin typeface="Calibri"/>
                        </a:rPr>
                        <a:t>11,9</a:t>
                      </a:r>
                    </a:p>
                  </a:txBody>
                  <a:tcPr>
                    <a:solidFill>
                      <a:srgbClr val="FFFFFF"/>
                    </a:solidFill>
                  </a:tcPr>
                </a:tc>
                <a:tc>
                  <a:txBody>
                    <a:bodyPr/>
                    <a:lstStyle/>
                    <a:p>
                      <a:pPr algn="ctr"/>
                      <a:r>
                        <a:rPr sz="800" b="1" i="0">
                          <a:solidFill>
                            <a:srgbClr val="0D0D0D"/>
                          </a:solidFill>
                          <a:latin typeface="Calibri"/>
                        </a:rPr>
                        <a:t>13,5</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17,6 %</a:t>
                      </a:r>
                    </a:p>
                  </a:txBody>
                  <a:tcPr>
                    <a:solidFill>
                      <a:srgbClr val="F7F8FA"/>
                    </a:solidFill>
                  </a:tcPr>
                </a:tc>
                <a:tc>
                  <a:txBody>
                    <a:bodyPr/>
                    <a:lstStyle/>
                    <a:p>
                      <a:pPr algn="ctr"/>
                      <a:r>
                        <a:rPr sz="750" b="0" i="1">
                          <a:solidFill>
                            <a:srgbClr val="555555"/>
                          </a:solidFill>
                          <a:latin typeface="Calibri"/>
                        </a:rPr>
                        <a:t>14,8 %</a:t>
                      </a:r>
                    </a:p>
                  </a:txBody>
                  <a:tcPr>
                    <a:solidFill>
                      <a:srgbClr val="F7F8FA"/>
                    </a:solidFill>
                  </a:tcPr>
                </a:tc>
                <a:tc>
                  <a:txBody>
                    <a:bodyPr/>
                    <a:lstStyle/>
                    <a:p>
                      <a:pPr algn="ctr"/>
                      <a:r>
                        <a:rPr sz="750" b="0" i="1">
                          <a:solidFill>
                            <a:srgbClr val="555555"/>
                          </a:solidFill>
                          <a:latin typeface="Calibri"/>
                        </a:rPr>
                        <a:t>13,5 %</a:t>
                      </a:r>
                    </a:p>
                  </a:txBody>
                  <a:tcPr>
                    <a:solidFill>
                      <a:srgbClr val="DDE8F5"/>
                    </a:solidFill>
                  </a:tcPr>
                </a:tc>
                <a:tc>
                  <a:txBody>
                    <a:bodyPr/>
                    <a:lstStyle/>
                    <a:p>
                      <a:pPr algn="ctr"/>
                      <a:r>
                        <a:rPr sz="750" b="0" i="1">
                          <a:solidFill>
                            <a:srgbClr val="555555"/>
                          </a:solidFill>
                          <a:latin typeface="Calibri"/>
                        </a:rPr>
                        <a:t>14,0 %</a:t>
                      </a:r>
                    </a:p>
                  </a:txBody>
                  <a:tcPr>
                    <a:solidFill>
                      <a:srgbClr val="F7F8FA"/>
                    </a:solidFill>
                  </a:tcPr>
                </a:tc>
                <a:tc>
                  <a:txBody>
                    <a:bodyPr/>
                    <a:lstStyle/>
                    <a:p>
                      <a:pPr algn="ctr"/>
                      <a:r>
                        <a:rPr sz="750" b="0" i="1">
                          <a:solidFill>
                            <a:srgbClr val="555555"/>
                          </a:solidFill>
                          <a:latin typeface="Calibri"/>
                        </a:rPr>
                        <a:t>15,0 %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Le CA 2025 affiche une baisse de -4.6% YoY mais les marges restent robustes (GM 66.2%, EBITDA 32%). La contraction des marges nettes (-430bps vs 2022) s'explique par des coûts logistiques élevés et des investissements marketing en Chine. Le levier opérationnel de 1.6x et la discipline sur les coûts soutiennent la génération de cash (FCF 2025: 12.5 milliards d'euros).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EUR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8,8 Md€</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12,4 Md€</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11,6 Md€</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1,77</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0,65</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interets</a:t>
                      </a:r>
                    </a:p>
                  </a:txBody>
                  <a:tcPr>
                    <a:solidFill>
                      <a:srgbClr val="F7F8FA"/>
                    </a:solidFill>
                  </a:tcPr>
                </a:tc>
                <a:tc>
                  <a:txBody>
                    <a:bodyPr/>
                    <a:lstStyle/>
                    <a:p>
                      <a:pPr algn="ctr"/>
                      <a:r>
                        <a:rPr sz="800" b="0" i="0">
                          <a:solidFill>
                            <a:srgbClr val="0D0D0D"/>
                          </a:solidFill>
                          <a:latin typeface="Calibri"/>
                        </a:rPr>
                        <a:t>15,5x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3,09</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-2,82</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Le CA 2025 affiche une baisse de -4.6% YoY mais les marges restent robustes (GM 66.2%, EBITDA 32%). La contraction des marges nettes (-430bps vs 2022) s'explique par des coûts logistiques élevés et des investissements marketing en Chine. Le levier opérationnel de 1.6x et la discipline sur les coûts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20,9x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9,2x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66,2 %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17,1 %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Modere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historiques montrent une stabilité de la GM à ~68% jusqu'en 2023, puis une compression à 66.2% en 2025. Cette érosion s'explique par la hausse des coûts de transport (+25% vs 2021) et la baisse des volumes en Chine (-12% en 2024). La marge EBITDA reste élevée à 32% grâce au mix produit et au pricing power, mais la marge nette chute à 13.5% en 2025 en raison des coûts fixes non absorbés.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520 EUR</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458,30 EUR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460 EUR</a:t>
                      </a:r>
                    </a:p>
                  </a:txBody>
                  <a:tcPr>
                    <a:solidFill>
                      <a:srgbClr val="FAF0EF"/>
                    </a:solidFill>
                  </a:tcPr>
                </a:tc>
                <a:tc>
                  <a:txBody>
                    <a:bodyPr/>
                    <a:lstStyle/>
                    <a:p>
                      <a:pPr algn="ctr"/>
                      <a:r>
                        <a:rPr sz="2000" b="1" i="0">
                          <a:solidFill>
                            <a:srgbClr val="2E5FA3"/>
                          </a:solidFill>
                          <a:latin typeface="Calibri"/>
                        </a:rPr>
                        <a:t>520 EUR</a:t>
                      </a:r>
                    </a:p>
                  </a:txBody>
                  <a:tcPr>
                    <a:solidFill>
                      <a:srgbClr val="EEF3FA"/>
                    </a:solidFill>
                  </a:tcPr>
                </a:tc>
                <a:tc>
                  <a:txBody>
                    <a:bodyPr/>
                    <a:lstStyle/>
                    <a:p>
                      <a:pPr algn="ctr"/>
                      <a:r>
                        <a:rPr sz="2000" b="1" i="0">
                          <a:solidFill>
                            <a:srgbClr val="1A7A4A"/>
                          </a:solidFill>
                          <a:latin typeface="Calibri"/>
                        </a:rPr>
                        <a:t>580 EUR</a:t>
                      </a:r>
                    </a:p>
                  </a:txBody>
                  <a:tcPr>
                    <a:solidFill>
                      <a:srgbClr val="EAF4EF"/>
                    </a:solidFill>
                  </a:tcPr>
                </a:tc>
              </a:tr>
              <a:tr h="342900">
                <a:tc>
                  <a:txBody>
                    <a:bodyPr/>
                    <a:lstStyle/>
                    <a:p>
                      <a:pPr algn="ctr"/>
                      <a:r>
                        <a:rPr sz="1200" b="1" i="0">
                          <a:solidFill>
                            <a:srgbClr val="A82020"/>
                          </a:solidFill>
                          <a:latin typeface="Calibri"/>
                        </a:rPr>
                        <a:t>+0,4 %</a:t>
                      </a:r>
                    </a:p>
                  </a:txBody>
                  <a:tcPr>
                    <a:solidFill>
                      <a:srgbClr val="FAF0EF"/>
                    </a:solidFill>
                  </a:tcPr>
                </a:tc>
                <a:tc>
                  <a:txBody>
                    <a:bodyPr/>
                    <a:lstStyle/>
                    <a:p>
                      <a:pPr algn="ctr"/>
                      <a:r>
                        <a:rPr sz="1200" b="1" i="0">
                          <a:solidFill>
                            <a:srgbClr val="2E5FA3"/>
                          </a:solidFill>
                          <a:latin typeface="Calibri"/>
                        </a:rPr>
                        <a:t>+13,5 %</a:t>
                      </a:r>
                    </a:p>
                  </a:txBody>
                  <a:tcPr>
                    <a:solidFill>
                      <a:srgbClr val="EEF3FA"/>
                    </a:solidFill>
                  </a:tcPr>
                </a:tc>
                <a:tc>
                  <a:txBody>
                    <a:bodyPr/>
                    <a:lstStyle/>
                    <a:p>
                      <a:pPr algn="ctr"/>
                      <a:r>
                        <a:rPr sz="1200" b="1" i="0">
                          <a:solidFill>
                            <a:srgbClr val="1A7A4A"/>
                          </a:solidFill>
                          <a:latin typeface="Calibri"/>
                        </a:rPr>
                        <a:t>+26,6 %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sensibilite — Valeur intrinseque (EUR)</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6,6%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772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1 020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7,6%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520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622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772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8,6%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520</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622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520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10,6%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8.6% et une TGR de 2.5%, le prix implicite DCF est de 520€, soit +13.5% vs le cours actuel de 458.3€. L'upside reflète une sous-valorisation structurelle liée à la résilience des marges et à la reprise en Asie. Un catalyseur clé serait une accélération des ventes en Chine dès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EUR</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LVMH Moët Hennessy - Louis Vuitton, Société Européenne</a:t>
                      </a:r>
                    </a:p>
                  </a:txBody>
                  <a:tcPr>
                    <a:solidFill>
                      <a:srgbClr val="DDE8F5"/>
                    </a:solidFill>
                  </a:tcPr>
                </a:tc>
                <a:tc>
                  <a:txBody>
                    <a:bodyPr/>
                    <a:lstStyle/>
                    <a:p>
                      <a:pPr algn="ctr"/>
                      <a:r>
                        <a:rPr sz="750" b="1" i="0">
                          <a:solidFill>
                            <a:srgbClr val="2E5FA3"/>
                          </a:solidFill>
                          <a:latin typeface="Calibri"/>
                        </a:rPr>
                        <a:t>MC.PA</a:t>
                      </a:r>
                    </a:p>
                  </a:txBody>
                  <a:tcPr>
                    <a:solidFill>
                      <a:srgbClr val="DDE8F5"/>
                    </a:solidFill>
                  </a:tcPr>
                </a:tc>
                <a:tc>
                  <a:txBody>
                    <a:bodyPr/>
                    <a:lstStyle/>
                    <a:p>
                      <a:pPr algn="ctr"/>
                      <a:r>
                        <a:rPr sz="800" b="1" i="0">
                          <a:solidFill>
                            <a:srgbClr val="1B3A6B"/>
                          </a:solidFill>
                          <a:latin typeface="Calibri"/>
                        </a:rPr>
                        <a:t>227,3</a:t>
                      </a:r>
                    </a:p>
                  </a:txBody>
                  <a:tcPr>
                    <a:solidFill>
                      <a:srgbClr val="DDE8F5"/>
                    </a:solidFill>
                  </a:tcPr>
                </a:tc>
                <a:tc>
                  <a:txBody>
                    <a:bodyPr/>
                    <a:lstStyle/>
                    <a:p>
                      <a:pPr algn="ctr"/>
                      <a:r>
                        <a:rPr sz="800" b="1" i="0">
                          <a:solidFill>
                            <a:srgbClr val="1B3A6B"/>
                          </a:solidFill>
                          <a:latin typeface="Calibri"/>
                        </a:rPr>
                        <a:t>9,2x</a:t>
                      </a:r>
                    </a:p>
                  </a:txBody>
                  <a:tcPr>
                    <a:solidFill>
                      <a:srgbClr val="DDE8F5"/>
                    </a:solidFill>
                  </a:tcPr>
                </a:tc>
                <a:tc>
                  <a:txBody>
                    <a:bodyPr/>
                    <a:lstStyle/>
                    <a:p>
                      <a:pPr algn="ctr"/>
                      <a:r>
                        <a:rPr sz="800" b="1" i="0">
                          <a:solidFill>
                            <a:srgbClr val="1B3A6B"/>
                          </a:solidFill>
                          <a:latin typeface="Calibri"/>
                        </a:rPr>
                        <a:t>3,0x</a:t>
                      </a:r>
                    </a:p>
                  </a:txBody>
                  <a:tcPr>
                    <a:solidFill>
                      <a:srgbClr val="DDE8F5"/>
                    </a:solidFill>
                  </a:tcPr>
                </a:tc>
                <a:tc>
                  <a:txBody>
                    <a:bodyPr/>
                    <a:lstStyle/>
                    <a:p>
                      <a:pPr algn="ctr"/>
                      <a:r>
                        <a:rPr sz="800" b="1" i="0">
                          <a:solidFill>
                            <a:srgbClr val="1B3A6B"/>
                          </a:solidFill>
                          <a:latin typeface="Calibri"/>
                        </a:rPr>
                        <a:t>20,9x</a:t>
                      </a:r>
                    </a:p>
                  </a:txBody>
                  <a:tcPr>
                    <a:solidFill>
                      <a:srgbClr val="DDE8F5"/>
                    </a:solidFill>
                  </a:tcPr>
                </a:tc>
                <a:tc>
                  <a:txBody>
                    <a:bodyPr/>
                    <a:lstStyle/>
                    <a:p>
                      <a:pPr algn="ctr"/>
                      <a:r>
                        <a:rPr sz="800" b="1" i="0">
                          <a:solidFill>
                            <a:srgbClr val="1B3A6B"/>
                          </a:solidFill>
                          <a:latin typeface="Calibri"/>
                        </a:rPr>
                        <a:t>66,2 %</a:t>
                      </a:r>
                    </a:p>
                  </a:txBody>
                  <a:tcPr>
                    <a:solidFill>
                      <a:srgbClr val="DDE8F5"/>
                    </a:solidFill>
                  </a:tcPr>
                </a:tc>
                <a:tc>
                  <a:txBody>
                    <a:bodyPr/>
                    <a:lstStyle/>
                    <a:p>
                      <a:pPr algn="ctr"/>
                      <a:r>
                        <a:rPr sz="800" b="1" i="0">
                          <a:solidFill>
                            <a:srgbClr val="1B3A6B"/>
                          </a:solidFill>
                          <a:latin typeface="Calibri"/>
                        </a:rPr>
                        <a:t>32,0 %</a:t>
                      </a:r>
                    </a:p>
                  </a:txBody>
                  <a:tcPr>
                    <a:solidFill>
                      <a:srgbClr val="DDE8F5"/>
                    </a:solidFill>
                  </a:tcPr>
                </a:tc>
              </a:tr>
              <a:tr h="251999">
                <a:tc>
                  <a:txBody>
                    <a:bodyPr/>
                    <a:lstStyle/>
                    <a:p>
                      <a:pPr algn="l"/>
                      <a:r>
                        <a:rPr sz="800" b="0" i="0">
                          <a:solidFill>
                            <a:srgbClr val="0D0D0D"/>
                          </a:solidFill>
                          <a:latin typeface="Calibri"/>
                        </a:rPr>
                        <a:t>Kering</a:t>
                      </a:r>
                    </a:p>
                  </a:txBody>
                  <a:tcPr>
                    <a:solidFill>
                      <a:srgbClr val="FFFFFF"/>
                    </a:solidFill>
                  </a:tcPr>
                </a:tc>
                <a:tc>
                  <a:txBody>
                    <a:bodyPr/>
                    <a:lstStyle/>
                    <a:p>
                      <a:pPr algn="ctr"/>
                      <a:r>
                        <a:rPr sz="750" b="0" i="0">
                          <a:solidFill>
                            <a:srgbClr val="555555"/>
                          </a:solidFill>
                          <a:latin typeface="Calibri"/>
                        </a:rPr>
                        <a:t>KER.PA</a:t>
                      </a:r>
                    </a:p>
                  </a:txBody>
                  <a:tcPr>
                    <a:solidFill>
                      <a:srgbClr val="FFFFFF"/>
                    </a:solidFill>
                  </a:tcPr>
                </a:tc>
                <a:tc>
                  <a:txBody>
                    <a:bodyPr/>
                    <a:lstStyle/>
                    <a:p>
                      <a:pPr algn="ctr"/>
                      <a:r>
                        <a:rPr sz="800" b="0" i="0">
                          <a:solidFill>
                            <a:srgbClr val="0D0D0D"/>
                          </a:solidFill>
                          <a:latin typeface="Calibri"/>
                        </a:rPr>
                        <a:t>52,3</a:t>
                      </a:r>
                    </a:p>
                  </a:txBody>
                  <a:tcPr>
                    <a:solidFill>
                      <a:srgbClr val="FFFFFF"/>
                    </a:solidFill>
                  </a:tcPr>
                </a:tc>
                <a:tc>
                  <a:txBody>
                    <a:bodyPr/>
                    <a:lstStyle/>
                    <a:p>
                      <a:pPr algn="ctr"/>
                      <a:r>
                        <a:rPr sz="800" b="0" i="0">
                          <a:solidFill>
                            <a:srgbClr val="0D0D0D"/>
                          </a:solidFill>
                          <a:latin typeface="Calibri"/>
                        </a:rPr>
                        <a:t>8,5x</a:t>
                      </a:r>
                    </a:p>
                  </a:txBody>
                  <a:tcPr>
                    <a:solidFill>
                      <a:srgbClr val="FFFFFF"/>
                    </a:solidFill>
                  </a:tcPr>
                </a:tc>
                <a:tc>
                  <a:txBody>
                    <a:bodyPr/>
                    <a:lstStyle/>
                    <a:p>
                      <a:pPr algn="ctr"/>
                      <a:r>
                        <a:rPr sz="800" b="0" i="0">
                          <a:solidFill>
                            <a:srgbClr val="0D0D0D"/>
                          </a:solidFill>
                          <a:latin typeface="Calibri"/>
                        </a:rPr>
                        <a:t>2,1x</a:t>
                      </a:r>
                    </a:p>
                  </a:txBody>
                  <a:tcPr>
                    <a:solidFill>
                      <a:srgbClr val="FFFFFF"/>
                    </a:solidFill>
                  </a:tcPr>
                </a:tc>
                <a:tc>
                  <a:txBody>
                    <a:bodyPr/>
                    <a:lstStyle/>
                    <a:p>
                      <a:pPr algn="ctr"/>
                      <a:r>
                        <a:rPr sz="800" b="0" i="0">
                          <a:solidFill>
                            <a:srgbClr val="0D0D0D"/>
                          </a:solidFill>
                          <a:latin typeface="Calibri"/>
                        </a:rPr>
                        <a:t>15,2x</a:t>
                      </a:r>
                    </a:p>
                  </a:txBody>
                  <a:tcPr>
                    <a:solidFill>
                      <a:srgbClr val="FFFFFF"/>
                    </a:solidFill>
                  </a:tcPr>
                </a:tc>
                <a:tc>
                  <a:txBody>
                    <a:bodyPr/>
                    <a:lstStyle/>
                    <a:p>
                      <a:pPr algn="ctr"/>
                      <a:r>
                        <a:rPr sz="800" b="0" i="0">
                          <a:solidFill>
                            <a:srgbClr val="0D0D0D"/>
                          </a:solidFill>
                          <a:latin typeface="Calibri"/>
                        </a:rPr>
                        <a:t>62,0 %</a:t>
                      </a:r>
                    </a:p>
                  </a:txBody>
                  <a:tcPr>
                    <a:solidFill>
                      <a:srgbClr val="FFFFFF"/>
                    </a:solidFill>
                  </a:tcPr>
                </a:tc>
                <a:tc>
                  <a:txBody>
                    <a:bodyPr/>
                    <a:lstStyle/>
                    <a:p>
                      <a:pPr algn="ctr"/>
                      <a:r>
                        <a:rPr sz="800" b="0" i="0">
                          <a:solidFill>
                            <a:srgbClr val="0D0D0D"/>
                          </a:solidFill>
                          <a:latin typeface="Calibri"/>
                        </a:rPr>
                        <a:t>25,0 %</a:t>
                      </a:r>
                    </a:p>
                  </a:txBody>
                  <a:tcPr>
                    <a:solidFill>
                      <a:srgbClr val="FFFFFF"/>
                    </a:solidFill>
                  </a:tcPr>
                </a:tc>
              </a:tr>
              <a:tr h="251999">
                <a:tc>
                  <a:txBody>
                    <a:bodyPr/>
                    <a:lstStyle/>
                    <a:p>
                      <a:pPr algn="l"/>
                      <a:r>
                        <a:rPr sz="800" b="0" i="0">
                          <a:solidFill>
                            <a:srgbClr val="0D0D0D"/>
                          </a:solidFill>
                          <a:latin typeface="Calibri"/>
                        </a:rPr>
                        <a:t>Richemont</a:t>
                      </a:r>
                    </a:p>
                  </a:txBody>
                  <a:tcPr>
                    <a:solidFill>
                      <a:srgbClr val="F7F8FA"/>
                    </a:solidFill>
                  </a:tcPr>
                </a:tc>
                <a:tc>
                  <a:txBody>
                    <a:bodyPr/>
                    <a:lstStyle/>
                    <a:p>
                      <a:pPr algn="ctr"/>
                      <a:r>
                        <a:rPr sz="750" b="0" i="0">
                          <a:solidFill>
                            <a:srgbClr val="555555"/>
                          </a:solidFill>
                          <a:latin typeface="Calibri"/>
                        </a:rPr>
                        <a:t>CFR.SW</a:t>
                      </a:r>
                    </a:p>
                  </a:txBody>
                  <a:tcPr>
                    <a:solidFill>
                      <a:srgbClr val="F7F8FA"/>
                    </a:solidFill>
                  </a:tcPr>
                </a:tc>
                <a:tc>
                  <a:txBody>
                    <a:bodyPr/>
                    <a:lstStyle/>
                    <a:p>
                      <a:pPr algn="ctr"/>
                      <a:r>
                        <a:rPr sz="800" b="0" i="0">
                          <a:solidFill>
                            <a:srgbClr val="0D0D0D"/>
                          </a:solidFill>
                          <a:latin typeface="Calibri"/>
                        </a:rPr>
                        <a:t>58,7</a:t>
                      </a:r>
                    </a:p>
                  </a:txBody>
                  <a:tcPr>
                    <a:solidFill>
                      <a:srgbClr val="F7F8FA"/>
                    </a:solidFill>
                  </a:tcPr>
                </a:tc>
                <a:tc>
                  <a:txBody>
                    <a:bodyPr/>
                    <a:lstStyle/>
                    <a:p>
                      <a:pPr algn="ctr"/>
                      <a:r>
                        <a:rPr sz="800" b="0" i="0">
                          <a:solidFill>
                            <a:srgbClr val="0D0D0D"/>
                          </a:solidFill>
                          <a:latin typeface="Calibri"/>
                        </a:rPr>
                        <a:t>10,8x</a:t>
                      </a:r>
                    </a:p>
                  </a:txBody>
                  <a:tcPr>
                    <a:solidFill>
                      <a:srgbClr val="F7F8FA"/>
                    </a:solidFill>
                  </a:tcPr>
                </a:tc>
                <a:tc>
                  <a:txBody>
                    <a:bodyPr/>
                    <a:lstStyle/>
                    <a:p>
                      <a:pPr algn="ctr"/>
                      <a:r>
                        <a:rPr sz="800" b="0" i="0">
                          <a:solidFill>
                            <a:srgbClr val="0D0D0D"/>
                          </a:solidFill>
                          <a:latin typeface="Calibri"/>
                        </a:rPr>
                        <a:t>3,2x</a:t>
                      </a:r>
                    </a:p>
                  </a:txBody>
                  <a:tcPr>
                    <a:solidFill>
                      <a:srgbClr val="F7F8FA"/>
                    </a:solidFill>
                  </a:tcPr>
                </a:tc>
                <a:tc>
                  <a:txBody>
                    <a:bodyPr/>
                    <a:lstStyle/>
                    <a:p>
                      <a:pPr algn="ctr"/>
                      <a:r>
                        <a:rPr sz="800" b="0" i="0">
                          <a:solidFill>
                            <a:srgbClr val="0D0D0D"/>
                          </a:solidFill>
                          <a:latin typeface="Calibri"/>
                        </a:rPr>
                        <a:t>18,5x</a:t>
                      </a:r>
                    </a:p>
                  </a:txBody>
                  <a:tcPr>
                    <a:solidFill>
                      <a:srgbClr val="F7F8FA"/>
                    </a:solidFill>
                  </a:tcPr>
                </a:tc>
                <a:tc>
                  <a:txBody>
                    <a:bodyPr/>
                    <a:lstStyle/>
                    <a:p>
                      <a:pPr algn="ctr"/>
                      <a:r>
                        <a:rPr sz="800" b="0" i="0">
                          <a:solidFill>
                            <a:srgbClr val="0D0D0D"/>
                          </a:solidFill>
                          <a:latin typeface="Calibri"/>
                        </a:rPr>
                        <a:t>65,0 %</a:t>
                      </a:r>
                    </a:p>
                  </a:txBody>
                  <a:tcPr>
                    <a:solidFill>
                      <a:srgbClr val="F7F8FA"/>
                    </a:solidFill>
                  </a:tcPr>
                </a:tc>
                <a:tc>
                  <a:txBody>
                    <a:bodyPr/>
                    <a:lstStyle/>
                    <a:p>
                      <a:pPr algn="ctr"/>
                      <a:r>
                        <a:rPr sz="800" b="0" i="0">
                          <a:solidFill>
                            <a:srgbClr val="0D0D0D"/>
                          </a:solidFill>
                          <a:latin typeface="Calibri"/>
                        </a:rPr>
                        <a:t>31,0 %</a:t>
                      </a:r>
                    </a:p>
                  </a:txBody>
                  <a:tcPr>
                    <a:solidFill>
                      <a:srgbClr val="F7F8FA"/>
                    </a:solidFill>
                  </a:tcPr>
                </a:tc>
              </a:tr>
              <a:tr h="251999">
                <a:tc>
                  <a:txBody>
                    <a:bodyPr/>
                    <a:lstStyle/>
                    <a:p>
                      <a:pPr algn="l"/>
                      <a:r>
                        <a:rPr sz="800" b="0" i="0">
                          <a:solidFill>
                            <a:srgbClr val="0D0D0D"/>
                          </a:solidFill>
                          <a:latin typeface="Calibri"/>
                        </a:rPr>
                        <a:t>Hermès</a:t>
                      </a:r>
                    </a:p>
                  </a:txBody>
                  <a:tcPr>
                    <a:solidFill>
                      <a:srgbClr val="FFFFFF"/>
                    </a:solidFill>
                  </a:tcPr>
                </a:tc>
                <a:tc>
                  <a:txBody>
                    <a:bodyPr/>
                    <a:lstStyle/>
                    <a:p>
                      <a:pPr algn="ctr"/>
                      <a:r>
                        <a:rPr sz="750" b="0" i="0">
                          <a:solidFill>
                            <a:srgbClr val="555555"/>
                          </a:solidFill>
                          <a:latin typeface="Calibri"/>
                        </a:rPr>
                        <a:t>RMS.PA</a:t>
                      </a:r>
                    </a:p>
                  </a:txBody>
                  <a:tcPr>
                    <a:solidFill>
                      <a:srgbClr val="FFFFFF"/>
                    </a:solidFill>
                  </a:tcPr>
                </a:tc>
                <a:tc>
                  <a:txBody>
                    <a:bodyPr/>
                    <a:lstStyle/>
                    <a:p>
                      <a:pPr algn="ctr"/>
                      <a:r>
                        <a:rPr sz="800" b="0" i="0">
                          <a:solidFill>
                            <a:srgbClr val="0D0D0D"/>
                          </a:solidFill>
                          <a:latin typeface="Calibri"/>
                        </a:rPr>
                        <a:t>185,2</a:t>
                      </a:r>
                    </a:p>
                  </a:txBody>
                  <a:tcPr>
                    <a:solidFill>
                      <a:srgbClr val="FFFFFF"/>
                    </a:solidFill>
                  </a:tcPr>
                </a:tc>
                <a:tc>
                  <a:txBody>
                    <a:bodyPr/>
                    <a:lstStyle/>
                    <a:p>
                      <a:pPr algn="ctr"/>
                      <a:r>
                        <a:rPr sz="800" b="0" i="0">
                          <a:solidFill>
                            <a:srgbClr val="0D0D0D"/>
                          </a:solidFill>
                          <a:latin typeface="Calibri"/>
                        </a:rPr>
                        <a:t>22,1x</a:t>
                      </a:r>
                    </a:p>
                  </a:txBody>
                  <a:tcPr>
                    <a:solidFill>
                      <a:srgbClr val="FFFFFF"/>
                    </a:solidFill>
                  </a:tcPr>
                </a:tc>
                <a:tc>
                  <a:txBody>
                    <a:bodyPr/>
                    <a:lstStyle/>
                    <a:p>
                      <a:pPr algn="ctr"/>
                      <a:r>
                        <a:rPr sz="800" b="0" i="0">
                          <a:solidFill>
                            <a:srgbClr val="0D0D0D"/>
                          </a:solidFill>
                          <a:latin typeface="Calibri"/>
                        </a:rPr>
                        <a:t>6,8x</a:t>
                      </a:r>
                    </a:p>
                  </a:txBody>
                  <a:tcPr>
                    <a:solidFill>
                      <a:srgbClr val="FFFFFF"/>
                    </a:solidFill>
                  </a:tcPr>
                </a:tc>
                <a:tc>
                  <a:txBody>
                    <a:bodyPr/>
                    <a:lstStyle/>
                    <a:p>
                      <a:pPr algn="ctr"/>
                      <a:r>
                        <a:rPr sz="800" b="0" i="0">
                          <a:solidFill>
                            <a:srgbClr val="0D0D0D"/>
                          </a:solidFill>
                          <a:latin typeface="Calibri"/>
                        </a:rPr>
                        <a:t>45,6x</a:t>
                      </a:r>
                    </a:p>
                  </a:txBody>
                  <a:tcPr>
                    <a:solidFill>
                      <a:srgbClr val="FFFFFF"/>
                    </a:solidFill>
                  </a:tcPr>
                </a:tc>
                <a:tc>
                  <a:txBody>
                    <a:bodyPr/>
                    <a:lstStyle/>
                    <a:p>
                      <a:pPr algn="ctr"/>
                      <a:r>
                        <a:rPr sz="800" b="0" i="0">
                          <a:solidFill>
                            <a:srgbClr val="0D0D0D"/>
                          </a:solidFill>
                          <a:latin typeface="Calibri"/>
                        </a:rPr>
                        <a:t>71,0 %</a:t>
                      </a:r>
                    </a:p>
                  </a:txBody>
                  <a:tcPr>
                    <a:solidFill>
                      <a:srgbClr val="FFFFFF"/>
                    </a:solidFill>
                  </a:tcPr>
                </a:tc>
                <a:tc>
                  <a:txBody>
                    <a:bodyPr/>
                    <a:lstStyle/>
                    <a:p>
                      <a:pPr algn="ctr"/>
                      <a:r>
                        <a:rPr sz="800" b="0" i="0">
                          <a:solidFill>
                            <a:srgbClr val="0D0D0D"/>
                          </a:solidFill>
                          <a:latin typeface="Calibri"/>
                        </a:rPr>
                        <a:t>38,0 %</a:t>
                      </a:r>
                    </a:p>
                  </a:txBody>
                  <a:tcPr>
                    <a:solidFill>
                      <a:srgbClr val="FFFFFF"/>
                    </a:solidFill>
                  </a:tcPr>
                </a:tc>
              </a:tr>
              <a:tr h="251999">
                <a:tc>
                  <a:txBody>
                    <a:bodyPr/>
                    <a:lstStyle/>
                    <a:p>
                      <a:pPr algn="l"/>
                      <a:r>
                        <a:rPr sz="800" b="0" i="0">
                          <a:solidFill>
                            <a:srgbClr val="0D0D0D"/>
                          </a:solidFill>
                          <a:latin typeface="Calibri"/>
                        </a:rPr>
                        <a:t>Estée Lauder</a:t>
                      </a:r>
                    </a:p>
                  </a:txBody>
                  <a:tcPr>
                    <a:solidFill>
                      <a:srgbClr val="F7F8FA"/>
                    </a:solidFill>
                  </a:tcPr>
                </a:tc>
                <a:tc>
                  <a:txBody>
                    <a:bodyPr/>
                    <a:lstStyle/>
                    <a:p>
                      <a:pPr algn="ctr"/>
                      <a:r>
                        <a:rPr sz="750" b="0" i="0">
                          <a:solidFill>
                            <a:srgbClr val="555555"/>
                          </a:solidFill>
                          <a:latin typeface="Calibri"/>
                        </a:rPr>
                        <a:t>EL</a:t>
                      </a:r>
                    </a:p>
                  </a:txBody>
                  <a:tcPr>
                    <a:solidFill>
                      <a:srgbClr val="F7F8FA"/>
                    </a:solidFill>
                  </a:tcPr>
                </a:tc>
                <a:tc>
                  <a:txBody>
                    <a:bodyPr/>
                    <a:lstStyle/>
                    <a:p>
                      <a:pPr algn="ctr"/>
                      <a:r>
                        <a:rPr sz="800" b="0" i="0">
                          <a:solidFill>
                            <a:srgbClr val="0D0D0D"/>
                          </a:solidFill>
                          <a:latin typeface="Calibri"/>
                        </a:rPr>
                        <a:t>42,1</a:t>
                      </a:r>
                    </a:p>
                  </a:txBody>
                  <a:tcPr>
                    <a:solidFill>
                      <a:srgbClr val="F7F8FA"/>
                    </a:solidFill>
                  </a:tcPr>
                </a:tc>
                <a:tc>
                  <a:txBody>
                    <a:bodyPr/>
                    <a:lstStyle/>
                    <a:p>
                      <a:pPr algn="ctr"/>
                      <a:r>
                        <a:rPr sz="800" b="0" i="0">
                          <a:solidFill>
                            <a:srgbClr val="0D0D0D"/>
                          </a:solidFill>
                          <a:latin typeface="Calibri"/>
                        </a:rPr>
                        <a:t>10,2x</a:t>
                      </a:r>
                    </a:p>
                  </a:txBody>
                  <a:tcPr>
                    <a:solidFill>
                      <a:srgbClr val="F7F8FA"/>
                    </a:solidFill>
                  </a:tcPr>
                </a:tc>
                <a:tc>
                  <a:txBody>
                    <a:bodyPr/>
                    <a:lstStyle/>
                    <a:p>
                      <a:pPr algn="ctr"/>
                      <a:r>
                        <a:rPr sz="800" b="0" i="0">
                          <a:solidFill>
                            <a:srgbClr val="0D0D0D"/>
                          </a:solidFill>
                          <a:latin typeface="Calibri"/>
                        </a:rPr>
                        <a:t>2,8x</a:t>
                      </a:r>
                    </a:p>
                  </a:txBody>
                  <a:tcPr>
                    <a:solidFill>
                      <a:srgbClr val="F7F8FA"/>
                    </a:solidFill>
                  </a:tcPr>
                </a:tc>
                <a:tc>
                  <a:txBody>
                    <a:bodyPr/>
                    <a:lstStyle/>
                    <a:p>
                      <a:pPr algn="ctr"/>
                      <a:r>
                        <a:rPr sz="800" b="0" i="0">
                          <a:solidFill>
                            <a:srgbClr val="0D0D0D"/>
                          </a:solidFill>
                          <a:latin typeface="Calibri"/>
                        </a:rPr>
                        <a:t>22,3x</a:t>
                      </a:r>
                    </a:p>
                  </a:txBody>
                  <a:tcPr>
                    <a:solidFill>
                      <a:srgbClr val="F7F8FA"/>
                    </a:solidFill>
                  </a:tcPr>
                </a:tc>
                <a:tc>
                  <a:txBody>
                    <a:bodyPr/>
                    <a:lstStyle/>
                    <a:p>
                      <a:pPr algn="ctr"/>
                      <a:r>
                        <a:rPr sz="800" b="0" i="0">
                          <a:solidFill>
                            <a:srgbClr val="0D0D0D"/>
                          </a:solidFill>
                          <a:latin typeface="Calibri"/>
                        </a:rPr>
                        <a:t>78,0 %</a:t>
                      </a:r>
                    </a:p>
                  </a:txBody>
                  <a:tcPr>
                    <a:solidFill>
                      <a:srgbClr val="F7F8FA"/>
                    </a:solidFill>
                  </a:tcPr>
                </a:tc>
                <a:tc>
                  <a:txBody>
                    <a:bodyPr/>
                    <a:lstStyle/>
                    <a:p>
                      <a:pPr algn="ctr"/>
                      <a:r>
                        <a:rPr sz="800" b="0" i="0">
                          <a:solidFill>
                            <a:srgbClr val="0D0D0D"/>
                          </a:solidFill>
                          <a:latin typeface="Calibri"/>
                        </a:rPr>
                        <a:t>28,0 %</a:t>
                      </a:r>
                    </a:p>
                  </a:txBody>
                  <a:tcPr>
                    <a:solidFill>
                      <a:srgbClr val="F7F8FA"/>
                    </a:solidFill>
                  </a:tcPr>
                </a:tc>
              </a:tr>
              <a:tr h="251999">
                <a:tc>
                  <a:txBody>
                    <a:bodyPr/>
                    <a:lstStyle/>
                    <a:p>
                      <a:pPr algn="l"/>
                      <a:r>
                        <a:rPr sz="800" b="0" i="0">
                          <a:solidFill>
                            <a:srgbClr val="0D0D0D"/>
                          </a:solidFill>
                          <a:latin typeface="Calibri"/>
                        </a:rPr>
                        <a:t>L'Oréal Luxe</a:t>
                      </a:r>
                    </a:p>
                  </a:txBody>
                  <a:tcPr>
                    <a:solidFill>
                      <a:srgbClr val="FFFFFF"/>
                    </a:solidFill>
                  </a:tcPr>
                </a:tc>
                <a:tc>
                  <a:txBody>
                    <a:bodyPr/>
                    <a:lstStyle/>
                    <a:p>
                      <a:pPr algn="ctr"/>
                      <a:r>
                        <a:rPr sz="750" b="0" i="0">
                          <a:solidFill>
                            <a:srgbClr val="555555"/>
                          </a:solidFill>
                          <a:latin typeface="Calibri"/>
                        </a:rPr>
                        <a:t>OR.PA</a:t>
                      </a:r>
                    </a:p>
                  </a:txBody>
                  <a:tcPr>
                    <a:solidFill>
                      <a:srgbClr val="FFFFFF"/>
                    </a:solidFill>
                  </a:tcPr>
                </a:tc>
                <a:tc>
                  <a:txBody>
                    <a:bodyPr/>
                    <a:lstStyle/>
                    <a:p>
                      <a:pPr algn="ctr"/>
                      <a:r>
                        <a:rPr sz="800" b="0" i="0">
                          <a:solidFill>
                            <a:srgbClr val="0D0D0D"/>
                          </a:solidFill>
                          <a:latin typeface="Calibri"/>
                        </a:rPr>
                        <a:t>210,5</a:t>
                      </a:r>
                    </a:p>
                  </a:txBody>
                  <a:tcPr>
                    <a:solidFill>
                      <a:srgbClr val="FFFFFF"/>
                    </a:solidFill>
                  </a:tcPr>
                </a:tc>
                <a:tc>
                  <a:txBody>
                    <a:bodyPr/>
                    <a:lstStyle/>
                    <a:p>
                      <a:pPr algn="ctr"/>
                      <a:r>
                        <a:rPr sz="800" b="0" i="0">
                          <a:solidFill>
                            <a:srgbClr val="0D0D0D"/>
                          </a:solidFill>
                          <a:latin typeface="Calibri"/>
                        </a:rPr>
                        <a:t>18,7x</a:t>
                      </a:r>
                    </a:p>
                  </a:txBody>
                  <a:tcPr>
                    <a:solidFill>
                      <a:srgbClr val="FFFFFF"/>
                    </a:solidFill>
                  </a:tcPr>
                </a:tc>
                <a:tc>
                  <a:txBody>
                    <a:bodyPr/>
                    <a:lstStyle/>
                    <a:p>
                      <a:pPr algn="ctr"/>
                      <a:r>
                        <a:rPr sz="800" b="0" i="0">
                          <a:solidFill>
                            <a:srgbClr val="0D0D0D"/>
                          </a:solidFill>
                          <a:latin typeface="Calibri"/>
                        </a:rPr>
                        <a:t>4,5x</a:t>
                      </a:r>
                    </a:p>
                  </a:txBody>
                  <a:tcPr>
                    <a:solidFill>
                      <a:srgbClr val="FFFFFF"/>
                    </a:solidFill>
                  </a:tcPr>
                </a:tc>
                <a:tc>
                  <a:txBody>
                    <a:bodyPr/>
                    <a:lstStyle/>
                    <a:p>
                      <a:pPr algn="ctr"/>
                      <a:r>
                        <a:rPr sz="800" b="0" i="0">
                          <a:solidFill>
                            <a:srgbClr val="0D0D0D"/>
                          </a:solidFill>
                          <a:latin typeface="Calibri"/>
                        </a:rPr>
                        <a:t>35,1x</a:t>
                      </a:r>
                    </a:p>
                  </a:txBody>
                  <a:tcPr>
                    <a:solidFill>
                      <a:srgbClr val="FFFFFF"/>
                    </a:solidFill>
                  </a:tcPr>
                </a:tc>
                <a:tc>
                  <a:txBody>
                    <a:bodyPr/>
                    <a:lstStyle/>
                    <a:p>
                      <a:pPr algn="ctr"/>
                      <a:r>
                        <a:rPr sz="800" b="0" i="0">
                          <a:solidFill>
                            <a:srgbClr val="0D0D0D"/>
                          </a:solidFill>
                          <a:latin typeface="Calibri"/>
                        </a:rPr>
                        <a:t>74,0 %</a:t>
                      </a:r>
                    </a:p>
                  </a:txBody>
                  <a:tcPr>
                    <a:solidFill>
                      <a:srgbClr val="FFFFFF"/>
                    </a:solidFill>
                  </a:tcPr>
                </a:tc>
                <a:tc>
                  <a:txBody>
                    <a:bodyPr/>
                    <a:lstStyle/>
                    <a:p>
                      <a:pPr algn="ctr"/>
                      <a:r>
                        <a:rPr sz="800" b="0" i="0">
                          <a:solidFill>
                            <a:srgbClr val="0D0D0D"/>
                          </a:solidFill>
                          <a:latin typeface="Calibri"/>
                        </a:rPr>
                        <a:t>33,0 %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10,8x</a:t>
                      </a:r>
                    </a:p>
                  </a:txBody>
                  <a:tcPr>
                    <a:solidFill>
                      <a:srgbClr val="F7F8FA"/>
                    </a:solidFill>
                  </a:tcPr>
                </a:tc>
                <a:tc>
                  <a:txBody>
                    <a:bodyPr/>
                    <a:lstStyle/>
                    <a:p>
                      <a:pPr algn="ctr"/>
                      <a:r>
                        <a:rPr sz="800" b="1" i="0">
                          <a:solidFill>
                            <a:srgbClr val="0D0D0D"/>
                          </a:solidFill>
                          <a:latin typeface="Calibri"/>
                        </a:rPr>
                        <a:t>3,2x</a:t>
                      </a:r>
                    </a:p>
                  </a:txBody>
                  <a:tcPr>
                    <a:solidFill>
                      <a:srgbClr val="F7F8FA"/>
                    </a:solidFill>
                  </a:tcPr>
                </a:tc>
                <a:tc>
                  <a:txBody>
                    <a:bodyPr/>
                    <a:lstStyle/>
                    <a:p>
                      <a:pPr algn="ctr"/>
                      <a:r>
                        <a:rPr sz="800" b="1" i="0">
                          <a:solidFill>
                            <a:srgbClr val="0D0D0D"/>
                          </a:solidFill>
                          <a:latin typeface="Calibri"/>
                        </a:rPr>
                        <a:t>22,3x</a:t>
                      </a:r>
                    </a:p>
                  </a:txBody>
                  <a:tcPr>
                    <a:solidFill>
                      <a:srgbClr val="F7F8FA"/>
                    </a:solidFill>
                  </a:tcPr>
                </a:tc>
                <a:tc>
                  <a:txBody>
                    <a:bodyPr/>
                    <a:lstStyle/>
                    <a:p>
                      <a:pPr algn="ctr"/>
                      <a:r>
                        <a:rPr sz="800" b="1" i="0">
                          <a:solidFill>
                            <a:srgbClr val="0D0D0D"/>
                          </a:solidFill>
                          <a:latin typeface="Calibri"/>
                        </a:rPr>
                        <a:t>71,0 %</a:t>
                      </a:r>
                    </a:p>
                  </a:txBody>
                  <a:tcPr>
                    <a:solidFill>
                      <a:srgbClr val="F7F8FA"/>
                    </a:solidFill>
                  </a:tcPr>
                </a:tc>
                <a:tc>
                  <a:txBody>
                    <a:bodyPr/>
                    <a:lstStyle/>
                    <a:p>
                      <a:pPr algn="ctr"/>
                      <a:r>
                        <a:rPr sz="800" b="1" i="0">
                          <a:solidFill>
                            <a:srgbClr val="0D0D0D"/>
                          </a:solidFill>
                          <a:latin typeface="Calibri"/>
                        </a:rPr>
                        <a:t>31,0 %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LVMH affiche un EV/EBITDA de 9.2x vs une médiane peers de 11.5x (Kering 8.5x, Richemont 10.8x, Hermès 22.1x, Estée Lauder 10.2x). La décote de 20% est justifiée par une croissance supérieure et une meilleure diversification géographique. Une convergence vers la médiane peers impliquerait un upside de +25% sur l'EV/EBITDA.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EUR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8.6% et une TGR de 2.5%, le prix implicite DCF est de 520€, soit +13.5% vs le cours actuel de 458.3€. L'upside reflète une sous-valorisation structurelle liée à la résilience des marges et à la reprise en Asie. Un catalyseur clé serait une accélération des ventes en Chine dès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Marges sous pression Chine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La marge brute de 66.2% repose sur un mix produit déséquilibré avec 45% des ventes en maroquinerie, secteur déjà en surcapacité en Chine où les stocks ont augmenté de 22% en 2023, menaçant les prix.</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Endettement masqué</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Le ROE de 16.1% est gonflé par un endettement artificiellement bas grâce à des rachats d'actions pour 12 milliards d'euros en 2022, masquant une rentabilité opérationnelle réelle de 14.2%.</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Croissance marges illusoire</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L'EV/EBITDA à 9.24x suppose une croissance perpétuelle des marges, mais les coûts logistiques ont bondi de 18% en 2023, réduisant les marges nettes à 12.8% en glissement annuel.</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these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Croissance Chine &lt;3% en 2026 avec dépréciation du yuan de 10%</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Concurrence accrue des marques coréennes et japonaises sur le segment premium</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Societe</a:t>
                      </a:r>
                    </a:p>
                  </a:txBody>
                  <a:tcPr>
                    <a:solidFill>
                      <a:srgbClr val="FFFFFF"/>
                    </a:solidFill>
                  </a:tcPr>
                </a:tc>
                <a:tc>
                  <a:txBody>
                    <a:bodyPr/>
                    <a:lstStyle/>
                    <a:p>
                      <a:pPr algn="ctr"/>
                      <a:r>
                        <a:rPr sz="800" b="0" i="0">
                          <a:solidFill>
                            <a:srgbClr val="0D0D0D"/>
                          </a:solidFill>
                          <a:latin typeface="Calibri"/>
                        </a:rPr>
                        <a:t>Perte de parts de marché en Chine pour Louis Vuitton &gt;5% en 2026</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20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agrege : +0,073</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20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analyses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Fenetre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59,9 %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Modele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Coherence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Aligne avec la these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4</a:t>
                      </a:r>
                    </a:p>
                  </a:txBody>
                  <a:tcPr>
                    <a:solidFill>
                      <a:srgbClr val="EAF4EF"/>
                    </a:solidFill>
                  </a:tcPr>
                </a:tc>
                <a:tc>
                  <a:txBody>
                    <a:bodyPr/>
                    <a:lstStyle/>
                    <a:p>
                      <a:pPr algn="ctr"/>
                      <a:r>
                        <a:rPr sz="800" b="0" i="0">
                          <a:solidFill>
                            <a:srgbClr val="0D0D0D"/>
                          </a:solidFill>
                          <a:latin typeface="Calibri"/>
                        </a:rPr>
                        <a:t>+0,237</a:t>
                      </a:r>
                    </a:p>
                  </a:txBody>
                  <a:tcPr>
                    <a:solidFill>
                      <a:srgbClr val="EAF4EF"/>
                    </a:solidFill>
                  </a:tcPr>
                </a:tc>
                <a:tc>
                  <a:txBody>
                    <a:bodyPr/>
                    <a:lstStyle/>
                    <a:p>
                      <a:pPr algn="ctr"/>
                      <a:r>
                        <a:rPr sz="800" b="0" i="0">
                          <a:solidFill>
                            <a:srgbClr val="0D0D0D"/>
                          </a:solidFill>
                          <a:latin typeface="Calibri"/>
                        </a:rPr>
                        <a:t>Rebond des ventes en Chine +15% en 2026 avec effet volume et mix positif | Hausse des prix de 8% en 2026 sur les produits iconiques | Expansion des marges…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13</a:t>
                      </a:r>
                    </a:p>
                  </a:txBody>
                  <a:tcPr>
                    <a:solidFill>
                      <a:srgbClr val="FFFFFF"/>
                    </a:solidFill>
                  </a:tcPr>
                </a:tc>
                <a:tc>
                  <a:txBody>
                    <a:bodyPr/>
                    <a:lstStyle/>
                    <a:p>
                      <a:pPr algn="ctr"/>
                      <a:r>
                        <a:rPr sz="800" b="0" i="0">
                          <a:solidFill>
                            <a:srgbClr val="0D0D0D"/>
                          </a:solidFill>
                          <a:latin typeface="Calibri"/>
                        </a:rPr>
                        <a:t>+0,599</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3</a:t>
                      </a:r>
                    </a:p>
                  </a:txBody>
                  <a:tcPr>
                    <a:solidFill>
                      <a:srgbClr val="FAF0EF"/>
                    </a:solidFill>
                  </a:tcPr>
                </a:tc>
                <a:tc>
                  <a:txBody>
                    <a:bodyPr/>
                    <a:lstStyle/>
                    <a:p>
                      <a:pPr algn="ctr"/>
                      <a:r>
                        <a:rPr sz="800" b="0" i="0">
                          <a:solidFill>
                            <a:srgbClr val="0D0D0D"/>
                          </a:solidFill>
                          <a:latin typeface="Calibri"/>
                        </a:rPr>
                        <a:t>+0,164</a:t>
                      </a:r>
                    </a:p>
                  </a:txBody>
                  <a:tcPr>
                    <a:solidFill>
                      <a:srgbClr val="FAF0EF"/>
                    </a:solidFill>
                  </a:tcPr>
                </a:tc>
                <a:tc>
                  <a:txBody>
                    <a:bodyPr/>
                    <a:lstStyle/>
                    <a:p>
                      <a:pPr algn="ctr"/>
                      <a:r>
                        <a:rPr sz="800" b="0" i="0">
                          <a:solidFill>
                            <a:srgbClr val="0D0D0D"/>
                          </a:solidFill>
                          <a:latin typeface="Calibri"/>
                        </a:rPr>
                        <a:t>Ralentissement économique en Chine -5% en 2026 avec impact sur les ventes de 12% | Concurrence accrue des marques asiatiques sur le segment premium | Hausse…</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Le sentiment neutre + (score +0.073) est basé sur 20 articles analysés sur 7 jours. Confiance IA : 60%. Cohérence avec la recommandation BUY : validée.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26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LVMH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STAR FUNDS-Vanguard Total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TAX-MANAGED FUNDS-Vanguard</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iShares Trust-iShares Core MSCI EAF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First Eagle Funds-First Eagle Globa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EuroPacific Growth Fund-EUPAC Fund</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Fidelity Concord Street Trust-Fidel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iShares Trust-iShares MSCI EAFE ETF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LVMH se négocie à 9.2x EV/EBITDA vs une médiane peers à 11.5x, soit une décote de 20%. Le P/E de 20.9x reflète une prime de qualité justifiée par la résilience des marges.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MC.PA  ·  EUR  ·  Au 26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458,30 EUR</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639,48 EUR</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440,80 EUR</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-3,8 %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564669"/>
            <a:ext cx="498636" cy="33053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581412"/>
            <a:ext cx="498636" cy="31378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23812"/>
            <a:ext cx="498636" cy="271387"/>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395650"/>
            <a:ext cx="498636" cy="49954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3277800"/>
            <a:ext cx="498636" cy="6173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619624"/>
            <a:ext cx="498636" cy="1275575"/>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451474"/>
            <a:ext cx="498636" cy="1443725"/>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3054204"/>
            <a:ext cx="498636" cy="840995"/>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3074498"/>
            <a:ext cx="498636" cy="820701"/>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3696362"/>
            <a:ext cx="498636" cy="198837"/>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440</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506</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573</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639</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LVMH affiche une résilience opérationnelle malgré un environnement macroéconomique dégradé, avec des marges nettes en légère érosion mais une trésorerie solide. Le groupe reste un leader incontesté du luxe, porté par son mix géographique et son pouvoir de pricing exceptionnel.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