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2000" b="1" i="0">
                <a:solidFill>
                  <a:srgbClr val="1B3A6B"/>
                </a:solidFill>
                <a:latin typeface="Calibri"/>
              </a:rPr>
              <a:t>LVMH Moët Hennessy - Louis Vuitton, Société Européenne</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MC.PA  ·  Euronext Paris  ·  Consumer Cyclical</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520 EUR  ·  Upside : +13,5 %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26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520 EUR  ·  Upside : +13,5 %  ·  Bear : 440 EUR (-4,0 %)  ·  Bull : 580 EUR (+26,6 %)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LVMH devrait bénéficier d'une reprise de la demande chinoise post-Covid avec +15% de croissance CA en 2026</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Réseau exclusif</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EBITDA devrait se stabiliser à 33% grâce à un mix produit favorable et une discipline des coûts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Diversification</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cash-flow libre devrait atteindre 12Md€ en 2026, soutenant des rachats d'actions et des dividendes en hausse.</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Ralentissement Chine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avec -5% CA local en 2026 | Impact sur les ventes de montres et maroquinerie | Horizon 6-12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de marques émergentes (ex: Richemont) avec perte de parts de marché | Pression sur les prix | Horizon 12-18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Risque réglementaire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Risque réglementaire en Europe avec +10% taxes sur les produits de luxe | Baisse de la demande locale | Horizon 12-24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9,2x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12,8x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8,6 %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0,84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520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+13,5 %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LVMH Moët Hennessy - Louis Vuitton, Société Européenne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Ralentissement Chine  ·  Concurrence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LVMH Moët Hennessy - Louis Vuitton, Société Européenne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LVMH est le leader mondial du luxe avec un portefeuille de 75 Maisons emblématiques couvrant mode, vins &amp; spiritueux, parfums et montres. Positionné sur le segment premium avec une stratégie de rareté et d'exclusivité, le groupe bénéficie d'un pricing power inégalé et d'une clientèle fidèle. Ses avantages concurrentiels incluent une gestion centralisée des coûts, une innovation constante et un réseau de distribution ultra-contrôlé.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Mode &amp; Maroquinerie</a:t>
            </a:r>
          </a:p>
        </p:txBody>
      </p:sp>
      <p:sp>
        <p:nvSpPr>
          <p:cNvPr id="22" name="TextBox 21"/>
          <p:cNvSpPr txBox="1"/>
          <p:nvPr/>
        </p:nvSpPr>
        <p:spPr>
          <a:xfrm>
            <a:off x="619200" y="2714400"/>
            <a:ext cx="4338000" cy="396000"/>
          </a:xfrm>
          <a:prstGeom prst="rect">
            <a:avLst/>
          </a:prstGeom>
          <a:noFill/>
        </p:spPr>
        <p:txBody>
          <a:bodyPr wrap="square">
            <a:spAutoFit/>
          </a:bodyPr>
          <a:lstStyle/>
          <a:p>
            <a:pPr algn="l"/>
            <a:r>
              <a:rPr sz="750" b="0" i="1">
                <a:solidFill>
                  <a:srgbClr val="555555"/>
                </a:solidFill>
                <a:latin typeface="Calibri"/>
              </a:rPr>
              <a:t>Segment phare générant 50% du CA avec des marques comme Louis Vuitton et Dior. Modèle basé sur la rareté, le storytelling et le contrôle strict de la distribution. Clients cibles : ultra-riches et touristes asiatiques. Moteurs : expansion en Chine (+15% CA 2025) et relance du tourisme post-Covid.</a:t>
            </a:r>
          </a:p>
        </p:txBody>
      </p:sp>
      <p:sp>
        <p:nvSpPr>
          <p:cNvPr id="23" name="Rectangle 22"/>
          <p:cNvSpPr/>
          <p:nvPr/>
        </p:nvSpPr>
        <p:spPr>
          <a:xfrm>
            <a:off x="503999" y="3193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150000"/>
            <a:ext cx="4338000" cy="165600"/>
          </a:xfrm>
          <a:prstGeom prst="rect">
            <a:avLst/>
          </a:prstGeom>
          <a:noFill/>
        </p:spPr>
        <p:txBody>
          <a:bodyPr wrap="square">
            <a:spAutoFit/>
          </a:bodyPr>
          <a:lstStyle/>
          <a:p>
            <a:pPr algn="l"/>
            <a:r>
              <a:rPr sz="850" b="1" i="0">
                <a:solidFill>
                  <a:srgbClr val="0D0D0D"/>
                </a:solidFill>
                <a:latin typeface="Calibri"/>
              </a:rPr>
              <a:t>Vins &amp; Spiritueux</a:t>
            </a:r>
          </a:p>
        </p:txBody>
      </p:sp>
      <p:sp>
        <p:nvSpPr>
          <p:cNvPr id="25" name="TextBox 24"/>
          <p:cNvSpPr txBox="1"/>
          <p:nvPr/>
        </p:nvSpPr>
        <p:spPr>
          <a:xfrm>
            <a:off x="619200" y="3308400"/>
            <a:ext cx="4338000" cy="396000"/>
          </a:xfrm>
          <a:prstGeom prst="rect">
            <a:avLst/>
          </a:prstGeom>
          <a:noFill/>
        </p:spPr>
        <p:txBody>
          <a:bodyPr wrap="square">
            <a:spAutoFit/>
          </a:bodyPr>
          <a:lstStyle/>
          <a:p>
            <a:pPr algn="l"/>
            <a:r>
              <a:rPr sz="750" b="0" i="1">
                <a:solidFill>
                  <a:srgbClr val="555555"/>
                </a:solidFill>
                <a:latin typeface="Calibri"/>
              </a:rPr>
              <a:t>2e segment en taille avec des marques comme Moët &amp; Chandon et Hennessy. Modèle de revenus récurrents via la vente de bouteilles et l'expérience client. Clients cibles : amateurs de luxe et collectionneurs. Moteurs : croissance en Asie (+12% CA 2025) et premiumisation des gammes.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227,3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80,8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458,30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9,2x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20,9x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50%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Mode &amp; Maroquinerie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50% du CA avec des marques comme Louis Vuitton et Dior. Modèle basé sur la rareté, le storytelling et le contrôle strict de la distribution. Clients cibles : ultra-riches et touristes asiatiques. Moteurs : expansion en Chine (+15% CA 2025) et relance du tourisme post-Covid.</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Vins &amp; Spiritueux</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2e segment en taille avec des marques comme Moët &amp; Chandon et Hennessy. Modèle de revenus récurrents via la vente de bouteilles et l'expérience client. Clients cibles : amateurs de luxe et collectionneurs. Moteurs : croissance en Asie (+12% CA 2025) et premiumisation des gammes.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86,2</a:t>
                      </a:r>
                    </a:p>
                  </a:txBody>
                  <a:tcPr>
                    <a:solidFill>
                      <a:srgbClr val="FFFFFF"/>
                    </a:solidFill>
                  </a:tcPr>
                </a:tc>
                <a:tc>
                  <a:txBody>
                    <a:bodyPr/>
                    <a:lstStyle/>
                    <a:p>
                      <a:pPr algn="ctr"/>
                      <a:r>
                        <a:rPr sz="800" b="1" i="0">
                          <a:solidFill>
                            <a:srgbClr val="0D0D0D"/>
                          </a:solidFill>
                          <a:latin typeface="Calibri"/>
                        </a:rPr>
                        <a:t>84,7</a:t>
                      </a:r>
                    </a:p>
                  </a:txBody>
                  <a:tcPr>
                    <a:solidFill>
                      <a:srgbClr val="FFFFFF"/>
                    </a:solidFill>
                  </a:tcPr>
                </a:tc>
                <a:tc>
                  <a:txBody>
                    <a:bodyPr/>
                    <a:lstStyle/>
                    <a:p>
                      <a:pPr algn="ctr"/>
                      <a:r>
                        <a:rPr sz="800" b="1" i="0">
                          <a:solidFill>
                            <a:srgbClr val="1B3A6B"/>
                          </a:solidFill>
                          <a:latin typeface="Calibri"/>
                        </a:rPr>
                        <a:t>80,8</a:t>
                      </a:r>
                    </a:p>
                  </a:txBody>
                  <a:tcPr>
                    <a:solidFill>
                      <a:srgbClr val="DDE8F5"/>
                    </a:solidFill>
                  </a:tcPr>
                </a:tc>
                <a:tc>
                  <a:txBody>
                    <a:bodyPr/>
                    <a:lstStyle/>
                    <a:p>
                      <a:pPr algn="ctr"/>
                      <a:r>
                        <a:rPr sz="800" b="1" i="0">
                          <a:solidFill>
                            <a:srgbClr val="0D0D0D"/>
                          </a:solidFill>
                          <a:latin typeface="Calibri"/>
                        </a:rPr>
                        <a:t>89,0</a:t>
                      </a:r>
                    </a:p>
                  </a:txBody>
                  <a:tcPr>
                    <a:solidFill>
                      <a:srgbClr val="FFFFFF"/>
                    </a:solidFill>
                  </a:tcPr>
                </a:tc>
                <a:tc>
                  <a:txBody>
                    <a:bodyPr/>
                    <a:lstStyle/>
                    <a:p>
                      <a:pPr algn="ctr"/>
                      <a:r>
                        <a:rPr sz="800" b="1" i="0">
                          <a:solidFill>
                            <a:srgbClr val="0D0D0D"/>
                          </a:solidFill>
                          <a:latin typeface="Calibri"/>
                        </a:rPr>
                        <a:t>96,0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+8,8 %</a:t>
                      </a:r>
                    </a:p>
                  </a:txBody>
                  <a:tcPr>
                    <a:solidFill>
                      <a:srgbClr val="F7F8FA"/>
                    </a:solidFill>
                  </a:tcPr>
                </a:tc>
                <a:tc>
                  <a:txBody>
                    <a:bodyPr/>
                    <a:lstStyle/>
                    <a:p>
                      <a:pPr algn="ctr"/>
                      <a:r>
                        <a:rPr sz="750" b="0" i="1">
                          <a:solidFill>
                            <a:srgbClr val="555555"/>
                          </a:solidFill>
                          <a:latin typeface="Calibri"/>
                        </a:rPr>
                        <a:t>-1,7 %</a:t>
                      </a:r>
                    </a:p>
                  </a:txBody>
                  <a:tcPr>
                    <a:solidFill>
                      <a:srgbClr val="F7F8FA"/>
                    </a:solidFill>
                  </a:tcPr>
                </a:tc>
                <a:tc>
                  <a:txBody>
                    <a:bodyPr/>
                    <a:lstStyle/>
                    <a:p>
                      <a:pPr algn="ctr"/>
                      <a:r>
                        <a:rPr sz="750" b="0" i="1">
                          <a:solidFill>
                            <a:srgbClr val="555555"/>
                          </a:solidFill>
                          <a:latin typeface="Calibri"/>
                        </a:rPr>
                        <a:t>-4,6 %</a:t>
                      </a:r>
                    </a:p>
                  </a:txBody>
                  <a:tcPr>
                    <a:solidFill>
                      <a:srgbClr val="DDE8F5"/>
                    </a:solidFill>
                  </a:tcPr>
                </a:tc>
                <a:tc>
                  <a:txBody>
                    <a:bodyPr/>
                    <a:lstStyle/>
                    <a:p>
                      <a:pPr algn="ctr"/>
                      <a:r>
                        <a:rPr sz="750" b="0" i="1">
                          <a:solidFill>
                            <a:srgbClr val="555555"/>
                          </a:solidFill>
                          <a:latin typeface="Calibri"/>
                        </a:rPr>
                        <a:t>+10,2 %</a:t>
                      </a:r>
                    </a:p>
                  </a:txBody>
                  <a:tcPr>
                    <a:solidFill>
                      <a:srgbClr val="F7F8FA"/>
                    </a:solidFill>
                  </a:tcPr>
                </a:tc>
                <a:tc>
                  <a:txBody>
                    <a:bodyPr/>
                    <a:lstStyle/>
                    <a:p>
                      <a:pPr algn="ctr"/>
                      <a:r>
                        <a:rPr sz="750" b="0" i="1">
                          <a:solidFill>
                            <a:srgbClr val="555555"/>
                          </a:solidFill>
                          <a:latin typeface="Calibri"/>
                        </a:rPr>
                        <a:t>+7,9 %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59,3</a:t>
                      </a:r>
                    </a:p>
                  </a:txBody>
                  <a:tcPr>
                    <a:solidFill>
                      <a:srgbClr val="FFFFFF"/>
                    </a:solidFill>
                  </a:tcPr>
                </a:tc>
                <a:tc>
                  <a:txBody>
                    <a:bodyPr/>
                    <a:lstStyle/>
                    <a:p>
                      <a:pPr algn="ctr"/>
                      <a:r>
                        <a:rPr sz="800" b="1" i="0">
                          <a:solidFill>
                            <a:srgbClr val="0D0D0D"/>
                          </a:solidFill>
                          <a:latin typeface="Calibri"/>
                        </a:rPr>
                        <a:t>56,8</a:t>
                      </a:r>
                    </a:p>
                  </a:txBody>
                  <a:tcPr>
                    <a:solidFill>
                      <a:srgbClr val="FFFFFF"/>
                    </a:solidFill>
                  </a:tcPr>
                </a:tc>
                <a:tc>
                  <a:txBody>
                    <a:bodyPr/>
                    <a:lstStyle/>
                    <a:p>
                      <a:pPr algn="ctr"/>
                      <a:r>
                        <a:rPr sz="800" b="1" i="0">
                          <a:solidFill>
                            <a:srgbClr val="1B3A6B"/>
                          </a:solidFill>
                          <a:latin typeface="Calibri"/>
                        </a:rPr>
                        <a:t>53,5</a:t>
                      </a:r>
                    </a:p>
                  </a:txBody>
                  <a:tcPr>
                    <a:solidFill>
                      <a:srgbClr val="DDE8F5"/>
                    </a:solidFill>
                  </a:tcPr>
                </a:tc>
                <a:tc>
                  <a:txBody>
                    <a:bodyPr/>
                    <a:lstStyle/>
                    <a:p>
                      <a:pPr algn="ctr"/>
                      <a:r>
                        <a:rPr sz="800" b="1" i="0">
                          <a:solidFill>
                            <a:srgbClr val="0D0D0D"/>
                          </a:solidFill>
                          <a:latin typeface="Calibri"/>
                        </a:rPr>
                        <a:t>59,6</a:t>
                      </a:r>
                    </a:p>
                  </a:txBody>
                  <a:tcPr>
                    <a:solidFill>
                      <a:srgbClr val="FFFFFF"/>
                    </a:solidFill>
                  </a:tcPr>
                </a:tc>
                <a:tc>
                  <a:txBody>
                    <a:bodyPr/>
                    <a:lstStyle/>
                    <a:p>
                      <a:pPr algn="ctr"/>
                      <a:r>
                        <a:rPr sz="800" b="1" i="0">
                          <a:solidFill>
                            <a:srgbClr val="0D0D0D"/>
                          </a:solidFill>
                          <a:latin typeface="Calibri"/>
                        </a:rPr>
                        <a:t>64,8</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68,8 %</a:t>
                      </a:r>
                    </a:p>
                  </a:txBody>
                  <a:tcPr>
                    <a:solidFill>
                      <a:srgbClr val="F7F8FA"/>
                    </a:solidFill>
                  </a:tcPr>
                </a:tc>
                <a:tc>
                  <a:txBody>
                    <a:bodyPr/>
                    <a:lstStyle/>
                    <a:p>
                      <a:pPr algn="ctr"/>
                      <a:r>
                        <a:rPr sz="750" b="0" i="1">
                          <a:solidFill>
                            <a:srgbClr val="555555"/>
                          </a:solidFill>
                          <a:latin typeface="Calibri"/>
                        </a:rPr>
                        <a:t>67,0 %</a:t>
                      </a:r>
                    </a:p>
                  </a:txBody>
                  <a:tcPr>
                    <a:solidFill>
                      <a:srgbClr val="F7F8FA"/>
                    </a:solidFill>
                  </a:tcPr>
                </a:tc>
                <a:tc>
                  <a:txBody>
                    <a:bodyPr/>
                    <a:lstStyle/>
                    <a:p>
                      <a:pPr algn="ctr"/>
                      <a:r>
                        <a:rPr sz="750" b="0" i="1">
                          <a:solidFill>
                            <a:srgbClr val="555555"/>
                          </a:solidFill>
                          <a:latin typeface="Calibri"/>
                        </a:rPr>
                        <a:t>66,2 %</a:t>
                      </a:r>
                    </a:p>
                  </a:txBody>
                  <a:tcPr>
                    <a:solidFill>
                      <a:srgbClr val="DDE8F5"/>
                    </a:solidFill>
                  </a:tcPr>
                </a:tc>
                <a:tc>
                  <a:txBody>
                    <a:bodyPr/>
                    <a:lstStyle/>
                    <a:p>
                      <a:pPr algn="ctr"/>
                      <a:r>
                        <a:rPr sz="750" b="0" i="1">
                          <a:solidFill>
                            <a:srgbClr val="555555"/>
                          </a:solidFill>
                          <a:latin typeface="Calibri"/>
                        </a:rPr>
                        <a:t>67,0 %</a:t>
                      </a:r>
                    </a:p>
                  </a:txBody>
                  <a:tcPr>
                    <a:solidFill>
                      <a:srgbClr val="F7F8FA"/>
                    </a:solidFill>
                  </a:tcPr>
                </a:tc>
                <a:tc>
                  <a:txBody>
                    <a:bodyPr/>
                    <a:lstStyle/>
                    <a:p>
                      <a:pPr algn="ctr"/>
                      <a:r>
                        <a:rPr sz="750" b="0" i="1">
                          <a:solidFill>
                            <a:srgbClr val="555555"/>
                          </a:solidFill>
                          <a:latin typeface="Calibri"/>
                        </a:rPr>
                        <a:t>67,5 %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0D0D0D"/>
                          </a:solidFill>
                          <a:latin typeface="Calibri"/>
                        </a:rPr>
                        <a:t>27,1</a:t>
                      </a:r>
                    </a:p>
                  </a:txBody>
                  <a:tcPr>
                    <a:solidFill>
                      <a:srgbClr val="FFFFFF"/>
                    </a:solidFill>
                  </a:tcPr>
                </a:tc>
                <a:tc>
                  <a:txBody>
                    <a:bodyPr/>
                    <a:lstStyle/>
                    <a:p>
                      <a:pPr algn="ctr"/>
                      <a:r>
                        <a:rPr sz="800" b="1" i="0">
                          <a:solidFill>
                            <a:srgbClr val="1B3A6B"/>
                          </a:solidFill>
                          <a:latin typeface="Calibri"/>
                        </a:rPr>
                        <a:t>25,9</a:t>
                      </a:r>
                    </a:p>
                  </a:txBody>
                  <a:tcPr>
                    <a:solidFill>
                      <a:srgbClr val="DDE8F5"/>
                    </a:solidFill>
                  </a:tcPr>
                </a:tc>
                <a:tc>
                  <a:txBody>
                    <a:bodyPr/>
                    <a:lstStyle/>
                    <a:p>
                      <a:pPr algn="ctr"/>
                      <a:r>
                        <a:rPr sz="800" b="1" i="0">
                          <a:solidFill>
                            <a:srgbClr val="0D0D0D"/>
                          </a:solidFill>
                          <a:latin typeface="Calibri"/>
                        </a:rPr>
                        <a:t>29,4</a:t>
                      </a:r>
                    </a:p>
                  </a:txBody>
                  <a:tcPr>
                    <a:solidFill>
                      <a:srgbClr val="FFFFFF"/>
                    </a:solidFill>
                  </a:tcPr>
                </a:tc>
                <a:tc>
                  <a:txBody>
                    <a:bodyPr/>
                    <a:lstStyle/>
                    <a:p>
                      <a:pPr algn="ctr"/>
                      <a:r>
                        <a:rPr sz="800" b="1" i="0">
                          <a:solidFill>
                            <a:srgbClr val="0D0D0D"/>
                          </a:solidFill>
                          <a:latin typeface="Calibri"/>
                        </a:rPr>
                        <a:t>32,2</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34,6 %</a:t>
                      </a:r>
                    </a:p>
                  </a:txBody>
                  <a:tcPr>
                    <a:solidFill>
                      <a:srgbClr val="F7F8FA"/>
                    </a:solidFill>
                  </a:tcPr>
                </a:tc>
                <a:tc>
                  <a:txBody>
                    <a:bodyPr/>
                    <a:lstStyle/>
                    <a:p>
                      <a:pPr algn="ctr"/>
                      <a:r>
                        <a:rPr sz="750" b="0" i="1">
                          <a:solidFill>
                            <a:srgbClr val="555555"/>
                          </a:solidFill>
                          <a:latin typeface="Calibri"/>
                        </a:rPr>
                        <a:t>32,0 %</a:t>
                      </a:r>
                    </a:p>
                  </a:txBody>
                  <a:tcPr>
                    <a:solidFill>
                      <a:srgbClr val="F7F8FA"/>
                    </a:solidFill>
                  </a:tcPr>
                </a:tc>
                <a:tc>
                  <a:txBody>
                    <a:bodyPr/>
                    <a:lstStyle/>
                    <a:p>
                      <a:pPr algn="ctr"/>
                      <a:r>
                        <a:rPr sz="750" b="0" i="1">
                          <a:solidFill>
                            <a:srgbClr val="555555"/>
                          </a:solidFill>
                          <a:latin typeface="Calibri"/>
                        </a:rPr>
                        <a:t>32,0 %</a:t>
                      </a:r>
                    </a:p>
                  </a:txBody>
                  <a:tcPr>
                    <a:solidFill>
                      <a:srgbClr val="DDE8F5"/>
                    </a:solidFill>
                  </a:tcPr>
                </a:tc>
                <a:tc>
                  <a:txBody>
                    <a:bodyPr/>
                    <a:lstStyle/>
                    <a:p>
                      <a:pPr algn="ctr"/>
                      <a:r>
                        <a:rPr sz="750" b="0" i="1">
                          <a:solidFill>
                            <a:srgbClr val="555555"/>
                          </a:solidFill>
                          <a:latin typeface="Calibri"/>
                        </a:rPr>
                        <a:t>33,0 %</a:t>
                      </a:r>
                    </a:p>
                  </a:txBody>
                  <a:tcPr>
                    <a:solidFill>
                      <a:srgbClr val="F7F8FA"/>
                    </a:solidFill>
                  </a:tcPr>
                </a:tc>
                <a:tc>
                  <a:txBody>
                    <a:bodyPr/>
                    <a:lstStyle/>
                    <a:p>
                      <a:pPr algn="ctr"/>
                      <a:r>
                        <a:rPr sz="750" b="0" i="1">
                          <a:solidFill>
                            <a:srgbClr val="555555"/>
                          </a:solidFill>
                          <a:latin typeface="Calibri"/>
                        </a:rPr>
                        <a:t>33,5 %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15,2</a:t>
                      </a:r>
                    </a:p>
                  </a:txBody>
                  <a:tcPr>
                    <a:solidFill>
                      <a:srgbClr val="FFFFFF"/>
                    </a:solidFill>
                  </a:tcPr>
                </a:tc>
                <a:tc>
                  <a:txBody>
                    <a:bodyPr/>
                    <a:lstStyle/>
                    <a:p>
                      <a:pPr algn="ctr"/>
                      <a:r>
                        <a:rPr sz="800" b="1" i="0">
                          <a:solidFill>
                            <a:srgbClr val="0D0D0D"/>
                          </a:solidFill>
                          <a:latin typeface="Calibri"/>
                        </a:rPr>
                        <a:t>12,6</a:t>
                      </a:r>
                    </a:p>
                  </a:txBody>
                  <a:tcPr>
                    <a:solidFill>
                      <a:srgbClr val="FFFFFF"/>
                    </a:solidFill>
                  </a:tcPr>
                </a:tc>
                <a:tc>
                  <a:txBody>
                    <a:bodyPr/>
                    <a:lstStyle/>
                    <a:p>
                      <a:pPr algn="ctr"/>
                      <a:r>
                        <a:rPr sz="800" b="1" i="0">
                          <a:solidFill>
                            <a:srgbClr val="1B3A6B"/>
                          </a:solidFill>
                          <a:latin typeface="Calibri"/>
                        </a:rPr>
                        <a:t>10,9</a:t>
                      </a:r>
                    </a:p>
                  </a:txBody>
                  <a:tcPr>
                    <a:solidFill>
                      <a:srgbClr val="DDE8F5"/>
                    </a:solidFill>
                  </a:tcPr>
                </a:tc>
                <a:tc>
                  <a:txBody>
                    <a:bodyPr/>
                    <a:lstStyle/>
                    <a:p>
                      <a:pPr algn="ctr"/>
                      <a:r>
                        <a:rPr sz="800" b="1" i="0">
                          <a:solidFill>
                            <a:srgbClr val="0D0D0D"/>
                          </a:solidFill>
                          <a:latin typeface="Calibri"/>
                        </a:rPr>
                        <a:t>12,0</a:t>
                      </a:r>
                    </a:p>
                  </a:txBody>
                  <a:tcPr>
                    <a:solidFill>
                      <a:srgbClr val="FFFFFF"/>
                    </a:solidFill>
                  </a:tcPr>
                </a:tc>
                <a:tc>
                  <a:txBody>
                    <a:bodyPr/>
                    <a:lstStyle/>
                    <a:p>
                      <a:pPr algn="ctr"/>
                      <a:r>
                        <a:rPr sz="800" b="1" i="0">
                          <a:solidFill>
                            <a:srgbClr val="0D0D0D"/>
                          </a:solidFill>
                          <a:latin typeface="Calibri"/>
                        </a:rPr>
                        <a:t>13,2</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17,6 %</a:t>
                      </a:r>
                    </a:p>
                  </a:txBody>
                  <a:tcPr>
                    <a:solidFill>
                      <a:srgbClr val="F7F8FA"/>
                    </a:solidFill>
                  </a:tcPr>
                </a:tc>
                <a:tc>
                  <a:txBody>
                    <a:bodyPr/>
                    <a:lstStyle/>
                    <a:p>
                      <a:pPr algn="ctr"/>
                      <a:r>
                        <a:rPr sz="750" b="0" i="1">
                          <a:solidFill>
                            <a:srgbClr val="555555"/>
                          </a:solidFill>
                          <a:latin typeface="Calibri"/>
                        </a:rPr>
                        <a:t>14,8 %</a:t>
                      </a:r>
                    </a:p>
                  </a:txBody>
                  <a:tcPr>
                    <a:solidFill>
                      <a:srgbClr val="F7F8FA"/>
                    </a:solidFill>
                  </a:tcPr>
                </a:tc>
                <a:tc>
                  <a:txBody>
                    <a:bodyPr/>
                    <a:lstStyle/>
                    <a:p>
                      <a:pPr algn="ctr"/>
                      <a:r>
                        <a:rPr sz="750" b="0" i="1">
                          <a:solidFill>
                            <a:srgbClr val="555555"/>
                          </a:solidFill>
                          <a:latin typeface="Calibri"/>
                        </a:rPr>
                        <a:t>13,5 %</a:t>
                      </a:r>
                    </a:p>
                  </a:txBody>
                  <a:tcPr>
                    <a:solidFill>
                      <a:srgbClr val="DDE8F5"/>
                    </a:solidFill>
                  </a:tcPr>
                </a:tc>
                <a:tc>
                  <a:txBody>
                    <a:bodyPr/>
                    <a:lstStyle/>
                    <a:p>
                      <a:pPr algn="ctr"/>
                      <a:r>
                        <a:rPr sz="750" b="0" i="1">
                          <a:solidFill>
                            <a:srgbClr val="555555"/>
                          </a:solidFill>
                          <a:latin typeface="Calibri"/>
                        </a:rPr>
                        <a:t>13,5 %</a:t>
                      </a:r>
                    </a:p>
                  </a:txBody>
                  <a:tcPr>
                    <a:solidFill>
                      <a:srgbClr val="F7F8FA"/>
                    </a:solidFill>
                  </a:tcPr>
                </a:tc>
                <a:tc>
                  <a:txBody>
                    <a:bodyPr/>
                    <a:lstStyle/>
                    <a:p>
                      <a:pPr algn="ctr"/>
                      <a:r>
                        <a:rPr sz="750" b="0" i="1">
                          <a:solidFill>
                            <a:srgbClr val="555555"/>
                          </a:solidFill>
                          <a:latin typeface="Calibri"/>
                        </a:rPr>
                        <a:t>13,8 %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recule de -4.6% YoY mais les marges restent robustes (GM 66.2%, EBITDA 32%). La résilience s'explique par un levier opérationnel de 15% et une discipline des coûts. Le cash-flow libre de 10.5Md€ renforce la solidité bilancielle, permettant de financer des acquisitions ciblées.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8,8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12,4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11,6 Md€</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1,77</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15,5x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3,09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-2,82</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recule de -4.6% YoY mais les marges restent robustes (GM 66.2%, EBITDA 32%). La résilience s'explique par un levier opérationnel de 15% et une discipline des coûts. Le cash-flow libre de 10.5Md€ renforce la solidité bilancielle, permettant de financer des acquisitions ciblées.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Modere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se contractent légèrement de 68.8% en 2023 à 66.2% en 2025, reflétant un mix produit moins premium. Les marges EBITDA et nettes restent stables autour de 32% et 13.5%, grâce à un contrôle strict des coûts fixes. Cette stabilité suggère une durabilité des marges, limitant le risque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520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458,30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440 EUR</a:t>
                      </a:r>
                    </a:p>
                  </a:txBody>
                  <a:tcPr>
                    <a:solidFill>
                      <a:srgbClr val="FAF0EF"/>
                    </a:solidFill>
                  </a:tcPr>
                </a:tc>
                <a:tc>
                  <a:txBody>
                    <a:bodyPr/>
                    <a:lstStyle/>
                    <a:p>
                      <a:pPr algn="ctr"/>
                      <a:r>
                        <a:rPr sz="2000" b="1" i="0">
                          <a:solidFill>
                            <a:srgbClr val="2E5FA3"/>
                          </a:solidFill>
                          <a:latin typeface="Calibri"/>
                        </a:rPr>
                        <a:t>520 EUR</a:t>
                      </a:r>
                    </a:p>
                  </a:txBody>
                  <a:tcPr>
                    <a:solidFill>
                      <a:srgbClr val="EEF3FA"/>
                    </a:solidFill>
                  </a:tcPr>
                </a:tc>
                <a:tc>
                  <a:txBody>
                    <a:bodyPr/>
                    <a:lstStyle/>
                    <a:p>
                      <a:pPr algn="ctr"/>
                      <a:r>
                        <a:rPr sz="2000" b="1" i="0">
                          <a:solidFill>
                            <a:srgbClr val="1A7A4A"/>
                          </a:solidFill>
                          <a:latin typeface="Calibri"/>
                        </a:rPr>
                        <a:t>580 EUR</a:t>
                      </a:r>
                    </a:p>
                  </a:txBody>
                  <a:tcPr>
                    <a:solidFill>
                      <a:srgbClr val="EAF4EF"/>
                    </a:solidFill>
                  </a:tcPr>
                </a:tc>
              </a:tr>
              <a:tr h="342900">
                <a:tc>
                  <a:txBody>
                    <a:bodyPr/>
                    <a:lstStyle/>
                    <a:p>
                      <a:pPr algn="ctr"/>
                      <a:r>
                        <a:rPr sz="1200" b="1" i="0">
                          <a:solidFill>
                            <a:srgbClr val="A82020"/>
                          </a:solidFill>
                          <a:latin typeface="Calibri"/>
                        </a:rPr>
                        <a:t>-4,0 %</a:t>
                      </a:r>
                    </a:p>
                  </a:txBody>
                  <a:tcPr>
                    <a:solidFill>
                      <a:srgbClr val="FAF0EF"/>
                    </a:solidFill>
                  </a:tcPr>
                </a:tc>
                <a:tc>
                  <a:txBody>
                    <a:bodyPr/>
                    <a:lstStyle/>
                    <a:p>
                      <a:pPr algn="ctr"/>
                      <a:r>
                        <a:rPr sz="1200" b="1" i="0">
                          <a:solidFill>
                            <a:srgbClr val="2E5FA3"/>
                          </a:solidFill>
                          <a:latin typeface="Calibri"/>
                        </a:rPr>
                        <a:t>+13,5 %</a:t>
                      </a:r>
                    </a:p>
                  </a:txBody>
                  <a:tcPr>
                    <a:solidFill>
                      <a:srgbClr val="EEF3FA"/>
                    </a:solidFill>
                  </a:tcPr>
                </a:tc>
                <a:tc>
                  <a:txBody>
                    <a:bodyPr/>
                    <a:lstStyle/>
                    <a:p>
                      <a:pPr algn="ctr"/>
                      <a:r>
                        <a:rPr sz="1200" b="1" i="0">
                          <a:solidFill>
                            <a:srgbClr val="1A7A4A"/>
                          </a:solidFill>
                          <a:latin typeface="Calibri"/>
                        </a:rPr>
                        <a:t>+26,6 %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1 020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520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8.6% et une TGR de 2.5%, le prix implicite DCF est de 520€, soit +13.5% vs le cours actuel. L'upside reflète une sous-valorisation structurelle liée à la qualité des actifs et à la croissance organique. Un catalyseur clé serait une accélération de la demande en Chine.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LVMH Moët Hennessy - Louis Vuitton, Société Européenne</a:t>
                      </a:r>
                    </a:p>
                  </a:txBody>
                  <a:tcPr>
                    <a:solidFill>
                      <a:srgbClr val="DDE8F5"/>
                    </a:solidFill>
                  </a:tcPr>
                </a:tc>
                <a:tc>
                  <a:txBody>
                    <a:bodyPr/>
                    <a:lstStyle/>
                    <a:p>
                      <a:pPr algn="ctr"/>
                      <a:r>
                        <a:rPr sz="750" b="1" i="0">
                          <a:solidFill>
                            <a:srgbClr val="2E5FA3"/>
                          </a:solidFill>
                          <a:latin typeface="Calibri"/>
                        </a:rPr>
                        <a:t>MC.PA</a:t>
                      </a:r>
                    </a:p>
                  </a:txBody>
                  <a:tcPr>
                    <a:solidFill>
                      <a:srgbClr val="DDE8F5"/>
                    </a:solidFill>
                  </a:tcPr>
                </a:tc>
                <a:tc>
                  <a:txBody>
                    <a:bodyPr/>
                    <a:lstStyle/>
                    <a:p>
                      <a:pPr algn="ctr"/>
                      <a:r>
                        <a:rPr sz="800" b="1" i="0">
                          <a:solidFill>
                            <a:srgbClr val="1B3A6B"/>
                          </a:solidFill>
                          <a:latin typeface="Calibri"/>
                        </a:rPr>
                        <a:t>227,3</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3,0x</a:t>
                      </a:r>
                    </a:p>
                  </a:txBody>
                  <a:tcPr>
                    <a:solidFill>
                      <a:srgbClr val="DDE8F5"/>
                    </a:solidFill>
                  </a:tcPr>
                </a:tc>
                <a:tc>
                  <a:txBody>
                    <a:bodyPr/>
                    <a:lstStyle/>
                    <a:p>
                      <a:pPr algn="ctr"/>
                      <a:r>
                        <a:rPr sz="800" b="1" i="0">
                          <a:solidFill>
                            <a:srgbClr val="1B3A6B"/>
                          </a:solidFill>
                          <a:latin typeface="Calibri"/>
                        </a:rPr>
                        <a:t>20,9x</a:t>
                      </a:r>
                    </a:p>
                  </a:txBody>
                  <a:tcPr>
                    <a:solidFill>
                      <a:srgbClr val="DDE8F5"/>
                    </a:solidFill>
                  </a:tcPr>
                </a:tc>
                <a:tc>
                  <a:txBody>
                    <a:bodyPr/>
                    <a:lstStyle/>
                    <a:p>
                      <a:pPr algn="ctr"/>
                      <a:r>
                        <a:rPr sz="800" b="1" i="0">
                          <a:solidFill>
                            <a:srgbClr val="1B3A6B"/>
                          </a:solidFill>
                          <a:latin typeface="Calibri"/>
                        </a:rPr>
                        <a:t>66,2 %</a:t>
                      </a:r>
                    </a:p>
                  </a:txBody>
                  <a:tcPr>
                    <a:solidFill>
                      <a:srgbClr val="DDE8F5"/>
                    </a:solidFill>
                  </a:tcPr>
                </a:tc>
                <a:tc>
                  <a:txBody>
                    <a:bodyPr/>
                    <a:lstStyle/>
                    <a:p>
                      <a:pPr algn="ctr"/>
                      <a:r>
                        <a:rPr sz="800" b="1" i="0">
                          <a:solidFill>
                            <a:srgbClr val="1B3A6B"/>
                          </a:solidFill>
                          <a:latin typeface="Calibri"/>
                        </a:rPr>
                        <a:t>32,0 %</a:t>
                      </a:r>
                    </a:p>
                  </a:txBody>
                  <a:tcPr>
                    <a:solidFill>
                      <a:srgbClr val="DDE8F5"/>
                    </a:solidFill>
                  </a:tcPr>
                </a:tc>
              </a:tr>
              <a:tr h="251999">
                <a:tc>
                  <a:txBody>
                    <a:bodyPr/>
                    <a:lstStyle/>
                    <a:p>
                      <a:pPr algn="l"/>
                      <a:r>
                        <a:rPr sz="800" b="0" i="0">
                          <a:solidFill>
                            <a:srgbClr val="0D0D0D"/>
                          </a:solidFill>
                          <a:latin typeface="Calibri"/>
                        </a:rPr>
                        <a:t>Kering</a:t>
                      </a:r>
                    </a:p>
                  </a:txBody>
                  <a:tcPr>
                    <a:solidFill>
                      <a:srgbClr val="FFFFFF"/>
                    </a:solidFill>
                  </a:tcPr>
                </a:tc>
                <a:tc>
                  <a:txBody>
                    <a:bodyPr/>
                    <a:lstStyle/>
                    <a:p>
                      <a:pPr algn="ctr"/>
                      <a:r>
                        <a:rPr sz="750" b="0" i="0">
                          <a:solidFill>
                            <a:srgbClr val="555555"/>
                          </a:solidFill>
                          <a:latin typeface="Calibri"/>
                        </a:rPr>
                        <a:t>KER.PA</a:t>
                      </a:r>
                    </a:p>
                  </a:txBody>
                  <a:tcPr>
                    <a:solidFill>
                      <a:srgbClr val="FFFFFF"/>
                    </a:solidFill>
                  </a:tcPr>
                </a:tc>
                <a:tc>
                  <a:txBody>
                    <a:bodyPr/>
                    <a:lstStyle/>
                    <a:p>
                      <a:pPr algn="ctr"/>
                      <a:r>
                        <a:rPr sz="800" b="0" i="0">
                          <a:solidFill>
                            <a:srgbClr val="0D0D0D"/>
                          </a:solidFill>
                          <a:latin typeface="Calibri"/>
                        </a:rPr>
                        <a:t>58,2</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21,5x</a:t>
                      </a:r>
                    </a:p>
                  </a:txBody>
                  <a:tcPr>
                    <a:solidFill>
                      <a:srgbClr val="FFFFFF"/>
                    </a:solidFill>
                  </a:tcPr>
                </a:tc>
                <a:tc>
                  <a:txBody>
                    <a:bodyPr/>
                    <a:lstStyle/>
                    <a:p>
                      <a:pPr algn="ctr"/>
                      <a:r>
                        <a:rPr sz="800" b="0" i="0">
                          <a:solidFill>
                            <a:srgbClr val="0D0D0D"/>
                          </a:solidFill>
                          <a:latin typeface="Calibri"/>
                        </a:rPr>
                        <a:t>64,0 %</a:t>
                      </a:r>
                    </a:p>
                  </a:txBody>
                  <a:tcPr>
                    <a:solidFill>
                      <a:srgbClr val="FFFFFF"/>
                    </a:solidFill>
                  </a:tcPr>
                </a:tc>
                <a:tc>
                  <a:txBody>
                    <a:bodyPr/>
                    <a:lstStyle/>
                    <a:p>
                      <a:pPr algn="ctr"/>
                      <a:r>
                        <a:rPr sz="800" b="0" i="0">
                          <a:solidFill>
                            <a:srgbClr val="0D0D0D"/>
                          </a:solidFill>
                          <a:latin typeface="Calibri"/>
                        </a:rPr>
                        <a:t>28,0 %</a:t>
                      </a:r>
                    </a:p>
                  </a:txBody>
                  <a:tcPr>
                    <a:solidFill>
                      <a:srgbClr val="FFFFFF"/>
                    </a:solidFill>
                  </a:tcPr>
                </a:tc>
              </a:tr>
              <a:tr h="251999">
                <a:tc>
                  <a:txBody>
                    <a:bodyPr/>
                    <a:lstStyle/>
                    <a:p>
                      <a:pPr algn="l"/>
                      <a:r>
                        <a:rPr sz="800" b="0" i="0">
                          <a:solidFill>
                            <a:srgbClr val="0D0D0D"/>
                          </a:solidFill>
                          <a:latin typeface="Calibri"/>
                        </a:rPr>
                        <a:t>Hermès</a:t>
                      </a:r>
                    </a:p>
                  </a:txBody>
                  <a:tcPr>
                    <a:solidFill>
                      <a:srgbClr val="F7F8FA"/>
                    </a:solidFill>
                  </a:tcPr>
                </a:tc>
                <a:tc>
                  <a:txBody>
                    <a:bodyPr/>
                    <a:lstStyle/>
                    <a:p>
                      <a:pPr algn="ctr"/>
                      <a:r>
                        <a:rPr sz="750" b="0" i="0">
                          <a:solidFill>
                            <a:srgbClr val="555555"/>
                          </a:solidFill>
                          <a:latin typeface="Calibri"/>
                        </a:rPr>
                        <a:t>RMS.PA</a:t>
                      </a:r>
                    </a:p>
                  </a:txBody>
                  <a:tcPr>
                    <a:solidFill>
                      <a:srgbClr val="F7F8FA"/>
                    </a:solidFill>
                  </a:tcPr>
                </a:tc>
                <a:tc>
                  <a:txBody>
                    <a:bodyPr/>
                    <a:lstStyle/>
                    <a:p>
                      <a:pPr algn="ctr"/>
                      <a:r>
                        <a:rPr sz="800" b="0" i="0">
                          <a:solidFill>
                            <a:srgbClr val="0D0D0D"/>
                          </a:solidFill>
                          <a:latin typeface="Calibri"/>
                        </a:rPr>
                        <a:t>180,5</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35,0x</a:t>
                      </a:r>
                    </a:p>
                  </a:txBody>
                  <a:tcPr>
                    <a:solidFill>
                      <a:srgbClr val="F7F8FA"/>
                    </a:solidFill>
                  </a:tcPr>
                </a:tc>
                <a:tc>
                  <a:txBody>
                    <a:bodyPr/>
                    <a:lstStyle/>
                    <a:p>
                      <a:pPr algn="ctr"/>
                      <a:r>
                        <a:rPr sz="800" b="0" i="0">
                          <a:solidFill>
                            <a:srgbClr val="0D0D0D"/>
                          </a:solidFill>
                          <a:latin typeface="Calibri"/>
                        </a:rPr>
                        <a:t>72,0 %</a:t>
                      </a:r>
                    </a:p>
                  </a:txBody>
                  <a:tcPr>
                    <a:solidFill>
                      <a:srgbClr val="F7F8FA"/>
                    </a:solidFill>
                  </a:tcPr>
                </a:tc>
                <a:tc>
                  <a:txBody>
                    <a:bodyPr/>
                    <a:lstStyle/>
                    <a:p>
                      <a:pPr algn="ctr"/>
                      <a:r>
                        <a:rPr sz="800" b="0" i="0">
                          <a:solidFill>
                            <a:srgbClr val="0D0D0D"/>
                          </a:solidFill>
                          <a:latin typeface="Calibri"/>
                        </a:rPr>
                        <a:t>42,0 %</a:t>
                      </a:r>
                    </a:p>
                  </a:txBody>
                  <a:tcPr>
                    <a:solidFill>
                      <a:srgbClr val="F7F8FA"/>
                    </a:solidFill>
                  </a:tcPr>
                </a:tc>
              </a:tr>
              <a:tr h="251999">
                <a:tc>
                  <a:txBody>
                    <a:bodyPr/>
                    <a:lstStyle/>
                    <a:p>
                      <a:pPr algn="l"/>
                      <a:r>
                        <a:rPr sz="800" b="0" i="0">
                          <a:solidFill>
                            <a:srgbClr val="0D0D0D"/>
                          </a:solidFill>
                          <a:latin typeface="Calibri"/>
                        </a:rPr>
                        <a:t>Richemont</a:t>
                      </a:r>
                    </a:p>
                  </a:txBody>
                  <a:tcPr>
                    <a:solidFill>
                      <a:srgbClr val="FFFFFF"/>
                    </a:solidFill>
                  </a:tcPr>
                </a:tc>
                <a:tc>
                  <a:txBody>
                    <a:bodyPr/>
                    <a:lstStyle/>
                    <a:p>
                      <a:pPr algn="ctr"/>
                      <a:r>
                        <a:rPr sz="750" b="0" i="0">
                          <a:solidFill>
                            <a:srgbClr val="555555"/>
                          </a:solidFill>
                          <a:latin typeface="Calibri"/>
                        </a:rPr>
                        <a:t>CFR.SW</a:t>
                      </a:r>
                    </a:p>
                  </a:txBody>
                  <a:tcPr>
                    <a:solidFill>
                      <a:srgbClr val="FFFFFF"/>
                    </a:solidFill>
                  </a:tcPr>
                </a:tc>
                <a:tc>
                  <a:txBody>
                    <a:bodyPr/>
                    <a:lstStyle/>
                    <a:p>
                      <a:pPr algn="ctr"/>
                      <a:r>
                        <a:rPr sz="800" b="0" i="0">
                          <a:solidFill>
                            <a:srgbClr val="0D0D0D"/>
                          </a:solidFill>
                          <a:latin typeface="Calibri"/>
                        </a:rPr>
                        <a:t>52,3</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3,5x</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31,0 %</a:t>
                      </a:r>
                    </a:p>
                  </a:txBody>
                  <a:tcPr>
                    <a:solidFill>
                      <a:srgbClr val="FFFFFF"/>
                    </a:solidFill>
                  </a:tcPr>
                </a:tc>
              </a:tr>
              <a:tr h="251999">
                <a:tc>
                  <a:txBody>
                    <a:bodyPr/>
                    <a:lstStyle/>
                    <a:p>
                      <a:pPr algn="l"/>
                      <a:r>
                        <a:rPr sz="800" b="0" i="0">
                          <a:solidFill>
                            <a:srgbClr val="0D0D0D"/>
                          </a:solidFill>
                          <a:latin typeface="Calibri"/>
                        </a:rPr>
                        <a:t>Estée Lauder</a:t>
                      </a:r>
                    </a:p>
                  </a:txBody>
                  <a:tcPr>
                    <a:solidFill>
                      <a:srgbClr val="F7F8FA"/>
                    </a:solidFill>
                  </a:tcPr>
                </a:tc>
                <a:tc>
                  <a:txBody>
                    <a:bodyPr/>
                    <a:lstStyle/>
                    <a:p>
                      <a:pPr algn="ctr"/>
                      <a:r>
                        <a:rPr sz="750" b="0" i="0">
                          <a:solidFill>
                            <a:srgbClr val="555555"/>
                          </a:solidFill>
                          <a:latin typeface="Calibri"/>
                        </a:rPr>
                        <a:t>EL</a:t>
                      </a:r>
                    </a:p>
                  </a:txBody>
                  <a:tcPr>
                    <a:solidFill>
                      <a:srgbClr val="F7F8FA"/>
                    </a:solidFill>
                  </a:tcPr>
                </a:tc>
                <a:tc>
                  <a:txBody>
                    <a:bodyPr/>
                    <a:lstStyle/>
                    <a:p>
                      <a:pPr algn="ctr"/>
                      <a:r>
                        <a:rPr sz="800" b="0" i="0">
                          <a:solidFill>
                            <a:srgbClr val="0D0D0D"/>
                          </a:solidFill>
                          <a:latin typeface="Calibri"/>
                        </a:rPr>
                        <a:t>45,8</a:t>
                      </a:r>
                    </a:p>
                  </a:txBody>
                  <a:tcPr>
                    <a:solidFill>
                      <a:srgbClr val="F7F8FA"/>
                    </a:solidFill>
                  </a:tcPr>
                </a:tc>
                <a:tc>
                  <a:txBody>
                    <a:bodyPr/>
                    <a:lstStyle/>
                    <a:p>
                      <a:pPr algn="ctr"/>
                      <a:r>
                        <a:rPr sz="800" b="0" i="0">
                          <a:solidFill>
                            <a:srgbClr val="0D0D0D"/>
                          </a:solidFill>
                          <a:latin typeface="Calibri"/>
                        </a:rPr>
                        <a:t>14,2x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78,0 %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Prada</a:t>
                      </a:r>
                    </a:p>
                  </a:txBody>
                  <a:tcPr>
                    <a:solidFill>
                      <a:srgbClr val="FFFFFF"/>
                    </a:solidFill>
                  </a:tcPr>
                </a:tc>
                <a:tc>
                  <a:txBody>
                    <a:bodyPr/>
                    <a:lstStyle/>
                    <a:p>
                      <a:pPr algn="ctr"/>
                      <a:r>
                        <a:rPr sz="750" b="0" i="0">
                          <a:solidFill>
                            <a:srgbClr val="555555"/>
                          </a:solidFill>
                          <a:latin typeface="Calibri"/>
                        </a:rPr>
                        <a:t>1913.HK</a:t>
                      </a:r>
                    </a:p>
                  </a:txBody>
                  <a:tcPr>
                    <a:solidFill>
                      <a:srgbClr val="FFFFFF"/>
                    </a:solidFill>
                  </a:tcPr>
                </a:tc>
                <a:tc>
                  <a:txBody>
                    <a:bodyPr/>
                    <a:lstStyle/>
                    <a:p>
                      <a:pPr algn="ctr"/>
                      <a:r>
                        <a:rPr sz="800" b="0" i="0">
                          <a:solidFill>
                            <a:srgbClr val="0D0D0D"/>
                          </a:solidFill>
                          <a:latin typeface="Calibri"/>
                        </a:rPr>
                        <a:t>12,5</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3,1x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70,0 %</a:t>
                      </a:r>
                    </a:p>
                  </a:txBody>
                  <a:tcPr>
                    <a:solidFill>
                      <a:srgbClr val="FFFFFF"/>
                    </a:solidFill>
                  </a:tcPr>
                </a:tc>
                <a:tc>
                  <a:txBody>
                    <a:bodyPr/>
                    <a:lstStyle/>
                    <a:p>
                      <a:pPr algn="ctr"/>
                      <a:r>
                        <a:rPr sz="800" b="0" i="0">
                          <a:solidFill>
                            <a:srgbClr val="0D0D0D"/>
                          </a:solidFill>
                          <a:latin typeface="Calibri"/>
                        </a:rPr>
                        <a:t>27,0 %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12,8x</a:t>
                      </a:r>
                    </a:p>
                  </a:txBody>
                  <a:tcPr>
                    <a:solidFill>
                      <a:srgbClr val="F7F8FA"/>
                    </a:solidFill>
                  </a:tcPr>
                </a:tc>
                <a:tc>
                  <a:txBody>
                    <a:bodyPr/>
                    <a:lstStyle/>
                    <a:p>
                      <a:pPr algn="ctr"/>
                      <a:r>
                        <a:rPr sz="800" b="1" i="0">
                          <a:solidFill>
                            <a:srgbClr val="0D0D0D"/>
                          </a:solidFill>
                          <a:latin typeface="Calibri"/>
                        </a:rPr>
                        <a:t>3,2x</a:t>
                      </a:r>
                    </a:p>
                  </a:txBody>
                  <a:tcPr>
                    <a:solidFill>
                      <a:srgbClr val="F7F8FA"/>
                    </a:solidFill>
                  </a:tcPr>
                </a:tc>
                <a:tc>
                  <a:txBody>
                    <a:bodyPr/>
                    <a:lstStyle/>
                    <a:p>
                      <a:pPr algn="ctr"/>
                      <a:r>
                        <a:rPr sz="800" b="1" i="0">
                          <a:solidFill>
                            <a:srgbClr val="0D0D0D"/>
                          </a:solidFill>
                          <a:latin typeface="Calibri"/>
                        </a:rPr>
                        <a:t>22,0x</a:t>
                      </a:r>
                    </a:p>
                  </a:txBody>
                  <a:tcPr>
                    <a:solidFill>
                      <a:srgbClr val="F7F8FA"/>
                    </a:solidFill>
                  </a:tcPr>
                </a:tc>
                <a:tc>
                  <a:txBody>
                    <a:bodyPr/>
                    <a:lstStyle/>
                    <a:p>
                      <a:pPr algn="ctr"/>
                      <a:r>
                        <a:rPr sz="800" b="1" i="0">
                          <a:solidFill>
                            <a:srgbClr val="0D0D0D"/>
                          </a:solidFill>
                          <a:latin typeface="Calibri"/>
                        </a:rPr>
                        <a:t>70,0 %</a:t>
                      </a:r>
                    </a:p>
                  </a:txBody>
                  <a:tcPr>
                    <a:solidFill>
                      <a:srgbClr val="F7F8FA"/>
                    </a:solidFill>
                  </a:tcPr>
                </a:tc>
                <a:tc>
                  <a:txBody>
                    <a:bodyPr/>
                    <a:lstStyle/>
                    <a:p>
                      <a:pPr algn="ctr"/>
                      <a:r>
                        <a:rPr sz="800" b="1" i="0">
                          <a:solidFill>
                            <a:srgbClr val="0D0D0D"/>
                          </a:solidFill>
                          <a:latin typeface="Calibri"/>
                        </a:rPr>
                        <a:t>28,0 %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LVMH affiche un EV/EBITDA de 9.2x vs une médiane peers de 11.5x (-20%), justifiée par une croissance supérieure et une marge nette plus élevée. Le P/E à 20.9x est en ligne avec Kering (21.5x) mais inférieur à Hermès (35x). Une convergence vers la médiane peers impliquerait un upside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8.6% et une TGR de 2.5%, le prix implicite DCF est de 520€, soit +13.5% vs le cours actuel. L'upside reflète une sous-valorisation structurelle liée à la qualité des actifs et à la croissance organique. Un catalyseur clé serait une accélération de la demande en 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Demande asiatique en chute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pricing power de LVMH repose sur des hausses de prix annuelles de 5 à 10% depuis 2020, mais ces augmentations pourraient s'essouffler face à une demande asiatique en repli : les ventes en Chine ont chuté de 14% en 2024, menaçant 28% du CA. Les marges brutes à 66,2% sont artificiellement gonflées par des coûts fixes élevés, avec une hausse des stocks invendus de…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Saturation du réseau</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réseau exclusif, pilier de la marque, montre des signes de saturation : 5 100 boutiques en 2025 contre 4 200 en 2020, diluant l'expérience client et augmentant les coûts d'exploitation de 8% par an. Les ventes en ligne, en croissance de 15% en 2024, ne compensent pas la baisse de fréquentation en magasin, avec un panier moyen en baisse de 7%.</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au luxe cyclique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diversification géographique et sectorielle (vins, spiritueux, mode) masque une dépendance croissante au segment mode, qui représente désormais 52% du CA contre 45% en 2020. Ce segment, plus cyclique, est exposé à une récession en Europe (-3% de croissance prévue en 2025) et à une guerre des prix avec les marques de luxe accessibles comme Coach ou Michael Kors.…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Croissance Chine &lt;3%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des marques émergentes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Perte de parts de marché chez Louis Vuitton</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+0,073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59,9 %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+0,237</a:t>
                      </a:r>
                    </a:p>
                  </a:txBody>
                  <a:tcPr>
                    <a:solidFill>
                      <a:srgbClr val="EAF4EF"/>
                    </a:solidFill>
                  </a:tcPr>
                </a:tc>
                <a:tc>
                  <a:txBody>
                    <a:bodyPr/>
                    <a:lstStyle/>
                    <a:p>
                      <a:pPr algn="ctr"/>
                      <a:r>
                        <a:rPr sz="800" b="0" i="0">
                          <a:solidFill>
                            <a:srgbClr val="0D0D0D"/>
                          </a:solidFill>
                          <a:latin typeface="Calibri"/>
                        </a:rPr>
                        <a:t>Rebond de la demande chinoise post-Covid avec +15% CA 2026 | Hausse des prix de 8-10% sur les produits phares | Horizon 12-18 mois, Expansion du e-commerce avec +25% CA digital en 2026 | Marges digitales supérieures de 10pp | Horizon 6-12 mois, Acquisitions ciblées dans le lifestyle (ex: Tiffany) avec ROI attendu &gt;15% | Horizon 18-24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+0,599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+0,164</a:t>
                      </a:r>
                    </a:p>
                  </a:txBody>
                  <a:tcPr>
                    <a:solidFill>
                      <a:srgbClr val="FAF0EF"/>
                    </a:solidFill>
                  </a:tcPr>
                </a:tc>
                <a:tc>
                  <a:txBody>
                    <a:bodyPr/>
                    <a:lstStyle/>
                    <a:p>
                      <a:pPr algn="ctr"/>
                      <a:r>
                        <a:rPr sz="800" b="0" i="0">
                          <a:solidFill>
                            <a:srgbClr val="0D0D0D"/>
                          </a:solidFill>
                          <a:latin typeface="Calibri"/>
                        </a:rPr>
                        <a:t>Ralentissement économique en Chine avec -5% CA local en 2026 | Impact sur les ventes de montres et maroquinerie | Horizon 6-12 mois, Concurrence accrue de marques émergentes (ex: Richemont) avec perte de parts de marché | Pression sur les prix | Horizon 12-18 mois, Risque réglementaire en Europe avec +10% taxes sur les produits de luxe | Baisse de la demande locale | Horizon 12-24 mois</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neutre + (score +0.073) est basé sur 20 articles analysés sur 7 jours. Confiance IA : 60%.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26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LVMH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First Eagle Funds-First Eagle Globa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Fidelity Concord Street Trust-Fidel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MSCI EAFE ETF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LVMH se négocie à 9.2x EV/EBITDA vs une médiane peers à 11.5x, offrant une décote de 20%. Le P/E à 20.9x reste justifié par la qualité des actifs et la croissance supérieure.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MC.PA  ·  EUR  ·  Au 26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458,30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639,48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440,80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564669"/>
            <a:ext cx="498636" cy="33053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581412"/>
            <a:ext cx="498636" cy="3137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23812"/>
            <a:ext cx="498636" cy="27138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395650"/>
            <a:ext cx="498636" cy="49954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77800"/>
            <a:ext cx="498636" cy="6173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619624"/>
            <a:ext cx="498636" cy="12755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451474"/>
            <a:ext cx="498636" cy="144372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054204"/>
            <a:ext cx="498636" cy="84099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074498"/>
            <a:ext cx="498636" cy="82070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696362"/>
            <a:ext cx="498636" cy="198837"/>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440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506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573</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639</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LVMH affiche une résilience exceptionnelle malgré un environnement macro difficile, avec des marges historiques élevées et une trésorerie solide. La diversification géographique et sectorielle limite les risques tout en captant la demande asiatique et américaine.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