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NVIDIA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NVDA  ·  Technology</a:t>
            </a:r>
          </a:p>
        </p:txBody>
      </p:sp>
      <p:sp>
        <p:nvSpPr>
          <p:cNvPr id="8" name="Rectangle 7"/>
          <p:cNvSpPr/>
          <p:nvPr/>
        </p:nvSpPr>
        <p:spPr>
          <a:xfrm>
            <a:off x="2771999" y="2617297"/>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HOLD  ·  Prix cible base : 194 $  ·  Upside : +0,0 %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194 $  ·  Upside : +0,0 %  ·  Bear : 165 $ (-15,0 %)  ·  Bull : 233 $ (+20,0 %)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NVIDIA Corporation presente un profil financier EV/EBITDA 54.8x, marge EBITDA…</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L'analyse fondamentale indique un equilibre risque/rendement neutre a court…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Une revision de la these necessite la confirmation des prochains catalyseurs…</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{'title': 'Compression des marges', 'description': 'Pression concurrentielle ou…</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{'title': 'Choc macroeconomique', 'description': 'Recession, hausse des taux…</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{'title': 'Risque de revision baissiere', 'description': "Les revisions du…</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168000"/>
            <a:ext cx="84132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75200"/>
            <a:ext cx="8352000" cy="151200"/>
          </a:xfrm>
          <a:prstGeom prst="rect">
            <a:avLst/>
          </a:prstGeom>
          <a:noFill/>
        </p:spPr>
        <p:txBody>
          <a:bodyPr wrap="square">
            <a:spAutoFit/>
          </a:bodyPr>
          <a:lstStyle/>
          <a:p>
            <a:pPr algn="l"/>
            <a:r>
              <a:rPr sz="750" b="1" i="0">
                <a:solidFill>
                  <a:srgbClr val="FFFFFF"/>
                </a:solidFill>
                <a:latin typeface="Calibri"/>
              </a:rPr>
              <a:t>CATALYSEURS À SURVEILLER (12 MOIS)</a:t>
            </a:r>
          </a:p>
        </p:txBody>
      </p:sp>
      <p:sp>
        <p:nvSpPr>
          <p:cNvPr id="36" name="Rectangle 35"/>
          <p:cNvSpPr/>
          <p:nvPr/>
        </p:nvSpPr>
        <p:spPr>
          <a:xfrm>
            <a:off x="367200" y="3384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000" y="3366000"/>
            <a:ext cx="4111200" cy="223200"/>
          </a:xfrm>
          <a:prstGeom prst="rect">
            <a:avLst/>
          </a:prstGeom>
          <a:noFill/>
        </p:spPr>
        <p:txBody>
          <a:bodyPr wrap="square">
            <a:spAutoFit/>
          </a:bodyPr>
          <a:lstStyle/>
          <a:p>
            <a:pPr algn="l"/>
            <a:r>
              <a:rPr sz="650" b="0" i="0">
                <a:solidFill>
                  <a:srgbClr val="333333"/>
                </a:solidFill>
                <a:latin typeface="Calibri"/>
              </a:rPr>
              <a:t>Publication trimestrielle : Resultats du prochain trimestre — surveiller marges et guidance vs consensus. Impact direct sur la perception de la trajectoire.</a:t>
            </a:r>
          </a:p>
        </p:txBody>
      </p:sp>
      <p:sp>
        <p:nvSpPr>
          <p:cNvPr id="38" name="Rectangle 37"/>
          <p:cNvSpPr/>
          <p:nvPr/>
        </p:nvSpPr>
        <p:spPr>
          <a:xfrm>
            <a:off x="4572000" y="3384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36800" y="3366000"/>
            <a:ext cx="4111200" cy="223200"/>
          </a:xfrm>
          <a:prstGeom prst="rect">
            <a:avLst/>
          </a:prstGeom>
          <a:noFill/>
        </p:spPr>
        <p:txBody>
          <a:bodyPr wrap="square">
            <a:spAutoFit/>
          </a:bodyPr>
          <a:lstStyle/>
          <a:p>
            <a:pPr algn="l"/>
            <a:r>
              <a:rPr sz="650" b="0" i="0">
                <a:solidFill>
                  <a:srgbClr val="333333"/>
                </a:solidFill>
                <a:latin typeface="Calibri"/>
              </a:rPr>
              <a:t>Evolution macro sectorielle : Cycle Technology : taux directeurs, demande finale, et indicateurs avances PMI/credit. Toute inflexion macro impacte le re-rating.</a:t>
            </a:r>
          </a:p>
        </p:txBody>
      </p:sp>
      <p:sp>
        <p:nvSpPr>
          <p:cNvPr id="40" name="Rectangle 39"/>
          <p:cNvSpPr/>
          <p:nvPr/>
        </p:nvSpPr>
        <p:spPr>
          <a:xfrm>
            <a:off x="367200" y="361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2000" y="3600000"/>
            <a:ext cx="4111200" cy="223200"/>
          </a:xfrm>
          <a:prstGeom prst="rect">
            <a:avLst/>
          </a:prstGeom>
          <a:noFill/>
        </p:spPr>
        <p:txBody>
          <a:bodyPr wrap="square">
            <a:spAutoFit/>
          </a:bodyPr>
          <a:lstStyle/>
          <a:p>
            <a:pPr algn="l"/>
            <a:r>
              <a:rPr sz="650" b="0" i="0">
                <a:solidFill>
                  <a:srgbClr val="333333"/>
                </a:solidFill>
                <a:latin typeface="Calibri"/>
              </a:rPr>
              <a:t>Annonces strategiques : Operations M&amp;A, lancement produits, ou changement de guidance peuvent declencher une revision rapide de la these.</a:t>
            </a:r>
          </a:p>
        </p:txBody>
      </p:sp>
      <p:sp>
        <p:nvSpPr>
          <p:cNvPr id="42" name="Rectangle 41"/>
          <p:cNvSpPr/>
          <p:nvPr/>
        </p:nvSpPr>
        <p:spPr>
          <a:xfrm>
            <a:off x="4572000" y="361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36800" y="3600000"/>
            <a:ext cx="4111200" cy="223200"/>
          </a:xfrm>
          <a:prstGeom prst="rect">
            <a:avLst/>
          </a:prstGeom>
          <a:noFill/>
        </p:spPr>
        <p:txBody>
          <a:bodyPr wrap="square">
            <a:spAutoFit/>
          </a:bodyPr>
          <a:lstStyle/>
          <a:p>
            <a:pPr algn="l"/>
            <a:r>
              <a:rPr sz="650" b="0" i="0">
                <a:solidFill>
                  <a:srgbClr val="333333"/>
                </a:solidFill>
                <a:latin typeface="Calibri"/>
              </a:rPr>
              <a:t>—</a:t>
            </a:r>
          </a:p>
        </p:txBody>
      </p:sp>
      <p:sp>
        <p:nvSpPr>
          <p:cNvPr id="44" name="Rectangle 43"/>
          <p:cNvSpPr/>
          <p:nvPr/>
        </p:nvSpPr>
        <p:spPr>
          <a:xfrm>
            <a:off x="367200" y="3870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978000"/>
            <a:ext cx="1893600" cy="396000"/>
          </a:xfrm>
          <a:prstGeom prst="rect">
            <a:avLst/>
          </a:prstGeom>
          <a:noFill/>
        </p:spPr>
        <p:txBody>
          <a:bodyPr wrap="square">
            <a:spAutoFit/>
          </a:bodyPr>
          <a:lstStyle/>
          <a:p>
            <a:pPr algn="l"/>
            <a:r>
              <a:rPr sz="1900" b="1" i="0">
                <a:solidFill>
                  <a:srgbClr val="1B3A6B"/>
                </a:solidFill>
                <a:latin typeface="Calibri"/>
              </a:rPr>
              <a:t>54,8x</a:t>
            </a:r>
          </a:p>
        </p:txBody>
      </p:sp>
      <p:sp>
        <p:nvSpPr>
          <p:cNvPr id="48" name="TextBox 47"/>
          <p:cNvSpPr txBox="1"/>
          <p:nvPr/>
        </p:nvSpPr>
        <p:spPr>
          <a:xfrm>
            <a:off x="457200" y="43740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5720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50" name="Rectangle 49"/>
          <p:cNvSpPr/>
          <p:nvPr/>
        </p:nvSpPr>
        <p:spPr>
          <a:xfrm>
            <a:off x="24876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3978000"/>
            <a:ext cx="1893600" cy="396000"/>
          </a:xfrm>
          <a:prstGeom prst="rect">
            <a:avLst/>
          </a:prstGeom>
          <a:noFill/>
        </p:spPr>
        <p:txBody>
          <a:bodyPr wrap="square">
            <a:spAutoFit/>
          </a:bodyPr>
          <a:lstStyle/>
          <a:p>
            <a:pPr algn="l"/>
            <a:r>
              <a:rPr sz="1900" b="1" i="0">
                <a:solidFill>
                  <a:srgbClr val="1B3A6B"/>
                </a:solidFill>
                <a:latin typeface="Calibri"/>
              </a:rPr>
              <a:t>17,1 %</a:t>
            </a:r>
          </a:p>
        </p:txBody>
      </p:sp>
      <p:sp>
        <p:nvSpPr>
          <p:cNvPr id="53" name="TextBox 52"/>
          <p:cNvSpPr txBox="1"/>
          <p:nvPr/>
        </p:nvSpPr>
        <p:spPr>
          <a:xfrm>
            <a:off x="2577600" y="43740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572000"/>
            <a:ext cx="1893600" cy="165600"/>
          </a:xfrm>
          <a:prstGeom prst="rect">
            <a:avLst/>
          </a:prstGeom>
          <a:noFill/>
        </p:spPr>
        <p:txBody>
          <a:bodyPr wrap="square">
            <a:spAutoFit/>
          </a:bodyPr>
          <a:lstStyle/>
          <a:p>
            <a:pPr algn="l"/>
            <a:r>
              <a:rPr sz="700" b="0" i="0">
                <a:solidFill>
                  <a:srgbClr val="888888"/>
                </a:solidFill>
                <a:latin typeface="Calibri"/>
              </a:rPr>
              <a:t>Beta 2,33  ·  RFR 4,3 %</a:t>
            </a:r>
          </a:p>
        </p:txBody>
      </p:sp>
      <p:sp>
        <p:nvSpPr>
          <p:cNvPr id="55" name="Rectangle 54"/>
          <p:cNvSpPr/>
          <p:nvPr/>
        </p:nvSpPr>
        <p:spPr>
          <a:xfrm>
            <a:off x="46080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3978000"/>
            <a:ext cx="1893600" cy="396000"/>
          </a:xfrm>
          <a:prstGeom prst="rect">
            <a:avLst/>
          </a:prstGeom>
          <a:noFill/>
        </p:spPr>
        <p:txBody>
          <a:bodyPr wrap="square">
            <a:spAutoFit/>
          </a:bodyPr>
          <a:lstStyle/>
          <a:p>
            <a:pPr algn="l"/>
            <a:r>
              <a:rPr sz="1900" b="1" i="0">
                <a:solidFill>
                  <a:srgbClr val="1B3A6B"/>
                </a:solidFill>
                <a:latin typeface="Calibri"/>
              </a:rPr>
              <a:t>194 $</a:t>
            </a:r>
          </a:p>
        </p:txBody>
      </p:sp>
      <p:sp>
        <p:nvSpPr>
          <p:cNvPr id="58" name="TextBox 57"/>
          <p:cNvSpPr txBox="1"/>
          <p:nvPr/>
        </p:nvSpPr>
        <p:spPr>
          <a:xfrm>
            <a:off x="4698000" y="43740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572000"/>
            <a:ext cx="1893600" cy="165600"/>
          </a:xfrm>
          <a:prstGeom prst="rect">
            <a:avLst/>
          </a:prstGeom>
          <a:noFill/>
        </p:spPr>
        <p:txBody>
          <a:bodyPr wrap="square">
            <a:spAutoFit/>
          </a:bodyPr>
          <a:lstStyle/>
          <a:p>
            <a:pPr algn="l"/>
            <a:r>
              <a:rPr sz="700" b="0" i="0">
                <a:solidFill>
                  <a:srgbClr val="888888"/>
                </a:solidFill>
                <a:latin typeface="Calibri"/>
              </a:rPr>
              <a:t>Upside +0,0 % vs cours</a:t>
            </a:r>
          </a:p>
        </p:txBody>
      </p:sp>
      <p:sp>
        <p:nvSpPr>
          <p:cNvPr id="60" name="Rectangle 59"/>
          <p:cNvSpPr/>
          <p:nvPr/>
        </p:nvSpPr>
        <p:spPr>
          <a:xfrm>
            <a:off x="67284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3978000"/>
            <a:ext cx="1893600" cy="396000"/>
          </a:xfrm>
          <a:prstGeom prst="rect">
            <a:avLst/>
          </a:prstGeom>
          <a:noFill/>
        </p:spPr>
        <p:txBody>
          <a:bodyPr wrap="square">
            <a:spAutoFit/>
          </a:bodyPr>
          <a:lstStyle/>
          <a:p>
            <a:pPr algn="l"/>
            <a:r>
              <a:rPr sz="1900" b="1" i="0">
                <a:solidFill>
                  <a:srgbClr val="1B3A6B"/>
                </a:solidFill>
                <a:latin typeface="Calibri"/>
              </a:rPr>
              <a:t>+0,204</a:t>
            </a:r>
          </a:p>
        </p:txBody>
      </p:sp>
      <p:sp>
        <p:nvSpPr>
          <p:cNvPr id="63" name="TextBox 62"/>
          <p:cNvSpPr txBox="1"/>
          <p:nvPr/>
        </p:nvSpPr>
        <p:spPr>
          <a:xfrm>
            <a:off x="6818400" y="43740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572000"/>
            <a:ext cx="1893600" cy="165600"/>
          </a:xfrm>
          <a:prstGeom prst="rect">
            <a:avLst/>
          </a:prstGeom>
          <a:noFill/>
        </p:spPr>
        <p:txBody>
          <a:bodyPr wrap="square">
            <a:spAutoFit/>
          </a:bodyPr>
          <a:lstStyle/>
          <a:p>
            <a:pPr algn="l"/>
            <a:r>
              <a:rPr sz="700" b="0" i="0">
                <a:solidFill>
                  <a:srgbClr val="888888"/>
                </a:solidFill>
                <a:latin typeface="Calibri"/>
              </a:rPr>
              <a:t>Neutre +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NVIDIA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{'title': 'Compression des marges', 'des  ·  {'title': 'Choc macroeconomique',…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NVIDIA Corporation opere dans le secteur Technology. Profil financier caracterise par EV/EBITDA 54.8x, marge EBITDA 66.0%, ROE 91.9%. Description detaillee non disponible (mode fallback deterministe).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4 720,0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130,5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194,24 $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54,8x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64,8x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2023–2025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27,0</a:t>
                      </a:r>
                    </a:p>
                  </a:txBody>
                  <a:tcPr>
                    <a:solidFill>
                      <a:srgbClr val="FFFFFF"/>
                    </a:solidFill>
                  </a:tcPr>
                </a:tc>
                <a:tc>
                  <a:txBody>
                    <a:bodyPr/>
                    <a:lstStyle/>
                    <a:p>
                      <a:pPr algn="ctr"/>
                      <a:r>
                        <a:rPr sz="800" b="1" i="0">
                          <a:solidFill>
                            <a:srgbClr val="0D0D0D"/>
                          </a:solidFill>
                          <a:latin typeface="Calibri"/>
                        </a:rPr>
                        <a:t>60,9</a:t>
                      </a:r>
                    </a:p>
                  </a:txBody>
                  <a:tcPr>
                    <a:solidFill>
                      <a:srgbClr val="FFFFFF"/>
                    </a:solidFill>
                  </a:tcPr>
                </a:tc>
                <a:tc>
                  <a:txBody>
                    <a:bodyPr/>
                    <a:lstStyle/>
                    <a:p>
                      <a:pPr algn="ctr"/>
                      <a:r>
                        <a:rPr sz="800" b="1" i="0">
                          <a:solidFill>
                            <a:srgbClr val="1B3A6B"/>
                          </a:solidFill>
                          <a:latin typeface="Calibri"/>
                        </a:rPr>
                        <a:t>130,5</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a:t>
                      </a:r>
                    </a:p>
                  </a:txBody>
                  <a:tcPr>
                    <a:solidFill>
                      <a:srgbClr val="F7F8FA"/>
                    </a:solidFill>
                  </a:tcPr>
                </a:tc>
                <a:tc>
                  <a:txBody>
                    <a:bodyPr/>
                    <a:lstStyle/>
                    <a:p>
                      <a:pPr algn="ctr"/>
                      <a:r>
                        <a:rPr sz="750" b="0" i="1">
                          <a:solidFill>
                            <a:srgbClr val="333333"/>
                          </a:solidFill>
                          <a:latin typeface="Calibri"/>
                        </a:rPr>
                        <a:t>+125,8 %</a:t>
                      </a:r>
                    </a:p>
                  </a:txBody>
                  <a:tcPr>
                    <a:solidFill>
                      <a:srgbClr val="F7F8FA"/>
                    </a:solidFill>
                  </a:tcPr>
                </a:tc>
                <a:tc>
                  <a:txBody>
                    <a:bodyPr/>
                    <a:lstStyle/>
                    <a:p>
                      <a:pPr algn="ctr"/>
                      <a:r>
                        <a:rPr sz="750" b="0" i="1">
                          <a:solidFill>
                            <a:srgbClr val="333333"/>
                          </a:solidFill>
                          <a:latin typeface="Calibri"/>
                        </a:rPr>
                        <a:t>+114,2 %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15,4</a:t>
                      </a:r>
                    </a:p>
                  </a:txBody>
                  <a:tcPr>
                    <a:solidFill>
                      <a:srgbClr val="FFFFFF"/>
                    </a:solidFill>
                  </a:tcPr>
                </a:tc>
                <a:tc>
                  <a:txBody>
                    <a:bodyPr/>
                    <a:lstStyle/>
                    <a:p>
                      <a:pPr algn="ctr"/>
                      <a:r>
                        <a:rPr sz="800" b="1" i="0">
                          <a:solidFill>
                            <a:srgbClr val="0D0D0D"/>
                          </a:solidFill>
                          <a:latin typeface="Calibri"/>
                        </a:rPr>
                        <a:t>44,3</a:t>
                      </a:r>
                    </a:p>
                  </a:txBody>
                  <a:tcPr>
                    <a:solidFill>
                      <a:srgbClr val="FFFFFF"/>
                    </a:solidFill>
                  </a:tcPr>
                </a:tc>
                <a:tc>
                  <a:txBody>
                    <a:bodyPr/>
                    <a:lstStyle/>
                    <a:p>
                      <a:pPr algn="ctr"/>
                      <a:r>
                        <a:rPr sz="800" b="1" i="0">
                          <a:solidFill>
                            <a:srgbClr val="1B3A6B"/>
                          </a:solidFill>
                          <a:latin typeface="Calibri"/>
                        </a:rPr>
                        <a:t>97,9</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56,9 %</a:t>
                      </a:r>
                    </a:p>
                  </a:txBody>
                  <a:tcPr>
                    <a:solidFill>
                      <a:srgbClr val="F7F8FA"/>
                    </a:solidFill>
                  </a:tcPr>
                </a:tc>
                <a:tc>
                  <a:txBody>
                    <a:bodyPr/>
                    <a:lstStyle/>
                    <a:p>
                      <a:pPr algn="ctr"/>
                      <a:r>
                        <a:rPr sz="750" b="0" i="1">
                          <a:solidFill>
                            <a:srgbClr val="333333"/>
                          </a:solidFill>
                          <a:latin typeface="Calibri"/>
                        </a:rPr>
                        <a:t>72,7 %</a:t>
                      </a:r>
                    </a:p>
                  </a:txBody>
                  <a:tcPr>
                    <a:solidFill>
                      <a:srgbClr val="F7F8FA"/>
                    </a:solidFill>
                  </a:tcPr>
                </a:tc>
                <a:tc>
                  <a:txBody>
                    <a:bodyPr/>
                    <a:lstStyle/>
                    <a:p>
                      <a:pPr algn="ctr"/>
                      <a:r>
                        <a:rPr sz="750" b="0" i="1">
                          <a:solidFill>
                            <a:srgbClr val="333333"/>
                          </a:solidFill>
                          <a:latin typeface="Calibri"/>
                        </a:rPr>
                        <a:t>75,0 %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6,0</a:t>
                      </a:r>
                    </a:p>
                  </a:txBody>
                  <a:tcPr>
                    <a:solidFill>
                      <a:srgbClr val="FFFFFF"/>
                    </a:solidFill>
                  </a:tcPr>
                </a:tc>
                <a:tc>
                  <a:txBody>
                    <a:bodyPr/>
                    <a:lstStyle/>
                    <a:p>
                      <a:pPr algn="ctr"/>
                      <a:r>
                        <a:rPr sz="800" b="1" i="0">
                          <a:solidFill>
                            <a:srgbClr val="0D0D0D"/>
                          </a:solidFill>
                          <a:latin typeface="Calibri"/>
                        </a:rPr>
                        <a:t>35,6</a:t>
                      </a:r>
                    </a:p>
                  </a:txBody>
                  <a:tcPr>
                    <a:solidFill>
                      <a:srgbClr val="FFFFFF"/>
                    </a:solidFill>
                  </a:tcPr>
                </a:tc>
                <a:tc>
                  <a:txBody>
                    <a:bodyPr/>
                    <a:lstStyle/>
                    <a:p>
                      <a:pPr algn="ctr"/>
                      <a:r>
                        <a:rPr sz="800" b="1" i="0">
                          <a:solidFill>
                            <a:srgbClr val="1B3A6B"/>
                          </a:solidFill>
                          <a:latin typeface="Calibri"/>
                        </a:rPr>
                        <a:t>86,1</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22,2 %</a:t>
                      </a:r>
                    </a:p>
                  </a:txBody>
                  <a:tcPr>
                    <a:solidFill>
                      <a:srgbClr val="F7F8FA"/>
                    </a:solidFill>
                  </a:tcPr>
                </a:tc>
                <a:tc>
                  <a:txBody>
                    <a:bodyPr/>
                    <a:lstStyle/>
                    <a:p>
                      <a:pPr algn="ctr"/>
                      <a:r>
                        <a:rPr sz="750" b="0" i="1">
                          <a:solidFill>
                            <a:srgbClr val="333333"/>
                          </a:solidFill>
                          <a:latin typeface="Calibri"/>
                        </a:rPr>
                        <a:t>58,4 %</a:t>
                      </a:r>
                    </a:p>
                  </a:txBody>
                  <a:tcPr>
                    <a:solidFill>
                      <a:srgbClr val="F7F8FA"/>
                    </a:solidFill>
                  </a:tcPr>
                </a:tc>
                <a:tc>
                  <a:txBody>
                    <a:bodyPr/>
                    <a:lstStyle/>
                    <a:p>
                      <a:pPr algn="ctr"/>
                      <a:r>
                        <a:rPr sz="750" b="0" i="1">
                          <a:solidFill>
                            <a:srgbClr val="333333"/>
                          </a:solidFill>
                          <a:latin typeface="Calibri"/>
                        </a:rPr>
                        <a:t>66,0 %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4,4</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1B3A6B"/>
                          </a:solidFill>
                          <a:latin typeface="Calibri"/>
                        </a:rPr>
                        <a:t>72,9</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16,2 %</a:t>
                      </a:r>
                    </a:p>
                  </a:txBody>
                  <a:tcPr>
                    <a:solidFill>
                      <a:srgbClr val="F7F8FA"/>
                    </a:solidFill>
                  </a:tcPr>
                </a:tc>
                <a:tc>
                  <a:txBody>
                    <a:bodyPr/>
                    <a:lstStyle/>
                    <a:p>
                      <a:pPr algn="ctr"/>
                      <a:r>
                        <a:rPr sz="750" b="0" i="1">
                          <a:solidFill>
                            <a:srgbClr val="333333"/>
                          </a:solidFill>
                          <a:latin typeface="Calibri"/>
                        </a:rPr>
                        <a:t>48,9 %</a:t>
                      </a:r>
                    </a:p>
                  </a:txBody>
                  <a:tcPr>
                    <a:solidFill>
                      <a:srgbClr val="F7F8FA"/>
                    </a:solidFill>
                  </a:tcPr>
                </a:tc>
                <a:tc>
                  <a:txBody>
                    <a:bodyPr/>
                    <a:lstStyle/>
                    <a:p>
                      <a:pPr algn="ctr"/>
                      <a:r>
                        <a:rPr sz="750" b="0" i="1">
                          <a:solidFill>
                            <a:srgbClr val="333333"/>
                          </a:solidFill>
                          <a:latin typeface="Calibri"/>
                        </a:rPr>
                        <a:t>55,9 %</a:t>
                      </a:r>
                    </a:p>
                  </a:txBody>
                  <a:tcPr>
                    <a:solidFill>
                      <a:srgbClr val="DDE8F5"/>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NVDA combine forte croissance (+114.2%) et marges premium (66.0%)</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Croissance revenue de +114.2% sur la dernière période, reflétant une dynamique commerciale soutenue. Marge brute de 75.0%, indicateur du pricing power et de la structure de coûts variables. Marge EBITDA à 66.0%, mesure de la profitabilité opérationnelle avant amortissements. Marge nette de 55.9%, après prise en compte de la structure financière et de la fiscalité.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8,6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8,5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-126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5,63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4,38</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341,2x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11,84</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-0,78</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3870000"/>
            <a:ext cx="84132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3870000"/>
            <a:ext cx="79200" cy="9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3898800"/>
            <a:ext cx="8298000" cy="151200"/>
          </a:xfrm>
          <a:prstGeom prst="rect">
            <a:avLst/>
          </a:prstGeom>
          <a:noFill/>
        </p:spPr>
        <p:txBody>
          <a:bodyPr wrap="none">
            <a:spAutoFit/>
          </a:bodyPr>
          <a:lstStyle/>
          <a:p>
            <a:pPr algn="l"/>
            <a:r>
              <a:rPr sz="950" b="1" i="0">
                <a:solidFill>
                  <a:srgbClr val="1B3A6B"/>
                </a:solidFill>
                <a:latin typeface="Calibri"/>
              </a:rPr>
              <a:t>NVDA en cash net positif — bilan robuste, capacité d'investissement intacte</a:t>
            </a:r>
          </a:p>
        </p:txBody>
      </p:sp>
      <p:sp>
        <p:nvSpPr>
          <p:cNvPr id="34" name="TextBox 33"/>
          <p:cNvSpPr txBox="1"/>
          <p:nvPr/>
        </p:nvSpPr>
        <p:spPr>
          <a:xfrm>
            <a:off x="475200" y="4068000"/>
            <a:ext cx="8298000" cy="712800"/>
          </a:xfrm>
          <a:prstGeom prst="rect">
            <a:avLst/>
          </a:prstGeom>
          <a:noFill/>
        </p:spPr>
        <p:txBody>
          <a:bodyPr wrap="square">
            <a:spAutoFit/>
          </a:bodyPr>
          <a:lstStyle/>
          <a:p>
            <a:pPr algn="l"/>
            <a:r>
              <a:rPr sz="850" b="0" i="0">
                <a:solidFill>
                  <a:srgbClr val="555555"/>
                </a:solidFill>
                <a:latin typeface="Calibri"/>
              </a:rPr>
              <a:t>Position de cash net positif (-0.00x EBITDA), conférant une flexibilité financière maximale. Current ratio à 5.63x, mesure de la couverture des passifs courants par les actifs courants. Couverture des intérêts solide (341.2x EBIT), capacité de service de la dette robuste.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54,8x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75,0 %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-0,78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Risque manip.</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194,24 $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165 $</a:t>
                      </a:r>
                    </a:p>
                  </a:txBody>
                  <a:tcPr>
                    <a:solidFill>
                      <a:srgbClr val="FAF0EF"/>
                    </a:solidFill>
                  </a:tcPr>
                </a:tc>
                <a:tc>
                  <a:txBody>
                    <a:bodyPr/>
                    <a:lstStyle/>
                    <a:p>
                      <a:pPr algn="ctr"/>
                      <a:r>
                        <a:rPr sz="2000" b="1" i="0">
                          <a:solidFill>
                            <a:srgbClr val="2E5FA3"/>
                          </a:solidFill>
                          <a:latin typeface="Calibri"/>
                        </a:rPr>
                        <a:t>194 $</a:t>
                      </a:r>
                    </a:p>
                  </a:txBody>
                  <a:tcPr>
                    <a:solidFill>
                      <a:srgbClr val="EEF3FA"/>
                    </a:solidFill>
                  </a:tcPr>
                </a:tc>
                <a:tc>
                  <a:txBody>
                    <a:bodyPr/>
                    <a:lstStyle/>
                    <a:p>
                      <a:pPr algn="ctr"/>
                      <a:r>
                        <a:rPr sz="2000" b="1" i="0">
                          <a:solidFill>
                            <a:srgbClr val="1A7A4A"/>
                          </a:solidFill>
                          <a:latin typeface="Calibri"/>
                        </a:rPr>
                        <a:t>233 $</a:t>
                      </a:r>
                    </a:p>
                  </a:txBody>
                  <a:tcPr>
                    <a:solidFill>
                      <a:srgbClr val="EAF4EF"/>
                    </a:solidFill>
                  </a:tcPr>
                </a:tc>
              </a:tr>
              <a:tr h="342900">
                <a:tc>
                  <a:txBody>
                    <a:bodyPr/>
                    <a:lstStyle/>
                    <a:p>
                      <a:pPr algn="ctr"/>
                      <a:r>
                        <a:rPr sz="1200" b="1" i="0">
                          <a:solidFill>
                            <a:srgbClr val="A82020"/>
                          </a:solidFill>
                          <a:latin typeface="Calibri"/>
                        </a:rPr>
                        <a:t>-15,0 %</a:t>
                      </a:r>
                    </a:p>
                  </a:txBody>
                  <a:tcPr>
                    <a:solidFill>
                      <a:srgbClr val="FAF0EF"/>
                    </a:solidFill>
                  </a:tcPr>
                </a:tc>
                <a:tc>
                  <a:txBody>
                    <a:bodyPr/>
                    <a:lstStyle/>
                    <a:p>
                      <a:pPr algn="ctr"/>
                      <a:r>
                        <a:rPr sz="1200" b="1" i="0">
                          <a:solidFill>
                            <a:srgbClr val="2E5FA3"/>
                          </a:solidFill>
                          <a:latin typeface="Calibri"/>
                        </a:rPr>
                        <a:t>+0,0 %</a:t>
                      </a:r>
                    </a:p>
                  </a:txBody>
                  <a:tcPr>
                    <a:solidFill>
                      <a:srgbClr val="EEF3FA"/>
                    </a:solidFill>
                  </a:tcPr>
                </a:tc>
                <a:tc>
                  <a:txBody>
                    <a:bodyPr/>
                    <a:lstStyle/>
                    <a:p>
                      <a:pPr algn="ctr"/>
                      <a:r>
                        <a:rPr sz="1200" b="1" i="0">
                          <a:solidFill>
                            <a:srgbClr val="1A7A4A"/>
                          </a:solidFill>
                          <a:latin typeface="Calibri"/>
                        </a:rPr>
                        <a:t>+20,0 %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258 $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+32,7 %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17,1%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194</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NVIDIA Corporation</a:t>
                      </a:r>
                    </a:p>
                  </a:txBody>
                  <a:tcPr>
                    <a:solidFill>
                      <a:srgbClr val="DDE8F5"/>
                    </a:solidFill>
                  </a:tcPr>
                </a:tc>
                <a:tc>
                  <a:txBody>
                    <a:bodyPr/>
                    <a:lstStyle/>
                    <a:p>
                      <a:pPr algn="ctr"/>
                      <a:r>
                        <a:rPr sz="750" b="1" i="0">
                          <a:solidFill>
                            <a:srgbClr val="2E5FA3"/>
                          </a:solidFill>
                          <a:latin typeface="Calibri"/>
                        </a:rPr>
                        <a:t>NVDA</a:t>
                      </a:r>
                    </a:p>
                  </a:txBody>
                  <a:tcPr>
                    <a:solidFill>
                      <a:srgbClr val="DDE8F5"/>
                    </a:solidFill>
                  </a:tcPr>
                </a:tc>
                <a:tc>
                  <a:txBody>
                    <a:bodyPr/>
                    <a:lstStyle/>
                    <a:p>
                      <a:pPr algn="ctr"/>
                      <a:r>
                        <a:rPr sz="800" b="1" i="0">
                          <a:solidFill>
                            <a:srgbClr val="1B3A6B"/>
                          </a:solidFill>
                          <a:latin typeface="Calibri"/>
                        </a:rPr>
                        <a:t>4 720,0</a:t>
                      </a:r>
                    </a:p>
                  </a:txBody>
                  <a:tcPr>
                    <a:solidFill>
                      <a:srgbClr val="DDE8F5"/>
                    </a:solidFill>
                  </a:tcPr>
                </a:tc>
                <a:tc>
                  <a:txBody>
                    <a:bodyPr/>
                    <a:lstStyle/>
                    <a:p>
                      <a:pPr algn="ctr"/>
                      <a:r>
                        <a:rPr sz="800" b="1" i="0">
                          <a:solidFill>
                            <a:srgbClr val="1B3A6B"/>
                          </a:solidFill>
                          <a:latin typeface="Calibri"/>
                        </a:rPr>
                        <a:t>54,8x</a:t>
                      </a:r>
                    </a:p>
                  </a:txBody>
                  <a:tcPr>
                    <a:solidFill>
                      <a:srgbClr val="DDE8F5"/>
                    </a:solidFill>
                  </a:tcPr>
                </a:tc>
                <a:tc>
                  <a:txBody>
                    <a:bodyPr/>
                    <a:lstStyle/>
                    <a:p>
                      <a:pPr algn="ctr"/>
                      <a:r>
                        <a:rPr sz="800" b="1" i="0">
                          <a:solidFill>
                            <a:srgbClr val="1B3A6B"/>
                          </a:solidFill>
                          <a:latin typeface="Calibri"/>
                        </a:rPr>
                        <a:t>36,2x</a:t>
                      </a:r>
                    </a:p>
                  </a:txBody>
                  <a:tcPr>
                    <a:solidFill>
                      <a:srgbClr val="DDE8F5"/>
                    </a:solidFill>
                  </a:tcPr>
                </a:tc>
                <a:tc>
                  <a:txBody>
                    <a:bodyPr/>
                    <a:lstStyle/>
                    <a:p>
                      <a:pPr algn="ctr"/>
                      <a:r>
                        <a:rPr sz="800" b="1" i="0">
                          <a:solidFill>
                            <a:srgbClr val="1B3A6B"/>
                          </a:solidFill>
                          <a:latin typeface="Calibri"/>
                        </a:rPr>
                        <a:t>64,8x</a:t>
                      </a:r>
                    </a:p>
                  </a:txBody>
                  <a:tcPr>
                    <a:solidFill>
                      <a:srgbClr val="DDE8F5"/>
                    </a:solidFill>
                  </a:tcPr>
                </a:tc>
                <a:tc>
                  <a:txBody>
                    <a:bodyPr/>
                    <a:lstStyle/>
                    <a:p>
                      <a:pPr algn="ctr"/>
                      <a:r>
                        <a:rPr sz="800" b="1" i="0">
                          <a:solidFill>
                            <a:srgbClr val="1B3A6B"/>
                          </a:solidFill>
                          <a:latin typeface="Calibri"/>
                        </a:rPr>
                        <a:t>75,0 %</a:t>
                      </a:r>
                    </a:p>
                  </a:txBody>
                  <a:tcPr>
                    <a:solidFill>
                      <a:srgbClr val="DDE8F5"/>
                    </a:solidFill>
                  </a:tcPr>
                </a:tc>
                <a:tc>
                  <a:txBody>
                    <a:bodyPr/>
                    <a:lstStyle/>
                    <a:p>
                      <a:pPr algn="ctr"/>
                      <a:r>
                        <a:rPr sz="800" b="1" i="0">
                          <a:solidFill>
                            <a:srgbClr val="1B3A6B"/>
                          </a:solidFill>
                          <a:latin typeface="Calibri"/>
                        </a:rPr>
                        <a:t>66,0 %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NVDA — positionnément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Analyse fondamentale NVIDIA Corporation (NVDA) — secteur Technology. Ratios cles : EV/EBITDA 54.8x, marge EBITDA 66.0%, ROE 91.9%. Recommandation neutre par defaut, a reviser selon evolution des fondamentaux et catalyseurs sectoriels.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(194,24)</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194,24</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810000"/>
        </p:xfrm>
        <a:graphic>
          <a:graphicData uri="http://schemas.openxmlformats.org/drawingml/2006/table">
            <a:tbl>
              <a:tblPr firstRow="1" bandRow="1">
                <a:tableStyleId>{5C22544A-7EE6-4342-B048-85BDC9FD1C3A}</a:tableStyleId>
              </a:tblPr>
              <a:tblGrid>
                <a:gridCol w="777600"/>
                <a:gridCol w="570240"/>
                <a:gridCol w="673920"/>
                <a:gridCol w="570240"/>
              </a:tblGrid>
              <a:tr h="2025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1 080,6x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789,8x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132,7x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NVDA génère ROE 92% / ROIC 94% — création de valeur premium</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compression multiple de 1015.8x sur la période (1 080,6x → 64,8x), signal d’une réévaluation négative du profil de croissance. L’EV/EBITDA diverge à 54,8x vs 789,8x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1,5 %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71,5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2,5 %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46,2 %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810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25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NVDA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croissance de 67,4 Mds$ sur la période, avec un FCF yield actuel de 1,5 %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Sources &amp; Uses, hypothèses et éligibilité</a:t>
            </a:r>
          </a:p>
        </p:txBody>
      </p:sp>
      <p:sp>
        <p:nvSpPr>
          <p:cNvPr id="17" name="Rectangle 16"/>
          <p:cNvSpPr/>
          <p:nvPr/>
        </p:nvSpPr>
        <p:spPr>
          <a:xfrm>
            <a:off x="367200" y="882000"/>
            <a:ext cx="8413200" cy="43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1A7A4A"/>
                </a:solidFill>
                <a:latin typeface="Calibri"/>
              </a:rPr>
              <a:t>✓ PROFIL LBO-ABLE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Société éligible aux critères LBO mid-market standard</a:t>
            </a:r>
          </a:p>
        </p:txBody>
      </p:sp>
      <p:sp>
        <p:nvSpPr>
          <p:cNvPr id="21" name="Rectangle 20"/>
          <p:cNvSpPr/>
          <p:nvPr/>
        </p:nvSpPr>
        <p:spPr>
          <a:xfrm>
            <a:off x="367200" y="1440000"/>
            <a:ext cx="4104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200" y="1468800"/>
            <a:ext cx="4104000" cy="151200"/>
          </a:xfrm>
          <a:prstGeom prst="rect">
            <a:avLst/>
          </a:prstGeom>
          <a:noFill/>
        </p:spPr>
        <p:txBody>
          <a:bodyPr wrap="none">
            <a:spAutoFit/>
          </a:bodyPr>
          <a:lstStyle/>
          <a:p>
            <a:pPr algn="ctr"/>
            <a:r>
              <a:rPr sz="105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632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865,8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1 296,5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400" y="1468800"/>
            <a:ext cx="4125600" cy="151200"/>
          </a:xfrm>
          <a:prstGeom prst="rect">
            <a:avLst/>
          </a:prstGeom>
          <a:noFill/>
        </p:spPr>
        <p:txBody>
          <a:bodyPr wrap="none">
            <a:spAutoFit/>
          </a:bodyPr>
          <a:lstStyle/>
          <a:p>
            <a:pPr algn="ctr"/>
            <a:r>
              <a:rPr sz="105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632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1 206,0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60,3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1 296,5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30" name="TextBox 29"/>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L’entrée en LBO suppose un multiple d’acquisition de 25x EBITDA (médiane Tech 2024, premium pour positionnement IA). Levier structuré à 5x EBITDA (Senior 3,5x à 7 % + Mezz 1,5x à 12 %), aligné sur les standards post-2023. Coût moyen pondéré de la dette (WACC) à 9 % (taux sans risque 4 % + spread 5 %). Multiple de sortie à 18x EBITDA (déflation contrôlée vs entrée), reflétant un scénario conservateur post-correction tech. Hypothèses validées par la résilience des marges (66 %) et la visibilité croissance (ROIC 94,2 %).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IRR, MOIC et sensibilité multiples</a:t>
            </a:r>
          </a:p>
        </p:txBody>
      </p:sp>
      <p:sp>
        <p:nvSpPr>
          <p:cNvPr id="17" name="Rectangle 16"/>
          <p:cNvSpPr/>
          <p:nvPr/>
        </p:nvSpPr>
        <p:spPr>
          <a:xfrm>
            <a:off x="367200" y="882000"/>
            <a:ext cx="2015999" cy="82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26.4%</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3.23x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865,8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2 792,3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87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31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+32.6%</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+31.2%</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+24.4%</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+23.4%</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4031999"/>
            <a:ext cx="8413200" cy="75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031999"/>
            <a:ext cx="79200" cy="75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44" name="TextBox 43"/>
          <p:cNvSpPr txBox="1"/>
          <p:nvPr/>
        </p:nvSpPr>
        <p:spPr>
          <a:xfrm>
            <a:off x="475200" y="4230000"/>
            <a:ext cx="8298000" cy="532800"/>
          </a:xfrm>
          <a:prstGeom prst="rect">
            <a:avLst/>
          </a:prstGeom>
          <a:noFill/>
        </p:spPr>
        <p:txBody>
          <a:bodyPr wrap="square">
            <a:spAutoFit/>
          </a:bodyPr>
          <a:lstStyle/>
          <a:p>
            <a:pPr algn="l"/>
            <a:r>
              <a:rPr sz="850" b="0" i="0">
                <a:solidFill>
                  <a:srgbClr val="555555"/>
                </a:solidFill>
                <a:latin typeface="Calibri"/>
              </a:rPr>
              <a:t>L’IRR sponsor de 26,4 % (base) se situe dans le top quartile des LBOs (seuil PE ≥20 %), avec un MOIC de 3,2x confirmant la création de valeur. La sensibilité révèle une robustesse face aux scénarios bear : IRR à 20,5 % (vs 32,2 % bull), portée par la compression des multiples en sortie (1,0x levier) et la génération de free cash-flow. La marge EBITDA élevée (66 %) limite l’impact des coûts financiers, tandis que le ROIC à 94,2 % atteste d’une allocation capital optimale. Le deal est attractif pour un sponsor PE, sous réserve d’une exécution disciplinée sur la croissance post-acquisition.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164,9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244,8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898000"/>
            <a:ext cx="27432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934000"/>
            <a:ext cx="2743200" cy="162000"/>
          </a:xfrm>
          <a:prstGeom prst="rect">
            <a:avLst/>
          </a:prstGeom>
          <a:noFill/>
        </p:spPr>
        <p:txBody>
          <a:bodyPr wrap="none">
            <a:spAutoFit/>
          </a:bodyPr>
          <a:lstStyle/>
          <a:p>
            <a:pPr algn="ctr"/>
            <a:r>
              <a:rPr sz="1300" b="1" i="0">
                <a:solidFill>
                  <a:srgbClr val="FFFFFF"/>
                </a:solidFill>
                <a:latin typeface="Calibri"/>
              </a:rPr>
              <a:t>BULL</a:t>
            </a:r>
          </a:p>
        </p:txBody>
      </p:sp>
      <p:sp>
        <p:nvSpPr>
          <p:cNvPr id="22" name="Rectangle 21"/>
          <p:cNvSpPr/>
          <p:nvPr/>
        </p:nvSpPr>
        <p:spPr>
          <a:xfrm>
            <a:off x="367200" y="3131999"/>
            <a:ext cx="2743200" cy="90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86000"/>
            <a:ext cx="1097280" cy="151200"/>
          </a:xfrm>
          <a:prstGeom prst="rect">
            <a:avLst/>
          </a:prstGeom>
          <a:noFill/>
        </p:spPr>
        <p:txBody>
          <a:bodyPr wrap="square">
            <a:spAutoFit/>
          </a:bodyPr>
          <a:lstStyle/>
          <a:p>
            <a:pPr algn="r"/>
            <a:r>
              <a:rPr sz="1100" b="1" i="0">
                <a:solidFill>
                  <a:srgbClr val="1A7A4A"/>
                </a:solidFill>
                <a:latin typeface="Calibri"/>
              </a:rPr>
              <a:t>+32.2%</a:t>
            </a:r>
          </a:p>
        </p:txBody>
      </p:sp>
      <p:sp>
        <p:nvSpPr>
          <p:cNvPr id="25" name="TextBox 24"/>
          <p:cNvSpPr txBox="1"/>
          <p:nvPr/>
        </p:nvSpPr>
        <p:spPr>
          <a:xfrm>
            <a:off x="475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94800"/>
            <a:ext cx="1097280" cy="151200"/>
          </a:xfrm>
          <a:prstGeom prst="rect">
            <a:avLst/>
          </a:prstGeom>
          <a:noFill/>
        </p:spPr>
        <p:txBody>
          <a:bodyPr wrap="square">
            <a:spAutoFit/>
          </a:bodyPr>
          <a:lstStyle/>
          <a:p>
            <a:pPr algn="r"/>
            <a:r>
              <a:rPr sz="1100" b="1" i="0">
                <a:solidFill>
                  <a:srgbClr val="1A7A4A"/>
                </a:solidFill>
                <a:latin typeface="Calibri"/>
              </a:rPr>
              <a:t>4.04x</a:t>
            </a:r>
          </a:p>
        </p:txBody>
      </p:sp>
      <p:sp>
        <p:nvSpPr>
          <p:cNvPr id="27" name="TextBox 26"/>
          <p:cNvSpPr txBox="1"/>
          <p:nvPr/>
        </p:nvSpPr>
        <p:spPr>
          <a:xfrm>
            <a:off x="475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03600"/>
            <a:ext cx="1097280" cy="151200"/>
          </a:xfrm>
          <a:prstGeom prst="rect">
            <a:avLst/>
          </a:prstGeom>
          <a:noFill/>
        </p:spPr>
        <p:txBody>
          <a:bodyPr wrap="square">
            <a:spAutoFit/>
          </a:bodyPr>
          <a:lstStyle/>
          <a:p>
            <a:pPr algn="r"/>
            <a:r>
              <a:rPr sz="1100" b="1" i="0">
                <a:solidFill>
                  <a:srgbClr val="1A7A4A"/>
                </a:solidFill>
                <a:latin typeface="Calibri"/>
              </a:rPr>
              <a:t>0.84x</a:t>
            </a:r>
          </a:p>
        </p:txBody>
      </p:sp>
      <p:sp>
        <p:nvSpPr>
          <p:cNvPr id="29" name="TextBox 28"/>
          <p:cNvSpPr txBox="1"/>
          <p:nvPr/>
        </p:nvSpPr>
        <p:spPr>
          <a:xfrm>
            <a:off x="475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12400"/>
            <a:ext cx="1097280" cy="151200"/>
          </a:xfrm>
          <a:prstGeom prst="rect">
            <a:avLst/>
          </a:prstGeom>
          <a:noFill/>
        </p:spPr>
        <p:txBody>
          <a:bodyPr wrap="square">
            <a:spAutoFit/>
          </a:bodyPr>
          <a:lstStyle/>
          <a:p>
            <a:pPr algn="r"/>
            <a:r>
              <a:rPr sz="1100" b="1" i="0">
                <a:solidFill>
                  <a:srgbClr val="1A7A4A"/>
                </a:solidFill>
                <a:latin typeface="Calibri"/>
              </a:rPr>
              <a:t>10.4x</a:t>
            </a:r>
          </a:p>
        </p:txBody>
      </p:sp>
      <p:sp>
        <p:nvSpPr>
          <p:cNvPr id="31" name="Rectangle 30"/>
          <p:cNvSpPr/>
          <p:nvPr/>
        </p:nvSpPr>
        <p:spPr>
          <a:xfrm>
            <a:off x="3229200" y="2898000"/>
            <a:ext cx="27432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934000"/>
            <a:ext cx="2743200" cy="162000"/>
          </a:xfrm>
          <a:prstGeom prst="rect">
            <a:avLst/>
          </a:prstGeom>
          <a:noFill/>
        </p:spPr>
        <p:txBody>
          <a:bodyPr wrap="none">
            <a:spAutoFit/>
          </a:bodyPr>
          <a:lstStyle/>
          <a:p>
            <a:pPr algn="ctr"/>
            <a:r>
              <a:rPr sz="1300" b="1" i="0">
                <a:solidFill>
                  <a:srgbClr val="FFFFFF"/>
                </a:solidFill>
                <a:latin typeface="Calibri"/>
              </a:rPr>
              <a:t>BASE</a:t>
            </a:r>
          </a:p>
        </p:txBody>
      </p:sp>
      <p:sp>
        <p:nvSpPr>
          <p:cNvPr id="33" name="Rectangle 32"/>
          <p:cNvSpPr/>
          <p:nvPr/>
        </p:nvSpPr>
        <p:spPr>
          <a:xfrm>
            <a:off x="3229200" y="3131999"/>
            <a:ext cx="2743200" cy="90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86000"/>
            <a:ext cx="1097280" cy="151200"/>
          </a:xfrm>
          <a:prstGeom prst="rect">
            <a:avLst/>
          </a:prstGeom>
          <a:noFill/>
        </p:spPr>
        <p:txBody>
          <a:bodyPr wrap="square">
            <a:spAutoFit/>
          </a:bodyPr>
          <a:lstStyle/>
          <a:p>
            <a:pPr algn="r"/>
            <a:r>
              <a:rPr sz="1100" b="1" i="0">
                <a:solidFill>
                  <a:srgbClr val="2E5FA3"/>
                </a:solidFill>
                <a:latin typeface="Calibri"/>
              </a:rPr>
              <a:t>+26.4%</a:t>
            </a:r>
          </a:p>
        </p:txBody>
      </p:sp>
      <p:sp>
        <p:nvSpPr>
          <p:cNvPr id="36" name="TextBox 35"/>
          <p:cNvSpPr txBox="1"/>
          <p:nvPr/>
        </p:nvSpPr>
        <p:spPr>
          <a:xfrm>
            <a:off x="3337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94800"/>
            <a:ext cx="1097280" cy="151200"/>
          </a:xfrm>
          <a:prstGeom prst="rect">
            <a:avLst/>
          </a:prstGeom>
          <a:noFill/>
        </p:spPr>
        <p:txBody>
          <a:bodyPr wrap="square">
            <a:spAutoFit/>
          </a:bodyPr>
          <a:lstStyle/>
          <a:p>
            <a:pPr algn="r"/>
            <a:r>
              <a:rPr sz="1100" b="1" i="0">
                <a:solidFill>
                  <a:srgbClr val="2E5FA3"/>
                </a:solidFill>
                <a:latin typeface="Calibri"/>
              </a:rPr>
              <a:t>3.23x</a:t>
            </a:r>
          </a:p>
        </p:txBody>
      </p:sp>
      <p:sp>
        <p:nvSpPr>
          <p:cNvPr id="38" name="TextBox 37"/>
          <p:cNvSpPr txBox="1"/>
          <p:nvPr/>
        </p:nvSpPr>
        <p:spPr>
          <a:xfrm>
            <a:off x="3337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03600"/>
            <a:ext cx="1097280" cy="151200"/>
          </a:xfrm>
          <a:prstGeom prst="rect">
            <a:avLst/>
          </a:prstGeom>
          <a:noFill/>
        </p:spPr>
        <p:txBody>
          <a:bodyPr wrap="square">
            <a:spAutoFit/>
          </a:bodyPr>
          <a:lstStyle/>
          <a:p>
            <a:pPr algn="r"/>
            <a:r>
              <a:rPr sz="1100" b="1" i="0">
                <a:solidFill>
                  <a:srgbClr val="2E5FA3"/>
                </a:solidFill>
                <a:latin typeface="Calibri"/>
              </a:rPr>
              <a:t>0.97x</a:t>
            </a:r>
          </a:p>
        </p:txBody>
      </p:sp>
      <p:sp>
        <p:nvSpPr>
          <p:cNvPr id="40" name="TextBox 39"/>
          <p:cNvSpPr txBox="1"/>
          <p:nvPr/>
        </p:nvSpPr>
        <p:spPr>
          <a:xfrm>
            <a:off x="3337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12400"/>
            <a:ext cx="1097280" cy="151200"/>
          </a:xfrm>
          <a:prstGeom prst="rect">
            <a:avLst/>
          </a:prstGeom>
          <a:noFill/>
        </p:spPr>
        <p:txBody>
          <a:bodyPr wrap="square">
            <a:spAutoFit/>
          </a:bodyPr>
          <a:lstStyle/>
          <a:p>
            <a:pPr algn="r"/>
            <a:r>
              <a:rPr sz="1100" b="1" i="0">
                <a:solidFill>
                  <a:srgbClr val="2E5FA3"/>
                </a:solidFill>
                <a:latin typeface="Calibri"/>
              </a:rPr>
              <a:t>10.3x</a:t>
            </a:r>
          </a:p>
        </p:txBody>
      </p:sp>
      <p:sp>
        <p:nvSpPr>
          <p:cNvPr id="42" name="Rectangle 41"/>
          <p:cNvSpPr/>
          <p:nvPr/>
        </p:nvSpPr>
        <p:spPr>
          <a:xfrm>
            <a:off x="6091200" y="2898000"/>
            <a:ext cx="27432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934000"/>
            <a:ext cx="2743200" cy="162000"/>
          </a:xfrm>
          <a:prstGeom prst="rect">
            <a:avLst/>
          </a:prstGeom>
          <a:noFill/>
        </p:spPr>
        <p:txBody>
          <a:bodyPr wrap="none">
            <a:spAutoFit/>
          </a:bodyPr>
          <a:lstStyle/>
          <a:p>
            <a:pPr algn="ctr"/>
            <a:r>
              <a:rPr sz="1300" b="1" i="0">
                <a:solidFill>
                  <a:srgbClr val="FFFFFF"/>
                </a:solidFill>
                <a:latin typeface="Calibri"/>
              </a:rPr>
              <a:t>BEAR</a:t>
            </a:r>
          </a:p>
        </p:txBody>
      </p:sp>
      <p:sp>
        <p:nvSpPr>
          <p:cNvPr id="44" name="Rectangle 43"/>
          <p:cNvSpPr/>
          <p:nvPr/>
        </p:nvSpPr>
        <p:spPr>
          <a:xfrm>
            <a:off x="6091200" y="3131999"/>
            <a:ext cx="2743200" cy="900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86000"/>
            <a:ext cx="1097280" cy="151200"/>
          </a:xfrm>
          <a:prstGeom prst="rect">
            <a:avLst/>
          </a:prstGeom>
          <a:noFill/>
        </p:spPr>
        <p:txBody>
          <a:bodyPr wrap="square">
            <a:spAutoFit/>
          </a:bodyPr>
          <a:lstStyle/>
          <a:p>
            <a:pPr algn="r"/>
            <a:r>
              <a:rPr sz="1100" b="1" i="0">
                <a:solidFill>
                  <a:srgbClr val="A82020"/>
                </a:solidFill>
                <a:latin typeface="Calibri"/>
              </a:rPr>
              <a:t>+20.5%</a:t>
            </a:r>
          </a:p>
        </p:txBody>
      </p:sp>
      <p:sp>
        <p:nvSpPr>
          <p:cNvPr id="47" name="TextBox 46"/>
          <p:cNvSpPr txBox="1"/>
          <p:nvPr/>
        </p:nvSpPr>
        <p:spPr>
          <a:xfrm>
            <a:off x="6199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94800"/>
            <a:ext cx="1097280" cy="151200"/>
          </a:xfrm>
          <a:prstGeom prst="rect">
            <a:avLst/>
          </a:prstGeom>
          <a:noFill/>
        </p:spPr>
        <p:txBody>
          <a:bodyPr wrap="square">
            <a:spAutoFit/>
          </a:bodyPr>
          <a:lstStyle/>
          <a:p>
            <a:pPr algn="r"/>
            <a:r>
              <a:rPr sz="1100" b="1" i="0">
                <a:solidFill>
                  <a:srgbClr val="A82020"/>
                </a:solidFill>
                <a:latin typeface="Calibri"/>
              </a:rPr>
              <a:t>2.54x</a:t>
            </a:r>
          </a:p>
        </p:txBody>
      </p:sp>
      <p:sp>
        <p:nvSpPr>
          <p:cNvPr id="49" name="TextBox 48"/>
          <p:cNvSpPr txBox="1"/>
          <p:nvPr/>
        </p:nvSpPr>
        <p:spPr>
          <a:xfrm>
            <a:off x="6199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03600"/>
            <a:ext cx="1097280" cy="151200"/>
          </a:xfrm>
          <a:prstGeom prst="rect">
            <a:avLst/>
          </a:prstGeom>
          <a:noFill/>
        </p:spPr>
        <p:txBody>
          <a:bodyPr wrap="square">
            <a:spAutoFit/>
          </a:bodyPr>
          <a:lstStyle/>
          <a:p>
            <a:pPr algn="r"/>
            <a:r>
              <a:rPr sz="1100" b="1" i="0">
                <a:solidFill>
                  <a:srgbClr val="A82020"/>
                </a:solidFill>
                <a:latin typeface="Calibri"/>
              </a:rPr>
              <a:t>1.13x</a:t>
            </a:r>
          </a:p>
        </p:txBody>
      </p:sp>
      <p:sp>
        <p:nvSpPr>
          <p:cNvPr id="51" name="TextBox 50"/>
          <p:cNvSpPr txBox="1"/>
          <p:nvPr/>
        </p:nvSpPr>
        <p:spPr>
          <a:xfrm>
            <a:off x="6199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12400"/>
            <a:ext cx="1097280" cy="151200"/>
          </a:xfrm>
          <a:prstGeom prst="rect">
            <a:avLst/>
          </a:prstGeom>
          <a:noFill/>
        </p:spPr>
        <p:txBody>
          <a:bodyPr wrap="square">
            <a:spAutoFit/>
          </a:bodyPr>
          <a:lstStyle/>
          <a:p>
            <a:pPr algn="r"/>
            <a:r>
              <a:rPr sz="1100" b="1" i="0">
                <a:solidFill>
                  <a:srgbClr val="A82020"/>
                </a:solidFill>
                <a:latin typeface="Calibri"/>
              </a:rPr>
              <a:t>7.7x</a:t>
            </a:r>
          </a:p>
        </p:txBody>
      </p:sp>
      <p:sp>
        <p:nvSpPr>
          <p:cNvPr id="53" name="Rectangle 52"/>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56" name="TextBox 55"/>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Trois risques majeurs émergent : (1) **Opérationnel** : compression des marges (baisse des prix GPU post-2025) ou ralentissement de la demande IA (CAPEX data centers). (2) **Financier** : covenants stricts (Net Debt/EBITDA ≤3,5x) et refinancement coûteux en 2028 (taux potentiellement &gt;8 %). (3) **Marché** : multiple de sortie à 18x EBITDA vulnérable à un retournement tech…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{'title': 'Compression des marges', 'description': 'Pression concurrentielle ou hausse des couts intrants peuvent degrader la rentabilite operationnelle (marge EBITDA actuelle 66.0% si dispo).'}</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{'title': 'Compression des marges', 'description': 'Pression concurrentielle ou hausse des couts intrants peuvent degrader la rentabilite operationnelle (marge EBITDA actuelle 66.0% si dispo).'}</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{'title': 'Choc macroeconomique', 'description': 'Recession, hausse des taux directeurs, ou degradation du credit sectoriel peuvent declencher un de-rating significatif.'}</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{'title': 'Choc macroeconomique', 'description': 'Recession, hausse des taux directeurs, ou degradation du credit sectoriel peuvent declencher un de-rating significatif.'}</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{'title': 'Risque de revision baissiere', 'description': "Les revisions du consensus sur les 1-2 prochains trimestres constituent un signal d'alerte avance."}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{'title': 'Risque de revision baissiere', 'description': "Les revisions du consensus sur les 1-2 prochains trimestres constituent un signal d'alerte avance."}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33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348800"/>
            <a:ext cx="2696400" cy="158400"/>
          </a:xfrm>
          <a:prstGeom prst="rect">
            <a:avLst/>
          </a:prstGeom>
          <a:noFill/>
        </p:spPr>
        <p:txBody>
          <a:bodyPr wrap="square">
            <a:spAutoFit/>
          </a:bodyPr>
          <a:lstStyle/>
          <a:p>
            <a:pPr algn="l"/>
            <a:r>
              <a:rPr sz="700" b="0" i="0">
                <a:solidFill>
                  <a:srgbClr val="1B3A6B"/>
                </a:solidFill>
                <a:latin typeface="Calibri"/>
              </a:rPr>
              <a:t>Détresse : 35/100  Moderé</a:t>
            </a:r>
          </a:p>
        </p:txBody>
      </p:sp>
      <p:sp>
        <p:nvSpPr>
          <p:cNvPr id="35" name="Rectangle 34"/>
          <p:cNvSpPr/>
          <p:nvPr/>
        </p:nvSpPr>
        <p:spPr>
          <a:xfrm>
            <a:off x="324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348800"/>
            <a:ext cx="2696400" cy="158400"/>
          </a:xfrm>
          <a:prstGeom prst="rect">
            <a:avLst/>
          </a:prstGeom>
          <a:noFill/>
        </p:spPr>
        <p:txBody>
          <a:bodyPr wrap="square">
            <a:spAutoFit/>
          </a:bodyPr>
          <a:lstStyle/>
          <a:p>
            <a:pPr algn="l"/>
            <a:r>
              <a:rPr sz="700" b="0" i="0">
                <a:solidFill>
                  <a:srgbClr val="1B3A6B"/>
                </a:solidFill>
                <a:latin typeface="Calibri"/>
              </a:rPr>
              <a:t>M&amp;A : 57/100  Attractive</a:t>
            </a:r>
          </a:p>
        </p:txBody>
      </p:sp>
      <p:sp>
        <p:nvSpPr>
          <p:cNvPr id="38" name="Rectangle 37"/>
          <p:cNvSpPr/>
          <p:nvPr/>
        </p:nvSpPr>
        <p:spPr>
          <a:xfrm>
            <a:off x="612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34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539600"/>
            <a:ext cx="2696400" cy="158400"/>
          </a:xfrm>
          <a:prstGeom prst="rect">
            <a:avLst/>
          </a:prstGeom>
          <a:noFill/>
        </p:spPr>
        <p:txBody>
          <a:bodyPr wrap="square">
            <a:spAutoFit/>
          </a:bodyPr>
          <a:lstStyle/>
          <a:p>
            <a:pPr algn="l"/>
            <a:r>
              <a:rPr sz="700" b="0" i="0">
                <a:solidFill>
                  <a:srgbClr val="1B3A6B"/>
                </a:solidFill>
                <a:latin typeface="Calibri"/>
              </a:rPr>
              <a:t>Earnings Qualité : Correcte (0.98x)</a:t>
            </a:r>
          </a:p>
        </p:txBody>
      </p:sp>
      <p:sp>
        <p:nvSpPr>
          <p:cNvPr id="44" name="Rectangle 43"/>
          <p:cNvSpPr/>
          <p:nvPr/>
        </p:nvSpPr>
        <p:spPr>
          <a:xfrm>
            <a:off x="324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52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53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539600"/>
            <a:ext cx="2696400" cy="158400"/>
          </a:xfrm>
          <a:prstGeom prst="rect">
            <a:avLst/>
          </a:prstGeom>
          <a:noFill/>
        </p:spPr>
        <p:txBody>
          <a:bodyPr wrap="square">
            <a:spAutoFit/>
          </a:bodyPr>
          <a:lstStyle/>
          <a:p>
            <a:pPr algn="l"/>
            <a:r>
              <a:rPr sz="700" b="0" i="0">
                <a:solidFill>
                  <a:srgbClr val="1B3A6B"/>
                </a:solidFill>
                <a:latin typeface="Calibri"/>
              </a:rPr>
              <a:t>Dividende : Tres soutenable (2.1x)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+0,204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49,7 %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+0,354</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+0,497</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+0,149</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affiche un sentiment majoritairement positif envers NVIDIA cette semaine, portée par sa dynamique haussière et ses partenariats stratégiques. Cependant, certains articles soulignent des risques concurrentiels dans l'IA, tempérant l'optimisme ambiant.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14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NVIDIA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Price (T.Rowe) Associates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51200"/>
          </a:xfrm>
          <a:prstGeom prst="rect">
            <a:avLst/>
          </a:prstGeom>
          <a:noFill/>
        </p:spPr>
        <p:txBody>
          <a:bodyPr wrap="none">
            <a:spAutoFit/>
          </a:bodyPr>
          <a:lstStyle/>
          <a:p>
            <a:pPr algn="l"/>
            <a:r>
              <a:rPr sz="950" b="1" i="0">
                <a:solidFill>
                  <a:srgbClr val="1B3A6B"/>
                </a:solidFill>
                <a:latin typeface="Calibri"/>
              </a:rPr>
              <a:t>NVDA — verdict final : HOLD</a:t>
            </a:r>
          </a:p>
        </p:txBody>
      </p:sp>
      <p:sp>
        <p:nvSpPr>
          <p:cNvPr id="24" name="TextBox 23"/>
          <p:cNvSpPr txBox="1"/>
          <p:nvPr/>
        </p:nvSpPr>
        <p:spPr>
          <a:xfrm>
            <a:off x="475200" y="3524400"/>
            <a:ext cx="8298000" cy="1220400"/>
          </a:xfrm>
          <a:prstGeom prst="rect">
            <a:avLst/>
          </a:prstGeom>
          <a:noFill/>
        </p:spPr>
        <p:txBody>
          <a:bodyPr wrap="square">
            <a:spAutoFit/>
          </a:bodyPr>
          <a:lstStyle/>
          <a:p>
            <a:pPr algn="l"/>
            <a:r>
              <a:rPr sz="850" b="0" i="0">
                <a:solidFill>
                  <a:srgbClr val="555555"/>
                </a:solidFill>
                <a:latin typeface="Calibri"/>
              </a:rPr>
              <a:t>NVIDIA Corporation presente un profil financier EV/EBITDA 54.8x, marge EBITDA 66.0%, ROE 91.9% dans le secteur Technology. L'analyse fondamentale indique un equilibre risque/rendement neutre a court terme. Une revision de la these necessite la confirmation des prochains catalyseurs operationnels. Analyse fondamentale NVIDIA Corporation (NVDA) — secteur Technology. Ratios cles : EV/EBITDA 54.8x, marge EBITDA 66.0%, ROE 91.9%. Recommandation neutre par defaut, a reviser selon evolution des fondamentaux et catalyseurs sectoriels.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USD  ·  Au 14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194,24 $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202,47 $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135,10 $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+43,8 %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+43,8 % sur 12 mois</a:t>
            </a:r>
          </a:p>
        </p:txBody>
      </p:sp>
      <p:pic>
        <p:nvPicPr>
          <p:cNvPr id="34" name="Picture 33" descr="image.png"/>
          <p:cNvPicPr>
            <a:picLocks noChangeAspect="1"/>
          </p:cNvPicPr>
          <p:nvPr/>
        </p:nvPicPr>
        <p:blipFill>
          <a:blip r:embed="rId2"/>
          <a:stretch>
            <a:fillRect/>
          </a:stretch>
        </p:blipFill>
        <p:spPr>
          <a:xfrm>
            <a:off x="367200" y="2102400"/>
            <a:ext cx="5580000" cy="1828800"/>
          </a:xfrm>
          <a:prstGeom prst="rect">
            <a:avLst/>
          </a:prstGeom>
        </p:spPr>
      </p:pic>
      <p:sp>
        <p:nvSpPr>
          <p:cNvPr id="35" name="Rectangle 34"/>
          <p:cNvSpPr/>
          <p:nvPr/>
        </p:nvSpPr>
        <p:spPr>
          <a:xfrm>
            <a:off x="6120000" y="2102400"/>
            <a:ext cx="2660400" cy="1828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000" y="2102400"/>
            <a:ext cx="79200" cy="182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8000" y="2131200"/>
            <a:ext cx="2545200" cy="151200"/>
          </a:xfrm>
          <a:prstGeom prst="rect">
            <a:avLst/>
          </a:prstGeom>
          <a:noFill/>
        </p:spPr>
        <p:txBody>
          <a:bodyPr wrap="none">
            <a:spAutoFit/>
          </a:bodyPr>
          <a:lstStyle/>
          <a:p>
            <a:pPr algn="l"/>
            <a:r>
              <a:rPr sz="950" b="1" i="0">
                <a:solidFill>
                  <a:srgbClr val="1B3A6B"/>
                </a:solidFill>
                <a:latin typeface="Calibri"/>
              </a:rPr>
              <a:t>Contexte macro et catalyseurs — NVDA</a:t>
            </a:r>
          </a:p>
        </p:txBody>
      </p:sp>
      <p:sp>
        <p:nvSpPr>
          <p:cNvPr id="38" name="TextBox 37"/>
          <p:cNvSpPr txBox="1"/>
          <p:nvPr/>
        </p:nvSpPr>
        <p:spPr>
          <a:xfrm>
            <a:off x="6228000" y="2300400"/>
            <a:ext cx="2545200" cy="1605600"/>
          </a:xfrm>
          <a:prstGeom prst="rect">
            <a:avLst/>
          </a:prstGeom>
          <a:noFill/>
        </p:spPr>
        <p:txBody>
          <a:bodyPr wrap="square">
            <a:spAutoFit/>
          </a:bodyPr>
          <a:lstStyle/>
          <a:p>
            <a:pPr algn="l"/>
            <a:r>
              <a:rPr sz="850" b="0" i="0">
                <a:solidFill>
                  <a:srgbClr val="555555"/>
                </a:solidFill>
                <a:latin typeface="Calibri"/>
              </a:rPr>
              <a:t>L'évolution du cours sur 52 semaines reflète les dynamiques macroéconomiques (politique monétaire, cycle économique) et les catalyseurs spécifiques au titre. Les phases de surperformance et de correction identifiées sur le graphique doivent être croisées avec le calendrier des publications de résultats et les révisions de consensus pour distinguer le signal du bruit.</a:t>
            </a:r>
          </a:p>
        </p:txBody>
      </p:sp>
      <p:sp>
        <p:nvSpPr>
          <p:cNvPr id="39" name="Rectangle 38"/>
          <p:cNvSpPr/>
          <p:nvPr/>
        </p:nvSpPr>
        <p:spPr>
          <a:xfrm>
            <a:off x="367200" y="4031999"/>
            <a:ext cx="8413200" cy="77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7200" y="4031999"/>
            <a:ext cx="79200" cy="77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NVDA — verdict final : HOLD</a:t>
            </a:r>
          </a:p>
        </p:txBody>
      </p:sp>
      <p:sp>
        <p:nvSpPr>
          <p:cNvPr id="42" name="TextBox 41"/>
          <p:cNvSpPr txBox="1"/>
          <p:nvPr/>
        </p:nvSpPr>
        <p:spPr>
          <a:xfrm>
            <a:off x="475200" y="4230000"/>
            <a:ext cx="8298000" cy="550799"/>
          </a:xfrm>
          <a:prstGeom prst="rect">
            <a:avLst/>
          </a:prstGeom>
          <a:noFill/>
        </p:spPr>
        <p:txBody>
          <a:bodyPr wrap="square">
            <a:spAutoFit/>
          </a:bodyPr>
          <a:lstStyle/>
          <a:p>
            <a:pPr algn="l"/>
            <a:r>
              <a:rPr sz="850" b="0" i="0">
                <a:solidFill>
                  <a:srgbClr val="555555"/>
                </a:solidFill>
                <a:latin typeface="Calibri"/>
              </a:rPr>
              <a:t>Analyse fondamentale NVIDIA Corporation (NVDA) — secteur Technology. Ratios cles : EV/EBITDA 54.8x, marge EBITDA 66.0%, ROE 91.9%. Recommandation neutre par defaut, a reviser selon evolution des fondamentaux et catalyseurs sectoriels.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FinSight IA  ·  Rapport 14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14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NVIDIA Corporation presente un profil financier EV/EBITDA 54.8x, marge EBITDA 66.0%, ROE 91.9% dans le secteur Technology.</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L'analyse fondamentale indique un equilibre risque/rendement neutre a court terme.</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Une revision de la these necessite la confirmation des prochains catalyseurs operationnels.</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432000"/>
          </a:xfrm>
          <a:prstGeom prst="rect">
            <a:avLst/>
          </a:prstGeom>
          <a:noFill/>
        </p:spPr>
        <p:txBody>
          <a:bodyPr wrap="square">
            <a:spAutoFit/>
          </a:bodyPr>
          <a:lstStyle/>
          <a:p>
            <a:pPr algn="l"/>
            <a:r>
              <a:rPr sz="700" b="0" i="0">
                <a:solidFill>
                  <a:srgbClr val="555555"/>
                </a:solidFill>
                <a:latin typeface="Calibri"/>
              </a:rPr>
              <a:t>• N/D</a:t>
            </a:r>
          </a:p>
        </p:txBody>
      </p:sp>
      <p:sp>
        <p:nvSpPr>
          <p:cNvPr id="37" name="Rectangle 36"/>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9" name="TextBox 38"/>
          <p:cNvSpPr txBox="1"/>
          <p:nvPr/>
        </p:nvSpPr>
        <p:spPr>
          <a:xfrm>
            <a:off x="6156000" y="2412000"/>
            <a:ext cx="2376000" cy="432000"/>
          </a:xfrm>
          <a:prstGeom prst="rect">
            <a:avLst/>
          </a:prstGeom>
          <a:noFill/>
        </p:spPr>
        <p:txBody>
          <a:bodyPr wrap="square">
            <a:spAutoFit/>
          </a:bodyPr>
          <a:lstStyle/>
          <a:p>
            <a:pPr algn="l"/>
            <a:r>
              <a:rPr sz="700" b="0" i="0">
                <a:solidFill>
                  <a:srgbClr val="555555"/>
                </a:solidFill>
                <a:latin typeface="Calibri"/>
              </a:rPr>
              <a:t>• N/D</a:t>
            </a:r>
          </a:p>
        </p:txBody>
      </p:sp>
      <p:sp>
        <p:nvSpPr>
          <p:cNvPr id="40" name="TextBox 39"/>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