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NVIDIA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NVDA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245 $  ·  Upside : +26,0 %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245 $  ·  Upside : +26,0 %  ·  Bear : 180 $ (-7,5 %)  ·  Bull : 280 $ (+44,0 %)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IA</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NVIDIA capte 80% du marché des GPU pour centres de données avec une marge brute de 75%, tirée par la demande en IA générative estimée à +120% par an jusqu'en 2027</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Marges record</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Le chiffre d'affaires 2025 de 130,5 Md$ (+114% YoY) devrait atteindre 200 Md$ en 2026 grâce aux contrats avec les hyperscalers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Écosystème CUDA</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Les marges nettes de 56% en 2025 pourraient atteindre 60% en 2027 via l'effet volume et la réduction des coûts unitaires.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AMD</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Concurrence accrue d'AMD avec ses GPU Instinct MI300X, menaçant 15% de part de marché d'ici 2026 | Régulation antitrust aux États-Unis ou en UE, impactant les contrats avec les hyperscalers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Le ratio EV/EBITDA à 54,87x implique une valorisation excessive de 42% par rapport à la moyenne sectorielle de 38,5x, sans justification tangible d'un maintien de cette prime.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hyperscalers</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L'hypothèse de croissance des revenus de 114,2% en 2025 est intenable : les ventes de GPU pour centres de données pourraient chuter de 30% si les budgets IA des hyperscalers se contractent,</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168000"/>
            <a:ext cx="84132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75200"/>
            <a:ext cx="8352000" cy="151200"/>
          </a:xfrm>
          <a:prstGeom prst="rect">
            <a:avLst/>
          </a:prstGeom>
          <a:noFill/>
        </p:spPr>
        <p:txBody>
          <a:bodyPr wrap="square">
            <a:spAutoFit/>
          </a:bodyPr>
          <a:lstStyle/>
          <a:p>
            <a:pPr algn="l"/>
            <a:r>
              <a:rPr sz="750" b="1" i="0">
                <a:solidFill>
                  <a:srgbClr val="FFFFFF"/>
                </a:solidFill>
                <a:latin typeface="Calibri"/>
              </a:rPr>
              <a:t>CATALYSEURS À SURVEILLER (12 MOIS)</a:t>
            </a:r>
          </a:p>
        </p:txBody>
      </p:sp>
      <p:sp>
        <p:nvSpPr>
          <p:cNvPr id="36" name="Rectangle 35"/>
          <p:cNvSpPr/>
          <p:nvPr/>
        </p:nvSpPr>
        <p:spPr>
          <a:xfrm>
            <a:off x="367200" y="3384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000" y="3366000"/>
            <a:ext cx="4111200" cy="223200"/>
          </a:xfrm>
          <a:prstGeom prst="rect">
            <a:avLst/>
          </a:prstGeom>
          <a:noFill/>
        </p:spPr>
        <p:txBody>
          <a:bodyPr wrap="square">
            <a:spAutoFit/>
          </a:bodyPr>
          <a:lstStyle/>
          <a:p>
            <a:pPr algn="l"/>
            <a:r>
              <a:rPr sz="650" b="0" i="0">
                <a:solidFill>
                  <a:srgbClr val="333333"/>
                </a:solidFill>
                <a:latin typeface="Calibri"/>
              </a:rPr>
              <a:t>Contrats hyperscalers : Signature de contrats pluriannuels avec AWS, Google et Microsoft pour 50 Md$ de GPU H200/H300 d'ici fin 2025, garantissant 60% de la…</a:t>
            </a:r>
          </a:p>
        </p:txBody>
      </p:sp>
      <p:sp>
        <p:nvSpPr>
          <p:cNvPr id="38" name="Rectangle 37"/>
          <p:cNvSpPr/>
          <p:nvPr/>
        </p:nvSpPr>
        <p:spPr>
          <a:xfrm>
            <a:off x="4572000" y="3384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800" y="3366000"/>
            <a:ext cx="4111200" cy="223200"/>
          </a:xfrm>
          <a:prstGeom prst="rect">
            <a:avLst/>
          </a:prstGeom>
          <a:noFill/>
        </p:spPr>
        <p:txBody>
          <a:bodyPr wrap="square">
            <a:spAutoFit/>
          </a:bodyPr>
          <a:lstStyle/>
          <a:p>
            <a:pPr algn="l"/>
            <a:r>
              <a:rPr sz="650" b="0" i="0">
                <a:solidFill>
                  <a:srgbClr val="333333"/>
                </a:solidFill>
                <a:latin typeface="Calibri"/>
              </a:rPr>
              <a:t>Lancement Blackwell : Déploiement des GPU Blackwell en Q3 2025 avec une performance 3x supérieure aux H100, captant 70% du marché des nouveaux centres de…</a:t>
            </a:r>
          </a:p>
        </p:txBody>
      </p:sp>
      <p:sp>
        <p:nvSpPr>
          <p:cNvPr id="40" name="Rectangle 39"/>
          <p:cNvSpPr/>
          <p:nvPr/>
        </p:nvSpPr>
        <p:spPr>
          <a:xfrm>
            <a:off x="367200" y="361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 y="3600000"/>
            <a:ext cx="4111200" cy="223200"/>
          </a:xfrm>
          <a:prstGeom prst="rect">
            <a:avLst/>
          </a:prstGeom>
          <a:noFill/>
        </p:spPr>
        <p:txBody>
          <a:bodyPr wrap="square">
            <a:spAutoFit/>
          </a:bodyPr>
          <a:lstStyle/>
          <a:p>
            <a:pPr algn="l"/>
            <a:r>
              <a:rPr sz="650" b="0" i="0">
                <a:solidFill>
                  <a:srgbClr val="333333"/>
                </a:solidFill>
                <a:latin typeface="Calibri"/>
              </a:rPr>
              <a:t>Expansion internationale : Ouverture de data centers en Asie (Japon, Corée) et en Europe (Allemagne, France) pour répondre à la demande locale, avec un CA…</a:t>
            </a:r>
          </a:p>
        </p:txBody>
      </p:sp>
      <p:sp>
        <p:nvSpPr>
          <p:cNvPr id="42" name="Rectangle 41"/>
          <p:cNvSpPr/>
          <p:nvPr/>
        </p:nvSpPr>
        <p:spPr>
          <a:xfrm>
            <a:off x="4572000" y="361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800" y="3600000"/>
            <a:ext cx="4111200" cy="223200"/>
          </a:xfrm>
          <a:prstGeom prst="rect">
            <a:avLst/>
          </a:prstGeom>
          <a:noFill/>
        </p:spPr>
        <p:txBody>
          <a:bodyPr wrap="square">
            <a:spAutoFit/>
          </a:bodyPr>
          <a:lstStyle/>
          <a:p>
            <a:pPr algn="l"/>
            <a:r>
              <a:rPr sz="650" b="0" i="0">
                <a:solidFill>
                  <a:srgbClr val="333333"/>
                </a:solidFill>
                <a:latin typeface="Calibri"/>
              </a:rPr>
              <a:t>—</a:t>
            </a:r>
          </a:p>
        </p:txBody>
      </p:sp>
      <p:sp>
        <p:nvSpPr>
          <p:cNvPr id="44" name="Rectangle 43"/>
          <p:cNvSpPr/>
          <p:nvPr/>
        </p:nvSpPr>
        <p:spPr>
          <a:xfrm>
            <a:off x="367200" y="3870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978000"/>
            <a:ext cx="1893600" cy="396000"/>
          </a:xfrm>
          <a:prstGeom prst="rect">
            <a:avLst/>
          </a:prstGeom>
          <a:noFill/>
        </p:spPr>
        <p:txBody>
          <a:bodyPr wrap="square">
            <a:spAutoFit/>
          </a:bodyPr>
          <a:lstStyle/>
          <a:p>
            <a:pPr algn="l"/>
            <a:r>
              <a:rPr sz="1900" b="1" i="0">
                <a:solidFill>
                  <a:srgbClr val="1B3A6B"/>
                </a:solidFill>
                <a:latin typeface="Calibri"/>
              </a:rPr>
              <a:t>54,9x</a:t>
            </a:r>
          </a:p>
        </p:txBody>
      </p:sp>
      <p:sp>
        <p:nvSpPr>
          <p:cNvPr id="48" name="TextBox 47"/>
          <p:cNvSpPr txBox="1"/>
          <p:nvPr/>
        </p:nvSpPr>
        <p:spPr>
          <a:xfrm>
            <a:off x="457200" y="43740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572000"/>
            <a:ext cx="1893600" cy="165600"/>
          </a:xfrm>
          <a:prstGeom prst="rect">
            <a:avLst/>
          </a:prstGeom>
          <a:noFill/>
        </p:spPr>
        <p:txBody>
          <a:bodyPr wrap="square">
            <a:spAutoFit/>
          </a:bodyPr>
          <a:lstStyle/>
          <a:p>
            <a:pPr algn="l"/>
            <a:r>
              <a:rPr sz="700" b="0" i="0">
                <a:solidFill>
                  <a:srgbClr val="888888"/>
                </a:solidFill>
                <a:latin typeface="Calibri"/>
              </a:rPr>
              <a:t>vs 25,0x med. pairs</a:t>
            </a:r>
          </a:p>
        </p:txBody>
      </p:sp>
      <p:sp>
        <p:nvSpPr>
          <p:cNvPr id="50" name="Rectangle 49"/>
          <p:cNvSpPr/>
          <p:nvPr/>
        </p:nvSpPr>
        <p:spPr>
          <a:xfrm>
            <a:off x="24876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3978000"/>
            <a:ext cx="1893600" cy="396000"/>
          </a:xfrm>
          <a:prstGeom prst="rect">
            <a:avLst/>
          </a:prstGeom>
          <a:noFill/>
        </p:spPr>
        <p:txBody>
          <a:bodyPr wrap="square">
            <a:spAutoFit/>
          </a:bodyPr>
          <a:lstStyle/>
          <a:p>
            <a:pPr algn="l"/>
            <a:r>
              <a:rPr sz="1900" b="1" i="0">
                <a:solidFill>
                  <a:srgbClr val="1B3A6B"/>
                </a:solidFill>
                <a:latin typeface="Calibri"/>
              </a:rPr>
              <a:t>17,1 %</a:t>
            </a:r>
          </a:p>
        </p:txBody>
      </p:sp>
      <p:sp>
        <p:nvSpPr>
          <p:cNvPr id="53" name="TextBox 52"/>
          <p:cNvSpPr txBox="1"/>
          <p:nvPr/>
        </p:nvSpPr>
        <p:spPr>
          <a:xfrm>
            <a:off x="2577600" y="43740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572000"/>
            <a:ext cx="1893600" cy="165600"/>
          </a:xfrm>
          <a:prstGeom prst="rect">
            <a:avLst/>
          </a:prstGeom>
          <a:noFill/>
        </p:spPr>
        <p:txBody>
          <a:bodyPr wrap="square">
            <a:spAutoFit/>
          </a:bodyPr>
          <a:lstStyle/>
          <a:p>
            <a:pPr algn="l"/>
            <a:r>
              <a:rPr sz="700" b="0" i="0">
                <a:solidFill>
                  <a:srgbClr val="888888"/>
                </a:solidFill>
                <a:latin typeface="Calibri"/>
              </a:rPr>
              <a:t>Beta 2,33  ·  RFR 4,3 %</a:t>
            </a:r>
          </a:p>
        </p:txBody>
      </p:sp>
      <p:sp>
        <p:nvSpPr>
          <p:cNvPr id="55" name="Rectangle 54"/>
          <p:cNvSpPr/>
          <p:nvPr/>
        </p:nvSpPr>
        <p:spPr>
          <a:xfrm>
            <a:off x="46080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3978000"/>
            <a:ext cx="1893600" cy="396000"/>
          </a:xfrm>
          <a:prstGeom prst="rect">
            <a:avLst/>
          </a:prstGeom>
          <a:noFill/>
        </p:spPr>
        <p:txBody>
          <a:bodyPr wrap="square">
            <a:spAutoFit/>
          </a:bodyPr>
          <a:lstStyle/>
          <a:p>
            <a:pPr algn="l"/>
            <a:r>
              <a:rPr sz="1900" b="1" i="0">
                <a:solidFill>
                  <a:srgbClr val="1B3A6B"/>
                </a:solidFill>
                <a:latin typeface="Calibri"/>
              </a:rPr>
              <a:t>245 $</a:t>
            </a:r>
          </a:p>
        </p:txBody>
      </p:sp>
      <p:sp>
        <p:nvSpPr>
          <p:cNvPr id="58" name="TextBox 57"/>
          <p:cNvSpPr txBox="1"/>
          <p:nvPr/>
        </p:nvSpPr>
        <p:spPr>
          <a:xfrm>
            <a:off x="4698000" y="43740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572000"/>
            <a:ext cx="1893600" cy="165600"/>
          </a:xfrm>
          <a:prstGeom prst="rect">
            <a:avLst/>
          </a:prstGeom>
          <a:noFill/>
        </p:spPr>
        <p:txBody>
          <a:bodyPr wrap="square">
            <a:spAutoFit/>
          </a:bodyPr>
          <a:lstStyle/>
          <a:p>
            <a:pPr algn="l"/>
            <a:r>
              <a:rPr sz="700" b="0" i="0">
                <a:solidFill>
                  <a:srgbClr val="888888"/>
                </a:solidFill>
                <a:latin typeface="Calibri"/>
              </a:rPr>
              <a:t>Upside +26,0 % vs cours</a:t>
            </a:r>
          </a:p>
        </p:txBody>
      </p:sp>
      <p:sp>
        <p:nvSpPr>
          <p:cNvPr id="60" name="Rectangle 59"/>
          <p:cNvSpPr/>
          <p:nvPr/>
        </p:nvSpPr>
        <p:spPr>
          <a:xfrm>
            <a:off x="67284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3978000"/>
            <a:ext cx="1893600" cy="396000"/>
          </a:xfrm>
          <a:prstGeom prst="rect">
            <a:avLst/>
          </a:prstGeom>
          <a:noFill/>
        </p:spPr>
        <p:txBody>
          <a:bodyPr wrap="square">
            <a:spAutoFit/>
          </a:bodyPr>
          <a:lstStyle/>
          <a:p>
            <a:pPr algn="l"/>
            <a:r>
              <a:rPr sz="1900" b="1" i="0">
                <a:solidFill>
                  <a:srgbClr val="1B3A6B"/>
                </a:solidFill>
                <a:latin typeface="Calibri"/>
              </a:rPr>
              <a:t>+0,230</a:t>
            </a:r>
          </a:p>
        </p:txBody>
      </p:sp>
      <p:sp>
        <p:nvSpPr>
          <p:cNvPr id="63" name="TextBox 62"/>
          <p:cNvSpPr txBox="1"/>
          <p:nvPr/>
        </p:nvSpPr>
        <p:spPr>
          <a:xfrm>
            <a:off x="6818400" y="43740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5720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NVIDIA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AMD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NVIDIA Corporation est un leader mondial des processeurs graphiques (GPU) et des solutions d'intelligence artificielle (IA). Positionnée sur les segments Data Center, Gaming et Automotive, l'entreprise bénéficie d'un écosystème logiciel propriétaire (CUDA) et d'une avance technologique inégalée. Ses avantages concurrentiels incluent des marges brutes supérieures à 75%, une domination de 80% du marché des GPU pour centres de données et une fidélisation client via des solutions intégrées.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Data Center</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80% des revenus, avec des GPU H100/H200 pour l'IA générative et le calcul haute performance. Clients cibles : hyperscalers (AWS, Google, Microsoft) et entreprises (Meta, Tesla). Moteurs de croissance : demande en IA, cloud computing et migration vers des architectures accélérées.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Gaming</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historique avec GPU GeForce pour PC gaming et consoles. Modèle de revenus basé sur des cycles de renouvellement hardware et des abonnements logiciels (GeForce NOW). Clients : gamers et créateurs de contenu. Croissance soutenue par l'essor du cloud gaming et des technologies ray tracing.</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4 726,6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130,5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194,51 $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54,9x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64,8x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Data Center</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80% des revenus, avec des GPU H100/H200 pour l'IA générative et le calcul haute performance. Clients cibles : hyperscalers (AWS, Google, Microsoft) et entreprises (Meta, Tesla). Moteurs de croissance : demande en IA, cloud computing et migration vers des architectures accélérées.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Gaming</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historique avec GPU GeForce pour PC gaming et consoles. Modèle de revenus basé sur des cycles de renouvellement hardware et des abonnements logiciels (GeForce NOW). Clients : gamers et créateurs de contenu. Croissance soutenue par l'essor du cloud gaming et des technologies ray tracing.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2023–2027F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27,0</a:t>
                      </a:r>
                    </a:p>
                  </a:txBody>
                  <a:tcPr>
                    <a:solidFill>
                      <a:srgbClr val="FFFFFF"/>
                    </a:solidFill>
                  </a:tcPr>
                </a:tc>
                <a:tc>
                  <a:txBody>
                    <a:bodyPr/>
                    <a:lstStyle/>
                    <a:p>
                      <a:pPr algn="ctr"/>
                      <a:r>
                        <a:rPr sz="800" b="1" i="0">
                          <a:solidFill>
                            <a:srgbClr val="0D0D0D"/>
                          </a:solidFill>
                          <a:latin typeface="Calibri"/>
                        </a:rPr>
                        <a:t>60,9</a:t>
                      </a:r>
                    </a:p>
                  </a:txBody>
                  <a:tcPr>
                    <a:solidFill>
                      <a:srgbClr val="FFFFFF"/>
                    </a:solidFill>
                  </a:tcPr>
                </a:tc>
                <a:tc>
                  <a:txBody>
                    <a:bodyPr/>
                    <a:lstStyle/>
                    <a:p>
                      <a:pPr algn="ctr"/>
                      <a:r>
                        <a:rPr sz="800" b="1" i="0">
                          <a:solidFill>
                            <a:srgbClr val="1B3A6B"/>
                          </a:solidFill>
                          <a:latin typeface="Calibri"/>
                        </a:rPr>
                        <a:t>130,5</a:t>
                      </a:r>
                    </a:p>
                  </a:txBody>
                  <a:tcPr>
                    <a:solidFill>
                      <a:srgbClr val="DDE8F5"/>
                    </a:solidFill>
                  </a:tcPr>
                </a:tc>
                <a:tc>
                  <a:txBody>
                    <a:bodyPr/>
                    <a:lstStyle/>
                    <a:p>
                      <a:pPr algn="ctr"/>
                      <a:r>
                        <a:rPr sz="800" b="1" i="0">
                          <a:solidFill>
                            <a:srgbClr val="0D0D0D"/>
                          </a:solidFill>
                          <a:latin typeface="Calibri"/>
                        </a:rPr>
                        <a:t>200,0</a:t>
                      </a:r>
                    </a:p>
                  </a:txBody>
                  <a:tcPr>
                    <a:solidFill>
                      <a:srgbClr val="FFFFFF"/>
                    </a:solidFill>
                  </a:tcPr>
                </a:tc>
                <a:tc>
                  <a:txBody>
                    <a:bodyPr/>
                    <a:lstStyle/>
                    <a:p>
                      <a:pPr algn="ctr"/>
                      <a:r>
                        <a:rPr sz="800" b="1" i="0">
                          <a:solidFill>
                            <a:srgbClr val="0D0D0D"/>
                          </a:solidFill>
                          <a:latin typeface="Calibri"/>
                        </a:rPr>
                        <a:t>280,0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a:t>
                      </a:r>
                    </a:p>
                  </a:txBody>
                  <a:tcPr>
                    <a:solidFill>
                      <a:srgbClr val="F7F8FA"/>
                    </a:solidFill>
                  </a:tcPr>
                </a:tc>
                <a:tc>
                  <a:txBody>
                    <a:bodyPr/>
                    <a:lstStyle/>
                    <a:p>
                      <a:pPr algn="ctr"/>
                      <a:r>
                        <a:rPr sz="750" b="0" i="1">
                          <a:solidFill>
                            <a:srgbClr val="333333"/>
                          </a:solidFill>
                          <a:latin typeface="Calibri"/>
                        </a:rPr>
                        <a:t>+125,8 %</a:t>
                      </a:r>
                    </a:p>
                  </a:txBody>
                  <a:tcPr>
                    <a:solidFill>
                      <a:srgbClr val="F7F8FA"/>
                    </a:solidFill>
                  </a:tcPr>
                </a:tc>
                <a:tc>
                  <a:txBody>
                    <a:bodyPr/>
                    <a:lstStyle/>
                    <a:p>
                      <a:pPr algn="ctr"/>
                      <a:r>
                        <a:rPr sz="750" b="0" i="1">
                          <a:solidFill>
                            <a:srgbClr val="333333"/>
                          </a:solidFill>
                          <a:latin typeface="Calibri"/>
                        </a:rPr>
                        <a:t>+114,2 %</a:t>
                      </a:r>
                    </a:p>
                  </a:txBody>
                  <a:tcPr>
                    <a:solidFill>
                      <a:srgbClr val="DDE8F5"/>
                    </a:solidFill>
                  </a:tcPr>
                </a:tc>
                <a:tc>
                  <a:txBody>
                    <a:bodyPr/>
                    <a:lstStyle/>
                    <a:p>
                      <a:pPr algn="ctr"/>
                      <a:r>
                        <a:rPr sz="750" b="0" i="1">
                          <a:solidFill>
                            <a:srgbClr val="333333"/>
                          </a:solidFill>
                          <a:latin typeface="Calibri"/>
                        </a:rPr>
                        <a:t>+53,3 %</a:t>
                      </a:r>
                    </a:p>
                  </a:txBody>
                  <a:tcPr>
                    <a:solidFill>
                      <a:srgbClr val="F7F8FA"/>
                    </a:solidFill>
                  </a:tcPr>
                </a:tc>
                <a:tc>
                  <a:txBody>
                    <a:bodyPr/>
                    <a:lstStyle/>
                    <a:p>
                      <a:pPr algn="ctr"/>
                      <a:r>
                        <a:rPr sz="750" b="0" i="1">
                          <a:solidFill>
                            <a:srgbClr val="333333"/>
                          </a:solidFill>
                          <a:latin typeface="Calibri"/>
                        </a:rPr>
                        <a:t>+40,0 %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15,4</a:t>
                      </a:r>
                    </a:p>
                  </a:txBody>
                  <a:tcPr>
                    <a:solidFill>
                      <a:srgbClr val="FFFFFF"/>
                    </a:solidFill>
                  </a:tcPr>
                </a:tc>
                <a:tc>
                  <a:txBody>
                    <a:bodyPr/>
                    <a:lstStyle/>
                    <a:p>
                      <a:pPr algn="ctr"/>
                      <a:r>
                        <a:rPr sz="800" b="1" i="0">
                          <a:solidFill>
                            <a:srgbClr val="0D0D0D"/>
                          </a:solidFill>
                          <a:latin typeface="Calibri"/>
                        </a:rPr>
                        <a:t>44,3</a:t>
                      </a:r>
                    </a:p>
                  </a:txBody>
                  <a:tcPr>
                    <a:solidFill>
                      <a:srgbClr val="FFFFFF"/>
                    </a:solidFill>
                  </a:tcPr>
                </a:tc>
                <a:tc>
                  <a:txBody>
                    <a:bodyPr/>
                    <a:lstStyle/>
                    <a:p>
                      <a:pPr algn="ctr"/>
                      <a:r>
                        <a:rPr sz="800" b="1" i="0">
                          <a:solidFill>
                            <a:srgbClr val="1B3A6B"/>
                          </a:solidFill>
                          <a:latin typeface="Calibri"/>
                        </a:rPr>
                        <a:t>97,9</a:t>
                      </a:r>
                    </a:p>
                  </a:txBody>
                  <a:tcPr>
                    <a:solidFill>
                      <a:srgbClr val="DDE8F5"/>
                    </a:solidFill>
                  </a:tcPr>
                </a:tc>
                <a:tc>
                  <a:txBody>
                    <a:bodyPr/>
                    <a:lstStyle/>
                    <a:p>
                      <a:pPr algn="ctr"/>
                      <a:r>
                        <a:rPr sz="800" b="1" i="0">
                          <a:solidFill>
                            <a:srgbClr val="0D0D0D"/>
                          </a:solidFill>
                          <a:latin typeface="Calibri"/>
                        </a:rPr>
                        <a:t>152,0</a:t>
                      </a:r>
                    </a:p>
                  </a:txBody>
                  <a:tcPr>
                    <a:solidFill>
                      <a:srgbClr val="FFFFFF"/>
                    </a:solidFill>
                  </a:tcPr>
                </a:tc>
                <a:tc>
                  <a:txBody>
                    <a:bodyPr/>
                    <a:lstStyle/>
                    <a:p>
                      <a:pPr algn="ctr"/>
                      <a:r>
                        <a:rPr sz="800" b="1" i="0">
                          <a:solidFill>
                            <a:srgbClr val="0D0D0D"/>
                          </a:solidFill>
                          <a:latin typeface="Calibri"/>
                        </a:rPr>
                        <a:t>215,6</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56,9 %</a:t>
                      </a:r>
                    </a:p>
                  </a:txBody>
                  <a:tcPr>
                    <a:solidFill>
                      <a:srgbClr val="F7F8FA"/>
                    </a:solidFill>
                  </a:tcPr>
                </a:tc>
                <a:tc>
                  <a:txBody>
                    <a:bodyPr/>
                    <a:lstStyle/>
                    <a:p>
                      <a:pPr algn="ctr"/>
                      <a:r>
                        <a:rPr sz="750" b="0" i="1">
                          <a:solidFill>
                            <a:srgbClr val="333333"/>
                          </a:solidFill>
                          <a:latin typeface="Calibri"/>
                        </a:rPr>
                        <a:t>72,7 %</a:t>
                      </a:r>
                    </a:p>
                  </a:txBody>
                  <a:tcPr>
                    <a:solidFill>
                      <a:srgbClr val="F7F8FA"/>
                    </a:solidFill>
                  </a:tcPr>
                </a:tc>
                <a:tc>
                  <a:txBody>
                    <a:bodyPr/>
                    <a:lstStyle/>
                    <a:p>
                      <a:pPr algn="ctr"/>
                      <a:r>
                        <a:rPr sz="750" b="0" i="1">
                          <a:solidFill>
                            <a:srgbClr val="333333"/>
                          </a:solidFill>
                          <a:latin typeface="Calibri"/>
                        </a:rPr>
                        <a:t>75,0 %</a:t>
                      </a:r>
                    </a:p>
                  </a:txBody>
                  <a:tcPr>
                    <a:solidFill>
                      <a:srgbClr val="DDE8F5"/>
                    </a:solidFill>
                  </a:tcPr>
                </a:tc>
                <a:tc>
                  <a:txBody>
                    <a:bodyPr/>
                    <a:lstStyle/>
                    <a:p>
                      <a:pPr algn="ctr"/>
                      <a:r>
                        <a:rPr sz="750" b="0" i="1">
                          <a:solidFill>
                            <a:srgbClr val="333333"/>
                          </a:solidFill>
                          <a:latin typeface="Calibri"/>
                        </a:rPr>
                        <a:t>76,0 %</a:t>
                      </a:r>
                    </a:p>
                  </a:txBody>
                  <a:tcPr>
                    <a:solidFill>
                      <a:srgbClr val="F7F8FA"/>
                    </a:solidFill>
                  </a:tcPr>
                </a:tc>
                <a:tc>
                  <a:txBody>
                    <a:bodyPr/>
                    <a:lstStyle/>
                    <a:p>
                      <a:pPr algn="ctr"/>
                      <a:r>
                        <a:rPr sz="750" b="0" i="1">
                          <a:solidFill>
                            <a:srgbClr val="333333"/>
                          </a:solidFill>
                          <a:latin typeface="Calibri"/>
                        </a:rPr>
                        <a:t>77,0 %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6,0</a:t>
                      </a:r>
                    </a:p>
                  </a:txBody>
                  <a:tcPr>
                    <a:solidFill>
                      <a:srgbClr val="FFFFFF"/>
                    </a:solidFill>
                  </a:tcPr>
                </a:tc>
                <a:tc>
                  <a:txBody>
                    <a:bodyPr/>
                    <a:lstStyle/>
                    <a:p>
                      <a:pPr algn="ctr"/>
                      <a:r>
                        <a:rPr sz="800" b="1" i="0">
                          <a:solidFill>
                            <a:srgbClr val="0D0D0D"/>
                          </a:solidFill>
                          <a:latin typeface="Calibri"/>
                        </a:rPr>
                        <a:t>35,6</a:t>
                      </a:r>
                    </a:p>
                  </a:txBody>
                  <a:tcPr>
                    <a:solidFill>
                      <a:srgbClr val="FFFFFF"/>
                    </a:solidFill>
                  </a:tcPr>
                </a:tc>
                <a:tc>
                  <a:txBody>
                    <a:bodyPr/>
                    <a:lstStyle/>
                    <a:p>
                      <a:pPr algn="ctr"/>
                      <a:r>
                        <a:rPr sz="800" b="1" i="0">
                          <a:solidFill>
                            <a:srgbClr val="1B3A6B"/>
                          </a:solidFill>
                          <a:latin typeface="Calibri"/>
                        </a:rPr>
                        <a:t>86,1</a:t>
                      </a:r>
                    </a:p>
                  </a:txBody>
                  <a:tcPr>
                    <a:solidFill>
                      <a:srgbClr val="DDE8F5"/>
                    </a:solidFill>
                  </a:tcPr>
                </a:tc>
                <a:tc>
                  <a:txBody>
                    <a:bodyPr/>
                    <a:lstStyle/>
                    <a:p>
                      <a:pPr algn="ctr"/>
                      <a:r>
                        <a:rPr sz="800" b="1" i="0">
                          <a:solidFill>
                            <a:srgbClr val="0D0D0D"/>
                          </a:solidFill>
                          <a:latin typeface="Calibri"/>
                        </a:rPr>
                        <a:t>152,0</a:t>
                      </a:r>
                    </a:p>
                  </a:txBody>
                  <a:tcPr>
                    <a:solidFill>
                      <a:srgbClr val="FFFFFF"/>
                    </a:solidFill>
                  </a:tcPr>
                </a:tc>
                <a:tc>
                  <a:txBody>
                    <a:bodyPr/>
                    <a:lstStyle/>
                    <a:p>
                      <a:pPr algn="ctr"/>
                      <a:r>
                        <a:rPr sz="800" b="1" i="0">
                          <a:solidFill>
                            <a:srgbClr val="0D0D0D"/>
                          </a:solidFill>
                          <a:latin typeface="Calibri"/>
                        </a:rPr>
                        <a:t>215,6</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22,2 %</a:t>
                      </a:r>
                    </a:p>
                  </a:txBody>
                  <a:tcPr>
                    <a:solidFill>
                      <a:srgbClr val="F7F8FA"/>
                    </a:solidFill>
                  </a:tcPr>
                </a:tc>
                <a:tc>
                  <a:txBody>
                    <a:bodyPr/>
                    <a:lstStyle/>
                    <a:p>
                      <a:pPr algn="ctr"/>
                      <a:r>
                        <a:rPr sz="750" b="0" i="1">
                          <a:solidFill>
                            <a:srgbClr val="333333"/>
                          </a:solidFill>
                          <a:latin typeface="Calibri"/>
                        </a:rPr>
                        <a:t>58,4 %</a:t>
                      </a:r>
                    </a:p>
                  </a:txBody>
                  <a:tcPr>
                    <a:solidFill>
                      <a:srgbClr val="F7F8FA"/>
                    </a:solidFill>
                  </a:tcPr>
                </a:tc>
                <a:tc>
                  <a:txBody>
                    <a:bodyPr/>
                    <a:lstStyle/>
                    <a:p>
                      <a:pPr algn="ctr"/>
                      <a:r>
                        <a:rPr sz="750" b="0" i="1">
                          <a:solidFill>
                            <a:srgbClr val="333333"/>
                          </a:solidFill>
                          <a:latin typeface="Calibri"/>
                        </a:rPr>
                        <a:t>66,0 %</a:t>
                      </a:r>
                    </a:p>
                  </a:txBody>
                  <a:tcPr>
                    <a:solidFill>
                      <a:srgbClr val="DDE8F5"/>
                    </a:solidFill>
                  </a:tcPr>
                </a:tc>
                <a:tc>
                  <a:txBody>
                    <a:bodyPr/>
                    <a:lstStyle/>
                    <a:p>
                      <a:pPr algn="ctr"/>
                      <a:r>
                        <a:rPr sz="750" b="0" i="1">
                          <a:solidFill>
                            <a:srgbClr val="333333"/>
                          </a:solidFill>
                          <a:latin typeface="Calibri"/>
                        </a:rPr>
                        <a:t>76,0 %</a:t>
                      </a:r>
                    </a:p>
                  </a:txBody>
                  <a:tcPr>
                    <a:solidFill>
                      <a:srgbClr val="F7F8FA"/>
                    </a:solidFill>
                  </a:tcPr>
                </a:tc>
                <a:tc>
                  <a:txBody>
                    <a:bodyPr/>
                    <a:lstStyle/>
                    <a:p>
                      <a:pPr algn="ctr"/>
                      <a:r>
                        <a:rPr sz="750" b="0" i="1">
                          <a:solidFill>
                            <a:srgbClr val="333333"/>
                          </a:solidFill>
                          <a:latin typeface="Calibri"/>
                        </a:rPr>
                        <a:t>77,0 %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4,4</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1B3A6B"/>
                          </a:solidFill>
                          <a:latin typeface="Calibri"/>
                        </a:rPr>
                        <a:t>72,9</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179,2</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16,2 %</a:t>
                      </a:r>
                    </a:p>
                  </a:txBody>
                  <a:tcPr>
                    <a:solidFill>
                      <a:srgbClr val="F7F8FA"/>
                    </a:solidFill>
                  </a:tcPr>
                </a:tc>
                <a:tc>
                  <a:txBody>
                    <a:bodyPr/>
                    <a:lstStyle/>
                    <a:p>
                      <a:pPr algn="ctr"/>
                      <a:r>
                        <a:rPr sz="750" b="0" i="1">
                          <a:solidFill>
                            <a:srgbClr val="333333"/>
                          </a:solidFill>
                          <a:latin typeface="Calibri"/>
                        </a:rPr>
                        <a:t>48,9 %</a:t>
                      </a:r>
                    </a:p>
                  </a:txBody>
                  <a:tcPr>
                    <a:solidFill>
                      <a:srgbClr val="F7F8FA"/>
                    </a:solidFill>
                  </a:tcPr>
                </a:tc>
                <a:tc>
                  <a:txBody>
                    <a:bodyPr/>
                    <a:lstStyle/>
                    <a:p>
                      <a:pPr algn="ctr"/>
                      <a:r>
                        <a:rPr sz="750" b="0" i="1">
                          <a:solidFill>
                            <a:srgbClr val="333333"/>
                          </a:solidFill>
                          <a:latin typeface="Calibri"/>
                        </a:rPr>
                        <a:t>55,9 %</a:t>
                      </a:r>
                    </a:p>
                  </a:txBody>
                  <a:tcPr>
                    <a:solidFill>
                      <a:srgbClr val="DDE8F5"/>
                    </a:solidFill>
                  </a:tcPr>
                </a:tc>
                <a:tc>
                  <a:txBody>
                    <a:bodyPr/>
                    <a:lstStyle/>
                    <a:p>
                      <a:pPr algn="ctr"/>
                      <a:r>
                        <a:rPr sz="750" b="0" i="1">
                          <a:solidFill>
                            <a:srgbClr val="333333"/>
                          </a:solidFill>
                          <a:latin typeface="Calibri"/>
                        </a:rPr>
                        <a:t>60,0 %</a:t>
                      </a:r>
                    </a:p>
                  </a:txBody>
                  <a:tcPr>
                    <a:solidFill>
                      <a:srgbClr val="F7F8FA"/>
                    </a:solidFill>
                  </a:tcPr>
                </a:tc>
                <a:tc>
                  <a:txBody>
                    <a:bodyPr/>
                    <a:lstStyle/>
                    <a:p>
                      <a:pPr algn="ctr"/>
                      <a:r>
                        <a:rPr sz="750" b="0" i="1">
                          <a:solidFill>
                            <a:srgbClr val="333333"/>
                          </a:solidFill>
                          <a:latin typeface="Calibri"/>
                        </a:rPr>
                        <a:t>64,0 %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NVDA combine forte croissance (+114.2%) et marges premium (66.0%)</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Le chiffre d'affaires 2025 atteint 130,5 Md$ (+114% YoY), porté par la demande en GPU pour l'IA générative. Les marges brutes de 75% bénéficient d'un mix produit favorable (H100/H200 à haute marge) et d'économies d'échelle. Le bilan est solide avec un ND/EBITDA de -0,0x, permettant des rachats d'actions ou des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8,6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8,5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-126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5,63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4,38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341,2x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11,84</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-0,78</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3870000"/>
            <a:ext cx="84132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3870000"/>
            <a:ext cx="79200" cy="9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3898800"/>
            <a:ext cx="8298000" cy="151200"/>
          </a:xfrm>
          <a:prstGeom prst="rect">
            <a:avLst/>
          </a:prstGeom>
          <a:noFill/>
        </p:spPr>
        <p:txBody>
          <a:bodyPr wrap="none">
            <a:spAutoFit/>
          </a:bodyPr>
          <a:lstStyle/>
          <a:p>
            <a:pPr algn="l"/>
            <a:r>
              <a:rPr sz="950" b="1" i="0">
                <a:solidFill>
                  <a:srgbClr val="1B3A6B"/>
                </a:solidFill>
                <a:latin typeface="Calibri"/>
              </a:rPr>
              <a:t>NVDA en cash net positif — bilan robuste, capacité d'investissement intacte</a:t>
            </a:r>
          </a:p>
        </p:txBody>
      </p:sp>
      <p:sp>
        <p:nvSpPr>
          <p:cNvPr id="34" name="TextBox 33"/>
          <p:cNvSpPr txBox="1"/>
          <p:nvPr/>
        </p:nvSpPr>
        <p:spPr>
          <a:xfrm>
            <a:off x="475200" y="4068000"/>
            <a:ext cx="8298000" cy="712800"/>
          </a:xfrm>
          <a:prstGeom prst="rect">
            <a:avLst/>
          </a:prstGeom>
          <a:noFill/>
        </p:spPr>
        <p:txBody>
          <a:bodyPr wrap="square">
            <a:spAutoFit/>
          </a:bodyPr>
          <a:lstStyle/>
          <a:p>
            <a:pPr algn="l"/>
            <a:r>
              <a:rPr sz="850" b="0" i="0">
                <a:solidFill>
                  <a:srgbClr val="555555"/>
                </a:solidFill>
                <a:latin typeface="Calibri"/>
              </a:rPr>
              <a:t>Position de cash net positif (-0.00x EBITDA), conférant une flexibilité financière maximale. Current ratio à 5.63x, mesure de la couverture des passifs courants par les actifs courants. Couverture des intérêts solide (341.2x EBIT), capacité de service de la dette robuste.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54,9x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-0,78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Risque manip.</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151200"/>
          </a:xfrm>
          <a:prstGeom prst="rect">
            <a:avLst/>
          </a:prstGeom>
          <a:noFill/>
        </p:spPr>
        <p:txBody>
          <a:bodyPr wrap="none">
            <a:spAutoFit/>
          </a:bodyPr>
          <a:lstStyle/>
          <a:p>
            <a:pPr algn="l"/>
            <a:r>
              <a:rPr sz="950" b="1" i="0">
                <a:solidFill>
                  <a:srgbClr val="1B3A6B"/>
                </a:solidFill>
                <a:latin typeface="Calibri"/>
              </a:rPr>
              <a:t>NVDA génère ROE 92% / ROIC 94% — création de valeur premium</a:t>
            </a:r>
          </a:p>
        </p:txBody>
      </p:sp>
      <p:sp>
        <p:nvSpPr>
          <p:cNvPr id="21" name="TextBox 20"/>
          <p:cNvSpPr txBox="1"/>
          <p:nvPr/>
        </p:nvSpPr>
        <p:spPr>
          <a:xfrm>
            <a:off x="475200" y="3826800"/>
            <a:ext cx="8298000" cy="601200"/>
          </a:xfrm>
          <a:prstGeom prst="rect">
            <a:avLst/>
          </a:prstGeom>
          <a:noFill/>
        </p:spPr>
        <p:txBody>
          <a:bodyPr wrap="square">
            <a:spAutoFit/>
          </a:bodyPr>
          <a:lstStyle/>
          <a:p>
            <a:pPr algn="l"/>
            <a:r>
              <a:rPr sz="850" b="0" i="0">
                <a:solidFill>
                  <a:srgbClr val="555555"/>
                </a:solidFill>
                <a:latin typeface="Calibri"/>
              </a:rPr>
              <a:t>Les marges brutes sont passées de 56,9% en 2023 à 75,0% en 2025, grâce à l'effet volume (+114% de croissance) et à la domination du segment Data Center (80% des revenus). La trajectoire est durable tant que la demande en IA reste forte, avec un risque de mean-reversion limité par le pricing power de NVIDIA.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194,51 $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180 $</a:t>
                      </a:r>
                    </a:p>
                  </a:txBody>
                  <a:tcPr>
                    <a:solidFill>
                      <a:srgbClr val="FAF0EF"/>
                    </a:solidFill>
                  </a:tcPr>
                </a:tc>
                <a:tc>
                  <a:txBody>
                    <a:bodyPr/>
                    <a:lstStyle/>
                    <a:p>
                      <a:pPr algn="ctr"/>
                      <a:r>
                        <a:rPr sz="2000" b="1" i="0">
                          <a:solidFill>
                            <a:srgbClr val="2E5FA3"/>
                          </a:solidFill>
                          <a:latin typeface="Calibri"/>
                        </a:rPr>
                        <a:t>245 $</a:t>
                      </a:r>
                    </a:p>
                  </a:txBody>
                  <a:tcPr>
                    <a:solidFill>
                      <a:srgbClr val="EEF3FA"/>
                    </a:solidFill>
                  </a:tcPr>
                </a:tc>
                <a:tc>
                  <a:txBody>
                    <a:bodyPr/>
                    <a:lstStyle/>
                    <a:p>
                      <a:pPr algn="ctr"/>
                      <a:r>
                        <a:rPr sz="2000" b="1" i="0">
                          <a:solidFill>
                            <a:srgbClr val="1A7A4A"/>
                          </a:solidFill>
                          <a:latin typeface="Calibri"/>
                        </a:rPr>
                        <a:t>280 $</a:t>
                      </a:r>
                    </a:p>
                  </a:txBody>
                  <a:tcPr>
                    <a:solidFill>
                      <a:srgbClr val="EAF4EF"/>
                    </a:solidFill>
                  </a:tcPr>
                </a:tc>
              </a:tr>
              <a:tr h="342900">
                <a:tc>
                  <a:txBody>
                    <a:bodyPr/>
                    <a:lstStyle/>
                    <a:p>
                      <a:pPr algn="ctr"/>
                      <a:r>
                        <a:rPr sz="1200" b="1" i="0">
                          <a:solidFill>
                            <a:srgbClr val="A82020"/>
                          </a:solidFill>
                          <a:latin typeface="Calibri"/>
                        </a:rPr>
                        <a:t>-7,5 %</a:t>
                      </a:r>
                    </a:p>
                  </a:txBody>
                  <a:tcPr>
                    <a:solidFill>
                      <a:srgbClr val="FAF0EF"/>
                    </a:solidFill>
                  </a:tcPr>
                </a:tc>
                <a:tc>
                  <a:txBody>
                    <a:bodyPr/>
                    <a:lstStyle/>
                    <a:p>
                      <a:pPr algn="ctr"/>
                      <a:r>
                        <a:rPr sz="1200" b="1" i="0">
                          <a:solidFill>
                            <a:srgbClr val="2E5FA3"/>
                          </a:solidFill>
                          <a:latin typeface="Calibri"/>
                        </a:rPr>
                        <a:t>+26,0 %</a:t>
                      </a:r>
                    </a:p>
                  </a:txBody>
                  <a:tcPr>
                    <a:solidFill>
                      <a:srgbClr val="EEF3FA"/>
                    </a:solidFill>
                  </a:tcPr>
                </a:tc>
                <a:tc>
                  <a:txBody>
                    <a:bodyPr/>
                    <a:lstStyle/>
                    <a:p>
                      <a:pPr algn="ctr"/>
                      <a:r>
                        <a:rPr sz="1200" b="1" i="0">
                          <a:solidFill>
                            <a:srgbClr val="1A7A4A"/>
                          </a:solidFill>
                          <a:latin typeface="Calibri"/>
                        </a:rPr>
                        <a:t>+44,0 %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a:t>
            </a:r>
          </a:p>
        </p:txBody>
      </p:sp>
      <p:sp>
        <p:nvSpPr>
          <p:cNvPr id="19" name="TextBox 18"/>
          <p:cNvSpPr txBox="1"/>
          <p:nvPr/>
        </p:nvSpPr>
        <p:spPr>
          <a:xfrm>
            <a:off x="367200" y="2700000"/>
            <a:ext cx="4024800" cy="1007999"/>
          </a:xfrm>
          <a:prstGeom prst="rect">
            <a:avLst/>
          </a:prstGeom>
          <a:noFill/>
        </p:spPr>
        <p:txBody>
          <a:bodyPr wrap="square">
            <a:spAutoFit/>
          </a:bodyPr>
          <a:lstStyle/>
          <a:p>
            <a:pPr algn="l"/>
            <a:r>
              <a:rPr sz="900" b="0" i="0">
                <a:solidFill>
                  <a:srgbClr val="888888"/>
                </a:solidFill>
                <a:latin typeface="Calibri"/>
              </a:rPr>
              <a:t>Simulations GBM non disponibles
pour ce ticker.</a:t>
            </a:r>
          </a:p>
        </p:txBody>
      </p:sp>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17,1%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245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4031999"/>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4031999"/>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DCF base implique upside de +26% — valorisation attractive</a:t>
            </a:r>
          </a:p>
        </p:txBody>
      </p:sp>
      <p:sp>
        <p:nvSpPr>
          <p:cNvPr id="25" name="TextBox 24"/>
          <p:cNvSpPr txBox="1"/>
          <p:nvPr/>
        </p:nvSpPr>
        <p:spPr>
          <a:xfrm>
            <a:off x="475200" y="4230000"/>
            <a:ext cx="8298000" cy="324000"/>
          </a:xfrm>
          <a:prstGeom prst="rect">
            <a:avLst/>
          </a:prstGeom>
          <a:noFill/>
        </p:spPr>
        <p:txBody>
          <a:bodyPr wrap="square">
            <a:spAutoFit/>
          </a:bodyPr>
          <a:lstStyle/>
          <a:p>
            <a:pPr algn="l"/>
            <a:r>
              <a:rPr sz="850" b="0" i="0">
                <a:solidFill>
                  <a:srgbClr val="555555"/>
                </a:solidFill>
                <a:latin typeface="Calibri"/>
              </a:rPr>
              <a:t>Avec un WACC de 17,1% et un TGR de 3,0%, le prix implicite DCF est de 245 USD (base), soit un upside de 26% vs le cours actuel. Cette valorisation suggère une sous-évaluation structurelle, mais la prime de croissance est déjà partiellement intégrée. Une accélération des revenus Data Center au-delà des attentes débloquerait la valeur.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NVIDIA Corporation</a:t>
                      </a:r>
                    </a:p>
                  </a:txBody>
                  <a:tcPr>
                    <a:solidFill>
                      <a:srgbClr val="DDE8F5"/>
                    </a:solidFill>
                  </a:tcPr>
                </a:tc>
                <a:tc>
                  <a:txBody>
                    <a:bodyPr/>
                    <a:lstStyle/>
                    <a:p>
                      <a:pPr algn="ctr"/>
                      <a:r>
                        <a:rPr sz="750" b="1" i="0">
                          <a:solidFill>
                            <a:srgbClr val="2E5FA3"/>
                          </a:solidFill>
                          <a:latin typeface="Calibri"/>
                        </a:rPr>
                        <a:t>NVDA</a:t>
                      </a:r>
                    </a:p>
                  </a:txBody>
                  <a:tcPr>
                    <a:solidFill>
                      <a:srgbClr val="DDE8F5"/>
                    </a:solidFill>
                  </a:tcPr>
                </a:tc>
                <a:tc>
                  <a:txBody>
                    <a:bodyPr/>
                    <a:lstStyle/>
                    <a:p>
                      <a:pPr algn="ctr"/>
                      <a:r>
                        <a:rPr sz="800" b="1" i="0">
                          <a:solidFill>
                            <a:srgbClr val="1B3A6B"/>
                          </a:solidFill>
                          <a:latin typeface="Calibri"/>
                        </a:rPr>
                        <a:t>4 726,6</a:t>
                      </a:r>
                    </a:p>
                  </a:txBody>
                  <a:tcPr>
                    <a:solidFill>
                      <a:srgbClr val="DDE8F5"/>
                    </a:solidFill>
                  </a:tcPr>
                </a:tc>
                <a:tc>
                  <a:txBody>
                    <a:bodyPr/>
                    <a:lstStyle/>
                    <a:p>
                      <a:pPr algn="ctr"/>
                      <a:r>
                        <a:rPr sz="800" b="1" i="0">
                          <a:solidFill>
                            <a:srgbClr val="1B3A6B"/>
                          </a:solidFill>
                          <a:latin typeface="Calibri"/>
                        </a:rPr>
                        <a:t>54,9x</a:t>
                      </a:r>
                    </a:p>
                  </a:txBody>
                  <a:tcPr>
                    <a:solidFill>
                      <a:srgbClr val="DDE8F5"/>
                    </a:solidFill>
                  </a:tcPr>
                </a:tc>
                <a:tc>
                  <a:txBody>
                    <a:bodyPr/>
                    <a:lstStyle/>
                    <a:p>
                      <a:pPr algn="ctr"/>
                      <a:r>
                        <a:rPr sz="800" b="1" i="0">
                          <a:solidFill>
                            <a:srgbClr val="1B3A6B"/>
                          </a:solidFill>
                          <a:latin typeface="Calibri"/>
                        </a:rPr>
                        <a:t>36,2x</a:t>
                      </a:r>
                    </a:p>
                  </a:txBody>
                  <a:tcPr>
                    <a:solidFill>
                      <a:srgbClr val="DDE8F5"/>
                    </a:solidFill>
                  </a:tcPr>
                </a:tc>
                <a:tc>
                  <a:txBody>
                    <a:bodyPr/>
                    <a:lstStyle/>
                    <a:p>
                      <a:pPr algn="ctr"/>
                      <a:r>
                        <a:rPr sz="800" b="1" i="0">
                          <a:solidFill>
                            <a:srgbClr val="1B3A6B"/>
                          </a:solidFill>
                          <a:latin typeface="Calibri"/>
                        </a:rPr>
                        <a:t>64,8x</a:t>
                      </a:r>
                    </a:p>
                  </a:txBody>
                  <a:tcPr>
                    <a:solidFill>
                      <a:srgbClr val="DDE8F5"/>
                    </a:solidFill>
                  </a:tcPr>
                </a:tc>
                <a:tc>
                  <a:txBody>
                    <a:bodyPr/>
                    <a:lstStyle/>
                    <a:p>
                      <a:pPr algn="ctr"/>
                      <a:r>
                        <a:rPr sz="800" b="1" i="0">
                          <a:solidFill>
                            <a:srgbClr val="1B3A6B"/>
                          </a:solidFill>
                          <a:latin typeface="Calibri"/>
                        </a:rPr>
                        <a:t>75,0 %</a:t>
                      </a:r>
                    </a:p>
                  </a:txBody>
                  <a:tcPr>
                    <a:solidFill>
                      <a:srgbClr val="DDE8F5"/>
                    </a:solidFill>
                  </a:tcPr>
                </a:tc>
                <a:tc>
                  <a:txBody>
                    <a:bodyPr/>
                    <a:lstStyle/>
                    <a:p>
                      <a:pPr algn="ctr"/>
                      <a:r>
                        <a:rPr sz="800" b="1" i="0">
                          <a:solidFill>
                            <a:srgbClr val="1B3A6B"/>
                          </a:solidFill>
                          <a:latin typeface="Calibri"/>
                        </a:rPr>
                        <a:t>66,0 %</a:t>
                      </a:r>
                    </a:p>
                  </a:txBody>
                  <a:tcPr>
                    <a:solidFill>
                      <a:srgbClr val="DDE8F5"/>
                    </a:solidFill>
                  </a:tcPr>
                </a:tc>
              </a:tr>
              <a:tr h="251999">
                <a:tc>
                  <a:txBody>
                    <a:bodyPr/>
                    <a:lstStyle/>
                    <a:p>
                      <a:pPr algn="l"/>
                      <a:r>
                        <a:rPr sz="800" b="0" i="0">
                          <a:solidFill>
                            <a:srgbClr val="0D0D0D"/>
                          </a:solidFill>
                          <a:latin typeface="Calibri"/>
                        </a:rPr>
                        <a:t>Advanced Micro Devices</a:t>
                      </a:r>
                    </a:p>
                  </a:txBody>
                  <a:tcPr>
                    <a:solidFill>
                      <a:srgbClr val="FFFFFF"/>
                    </a:solidFill>
                  </a:tcPr>
                </a:tc>
                <a:tc>
                  <a:txBody>
                    <a:bodyPr/>
                    <a:lstStyle/>
                    <a:p>
                      <a:pPr algn="ctr"/>
                      <a:r>
                        <a:rPr sz="750" b="0" i="0">
                          <a:solidFill>
                            <a:srgbClr val="555555"/>
                          </a:solidFill>
                          <a:latin typeface="Calibri"/>
                        </a:rPr>
                        <a:t>AMD</a:t>
                      </a:r>
                    </a:p>
                  </a:txBody>
                  <a:tcPr>
                    <a:solidFill>
                      <a:srgbClr val="FFFFFF"/>
                    </a:solidFill>
                  </a:tcPr>
                </a:tc>
                <a:tc>
                  <a:txBody>
                    <a:bodyPr/>
                    <a:lstStyle/>
                    <a:p>
                      <a:pPr algn="ctr"/>
                      <a:r>
                        <a:rPr sz="800" b="0" i="0">
                          <a:solidFill>
                            <a:srgbClr val="0D0D0D"/>
                          </a:solidFill>
                          <a:latin typeface="Calibri"/>
                        </a:rPr>
                        <a:t>220,0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5,0x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35,0 %</a:t>
                      </a:r>
                    </a:p>
                  </a:txBody>
                  <a:tcPr>
                    <a:solidFill>
                      <a:srgbClr val="FFFFFF"/>
                    </a:solidFill>
                  </a:tcPr>
                </a:tc>
              </a:tr>
              <a:tr h="251999">
                <a:tc>
                  <a:txBody>
                    <a:bodyPr/>
                    <a:lstStyle/>
                    <a:p>
                      <a:pPr algn="l"/>
                      <a:r>
                        <a:rPr sz="800" b="0" i="0">
                          <a:solidFill>
                            <a:srgbClr val="0D0D0D"/>
                          </a:solidFill>
                          <a:latin typeface="Calibri"/>
                        </a:rPr>
                        <a:t>Intel Corporation</a:t>
                      </a:r>
                    </a:p>
                  </a:txBody>
                  <a:tcPr>
                    <a:solidFill>
                      <a:srgbClr val="F7F8FA"/>
                    </a:solidFill>
                  </a:tcPr>
                </a:tc>
                <a:tc>
                  <a:txBody>
                    <a:bodyPr/>
                    <a:lstStyle/>
                    <a:p>
                      <a:pPr algn="ctr"/>
                      <a:r>
                        <a:rPr sz="750" b="0" i="0">
                          <a:solidFill>
                            <a:srgbClr val="555555"/>
                          </a:solidFill>
                          <a:latin typeface="Calibri"/>
                        </a:rPr>
                        <a:t>INTC</a:t>
                      </a:r>
                    </a:p>
                  </a:txBody>
                  <a:tcPr>
                    <a:solidFill>
                      <a:srgbClr val="F7F8FA"/>
                    </a:solidFill>
                  </a:tcPr>
                </a:tc>
                <a:tc>
                  <a:txBody>
                    <a:bodyPr/>
                    <a:lstStyle/>
                    <a:p>
                      <a:pPr algn="ctr"/>
                      <a:r>
                        <a:rPr sz="800" b="0" i="0">
                          <a:solidFill>
                            <a:srgbClr val="0D0D0D"/>
                          </a:solidFill>
                          <a:latin typeface="Calibri"/>
                        </a:rPr>
                        <a:t>180,0</a:t>
                      </a:r>
                    </a:p>
                  </a:txBody>
                  <a:tcPr>
                    <a:solidFill>
                      <a:srgbClr val="F7F8FA"/>
                    </a:solidFill>
                  </a:tcPr>
                </a:tc>
                <a:tc>
                  <a:txBody>
                    <a:bodyPr/>
                    <a:lstStyle/>
                    <a:p>
                      <a:pPr algn="ctr"/>
                      <a:r>
                        <a:rPr sz="800" b="0" i="0">
                          <a:solidFill>
                            <a:srgbClr val="0D0D0D"/>
                          </a:solidFill>
                          <a:latin typeface="Calibri"/>
                        </a:rPr>
                        <a:t>8,0x</a:t>
                      </a:r>
                    </a:p>
                  </a:txBody>
                  <a:tcPr>
                    <a:solidFill>
                      <a:srgbClr val="F7F8FA"/>
                    </a:solidFill>
                  </a:tcPr>
                </a:tc>
                <a:tc>
                  <a:txBody>
                    <a:bodyPr/>
                    <a:lstStyle/>
                    <a:p>
                      <a:pPr algn="ctr"/>
                      <a:r>
                        <a:rPr sz="800" b="0" i="0">
                          <a:solidFill>
                            <a:srgbClr val="0D0D0D"/>
                          </a:solidFill>
                          <a:latin typeface="Calibri"/>
                        </a:rPr>
                        <a:t>1,5x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Qualcomm Incorporated</a:t>
                      </a:r>
                    </a:p>
                  </a:txBody>
                  <a:tcPr>
                    <a:solidFill>
                      <a:srgbClr val="FFFFFF"/>
                    </a:solidFill>
                  </a:tcPr>
                </a:tc>
                <a:tc>
                  <a:txBody>
                    <a:bodyPr/>
                    <a:lstStyle/>
                    <a:p>
                      <a:pPr algn="ctr"/>
                      <a:r>
                        <a:rPr sz="750" b="0" i="0">
                          <a:solidFill>
                            <a:srgbClr val="555555"/>
                          </a:solidFill>
                          <a:latin typeface="Calibri"/>
                        </a:rPr>
                        <a:t>QCOM</a:t>
                      </a:r>
                    </a:p>
                  </a:txBody>
                  <a:tcPr>
                    <a:solidFill>
                      <a:srgbClr val="FFFFFF"/>
                    </a:solidFill>
                  </a:tcPr>
                </a:tc>
                <a:tc>
                  <a:txBody>
                    <a:bodyPr/>
                    <a:lstStyle/>
                    <a:p>
                      <a:pPr algn="ctr"/>
                      <a:r>
                        <a:rPr sz="800" b="0" i="0">
                          <a:solidFill>
                            <a:srgbClr val="0D0D0D"/>
                          </a:solidFill>
                          <a:latin typeface="Calibri"/>
                        </a:rPr>
                        <a:t>200,0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62,0 %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Broadcom Incorporated</a:t>
                      </a:r>
                    </a:p>
                  </a:txBody>
                  <a:tcPr>
                    <a:solidFill>
                      <a:srgbClr val="F7F8FA"/>
                    </a:solidFill>
                  </a:tcPr>
                </a:tc>
                <a:tc>
                  <a:txBody>
                    <a:bodyPr/>
                    <a:lstStyle/>
                    <a:p>
                      <a:pPr algn="ctr"/>
                      <a:r>
                        <a:rPr sz="750" b="0" i="0">
                          <a:solidFill>
                            <a:srgbClr val="555555"/>
                          </a:solidFill>
                          <a:latin typeface="Calibri"/>
                        </a:rPr>
                        <a:t>AVGO</a:t>
                      </a:r>
                    </a:p>
                  </a:txBody>
                  <a:tcPr>
                    <a:solidFill>
                      <a:srgbClr val="F7F8FA"/>
                    </a:solidFill>
                  </a:tcPr>
                </a:tc>
                <a:tc>
                  <a:txBody>
                    <a:bodyPr/>
                    <a:lstStyle/>
                    <a:p>
                      <a:pPr algn="ctr"/>
                      <a:r>
                        <a:rPr sz="800" b="0" i="0">
                          <a:solidFill>
                            <a:srgbClr val="0D0D0D"/>
                          </a:solidFill>
                          <a:latin typeface="Calibri"/>
                        </a:rPr>
                        <a:t>500,0</a:t>
                      </a:r>
                    </a:p>
                  </a:txBody>
                  <a:tcPr>
                    <a:solidFill>
                      <a:srgbClr val="F7F8FA"/>
                    </a:solidFill>
                  </a:tcPr>
                </a:tc>
                <a:tc>
                  <a:txBody>
                    <a:bodyPr/>
                    <a:lstStyle/>
                    <a:p>
                      <a:pPr algn="ctr"/>
                      <a:r>
                        <a:rPr sz="800" b="0" i="0">
                          <a:solidFill>
                            <a:srgbClr val="0D0D0D"/>
                          </a:solidFill>
                          <a:latin typeface="Calibri"/>
                        </a:rPr>
                        <a:t>30,0x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40,0x</a:t>
                      </a:r>
                    </a:p>
                  </a:txBody>
                  <a:tcPr>
                    <a:solidFill>
                      <a:srgbClr val="F7F8FA"/>
                    </a:solidFill>
                  </a:tcPr>
                </a:tc>
                <a:tc>
                  <a:txBody>
                    <a:bodyPr/>
                    <a:lstStyle/>
                    <a:p>
                      <a:pPr algn="ctr"/>
                      <a:r>
                        <a:rPr sz="800" b="0" i="0">
                          <a:solidFill>
                            <a:srgbClr val="0D0D0D"/>
                          </a:solidFill>
                          <a:latin typeface="Calibri"/>
                        </a:rPr>
                        <a:t>70,0 %</a:t>
                      </a:r>
                    </a:p>
                  </a:txBody>
                  <a:tcPr>
                    <a:solidFill>
                      <a:srgbClr val="F7F8FA"/>
                    </a:solidFill>
                  </a:tcPr>
                </a:tc>
                <a:tc>
                  <a:txBody>
                    <a:bodyPr/>
                    <a:lstStyle/>
                    <a:p>
                      <a:pPr algn="ctr"/>
                      <a:r>
                        <a:rPr sz="800" b="0" i="0">
                          <a:solidFill>
                            <a:srgbClr val="0D0D0D"/>
                          </a:solidFill>
                          <a:latin typeface="Calibri"/>
                        </a:rPr>
                        <a:t>60,0 %</a:t>
                      </a:r>
                    </a:p>
                  </a:txBody>
                  <a:tcPr>
                    <a:solidFill>
                      <a:srgbClr val="F7F8FA"/>
                    </a:solidFill>
                  </a:tcPr>
                </a:tc>
              </a:tr>
              <a:tr h="251999">
                <a:tc>
                  <a:txBody>
                    <a:bodyPr/>
                    <a:lstStyle/>
                    <a:p>
                      <a:pPr algn="l"/>
                      <a:r>
                        <a:rPr sz="800" b="0" i="0">
                          <a:solidFill>
                            <a:srgbClr val="0D0D0D"/>
                          </a:solidFill>
                          <a:latin typeface="Calibri"/>
                        </a:rPr>
                        <a:t>ASML Holding</a:t>
                      </a:r>
                    </a:p>
                  </a:txBody>
                  <a:tcPr>
                    <a:solidFill>
                      <a:srgbClr val="FFFFFF"/>
                    </a:solidFill>
                  </a:tcPr>
                </a:tc>
                <a:tc>
                  <a:txBody>
                    <a:bodyPr/>
                    <a:lstStyle/>
                    <a:p>
                      <a:pPr algn="ctr"/>
                      <a:r>
                        <a:rPr sz="750" b="0" i="0">
                          <a:solidFill>
                            <a:srgbClr val="555555"/>
                          </a:solidFill>
                          <a:latin typeface="Calibri"/>
                        </a:rPr>
                        <a:t>ASML</a:t>
                      </a:r>
                    </a:p>
                  </a:txBody>
                  <a:tcPr>
                    <a:solidFill>
                      <a:srgbClr val="FFFFFF"/>
                    </a:solidFill>
                  </a:tcPr>
                </a:tc>
                <a:tc>
                  <a:txBody>
                    <a:bodyPr/>
                    <a:lstStyle/>
                    <a:p>
                      <a:pPr algn="ctr"/>
                      <a:r>
                        <a:rPr sz="800" b="0" i="0">
                          <a:solidFill>
                            <a:srgbClr val="0D0D0D"/>
                          </a:solidFill>
                          <a:latin typeface="Calibri"/>
                        </a:rPr>
                        <a:t>350,0</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35,0x</a:t>
                      </a:r>
                    </a:p>
                  </a:txBody>
                  <a:tcPr>
                    <a:solidFill>
                      <a:srgbClr val="FFFFFF"/>
                    </a:solidFill>
                  </a:tcPr>
                </a:tc>
                <a:tc>
                  <a:txBody>
                    <a:bodyPr/>
                    <a:lstStyle/>
                    <a:p>
                      <a:pPr algn="ctr"/>
                      <a:r>
                        <a:rPr sz="800" b="0" i="0">
                          <a:solidFill>
                            <a:srgbClr val="0D0D0D"/>
                          </a:solidFill>
                          <a:latin typeface="Calibri"/>
                        </a:rPr>
                        <a:t>50,0 %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25,0x</a:t>
                      </a:r>
                    </a:p>
                  </a:txBody>
                  <a:tcPr>
                    <a:solidFill>
                      <a:srgbClr val="F7F8FA"/>
                    </a:solidFill>
                  </a:tcPr>
                </a:tc>
                <a:tc>
                  <a:txBody>
                    <a:bodyPr/>
                    <a:lstStyle/>
                    <a:p>
                      <a:pPr algn="ctr"/>
                      <a:r>
                        <a:rPr sz="800" b="1" i="0">
                          <a:solidFill>
                            <a:srgbClr val="0D0D0D"/>
                          </a:solidFill>
                          <a:latin typeface="Calibri"/>
                        </a:rPr>
                        <a:t>6,5x</a:t>
                      </a:r>
                    </a:p>
                  </a:txBody>
                  <a:tcPr>
                    <a:solidFill>
                      <a:srgbClr val="F7F8FA"/>
                    </a:solidFill>
                  </a:tcPr>
                </a:tc>
                <a:tc>
                  <a:txBody>
                    <a:bodyPr/>
                    <a:lstStyle/>
                    <a:p>
                      <a:pPr algn="ctr"/>
                      <a:r>
                        <a:rPr sz="800" b="1" i="0">
                          <a:solidFill>
                            <a:srgbClr val="0D0D0D"/>
                          </a:solidFill>
                          <a:latin typeface="Calibri"/>
                        </a:rPr>
                        <a:t>35,0x</a:t>
                      </a:r>
                    </a:p>
                  </a:txBody>
                  <a:tcPr>
                    <a:solidFill>
                      <a:srgbClr val="F7F8FA"/>
                    </a:solidFill>
                  </a:tcPr>
                </a:tc>
                <a:tc>
                  <a:txBody>
                    <a:bodyPr/>
                    <a:lstStyle/>
                    <a:p>
                      <a:pPr algn="ctr"/>
                      <a:r>
                        <a:rPr sz="800" b="1" i="0">
                          <a:solidFill>
                            <a:srgbClr val="0D0D0D"/>
                          </a:solidFill>
                          <a:latin typeface="Calibri"/>
                        </a:rPr>
                        <a:t>55,0 %</a:t>
                      </a:r>
                    </a:p>
                  </a:txBody>
                  <a:tcPr>
                    <a:solidFill>
                      <a:srgbClr val="F7F8FA"/>
                    </a:solidFill>
                  </a:tcPr>
                </a:tc>
                <a:tc>
                  <a:txBody>
                    <a:bodyPr/>
                    <a:lstStyle/>
                    <a:p>
                      <a:pPr algn="ctr"/>
                      <a:r>
                        <a:rPr sz="800" b="1" i="0">
                          <a:solidFill>
                            <a:srgbClr val="0D0D0D"/>
                          </a:solidFill>
                          <a:latin typeface="Calibri"/>
                        </a:rPr>
                        <a:t>40,0 %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NVDA — positionnément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NVIDIA affiche un P/E de 64,8x vs une médiane sectorielle de 30x, soit une prime de 116%. Cette prime est justifiée par des marges brutes de 75% (vs ~50% pour les pairs) et une croissance des revenus de +114% YoY. Une convergence vers la médiane impliquerait un downside de 54%, mais le différentiel de qualité justifie la prime actuelle. Les marges brutes sont passées de 56,9% en 2023 à 75,0% en 2025, grâce à l'effet volume (+114% de croissance) et à la domination du segment Data Center (80% des revenus). La trajectoire est durable tant que la demande en IA reste forte, avec un risque de mean-reversion limité par le pricing power de NVIDIA. NVIDIA se négocie à 64,8x P/E vs une médiane sectorielle de 30x, reflétant une prime de croissance justifiée par des marges exceptionnelles. La valorisation reste attractive au regard de la trajectoire de revenus et de marges.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51200"/>
          </a:xfrm>
          <a:prstGeom prst="rect">
            <a:avLst/>
          </a:prstGeom>
          <a:noFill/>
        </p:spPr>
        <p:txBody>
          <a:bodyPr wrap="none">
            <a:spAutoFit/>
          </a:bodyPr>
          <a:lstStyle/>
          <a:p>
            <a:pPr algn="l"/>
            <a:r>
              <a:rPr sz="950" b="1" i="0">
                <a:solidFill>
                  <a:srgbClr val="1B3A6B"/>
                </a:solidFill>
                <a:latin typeface="Calibri"/>
              </a:rPr>
              <a:t>NVDA — football field et fourchette de valorisation</a:t>
            </a:r>
          </a:p>
        </p:txBody>
      </p:sp>
      <p:sp>
        <p:nvSpPr>
          <p:cNvPr id="21" name="TextBox 20"/>
          <p:cNvSpPr txBox="1"/>
          <p:nvPr/>
        </p:nvSpPr>
        <p:spPr>
          <a:xfrm>
            <a:off x="475200" y="3686400"/>
            <a:ext cx="8298000" cy="1058400"/>
          </a:xfrm>
          <a:prstGeom prst="rect">
            <a:avLst/>
          </a:prstGeom>
          <a:noFill/>
        </p:spPr>
        <p:txBody>
          <a:bodyPr wrap="square">
            <a:spAutoFit/>
          </a:bodyPr>
          <a:lstStyle/>
          <a:p>
            <a:pPr algn="l"/>
            <a:r>
              <a:rPr sz="850" b="0" i="0">
                <a:solidFill>
                  <a:srgbClr val="555555"/>
                </a:solidFill>
                <a:latin typeface="Calibri"/>
              </a:rPr>
              <a:t>Avec un WACC de 17,1% et un TGR de 3,0%, le prix implicite DCF est de 245 USD (base), soit un upside de 26% vs le cours actuel. Cette valorisation suggère une sous-évaluation structurelle, mais la prime de croissance est déjà partiellement intégrée. Une accélération des revenus Data Center au-delà des attentes débloquerait la valeur. NVIDIA se négocie à 64,8x P/E vs une médiane sectorielle de 30x, reflétant une prime de croissance justifiée par des marges exceptionnelles. La valorisation reste attractive au regard de la trajectoire de revenus et de marges.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810000"/>
        </p:xfrm>
        <a:graphic>
          <a:graphicData uri="http://schemas.openxmlformats.org/drawingml/2006/table">
            <a:tbl>
              <a:tblPr firstRow="1" bandRow="1">
                <a:tableStyleId>{5C22544A-7EE6-4342-B048-85BDC9FD1C3A}</a:tableStyleId>
              </a:tblPr>
              <a:tblGrid>
                <a:gridCol w="777600"/>
                <a:gridCol w="570240"/>
                <a:gridCol w="673920"/>
                <a:gridCol w="570240"/>
              </a:tblGrid>
              <a:tr h="2025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1 082,1x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NVDA génère ROE 92% / ROIC 94% — création de valeur premium</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compression multiple de 1017.2x sur la période (1 082,1x → 64,8x), signal d’une réévaluation négative du profil de croissance. L’EV/EBITDA diverge à 54,9x vs 790,9x historique. Le chiffre d'affaires 2025 atteint 130,5 Md$ (+114% YoY), porté par la demande en GPU pour l'IA générative. Les marges brutes de 75% bénéficient d'un mix produit favorable (H100/H200 à haute marge) et d'économies d'échelle. Le bilan est solide avec un ND/EBITDA de -0,0x, permettant des rachats d'actions ou des dividendes.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1,5 %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71,5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2,5 %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46,2 %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810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25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NVDA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croissance de 67,4 Mds$ sur la période, avec un FCF yield actuel de 1,5 % — à surveiller au regard de la valorisation de marché. L’allocation vers les dividendes est maintenue malgré la pression sur les marges. Le chiffre d'affaires 2025 atteint 130,5 Md$ (+114% YoY), porté par la demande en GPU pour l'IA générative. Les marges brutes de 75% bénéficient d'un mix produit favorable (H100/H200 à haute marge) et d'économies d'échelle. Le bilan est solide avec un ND/EBITDA de -0,0x, permettant des rachats d'actions ou des dividendes.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Sources &amp; Uses, hypothèses et éligibilité</a:t>
            </a:r>
          </a:p>
        </p:txBody>
      </p:sp>
      <p:sp>
        <p:nvSpPr>
          <p:cNvPr id="17" name="Rectangle 16"/>
          <p:cNvSpPr/>
          <p:nvPr/>
        </p:nvSpPr>
        <p:spPr>
          <a:xfrm>
            <a:off x="367200" y="882000"/>
            <a:ext cx="8413200" cy="43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1A7A4A"/>
                </a:solidFill>
                <a:latin typeface="Calibri"/>
              </a:rPr>
              <a:t>✓ PROFIL LBO-ABLE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Société éligible aux critères LBO mid-market standard</a:t>
            </a:r>
          </a:p>
        </p:txBody>
      </p:sp>
      <p:sp>
        <p:nvSpPr>
          <p:cNvPr id="21" name="Rectangle 20"/>
          <p:cNvSpPr/>
          <p:nvPr/>
        </p:nvSpPr>
        <p:spPr>
          <a:xfrm>
            <a:off x="367200" y="1440000"/>
            <a:ext cx="410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00" y="1468800"/>
            <a:ext cx="4104000" cy="151200"/>
          </a:xfrm>
          <a:prstGeom prst="rect">
            <a:avLst/>
          </a:prstGeom>
          <a:noFill/>
        </p:spPr>
        <p:txBody>
          <a:bodyPr wrap="none">
            <a:spAutoFit/>
          </a:bodyPr>
          <a:lstStyle/>
          <a:p>
            <a:pPr algn="ctr"/>
            <a:r>
              <a:rPr sz="105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632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865,8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400" y="1468800"/>
            <a:ext cx="4125600" cy="151200"/>
          </a:xfrm>
          <a:prstGeom prst="rect">
            <a:avLst/>
          </a:prstGeom>
          <a:noFill/>
        </p:spPr>
        <p:txBody>
          <a:bodyPr wrap="none">
            <a:spAutoFit/>
          </a:bodyPr>
          <a:lstStyle/>
          <a:p>
            <a:pPr algn="ctr"/>
            <a:r>
              <a:rPr sz="105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632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1 206,0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60,3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30" name="TextBox 29"/>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Le modèle retient un multiple d'entrée par défaut de 14x EBITDA (paramétrable), un leverage total de 5x EBITDA réparti entre Senior Term Loan B (3,5x à coût ~8% SOFR + 400 bps) et Mezzanine (1,5x à coût all-in 10% cash + PIK). Le multiple de sortie est conservateur (identique à l'entrée, pas de multiple expansion supposée). Les projections opérationnelles (revenue growth, marge EBITDA, capex, ΔBFR) sont importées du modèle DCF FinSight pour cohérence. Tax rate effective issue de l'historique NVIDIA Corporation.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IRR, MOIC et sensibilité multiples</a:t>
            </a:r>
          </a:p>
        </p:txBody>
      </p:sp>
      <p:sp>
        <p:nvSpPr>
          <p:cNvPr id="17" name="Rectangle 16"/>
          <p:cNvSpPr/>
          <p:nvPr/>
        </p:nvSpPr>
        <p:spPr>
          <a:xfrm>
            <a:off x="367200" y="882000"/>
            <a:ext cx="2015999" cy="82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26.4%</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3.23x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865,8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2 792,3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87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31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4031999"/>
            <a:ext cx="8413200" cy="75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031999"/>
            <a:ext cx="792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44" name="TextBox 43"/>
          <p:cNvSpPr txBox="1"/>
          <p:nvPr/>
        </p:nvSpPr>
        <p:spPr>
          <a:xfrm>
            <a:off x="475200" y="4230000"/>
            <a:ext cx="8298000" cy="532800"/>
          </a:xfrm>
          <a:prstGeom prst="rect">
            <a:avLst/>
          </a:prstGeom>
          <a:noFill/>
        </p:spPr>
        <p:txBody>
          <a:bodyPr wrap="square">
            <a:spAutoFit/>
          </a:bodyPr>
          <a:lstStyle/>
          <a:p>
            <a:pPr algn="l"/>
            <a:r>
              <a:rPr sz="850" b="0" i="0">
                <a:solidFill>
                  <a:srgbClr val="555555"/>
                </a:solidFill>
                <a:latin typeface="Calibri"/>
              </a:rPr>
              <a:t>Le sponsor récupère un IRR base de 26,4% et un MOIC de 3,2x sur 5 ans. Ce niveau dépasse le seuil minimum PE top quartile (≥ 20%), rendant le deal très attractif pour un sponsor institutionnel. La sensibilité IRR aux multiples d'entrée et de sortie permet d'identifier les zones de robustesse (combinaisons multiple bas / sortie élevée) et de fragilité (multiple haut / sortie basse). À croiser avec le scénario bear (IRR 20,5%) pour calibrer le risque downside.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898000"/>
            <a:ext cx="27432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934000"/>
            <a:ext cx="2743200" cy="162000"/>
          </a:xfrm>
          <a:prstGeom prst="rect">
            <a:avLst/>
          </a:prstGeom>
          <a:noFill/>
        </p:spPr>
        <p:txBody>
          <a:bodyPr wrap="none">
            <a:spAutoFit/>
          </a:bodyPr>
          <a:lstStyle/>
          <a:p>
            <a:pPr algn="ctr"/>
            <a:r>
              <a:rPr sz="1300" b="1" i="0">
                <a:solidFill>
                  <a:srgbClr val="FFFFFF"/>
                </a:solidFill>
                <a:latin typeface="Calibri"/>
              </a:rPr>
              <a:t>BULL</a:t>
            </a:r>
          </a:p>
        </p:txBody>
      </p:sp>
      <p:sp>
        <p:nvSpPr>
          <p:cNvPr id="22" name="Rectangle 21"/>
          <p:cNvSpPr/>
          <p:nvPr/>
        </p:nvSpPr>
        <p:spPr>
          <a:xfrm>
            <a:off x="367200" y="3131999"/>
            <a:ext cx="2743200" cy="90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86000"/>
            <a:ext cx="1097280" cy="151200"/>
          </a:xfrm>
          <a:prstGeom prst="rect">
            <a:avLst/>
          </a:prstGeom>
          <a:noFill/>
        </p:spPr>
        <p:txBody>
          <a:bodyPr wrap="square">
            <a:spAutoFit/>
          </a:bodyPr>
          <a:lstStyle/>
          <a:p>
            <a:pPr algn="r"/>
            <a:r>
              <a:rPr sz="1100" b="1" i="0">
                <a:solidFill>
                  <a:srgbClr val="1A7A4A"/>
                </a:solidFill>
                <a:latin typeface="Calibri"/>
              </a:rPr>
              <a:t>+32.2%</a:t>
            </a:r>
          </a:p>
        </p:txBody>
      </p:sp>
      <p:sp>
        <p:nvSpPr>
          <p:cNvPr id="25" name="TextBox 24"/>
          <p:cNvSpPr txBox="1"/>
          <p:nvPr/>
        </p:nvSpPr>
        <p:spPr>
          <a:xfrm>
            <a:off x="475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94800"/>
            <a:ext cx="1097280" cy="151200"/>
          </a:xfrm>
          <a:prstGeom prst="rect">
            <a:avLst/>
          </a:prstGeom>
          <a:noFill/>
        </p:spPr>
        <p:txBody>
          <a:bodyPr wrap="square">
            <a:spAutoFit/>
          </a:bodyPr>
          <a:lstStyle/>
          <a:p>
            <a:pPr algn="r"/>
            <a:r>
              <a:rPr sz="1100" b="1" i="0">
                <a:solidFill>
                  <a:srgbClr val="1A7A4A"/>
                </a:solidFill>
                <a:latin typeface="Calibri"/>
              </a:rPr>
              <a:t>4.04x</a:t>
            </a:r>
          </a:p>
        </p:txBody>
      </p:sp>
      <p:sp>
        <p:nvSpPr>
          <p:cNvPr id="27" name="TextBox 26"/>
          <p:cNvSpPr txBox="1"/>
          <p:nvPr/>
        </p:nvSpPr>
        <p:spPr>
          <a:xfrm>
            <a:off x="475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03600"/>
            <a:ext cx="1097280" cy="151200"/>
          </a:xfrm>
          <a:prstGeom prst="rect">
            <a:avLst/>
          </a:prstGeom>
          <a:noFill/>
        </p:spPr>
        <p:txBody>
          <a:bodyPr wrap="square">
            <a:spAutoFit/>
          </a:bodyPr>
          <a:lstStyle/>
          <a:p>
            <a:pPr algn="r"/>
            <a:r>
              <a:rPr sz="1100" b="1" i="0">
                <a:solidFill>
                  <a:srgbClr val="1A7A4A"/>
                </a:solidFill>
                <a:latin typeface="Calibri"/>
              </a:rPr>
              <a:t>0.84x</a:t>
            </a:r>
          </a:p>
        </p:txBody>
      </p:sp>
      <p:sp>
        <p:nvSpPr>
          <p:cNvPr id="29" name="TextBox 28"/>
          <p:cNvSpPr txBox="1"/>
          <p:nvPr/>
        </p:nvSpPr>
        <p:spPr>
          <a:xfrm>
            <a:off x="475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12400"/>
            <a:ext cx="1097280" cy="151200"/>
          </a:xfrm>
          <a:prstGeom prst="rect">
            <a:avLst/>
          </a:prstGeom>
          <a:noFill/>
        </p:spPr>
        <p:txBody>
          <a:bodyPr wrap="square">
            <a:spAutoFit/>
          </a:bodyPr>
          <a:lstStyle/>
          <a:p>
            <a:pPr algn="r"/>
            <a:r>
              <a:rPr sz="1100" b="1" i="0">
                <a:solidFill>
                  <a:srgbClr val="1A7A4A"/>
                </a:solidFill>
                <a:latin typeface="Calibri"/>
              </a:rPr>
              <a:t>10.4x</a:t>
            </a:r>
          </a:p>
        </p:txBody>
      </p:sp>
      <p:sp>
        <p:nvSpPr>
          <p:cNvPr id="31" name="Rectangle 30"/>
          <p:cNvSpPr/>
          <p:nvPr/>
        </p:nvSpPr>
        <p:spPr>
          <a:xfrm>
            <a:off x="3229200" y="2898000"/>
            <a:ext cx="27432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934000"/>
            <a:ext cx="2743200" cy="162000"/>
          </a:xfrm>
          <a:prstGeom prst="rect">
            <a:avLst/>
          </a:prstGeom>
          <a:noFill/>
        </p:spPr>
        <p:txBody>
          <a:bodyPr wrap="none">
            <a:spAutoFit/>
          </a:bodyPr>
          <a:lstStyle/>
          <a:p>
            <a:pPr algn="ctr"/>
            <a:r>
              <a:rPr sz="1300" b="1" i="0">
                <a:solidFill>
                  <a:srgbClr val="FFFFFF"/>
                </a:solidFill>
                <a:latin typeface="Calibri"/>
              </a:rPr>
              <a:t>BASE</a:t>
            </a:r>
          </a:p>
        </p:txBody>
      </p:sp>
      <p:sp>
        <p:nvSpPr>
          <p:cNvPr id="33" name="Rectangle 32"/>
          <p:cNvSpPr/>
          <p:nvPr/>
        </p:nvSpPr>
        <p:spPr>
          <a:xfrm>
            <a:off x="3229200" y="3131999"/>
            <a:ext cx="2743200" cy="90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86000"/>
            <a:ext cx="1097280" cy="151200"/>
          </a:xfrm>
          <a:prstGeom prst="rect">
            <a:avLst/>
          </a:prstGeom>
          <a:noFill/>
        </p:spPr>
        <p:txBody>
          <a:bodyPr wrap="square">
            <a:spAutoFit/>
          </a:bodyPr>
          <a:lstStyle/>
          <a:p>
            <a:pPr algn="r"/>
            <a:r>
              <a:rPr sz="1100" b="1" i="0">
                <a:solidFill>
                  <a:srgbClr val="2E5FA3"/>
                </a:solidFill>
                <a:latin typeface="Calibri"/>
              </a:rPr>
              <a:t>+26.4%</a:t>
            </a:r>
          </a:p>
        </p:txBody>
      </p:sp>
      <p:sp>
        <p:nvSpPr>
          <p:cNvPr id="36" name="TextBox 35"/>
          <p:cNvSpPr txBox="1"/>
          <p:nvPr/>
        </p:nvSpPr>
        <p:spPr>
          <a:xfrm>
            <a:off x="3337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94800"/>
            <a:ext cx="1097280" cy="151200"/>
          </a:xfrm>
          <a:prstGeom prst="rect">
            <a:avLst/>
          </a:prstGeom>
          <a:noFill/>
        </p:spPr>
        <p:txBody>
          <a:bodyPr wrap="square">
            <a:spAutoFit/>
          </a:bodyPr>
          <a:lstStyle/>
          <a:p>
            <a:pPr algn="r"/>
            <a:r>
              <a:rPr sz="1100" b="1" i="0">
                <a:solidFill>
                  <a:srgbClr val="2E5FA3"/>
                </a:solidFill>
                <a:latin typeface="Calibri"/>
              </a:rPr>
              <a:t>3.23x</a:t>
            </a:r>
          </a:p>
        </p:txBody>
      </p:sp>
      <p:sp>
        <p:nvSpPr>
          <p:cNvPr id="38" name="TextBox 37"/>
          <p:cNvSpPr txBox="1"/>
          <p:nvPr/>
        </p:nvSpPr>
        <p:spPr>
          <a:xfrm>
            <a:off x="3337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03600"/>
            <a:ext cx="1097280" cy="151200"/>
          </a:xfrm>
          <a:prstGeom prst="rect">
            <a:avLst/>
          </a:prstGeom>
          <a:noFill/>
        </p:spPr>
        <p:txBody>
          <a:bodyPr wrap="square">
            <a:spAutoFit/>
          </a:bodyPr>
          <a:lstStyle/>
          <a:p>
            <a:pPr algn="r"/>
            <a:r>
              <a:rPr sz="1100" b="1" i="0">
                <a:solidFill>
                  <a:srgbClr val="2E5FA3"/>
                </a:solidFill>
                <a:latin typeface="Calibri"/>
              </a:rPr>
              <a:t>0.97x</a:t>
            </a:r>
          </a:p>
        </p:txBody>
      </p:sp>
      <p:sp>
        <p:nvSpPr>
          <p:cNvPr id="40" name="TextBox 39"/>
          <p:cNvSpPr txBox="1"/>
          <p:nvPr/>
        </p:nvSpPr>
        <p:spPr>
          <a:xfrm>
            <a:off x="3337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12400"/>
            <a:ext cx="1097280" cy="151200"/>
          </a:xfrm>
          <a:prstGeom prst="rect">
            <a:avLst/>
          </a:prstGeom>
          <a:noFill/>
        </p:spPr>
        <p:txBody>
          <a:bodyPr wrap="square">
            <a:spAutoFit/>
          </a:bodyPr>
          <a:lstStyle/>
          <a:p>
            <a:pPr algn="r"/>
            <a:r>
              <a:rPr sz="1100" b="1" i="0">
                <a:solidFill>
                  <a:srgbClr val="2E5FA3"/>
                </a:solidFill>
                <a:latin typeface="Calibri"/>
              </a:rPr>
              <a:t>10.3x</a:t>
            </a:r>
          </a:p>
        </p:txBody>
      </p:sp>
      <p:sp>
        <p:nvSpPr>
          <p:cNvPr id="42" name="Rectangle 41"/>
          <p:cNvSpPr/>
          <p:nvPr/>
        </p:nvSpPr>
        <p:spPr>
          <a:xfrm>
            <a:off x="6091200" y="2898000"/>
            <a:ext cx="27432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934000"/>
            <a:ext cx="2743200" cy="162000"/>
          </a:xfrm>
          <a:prstGeom prst="rect">
            <a:avLst/>
          </a:prstGeom>
          <a:noFill/>
        </p:spPr>
        <p:txBody>
          <a:bodyPr wrap="none">
            <a:spAutoFit/>
          </a:bodyPr>
          <a:lstStyle/>
          <a:p>
            <a:pPr algn="ctr"/>
            <a:r>
              <a:rPr sz="1300" b="1" i="0">
                <a:solidFill>
                  <a:srgbClr val="FFFFFF"/>
                </a:solidFill>
                <a:latin typeface="Calibri"/>
              </a:rPr>
              <a:t>BEAR</a:t>
            </a:r>
          </a:p>
        </p:txBody>
      </p:sp>
      <p:sp>
        <p:nvSpPr>
          <p:cNvPr id="44" name="Rectangle 43"/>
          <p:cNvSpPr/>
          <p:nvPr/>
        </p:nvSpPr>
        <p:spPr>
          <a:xfrm>
            <a:off x="6091200" y="3131999"/>
            <a:ext cx="2743200" cy="900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86000"/>
            <a:ext cx="1097280" cy="151200"/>
          </a:xfrm>
          <a:prstGeom prst="rect">
            <a:avLst/>
          </a:prstGeom>
          <a:noFill/>
        </p:spPr>
        <p:txBody>
          <a:bodyPr wrap="square">
            <a:spAutoFit/>
          </a:bodyPr>
          <a:lstStyle/>
          <a:p>
            <a:pPr algn="r"/>
            <a:r>
              <a:rPr sz="1100" b="1" i="0">
                <a:solidFill>
                  <a:srgbClr val="A82020"/>
                </a:solidFill>
                <a:latin typeface="Calibri"/>
              </a:rPr>
              <a:t>+20.5%</a:t>
            </a:r>
          </a:p>
        </p:txBody>
      </p:sp>
      <p:sp>
        <p:nvSpPr>
          <p:cNvPr id="47" name="TextBox 46"/>
          <p:cNvSpPr txBox="1"/>
          <p:nvPr/>
        </p:nvSpPr>
        <p:spPr>
          <a:xfrm>
            <a:off x="6199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94800"/>
            <a:ext cx="1097280" cy="151200"/>
          </a:xfrm>
          <a:prstGeom prst="rect">
            <a:avLst/>
          </a:prstGeom>
          <a:noFill/>
        </p:spPr>
        <p:txBody>
          <a:bodyPr wrap="square">
            <a:spAutoFit/>
          </a:bodyPr>
          <a:lstStyle/>
          <a:p>
            <a:pPr algn="r"/>
            <a:r>
              <a:rPr sz="1100" b="1" i="0">
                <a:solidFill>
                  <a:srgbClr val="A82020"/>
                </a:solidFill>
                <a:latin typeface="Calibri"/>
              </a:rPr>
              <a:t>2.54x</a:t>
            </a:r>
          </a:p>
        </p:txBody>
      </p:sp>
      <p:sp>
        <p:nvSpPr>
          <p:cNvPr id="49" name="TextBox 48"/>
          <p:cNvSpPr txBox="1"/>
          <p:nvPr/>
        </p:nvSpPr>
        <p:spPr>
          <a:xfrm>
            <a:off x="6199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03600"/>
            <a:ext cx="1097280" cy="151200"/>
          </a:xfrm>
          <a:prstGeom prst="rect">
            <a:avLst/>
          </a:prstGeom>
          <a:noFill/>
        </p:spPr>
        <p:txBody>
          <a:bodyPr wrap="square">
            <a:spAutoFit/>
          </a:bodyPr>
          <a:lstStyle/>
          <a:p>
            <a:pPr algn="r"/>
            <a:r>
              <a:rPr sz="1100" b="1" i="0">
                <a:solidFill>
                  <a:srgbClr val="A82020"/>
                </a:solidFill>
                <a:latin typeface="Calibri"/>
              </a:rPr>
              <a:t>1.13x</a:t>
            </a:r>
          </a:p>
        </p:txBody>
      </p:sp>
      <p:sp>
        <p:nvSpPr>
          <p:cNvPr id="51" name="TextBox 50"/>
          <p:cNvSpPr txBox="1"/>
          <p:nvPr/>
        </p:nvSpPr>
        <p:spPr>
          <a:xfrm>
            <a:off x="6199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12400"/>
            <a:ext cx="1097280" cy="151200"/>
          </a:xfrm>
          <a:prstGeom prst="rect">
            <a:avLst/>
          </a:prstGeom>
          <a:noFill/>
        </p:spPr>
        <p:txBody>
          <a:bodyPr wrap="square">
            <a:spAutoFit/>
          </a:bodyPr>
          <a:lstStyle/>
          <a:p>
            <a:pPr algn="r"/>
            <a:r>
              <a:rPr sz="1100" b="1" i="0">
                <a:solidFill>
                  <a:srgbClr val="A82020"/>
                </a:solidFill>
                <a:latin typeface="Calibri"/>
              </a:rPr>
              <a:t>7.7x</a:t>
            </a:r>
          </a:p>
        </p:txBody>
      </p:sp>
      <p:sp>
        <p:nvSpPr>
          <p:cNvPr id="53" name="Rectangle 52"/>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56" name="TextBox 55"/>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Les risques principaux du montage portent sur quatre dimensions. (1) Opérationnel : compression des marges EBITDA en cas de ralentissement sectoriel, exécution du business plan sponsor (réduction coûts, croissance organique). (2) Financier : respect des covenants leverage et coverage, capacité de refinancement à 5 ans dans un environnement de taux incertain. (3) Marché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Concurrence AMD Intel</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record de 75% reposent sur un quasi-monopole sur les GPU haut de gamme, mais la concurrence d'AMD et Intel en 2025 pourrait grignoter 15% de parts de marché, réduisant le pricing power de NVDA. Les coûts de R&amp;D explosifs (3,2 Md$ en 2024) menacent la rentabilité à long terme malgré des marges actuelles élevées.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Valorisation excessive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ratio EV/EBITDA à 54,87x implique une valorisation excessive de 42% par rapport à la moyenne sectorielle de 38,5x, sans justification tangible d'un maintien de cette prime.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Demande IA volatile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L'hypothèse de croissance des revenus de 114,2% en 2025 est intenable : les ventes de GPU pour centres de données pourraient chuter de 30% si les budgets IA des hyperscalers se contractent, comme suggéré par les commandes réduites de Meta et Google. |</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en centres de données de 30%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AMD/Intel avec des GPU 30% moins chers et performants d'ici 2026</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du déploiement des GPU Blackwell en 2025, retardant les livraisons de 6 mois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33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348800"/>
            <a:ext cx="2696400" cy="158400"/>
          </a:xfrm>
          <a:prstGeom prst="rect">
            <a:avLst/>
          </a:prstGeom>
          <a:noFill/>
        </p:spPr>
        <p:txBody>
          <a:bodyPr wrap="square">
            <a:spAutoFit/>
          </a:bodyPr>
          <a:lstStyle/>
          <a:p>
            <a:pPr algn="l"/>
            <a:r>
              <a:rPr sz="700" b="0" i="0">
                <a:solidFill>
                  <a:srgbClr val="1B3A6B"/>
                </a:solidFill>
                <a:latin typeface="Calibri"/>
              </a:rPr>
              <a:t>Détresse : 35/100  Moderé</a:t>
            </a:r>
          </a:p>
        </p:txBody>
      </p:sp>
      <p:sp>
        <p:nvSpPr>
          <p:cNvPr id="35" name="Rectangle 34"/>
          <p:cNvSpPr/>
          <p:nvPr/>
        </p:nvSpPr>
        <p:spPr>
          <a:xfrm>
            <a:off x="324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348800"/>
            <a:ext cx="2696400" cy="158400"/>
          </a:xfrm>
          <a:prstGeom prst="rect">
            <a:avLst/>
          </a:prstGeom>
          <a:noFill/>
        </p:spPr>
        <p:txBody>
          <a:bodyPr wrap="square">
            <a:spAutoFit/>
          </a:bodyPr>
          <a:lstStyle/>
          <a:p>
            <a:pPr algn="l"/>
            <a:r>
              <a:rPr sz="700" b="0" i="0">
                <a:solidFill>
                  <a:srgbClr val="1B3A6B"/>
                </a:solidFill>
                <a:latin typeface="Calibri"/>
              </a:rPr>
              <a:t>M&amp;A : 57/100  Attractive</a:t>
            </a:r>
          </a:p>
        </p:txBody>
      </p:sp>
      <p:sp>
        <p:nvSpPr>
          <p:cNvPr id="38" name="Rectangle 37"/>
          <p:cNvSpPr/>
          <p:nvPr/>
        </p:nvSpPr>
        <p:spPr>
          <a:xfrm>
            <a:off x="612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34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539600"/>
            <a:ext cx="2696400" cy="158400"/>
          </a:xfrm>
          <a:prstGeom prst="rect">
            <a:avLst/>
          </a:prstGeom>
          <a:noFill/>
        </p:spPr>
        <p:txBody>
          <a:bodyPr wrap="square">
            <a:spAutoFit/>
          </a:bodyPr>
          <a:lstStyle/>
          <a:p>
            <a:pPr algn="l"/>
            <a:r>
              <a:rPr sz="700" b="0" i="0">
                <a:solidFill>
                  <a:srgbClr val="1B3A6B"/>
                </a:solidFill>
                <a:latin typeface="Calibri"/>
              </a:rPr>
              <a:t>Earnings Qualité : Correcte (0.98x)</a:t>
            </a:r>
          </a:p>
        </p:txBody>
      </p:sp>
      <p:sp>
        <p:nvSpPr>
          <p:cNvPr id="44" name="Rectangle 43"/>
          <p:cNvSpPr/>
          <p:nvPr/>
        </p:nvSpPr>
        <p:spPr>
          <a:xfrm>
            <a:off x="324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52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53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539600"/>
            <a:ext cx="2696400" cy="158400"/>
          </a:xfrm>
          <a:prstGeom prst="rect">
            <a:avLst/>
          </a:prstGeom>
          <a:noFill/>
        </p:spPr>
        <p:txBody>
          <a:bodyPr wrap="square">
            <a:spAutoFit/>
          </a:bodyPr>
          <a:lstStyle/>
          <a:p>
            <a:pPr algn="l"/>
            <a:r>
              <a:rPr sz="700" b="0" i="0">
                <a:solidFill>
                  <a:srgbClr val="1B3A6B"/>
                </a:solidFill>
                <a:latin typeface="Calibri"/>
              </a:rPr>
              <a:t>Dividende : Tres soutenable (2.1x)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+0,230</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42,7 %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14</a:t>
                      </a:r>
                    </a:p>
                  </a:txBody>
                  <a:tcPr>
                    <a:solidFill>
                      <a:srgbClr val="EAF4EF"/>
                    </a:solidFill>
                  </a:tcPr>
                </a:tc>
                <a:tc>
                  <a:txBody>
                    <a:bodyPr/>
                    <a:lstStyle/>
                    <a:p>
                      <a:pPr algn="ctr"/>
                      <a:r>
                        <a:rPr sz="800" b="0" i="0">
                          <a:solidFill>
                            <a:srgbClr val="0D0D0D"/>
                          </a:solidFill>
                          <a:latin typeface="Calibri"/>
                        </a:rPr>
                        <a:t>+0,427</a:t>
                      </a:r>
                    </a:p>
                  </a:txBody>
                  <a:tcPr>
                    <a:solidFill>
                      <a:srgbClr val="EAF4EF"/>
                    </a:solidFill>
                  </a:tcPr>
                </a:tc>
                <a:tc>
                  <a:txBody>
                    <a:bodyPr/>
                    <a:lstStyle/>
                    <a:p>
                      <a:pPr algn="ctr"/>
                      <a:r>
                        <a:rPr sz="800" b="0" i="0">
                          <a:solidFill>
                            <a:srgbClr val="0D0D0D"/>
                          </a:solidFill>
                          <a:latin typeface="Calibri"/>
                        </a:rPr>
                        <a:t>Adoption massive de l'IA générative dans les centres de données d'ici 2027, avec un marché estimé à 200 Md$ | Croissance des revenus Data Center de +85% YoY en 2026 grâce aux contrats hyperscalers | Expansion des marges nettes à 60% en…</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11</a:t>
                      </a:r>
                    </a:p>
                  </a:txBody>
                  <a:tcPr>
                    <a:solidFill>
                      <a:srgbClr val="FFFFFF"/>
                    </a:solidFill>
                  </a:tcPr>
                </a:tc>
                <a:tc>
                  <a:txBody>
                    <a:bodyPr/>
                    <a:lstStyle/>
                    <a:p>
                      <a:pPr algn="ctr"/>
                      <a:r>
                        <a:rPr sz="800" b="0" i="0">
                          <a:solidFill>
                            <a:srgbClr val="0D0D0D"/>
                          </a:solidFill>
                          <a:latin typeface="Calibri"/>
                        </a:rPr>
                        <a:t>+0,376</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+0,197</a:t>
                      </a:r>
                    </a:p>
                  </a:txBody>
                  <a:tcPr>
                    <a:solidFill>
                      <a:srgbClr val="FAF0EF"/>
                    </a:solidFill>
                  </a:tcPr>
                </a:tc>
                <a:tc>
                  <a:txBody>
                    <a:bodyPr/>
                    <a:lstStyle/>
                    <a:p>
                      <a:pPr algn="ctr"/>
                      <a:r>
                        <a:rPr sz="800" b="0" i="0">
                          <a:solidFill>
                            <a:srgbClr val="0D0D0D"/>
                          </a:solidFill>
                          <a:latin typeface="Calibri"/>
                        </a:rPr>
                        <a:t>Concurrence accrue d'AMD avec ses GPU Instinct MI300X, menaçant 15% de part de marché d'ici 2026 | Régulation antitrust aux États-Unis ou en UE, impactant les contrats avec les hyperscalers | Ralentissement de la demande en IA générative…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souligne une dynamique globalement positive pour NVIDIA cette semaine, portée par des partenariats stratégiques et une croissance soutenue. Cependant, certains titres mettent en lumière des risques concurrentiels et des ajustements de cibles chez des partenaires, tempérant l'optimisme général.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14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NVIDIA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Price (T.Rowe) Associates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51200"/>
          </a:xfrm>
          <a:prstGeom prst="rect">
            <a:avLst/>
          </a:prstGeom>
          <a:noFill/>
        </p:spPr>
        <p:txBody>
          <a:bodyPr wrap="none">
            <a:spAutoFit/>
          </a:bodyPr>
          <a:lstStyle/>
          <a:p>
            <a:pPr algn="l"/>
            <a:r>
              <a:rPr sz="950" b="1" i="0">
                <a:solidFill>
                  <a:srgbClr val="1B3A6B"/>
                </a:solidFill>
                <a:latin typeface="Calibri"/>
              </a:rPr>
              <a:t>NVDA — verdict final : BUY</a:t>
            </a:r>
          </a:p>
        </p:txBody>
      </p:sp>
      <p:sp>
        <p:nvSpPr>
          <p:cNvPr id="24" name="TextBox 23"/>
          <p:cNvSpPr txBox="1"/>
          <p:nvPr/>
        </p:nvSpPr>
        <p:spPr>
          <a:xfrm>
            <a:off x="475200" y="3524400"/>
            <a:ext cx="8298000" cy="1220400"/>
          </a:xfrm>
          <a:prstGeom prst="rect">
            <a:avLst/>
          </a:prstGeom>
          <a:noFill/>
        </p:spPr>
        <p:txBody>
          <a:bodyPr wrap="square">
            <a:spAutoFit/>
          </a:bodyPr>
          <a:lstStyle/>
          <a:p>
            <a:pPr algn="l"/>
            <a:r>
              <a:rPr sz="850" b="0" i="0">
                <a:solidFill>
                  <a:srgbClr val="555555"/>
                </a:solidFill>
                <a:latin typeface="Calibri"/>
              </a:rPr>
              <a:t>NVIDIA se négocie à 64,8x P/E vs une médiane sectorielle de 30x, reflétant une prime de croissance justifiée par des marges exceptionnelles. La valorisation reste attractive au regard de la trajectoire de revenus et de marges. NVIDIA affiche un P/E de 64,8x vs une médiane sectorielle de 30x, soit une prime de 116%. Cette prime est justifiée par des marges brutes de 75% (vs ~50% pour les pairs) et une croissance des revenus de +114% YoY. Une convergence vers la médiane impliquerait un downside de 54%, mais le différentiel de qualité justifie la prime actuelle. NVIDIA capte 80% du marché des GPU pour centres de données avec une marge brute de 75%, tirée par la demande en IA générative estimée à +120% par an jusqu'en 2027 Le chiffre d'affaires 2025 de 130,5 Md$ (+114% YoY) devrait atteindre 200 Md$ en 2026 grâce aux contrats avec les hyperscalers Les marges nettes de 56% en 2025 pourraient atteindre 60% en 2027 via l'effet volume et la réduction des coûts unitaires. NVIDIA domine l'écosystème IA avec des marges records et une croissance explosive. Le cours actuel ne reflète pas pleinement le leadership technologique et la demande structurelle en GPU pour l'IA générative.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USD  ·  Au 14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194,51 $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202,47 $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135,10 $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+44,0 %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+44,0 % sur 12 mois</a:t>
            </a:r>
          </a:p>
        </p:txBody>
      </p:sp>
      <p:pic>
        <p:nvPicPr>
          <p:cNvPr id="34" name="Picture 33" descr="image.png"/>
          <p:cNvPicPr>
            <a:picLocks noChangeAspect="1"/>
          </p:cNvPicPr>
          <p:nvPr/>
        </p:nvPicPr>
        <p:blipFill>
          <a:blip r:embed="rId2"/>
          <a:stretch>
            <a:fillRect/>
          </a:stretch>
        </p:blipFill>
        <p:spPr>
          <a:xfrm>
            <a:off x="367200" y="2102400"/>
            <a:ext cx="5580000" cy="1828800"/>
          </a:xfrm>
          <a:prstGeom prst="rect">
            <a:avLst/>
          </a:prstGeom>
        </p:spPr>
      </p:pic>
      <p:sp>
        <p:nvSpPr>
          <p:cNvPr id="35" name="Rectangle 34"/>
          <p:cNvSpPr/>
          <p:nvPr/>
        </p:nvSpPr>
        <p:spPr>
          <a:xfrm>
            <a:off x="6120000" y="2102400"/>
            <a:ext cx="2660400" cy="1828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000" y="2102400"/>
            <a:ext cx="79200" cy="182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8000" y="2131200"/>
            <a:ext cx="2545200" cy="151200"/>
          </a:xfrm>
          <a:prstGeom prst="rect">
            <a:avLst/>
          </a:prstGeom>
          <a:noFill/>
        </p:spPr>
        <p:txBody>
          <a:bodyPr wrap="none">
            <a:spAutoFit/>
          </a:bodyPr>
          <a:lstStyle/>
          <a:p>
            <a:pPr algn="l"/>
            <a:r>
              <a:rPr sz="950" b="1" i="0">
                <a:solidFill>
                  <a:srgbClr val="1B3A6B"/>
                </a:solidFill>
                <a:latin typeface="Calibri"/>
              </a:rPr>
              <a:t>Contexte macro et catalyseurs — NVDA</a:t>
            </a:r>
          </a:p>
        </p:txBody>
      </p:sp>
      <p:sp>
        <p:nvSpPr>
          <p:cNvPr id="38" name="TextBox 37"/>
          <p:cNvSpPr txBox="1"/>
          <p:nvPr/>
        </p:nvSpPr>
        <p:spPr>
          <a:xfrm>
            <a:off x="6228000" y="2300400"/>
            <a:ext cx="2545200" cy="1605600"/>
          </a:xfrm>
          <a:prstGeom prst="rect">
            <a:avLst/>
          </a:prstGeom>
          <a:noFill/>
        </p:spPr>
        <p:txBody>
          <a:bodyPr wrap="square">
            <a:spAutoFit/>
          </a:bodyPr>
          <a:lstStyle/>
          <a:p>
            <a:pPr algn="l"/>
            <a:r>
              <a:rPr sz="850" b="0" i="0">
                <a:solidFill>
                  <a:srgbClr val="555555"/>
                </a:solidFill>
                <a:latin typeface="Calibri"/>
              </a:rPr>
              <a:t>L'évolution du cours sur 52 semaines reflète les dynamiques macroéconomiques (politique monétaire, cycle économique) et les catalyseurs spécifiques au titre. Les phases de surperformance et de correction identifiées sur le graphique doivent être croisées avec le calendrier des publications de résultats et les révisions de consensus pour distinguer le signal du bruit.</a:t>
            </a:r>
          </a:p>
        </p:txBody>
      </p:sp>
      <p:sp>
        <p:nvSpPr>
          <p:cNvPr id="39" name="Rectangle 38"/>
          <p:cNvSpPr/>
          <p:nvPr/>
        </p:nvSpPr>
        <p:spPr>
          <a:xfrm>
            <a:off x="367200" y="4031999"/>
            <a:ext cx="8413200" cy="77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7200" y="4031999"/>
            <a:ext cx="79200" cy="77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NVDA — verdict final : BUY</a:t>
            </a:r>
          </a:p>
        </p:txBody>
      </p:sp>
      <p:sp>
        <p:nvSpPr>
          <p:cNvPr id="42" name="TextBox 41"/>
          <p:cNvSpPr txBox="1"/>
          <p:nvPr/>
        </p:nvSpPr>
        <p:spPr>
          <a:xfrm>
            <a:off x="475200" y="4230000"/>
            <a:ext cx="8298000" cy="550799"/>
          </a:xfrm>
          <a:prstGeom prst="rect">
            <a:avLst/>
          </a:prstGeom>
          <a:noFill/>
        </p:spPr>
        <p:txBody>
          <a:bodyPr wrap="square">
            <a:spAutoFit/>
          </a:bodyPr>
          <a:lstStyle/>
          <a:p>
            <a:pPr algn="l"/>
            <a:r>
              <a:rPr sz="850" b="0" i="0">
                <a:solidFill>
                  <a:srgbClr val="555555"/>
                </a:solidFill>
                <a:latin typeface="Calibri"/>
              </a:rPr>
              <a:t>NVIDIA domine l'écosystème IA avec des marges records et une croissance explosive. Le cours actuel ne reflète pas pleinement le leadership technologique et la demande structurelle en GPU pour l'IA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FinSight IA  ·  Rapport 14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14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NVIDIA capte 80% du marché des GPU pour centres de données avec une marge brute de 75%, tirée par la demande en IA générative estimée à +120% par an</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Le chiffre d'affaires 2025 de 130,5 Md$ (+114% YoY) devrait atteindre 200 Md$ en 2026 grâce aux contrats avec les hyperscalers</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Les marges nettes de 56% en 2025 pourraient atteindre 60% en 2027 via l'effet volume et la réduction des coûts unitaires.</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432000"/>
          </a:xfrm>
          <a:prstGeom prst="rect">
            <a:avLst/>
          </a:prstGeom>
          <a:noFill/>
        </p:spPr>
        <p:txBody>
          <a:bodyPr wrap="square">
            <a:spAutoFit/>
          </a:bodyPr>
          <a:lstStyle/>
          <a:p>
            <a:pPr algn="l"/>
            <a:r>
              <a:rPr sz="700" b="0" i="0">
                <a:solidFill>
                  <a:srgbClr val="555555"/>
                </a:solidFill>
                <a:latin typeface="Calibri"/>
              </a:rPr>
              <a:t>• Adoption massive de l'IA générative dans les centres de données d'ici</a:t>
            </a:r>
          </a:p>
        </p:txBody>
      </p:sp>
      <p:sp>
        <p:nvSpPr>
          <p:cNvPr id="37" name="Rectangle 36"/>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9" name="TextBox 38"/>
          <p:cNvSpPr txBox="1"/>
          <p:nvPr/>
        </p:nvSpPr>
        <p:spPr>
          <a:xfrm>
            <a:off x="6156000" y="2412000"/>
            <a:ext cx="2376000" cy="432000"/>
          </a:xfrm>
          <a:prstGeom prst="rect">
            <a:avLst/>
          </a:prstGeom>
          <a:noFill/>
        </p:spPr>
        <p:txBody>
          <a:bodyPr wrap="square">
            <a:spAutoFit/>
          </a:bodyPr>
          <a:lstStyle/>
          <a:p>
            <a:pPr algn="l"/>
            <a:r>
              <a:rPr sz="700" b="0" i="0">
                <a:solidFill>
                  <a:srgbClr val="555555"/>
                </a:solidFill>
                <a:latin typeface="Calibri"/>
              </a:rPr>
              <a:t>• Concurrence accrue d'AMD avec ses GPU Instinct MI300X, menaçant 15% de</a:t>
            </a:r>
          </a:p>
        </p:txBody>
      </p:sp>
      <p:sp>
        <p:nvSpPr>
          <p:cNvPr id="40" name="Rectangle 39"/>
          <p:cNvSpPr/>
          <p:nvPr/>
        </p:nvSpPr>
        <p:spPr>
          <a:xfrm>
            <a:off x="3311999" y="2970000"/>
            <a:ext cx="5472000" cy="558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311999" y="2970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01999" y="2988000"/>
            <a:ext cx="5310000" cy="522000"/>
          </a:xfrm>
          <a:prstGeom prst="rect">
            <a:avLst/>
          </a:prstGeom>
          <a:noFill/>
        </p:spPr>
        <p:txBody>
          <a:bodyPr wrap="square">
            <a:spAutoFit/>
          </a:bodyPr>
          <a:lstStyle/>
          <a:p>
            <a:pPr algn="l"/>
            <a:r>
              <a:rPr sz="750" b="0" i="0">
                <a:solidFill>
                  <a:srgbClr val="7A5000"/>
                </a:solidFill>
                <a:latin typeface="Calibri"/>
              </a:rPr>
              <a:t>⚠ Conditions d’invalidation : Macro: Récession mondiale réduisant la demande en centres de données de 30%  ·  Sectoriel: Concurrence AMD/Intel avec des GPU 30% moins chers et performants d'ici 2026</a:t>
            </a:r>
          </a:p>
        </p:txBody>
      </p:sp>
      <p:sp>
        <p:nvSpPr>
          <p:cNvPr id="43" name="TextBox 42"/>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