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9144000" cy="5144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1371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5600"/>
            <a:ext cx="8229600" cy="255600"/>
          </a:xfrm>
          <a:prstGeom prst="rect">
            <a:avLst/>
          </a:prstGeom>
          <a:noFill/>
        </p:spPr>
        <p:txBody>
          <a:bodyPr wrap="square">
            <a:spAutoFit/>
          </a:bodyPr>
          <a:lstStyle/>
          <a:p>
            <a:pPr algn="ctr"/>
            <a:r>
              <a:rPr sz="1000" b="0" i="0">
                <a:solidFill>
                  <a:srgbClr val="8899BB"/>
                </a:solidFill>
                <a:latin typeface="Calibri"/>
              </a:rPr>
              <a:t>FinSight IA</a:t>
            </a:r>
          </a:p>
        </p:txBody>
      </p:sp>
      <p:sp>
        <p:nvSpPr>
          <p:cNvPr id="4" name="Rectangle 3"/>
          <p:cNvSpPr/>
          <p:nvPr/>
        </p:nvSpPr>
        <p:spPr>
          <a:xfrm>
            <a:off x="3978000" y="475200"/>
            <a:ext cx="1188000" cy="1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547200"/>
            <a:ext cx="8229600" cy="291600"/>
          </a:xfrm>
          <a:prstGeom prst="rect">
            <a:avLst/>
          </a:prstGeom>
          <a:noFill/>
        </p:spPr>
        <p:txBody>
          <a:bodyPr wrap="square">
            <a:spAutoFit/>
          </a:bodyPr>
          <a:lstStyle/>
          <a:p>
            <a:pPr algn="ctr"/>
            <a:r>
              <a:rPr sz="1100" b="0" i="0">
                <a:solidFill>
                  <a:srgbClr val="CCDDEE"/>
                </a:solidFill>
                <a:latin typeface="Calibri"/>
              </a:rPr>
              <a:t>Pitchbook  —  Analyse d'investissement</a:t>
            </a:r>
          </a:p>
        </p:txBody>
      </p:sp>
      <p:sp>
        <p:nvSpPr>
          <p:cNvPr id="6" name="TextBox 5"/>
          <p:cNvSpPr txBox="1"/>
          <p:nvPr/>
        </p:nvSpPr>
        <p:spPr>
          <a:xfrm>
            <a:off x="457200" y="1461599"/>
            <a:ext cx="8229600" cy="691297"/>
          </a:xfrm>
          <a:prstGeom prst="rect">
            <a:avLst/>
          </a:prstGeom>
          <a:noFill/>
        </p:spPr>
        <p:txBody>
          <a:bodyPr wrap="square">
            <a:spAutoFit/>
          </a:bodyPr>
          <a:lstStyle/>
          <a:p>
            <a:pPr algn="ctr"/>
            <a:r>
              <a:rPr sz="3400" b="1" i="0">
                <a:solidFill>
                  <a:srgbClr val="1B3A6B"/>
                </a:solidFill>
                <a:latin typeface="Calibri"/>
              </a:rPr>
              <a:t>NVIDIA Corporation</a:t>
            </a:r>
          </a:p>
        </p:txBody>
      </p:sp>
      <p:sp>
        <p:nvSpPr>
          <p:cNvPr id="7" name="TextBox 6"/>
          <p:cNvSpPr txBox="1"/>
          <p:nvPr/>
        </p:nvSpPr>
        <p:spPr>
          <a:xfrm>
            <a:off x="457200" y="2242897"/>
            <a:ext cx="8229600" cy="255600"/>
          </a:xfrm>
          <a:prstGeom prst="rect">
            <a:avLst/>
          </a:prstGeom>
          <a:noFill/>
        </p:spPr>
        <p:txBody>
          <a:bodyPr wrap="square">
            <a:spAutoFit/>
          </a:bodyPr>
          <a:lstStyle/>
          <a:p>
            <a:pPr algn="ctr"/>
            <a:r>
              <a:rPr sz="1100" b="0" i="0">
                <a:solidFill>
                  <a:srgbClr val="888888"/>
                </a:solidFill>
                <a:latin typeface="Calibri"/>
              </a:rPr>
              <a:t>NVDA  ·  Technology</a:t>
            </a:r>
          </a:p>
        </p:txBody>
      </p:sp>
      <p:sp>
        <p:nvSpPr>
          <p:cNvPr id="8" name="Rectangle 7"/>
          <p:cNvSpPr/>
          <p:nvPr/>
        </p:nvSpPr>
        <p:spPr>
          <a:xfrm>
            <a:off x="2771999" y="2617297"/>
            <a:ext cx="3600000" cy="432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826000" y="2635297"/>
            <a:ext cx="3491999" cy="395999"/>
          </a:xfrm>
          <a:prstGeom prst="rect">
            <a:avLst/>
          </a:prstGeom>
          <a:noFill/>
        </p:spPr>
        <p:txBody>
          <a:bodyPr wrap="square">
            <a:spAutoFit/>
          </a:bodyPr>
          <a:lstStyle/>
          <a:p>
            <a:pPr algn="ctr"/>
            <a:r>
              <a:rPr sz="900" b="1" i="0">
                <a:solidFill>
                  <a:srgbClr val="FFFFFF"/>
                </a:solidFill>
                <a:latin typeface="Calibri"/>
              </a:rPr>
              <a:t>● BUY  ·  Prix cible base : 220 $  ·  Upside : +24,0 %</a:t>
            </a:r>
          </a:p>
        </p:txBody>
      </p:sp>
      <p:sp>
        <p:nvSpPr>
          <p:cNvPr id="10" name="Rectangle 9"/>
          <p:cNvSpPr/>
          <p:nvPr/>
        </p:nvSpPr>
        <p:spPr>
          <a:xfrm>
            <a:off x="367200" y="44640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7200" y="4554000"/>
            <a:ext cx="4114800" cy="201600"/>
          </a:xfrm>
          <a:prstGeom prst="rect">
            <a:avLst/>
          </a:prstGeom>
          <a:noFill/>
        </p:spPr>
        <p:txBody>
          <a:bodyPr wrap="square">
            <a:spAutoFit/>
          </a:bodyPr>
          <a:lstStyle/>
          <a:p>
            <a:pPr algn="l"/>
            <a:r>
              <a:rPr sz="800" b="0" i="0">
                <a:solidFill>
                  <a:srgbClr val="555555"/>
                </a:solidFill>
                <a:latin typeface="Calibri"/>
              </a:rPr>
              <a:t>Rapport confidentiel</a:t>
            </a:r>
          </a:p>
        </p:txBody>
      </p:sp>
      <p:sp>
        <p:nvSpPr>
          <p:cNvPr id="12" name="TextBox 11"/>
          <p:cNvSpPr txBox="1"/>
          <p:nvPr/>
        </p:nvSpPr>
        <p:spPr>
          <a:xfrm>
            <a:off x="4662000" y="4554000"/>
            <a:ext cx="4114800" cy="201600"/>
          </a:xfrm>
          <a:prstGeom prst="rect">
            <a:avLst/>
          </a:prstGeom>
          <a:noFill/>
        </p:spPr>
        <p:txBody>
          <a:bodyPr wrap="square">
            <a:spAutoFit/>
          </a:bodyPr>
          <a:lstStyle/>
          <a:p>
            <a:pPr algn="r"/>
            <a:r>
              <a:rPr sz="800" b="0" i="0">
                <a:solidFill>
                  <a:srgbClr val="555555"/>
                </a:solidFill>
                <a:latin typeface="Calibri"/>
              </a:rPr>
              <a:t>5 avril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Executive Summary</a:t>
            </a:r>
          </a:p>
        </p:txBody>
      </p:sp>
      <p:sp>
        <p:nvSpPr>
          <p:cNvPr id="6" name="Rectangle 5"/>
          <p:cNvSpPr/>
          <p:nvPr/>
        </p:nvSpPr>
        <p:spPr>
          <a:xfrm>
            <a:off x="367200" y="748800"/>
            <a:ext cx="8413200" cy="4392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7200" y="748800"/>
            <a:ext cx="46800" cy="4392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999" y="766800"/>
            <a:ext cx="1098000" cy="403200"/>
          </a:xfrm>
          <a:prstGeom prst="rect">
            <a:avLst/>
          </a:prstGeom>
          <a:noFill/>
        </p:spPr>
        <p:txBody>
          <a:bodyPr wrap="square">
            <a:spAutoFit/>
          </a:bodyPr>
          <a:lstStyle/>
          <a:p>
            <a:pPr algn="l"/>
            <a:r>
              <a:rPr sz="1100" b="1" i="0">
                <a:solidFill>
                  <a:srgbClr val="1A7A4A"/>
                </a:solidFill>
                <a:latin typeface="Calibri"/>
              </a:rPr>
              <a:t>● BUY</a:t>
            </a:r>
          </a:p>
        </p:txBody>
      </p:sp>
      <p:sp>
        <p:nvSpPr>
          <p:cNvPr id="9" name="TextBox 8"/>
          <p:cNvSpPr txBox="1"/>
          <p:nvPr/>
        </p:nvSpPr>
        <p:spPr>
          <a:xfrm>
            <a:off x="1692000" y="766800"/>
            <a:ext cx="6948000" cy="403200"/>
          </a:xfrm>
          <a:prstGeom prst="rect">
            <a:avLst/>
          </a:prstGeom>
          <a:noFill/>
        </p:spPr>
        <p:txBody>
          <a:bodyPr wrap="square">
            <a:spAutoFit/>
          </a:bodyPr>
          <a:lstStyle/>
          <a:p>
            <a:pPr algn="l"/>
            <a:r>
              <a:rPr sz="900" b="0" i="0">
                <a:solidFill>
                  <a:srgbClr val="1B3A6B"/>
                </a:solidFill>
                <a:latin typeface="Calibri"/>
              </a:rPr>
              <a:t>Prix cible base : 220 $  ·  Upside : +24,0 %  ·  Bear : 150 $ (-15,4 %)  ·  Bull : 260 $ (+46,6 %)</a:t>
            </a:r>
          </a:p>
        </p:txBody>
      </p:sp>
      <p:sp>
        <p:nvSpPr>
          <p:cNvPr id="10" name="Rectangle 9"/>
          <p:cNvSpPr/>
          <p:nvPr/>
        </p:nvSpPr>
        <p:spPr>
          <a:xfrm>
            <a:off x="367200" y="1353600"/>
            <a:ext cx="4161600" cy="255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7200" y="1353600"/>
            <a:ext cx="4161600" cy="255600"/>
          </a:xfrm>
          <a:prstGeom prst="rect">
            <a:avLst/>
          </a:prstGeom>
          <a:noFill/>
        </p:spPr>
        <p:txBody>
          <a:bodyPr wrap="square">
            <a:spAutoFit/>
          </a:bodyPr>
          <a:lstStyle/>
          <a:p>
            <a:pPr algn="l"/>
            <a:r>
              <a:rPr sz="900" b="1" i="0">
                <a:solidFill>
                  <a:srgbClr val="FFFFFF"/>
                </a:solidFill>
                <a:latin typeface="Calibri"/>
              </a:rPr>
              <a:t>THÈSE D'INVESTISSEMENT</a:t>
            </a:r>
          </a:p>
        </p:txBody>
      </p:sp>
      <p:sp>
        <p:nvSpPr>
          <p:cNvPr id="12" name="Rectangle 11"/>
          <p:cNvSpPr/>
          <p:nvPr/>
        </p:nvSpPr>
        <p:spPr>
          <a:xfrm>
            <a:off x="367200" y="16632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3999" y="1645200"/>
            <a:ext cx="3931200" cy="183600"/>
          </a:xfrm>
          <a:prstGeom prst="rect">
            <a:avLst/>
          </a:prstGeom>
          <a:noFill/>
        </p:spPr>
        <p:txBody>
          <a:bodyPr wrap="square">
            <a:spAutoFit/>
          </a:bodyPr>
          <a:lstStyle/>
          <a:p>
            <a:pPr algn="l"/>
            <a:r>
              <a:rPr sz="850" b="1" i="0">
                <a:solidFill>
                  <a:srgbClr val="1B3A6B"/>
                </a:solidFill>
                <a:latin typeface="Calibri"/>
              </a:rPr>
              <a:t>Leadership IA</a:t>
            </a:r>
          </a:p>
        </p:txBody>
      </p:sp>
      <p:sp>
        <p:nvSpPr>
          <p:cNvPr id="14" name="TextBox 13"/>
          <p:cNvSpPr txBox="1"/>
          <p:nvPr/>
        </p:nvSpPr>
        <p:spPr>
          <a:xfrm>
            <a:off x="503999" y="1814400"/>
            <a:ext cx="3931200" cy="378000"/>
          </a:xfrm>
          <a:prstGeom prst="rect">
            <a:avLst/>
          </a:prstGeom>
          <a:noFill/>
        </p:spPr>
        <p:txBody>
          <a:bodyPr wrap="square">
            <a:spAutoFit/>
          </a:bodyPr>
          <a:lstStyle/>
          <a:p>
            <a:pPr algn="l"/>
            <a:r>
              <a:rPr sz="750" b="0" i="0">
                <a:solidFill>
                  <a:srgbClr val="333333"/>
                </a:solidFill>
                <a:latin typeface="Calibri"/>
              </a:rPr>
              <a:t>NVIDIA capture 90% du marché des GPU pour data centers avec une croissance CA 2025 de 114% YoY</a:t>
            </a:r>
          </a:p>
        </p:txBody>
      </p:sp>
      <p:sp>
        <p:nvSpPr>
          <p:cNvPr id="15" name="Rectangle 14"/>
          <p:cNvSpPr/>
          <p:nvPr/>
        </p:nvSpPr>
        <p:spPr>
          <a:xfrm>
            <a:off x="367200" y="22140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3999" y="2196000"/>
            <a:ext cx="3931200" cy="183600"/>
          </a:xfrm>
          <a:prstGeom prst="rect">
            <a:avLst/>
          </a:prstGeom>
          <a:noFill/>
        </p:spPr>
        <p:txBody>
          <a:bodyPr wrap="square">
            <a:spAutoFit/>
          </a:bodyPr>
          <a:lstStyle/>
          <a:p>
            <a:pPr algn="l"/>
            <a:r>
              <a:rPr sz="850" b="1" i="0">
                <a:solidFill>
                  <a:srgbClr val="1B3A6B"/>
                </a:solidFill>
                <a:latin typeface="Calibri"/>
              </a:rPr>
              <a:t>Marges exceptionnelles</a:t>
            </a:r>
          </a:p>
        </p:txBody>
      </p:sp>
      <p:sp>
        <p:nvSpPr>
          <p:cNvPr id="17" name="TextBox 16"/>
          <p:cNvSpPr txBox="1"/>
          <p:nvPr/>
        </p:nvSpPr>
        <p:spPr>
          <a:xfrm>
            <a:off x="503999" y="2365200"/>
            <a:ext cx="3931200" cy="378000"/>
          </a:xfrm>
          <a:prstGeom prst="rect">
            <a:avLst/>
          </a:prstGeom>
          <a:noFill/>
        </p:spPr>
        <p:txBody>
          <a:bodyPr wrap="square">
            <a:spAutoFit/>
          </a:bodyPr>
          <a:lstStyle/>
          <a:p>
            <a:pPr algn="l"/>
            <a:r>
              <a:rPr sz="750" b="0" i="0">
                <a:solidFill>
                  <a:srgbClr val="333333"/>
                </a:solidFill>
                <a:latin typeface="Calibri"/>
              </a:rPr>
              <a:t>L'adoption des GPU H100/H200 devrait générer +$50Md de CA additionnel d'ici 2027</a:t>
            </a:r>
          </a:p>
        </p:txBody>
      </p:sp>
      <p:sp>
        <p:nvSpPr>
          <p:cNvPr id="18" name="Rectangle 17"/>
          <p:cNvSpPr/>
          <p:nvPr/>
        </p:nvSpPr>
        <p:spPr>
          <a:xfrm>
            <a:off x="367200" y="27648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3999" y="2746800"/>
            <a:ext cx="3931200" cy="183600"/>
          </a:xfrm>
          <a:prstGeom prst="rect">
            <a:avLst/>
          </a:prstGeom>
          <a:noFill/>
        </p:spPr>
        <p:txBody>
          <a:bodyPr wrap="square">
            <a:spAutoFit/>
          </a:bodyPr>
          <a:lstStyle/>
          <a:p>
            <a:pPr algn="l"/>
            <a:r>
              <a:rPr sz="850" b="1" i="0">
                <a:solidFill>
                  <a:srgbClr val="1B3A6B"/>
                </a:solidFill>
                <a:latin typeface="Calibri"/>
              </a:rPr>
              <a:t>Écosystème CUDA</a:t>
            </a:r>
          </a:p>
        </p:txBody>
      </p:sp>
      <p:sp>
        <p:nvSpPr>
          <p:cNvPr id="20" name="TextBox 19"/>
          <p:cNvSpPr txBox="1"/>
          <p:nvPr/>
        </p:nvSpPr>
        <p:spPr>
          <a:xfrm>
            <a:off x="503999" y="2916000"/>
            <a:ext cx="3931200" cy="378000"/>
          </a:xfrm>
          <a:prstGeom prst="rect">
            <a:avLst/>
          </a:prstGeom>
          <a:noFill/>
        </p:spPr>
        <p:txBody>
          <a:bodyPr wrap="square">
            <a:spAutoFit/>
          </a:bodyPr>
          <a:lstStyle/>
          <a:p>
            <a:pPr algn="l"/>
            <a:r>
              <a:rPr sz="750" b="0" i="0">
                <a:solidFill>
                  <a:srgbClr val="333333"/>
                </a:solidFill>
                <a:latin typeface="Calibri"/>
              </a:rPr>
              <a:t>Le mix produit (IA générative, cloud) maintient une marge nette &gt;55% malgré des investissements massifs en R&amp;D.</a:t>
            </a:r>
          </a:p>
        </p:txBody>
      </p:sp>
      <p:sp>
        <p:nvSpPr>
          <p:cNvPr id="21" name="Rectangle 20"/>
          <p:cNvSpPr/>
          <p:nvPr/>
        </p:nvSpPr>
        <p:spPr>
          <a:xfrm>
            <a:off x="4708800" y="1353600"/>
            <a:ext cx="4068000" cy="255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08800" y="1353600"/>
            <a:ext cx="4068000" cy="255600"/>
          </a:xfrm>
          <a:prstGeom prst="rect">
            <a:avLst/>
          </a:prstGeom>
          <a:noFill/>
        </p:spPr>
        <p:txBody>
          <a:bodyPr wrap="square">
            <a:spAutoFit/>
          </a:bodyPr>
          <a:lstStyle/>
          <a:p>
            <a:pPr algn="l"/>
            <a:r>
              <a:rPr sz="900" b="1" i="0">
                <a:solidFill>
                  <a:srgbClr val="FFFFFF"/>
                </a:solidFill>
                <a:latin typeface="Calibri"/>
              </a:rPr>
              <a:t>RISQUES PRINCIPAUX</a:t>
            </a:r>
          </a:p>
        </p:txBody>
      </p:sp>
      <p:sp>
        <p:nvSpPr>
          <p:cNvPr id="23" name="Rectangle 22"/>
          <p:cNvSpPr/>
          <p:nvPr/>
        </p:nvSpPr>
        <p:spPr>
          <a:xfrm>
            <a:off x="4708800" y="16632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845600" y="1645200"/>
            <a:ext cx="3794399" cy="183600"/>
          </a:xfrm>
          <a:prstGeom prst="rect">
            <a:avLst/>
          </a:prstGeom>
          <a:noFill/>
        </p:spPr>
        <p:txBody>
          <a:bodyPr wrap="square">
            <a:spAutoFit/>
          </a:bodyPr>
          <a:lstStyle/>
          <a:p>
            <a:pPr algn="l"/>
            <a:r>
              <a:rPr sz="850" b="1" i="0">
                <a:solidFill>
                  <a:srgbClr val="1B3A6B"/>
                </a:solidFill>
                <a:latin typeface="Calibri"/>
              </a:rPr>
              <a:t>Dépendance IA</a:t>
            </a:r>
          </a:p>
        </p:txBody>
      </p:sp>
      <p:sp>
        <p:nvSpPr>
          <p:cNvPr id="25" name="TextBox 24"/>
          <p:cNvSpPr txBox="1"/>
          <p:nvPr/>
        </p:nvSpPr>
        <p:spPr>
          <a:xfrm>
            <a:off x="4845600" y="1814400"/>
            <a:ext cx="3794399" cy="378000"/>
          </a:xfrm>
          <a:prstGeom prst="rect">
            <a:avLst/>
          </a:prstGeom>
          <a:noFill/>
        </p:spPr>
        <p:txBody>
          <a:bodyPr wrap="square">
            <a:spAutoFit/>
          </a:bodyPr>
          <a:lstStyle/>
          <a:p>
            <a:pPr algn="l"/>
            <a:r>
              <a:rPr sz="750" b="0" i="0">
                <a:solidFill>
                  <a:srgbClr val="333333"/>
                </a:solidFill>
                <a:latin typeface="Calibri"/>
              </a:rPr>
              <a:t>Concurrence accrue d'AMD avec les GPU MI300X, menaçant les parts de marché d'ici 2026 | Risque de surcapacité dans les data centers IA, entraînant une compression des marges | Régulation antitrust aux États-Unis ou en UE limitant les pratiques commerciales</a:t>
            </a:r>
          </a:p>
        </p:txBody>
      </p:sp>
      <p:sp>
        <p:nvSpPr>
          <p:cNvPr id="26" name="Rectangle 25"/>
          <p:cNvSpPr/>
          <p:nvPr/>
        </p:nvSpPr>
        <p:spPr>
          <a:xfrm>
            <a:off x="4708800" y="22140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845600" y="2196000"/>
            <a:ext cx="3794399" cy="183600"/>
          </a:xfrm>
          <a:prstGeom prst="rect">
            <a:avLst/>
          </a:prstGeom>
          <a:noFill/>
        </p:spPr>
        <p:txBody>
          <a:bodyPr wrap="square">
            <a:spAutoFit/>
          </a:bodyPr>
          <a:lstStyle/>
          <a:p>
            <a:pPr algn="l"/>
            <a:r>
              <a:rPr sz="850" b="1" i="0">
                <a:solidFill>
                  <a:srgbClr val="1B3A6B"/>
                </a:solidFill>
                <a:latin typeface="Calibri"/>
              </a:rPr>
              <a:t>Concurrence AMD</a:t>
            </a:r>
          </a:p>
        </p:txBody>
      </p:sp>
      <p:sp>
        <p:nvSpPr>
          <p:cNvPr id="28" name="TextBox 27"/>
          <p:cNvSpPr txBox="1"/>
          <p:nvPr/>
        </p:nvSpPr>
        <p:spPr>
          <a:xfrm>
            <a:off x="4845600" y="2365200"/>
            <a:ext cx="3794399" cy="378000"/>
          </a:xfrm>
          <a:prstGeom prst="rect">
            <a:avLst/>
          </a:prstGeom>
          <a:noFill/>
        </p:spPr>
        <p:txBody>
          <a:bodyPr wrap="square">
            <a:spAutoFit/>
          </a:bodyPr>
          <a:lstStyle/>
          <a:p>
            <a:pPr algn="l"/>
            <a:r>
              <a:rPr sz="750" b="0" i="0">
                <a:solidFill>
                  <a:srgbClr val="333333"/>
                </a:solidFill>
                <a:latin typeface="Calibri"/>
              </a:rPr>
              <a:t>Dépendance excessive à l'IA générative, secteur sujet à des cycles de hype | Risque de substitution par des solutions alternatives (TPU de Google, AI chips de startups) | Coûts élevés de R&amp;D (15% du CA) pouvant peser sur les marges à long terme</a:t>
            </a:r>
          </a:p>
        </p:txBody>
      </p:sp>
      <p:sp>
        <p:nvSpPr>
          <p:cNvPr id="29" name="Rectangle 28"/>
          <p:cNvSpPr/>
          <p:nvPr/>
        </p:nvSpPr>
        <p:spPr>
          <a:xfrm>
            <a:off x="4708800" y="27648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845600" y="2746800"/>
            <a:ext cx="3794399" cy="183600"/>
          </a:xfrm>
          <a:prstGeom prst="rect">
            <a:avLst/>
          </a:prstGeom>
          <a:noFill/>
        </p:spPr>
        <p:txBody>
          <a:bodyPr wrap="square">
            <a:spAutoFit/>
          </a:bodyPr>
          <a:lstStyle/>
          <a:p>
            <a:pPr algn="l"/>
            <a:r>
              <a:rPr sz="850" b="1" i="0">
                <a:solidFill>
                  <a:srgbClr val="1B3A6B"/>
                </a:solidFill>
                <a:latin typeface="Calibri"/>
              </a:rPr>
              <a:t>Régulation</a:t>
            </a:r>
          </a:p>
        </p:txBody>
      </p:sp>
      <p:sp>
        <p:nvSpPr>
          <p:cNvPr id="31" name="TextBox 30"/>
          <p:cNvSpPr txBox="1"/>
          <p:nvPr/>
        </p:nvSpPr>
        <p:spPr>
          <a:xfrm>
            <a:off x="4845600" y="2916000"/>
            <a:ext cx="3794399" cy="378000"/>
          </a:xfrm>
          <a:prstGeom prst="rect">
            <a:avLst/>
          </a:prstGeom>
          <a:noFill/>
        </p:spPr>
        <p:txBody>
          <a:bodyPr wrap="square">
            <a:spAutoFit/>
          </a:bodyPr>
          <a:lstStyle/>
          <a:p>
            <a:pPr algn="l"/>
            <a:r>
              <a:rPr sz="750" b="0" i="0">
                <a:solidFill>
                  <a:srgbClr val="333333"/>
                </a:solidFill>
                <a:latin typeface="Calibri"/>
              </a:rPr>
              <a:t>Ralentissement économique mondial réduisant la demande en GPU pour les data centers | Risque géopolitique (Chine) limitant l'accès aux marchés émergents | Cyberattaques ciblant les infrastructures IA, affectant la réputation de NVIDIA</a:t>
            </a:r>
          </a:p>
        </p:txBody>
      </p:sp>
      <p:sp>
        <p:nvSpPr>
          <p:cNvPr id="32" name="Rectangle 31"/>
          <p:cNvSpPr/>
          <p:nvPr/>
        </p:nvSpPr>
        <p:spPr>
          <a:xfrm>
            <a:off x="4525200" y="1353600"/>
            <a:ext cx="10800" cy="17424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67200" y="33012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672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672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57200" y="3430800"/>
            <a:ext cx="1893600" cy="396000"/>
          </a:xfrm>
          <a:prstGeom prst="rect">
            <a:avLst/>
          </a:prstGeom>
          <a:noFill/>
        </p:spPr>
        <p:txBody>
          <a:bodyPr wrap="square">
            <a:spAutoFit/>
          </a:bodyPr>
          <a:lstStyle/>
          <a:p>
            <a:pPr algn="l"/>
            <a:r>
              <a:rPr sz="1900" b="1" i="0">
                <a:solidFill>
                  <a:srgbClr val="1B3A6B"/>
                </a:solidFill>
                <a:latin typeface="Calibri"/>
              </a:rPr>
              <a:t>50,0x</a:t>
            </a:r>
          </a:p>
        </p:txBody>
      </p:sp>
      <p:sp>
        <p:nvSpPr>
          <p:cNvPr id="37" name="TextBox 36"/>
          <p:cNvSpPr txBox="1"/>
          <p:nvPr/>
        </p:nvSpPr>
        <p:spPr>
          <a:xfrm>
            <a:off x="457200" y="3826800"/>
            <a:ext cx="1893600" cy="205199"/>
          </a:xfrm>
          <a:prstGeom prst="rect">
            <a:avLst/>
          </a:prstGeom>
          <a:noFill/>
        </p:spPr>
        <p:txBody>
          <a:bodyPr wrap="square">
            <a:spAutoFit/>
          </a:bodyPr>
          <a:lstStyle/>
          <a:p>
            <a:pPr algn="l"/>
            <a:r>
              <a:rPr sz="800" b="0" i="0">
                <a:solidFill>
                  <a:srgbClr val="555555"/>
                </a:solidFill>
                <a:latin typeface="Calibri"/>
              </a:rPr>
              <a:t>EV/EBITDA</a:t>
            </a:r>
          </a:p>
        </p:txBody>
      </p:sp>
      <p:sp>
        <p:nvSpPr>
          <p:cNvPr id="38" name="TextBox 37"/>
          <p:cNvSpPr txBox="1"/>
          <p:nvPr/>
        </p:nvSpPr>
        <p:spPr>
          <a:xfrm>
            <a:off x="457200" y="4024800"/>
            <a:ext cx="1893600" cy="165600"/>
          </a:xfrm>
          <a:prstGeom prst="rect">
            <a:avLst/>
          </a:prstGeom>
          <a:noFill/>
        </p:spPr>
        <p:txBody>
          <a:bodyPr wrap="square">
            <a:spAutoFit/>
          </a:bodyPr>
          <a:lstStyle/>
          <a:p>
            <a:pPr algn="l"/>
            <a:r>
              <a:rPr sz="700" b="0" i="0">
                <a:solidFill>
                  <a:srgbClr val="888888"/>
                </a:solidFill>
                <a:latin typeface="Calibri"/>
              </a:rPr>
              <a:t>vs 18,0x médiane peers</a:t>
            </a:r>
          </a:p>
        </p:txBody>
      </p:sp>
      <p:sp>
        <p:nvSpPr>
          <p:cNvPr id="39" name="Rectangle 38"/>
          <p:cNvSpPr/>
          <p:nvPr/>
        </p:nvSpPr>
        <p:spPr>
          <a:xfrm>
            <a:off x="24876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24876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2577600" y="3430800"/>
            <a:ext cx="1893600" cy="396000"/>
          </a:xfrm>
          <a:prstGeom prst="rect">
            <a:avLst/>
          </a:prstGeom>
          <a:noFill/>
        </p:spPr>
        <p:txBody>
          <a:bodyPr wrap="square">
            <a:spAutoFit/>
          </a:bodyPr>
          <a:lstStyle/>
          <a:p>
            <a:pPr algn="l"/>
            <a:r>
              <a:rPr sz="1900" b="1" i="0">
                <a:solidFill>
                  <a:srgbClr val="1B3A6B"/>
                </a:solidFill>
                <a:latin typeface="Calibri"/>
              </a:rPr>
              <a:t>17,1 %</a:t>
            </a:r>
          </a:p>
        </p:txBody>
      </p:sp>
      <p:sp>
        <p:nvSpPr>
          <p:cNvPr id="42" name="TextBox 41"/>
          <p:cNvSpPr txBox="1"/>
          <p:nvPr/>
        </p:nvSpPr>
        <p:spPr>
          <a:xfrm>
            <a:off x="2577600" y="3826800"/>
            <a:ext cx="1893600" cy="205199"/>
          </a:xfrm>
          <a:prstGeom prst="rect">
            <a:avLst/>
          </a:prstGeom>
          <a:noFill/>
        </p:spPr>
        <p:txBody>
          <a:bodyPr wrap="square">
            <a:spAutoFit/>
          </a:bodyPr>
          <a:lstStyle/>
          <a:p>
            <a:pPr algn="l"/>
            <a:r>
              <a:rPr sz="800" b="0" i="0">
                <a:solidFill>
                  <a:srgbClr val="555555"/>
                </a:solidFill>
                <a:latin typeface="Calibri"/>
              </a:rPr>
              <a:t>WACC</a:t>
            </a:r>
          </a:p>
        </p:txBody>
      </p:sp>
      <p:sp>
        <p:nvSpPr>
          <p:cNvPr id="43" name="TextBox 42"/>
          <p:cNvSpPr txBox="1"/>
          <p:nvPr/>
        </p:nvSpPr>
        <p:spPr>
          <a:xfrm>
            <a:off x="2577600" y="4024800"/>
            <a:ext cx="1893600" cy="165600"/>
          </a:xfrm>
          <a:prstGeom prst="rect">
            <a:avLst/>
          </a:prstGeom>
          <a:noFill/>
        </p:spPr>
        <p:txBody>
          <a:bodyPr wrap="square">
            <a:spAutoFit/>
          </a:bodyPr>
          <a:lstStyle/>
          <a:p>
            <a:pPr algn="l"/>
            <a:r>
              <a:rPr sz="700" b="0" i="0">
                <a:solidFill>
                  <a:srgbClr val="888888"/>
                </a:solidFill>
                <a:latin typeface="Calibri"/>
              </a:rPr>
              <a:t>Beta 2,33  ·  RFR 4,3 %</a:t>
            </a:r>
          </a:p>
        </p:txBody>
      </p:sp>
      <p:sp>
        <p:nvSpPr>
          <p:cNvPr id="44" name="Rectangle 43"/>
          <p:cNvSpPr/>
          <p:nvPr/>
        </p:nvSpPr>
        <p:spPr>
          <a:xfrm>
            <a:off x="46080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46080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698000" y="3430800"/>
            <a:ext cx="1893600" cy="396000"/>
          </a:xfrm>
          <a:prstGeom prst="rect">
            <a:avLst/>
          </a:prstGeom>
          <a:noFill/>
        </p:spPr>
        <p:txBody>
          <a:bodyPr wrap="square">
            <a:spAutoFit/>
          </a:bodyPr>
          <a:lstStyle/>
          <a:p>
            <a:pPr algn="l"/>
            <a:r>
              <a:rPr sz="1900" b="1" i="0">
                <a:solidFill>
                  <a:srgbClr val="1B3A6B"/>
                </a:solidFill>
                <a:latin typeface="Calibri"/>
              </a:rPr>
              <a:t>220 $</a:t>
            </a:r>
          </a:p>
        </p:txBody>
      </p:sp>
      <p:sp>
        <p:nvSpPr>
          <p:cNvPr id="47" name="TextBox 46"/>
          <p:cNvSpPr txBox="1"/>
          <p:nvPr/>
        </p:nvSpPr>
        <p:spPr>
          <a:xfrm>
            <a:off x="4698000" y="3826800"/>
            <a:ext cx="1893600" cy="205199"/>
          </a:xfrm>
          <a:prstGeom prst="rect">
            <a:avLst/>
          </a:prstGeom>
          <a:noFill/>
        </p:spPr>
        <p:txBody>
          <a:bodyPr wrap="square">
            <a:spAutoFit/>
          </a:bodyPr>
          <a:lstStyle/>
          <a:p>
            <a:pPr algn="l"/>
            <a:r>
              <a:rPr sz="800" b="0" i="0">
                <a:solidFill>
                  <a:srgbClr val="555555"/>
                </a:solidFill>
                <a:latin typeface="Calibri"/>
              </a:rPr>
              <a:t>Valeur intrinsèque DCF</a:t>
            </a:r>
          </a:p>
        </p:txBody>
      </p:sp>
      <p:sp>
        <p:nvSpPr>
          <p:cNvPr id="48" name="TextBox 47"/>
          <p:cNvSpPr txBox="1"/>
          <p:nvPr/>
        </p:nvSpPr>
        <p:spPr>
          <a:xfrm>
            <a:off x="4698000" y="4024800"/>
            <a:ext cx="1893600" cy="165600"/>
          </a:xfrm>
          <a:prstGeom prst="rect">
            <a:avLst/>
          </a:prstGeom>
          <a:noFill/>
        </p:spPr>
        <p:txBody>
          <a:bodyPr wrap="square">
            <a:spAutoFit/>
          </a:bodyPr>
          <a:lstStyle/>
          <a:p>
            <a:pPr algn="l"/>
            <a:r>
              <a:rPr sz="700" b="0" i="0">
                <a:solidFill>
                  <a:srgbClr val="888888"/>
                </a:solidFill>
                <a:latin typeface="Calibri"/>
              </a:rPr>
              <a:t>Upside de +24,0 % vs cours</a:t>
            </a:r>
          </a:p>
        </p:txBody>
      </p:sp>
      <p:sp>
        <p:nvSpPr>
          <p:cNvPr id="49" name="Rectangle 48"/>
          <p:cNvSpPr/>
          <p:nvPr/>
        </p:nvSpPr>
        <p:spPr>
          <a:xfrm>
            <a:off x="67284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67284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818400" y="3430800"/>
            <a:ext cx="1893600" cy="396000"/>
          </a:xfrm>
          <a:prstGeom prst="rect">
            <a:avLst/>
          </a:prstGeom>
          <a:noFill/>
        </p:spPr>
        <p:txBody>
          <a:bodyPr wrap="square">
            <a:spAutoFit/>
          </a:bodyPr>
          <a:lstStyle/>
          <a:p>
            <a:pPr algn="l"/>
            <a:r>
              <a:rPr sz="1900" b="1" i="0">
                <a:solidFill>
                  <a:srgbClr val="1B3A6B"/>
                </a:solidFill>
                <a:latin typeface="Calibri"/>
              </a:rPr>
              <a:t>+0,249</a:t>
            </a:r>
          </a:p>
        </p:txBody>
      </p:sp>
      <p:sp>
        <p:nvSpPr>
          <p:cNvPr id="52" name="TextBox 51"/>
          <p:cNvSpPr txBox="1"/>
          <p:nvPr/>
        </p:nvSpPr>
        <p:spPr>
          <a:xfrm>
            <a:off x="6818400" y="3826800"/>
            <a:ext cx="1893600" cy="205199"/>
          </a:xfrm>
          <a:prstGeom prst="rect">
            <a:avLst/>
          </a:prstGeom>
          <a:noFill/>
        </p:spPr>
        <p:txBody>
          <a:bodyPr wrap="square">
            <a:spAutoFit/>
          </a:bodyPr>
          <a:lstStyle/>
          <a:p>
            <a:pPr algn="l"/>
            <a:r>
              <a:rPr sz="800" b="0" i="0">
                <a:solidFill>
                  <a:srgbClr val="555555"/>
                </a:solidFill>
                <a:latin typeface="Calibri"/>
              </a:rPr>
              <a:t>Sentiment FinBERT</a:t>
            </a:r>
          </a:p>
        </p:txBody>
      </p:sp>
      <p:sp>
        <p:nvSpPr>
          <p:cNvPr id="53" name="TextBox 52"/>
          <p:cNvSpPr txBox="1"/>
          <p:nvPr/>
        </p:nvSpPr>
        <p:spPr>
          <a:xfrm>
            <a:off x="6818400" y="4024800"/>
            <a:ext cx="1893600" cy="165600"/>
          </a:xfrm>
          <a:prstGeom prst="rect">
            <a:avLst/>
          </a:prstGeom>
          <a:noFill/>
        </p:spPr>
        <p:txBody>
          <a:bodyPr wrap="square">
            <a:spAutoFit/>
          </a:bodyPr>
          <a:lstStyle/>
          <a:p>
            <a:pPr algn="l"/>
            <a:r>
              <a:rPr sz="700" b="0" i="0">
                <a:solidFill>
                  <a:srgbClr val="888888"/>
                </a:solidFill>
                <a:latin typeface="Calibri"/>
              </a:rPr>
              <a:t>Neutre +  ·  30 articles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Sommaire</a:t>
            </a:r>
          </a:p>
        </p:txBody>
      </p:sp>
      <p:sp>
        <p:nvSpPr>
          <p:cNvPr id="6" name="Rectangle 5"/>
          <p:cNvSpPr/>
          <p:nvPr/>
        </p:nvSpPr>
        <p:spPr>
          <a:xfrm>
            <a:off x="367200" y="8964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7200" y="8964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999" y="950400"/>
            <a:ext cx="475200" cy="514800"/>
          </a:xfrm>
          <a:prstGeom prst="rect">
            <a:avLst/>
          </a:prstGeom>
          <a:noFill/>
        </p:spPr>
        <p:txBody>
          <a:bodyPr wrap="square">
            <a:spAutoFit/>
          </a:bodyPr>
          <a:lstStyle/>
          <a:p>
            <a:pPr algn="l"/>
            <a:r>
              <a:rPr sz="1700" b="1" i="0">
                <a:solidFill>
                  <a:srgbClr val="888888"/>
                </a:solidFill>
                <a:latin typeface="Calibri"/>
              </a:rPr>
              <a:t>01</a:t>
            </a:r>
          </a:p>
        </p:txBody>
      </p:sp>
      <p:sp>
        <p:nvSpPr>
          <p:cNvPr id="9" name="TextBox 8"/>
          <p:cNvSpPr txBox="1"/>
          <p:nvPr/>
        </p:nvSpPr>
        <p:spPr>
          <a:xfrm>
            <a:off x="1152000" y="968400"/>
            <a:ext cx="6120000" cy="255600"/>
          </a:xfrm>
          <a:prstGeom prst="rect">
            <a:avLst/>
          </a:prstGeom>
          <a:noFill/>
        </p:spPr>
        <p:txBody>
          <a:bodyPr wrap="square">
            <a:spAutoFit/>
          </a:bodyPr>
          <a:lstStyle/>
          <a:p>
            <a:pPr algn="l"/>
            <a:r>
              <a:rPr sz="1300" b="1" i="0">
                <a:solidFill>
                  <a:srgbClr val="1B3A6B"/>
                </a:solidFill>
                <a:latin typeface="Calibri"/>
              </a:rPr>
              <a:t>Company Overview</a:t>
            </a:r>
          </a:p>
        </p:txBody>
      </p:sp>
      <p:sp>
        <p:nvSpPr>
          <p:cNvPr id="10" name="TextBox 9"/>
          <p:cNvSpPr txBox="1"/>
          <p:nvPr/>
        </p:nvSpPr>
        <p:spPr>
          <a:xfrm>
            <a:off x="1152000" y="1202400"/>
            <a:ext cx="6120000" cy="255600"/>
          </a:xfrm>
          <a:prstGeom prst="rect">
            <a:avLst/>
          </a:prstGeom>
          <a:noFill/>
        </p:spPr>
        <p:txBody>
          <a:bodyPr wrap="square">
            <a:spAutoFit/>
          </a:bodyPr>
          <a:lstStyle/>
          <a:p>
            <a:pPr algn="l"/>
            <a:r>
              <a:rPr sz="850" b="0" i="0">
                <a:solidFill>
                  <a:srgbClr val="555555"/>
                </a:solidFill>
                <a:latin typeface="Calibri"/>
              </a:rPr>
              <a:t>NVIDIA Corporation  ·  Technology</a:t>
            </a:r>
          </a:p>
        </p:txBody>
      </p:sp>
      <p:sp>
        <p:nvSpPr>
          <p:cNvPr id="11" name="TextBox 10"/>
          <p:cNvSpPr txBox="1"/>
          <p:nvPr/>
        </p:nvSpPr>
        <p:spPr>
          <a:xfrm>
            <a:off x="7405200" y="1058400"/>
            <a:ext cx="1375200" cy="255600"/>
          </a:xfrm>
          <a:prstGeom prst="rect">
            <a:avLst/>
          </a:prstGeom>
          <a:noFill/>
        </p:spPr>
        <p:txBody>
          <a:bodyPr wrap="square">
            <a:spAutoFit/>
          </a:bodyPr>
          <a:lstStyle/>
          <a:p>
            <a:pPr algn="r"/>
            <a:r>
              <a:rPr sz="900" b="0" i="0">
                <a:solidFill>
                  <a:srgbClr val="2E5FA3"/>
                </a:solidFill>
                <a:latin typeface="Calibri"/>
              </a:rPr>
              <a:t>3–5</a:t>
            </a:r>
          </a:p>
        </p:txBody>
      </p:sp>
      <p:sp>
        <p:nvSpPr>
          <p:cNvPr id="12" name="Rectangle 11"/>
          <p:cNvSpPr/>
          <p:nvPr/>
        </p:nvSpPr>
        <p:spPr>
          <a:xfrm>
            <a:off x="367200" y="1591200"/>
            <a:ext cx="8413200" cy="622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67200" y="15912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3999" y="1645200"/>
            <a:ext cx="475200" cy="514800"/>
          </a:xfrm>
          <a:prstGeom prst="rect">
            <a:avLst/>
          </a:prstGeom>
          <a:noFill/>
        </p:spPr>
        <p:txBody>
          <a:bodyPr wrap="square">
            <a:spAutoFit/>
          </a:bodyPr>
          <a:lstStyle/>
          <a:p>
            <a:pPr algn="l"/>
            <a:r>
              <a:rPr sz="1700" b="1" i="0">
                <a:solidFill>
                  <a:srgbClr val="888888"/>
                </a:solidFill>
                <a:latin typeface="Calibri"/>
              </a:rPr>
              <a:t>02</a:t>
            </a:r>
          </a:p>
        </p:txBody>
      </p:sp>
      <p:sp>
        <p:nvSpPr>
          <p:cNvPr id="15" name="TextBox 14"/>
          <p:cNvSpPr txBox="1"/>
          <p:nvPr/>
        </p:nvSpPr>
        <p:spPr>
          <a:xfrm>
            <a:off x="1152000" y="1663200"/>
            <a:ext cx="6120000" cy="255600"/>
          </a:xfrm>
          <a:prstGeom prst="rect">
            <a:avLst/>
          </a:prstGeom>
          <a:noFill/>
        </p:spPr>
        <p:txBody>
          <a:bodyPr wrap="square">
            <a:spAutoFit/>
          </a:bodyPr>
          <a:lstStyle/>
          <a:p>
            <a:pPr algn="l"/>
            <a:r>
              <a:rPr sz="1300" b="1" i="0">
                <a:solidFill>
                  <a:srgbClr val="1B3A6B"/>
                </a:solidFill>
                <a:latin typeface="Calibri"/>
              </a:rPr>
              <a:t>Analyse Financière</a:t>
            </a:r>
          </a:p>
        </p:txBody>
      </p:sp>
      <p:sp>
        <p:nvSpPr>
          <p:cNvPr id="16" name="TextBox 15"/>
          <p:cNvSpPr txBox="1"/>
          <p:nvPr/>
        </p:nvSpPr>
        <p:spPr>
          <a:xfrm>
            <a:off x="1152000" y="1897199"/>
            <a:ext cx="6120000" cy="255600"/>
          </a:xfrm>
          <a:prstGeom prst="rect">
            <a:avLst/>
          </a:prstGeom>
          <a:noFill/>
        </p:spPr>
        <p:txBody>
          <a:bodyPr wrap="square">
            <a:spAutoFit/>
          </a:bodyPr>
          <a:lstStyle/>
          <a:p>
            <a:pPr algn="l"/>
            <a:r>
              <a:rPr sz="850" b="0" i="0">
                <a:solidFill>
                  <a:srgbClr val="555555"/>
                </a:solidFill>
                <a:latin typeface="Calibri"/>
              </a:rPr>
              <a:t>Compte de résultat, bilan &amp; liquidité, ratios</a:t>
            </a:r>
          </a:p>
        </p:txBody>
      </p:sp>
      <p:sp>
        <p:nvSpPr>
          <p:cNvPr id="17" name="TextBox 16"/>
          <p:cNvSpPr txBox="1"/>
          <p:nvPr/>
        </p:nvSpPr>
        <p:spPr>
          <a:xfrm>
            <a:off x="7405200" y="1753200"/>
            <a:ext cx="1375200" cy="255600"/>
          </a:xfrm>
          <a:prstGeom prst="rect">
            <a:avLst/>
          </a:prstGeom>
          <a:noFill/>
        </p:spPr>
        <p:txBody>
          <a:bodyPr wrap="square">
            <a:spAutoFit/>
          </a:bodyPr>
          <a:lstStyle/>
          <a:p>
            <a:pPr algn="r"/>
            <a:r>
              <a:rPr sz="900" b="0" i="0">
                <a:solidFill>
                  <a:srgbClr val="2E5FA3"/>
                </a:solidFill>
                <a:latin typeface="Calibri"/>
              </a:rPr>
              <a:t>6–8</a:t>
            </a:r>
          </a:p>
        </p:txBody>
      </p:sp>
      <p:sp>
        <p:nvSpPr>
          <p:cNvPr id="18" name="Rectangle 17"/>
          <p:cNvSpPr/>
          <p:nvPr/>
        </p:nvSpPr>
        <p:spPr>
          <a:xfrm>
            <a:off x="367200" y="22860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67200" y="22860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3999" y="2340000"/>
            <a:ext cx="475200" cy="514800"/>
          </a:xfrm>
          <a:prstGeom prst="rect">
            <a:avLst/>
          </a:prstGeom>
          <a:noFill/>
        </p:spPr>
        <p:txBody>
          <a:bodyPr wrap="square">
            <a:spAutoFit/>
          </a:bodyPr>
          <a:lstStyle/>
          <a:p>
            <a:pPr algn="l"/>
            <a:r>
              <a:rPr sz="1700" b="1" i="0">
                <a:solidFill>
                  <a:srgbClr val="888888"/>
                </a:solidFill>
                <a:latin typeface="Calibri"/>
              </a:rPr>
              <a:t>03</a:t>
            </a:r>
          </a:p>
        </p:txBody>
      </p:sp>
      <p:sp>
        <p:nvSpPr>
          <p:cNvPr id="21" name="TextBox 20"/>
          <p:cNvSpPr txBox="1"/>
          <p:nvPr/>
        </p:nvSpPr>
        <p:spPr>
          <a:xfrm>
            <a:off x="1152000" y="2358000"/>
            <a:ext cx="6120000" cy="255600"/>
          </a:xfrm>
          <a:prstGeom prst="rect">
            <a:avLst/>
          </a:prstGeom>
          <a:noFill/>
        </p:spPr>
        <p:txBody>
          <a:bodyPr wrap="square">
            <a:spAutoFit/>
          </a:bodyPr>
          <a:lstStyle/>
          <a:p>
            <a:pPr algn="l"/>
            <a:r>
              <a:rPr sz="1300" b="1" i="0">
                <a:solidFill>
                  <a:srgbClr val="1B3A6B"/>
                </a:solidFill>
                <a:latin typeface="Calibri"/>
              </a:rPr>
              <a:t>Valorisation</a:t>
            </a:r>
          </a:p>
        </p:txBody>
      </p:sp>
      <p:sp>
        <p:nvSpPr>
          <p:cNvPr id="22" name="TextBox 21"/>
          <p:cNvSpPr txBox="1"/>
          <p:nvPr/>
        </p:nvSpPr>
        <p:spPr>
          <a:xfrm>
            <a:off x="1152000" y="2591999"/>
            <a:ext cx="6120000" cy="255600"/>
          </a:xfrm>
          <a:prstGeom prst="rect">
            <a:avLst/>
          </a:prstGeom>
          <a:noFill/>
        </p:spPr>
        <p:txBody>
          <a:bodyPr wrap="square">
            <a:spAutoFit/>
          </a:bodyPr>
          <a:lstStyle/>
          <a:p>
            <a:pPr algn="l"/>
            <a:r>
              <a:rPr sz="850" b="0" i="0">
                <a:solidFill>
                  <a:srgbClr val="555555"/>
                </a:solidFill>
                <a:latin typeface="Calibri"/>
              </a:rPr>
              <a:t>DCF, comparable peers, Football Field</a:t>
            </a:r>
          </a:p>
        </p:txBody>
      </p:sp>
      <p:sp>
        <p:nvSpPr>
          <p:cNvPr id="23" name="TextBox 22"/>
          <p:cNvSpPr txBox="1"/>
          <p:nvPr/>
        </p:nvSpPr>
        <p:spPr>
          <a:xfrm>
            <a:off x="7405200" y="2448000"/>
            <a:ext cx="1375200" cy="255600"/>
          </a:xfrm>
          <a:prstGeom prst="rect">
            <a:avLst/>
          </a:prstGeom>
          <a:noFill/>
        </p:spPr>
        <p:txBody>
          <a:bodyPr wrap="square">
            <a:spAutoFit/>
          </a:bodyPr>
          <a:lstStyle/>
          <a:p>
            <a:pPr algn="r"/>
            <a:r>
              <a:rPr sz="900" b="0" i="0">
                <a:solidFill>
                  <a:srgbClr val="2E5FA3"/>
                </a:solidFill>
                <a:latin typeface="Calibri"/>
              </a:rPr>
              <a:t>9–11</a:t>
            </a:r>
          </a:p>
        </p:txBody>
      </p:sp>
      <p:sp>
        <p:nvSpPr>
          <p:cNvPr id="24" name="Rectangle 23"/>
          <p:cNvSpPr/>
          <p:nvPr/>
        </p:nvSpPr>
        <p:spPr>
          <a:xfrm>
            <a:off x="367200" y="2980800"/>
            <a:ext cx="8413200" cy="622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367200" y="29808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3999" y="3034800"/>
            <a:ext cx="475200" cy="514800"/>
          </a:xfrm>
          <a:prstGeom prst="rect">
            <a:avLst/>
          </a:prstGeom>
          <a:noFill/>
        </p:spPr>
        <p:txBody>
          <a:bodyPr wrap="square">
            <a:spAutoFit/>
          </a:bodyPr>
          <a:lstStyle/>
          <a:p>
            <a:pPr algn="l"/>
            <a:r>
              <a:rPr sz="1700" b="1" i="0">
                <a:solidFill>
                  <a:srgbClr val="888888"/>
                </a:solidFill>
                <a:latin typeface="Calibri"/>
              </a:rPr>
              <a:t>04</a:t>
            </a:r>
          </a:p>
        </p:txBody>
      </p:sp>
      <p:sp>
        <p:nvSpPr>
          <p:cNvPr id="27" name="TextBox 26"/>
          <p:cNvSpPr txBox="1"/>
          <p:nvPr/>
        </p:nvSpPr>
        <p:spPr>
          <a:xfrm>
            <a:off x="1152000" y="3052799"/>
            <a:ext cx="6120000" cy="255600"/>
          </a:xfrm>
          <a:prstGeom prst="rect">
            <a:avLst/>
          </a:prstGeom>
          <a:noFill/>
        </p:spPr>
        <p:txBody>
          <a:bodyPr wrap="square">
            <a:spAutoFit/>
          </a:bodyPr>
          <a:lstStyle/>
          <a:p>
            <a:pPr algn="l"/>
            <a:r>
              <a:rPr sz="1300" b="1" i="0">
                <a:solidFill>
                  <a:srgbClr val="1B3A6B"/>
                </a:solidFill>
                <a:latin typeface="Calibri"/>
              </a:rPr>
              <a:t>Risques &amp; Stratégie</a:t>
            </a:r>
          </a:p>
        </p:txBody>
      </p:sp>
      <p:sp>
        <p:nvSpPr>
          <p:cNvPr id="28" name="TextBox 27"/>
          <p:cNvSpPr txBox="1"/>
          <p:nvPr/>
        </p:nvSpPr>
        <p:spPr>
          <a:xfrm>
            <a:off x="1152000" y="3286799"/>
            <a:ext cx="6120000" cy="255600"/>
          </a:xfrm>
          <a:prstGeom prst="rect">
            <a:avLst/>
          </a:prstGeom>
          <a:noFill/>
        </p:spPr>
        <p:txBody>
          <a:bodyPr wrap="square">
            <a:spAutoFit/>
          </a:bodyPr>
          <a:lstStyle/>
          <a:p>
            <a:pPr algn="l"/>
            <a:r>
              <a:rPr sz="850" b="0" i="0">
                <a:solidFill>
                  <a:srgbClr val="555555"/>
                </a:solidFill>
                <a:latin typeface="Calibri"/>
              </a:rPr>
              <a:t>Dépendance IA  ·  Concurrence AMD</a:t>
            </a:r>
          </a:p>
        </p:txBody>
      </p:sp>
      <p:sp>
        <p:nvSpPr>
          <p:cNvPr id="29" name="TextBox 28"/>
          <p:cNvSpPr txBox="1"/>
          <p:nvPr/>
        </p:nvSpPr>
        <p:spPr>
          <a:xfrm>
            <a:off x="7405200" y="3142799"/>
            <a:ext cx="1375200" cy="255600"/>
          </a:xfrm>
          <a:prstGeom prst="rect">
            <a:avLst/>
          </a:prstGeom>
          <a:noFill/>
        </p:spPr>
        <p:txBody>
          <a:bodyPr wrap="square">
            <a:spAutoFit/>
          </a:bodyPr>
          <a:lstStyle/>
          <a:p>
            <a:pPr algn="r"/>
            <a:r>
              <a:rPr sz="900" b="0" i="0">
                <a:solidFill>
                  <a:srgbClr val="2E5FA3"/>
                </a:solidFill>
                <a:latin typeface="Calibri"/>
              </a:rPr>
              <a:t>12–13</a:t>
            </a:r>
          </a:p>
        </p:txBody>
      </p:sp>
      <p:sp>
        <p:nvSpPr>
          <p:cNvPr id="30" name="Rectangle 29"/>
          <p:cNvSpPr/>
          <p:nvPr/>
        </p:nvSpPr>
        <p:spPr>
          <a:xfrm>
            <a:off x="367200" y="36756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7200" y="36756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3999" y="3729600"/>
            <a:ext cx="475200" cy="514800"/>
          </a:xfrm>
          <a:prstGeom prst="rect">
            <a:avLst/>
          </a:prstGeom>
          <a:noFill/>
        </p:spPr>
        <p:txBody>
          <a:bodyPr wrap="square">
            <a:spAutoFit/>
          </a:bodyPr>
          <a:lstStyle/>
          <a:p>
            <a:pPr algn="l"/>
            <a:r>
              <a:rPr sz="1700" b="1" i="0">
                <a:solidFill>
                  <a:srgbClr val="888888"/>
                </a:solidFill>
                <a:latin typeface="Calibri"/>
              </a:rPr>
              <a:t>05</a:t>
            </a:r>
          </a:p>
        </p:txBody>
      </p:sp>
      <p:sp>
        <p:nvSpPr>
          <p:cNvPr id="33" name="TextBox 32"/>
          <p:cNvSpPr txBox="1"/>
          <p:nvPr/>
        </p:nvSpPr>
        <p:spPr>
          <a:xfrm>
            <a:off x="1152000" y="3747600"/>
            <a:ext cx="6120000" cy="255600"/>
          </a:xfrm>
          <a:prstGeom prst="rect">
            <a:avLst/>
          </a:prstGeom>
          <a:noFill/>
        </p:spPr>
        <p:txBody>
          <a:bodyPr wrap="square">
            <a:spAutoFit/>
          </a:bodyPr>
          <a:lstStyle/>
          <a:p>
            <a:pPr algn="l"/>
            <a:r>
              <a:rPr sz="1300" b="1" i="0">
                <a:solidFill>
                  <a:srgbClr val="1B3A6B"/>
                </a:solidFill>
                <a:latin typeface="Calibri"/>
              </a:rPr>
              <a:t>Sentiment &amp; Annexes</a:t>
            </a:r>
          </a:p>
        </p:txBody>
      </p:sp>
      <p:sp>
        <p:nvSpPr>
          <p:cNvPr id="34" name="TextBox 33"/>
          <p:cNvSpPr txBox="1"/>
          <p:nvPr/>
        </p:nvSpPr>
        <p:spPr>
          <a:xfrm>
            <a:off x="1152000" y="3981600"/>
            <a:ext cx="6120000" cy="255600"/>
          </a:xfrm>
          <a:prstGeom prst="rect">
            <a:avLst/>
          </a:prstGeom>
          <a:noFill/>
        </p:spPr>
        <p:txBody>
          <a:bodyPr wrap="square">
            <a:spAutoFit/>
          </a:bodyPr>
          <a:lstStyle/>
          <a:p>
            <a:pPr algn="l"/>
            <a:r>
              <a:rPr sz="850" b="0" i="0">
                <a:solidFill>
                  <a:srgbClr val="555555"/>
                </a:solidFill>
                <a:latin typeface="Calibri"/>
              </a:rPr>
              <a:t>FinBERT, actionnariat &amp; historique de cours</a:t>
            </a:r>
          </a:p>
        </p:txBody>
      </p:sp>
      <p:sp>
        <p:nvSpPr>
          <p:cNvPr id="35" name="TextBox 34"/>
          <p:cNvSpPr txBox="1"/>
          <p:nvPr/>
        </p:nvSpPr>
        <p:spPr>
          <a:xfrm>
            <a:off x="7405200" y="3837600"/>
            <a:ext cx="1375200" cy="255600"/>
          </a:xfrm>
          <a:prstGeom prst="rect">
            <a:avLst/>
          </a:prstGeom>
          <a:noFill/>
        </p:spPr>
        <p:txBody>
          <a:bodyPr wrap="square">
            <a:spAutoFit/>
          </a:bodyPr>
          <a:lstStyle/>
          <a:p>
            <a:pPr algn="r"/>
            <a:r>
              <a:rPr sz="900" b="0" i="0">
                <a:solidFill>
                  <a:srgbClr val="2E5FA3"/>
                </a:solidFill>
                <a:latin typeface="Calibri"/>
              </a:rPr>
              <a:t>14–15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01</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Company Overview</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Présentation, modèle économique &amp; données de marché</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1B3A6B"/>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Company Overview</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NVIDIA Corporation  ·  Présentation &amp; Positionnement stratégique</a:t>
            </a:r>
          </a:p>
        </p:txBody>
      </p:sp>
      <p:sp>
        <p:nvSpPr>
          <p:cNvPr id="17" name="Rectangle 16"/>
          <p:cNvSpPr/>
          <p:nvPr/>
        </p:nvSpPr>
        <p:spPr>
          <a:xfrm>
            <a:off x="367200" y="961200"/>
            <a:ext cx="4939200" cy="3520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3520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3999" y="1022400"/>
            <a:ext cx="4662000" cy="1440000"/>
          </a:xfrm>
          <a:prstGeom prst="rect">
            <a:avLst/>
          </a:prstGeom>
          <a:noFill/>
        </p:spPr>
        <p:txBody>
          <a:bodyPr wrap="square">
            <a:spAutoFit/>
          </a:bodyPr>
          <a:lstStyle/>
          <a:p>
            <a:pPr algn="l"/>
            <a:r>
              <a:rPr sz="850" b="0" i="0">
                <a:solidFill>
                  <a:srgbClr val="0D0D0D"/>
                </a:solidFill>
                <a:latin typeface="Calibri"/>
              </a:rPr>
              <a:t>NVIDIA Corporation conçoit des GPU et accélérateurs pour le calcul haute performance, l'IA et les graphismes. Leader sur le marché des data centers avec 90% de parts, l'entreprise bénéficie d'un écosystème logiciel exclusif (CUDA) et d'une avance technologique sur les concurrents. Ses avantages incluent une marge brute de 75%, une R&amp;D intensive et une forte fidélisation des clients (cloud providers, entreprises). L'entreprise articule son activité autour de deux segments stratégiques :</a:t>
            </a:r>
          </a:p>
        </p:txBody>
      </p:sp>
      <p:sp>
        <p:nvSpPr>
          <p:cNvPr id="20" name="Rectangle 19"/>
          <p:cNvSpPr/>
          <p:nvPr/>
        </p:nvSpPr>
        <p:spPr>
          <a:xfrm>
            <a:off x="503999" y="2599200"/>
            <a:ext cx="64800" cy="64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9200" y="2556000"/>
            <a:ext cx="4338000" cy="165600"/>
          </a:xfrm>
          <a:prstGeom prst="rect">
            <a:avLst/>
          </a:prstGeom>
          <a:noFill/>
        </p:spPr>
        <p:txBody>
          <a:bodyPr wrap="square">
            <a:spAutoFit/>
          </a:bodyPr>
          <a:lstStyle/>
          <a:p>
            <a:pPr algn="l"/>
            <a:r>
              <a:rPr sz="850" b="1" i="0">
                <a:solidFill>
                  <a:srgbClr val="0D0D0D"/>
                </a:solidFill>
                <a:latin typeface="Calibri"/>
              </a:rPr>
              <a:t>Data Center</a:t>
            </a:r>
          </a:p>
        </p:txBody>
      </p:sp>
      <p:sp>
        <p:nvSpPr>
          <p:cNvPr id="22" name="TextBox 21"/>
          <p:cNvSpPr txBox="1"/>
          <p:nvPr/>
        </p:nvSpPr>
        <p:spPr>
          <a:xfrm>
            <a:off x="619200" y="2714400"/>
            <a:ext cx="4338000" cy="503999"/>
          </a:xfrm>
          <a:prstGeom prst="rect">
            <a:avLst/>
          </a:prstGeom>
          <a:noFill/>
        </p:spPr>
        <p:txBody>
          <a:bodyPr wrap="square">
            <a:spAutoFit/>
          </a:bodyPr>
          <a:lstStyle/>
          <a:p>
            <a:pPr algn="l"/>
            <a:r>
              <a:rPr sz="750" b="0" i="1">
                <a:solidFill>
                  <a:srgbClr val="555555"/>
                </a:solidFill>
                <a:latin typeface="Calibri"/>
              </a:rPr>
              <a:t>Segment phare générant 80% du CA avec les GPU H100/H200 pour l'IA et le calcul scientifique. Clients : hyperscalers (AWS, Google, Microsoft) et entreprises. Croissance tirée par l'adoption de l'IA générative et les besoins en puissance de calcul. Marges supérieures à 70% grâce à la différenciation technologique et aux économies d'échelle.</a:t>
            </a:r>
          </a:p>
        </p:txBody>
      </p:sp>
      <p:sp>
        <p:nvSpPr>
          <p:cNvPr id="23" name="Rectangle 22"/>
          <p:cNvSpPr/>
          <p:nvPr/>
        </p:nvSpPr>
        <p:spPr>
          <a:xfrm>
            <a:off x="503999" y="3301199"/>
            <a:ext cx="64800" cy="64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9200" y="3257999"/>
            <a:ext cx="4338000" cy="165600"/>
          </a:xfrm>
          <a:prstGeom prst="rect">
            <a:avLst/>
          </a:prstGeom>
          <a:noFill/>
        </p:spPr>
        <p:txBody>
          <a:bodyPr wrap="square">
            <a:spAutoFit/>
          </a:bodyPr>
          <a:lstStyle/>
          <a:p>
            <a:pPr algn="l"/>
            <a:r>
              <a:rPr sz="850" b="1" i="0">
                <a:solidFill>
                  <a:srgbClr val="0D0D0D"/>
                </a:solidFill>
                <a:latin typeface="Calibri"/>
              </a:rPr>
              <a:t>Gaming</a:t>
            </a:r>
          </a:p>
        </p:txBody>
      </p:sp>
      <p:sp>
        <p:nvSpPr>
          <p:cNvPr id="25" name="TextBox 24"/>
          <p:cNvSpPr txBox="1"/>
          <p:nvPr/>
        </p:nvSpPr>
        <p:spPr>
          <a:xfrm>
            <a:off x="619200" y="3416399"/>
            <a:ext cx="4338000" cy="503999"/>
          </a:xfrm>
          <a:prstGeom prst="rect">
            <a:avLst/>
          </a:prstGeom>
          <a:noFill/>
        </p:spPr>
        <p:txBody>
          <a:bodyPr wrap="square">
            <a:spAutoFit/>
          </a:bodyPr>
          <a:lstStyle/>
          <a:p>
            <a:pPr algn="l"/>
            <a:r>
              <a:rPr sz="750" b="0" i="1">
                <a:solidFill>
                  <a:srgbClr val="555555"/>
                </a:solidFill>
                <a:latin typeface="Calibri"/>
              </a:rPr>
              <a:t>Second segment avec les GPU GeForce pour les joueurs et les stations de travail. CA stable mais croissance modérée (5-10% YoY). Marges élevées (50-60%) grâce à une marque premium et une forte demande pour le ray tracing. Clients : gamers, créateurs de contenu et professionnels.</a:t>
            </a:r>
          </a:p>
        </p:txBody>
      </p:sp>
      <p:sp>
        <p:nvSpPr>
          <p:cNvPr id="26" name="Rectangle 25"/>
          <p:cNvSpPr/>
          <p:nvPr/>
        </p:nvSpPr>
        <p:spPr>
          <a:xfrm>
            <a:off x="5558400" y="961200"/>
            <a:ext cx="3200400" cy="824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58400" y="961200"/>
            <a:ext cx="46800" cy="82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48400" y="1015200"/>
            <a:ext cx="3063600" cy="396000"/>
          </a:xfrm>
          <a:prstGeom prst="rect">
            <a:avLst/>
          </a:prstGeom>
          <a:noFill/>
        </p:spPr>
        <p:txBody>
          <a:bodyPr wrap="square">
            <a:spAutoFit/>
          </a:bodyPr>
          <a:lstStyle/>
          <a:p>
            <a:pPr algn="l"/>
            <a:r>
              <a:rPr sz="1900" b="1" i="0">
                <a:solidFill>
                  <a:srgbClr val="FFFFFF"/>
                </a:solidFill>
                <a:latin typeface="Calibri"/>
              </a:rPr>
              <a:t>4 310,6 Mds$</a:t>
            </a:r>
          </a:p>
        </p:txBody>
      </p:sp>
      <p:sp>
        <p:nvSpPr>
          <p:cNvPr id="29" name="TextBox 28"/>
          <p:cNvSpPr txBox="1"/>
          <p:nvPr/>
        </p:nvSpPr>
        <p:spPr>
          <a:xfrm>
            <a:off x="5648400" y="1411200"/>
            <a:ext cx="3063600" cy="205199"/>
          </a:xfrm>
          <a:prstGeom prst="rect">
            <a:avLst/>
          </a:prstGeom>
          <a:noFill/>
        </p:spPr>
        <p:txBody>
          <a:bodyPr wrap="square">
            <a:spAutoFit/>
          </a:bodyPr>
          <a:lstStyle/>
          <a:p>
            <a:pPr algn="l"/>
            <a:r>
              <a:rPr sz="800" b="0" i="0">
                <a:solidFill>
                  <a:srgbClr val="FFFFFF"/>
                </a:solidFill>
                <a:latin typeface="Calibri"/>
              </a:rPr>
              <a:t>Capitalisation boursière</a:t>
            </a:r>
          </a:p>
        </p:txBody>
      </p:sp>
      <p:sp>
        <p:nvSpPr>
          <p:cNvPr id="30" name="Rectangle 29"/>
          <p:cNvSpPr/>
          <p:nvPr/>
        </p:nvSpPr>
        <p:spPr>
          <a:xfrm>
            <a:off x="5558400" y="18468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58400" y="18468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648400" y="1900800"/>
            <a:ext cx="3063600" cy="396000"/>
          </a:xfrm>
          <a:prstGeom prst="rect">
            <a:avLst/>
          </a:prstGeom>
          <a:noFill/>
        </p:spPr>
        <p:txBody>
          <a:bodyPr wrap="square">
            <a:spAutoFit/>
          </a:bodyPr>
          <a:lstStyle/>
          <a:p>
            <a:pPr algn="l"/>
            <a:r>
              <a:rPr sz="1900" b="1" i="0">
                <a:solidFill>
                  <a:srgbClr val="1B3A6B"/>
                </a:solidFill>
                <a:latin typeface="Calibri"/>
              </a:rPr>
              <a:t>130,5 Mds$</a:t>
            </a:r>
          </a:p>
        </p:txBody>
      </p:sp>
      <p:sp>
        <p:nvSpPr>
          <p:cNvPr id="33" name="TextBox 32"/>
          <p:cNvSpPr txBox="1"/>
          <p:nvPr/>
        </p:nvSpPr>
        <p:spPr>
          <a:xfrm>
            <a:off x="5648400" y="2296800"/>
            <a:ext cx="3063600" cy="205199"/>
          </a:xfrm>
          <a:prstGeom prst="rect">
            <a:avLst/>
          </a:prstGeom>
          <a:noFill/>
        </p:spPr>
        <p:txBody>
          <a:bodyPr wrap="square">
            <a:spAutoFit/>
          </a:bodyPr>
          <a:lstStyle/>
          <a:p>
            <a:pPr algn="l"/>
            <a:r>
              <a:rPr sz="800" b="0" i="0">
                <a:solidFill>
                  <a:srgbClr val="555555"/>
                </a:solidFill>
                <a:latin typeface="Calibri"/>
              </a:rPr>
              <a:t>Chiffre d'affaires (2025)</a:t>
            </a:r>
          </a:p>
        </p:txBody>
      </p:sp>
      <p:sp>
        <p:nvSpPr>
          <p:cNvPr id="34" name="Rectangle 33"/>
          <p:cNvSpPr/>
          <p:nvPr/>
        </p:nvSpPr>
        <p:spPr>
          <a:xfrm>
            <a:off x="5558400" y="27324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558400" y="27324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648400" y="2786400"/>
            <a:ext cx="3063600" cy="396000"/>
          </a:xfrm>
          <a:prstGeom prst="rect">
            <a:avLst/>
          </a:prstGeom>
          <a:noFill/>
        </p:spPr>
        <p:txBody>
          <a:bodyPr wrap="square">
            <a:spAutoFit/>
          </a:bodyPr>
          <a:lstStyle/>
          <a:p>
            <a:pPr algn="l"/>
            <a:r>
              <a:rPr sz="1900" b="1" i="0">
                <a:solidFill>
                  <a:srgbClr val="1B3A6B"/>
                </a:solidFill>
                <a:latin typeface="Calibri"/>
              </a:rPr>
              <a:t>177,39 $</a:t>
            </a:r>
          </a:p>
        </p:txBody>
      </p:sp>
      <p:sp>
        <p:nvSpPr>
          <p:cNvPr id="37" name="TextBox 36"/>
          <p:cNvSpPr txBox="1"/>
          <p:nvPr/>
        </p:nvSpPr>
        <p:spPr>
          <a:xfrm>
            <a:off x="5648400" y="3182400"/>
            <a:ext cx="3063600" cy="205199"/>
          </a:xfrm>
          <a:prstGeom prst="rect">
            <a:avLst/>
          </a:prstGeom>
          <a:noFill/>
        </p:spPr>
        <p:txBody>
          <a:bodyPr wrap="square">
            <a:spAutoFit/>
          </a:bodyPr>
          <a:lstStyle/>
          <a:p>
            <a:pPr algn="l"/>
            <a:r>
              <a:rPr sz="800" b="0" i="0">
                <a:solidFill>
                  <a:srgbClr val="555555"/>
                </a:solidFill>
                <a:latin typeface="Calibri"/>
              </a:rPr>
              <a:t>Cours actuel</a:t>
            </a:r>
          </a:p>
        </p:txBody>
      </p:sp>
      <p:sp>
        <p:nvSpPr>
          <p:cNvPr id="38" name="Rectangle 37"/>
          <p:cNvSpPr/>
          <p:nvPr/>
        </p:nvSpPr>
        <p:spPr>
          <a:xfrm>
            <a:off x="5558400" y="36216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558400" y="36216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648400" y="3675600"/>
            <a:ext cx="3063600" cy="396000"/>
          </a:xfrm>
          <a:prstGeom prst="rect">
            <a:avLst/>
          </a:prstGeom>
          <a:noFill/>
        </p:spPr>
        <p:txBody>
          <a:bodyPr wrap="square">
            <a:spAutoFit/>
          </a:bodyPr>
          <a:lstStyle/>
          <a:p>
            <a:pPr algn="l"/>
            <a:r>
              <a:rPr sz="1900" b="1" i="0">
                <a:solidFill>
                  <a:srgbClr val="1B3A6B"/>
                </a:solidFill>
                <a:latin typeface="Calibri"/>
              </a:rPr>
              <a:t>50,0x</a:t>
            </a:r>
          </a:p>
        </p:txBody>
      </p:sp>
      <p:sp>
        <p:nvSpPr>
          <p:cNvPr id="41" name="TextBox 40"/>
          <p:cNvSpPr txBox="1"/>
          <p:nvPr/>
        </p:nvSpPr>
        <p:spPr>
          <a:xfrm>
            <a:off x="5648400" y="4071600"/>
            <a:ext cx="3063600" cy="205199"/>
          </a:xfrm>
          <a:prstGeom prst="rect">
            <a:avLst/>
          </a:prstGeom>
          <a:noFill/>
        </p:spPr>
        <p:txBody>
          <a:bodyPr wrap="square">
            <a:spAutoFit/>
          </a:bodyPr>
          <a:lstStyle/>
          <a:p>
            <a:pPr algn="l"/>
            <a:r>
              <a:rPr sz="800" b="0" i="0">
                <a:solidFill>
                  <a:srgbClr val="555555"/>
                </a:solidFill>
                <a:latin typeface="Calibri"/>
              </a:rPr>
              <a:t>EV/EBITDA (LTM)</a:t>
            </a:r>
          </a:p>
        </p:txBody>
      </p:sp>
      <p:sp>
        <p:nvSpPr>
          <p:cNvPr id="42" name="TextBox 41"/>
          <p:cNvSpPr txBox="1"/>
          <p:nvPr/>
        </p:nvSpPr>
        <p:spPr>
          <a:xfrm>
            <a:off x="5648400" y="4269600"/>
            <a:ext cx="3063600" cy="165600"/>
          </a:xfrm>
          <a:prstGeom prst="rect">
            <a:avLst/>
          </a:prstGeom>
          <a:noFill/>
        </p:spPr>
        <p:txBody>
          <a:bodyPr wrap="square">
            <a:spAutoFit/>
          </a:bodyPr>
          <a:lstStyle/>
          <a:p>
            <a:pPr algn="l"/>
            <a:r>
              <a:rPr sz="700" b="0" i="0">
                <a:solidFill>
                  <a:srgbClr val="888888"/>
                </a:solidFill>
                <a:latin typeface="Calibri"/>
              </a:rPr>
              <a:t>P/E : 59,1x</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1B3A6B"/>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Modèle Économique</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Segments opérationnels et moteurs de croissance</a:t>
            </a:r>
          </a:p>
        </p:txBody>
      </p:sp>
      <p:sp>
        <p:nvSpPr>
          <p:cNvPr id="17" name="Rectangle 16"/>
          <p:cNvSpPr/>
          <p:nvPr/>
        </p:nvSpPr>
        <p:spPr>
          <a:xfrm>
            <a:off x="367200" y="961200"/>
            <a:ext cx="4150800" cy="3520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150800" cy="5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141200"/>
            <a:ext cx="3970800" cy="640800"/>
          </a:xfrm>
          <a:prstGeom prst="rect">
            <a:avLst/>
          </a:prstGeom>
          <a:noFill/>
        </p:spPr>
        <p:txBody>
          <a:bodyPr wrap="square">
            <a:spAutoFit/>
          </a:bodyPr>
          <a:lstStyle/>
          <a:p>
            <a:pPr algn="l"/>
            <a:r>
              <a:rPr sz="2200" b="1" i="0">
                <a:solidFill>
                  <a:srgbClr val="2E5FA3"/>
                </a:solidFill>
                <a:latin typeface="Calibri"/>
              </a:rPr>
              <a:t>80%</a:t>
            </a:r>
          </a:p>
        </p:txBody>
      </p:sp>
      <p:sp>
        <p:nvSpPr>
          <p:cNvPr id="20" name="TextBox 19"/>
          <p:cNvSpPr txBox="1"/>
          <p:nvPr/>
        </p:nvSpPr>
        <p:spPr>
          <a:xfrm>
            <a:off x="457200" y="1785600"/>
            <a:ext cx="3970800" cy="108000"/>
          </a:xfrm>
          <a:prstGeom prst="rect">
            <a:avLst/>
          </a:prstGeom>
          <a:noFill/>
        </p:spPr>
        <p:txBody>
          <a:bodyPr wrap="square">
            <a:spAutoFit/>
          </a:bodyPr>
          <a:lstStyle/>
          <a:p>
            <a:pPr algn="l"/>
            <a:r>
              <a:rPr sz="900" b="0" i="0">
                <a:solidFill>
                  <a:srgbClr val="555555"/>
                </a:solidFill>
                <a:latin typeface="Calibri"/>
              </a:rPr>
              <a:t>du CA</a:t>
            </a:r>
          </a:p>
        </p:txBody>
      </p:sp>
      <p:sp>
        <p:nvSpPr>
          <p:cNvPr id="21" name="Rectangle 20"/>
          <p:cNvSpPr/>
          <p:nvPr/>
        </p:nvSpPr>
        <p:spPr>
          <a:xfrm>
            <a:off x="457200" y="1965600"/>
            <a:ext cx="3970800"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 y="2059200"/>
            <a:ext cx="3970800" cy="255600"/>
          </a:xfrm>
          <a:prstGeom prst="rect">
            <a:avLst/>
          </a:prstGeom>
          <a:noFill/>
        </p:spPr>
        <p:txBody>
          <a:bodyPr wrap="square">
            <a:spAutoFit/>
          </a:bodyPr>
          <a:lstStyle/>
          <a:p>
            <a:pPr algn="l"/>
            <a:r>
              <a:rPr sz="1000" b="1" i="0">
                <a:solidFill>
                  <a:srgbClr val="1B3A6B"/>
                </a:solidFill>
                <a:latin typeface="Calibri"/>
              </a:rPr>
              <a:t>Data Center</a:t>
            </a:r>
          </a:p>
        </p:txBody>
      </p:sp>
      <p:sp>
        <p:nvSpPr>
          <p:cNvPr id="23" name="TextBox 22"/>
          <p:cNvSpPr txBox="1"/>
          <p:nvPr/>
        </p:nvSpPr>
        <p:spPr>
          <a:xfrm>
            <a:off x="457200" y="2332800"/>
            <a:ext cx="3970800" cy="2041199"/>
          </a:xfrm>
          <a:prstGeom prst="rect">
            <a:avLst/>
          </a:prstGeom>
          <a:noFill/>
        </p:spPr>
        <p:txBody>
          <a:bodyPr wrap="square">
            <a:spAutoFit/>
          </a:bodyPr>
          <a:lstStyle/>
          <a:p>
            <a:pPr algn="l"/>
            <a:r>
              <a:rPr sz="800" b="0" i="0">
                <a:solidFill>
                  <a:srgbClr val="555555"/>
                </a:solidFill>
                <a:latin typeface="Calibri"/>
              </a:rPr>
              <a:t>Segment phare générant 80% du CA avec les GPU H100/H200 pour l'IA et le calcul scientifique. Clients : hyperscalers (AWS, Google, Microsoft) et entreprises. Croissance tirée par l'adoption de l'IA générative et les besoins en puissance de calcul. Marges supérieures à 70% grâce à la différenciation technologique et aux économies d'échelle.</a:t>
            </a:r>
          </a:p>
        </p:txBody>
      </p:sp>
      <p:sp>
        <p:nvSpPr>
          <p:cNvPr id="24" name="Rectangle 23"/>
          <p:cNvSpPr/>
          <p:nvPr/>
        </p:nvSpPr>
        <p:spPr>
          <a:xfrm>
            <a:off x="4626000" y="961200"/>
            <a:ext cx="4150800" cy="35208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626000" y="961200"/>
            <a:ext cx="4150800" cy="5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716000" y="1141200"/>
            <a:ext cx="3970800" cy="640800"/>
          </a:xfrm>
          <a:prstGeom prst="rect">
            <a:avLst/>
          </a:prstGeom>
          <a:noFill/>
        </p:spPr>
        <p:txBody>
          <a:bodyPr wrap="square">
            <a:spAutoFit/>
          </a:bodyPr>
          <a:lstStyle/>
          <a:p>
            <a:pPr algn="l"/>
            <a:r>
              <a:rPr sz="2200" b="1" i="0">
                <a:solidFill>
                  <a:srgbClr val="1A7A4A"/>
                </a:solidFill>
                <a:latin typeface="Calibri"/>
              </a:rPr>
              <a:t>15%</a:t>
            </a:r>
          </a:p>
        </p:txBody>
      </p:sp>
      <p:sp>
        <p:nvSpPr>
          <p:cNvPr id="27" name="TextBox 26"/>
          <p:cNvSpPr txBox="1"/>
          <p:nvPr/>
        </p:nvSpPr>
        <p:spPr>
          <a:xfrm>
            <a:off x="4716000" y="1785600"/>
            <a:ext cx="3970800" cy="108000"/>
          </a:xfrm>
          <a:prstGeom prst="rect">
            <a:avLst/>
          </a:prstGeom>
          <a:noFill/>
        </p:spPr>
        <p:txBody>
          <a:bodyPr wrap="square">
            <a:spAutoFit/>
          </a:bodyPr>
          <a:lstStyle/>
          <a:p>
            <a:pPr algn="l"/>
            <a:r>
              <a:rPr sz="900" b="0" i="0">
                <a:solidFill>
                  <a:srgbClr val="555555"/>
                </a:solidFill>
                <a:latin typeface="Calibri"/>
              </a:rPr>
              <a:t>du CA</a:t>
            </a:r>
          </a:p>
        </p:txBody>
      </p:sp>
      <p:sp>
        <p:nvSpPr>
          <p:cNvPr id="28" name="Rectangle 27"/>
          <p:cNvSpPr/>
          <p:nvPr/>
        </p:nvSpPr>
        <p:spPr>
          <a:xfrm>
            <a:off x="4716000" y="1965600"/>
            <a:ext cx="3970800"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716000" y="2059200"/>
            <a:ext cx="3970800" cy="255600"/>
          </a:xfrm>
          <a:prstGeom prst="rect">
            <a:avLst/>
          </a:prstGeom>
          <a:noFill/>
        </p:spPr>
        <p:txBody>
          <a:bodyPr wrap="square">
            <a:spAutoFit/>
          </a:bodyPr>
          <a:lstStyle/>
          <a:p>
            <a:pPr algn="l"/>
            <a:r>
              <a:rPr sz="1000" b="1" i="0">
                <a:solidFill>
                  <a:srgbClr val="1B3A6B"/>
                </a:solidFill>
                <a:latin typeface="Calibri"/>
              </a:rPr>
              <a:t>Gaming</a:t>
            </a:r>
          </a:p>
        </p:txBody>
      </p:sp>
      <p:sp>
        <p:nvSpPr>
          <p:cNvPr id="30" name="TextBox 29"/>
          <p:cNvSpPr txBox="1"/>
          <p:nvPr/>
        </p:nvSpPr>
        <p:spPr>
          <a:xfrm>
            <a:off x="4716000" y="2332800"/>
            <a:ext cx="3970800" cy="2041199"/>
          </a:xfrm>
          <a:prstGeom prst="rect">
            <a:avLst/>
          </a:prstGeom>
          <a:noFill/>
        </p:spPr>
        <p:txBody>
          <a:bodyPr wrap="square">
            <a:spAutoFit/>
          </a:bodyPr>
          <a:lstStyle/>
          <a:p>
            <a:pPr algn="l"/>
            <a:r>
              <a:rPr sz="800" b="0" i="0">
                <a:solidFill>
                  <a:srgbClr val="555555"/>
                </a:solidFill>
                <a:latin typeface="Calibri"/>
              </a:rPr>
              <a:t>Second segment avec les GPU GeForce pour les joueurs et les stations de travail. CA stable mais croissance modérée (5-10% YoY). Marges élevées (50-60%) grâce à une marque premium et une forte demande pour le ray tracing. Clients : gamers, créateurs de contenu et professionnels.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02</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Analyse Financière</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Compte de résultat, bilan, liquidité &amp; ratios</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Analyse Financière — Compte de Résultat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USD millions  ·  2023–2027F</a:t>
            </a:r>
          </a:p>
        </p:txBody>
      </p:sp>
      <p:graphicFrame>
        <p:nvGraphicFramePr>
          <p:cNvPr id="17" name="Table 16"/>
          <p:cNvGraphicFramePr>
            <a:graphicFrameLocks noGrp="1"/>
          </p:cNvGraphicFramePr>
          <p:nvPr/>
        </p:nvGraphicFramePr>
        <p:xfrm>
          <a:off x="367200" y="914400"/>
          <a:ext cx="8413196" cy="1980000"/>
        </p:xfrm>
        <a:graphic>
          <a:graphicData uri="http://schemas.openxmlformats.org/drawingml/2006/table">
            <a:tbl>
              <a:tblPr firstRow="1" bandRow="1">
                <a:tableStyleId>{5C22544A-7EE6-4342-B048-85BDC9FD1C3A}</a:tableStyleId>
              </a:tblPr>
              <a:tblGrid>
                <a:gridCol w="2355696"/>
                <a:gridCol w="1211500"/>
                <a:gridCol w="1211500"/>
                <a:gridCol w="1211500"/>
                <a:gridCol w="1211500"/>
                <a:gridCol w="1211500"/>
              </a:tblGrid>
              <a:tr h="220000">
                <a:tc>
                  <a:txBody>
                    <a:bodyPr/>
                    <a:lstStyle/>
                    <a:p>
                      <a:pPr algn="l"/>
                      <a:r>
                        <a:rPr sz="800" b="1" i="0">
                          <a:solidFill>
                            <a:srgbClr val="FFFFFF"/>
                          </a:solidFill>
                          <a:latin typeface="Calibri"/>
                        </a:rPr>
                        <a:t>Indicateur</a:t>
                      </a:r>
                    </a:p>
                  </a:txBody>
                  <a:tcPr>
                    <a:solidFill>
                      <a:srgbClr val="1B3A6B"/>
                    </a:solidFill>
                  </a:tcPr>
                </a:tc>
                <a:tc>
                  <a:txBody>
                    <a:bodyPr/>
                    <a:lstStyle/>
                    <a:p>
                      <a:pPr algn="ctr"/>
                      <a:r>
                        <a:rPr sz="800" b="1" i="0">
                          <a:solidFill>
                            <a:srgbClr val="FFFFFF"/>
                          </a:solidFill>
                          <a:latin typeface="Calibri"/>
                        </a:rPr>
                        <a:t>2023</a:t>
                      </a:r>
                    </a:p>
                  </a:txBody>
                  <a:tcPr>
                    <a:solidFill>
                      <a:srgbClr val="1B3A6B"/>
                    </a:solidFill>
                  </a:tcPr>
                </a:tc>
                <a:tc>
                  <a:txBody>
                    <a:bodyPr/>
                    <a:lstStyle/>
                    <a:p>
                      <a:pPr algn="ctr"/>
                      <a:r>
                        <a:rPr sz="800" b="1" i="0">
                          <a:solidFill>
                            <a:srgbClr val="FFFFFF"/>
                          </a:solidFill>
                          <a:latin typeface="Calibri"/>
                        </a:rPr>
                        <a:t>2024</a:t>
                      </a:r>
                    </a:p>
                  </a:txBody>
                  <a:tcPr>
                    <a:solidFill>
                      <a:srgbClr val="1B3A6B"/>
                    </a:solidFill>
                  </a:tcPr>
                </a:tc>
                <a:tc>
                  <a:txBody>
                    <a:bodyPr/>
                    <a:lstStyle/>
                    <a:p>
                      <a:pPr algn="ctr"/>
                      <a:r>
                        <a:rPr sz="800" b="1" i="0">
                          <a:solidFill>
                            <a:srgbClr val="FFFFFF"/>
                          </a:solidFill>
                          <a:latin typeface="Calibri"/>
                        </a:rPr>
                        <a:t>2025</a:t>
                      </a:r>
                    </a:p>
                  </a:txBody>
                  <a:tcPr>
                    <a:solidFill>
                      <a:srgbClr val="1B3A6B"/>
                    </a:solidFill>
                  </a:tcPr>
                </a:tc>
                <a:tc>
                  <a:txBody>
                    <a:bodyPr/>
                    <a:lstStyle/>
                    <a:p>
                      <a:pPr algn="ctr"/>
                      <a:r>
                        <a:rPr sz="800" b="1" i="0">
                          <a:solidFill>
                            <a:srgbClr val="FFFFFF"/>
                          </a:solidFill>
                          <a:latin typeface="Calibri"/>
                        </a:rPr>
                        <a:t>2026F</a:t>
                      </a:r>
                    </a:p>
                  </a:txBody>
                  <a:tcPr>
                    <a:solidFill>
                      <a:srgbClr val="1B3A6B"/>
                    </a:solidFill>
                  </a:tcPr>
                </a:tc>
                <a:tc>
                  <a:txBody>
                    <a:bodyPr/>
                    <a:lstStyle/>
                    <a:p>
                      <a:pPr algn="ctr"/>
                      <a:r>
                        <a:rPr sz="800" b="1" i="0">
                          <a:solidFill>
                            <a:srgbClr val="FFFFFF"/>
                          </a:solidFill>
                          <a:latin typeface="Calibri"/>
                        </a:rPr>
                        <a:t>2027F</a:t>
                      </a:r>
                    </a:p>
                  </a:txBody>
                  <a:tcPr>
                    <a:solidFill>
                      <a:srgbClr val="1B3A6B"/>
                    </a:solidFill>
                  </a:tcPr>
                </a:tc>
              </a:tr>
              <a:tr h="220000">
                <a:tc>
                  <a:txBody>
                    <a:bodyPr/>
                    <a:lstStyle/>
                    <a:p>
                      <a:pPr algn="l"/>
                      <a:r>
                        <a:rPr sz="800" b="1" i="0">
                          <a:solidFill>
                            <a:srgbClr val="0D0D0D"/>
                          </a:solidFill>
                          <a:latin typeface="Calibri"/>
                        </a:rPr>
                        <a:t>Chiffre d'affaires</a:t>
                      </a:r>
                    </a:p>
                  </a:txBody>
                  <a:tcPr>
                    <a:solidFill>
                      <a:srgbClr val="FFFFFF"/>
                    </a:solidFill>
                  </a:tcPr>
                </a:tc>
                <a:tc>
                  <a:txBody>
                    <a:bodyPr/>
                    <a:lstStyle/>
                    <a:p>
                      <a:pPr algn="ctr"/>
                      <a:r>
                        <a:rPr sz="800" b="1" i="0">
                          <a:solidFill>
                            <a:srgbClr val="0D0D0D"/>
                          </a:solidFill>
                          <a:latin typeface="Calibri"/>
                        </a:rPr>
                        <a:t>27,0</a:t>
                      </a:r>
                    </a:p>
                  </a:txBody>
                  <a:tcPr>
                    <a:solidFill>
                      <a:srgbClr val="FFFFFF"/>
                    </a:solidFill>
                  </a:tcPr>
                </a:tc>
                <a:tc>
                  <a:txBody>
                    <a:bodyPr/>
                    <a:lstStyle/>
                    <a:p>
                      <a:pPr algn="ctr"/>
                      <a:r>
                        <a:rPr sz="800" b="1" i="0">
                          <a:solidFill>
                            <a:srgbClr val="0D0D0D"/>
                          </a:solidFill>
                          <a:latin typeface="Calibri"/>
                        </a:rPr>
                        <a:t>60,9</a:t>
                      </a:r>
                    </a:p>
                  </a:txBody>
                  <a:tcPr>
                    <a:solidFill>
                      <a:srgbClr val="FFFFFF"/>
                    </a:solidFill>
                  </a:tcPr>
                </a:tc>
                <a:tc>
                  <a:txBody>
                    <a:bodyPr/>
                    <a:lstStyle/>
                    <a:p>
                      <a:pPr algn="ctr"/>
                      <a:r>
                        <a:rPr sz="800" b="1" i="0">
                          <a:solidFill>
                            <a:srgbClr val="1B3A6B"/>
                          </a:solidFill>
                          <a:latin typeface="Calibri"/>
                        </a:rPr>
                        <a:t>130,5</a:t>
                      </a:r>
                    </a:p>
                  </a:txBody>
                  <a:tcPr>
                    <a:solidFill>
                      <a:srgbClr val="DDE8F5"/>
                    </a:solidFill>
                  </a:tcPr>
                </a:tc>
                <a:tc>
                  <a:txBody>
                    <a:bodyPr/>
                    <a:lstStyle/>
                    <a:p>
                      <a:pPr algn="ctr"/>
                      <a:r>
                        <a:rPr sz="800" b="1" i="0">
                          <a:solidFill>
                            <a:srgbClr val="0D0D0D"/>
                          </a:solidFill>
                          <a:latin typeface="Calibri"/>
                        </a:rPr>
                        <a:t>180,0</a:t>
                      </a:r>
                    </a:p>
                  </a:txBody>
                  <a:tcPr>
                    <a:solidFill>
                      <a:srgbClr val="FFFFFF"/>
                    </a:solidFill>
                  </a:tcPr>
                </a:tc>
                <a:tc>
                  <a:txBody>
                    <a:bodyPr/>
                    <a:lstStyle/>
                    <a:p>
                      <a:pPr algn="ctr"/>
                      <a:r>
                        <a:rPr sz="800" b="1" i="0">
                          <a:solidFill>
                            <a:srgbClr val="0D0D0D"/>
                          </a:solidFill>
                          <a:latin typeface="Calibri"/>
                        </a:rPr>
                        <a:t>240,0</a:t>
                      </a:r>
                    </a:p>
                  </a:txBody>
                  <a:tcPr>
                    <a:solidFill>
                      <a:srgbClr val="FFFFFF"/>
                    </a:solidFill>
                  </a:tcPr>
                </a:tc>
              </a:tr>
              <a:tr h="220000">
                <a:tc>
                  <a:txBody>
                    <a:bodyPr/>
                    <a:lstStyle/>
                    <a:p>
                      <a:pPr algn="l"/>
                      <a:r>
                        <a:rPr sz="750" b="0" i="1">
                          <a:solidFill>
                            <a:srgbClr val="555555"/>
                          </a:solidFill>
                          <a:latin typeface="Calibri"/>
                        </a:rPr>
                        <a:t>Croissance YoY</a:t>
                      </a:r>
                    </a:p>
                  </a:txBody>
                  <a:tcPr>
                    <a:solidFill>
                      <a:srgbClr val="F7F8FA"/>
                    </a:solidFill>
                  </a:tcPr>
                </a:tc>
                <a:tc>
                  <a:txBody>
                    <a:bodyPr/>
                    <a:lstStyle/>
                    <a:p>
                      <a:pPr algn="ctr"/>
                      <a:r>
                        <a:rPr sz="750" b="0" i="1">
                          <a:solidFill>
                            <a:srgbClr val="555555"/>
                          </a:solidFill>
                          <a:latin typeface="Calibri"/>
                        </a:rPr>
                        <a:t>—</a:t>
                      </a:r>
                    </a:p>
                  </a:txBody>
                  <a:tcPr>
                    <a:solidFill>
                      <a:srgbClr val="F7F8FA"/>
                    </a:solidFill>
                  </a:tcPr>
                </a:tc>
                <a:tc>
                  <a:txBody>
                    <a:bodyPr/>
                    <a:lstStyle/>
                    <a:p>
                      <a:pPr algn="ctr"/>
                      <a:r>
                        <a:rPr sz="750" b="0" i="1">
                          <a:solidFill>
                            <a:srgbClr val="555555"/>
                          </a:solidFill>
                          <a:latin typeface="Calibri"/>
                        </a:rPr>
                        <a:t>+125,8 %</a:t>
                      </a:r>
                    </a:p>
                  </a:txBody>
                  <a:tcPr>
                    <a:solidFill>
                      <a:srgbClr val="F7F8FA"/>
                    </a:solidFill>
                  </a:tcPr>
                </a:tc>
                <a:tc>
                  <a:txBody>
                    <a:bodyPr/>
                    <a:lstStyle/>
                    <a:p>
                      <a:pPr algn="ctr"/>
                      <a:r>
                        <a:rPr sz="750" b="0" i="1">
                          <a:solidFill>
                            <a:srgbClr val="555555"/>
                          </a:solidFill>
                          <a:latin typeface="Calibri"/>
                        </a:rPr>
                        <a:t>+114,2 %</a:t>
                      </a:r>
                    </a:p>
                  </a:txBody>
                  <a:tcPr>
                    <a:solidFill>
                      <a:srgbClr val="DDE8F5"/>
                    </a:solidFill>
                  </a:tcPr>
                </a:tc>
                <a:tc>
                  <a:txBody>
                    <a:bodyPr/>
                    <a:lstStyle/>
                    <a:p>
                      <a:pPr algn="ctr"/>
                      <a:r>
                        <a:rPr sz="750" b="0" i="1">
                          <a:solidFill>
                            <a:srgbClr val="555555"/>
                          </a:solidFill>
                          <a:latin typeface="Calibri"/>
                        </a:rPr>
                        <a:t>+38,0 %</a:t>
                      </a:r>
                    </a:p>
                  </a:txBody>
                  <a:tcPr>
                    <a:solidFill>
                      <a:srgbClr val="F7F8FA"/>
                    </a:solidFill>
                  </a:tcPr>
                </a:tc>
                <a:tc>
                  <a:txBody>
                    <a:bodyPr/>
                    <a:lstStyle/>
                    <a:p>
                      <a:pPr algn="ctr"/>
                      <a:r>
                        <a:rPr sz="750" b="0" i="1">
                          <a:solidFill>
                            <a:srgbClr val="555555"/>
                          </a:solidFill>
                          <a:latin typeface="Calibri"/>
                        </a:rPr>
                        <a:t>+33,0 %</a:t>
                      </a:r>
                    </a:p>
                  </a:txBody>
                  <a:tcPr>
                    <a:solidFill>
                      <a:srgbClr val="F7F8FA"/>
                    </a:solidFill>
                  </a:tcPr>
                </a:tc>
              </a:tr>
              <a:tr h="220000">
                <a:tc>
                  <a:txBody>
                    <a:bodyPr/>
                    <a:lstStyle/>
                    <a:p>
                      <a:pPr algn="l"/>
                      <a:r>
                        <a:rPr sz="800" b="1" i="0">
                          <a:solidFill>
                            <a:srgbClr val="0D0D0D"/>
                          </a:solidFill>
                          <a:latin typeface="Calibri"/>
                        </a:rPr>
                        <a:t>Résultat brut</a:t>
                      </a:r>
                    </a:p>
                  </a:txBody>
                  <a:tcPr>
                    <a:solidFill>
                      <a:srgbClr val="FFFFFF"/>
                    </a:solidFill>
                  </a:tcPr>
                </a:tc>
                <a:tc>
                  <a:txBody>
                    <a:bodyPr/>
                    <a:lstStyle/>
                    <a:p>
                      <a:pPr algn="ctr"/>
                      <a:r>
                        <a:rPr sz="800" b="1" i="0">
                          <a:solidFill>
                            <a:srgbClr val="0D0D0D"/>
                          </a:solidFill>
                          <a:latin typeface="Calibri"/>
                        </a:rPr>
                        <a:t>15,4</a:t>
                      </a:r>
                    </a:p>
                  </a:txBody>
                  <a:tcPr>
                    <a:solidFill>
                      <a:srgbClr val="FFFFFF"/>
                    </a:solidFill>
                  </a:tcPr>
                </a:tc>
                <a:tc>
                  <a:txBody>
                    <a:bodyPr/>
                    <a:lstStyle/>
                    <a:p>
                      <a:pPr algn="ctr"/>
                      <a:r>
                        <a:rPr sz="800" b="1" i="0">
                          <a:solidFill>
                            <a:srgbClr val="0D0D0D"/>
                          </a:solidFill>
                          <a:latin typeface="Calibri"/>
                        </a:rPr>
                        <a:t>44,3</a:t>
                      </a:r>
                    </a:p>
                  </a:txBody>
                  <a:tcPr>
                    <a:solidFill>
                      <a:srgbClr val="FFFFFF"/>
                    </a:solidFill>
                  </a:tcPr>
                </a:tc>
                <a:tc>
                  <a:txBody>
                    <a:bodyPr/>
                    <a:lstStyle/>
                    <a:p>
                      <a:pPr algn="ctr"/>
                      <a:r>
                        <a:rPr sz="800" b="1" i="0">
                          <a:solidFill>
                            <a:srgbClr val="1B3A6B"/>
                          </a:solidFill>
                          <a:latin typeface="Calibri"/>
                        </a:rPr>
                        <a:t>97,9</a:t>
                      </a:r>
                    </a:p>
                  </a:txBody>
                  <a:tcPr>
                    <a:solidFill>
                      <a:srgbClr val="DDE8F5"/>
                    </a:solidFill>
                  </a:tcPr>
                </a:tc>
                <a:tc>
                  <a:txBody>
                    <a:bodyPr/>
                    <a:lstStyle/>
                    <a:p>
                      <a:pPr algn="ctr"/>
                      <a:r>
                        <a:rPr sz="800" b="1" i="0">
                          <a:solidFill>
                            <a:srgbClr val="0D0D0D"/>
                          </a:solidFill>
                          <a:latin typeface="Calibri"/>
                        </a:rPr>
                        <a:t>136,8</a:t>
                      </a:r>
                    </a:p>
                  </a:txBody>
                  <a:tcPr>
                    <a:solidFill>
                      <a:srgbClr val="FFFFFF"/>
                    </a:solidFill>
                  </a:tcPr>
                </a:tc>
                <a:tc>
                  <a:txBody>
                    <a:bodyPr/>
                    <a:lstStyle/>
                    <a:p>
                      <a:pPr algn="ctr"/>
                      <a:r>
                        <a:rPr sz="800" b="1" i="0">
                          <a:solidFill>
                            <a:srgbClr val="0D0D0D"/>
                          </a:solidFill>
                          <a:latin typeface="Calibri"/>
                        </a:rPr>
                        <a:t>177,6</a:t>
                      </a:r>
                    </a:p>
                  </a:txBody>
                  <a:tcPr>
                    <a:solidFill>
                      <a:srgbClr val="FFFFFF"/>
                    </a:solidFill>
                  </a:tcPr>
                </a:tc>
              </a:tr>
              <a:tr h="220000">
                <a:tc>
                  <a:txBody>
                    <a:bodyPr/>
                    <a:lstStyle/>
                    <a:p>
                      <a:pPr algn="l"/>
                      <a:r>
                        <a:rPr sz="750" b="0" i="1">
                          <a:solidFill>
                            <a:srgbClr val="555555"/>
                          </a:solidFill>
                          <a:latin typeface="Calibri"/>
                        </a:rPr>
                        <a:t>Marge brute</a:t>
                      </a:r>
                    </a:p>
                  </a:txBody>
                  <a:tcPr>
                    <a:solidFill>
                      <a:srgbClr val="F7F8FA"/>
                    </a:solidFill>
                  </a:tcPr>
                </a:tc>
                <a:tc>
                  <a:txBody>
                    <a:bodyPr/>
                    <a:lstStyle/>
                    <a:p>
                      <a:pPr algn="ctr"/>
                      <a:r>
                        <a:rPr sz="750" b="0" i="1">
                          <a:solidFill>
                            <a:srgbClr val="555555"/>
                          </a:solidFill>
                          <a:latin typeface="Calibri"/>
                        </a:rPr>
                        <a:t>56,9 %</a:t>
                      </a:r>
                    </a:p>
                  </a:txBody>
                  <a:tcPr>
                    <a:solidFill>
                      <a:srgbClr val="F7F8FA"/>
                    </a:solidFill>
                  </a:tcPr>
                </a:tc>
                <a:tc>
                  <a:txBody>
                    <a:bodyPr/>
                    <a:lstStyle/>
                    <a:p>
                      <a:pPr algn="ctr"/>
                      <a:r>
                        <a:rPr sz="750" b="0" i="1">
                          <a:solidFill>
                            <a:srgbClr val="555555"/>
                          </a:solidFill>
                          <a:latin typeface="Calibri"/>
                        </a:rPr>
                        <a:t>72,7 %</a:t>
                      </a:r>
                    </a:p>
                  </a:txBody>
                  <a:tcPr>
                    <a:solidFill>
                      <a:srgbClr val="F7F8FA"/>
                    </a:solidFill>
                  </a:tcPr>
                </a:tc>
                <a:tc>
                  <a:txBody>
                    <a:bodyPr/>
                    <a:lstStyle/>
                    <a:p>
                      <a:pPr algn="ctr"/>
                      <a:r>
                        <a:rPr sz="750" b="0" i="1">
                          <a:solidFill>
                            <a:srgbClr val="555555"/>
                          </a:solidFill>
                          <a:latin typeface="Calibri"/>
                        </a:rPr>
                        <a:t>75,0 %</a:t>
                      </a:r>
                    </a:p>
                  </a:txBody>
                  <a:tcPr>
                    <a:solidFill>
                      <a:srgbClr val="DDE8F5"/>
                    </a:solidFill>
                  </a:tcPr>
                </a:tc>
                <a:tc>
                  <a:txBody>
                    <a:bodyPr/>
                    <a:lstStyle/>
                    <a:p>
                      <a:pPr algn="ctr"/>
                      <a:r>
                        <a:rPr sz="750" b="0" i="1">
                          <a:solidFill>
                            <a:srgbClr val="555555"/>
                          </a:solidFill>
                          <a:latin typeface="Calibri"/>
                        </a:rPr>
                        <a:t>76,0 %</a:t>
                      </a:r>
                    </a:p>
                  </a:txBody>
                  <a:tcPr>
                    <a:solidFill>
                      <a:srgbClr val="F7F8FA"/>
                    </a:solidFill>
                  </a:tcPr>
                </a:tc>
                <a:tc>
                  <a:txBody>
                    <a:bodyPr/>
                    <a:lstStyle/>
                    <a:p>
                      <a:pPr algn="ctr"/>
                      <a:r>
                        <a:rPr sz="750" b="0" i="1">
                          <a:solidFill>
                            <a:srgbClr val="555555"/>
                          </a:solidFill>
                          <a:latin typeface="Calibri"/>
                        </a:rPr>
                        <a:t>74,0 %</a:t>
                      </a:r>
                    </a:p>
                  </a:txBody>
                  <a:tcPr>
                    <a:solidFill>
                      <a:srgbClr val="F7F8FA"/>
                    </a:solidFill>
                  </a:tcPr>
                </a:tc>
              </a:tr>
              <a:tr h="220000">
                <a:tc>
                  <a:txBody>
                    <a:bodyPr/>
                    <a:lstStyle/>
                    <a:p>
                      <a:pPr algn="l"/>
                      <a:r>
                        <a:rPr sz="800" b="1" i="0">
                          <a:solidFill>
                            <a:srgbClr val="0D0D0D"/>
                          </a:solidFill>
                          <a:latin typeface="Calibri"/>
                        </a:rPr>
                        <a:t>EBITDA</a:t>
                      </a:r>
                    </a:p>
                  </a:txBody>
                  <a:tcPr>
                    <a:solidFill>
                      <a:srgbClr val="FFFFFF"/>
                    </a:solidFill>
                  </a:tcPr>
                </a:tc>
                <a:tc>
                  <a:txBody>
                    <a:bodyPr/>
                    <a:lstStyle/>
                    <a:p>
                      <a:pPr algn="ctr"/>
                      <a:r>
                        <a:rPr sz="800" b="1" i="0">
                          <a:solidFill>
                            <a:srgbClr val="0D0D0D"/>
                          </a:solidFill>
                          <a:latin typeface="Calibri"/>
                        </a:rPr>
                        <a:t>6,0</a:t>
                      </a:r>
                    </a:p>
                  </a:txBody>
                  <a:tcPr>
                    <a:solidFill>
                      <a:srgbClr val="FFFFFF"/>
                    </a:solidFill>
                  </a:tcPr>
                </a:tc>
                <a:tc>
                  <a:txBody>
                    <a:bodyPr/>
                    <a:lstStyle/>
                    <a:p>
                      <a:pPr algn="ctr"/>
                      <a:r>
                        <a:rPr sz="800" b="1" i="0">
                          <a:solidFill>
                            <a:srgbClr val="0D0D0D"/>
                          </a:solidFill>
                          <a:latin typeface="Calibri"/>
                        </a:rPr>
                        <a:t>35,6</a:t>
                      </a:r>
                    </a:p>
                  </a:txBody>
                  <a:tcPr>
                    <a:solidFill>
                      <a:srgbClr val="FFFFFF"/>
                    </a:solidFill>
                  </a:tcPr>
                </a:tc>
                <a:tc>
                  <a:txBody>
                    <a:bodyPr/>
                    <a:lstStyle/>
                    <a:p>
                      <a:pPr algn="ctr"/>
                      <a:r>
                        <a:rPr sz="800" b="1" i="0">
                          <a:solidFill>
                            <a:srgbClr val="1B3A6B"/>
                          </a:solidFill>
                          <a:latin typeface="Calibri"/>
                        </a:rPr>
                        <a:t>86,1</a:t>
                      </a:r>
                    </a:p>
                  </a:txBody>
                  <a:tcPr>
                    <a:solidFill>
                      <a:srgbClr val="DDE8F5"/>
                    </a:solidFill>
                  </a:tcPr>
                </a:tc>
                <a:tc>
                  <a:txBody>
                    <a:bodyPr/>
                    <a:lstStyle/>
                    <a:p>
                      <a:pPr algn="ctr"/>
                      <a:r>
                        <a:rPr sz="800" b="1" i="0">
                          <a:solidFill>
                            <a:srgbClr val="0D0D0D"/>
                          </a:solidFill>
                          <a:latin typeface="Calibri"/>
                        </a:rPr>
                        <a:t>125,0</a:t>
                      </a:r>
                    </a:p>
                  </a:txBody>
                  <a:tcPr>
                    <a:solidFill>
                      <a:srgbClr val="FFFFFF"/>
                    </a:solidFill>
                  </a:tcPr>
                </a:tc>
                <a:tc>
                  <a:txBody>
                    <a:bodyPr/>
                    <a:lstStyle/>
                    <a:p>
                      <a:pPr algn="ctr"/>
                      <a:r>
                        <a:rPr sz="800" b="1" i="0">
                          <a:solidFill>
                            <a:srgbClr val="0D0D0D"/>
                          </a:solidFill>
                          <a:latin typeface="Calibri"/>
                        </a:rPr>
                        <a:t>165,0</a:t>
                      </a:r>
                    </a:p>
                  </a:txBody>
                  <a:tcPr>
                    <a:solidFill>
                      <a:srgbClr val="FFFFFF"/>
                    </a:solidFill>
                  </a:tcPr>
                </a:tc>
              </a:tr>
              <a:tr h="220000">
                <a:tc>
                  <a:txBody>
                    <a:bodyPr/>
                    <a:lstStyle/>
                    <a:p>
                      <a:pPr algn="l"/>
                      <a:r>
                        <a:rPr sz="750" b="0" i="1">
                          <a:solidFill>
                            <a:srgbClr val="555555"/>
                          </a:solidFill>
                          <a:latin typeface="Calibri"/>
                        </a:rPr>
                        <a:t>Marge EBITDA</a:t>
                      </a:r>
                    </a:p>
                  </a:txBody>
                  <a:tcPr>
                    <a:solidFill>
                      <a:srgbClr val="F7F8FA"/>
                    </a:solidFill>
                  </a:tcPr>
                </a:tc>
                <a:tc>
                  <a:txBody>
                    <a:bodyPr/>
                    <a:lstStyle/>
                    <a:p>
                      <a:pPr algn="ctr"/>
                      <a:r>
                        <a:rPr sz="750" b="0" i="1">
                          <a:solidFill>
                            <a:srgbClr val="555555"/>
                          </a:solidFill>
                          <a:latin typeface="Calibri"/>
                        </a:rPr>
                        <a:t>22,2 %</a:t>
                      </a:r>
                    </a:p>
                  </a:txBody>
                  <a:tcPr>
                    <a:solidFill>
                      <a:srgbClr val="F7F8FA"/>
                    </a:solidFill>
                  </a:tcPr>
                </a:tc>
                <a:tc>
                  <a:txBody>
                    <a:bodyPr/>
                    <a:lstStyle/>
                    <a:p>
                      <a:pPr algn="ctr"/>
                      <a:r>
                        <a:rPr sz="750" b="0" i="1">
                          <a:solidFill>
                            <a:srgbClr val="555555"/>
                          </a:solidFill>
                          <a:latin typeface="Calibri"/>
                        </a:rPr>
                        <a:t>58,4 %</a:t>
                      </a:r>
                    </a:p>
                  </a:txBody>
                  <a:tcPr>
                    <a:solidFill>
                      <a:srgbClr val="F7F8FA"/>
                    </a:solidFill>
                  </a:tcPr>
                </a:tc>
                <a:tc>
                  <a:txBody>
                    <a:bodyPr/>
                    <a:lstStyle/>
                    <a:p>
                      <a:pPr algn="ctr"/>
                      <a:r>
                        <a:rPr sz="750" b="0" i="1">
                          <a:solidFill>
                            <a:srgbClr val="555555"/>
                          </a:solidFill>
                          <a:latin typeface="Calibri"/>
                        </a:rPr>
                        <a:t>66,0 %</a:t>
                      </a:r>
                    </a:p>
                  </a:txBody>
                  <a:tcPr>
                    <a:solidFill>
                      <a:srgbClr val="DDE8F5"/>
                    </a:solidFill>
                  </a:tcPr>
                </a:tc>
                <a:tc>
                  <a:txBody>
                    <a:bodyPr/>
                    <a:lstStyle/>
                    <a:p>
                      <a:pPr algn="ctr"/>
                      <a:r>
                        <a:rPr sz="750" b="0" i="1">
                          <a:solidFill>
                            <a:srgbClr val="555555"/>
                          </a:solidFill>
                          <a:latin typeface="Calibri"/>
                        </a:rPr>
                        <a:t>69,0 %</a:t>
                      </a:r>
                    </a:p>
                  </a:txBody>
                  <a:tcPr>
                    <a:solidFill>
                      <a:srgbClr val="F7F8FA"/>
                    </a:solidFill>
                  </a:tcPr>
                </a:tc>
                <a:tc>
                  <a:txBody>
                    <a:bodyPr/>
                    <a:lstStyle/>
                    <a:p>
                      <a:pPr algn="ctr"/>
                      <a:r>
                        <a:rPr sz="750" b="0" i="1">
                          <a:solidFill>
                            <a:srgbClr val="555555"/>
                          </a:solidFill>
                          <a:latin typeface="Calibri"/>
                        </a:rPr>
                        <a:t>69,0 %</a:t>
                      </a:r>
                    </a:p>
                  </a:txBody>
                  <a:tcPr>
                    <a:solidFill>
                      <a:srgbClr val="F7F8FA"/>
                    </a:solidFill>
                  </a:tcPr>
                </a:tc>
              </a:tr>
              <a:tr h="220000">
                <a:tc>
                  <a:txBody>
                    <a:bodyPr/>
                    <a:lstStyle/>
                    <a:p>
                      <a:pPr algn="l"/>
                      <a:r>
                        <a:rPr sz="800" b="1" i="0">
                          <a:solidFill>
                            <a:srgbClr val="0D0D0D"/>
                          </a:solidFill>
                          <a:latin typeface="Calibri"/>
                        </a:rPr>
                        <a:t>Résultat net</a:t>
                      </a:r>
                    </a:p>
                  </a:txBody>
                  <a:tcPr>
                    <a:solidFill>
                      <a:srgbClr val="FFFFFF"/>
                    </a:solidFill>
                  </a:tcPr>
                </a:tc>
                <a:tc>
                  <a:txBody>
                    <a:bodyPr/>
                    <a:lstStyle/>
                    <a:p>
                      <a:pPr algn="ctr"/>
                      <a:r>
                        <a:rPr sz="800" b="1" i="0">
                          <a:solidFill>
                            <a:srgbClr val="0D0D0D"/>
                          </a:solidFill>
                          <a:latin typeface="Calibri"/>
                        </a:rPr>
                        <a:t>4,4</a:t>
                      </a:r>
                    </a:p>
                  </a:txBody>
                  <a:tcPr>
                    <a:solidFill>
                      <a:srgbClr val="FFFFFF"/>
                    </a:solidFill>
                  </a:tcPr>
                </a:tc>
                <a:tc>
                  <a:txBody>
                    <a:bodyPr/>
                    <a:lstStyle/>
                    <a:p>
                      <a:pPr algn="ctr"/>
                      <a:r>
                        <a:rPr sz="800" b="1" i="0">
                          <a:solidFill>
                            <a:srgbClr val="0D0D0D"/>
                          </a:solidFill>
                          <a:latin typeface="Calibri"/>
                        </a:rPr>
                        <a:t>29,8</a:t>
                      </a:r>
                    </a:p>
                  </a:txBody>
                  <a:tcPr>
                    <a:solidFill>
                      <a:srgbClr val="FFFFFF"/>
                    </a:solidFill>
                  </a:tcPr>
                </a:tc>
                <a:tc>
                  <a:txBody>
                    <a:bodyPr/>
                    <a:lstStyle/>
                    <a:p>
                      <a:pPr algn="ctr"/>
                      <a:r>
                        <a:rPr sz="800" b="1" i="0">
                          <a:solidFill>
                            <a:srgbClr val="1B3A6B"/>
                          </a:solidFill>
                          <a:latin typeface="Calibri"/>
                        </a:rPr>
                        <a:t>72,9</a:t>
                      </a:r>
                    </a:p>
                  </a:txBody>
                  <a:tcPr>
                    <a:solidFill>
                      <a:srgbClr val="DDE8F5"/>
                    </a:solidFill>
                  </a:tcPr>
                </a:tc>
                <a:tc>
                  <a:txBody>
                    <a:bodyPr/>
                    <a:lstStyle/>
                    <a:p>
                      <a:pPr algn="ctr"/>
                      <a:r>
                        <a:rPr sz="800" b="1" i="0">
                          <a:solidFill>
                            <a:srgbClr val="0D0D0D"/>
                          </a:solidFill>
                          <a:latin typeface="Calibri"/>
                        </a:rPr>
                        <a:t>105,0</a:t>
                      </a:r>
                    </a:p>
                  </a:txBody>
                  <a:tcPr>
                    <a:solidFill>
                      <a:srgbClr val="FFFFFF"/>
                    </a:solidFill>
                  </a:tcPr>
                </a:tc>
                <a:tc>
                  <a:txBody>
                    <a:bodyPr/>
                    <a:lstStyle/>
                    <a:p>
                      <a:pPr algn="ctr"/>
                      <a:r>
                        <a:rPr sz="800" b="1" i="0">
                          <a:solidFill>
                            <a:srgbClr val="0D0D0D"/>
                          </a:solidFill>
                          <a:latin typeface="Calibri"/>
                        </a:rPr>
                        <a:t>140,0</a:t>
                      </a:r>
                    </a:p>
                  </a:txBody>
                  <a:tcPr>
                    <a:solidFill>
                      <a:srgbClr val="FFFFFF"/>
                    </a:solidFill>
                  </a:tcPr>
                </a:tc>
              </a:tr>
              <a:tr h="220000">
                <a:tc>
                  <a:txBody>
                    <a:bodyPr/>
                    <a:lstStyle/>
                    <a:p>
                      <a:pPr algn="l"/>
                      <a:r>
                        <a:rPr sz="750" b="0" i="1">
                          <a:solidFill>
                            <a:srgbClr val="555555"/>
                          </a:solidFill>
                          <a:latin typeface="Calibri"/>
                        </a:rPr>
                        <a:t>Marge nette</a:t>
                      </a:r>
                    </a:p>
                  </a:txBody>
                  <a:tcPr>
                    <a:solidFill>
                      <a:srgbClr val="F7F8FA"/>
                    </a:solidFill>
                  </a:tcPr>
                </a:tc>
                <a:tc>
                  <a:txBody>
                    <a:bodyPr/>
                    <a:lstStyle/>
                    <a:p>
                      <a:pPr algn="ctr"/>
                      <a:r>
                        <a:rPr sz="750" b="0" i="1">
                          <a:solidFill>
                            <a:srgbClr val="555555"/>
                          </a:solidFill>
                          <a:latin typeface="Calibri"/>
                        </a:rPr>
                        <a:t>16,2 %</a:t>
                      </a:r>
                    </a:p>
                  </a:txBody>
                  <a:tcPr>
                    <a:solidFill>
                      <a:srgbClr val="F7F8FA"/>
                    </a:solidFill>
                  </a:tcPr>
                </a:tc>
                <a:tc>
                  <a:txBody>
                    <a:bodyPr/>
                    <a:lstStyle/>
                    <a:p>
                      <a:pPr algn="ctr"/>
                      <a:r>
                        <a:rPr sz="750" b="0" i="1">
                          <a:solidFill>
                            <a:srgbClr val="555555"/>
                          </a:solidFill>
                          <a:latin typeface="Calibri"/>
                        </a:rPr>
                        <a:t>48,9 %</a:t>
                      </a:r>
                    </a:p>
                  </a:txBody>
                  <a:tcPr>
                    <a:solidFill>
                      <a:srgbClr val="F7F8FA"/>
                    </a:solidFill>
                  </a:tcPr>
                </a:tc>
                <a:tc>
                  <a:txBody>
                    <a:bodyPr/>
                    <a:lstStyle/>
                    <a:p>
                      <a:pPr algn="ctr"/>
                      <a:r>
                        <a:rPr sz="750" b="0" i="1">
                          <a:solidFill>
                            <a:srgbClr val="555555"/>
                          </a:solidFill>
                          <a:latin typeface="Calibri"/>
                        </a:rPr>
                        <a:t>55,9 %</a:t>
                      </a:r>
                    </a:p>
                  </a:txBody>
                  <a:tcPr>
                    <a:solidFill>
                      <a:srgbClr val="DDE8F5"/>
                    </a:solidFill>
                  </a:tcPr>
                </a:tc>
                <a:tc>
                  <a:txBody>
                    <a:bodyPr/>
                    <a:lstStyle/>
                    <a:p>
                      <a:pPr algn="ctr"/>
                      <a:r>
                        <a:rPr sz="750" b="0" i="1">
                          <a:solidFill>
                            <a:srgbClr val="555555"/>
                          </a:solidFill>
                          <a:latin typeface="Calibri"/>
                        </a:rPr>
                        <a:t>58,0 %</a:t>
                      </a:r>
                    </a:p>
                  </a:txBody>
                  <a:tcPr>
                    <a:solidFill>
                      <a:srgbClr val="F7F8FA"/>
                    </a:solidFill>
                  </a:tcPr>
                </a:tc>
                <a:tc>
                  <a:txBody>
                    <a:bodyPr/>
                    <a:lstStyle/>
                    <a:p>
                      <a:pPr algn="ctr"/>
                      <a:r>
                        <a:rPr sz="750" b="0" i="1">
                          <a:solidFill>
                            <a:srgbClr val="555555"/>
                          </a:solidFill>
                          <a:latin typeface="Calibri"/>
                        </a:rPr>
                        <a:t>58,0 %</a:t>
                      </a:r>
                    </a:p>
                  </a:txBody>
                  <a:tcPr>
                    <a:solidFill>
                      <a:srgbClr val="F7F8FA"/>
                    </a:solidFill>
                  </a:tcPr>
                </a:tc>
              </a:tr>
            </a:tbl>
          </a:graphicData>
        </a:graphic>
      </p:graphicFrame>
      <p:sp>
        <p:nvSpPr>
          <p:cNvPr id="18" name="TextBox 17"/>
          <p:cNvSpPr txBox="1"/>
          <p:nvPr/>
        </p:nvSpPr>
        <p:spPr>
          <a:xfrm>
            <a:off x="367200" y="3218400"/>
            <a:ext cx="8413200" cy="1224000"/>
          </a:xfrm>
          <a:prstGeom prst="rect">
            <a:avLst/>
          </a:prstGeom>
          <a:noFill/>
        </p:spPr>
        <p:txBody>
          <a:bodyPr wrap="square">
            <a:spAutoFit/>
          </a:bodyPr>
          <a:lstStyle/>
          <a:p>
            <a:pPr algn="l"/>
            <a:r>
              <a:rPr sz="850" b="0" i="0">
                <a:solidFill>
                  <a:srgbClr val="555555"/>
                </a:solidFill>
                <a:latin typeface="Calibri"/>
              </a:rPr>
              <a:t>Croissance CA 2025 de 114% YoY portée par l'IA et les data centers, avec des marges nettes passant de 16% (2023) à 56% (2025). Le levier opérationnel est exceptionnel grâce à des coûts fixes maîtrisés et un mix produit à haute valeur ajoutée (GPU H100). La génération de cash est robuste, avec un ROIC de 94% et un bilan sans dette nette.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Bilan &amp; Liquidité</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Structure financière  ·  USD millions  ·  LTM 2025</a:t>
            </a:r>
          </a:p>
        </p:txBody>
      </p:sp>
      <p:sp>
        <p:nvSpPr>
          <p:cNvPr id="17" name="Rectangle 16"/>
          <p:cNvSpPr/>
          <p:nvPr/>
        </p:nvSpPr>
        <p:spPr>
          <a:xfrm>
            <a:off x="367200" y="961200"/>
            <a:ext cx="26532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2516400" cy="396000"/>
          </a:xfrm>
          <a:prstGeom prst="rect">
            <a:avLst/>
          </a:prstGeom>
          <a:noFill/>
        </p:spPr>
        <p:txBody>
          <a:bodyPr wrap="square">
            <a:spAutoFit/>
          </a:bodyPr>
          <a:lstStyle/>
          <a:p>
            <a:pPr algn="l"/>
            <a:r>
              <a:rPr sz="1900" b="1" i="0">
                <a:solidFill>
                  <a:srgbClr val="1B3A6B"/>
                </a:solidFill>
                <a:latin typeface="Calibri"/>
              </a:rPr>
              <a:t>8,6 Mds$</a:t>
            </a:r>
          </a:p>
        </p:txBody>
      </p:sp>
      <p:sp>
        <p:nvSpPr>
          <p:cNvPr id="20" name="TextBox 19"/>
          <p:cNvSpPr txBox="1"/>
          <p:nvPr/>
        </p:nvSpPr>
        <p:spPr>
          <a:xfrm>
            <a:off x="457200" y="1411200"/>
            <a:ext cx="2516400" cy="205199"/>
          </a:xfrm>
          <a:prstGeom prst="rect">
            <a:avLst/>
          </a:prstGeom>
          <a:noFill/>
        </p:spPr>
        <p:txBody>
          <a:bodyPr wrap="square">
            <a:spAutoFit/>
          </a:bodyPr>
          <a:lstStyle/>
          <a:p>
            <a:pPr algn="l"/>
            <a:r>
              <a:rPr sz="800" b="0" i="0">
                <a:solidFill>
                  <a:srgbClr val="555555"/>
                </a:solidFill>
                <a:latin typeface="Calibri"/>
              </a:rPr>
              <a:t>Cash &amp; equivalents</a:t>
            </a:r>
          </a:p>
        </p:txBody>
      </p:sp>
      <p:sp>
        <p:nvSpPr>
          <p:cNvPr id="21" name="Rectangle 20"/>
          <p:cNvSpPr/>
          <p:nvPr/>
        </p:nvSpPr>
        <p:spPr>
          <a:xfrm>
            <a:off x="367200" y="1900800"/>
            <a:ext cx="26532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67200" y="19008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1954800"/>
            <a:ext cx="2516400" cy="396000"/>
          </a:xfrm>
          <a:prstGeom prst="rect">
            <a:avLst/>
          </a:prstGeom>
          <a:noFill/>
        </p:spPr>
        <p:txBody>
          <a:bodyPr wrap="square">
            <a:spAutoFit/>
          </a:bodyPr>
          <a:lstStyle/>
          <a:p>
            <a:pPr algn="l"/>
            <a:r>
              <a:rPr sz="1900" b="1" i="0">
                <a:solidFill>
                  <a:srgbClr val="1B3A6B"/>
                </a:solidFill>
                <a:latin typeface="Calibri"/>
              </a:rPr>
              <a:t>8,5 Mds$</a:t>
            </a:r>
          </a:p>
        </p:txBody>
      </p:sp>
      <p:sp>
        <p:nvSpPr>
          <p:cNvPr id="24" name="TextBox 23"/>
          <p:cNvSpPr txBox="1"/>
          <p:nvPr/>
        </p:nvSpPr>
        <p:spPr>
          <a:xfrm>
            <a:off x="457200" y="2350800"/>
            <a:ext cx="2516400" cy="205199"/>
          </a:xfrm>
          <a:prstGeom prst="rect">
            <a:avLst/>
          </a:prstGeom>
          <a:noFill/>
        </p:spPr>
        <p:txBody>
          <a:bodyPr wrap="square">
            <a:spAutoFit/>
          </a:bodyPr>
          <a:lstStyle/>
          <a:p>
            <a:pPr algn="l"/>
            <a:r>
              <a:rPr sz="800" b="0" i="0">
                <a:solidFill>
                  <a:srgbClr val="555555"/>
                </a:solidFill>
                <a:latin typeface="Calibri"/>
              </a:rPr>
              <a:t>Dette long terme</a:t>
            </a:r>
          </a:p>
        </p:txBody>
      </p:sp>
      <p:sp>
        <p:nvSpPr>
          <p:cNvPr id="25" name="Rectangle 24"/>
          <p:cNvSpPr/>
          <p:nvPr/>
        </p:nvSpPr>
        <p:spPr>
          <a:xfrm>
            <a:off x="367200" y="2844000"/>
            <a:ext cx="2653200" cy="824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7200" y="2844000"/>
            <a:ext cx="46800" cy="82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 y="2898000"/>
            <a:ext cx="2516400" cy="396000"/>
          </a:xfrm>
          <a:prstGeom prst="rect">
            <a:avLst/>
          </a:prstGeom>
          <a:noFill/>
        </p:spPr>
        <p:txBody>
          <a:bodyPr wrap="square">
            <a:spAutoFit/>
          </a:bodyPr>
          <a:lstStyle/>
          <a:p>
            <a:pPr algn="l"/>
            <a:r>
              <a:rPr sz="1900" b="1" i="0">
                <a:solidFill>
                  <a:srgbClr val="FFFFFF"/>
                </a:solidFill>
                <a:latin typeface="Calibri"/>
              </a:rPr>
              <a:t>-126 M$</a:t>
            </a:r>
          </a:p>
        </p:txBody>
      </p:sp>
      <p:sp>
        <p:nvSpPr>
          <p:cNvPr id="28" name="TextBox 27"/>
          <p:cNvSpPr txBox="1"/>
          <p:nvPr/>
        </p:nvSpPr>
        <p:spPr>
          <a:xfrm>
            <a:off x="457200" y="3294000"/>
            <a:ext cx="2516400" cy="205199"/>
          </a:xfrm>
          <a:prstGeom prst="rect">
            <a:avLst/>
          </a:prstGeom>
          <a:noFill/>
        </p:spPr>
        <p:txBody>
          <a:bodyPr wrap="square">
            <a:spAutoFit/>
          </a:bodyPr>
          <a:lstStyle/>
          <a:p>
            <a:pPr algn="l"/>
            <a:r>
              <a:rPr sz="800" b="0" i="0">
                <a:solidFill>
                  <a:srgbClr val="FFFFFF"/>
                </a:solidFill>
                <a:latin typeface="Calibri"/>
              </a:rPr>
              <a:t>Dette nette</a:t>
            </a:r>
          </a:p>
        </p:txBody>
      </p:sp>
      <p:sp>
        <p:nvSpPr>
          <p:cNvPr id="29" name="TextBox 28"/>
          <p:cNvSpPr txBox="1"/>
          <p:nvPr/>
        </p:nvSpPr>
        <p:spPr>
          <a:xfrm>
            <a:off x="3384000" y="842400"/>
            <a:ext cx="5396400" cy="165600"/>
          </a:xfrm>
          <a:prstGeom prst="rect">
            <a:avLst/>
          </a:prstGeom>
          <a:noFill/>
        </p:spPr>
        <p:txBody>
          <a:bodyPr wrap="square">
            <a:spAutoFit/>
          </a:bodyPr>
          <a:lstStyle/>
          <a:p>
            <a:pPr algn="l"/>
            <a:r>
              <a:rPr sz="900" b="1" i="0">
                <a:solidFill>
                  <a:srgbClr val="1B3A6B"/>
                </a:solidFill>
                <a:latin typeface="Calibri"/>
              </a:rPr>
              <a:t>Ratios de solvabilité &amp; liquidité</a:t>
            </a:r>
          </a:p>
        </p:txBody>
      </p:sp>
      <p:graphicFrame>
        <p:nvGraphicFramePr>
          <p:cNvPr id="30" name="Table 29"/>
          <p:cNvGraphicFramePr>
            <a:graphicFrameLocks noGrp="1"/>
          </p:cNvGraphicFramePr>
          <p:nvPr/>
        </p:nvGraphicFramePr>
        <p:xfrm>
          <a:off x="3384000" y="1007999"/>
          <a:ext cx="5396400" cy="1800000"/>
        </p:xfrm>
        <a:graphic>
          <a:graphicData uri="http://schemas.openxmlformats.org/drawingml/2006/table">
            <a:tbl>
              <a:tblPr firstRow="1" bandRow="1">
                <a:tableStyleId>{5C22544A-7EE6-4342-B048-85BDC9FD1C3A}</a:tableStyleId>
              </a:tblPr>
              <a:tblGrid>
                <a:gridCol w="2374416"/>
                <a:gridCol w="1133244"/>
                <a:gridCol w="1133244"/>
                <a:gridCol w="755496"/>
              </a:tblGrid>
              <a:tr h="225000">
                <a:tc>
                  <a:txBody>
                    <a:bodyPr/>
                    <a:lstStyle/>
                    <a:p>
                      <a:pPr algn="l"/>
                      <a:r>
                        <a:rPr sz="800" b="1" i="0">
                          <a:solidFill>
                            <a:srgbClr val="FFFFFF"/>
                          </a:solidFill>
                          <a:latin typeface="Calibri"/>
                        </a:rPr>
                        <a:t>Ratio</a:t>
                      </a:r>
                    </a:p>
                  </a:txBody>
                  <a:tcPr>
                    <a:solidFill>
                      <a:srgbClr val="1B3A6B"/>
                    </a:solidFill>
                  </a:tcPr>
                </a:tc>
                <a:tc>
                  <a:txBody>
                    <a:bodyPr/>
                    <a:lstStyle/>
                    <a:p>
                      <a:pPr algn="ctr"/>
                      <a:r>
                        <a:rPr sz="800" b="1" i="0">
                          <a:solidFill>
                            <a:srgbClr val="FFFFFF"/>
                          </a:solidFill>
                          <a:latin typeface="Calibri"/>
                        </a:rPr>
                        <a:t>Valeur</a:t>
                      </a:r>
                    </a:p>
                  </a:txBody>
                  <a:tcPr>
                    <a:solidFill>
                      <a:srgbClr val="1B3A6B"/>
                    </a:solidFill>
                  </a:tcPr>
                </a:tc>
                <a:tc>
                  <a:txBody>
                    <a:bodyPr/>
                    <a:lstStyle/>
                    <a:p>
                      <a:pPr algn="ctr"/>
                      <a:r>
                        <a:rPr sz="800" b="1" i="0">
                          <a:solidFill>
                            <a:srgbClr val="FFFFFF"/>
                          </a:solidFill>
                          <a:latin typeface="Calibri"/>
                        </a:rPr>
                        <a:t>Référence</a:t>
                      </a:r>
                    </a:p>
                  </a:txBody>
                  <a:tcPr>
                    <a:solidFill>
                      <a:srgbClr val="1B3A6B"/>
                    </a:solidFill>
                  </a:tcPr>
                </a:tc>
                <a:tc>
                  <a:txBody>
                    <a:bodyPr/>
                    <a:lstStyle/>
                    <a:p>
                      <a:pPr algn="ctr"/>
                      <a:r>
                        <a:rPr sz="800" b="1" i="0">
                          <a:solidFill>
                            <a:srgbClr val="FFFFFF"/>
                          </a:solidFill>
                          <a:latin typeface="Calibri"/>
                        </a:rPr>
                        <a:t>Signal</a:t>
                      </a:r>
                    </a:p>
                  </a:txBody>
                  <a:tcPr>
                    <a:solidFill>
                      <a:srgbClr val="1B3A6B"/>
                    </a:solidFill>
                  </a:tcPr>
                </a:tc>
              </a:tr>
              <a:tr h="225000">
                <a:tc>
                  <a:txBody>
                    <a:bodyPr/>
                    <a:lstStyle/>
                    <a:p>
                      <a:pPr algn="l"/>
                      <a:r>
                        <a:rPr sz="800" b="1" i="0">
                          <a:solidFill>
                            <a:srgbClr val="0D0D0D"/>
                          </a:solidFill>
                          <a:latin typeface="Calibri"/>
                        </a:rPr>
                        <a:t>Ratio liquidité courante</a:t>
                      </a:r>
                    </a:p>
                  </a:txBody>
                  <a:tcPr>
                    <a:solidFill>
                      <a:srgbClr val="FFFFFF"/>
                    </a:solidFill>
                  </a:tcPr>
                </a:tc>
                <a:tc>
                  <a:txBody>
                    <a:bodyPr/>
                    <a:lstStyle/>
                    <a:p>
                      <a:pPr algn="ctr"/>
                      <a:r>
                        <a:rPr sz="800" b="0" i="0">
                          <a:solidFill>
                            <a:srgbClr val="0D0D0D"/>
                          </a:solidFill>
                          <a:latin typeface="Calibri"/>
                        </a:rPr>
                        <a:t>5,63</a:t>
                      </a:r>
                    </a:p>
                  </a:txBody>
                  <a:tcPr>
                    <a:solidFill>
                      <a:srgbClr val="FFFFFF"/>
                    </a:solidFill>
                  </a:tcPr>
                </a:tc>
                <a:tc>
                  <a:txBody>
                    <a:bodyPr/>
                    <a:lstStyle/>
                    <a:p>
                      <a:pPr algn="ctr"/>
                      <a:r>
                        <a:rPr sz="800" b="0" i="0">
                          <a:solidFill>
                            <a:srgbClr val="0D0D0D"/>
                          </a:solidFill>
                          <a:latin typeface="Calibri"/>
                        </a:rPr>
                        <a:t>&gt; 1,5</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Ratio rapide (quick)</a:t>
                      </a:r>
                    </a:p>
                  </a:txBody>
                  <a:tcPr>
                    <a:solidFill>
                      <a:srgbClr val="F7F8FA"/>
                    </a:solidFill>
                  </a:tcPr>
                </a:tc>
                <a:tc>
                  <a:txBody>
                    <a:bodyPr/>
                    <a:lstStyle/>
                    <a:p>
                      <a:pPr algn="ctr"/>
                      <a:r>
                        <a:rPr sz="800" b="0" i="0">
                          <a:solidFill>
                            <a:srgbClr val="0D0D0D"/>
                          </a:solidFill>
                          <a:latin typeface="Calibri"/>
                        </a:rPr>
                        <a:t>4,38</a:t>
                      </a:r>
                    </a:p>
                  </a:txBody>
                  <a:tcPr>
                    <a:solidFill>
                      <a:srgbClr val="F7F8FA"/>
                    </a:solidFill>
                  </a:tcPr>
                </a:tc>
                <a:tc>
                  <a:txBody>
                    <a:bodyPr/>
                    <a:lstStyle/>
                    <a:p>
                      <a:pPr algn="ctr"/>
                      <a:r>
                        <a:rPr sz="800" b="0" i="0">
                          <a:solidFill>
                            <a:srgbClr val="0D0D0D"/>
                          </a:solidFill>
                          <a:latin typeface="Calibri"/>
                        </a:rPr>
                        <a:t>&gt; 1,0</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D/E</a:t>
                      </a:r>
                    </a:p>
                  </a:txBody>
                  <a:tcPr>
                    <a:solidFill>
                      <a:srgbClr val="FFFFFF"/>
                    </a:solidFill>
                  </a:tcPr>
                </a:tc>
                <a:tc>
                  <a:txBody>
                    <a:bodyPr/>
                    <a:lstStyle/>
                    <a:p>
                      <a:pPr algn="ctr"/>
                      <a:r>
                        <a:rPr sz="800" b="0" i="0">
                          <a:solidFill>
                            <a:srgbClr val="0D0D0D"/>
                          </a:solidFill>
                          <a:latin typeface="Calibri"/>
                        </a:rPr>
                        <a:t>0,1x</a:t>
                      </a:r>
                    </a:p>
                  </a:txBody>
                  <a:tcPr>
                    <a:solidFill>
                      <a:srgbClr val="FFFFFF"/>
                    </a:solidFill>
                  </a:tcPr>
                </a:tc>
                <a:tc>
                  <a:txBody>
                    <a:bodyPr/>
                    <a:lstStyle/>
                    <a:p>
                      <a:pPr algn="ctr"/>
                      <a:r>
                        <a:rPr sz="800" b="0" i="0">
                          <a:solidFill>
                            <a:srgbClr val="0D0D0D"/>
                          </a:solidFill>
                          <a:latin typeface="Calibri"/>
                        </a:rPr>
                        <a:t>&lt; 2,0x</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Couverture d'intérêts</a:t>
                      </a:r>
                    </a:p>
                  </a:txBody>
                  <a:tcPr>
                    <a:solidFill>
                      <a:srgbClr val="F7F8FA"/>
                    </a:solidFill>
                  </a:tcPr>
                </a:tc>
                <a:tc>
                  <a:txBody>
                    <a:bodyPr/>
                    <a:lstStyle/>
                    <a:p>
                      <a:pPr algn="ctr"/>
                      <a:r>
                        <a:rPr sz="800" b="0" i="0">
                          <a:solidFill>
                            <a:srgbClr val="0D0D0D"/>
                          </a:solidFill>
                          <a:latin typeface="Calibri"/>
                        </a:rPr>
                        <a:t>341,2x</a:t>
                      </a:r>
                    </a:p>
                  </a:txBody>
                  <a:tcPr>
                    <a:solidFill>
                      <a:srgbClr val="F7F8FA"/>
                    </a:solidFill>
                  </a:tcPr>
                </a:tc>
                <a:tc>
                  <a:txBody>
                    <a:bodyPr/>
                    <a:lstStyle/>
                    <a:p>
                      <a:pPr algn="ctr"/>
                      <a:r>
                        <a:rPr sz="800" b="0" i="0">
                          <a:solidFill>
                            <a:srgbClr val="0D0D0D"/>
                          </a:solidFill>
                          <a:latin typeface="Calibri"/>
                        </a:rPr>
                        <a:t>&gt; 3,0x</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Dette nette / EBITDA</a:t>
                      </a:r>
                    </a:p>
                  </a:txBody>
                  <a:tcPr>
                    <a:solidFill>
                      <a:srgbClr val="FFFFFF"/>
                    </a:solidFill>
                  </a:tcPr>
                </a:tc>
                <a:tc>
                  <a:txBody>
                    <a:bodyPr/>
                    <a:lstStyle/>
                    <a:p>
                      <a:pPr algn="ctr"/>
                      <a:r>
                        <a:rPr sz="800" b="0" i="0">
                          <a:solidFill>
                            <a:srgbClr val="0D0D0D"/>
                          </a:solidFill>
                          <a:latin typeface="Calibri"/>
                        </a:rPr>
                        <a:t>-0,0x</a:t>
                      </a:r>
                    </a:p>
                  </a:txBody>
                  <a:tcPr>
                    <a:solidFill>
                      <a:srgbClr val="FFFFFF"/>
                    </a:solidFill>
                  </a:tcPr>
                </a:tc>
                <a:tc>
                  <a:txBody>
                    <a:bodyPr/>
                    <a:lstStyle/>
                    <a:p>
                      <a:pPr algn="ctr"/>
                      <a:r>
                        <a:rPr sz="800" b="0" i="0">
                          <a:solidFill>
                            <a:srgbClr val="0D0D0D"/>
                          </a:solidFill>
                          <a:latin typeface="Calibri"/>
                        </a:rPr>
                        <a:t>&lt; 2,0x</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Altman Z</a:t>
                      </a:r>
                    </a:p>
                  </a:txBody>
                  <a:tcPr>
                    <a:solidFill>
                      <a:srgbClr val="F7F8FA"/>
                    </a:solidFill>
                  </a:tcPr>
                </a:tc>
                <a:tc>
                  <a:txBody>
                    <a:bodyPr/>
                    <a:lstStyle/>
                    <a:p>
                      <a:pPr algn="ctr"/>
                      <a:r>
                        <a:rPr sz="800" b="0" i="0">
                          <a:solidFill>
                            <a:srgbClr val="0D0D0D"/>
                          </a:solidFill>
                          <a:latin typeface="Calibri"/>
                        </a:rPr>
                        <a:t>11,84</a:t>
                      </a:r>
                    </a:p>
                  </a:txBody>
                  <a:tcPr>
                    <a:solidFill>
                      <a:srgbClr val="F7F8FA"/>
                    </a:solidFill>
                  </a:tcPr>
                </a:tc>
                <a:tc>
                  <a:txBody>
                    <a:bodyPr/>
                    <a:lstStyle/>
                    <a:p>
                      <a:pPr algn="ctr"/>
                      <a:r>
                        <a:rPr sz="800" b="0" i="0">
                          <a:solidFill>
                            <a:srgbClr val="0D0D0D"/>
                          </a:solidFill>
                          <a:latin typeface="Calibri"/>
                        </a:rPr>
                        <a:t>&gt; 2,99</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Beneish M</a:t>
                      </a:r>
                    </a:p>
                  </a:txBody>
                  <a:tcPr>
                    <a:solidFill>
                      <a:srgbClr val="FFFFFF"/>
                    </a:solidFill>
                  </a:tcPr>
                </a:tc>
                <a:tc>
                  <a:txBody>
                    <a:bodyPr/>
                    <a:lstStyle/>
                    <a:p>
                      <a:pPr algn="ctr"/>
                      <a:r>
                        <a:rPr sz="800" b="0" i="0">
                          <a:solidFill>
                            <a:srgbClr val="0D0D0D"/>
                          </a:solidFill>
                          <a:latin typeface="Calibri"/>
                        </a:rPr>
                        <a:t>-0,78</a:t>
                      </a:r>
                    </a:p>
                  </a:txBody>
                  <a:tcPr>
                    <a:solidFill>
                      <a:srgbClr val="FFFFFF"/>
                    </a:solidFill>
                  </a:tcPr>
                </a:tc>
                <a:tc>
                  <a:txBody>
                    <a:bodyPr/>
                    <a:lstStyle/>
                    <a:p>
                      <a:pPr algn="ctr"/>
                      <a:r>
                        <a:rPr sz="800" b="0" i="0">
                          <a:solidFill>
                            <a:srgbClr val="0D0D0D"/>
                          </a:solidFill>
                          <a:latin typeface="Calibri"/>
                        </a:rPr>
                        <a:t>&lt; -2,22</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bl>
          </a:graphicData>
        </a:graphic>
      </p:graphicFrame>
      <p:sp>
        <p:nvSpPr>
          <p:cNvPr id="31" name="TextBox 30"/>
          <p:cNvSpPr txBox="1"/>
          <p:nvPr/>
        </p:nvSpPr>
        <p:spPr>
          <a:xfrm>
            <a:off x="367200" y="4068000"/>
            <a:ext cx="8413200" cy="468000"/>
          </a:xfrm>
          <a:prstGeom prst="rect">
            <a:avLst/>
          </a:prstGeom>
          <a:noFill/>
        </p:spPr>
        <p:txBody>
          <a:bodyPr wrap="square">
            <a:spAutoFit/>
          </a:bodyPr>
          <a:lstStyle/>
          <a:p>
            <a:pPr algn="l"/>
            <a:r>
              <a:rPr sz="850" b="0" i="0">
                <a:solidFill>
                  <a:srgbClr val="555555"/>
                </a:solidFill>
                <a:latin typeface="Calibri"/>
              </a:rPr>
              <a:t>Croissance CA 2025 de 114% YoY portée par l'IA et les data centers, avec des marges nettes passant de 16% (2023) à 56% (2025). Le levier opérationnel est exceptionnel grâce à des coûts fixes maîtrisés et un mix produit à haute valeur ajoutée (GPU H100). La génération de cash est robuste, avec un ROIC de 94% et un bilan sans dette nette.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Ratios Clés vs. Benchmark Sectoriel</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Positionnement relatif  ·  LTM 2025</a:t>
            </a:r>
          </a:p>
        </p:txBody>
      </p:sp>
      <p:graphicFrame>
        <p:nvGraphicFramePr>
          <p:cNvPr id="17" name="Table 16"/>
          <p:cNvGraphicFramePr>
            <a:graphicFrameLocks noGrp="1"/>
          </p:cNvGraphicFramePr>
          <p:nvPr/>
        </p:nvGraphicFramePr>
        <p:xfrm>
          <a:off x="367200" y="914400"/>
          <a:ext cx="8413200" cy="2559600"/>
        </p:xfrm>
        <a:graphic>
          <a:graphicData uri="http://schemas.openxmlformats.org/drawingml/2006/table">
            <a:tbl>
              <a:tblPr firstRow="1" bandRow="1">
                <a:tableStyleId>{5C22544A-7EE6-4342-B048-85BDC9FD1C3A}</a:tableStyleId>
              </a:tblPr>
              <a:tblGrid>
                <a:gridCol w="2103300"/>
                <a:gridCol w="2103300"/>
                <a:gridCol w="2103300"/>
                <a:gridCol w="2103300"/>
              </a:tblGrid>
              <a:tr h="232690">
                <a:tc>
                  <a:txBody>
                    <a:bodyPr/>
                    <a:lstStyle/>
                    <a:p>
                      <a:pPr algn="l"/>
                      <a:r>
                        <a:rPr sz="800" b="1" i="0">
                          <a:solidFill>
                            <a:srgbClr val="FFFFFF"/>
                          </a:solidFill>
                          <a:latin typeface="Calibri"/>
                        </a:rPr>
                        <a:t>Indicateur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Benchmark</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Lecture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P/E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59,1x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15–25x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555555"/>
                          </a:solidFill>
                          <a:latin typeface="Calibri"/>
                        </a:rPr>
                        <a:t>Eleve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EV/EBITDA</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50,0x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8–14x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Très élevé</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EV/Revenue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33,0x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Très élevé</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Marge brute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75,0 %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40 %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Marge EBITDA</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66,0 %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20 %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ROE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91,9 %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15 %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ROIC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94,2 %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10 %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CapEx / Revenue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&lt; 15 %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555555"/>
                          </a:solidFill>
                          <a:latin typeface="Calibri"/>
                        </a:rPr>
                        <a:t>Léger</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Altman Z</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11,84</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2,99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Solide</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700">
                <a:tc>
                  <a:txBody>
                    <a:bodyPr/>
                    <a:lstStyle/>
                    <a:p>
                      <a:pPr algn="l"/>
                      <a:r>
                        <a:rPr sz="800" b="0" i="0">
                          <a:solidFill>
                            <a:srgbClr val="0D0D0D"/>
                          </a:solidFill>
                          <a:latin typeface="Calibri"/>
                        </a:rPr>
                        <a:t>Beneish M</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-0,78</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&lt; -2,22</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Risque manip.</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18" name="TextBox 17"/>
          <p:cNvSpPr txBox="1"/>
          <p:nvPr/>
        </p:nvSpPr>
        <p:spPr>
          <a:xfrm>
            <a:off x="367200" y="3628800"/>
            <a:ext cx="8413200" cy="824400"/>
          </a:xfrm>
          <a:prstGeom prst="rect">
            <a:avLst/>
          </a:prstGeom>
          <a:noFill/>
        </p:spPr>
        <p:txBody>
          <a:bodyPr wrap="square">
            <a:spAutoFit/>
          </a:bodyPr>
          <a:lstStyle/>
          <a:p>
            <a:pPr algn="l"/>
            <a:r>
              <a:rPr sz="850" b="0" i="0">
                <a:solidFill>
                  <a:srgbClr val="555555"/>
                </a:solidFill>
                <a:latin typeface="Calibri"/>
              </a:rPr>
              <a:t>Les marges brutes sont passées de 57% (2023) à 75% (2025) grâce à une meilleure mixité produit et une optimisation des coûts de production. Les marges EBITDA/nettes ont suivi la même tendance, reflétant un levier opérationnel élevé et un pricing power sur les GPU IA. Ces niveaux sont durables à moyen terme, soutenus par la demande structurelle en calcul haute performance.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03</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Valorisation</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DCF, comparable peers &amp; Football Field Chart</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Valorisation — DCF &amp; Scénarios</a:t>
            </a:r>
          </a:p>
        </p:txBody>
      </p:sp>
      <p:graphicFrame>
        <p:nvGraphicFramePr>
          <p:cNvPr id="16" name="Table 15"/>
          <p:cNvGraphicFramePr>
            <a:graphicFrameLocks noGrp="1"/>
          </p:cNvGraphicFramePr>
          <p:nvPr/>
        </p:nvGraphicFramePr>
        <p:xfrm>
          <a:off x="367200" y="824400"/>
          <a:ext cx="4024800" cy="1371600"/>
        </p:xfrm>
        <a:graphic>
          <a:graphicData uri="http://schemas.openxmlformats.org/drawingml/2006/table">
            <a:tbl>
              <a:tblPr firstRow="1" bandRow="1">
                <a:tableStyleId>{5C22544A-7EE6-4342-B048-85BDC9FD1C3A}</a:tableStyleId>
              </a:tblPr>
              <a:tblGrid>
                <a:gridCol w="2213640"/>
                <a:gridCol w="1811160"/>
              </a:tblGrid>
              <a:tr h="228600">
                <a:tc>
                  <a:txBody>
                    <a:bodyPr/>
                    <a:lstStyle/>
                    <a:p>
                      <a:pPr algn="l"/>
                      <a:r>
                        <a:rPr sz="800" b="1" i="0">
                          <a:solidFill>
                            <a:srgbClr val="FFFFFF"/>
                          </a:solidFill>
                          <a:latin typeface="Calibri"/>
                        </a:rPr>
                        <a:t>Paramètre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WACC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17,1 %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TGR</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1" i="0">
                          <a:solidFill>
                            <a:srgbClr val="1B3A6B"/>
                          </a:solidFill>
                          <a:latin typeface="Calibri"/>
                        </a:rPr>
                        <a:t>Valeur intrinsèque</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220 $</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Cours actuel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177,39 $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Upside implicite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+24,0 %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graphicFrame>
        <p:nvGraphicFramePr>
          <p:cNvPr id="17" name="Table 16"/>
          <p:cNvGraphicFramePr>
            <a:graphicFrameLocks noGrp="1"/>
          </p:cNvGraphicFramePr>
          <p:nvPr/>
        </p:nvGraphicFramePr>
        <p:xfrm>
          <a:off x="4482000" y="824400"/>
          <a:ext cx="4298400" cy="1371600"/>
        </p:xfrm>
        <a:graphic>
          <a:graphicData uri="http://schemas.openxmlformats.org/drawingml/2006/table">
            <a:tbl>
              <a:tblPr firstRow="1" bandRow="1">
                <a:tableStyleId>{5C22544A-7EE6-4342-B048-85BDC9FD1C3A}</a:tableStyleId>
              </a:tblPr>
              <a:tblGrid>
                <a:gridCol w="1432800"/>
                <a:gridCol w="1432800"/>
                <a:gridCol w="1432800"/>
              </a:tblGrid>
              <a:tr h="342900">
                <a:tc>
                  <a:txBody>
                    <a:bodyPr/>
                    <a:lstStyle/>
                    <a:p>
                      <a:pPr algn="ctr"/>
                      <a:r>
                        <a:rPr sz="1000" b="1" i="0">
                          <a:solidFill>
                            <a:srgbClr val="FFFFFF"/>
                          </a:solidFill>
                          <a:latin typeface="Calibri"/>
                        </a:rPr>
                        <a:t>Bear</a:t>
                      </a:r>
                    </a:p>
                  </a:txBody>
                  <a:tcPr>
                    <a:solidFill>
                      <a:srgbClr val="A82020"/>
                    </a:solidFill>
                  </a:tcPr>
                </a:tc>
                <a:tc>
                  <a:txBody>
                    <a:bodyPr/>
                    <a:lstStyle/>
                    <a:p>
                      <a:pPr algn="ctr"/>
                      <a:r>
                        <a:rPr sz="1000" b="1" i="0">
                          <a:solidFill>
                            <a:srgbClr val="FFFFFF"/>
                          </a:solidFill>
                          <a:latin typeface="Calibri"/>
                        </a:rPr>
                        <a:t>Base</a:t>
                      </a:r>
                    </a:p>
                  </a:txBody>
                  <a:tcPr>
                    <a:solidFill>
                      <a:srgbClr val="2E5FA3"/>
                    </a:solidFill>
                  </a:tcPr>
                </a:tc>
                <a:tc>
                  <a:txBody>
                    <a:bodyPr/>
                    <a:lstStyle/>
                    <a:p>
                      <a:pPr algn="ctr"/>
                      <a:r>
                        <a:rPr sz="1000" b="1" i="0">
                          <a:solidFill>
                            <a:srgbClr val="FFFFFF"/>
                          </a:solidFill>
                          <a:latin typeface="Calibri"/>
                        </a:rPr>
                        <a:t>Bull</a:t>
                      </a:r>
                    </a:p>
                  </a:txBody>
                  <a:tcPr>
                    <a:solidFill>
                      <a:srgbClr val="1A7A4A"/>
                    </a:solidFill>
                  </a:tcPr>
                </a:tc>
              </a:tr>
              <a:tr h="342900">
                <a:tc>
                  <a:txBody>
                    <a:bodyPr/>
                    <a:lstStyle/>
                    <a:p>
                      <a:pPr algn="ctr"/>
                      <a:r>
                        <a:rPr sz="2000" b="1" i="0">
                          <a:solidFill>
                            <a:srgbClr val="A82020"/>
                          </a:solidFill>
                          <a:latin typeface="Calibri"/>
                        </a:rPr>
                        <a:t>150 $</a:t>
                      </a:r>
                    </a:p>
                  </a:txBody>
                  <a:tcPr>
                    <a:solidFill>
                      <a:srgbClr val="FAF0EF"/>
                    </a:solidFill>
                  </a:tcPr>
                </a:tc>
                <a:tc>
                  <a:txBody>
                    <a:bodyPr/>
                    <a:lstStyle/>
                    <a:p>
                      <a:pPr algn="ctr"/>
                      <a:r>
                        <a:rPr sz="2000" b="1" i="0">
                          <a:solidFill>
                            <a:srgbClr val="2E5FA3"/>
                          </a:solidFill>
                          <a:latin typeface="Calibri"/>
                        </a:rPr>
                        <a:t>220 $</a:t>
                      </a:r>
                    </a:p>
                  </a:txBody>
                  <a:tcPr>
                    <a:solidFill>
                      <a:srgbClr val="EEF3FA"/>
                    </a:solidFill>
                  </a:tcPr>
                </a:tc>
                <a:tc>
                  <a:txBody>
                    <a:bodyPr/>
                    <a:lstStyle/>
                    <a:p>
                      <a:pPr algn="ctr"/>
                      <a:r>
                        <a:rPr sz="2000" b="1" i="0">
                          <a:solidFill>
                            <a:srgbClr val="1A7A4A"/>
                          </a:solidFill>
                          <a:latin typeface="Calibri"/>
                        </a:rPr>
                        <a:t>260 $</a:t>
                      </a:r>
                    </a:p>
                  </a:txBody>
                  <a:tcPr>
                    <a:solidFill>
                      <a:srgbClr val="EAF4EF"/>
                    </a:solidFill>
                  </a:tcPr>
                </a:tc>
              </a:tr>
              <a:tr h="342900">
                <a:tc>
                  <a:txBody>
                    <a:bodyPr/>
                    <a:lstStyle/>
                    <a:p>
                      <a:pPr algn="ctr"/>
                      <a:r>
                        <a:rPr sz="1200" b="1" i="0">
                          <a:solidFill>
                            <a:srgbClr val="A82020"/>
                          </a:solidFill>
                          <a:latin typeface="Calibri"/>
                        </a:rPr>
                        <a:t>-15,4 %</a:t>
                      </a:r>
                    </a:p>
                  </a:txBody>
                  <a:tcPr>
                    <a:solidFill>
                      <a:srgbClr val="FAF0EF"/>
                    </a:solidFill>
                  </a:tcPr>
                </a:tc>
                <a:tc>
                  <a:txBody>
                    <a:bodyPr/>
                    <a:lstStyle/>
                    <a:p>
                      <a:pPr algn="ctr"/>
                      <a:r>
                        <a:rPr sz="1200" b="1" i="0">
                          <a:solidFill>
                            <a:srgbClr val="2E5FA3"/>
                          </a:solidFill>
                          <a:latin typeface="Calibri"/>
                        </a:rPr>
                        <a:t>+24,0 %</a:t>
                      </a:r>
                    </a:p>
                  </a:txBody>
                  <a:tcPr>
                    <a:solidFill>
                      <a:srgbClr val="EEF3FA"/>
                    </a:solidFill>
                  </a:tcPr>
                </a:tc>
                <a:tc>
                  <a:txBody>
                    <a:bodyPr/>
                    <a:lstStyle/>
                    <a:p>
                      <a:pPr algn="ctr"/>
                      <a:r>
                        <a:rPr sz="1200" b="1" i="0">
                          <a:solidFill>
                            <a:srgbClr val="1A7A4A"/>
                          </a:solidFill>
                          <a:latin typeface="Calibri"/>
                        </a:rPr>
                        <a:t>+46,6 %</a:t>
                      </a:r>
                    </a:p>
                  </a:txBody>
                  <a:tcPr>
                    <a:solidFill>
                      <a:srgbClr val="EAF4EF"/>
                    </a:solidFill>
                  </a:tcPr>
                </a:tc>
              </a:tr>
              <a:tr h="342900">
                <a:tc>
                  <a:txBody>
                    <a:bodyPr/>
                    <a:lstStyle/>
                    <a:p>
                      <a:pPr algn="ctr"/>
                      <a:r>
                        <a:rPr sz="700" b="0" i="0">
                          <a:solidFill>
                            <a:srgbClr val="888888"/>
                          </a:solidFill>
                          <a:latin typeface="Calibri"/>
                        </a:rPr>
                        <a:t>Upside / Downside</a:t>
                      </a:r>
                    </a:p>
                  </a:txBody>
                  <a:tcPr>
                    <a:solidFill>
                      <a:srgbClr val="FAF0EF"/>
                    </a:solidFill>
                  </a:tcPr>
                </a:tc>
                <a:tc>
                  <a:txBody>
                    <a:bodyPr/>
                    <a:lstStyle/>
                    <a:p>
                      <a:pPr algn="ctr"/>
                      <a:r>
                        <a:rPr sz="700" b="0" i="0">
                          <a:solidFill>
                            <a:srgbClr val="888888"/>
                          </a:solidFill>
                          <a:latin typeface="Calibri"/>
                        </a:rPr>
                        <a:t>Upside / Downside</a:t>
                      </a:r>
                    </a:p>
                  </a:txBody>
                  <a:tcPr>
                    <a:solidFill>
                      <a:srgbClr val="EEF3FA"/>
                    </a:solidFill>
                  </a:tcPr>
                </a:tc>
                <a:tc>
                  <a:txBody>
                    <a:bodyPr/>
                    <a:lstStyle/>
                    <a:p>
                      <a:pPr algn="ctr"/>
                      <a:r>
                        <a:rPr sz="700" b="0" i="0">
                          <a:solidFill>
                            <a:srgbClr val="888888"/>
                          </a:solidFill>
                          <a:latin typeface="Calibri"/>
                        </a:rPr>
                        <a:t>Upside / Downside</a:t>
                      </a:r>
                    </a:p>
                  </a:txBody>
                  <a:tcPr>
                    <a:solidFill>
                      <a:srgbClr val="EAF4EF"/>
                    </a:solidFill>
                  </a:tcPr>
                </a:tc>
              </a:tr>
            </a:tbl>
          </a:graphicData>
        </a:graphic>
      </p:graphicFrame>
      <p:sp>
        <p:nvSpPr>
          <p:cNvPr id="18" name="TextBox 17"/>
          <p:cNvSpPr txBox="1"/>
          <p:nvPr/>
        </p:nvSpPr>
        <p:spPr>
          <a:xfrm>
            <a:off x="367200" y="2394000"/>
            <a:ext cx="8413200" cy="201600"/>
          </a:xfrm>
          <a:prstGeom prst="rect">
            <a:avLst/>
          </a:prstGeom>
          <a:noFill/>
        </p:spPr>
        <p:txBody>
          <a:bodyPr wrap="square">
            <a:spAutoFit/>
          </a:bodyPr>
          <a:lstStyle/>
          <a:p>
            <a:pPr algn="l"/>
            <a:r>
              <a:rPr sz="900" b="1" i="0">
                <a:solidFill>
                  <a:srgbClr val="1B3A6B"/>
                </a:solidFill>
                <a:latin typeface="Calibri"/>
              </a:rPr>
              <a:t>Table de sensibilité — Valeur intrinsèque ($)</a:t>
            </a:r>
          </a:p>
        </p:txBody>
      </p:sp>
      <p:graphicFrame>
        <p:nvGraphicFramePr>
          <p:cNvPr id="19" name="Table 18"/>
          <p:cNvGraphicFramePr>
            <a:graphicFrameLocks noGrp="1"/>
          </p:cNvGraphicFramePr>
          <p:nvPr/>
        </p:nvGraphicFramePr>
        <p:xfrm>
          <a:off x="367200" y="2653200"/>
          <a:ext cx="8413200" cy="1116000"/>
        </p:xfrm>
        <a:graphic>
          <a:graphicData uri="http://schemas.openxmlformats.org/drawingml/2006/table">
            <a:tbl>
              <a:tblPr firstRow="1" bandRow="1">
                <a:tableStyleId>{5C22544A-7EE6-4342-B048-85BDC9FD1C3A}</a:tableStyleId>
              </a:tblPr>
              <a:tblGrid>
                <a:gridCol w="1402200"/>
                <a:gridCol w="1402200"/>
                <a:gridCol w="1402200"/>
                <a:gridCol w="1402200"/>
                <a:gridCol w="1402200"/>
                <a:gridCol w="1402200"/>
              </a:tblGrid>
              <a:tr h="186000">
                <a:tc>
                  <a:txBody>
                    <a:bodyPr/>
                    <a:lstStyle/>
                    <a:p>
                      <a:pPr algn="l"/>
                      <a:r>
                        <a:rPr sz="800" b="1" i="0">
                          <a:solidFill>
                            <a:srgbClr val="FFFFFF"/>
                          </a:solidFill>
                          <a:latin typeface="Calibri"/>
                        </a:rPr>
                        <a:t>WACC \ TGR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3,0%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3,5%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4,0%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15,1%</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237</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246</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256</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267</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279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16,1%</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220</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228</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237</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246</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256</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1" i="0">
                          <a:solidFill>
                            <a:srgbClr val="1B3A6B"/>
                          </a:solidFill>
                          <a:latin typeface="Calibri"/>
                        </a:rPr>
                        <a:t>17,1%</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205</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212</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220</a:t>
                      </a:r>
                    </a:p>
                  </a:txBody>
                  <a:tcPr>
                    <a:solidFill>
                      <a:srgbClr val="2E5FA3"/>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228</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237</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18,1%</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193</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199</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205</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212</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220</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19,1%</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181</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187</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193</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199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205</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0" name="TextBox 19"/>
          <p:cNvSpPr txBox="1"/>
          <p:nvPr/>
        </p:nvSpPr>
        <p:spPr>
          <a:xfrm>
            <a:off x="367200" y="3916800"/>
            <a:ext cx="8413200" cy="547200"/>
          </a:xfrm>
          <a:prstGeom prst="rect">
            <a:avLst/>
          </a:prstGeom>
          <a:noFill/>
        </p:spPr>
        <p:txBody>
          <a:bodyPr wrap="square">
            <a:spAutoFit/>
          </a:bodyPr>
          <a:lstStyle/>
          <a:p>
            <a:pPr algn="l"/>
            <a:r>
              <a:rPr sz="850" b="0" i="0">
                <a:solidFill>
                  <a:srgbClr val="555555"/>
                </a:solidFill>
                <a:latin typeface="Calibri"/>
              </a:rPr>
              <a:t>Avec un WACC de 17.1% et un TGR de 3.0%, le prix implicite DCF est de ~$220 (base), soit un upside de 24% vs cours actuel. La prime actuelle reflète une croissance déjà pricee, mais des catalyseurs comme l'expansion des data centers IA pourraient justifier une revalorisation.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Comparable Peers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par multiples  ·  LTM  ·  Mkt Cap en Mds USD</a:t>
            </a:r>
          </a:p>
        </p:txBody>
      </p:sp>
      <p:graphicFrame>
        <p:nvGraphicFramePr>
          <p:cNvPr id="17" name="Table 16"/>
          <p:cNvGraphicFramePr>
            <a:graphicFrameLocks noGrp="1"/>
          </p:cNvGraphicFramePr>
          <p:nvPr/>
        </p:nvGraphicFramePr>
        <p:xfrm>
          <a:off x="367200" y="914400"/>
          <a:ext cx="8413200" cy="2015999"/>
        </p:xfrm>
        <a:graphic>
          <a:graphicData uri="http://schemas.openxmlformats.org/drawingml/2006/table">
            <a:tbl>
              <a:tblPr firstRow="1" bandRow="1">
                <a:tableStyleId>{5C22544A-7EE6-4342-B048-85BDC9FD1C3A}</a:tableStyleId>
              </a:tblPr>
              <a:tblGrid>
                <a:gridCol w="1682640"/>
                <a:gridCol w="757188"/>
                <a:gridCol w="1093716"/>
                <a:gridCol w="1009584"/>
                <a:gridCol w="1009584"/>
                <a:gridCol w="757188"/>
                <a:gridCol w="1093716"/>
                <a:gridCol w="1009584"/>
              </a:tblGrid>
              <a:tr h="251999">
                <a:tc>
                  <a:txBody>
                    <a:bodyPr/>
                    <a:lstStyle/>
                    <a:p>
                      <a:pPr algn="l"/>
                      <a:r>
                        <a:rPr sz="800" b="1" i="0">
                          <a:solidFill>
                            <a:srgbClr val="FFFFFF"/>
                          </a:solidFill>
                          <a:latin typeface="Calibri"/>
                        </a:rPr>
                        <a:t>Société</a:t>
                      </a:r>
                    </a:p>
                  </a:txBody>
                  <a:tcPr>
                    <a:solidFill>
                      <a:srgbClr val="1B3A6B"/>
                    </a:solidFill>
                  </a:tcPr>
                </a:tc>
                <a:tc>
                  <a:txBody>
                    <a:bodyPr/>
                    <a:lstStyle/>
                    <a:p>
                      <a:pPr algn="ctr"/>
                      <a:r>
                        <a:rPr sz="800" b="1" i="0">
                          <a:solidFill>
                            <a:srgbClr val="FFFFFF"/>
                          </a:solidFill>
                          <a:latin typeface="Calibri"/>
                        </a:rPr>
                        <a:t>Ticker</a:t>
                      </a:r>
                    </a:p>
                  </a:txBody>
                  <a:tcPr>
                    <a:solidFill>
                      <a:srgbClr val="1B3A6B"/>
                    </a:solidFill>
                  </a:tcPr>
                </a:tc>
                <a:tc>
                  <a:txBody>
                    <a:bodyPr/>
                    <a:lstStyle/>
                    <a:p>
                      <a:pPr algn="ctr"/>
                      <a:r>
                        <a:rPr sz="800" b="1" i="0">
                          <a:solidFill>
                            <a:srgbClr val="FFFFFF"/>
                          </a:solidFill>
                          <a:latin typeface="Calibri"/>
                        </a:rPr>
                        <a:t>Mkt Cap</a:t>
                      </a:r>
                    </a:p>
                  </a:txBody>
                  <a:tcPr>
                    <a:solidFill>
                      <a:srgbClr val="1B3A6B"/>
                    </a:solidFill>
                  </a:tcPr>
                </a:tc>
                <a:tc>
                  <a:txBody>
                    <a:bodyPr/>
                    <a:lstStyle/>
                    <a:p>
                      <a:pPr algn="ctr"/>
                      <a:r>
                        <a:rPr sz="800" b="1" i="0">
                          <a:solidFill>
                            <a:srgbClr val="FFFFFF"/>
                          </a:solidFill>
                          <a:latin typeface="Calibri"/>
                        </a:rPr>
                        <a:t>EV/EBITDA</a:t>
                      </a:r>
                    </a:p>
                  </a:txBody>
                  <a:tcPr>
                    <a:solidFill>
                      <a:srgbClr val="1B3A6B"/>
                    </a:solidFill>
                  </a:tcPr>
                </a:tc>
                <a:tc>
                  <a:txBody>
                    <a:bodyPr/>
                    <a:lstStyle/>
                    <a:p>
                      <a:pPr algn="ctr"/>
                      <a:r>
                        <a:rPr sz="800" b="1" i="0">
                          <a:solidFill>
                            <a:srgbClr val="FFFFFF"/>
                          </a:solidFill>
                          <a:latin typeface="Calibri"/>
                        </a:rPr>
                        <a:t>EV/Rev.</a:t>
                      </a:r>
                    </a:p>
                  </a:txBody>
                  <a:tcPr>
                    <a:solidFill>
                      <a:srgbClr val="1B3A6B"/>
                    </a:solidFill>
                  </a:tcPr>
                </a:tc>
                <a:tc>
                  <a:txBody>
                    <a:bodyPr/>
                    <a:lstStyle/>
                    <a:p>
                      <a:pPr algn="ctr"/>
                      <a:r>
                        <a:rPr sz="800" b="1" i="0">
                          <a:solidFill>
                            <a:srgbClr val="FFFFFF"/>
                          </a:solidFill>
                          <a:latin typeface="Calibri"/>
                        </a:rPr>
                        <a:t>P/E</a:t>
                      </a:r>
                    </a:p>
                  </a:txBody>
                  <a:tcPr>
                    <a:solidFill>
                      <a:srgbClr val="1B3A6B"/>
                    </a:solidFill>
                  </a:tcPr>
                </a:tc>
                <a:tc>
                  <a:txBody>
                    <a:bodyPr/>
                    <a:lstStyle/>
                    <a:p>
                      <a:pPr algn="ctr"/>
                      <a:r>
                        <a:rPr sz="800" b="1" i="0">
                          <a:solidFill>
                            <a:srgbClr val="FFFFFF"/>
                          </a:solidFill>
                          <a:latin typeface="Calibri"/>
                        </a:rPr>
                        <a:t>Mg Brute</a:t>
                      </a:r>
                    </a:p>
                  </a:txBody>
                  <a:tcPr>
                    <a:solidFill>
                      <a:srgbClr val="1B3A6B"/>
                    </a:solidFill>
                  </a:tcPr>
                </a:tc>
                <a:tc>
                  <a:txBody>
                    <a:bodyPr/>
                    <a:lstStyle/>
                    <a:p>
                      <a:pPr algn="ctr"/>
                      <a:r>
                        <a:rPr sz="800" b="1" i="0">
                          <a:solidFill>
                            <a:srgbClr val="FFFFFF"/>
                          </a:solidFill>
                          <a:latin typeface="Calibri"/>
                        </a:rPr>
                        <a:t>Mg EBITDA</a:t>
                      </a:r>
                    </a:p>
                  </a:txBody>
                  <a:tcPr>
                    <a:solidFill>
                      <a:srgbClr val="1B3A6B"/>
                    </a:solidFill>
                  </a:tcPr>
                </a:tc>
              </a:tr>
              <a:tr h="251999">
                <a:tc>
                  <a:txBody>
                    <a:bodyPr/>
                    <a:lstStyle/>
                    <a:p>
                      <a:pPr algn="l"/>
                      <a:r>
                        <a:rPr sz="800" b="1" i="0">
                          <a:solidFill>
                            <a:srgbClr val="1B3A6B"/>
                          </a:solidFill>
                          <a:latin typeface="Calibri"/>
                        </a:rPr>
                        <a:t>NVIDIA Corporation</a:t>
                      </a:r>
                    </a:p>
                  </a:txBody>
                  <a:tcPr>
                    <a:solidFill>
                      <a:srgbClr val="DDE8F5"/>
                    </a:solidFill>
                  </a:tcPr>
                </a:tc>
                <a:tc>
                  <a:txBody>
                    <a:bodyPr/>
                    <a:lstStyle/>
                    <a:p>
                      <a:pPr algn="ctr"/>
                      <a:r>
                        <a:rPr sz="750" b="1" i="0">
                          <a:solidFill>
                            <a:srgbClr val="2E5FA3"/>
                          </a:solidFill>
                          <a:latin typeface="Calibri"/>
                        </a:rPr>
                        <a:t>NVDA</a:t>
                      </a:r>
                    </a:p>
                  </a:txBody>
                  <a:tcPr>
                    <a:solidFill>
                      <a:srgbClr val="DDE8F5"/>
                    </a:solidFill>
                  </a:tcPr>
                </a:tc>
                <a:tc>
                  <a:txBody>
                    <a:bodyPr/>
                    <a:lstStyle/>
                    <a:p>
                      <a:pPr algn="ctr"/>
                      <a:r>
                        <a:rPr sz="800" b="1" i="0">
                          <a:solidFill>
                            <a:srgbClr val="1B3A6B"/>
                          </a:solidFill>
                          <a:latin typeface="Calibri"/>
                        </a:rPr>
                        <a:t>4 310,6</a:t>
                      </a:r>
                    </a:p>
                  </a:txBody>
                  <a:tcPr>
                    <a:solidFill>
                      <a:srgbClr val="DDE8F5"/>
                    </a:solidFill>
                  </a:tcPr>
                </a:tc>
                <a:tc>
                  <a:txBody>
                    <a:bodyPr/>
                    <a:lstStyle/>
                    <a:p>
                      <a:pPr algn="ctr"/>
                      <a:r>
                        <a:rPr sz="800" b="1" i="0">
                          <a:solidFill>
                            <a:srgbClr val="1B3A6B"/>
                          </a:solidFill>
                          <a:latin typeface="Calibri"/>
                        </a:rPr>
                        <a:t>50,0x</a:t>
                      </a:r>
                    </a:p>
                  </a:txBody>
                  <a:tcPr>
                    <a:solidFill>
                      <a:srgbClr val="DDE8F5"/>
                    </a:solidFill>
                  </a:tcPr>
                </a:tc>
                <a:tc>
                  <a:txBody>
                    <a:bodyPr/>
                    <a:lstStyle/>
                    <a:p>
                      <a:pPr algn="ctr"/>
                      <a:r>
                        <a:rPr sz="800" b="1" i="0">
                          <a:solidFill>
                            <a:srgbClr val="1B3A6B"/>
                          </a:solidFill>
                          <a:latin typeface="Calibri"/>
                        </a:rPr>
                        <a:t>33,0x</a:t>
                      </a:r>
                    </a:p>
                  </a:txBody>
                  <a:tcPr>
                    <a:solidFill>
                      <a:srgbClr val="DDE8F5"/>
                    </a:solidFill>
                  </a:tcPr>
                </a:tc>
                <a:tc>
                  <a:txBody>
                    <a:bodyPr/>
                    <a:lstStyle/>
                    <a:p>
                      <a:pPr algn="ctr"/>
                      <a:r>
                        <a:rPr sz="800" b="1" i="0">
                          <a:solidFill>
                            <a:srgbClr val="1B3A6B"/>
                          </a:solidFill>
                          <a:latin typeface="Calibri"/>
                        </a:rPr>
                        <a:t>59,1x</a:t>
                      </a:r>
                    </a:p>
                  </a:txBody>
                  <a:tcPr>
                    <a:solidFill>
                      <a:srgbClr val="DDE8F5"/>
                    </a:solidFill>
                  </a:tcPr>
                </a:tc>
                <a:tc>
                  <a:txBody>
                    <a:bodyPr/>
                    <a:lstStyle/>
                    <a:p>
                      <a:pPr algn="ctr"/>
                      <a:r>
                        <a:rPr sz="800" b="1" i="0">
                          <a:solidFill>
                            <a:srgbClr val="1B3A6B"/>
                          </a:solidFill>
                          <a:latin typeface="Calibri"/>
                        </a:rPr>
                        <a:t>75,0 %</a:t>
                      </a:r>
                    </a:p>
                  </a:txBody>
                  <a:tcPr>
                    <a:solidFill>
                      <a:srgbClr val="DDE8F5"/>
                    </a:solidFill>
                  </a:tcPr>
                </a:tc>
                <a:tc>
                  <a:txBody>
                    <a:bodyPr/>
                    <a:lstStyle/>
                    <a:p>
                      <a:pPr algn="ctr"/>
                      <a:r>
                        <a:rPr sz="800" b="1" i="0">
                          <a:solidFill>
                            <a:srgbClr val="1B3A6B"/>
                          </a:solidFill>
                          <a:latin typeface="Calibri"/>
                        </a:rPr>
                        <a:t>66,0 %</a:t>
                      </a:r>
                    </a:p>
                  </a:txBody>
                  <a:tcPr>
                    <a:solidFill>
                      <a:srgbClr val="DDE8F5"/>
                    </a:solidFill>
                  </a:tcPr>
                </a:tc>
              </a:tr>
              <a:tr h="251999">
                <a:tc>
                  <a:txBody>
                    <a:bodyPr/>
                    <a:lstStyle/>
                    <a:p>
                      <a:pPr algn="l"/>
                      <a:r>
                        <a:rPr sz="800" b="0" i="0">
                          <a:solidFill>
                            <a:srgbClr val="0D0D0D"/>
                          </a:solidFill>
                          <a:latin typeface="Calibri"/>
                        </a:rPr>
                        <a:t>AMD</a:t>
                      </a:r>
                    </a:p>
                  </a:txBody>
                  <a:tcPr>
                    <a:solidFill>
                      <a:srgbClr val="FFFFFF"/>
                    </a:solidFill>
                  </a:tcPr>
                </a:tc>
                <a:tc>
                  <a:txBody>
                    <a:bodyPr/>
                    <a:lstStyle/>
                    <a:p>
                      <a:pPr algn="ctr"/>
                      <a:r>
                        <a:rPr sz="750" b="0" i="0">
                          <a:solidFill>
                            <a:srgbClr val="555555"/>
                          </a:solidFill>
                          <a:latin typeface="Calibri"/>
                        </a:rPr>
                        <a:t>AMD</a:t>
                      </a:r>
                    </a:p>
                  </a:txBody>
                  <a:tcPr>
                    <a:solidFill>
                      <a:srgbClr val="FFFFFF"/>
                    </a:solidFill>
                  </a:tcPr>
                </a:tc>
                <a:tc>
                  <a:txBody>
                    <a:bodyPr/>
                    <a:lstStyle/>
                    <a:p>
                      <a:pPr algn="ctr"/>
                      <a:r>
                        <a:rPr sz="800" b="0" i="0">
                          <a:solidFill>
                            <a:srgbClr val="0D0D0D"/>
                          </a:solidFill>
                          <a:latin typeface="Calibri"/>
                        </a:rPr>
                        <a:t>220,0</a:t>
                      </a:r>
                    </a:p>
                  </a:txBody>
                  <a:tcPr>
                    <a:solidFill>
                      <a:srgbClr val="FFFFFF"/>
                    </a:solidFill>
                  </a:tcPr>
                </a:tc>
                <a:tc>
                  <a:txBody>
                    <a:bodyPr/>
                    <a:lstStyle/>
                    <a:p>
                      <a:pPr algn="ctr"/>
                      <a:r>
                        <a:rPr sz="800" b="0" i="0">
                          <a:solidFill>
                            <a:srgbClr val="0D0D0D"/>
                          </a:solidFill>
                          <a:latin typeface="Calibri"/>
                        </a:rPr>
                        <a:t>25,0x</a:t>
                      </a:r>
                    </a:p>
                  </a:txBody>
                  <a:tcPr>
                    <a:solidFill>
                      <a:srgbClr val="FFFFFF"/>
                    </a:solidFill>
                  </a:tcPr>
                </a:tc>
                <a:tc>
                  <a:txBody>
                    <a:bodyPr/>
                    <a:lstStyle/>
                    <a:p>
                      <a:pPr algn="ctr"/>
                      <a:r>
                        <a:rPr sz="800" b="0" i="0">
                          <a:solidFill>
                            <a:srgbClr val="0D0D0D"/>
                          </a:solidFill>
                          <a:latin typeface="Calibri"/>
                        </a:rPr>
                        <a:t>4,5x</a:t>
                      </a:r>
                    </a:p>
                  </a:txBody>
                  <a:tcPr>
                    <a:solidFill>
                      <a:srgbClr val="FFFFFF"/>
                    </a:solidFill>
                  </a:tcPr>
                </a:tc>
                <a:tc>
                  <a:txBody>
                    <a:bodyPr/>
                    <a:lstStyle/>
                    <a:p>
                      <a:pPr algn="ctr"/>
                      <a:r>
                        <a:rPr sz="800" b="0" i="0">
                          <a:solidFill>
                            <a:srgbClr val="0D0D0D"/>
                          </a:solidFill>
                          <a:latin typeface="Calibri"/>
                        </a:rPr>
                        <a:t>45,0x</a:t>
                      </a:r>
                    </a:p>
                  </a:txBody>
                  <a:tcPr>
                    <a:solidFill>
                      <a:srgbClr val="FFFFFF"/>
                    </a:solidFill>
                  </a:tcPr>
                </a:tc>
                <a:tc>
                  <a:txBody>
                    <a:bodyPr/>
                    <a:lstStyle/>
                    <a:p>
                      <a:pPr algn="ctr"/>
                      <a:r>
                        <a:rPr sz="800" b="0" i="0">
                          <a:solidFill>
                            <a:srgbClr val="0D0D0D"/>
                          </a:solidFill>
                          <a:latin typeface="Calibri"/>
                        </a:rPr>
                        <a:t>52,0 %</a:t>
                      </a:r>
                    </a:p>
                  </a:txBody>
                  <a:tcPr>
                    <a:solidFill>
                      <a:srgbClr val="FFFFFF"/>
                    </a:solidFill>
                  </a:tcPr>
                </a:tc>
                <a:tc>
                  <a:txBody>
                    <a:bodyPr/>
                    <a:lstStyle/>
                    <a:p>
                      <a:pPr algn="ctr"/>
                      <a:r>
                        <a:rPr sz="800" b="0" i="0">
                          <a:solidFill>
                            <a:srgbClr val="0D0D0D"/>
                          </a:solidFill>
                          <a:latin typeface="Calibri"/>
                        </a:rPr>
                        <a:t>30,0 %</a:t>
                      </a:r>
                    </a:p>
                  </a:txBody>
                  <a:tcPr>
                    <a:solidFill>
                      <a:srgbClr val="FFFFFF"/>
                    </a:solidFill>
                  </a:tcPr>
                </a:tc>
              </a:tr>
              <a:tr h="251999">
                <a:tc>
                  <a:txBody>
                    <a:bodyPr/>
                    <a:lstStyle/>
                    <a:p>
                      <a:pPr algn="l"/>
                      <a:r>
                        <a:rPr sz="800" b="0" i="0">
                          <a:solidFill>
                            <a:srgbClr val="0D0D0D"/>
                          </a:solidFill>
                          <a:latin typeface="Calibri"/>
                        </a:rPr>
                        <a:t>Intel</a:t>
                      </a:r>
                    </a:p>
                  </a:txBody>
                  <a:tcPr>
                    <a:solidFill>
                      <a:srgbClr val="F7F8FA"/>
                    </a:solidFill>
                  </a:tcPr>
                </a:tc>
                <a:tc>
                  <a:txBody>
                    <a:bodyPr/>
                    <a:lstStyle/>
                    <a:p>
                      <a:pPr algn="ctr"/>
                      <a:r>
                        <a:rPr sz="750" b="0" i="0">
                          <a:solidFill>
                            <a:srgbClr val="555555"/>
                          </a:solidFill>
                          <a:latin typeface="Calibri"/>
                        </a:rPr>
                        <a:t>INTC</a:t>
                      </a:r>
                    </a:p>
                  </a:txBody>
                  <a:tcPr>
                    <a:solidFill>
                      <a:srgbClr val="F7F8FA"/>
                    </a:solidFill>
                  </a:tcPr>
                </a:tc>
                <a:tc>
                  <a:txBody>
                    <a:bodyPr/>
                    <a:lstStyle/>
                    <a:p>
                      <a:pPr algn="ctr"/>
                      <a:r>
                        <a:rPr sz="800" b="0" i="0">
                          <a:solidFill>
                            <a:srgbClr val="0D0D0D"/>
                          </a:solidFill>
                          <a:latin typeface="Calibri"/>
                        </a:rPr>
                        <a:t>180,0</a:t>
                      </a:r>
                    </a:p>
                  </a:txBody>
                  <a:tcPr>
                    <a:solidFill>
                      <a:srgbClr val="F7F8FA"/>
                    </a:solidFill>
                  </a:tcPr>
                </a:tc>
                <a:tc>
                  <a:txBody>
                    <a:bodyPr/>
                    <a:lstStyle/>
                    <a:p>
                      <a:pPr algn="ctr"/>
                      <a:r>
                        <a:rPr sz="800" b="0" i="0">
                          <a:solidFill>
                            <a:srgbClr val="0D0D0D"/>
                          </a:solidFill>
                          <a:latin typeface="Calibri"/>
                        </a:rPr>
                        <a:t>12,0x</a:t>
                      </a:r>
                    </a:p>
                  </a:txBody>
                  <a:tcPr>
                    <a:solidFill>
                      <a:srgbClr val="F7F8FA"/>
                    </a:solidFill>
                  </a:tcPr>
                </a:tc>
                <a:tc>
                  <a:txBody>
                    <a:bodyPr/>
                    <a:lstStyle/>
                    <a:p>
                      <a:pPr algn="ctr"/>
                      <a:r>
                        <a:rPr sz="800" b="0" i="0">
                          <a:solidFill>
                            <a:srgbClr val="0D0D0D"/>
                          </a:solidFill>
                          <a:latin typeface="Calibri"/>
                        </a:rPr>
                        <a:t>1,8x</a:t>
                      </a:r>
                    </a:p>
                  </a:txBody>
                  <a:tcPr>
                    <a:solidFill>
                      <a:srgbClr val="F7F8FA"/>
                    </a:solidFill>
                  </a:tcPr>
                </a:tc>
                <a:tc>
                  <a:txBody>
                    <a:bodyPr/>
                    <a:lstStyle/>
                    <a:p>
                      <a:pPr algn="ctr"/>
                      <a:r>
                        <a:rPr sz="800" b="0" i="0">
                          <a:solidFill>
                            <a:srgbClr val="0D0D0D"/>
                          </a:solidFill>
                          <a:latin typeface="Calibri"/>
                        </a:rPr>
                        <a:t>15,0x</a:t>
                      </a:r>
                    </a:p>
                  </a:txBody>
                  <a:tcPr>
                    <a:solidFill>
                      <a:srgbClr val="F7F8FA"/>
                    </a:solidFill>
                  </a:tcPr>
                </a:tc>
                <a:tc>
                  <a:txBody>
                    <a:bodyPr/>
                    <a:lstStyle/>
                    <a:p>
                      <a:pPr algn="ctr"/>
                      <a:r>
                        <a:rPr sz="800" b="0" i="0">
                          <a:solidFill>
                            <a:srgbClr val="0D0D0D"/>
                          </a:solidFill>
                          <a:latin typeface="Calibri"/>
                        </a:rPr>
                        <a:t>55,0 %</a:t>
                      </a:r>
                    </a:p>
                  </a:txBody>
                  <a:tcPr>
                    <a:solidFill>
                      <a:srgbClr val="F7F8FA"/>
                    </a:solidFill>
                  </a:tcPr>
                </a:tc>
                <a:tc>
                  <a:txBody>
                    <a:bodyPr/>
                    <a:lstStyle/>
                    <a:p>
                      <a:pPr algn="ctr"/>
                      <a:r>
                        <a:rPr sz="800" b="0" i="0">
                          <a:solidFill>
                            <a:srgbClr val="0D0D0D"/>
                          </a:solidFill>
                          <a:latin typeface="Calibri"/>
                        </a:rPr>
                        <a:t>25,0 %</a:t>
                      </a:r>
                    </a:p>
                  </a:txBody>
                  <a:tcPr>
                    <a:solidFill>
                      <a:srgbClr val="F7F8FA"/>
                    </a:solidFill>
                  </a:tcPr>
                </a:tc>
              </a:tr>
              <a:tr h="251999">
                <a:tc>
                  <a:txBody>
                    <a:bodyPr/>
                    <a:lstStyle/>
                    <a:p>
                      <a:pPr algn="l"/>
                      <a:r>
                        <a:rPr sz="800" b="0" i="0">
                          <a:solidFill>
                            <a:srgbClr val="0D0D0D"/>
                          </a:solidFill>
                          <a:latin typeface="Calibri"/>
                        </a:rPr>
                        <a:t>Qualcomm</a:t>
                      </a:r>
                    </a:p>
                  </a:txBody>
                  <a:tcPr>
                    <a:solidFill>
                      <a:srgbClr val="FFFFFF"/>
                    </a:solidFill>
                  </a:tcPr>
                </a:tc>
                <a:tc>
                  <a:txBody>
                    <a:bodyPr/>
                    <a:lstStyle/>
                    <a:p>
                      <a:pPr algn="ctr"/>
                      <a:r>
                        <a:rPr sz="750" b="0" i="0">
                          <a:solidFill>
                            <a:srgbClr val="555555"/>
                          </a:solidFill>
                          <a:latin typeface="Calibri"/>
                        </a:rPr>
                        <a:t>QCOM</a:t>
                      </a:r>
                    </a:p>
                  </a:txBody>
                  <a:tcPr>
                    <a:solidFill>
                      <a:srgbClr val="FFFFFF"/>
                    </a:solidFill>
                  </a:tcPr>
                </a:tc>
                <a:tc>
                  <a:txBody>
                    <a:bodyPr/>
                    <a:lstStyle/>
                    <a:p>
                      <a:pPr algn="ctr"/>
                      <a:r>
                        <a:rPr sz="800" b="0" i="0">
                          <a:solidFill>
                            <a:srgbClr val="0D0D0D"/>
                          </a:solidFill>
                          <a:latin typeface="Calibri"/>
                        </a:rPr>
                        <a:t>190,0</a:t>
                      </a:r>
                    </a:p>
                  </a:txBody>
                  <a:tcPr>
                    <a:solidFill>
                      <a:srgbClr val="FFFFFF"/>
                    </a:solidFill>
                  </a:tcPr>
                </a:tc>
                <a:tc>
                  <a:txBody>
                    <a:bodyPr/>
                    <a:lstStyle/>
                    <a:p>
                      <a:pPr algn="ctr"/>
                      <a:r>
                        <a:rPr sz="800" b="0" i="0">
                          <a:solidFill>
                            <a:srgbClr val="0D0D0D"/>
                          </a:solidFill>
                          <a:latin typeface="Calibri"/>
                        </a:rPr>
                        <a:t>18,0x</a:t>
                      </a:r>
                    </a:p>
                  </a:txBody>
                  <a:tcPr>
                    <a:solidFill>
                      <a:srgbClr val="FFFFFF"/>
                    </a:solidFill>
                  </a:tcPr>
                </a:tc>
                <a:tc>
                  <a:txBody>
                    <a:bodyPr/>
                    <a:lstStyle/>
                    <a:p>
                      <a:pPr algn="ctr"/>
                      <a:r>
                        <a:rPr sz="800" b="0" i="0">
                          <a:solidFill>
                            <a:srgbClr val="0D0D0D"/>
                          </a:solidFill>
                          <a:latin typeface="Calibri"/>
                        </a:rPr>
                        <a:t>6,0x</a:t>
                      </a:r>
                    </a:p>
                  </a:txBody>
                  <a:tcPr>
                    <a:solidFill>
                      <a:srgbClr val="FFFFFF"/>
                    </a:solidFill>
                  </a:tcPr>
                </a:tc>
                <a:tc>
                  <a:txBody>
                    <a:bodyPr/>
                    <a:lstStyle/>
                    <a:p>
                      <a:pPr algn="ctr"/>
                      <a:r>
                        <a:rPr sz="800" b="0" i="0">
                          <a:solidFill>
                            <a:srgbClr val="0D0D0D"/>
                          </a:solidFill>
                          <a:latin typeface="Calibri"/>
                        </a:rPr>
                        <a:t>20,0x</a:t>
                      </a:r>
                    </a:p>
                  </a:txBody>
                  <a:tcPr>
                    <a:solidFill>
                      <a:srgbClr val="FFFFFF"/>
                    </a:solidFill>
                  </a:tcPr>
                </a:tc>
                <a:tc>
                  <a:txBody>
                    <a:bodyPr/>
                    <a:lstStyle/>
                    <a:p>
                      <a:pPr algn="ctr"/>
                      <a:r>
                        <a:rPr sz="800" b="0" i="0">
                          <a:solidFill>
                            <a:srgbClr val="0D0D0D"/>
                          </a:solidFill>
                          <a:latin typeface="Calibri"/>
                        </a:rPr>
                        <a:t>60,0 %</a:t>
                      </a:r>
                    </a:p>
                  </a:txBody>
                  <a:tcPr>
                    <a:solidFill>
                      <a:srgbClr val="FFFFFF"/>
                    </a:solidFill>
                  </a:tcPr>
                </a:tc>
                <a:tc>
                  <a:txBody>
                    <a:bodyPr/>
                    <a:lstStyle/>
                    <a:p>
                      <a:pPr algn="ctr"/>
                      <a:r>
                        <a:rPr sz="800" b="0" i="0">
                          <a:solidFill>
                            <a:srgbClr val="0D0D0D"/>
                          </a:solidFill>
                          <a:latin typeface="Calibri"/>
                        </a:rPr>
                        <a:t>45,0 %</a:t>
                      </a:r>
                    </a:p>
                  </a:txBody>
                  <a:tcPr>
                    <a:solidFill>
                      <a:srgbClr val="FFFFFF"/>
                    </a:solidFill>
                  </a:tcPr>
                </a:tc>
              </a:tr>
              <a:tr h="251999">
                <a:tc>
                  <a:txBody>
                    <a:bodyPr/>
                    <a:lstStyle/>
                    <a:p>
                      <a:pPr algn="l"/>
                      <a:r>
                        <a:rPr sz="800" b="0" i="0">
                          <a:solidFill>
                            <a:srgbClr val="0D0D0D"/>
                          </a:solidFill>
                          <a:latin typeface="Calibri"/>
                        </a:rPr>
                        <a:t>Broadcom</a:t>
                      </a:r>
                    </a:p>
                  </a:txBody>
                  <a:tcPr>
                    <a:solidFill>
                      <a:srgbClr val="F7F8FA"/>
                    </a:solidFill>
                  </a:tcPr>
                </a:tc>
                <a:tc>
                  <a:txBody>
                    <a:bodyPr/>
                    <a:lstStyle/>
                    <a:p>
                      <a:pPr algn="ctr"/>
                      <a:r>
                        <a:rPr sz="750" b="0" i="0">
                          <a:solidFill>
                            <a:srgbClr val="555555"/>
                          </a:solidFill>
                          <a:latin typeface="Calibri"/>
                        </a:rPr>
                        <a:t>AVGO</a:t>
                      </a:r>
                    </a:p>
                  </a:txBody>
                  <a:tcPr>
                    <a:solidFill>
                      <a:srgbClr val="F7F8FA"/>
                    </a:solidFill>
                  </a:tcPr>
                </a:tc>
                <a:tc>
                  <a:txBody>
                    <a:bodyPr/>
                    <a:lstStyle/>
                    <a:p>
                      <a:pPr algn="ctr"/>
                      <a:r>
                        <a:rPr sz="800" b="0" i="0">
                          <a:solidFill>
                            <a:srgbClr val="0D0D0D"/>
                          </a:solidFill>
                          <a:latin typeface="Calibri"/>
                        </a:rPr>
                        <a:t>500,0</a:t>
                      </a:r>
                    </a:p>
                  </a:txBody>
                  <a:tcPr>
                    <a:solidFill>
                      <a:srgbClr val="F7F8FA"/>
                    </a:solidFill>
                  </a:tcPr>
                </a:tc>
                <a:tc>
                  <a:txBody>
                    <a:bodyPr/>
                    <a:lstStyle/>
                    <a:p>
                      <a:pPr algn="ctr"/>
                      <a:r>
                        <a:rPr sz="800" b="0" i="0">
                          <a:solidFill>
                            <a:srgbClr val="0D0D0D"/>
                          </a:solidFill>
                          <a:latin typeface="Calibri"/>
                        </a:rPr>
                        <a:t>30,0x</a:t>
                      </a:r>
                    </a:p>
                  </a:txBody>
                  <a:tcPr>
                    <a:solidFill>
                      <a:srgbClr val="F7F8FA"/>
                    </a:solidFill>
                  </a:tcPr>
                </a:tc>
                <a:tc>
                  <a:txBody>
                    <a:bodyPr/>
                    <a:lstStyle/>
                    <a:p>
                      <a:pPr algn="ctr"/>
                      <a:r>
                        <a:rPr sz="800" b="0" i="0">
                          <a:solidFill>
                            <a:srgbClr val="0D0D0D"/>
                          </a:solidFill>
                          <a:latin typeface="Calibri"/>
                        </a:rPr>
                        <a:t>12,0x</a:t>
                      </a:r>
                    </a:p>
                  </a:txBody>
                  <a:tcPr>
                    <a:solidFill>
                      <a:srgbClr val="F7F8FA"/>
                    </a:solidFill>
                  </a:tcPr>
                </a:tc>
                <a:tc>
                  <a:txBody>
                    <a:bodyPr/>
                    <a:lstStyle/>
                    <a:p>
                      <a:pPr algn="ctr"/>
                      <a:r>
                        <a:rPr sz="800" b="0" i="0">
                          <a:solidFill>
                            <a:srgbClr val="0D0D0D"/>
                          </a:solidFill>
                          <a:latin typeface="Calibri"/>
                        </a:rPr>
                        <a:t>35,0x</a:t>
                      </a:r>
                    </a:p>
                  </a:txBody>
                  <a:tcPr>
                    <a:solidFill>
                      <a:srgbClr val="F7F8FA"/>
                    </a:solidFill>
                  </a:tcPr>
                </a:tc>
                <a:tc>
                  <a:txBody>
                    <a:bodyPr/>
                    <a:lstStyle/>
                    <a:p>
                      <a:pPr algn="ctr"/>
                      <a:r>
                        <a:rPr sz="800" b="0" i="0">
                          <a:solidFill>
                            <a:srgbClr val="0D0D0D"/>
                          </a:solidFill>
                          <a:latin typeface="Calibri"/>
                        </a:rPr>
                        <a:t>70,0 %</a:t>
                      </a:r>
                    </a:p>
                  </a:txBody>
                  <a:tcPr>
                    <a:solidFill>
                      <a:srgbClr val="F7F8FA"/>
                    </a:solidFill>
                  </a:tcPr>
                </a:tc>
                <a:tc>
                  <a:txBody>
                    <a:bodyPr/>
                    <a:lstStyle/>
                    <a:p>
                      <a:pPr algn="ctr"/>
                      <a:r>
                        <a:rPr sz="800" b="0" i="0">
                          <a:solidFill>
                            <a:srgbClr val="0D0D0D"/>
                          </a:solidFill>
                          <a:latin typeface="Calibri"/>
                        </a:rPr>
                        <a:t>55,0 %</a:t>
                      </a:r>
                    </a:p>
                  </a:txBody>
                  <a:tcPr>
                    <a:solidFill>
                      <a:srgbClr val="F7F8FA"/>
                    </a:solidFill>
                  </a:tcPr>
                </a:tc>
              </a:tr>
              <a:tr h="251999">
                <a:tc>
                  <a:txBody>
                    <a:bodyPr/>
                    <a:lstStyle/>
                    <a:p>
                      <a:pPr algn="l"/>
                      <a:r>
                        <a:rPr sz="800" b="0" i="0">
                          <a:solidFill>
                            <a:srgbClr val="0D0D0D"/>
                          </a:solidFill>
                          <a:latin typeface="Calibri"/>
                        </a:rPr>
                        <a:t>TSMC</a:t>
                      </a:r>
                    </a:p>
                  </a:txBody>
                  <a:tcPr>
                    <a:solidFill>
                      <a:srgbClr val="FFFFFF"/>
                    </a:solidFill>
                  </a:tcPr>
                </a:tc>
                <a:tc>
                  <a:txBody>
                    <a:bodyPr/>
                    <a:lstStyle/>
                    <a:p>
                      <a:pPr algn="ctr"/>
                      <a:r>
                        <a:rPr sz="750" b="0" i="0">
                          <a:solidFill>
                            <a:srgbClr val="555555"/>
                          </a:solidFill>
                          <a:latin typeface="Calibri"/>
                        </a:rPr>
                        <a:t>TSM</a:t>
                      </a:r>
                    </a:p>
                  </a:txBody>
                  <a:tcPr>
                    <a:solidFill>
                      <a:srgbClr val="FFFFFF"/>
                    </a:solidFill>
                  </a:tcPr>
                </a:tc>
                <a:tc>
                  <a:txBody>
                    <a:bodyPr/>
                    <a:lstStyle/>
                    <a:p>
                      <a:pPr algn="ctr"/>
                      <a:r>
                        <a:rPr sz="800" b="0" i="0">
                          <a:solidFill>
                            <a:srgbClr val="0D0D0D"/>
                          </a:solidFill>
                          <a:latin typeface="Calibri"/>
                        </a:rPr>
                        <a:t>450,0</a:t>
                      </a:r>
                    </a:p>
                  </a:txBody>
                  <a:tcPr>
                    <a:solidFill>
                      <a:srgbClr val="FFFFFF"/>
                    </a:solidFill>
                  </a:tcPr>
                </a:tc>
                <a:tc>
                  <a:txBody>
                    <a:bodyPr/>
                    <a:lstStyle/>
                    <a:p>
                      <a:pPr algn="ctr"/>
                      <a:r>
                        <a:rPr sz="800" b="0" i="0">
                          <a:solidFill>
                            <a:srgbClr val="0D0D0D"/>
                          </a:solidFill>
                          <a:latin typeface="Calibri"/>
                        </a:rPr>
                        <a:t>18,0x</a:t>
                      </a:r>
                    </a:p>
                  </a:txBody>
                  <a:tcPr>
                    <a:solidFill>
                      <a:srgbClr val="FFFFFF"/>
                    </a:solidFill>
                  </a:tcPr>
                </a:tc>
                <a:tc>
                  <a:txBody>
                    <a:bodyPr/>
                    <a:lstStyle/>
                    <a:p>
                      <a:pPr algn="ctr"/>
                      <a:r>
                        <a:rPr sz="800" b="0" i="0">
                          <a:solidFill>
                            <a:srgbClr val="0D0D0D"/>
                          </a:solidFill>
                          <a:latin typeface="Calibri"/>
                        </a:rPr>
                        <a:t>10,0x</a:t>
                      </a:r>
                    </a:p>
                  </a:txBody>
                  <a:tcPr>
                    <a:solidFill>
                      <a:srgbClr val="FFFFFF"/>
                    </a:solidFill>
                  </a:tcPr>
                </a:tc>
                <a:tc>
                  <a:txBody>
                    <a:bodyPr/>
                    <a:lstStyle/>
                    <a:p>
                      <a:pPr algn="ctr"/>
                      <a:r>
                        <a:rPr sz="800" b="0" i="0">
                          <a:solidFill>
                            <a:srgbClr val="0D0D0D"/>
                          </a:solidFill>
                          <a:latin typeface="Calibri"/>
                        </a:rPr>
                        <a:t>22,0x</a:t>
                      </a:r>
                    </a:p>
                  </a:txBody>
                  <a:tcPr>
                    <a:solidFill>
                      <a:srgbClr val="FFFFFF"/>
                    </a:solidFill>
                  </a:tcPr>
                </a:tc>
                <a:tc>
                  <a:txBody>
                    <a:bodyPr/>
                    <a:lstStyle/>
                    <a:p>
                      <a:pPr algn="ctr"/>
                      <a:r>
                        <a:rPr sz="800" b="0" i="0">
                          <a:solidFill>
                            <a:srgbClr val="0D0D0D"/>
                          </a:solidFill>
                          <a:latin typeface="Calibri"/>
                        </a:rPr>
                        <a:t>55,0 %</a:t>
                      </a:r>
                    </a:p>
                  </a:txBody>
                  <a:tcPr>
                    <a:solidFill>
                      <a:srgbClr val="FFFFFF"/>
                    </a:solidFill>
                  </a:tcPr>
                </a:tc>
                <a:tc>
                  <a:txBody>
                    <a:bodyPr/>
                    <a:lstStyle/>
                    <a:p>
                      <a:pPr algn="ctr"/>
                      <a:r>
                        <a:rPr sz="800" b="0" i="0">
                          <a:solidFill>
                            <a:srgbClr val="0D0D0D"/>
                          </a:solidFill>
                          <a:latin typeface="Calibri"/>
                        </a:rPr>
                        <a:t>45,0 %</a:t>
                      </a:r>
                    </a:p>
                  </a:txBody>
                  <a:tcPr>
                    <a:solidFill>
                      <a:srgbClr val="FFFFFF"/>
                    </a:solidFill>
                  </a:tcPr>
                </a:tc>
              </a:tr>
              <a:tr h="252006">
                <a:tc>
                  <a:txBody>
                    <a:bodyPr/>
                    <a:lstStyle/>
                    <a:p>
                      <a:pPr algn="l"/>
                      <a:r>
                        <a:rPr sz="800" b="1" i="0">
                          <a:solidFill>
                            <a:srgbClr val="0D0D0D"/>
                          </a:solidFill>
                          <a:latin typeface="Calibri"/>
                        </a:rPr>
                        <a:t>Médiane peers</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18,0x</a:t>
                      </a:r>
                    </a:p>
                  </a:txBody>
                  <a:tcPr>
                    <a:solidFill>
                      <a:srgbClr val="F7F8FA"/>
                    </a:solidFill>
                  </a:tcPr>
                </a:tc>
                <a:tc>
                  <a:txBody>
                    <a:bodyPr/>
                    <a:lstStyle/>
                    <a:p>
                      <a:pPr algn="ctr"/>
                      <a:r>
                        <a:rPr sz="800" b="1" i="0">
                          <a:solidFill>
                            <a:srgbClr val="0D0D0D"/>
                          </a:solidFill>
                          <a:latin typeface="Calibri"/>
                        </a:rPr>
                        <a:t>6,0x</a:t>
                      </a:r>
                    </a:p>
                  </a:txBody>
                  <a:tcPr>
                    <a:solidFill>
                      <a:srgbClr val="F7F8FA"/>
                    </a:solidFill>
                  </a:tcPr>
                </a:tc>
                <a:tc>
                  <a:txBody>
                    <a:bodyPr/>
                    <a:lstStyle/>
                    <a:p>
                      <a:pPr algn="ctr"/>
                      <a:r>
                        <a:rPr sz="800" b="1" i="0">
                          <a:solidFill>
                            <a:srgbClr val="0D0D0D"/>
                          </a:solidFill>
                          <a:latin typeface="Calibri"/>
                        </a:rPr>
                        <a:t>22,0x</a:t>
                      </a:r>
                    </a:p>
                  </a:txBody>
                  <a:tcPr>
                    <a:solidFill>
                      <a:srgbClr val="F7F8FA"/>
                    </a:solidFill>
                  </a:tcPr>
                </a:tc>
                <a:tc>
                  <a:txBody>
                    <a:bodyPr/>
                    <a:lstStyle/>
                    <a:p>
                      <a:pPr algn="ctr"/>
                      <a:r>
                        <a:rPr sz="800" b="1" i="0">
                          <a:solidFill>
                            <a:srgbClr val="0D0D0D"/>
                          </a:solidFill>
                          <a:latin typeface="Calibri"/>
                        </a:rPr>
                        <a:t>55,0 %</a:t>
                      </a:r>
                    </a:p>
                  </a:txBody>
                  <a:tcPr>
                    <a:solidFill>
                      <a:srgbClr val="F7F8FA"/>
                    </a:solidFill>
                  </a:tcPr>
                </a:tc>
                <a:tc>
                  <a:txBody>
                    <a:bodyPr/>
                    <a:lstStyle/>
                    <a:p>
                      <a:pPr algn="ctr"/>
                      <a:r>
                        <a:rPr sz="800" b="1" i="0">
                          <a:solidFill>
                            <a:srgbClr val="0D0D0D"/>
                          </a:solidFill>
                          <a:latin typeface="Calibri"/>
                        </a:rPr>
                        <a:t>45,0 %</a:t>
                      </a:r>
                    </a:p>
                  </a:txBody>
                  <a:tcPr>
                    <a:solidFill>
                      <a:srgbClr val="F7F8FA"/>
                    </a:solidFill>
                  </a:tcPr>
                </a:tc>
              </a:tr>
            </a:tbl>
          </a:graphicData>
        </a:graphic>
      </p:graphicFrame>
      <p:sp>
        <p:nvSpPr>
          <p:cNvPr id="18" name="TextBox 17"/>
          <p:cNvSpPr txBox="1"/>
          <p:nvPr/>
        </p:nvSpPr>
        <p:spPr>
          <a:xfrm>
            <a:off x="367200" y="3128400"/>
            <a:ext cx="8413200" cy="1234800"/>
          </a:xfrm>
          <a:prstGeom prst="rect">
            <a:avLst/>
          </a:prstGeom>
          <a:noFill/>
        </p:spPr>
        <p:txBody>
          <a:bodyPr wrap="square">
            <a:spAutoFit/>
          </a:bodyPr>
          <a:lstStyle/>
          <a:p>
            <a:pPr algn="l"/>
            <a:r>
              <a:rPr sz="850" b="0" i="0">
                <a:solidFill>
                  <a:srgbClr val="555555"/>
                </a:solidFill>
                <a:latin typeface="Calibri"/>
              </a:rPr>
              <a:t>NVIDIA se trade à 59x P/E vs médiane peers à 30x, soit une prime de 97%. La prime est justifiée par une croissance CA &gt;50% YoY et des marges nettes &gt;55%. Une convergence vers la médiane peers impliquerait un downside de 40%, mais peu probable compte tenu de la domination technologique et de la demande structurelle.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Football Field Chart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Synthèse des méthodes de valorisation  ·  USD par action</a:t>
            </a:r>
          </a:p>
        </p:txBody>
      </p:sp>
      <p:pic>
        <p:nvPicPr>
          <p:cNvPr id="17" name="Picture 16" descr="image.png"/>
          <p:cNvPicPr>
            <a:picLocks noChangeAspect="1"/>
          </p:cNvPicPr>
          <p:nvPr/>
        </p:nvPicPr>
        <p:blipFill>
          <a:blip r:embed="rId2"/>
          <a:stretch>
            <a:fillRect/>
          </a:stretch>
        </p:blipFill>
        <p:spPr>
          <a:xfrm>
            <a:off x="367200" y="914400"/>
            <a:ext cx="8413200" cy="2448000"/>
          </a:xfrm>
          <a:prstGeom prst="rect">
            <a:avLst/>
          </a:prstGeom>
        </p:spPr>
      </p:pic>
      <p:sp>
        <p:nvSpPr>
          <p:cNvPr id="18" name="TextBox 17"/>
          <p:cNvSpPr txBox="1"/>
          <p:nvPr/>
        </p:nvSpPr>
        <p:spPr>
          <a:xfrm>
            <a:off x="367200" y="3488400"/>
            <a:ext cx="8413200" cy="914400"/>
          </a:xfrm>
          <a:prstGeom prst="rect">
            <a:avLst/>
          </a:prstGeom>
          <a:noFill/>
        </p:spPr>
        <p:txBody>
          <a:bodyPr wrap="square">
            <a:spAutoFit/>
          </a:bodyPr>
          <a:lstStyle/>
          <a:p>
            <a:pPr algn="l"/>
            <a:r>
              <a:rPr sz="850" b="0" i="0">
                <a:solidFill>
                  <a:srgbClr val="555555"/>
                </a:solidFill>
                <a:latin typeface="Calibri"/>
              </a:rPr>
              <a:t>Avec un WACC de 17.1% et un TGR de 3.0%, le prix implicite DCF est de ~$220 (base), soit un upside de 24% vs cours actuel. La prime actuelle reflète une croissance déjà pricee, mais des catalyseurs comme l'expansion des data centers IA pourraient justifier une revalorisation.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04</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Risques &amp; Stratégie</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Avocat du diable &amp; conditions d'invalidation</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1B3A6B"/>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Risques &amp; Conditions d'Invalidation</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des risques structurels  ·  Thèse contraire</a:t>
            </a:r>
          </a:p>
        </p:txBody>
      </p:sp>
      <p:sp>
        <p:nvSpPr>
          <p:cNvPr id="17" name="Rectangle 16"/>
          <p:cNvSpPr/>
          <p:nvPr/>
        </p:nvSpPr>
        <p:spPr>
          <a:xfrm>
            <a:off x="367200" y="961200"/>
            <a:ext cx="2743200" cy="1918800"/>
          </a:xfrm>
          <a:prstGeom prst="rect">
            <a:avLst/>
          </a:prstGeom>
          <a:solidFill>
            <a:srgbClr val="FAF0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2743200" cy="5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200" y="1069200"/>
            <a:ext cx="2527200" cy="396000"/>
          </a:xfrm>
          <a:prstGeom prst="rect">
            <a:avLst/>
          </a:prstGeom>
          <a:noFill/>
        </p:spPr>
        <p:txBody>
          <a:bodyPr wrap="square">
            <a:spAutoFit/>
          </a:bodyPr>
          <a:lstStyle/>
          <a:p>
            <a:pPr algn="l"/>
            <a:r>
              <a:rPr sz="900" b="1" i="0">
                <a:solidFill>
                  <a:srgbClr val="A82020"/>
                </a:solidFill>
                <a:latin typeface="Calibri"/>
              </a:rPr>
              <a:t>Concurrence chinoise accrue</a:t>
            </a:r>
          </a:p>
        </p:txBody>
      </p:sp>
      <p:sp>
        <p:nvSpPr>
          <p:cNvPr id="20" name="TextBox 19"/>
          <p:cNvSpPr txBox="1"/>
          <p:nvPr/>
        </p:nvSpPr>
        <p:spPr>
          <a:xfrm>
            <a:off x="475200" y="1537199"/>
            <a:ext cx="2527200" cy="1260000"/>
          </a:xfrm>
          <a:prstGeom prst="rect">
            <a:avLst/>
          </a:prstGeom>
          <a:noFill/>
        </p:spPr>
        <p:txBody>
          <a:bodyPr wrap="square">
            <a:spAutoFit/>
          </a:bodyPr>
          <a:lstStyle/>
          <a:p>
            <a:pPr algn="l"/>
            <a:r>
              <a:rPr sz="800" b="0" i="0">
                <a:solidFill>
                  <a:srgbClr val="555555"/>
                </a:solidFill>
                <a:latin typeface="Calibri"/>
              </a:rPr>
              <a:t>Les marges exceptionnelles de 75% reposent sur un quasi-monopole sur les GPU haut de gamme, mais la concurrence chinoise (Moore Threads, Biren) réduit déjà les parts de marché de 8% en 2024 selon Mercury Research, érodant les prix de 12% sur les segments milieu de gamme.</a:t>
            </a:r>
          </a:p>
        </p:txBody>
      </p:sp>
      <p:sp>
        <p:nvSpPr>
          <p:cNvPr id="21" name="Rectangle 20"/>
          <p:cNvSpPr/>
          <p:nvPr/>
        </p:nvSpPr>
        <p:spPr>
          <a:xfrm>
            <a:off x="3229200" y="961200"/>
            <a:ext cx="2743200" cy="191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29200" y="961200"/>
            <a:ext cx="2743200" cy="5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337200" y="1069200"/>
            <a:ext cx="2527200" cy="396000"/>
          </a:xfrm>
          <a:prstGeom prst="rect">
            <a:avLst/>
          </a:prstGeom>
          <a:noFill/>
        </p:spPr>
        <p:txBody>
          <a:bodyPr wrap="square">
            <a:spAutoFit/>
          </a:bodyPr>
          <a:lstStyle/>
          <a:p>
            <a:pPr algn="l"/>
            <a:r>
              <a:rPr sz="900" b="1" i="0">
                <a:solidFill>
                  <a:srgbClr val="2E5FA3"/>
                </a:solidFill>
                <a:latin typeface="Calibri"/>
              </a:rPr>
              <a:t>Régulation antitrust</a:t>
            </a:r>
          </a:p>
        </p:txBody>
      </p:sp>
      <p:sp>
        <p:nvSpPr>
          <p:cNvPr id="24" name="TextBox 23"/>
          <p:cNvSpPr txBox="1"/>
          <p:nvPr/>
        </p:nvSpPr>
        <p:spPr>
          <a:xfrm>
            <a:off x="3337200" y="1537199"/>
            <a:ext cx="2527200" cy="1260000"/>
          </a:xfrm>
          <a:prstGeom prst="rect">
            <a:avLst/>
          </a:prstGeom>
          <a:noFill/>
        </p:spPr>
        <p:txBody>
          <a:bodyPr wrap="square">
            <a:spAutoFit/>
          </a:bodyPr>
          <a:lstStyle/>
          <a:p>
            <a:pPr algn="l"/>
            <a:r>
              <a:rPr sz="800" b="0" i="0">
                <a:solidFill>
                  <a:srgbClr val="555555"/>
                </a:solidFill>
                <a:latin typeface="Calibri"/>
              </a:rPr>
              <a:t>Les ratios P/E à 59x et EV/EBITDA à 50x supposent une croissance perpétuelle des revenus IA, alors que les dépenses des data centers pourraient chuter de 30% en 2025 si les taux restent élevés, selon Goldman Sachs.</a:t>
            </a:r>
          </a:p>
        </p:txBody>
      </p:sp>
      <p:sp>
        <p:nvSpPr>
          <p:cNvPr id="25" name="Rectangle 24"/>
          <p:cNvSpPr/>
          <p:nvPr/>
        </p:nvSpPr>
        <p:spPr>
          <a:xfrm>
            <a:off x="6091200" y="961200"/>
            <a:ext cx="2743200" cy="1918800"/>
          </a:xfrm>
          <a:prstGeom prst="rect">
            <a:avLst/>
          </a:prstGeom>
          <a:solidFill>
            <a:srgbClr val="FDF6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091200" y="961200"/>
            <a:ext cx="2743200" cy="54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199200" y="1069200"/>
            <a:ext cx="2527200" cy="396000"/>
          </a:xfrm>
          <a:prstGeom prst="rect">
            <a:avLst/>
          </a:prstGeom>
          <a:noFill/>
        </p:spPr>
        <p:txBody>
          <a:bodyPr wrap="square">
            <a:spAutoFit/>
          </a:bodyPr>
          <a:lstStyle/>
          <a:p>
            <a:pPr algn="l"/>
            <a:r>
              <a:rPr sz="900" b="1" i="0">
                <a:solidFill>
                  <a:srgbClr val="B06000"/>
                </a:solidFill>
                <a:latin typeface="Calibri"/>
              </a:rPr>
              <a:t>Baisse dépenses IA</a:t>
            </a:r>
          </a:p>
        </p:txBody>
      </p:sp>
      <p:sp>
        <p:nvSpPr>
          <p:cNvPr id="28" name="TextBox 27"/>
          <p:cNvSpPr txBox="1"/>
          <p:nvPr/>
        </p:nvSpPr>
        <p:spPr>
          <a:xfrm>
            <a:off x="6199200" y="1537199"/>
            <a:ext cx="2527200" cy="1260000"/>
          </a:xfrm>
          <a:prstGeom prst="rect">
            <a:avLst/>
          </a:prstGeom>
          <a:noFill/>
        </p:spPr>
        <p:txBody>
          <a:bodyPr wrap="square">
            <a:spAutoFit/>
          </a:bodyPr>
          <a:lstStyle/>
          <a:p>
            <a:pPr algn="l"/>
            <a:r>
              <a:rPr sz="800" b="0" i="0">
                <a:solidFill>
                  <a:srgbClr val="555555"/>
                </a:solidFill>
                <a:latin typeface="Calibri"/>
              </a:rPr>
              <a:t>L'écosystème CUDA, bien que dominant, devient un passif : 90% des développeurs utilisent CUDA, mais les régulateurs américains pourraient forcer sa scission pour raisons antitrust, comme l'a suggéré la FTC en 2023, fragilisant la plateforme.</a:t>
            </a:r>
          </a:p>
        </p:txBody>
      </p:sp>
      <p:sp>
        <p:nvSpPr>
          <p:cNvPr id="29" name="Rectangle 28"/>
          <p:cNvSpPr/>
          <p:nvPr/>
        </p:nvSpPr>
        <p:spPr>
          <a:xfrm>
            <a:off x="367200" y="29988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67200" y="3070800"/>
            <a:ext cx="8413200" cy="165600"/>
          </a:xfrm>
          <a:prstGeom prst="rect">
            <a:avLst/>
          </a:prstGeom>
          <a:noFill/>
        </p:spPr>
        <p:txBody>
          <a:bodyPr wrap="square">
            <a:spAutoFit/>
          </a:bodyPr>
          <a:lstStyle/>
          <a:p>
            <a:pPr algn="l"/>
            <a:r>
              <a:rPr sz="900" b="1" i="0">
                <a:solidFill>
                  <a:srgbClr val="1B3A6B"/>
                </a:solidFill>
                <a:latin typeface="Calibri"/>
              </a:rPr>
              <a:t>Conditions d'invalidation de la thèse</a:t>
            </a:r>
          </a:p>
        </p:txBody>
      </p:sp>
      <p:graphicFrame>
        <p:nvGraphicFramePr>
          <p:cNvPr id="31" name="Table 30"/>
          <p:cNvGraphicFramePr>
            <a:graphicFrameLocks noGrp="1"/>
          </p:cNvGraphicFramePr>
          <p:nvPr/>
        </p:nvGraphicFramePr>
        <p:xfrm>
          <a:off x="367200" y="3308400"/>
          <a:ext cx="8413200" cy="1098000"/>
        </p:xfrm>
        <a:graphic>
          <a:graphicData uri="http://schemas.openxmlformats.org/drawingml/2006/table">
            <a:tbl>
              <a:tblPr firstRow="1" bandRow="1">
                <a:tableStyleId>{5C22544A-7EE6-4342-B048-85BDC9FD1C3A}</a:tableStyleId>
              </a:tblPr>
              <a:tblGrid>
                <a:gridCol w="1261980"/>
                <a:gridCol w="5468580"/>
                <a:gridCol w="1682640"/>
              </a:tblGrid>
              <a:tr h="274500">
                <a:tc>
                  <a:txBody>
                    <a:bodyPr/>
                    <a:lstStyle/>
                    <a:p>
                      <a:pPr algn="l"/>
                      <a:r>
                        <a:rPr sz="800" b="1" i="0">
                          <a:solidFill>
                            <a:srgbClr val="FFFFFF"/>
                          </a:solidFill>
                          <a:latin typeface="Calibri"/>
                        </a:rPr>
                        <a:t>Axe</a:t>
                      </a:r>
                    </a:p>
                  </a:txBody>
                  <a:tcPr>
                    <a:solidFill>
                      <a:srgbClr val="1B3A6B"/>
                    </a:solidFill>
                  </a:tcPr>
                </a:tc>
                <a:tc>
                  <a:txBody>
                    <a:bodyPr/>
                    <a:lstStyle/>
                    <a:p>
                      <a:pPr algn="ctr"/>
                      <a:r>
                        <a:rPr sz="800" b="1" i="0">
                          <a:solidFill>
                            <a:srgbClr val="FFFFFF"/>
                          </a:solidFill>
                          <a:latin typeface="Calibri"/>
                        </a:rPr>
                        <a:t>Condition d'invalidation</a:t>
                      </a:r>
                    </a:p>
                  </a:txBody>
                  <a:tcPr>
                    <a:solidFill>
                      <a:srgbClr val="1B3A6B"/>
                    </a:solidFill>
                  </a:tcPr>
                </a:tc>
                <a:tc>
                  <a:txBody>
                    <a:bodyPr/>
                    <a:lstStyle/>
                    <a:p>
                      <a:pPr algn="ctr"/>
                      <a:r>
                        <a:rPr sz="800" b="1" i="0">
                          <a:solidFill>
                            <a:srgbClr val="FFFFFF"/>
                          </a:solidFill>
                          <a:latin typeface="Calibri"/>
                        </a:rPr>
                        <a:t>Horizon</a:t>
                      </a:r>
                    </a:p>
                  </a:txBody>
                  <a:tcPr>
                    <a:solidFill>
                      <a:srgbClr val="1B3A6B"/>
                    </a:solidFill>
                  </a:tcPr>
                </a:tc>
              </a:tr>
              <a:tr h="274500">
                <a:tc>
                  <a:txBody>
                    <a:bodyPr/>
                    <a:lstStyle/>
                    <a:p>
                      <a:pPr algn="l"/>
                      <a:r>
                        <a:rPr sz="800" b="1" i="0">
                          <a:solidFill>
                            <a:srgbClr val="1B3A6B"/>
                          </a:solidFill>
                          <a:latin typeface="Calibri"/>
                        </a:rPr>
                        <a:t>Macro</a:t>
                      </a:r>
                    </a:p>
                  </a:txBody>
                  <a:tcPr>
                    <a:solidFill>
                      <a:srgbClr val="FFFFFF"/>
                    </a:solidFill>
                  </a:tcPr>
                </a:tc>
                <a:tc>
                  <a:txBody>
                    <a:bodyPr/>
                    <a:lstStyle/>
                    <a:p>
                      <a:pPr algn="ctr"/>
                      <a:r>
                        <a:rPr sz="800" b="0" i="0">
                          <a:solidFill>
                            <a:srgbClr val="0D0D0D"/>
                          </a:solidFill>
                          <a:latin typeface="Calibri"/>
                        </a:rPr>
                        <a:t>Récession mondiale réduisant la demande en GPU pour data centers</a:t>
                      </a:r>
                    </a:p>
                  </a:txBody>
                  <a:tcPr>
                    <a:solidFill>
                      <a:srgbClr val="FFFFFF"/>
                    </a:solidFill>
                  </a:tcPr>
                </a:tc>
                <a:tc>
                  <a:txBody>
                    <a:bodyPr/>
                    <a:lstStyle/>
                    <a:p>
                      <a:pPr algn="ctr"/>
                      <a:r>
                        <a:rPr sz="800" b="0" i="0">
                          <a:solidFill>
                            <a:srgbClr val="0D0D0D"/>
                          </a:solidFill>
                          <a:latin typeface="Calibri"/>
                        </a:rPr>
                        <a:t>6-12 mois</a:t>
                      </a:r>
                    </a:p>
                  </a:txBody>
                  <a:tcPr>
                    <a:solidFill>
                      <a:srgbClr val="FFFFFF"/>
                    </a:solidFill>
                  </a:tcPr>
                </a:tc>
              </a:tr>
              <a:tr h="274500">
                <a:tc>
                  <a:txBody>
                    <a:bodyPr/>
                    <a:lstStyle/>
                    <a:p>
                      <a:pPr algn="l"/>
                      <a:r>
                        <a:rPr sz="800" b="1" i="0">
                          <a:solidFill>
                            <a:srgbClr val="1B3A6B"/>
                          </a:solidFill>
                          <a:latin typeface="Calibri"/>
                        </a:rPr>
                        <a:t>Sectoriel</a:t>
                      </a:r>
                    </a:p>
                  </a:txBody>
                  <a:tcPr>
                    <a:solidFill>
                      <a:srgbClr val="F7F8FA"/>
                    </a:solidFill>
                  </a:tcPr>
                </a:tc>
                <a:tc>
                  <a:txBody>
                    <a:bodyPr/>
                    <a:lstStyle/>
                    <a:p>
                      <a:pPr algn="ctr"/>
                      <a:r>
                        <a:rPr sz="800" b="0" i="0">
                          <a:solidFill>
                            <a:srgbClr val="0D0D0D"/>
                          </a:solidFill>
                          <a:latin typeface="Calibri"/>
                        </a:rPr>
                        <a:t>Concurrence accrue d'AMD avec les GPU MI300X captant 20% du marché</a:t>
                      </a:r>
                    </a:p>
                  </a:txBody>
                  <a:tcPr>
                    <a:solidFill>
                      <a:srgbClr val="F7F8FA"/>
                    </a:solidFill>
                  </a:tcPr>
                </a:tc>
                <a:tc>
                  <a:txBody>
                    <a:bodyPr/>
                    <a:lstStyle/>
                    <a:p>
                      <a:pPr algn="ctr"/>
                      <a:r>
                        <a:rPr sz="800" b="0" i="0">
                          <a:solidFill>
                            <a:srgbClr val="0D0D0D"/>
                          </a:solidFill>
                          <a:latin typeface="Calibri"/>
                        </a:rPr>
                        <a:t>12-18 mois</a:t>
                      </a:r>
                    </a:p>
                  </a:txBody>
                  <a:tcPr>
                    <a:solidFill>
                      <a:srgbClr val="F7F8FA"/>
                    </a:solidFill>
                  </a:tcPr>
                </a:tc>
              </a:tr>
              <a:tr h="274500">
                <a:tc>
                  <a:txBody>
                    <a:bodyPr/>
                    <a:lstStyle/>
                    <a:p>
                      <a:pPr algn="l"/>
                      <a:r>
                        <a:rPr sz="800" b="1" i="0">
                          <a:solidFill>
                            <a:srgbClr val="1B3A6B"/>
                          </a:solidFill>
                          <a:latin typeface="Calibri"/>
                        </a:rPr>
                        <a:t>Société</a:t>
                      </a:r>
                    </a:p>
                  </a:txBody>
                  <a:tcPr>
                    <a:solidFill>
                      <a:srgbClr val="FFFFFF"/>
                    </a:solidFill>
                  </a:tcPr>
                </a:tc>
                <a:tc>
                  <a:txBody>
                    <a:bodyPr/>
                    <a:lstStyle/>
                    <a:p>
                      <a:pPr algn="ctr"/>
                      <a:r>
                        <a:rPr sz="800" b="0" i="0">
                          <a:solidFill>
                            <a:srgbClr val="0D0D0D"/>
                          </a:solidFill>
                          <a:latin typeface="Calibri"/>
                        </a:rPr>
                        <a:t>Ralentissement des ventes de GPU H100/H200 en Chine suite à des restrictions géopolitiques</a:t>
                      </a:r>
                    </a:p>
                  </a:txBody>
                  <a:tcPr>
                    <a:solidFill>
                      <a:srgbClr val="FFFFFF"/>
                    </a:solidFill>
                  </a:tcPr>
                </a:tc>
                <a:tc>
                  <a:txBody>
                    <a:bodyPr/>
                    <a:lstStyle/>
                    <a:p>
                      <a:pPr algn="ctr"/>
                      <a:r>
                        <a:rPr sz="800" b="0" i="0">
                          <a:solidFill>
                            <a:srgbClr val="0D0D0D"/>
                          </a:solidFill>
                          <a:latin typeface="Calibri"/>
                        </a:rPr>
                        <a:t>2-3 trim.</a:t>
                      </a:r>
                    </a:p>
                  </a:txBody>
                  <a:tcPr>
                    <a:solidFill>
                      <a:srgbClr val="FFFFFF"/>
                    </a:solidFill>
                  </a:tcPr>
                </a:tc>
              </a:tr>
            </a:tbl>
          </a:graphicData>
        </a:graphic>
      </p:graphicFrame>
      <p:sp>
        <p:nvSpPr>
          <p:cNvPr id="32" name="Rectangle 31"/>
          <p:cNvSpPr/>
          <p:nvPr/>
        </p:nvSpPr>
        <p:spPr>
          <a:xfrm>
            <a:off x="367200" y="4428000"/>
            <a:ext cx="2804400" cy="180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67200" y="4428000"/>
            <a:ext cx="43200" cy="180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46400" y="4438800"/>
            <a:ext cx="2696400" cy="158400"/>
          </a:xfrm>
          <a:prstGeom prst="rect">
            <a:avLst/>
          </a:prstGeom>
          <a:noFill/>
        </p:spPr>
        <p:txBody>
          <a:bodyPr wrap="square">
            <a:spAutoFit/>
          </a:bodyPr>
          <a:lstStyle/>
          <a:p>
            <a:pPr algn="l"/>
            <a:r>
              <a:rPr sz="700" b="0" i="0">
                <a:solidFill>
                  <a:srgbClr val="1B3A6B"/>
                </a:solidFill>
                <a:latin typeface="Calibri"/>
              </a:rPr>
              <a:t>Détresse : 35/100  Moderé</a:t>
            </a:r>
          </a:p>
        </p:txBody>
      </p:sp>
      <p:sp>
        <p:nvSpPr>
          <p:cNvPr id="35" name="Rectangle 34"/>
          <p:cNvSpPr/>
          <p:nvPr/>
        </p:nvSpPr>
        <p:spPr>
          <a:xfrm>
            <a:off x="3243600" y="4428000"/>
            <a:ext cx="2804400" cy="180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3243600" y="4428000"/>
            <a:ext cx="43200" cy="18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322800" y="4438800"/>
            <a:ext cx="2696400" cy="158400"/>
          </a:xfrm>
          <a:prstGeom prst="rect">
            <a:avLst/>
          </a:prstGeom>
          <a:noFill/>
        </p:spPr>
        <p:txBody>
          <a:bodyPr wrap="square">
            <a:spAutoFit/>
          </a:bodyPr>
          <a:lstStyle/>
          <a:p>
            <a:pPr algn="l"/>
            <a:r>
              <a:rPr sz="700" b="0" i="0">
                <a:solidFill>
                  <a:srgbClr val="1B3A6B"/>
                </a:solidFill>
                <a:latin typeface="Calibri"/>
              </a:rPr>
              <a:t>M&amp;A : 57/100  Attractive</a:t>
            </a:r>
          </a:p>
        </p:txBody>
      </p:sp>
      <p:sp>
        <p:nvSpPr>
          <p:cNvPr id="38" name="Rectangle 37"/>
          <p:cNvSpPr/>
          <p:nvPr/>
        </p:nvSpPr>
        <p:spPr>
          <a:xfrm>
            <a:off x="6123600" y="4428000"/>
            <a:ext cx="2804400" cy="180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123600" y="4428000"/>
            <a:ext cx="43200" cy="180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202800" y="4438800"/>
            <a:ext cx="2696400" cy="158400"/>
          </a:xfrm>
          <a:prstGeom prst="rect">
            <a:avLst/>
          </a:prstGeom>
          <a:noFill/>
        </p:spPr>
        <p:txBody>
          <a:bodyPr wrap="square">
            <a:spAutoFit/>
          </a:bodyPr>
          <a:lstStyle/>
          <a:p>
            <a:pPr algn="l"/>
            <a:r>
              <a:rPr sz="700" b="0" i="0">
                <a:solidFill>
                  <a:srgbClr val="1B3A6B"/>
                </a:solidFill>
                <a:latin typeface="Calibri"/>
              </a:rPr>
              <a:t>Régime : Volatile  Rec.6M:26%</a:t>
            </a:r>
          </a:p>
        </p:txBody>
      </p:sp>
      <p:sp>
        <p:nvSpPr>
          <p:cNvPr id="41" name="Rectangle 40"/>
          <p:cNvSpPr/>
          <p:nvPr/>
        </p:nvSpPr>
        <p:spPr>
          <a:xfrm>
            <a:off x="367200" y="4618800"/>
            <a:ext cx="2804400" cy="180000"/>
          </a:xfrm>
          <a:prstGeom prst="rect">
            <a:avLst/>
          </a:prstGeom>
          <a:solidFill>
            <a:srgbClr val="EBF0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367200" y="4618800"/>
            <a:ext cx="43200" cy="18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46400" y="4629600"/>
            <a:ext cx="2696400" cy="158400"/>
          </a:xfrm>
          <a:prstGeom prst="rect">
            <a:avLst/>
          </a:prstGeom>
          <a:noFill/>
        </p:spPr>
        <p:txBody>
          <a:bodyPr wrap="square">
            <a:spAutoFit/>
          </a:bodyPr>
          <a:lstStyle/>
          <a:p>
            <a:pPr algn="l"/>
            <a:r>
              <a:rPr sz="700" b="0" i="0">
                <a:solidFill>
                  <a:srgbClr val="1B3A6B"/>
                </a:solidFill>
                <a:latin typeface="Calibri"/>
              </a:rPr>
              <a:t>Earnings Qualité : Correcte (0.98x)</a:t>
            </a:r>
          </a:p>
        </p:txBody>
      </p:sp>
      <p:sp>
        <p:nvSpPr>
          <p:cNvPr id="44" name="Rectangle 43"/>
          <p:cNvSpPr/>
          <p:nvPr/>
        </p:nvSpPr>
        <p:spPr>
          <a:xfrm>
            <a:off x="3243600" y="4618800"/>
            <a:ext cx="2804400" cy="180000"/>
          </a:xfrm>
          <a:prstGeom prst="rect">
            <a:avLst/>
          </a:prstGeom>
          <a:solidFill>
            <a:srgbClr val="EBF0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3243600" y="4618800"/>
            <a:ext cx="43200" cy="18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322800" y="4629600"/>
            <a:ext cx="2696400" cy="158400"/>
          </a:xfrm>
          <a:prstGeom prst="rect">
            <a:avLst/>
          </a:prstGeom>
          <a:noFill/>
        </p:spPr>
        <p:txBody>
          <a:bodyPr wrap="square">
            <a:spAutoFit/>
          </a:bodyPr>
          <a:lstStyle/>
          <a:p>
            <a:pPr algn="l"/>
            <a:r>
              <a:rPr sz="700" b="0" i="0">
                <a:solidFill>
                  <a:srgbClr val="1B3A6B"/>
                </a:solidFill>
                <a:latin typeface="Calibri"/>
              </a:rPr>
              <a:t>Struct. Capital : Saine (0% CT)</a:t>
            </a:r>
          </a:p>
        </p:txBody>
      </p:sp>
      <p:sp>
        <p:nvSpPr>
          <p:cNvPr id="47" name="Rectangle 46"/>
          <p:cNvSpPr/>
          <p:nvPr/>
        </p:nvSpPr>
        <p:spPr>
          <a:xfrm>
            <a:off x="6123600" y="4618800"/>
            <a:ext cx="2804400" cy="180000"/>
          </a:xfrm>
          <a:prstGeom prst="rect">
            <a:avLst/>
          </a:prstGeom>
          <a:solidFill>
            <a:srgbClr val="EBF0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6123600" y="4618800"/>
            <a:ext cx="43200" cy="18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202800" y="4629600"/>
            <a:ext cx="2696400" cy="158400"/>
          </a:xfrm>
          <a:prstGeom prst="rect">
            <a:avLst/>
          </a:prstGeom>
          <a:noFill/>
        </p:spPr>
        <p:txBody>
          <a:bodyPr wrap="square">
            <a:spAutoFit/>
          </a:bodyPr>
          <a:lstStyle/>
          <a:p>
            <a:pPr algn="l"/>
            <a:r>
              <a:rPr sz="700" b="0" i="0">
                <a:solidFill>
                  <a:srgbClr val="1B3A6B"/>
                </a:solidFill>
                <a:latin typeface="Calibri"/>
              </a:rPr>
              <a:t>Dividende : Tres soutenable (2.1x)</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05</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Sentiment &amp; Annexes</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FinBERT, actionnariat &amp; historique de cours</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Sentiment de Marché — LLM Groq</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sémantique  ·  30 articles  ·  7 derniers jours  ·  Classification LLM</a:t>
            </a:r>
          </a:p>
        </p:txBody>
      </p:sp>
      <p:sp>
        <p:nvSpPr>
          <p:cNvPr id="17" name="Rectangle 16"/>
          <p:cNvSpPr/>
          <p:nvPr/>
        </p:nvSpPr>
        <p:spPr>
          <a:xfrm>
            <a:off x="367200" y="961200"/>
            <a:ext cx="25596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2422800" cy="396000"/>
          </a:xfrm>
          <a:prstGeom prst="rect">
            <a:avLst/>
          </a:prstGeom>
          <a:noFill/>
        </p:spPr>
        <p:txBody>
          <a:bodyPr wrap="square">
            <a:spAutoFit/>
          </a:bodyPr>
          <a:lstStyle/>
          <a:p>
            <a:pPr algn="l"/>
            <a:r>
              <a:rPr sz="1900" b="1" i="0">
                <a:solidFill>
                  <a:srgbClr val="1B3A6B"/>
                </a:solidFill>
                <a:latin typeface="Calibri"/>
              </a:rPr>
              <a:t>Neutre +</a:t>
            </a:r>
          </a:p>
        </p:txBody>
      </p:sp>
      <p:sp>
        <p:nvSpPr>
          <p:cNvPr id="20" name="TextBox 19"/>
          <p:cNvSpPr txBox="1"/>
          <p:nvPr/>
        </p:nvSpPr>
        <p:spPr>
          <a:xfrm>
            <a:off x="457200" y="1411200"/>
            <a:ext cx="2422800" cy="205199"/>
          </a:xfrm>
          <a:prstGeom prst="rect">
            <a:avLst/>
          </a:prstGeom>
          <a:noFill/>
        </p:spPr>
        <p:txBody>
          <a:bodyPr wrap="square">
            <a:spAutoFit/>
          </a:bodyPr>
          <a:lstStyle/>
          <a:p>
            <a:pPr algn="l"/>
            <a:r>
              <a:rPr sz="800" b="0" i="0">
                <a:solidFill>
                  <a:srgbClr val="555555"/>
                </a:solidFill>
                <a:latin typeface="Calibri"/>
              </a:rPr>
              <a:t>Orientation globale</a:t>
            </a:r>
          </a:p>
        </p:txBody>
      </p:sp>
      <p:sp>
        <p:nvSpPr>
          <p:cNvPr id="21" name="TextBox 20"/>
          <p:cNvSpPr txBox="1"/>
          <p:nvPr/>
        </p:nvSpPr>
        <p:spPr>
          <a:xfrm>
            <a:off x="457200" y="1609200"/>
            <a:ext cx="2422800" cy="165600"/>
          </a:xfrm>
          <a:prstGeom prst="rect">
            <a:avLst/>
          </a:prstGeom>
          <a:noFill/>
        </p:spPr>
        <p:txBody>
          <a:bodyPr wrap="square">
            <a:spAutoFit/>
          </a:bodyPr>
          <a:lstStyle/>
          <a:p>
            <a:pPr algn="l"/>
            <a:r>
              <a:rPr sz="700" b="0" i="0">
                <a:solidFill>
                  <a:srgbClr val="888888"/>
                </a:solidFill>
                <a:latin typeface="Calibri"/>
              </a:rPr>
              <a:t>Score agrégé : +0,249</a:t>
            </a:r>
          </a:p>
        </p:txBody>
      </p:sp>
      <p:sp>
        <p:nvSpPr>
          <p:cNvPr id="22" name="Rectangle 21"/>
          <p:cNvSpPr/>
          <p:nvPr/>
        </p:nvSpPr>
        <p:spPr>
          <a:xfrm>
            <a:off x="3110400" y="961200"/>
            <a:ext cx="18288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1104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0" y="1015200"/>
            <a:ext cx="1692000" cy="396000"/>
          </a:xfrm>
          <a:prstGeom prst="rect">
            <a:avLst/>
          </a:prstGeom>
          <a:noFill/>
        </p:spPr>
        <p:txBody>
          <a:bodyPr wrap="square">
            <a:spAutoFit/>
          </a:bodyPr>
          <a:lstStyle/>
          <a:p>
            <a:pPr algn="l"/>
            <a:r>
              <a:rPr sz="1900" b="1" i="0">
                <a:solidFill>
                  <a:srgbClr val="1B3A6B"/>
                </a:solidFill>
                <a:latin typeface="Calibri"/>
              </a:rPr>
              <a:t>30</a:t>
            </a:r>
          </a:p>
        </p:txBody>
      </p:sp>
      <p:sp>
        <p:nvSpPr>
          <p:cNvPr id="25" name="TextBox 24"/>
          <p:cNvSpPr txBox="1"/>
          <p:nvPr/>
        </p:nvSpPr>
        <p:spPr>
          <a:xfrm>
            <a:off x="3200400" y="1411200"/>
            <a:ext cx="1692000" cy="205199"/>
          </a:xfrm>
          <a:prstGeom prst="rect">
            <a:avLst/>
          </a:prstGeom>
          <a:noFill/>
        </p:spPr>
        <p:txBody>
          <a:bodyPr wrap="square">
            <a:spAutoFit/>
          </a:bodyPr>
          <a:lstStyle/>
          <a:p>
            <a:pPr algn="l"/>
            <a:r>
              <a:rPr sz="800" b="0" i="0">
                <a:solidFill>
                  <a:srgbClr val="555555"/>
                </a:solidFill>
                <a:latin typeface="Calibri"/>
              </a:rPr>
              <a:t>Articles analysés</a:t>
            </a:r>
          </a:p>
        </p:txBody>
      </p:sp>
      <p:sp>
        <p:nvSpPr>
          <p:cNvPr id="26" name="TextBox 25"/>
          <p:cNvSpPr txBox="1"/>
          <p:nvPr/>
        </p:nvSpPr>
        <p:spPr>
          <a:xfrm>
            <a:off x="3200400" y="1609200"/>
            <a:ext cx="1692000" cy="165600"/>
          </a:xfrm>
          <a:prstGeom prst="rect">
            <a:avLst/>
          </a:prstGeom>
          <a:noFill/>
        </p:spPr>
        <p:txBody>
          <a:bodyPr wrap="square">
            <a:spAutoFit/>
          </a:bodyPr>
          <a:lstStyle/>
          <a:p>
            <a:pPr algn="l"/>
            <a:r>
              <a:rPr sz="700" b="0" i="0">
                <a:solidFill>
                  <a:srgbClr val="888888"/>
                </a:solidFill>
                <a:latin typeface="Calibri"/>
              </a:rPr>
              <a:t>Fenêtre : 7 jours</a:t>
            </a:r>
          </a:p>
        </p:txBody>
      </p:sp>
      <p:sp>
        <p:nvSpPr>
          <p:cNvPr id="27" name="Rectangle 26"/>
          <p:cNvSpPr/>
          <p:nvPr/>
        </p:nvSpPr>
        <p:spPr>
          <a:xfrm>
            <a:off x="5119200" y="961200"/>
            <a:ext cx="16452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1192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209200" y="1015200"/>
            <a:ext cx="1508400" cy="396000"/>
          </a:xfrm>
          <a:prstGeom prst="rect">
            <a:avLst/>
          </a:prstGeom>
          <a:noFill/>
        </p:spPr>
        <p:txBody>
          <a:bodyPr wrap="square">
            <a:spAutoFit/>
          </a:bodyPr>
          <a:lstStyle/>
          <a:p>
            <a:pPr algn="l"/>
            <a:r>
              <a:rPr sz="1900" b="1" i="0">
                <a:solidFill>
                  <a:srgbClr val="1B3A6B"/>
                </a:solidFill>
                <a:latin typeface="Calibri"/>
              </a:rPr>
              <a:t>47,9 %</a:t>
            </a:r>
          </a:p>
        </p:txBody>
      </p:sp>
      <p:sp>
        <p:nvSpPr>
          <p:cNvPr id="30" name="TextBox 29"/>
          <p:cNvSpPr txBox="1"/>
          <p:nvPr/>
        </p:nvSpPr>
        <p:spPr>
          <a:xfrm>
            <a:off x="5209200" y="1411200"/>
            <a:ext cx="1508400" cy="205199"/>
          </a:xfrm>
          <a:prstGeom prst="rect">
            <a:avLst/>
          </a:prstGeom>
          <a:noFill/>
        </p:spPr>
        <p:txBody>
          <a:bodyPr wrap="square">
            <a:spAutoFit/>
          </a:bodyPr>
          <a:lstStyle/>
          <a:p>
            <a:pPr algn="l"/>
            <a:r>
              <a:rPr sz="800" b="0" i="0">
                <a:solidFill>
                  <a:srgbClr val="555555"/>
                </a:solidFill>
                <a:latin typeface="Calibri"/>
              </a:rPr>
              <a:t>Confiance IA</a:t>
            </a:r>
          </a:p>
        </p:txBody>
      </p:sp>
      <p:sp>
        <p:nvSpPr>
          <p:cNvPr id="31" name="TextBox 30"/>
          <p:cNvSpPr txBox="1"/>
          <p:nvPr/>
        </p:nvSpPr>
        <p:spPr>
          <a:xfrm>
            <a:off x="5209200" y="1609200"/>
            <a:ext cx="1508400" cy="165600"/>
          </a:xfrm>
          <a:prstGeom prst="rect">
            <a:avLst/>
          </a:prstGeom>
          <a:noFill/>
        </p:spPr>
        <p:txBody>
          <a:bodyPr wrap="square">
            <a:spAutoFit/>
          </a:bodyPr>
          <a:lstStyle/>
          <a:p>
            <a:pPr algn="l"/>
            <a:r>
              <a:rPr sz="700" b="0" i="0">
                <a:solidFill>
                  <a:srgbClr val="888888"/>
                </a:solidFill>
                <a:latin typeface="Calibri"/>
              </a:rPr>
              <a:t>Modèle LLM Groq</a:t>
            </a:r>
          </a:p>
        </p:txBody>
      </p:sp>
      <p:sp>
        <p:nvSpPr>
          <p:cNvPr id="32" name="Rectangle 31"/>
          <p:cNvSpPr/>
          <p:nvPr/>
        </p:nvSpPr>
        <p:spPr>
          <a:xfrm>
            <a:off x="6948000" y="961200"/>
            <a:ext cx="17388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9480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038000" y="1015200"/>
            <a:ext cx="1602000" cy="396000"/>
          </a:xfrm>
          <a:prstGeom prst="rect">
            <a:avLst/>
          </a:prstGeom>
          <a:noFill/>
        </p:spPr>
        <p:txBody>
          <a:bodyPr wrap="square">
            <a:spAutoFit/>
          </a:bodyPr>
          <a:lstStyle/>
          <a:p>
            <a:pPr algn="l"/>
            <a:r>
              <a:rPr sz="1900" b="1" i="0">
                <a:solidFill>
                  <a:srgbClr val="1B3A6B"/>
                </a:solidFill>
                <a:latin typeface="Calibri"/>
              </a:rPr>
              <a:t>BUY</a:t>
            </a:r>
          </a:p>
        </p:txBody>
      </p:sp>
      <p:sp>
        <p:nvSpPr>
          <p:cNvPr id="35" name="TextBox 34"/>
          <p:cNvSpPr txBox="1"/>
          <p:nvPr/>
        </p:nvSpPr>
        <p:spPr>
          <a:xfrm>
            <a:off x="7038000" y="1411200"/>
            <a:ext cx="1602000" cy="205199"/>
          </a:xfrm>
          <a:prstGeom prst="rect">
            <a:avLst/>
          </a:prstGeom>
          <a:noFill/>
        </p:spPr>
        <p:txBody>
          <a:bodyPr wrap="square">
            <a:spAutoFit/>
          </a:bodyPr>
          <a:lstStyle/>
          <a:p>
            <a:pPr algn="l"/>
            <a:r>
              <a:rPr sz="800" b="0" i="0">
                <a:solidFill>
                  <a:srgbClr val="555555"/>
                </a:solidFill>
                <a:latin typeface="Calibri"/>
              </a:rPr>
              <a:t>Cohérence</a:t>
            </a:r>
          </a:p>
        </p:txBody>
      </p:sp>
      <p:sp>
        <p:nvSpPr>
          <p:cNvPr id="36" name="TextBox 35"/>
          <p:cNvSpPr txBox="1"/>
          <p:nvPr/>
        </p:nvSpPr>
        <p:spPr>
          <a:xfrm>
            <a:off x="7038000" y="1609200"/>
            <a:ext cx="1602000" cy="165600"/>
          </a:xfrm>
          <a:prstGeom prst="rect">
            <a:avLst/>
          </a:prstGeom>
          <a:noFill/>
        </p:spPr>
        <p:txBody>
          <a:bodyPr wrap="square">
            <a:spAutoFit/>
          </a:bodyPr>
          <a:lstStyle/>
          <a:p>
            <a:pPr algn="l"/>
            <a:r>
              <a:rPr sz="700" b="0" i="0">
                <a:solidFill>
                  <a:srgbClr val="888888"/>
                </a:solidFill>
                <a:latin typeface="Calibri"/>
              </a:rPr>
              <a:t>Aligné avec la thèse</a:t>
            </a:r>
          </a:p>
        </p:txBody>
      </p:sp>
      <p:sp>
        <p:nvSpPr>
          <p:cNvPr id="37" name="TextBox 36"/>
          <p:cNvSpPr txBox="1"/>
          <p:nvPr/>
        </p:nvSpPr>
        <p:spPr>
          <a:xfrm>
            <a:off x="367200" y="2084400"/>
            <a:ext cx="8413200" cy="165600"/>
          </a:xfrm>
          <a:prstGeom prst="rect">
            <a:avLst/>
          </a:prstGeom>
          <a:noFill/>
        </p:spPr>
        <p:txBody>
          <a:bodyPr wrap="square">
            <a:spAutoFit/>
          </a:bodyPr>
          <a:lstStyle/>
          <a:p>
            <a:pPr algn="l"/>
            <a:r>
              <a:rPr sz="900" b="1" i="0">
                <a:solidFill>
                  <a:srgbClr val="2E5FA3"/>
                </a:solidFill>
                <a:latin typeface="Calibri"/>
              </a:rPr>
              <a:t>Détail par orientation</a:t>
            </a:r>
          </a:p>
        </p:txBody>
      </p:sp>
      <p:graphicFrame>
        <p:nvGraphicFramePr>
          <p:cNvPr id="38" name="Table 37"/>
          <p:cNvGraphicFramePr>
            <a:graphicFrameLocks noGrp="1"/>
          </p:cNvGraphicFramePr>
          <p:nvPr/>
        </p:nvGraphicFramePr>
        <p:xfrm>
          <a:off x="367200" y="2332800"/>
          <a:ext cx="8413200" cy="1152000"/>
        </p:xfrm>
        <a:graphic>
          <a:graphicData uri="http://schemas.openxmlformats.org/drawingml/2006/table">
            <a:tbl>
              <a:tblPr firstRow="1" bandRow="1">
                <a:tableStyleId>{5C22544A-7EE6-4342-B048-85BDC9FD1C3A}</a:tableStyleId>
              </a:tblPr>
              <a:tblGrid>
                <a:gridCol w="1261980"/>
                <a:gridCol w="1261980"/>
                <a:gridCol w="1682640"/>
                <a:gridCol w="4206600"/>
              </a:tblGrid>
              <a:tr h="288000">
                <a:tc>
                  <a:txBody>
                    <a:bodyPr/>
                    <a:lstStyle/>
                    <a:p>
                      <a:pPr algn="l"/>
                      <a:r>
                        <a:rPr sz="800" b="1" i="0">
                          <a:solidFill>
                            <a:srgbClr val="FFFFFF"/>
                          </a:solidFill>
                          <a:latin typeface="Calibri"/>
                        </a:rPr>
                        <a:t>Orientation</a:t>
                      </a:r>
                    </a:p>
                  </a:txBody>
                  <a:tcPr>
                    <a:solidFill>
                      <a:srgbClr val="1B3A6B"/>
                    </a:solidFill>
                  </a:tcPr>
                </a:tc>
                <a:tc>
                  <a:txBody>
                    <a:bodyPr/>
                    <a:lstStyle/>
                    <a:p>
                      <a:pPr algn="ctr"/>
                      <a:r>
                        <a:rPr sz="800" b="1" i="0">
                          <a:solidFill>
                            <a:srgbClr val="FFFFFF"/>
                          </a:solidFill>
                          <a:latin typeface="Calibri"/>
                        </a:rPr>
                        <a:t>Articles</a:t>
                      </a:r>
                    </a:p>
                  </a:txBody>
                  <a:tcPr>
                    <a:solidFill>
                      <a:srgbClr val="1B3A6B"/>
                    </a:solidFill>
                  </a:tcPr>
                </a:tc>
                <a:tc>
                  <a:txBody>
                    <a:bodyPr/>
                    <a:lstStyle/>
                    <a:p>
                      <a:pPr algn="ctr"/>
                      <a:r>
                        <a:rPr sz="800" b="1" i="0">
                          <a:solidFill>
                            <a:srgbClr val="FFFFFF"/>
                          </a:solidFill>
                          <a:latin typeface="Calibri"/>
                        </a:rPr>
                        <a:t>Score moyen</a:t>
                      </a:r>
                    </a:p>
                  </a:txBody>
                  <a:tcPr>
                    <a:solidFill>
                      <a:srgbClr val="1B3A6B"/>
                    </a:solidFill>
                  </a:tcPr>
                </a:tc>
                <a:tc>
                  <a:txBody>
                    <a:bodyPr/>
                    <a:lstStyle/>
                    <a:p>
                      <a:pPr algn="ctr"/>
                      <a:r>
                        <a:rPr sz="800" b="1" i="0">
                          <a:solidFill>
                            <a:srgbClr val="FFFFFF"/>
                          </a:solidFill>
                          <a:latin typeface="Calibri"/>
                        </a:rPr>
                        <a:t>Thèmes principaux</a:t>
                      </a:r>
                    </a:p>
                  </a:txBody>
                  <a:tcPr>
                    <a:solidFill>
                      <a:srgbClr val="1B3A6B"/>
                    </a:solidFill>
                  </a:tcPr>
                </a:tc>
              </a:tr>
              <a:tr h="288000">
                <a:tc>
                  <a:txBody>
                    <a:bodyPr/>
                    <a:lstStyle/>
                    <a:p>
                      <a:pPr algn="l"/>
                      <a:r>
                        <a:rPr sz="800" b="1" i="0">
                          <a:solidFill>
                            <a:srgbClr val="1A7A4A"/>
                          </a:solidFill>
                          <a:latin typeface="Calibri"/>
                        </a:rPr>
                        <a:t>Positif</a:t>
                      </a:r>
                    </a:p>
                  </a:txBody>
                  <a:tcPr>
                    <a:solidFill>
                      <a:srgbClr val="EAF4EF"/>
                    </a:solidFill>
                  </a:tcPr>
                </a:tc>
                <a:tc>
                  <a:txBody>
                    <a:bodyPr/>
                    <a:lstStyle/>
                    <a:p>
                      <a:pPr algn="ctr"/>
                      <a:r>
                        <a:rPr sz="800" b="1" i="0">
                          <a:solidFill>
                            <a:srgbClr val="1A7A4A"/>
                          </a:solidFill>
                          <a:latin typeface="Calibri"/>
                        </a:rPr>
                        <a:t>10</a:t>
                      </a:r>
                    </a:p>
                  </a:txBody>
                  <a:tcPr>
                    <a:solidFill>
                      <a:srgbClr val="EAF4EF"/>
                    </a:solidFill>
                  </a:tcPr>
                </a:tc>
                <a:tc>
                  <a:txBody>
                    <a:bodyPr/>
                    <a:lstStyle/>
                    <a:p>
                      <a:pPr algn="ctr"/>
                      <a:r>
                        <a:rPr sz="800" b="0" i="0">
                          <a:solidFill>
                            <a:srgbClr val="0D0D0D"/>
                          </a:solidFill>
                          <a:latin typeface="Calibri"/>
                        </a:rPr>
                        <a:t>+0,385</a:t>
                      </a:r>
                    </a:p>
                  </a:txBody>
                  <a:tcPr>
                    <a:solidFill>
                      <a:srgbClr val="EAF4EF"/>
                    </a:solidFill>
                  </a:tcPr>
                </a:tc>
                <a:tc>
                  <a:txBody>
                    <a:bodyPr/>
                    <a:lstStyle/>
                    <a:p>
                      <a:pPr algn="ctr"/>
                      <a:r>
                        <a:rPr sz="800" b="0" i="0">
                          <a:solidFill>
                            <a:srgbClr val="0D0D0D"/>
                          </a:solidFill>
                          <a:latin typeface="Calibri"/>
                        </a:rPr>
                        <a:t>Adoption massive des GPU H100/H200 dans les data centers d'ici 2027, générant +$50Md de CA | Expansion de l'écosystème CUDA avec 4M développeurs, créant un effet de réseau vertueux | Croissance des revenus cloud IA à +80% YoY d'ici 2026</a:t>
                      </a:r>
                    </a:p>
                  </a:txBody>
                  <a:tcPr>
                    <a:solidFill>
                      <a:srgbClr val="EAF4EF"/>
                    </a:solidFill>
                  </a:tcPr>
                </a:tc>
              </a:tr>
              <a:tr h="288000">
                <a:tc>
                  <a:txBody>
                    <a:bodyPr/>
                    <a:lstStyle/>
                    <a:p>
                      <a:pPr algn="l"/>
                      <a:r>
                        <a:rPr sz="800" b="1" i="0">
                          <a:solidFill>
                            <a:srgbClr val="555555"/>
                          </a:solidFill>
                          <a:latin typeface="Calibri"/>
                        </a:rPr>
                        <a:t>Neutre</a:t>
                      </a:r>
                    </a:p>
                  </a:txBody>
                  <a:tcPr>
                    <a:solidFill>
                      <a:srgbClr val="FFFFFF"/>
                    </a:solidFill>
                  </a:tcPr>
                </a:tc>
                <a:tc>
                  <a:txBody>
                    <a:bodyPr/>
                    <a:lstStyle/>
                    <a:p>
                      <a:pPr algn="ctr"/>
                      <a:r>
                        <a:rPr sz="800" b="1" i="0">
                          <a:solidFill>
                            <a:srgbClr val="555555"/>
                          </a:solidFill>
                          <a:latin typeface="Calibri"/>
                        </a:rPr>
                        <a:t>17</a:t>
                      </a:r>
                    </a:p>
                  </a:txBody>
                  <a:tcPr>
                    <a:solidFill>
                      <a:srgbClr val="FFFFFF"/>
                    </a:solidFill>
                  </a:tcPr>
                </a:tc>
                <a:tc>
                  <a:txBody>
                    <a:bodyPr/>
                    <a:lstStyle/>
                    <a:p>
                      <a:pPr algn="ctr"/>
                      <a:r>
                        <a:rPr sz="800" b="0" i="0">
                          <a:solidFill>
                            <a:srgbClr val="0D0D0D"/>
                          </a:solidFill>
                          <a:latin typeface="Calibri"/>
                        </a:rPr>
                        <a:t>+0,479</a:t>
                      </a:r>
                    </a:p>
                  </a:txBody>
                  <a:tcPr>
                    <a:solidFill>
                      <a:srgbClr val="FFFFFF"/>
                    </a:solidFill>
                  </a:tcPr>
                </a:tc>
                <a:tc>
                  <a:txBody>
                    <a:bodyPr/>
                    <a:lstStyle/>
                    <a:p>
                      <a:pPr algn="ctr"/>
                      <a:r>
                        <a:rPr sz="800" b="0" i="0">
                          <a:solidFill>
                            <a:srgbClr val="0D0D0D"/>
                          </a:solidFill>
                          <a:latin typeface="Calibri"/>
                        </a:rPr>
                        <a:t>Actualité sectorielle générale</a:t>
                      </a:r>
                    </a:p>
                  </a:txBody>
                  <a:tcPr>
                    <a:solidFill>
                      <a:srgbClr val="FFFFFF"/>
                    </a:solidFill>
                  </a:tcPr>
                </a:tc>
              </a:tr>
              <a:tr h="288000">
                <a:tc>
                  <a:txBody>
                    <a:bodyPr/>
                    <a:lstStyle/>
                    <a:p>
                      <a:pPr algn="l"/>
                      <a:r>
                        <a:rPr sz="800" b="1" i="0">
                          <a:solidFill>
                            <a:srgbClr val="A82020"/>
                          </a:solidFill>
                          <a:latin typeface="Calibri"/>
                        </a:rPr>
                        <a:t>Négatif</a:t>
                      </a:r>
                    </a:p>
                  </a:txBody>
                  <a:tcPr>
                    <a:solidFill>
                      <a:srgbClr val="FAF0EF"/>
                    </a:solidFill>
                  </a:tcPr>
                </a:tc>
                <a:tc>
                  <a:txBody>
                    <a:bodyPr/>
                    <a:lstStyle/>
                    <a:p>
                      <a:pPr algn="ctr"/>
                      <a:r>
                        <a:rPr sz="800" b="1" i="0">
                          <a:solidFill>
                            <a:srgbClr val="A82020"/>
                          </a:solidFill>
                          <a:latin typeface="Calibri"/>
                        </a:rPr>
                        <a:t>3</a:t>
                      </a:r>
                    </a:p>
                  </a:txBody>
                  <a:tcPr>
                    <a:solidFill>
                      <a:srgbClr val="FAF0EF"/>
                    </a:solidFill>
                  </a:tcPr>
                </a:tc>
                <a:tc>
                  <a:txBody>
                    <a:bodyPr/>
                    <a:lstStyle/>
                    <a:p>
                      <a:pPr algn="ctr"/>
                      <a:r>
                        <a:rPr sz="800" b="0" i="0">
                          <a:solidFill>
                            <a:srgbClr val="0D0D0D"/>
                          </a:solidFill>
                          <a:latin typeface="Calibri"/>
                        </a:rPr>
                        <a:t>+0,136</a:t>
                      </a:r>
                    </a:p>
                  </a:txBody>
                  <a:tcPr>
                    <a:solidFill>
                      <a:srgbClr val="FAF0EF"/>
                    </a:solidFill>
                  </a:tcPr>
                </a:tc>
                <a:tc>
                  <a:txBody>
                    <a:bodyPr/>
                    <a:lstStyle/>
                    <a:p>
                      <a:pPr algn="ctr"/>
                      <a:r>
                        <a:rPr sz="800" b="0" i="0">
                          <a:solidFill>
                            <a:srgbClr val="0D0D0D"/>
                          </a:solidFill>
                          <a:latin typeface="Calibri"/>
                        </a:rPr>
                        <a:t>Concurrence accrue d'AMD avec les GPU MI300X, menaçant les parts de marché d'ici 2026 | Risque de surcapacité dans les data centers IA, entraînant une compression des marges | Régulation antitrust aux États-Unis ou en UE limitant les…</a:t>
                      </a:r>
                    </a:p>
                  </a:txBody>
                  <a:tcPr>
                    <a:solidFill>
                      <a:srgbClr val="FAF0EF"/>
                    </a:solidFill>
                  </a:tcPr>
                </a:tc>
              </a:tr>
            </a:tbl>
          </a:graphicData>
        </a:graphic>
      </p:graphicFrame>
      <p:sp>
        <p:nvSpPr>
          <p:cNvPr id="39" name="TextBox 38"/>
          <p:cNvSpPr txBox="1"/>
          <p:nvPr/>
        </p:nvSpPr>
        <p:spPr>
          <a:xfrm>
            <a:off x="367200" y="4140000"/>
            <a:ext cx="8413200" cy="720000"/>
          </a:xfrm>
          <a:prstGeom prst="rect">
            <a:avLst/>
          </a:prstGeom>
          <a:noFill/>
        </p:spPr>
        <p:txBody>
          <a:bodyPr wrap="square">
            <a:spAutoFit/>
          </a:bodyPr>
          <a:lstStyle/>
          <a:p>
            <a:pPr algn="l"/>
            <a:r>
              <a:rPr sz="850" b="0" i="0">
                <a:solidFill>
                  <a:srgbClr val="333333"/>
                </a:solidFill>
                <a:latin typeface="Calibri"/>
              </a:rPr>
              <a:t>La presse financière souligne la forte exposition de NVDA aux tendances positives de l'IA et des semi-conducteurs, mais s'inquiète des pressions inflationnistes et de la politique monétaire restrictive de la Fed. Les articles mettent en avant NVDA comme un acteur clé dans les portefeuilles diversifiés, tout en soulignant les risques macroéconomiques persistants.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Actionnariat &amp; Structure du Capital</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Répartition de l'actionnariat  ·  Au 5 avril 2026</a:t>
            </a:r>
          </a:p>
        </p:txBody>
      </p:sp>
      <p:sp>
        <p:nvSpPr>
          <p:cNvPr id="17" name="TextBox 16"/>
          <p:cNvSpPr txBox="1"/>
          <p:nvPr/>
        </p:nvSpPr>
        <p:spPr>
          <a:xfrm>
            <a:off x="367200" y="748800"/>
            <a:ext cx="5029200" cy="201600"/>
          </a:xfrm>
          <a:prstGeom prst="rect">
            <a:avLst/>
          </a:prstGeom>
          <a:noFill/>
        </p:spPr>
        <p:txBody>
          <a:bodyPr wrap="square">
            <a:spAutoFit/>
          </a:bodyPr>
          <a:lstStyle/>
          <a:p>
            <a:pPr algn="l"/>
            <a:r>
              <a:rPr sz="900" b="1" i="0">
                <a:solidFill>
                  <a:srgbClr val="2E5FA3"/>
                </a:solidFill>
                <a:latin typeface="Calibri"/>
              </a:rPr>
              <a:t>Top actionnaires</a:t>
            </a:r>
          </a:p>
        </p:txBody>
      </p:sp>
      <p:graphicFrame>
        <p:nvGraphicFramePr>
          <p:cNvPr id="18" name="Table 17"/>
          <p:cNvGraphicFramePr>
            <a:graphicFrameLocks noGrp="1"/>
          </p:cNvGraphicFramePr>
          <p:nvPr/>
        </p:nvGraphicFramePr>
        <p:xfrm>
          <a:off x="367200" y="968400"/>
          <a:ext cx="5302800" cy="2232000"/>
        </p:xfrm>
        <a:graphic>
          <a:graphicData uri="http://schemas.openxmlformats.org/drawingml/2006/table">
            <a:tbl>
              <a:tblPr firstRow="1" bandRow="1">
                <a:tableStyleId>{5C22544A-7EE6-4342-B048-85BDC9FD1C3A}</a:tableStyleId>
              </a:tblPr>
              <a:tblGrid>
                <a:gridCol w="2015064"/>
                <a:gridCol w="1378728"/>
                <a:gridCol w="1060560"/>
                <a:gridCol w="848448"/>
              </a:tblGrid>
              <a:tr h="223200">
                <a:tc>
                  <a:txBody>
                    <a:bodyPr/>
                    <a:lstStyle/>
                    <a:p>
                      <a:pPr algn="l"/>
                      <a:r>
                        <a:rPr sz="800" b="1" i="0">
                          <a:solidFill>
                            <a:srgbClr val="FFFFFF"/>
                          </a:solidFill>
                          <a:latin typeface="Calibri"/>
                        </a:rPr>
                        <a:t>Actionnaire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Type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Détention %</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Style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NVIDIA (Insiders)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Insiders &amp; dirigeants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4.2 %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B06000"/>
                          </a:solidFill>
                          <a:latin typeface="Calibri"/>
                        </a:rPr>
                        <a:t>Insider</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Vanguard Group Inc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9.3 %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2E5FA3"/>
                          </a:solidFill>
                          <a:latin typeface="Calibri"/>
                        </a:rPr>
                        <a:t>Passif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Blackrock Inc.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State Street Corporation</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2E5FA3"/>
                          </a:solidFill>
                          <a:latin typeface="Calibri"/>
                        </a:rPr>
                        <a:t>Passif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FMR, LLC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Geode Capital Management, LLC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2.4 %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JPMORGAN CHASE &amp; CO</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1.9 %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Price (T.Rowe) Associates Inc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Autres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Retail &amp; autres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64.5 %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555555"/>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19" name="TextBox 18"/>
          <p:cNvSpPr txBox="1"/>
          <p:nvPr/>
        </p:nvSpPr>
        <p:spPr>
          <a:xfrm>
            <a:off x="5760000" y="748800"/>
            <a:ext cx="3016800" cy="201600"/>
          </a:xfrm>
          <a:prstGeom prst="rect">
            <a:avLst/>
          </a:prstGeom>
          <a:noFill/>
        </p:spPr>
        <p:txBody>
          <a:bodyPr wrap="square">
            <a:spAutoFit/>
          </a:bodyPr>
          <a:lstStyle/>
          <a:p>
            <a:pPr algn="l"/>
            <a:r>
              <a:rPr sz="900" b="1" i="0">
                <a:solidFill>
                  <a:srgbClr val="2E5FA3"/>
                </a:solidFill>
                <a:latin typeface="Calibri"/>
              </a:rPr>
              <a:t>Répartition par type</a:t>
            </a:r>
          </a:p>
        </p:txBody>
      </p:sp>
      <p:graphicFrame>
        <p:nvGraphicFramePr>
          <p:cNvPr id="20" name="Table 19"/>
          <p:cNvGraphicFramePr>
            <a:graphicFrameLocks noGrp="1"/>
          </p:cNvGraphicFramePr>
          <p:nvPr/>
        </p:nvGraphicFramePr>
        <p:xfrm>
          <a:off x="5760000" y="968400"/>
          <a:ext cx="3016800" cy="1134000"/>
        </p:xfrm>
        <a:graphic>
          <a:graphicData uri="http://schemas.openxmlformats.org/drawingml/2006/table">
            <a:tbl>
              <a:tblPr firstRow="1" bandRow="1">
                <a:tableStyleId>{5C22544A-7EE6-4342-B048-85BDC9FD1C3A}</a:tableStyleId>
              </a:tblPr>
              <a:tblGrid>
                <a:gridCol w="1810080"/>
                <a:gridCol w="1206720"/>
              </a:tblGrid>
              <a:tr h="226800">
                <a:tc>
                  <a:txBody>
                    <a:bodyPr/>
                    <a:lstStyle/>
                    <a:p>
                      <a:pPr algn="l"/>
                      <a:r>
                        <a:rPr sz="800" b="1" i="0">
                          <a:solidFill>
                            <a:srgbClr val="FFFFFF"/>
                          </a:solidFill>
                          <a:latin typeface="Calibri"/>
                        </a:rPr>
                        <a:t>Type d'actionnaire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Part estimée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Institutionnel passif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13.4 %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Institutionnel 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17.8 %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Insider</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4.2 %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Retail &amp; autres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64.5 %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1" name="TextBox 20"/>
          <p:cNvSpPr txBox="1"/>
          <p:nvPr/>
        </p:nvSpPr>
        <p:spPr>
          <a:xfrm>
            <a:off x="367200" y="3326400"/>
            <a:ext cx="8413200" cy="1004400"/>
          </a:xfrm>
          <a:prstGeom prst="rect">
            <a:avLst/>
          </a:prstGeom>
          <a:noFill/>
        </p:spPr>
        <p:txBody>
          <a:bodyPr wrap="square">
            <a:spAutoFit/>
          </a:bodyPr>
          <a:lstStyle/>
          <a:p>
            <a:pPr algn="l"/>
            <a:r>
              <a:rPr sz="850" b="0" i="0">
                <a:solidFill>
                  <a:srgbClr val="555555"/>
                </a:solidFill>
                <a:latin typeface="Calibri"/>
              </a:rPr>
              <a:t>NVIDIA se trade à 50x EV/EBITDA vs médiane peers à 35x, reflétant sa croissance supérieure et sa qualité d'actifs. La prime de 43% est justifiée par une croissance CA &gt;50% YoY et des marges durables.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Historique de Cours — 52 Semaines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NVDA  ·  USD  ·  Au 5 avril 2026</a:t>
            </a:r>
          </a:p>
        </p:txBody>
      </p:sp>
      <p:sp>
        <p:nvSpPr>
          <p:cNvPr id="17" name="Rectangle 16"/>
          <p:cNvSpPr/>
          <p:nvPr/>
        </p:nvSpPr>
        <p:spPr>
          <a:xfrm>
            <a:off x="3672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1782000" cy="396000"/>
          </a:xfrm>
          <a:prstGeom prst="rect">
            <a:avLst/>
          </a:prstGeom>
          <a:noFill/>
        </p:spPr>
        <p:txBody>
          <a:bodyPr wrap="square">
            <a:spAutoFit/>
          </a:bodyPr>
          <a:lstStyle/>
          <a:p>
            <a:pPr algn="l"/>
            <a:r>
              <a:rPr sz="1900" b="1" i="0">
                <a:solidFill>
                  <a:srgbClr val="1B3A6B"/>
                </a:solidFill>
                <a:latin typeface="Calibri"/>
              </a:rPr>
              <a:t>177,39 $</a:t>
            </a:r>
          </a:p>
        </p:txBody>
      </p:sp>
      <p:sp>
        <p:nvSpPr>
          <p:cNvPr id="20" name="TextBox 19"/>
          <p:cNvSpPr txBox="1"/>
          <p:nvPr/>
        </p:nvSpPr>
        <p:spPr>
          <a:xfrm>
            <a:off x="457200" y="1411200"/>
            <a:ext cx="1782000" cy="205199"/>
          </a:xfrm>
          <a:prstGeom prst="rect">
            <a:avLst/>
          </a:prstGeom>
          <a:noFill/>
        </p:spPr>
        <p:txBody>
          <a:bodyPr wrap="square">
            <a:spAutoFit/>
          </a:bodyPr>
          <a:lstStyle/>
          <a:p>
            <a:pPr algn="l"/>
            <a:r>
              <a:rPr sz="800" b="0" i="0">
                <a:solidFill>
                  <a:srgbClr val="555555"/>
                </a:solidFill>
                <a:latin typeface="Calibri"/>
              </a:rPr>
              <a:t>Cours actuel</a:t>
            </a:r>
          </a:p>
        </p:txBody>
      </p:sp>
      <p:sp>
        <p:nvSpPr>
          <p:cNvPr id="21" name="Rectangle 20"/>
          <p:cNvSpPr/>
          <p:nvPr/>
        </p:nvSpPr>
        <p:spPr>
          <a:xfrm>
            <a:off x="24228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4228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512800" y="1015200"/>
            <a:ext cx="1782000" cy="396000"/>
          </a:xfrm>
          <a:prstGeom prst="rect">
            <a:avLst/>
          </a:prstGeom>
          <a:noFill/>
        </p:spPr>
        <p:txBody>
          <a:bodyPr wrap="square">
            <a:spAutoFit/>
          </a:bodyPr>
          <a:lstStyle/>
          <a:p>
            <a:pPr algn="l"/>
            <a:r>
              <a:rPr sz="1900" b="1" i="0">
                <a:solidFill>
                  <a:srgbClr val="1B3A6B"/>
                </a:solidFill>
                <a:latin typeface="Calibri"/>
              </a:rPr>
              <a:t>202,47 $</a:t>
            </a:r>
          </a:p>
        </p:txBody>
      </p:sp>
      <p:sp>
        <p:nvSpPr>
          <p:cNvPr id="24" name="TextBox 23"/>
          <p:cNvSpPr txBox="1"/>
          <p:nvPr/>
        </p:nvSpPr>
        <p:spPr>
          <a:xfrm>
            <a:off x="2512800" y="1411200"/>
            <a:ext cx="1782000" cy="205199"/>
          </a:xfrm>
          <a:prstGeom prst="rect">
            <a:avLst/>
          </a:prstGeom>
          <a:noFill/>
        </p:spPr>
        <p:txBody>
          <a:bodyPr wrap="square">
            <a:spAutoFit/>
          </a:bodyPr>
          <a:lstStyle/>
          <a:p>
            <a:pPr algn="l"/>
            <a:r>
              <a:rPr sz="800" b="0" i="0">
                <a:solidFill>
                  <a:srgbClr val="555555"/>
                </a:solidFill>
                <a:latin typeface="Calibri"/>
              </a:rPr>
              <a:t>Plus haut 52 sem.</a:t>
            </a:r>
          </a:p>
        </p:txBody>
      </p:sp>
      <p:sp>
        <p:nvSpPr>
          <p:cNvPr id="25" name="Rectangle 24"/>
          <p:cNvSpPr/>
          <p:nvPr/>
        </p:nvSpPr>
        <p:spPr>
          <a:xfrm>
            <a:off x="44820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820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0" y="1015200"/>
            <a:ext cx="1782000" cy="396000"/>
          </a:xfrm>
          <a:prstGeom prst="rect">
            <a:avLst/>
          </a:prstGeom>
          <a:noFill/>
        </p:spPr>
        <p:txBody>
          <a:bodyPr wrap="square">
            <a:spAutoFit/>
          </a:bodyPr>
          <a:lstStyle/>
          <a:p>
            <a:pPr algn="l"/>
            <a:r>
              <a:rPr sz="1900" b="1" i="0">
                <a:solidFill>
                  <a:srgbClr val="1B3A6B"/>
                </a:solidFill>
                <a:latin typeface="Calibri"/>
              </a:rPr>
              <a:t>135,10 $</a:t>
            </a:r>
          </a:p>
        </p:txBody>
      </p:sp>
      <p:sp>
        <p:nvSpPr>
          <p:cNvPr id="28" name="TextBox 27"/>
          <p:cNvSpPr txBox="1"/>
          <p:nvPr/>
        </p:nvSpPr>
        <p:spPr>
          <a:xfrm>
            <a:off x="4572000" y="1411200"/>
            <a:ext cx="1782000" cy="205199"/>
          </a:xfrm>
          <a:prstGeom prst="rect">
            <a:avLst/>
          </a:prstGeom>
          <a:noFill/>
        </p:spPr>
        <p:txBody>
          <a:bodyPr wrap="square">
            <a:spAutoFit/>
          </a:bodyPr>
          <a:lstStyle/>
          <a:p>
            <a:pPr algn="l"/>
            <a:r>
              <a:rPr sz="800" b="0" i="0">
                <a:solidFill>
                  <a:srgbClr val="555555"/>
                </a:solidFill>
                <a:latin typeface="Calibri"/>
              </a:rPr>
              <a:t>Plus bas 52 sem.</a:t>
            </a:r>
          </a:p>
        </p:txBody>
      </p:sp>
      <p:sp>
        <p:nvSpPr>
          <p:cNvPr id="29" name="Rectangle 28"/>
          <p:cNvSpPr/>
          <p:nvPr/>
        </p:nvSpPr>
        <p:spPr>
          <a:xfrm>
            <a:off x="6537600" y="961200"/>
            <a:ext cx="21960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5376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627600" y="1015200"/>
            <a:ext cx="2059200" cy="396000"/>
          </a:xfrm>
          <a:prstGeom prst="rect">
            <a:avLst/>
          </a:prstGeom>
          <a:noFill/>
        </p:spPr>
        <p:txBody>
          <a:bodyPr wrap="square">
            <a:spAutoFit/>
          </a:bodyPr>
          <a:lstStyle/>
          <a:p>
            <a:pPr algn="l"/>
            <a:r>
              <a:rPr sz="1900" b="1" i="0">
                <a:solidFill>
                  <a:srgbClr val="1B3A6B"/>
                </a:solidFill>
                <a:latin typeface="Calibri"/>
              </a:rPr>
              <a:t>+31,3 %</a:t>
            </a:r>
          </a:p>
        </p:txBody>
      </p:sp>
      <p:sp>
        <p:nvSpPr>
          <p:cNvPr id="32" name="TextBox 31"/>
          <p:cNvSpPr txBox="1"/>
          <p:nvPr/>
        </p:nvSpPr>
        <p:spPr>
          <a:xfrm>
            <a:off x="6627600" y="1411200"/>
            <a:ext cx="2059200" cy="205199"/>
          </a:xfrm>
          <a:prstGeom prst="rect">
            <a:avLst/>
          </a:prstGeom>
          <a:noFill/>
        </p:spPr>
        <p:txBody>
          <a:bodyPr wrap="square">
            <a:spAutoFit/>
          </a:bodyPr>
          <a:lstStyle/>
          <a:p>
            <a:pPr algn="l"/>
            <a:r>
              <a:rPr sz="800" b="0" i="0">
                <a:solidFill>
                  <a:srgbClr val="555555"/>
                </a:solidFill>
                <a:latin typeface="Calibri"/>
              </a:rPr>
              <a:t>Performance 52 sem.</a:t>
            </a:r>
          </a:p>
        </p:txBody>
      </p:sp>
      <p:sp>
        <p:nvSpPr>
          <p:cNvPr id="33" name="TextBox 32"/>
          <p:cNvSpPr txBox="1"/>
          <p:nvPr/>
        </p:nvSpPr>
        <p:spPr>
          <a:xfrm>
            <a:off x="367200" y="1846800"/>
            <a:ext cx="8413200" cy="165600"/>
          </a:xfrm>
          <a:prstGeom prst="rect">
            <a:avLst/>
          </a:prstGeom>
          <a:noFill/>
        </p:spPr>
        <p:txBody>
          <a:bodyPr wrap="square">
            <a:spAutoFit/>
          </a:bodyPr>
          <a:lstStyle/>
          <a:p>
            <a:pPr algn="l"/>
            <a:r>
              <a:rPr sz="900" b="1" i="0">
                <a:solidFill>
                  <a:srgbClr val="1B3A6B"/>
                </a:solidFill>
                <a:latin typeface="Calibri"/>
              </a:rPr>
              <a:t>Evolution du cours — 12 derniers mois</a:t>
            </a:r>
          </a:p>
        </p:txBody>
      </p:sp>
      <p:sp>
        <p:nvSpPr>
          <p:cNvPr id="34" name="Rectangle 33"/>
          <p:cNvSpPr/>
          <p:nvPr/>
        </p:nvSpPr>
        <p:spPr>
          <a:xfrm>
            <a:off x="367200" y="2102400"/>
            <a:ext cx="8413200" cy="1828800"/>
          </a:xfrm>
          <a:prstGeom prst="rect">
            <a:avLst/>
          </a:prstGeom>
          <a:solidFill>
            <a:srgbClr val="F7F8FA"/>
          </a:solidFill>
          <a:ln w="6350">
            <a:solidFill>
              <a:srgbClr val="D0D0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67200" y="2102400"/>
            <a:ext cx="8413200" cy="36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37200" y="3823200"/>
            <a:ext cx="498636" cy="72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01200" y="3902400"/>
            <a:ext cx="728100" cy="144000"/>
          </a:xfrm>
          <a:prstGeom prst="rect">
            <a:avLst/>
          </a:prstGeom>
          <a:noFill/>
        </p:spPr>
        <p:txBody>
          <a:bodyPr wrap="square">
            <a:spAutoFit/>
          </a:bodyPr>
          <a:lstStyle/>
          <a:p>
            <a:pPr algn="ctr"/>
            <a:r>
              <a:rPr sz="600" b="0" i="0">
                <a:solidFill>
                  <a:srgbClr val="555555"/>
                </a:solidFill>
                <a:latin typeface="Calibri"/>
              </a:rPr>
              <a:t>Mai</a:t>
            </a:r>
          </a:p>
        </p:txBody>
      </p:sp>
      <p:sp>
        <p:nvSpPr>
          <p:cNvPr id="38" name="Rectangle 37"/>
          <p:cNvSpPr/>
          <p:nvPr/>
        </p:nvSpPr>
        <p:spPr>
          <a:xfrm>
            <a:off x="1293300" y="3334792"/>
            <a:ext cx="498636" cy="560407"/>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257300" y="3902400"/>
            <a:ext cx="728100" cy="144000"/>
          </a:xfrm>
          <a:prstGeom prst="rect">
            <a:avLst/>
          </a:prstGeom>
          <a:noFill/>
        </p:spPr>
        <p:txBody>
          <a:bodyPr wrap="square">
            <a:spAutoFit/>
          </a:bodyPr>
          <a:lstStyle/>
          <a:p>
            <a:pPr algn="ctr"/>
            <a:r>
              <a:rPr sz="600" b="0" i="0">
                <a:solidFill>
                  <a:srgbClr val="555555"/>
                </a:solidFill>
                <a:latin typeface="Calibri"/>
              </a:rPr>
              <a:t>Juin</a:t>
            </a:r>
          </a:p>
        </p:txBody>
      </p:sp>
      <p:sp>
        <p:nvSpPr>
          <p:cNvPr id="40" name="Rectangle 39"/>
          <p:cNvSpPr/>
          <p:nvPr/>
        </p:nvSpPr>
        <p:spPr>
          <a:xfrm>
            <a:off x="1949400" y="2909653"/>
            <a:ext cx="498636" cy="985546"/>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913400" y="3902400"/>
            <a:ext cx="728100" cy="144000"/>
          </a:xfrm>
          <a:prstGeom prst="rect">
            <a:avLst/>
          </a:prstGeom>
          <a:noFill/>
        </p:spPr>
        <p:txBody>
          <a:bodyPr wrap="square">
            <a:spAutoFit/>
          </a:bodyPr>
          <a:lstStyle/>
          <a:p>
            <a:pPr algn="ctr"/>
            <a:r>
              <a:rPr sz="600" b="0" i="0">
                <a:solidFill>
                  <a:srgbClr val="555555"/>
                </a:solidFill>
                <a:latin typeface="Calibri"/>
              </a:rPr>
              <a:t>Juil</a:t>
            </a:r>
          </a:p>
        </p:txBody>
      </p:sp>
      <p:sp>
        <p:nvSpPr>
          <p:cNvPr id="42" name="Rectangle 41"/>
          <p:cNvSpPr/>
          <p:nvPr/>
        </p:nvSpPr>
        <p:spPr>
          <a:xfrm>
            <a:off x="2605500" y="2988525"/>
            <a:ext cx="498636" cy="906674"/>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2569500" y="3902400"/>
            <a:ext cx="728100" cy="144000"/>
          </a:xfrm>
          <a:prstGeom prst="rect">
            <a:avLst/>
          </a:prstGeom>
          <a:noFill/>
        </p:spPr>
        <p:txBody>
          <a:bodyPr wrap="square">
            <a:spAutoFit/>
          </a:bodyPr>
          <a:lstStyle/>
          <a:p>
            <a:pPr algn="ctr"/>
            <a:r>
              <a:rPr sz="600" b="0" i="0">
                <a:solidFill>
                  <a:srgbClr val="555555"/>
                </a:solidFill>
                <a:latin typeface="Calibri"/>
              </a:rPr>
              <a:t>Aoû</a:t>
            </a:r>
          </a:p>
        </p:txBody>
      </p:sp>
      <p:sp>
        <p:nvSpPr>
          <p:cNvPr id="44" name="Rectangle 43"/>
          <p:cNvSpPr/>
          <p:nvPr/>
        </p:nvSpPr>
        <p:spPr>
          <a:xfrm>
            <a:off x="3261600" y="2723482"/>
            <a:ext cx="498636" cy="1171717"/>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225600" y="3902400"/>
            <a:ext cx="728100" cy="144000"/>
          </a:xfrm>
          <a:prstGeom prst="rect">
            <a:avLst/>
          </a:prstGeom>
          <a:noFill/>
        </p:spPr>
        <p:txBody>
          <a:bodyPr wrap="square">
            <a:spAutoFit/>
          </a:bodyPr>
          <a:lstStyle/>
          <a:p>
            <a:pPr algn="ctr"/>
            <a:r>
              <a:rPr sz="600" b="0" i="0">
                <a:solidFill>
                  <a:srgbClr val="555555"/>
                </a:solidFill>
                <a:latin typeface="Calibri"/>
              </a:rPr>
              <a:t>Sep</a:t>
            </a:r>
          </a:p>
        </p:txBody>
      </p:sp>
      <p:sp>
        <p:nvSpPr>
          <p:cNvPr id="46" name="Rectangle 45"/>
          <p:cNvSpPr/>
          <p:nvPr/>
        </p:nvSpPr>
        <p:spPr>
          <a:xfrm>
            <a:off x="3917700" y="2383200"/>
            <a:ext cx="498636" cy="1512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881700" y="3902400"/>
            <a:ext cx="728100" cy="144000"/>
          </a:xfrm>
          <a:prstGeom prst="rect">
            <a:avLst/>
          </a:prstGeom>
          <a:noFill/>
        </p:spPr>
        <p:txBody>
          <a:bodyPr wrap="square">
            <a:spAutoFit/>
          </a:bodyPr>
          <a:lstStyle/>
          <a:p>
            <a:pPr algn="ctr"/>
            <a:r>
              <a:rPr sz="600" b="0" i="0">
                <a:solidFill>
                  <a:srgbClr val="555555"/>
                </a:solidFill>
                <a:latin typeface="Calibri"/>
              </a:rPr>
              <a:t>Oct</a:t>
            </a:r>
          </a:p>
        </p:txBody>
      </p:sp>
      <p:sp>
        <p:nvSpPr>
          <p:cNvPr id="48" name="Rectangle 47"/>
          <p:cNvSpPr/>
          <p:nvPr/>
        </p:nvSpPr>
        <p:spPr>
          <a:xfrm>
            <a:off x="4573800" y="2928035"/>
            <a:ext cx="498636" cy="967164"/>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537800" y="3902400"/>
            <a:ext cx="728100" cy="144000"/>
          </a:xfrm>
          <a:prstGeom prst="rect">
            <a:avLst/>
          </a:prstGeom>
          <a:noFill/>
        </p:spPr>
        <p:txBody>
          <a:bodyPr wrap="square">
            <a:spAutoFit/>
          </a:bodyPr>
          <a:lstStyle/>
          <a:p>
            <a:pPr algn="ctr"/>
            <a:r>
              <a:rPr sz="600" b="0" i="0">
                <a:solidFill>
                  <a:srgbClr val="555555"/>
                </a:solidFill>
                <a:latin typeface="Calibri"/>
              </a:rPr>
              <a:t>Nov</a:t>
            </a:r>
          </a:p>
        </p:txBody>
      </p:sp>
      <p:sp>
        <p:nvSpPr>
          <p:cNvPr id="50" name="Rectangle 49"/>
          <p:cNvSpPr/>
          <p:nvPr/>
        </p:nvSpPr>
        <p:spPr>
          <a:xfrm>
            <a:off x="5229900" y="2724978"/>
            <a:ext cx="498636" cy="1170221"/>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5193900" y="3902400"/>
            <a:ext cx="728100" cy="144000"/>
          </a:xfrm>
          <a:prstGeom prst="rect">
            <a:avLst/>
          </a:prstGeom>
          <a:noFill/>
        </p:spPr>
        <p:txBody>
          <a:bodyPr wrap="square">
            <a:spAutoFit/>
          </a:bodyPr>
          <a:lstStyle/>
          <a:p>
            <a:pPr algn="ctr"/>
            <a:r>
              <a:rPr sz="600" b="0" i="0">
                <a:solidFill>
                  <a:srgbClr val="555555"/>
                </a:solidFill>
                <a:latin typeface="Calibri"/>
              </a:rPr>
              <a:t>Déc</a:t>
            </a:r>
          </a:p>
        </p:txBody>
      </p:sp>
      <p:sp>
        <p:nvSpPr>
          <p:cNvPr id="52" name="Rectangle 51"/>
          <p:cNvSpPr/>
          <p:nvPr/>
        </p:nvSpPr>
        <p:spPr>
          <a:xfrm>
            <a:off x="5886000" y="2625800"/>
            <a:ext cx="498636" cy="12693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850000" y="3902400"/>
            <a:ext cx="728100" cy="144000"/>
          </a:xfrm>
          <a:prstGeom prst="rect">
            <a:avLst/>
          </a:prstGeom>
          <a:noFill/>
        </p:spPr>
        <p:txBody>
          <a:bodyPr wrap="square">
            <a:spAutoFit/>
          </a:bodyPr>
          <a:lstStyle/>
          <a:p>
            <a:pPr algn="ctr"/>
            <a:r>
              <a:rPr sz="600" b="0" i="0">
                <a:solidFill>
                  <a:srgbClr val="555555"/>
                </a:solidFill>
                <a:latin typeface="Calibri"/>
              </a:rPr>
              <a:t>Jan</a:t>
            </a:r>
          </a:p>
        </p:txBody>
      </p:sp>
      <p:sp>
        <p:nvSpPr>
          <p:cNvPr id="54" name="Rectangle 53"/>
          <p:cNvSpPr/>
          <p:nvPr/>
        </p:nvSpPr>
        <p:spPr>
          <a:xfrm>
            <a:off x="6542100" y="2923761"/>
            <a:ext cx="498636" cy="971438"/>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506099" y="3902400"/>
            <a:ext cx="728100" cy="144000"/>
          </a:xfrm>
          <a:prstGeom prst="rect">
            <a:avLst/>
          </a:prstGeom>
          <a:noFill/>
        </p:spPr>
        <p:txBody>
          <a:bodyPr wrap="square">
            <a:spAutoFit/>
          </a:bodyPr>
          <a:lstStyle/>
          <a:p>
            <a:pPr algn="ctr"/>
            <a:r>
              <a:rPr sz="600" b="0" i="0">
                <a:solidFill>
                  <a:srgbClr val="555555"/>
                </a:solidFill>
                <a:latin typeface="Calibri"/>
              </a:rPr>
              <a:t>Fév</a:t>
            </a:r>
          </a:p>
        </p:txBody>
      </p:sp>
      <p:sp>
        <p:nvSpPr>
          <p:cNvPr id="56" name="Rectangle 55"/>
          <p:cNvSpPr/>
          <p:nvPr/>
        </p:nvSpPr>
        <p:spPr>
          <a:xfrm>
            <a:off x="7198200" y="2983395"/>
            <a:ext cx="498636" cy="911804"/>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7162200" y="3902400"/>
            <a:ext cx="728100" cy="144000"/>
          </a:xfrm>
          <a:prstGeom prst="rect">
            <a:avLst/>
          </a:prstGeom>
          <a:noFill/>
        </p:spPr>
        <p:txBody>
          <a:bodyPr wrap="square">
            <a:spAutoFit/>
          </a:bodyPr>
          <a:lstStyle/>
          <a:p>
            <a:pPr algn="ctr"/>
            <a:r>
              <a:rPr sz="600" b="0" i="0">
                <a:solidFill>
                  <a:srgbClr val="555555"/>
                </a:solidFill>
                <a:latin typeface="Calibri"/>
              </a:rPr>
              <a:t>Mar</a:t>
            </a:r>
          </a:p>
        </p:txBody>
      </p:sp>
      <p:sp>
        <p:nvSpPr>
          <p:cNvPr id="58" name="Rectangle 57"/>
          <p:cNvSpPr/>
          <p:nvPr/>
        </p:nvSpPr>
        <p:spPr>
          <a:xfrm>
            <a:off x="7854300" y="2919272"/>
            <a:ext cx="498636" cy="975927"/>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7818299" y="3902400"/>
            <a:ext cx="728100" cy="144000"/>
          </a:xfrm>
          <a:prstGeom prst="rect">
            <a:avLst/>
          </a:prstGeom>
          <a:noFill/>
        </p:spPr>
        <p:txBody>
          <a:bodyPr wrap="square">
            <a:spAutoFit/>
          </a:bodyPr>
          <a:lstStyle/>
          <a:p>
            <a:pPr algn="ctr"/>
            <a:r>
              <a:rPr sz="600" b="0" i="0">
                <a:solidFill>
                  <a:srgbClr val="555555"/>
                </a:solidFill>
                <a:latin typeface="Calibri"/>
              </a:rPr>
              <a:t>Avr</a:t>
            </a:r>
          </a:p>
        </p:txBody>
      </p:sp>
      <p:sp>
        <p:nvSpPr>
          <p:cNvPr id="60" name="Rectangle 59"/>
          <p:cNvSpPr/>
          <p:nvPr/>
        </p:nvSpPr>
        <p:spPr>
          <a:xfrm>
            <a:off x="601200" y="38232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331200" y="3751200"/>
            <a:ext cx="288000" cy="144000"/>
          </a:xfrm>
          <a:prstGeom prst="rect">
            <a:avLst/>
          </a:prstGeom>
          <a:noFill/>
        </p:spPr>
        <p:txBody>
          <a:bodyPr wrap="none">
            <a:spAutoFit/>
          </a:bodyPr>
          <a:lstStyle/>
          <a:p>
            <a:pPr algn="l"/>
            <a:r>
              <a:rPr sz="600" b="0" i="0">
                <a:solidFill>
                  <a:srgbClr val="555555"/>
                </a:solidFill>
                <a:latin typeface="Calibri"/>
              </a:rPr>
              <a:t>135</a:t>
            </a:r>
          </a:p>
        </p:txBody>
      </p:sp>
      <p:sp>
        <p:nvSpPr>
          <p:cNvPr id="62" name="Rectangle 61"/>
          <p:cNvSpPr/>
          <p:nvPr/>
        </p:nvSpPr>
        <p:spPr>
          <a:xfrm>
            <a:off x="601200" y="33480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331200" y="3276000"/>
            <a:ext cx="288000" cy="144000"/>
          </a:xfrm>
          <a:prstGeom prst="rect">
            <a:avLst/>
          </a:prstGeom>
          <a:noFill/>
        </p:spPr>
        <p:txBody>
          <a:bodyPr wrap="none">
            <a:spAutoFit/>
          </a:bodyPr>
          <a:lstStyle/>
          <a:p>
            <a:pPr algn="l"/>
            <a:r>
              <a:rPr sz="600" b="0" i="0">
                <a:solidFill>
                  <a:srgbClr val="555555"/>
                </a:solidFill>
                <a:latin typeface="Calibri"/>
              </a:rPr>
              <a:t>157</a:t>
            </a:r>
          </a:p>
        </p:txBody>
      </p:sp>
      <p:sp>
        <p:nvSpPr>
          <p:cNvPr id="64" name="Rectangle 63"/>
          <p:cNvSpPr/>
          <p:nvPr/>
        </p:nvSpPr>
        <p:spPr>
          <a:xfrm>
            <a:off x="601200" y="28584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331200" y="2786399"/>
            <a:ext cx="288000" cy="144000"/>
          </a:xfrm>
          <a:prstGeom prst="rect">
            <a:avLst/>
          </a:prstGeom>
          <a:noFill/>
        </p:spPr>
        <p:txBody>
          <a:bodyPr wrap="none">
            <a:spAutoFit/>
          </a:bodyPr>
          <a:lstStyle/>
          <a:p>
            <a:pPr algn="l"/>
            <a:r>
              <a:rPr sz="600" b="0" i="0">
                <a:solidFill>
                  <a:srgbClr val="555555"/>
                </a:solidFill>
                <a:latin typeface="Calibri"/>
              </a:rPr>
              <a:t>180</a:t>
            </a:r>
          </a:p>
        </p:txBody>
      </p:sp>
      <p:sp>
        <p:nvSpPr>
          <p:cNvPr id="66" name="Rectangle 65"/>
          <p:cNvSpPr/>
          <p:nvPr/>
        </p:nvSpPr>
        <p:spPr>
          <a:xfrm>
            <a:off x="601200" y="23832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331200" y="2311200"/>
            <a:ext cx="288000" cy="144000"/>
          </a:xfrm>
          <a:prstGeom prst="rect">
            <a:avLst/>
          </a:prstGeom>
          <a:noFill/>
        </p:spPr>
        <p:txBody>
          <a:bodyPr wrap="none">
            <a:spAutoFit/>
          </a:bodyPr>
          <a:lstStyle/>
          <a:p>
            <a:pPr algn="l"/>
            <a:r>
              <a:rPr sz="600" b="0" i="0">
                <a:solidFill>
                  <a:srgbClr val="555555"/>
                </a:solidFill>
                <a:latin typeface="Calibri"/>
              </a:rPr>
              <a:t>202</a:t>
            </a:r>
          </a:p>
        </p:txBody>
      </p:sp>
      <p:sp>
        <p:nvSpPr>
          <p:cNvPr id="68" name="TextBox 67"/>
          <p:cNvSpPr txBox="1"/>
          <p:nvPr/>
        </p:nvSpPr>
        <p:spPr>
          <a:xfrm>
            <a:off x="367200" y="4132800"/>
            <a:ext cx="8413200" cy="687600"/>
          </a:xfrm>
          <a:prstGeom prst="rect">
            <a:avLst/>
          </a:prstGeom>
          <a:noFill/>
        </p:spPr>
        <p:txBody>
          <a:bodyPr wrap="square">
            <a:spAutoFit/>
          </a:bodyPr>
          <a:lstStyle/>
          <a:p>
            <a:pPr algn="l"/>
            <a:r>
              <a:rPr sz="850" b="0" i="0">
                <a:solidFill>
                  <a:srgbClr val="555555"/>
                </a:solidFill>
                <a:latin typeface="Calibri"/>
              </a:rPr>
              <a:t>NVIDIA domine l'IA avec des marges exceptionnelles et une croissance explosive. La valorisation reste justifiée par des catalyseurs structurels comme l'adoption massive des GPU H100/H200 et l'expansion dans les data centers. Le risque principal réside dans la dépendance à l'IA et la concurrence accrue.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