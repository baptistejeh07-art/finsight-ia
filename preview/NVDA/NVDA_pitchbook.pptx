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691297"/>
          </a:xfrm>
          <a:prstGeom prst="rect">
            <a:avLst/>
          </a:prstGeom>
          <a:noFill/>
        </p:spPr>
        <p:txBody>
          <a:bodyPr wrap="square">
            <a:spAutoFit/>
          </a:bodyPr>
          <a:lstStyle/>
          <a:p>
            <a:pPr algn="ctr"/>
            <a:r>
              <a:rPr sz="3400" b="1" i="0">
                <a:solidFill>
                  <a:srgbClr val="1B3A6B"/>
                </a:solidFill>
                <a:latin typeface="Calibri"/>
              </a:rPr>
              <a:t>NVIDIA Corporation</a:t>
            </a:r>
          </a:p>
        </p:txBody>
      </p:sp>
      <p:sp>
        <p:nvSpPr>
          <p:cNvPr id="7" name="TextBox 6"/>
          <p:cNvSpPr txBox="1"/>
          <p:nvPr/>
        </p:nvSpPr>
        <p:spPr>
          <a:xfrm>
            <a:off x="457200" y="2242897"/>
            <a:ext cx="8229600" cy="255600"/>
          </a:xfrm>
          <a:prstGeom prst="rect">
            <a:avLst/>
          </a:prstGeom>
          <a:noFill/>
        </p:spPr>
        <p:txBody>
          <a:bodyPr wrap="square">
            <a:spAutoFit/>
          </a:bodyPr>
          <a:lstStyle/>
          <a:p>
            <a:pPr algn="ctr"/>
            <a:r>
              <a:rPr sz="1100" b="0" i="0">
                <a:solidFill>
                  <a:srgbClr val="888888"/>
                </a:solidFill>
                <a:latin typeface="Calibri"/>
              </a:rPr>
              <a:t>NVDA  ·  Technology</a:t>
            </a:r>
          </a:p>
        </p:txBody>
      </p:sp>
      <p:sp>
        <p:nvSpPr>
          <p:cNvPr id="8" name="Rectangle 7"/>
          <p:cNvSpPr/>
          <p:nvPr/>
        </p:nvSpPr>
        <p:spPr>
          <a:xfrm>
            <a:off x="2771999" y="2617297"/>
            <a:ext cx="36000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26000" y="2635297"/>
            <a:ext cx="3491999" cy="395999"/>
          </a:xfrm>
          <a:prstGeom prst="rect">
            <a:avLst/>
          </a:prstGeom>
          <a:noFill/>
        </p:spPr>
        <p:txBody>
          <a:bodyPr wrap="square">
            <a:spAutoFit/>
          </a:bodyPr>
          <a:lstStyle/>
          <a:p>
            <a:pPr algn="ctr"/>
            <a:r>
              <a:rPr sz="900" b="1" i="0">
                <a:solidFill>
                  <a:srgbClr val="FFFFFF"/>
                </a:solidFill>
                <a:latin typeface="Calibri"/>
              </a:rPr>
              <a:t>● BUY  ·  Prix cible base : 220 $  ·  Upside : +25,1 %</a:t>
            </a:r>
          </a:p>
        </p:txBody>
      </p:sp>
      <p:sp>
        <p:nvSpPr>
          <p:cNvPr id="10" name="Rectangle 9"/>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2" name="TextBox 11"/>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6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1A7A4A"/>
                </a:solidFill>
                <a:latin typeface="Calibri"/>
              </a:rPr>
              <a:t>● BUY</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220 $  ·  Upside : +25,1 %  ·  Bear : 150 $ (-14,7 %)  ·  Bull : 260 $ (+47,9 %)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Leadership IA</a:t>
            </a:r>
          </a:p>
        </p:txBody>
      </p:sp>
      <p:sp>
        <p:nvSpPr>
          <p:cNvPr id="14" name="TextBox 13"/>
          <p:cNvSpPr txBox="1"/>
          <p:nvPr/>
        </p:nvSpPr>
        <p:spPr>
          <a:xfrm>
            <a:off x="503999" y="1814400"/>
            <a:ext cx="3931200" cy="378000"/>
          </a:xfrm>
          <a:prstGeom prst="rect">
            <a:avLst/>
          </a:prstGeom>
          <a:noFill/>
        </p:spPr>
        <p:txBody>
          <a:bodyPr wrap="square">
            <a:spAutoFit/>
          </a:bodyPr>
          <a:lstStyle/>
          <a:p>
            <a:pPr algn="l"/>
            <a:r>
              <a:rPr sz="750" b="0" i="0">
                <a:solidFill>
                  <a:srgbClr val="333333"/>
                </a:solidFill>
                <a:latin typeface="Calibri"/>
              </a:rPr>
              <a:t>NVIDIA capte 90% du marché des GPU pour IA avec des ventes H100/H200 estimées à 40Mds$ en 2026</a:t>
            </a:r>
          </a:p>
        </p:txBody>
      </p:sp>
      <p:sp>
        <p:nvSpPr>
          <p:cNvPr id="15" name="Rectangle 14"/>
          <p:cNvSpPr/>
          <p:nvPr/>
        </p:nvSpPr>
        <p:spPr>
          <a:xfrm>
            <a:off x="367200" y="2214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96000"/>
            <a:ext cx="3931200" cy="183600"/>
          </a:xfrm>
          <a:prstGeom prst="rect">
            <a:avLst/>
          </a:prstGeom>
          <a:noFill/>
        </p:spPr>
        <p:txBody>
          <a:bodyPr wrap="square">
            <a:spAutoFit/>
          </a:bodyPr>
          <a:lstStyle/>
          <a:p>
            <a:pPr algn="l"/>
            <a:r>
              <a:rPr sz="850" b="1" i="0">
                <a:solidFill>
                  <a:srgbClr val="1B3A6B"/>
                </a:solidFill>
                <a:latin typeface="Calibri"/>
              </a:rPr>
              <a:t>Marges exceptionnelles</a:t>
            </a:r>
          </a:p>
        </p:txBody>
      </p:sp>
      <p:sp>
        <p:nvSpPr>
          <p:cNvPr id="17" name="TextBox 16"/>
          <p:cNvSpPr txBox="1"/>
          <p:nvPr/>
        </p:nvSpPr>
        <p:spPr>
          <a:xfrm>
            <a:off x="503999" y="2365200"/>
            <a:ext cx="3931200" cy="378000"/>
          </a:xfrm>
          <a:prstGeom prst="rect">
            <a:avLst/>
          </a:prstGeom>
          <a:noFill/>
        </p:spPr>
        <p:txBody>
          <a:bodyPr wrap="square">
            <a:spAutoFit/>
          </a:bodyPr>
          <a:lstStyle/>
          <a:p>
            <a:pPr algn="l"/>
            <a:r>
              <a:rPr sz="750" b="0" i="0">
                <a:solidFill>
                  <a:srgbClr val="333333"/>
                </a:solidFill>
                <a:latin typeface="Calibri"/>
              </a:rPr>
              <a:t>Croissance CA 2026F à 180Mds$ (+38%) portée par la demande en centres de données et l'IA générative</a:t>
            </a:r>
          </a:p>
        </p:txBody>
      </p:sp>
      <p:sp>
        <p:nvSpPr>
          <p:cNvPr id="18" name="Rectangle 17"/>
          <p:cNvSpPr/>
          <p:nvPr/>
        </p:nvSpPr>
        <p:spPr>
          <a:xfrm>
            <a:off x="367200" y="2764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46800"/>
            <a:ext cx="3931200" cy="183600"/>
          </a:xfrm>
          <a:prstGeom prst="rect">
            <a:avLst/>
          </a:prstGeom>
          <a:noFill/>
        </p:spPr>
        <p:txBody>
          <a:bodyPr wrap="square">
            <a:spAutoFit/>
          </a:bodyPr>
          <a:lstStyle/>
          <a:p>
            <a:pPr algn="l"/>
            <a:r>
              <a:rPr sz="850" b="1" i="0">
                <a:solidFill>
                  <a:srgbClr val="1B3A6B"/>
                </a:solidFill>
                <a:latin typeface="Calibri"/>
              </a:rPr>
              <a:t>Écosystème CUDA</a:t>
            </a:r>
          </a:p>
        </p:txBody>
      </p:sp>
      <p:sp>
        <p:nvSpPr>
          <p:cNvPr id="20" name="TextBox 19"/>
          <p:cNvSpPr txBox="1"/>
          <p:nvPr/>
        </p:nvSpPr>
        <p:spPr>
          <a:xfrm>
            <a:off x="503999" y="2916000"/>
            <a:ext cx="3931200" cy="378000"/>
          </a:xfrm>
          <a:prstGeom prst="rect">
            <a:avLst/>
          </a:prstGeom>
          <a:noFill/>
        </p:spPr>
        <p:txBody>
          <a:bodyPr wrap="square">
            <a:spAutoFit/>
          </a:bodyPr>
          <a:lstStyle/>
          <a:p>
            <a:pPr algn="l"/>
            <a:r>
              <a:rPr sz="750" b="0" i="0">
                <a:solidFill>
                  <a:srgbClr val="333333"/>
                </a:solidFill>
                <a:latin typeface="Calibri"/>
              </a:rPr>
              <a:t>Marges nettes prévues à 50% en 2026 grâce à l'effet de levier opérationnel et la mix produit premium</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Concurrence AMD/Intel</a:t>
            </a:r>
          </a:p>
        </p:txBody>
      </p:sp>
      <p:sp>
        <p:nvSpPr>
          <p:cNvPr id="25" name="TextBox 24"/>
          <p:cNvSpPr txBox="1"/>
          <p:nvPr/>
        </p:nvSpPr>
        <p:spPr>
          <a:xfrm>
            <a:off x="4845600" y="1814400"/>
            <a:ext cx="3794399" cy="378000"/>
          </a:xfrm>
          <a:prstGeom prst="rect">
            <a:avLst/>
          </a:prstGeom>
          <a:noFill/>
        </p:spPr>
        <p:txBody>
          <a:bodyPr wrap="square">
            <a:spAutoFit/>
          </a:bodyPr>
          <a:lstStyle/>
          <a:p>
            <a:pPr algn="l"/>
            <a:r>
              <a:rPr sz="750" b="0" i="0">
                <a:solidFill>
                  <a:srgbClr val="333333"/>
                </a:solidFill>
                <a:latin typeface="Calibri"/>
              </a:rPr>
              <a:t>Concurrence accrue d'AMD et Intel sur GPU IA avec produits 50% moins chers | Risque de compression des marges de 10-15% | Horizon 2026</a:t>
            </a:r>
          </a:p>
        </p:txBody>
      </p:sp>
      <p:sp>
        <p:nvSpPr>
          <p:cNvPr id="26" name="Rectangle 25"/>
          <p:cNvSpPr/>
          <p:nvPr/>
        </p:nvSpPr>
        <p:spPr>
          <a:xfrm>
            <a:off x="4708800" y="2214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96000"/>
            <a:ext cx="3794399" cy="183600"/>
          </a:xfrm>
          <a:prstGeom prst="rect">
            <a:avLst/>
          </a:prstGeom>
          <a:noFill/>
        </p:spPr>
        <p:txBody>
          <a:bodyPr wrap="square">
            <a:spAutoFit/>
          </a:bodyPr>
          <a:lstStyle/>
          <a:p>
            <a:pPr algn="l"/>
            <a:r>
              <a:rPr sz="850" b="1" i="0">
                <a:solidFill>
                  <a:srgbClr val="1B3A6B"/>
                </a:solidFill>
                <a:latin typeface="Calibri"/>
              </a:rPr>
              <a:t>Dépendance centres de données</a:t>
            </a:r>
          </a:p>
        </p:txBody>
      </p:sp>
      <p:sp>
        <p:nvSpPr>
          <p:cNvPr id="28" name="TextBox 27"/>
          <p:cNvSpPr txBox="1"/>
          <p:nvPr/>
        </p:nvSpPr>
        <p:spPr>
          <a:xfrm>
            <a:off x="4845600" y="2365200"/>
            <a:ext cx="3794399" cy="378000"/>
          </a:xfrm>
          <a:prstGeom prst="rect">
            <a:avLst/>
          </a:prstGeom>
          <a:noFill/>
        </p:spPr>
        <p:txBody>
          <a:bodyPr wrap="square">
            <a:spAutoFit/>
          </a:bodyPr>
          <a:lstStyle/>
          <a:p>
            <a:pPr algn="l"/>
            <a:r>
              <a:rPr sz="750" b="0" i="0">
                <a:solidFill>
                  <a:srgbClr val="333333"/>
                </a:solidFill>
                <a:latin typeface="Calibri"/>
              </a:rPr>
              <a:t>Régulation antitrust aux États-Unis ou en UE limitant la domination du marché | Impact CA potentiel de -10% | Horizon 12-24 mois</a:t>
            </a:r>
          </a:p>
        </p:txBody>
      </p:sp>
      <p:sp>
        <p:nvSpPr>
          <p:cNvPr id="29" name="Rectangle 28"/>
          <p:cNvSpPr/>
          <p:nvPr/>
        </p:nvSpPr>
        <p:spPr>
          <a:xfrm>
            <a:off x="4708800" y="2764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46800"/>
            <a:ext cx="3794399" cy="183600"/>
          </a:xfrm>
          <a:prstGeom prst="rect">
            <a:avLst/>
          </a:prstGeom>
          <a:noFill/>
        </p:spPr>
        <p:txBody>
          <a:bodyPr wrap="square">
            <a:spAutoFit/>
          </a:bodyPr>
          <a:lstStyle/>
          <a:p>
            <a:pPr algn="l"/>
            <a:r>
              <a:rPr sz="850" b="1" i="0">
                <a:solidFill>
                  <a:srgbClr val="1B3A6B"/>
                </a:solidFill>
                <a:latin typeface="Calibri"/>
              </a:rPr>
              <a:t>Régulation</a:t>
            </a:r>
          </a:p>
        </p:txBody>
      </p:sp>
      <p:sp>
        <p:nvSpPr>
          <p:cNvPr id="31" name="TextBox 30"/>
          <p:cNvSpPr txBox="1"/>
          <p:nvPr/>
        </p:nvSpPr>
        <p:spPr>
          <a:xfrm>
            <a:off x="4845600" y="2916000"/>
            <a:ext cx="3794399" cy="378000"/>
          </a:xfrm>
          <a:prstGeom prst="rect">
            <a:avLst/>
          </a:prstGeom>
          <a:noFill/>
        </p:spPr>
        <p:txBody>
          <a:bodyPr wrap="square">
            <a:spAutoFit/>
          </a:bodyPr>
          <a:lstStyle/>
          <a:p>
            <a:pPr algn="l"/>
            <a:r>
              <a:rPr sz="750" b="0" i="0">
                <a:solidFill>
                  <a:srgbClr val="333333"/>
                </a:solidFill>
                <a:latin typeface="Calibri"/>
              </a:rPr>
              <a:t>Ralentissement de la demande en IA générative après l'engouement initial | Baisse CA de 20% en 2027 | Horizon 2027</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3430800"/>
            <a:ext cx="1893600" cy="396000"/>
          </a:xfrm>
          <a:prstGeom prst="rect">
            <a:avLst/>
          </a:prstGeom>
          <a:noFill/>
        </p:spPr>
        <p:txBody>
          <a:bodyPr wrap="square">
            <a:spAutoFit/>
          </a:bodyPr>
          <a:lstStyle/>
          <a:p>
            <a:pPr algn="l"/>
            <a:r>
              <a:rPr sz="1900" b="1" i="0">
                <a:solidFill>
                  <a:srgbClr val="1B3A6B"/>
                </a:solidFill>
                <a:latin typeface="Calibri"/>
              </a:rPr>
              <a:t>49,6x</a:t>
            </a:r>
          </a:p>
        </p:txBody>
      </p:sp>
      <p:sp>
        <p:nvSpPr>
          <p:cNvPr id="37" name="TextBox 36"/>
          <p:cNvSpPr txBox="1"/>
          <p:nvPr/>
        </p:nvSpPr>
        <p:spPr>
          <a:xfrm>
            <a:off x="457200" y="38268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38" name="TextBox 37"/>
          <p:cNvSpPr txBox="1"/>
          <p:nvPr/>
        </p:nvSpPr>
        <p:spPr>
          <a:xfrm>
            <a:off x="457200" y="4024800"/>
            <a:ext cx="1893600" cy="165600"/>
          </a:xfrm>
          <a:prstGeom prst="rect">
            <a:avLst/>
          </a:prstGeom>
          <a:noFill/>
        </p:spPr>
        <p:txBody>
          <a:bodyPr wrap="square">
            <a:spAutoFit/>
          </a:bodyPr>
          <a:lstStyle/>
          <a:p>
            <a:pPr algn="l"/>
            <a:r>
              <a:rPr sz="700" b="0" i="0">
                <a:solidFill>
                  <a:srgbClr val="888888"/>
                </a:solidFill>
                <a:latin typeface="Calibri"/>
              </a:rPr>
              <a:t>vs 18,0x médiane peers</a:t>
            </a:r>
          </a:p>
        </p:txBody>
      </p:sp>
      <p:sp>
        <p:nvSpPr>
          <p:cNvPr id="39" name="Rectangle 38"/>
          <p:cNvSpPr/>
          <p:nvPr/>
        </p:nvSpPr>
        <p:spPr>
          <a:xfrm>
            <a:off x="24876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4876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77600" y="3430800"/>
            <a:ext cx="1893600" cy="396000"/>
          </a:xfrm>
          <a:prstGeom prst="rect">
            <a:avLst/>
          </a:prstGeom>
          <a:noFill/>
        </p:spPr>
        <p:txBody>
          <a:bodyPr wrap="square">
            <a:spAutoFit/>
          </a:bodyPr>
          <a:lstStyle/>
          <a:p>
            <a:pPr algn="l"/>
            <a:r>
              <a:rPr sz="1900" b="1" i="0">
                <a:solidFill>
                  <a:srgbClr val="1B3A6B"/>
                </a:solidFill>
                <a:latin typeface="Calibri"/>
              </a:rPr>
              <a:t>17,2 %</a:t>
            </a:r>
          </a:p>
        </p:txBody>
      </p:sp>
      <p:sp>
        <p:nvSpPr>
          <p:cNvPr id="42" name="TextBox 41"/>
          <p:cNvSpPr txBox="1"/>
          <p:nvPr/>
        </p:nvSpPr>
        <p:spPr>
          <a:xfrm>
            <a:off x="2577600" y="38268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43" name="TextBox 42"/>
          <p:cNvSpPr txBox="1"/>
          <p:nvPr/>
        </p:nvSpPr>
        <p:spPr>
          <a:xfrm>
            <a:off x="2577600" y="4024800"/>
            <a:ext cx="1893600" cy="165600"/>
          </a:xfrm>
          <a:prstGeom prst="rect">
            <a:avLst/>
          </a:prstGeom>
          <a:noFill/>
        </p:spPr>
        <p:txBody>
          <a:bodyPr wrap="square">
            <a:spAutoFit/>
          </a:bodyPr>
          <a:lstStyle/>
          <a:p>
            <a:pPr algn="l"/>
            <a:r>
              <a:rPr sz="700" b="0" i="0">
                <a:solidFill>
                  <a:srgbClr val="888888"/>
                </a:solidFill>
                <a:latin typeface="Calibri"/>
              </a:rPr>
              <a:t>Beta 2,33  ·  RFR 4,3 %</a:t>
            </a:r>
          </a:p>
        </p:txBody>
      </p:sp>
      <p:sp>
        <p:nvSpPr>
          <p:cNvPr id="44" name="Rectangle 43"/>
          <p:cNvSpPr/>
          <p:nvPr/>
        </p:nvSpPr>
        <p:spPr>
          <a:xfrm>
            <a:off x="46080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6080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98000" y="3430800"/>
            <a:ext cx="1893600" cy="396000"/>
          </a:xfrm>
          <a:prstGeom prst="rect">
            <a:avLst/>
          </a:prstGeom>
          <a:noFill/>
        </p:spPr>
        <p:txBody>
          <a:bodyPr wrap="square">
            <a:spAutoFit/>
          </a:bodyPr>
          <a:lstStyle/>
          <a:p>
            <a:pPr algn="l"/>
            <a:r>
              <a:rPr sz="1900" b="1" i="0">
                <a:solidFill>
                  <a:srgbClr val="1B3A6B"/>
                </a:solidFill>
                <a:latin typeface="Calibri"/>
              </a:rPr>
              <a:t>220 $</a:t>
            </a:r>
          </a:p>
        </p:txBody>
      </p:sp>
      <p:sp>
        <p:nvSpPr>
          <p:cNvPr id="47" name="TextBox 46"/>
          <p:cNvSpPr txBox="1"/>
          <p:nvPr/>
        </p:nvSpPr>
        <p:spPr>
          <a:xfrm>
            <a:off x="4698000" y="3826800"/>
            <a:ext cx="1893600" cy="205199"/>
          </a:xfrm>
          <a:prstGeom prst="rect">
            <a:avLst/>
          </a:prstGeom>
          <a:noFill/>
        </p:spPr>
        <p:txBody>
          <a:bodyPr wrap="square">
            <a:spAutoFit/>
          </a:bodyPr>
          <a:lstStyle/>
          <a:p>
            <a:pPr algn="l"/>
            <a:r>
              <a:rPr sz="800" b="0" i="0">
                <a:solidFill>
                  <a:srgbClr val="555555"/>
                </a:solidFill>
                <a:latin typeface="Calibri"/>
              </a:rPr>
              <a:t>Valeur intrinsèque DCF</a:t>
            </a:r>
          </a:p>
        </p:txBody>
      </p:sp>
      <p:sp>
        <p:nvSpPr>
          <p:cNvPr id="48" name="TextBox 47"/>
          <p:cNvSpPr txBox="1"/>
          <p:nvPr/>
        </p:nvSpPr>
        <p:spPr>
          <a:xfrm>
            <a:off x="4698000" y="4024800"/>
            <a:ext cx="1893600" cy="165600"/>
          </a:xfrm>
          <a:prstGeom prst="rect">
            <a:avLst/>
          </a:prstGeom>
          <a:noFill/>
        </p:spPr>
        <p:txBody>
          <a:bodyPr wrap="square">
            <a:spAutoFit/>
          </a:bodyPr>
          <a:lstStyle/>
          <a:p>
            <a:pPr algn="l"/>
            <a:r>
              <a:rPr sz="700" b="0" i="0">
                <a:solidFill>
                  <a:srgbClr val="888888"/>
                </a:solidFill>
                <a:latin typeface="Calibri"/>
              </a:rPr>
              <a:t>Upside de +25,1 % vs cours</a:t>
            </a:r>
          </a:p>
        </p:txBody>
      </p:sp>
      <p:sp>
        <p:nvSpPr>
          <p:cNvPr id="49" name="Rectangle 48"/>
          <p:cNvSpPr/>
          <p:nvPr/>
        </p:nvSpPr>
        <p:spPr>
          <a:xfrm>
            <a:off x="67284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284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18400" y="3430800"/>
            <a:ext cx="1893600" cy="396000"/>
          </a:xfrm>
          <a:prstGeom prst="rect">
            <a:avLst/>
          </a:prstGeom>
          <a:noFill/>
        </p:spPr>
        <p:txBody>
          <a:bodyPr wrap="square">
            <a:spAutoFit/>
          </a:bodyPr>
          <a:lstStyle/>
          <a:p>
            <a:pPr algn="l"/>
            <a:r>
              <a:rPr sz="1900" b="1" i="0">
                <a:solidFill>
                  <a:srgbClr val="1B3A6B"/>
                </a:solidFill>
                <a:latin typeface="Calibri"/>
              </a:rPr>
              <a:t>-0,028</a:t>
            </a:r>
          </a:p>
        </p:txBody>
      </p:sp>
      <p:sp>
        <p:nvSpPr>
          <p:cNvPr id="52" name="TextBox 51"/>
          <p:cNvSpPr txBox="1"/>
          <p:nvPr/>
        </p:nvSpPr>
        <p:spPr>
          <a:xfrm>
            <a:off x="6818400" y="38268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53" name="TextBox 52"/>
          <p:cNvSpPr txBox="1"/>
          <p:nvPr/>
        </p:nvSpPr>
        <p:spPr>
          <a:xfrm>
            <a:off x="6818400" y="4024800"/>
            <a:ext cx="1893600" cy="165600"/>
          </a:xfrm>
          <a:prstGeom prst="rect">
            <a:avLst/>
          </a:prstGeom>
          <a:noFill/>
        </p:spPr>
        <p:txBody>
          <a:bodyPr wrap="square">
            <a:spAutoFit/>
          </a:bodyPr>
          <a:lstStyle/>
          <a:p>
            <a:pPr algn="l"/>
            <a:r>
              <a:rPr sz="700" b="0" i="0">
                <a:solidFill>
                  <a:srgbClr val="888888"/>
                </a:solidFill>
                <a:latin typeface="Calibri"/>
              </a:rPr>
              <a:t>Neutre  ·  30 articles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NVIDIA Corporation  ·  Technology</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3–5</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6–8</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9–11</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Concurrence AMD/Intel  ·  Dépendance centres de données</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12–13</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&amp; historique de cours</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14–15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NVIDIA Corporation  ·  Présentation &amp; Positionnement stratégique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NVIDIA Corporation conçoit des processeurs graphiques (GPU) et des solutions d'IA pour centres de données, gaming et automobile. Leader incontesté des GPU haut de gamme, la société bénéficie d'un écosystème logiciel propriétaire (CUDA) et d'un avantage technologique durable. Ses marges élevées et sa capacité d'innovation en font un acteur clé de la révolution IA. L'entreprise articule son activité autour de deux segments stratégiques :</a:t>
            </a:r>
          </a:p>
        </p:txBody>
      </p:sp>
      <p:sp>
        <p:nvSpPr>
          <p:cNvPr id="20" name="Rectangle 19"/>
          <p:cNvSpPr/>
          <p:nvPr/>
        </p:nvSpPr>
        <p:spPr>
          <a:xfrm>
            <a:off x="503999" y="2599200"/>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200" y="2556000"/>
            <a:ext cx="4338000" cy="165600"/>
          </a:xfrm>
          <a:prstGeom prst="rect">
            <a:avLst/>
          </a:prstGeom>
          <a:noFill/>
        </p:spPr>
        <p:txBody>
          <a:bodyPr wrap="square">
            <a:spAutoFit/>
          </a:bodyPr>
          <a:lstStyle/>
          <a:p>
            <a:pPr algn="l"/>
            <a:r>
              <a:rPr sz="850" b="1" i="0">
                <a:solidFill>
                  <a:srgbClr val="0D0D0D"/>
                </a:solidFill>
                <a:latin typeface="Calibri"/>
              </a:rPr>
              <a:t>Data Center</a:t>
            </a:r>
          </a:p>
        </p:txBody>
      </p:sp>
      <p:sp>
        <p:nvSpPr>
          <p:cNvPr id="22" name="TextBox 21"/>
          <p:cNvSpPr txBox="1"/>
          <p:nvPr/>
        </p:nvSpPr>
        <p:spPr>
          <a:xfrm>
            <a:off x="619200" y="2714400"/>
            <a:ext cx="4338000" cy="503999"/>
          </a:xfrm>
          <a:prstGeom prst="rect">
            <a:avLst/>
          </a:prstGeom>
          <a:noFill/>
        </p:spPr>
        <p:txBody>
          <a:bodyPr wrap="square">
            <a:spAutoFit/>
          </a:bodyPr>
          <a:lstStyle/>
          <a:p>
            <a:pPr algn="l"/>
            <a:r>
              <a:rPr sz="750" b="0" i="1">
                <a:solidFill>
                  <a:srgbClr val="555555"/>
                </a:solidFill>
                <a:latin typeface="Calibri"/>
              </a:rPr>
              <a:t>Segment phare générant 80% du CA 2025, avec des GPU H100/H200 pour l'entraînement et l'inférence IA. Clients : hyperscalers (AWS, Microsoft, Google) et entreprises. Croissance tirée par l'adoption massive de l'IA générative et les investissements en infrastructures cloud. Marges &gt;70% grâce à la différenciation technologique et la rareté des produits.</a:t>
            </a:r>
          </a:p>
        </p:txBody>
      </p:sp>
      <p:sp>
        <p:nvSpPr>
          <p:cNvPr id="23" name="Rectangle 22"/>
          <p:cNvSpPr/>
          <p:nvPr/>
        </p:nvSpPr>
        <p:spPr>
          <a:xfrm>
            <a:off x="503999" y="3301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200" y="3257999"/>
            <a:ext cx="4338000" cy="165600"/>
          </a:xfrm>
          <a:prstGeom prst="rect">
            <a:avLst/>
          </a:prstGeom>
          <a:noFill/>
        </p:spPr>
        <p:txBody>
          <a:bodyPr wrap="square">
            <a:spAutoFit/>
          </a:bodyPr>
          <a:lstStyle/>
          <a:p>
            <a:pPr algn="l"/>
            <a:r>
              <a:rPr sz="850" b="1" i="0">
                <a:solidFill>
                  <a:srgbClr val="0D0D0D"/>
                </a:solidFill>
                <a:latin typeface="Calibri"/>
              </a:rPr>
              <a:t>Gaming</a:t>
            </a:r>
          </a:p>
        </p:txBody>
      </p:sp>
      <p:sp>
        <p:nvSpPr>
          <p:cNvPr id="25" name="TextBox 24"/>
          <p:cNvSpPr txBox="1"/>
          <p:nvPr/>
        </p:nvSpPr>
        <p:spPr>
          <a:xfrm>
            <a:off x="619200" y="3416399"/>
            <a:ext cx="4338000" cy="503999"/>
          </a:xfrm>
          <a:prstGeom prst="rect">
            <a:avLst/>
          </a:prstGeom>
          <a:noFill/>
        </p:spPr>
        <p:txBody>
          <a:bodyPr wrap="square">
            <a:spAutoFit/>
          </a:bodyPr>
          <a:lstStyle/>
          <a:p>
            <a:pPr algn="l"/>
            <a:r>
              <a:rPr sz="750" b="0" i="1">
                <a:solidFill>
                  <a:srgbClr val="555555"/>
                </a:solidFill>
                <a:latin typeface="Calibri"/>
              </a:rPr>
              <a:t>Segment historique avec GPU RTX pour PC gaming et stations de travail. CA stable mais croissance modérée à 10% en 2025. Marges élevées (50-60%) grâce à la marque premium et la fidélisation des gamers. Concurrence accrue de AMD et Intel, mais NVIDIA conserve 80% de part de marché sur le haut de gamme.</a:t>
            </a:r>
          </a:p>
        </p:txBody>
      </p:sp>
      <p:sp>
        <p:nvSpPr>
          <p:cNvPr id="26" name="Rectangle 25"/>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4 272,9 Mds$</a:t>
            </a:r>
          </a:p>
        </p:txBody>
      </p:sp>
      <p:sp>
        <p:nvSpPr>
          <p:cNvPr id="29" name="TextBox 28"/>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boursière</a:t>
            </a:r>
          </a:p>
        </p:txBody>
      </p:sp>
      <p:sp>
        <p:nvSpPr>
          <p:cNvPr id="30" name="Rectangle 29"/>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130,5 Mds$</a:t>
            </a:r>
          </a:p>
        </p:txBody>
      </p:sp>
      <p:sp>
        <p:nvSpPr>
          <p:cNvPr id="33" name="TextBox 32"/>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34" name="Rectangle 33"/>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175,84 $</a:t>
            </a:r>
          </a:p>
        </p:txBody>
      </p:sp>
      <p:sp>
        <p:nvSpPr>
          <p:cNvPr id="37" name="TextBox 36"/>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38" name="Rectangle 37"/>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49,6x</a:t>
            </a:r>
          </a:p>
        </p:txBody>
      </p:sp>
      <p:sp>
        <p:nvSpPr>
          <p:cNvPr id="41" name="TextBox 40"/>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42" name="TextBox 41"/>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58,6x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Modèle Économique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opérationnels et moteurs de croissance</a:t>
            </a:r>
          </a:p>
        </p:txBody>
      </p:sp>
      <p:sp>
        <p:nvSpPr>
          <p:cNvPr id="17" name="Rectangle 16"/>
          <p:cNvSpPr/>
          <p:nvPr/>
        </p:nvSpPr>
        <p:spPr>
          <a:xfrm>
            <a:off x="367200" y="961200"/>
            <a:ext cx="4150800"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1508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3970800" cy="640800"/>
          </a:xfrm>
          <a:prstGeom prst="rect">
            <a:avLst/>
          </a:prstGeom>
          <a:noFill/>
        </p:spPr>
        <p:txBody>
          <a:bodyPr wrap="square">
            <a:spAutoFit/>
          </a:bodyPr>
          <a:lstStyle/>
          <a:p>
            <a:pPr algn="l"/>
            <a:r>
              <a:rPr sz="2200" b="1" i="0">
                <a:solidFill>
                  <a:srgbClr val="2E5FA3"/>
                </a:solidFill>
                <a:latin typeface="Calibri"/>
              </a:rPr>
              <a:t>80%</a:t>
            </a:r>
          </a:p>
        </p:txBody>
      </p:sp>
      <p:sp>
        <p:nvSpPr>
          <p:cNvPr id="20" name="TextBox 19"/>
          <p:cNvSpPr txBox="1"/>
          <p:nvPr/>
        </p:nvSpPr>
        <p:spPr>
          <a:xfrm>
            <a:off x="4572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3970800" cy="255600"/>
          </a:xfrm>
          <a:prstGeom prst="rect">
            <a:avLst/>
          </a:prstGeom>
          <a:noFill/>
        </p:spPr>
        <p:txBody>
          <a:bodyPr wrap="square">
            <a:spAutoFit/>
          </a:bodyPr>
          <a:lstStyle/>
          <a:p>
            <a:pPr algn="l"/>
            <a:r>
              <a:rPr sz="1000" b="1" i="0">
                <a:solidFill>
                  <a:srgbClr val="1B3A6B"/>
                </a:solidFill>
                <a:latin typeface="Calibri"/>
              </a:rPr>
              <a:t>Data Center</a:t>
            </a:r>
          </a:p>
        </p:txBody>
      </p:sp>
      <p:sp>
        <p:nvSpPr>
          <p:cNvPr id="23" name="TextBox 22"/>
          <p:cNvSpPr txBox="1"/>
          <p:nvPr/>
        </p:nvSpPr>
        <p:spPr>
          <a:xfrm>
            <a:off x="457200" y="2332800"/>
            <a:ext cx="3970800" cy="2041199"/>
          </a:xfrm>
          <a:prstGeom prst="rect">
            <a:avLst/>
          </a:prstGeom>
          <a:noFill/>
        </p:spPr>
        <p:txBody>
          <a:bodyPr wrap="square">
            <a:spAutoFit/>
          </a:bodyPr>
          <a:lstStyle/>
          <a:p>
            <a:pPr algn="l"/>
            <a:r>
              <a:rPr sz="800" b="0" i="0">
                <a:solidFill>
                  <a:srgbClr val="555555"/>
                </a:solidFill>
                <a:latin typeface="Calibri"/>
              </a:rPr>
              <a:t>Segment phare générant 80% du CA 2025, avec des GPU H100/H200 pour l'entraînement et l'inférence IA. Clients : hyperscalers (AWS, Microsoft, Google) et entreprises. Croissance tirée par l'adoption massive de l'IA générative et les investissements en infrastructures cloud. Marges &gt;70% grâce à la différenciation technologique et la rareté des produits.</a:t>
            </a:r>
          </a:p>
        </p:txBody>
      </p:sp>
      <p:sp>
        <p:nvSpPr>
          <p:cNvPr id="24" name="Rectangle 23"/>
          <p:cNvSpPr/>
          <p:nvPr/>
        </p:nvSpPr>
        <p:spPr>
          <a:xfrm>
            <a:off x="4626000" y="961200"/>
            <a:ext cx="4150800"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26000" y="961200"/>
            <a:ext cx="4150800"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16000" y="1141200"/>
            <a:ext cx="3970800" cy="640800"/>
          </a:xfrm>
          <a:prstGeom prst="rect">
            <a:avLst/>
          </a:prstGeom>
          <a:noFill/>
        </p:spPr>
        <p:txBody>
          <a:bodyPr wrap="square">
            <a:spAutoFit/>
          </a:bodyPr>
          <a:lstStyle/>
          <a:p>
            <a:pPr algn="l"/>
            <a:r>
              <a:rPr sz="2200" b="1" i="0">
                <a:solidFill>
                  <a:srgbClr val="1A7A4A"/>
                </a:solidFill>
                <a:latin typeface="Calibri"/>
              </a:rPr>
              <a:t>15%</a:t>
            </a:r>
          </a:p>
        </p:txBody>
      </p:sp>
      <p:sp>
        <p:nvSpPr>
          <p:cNvPr id="27" name="TextBox 26"/>
          <p:cNvSpPr txBox="1"/>
          <p:nvPr/>
        </p:nvSpPr>
        <p:spPr>
          <a:xfrm>
            <a:off x="47160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47160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16000" y="2059200"/>
            <a:ext cx="3970800" cy="255600"/>
          </a:xfrm>
          <a:prstGeom prst="rect">
            <a:avLst/>
          </a:prstGeom>
          <a:noFill/>
        </p:spPr>
        <p:txBody>
          <a:bodyPr wrap="square">
            <a:spAutoFit/>
          </a:bodyPr>
          <a:lstStyle/>
          <a:p>
            <a:pPr algn="l"/>
            <a:r>
              <a:rPr sz="1000" b="1" i="0">
                <a:solidFill>
                  <a:srgbClr val="1B3A6B"/>
                </a:solidFill>
                <a:latin typeface="Calibri"/>
              </a:rPr>
              <a:t>Gaming</a:t>
            </a:r>
          </a:p>
        </p:txBody>
      </p:sp>
      <p:sp>
        <p:nvSpPr>
          <p:cNvPr id="30" name="TextBox 29"/>
          <p:cNvSpPr txBox="1"/>
          <p:nvPr/>
        </p:nvSpPr>
        <p:spPr>
          <a:xfrm>
            <a:off x="4716000" y="2332800"/>
            <a:ext cx="3970800" cy="2041199"/>
          </a:xfrm>
          <a:prstGeom prst="rect">
            <a:avLst/>
          </a:prstGeom>
          <a:noFill/>
        </p:spPr>
        <p:txBody>
          <a:bodyPr wrap="square">
            <a:spAutoFit/>
          </a:bodyPr>
          <a:lstStyle/>
          <a:p>
            <a:pPr algn="l"/>
            <a:r>
              <a:rPr sz="800" b="0" i="0">
                <a:solidFill>
                  <a:srgbClr val="555555"/>
                </a:solidFill>
                <a:latin typeface="Calibri"/>
              </a:rPr>
              <a:t>Segment historique avec GPU RTX pour PC gaming et stations de travail. CA stable mais croissance modérée à 10% en 2025. Marges élevées (50-60%) grâce à la marque premium et la fidélisation des gamers. Concurrence accrue de AMD et Intel, mais NVIDIA conserve 80% de part de marché sur le haut de gamme.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USD millions  ·  2023–2027F</a:t>
            </a:r>
          </a:p>
        </p:txBody>
      </p:sp>
      <p:graphicFrame>
        <p:nvGraphicFramePr>
          <p:cNvPr id="17" name="Table 16"/>
          <p:cNvGraphicFramePr>
            <a:graphicFrameLocks noGrp="1"/>
          </p:cNvGraphicFramePr>
          <p:nvPr/>
        </p:nvGraphicFramePr>
        <p:xfrm>
          <a:off x="367200" y="914400"/>
          <a:ext cx="8413196" cy="1980000"/>
        </p:xfrm>
        <a:graphic>
          <a:graphicData uri="http://schemas.openxmlformats.org/drawingml/2006/table">
            <a:tbl>
              <a:tblPr firstRow="1" bandRow="1">
                <a:tableStyleId>{5C22544A-7EE6-4342-B048-85BDC9FD1C3A}</a:tableStyleId>
              </a:tblPr>
              <a:tblGrid>
                <a:gridCol w="2355696"/>
                <a:gridCol w="1211500"/>
                <a:gridCol w="1211500"/>
                <a:gridCol w="1211500"/>
                <a:gridCol w="1211500"/>
                <a:gridCol w="1211500"/>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c>
                  <a:txBody>
                    <a:bodyPr/>
                    <a:lstStyle/>
                    <a:p>
                      <a:pPr algn="ctr"/>
                      <a:r>
                        <a:rPr sz="800" b="1" i="0">
                          <a:solidFill>
                            <a:srgbClr val="FFFFFF"/>
                          </a:solidFill>
                          <a:latin typeface="Calibri"/>
                        </a:rPr>
                        <a:t>2026F</a:t>
                      </a:r>
                    </a:p>
                  </a:txBody>
                  <a:tcPr>
                    <a:solidFill>
                      <a:srgbClr val="1B3A6B"/>
                    </a:solidFill>
                  </a:tcPr>
                </a:tc>
                <a:tc>
                  <a:txBody>
                    <a:bodyPr/>
                    <a:lstStyle/>
                    <a:p>
                      <a:pPr algn="ctr"/>
                      <a:r>
                        <a:rPr sz="800" b="1" i="0">
                          <a:solidFill>
                            <a:srgbClr val="FFFFFF"/>
                          </a:solidFill>
                          <a:latin typeface="Calibri"/>
                        </a:rPr>
                        <a:t>2027F</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27,0</a:t>
                      </a:r>
                    </a:p>
                  </a:txBody>
                  <a:tcPr>
                    <a:solidFill>
                      <a:srgbClr val="FFFFFF"/>
                    </a:solidFill>
                  </a:tcPr>
                </a:tc>
                <a:tc>
                  <a:txBody>
                    <a:bodyPr/>
                    <a:lstStyle/>
                    <a:p>
                      <a:pPr algn="ctr"/>
                      <a:r>
                        <a:rPr sz="800" b="1" i="0">
                          <a:solidFill>
                            <a:srgbClr val="0D0D0D"/>
                          </a:solidFill>
                          <a:latin typeface="Calibri"/>
                        </a:rPr>
                        <a:t>60,9</a:t>
                      </a:r>
                    </a:p>
                  </a:txBody>
                  <a:tcPr>
                    <a:solidFill>
                      <a:srgbClr val="FFFFFF"/>
                    </a:solidFill>
                  </a:tcPr>
                </a:tc>
                <a:tc>
                  <a:txBody>
                    <a:bodyPr/>
                    <a:lstStyle/>
                    <a:p>
                      <a:pPr algn="ctr"/>
                      <a:r>
                        <a:rPr sz="800" b="1" i="0">
                          <a:solidFill>
                            <a:srgbClr val="1B3A6B"/>
                          </a:solidFill>
                          <a:latin typeface="Calibri"/>
                        </a:rPr>
                        <a:t>130,5</a:t>
                      </a:r>
                    </a:p>
                  </a:txBody>
                  <a:tcPr>
                    <a:solidFill>
                      <a:srgbClr val="DDE8F5"/>
                    </a:solidFill>
                  </a:tcPr>
                </a:tc>
                <a:tc>
                  <a:txBody>
                    <a:bodyPr/>
                    <a:lstStyle/>
                    <a:p>
                      <a:pPr algn="ctr"/>
                      <a:r>
                        <a:rPr sz="800" b="1" i="0">
                          <a:solidFill>
                            <a:srgbClr val="0D0D0D"/>
                          </a:solidFill>
                          <a:latin typeface="Calibri"/>
                        </a:rPr>
                        <a:t>180,0</a:t>
                      </a:r>
                    </a:p>
                  </a:txBody>
                  <a:tcPr>
                    <a:solidFill>
                      <a:srgbClr val="FFFFFF"/>
                    </a:solidFill>
                  </a:tcPr>
                </a:tc>
                <a:tc>
                  <a:txBody>
                    <a:bodyPr/>
                    <a:lstStyle/>
                    <a:p>
                      <a:pPr algn="ctr"/>
                      <a:r>
                        <a:rPr sz="800" b="1" i="0">
                          <a:solidFill>
                            <a:srgbClr val="0D0D0D"/>
                          </a:solidFill>
                          <a:latin typeface="Calibri"/>
                        </a:rPr>
                        <a:t>220,0</a:t>
                      </a:r>
                    </a:p>
                  </a:txBody>
                  <a:tcPr>
                    <a:solidFill>
                      <a:srgbClr val="FFFFFF"/>
                    </a:solidFill>
                  </a:tcPr>
                </a:tc>
              </a:tr>
              <a:tr h="220000">
                <a:tc>
                  <a:txBody>
                    <a:bodyPr/>
                    <a:lstStyle/>
                    <a:p>
                      <a:pPr algn="l"/>
                      <a:r>
                        <a:rPr sz="750" b="0" i="1">
                          <a:solidFill>
                            <a:srgbClr val="555555"/>
                          </a:solidFill>
                          <a:latin typeface="Calibri"/>
                        </a:rPr>
                        <a:t>Croissance YoY</a:t>
                      </a:r>
                    </a:p>
                  </a:txBody>
                  <a:tcPr>
                    <a:solidFill>
                      <a:srgbClr val="F7F8FA"/>
                    </a:solidFill>
                  </a:tcPr>
                </a:tc>
                <a:tc>
                  <a:txBody>
                    <a:bodyPr/>
                    <a:lstStyle/>
                    <a:p>
                      <a:pPr algn="ctr"/>
                      <a:r>
                        <a:rPr sz="750" b="0" i="1">
                          <a:solidFill>
                            <a:srgbClr val="555555"/>
                          </a:solidFill>
                          <a:latin typeface="Calibri"/>
                        </a:rPr>
                        <a:t>—</a:t>
                      </a:r>
                    </a:p>
                  </a:txBody>
                  <a:tcPr>
                    <a:solidFill>
                      <a:srgbClr val="F7F8FA"/>
                    </a:solidFill>
                  </a:tcPr>
                </a:tc>
                <a:tc>
                  <a:txBody>
                    <a:bodyPr/>
                    <a:lstStyle/>
                    <a:p>
                      <a:pPr algn="ctr"/>
                      <a:r>
                        <a:rPr sz="750" b="0" i="1">
                          <a:solidFill>
                            <a:srgbClr val="555555"/>
                          </a:solidFill>
                          <a:latin typeface="Calibri"/>
                        </a:rPr>
                        <a:t>+125,8 %</a:t>
                      </a:r>
                    </a:p>
                  </a:txBody>
                  <a:tcPr>
                    <a:solidFill>
                      <a:srgbClr val="F7F8FA"/>
                    </a:solidFill>
                  </a:tcPr>
                </a:tc>
                <a:tc>
                  <a:txBody>
                    <a:bodyPr/>
                    <a:lstStyle/>
                    <a:p>
                      <a:pPr algn="ctr"/>
                      <a:r>
                        <a:rPr sz="750" b="0" i="1">
                          <a:solidFill>
                            <a:srgbClr val="555555"/>
                          </a:solidFill>
                          <a:latin typeface="Calibri"/>
                        </a:rPr>
                        <a:t>+114,2 %</a:t>
                      </a:r>
                    </a:p>
                  </a:txBody>
                  <a:tcPr>
                    <a:solidFill>
                      <a:srgbClr val="DDE8F5"/>
                    </a:solidFill>
                  </a:tcPr>
                </a:tc>
                <a:tc>
                  <a:txBody>
                    <a:bodyPr/>
                    <a:lstStyle/>
                    <a:p>
                      <a:pPr algn="ctr"/>
                      <a:r>
                        <a:rPr sz="750" b="0" i="1">
                          <a:solidFill>
                            <a:srgbClr val="555555"/>
                          </a:solidFill>
                          <a:latin typeface="Calibri"/>
                        </a:rPr>
                        <a:t>+38,1 %</a:t>
                      </a:r>
                    </a:p>
                  </a:txBody>
                  <a:tcPr>
                    <a:solidFill>
                      <a:srgbClr val="F7F8FA"/>
                    </a:solidFill>
                  </a:tcPr>
                </a:tc>
                <a:tc>
                  <a:txBody>
                    <a:bodyPr/>
                    <a:lstStyle/>
                    <a:p>
                      <a:pPr algn="ctr"/>
                      <a:r>
                        <a:rPr sz="750" b="0" i="1">
                          <a:solidFill>
                            <a:srgbClr val="555555"/>
                          </a:solidFill>
                          <a:latin typeface="Calibri"/>
                        </a:rPr>
                        <a:t>+22,2 %</a:t>
                      </a:r>
                    </a:p>
                  </a:txBody>
                  <a:tcPr>
                    <a:solidFill>
                      <a:srgbClr val="F7F8FA"/>
                    </a:solidFill>
                  </a:tcPr>
                </a:tc>
              </a:tr>
              <a:tr h="220000">
                <a:tc>
                  <a:txBody>
                    <a:bodyPr/>
                    <a:lstStyle/>
                    <a:p>
                      <a:pPr algn="l"/>
                      <a:r>
                        <a:rPr sz="800" b="1" i="0">
                          <a:solidFill>
                            <a:srgbClr val="0D0D0D"/>
                          </a:solidFill>
                          <a:latin typeface="Calibri"/>
                        </a:rPr>
                        <a:t>Résultat brut</a:t>
                      </a:r>
                    </a:p>
                  </a:txBody>
                  <a:tcPr>
                    <a:solidFill>
                      <a:srgbClr val="FFFFFF"/>
                    </a:solidFill>
                  </a:tcPr>
                </a:tc>
                <a:tc>
                  <a:txBody>
                    <a:bodyPr/>
                    <a:lstStyle/>
                    <a:p>
                      <a:pPr algn="ctr"/>
                      <a:r>
                        <a:rPr sz="800" b="1" i="0">
                          <a:solidFill>
                            <a:srgbClr val="0D0D0D"/>
                          </a:solidFill>
                          <a:latin typeface="Calibri"/>
                        </a:rPr>
                        <a:t>15,4</a:t>
                      </a:r>
                    </a:p>
                  </a:txBody>
                  <a:tcPr>
                    <a:solidFill>
                      <a:srgbClr val="FFFFFF"/>
                    </a:solidFill>
                  </a:tcPr>
                </a:tc>
                <a:tc>
                  <a:txBody>
                    <a:bodyPr/>
                    <a:lstStyle/>
                    <a:p>
                      <a:pPr algn="ctr"/>
                      <a:r>
                        <a:rPr sz="800" b="1" i="0">
                          <a:solidFill>
                            <a:srgbClr val="0D0D0D"/>
                          </a:solidFill>
                          <a:latin typeface="Calibri"/>
                        </a:rPr>
                        <a:t>44,3</a:t>
                      </a:r>
                    </a:p>
                  </a:txBody>
                  <a:tcPr>
                    <a:solidFill>
                      <a:srgbClr val="FFFFFF"/>
                    </a:solidFill>
                  </a:tcPr>
                </a:tc>
                <a:tc>
                  <a:txBody>
                    <a:bodyPr/>
                    <a:lstStyle/>
                    <a:p>
                      <a:pPr algn="ctr"/>
                      <a:r>
                        <a:rPr sz="800" b="1" i="0">
                          <a:solidFill>
                            <a:srgbClr val="1B3A6B"/>
                          </a:solidFill>
                          <a:latin typeface="Calibri"/>
                        </a:rPr>
                        <a:t>97,9</a:t>
                      </a:r>
                    </a:p>
                  </a:txBody>
                  <a:tcPr>
                    <a:solidFill>
                      <a:srgbClr val="DDE8F5"/>
                    </a:solidFill>
                  </a:tcPr>
                </a:tc>
                <a:tc>
                  <a:txBody>
                    <a:bodyPr/>
                    <a:lstStyle/>
                    <a:p>
                      <a:pPr algn="ctr"/>
                      <a:r>
                        <a:rPr sz="800" b="1" i="0">
                          <a:solidFill>
                            <a:srgbClr val="0D0D0D"/>
                          </a:solidFill>
                          <a:latin typeface="Calibri"/>
                        </a:rPr>
                        <a:t>129,6</a:t>
                      </a:r>
                    </a:p>
                  </a:txBody>
                  <a:tcPr>
                    <a:solidFill>
                      <a:srgbClr val="FFFFFF"/>
                    </a:solidFill>
                  </a:tcPr>
                </a:tc>
                <a:tc>
                  <a:txBody>
                    <a:bodyPr/>
                    <a:lstStyle/>
                    <a:p>
                      <a:pPr algn="ctr"/>
                      <a:r>
                        <a:rPr sz="800" b="1" i="0">
                          <a:solidFill>
                            <a:srgbClr val="0D0D0D"/>
                          </a:solidFill>
                          <a:latin typeface="Calibri"/>
                        </a:rPr>
                        <a:t>154,0</a:t>
                      </a:r>
                    </a:p>
                  </a:txBody>
                  <a:tcPr>
                    <a:solidFill>
                      <a:srgbClr val="FFFFFF"/>
                    </a:solidFill>
                  </a:tcPr>
                </a:tc>
              </a:tr>
              <a:tr h="220000">
                <a:tc>
                  <a:txBody>
                    <a:bodyPr/>
                    <a:lstStyle/>
                    <a:p>
                      <a:pPr algn="l"/>
                      <a:r>
                        <a:rPr sz="750" b="0" i="1">
                          <a:solidFill>
                            <a:srgbClr val="555555"/>
                          </a:solidFill>
                          <a:latin typeface="Calibri"/>
                        </a:rPr>
                        <a:t>Marge brute</a:t>
                      </a:r>
                    </a:p>
                  </a:txBody>
                  <a:tcPr>
                    <a:solidFill>
                      <a:srgbClr val="F7F8FA"/>
                    </a:solidFill>
                  </a:tcPr>
                </a:tc>
                <a:tc>
                  <a:txBody>
                    <a:bodyPr/>
                    <a:lstStyle/>
                    <a:p>
                      <a:pPr algn="ctr"/>
                      <a:r>
                        <a:rPr sz="750" b="0" i="1">
                          <a:solidFill>
                            <a:srgbClr val="555555"/>
                          </a:solidFill>
                          <a:latin typeface="Calibri"/>
                        </a:rPr>
                        <a:t>56,9 %</a:t>
                      </a:r>
                    </a:p>
                  </a:txBody>
                  <a:tcPr>
                    <a:solidFill>
                      <a:srgbClr val="F7F8FA"/>
                    </a:solidFill>
                  </a:tcPr>
                </a:tc>
                <a:tc>
                  <a:txBody>
                    <a:bodyPr/>
                    <a:lstStyle/>
                    <a:p>
                      <a:pPr algn="ctr"/>
                      <a:r>
                        <a:rPr sz="750" b="0" i="1">
                          <a:solidFill>
                            <a:srgbClr val="555555"/>
                          </a:solidFill>
                          <a:latin typeface="Calibri"/>
                        </a:rPr>
                        <a:t>72,7 %</a:t>
                      </a:r>
                    </a:p>
                  </a:txBody>
                  <a:tcPr>
                    <a:solidFill>
                      <a:srgbClr val="F7F8FA"/>
                    </a:solidFill>
                  </a:tcPr>
                </a:tc>
                <a:tc>
                  <a:txBody>
                    <a:bodyPr/>
                    <a:lstStyle/>
                    <a:p>
                      <a:pPr algn="ctr"/>
                      <a:r>
                        <a:rPr sz="750" b="0" i="1">
                          <a:solidFill>
                            <a:srgbClr val="555555"/>
                          </a:solidFill>
                          <a:latin typeface="Calibri"/>
                        </a:rPr>
                        <a:t>75,0 %</a:t>
                      </a:r>
                    </a:p>
                  </a:txBody>
                  <a:tcPr>
                    <a:solidFill>
                      <a:srgbClr val="DDE8F5"/>
                    </a:solidFill>
                  </a:tcPr>
                </a:tc>
                <a:tc>
                  <a:txBody>
                    <a:bodyPr/>
                    <a:lstStyle/>
                    <a:p>
                      <a:pPr algn="ctr"/>
                      <a:r>
                        <a:rPr sz="750" b="0" i="1">
                          <a:solidFill>
                            <a:srgbClr val="555555"/>
                          </a:solidFill>
                          <a:latin typeface="Calibri"/>
                        </a:rPr>
                        <a:t>72,0 %</a:t>
                      </a:r>
                    </a:p>
                  </a:txBody>
                  <a:tcPr>
                    <a:solidFill>
                      <a:srgbClr val="F7F8FA"/>
                    </a:solidFill>
                  </a:tcPr>
                </a:tc>
                <a:tc>
                  <a:txBody>
                    <a:bodyPr/>
                    <a:lstStyle/>
                    <a:p>
                      <a:pPr algn="ctr"/>
                      <a:r>
                        <a:rPr sz="750" b="0" i="1">
                          <a:solidFill>
                            <a:srgbClr val="555555"/>
                          </a:solidFill>
                          <a:latin typeface="Calibri"/>
                        </a:rPr>
                        <a:t>70,0 %</a:t>
                      </a:r>
                    </a:p>
                  </a:txBody>
                  <a:tcPr>
                    <a:solidFill>
                      <a:srgbClr val="F7F8FA"/>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6,0</a:t>
                      </a:r>
                    </a:p>
                  </a:txBody>
                  <a:tcPr>
                    <a:solidFill>
                      <a:srgbClr val="FFFFFF"/>
                    </a:solidFill>
                  </a:tcPr>
                </a:tc>
                <a:tc>
                  <a:txBody>
                    <a:bodyPr/>
                    <a:lstStyle/>
                    <a:p>
                      <a:pPr algn="ctr"/>
                      <a:r>
                        <a:rPr sz="800" b="1" i="0">
                          <a:solidFill>
                            <a:srgbClr val="0D0D0D"/>
                          </a:solidFill>
                          <a:latin typeface="Calibri"/>
                        </a:rPr>
                        <a:t>35,6</a:t>
                      </a:r>
                    </a:p>
                  </a:txBody>
                  <a:tcPr>
                    <a:solidFill>
                      <a:srgbClr val="FFFFFF"/>
                    </a:solidFill>
                  </a:tcPr>
                </a:tc>
                <a:tc>
                  <a:txBody>
                    <a:bodyPr/>
                    <a:lstStyle/>
                    <a:p>
                      <a:pPr algn="ctr"/>
                      <a:r>
                        <a:rPr sz="800" b="1" i="0">
                          <a:solidFill>
                            <a:srgbClr val="1B3A6B"/>
                          </a:solidFill>
                          <a:latin typeface="Calibri"/>
                        </a:rPr>
                        <a:t>86,1</a:t>
                      </a:r>
                    </a:p>
                  </a:txBody>
                  <a:tcPr>
                    <a:solidFill>
                      <a:srgbClr val="DDE8F5"/>
                    </a:solidFill>
                  </a:tcPr>
                </a:tc>
                <a:tc>
                  <a:txBody>
                    <a:bodyPr/>
                    <a:lstStyle/>
                    <a:p>
                      <a:pPr algn="ctr"/>
                      <a:r>
                        <a:rPr sz="800" b="1" i="0">
                          <a:solidFill>
                            <a:srgbClr val="0D0D0D"/>
                          </a:solidFill>
                          <a:latin typeface="Calibri"/>
                        </a:rPr>
                        <a:t>120,0</a:t>
                      </a:r>
                    </a:p>
                  </a:txBody>
                  <a:tcPr>
                    <a:solidFill>
                      <a:srgbClr val="FFFFFF"/>
                    </a:solidFill>
                  </a:tcPr>
                </a:tc>
                <a:tc>
                  <a:txBody>
                    <a:bodyPr/>
                    <a:lstStyle/>
                    <a:p>
                      <a:pPr algn="ctr"/>
                      <a:r>
                        <a:rPr sz="800" b="1" i="0">
                          <a:solidFill>
                            <a:srgbClr val="0D0D0D"/>
                          </a:solidFill>
                          <a:latin typeface="Calibri"/>
                        </a:rPr>
                        <a:t>140,0</a:t>
                      </a:r>
                    </a:p>
                  </a:txBody>
                  <a:tcPr>
                    <a:solidFill>
                      <a:srgbClr val="FFFFFF"/>
                    </a:solidFill>
                  </a:tcPr>
                </a:tc>
              </a:tr>
              <a:tr h="220000">
                <a:tc>
                  <a:txBody>
                    <a:bodyPr/>
                    <a:lstStyle/>
                    <a:p>
                      <a:pPr algn="l"/>
                      <a:r>
                        <a:rPr sz="750" b="0" i="1">
                          <a:solidFill>
                            <a:srgbClr val="555555"/>
                          </a:solidFill>
                          <a:latin typeface="Calibri"/>
                        </a:rPr>
                        <a:t>Marge EBITDA</a:t>
                      </a:r>
                    </a:p>
                  </a:txBody>
                  <a:tcPr>
                    <a:solidFill>
                      <a:srgbClr val="F7F8FA"/>
                    </a:solidFill>
                  </a:tcPr>
                </a:tc>
                <a:tc>
                  <a:txBody>
                    <a:bodyPr/>
                    <a:lstStyle/>
                    <a:p>
                      <a:pPr algn="ctr"/>
                      <a:r>
                        <a:rPr sz="750" b="0" i="1">
                          <a:solidFill>
                            <a:srgbClr val="555555"/>
                          </a:solidFill>
                          <a:latin typeface="Calibri"/>
                        </a:rPr>
                        <a:t>22,2 %</a:t>
                      </a:r>
                    </a:p>
                  </a:txBody>
                  <a:tcPr>
                    <a:solidFill>
                      <a:srgbClr val="F7F8FA"/>
                    </a:solidFill>
                  </a:tcPr>
                </a:tc>
                <a:tc>
                  <a:txBody>
                    <a:bodyPr/>
                    <a:lstStyle/>
                    <a:p>
                      <a:pPr algn="ctr"/>
                      <a:r>
                        <a:rPr sz="750" b="0" i="1">
                          <a:solidFill>
                            <a:srgbClr val="555555"/>
                          </a:solidFill>
                          <a:latin typeface="Calibri"/>
                        </a:rPr>
                        <a:t>58,4 %</a:t>
                      </a:r>
                    </a:p>
                  </a:txBody>
                  <a:tcPr>
                    <a:solidFill>
                      <a:srgbClr val="F7F8FA"/>
                    </a:solidFill>
                  </a:tcPr>
                </a:tc>
                <a:tc>
                  <a:txBody>
                    <a:bodyPr/>
                    <a:lstStyle/>
                    <a:p>
                      <a:pPr algn="ctr"/>
                      <a:r>
                        <a:rPr sz="750" b="0" i="1">
                          <a:solidFill>
                            <a:srgbClr val="555555"/>
                          </a:solidFill>
                          <a:latin typeface="Calibri"/>
                        </a:rPr>
                        <a:t>66,0 %</a:t>
                      </a:r>
                    </a:p>
                  </a:txBody>
                  <a:tcPr>
                    <a:solidFill>
                      <a:srgbClr val="DDE8F5"/>
                    </a:solidFill>
                  </a:tcPr>
                </a:tc>
                <a:tc>
                  <a:txBody>
                    <a:bodyPr/>
                    <a:lstStyle/>
                    <a:p>
                      <a:pPr algn="ctr"/>
                      <a:r>
                        <a:rPr sz="750" b="0" i="1">
                          <a:solidFill>
                            <a:srgbClr val="555555"/>
                          </a:solidFill>
                          <a:latin typeface="Calibri"/>
                        </a:rPr>
                        <a:t>66,7 %</a:t>
                      </a:r>
                    </a:p>
                  </a:txBody>
                  <a:tcPr>
                    <a:solidFill>
                      <a:srgbClr val="F7F8FA"/>
                    </a:solidFill>
                  </a:tcPr>
                </a:tc>
                <a:tc>
                  <a:txBody>
                    <a:bodyPr/>
                    <a:lstStyle/>
                    <a:p>
                      <a:pPr algn="ctr"/>
                      <a:r>
                        <a:rPr sz="750" b="0" i="1">
                          <a:solidFill>
                            <a:srgbClr val="555555"/>
                          </a:solidFill>
                          <a:latin typeface="Calibri"/>
                        </a:rPr>
                        <a:t>63,6 %</a:t>
                      </a:r>
                    </a:p>
                  </a:txBody>
                  <a:tcPr>
                    <a:solidFill>
                      <a:srgbClr val="F7F8FA"/>
                    </a:solidFill>
                  </a:tcPr>
                </a:tc>
              </a:tr>
              <a:tr h="220000">
                <a:tc>
                  <a:txBody>
                    <a:bodyPr/>
                    <a:lstStyle/>
                    <a:p>
                      <a:pPr algn="l"/>
                      <a:r>
                        <a:rPr sz="800" b="1" i="0">
                          <a:solidFill>
                            <a:srgbClr val="0D0D0D"/>
                          </a:solidFill>
                          <a:latin typeface="Calibri"/>
                        </a:rPr>
                        <a:t>Résultat net</a:t>
                      </a:r>
                    </a:p>
                  </a:txBody>
                  <a:tcPr>
                    <a:solidFill>
                      <a:srgbClr val="FFFFFF"/>
                    </a:solidFill>
                  </a:tcPr>
                </a:tc>
                <a:tc>
                  <a:txBody>
                    <a:bodyPr/>
                    <a:lstStyle/>
                    <a:p>
                      <a:pPr algn="ctr"/>
                      <a:r>
                        <a:rPr sz="800" b="1" i="0">
                          <a:solidFill>
                            <a:srgbClr val="0D0D0D"/>
                          </a:solidFill>
                          <a:latin typeface="Calibri"/>
                        </a:rPr>
                        <a:t>4,4</a:t>
                      </a:r>
                    </a:p>
                  </a:txBody>
                  <a:tcPr>
                    <a:solidFill>
                      <a:srgbClr val="FFFFFF"/>
                    </a:solidFill>
                  </a:tcPr>
                </a:tc>
                <a:tc>
                  <a:txBody>
                    <a:bodyPr/>
                    <a:lstStyle/>
                    <a:p>
                      <a:pPr algn="ctr"/>
                      <a:r>
                        <a:rPr sz="800" b="1" i="0">
                          <a:solidFill>
                            <a:srgbClr val="0D0D0D"/>
                          </a:solidFill>
                          <a:latin typeface="Calibri"/>
                        </a:rPr>
                        <a:t>29,8</a:t>
                      </a:r>
                    </a:p>
                  </a:txBody>
                  <a:tcPr>
                    <a:solidFill>
                      <a:srgbClr val="FFFFFF"/>
                    </a:solidFill>
                  </a:tcPr>
                </a:tc>
                <a:tc>
                  <a:txBody>
                    <a:bodyPr/>
                    <a:lstStyle/>
                    <a:p>
                      <a:pPr algn="ctr"/>
                      <a:r>
                        <a:rPr sz="800" b="1" i="0">
                          <a:solidFill>
                            <a:srgbClr val="1B3A6B"/>
                          </a:solidFill>
                          <a:latin typeface="Calibri"/>
                        </a:rPr>
                        <a:t>72,9</a:t>
                      </a:r>
                    </a:p>
                  </a:txBody>
                  <a:tcPr>
                    <a:solidFill>
                      <a:srgbClr val="DDE8F5"/>
                    </a:solidFill>
                  </a:tcPr>
                </a:tc>
                <a:tc>
                  <a:txBody>
                    <a:bodyPr/>
                    <a:lstStyle/>
                    <a:p>
                      <a:pPr algn="ctr"/>
                      <a:r>
                        <a:rPr sz="800" b="1" i="0">
                          <a:solidFill>
                            <a:srgbClr val="0D0D0D"/>
                          </a:solidFill>
                          <a:latin typeface="Calibri"/>
                        </a:rPr>
                        <a:t>90,0</a:t>
                      </a:r>
                    </a:p>
                  </a:txBody>
                  <a:tcPr>
                    <a:solidFill>
                      <a:srgbClr val="FFFFFF"/>
                    </a:solidFill>
                  </a:tcPr>
                </a:tc>
                <a:tc>
                  <a:txBody>
                    <a:bodyPr/>
                    <a:lstStyle/>
                    <a:p>
                      <a:pPr algn="ctr"/>
                      <a:r>
                        <a:rPr sz="800" b="1" i="0">
                          <a:solidFill>
                            <a:srgbClr val="0D0D0D"/>
                          </a:solidFill>
                          <a:latin typeface="Calibri"/>
                        </a:rPr>
                        <a:t>105,0</a:t>
                      </a:r>
                    </a:p>
                  </a:txBody>
                  <a:tcPr>
                    <a:solidFill>
                      <a:srgbClr val="FFFFFF"/>
                    </a:solidFill>
                  </a:tcPr>
                </a:tc>
              </a:tr>
              <a:tr h="220000">
                <a:tc>
                  <a:txBody>
                    <a:bodyPr/>
                    <a:lstStyle/>
                    <a:p>
                      <a:pPr algn="l"/>
                      <a:r>
                        <a:rPr sz="750" b="0" i="1">
                          <a:solidFill>
                            <a:srgbClr val="555555"/>
                          </a:solidFill>
                          <a:latin typeface="Calibri"/>
                        </a:rPr>
                        <a:t>Marge nette</a:t>
                      </a:r>
                    </a:p>
                  </a:txBody>
                  <a:tcPr>
                    <a:solidFill>
                      <a:srgbClr val="F7F8FA"/>
                    </a:solidFill>
                  </a:tcPr>
                </a:tc>
                <a:tc>
                  <a:txBody>
                    <a:bodyPr/>
                    <a:lstStyle/>
                    <a:p>
                      <a:pPr algn="ctr"/>
                      <a:r>
                        <a:rPr sz="750" b="0" i="1">
                          <a:solidFill>
                            <a:srgbClr val="555555"/>
                          </a:solidFill>
                          <a:latin typeface="Calibri"/>
                        </a:rPr>
                        <a:t>16,2 %</a:t>
                      </a:r>
                    </a:p>
                  </a:txBody>
                  <a:tcPr>
                    <a:solidFill>
                      <a:srgbClr val="F7F8FA"/>
                    </a:solidFill>
                  </a:tcPr>
                </a:tc>
                <a:tc>
                  <a:txBody>
                    <a:bodyPr/>
                    <a:lstStyle/>
                    <a:p>
                      <a:pPr algn="ctr"/>
                      <a:r>
                        <a:rPr sz="750" b="0" i="1">
                          <a:solidFill>
                            <a:srgbClr val="555555"/>
                          </a:solidFill>
                          <a:latin typeface="Calibri"/>
                        </a:rPr>
                        <a:t>48,9 %</a:t>
                      </a:r>
                    </a:p>
                  </a:txBody>
                  <a:tcPr>
                    <a:solidFill>
                      <a:srgbClr val="F7F8FA"/>
                    </a:solidFill>
                  </a:tcPr>
                </a:tc>
                <a:tc>
                  <a:txBody>
                    <a:bodyPr/>
                    <a:lstStyle/>
                    <a:p>
                      <a:pPr algn="ctr"/>
                      <a:r>
                        <a:rPr sz="750" b="0" i="1">
                          <a:solidFill>
                            <a:srgbClr val="555555"/>
                          </a:solidFill>
                          <a:latin typeface="Calibri"/>
                        </a:rPr>
                        <a:t>55,9 %</a:t>
                      </a:r>
                    </a:p>
                  </a:txBody>
                  <a:tcPr>
                    <a:solidFill>
                      <a:srgbClr val="DDE8F5"/>
                    </a:solidFill>
                  </a:tcPr>
                </a:tc>
                <a:tc>
                  <a:txBody>
                    <a:bodyPr/>
                    <a:lstStyle/>
                    <a:p>
                      <a:pPr algn="ctr"/>
                      <a:r>
                        <a:rPr sz="750" b="0" i="1">
                          <a:solidFill>
                            <a:srgbClr val="555555"/>
                          </a:solidFill>
                          <a:latin typeface="Calibri"/>
                        </a:rPr>
                        <a:t>50,0 %</a:t>
                      </a:r>
                    </a:p>
                  </a:txBody>
                  <a:tcPr>
                    <a:solidFill>
                      <a:srgbClr val="F7F8FA"/>
                    </a:solidFill>
                  </a:tcPr>
                </a:tc>
                <a:tc>
                  <a:txBody>
                    <a:bodyPr/>
                    <a:lstStyle/>
                    <a:p>
                      <a:pPr algn="ctr"/>
                      <a:r>
                        <a:rPr sz="750" b="0" i="1">
                          <a:solidFill>
                            <a:srgbClr val="555555"/>
                          </a:solidFill>
                          <a:latin typeface="Calibri"/>
                        </a:rPr>
                        <a:t>47,7 %</a:t>
                      </a:r>
                    </a:p>
                  </a:txBody>
                  <a:tcPr>
                    <a:solidFill>
                      <a:srgbClr val="F7F8FA"/>
                    </a:solidFill>
                  </a:tcPr>
                </a:tc>
              </a:tr>
            </a:tbl>
          </a:graphicData>
        </a:graphic>
      </p:graphicFrame>
      <p:sp>
        <p:nvSpPr>
          <p:cNvPr id="18" name="TextBox 17"/>
          <p:cNvSpPr txBox="1"/>
          <p:nvPr/>
        </p:nvSpPr>
        <p:spPr>
          <a:xfrm>
            <a:off x="367200" y="3218400"/>
            <a:ext cx="8413200" cy="1224000"/>
          </a:xfrm>
          <a:prstGeom prst="rect">
            <a:avLst/>
          </a:prstGeom>
          <a:noFill/>
        </p:spPr>
        <p:txBody>
          <a:bodyPr wrap="square">
            <a:spAutoFit/>
          </a:bodyPr>
          <a:lstStyle/>
          <a:p>
            <a:pPr algn="l"/>
            <a:r>
              <a:rPr sz="850" b="0" i="0">
                <a:solidFill>
                  <a:srgbClr val="555555"/>
                </a:solidFill>
                <a:latin typeface="Calibri"/>
              </a:rPr>
              <a:t>Croissance CA de 114% en 2025 portée par l'IA, avec des marges brute/EBITDA/nette passant respectivement de 56.9%/22.2%/16.2% en 2023 à 75%/66%/55.9% en 2025. Le levier opérationnel et la discipline des coûts expliquent cette performance, générant un cash-flow libre record de 25Mds$ en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USD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8,6 Mds$</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8,5 Mds$</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-126 M$</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5,63</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4,38</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0,1x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d'intérêts</a:t>
                      </a:r>
                    </a:p>
                  </a:txBody>
                  <a:tcPr>
                    <a:solidFill>
                      <a:srgbClr val="F7F8FA"/>
                    </a:solidFill>
                  </a:tcPr>
                </a:tc>
                <a:tc>
                  <a:txBody>
                    <a:bodyPr/>
                    <a:lstStyle/>
                    <a:p>
                      <a:pPr algn="ctr"/>
                      <a:r>
                        <a:rPr sz="800" b="0" i="0">
                          <a:solidFill>
                            <a:srgbClr val="0D0D0D"/>
                          </a:solidFill>
                          <a:latin typeface="Calibri"/>
                        </a:rPr>
                        <a:t>341,2x</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-0,0x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11,84</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-0,78</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
        <p:nvSpPr>
          <p:cNvPr id="31" name="TextBox 30"/>
          <p:cNvSpPr txBox="1"/>
          <p:nvPr/>
        </p:nvSpPr>
        <p:spPr>
          <a:xfrm>
            <a:off x="367200" y="4068000"/>
            <a:ext cx="8413200" cy="468000"/>
          </a:xfrm>
          <a:prstGeom prst="rect">
            <a:avLst/>
          </a:prstGeom>
          <a:noFill/>
        </p:spPr>
        <p:txBody>
          <a:bodyPr wrap="square">
            <a:spAutoFit/>
          </a:bodyPr>
          <a:lstStyle/>
          <a:p>
            <a:pPr algn="l"/>
            <a:r>
              <a:rPr sz="850" b="0" i="0">
                <a:solidFill>
                  <a:srgbClr val="555555"/>
                </a:solidFill>
                <a:latin typeface="Calibri"/>
              </a:rPr>
              <a:t>Croissance CA de 114% en 2025 portée par l'IA, avec des marges brute/EBITDA/nette passant respectivement de 56.9%/22.2%/16.2% en 2023 à 75%/66%/55.9% en 2025. Le levier opérationnel et la discipline des coûts expliquent cette performance, générant un cash-flow libre record de 25Mds$ en 2025.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58,6x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Eleve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49,6x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Très élevé</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32,7x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Très élevé</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75,0 %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66,0 %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91,9 %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94,2 %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Léger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11,84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Solide</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-0,78</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Risque manip.</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TextBox 17"/>
          <p:cNvSpPr txBox="1"/>
          <p:nvPr/>
        </p:nvSpPr>
        <p:spPr>
          <a:xfrm>
            <a:off x="367200" y="3628800"/>
            <a:ext cx="8413200" cy="824400"/>
          </a:xfrm>
          <a:prstGeom prst="rect">
            <a:avLst/>
          </a:prstGeom>
          <a:noFill/>
        </p:spPr>
        <p:txBody>
          <a:bodyPr wrap="square">
            <a:spAutoFit/>
          </a:bodyPr>
          <a:lstStyle/>
          <a:p>
            <a:pPr algn="l"/>
            <a:r>
              <a:rPr sz="850" b="0" i="0">
                <a:solidFill>
                  <a:srgbClr val="555555"/>
                </a:solidFill>
                <a:latin typeface="Calibri"/>
              </a:rPr>
              <a:t>Les marges ont progressé de manière spectaculaire : GM de 56.9% (2023) à 75% (2025), EBITDA de 22.2% à 66%, et net de 16.2% à 55.9%. Cette amélioration s'explique par la domination du segment Data Center (marges &gt;70%), un mix produit favorable et un pricing power exceptionnel. La durabilité de ces niveaux dépend de la capacité à maintenir l'avantage technologique face à la concurrence.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220 $</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175,84 $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150 $</a:t>
                      </a:r>
                    </a:p>
                  </a:txBody>
                  <a:tcPr>
                    <a:solidFill>
                      <a:srgbClr val="FAF0EF"/>
                    </a:solidFill>
                  </a:tcPr>
                </a:tc>
                <a:tc>
                  <a:txBody>
                    <a:bodyPr/>
                    <a:lstStyle/>
                    <a:p>
                      <a:pPr algn="ctr"/>
                      <a:r>
                        <a:rPr sz="2000" b="1" i="0">
                          <a:solidFill>
                            <a:srgbClr val="2E5FA3"/>
                          </a:solidFill>
                          <a:latin typeface="Calibri"/>
                        </a:rPr>
                        <a:t>220 $</a:t>
                      </a:r>
                    </a:p>
                  </a:txBody>
                  <a:tcPr>
                    <a:solidFill>
                      <a:srgbClr val="EEF3FA"/>
                    </a:solidFill>
                  </a:tcPr>
                </a:tc>
                <a:tc>
                  <a:txBody>
                    <a:bodyPr/>
                    <a:lstStyle/>
                    <a:p>
                      <a:pPr algn="ctr"/>
                      <a:r>
                        <a:rPr sz="2000" b="1" i="0">
                          <a:solidFill>
                            <a:srgbClr val="1A7A4A"/>
                          </a:solidFill>
                          <a:latin typeface="Calibri"/>
                        </a:rPr>
                        <a:t>260 $</a:t>
                      </a:r>
                    </a:p>
                  </a:txBody>
                  <a:tcPr>
                    <a:solidFill>
                      <a:srgbClr val="EAF4EF"/>
                    </a:solidFill>
                  </a:tcPr>
                </a:tc>
              </a:tr>
              <a:tr h="342900">
                <a:tc>
                  <a:txBody>
                    <a:bodyPr/>
                    <a:lstStyle/>
                    <a:p>
                      <a:pPr algn="ctr"/>
                      <a:r>
                        <a:rPr sz="1200" b="1" i="0">
                          <a:solidFill>
                            <a:srgbClr val="A82020"/>
                          </a:solidFill>
                          <a:latin typeface="Calibri"/>
                        </a:rPr>
                        <a:t>-14,7 %</a:t>
                      </a:r>
                    </a:p>
                  </a:txBody>
                  <a:tcPr>
                    <a:solidFill>
                      <a:srgbClr val="FAF0EF"/>
                    </a:solidFill>
                  </a:tcPr>
                </a:tc>
                <a:tc>
                  <a:txBody>
                    <a:bodyPr/>
                    <a:lstStyle/>
                    <a:p>
                      <a:pPr algn="ctr"/>
                      <a:r>
                        <a:rPr sz="1200" b="1" i="0">
                          <a:solidFill>
                            <a:srgbClr val="2E5FA3"/>
                          </a:solidFill>
                          <a:latin typeface="Calibri"/>
                        </a:rPr>
                        <a:t>+25,1 %</a:t>
                      </a:r>
                    </a:p>
                  </a:txBody>
                  <a:tcPr>
                    <a:solidFill>
                      <a:srgbClr val="EEF3FA"/>
                    </a:solidFill>
                  </a:tcPr>
                </a:tc>
                <a:tc>
                  <a:txBody>
                    <a:bodyPr/>
                    <a:lstStyle/>
                    <a:p>
                      <a:pPr algn="ctr"/>
                      <a:r>
                        <a:rPr sz="1200" b="1" i="0">
                          <a:solidFill>
                            <a:srgbClr val="1A7A4A"/>
                          </a:solidFill>
                          <a:latin typeface="Calibri"/>
                        </a:rPr>
                        <a:t>+47,9 %</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8413200" cy="201600"/>
          </a:xfrm>
          <a:prstGeom prst="rect">
            <a:avLst/>
          </a:prstGeom>
          <a:noFill/>
        </p:spPr>
        <p:txBody>
          <a:bodyPr wrap="square">
            <a:spAutoFit/>
          </a:bodyPr>
          <a:lstStyle/>
          <a:p>
            <a:pPr algn="l"/>
            <a:r>
              <a:rPr sz="900" b="1" i="0">
                <a:solidFill>
                  <a:srgbClr val="1B3A6B"/>
                </a:solidFill>
                <a:latin typeface="Calibri"/>
              </a:rPr>
              <a:t>Table de sensibilité — Valeur intrinsèque ($)</a:t>
            </a:r>
          </a:p>
        </p:txBody>
      </p:sp>
      <p:graphicFrame>
        <p:nvGraphicFramePr>
          <p:cNvPr id="19" name="Table 18"/>
          <p:cNvGraphicFramePr>
            <a:graphicFrameLocks noGrp="1"/>
          </p:cNvGraphicFramePr>
          <p:nvPr/>
        </p:nvGraphicFramePr>
        <p:xfrm>
          <a:off x="367200" y="2653200"/>
          <a:ext cx="8413200" cy="1116000"/>
        </p:xfrm>
        <a:graphic>
          <a:graphicData uri="http://schemas.openxmlformats.org/drawingml/2006/table">
            <a:tbl>
              <a:tblPr firstRow="1" bandRow="1">
                <a:tableStyleId>{5C22544A-7EE6-4342-B048-85BDC9FD1C3A}</a:tableStyleId>
              </a:tblPr>
              <a:tblGrid>
                <a:gridCol w="1402200"/>
                <a:gridCol w="1402200"/>
                <a:gridCol w="1402200"/>
                <a:gridCol w="1402200"/>
                <a:gridCol w="1402200"/>
                <a:gridCol w="14022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4,0%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15,2%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237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246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256</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279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16,2%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228</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237</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246</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256</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17,2%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220</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228</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237</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18,2%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199</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220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19,1%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193</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205</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TextBox 19"/>
          <p:cNvSpPr txBox="1"/>
          <p:nvPr/>
        </p:nvSpPr>
        <p:spPr>
          <a:xfrm>
            <a:off x="367200" y="3916800"/>
            <a:ext cx="8413200" cy="547200"/>
          </a:xfrm>
          <a:prstGeom prst="rect">
            <a:avLst/>
          </a:prstGeom>
          <a:noFill/>
        </p:spPr>
        <p:txBody>
          <a:bodyPr wrap="square">
            <a:spAutoFit/>
          </a:bodyPr>
          <a:lstStyle/>
          <a:p>
            <a:pPr algn="l"/>
            <a:r>
              <a:rPr sz="850" b="0" i="0">
                <a:solidFill>
                  <a:srgbClr val="555555"/>
                </a:solidFill>
                <a:latin typeface="Calibri"/>
              </a:rPr>
              <a:t>Avec un WACC de 17.2% et un TGR de 3%, le prix implicite DCF est de 240$ (vs cours à 175.84$), suggérant une sous-valorisation de 36%. Cette prime reflète une croissance exceptionnelle déjà partiellement pricee, mais justifiée par des catalyseurs structurels (IA, centres de données). Un ralentissement de la demande en GPU IA déverrouillerait la valeur.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USD</a:t>
            </a:r>
          </a:p>
        </p:txBody>
      </p:sp>
      <p:graphicFrame>
        <p:nvGraphicFramePr>
          <p:cNvPr id="17" name="Table 16"/>
          <p:cNvGraphicFramePr>
            <a:graphicFrameLocks noGrp="1"/>
          </p:cNvGraphicFramePr>
          <p:nvPr/>
        </p:nvGraphicFramePr>
        <p:xfrm>
          <a:off x="367200" y="914400"/>
          <a:ext cx="8413200" cy="2015999"/>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51999">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51999">
                <a:tc>
                  <a:txBody>
                    <a:bodyPr/>
                    <a:lstStyle/>
                    <a:p>
                      <a:pPr algn="l"/>
                      <a:r>
                        <a:rPr sz="800" b="1" i="0">
                          <a:solidFill>
                            <a:srgbClr val="1B3A6B"/>
                          </a:solidFill>
                          <a:latin typeface="Calibri"/>
                        </a:rPr>
                        <a:t>NVIDIA Corporation</a:t>
                      </a:r>
                    </a:p>
                  </a:txBody>
                  <a:tcPr>
                    <a:solidFill>
                      <a:srgbClr val="DDE8F5"/>
                    </a:solidFill>
                  </a:tcPr>
                </a:tc>
                <a:tc>
                  <a:txBody>
                    <a:bodyPr/>
                    <a:lstStyle/>
                    <a:p>
                      <a:pPr algn="ctr"/>
                      <a:r>
                        <a:rPr sz="750" b="1" i="0">
                          <a:solidFill>
                            <a:srgbClr val="2E5FA3"/>
                          </a:solidFill>
                          <a:latin typeface="Calibri"/>
                        </a:rPr>
                        <a:t>NVDA</a:t>
                      </a:r>
                    </a:p>
                  </a:txBody>
                  <a:tcPr>
                    <a:solidFill>
                      <a:srgbClr val="DDE8F5"/>
                    </a:solidFill>
                  </a:tcPr>
                </a:tc>
                <a:tc>
                  <a:txBody>
                    <a:bodyPr/>
                    <a:lstStyle/>
                    <a:p>
                      <a:pPr algn="ctr"/>
                      <a:r>
                        <a:rPr sz="800" b="1" i="0">
                          <a:solidFill>
                            <a:srgbClr val="1B3A6B"/>
                          </a:solidFill>
                          <a:latin typeface="Calibri"/>
                        </a:rPr>
                        <a:t>4 272,9</a:t>
                      </a:r>
                    </a:p>
                  </a:txBody>
                  <a:tcPr>
                    <a:solidFill>
                      <a:srgbClr val="DDE8F5"/>
                    </a:solidFill>
                  </a:tcPr>
                </a:tc>
                <a:tc>
                  <a:txBody>
                    <a:bodyPr/>
                    <a:lstStyle/>
                    <a:p>
                      <a:pPr algn="ctr"/>
                      <a:r>
                        <a:rPr sz="800" b="1" i="0">
                          <a:solidFill>
                            <a:srgbClr val="1B3A6B"/>
                          </a:solidFill>
                          <a:latin typeface="Calibri"/>
                        </a:rPr>
                        <a:t>49,6x</a:t>
                      </a:r>
                    </a:p>
                  </a:txBody>
                  <a:tcPr>
                    <a:solidFill>
                      <a:srgbClr val="DDE8F5"/>
                    </a:solidFill>
                  </a:tcPr>
                </a:tc>
                <a:tc>
                  <a:txBody>
                    <a:bodyPr/>
                    <a:lstStyle/>
                    <a:p>
                      <a:pPr algn="ctr"/>
                      <a:r>
                        <a:rPr sz="800" b="1" i="0">
                          <a:solidFill>
                            <a:srgbClr val="1B3A6B"/>
                          </a:solidFill>
                          <a:latin typeface="Calibri"/>
                        </a:rPr>
                        <a:t>32,7x</a:t>
                      </a:r>
                    </a:p>
                  </a:txBody>
                  <a:tcPr>
                    <a:solidFill>
                      <a:srgbClr val="DDE8F5"/>
                    </a:solidFill>
                  </a:tcPr>
                </a:tc>
                <a:tc>
                  <a:txBody>
                    <a:bodyPr/>
                    <a:lstStyle/>
                    <a:p>
                      <a:pPr algn="ctr"/>
                      <a:r>
                        <a:rPr sz="800" b="1" i="0">
                          <a:solidFill>
                            <a:srgbClr val="1B3A6B"/>
                          </a:solidFill>
                          <a:latin typeface="Calibri"/>
                        </a:rPr>
                        <a:t>58,6x</a:t>
                      </a:r>
                    </a:p>
                  </a:txBody>
                  <a:tcPr>
                    <a:solidFill>
                      <a:srgbClr val="DDE8F5"/>
                    </a:solidFill>
                  </a:tcPr>
                </a:tc>
                <a:tc>
                  <a:txBody>
                    <a:bodyPr/>
                    <a:lstStyle/>
                    <a:p>
                      <a:pPr algn="ctr"/>
                      <a:r>
                        <a:rPr sz="800" b="1" i="0">
                          <a:solidFill>
                            <a:srgbClr val="1B3A6B"/>
                          </a:solidFill>
                          <a:latin typeface="Calibri"/>
                        </a:rPr>
                        <a:t>75,0 %</a:t>
                      </a:r>
                    </a:p>
                  </a:txBody>
                  <a:tcPr>
                    <a:solidFill>
                      <a:srgbClr val="DDE8F5"/>
                    </a:solidFill>
                  </a:tcPr>
                </a:tc>
                <a:tc>
                  <a:txBody>
                    <a:bodyPr/>
                    <a:lstStyle/>
                    <a:p>
                      <a:pPr algn="ctr"/>
                      <a:r>
                        <a:rPr sz="800" b="1" i="0">
                          <a:solidFill>
                            <a:srgbClr val="1B3A6B"/>
                          </a:solidFill>
                          <a:latin typeface="Calibri"/>
                        </a:rPr>
                        <a:t>66,0 %</a:t>
                      </a:r>
                    </a:p>
                  </a:txBody>
                  <a:tcPr>
                    <a:solidFill>
                      <a:srgbClr val="DDE8F5"/>
                    </a:solidFill>
                  </a:tcPr>
                </a:tc>
              </a:tr>
              <a:tr h="251999">
                <a:tc>
                  <a:txBody>
                    <a:bodyPr/>
                    <a:lstStyle/>
                    <a:p>
                      <a:pPr algn="l"/>
                      <a:r>
                        <a:rPr sz="800" b="0" i="0">
                          <a:solidFill>
                            <a:srgbClr val="0D0D0D"/>
                          </a:solidFill>
                          <a:latin typeface="Calibri"/>
                        </a:rPr>
                        <a:t>AMD</a:t>
                      </a:r>
                    </a:p>
                  </a:txBody>
                  <a:tcPr>
                    <a:solidFill>
                      <a:srgbClr val="FFFFFF"/>
                    </a:solidFill>
                  </a:tcPr>
                </a:tc>
                <a:tc>
                  <a:txBody>
                    <a:bodyPr/>
                    <a:lstStyle/>
                    <a:p>
                      <a:pPr algn="ctr"/>
                      <a:r>
                        <a:rPr sz="750" b="0" i="0">
                          <a:solidFill>
                            <a:srgbClr val="555555"/>
                          </a:solidFill>
                          <a:latin typeface="Calibri"/>
                        </a:rPr>
                        <a:t>AMD</a:t>
                      </a:r>
                    </a:p>
                  </a:txBody>
                  <a:tcPr>
                    <a:solidFill>
                      <a:srgbClr val="FFFFFF"/>
                    </a:solidFill>
                  </a:tcPr>
                </a:tc>
                <a:tc>
                  <a:txBody>
                    <a:bodyPr/>
                    <a:lstStyle/>
                    <a:p>
                      <a:pPr algn="ctr"/>
                      <a:r>
                        <a:rPr sz="800" b="0" i="0">
                          <a:solidFill>
                            <a:srgbClr val="0D0D0D"/>
                          </a:solidFill>
                          <a:latin typeface="Calibri"/>
                        </a:rPr>
                        <a:t>280,0</a:t>
                      </a:r>
                    </a:p>
                  </a:txBody>
                  <a:tcPr>
                    <a:solidFill>
                      <a:srgbClr val="FFFFFF"/>
                    </a:solidFill>
                  </a:tcPr>
                </a:tc>
                <a:tc>
                  <a:txBody>
                    <a:bodyPr/>
                    <a:lstStyle/>
                    <a:p>
                      <a:pPr algn="ctr"/>
                      <a:r>
                        <a:rPr sz="800" b="0" i="0">
                          <a:solidFill>
                            <a:srgbClr val="0D0D0D"/>
                          </a:solidFill>
                          <a:latin typeface="Calibri"/>
                        </a:rPr>
                        <a:t>22,0x</a:t>
                      </a:r>
                    </a:p>
                  </a:txBody>
                  <a:tcPr>
                    <a:solidFill>
                      <a:srgbClr val="FFFFFF"/>
                    </a:solidFill>
                  </a:tcPr>
                </a:tc>
                <a:tc>
                  <a:txBody>
                    <a:bodyPr/>
                    <a:lstStyle/>
                    <a:p>
                      <a:pPr algn="ctr"/>
                      <a:r>
                        <a:rPr sz="800" b="0" i="0">
                          <a:solidFill>
                            <a:srgbClr val="0D0D0D"/>
                          </a:solidFill>
                          <a:latin typeface="Calibri"/>
                        </a:rPr>
                        <a:t>5,5x</a:t>
                      </a:r>
                    </a:p>
                  </a:txBody>
                  <a:tcPr>
                    <a:solidFill>
                      <a:srgbClr val="FFFFFF"/>
                    </a:solidFill>
                  </a:tcPr>
                </a:tc>
                <a:tc>
                  <a:txBody>
                    <a:bodyPr/>
                    <a:lstStyle/>
                    <a:p>
                      <a:pPr algn="ctr"/>
                      <a:r>
                        <a:rPr sz="800" b="0" i="0">
                          <a:solidFill>
                            <a:srgbClr val="0D0D0D"/>
                          </a:solidFill>
                          <a:latin typeface="Calibri"/>
                        </a:rPr>
                        <a:t>45,0x</a:t>
                      </a:r>
                    </a:p>
                  </a:txBody>
                  <a:tcPr>
                    <a:solidFill>
                      <a:srgbClr val="FFFFFF"/>
                    </a:solidFill>
                  </a:tcPr>
                </a:tc>
                <a:tc>
                  <a:txBody>
                    <a:bodyPr/>
                    <a:lstStyle/>
                    <a:p>
                      <a:pPr algn="ctr"/>
                      <a:r>
                        <a:rPr sz="800" b="0" i="0">
                          <a:solidFill>
                            <a:srgbClr val="0D0D0D"/>
                          </a:solidFill>
                          <a:latin typeface="Calibri"/>
                        </a:rPr>
                        <a:t>50,0 %</a:t>
                      </a:r>
                    </a:p>
                  </a:txBody>
                  <a:tcPr>
                    <a:solidFill>
                      <a:srgbClr val="FFFFFF"/>
                    </a:solidFill>
                  </a:tcPr>
                </a:tc>
                <a:tc>
                  <a:txBody>
                    <a:bodyPr/>
                    <a:lstStyle/>
                    <a:p>
                      <a:pPr algn="ctr"/>
                      <a:r>
                        <a:rPr sz="800" b="0" i="0">
                          <a:solidFill>
                            <a:srgbClr val="0D0D0D"/>
                          </a:solidFill>
                          <a:latin typeface="Calibri"/>
                        </a:rPr>
                        <a:t>25,0 %</a:t>
                      </a:r>
                    </a:p>
                  </a:txBody>
                  <a:tcPr>
                    <a:solidFill>
                      <a:srgbClr val="FFFFFF"/>
                    </a:solidFill>
                  </a:tcPr>
                </a:tc>
              </a:tr>
              <a:tr h="251999">
                <a:tc>
                  <a:txBody>
                    <a:bodyPr/>
                    <a:lstStyle/>
                    <a:p>
                      <a:pPr algn="l"/>
                      <a:r>
                        <a:rPr sz="800" b="0" i="0">
                          <a:solidFill>
                            <a:srgbClr val="0D0D0D"/>
                          </a:solidFill>
                          <a:latin typeface="Calibri"/>
                        </a:rPr>
                        <a:t>Intel</a:t>
                      </a:r>
                    </a:p>
                  </a:txBody>
                  <a:tcPr>
                    <a:solidFill>
                      <a:srgbClr val="F7F8FA"/>
                    </a:solidFill>
                  </a:tcPr>
                </a:tc>
                <a:tc>
                  <a:txBody>
                    <a:bodyPr/>
                    <a:lstStyle/>
                    <a:p>
                      <a:pPr algn="ctr"/>
                      <a:r>
                        <a:rPr sz="750" b="0" i="0">
                          <a:solidFill>
                            <a:srgbClr val="555555"/>
                          </a:solidFill>
                          <a:latin typeface="Calibri"/>
                        </a:rPr>
                        <a:t>INTC</a:t>
                      </a:r>
                    </a:p>
                  </a:txBody>
                  <a:tcPr>
                    <a:solidFill>
                      <a:srgbClr val="F7F8FA"/>
                    </a:solidFill>
                  </a:tcPr>
                </a:tc>
                <a:tc>
                  <a:txBody>
                    <a:bodyPr/>
                    <a:lstStyle/>
                    <a:p>
                      <a:pPr algn="ctr"/>
                      <a:r>
                        <a:rPr sz="800" b="0" i="0">
                          <a:solidFill>
                            <a:srgbClr val="0D0D0D"/>
                          </a:solidFill>
                          <a:latin typeface="Calibri"/>
                        </a:rPr>
                        <a:t>180,0</a:t>
                      </a:r>
                    </a:p>
                  </a:txBody>
                  <a:tcPr>
                    <a:solidFill>
                      <a:srgbClr val="F7F8FA"/>
                    </a:solidFill>
                  </a:tcPr>
                </a:tc>
                <a:tc>
                  <a:txBody>
                    <a:bodyPr/>
                    <a:lstStyle/>
                    <a:p>
                      <a:pPr algn="ctr"/>
                      <a:r>
                        <a:rPr sz="800" b="0" i="0">
                          <a:solidFill>
                            <a:srgbClr val="0D0D0D"/>
                          </a:solidFill>
                          <a:latin typeface="Calibri"/>
                        </a:rPr>
                        <a:t>12,0x</a:t>
                      </a:r>
                    </a:p>
                  </a:txBody>
                  <a:tcPr>
                    <a:solidFill>
                      <a:srgbClr val="F7F8FA"/>
                    </a:solidFill>
                  </a:tcPr>
                </a:tc>
                <a:tc>
                  <a:txBody>
                    <a:bodyPr/>
                    <a:lstStyle/>
                    <a:p>
                      <a:pPr algn="ctr"/>
                      <a:r>
                        <a:rPr sz="800" b="0" i="0">
                          <a:solidFill>
                            <a:srgbClr val="0D0D0D"/>
                          </a:solidFill>
                          <a:latin typeface="Calibri"/>
                        </a:rPr>
                        <a:t>2,5x</a:t>
                      </a:r>
                    </a:p>
                  </a:txBody>
                  <a:tcPr>
                    <a:solidFill>
                      <a:srgbClr val="F7F8FA"/>
                    </a:solidFill>
                  </a:tcPr>
                </a:tc>
                <a:tc>
                  <a:txBody>
                    <a:bodyPr/>
                    <a:lstStyle/>
                    <a:p>
                      <a:pPr algn="ctr"/>
                      <a:r>
                        <a:rPr sz="800" b="0" i="0">
                          <a:solidFill>
                            <a:srgbClr val="0D0D0D"/>
                          </a:solidFill>
                          <a:latin typeface="Calibri"/>
                        </a:rPr>
                        <a:t>25,0x</a:t>
                      </a:r>
                    </a:p>
                  </a:txBody>
                  <a:tcPr>
                    <a:solidFill>
                      <a:srgbClr val="F7F8FA"/>
                    </a:solidFill>
                  </a:tcPr>
                </a:tc>
                <a:tc>
                  <a:txBody>
                    <a:bodyPr/>
                    <a:lstStyle/>
                    <a:p>
                      <a:pPr algn="ctr"/>
                      <a:r>
                        <a:rPr sz="800" b="0" i="0">
                          <a:solidFill>
                            <a:srgbClr val="0D0D0D"/>
                          </a:solidFill>
                          <a:latin typeface="Calibri"/>
                        </a:rPr>
                        <a:t>45,0 %</a:t>
                      </a:r>
                    </a:p>
                  </a:txBody>
                  <a:tcPr>
                    <a:solidFill>
                      <a:srgbClr val="F7F8FA"/>
                    </a:solidFill>
                  </a:tcPr>
                </a:tc>
                <a:tc>
                  <a:txBody>
                    <a:bodyPr/>
                    <a:lstStyle/>
                    <a:p>
                      <a:pPr algn="ctr"/>
                      <a:r>
                        <a:rPr sz="800" b="0" i="0">
                          <a:solidFill>
                            <a:srgbClr val="0D0D0D"/>
                          </a:solidFill>
                          <a:latin typeface="Calibri"/>
                        </a:rPr>
                        <a:t>15,0 %</a:t>
                      </a:r>
                    </a:p>
                  </a:txBody>
                  <a:tcPr>
                    <a:solidFill>
                      <a:srgbClr val="F7F8FA"/>
                    </a:solidFill>
                  </a:tcPr>
                </a:tc>
              </a:tr>
              <a:tr h="251999">
                <a:tc>
                  <a:txBody>
                    <a:bodyPr/>
                    <a:lstStyle/>
                    <a:p>
                      <a:pPr algn="l"/>
                      <a:r>
                        <a:rPr sz="800" b="0" i="0">
                          <a:solidFill>
                            <a:srgbClr val="0D0D0D"/>
                          </a:solidFill>
                          <a:latin typeface="Calibri"/>
                        </a:rPr>
                        <a:t>Qualcomm</a:t>
                      </a:r>
                    </a:p>
                  </a:txBody>
                  <a:tcPr>
                    <a:solidFill>
                      <a:srgbClr val="FFFFFF"/>
                    </a:solidFill>
                  </a:tcPr>
                </a:tc>
                <a:tc>
                  <a:txBody>
                    <a:bodyPr/>
                    <a:lstStyle/>
                    <a:p>
                      <a:pPr algn="ctr"/>
                      <a:r>
                        <a:rPr sz="750" b="0" i="0">
                          <a:solidFill>
                            <a:srgbClr val="555555"/>
                          </a:solidFill>
                          <a:latin typeface="Calibri"/>
                        </a:rPr>
                        <a:t>QCOM</a:t>
                      </a:r>
                    </a:p>
                  </a:txBody>
                  <a:tcPr>
                    <a:solidFill>
                      <a:srgbClr val="FFFFFF"/>
                    </a:solidFill>
                  </a:tcPr>
                </a:tc>
                <a:tc>
                  <a:txBody>
                    <a:bodyPr/>
                    <a:lstStyle/>
                    <a:p>
                      <a:pPr algn="ctr"/>
                      <a:r>
                        <a:rPr sz="800" b="0" i="0">
                          <a:solidFill>
                            <a:srgbClr val="0D0D0D"/>
                          </a:solidFill>
                          <a:latin typeface="Calibri"/>
                        </a:rPr>
                        <a:t>220,0</a:t>
                      </a:r>
                    </a:p>
                  </a:txBody>
                  <a:tcPr>
                    <a:solidFill>
                      <a:srgbClr val="FFFFFF"/>
                    </a:solidFill>
                  </a:tcPr>
                </a:tc>
                <a:tc>
                  <a:txBody>
                    <a:bodyPr/>
                    <a:lstStyle/>
                    <a:p>
                      <a:pPr algn="ctr"/>
                      <a:r>
                        <a:rPr sz="800" b="0" i="0">
                          <a:solidFill>
                            <a:srgbClr val="0D0D0D"/>
                          </a:solidFill>
                          <a:latin typeface="Calibri"/>
                        </a:rPr>
                        <a:t>18,0x</a:t>
                      </a:r>
                    </a:p>
                  </a:txBody>
                  <a:tcPr>
                    <a:solidFill>
                      <a:srgbClr val="FFFFFF"/>
                    </a:solidFill>
                  </a:tcPr>
                </a:tc>
                <a:tc>
                  <a:txBody>
                    <a:bodyPr/>
                    <a:lstStyle/>
                    <a:p>
                      <a:pPr algn="ctr"/>
                      <a:r>
                        <a:rPr sz="800" b="0" i="0">
                          <a:solidFill>
                            <a:srgbClr val="0D0D0D"/>
                          </a:solidFill>
                          <a:latin typeface="Calibri"/>
                        </a:rPr>
                        <a:t>6,0x</a:t>
                      </a:r>
                    </a:p>
                  </a:txBody>
                  <a:tcPr>
                    <a:solidFill>
                      <a:srgbClr val="FFFFFF"/>
                    </a:solidFill>
                  </a:tcPr>
                </a:tc>
                <a:tc>
                  <a:txBody>
                    <a:bodyPr/>
                    <a:lstStyle/>
                    <a:p>
                      <a:pPr algn="ctr"/>
                      <a:r>
                        <a:rPr sz="800" b="0" i="0">
                          <a:solidFill>
                            <a:srgbClr val="0D0D0D"/>
                          </a:solidFill>
                          <a:latin typeface="Calibri"/>
                        </a:rPr>
                        <a:t>22,0x</a:t>
                      </a:r>
                    </a:p>
                  </a:txBody>
                  <a:tcPr>
                    <a:solidFill>
                      <a:srgbClr val="FFFFFF"/>
                    </a:solidFill>
                  </a:tcPr>
                </a:tc>
                <a:tc>
                  <a:txBody>
                    <a:bodyPr/>
                    <a:lstStyle/>
                    <a:p>
                      <a:pPr algn="ctr"/>
                      <a:r>
                        <a:rPr sz="800" b="0" i="0">
                          <a:solidFill>
                            <a:srgbClr val="0D0D0D"/>
                          </a:solidFill>
                          <a:latin typeface="Calibri"/>
                        </a:rPr>
                        <a:t>55,0 %</a:t>
                      </a:r>
                    </a:p>
                  </a:txBody>
                  <a:tcPr>
                    <a:solidFill>
                      <a:srgbClr val="FFFFFF"/>
                    </a:solidFill>
                  </a:tcPr>
                </a:tc>
                <a:tc>
                  <a:txBody>
                    <a:bodyPr/>
                    <a:lstStyle/>
                    <a:p>
                      <a:pPr algn="ctr"/>
                      <a:r>
                        <a:rPr sz="800" b="0" i="0">
                          <a:solidFill>
                            <a:srgbClr val="0D0D0D"/>
                          </a:solidFill>
                          <a:latin typeface="Calibri"/>
                        </a:rPr>
                        <a:t>35,0 %</a:t>
                      </a:r>
                    </a:p>
                  </a:txBody>
                  <a:tcPr>
                    <a:solidFill>
                      <a:srgbClr val="FFFFFF"/>
                    </a:solidFill>
                  </a:tcPr>
                </a:tc>
              </a:tr>
              <a:tr h="251999">
                <a:tc>
                  <a:txBody>
                    <a:bodyPr/>
                    <a:lstStyle/>
                    <a:p>
                      <a:pPr algn="l"/>
                      <a:r>
                        <a:rPr sz="800" b="0" i="0">
                          <a:solidFill>
                            <a:srgbClr val="0D0D0D"/>
                          </a:solidFill>
                          <a:latin typeface="Calibri"/>
                        </a:rPr>
                        <a:t>Broadcom</a:t>
                      </a:r>
                    </a:p>
                  </a:txBody>
                  <a:tcPr>
                    <a:solidFill>
                      <a:srgbClr val="F7F8FA"/>
                    </a:solidFill>
                  </a:tcPr>
                </a:tc>
                <a:tc>
                  <a:txBody>
                    <a:bodyPr/>
                    <a:lstStyle/>
                    <a:p>
                      <a:pPr algn="ctr"/>
                      <a:r>
                        <a:rPr sz="750" b="0" i="0">
                          <a:solidFill>
                            <a:srgbClr val="555555"/>
                          </a:solidFill>
                          <a:latin typeface="Calibri"/>
                        </a:rPr>
                        <a:t>AVGO</a:t>
                      </a:r>
                    </a:p>
                  </a:txBody>
                  <a:tcPr>
                    <a:solidFill>
                      <a:srgbClr val="F7F8FA"/>
                    </a:solidFill>
                  </a:tcPr>
                </a:tc>
                <a:tc>
                  <a:txBody>
                    <a:bodyPr/>
                    <a:lstStyle/>
                    <a:p>
                      <a:pPr algn="ctr"/>
                      <a:r>
                        <a:rPr sz="800" b="0" i="0">
                          <a:solidFill>
                            <a:srgbClr val="0D0D0D"/>
                          </a:solidFill>
                          <a:latin typeface="Calibri"/>
                        </a:rPr>
                        <a:t>550,0</a:t>
                      </a:r>
                    </a:p>
                  </a:txBody>
                  <a:tcPr>
                    <a:solidFill>
                      <a:srgbClr val="F7F8FA"/>
                    </a:solidFill>
                  </a:tcPr>
                </a:tc>
                <a:tc>
                  <a:txBody>
                    <a:bodyPr/>
                    <a:lstStyle/>
                    <a:p>
                      <a:pPr algn="ctr"/>
                      <a:r>
                        <a:rPr sz="800" b="0" i="0">
                          <a:solidFill>
                            <a:srgbClr val="0D0D0D"/>
                          </a:solidFill>
                          <a:latin typeface="Calibri"/>
                        </a:rPr>
                        <a:t>30,0x</a:t>
                      </a:r>
                    </a:p>
                  </a:txBody>
                  <a:tcPr>
                    <a:solidFill>
                      <a:srgbClr val="F7F8FA"/>
                    </a:solidFill>
                  </a:tcPr>
                </a:tc>
                <a:tc>
                  <a:txBody>
                    <a:bodyPr/>
                    <a:lstStyle/>
                    <a:p>
                      <a:pPr algn="ctr"/>
                      <a:r>
                        <a:rPr sz="800" b="0" i="0">
                          <a:solidFill>
                            <a:srgbClr val="0D0D0D"/>
                          </a:solidFill>
                          <a:latin typeface="Calibri"/>
                        </a:rPr>
                        <a:t>15,0x</a:t>
                      </a:r>
                    </a:p>
                  </a:txBody>
                  <a:tcPr>
                    <a:solidFill>
                      <a:srgbClr val="F7F8FA"/>
                    </a:solidFill>
                  </a:tcPr>
                </a:tc>
                <a:tc>
                  <a:txBody>
                    <a:bodyPr/>
                    <a:lstStyle/>
                    <a:p>
                      <a:pPr algn="ctr"/>
                      <a:r>
                        <a:rPr sz="800" b="0" i="0">
                          <a:solidFill>
                            <a:srgbClr val="0D0D0D"/>
                          </a:solidFill>
                          <a:latin typeface="Calibri"/>
                        </a:rPr>
                        <a:t>35,0x</a:t>
                      </a:r>
                    </a:p>
                  </a:txBody>
                  <a:tcPr>
                    <a:solidFill>
                      <a:srgbClr val="F7F8FA"/>
                    </a:solidFill>
                  </a:tcPr>
                </a:tc>
                <a:tc>
                  <a:txBody>
                    <a:bodyPr/>
                    <a:lstStyle/>
                    <a:p>
                      <a:pPr algn="ctr"/>
                      <a:r>
                        <a:rPr sz="800" b="0" i="0">
                          <a:solidFill>
                            <a:srgbClr val="0D0D0D"/>
                          </a:solidFill>
                          <a:latin typeface="Calibri"/>
                        </a:rPr>
                        <a:t>70,0 %</a:t>
                      </a:r>
                    </a:p>
                  </a:txBody>
                  <a:tcPr>
                    <a:solidFill>
                      <a:srgbClr val="F7F8FA"/>
                    </a:solidFill>
                  </a:tcPr>
                </a:tc>
                <a:tc>
                  <a:txBody>
                    <a:bodyPr/>
                    <a:lstStyle/>
                    <a:p>
                      <a:pPr algn="ctr"/>
                      <a:r>
                        <a:rPr sz="800" b="0" i="0">
                          <a:solidFill>
                            <a:srgbClr val="0D0D0D"/>
                          </a:solidFill>
                          <a:latin typeface="Calibri"/>
                        </a:rPr>
                        <a:t>55,0 %</a:t>
                      </a:r>
                    </a:p>
                  </a:txBody>
                  <a:tcPr>
                    <a:solidFill>
                      <a:srgbClr val="F7F8FA"/>
                    </a:solidFill>
                  </a:tcPr>
                </a:tc>
              </a:tr>
              <a:tr h="251999">
                <a:tc>
                  <a:txBody>
                    <a:bodyPr/>
                    <a:lstStyle/>
                    <a:p>
                      <a:pPr algn="l"/>
                      <a:r>
                        <a:rPr sz="800" b="0" i="0">
                          <a:solidFill>
                            <a:srgbClr val="0D0D0D"/>
                          </a:solidFill>
                          <a:latin typeface="Calibri"/>
                        </a:rPr>
                        <a:t>TSMC</a:t>
                      </a:r>
                    </a:p>
                  </a:txBody>
                  <a:tcPr>
                    <a:solidFill>
                      <a:srgbClr val="FFFFFF"/>
                    </a:solidFill>
                  </a:tcPr>
                </a:tc>
                <a:tc>
                  <a:txBody>
                    <a:bodyPr/>
                    <a:lstStyle/>
                    <a:p>
                      <a:pPr algn="ctr"/>
                      <a:r>
                        <a:rPr sz="750" b="0" i="0">
                          <a:solidFill>
                            <a:srgbClr val="555555"/>
                          </a:solidFill>
                          <a:latin typeface="Calibri"/>
                        </a:rPr>
                        <a:t>TSM</a:t>
                      </a:r>
                    </a:p>
                  </a:txBody>
                  <a:tcPr>
                    <a:solidFill>
                      <a:srgbClr val="FFFFFF"/>
                    </a:solidFill>
                  </a:tcPr>
                </a:tc>
                <a:tc>
                  <a:txBody>
                    <a:bodyPr/>
                    <a:lstStyle/>
                    <a:p>
                      <a:pPr algn="ctr"/>
                      <a:r>
                        <a:rPr sz="800" b="0" i="0">
                          <a:solidFill>
                            <a:srgbClr val="0D0D0D"/>
                          </a:solidFill>
                          <a:latin typeface="Calibri"/>
                        </a:rPr>
                        <a:t>600,0</a:t>
                      </a:r>
                    </a:p>
                  </a:txBody>
                  <a:tcPr>
                    <a:solidFill>
                      <a:srgbClr val="FFFFFF"/>
                    </a:solidFill>
                  </a:tcPr>
                </a:tc>
                <a:tc>
                  <a:txBody>
                    <a:bodyPr/>
                    <a:lstStyle/>
                    <a:p>
                      <a:pPr algn="ctr"/>
                      <a:r>
                        <a:rPr sz="800" b="0" i="0">
                          <a:solidFill>
                            <a:srgbClr val="0D0D0D"/>
                          </a:solidFill>
                          <a:latin typeface="Calibri"/>
                        </a:rPr>
                        <a:t>18,0x</a:t>
                      </a:r>
                    </a:p>
                  </a:txBody>
                  <a:tcPr>
                    <a:solidFill>
                      <a:srgbClr val="FFFFFF"/>
                    </a:solidFill>
                  </a:tcPr>
                </a:tc>
                <a:tc>
                  <a:txBody>
                    <a:bodyPr/>
                    <a:lstStyle/>
                    <a:p>
                      <a:pPr algn="ctr"/>
                      <a:r>
                        <a:rPr sz="800" b="0" i="0">
                          <a:solidFill>
                            <a:srgbClr val="0D0D0D"/>
                          </a:solidFill>
                          <a:latin typeface="Calibri"/>
                        </a:rPr>
                        <a:t>12,0x</a:t>
                      </a:r>
                    </a:p>
                  </a:txBody>
                  <a:tcPr>
                    <a:solidFill>
                      <a:srgbClr val="FFFFFF"/>
                    </a:solidFill>
                  </a:tcPr>
                </a:tc>
                <a:tc>
                  <a:txBody>
                    <a:bodyPr/>
                    <a:lstStyle/>
                    <a:p>
                      <a:pPr algn="ctr"/>
                      <a:r>
                        <a:rPr sz="800" b="0" i="0">
                          <a:solidFill>
                            <a:srgbClr val="0D0D0D"/>
                          </a:solidFill>
                          <a:latin typeface="Calibri"/>
                        </a:rPr>
                        <a:t>20,0x</a:t>
                      </a:r>
                    </a:p>
                  </a:txBody>
                  <a:tcPr>
                    <a:solidFill>
                      <a:srgbClr val="FFFFFF"/>
                    </a:solidFill>
                  </a:tcPr>
                </a:tc>
                <a:tc>
                  <a:txBody>
                    <a:bodyPr/>
                    <a:lstStyle/>
                    <a:p>
                      <a:pPr algn="ctr"/>
                      <a:r>
                        <a:rPr sz="800" b="0" i="0">
                          <a:solidFill>
                            <a:srgbClr val="0D0D0D"/>
                          </a:solidFill>
                          <a:latin typeface="Calibri"/>
                        </a:rPr>
                        <a:t>50,0 %</a:t>
                      </a:r>
                    </a:p>
                  </a:txBody>
                  <a:tcPr>
                    <a:solidFill>
                      <a:srgbClr val="FFFFFF"/>
                    </a:solidFill>
                  </a:tcPr>
                </a:tc>
                <a:tc>
                  <a:txBody>
                    <a:bodyPr/>
                    <a:lstStyle/>
                    <a:p>
                      <a:pPr algn="ctr"/>
                      <a:r>
                        <a:rPr sz="800" b="0" i="0">
                          <a:solidFill>
                            <a:srgbClr val="0D0D0D"/>
                          </a:solidFill>
                          <a:latin typeface="Calibri"/>
                        </a:rPr>
                        <a:t>45,0 %</a:t>
                      </a:r>
                    </a:p>
                  </a:txBody>
                  <a:tcPr>
                    <a:solidFill>
                      <a:srgbClr val="FFFFFF"/>
                    </a:solidFill>
                  </a:tcPr>
                </a:tc>
              </a:tr>
              <a:tr h="252006">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18,0x</a:t>
                      </a:r>
                    </a:p>
                  </a:txBody>
                  <a:tcPr>
                    <a:solidFill>
                      <a:srgbClr val="F7F8FA"/>
                    </a:solidFill>
                  </a:tcPr>
                </a:tc>
                <a:tc>
                  <a:txBody>
                    <a:bodyPr/>
                    <a:lstStyle/>
                    <a:p>
                      <a:pPr algn="ctr"/>
                      <a:r>
                        <a:rPr sz="800" b="1" i="0">
                          <a:solidFill>
                            <a:srgbClr val="0D0D0D"/>
                          </a:solidFill>
                          <a:latin typeface="Calibri"/>
                        </a:rPr>
                        <a:t>6,0x</a:t>
                      </a:r>
                    </a:p>
                  </a:txBody>
                  <a:tcPr>
                    <a:solidFill>
                      <a:srgbClr val="F7F8FA"/>
                    </a:solidFill>
                  </a:tcPr>
                </a:tc>
                <a:tc>
                  <a:txBody>
                    <a:bodyPr/>
                    <a:lstStyle/>
                    <a:p>
                      <a:pPr algn="ctr"/>
                      <a:r>
                        <a:rPr sz="800" b="1" i="0">
                          <a:solidFill>
                            <a:srgbClr val="0D0D0D"/>
                          </a:solidFill>
                          <a:latin typeface="Calibri"/>
                        </a:rPr>
                        <a:t>25,0x</a:t>
                      </a:r>
                    </a:p>
                  </a:txBody>
                  <a:tcPr>
                    <a:solidFill>
                      <a:srgbClr val="F7F8FA"/>
                    </a:solidFill>
                  </a:tcPr>
                </a:tc>
                <a:tc>
                  <a:txBody>
                    <a:bodyPr/>
                    <a:lstStyle/>
                    <a:p>
                      <a:pPr algn="ctr"/>
                      <a:r>
                        <a:rPr sz="800" b="1" i="0">
                          <a:solidFill>
                            <a:srgbClr val="0D0D0D"/>
                          </a:solidFill>
                          <a:latin typeface="Calibri"/>
                        </a:rPr>
                        <a:t>50,0 %</a:t>
                      </a:r>
                    </a:p>
                  </a:txBody>
                  <a:tcPr>
                    <a:solidFill>
                      <a:srgbClr val="F7F8FA"/>
                    </a:solidFill>
                  </a:tcPr>
                </a:tc>
                <a:tc>
                  <a:txBody>
                    <a:bodyPr/>
                    <a:lstStyle/>
                    <a:p>
                      <a:pPr algn="ctr"/>
                      <a:r>
                        <a:rPr sz="800" b="1" i="0">
                          <a:solidFill>
                            <a:srgbClr val="0D0D0D"/>
                          </a:solidFill>
                          <a:latin typeface="Calibri"/>
                        </a:rPr>
                        <a:t>35,0 %</a:t>
                      </a:r>
                    </a:p>
                  </a:txBody>
                  <a:tcPr>
                    <a:solidFill>
                      <a:srgbClr val="F7F8FA"/>
                    </a:solidFill>
                  </a:tcPr>
                </a:tc>
              </a:tr>
            </a:tbl>
          </a:graphicData>
        </a:graphic>
      </p:graphicFrame>
      <p:sp>
        <p:nvSpPr>
          <p:cNvPr id="18" name="TextBox 17"/>
          <p:cNvSpPr txBox="1"/>
          <p:nvPr/>
        </p:nvSpPr>
        <p:spPr>
          <a:xfrm>
            <a:off x="367200" y="3128400"/>
            <a:ext cx="8413200" cy="1234800"/>
          </a:xfrm>
          <a:prstGeom prst="rect">
            <a:avLst/>
          </a:prstGeom>
          <a:noFill/>
        </p:spPr>
        <p:txBody>
          <a:bodyPr wrap="square">
            <a:spAutoFit/>
          </a:bodyPr>
          <a:lstStyle/>
          <a:p>
            <a:pPr algn="l"/>
            <a:r>
              <a:rPr sz="850" b="0" i="0">
                <a:solidFill>
                  <a:srgbClr val="555555"/>
                </a:solidFill>
                <a:latin typeface="Calibri"/>
              </a:rPr>
              <a:t>NVIDIA affiche un EV/EBITDA de 49.6x et un P/E de 58.6x, vs médiane peers à 25x et 30x respectivement, soit une prime de 98% et 95%. Cette prime est justifiée par une croissance CA 2025F de 114% (vs 15% pour peers) et des marges nettes de 55.9% (vs 20% peers). Une convergence vers la médiane impliquerait un downside de 30%, mais peu probable compte tenu de l'avance technologique.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USD par action</a:t>
            </a:r>
          </a:p>
        </p:txBody>
      </p:sp>
      <p:pic>
        <p:nvPicPr>
          <p:cNvPr id="17" name="Picture 16" descr="image.png"/>
          <p:cNvPicPr>
            <a:picLocks noChangeAspect="1"/>
          </p:cNvPicPr>
          <p:nvPr/>
        </p:nvPicPr>
        <p:blipFill>
          <a:blip r:embed="rId2"/>
          <a:stretch>
            <a:fillRect/>
          </a:stretch>
        </p:blipFill>
        <p:spPr>
          <a:xfrm>
            <a:off x="367200" y="914400"/>
            <a:ext cx="8413200" cy="2448000"/>
          </a:xfrm>
          <a:prstGeom prst="rect">
            <a:avLst/>
          </a:prstGeom>
        </p:spPr>
      </p:pic>
      <p:sp>
        <p:nvSpPr>
          <p:cNvPr id="18" name="TextBox 17"/>
          <p:cNvSpPr txBox="1"/>
          <p:nvPr/>
        </p:nvSpPr>
        <p:spPr>
          <a:xfrm>
            <a:off x="367200" y="3488400"/>
            <a:ext cx="8413200" cy="914400"/>
          </a:xfrm>
          <a:prstGeom prst="rect">
            <a:avLst/>
          </a:prstGeom>
          <a:noFill/>
        </p:spPr>
        <p:txBody>
          <a:bodyPr wrap="square">
            <a:spAutoFit/>
          </a:bodyPr>
          <a:lstStyle/>
          <a:p>
            <a:pPr algn="l"/>
            <a:r>
              <a:rPr sz="850" b="0" i="0">
                <a:solidFill>
                  <a:srgbClr val="555555"/>
                </a:solidFill>
                <a:latin typeface="Calibri"/>
              </a:rPr>
              <a:t>Avec un WACC de 17.2% et un TGR de 3%, le prix implicite DCF est de 240$ (vs cours à 175.84$), suggérant une sous-valorisation de 36%. Cette prime reflète une croissance exceptionnelle déjà partiellement pricee, mais justifiée par des catalyseurs structurels (IA, centres de données). Un ralentissement de la demande en GPU IA déverrouillerait la valeur.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396000"/>
          </a:xfrm>
          <a:prstGeom prst="rect">
            <a:avLst/>
          </a:prstGeom>
          <a:noFill/>
        </p:spPr>
        <p:txBody>
          <a:bodyPr wrap="square">
            <a:spAutoFit/>
          </a:bodyPr>
          <a:lstStyle/>
          <a:p>
            <a:pPr algn="l"/>
            <a:r>
              <a:rPr sz="900" b="1" i="0">
                <a:solidFill>
                  <a:srgbClr val="A82020"/>
                </a:solidFill>
                <a:latin typeface="Calibri"/>
              </a:rPr>
              <a:t>Régulation antitrust</a:t>
            </a:r>
          </a:p>
        </p:txBody>
      </p:sp>
      <p:sp>
        <p:nvSpPr>
          <p:cNvPr id="20" name="TextBox 19"/>
          <p:cNvSpPr txBox="1"/>
          <p:nvPr/>
        </p:nvSpPr>
        <p:spPr>
          <a:xfrm>
            <a:off x="475200" y="1537199"/>
            <a:ext cx="2527200" cy="1260000"/>
          </a:xfrm>
          <a:prstGeom prst="rect">
            <a:avLst/>
          </a:prstGeom>
          <a:noFill/>
        </p:spPr>
        <p:txBody>
          <a:bodyPr wrap="square">
            <a:spAutoFit/>
          </a:bodyPr>
          <a:lstStyle/>
          <a:p>
            <a:pPr algn="l"/>
            <a:r>
              <a:rPr sz="800" b="0" i="0">
                <a:solidFill>
                  <a:srgbClr val="555555"/>
                </a:solidFill>
                <a:latin typeface="Calibri"/>
              </a:rPr>
              <a:t>Les marges exceptionnelles de 75% en brut et 55,9% en net reposent sur un quasi-monopole sur les GPU haut de gamme, mais ce leadership est menacé par les régulations antitrust américaines et chinoises qui pourraient imposer des amendes colossales ou des restrictions d'exportation, réduisant les ventes en Chine de 25% dès 2026.</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396000"/>
          </a:xfrm>
          <a:prstGeom prst="rect">
            <a:avLst/>
          </a:prstGeom>
          <a:noFill/>
        </p:spPr>
        <p:txBody>
          <a:bodyPr wrap="square">
            <a:spAutoFit/>
          </a:bodyPr>
          <a:lstStyle/>
          <a:p>
            <a:pPr algn="l"/>
            <a:r>
              <a:rPr sz="900" b="1" i="0">
                <a:solidFill>
                  <a:srgbClr val="2E5FA3"/>
                </a:solidFill>
                <a:latin typeface="Calibri"/>
              </a:rPr>
              <a:t>Surévaluation flagrante</a:t>
            </a:r>
          </a:p>
        </p:txBody>
      </p:sp>
      <p:sp>
        <p:nvSpPr>
          <p:cNvPr id="24" name="TextBox 23"/>
          <p:cNvSpPr txBox="1"/>
          <p:nvPr/>
        </p:nvSpPr>
        <p:spPr>
          <a:xfrm>
            <a:off x="3337200" y="1537199"/>
            <a:ext cx="2527200" cy="1260000"/>
          </a:xfrm>
          <a:prstGeom prst="rect">
            <a:avLst/>
          </a:prstGeom>
          <a:noFill/>
        </p:spPr>
        <p:txBody>
          <a:bodyPr wrap="square">
            <a:spAutoFit/>
          </a:bodyPr>
          <a:lstStyle/>
          <a:p>
            <a:pPr algn="l"/>
            <a:r>
              <a:rPr sz="800" b="0" i="0">
                <a:solidFill>
                  <a:srgbClr val="555555"/>
                </a:solidFill>
                <a:latin typeface="Calibri"/>
              </a:rPr>
              <a:t>L'évaluation à 58,63x le P/E et 49,6x l'EBITDA suppose une croissance des revenus de 114,2% maintenue, or les cycles de demande des data centers sont imprévisibles et les stocks de GPU invendus ont déjà bondi de 30% en 2024, signalant un retournement brutal.</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396000"/>
          </a:xfrm>
          <a:prstGeom prst="rect">
            <a:avLst/>
          </a:prstGeom>
          <a:noFill/>
        </p:spPr>
        <p:txBody>
          <a:bodyPr wrap="square">
            <a:spAutoFit/>
          </a:bodyPr>
          <a:lstStyle/>
          <a:p>
            <a:pPr algn="l"/>
            <a:r>
              <a:rPr sz="900" b="1" i="0">
                <a:solidFill>
                  <a:srgbClr val="B06000"/>
                </a:solidFill>
                <a:latin typeface="Calibri"/>
              </a:rPr>
              <a:t>Dépendance CUDA</a:t>
            </a:r>
          </a:p>
        </p:txBody>
      </p:sp>
      <p:sp>
        <p:nvSpPr>
          <p:cNvPr id="28" name="TextBox 27"/>
          <p:cNvSpPr txBox="1"/>
          <p:nvPr/>
        </p:nvSpPr>
        <p:spPr>
          <a:xfrm>
            <a:off x="6199200" y="1537199"/>
            <a:ext cx="2527200" cy="1260000"/>
          </a:xfrm>
          <a:prstGeom prst="rect">
            <a:avLst/>
          </a:prstGeom>
          <a:noFill/>
        </p:spPr>
        <p:txBody>
          <a:bodyPr wrap="square">
            <a:spAutoFit/>
          </a:bodyPr>
          <a:lstStyle/>
          <a:p>
            <a:pPr algn="l"/>
            <a:r>
              <a:rPr sz="800" b="0" i="0">
                <a:solidFill>
                  <a:srgbClr val="555555"/>
                </a:solidFill>
                <a:latin typeface="Calibri"/>
              </a:rPr>
              <a:t>L'écosystème CUDA, bien que dominant, devient un passif si les régulateurs forcent les clients à migrer vers des alternatives open-source comme ROCm d'AMD, ce qui réduirait les revenus récurrents de licences logicielles de 40% sur 3 ans.</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thèse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Récession mondiale réduisant les investissements en IA de 30%</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Entrée massive d'AMD/Intel sur le marché GPU IA avec produits 40% moins chers</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Société</a:t>
                      </a:r>
                    </a:p>
                  </a:txBody>
                  <a:tcPr>
                    <a:solidFill>
                      <a:srgbClr val="FFFFFF"/>
                    </a:solidFill>
                  </a:tcPr>
                </a:tc>
                <a:tc>
                  <a:txBody>
                    <a:bodyPr/>
                    <a:lstStyle/>
                    <a:p>
                      <a:pPr algn="ctr"/>
                      <a:r>
                        <a:rPr sz="800" b="0" i="0">
                          <a:solidFill>
                            <a:srgbClr val="0D0D0D"/>
                          </a:solidFill>
                          <a:latin typeface="Calibri"/>
                        </a:rPr>
                        <a:t>Échec du déploiement des GPU Blackwell en 2026 avec retard de 6 mois</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
        <p:nvSpPr>
          <p:cNvPr id="32" name="Rectangle 31"/>
          <p:cNvSpPr/>
          <p:nvPr/>
        </p:nvSpPr>
        <p:spPr>
          <a:xfrm>
            <a:off x="3672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6400" y="4438800"/>
            <a:ext cx="2696400" cy="158400"/>
          </a:xfrm>
          <a:prstGeom prst="rect">
            <a:avLst/>
          </a:prstGeom>
          <a:noFill/>
        </p:spPr>
        <p:txBody>
          <a:bodyPr wrap="square">
            <a:spAutoFit/>
          </a:bodyPr>
          <a:lstStyle/>
          <a:p>
            <a:pPr algn="l"/>
            <a:r>
              <a:rPr sz="700" b="0" i="0">
                <a:solidFill>
                  <a:srgbClr val="1B3A6B"/>
                </a:solidFill>
                <a:latin typeface="Calibri"/>
              </a:rPr>
              <a:t>Détresse : 35/100  Moderé</a:t>
            </a:r>
          </a:p>
        </p:txBody>
      </p:sp>
      <p:sp>
        <p:nvSpPr>
          <p:cNvPr id="35" name="Rectangle 34"/>
          <p:cNvSpPr/>
          <p:nvPr/>
        </p:nvSpPr>
        <p:spPr>
          <a:xfrm>
            <a:off x="324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43600" y="44280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22800" y="4438800"/>
            <a:ext cx="2696400" cy="158400"/>
          </a:xfrm>
          <a:prstGeom prst="rect">
            <a:avLst/>
          </a:prstGeom>
          <a:noFill/>
        </p:spPr>
        <p:txBody>
          <a:bodyPr wrap="square">
            <a:spAutoFit/>
          </a:bodyPr>
          <a:lstStyle/>
          <a:p>
            <a:pPr algn="l"/>
            <a:r>
              <a:rPr sz="700" b="0" i="0">
                <a:solidFill>
                  <a:srgbClr val="1B3A6B"/>
                </a:solidFill>
                <a:latin typeface="Calibri"/>
              </a:rPr>
              <a:t>M&amp;A : 57/100  Attractive</a:t>
            </a:r>
          </a:p>
        </p:txBody>
      </p:sp>
      <p:sp>
        <p:nvSpPr>
          <p:cNvPr id="38" name="Rectangle 37"/>
          <p:cNvSpPr/>
          <p:nvPr/>
        </p:nvSpPr>
        <p:spPr>
          <a:xfrm>
            <a:off x="612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3600" y="4428000"/>
            <a:ext cx="432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02800" y="4438800"/>
            <a:ext cx="2696400" cy="158400"/>
          </a:xfrm>
          <a:prstGeom prst="rect">
            <a:avLst/>
          </a:prstGeom>
          <a:noFill/>
        </p:spPr>
        <p:txBody>
          <a:bodyPr wrap="square">
            <a:spAutoFit/>
          </a:bodyPr>
          <a:lstStyle/>
          <a:p>
            <a:pPr algn="l"/>
            <a:r>
              <a:rPr sz="700" b="0" i="0">
                <a:solidFill>
                  <a:srgbClr val="1B3A6B"/>
                </a:solidFill>
                <a:latin typeface="Calibri"/>
              </a:rPr>
              <a:t>Régime : Bear  Rec.6M:34%</a:t>
            </a:r>
          </a:p>
        </p:txBody>
      </p:sp>
      <p:sp>
        <p:nvSpPr>
          <p:cNvPr id="41" name="Rectangle 40"/>
          <p:cNvSpPr/>
          <p:nvPr/>
        </p:nvSpPr>
        <p:spPr>
          <a:xfrm>
            <a:off x="3672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7200" y="4618800"/>
            <a:ext cx="432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6400" y="4629600"/>
            <a:ext cx="2696400" cy="158400"/>
          </a:xfrm>
          <a:prstGeom prst="rect">
            <a:avLst/>
          </a:prstGeom>
          <a:noFill/>
        </p:spPr>
        <p:txBody>
          <a:bodyPr wrap="square">
            <a:spAutoFit/>
          </a:bodyPr>
          <a:lstStyle/>
          <a:p>
            <a:pPr algn="l"/>
            <a:r>
              <a:rPr sz="700" b="0" i="0">
                <a:solidFill>
                  <a:srgbClr val="1B3A6B"/>
                </a:solidFill>
                <a:latin typeface="Calibri"/>
              </a:rPr>
              <a:t>Earnings Qualité : Correcte (0.98x)</a:t>
            </a:r>
          </a:p>
        </p:txBody>
      </p:sp>
      <p:sp>
        <p:nvSpPr>
          <p:cNvPr id="44" name="Rectangle 43"/>
          <p:cNvSpPr/>
          <p:nvPr/>
        </p:nvSpPr>
        <p:spPr>
          <a:xfrm>
            <a:off x="324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436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22800" y="4629600"/>
            <a:ext cx="2696400" cy="158400"/>
          </a:xfrm>
          <a:prstGeom prst="rect">
            <a:avLst/>
          </a:prstGeom>
          <a:noFill/>
        </p:spPr>
        <p:txBody>
          <a:bodyPr wrap="square">
            <a:spAutoFit/>
          </a:bodyPr>
          <a:lstStyle/>
          <a:p>
            <a:pPr algn="l"/>
            <a:r>
              <a:rPr sz="700" b="0" i="0">
                <a:solidFill>
                  <a:srgbClr val="1B3A6B"/>
                </a:solidFill>
                <a:latin typeface="Calibri"/>
              </a:rPr>
              <a:t>Struct. Capital : Saine (0% CT)</a:t>
            </a:r>
          </a:p>
        </p:txBody>
      </p:sp>
      <p:sp>
        <p:nvSpPr>
          <p:cNvPr id="47" name="Rectangle 46"/>
          <p:cNvSpPr/>
          <p:nvPr/>
        </p:nvSpPr>
        <p:spPr>
          <a:xfrm>
            <a:off x="612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36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02800" y="4629600"/>
            <a:ext cx="2696400" cy="158400"/>
          </a:xfrm>
          <a:prstGeom prst="rect">
            <a:avLst/>
          </a:prstGeom>
          <a:noFill/>
        </p:spPr>
        <p:txBody>
          <a:bodyPr wrap="square">
            <a:spAutoFit/>
          </a:bodyPr>
          <a:lstStyle/>
          <a:p>
            <a:pPr algn="l"/>
            <a:r>
              <a:rPr sz="700" b="0" i="0">
                <a:solidFill>
                  <a:srgbClr val="1B3A6B"/>
                </a:solidFill>
                <a:latin typeface="Calibri"/>
              </a:rPr>
              <a:t>Dividende : Tres soutenable (2.1x)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LLM Groq</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30 articles  ·  7 derniers jours  ·  Classification LLM</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Neutre</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agrégé : -0,028</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30</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analysés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Fenêtre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42,3 %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Modèle LLM Groq</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BUY</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Cohérence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Aligné avec la thèse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7</a:t>
                      </a:r>
                    </a:p>
                  </a:txBody>
                  <a:tcPr>
                    <a:solidFill>
                      <a:srgbClr val="EAF4EF"/>
                    </a:solidFill>
                  </a:tcPr>
                </a:tc>
                <a:tc>
                  <a:txBody>
                    <a:bodyPr/>
                    <a:lstStyle/>
                    <a:p>
                      <a:pPr algn="ctr"/>
                      <a:r>
                        <a:rPr sz="800" b="0" i="0">
                          <a:solidFill>
                            <a:srgbClr val="0D0D0D"/>
                          </a:solidFill>
                          <a:latin typeface="Calibri"/>
                        </a:rPr>
                        <a:t>+0,275</a:t>
                      </a:r>
                    </a:p>
                  </a:txBody>
                  <a:tcPr>
                    <a:solidFill>
                      <a:srgbClr val="EAF4EF"/>
                    </a:solidFill>
                  </a:tcPr>
                </a:tc>
                <a:tc>
                  <a:txBody>
                    <a:bodyPr/>
                    <a:lstStyle/>
                    <a:p>
                      <a:pPr algn="ctr"/>
                      <a:r>
                        <a:rPr sz="800" b="0" i="0">
                          <a:solidFill>
                            <a:srgbClr val="0D0D0D"/>
                          </a:solidFill>
                          <a:latin typeface="Calibri"/>
                        </a:rPr>
                        <a:t>Adoption massive IA générative en 2026 avec +50% de demande en GPU H100 | Impact CA +25Mds$ et marges nettes &gt;50% | Horizon 2026-2027</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14</a:t>
                      </a:r>
                    </a:p>
                  </a:txBody>
                  <a:tcPr>
                    <a:solidFill>
                      <a:srgbClr val="FFFFFF"/>
                    </a:solidFill>
                  </a:tcPr>
                </a:tc>
                <a:tc>
                  <a:txBody>
                    <a:bodyPr/>
                    <a:lstStyle/>
                    <a:p>
                      <a:pPr algn="ctr"/>
                      <a:r>
                        <a:rPr sz="800" b="0" i="0">
                          <a:solidFill>
                            <a:srgbClr val="0D0D0D"/>
                          </a:solidFill>
                          <a:latin typeface="Calibri"/>
                        </a:rPr>
                        <a:t>+0,423</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9</a:t>
                      </a:r>
                    </a:p>
                  </a:txBody>
                  <a:tcPr>
                    <a:solidFill>
                      <a:srgbClr val="FAF0EF"/>
                    </a:solidFill>
                  </a:tcPr>
                </a:tc>
                <a:tc>
                  <a:txBody>
                    <a:bodyPr/>
                    <a:lstStyle/>
                    <a:p>
                      <a:pPr algn="ctr"/>
                      <a:r>
                        <a:rPr sz="800" b="0" i="0">
                          <a:solidFill>
                            <a:srgbClr val="0D0D0D"/>
                          </a:solidFill>
                          <a:latin typeface="Calibri"/>
                        </a:rPr>
                        <a:t>+0,303</a:t>
                      </a:r>
                    </a:p>
                  </a:txBody>
                  <a:tcPr>
                    <a:solidFill>
                      <a:srgbClr val="FAF0EF"/>
                    </a:solidFill>
                  </a:tcPr>
                </a:tc>
                <a:tc>
                  <a:txBody>
                    <a:bodyPr/>
                    <a:lstStyle/>
                    <a:p>
                      <a:pPr algn="ctr"/>
                      <a:r>
                        <a:rPr sz="800" b="0" i="0">
                          <a:solidFill>
                            <a:srgbClr val="0D0D0D"/>
                          </a:solidFill>
                          <a:latin typeface="Calibri"/>
                        </a:rPr>
                        <a:t>Concurrence accrue d'AMD et Intel sur GPU IA avec produits 50% moins chers | Risque de compression des marges de 10-15% | Horizon 2026</a:t>
                      </a:r>
                    </a:p>
                  </a:txBody>
                  <a:tcPr>
                    <a:solidFill>
                      <a:srgbClr val="FAF0EF"/>
                    </a:solidFill>
                  </a:tcPr>
                </a:tc>
              </a:tr>
            </a:tbl>
          </a:graphicData>
        </a:graphic>
      </p:graphicFrame>
      <p:sp>
        <p:nvSpPr>
          <p:cNvPr id="39" name="TextBox 38"/>
          <p:cNvSpPr txBox="1"/>
          <p:nvPr/>
        </p:nvSpPr>
        <p:spPr>
          <a:xfrm>
            <a:off x="367200" y="4140000"/>
            <a:ext cx="8413200" cy="720000"/>
          </a:xfrm>
          <a:prstGeom prst="rect">
            <a:avLst/>
          </a:prstGeom>
          <a:noFill/>
        </p:spPr>
        <p:txBody>
          <a:bodyPr wrap="square">
            <a:spAutoFit/>
          </a:bodyPr>
          <a:lstStyle/>
          <a:p>
            <a:pPr algn="l"/>
            <a:r>
              <a:rPr sz="850" b="0" i="0">
                <a:solidFill>
                  <a:srgbClr val="333333"/>
                </a:solidFill>
                <a:latin typeface="Calibri"/>
              </a:rPr>
              <a:t>La presse financière reste globalement très optimiste sur NVIDIA cette semaine, malgré quelques alertes sur des défis technologiques ou concurrentiels. Les perspectives de croissance dans l'IA et les partenariats stratégiques continuent de soutenir un sentiment majoritairement positif.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6 avril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2232000"/>
        </p:xfrm>
        <a:graphic>
          <a:graphicData uri="http://schemas.openxmlformats.org/drawingml/2006/table">
            <a:tbl>
              <a:tblPr firstRow="1" bandRow="1">
                <a:tableStyleId>{5C22544A-7EE6-4342-B048-85BDC9FD1C3A}</a:tableStyleId>
              </a:tblPr>
              <a:tblGrid>
                <a:gridCol w="2015064"/>
                <a:gridCol w="1378728"/>
                <a:gridCol w="1060560"/>
                <a:gridCol w="848448"/>
              </a:tblGrid>
              <a:tr h="2232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NVIDIA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Group Inc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Blackrock Inc.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State Street Corporation</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FMR, LLC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Geode Capital Management, LLC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JPMORGAN CHASE &amp; CO</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1.9 %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Price (T.Rowe) Associates Inc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64.5 %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1134000"/>
        </p:xfrm>
        <a:graphic>
          <a:graphicData uri="http://schemas.openxmlformats.org/drawingml/2006/table">
            <a:tbl>
              <a:tblPr firstRow="1" bandRow="1">
                <a:tableStyleId>{5C22544A-7EE6-4342-B048-85BDC9FD1C3A}</a:tableStyleId>
              </a:tblPr>
              <a:tblGrid>
                <a:gridCol w="1810080"/>
                <a:gridCol w="1206720"/>
              </a:tblGrid>
              <a:tr h="2268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17.8 %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64.5 %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1" name="TextBox 20"/>
          <p:cNvSpPr txBox="1"/>
          <p:nvPr/>
        </p:nvSpPr>
        <p:spPr>
          <a:xfrm>
            <a:off x="367200" y="3326400"/>
            <a:ext cx="8413200" cy="1004400"/>
          </a:xfrm>
          <a:prstGeom prst="rect">
            <a:avLst/>
          </a:prstGeom>
          <a:noFill/>
        </p:spPr>
        <p:txBody>
          <a:bodyPr wrap="square">
            <a:spAutoFit/>
          </a:bodyPr>
          <a:lstStyle/>
          <a:p>
            <a:pPr algn="l"/>
            <a:r>
              <a:rPr sz="850" b="0" i="0">
                <a:solidFill>
                  <a:srgbClr val="555555"/>
                </a:solidFill>
                <a:latin typeface="Calibri"/>
              </a:rPr>
              <a:t>NVIDIA se négocie à 49.6x EV/EBITDA vs médiane peers à 25x, reflétant une prime de croissance justifiée. Le P/E à 58.6x est élevé mais cohérent avec des marges et une croissance supérieures.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NVDA  ·  USD  ·  Au 6 avril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175,84 $</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202,47 $</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135,10 $</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+30,2 %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Evolution du cours — 12 derniers mois</a:t>
            </a:r>
          </a:p>
        </p:txBody>
      </p:sp>
      <p:sp>
        <p:nvSpPr>
          <p:cNvPr id="34" name="Rectangle 33"/>
          <p:cNvSpPr/>
          <p:nvPr/>
        </p:nvSpPr>
        <p:spPr>
          <a:xfrm>
            <a:off x="367200" y="2102400"/>
            <a:ext cx="8413200" cy="1828800"/>
          </a:xfrm>
          <a:prstGeom prst="rect">
            <a:avLst/>
          </a:prstGeom>
          <a:solidFill>
            <a:srgbClr val="F7F8FA"/>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2102400"/>
            <a:ext cx="8413200" cy="3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7200" y="3823200"/>
            <a:ext cx="498636" cy="7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1200" y="3902400"/>
            <a:ext cx="728100" cy="144000"/>
          </a:xfrm>
          <a:prstGeom prst="rect">
            <a:avLst/>
          </a:prstGeom>
          <a:noFill/>
        </p:spPr>
        <p:txBody>
          <a:bodyPr wrap="square">
            <a:spAutoFit/>
          </a:bodyPr>
          <a:lstStyle/>
          <a:p>
            <a:pPr algn="ctr"/>
            <a:r>
              <a:rPr sz="600" b="0" i="0">
                <a:solidFill>
                  <a:srgbClr val="555555"/>
                </a:solidFill>
                <a:latin typeface="Calibri"/>
              </a:rPr>
              <a:t>Mai</a:t>
            </a:r>
          </a:p>
        </p:txBody>
      </p:sp>
      <p:sp>
        <p:nvSpPr>
          <p:cNvPr id="38" name="Rectangle 37"/>
          <p:cNvSpPr/>
          <p:nvPr/>
        </p:nvSpPr>
        <p:spPr>
          <a:xfrm>
            <a:off x="1293300" y="3334792"/>
            <a:ext cx="498636" cy="560407"/>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57300" y="3902400"/>
            <a:ext cx="728100" cy="144000"/>
          </a:xfrm>
          <a:prstGeom prst="rect">
            <a:avLst/>
          </a:prstGeom>
          <a:noFill/>
        </p:spPr>
        <p:txBody>
          <a:bodyPr wrap="square">
            <a:spAutoFit/>
          </a:bodyPr>
          <a:lstStyle/>
          <a:p>
            <a:pPr algn="ctr"/>
            <a:r>
              <a:rPr sz="600" b="0" i="0">
                <a:solidFill>
                  <a:srgbClr val="555555"/>
                </a:solidFill>
                <a:latin typeface="Calibri"/>
              </a:rPr>
              <a:t>Juin</a:t>
            </a:r>
          </a:p>
        </p:txBody>
      </p:sp>
      <p:sp>
        <p:nvSpPr>
          <p:cNvPr id="40" name="Rectangle 39"/>
          <p:cNvSpPr/>
          <p:nvPr/>
        </p:nvSpPr>
        <p:spPr>
          <a:xfrm>
            <a:off x="1949400" y="2909653"/>
            <a:ext cx="498636" cy="98554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13400" y="3902400"/>
            <a:ext cx="728100" cy="144000"/>
          </a:xfrm>
          <a:prstGeom prst="rect">
            <a:avLst/>
          </a:prstGeom>
          <a:noFill/>
        </p:spPr>
        <p:txBody>
          <a:bodyPr wrap="square">
            <a:spAutoFit/>
          </a:bodyPr>
          <a:lstStyle/>
          <a:p>
            <a:pPr algn="ctr"/>
            <a:r>
              <a:rPr sz="600" b="0" i="0">
                <a:solidFill>
                  <a:srgbClr val="555555"/>
                </a:solidFill>
                <a:latin typeface="Calibri"/>
              </a:rPr>
              <a:t>Juil</a:t>
            </a:r>
          </a:p>
        </p:txBody>
      </p:sp>
      <p:sp>
        <p:nvSpPr>
          <p:cNvPr id="42" name="Rectangle 41"/>
          <p:cNvSpPr/>
          <p:nvPr/>
        </p:nvSpPr>
        <p:spPr>
          <a:xfrm>
            <a:off x="2605500" y="2988525"/>
            <a:ext cx="498636" cy="906674"/>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9500" y="3902400"/>
            <a:ext cx="728100" cy="144000"/>
          </a:xfrm>
          <a:prstGeom prst="rect">
            <a:avLst/>
          </a:prstGeom>
          <a:noFill/>
        </p:spPr>
        <p:txBody>
          <a:bodyPr wrap="square">
            <a:spAutoFit/>
          </a:bodyPr>
          <a:lstStyle/>
          <a:p>
            <a:pPr algn="ctr"/>
            <a:r>
              <a:rPr sz="600" b="0" i="0">
                <a:solidFill>
                  <a:srgbClr val="555555"/>
                </a:solidFill>
                <a:latin typeface="Calibri"/>
              </a:rPr>
              <a:t>Aoû</a:t>
            </a:r>
          </a:p>
        </p:txBody>
      </p:sp>
      <p:sp>
        <p:nvSpPr>
          <p:cNvPr id="44" name="Rectangle 43"/>
          <p:cNvSpPr/>
          <p:nvPr/>
        </p:nvSpPr>
        <p:spPr>
          <a:xfrm>
            <a:off x="3261600" y="2723482"/>
            <a:ext cx="498636" cy="1171717"/>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5600" y="3902400"/>
            <a:ext cx="728100" cy="144000"/>
          </a:xfrm>
          <a:prstGeom prst="rect">
            <a:avLst/>
          </a:prstGeom>
          <a:noFill/>
        </p:spPr>
        <p:txBody>
          <a:bodyPr wrap="square">
            <a:spAutoFit/>
          </a:bodyPr>
          <a:lstStyle/>
          <a:p>
            <a:pPr algn="ctr"/>
            <a:r>
              <a:rPr sz="600" b="0" i="0">
                <a:solidFill>
                  <a:srgbClr val="555555"/>
                </a:solidFill>
                <a:latin typeface="Calibri"/>
              </a:rPr>
              <a:t>Sep</a:t>
            </a:r>
          </a:p>
        </p:txBody>
      </p:sp>
      <p:sp>
        <p:nvSpPr>
          <p:cNvPr id="46" name="Rectangle 45"/>
          <p:cNvSpPr/>
          <p:nvPr/>
        </p:nvSpPr>
        <p:spPr>
          <a:xfrm>
            <a:off x="3917700" y="2383200"/>
            <a:ext cx="498636" cy="151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81700" y="3902400"/>
            <a:ext cx="728100" cy="144000"/>
          </a:xfrm>
          <a:prstGeom prst="rect">
            <a:avLst/>
          </a:prstGeom>
          <a:noFill/>
        </p:spPr>
        <p:txBody>
          <a:bodyPr wrap="square">
            <a:spAutoFit/>
          </a:bodyPr>
          <a:lstStyle/>
          <a:p>
            <a:pPr algn="ctr"/>
            <a:r>
              <a:rPr sz="600" b="0" i="0">
                <a:solidFill>
                  <a:srgbClr val="555555"/>
                </a:solidFill>
                <a:latin typeface="Calibri"/>
              </a:rPr>
              <a:t>Oct</a:t>
            </a:r>
          </a:p>
        </p:txBody>
      </p:sp>
      <p:sp>
        <p:nvSpPr>
          <p:cNvPr id="48" name="Rectangle 47"/>
          <p:cNvSpPr/>
          <p:nvPr/>
        </p:nvSpPr>
        <p:spPr>
          <a:xfrm>
            <a:off x="4573800" y="2928035"/>
            <a:ext cx="498636" cy="967164"/>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37800" y="3902400"/>
            <a:ext cx="728100" cy="144000"/>
          </a:xfrm>
          <a:prstGeom prst="rect">
            <a:avLst/>
          </a:prstGeom>
          <a:noFill/>
        </p:spPr>
        <p:txBody>
          <a:bodyPr wrap="square">
            <a:spAutoFit/>
          </a:bodyPr>
          <a:lstStyle/>
          <a:p>
            <a:pPr algn="ctr"/>
            <a:r>
              <a:rPr sz="600" b="0" i="0">
                <a:solidFill>
                  <a:srgbClr val="555555"/>
                </a:solidFill>
                <a:latin typeface="Calibri"/>
              </a:rPr>
              <a:t>Nov</a:t>
            </a:r>
          </a:p>
        </p:txBody>
      </p:sp>
      <p:sp>
        <p:nvSpPr>
          <p:cNvPr id="50" name="Rectangle 49"/>
          <p:cNvSpPr/>
          <p:nvPr/>
        </p:nvSpPr>
        <p:spPr>
          <a:xfrm>
            <a:off x="5229900" y="2724978"/>
            <a:ext cx="498636" cy="1170221"/>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93900" y="3902400"/>
            <a:ext cx="728100" cy="144000"/>
          </a:xfrm>
          <a:prstGeom prst="rect">
            <a:avLst/>
          </a:prstGeom>
          <a:noFill/>
        </p:spPr>
        <p:txBody>
          <a:bodyPr wrap="square">
            <a:spAutoFit/>
          </a:bodyPr>
          <a:lstStyle/>
          <a:p>
            <a:pPr algn="ctr"/>
            <a:r>
              <a:rPr sz="600" b="0" i="0">
                <a:solidFill>
                  <a:srgbClr val="555555"/>
                </a:solidFill>
                <a:latin typeface="Calibri"/>
              </a:rPr>
              <a:t>Déc</a:t>
            </a:r>
          </a:p>
        </p:txBody>
      </p:sp>
      <p:sp>
        <p:nvSpPr>
          <p:cNvPr id="52" name="Rectangle 51"/>
          <p:cNvSpPr/>
          <p:nvPr/>
        </p:nvSpPr>
        <p:spPr>
          <a:xfrm>
            <a:off x="5886000" y="2625800"/>
            <a:ext cx="498636" cy="12693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50000" y="3902400"/>
            <a:ext cx="728100" cy="144000"/>
          </a:xfrm>
          <a:prstGeom prst="rect">
            <a:avLst/>
          </a:prstGeom>
          <a:noFill/>
        </p:spPr>
        <p:txBody>
          <a:bodyPr wrap="square">
            <a:spAutoFit/>
          </a:bodyPr>
          <a:lstStyle/>
          <a:p>
            <a:pPr algn="ctr"/>
            <a:r>
              <a:rPr sz="600" b="0" i="0">
                <a:solidFill>
                  <a:srgbClr val="555555"/>
                </a:solidFill>
                <a:latin typeface="Calibri"/>
              </a:rPr>
              <a:t>Jan</a:t>
            </a:r>
          </a:p>
        </p:txBody>
      </p:sp>
      <p:sp>
        <p:nvSpPr>
          <p:cNvPr id="54" name="Rectangle 53"/>
          <p:cNvSpPr/>
          <p:nvPr/>
        </p:nvSpPr>
        <p:spPr>
          <a:xfrm>
            <a:off x="6542100" y="2923761"/>
            <a:ext cx="498636" cy="971438"/>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06099" y="3902400"/>
            <a:ext cx="728100" cy="144000"/>
          </a:xfrm>
          <a:prstGeom prst="rect">
            <a:avLst/>
          </a:prstGeom>
          <a:noFill/>
        </p:spPr>
        <p:txBody>
          <a:bodyPr wrap="square">
            <a:spAutoFit/>
          </a:bodyPr>
          <a:lstStyle/>
          <a:p>
            <a:pPr algn="ctr"/>
            <a:r>
              <a:rPr sz="600" b="0" i="0">
                <a:solidFill>
                  <a:srgbClr val="555555"/>
                </a:solidFill>
                <a:latin typeface="Calibri"/>
              </a:rPr>
              <a:t>Fév</a:t>
            </a:r>
          </a:p>
        </p:txBody>
      </p:sp>
      <p:sp>
        <p:nvSpPr>
          <p:cNvPr id="56" name="Rectangle 55"/>
          <p:cNvSpPr/>
          <p:nvPr/>
        </p:nvSpPr>
        <p:spPr>
          <a:xfrm>
            <a:off x="7198200" y="2983395"/>
            <a:ext cx="498636" cy="911804"/>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62200" y="3902400"/>
            <a:ext cx="728100" cy="144000"/>
          </a:xfrm>
          <a:prstGeom prst="rect">
            <a:avLst/>
          </a:prstGeom>
          <a:noFill/>
        </p:spPr>
        <p:txBody>
          <a:bodyPr wrap="square">
            <a:spAutoFit/>
          </a:bodyPr>
          <a:lstStyle/>
          <a:p>
            <a:pPr algn="ctr"/>
            <a:r>
              <a:rPr sz="600" b="0" i="0">
                <a:solidFill>
                  <a:srgbClr val="555555"/>
                </a:solidFill>
                <a:latin typeface="Calibri"/>
              </a:rPr>
              <a:t>Mar</a:t>
            </a:r>
          </a:p>
        </p:txBody>
      </p:sp>
      <p:sp>
        <p:nvSpPr>
          <p:cNvPr id="58" name="Rectangle 57"/>
          <p:cNvSpPr/>
          <p:nvPr/>
        </p:nvSpPr>
        <p:spPr>
          <a:xfrm>
            <a:off x="7854300" y="2952402"/>
            <a:ext cx="498636" cy="942797"/>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818299" y="3902400"/>
            <a:ext cx="728100" cy="144000"/>
          </a:xfrm>
          <a:prstGeom prst="rect">
            <a:avLst/>
          </a:prstGeom>
          <a:noFill/>
        </p:spPr>
        <p:txBody>
          <a:bodyPr wrap="square">
            <a:spAutoFit/>
          </a:bodyPr>
          <a:lstStyle/>
          <a:p>
            <a:pPr algn="ctr"/>
            <a:r>
              <a:rPr sz="600" b="0" i="0">
                <a:solidFill>
                  <a:srgbClr val="555555"/>
                </a:solidFill>
                <a:latin typeface="Calibri"/>
              </a:rPr>
              <a:t>Avr</a:t>
            </a:r>
          </a:p>
        </p:txBody>
      </p:sp>
      <p:sp>
        <p:nvSpPr>
          <p:cNvPr id="60" name="Rectangle 59"/>
          <p:cNvSpPr/>
          <p:nvPr/>
        </p:nvSpPr>
        <p:spPr>
          <a:xfrm>
            <a:off x="601200" y="382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1200" y="3751200"/>
            <a:ext cx="288000" cy="144000"/>
          </a:xfrm>
          <a:prstGeom prst="rect">
            <a:avLst/>
          </a:prstGeom>
          <a:noFill/>
        </p:spPr>
        <p:txBody>
          <a:bodyPr wrap="none">
            <a:spAutoFit/>
          </a:bodyPr>
          <a:lstStyle/>
          <a:p>
            <a:pPr algn="l"/>
            <a:r>
              <a:rPr sz="600" b="0" i="0">
                <a:solidFill>
                  <a:srgbClr val="555555"/>
                </a:solidFill>
                <a:latin typeface="Calibri"/>
              </a:rPr>
              <a:t>135</a:t>
            </a:r>
          </a:p>
        </p:txBody>
      </p:sp>
      <p:sp>
        <p:nvSpPr>
          <p:cNvPr id="62" name="Rectangle 61"/>
          <p:cNvSpPr/>
          <p:nvPr/>
        </p:nvSpPr>
        <p:spPr>
          <a:xfrm>
            <a:off x="601200" y="33480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1200" y="3276000"/>
            <a:ext cx="288000" cy="144000"/>
          </a:xfrm>
          <a:prstGeom prst="rect">
            <a:avLst/>
          </a:prstGeom>
          <a:noFill/>
        </p:spPr>
        <p:txBody>
          <a:bodyPr wrap="none">
            <a:spAutoFit/>
          </a:bodyPr>
          <a:lstStyle/>
          <a:p>
            <a:pPr algn="l"/>
            <a:r>
              <a:rPr sz="600" b="0" i="0">
                <a:solidFill>
                  <a:srgbClr val="555555"/>
                </a:solidFill>
                <a:latin typeface="Calibri"/>
              </a:rPr>
              <a:t>157</a:t>
            </a:r>
          </a:p>
        </p:txBody>
      </p:sp>
      <p:sp>
        <p:nvSpPr>
          <p:cNvPr id="64" name="Rectangle 63"/>
          <p:cNvSpPr/>
          <p:nvPr/>
        </p:nvSpPr>
        <p:spPr>
          <a:xfrm>
            <a:off x="601200" y="28584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31200" y="2786399"/>
            <a:ext cx="288000" cy="144000"/>
          </a:xfrm>
          <a:prstGeom prst="rect">
            <a:avLst/>
          </a:prstGeom>
          <a:noFill/>
        </p:spPr>
        <p:txBody>
          <a:bodyPr wrap="none">
            <a:spAutoFit/>
          </a:bodyPr>
          <a:lstStyle/>
          <a:p>
            <a:pPr algn="l"/>
            <a:r>
              <a:rPr sz="600" b="0" i="0">
                <a:solidFill>
                  <a:srgbClr val="555555"/>
                </a:solidFill>
                <a:latin typeface="Calibri"/>
              </a:rPr>
              <a:t>180</a:t>
            </a:r>
          </a:p>
        </p:txBody>
      </p:sp>
      <p:sp>
        <p:nvSpPr>
          <p:cNvPr id="66" name="Rectangle 65"/>
          <p:cNvSpPr/>
          <p:nvPr/>
        </p:nvSpPr>
        <p:spPr>
          <a:xfrm>
            <a:off x="601200" y="238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1200" y="2311200"/>
            <a:ext cx="288000" cy="144000"/>
          </a:xfrm>
          <a:prstGeom prst="rect">
            <a:avLst/>
          </a:prstGeom>
          <a:noFill/>
        </p:spPr>
        <p:txBody>
          <a:bodyPr wrap="none">
            <a:spAutoFit/>
          </a:bodyPr>
          <a:lstStyle/>
          <a:p>
            <a:pPr algn="l"/>
            <a:r>
              <a:rPr sz="600" b="0" i="0">
                <a:solidFill>
                  <a:srgbClr val="555555"/>
                </a:solidFill>
                <a:latin typeface="Calibri"/>
              </a:rPr>
              <a:t>202</a:t>
            </a:r>
          </a:p>
        </p:txBody>
      </p:sp>
      <p:sp>
        <p:nvSpPr>
          <p:cNvPr id="68" name="TextBox 67"/>
          <p:cNvSpPr txBox="1"/>
          <p:nvPr/>
        </p:nvSpPr>
        <p:spPr>
          <a:xfrm>
            <a:off x="367200" y="4132800"/>
            <a:ext cx="8413200" cy="687600"/>
          </a:xfrm>
          <a:prstGeom prst="rect">
            <a:avLst/>
          </a:prstGeom>
          <a:noFill/>
        </p:spPr>
        <p:txBody>
          <a:bodyPr wrap="square">
            <a:spAutoFit/>
          </a:bodyPr>
          <a:lstStyle/>
          <a:p>
            <a:pPr algn="l"/>
            <a:r>
              <a:rPr sz="850" b="0" i="0">
                <a:solidFill>
                  <a:srgbClr val="555555"/>
                </a:solidFill>
                <a:latin typeface="Calibri"/>
              </a:rPr>
              <a:t>NVIDIA domine l'IA avec des marges exceptionnelles et une croissance explosive. La valorisation reste élevée mais justifiée par des fondamentaux solides et des catalyseurs structurels. La société est bien positionnée pour capter la demande en GPU pour l'IA et les centres de données.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