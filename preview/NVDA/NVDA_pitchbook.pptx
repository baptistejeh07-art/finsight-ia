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NVIDIA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NVDA  ·  Technology</a:t>
            </a:r>
          </a:p>
        </p:txBody>
      </p:sp>
      <p:sp>
        <p:nvSpPr>
          <p:cNvPr id="8" name="Rectangle 7"/>
          <p:cNvSpPr/>
          <p:nvPr/>
        </p:nvSpPr>
        <p:spPr>
          <a:xfrm>
            <a:off x="2771999" y="2617297"/>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HOLD  ·  Prix cible base : 195 $  ·  Upside : +0,0 %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14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195 $  ·  Upside : +0,0 %  ·  Bear : 166 $ (-15,0 %)  ·  Bull : 234 $ (+20,0 %)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NVIDIA Corporation presente un profil financier EV/EBITDA 55.0x, marge EBITDA…</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L'analyse fondamentale indique un equilibre risque/rendement neutre a court…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Une revision de la these necessite la confirmation des prochains catalyseurs…</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{'title': 'Compression des marges', 'description': 'Pression concurrentielle ou…</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{'title': 'Choc macroeconomique', 'description': 'Recession, hausse des taux…</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{'title': 'Risque de revision baissiere', 'description': "Les revisions du…</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024000"/>
            <a:ext cx="8413200" cy="16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031200"/>
            <a:ext cx="8352000" cy="151200"/>
          </a:xfrm>
          <a:prstGeom prst="rect">
            <a:avLst/>
          </a:prstGeom>
          <a:noFill/>
        </p:spPr>
        <p:txBody>
          <a:bodyPr wrap="square">
            <a:spAutoFit/>
          </a:bodyPr>
          <a:lstStyle/>
          <a:p>
            <a:pPr algn="l"/>
            <a:r>
              <a:rPr sz="750" b="1" i="0">
                <a:solidFill>
                  <a:srgbClr val="FFFFFF"/>
                </a:solidFill>
                <a:latin typeface="Calibri"/>
              </a:rPr>
              <a:t>CATALYSEURS À SURVEILLER (12 MOIS)</a:t>
            </a:r>
          </a:p>
        </p:txBody>
      </p:sp>
      <p:sp>
        <p:nvSpPr>
          <p:cNvPr id="36" name="Rectangle 35"/>
          <p:cNvSpPr/>
          <p:nvPr/>
        </p:nvSpPr>
        <p:spPr>
          <a:xfrm>
            <a:off x="367200" y="3240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2000" y="3221999"/>
            <a:ext cx="4111200" cy="223200"/>
          </a:xfrm>
          <a:prstGeom prst="rect">
            <a:avLst/>
          </a:prstGeom>
          <a:noFill/>
        </p:spPr>
        <p:txBody>
          <a:bodyPr wrap="square">
            <a:spAutoFit/>
          </a:bodyPr>
          <a:lstStyle/>
          <a:p>
            <a:pPr algn="l"/>
            <a:r>
              <a:rPr sz="650" b="0" i="0">
                <a:solidFill>
                  <a:srgbClr val="333333"/>
                </a:solidFill>
                <a:latin typeface="Calibri"/>
              </a:rPr>
              <a:t>Publication trimestrielle : Resultats du prochain trimestre — surveiller marges et guidance vs consensus. Impact direct sur la perception de la trajectoire.</a:t>
            </a:r>
          </a:p>
        </p:txBody>
      </p:sp>
      <p:sp>
        <p:nvSpPr>
          <p:cNvPr id="38" name="Rectangle 37"/>
          <p:cNvSpPr/>
          <p:nvPr/>
        </p:nvSpPr>
        <p:spPr>
          <a:xfrm>
            <a:off x="4572000" y="3240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636800" y="3221999"/>
            <a:ext cx="4111200" cy="223200"/>
          </a:xfrm>
          <a:prstGeom prst="rect">
            <a:avLst/>
          </a:prstGeom>
          <a:noFill/>
        </p:spPr>
        <p:txBody>
          <a:bodyPr wrap="square">
            <a:spAutoFit/>
          </a:bodyPr>
          <a:lstStyle/>
          <a:p>
            <a:pPr algn="l"/>
            <a:r>
              <a:rPr sz="650" b="0" i="0">
                <a:solidFill>
                  <a:srgbClr val="333333"/>
                </a:solidFill>
                <a:latin typeface="Calibri"/>
              </a:rPr>
              <a:t>Evolution macro sectorielle : Cycle Technology : taux directeurs, demande finale, et indicateurs avances PMI/credit. Toute inflexion macro impacte le re-rating.</a:t>
            </a:r>
          </a:p>
        </p:txBody>
      </p:sp>
      <p:sp>
        <p:nvSpPr>
          <p:cNvPr id="40" name="Rectangle 39"/>
          <p:cNvSpPr/>
          <p:nvPr/>
        </p:nvSpPr>
        <p:spPr>
          <a:xfrm>
            <a:off x="367200" y="3492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32000" y="3474000"/>
            <a:ext cx="4111200" cy="223200"/>
          </a:xfrm>
          <a:prstGeom prst="rect">
            <a:avLst/>
          </a:prstGeom>
          <a:noFill/>
        </p:spPr>
        <p:txBody>
          <a:bodyPr wrap="square">
            <a:spAutoFit/>
          </a:bodyPr>
          <a:lstStyle/>
          <a:p>
            <a:pPr algn="l"/>
            <a:r>
              <a:rPr sz="650" b="0" i="0">
                <a:solidFill>
                  <a:srgbClr val="333333"/>
                </a:solidFill>
                <a:latin typeface="Calibri"/>
              </a:rPr>
              <a:t>Annonces strategiques : Operations M&amp;A, lancement produits, ou changement de guidance peuvent declencher une revision rapide de la these.</a:t>
            </a:r>
          </a:p>
        </p:txBody>
      </p:sp>
      <p:sp>
        <p:nvSpPr>
          <p:cNvPr id="42" name="Rectangle 41"/>
          <p:cNvSpPr/>
          <p:nvPr/>
        </p:nvSpPr>
        <p:spPr>
          <a:xfrm>
            <a:off x="4572000" y="3492000"/>
            <a:ext cx="36000" cy="792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636800" y="3474000"/>
            <a:ext cx="4111200" cy="223200"/>
          </a:xfrm>
          <a:prstGeom prst="rect">
            <a:avLst/>
          </a:prstGeom>
          <a:noFill/>
        </p:spPr>
        <p:txBody>
          <a:bodyPr wrap="square">
            <a:spAutoFit/>
          </a:bodyPr>
          <a:lstStyle/>
          <a:p>
            <a:pPr algn="l"/>
            <a:r>
              <a:rPr sz="650" b="0" i="0">
                <a:solidFill>
                  <a:srgbClr val="333333"/>
                </a:solidFill>
                <a:latin typeface="Calibri"/>
              </a:rPr>
              <a:t>—</a:t>
            </a:r>
          </a:p>
        </p:txBody>
      </p:sp>
      <p:sp>
        <p:nvSpPr>
          <p:cNvPr id="44" name="Rectangle 43"/>
          <p:cNvSpPr/>
          <p:nvPr/>
        </p:nvSpPr>
        <p:spPr>
          <a:xfrm>
            <a:off x="367200" y="3870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3978000"/>
            <a:ext cx="1893600" cy="396000"/>
          </a:xfrm>
          <a:prstGeom prst="rect">
            <a:avLst/>
          </a:prstGeom>
          <a:noFill/>
        </p:spPr>
        <p:txBody>
          <a:bodyPr wrap="square">
            <a:spAutoFit/>
          </a:bodyPr>
          <a:lstStyle/>
          <a:p>
            <a:pPr algn="l"/>
            <a:r>
              <a:rPr sz="1900" b="1" i="0">
                <a:solidFill>
                  <a:srgbClr val="1B3A6B"/>
                </a:solidFill>
                <a:latin typeface="Calibri"/>
              </a:rPr>
              <a:t>55,0x</a:t>
            </a:r>
          </a:p>
        </p:txBody>
      </p:sp>
      <p:sp>
        <p:nvSpPr>
          <p:cNvPr id="48" name="TextBox 47"/>
          <p:cNvSpPr txBox="1"/>
          <p:nvPr/>
        </p:nvSpPr>
        <p:spPr>
          <a:xfrm>
            <a:off x="457200" y="43740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5720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50" name="Rectangle 49"/>
          <p:cNvSpPr/>
          <p:nvPr/>
        </p:nvSpPr>
        <p:spPr>
          <a:xfrm>
            <a:off x="24876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3978000"/>
            <a:ext cx="1893600" cy="396000"/>
          </a:xfrm>
          <a:prstGeom prst="rect">
            <a:avLst/>
          </a:prstGeom>
          <a:noFill/>
        </p:spPr>
        <p:txBody>
          <a:bodyPr wrap="square">
            <a:spAutoFit/>
          </a:bodyPr>
          <a:lstStyle/>
          <a:p>
            <a:pPr algn="l"/>
            <a:r>
              <a:rPr sz="1900" b="1" i="0">
                <a:solidFill>
                  <a:srgbClr val="1B3A6B"/>
                </a:solidFill>
                <a:latin typeface="Calibri"/>
              </a:rPr>
              <a:t>17,1 %</a:t>
            </a:r>
          </a:p>
        </p:txBody>
      </p:sp>
      <p:sp>
        <p:nvSpPr>
          <p:cNvPr id="53" name="TextBox 52"/>
          <p:cNvSpPr txBox="1"/>
          <p:nvPr/>
        </p:nvSpPr>
        <p:spPr>
          <a:xfrm>
            <a:off x="2577600" y="43740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572000"/>
            <a:ext cx="1893600" cy="165600"/>
          </a:xfrm>
          <a:prstGeom prst="rect">
            <a:avLst/>
          </a:prstGeom>
          <a:noFill/>
        </p:spPr>
        <p:txBody>
          <a:bodyPr wrap="square">
            <a:spAutoFit/>
          </a:bodyPr>
          <a:lstStyle/>
          <a:p>
            <a:pPr algn="l"/>
            <a:r>
              <a:rPr sz="700" b="0" i="0">
                <a:solidFill>
                  <a:srgbClr val="888888"/>
                </a:solidFill>
                <a:latin typeface="Calibri"/>
              </a:rPr>
              <a:t>Beta 2,33  ·  RFR 4,3 %</a:t>
            </a:r>
          </a:p>
        </p:txBody>
      </p:sp>
      <p:sp>
        <p:nvSpPr>
          <p:cNvPr id="55" name="Rectangle 54"/>
          <p:cNvSpPr/>
          <p:nvPr/>
        </p:nvSpPr>
        <p:spPr>
          <a:xfrm>
            <a:off x="46080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3978000"/>
            <a:ext cx="1893600" cy="396000"/>
          </a:xfrm>
          <a:prstGeom prst="rect">
            <a:avLst/>
          </a:prstGeom>
          <a:noFill/>
        </p:spPr>
        <p:txBody>
          <a:bodyPr wrap="square">
            <a:spAutoFit/>
          </a:bodyPr>
          <a:lstStyle/>
          <a:p>
            <a:pPr algn="l"/>
            <a:r>
              <a:rPr sz="1900" b="1" i="0">
                <a:solidFill>
                  <a:srgbClr val="1B3A6B"/>
                </a:solidFill>
                <a:latin typeface="Calibri"/>
              </a:rPr>
              <a:t>195 $</a:t>
            </a:r>
          </a:p>
        </p:txBody>
      </p:sp>
      <p:sp>
        <p:nvSpPr>
          <p:cNvPr id="58" name="TextBox 57"/>
          <p:cNvSpPr txBox="1"/>
          <p:nvPr/>
        </p:nvSpPr>
        <p:spPr>
          <a:xfrm>
            <a:off x="4698000" y="43740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572000"/>
            <a:ext cx="1893600" cy="165600"/>
          </a:xfrm>
          <a:prstGeom prst="rect">
            <a:avLst/>
          </a:prstGeom>
          <a:noFill/>
        </p:spPr>
        <p:txBody>
          <a:bodyPr wrap="square">
            <a:spAutoFit/>
          </a:bodyPr>
          <a:lstStyle/>
          <a:p>
            <a:pPr algn="l"/>
            <a:r>
              <a:rPr sz="700" b="0" i="0">
                <a:solidFill>
                  <a:srgbClr val="888888"/>
                </a:solidFill>
                <a:latin typeface="Calibri"/>
              </a:rPr>
              <a:t>Upside +0,0 % vs cours</a:t>
            </a:r>
          </a:p>
        </p:txBody>
      </p:sp>
      <p:sp>
        <p:nvSpPr>
          <p:cNvPr id="60" name="Rectangle 59"/>
          <p:cNvSpPr/>
          <p:nvPr/>
        </p:nvSpPr>
        <p:spPr>
          <a:xfrm>
            <a:off x="6728400" y="3924000"/>
            <a:ext cx="2030400" cy="864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3924000"/>
            <a:ext cx="46800" cy="86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3978000"/>
            <a:ext cx="1893600" cy="396000"/>
          </a:xfrm>
          <a:prstGeom prst="rect">
            <a:avLst/>
          </a:prstGeom>
          <a:noFill/>
        </p:spPr>
        <p:txBody>
          <a:bodyPr wrap="square">
            <a:spAutoFit/>
          </a:bodyPr>
          <a:lstStyle/>
          <a:p>
            <a:pPr algn="l"/>
            <a:r>
              <a:rPr sz="1900" b="1" i="0">
                <a:solidFill>
                  <a:srgbClr val="1B3A6B"/>
                </a:solidFill>
                <a:latin typeface="Calibri"/>
              </a:rPr>
              <a:t>+0,164</a:t>
            </a:r>
          </a:p>
        </p:txBody>
      </p:sp>
      <p:sp>
        <p:nvSpPr>
          <p:cNvPr id="63" name="TextBox 62"/>
          <p:cNvSpPr txBox="1"/>
          <p:nvPr/>
        </p:nvSpPr>
        <p:spPr>
          <a:xfrm>
            <a:off x="6818400" y="43740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572000"/>
            <a:ext cx="1893600" cy="165600"/>
          </a:xfrm>
          <a:prstGeom prst="rect">
            <a:avLst/>
          </a:prstGeom>
          <a:noFill/>
        </p:spPr>
        <p:txBody>
          <a:bodyPr wrap="square">
            <a:spAutoFit/>
          </a:bodyPr>
          <a:lstStyle/>
          <a:p>
            <a:pPr algn="l"/>
            <a:r>
              <a:rPr sz="700" b="0" i="0">
                <a:solidFill>
                  <a:srgbClr val="888888"/>
                </a:solidFill>
                <a:latin typeface="Calibri"/>
              </a:rPr>
              <a:t>Neutre +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NVIDIA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{'title': 'Compression des marges', 'des  ·  {'title': 'Choc macroeconomique',…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NVIDIA Corporation opere dans le secteur Technology. Profil financier caracterise par EV/EBITDA 55.0x, marge EBITDA 66.0%, ROE 91.9%. Description detaillee non disponible (mode fallback deterministe).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4 736,1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130,5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194,90 $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55,0x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65,0x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2023–2025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27,0</a:t>
                      </a:r>
                    </a:p>
                  </a:txBody>
                  <a:tcPr>
                    <a:solidFill>
                      <a:srgbClr val="FFFFFF"/>
                    </a:solidFill>
                  </a:tcPr>
                </a:tc>
                <a:tc>
                  <a:txBody>
                    <a:bodyPr/>
                    <a:lstStyle/>
                    <a:p>
                      <a:pPr algn="ctr"/>
                      <a:r>
                        <a:rPr sz="800" b="1" i="0">
                          <a:solidFill>
                            <a:srgbClr val="0D0D0D"/>
                          </a:solidFill>
                          <a:latin typeface="Calibri"/>
                        </a:rPr>
                        <a:t>60,9</a:t>
                      </a:r>
                    </a:p>
                  </a:txBody>
                  <a:tcPr>
                    <a:solidFill>
                      <a:srgbClr val="FFFFFF"/>
                    </a:solidFill>
                  </a:tcPr>
                </a:tc>
                <a:tc>
                  <a:txBody>
                    <a:bodyPr/>
                    <a:lstStyle/>
                    <a:p>
                      <a:pPr algn="ctr"/>
                      <a:r>
                        <a:rPr sz="800" b="1" i="0">
                          <a:solidFill>
                            <a:srgbClr val="1B3A6B"/>
                          </a:solidFill>
                          <a:latin typeface="Calibri"/>
                        </a:rPr>
                        <a:t>130,5</a:t>
                      </a:r>
                    </a:p>
                  </a:txBody>
                  <a:tcPr>
                    <a:solidFill>
                      <a:srgbClr val="DDE8F5"/>
                    </a:solidFill>
                  </a:tcPr>
                </a:tc>
              </a:tr>
              <a:tr h="220000">
                <a:tc>
                  <a:txBody>
                    <a:bodyPr/>
                    <a:lstStyle/>
                    <a:p>
                      <a:pPr algn="l"/>
                      <a:r>
                        <a:rPr sz="750" b="0" i="1">
                          <a:solidFill>
                            <a:srgbClr val="333333"/>
                          </a:solidFill>
                          <a:latin typeface="Calibri"/>
                        </a:rPr>
                        <a:t>Croissance YoY</a:t>
                      </a:r>
                    </a:p>
                  </a:txBody>
                  <a:tcPr>
                    <a:solidFill>
                      <a:srgbClr val="F7F8FA"/>
                    </a:solidFill>
                  </a:tcPr>
                </a:tc>
                <a:tc>
                  <a:txBody>
                    <a:bodyPr/>
                    <a:lstStyle/>
                    <a:p>
                      <a:pPr algn="ctr"/>
                      <a:r>
                        <a:rPr sz="750" b="0" i="1">
                          <a:solidFill>
                            <a:srgbClr val="333333"/>
                          </a:solidFill>
                          <a:latin typeface="Calibri"/>
                        </a:rPr>
                        <a:t>—</a:t>
                      </a:r>
                    </a:p>
                  </a:txBody>
                  <a:tcPr>
                    <a:solidFill>
                      <a:srgbClr val="F7F8FA"/>
                    </a:solidFill>
                  </a:tcPr>
                </a:tc>
                <a:tc>
                  <a:txBody>
                    <a:bodyPr/>
                    <a:lstStyle/>
                    <a:p>
                      <a:pPr algn="ctr"/>
                      <a:r>
                        <a:rPr sz="750" b="0" i="1">
                          <a:solidFill>
                            <a:srgbClr val="333333"/>
                          </a:solidFill>
                          <a:latin typeface="Calibri"/>
                        </a:rPr>
                        <a:t>+125,8 %</a:t>
                      </a:r>
                    </a:p>
                  </a:txBody>
                  <a:tcPr>
                    <a:solidFill>
                      <a:srgbClr val="F7F8FA"/>
                    </a:solidFill>
                  </a:tcPr>
                </a:tc>
                <a:tc>
                  <a:txBody>
                    <a:bodyPr/>
                    <a:lstStyle/>
                    <a:p>
                      <a:pPr algn="ctr"/>
                      <a:r>
                        <a:rPr sz="750" b="0" i="1">
                          <a:solidFill>
                            <a:srgbClr val="333333"/>
                          </a:solidFill>
                          <a:latin typeface="Calibri"/>
                        </a:rPr>
                        <a:t>+114,2 %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15,4</a:t>
                      </a:r>
                    </a:p>
                  </a:txBody>
                  <a:tcPr>
                    <a:solidFill>
                      <a:srgbClr val="FFFFFF"/>
                    </a:solidFill>
                  </a:tcPr>
                </a:tc>
                <a:tc>
                  <a:txBody>
                    <a:bodyPr/>
                    <a:lstStyle/>
                    <a:p>
                      <a:pPr algn="ctr"/>
                      <a:r>
                        <a:rPr sz="800" b="1" i="0">
                          <a:solidFill>
                            <a:srgbClr val="0D0D0D"/>
                          </a:solidFill>
                          <a:latin typeface="Calibri"/>
                        </a:rPr>
                        <a:t>44,3</a:t>
                      </a:r>
                    </a:p>
                  </a:txBody>
                  <a:tcPr>
                    <a:solidFill>
                      <a:srgbClr val="FFFFFF"/>
                    </a:solidFill>
                  </a:tcPr>
                </a:tc>
                <a:tc>
                  <a:txBody>
                    <a:bodyPr/>
                    <a:lstStyle/>
                    <a:p>
                      <a:pPr algn="ctr"/>
                      <a:r>
                        <a:rPr sz="800" b="1" i="0">
                          <a:solidFill>
                            <a:srgbClr val="1B3A6B"/>
                          </a:solidFill>
                          <a:latin typeface="Calibri"/>
                        </a:rPr>
                        <a:t>97,9</a:t>
                      </a:r>
                    </a:p>
                  </a:txBody>
                  <a:tcPr>
                    <a:solidFill>
                      <a:srgbClr val="DDE8F5"/>
                    </a:solidFill>
                  </a:tcPr>
                </a:tc>
              </a:tr>
              <a:tr h="220000">
                <a:tc>
                  <a:txBody>
                    <a:bodyPr/>
                    <a:lstStyle/>
                    <a:p>
                      <a:pPr algn="l"/>
                      <a:r>
                        <a:rPr sz="750" b="0" i="1">
                          <a:solidFill>
                            <a:srgbClr val="333333"/>
                          </a:solidFill>
                          <a:latin typeface="Calibri"/>
                        </a:rPr>
                        <a:t>Marge brute</a:t>
                      </a:r>
                    </a:p>
                  </a:txBody>
                  <a:tcPr>
                    <a:solidFill>
                      <a:srgbClr val="F7F8FA"/>
                    </a:solidFill>
                  </a:tcPr>
                </a:tc>
                <a:tc>
                  <a:txBody>
                    <a:bodyPr/>
                    <a:lstStyle/>
                    <a:p>
                      <a:pPr algn="ctr"/>
                      <a:r>
                        <a:rPr sz="750" b="0" i="1">
                          <a:solidFill>
                            <a:srgbClr val="333333"/>
                          </a:solidFill>
                          <a:latin typeface="Calibri"/>
                        </a:rPr>
                        <a:t>56,9 %</a:t>
                      </a:r>
                    </a:p>
                  </a:txBody>
                  <a:tcPr>
                    <a:solidFill>
                      <a:srgbClr val="F7F8FA"/>
                    </a:solidFill>
                  </a:tcPr>
                </a:tc>
                <a:tc>
                  <a:txBody>
                    <a:bodyPr/>
                    <a:lstStyle/>
                    <a:p>
                      <a:pPr algn="ctr"/>
                      <a:r>
                        <a:rPr sz="750" b="0" i="1">
                          <a:solidFill>
                            <a:srgbClr val="333333"/>
                          </a:solidFill>
                          <a:latin typeface="Calibri"/>
                        </a:rPr>
                        <a:t>72,7 %</a:t>
                      </a:r>
                    </a:p>
                  </a:txBody>
                  <a:tcPr>
                    <a:solidFill>
                      <a:srgbClr val="F7F8FA"/>
                    </a:solidFill>
                  </a:tcPr>
                </a:tc>
                <a:tc>
                  <a:txBody>
                    <a:bodyPr/>
                    <a:lstStyle/>
                    <a:p>
                      <a:pPr algn="ctr"/>
                      <a:r>
                        <a:rPr sz="750" b="0" i="1">
                          <a:solidFill>
                            <a:srgbClr val="333333"/>
                          </a:solidFill>
                          <a:latin typeface="Calibri"/>
                        </a:rPr>
                        <a:t>75,0 %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6,0</a:t>
                      </a:r>
                    </a:p>
                  </a:txBody>
                  <a:tcPr>
                    <a:solidFill>
                      <a:srgbClr val="FFFFFF"/>
                    </a:solidFill>
                  </a:tcPr>
                </a:tc>
                <a:tc>
                  <a:txBody>
                    <a:bodyPr/>
                    <a:lstStyle/>
                    <a:p>
                      <a:pPr algn="ctr"/>
                      <a:r>
                        <a:rPr sz="800" b="1" i="0">
                          <a:solidFill>
                            <a:srgbClr val="0D0D0D"/>
                          </a:solidFill>
                          <a:latin typeface="Calibri"/>
                        </a:rPr>
                        <a:t>35,6</a:t>
                      </a:r>
                    </a:p>
                  </a:txBody>
                  <a:tcPr>
                    <a:solidFill>
                      <a:srgbClr val="FFFFFF"/>
                    </a:solidFill>
                  </a:tcPr>
                </a:tc>
                <a:tc>
                  <a:txBody>
                    <a:bodyPr/>
                    <a:lstStyle/>
                    <a:p>
                      <a:pPr algn="ctr"/>
                      <a:r>
                        <a:rPr sz="800" b="1" i="0">
                          <a:solidFill>
                            <a:srgbClr val="1B3A6B"/>
                          </a:solidFill>
                          <a:latin typeface="Calibri"/>
                        </a:rPr>
                        <a:t>86,1</a:t>
                      </a:r>
                    </a:p>
                  </a:txBody>
                  <a:tcPr>
                    <a:solidFill>
                      <a:srgbClr val="DDE8F5"/>
                    </a:solidFill>
                  </a:tcPr>
                </a:tc>
              </a:tr>
              <a:tr h="220000">
                <a:tc>
                  <a:txBody>
                    <a:bodyPr/>
                    <a:lstStyle/>
                    <a:p>
                      <a:pPr algn="l"/>
                      <a:r>
                        <a:rPr sz="750" b="0" i="1">
                          <a:solidFill>
                            <a:srgbClr val="333333"/>
                          </a:solidFill>
                          <a:latin typeface="Calibri"/>
                        </a:rPr>
                        <a:t>Marge EBITDA</a:t>
                      </a:r>
                    </a:p>
                  </a:txBody>
                  <a:tcPr>
                    <a:solidFill>
                      <a:srgbClr val="F7F8FA"/>
                    </a:solidFill>
                  </a:tcPr>
                </a:tc>
                <a:tc>
                  <a:txBody>
                    <a:bodyPr/>
                    <a:lstStyle/>
                    <a:p>
                      <a:pPr algn="ctr"/>
                      <a:r>
                        <a:rPr sz="750" b="0" i="1">
                          <a:solidFill>
                            <a:srgbClr val="333333"/>
                          </a:solidFill>
                          <a:latin typeface="Calibri"/>
                        </a:rPr>
                        <a:t>22,2 %</a:t>
                      </a:r>
                    </a:p>
                  </a:txBody>
                  <a:tcPr>
                    <a:solidFill>
                      <a:srgbClr val="F7F8FA"/>
                    </a:solidFill>
                  </a:tcPr>
                </a:tc>
                <a:tc>
                  <a:txBody>
                    <a:bodyPr/>
                    <a:lstStyle/>
                    <a:p>
                      <a:pPr algn="ctr"/>
                      <a:r>
                        <a:rPr sz="750" b="0" i="1">
                          <a:solidFill>
                            <a:srgbClr val="333333"/>
                          </a:solidFill>
                          <a:latin typeface="Calibri"/>
                        </a:rPr>
                        <a:t>58,4 %</a:t>
                      </a:r>
                    </a:p>
                  </a:txBody>
                  <a:tcPr>
                    <a:solidFill>
                      <a:srgbClr val="F7F8FA"/>
                    </a:solidFill>
                  </a:tcPr>
                </a:tc>
                <a:tc>
                  <a:txBody>
                    <a:bodyPr/>
                    <a:lstStyle/>
                    <a:p>
                      <a:pPr algn="ctr"/>
                      <a:r>
                        <a:rPr sz="750" b="0" i="1">
                          <a:solidFill>
                            <a:srgbClr val="333333"/>
                          </a:solidFill>
                          <a:latin typeface="Calibri"/>
                        </a:rPr>
                        <a:t>66,0 %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4,4</a:t>
                      </a:r>
                    </a:p>
                  </a:txBody>
                  <a:tcPr>
                    <a:solidFill>
                      <a:srgbClr val="FFFFFF"/>
                    </a:solidFill>
                  </a:tcPr>
                </a:tc>
                <a:tc>
                  <a:txBody>
                    <a:bodyPr/>
                    <a:lstStyle/>
                    <a:p>
                      <a:pPr algn="ctr"/>
                      <a:r>
                        <a:rPr sz="800" b="1" i="0">
                          <a:solidFill>
                            <a:srgbClr val="0D0D0D"/>
                          </a:solidFill>
                          <a:latin typeface="Calibri"/>
                        </a:rPr>
                        <a:t>29,8</a:t>
                      </a:r>
                    </a:p>
                  </a:txBody>
                  <a:tcPr>
                    <a:solidFill>
                      <a:srgbClr val="FFFFFF"/>
                    </a:solidFill>
                  </a:tcPr>
                </a:tc>
                <a:tc>
                  <a:txBody>
                    <a:bodyPr/>
                    <a:lstStyle/>
                    <a:p>
                      <a:pPr algn="ctr"/>
                      <a:r>
                        <a:rPr sz="800" b="1" i="0">
                          <a:solidFill>
                            <a:srgbClr val="1B3A6B"/>
                          </a:solidFill>
                          <a:latin typeface="Calibri"/>
                        </a:rPr>
                        <a:t>72,9</a:t>
                      </a:r>
                    </a:p>
                  </a:txBody>
                  <a:tcPr>
                    <a:solidFill>
                      <a:srgbClr val="DDE8F5"/>
                    </a:solidFill>
                  </a:tcPr>
                </a:tc>
              </a:tr>
              <a:tr h="220000">
                <a:tc>
                  <a:txBody>
                    <a:bodyPr/>
                    <a:lstStyle/>
                    <a:p>
                      <a:pPr algn="l"/>
                      <a:r>
                        <a:rPr sz="750" b="0" i="1">
                          <a:solidFill>
                            <a:srgbClr val="333333"/>
                          </a:solidFill>
                          <a:latin typeface="Calibri"/>
                        </a:rPr>
                        <a:t>Marge nette</a:t>
                      </a:r>
                    </a:p>
                  </a:txBody>
                  <a:tcPr>
                    <a:solidFill>
                      <a:srgbClr val="F7F8FA"/>
                    </a:solidFill>
                  </a:tcPr>
                </a:tc>
                <a:tc>
                  <a:txBody>
                    <a:bodyPr/>
                    <a:lstStyle/>
                    <a:p>
                      <a:pPr algn="ctr"/>
                      <a:r>
                        <a:rPr sz="750" b="0" i="1">
                          <a:solidFill>
                            <a:srgbClr val="333333"/>
                          </a:solidFill>
                          <a:latin typeface="Calibri"/>
                        </a:rPr>
                        <a:t>16,2 %</a:t>
                      </a:r>
                    </a:p>
                  </a:txBody>
                  <a:tcPr>
                    <a:solidFill>
                      <a:srgbClr val="F7F8FA"/>
                    </a:solidFill>
                  </a:tcPr>
                </a:tc>
                <a:tc>
                  <a:txBody>
                    <a:bodyPr/>
                    <a:lstStyle/>
                    <a:p>
                      <a:pPr algn="ctr"/>
                      <a:r>
                        <a:rPr sz="750" b="0" i="1">
                          <a:solidFill>
                            <a:srgbClr val="333333"/>
                          </a:solidFill>
                          <a:latin typeface="Calibri"/>
                        </a:rPr>
                        <a:t>48,9 %</a:t>
                      </a:r>
                    </a:p>
                  </a:txBody>
                  <a:tcPr>
                    <a:solidFill>
                      <a:srgbClr val="F7F8FA"/>
                    </a:solidFill>
                  </a:tcPr>
                </a:tc>
                <a:tc>
                  <a:txBody>
                    <a:bodyPr/>
                    <a:lstStyle/>
                    <a:p>
                      <a:pPr algn="ctr"/>
                      <a:r>
                        <a:rPr sz="750" b="0" i="1">
                          <a:solidFill>
                            <a:srgbClr val="333333"/>
                          </a:solidFill>
                          <a:latin typeface="Calibri"/>
                        </a:rPr>
                        <a:t>55,9 %</a:t>
                      </a:r>
                    </a:p>
                  </a:txBody>
                  <a:tcPr>
                    <a:solidFill>
                      <a:srgbClr val="DDE8F5"/>
                    </a:solidFill>
                  </a:tcPr>
                </a:tc>
              </a:tr>
            </a:tbl>
          </a:graphicData>
        </a:graphic>
      </p:graphicFrame>
      <p:sp>
        <p:nvSpPr>
          <p:cNvPr id="18" name="Rectangle 17"/>
          <p:cNvSpPr/>
          <p:nvPr/>
        </p:nvSpPr>
        <p:spPr>
          <a:xfrm>
            <a:off x="367200" y="3218400"/>
            <a:ext cx="8413200" cy="1224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218400"/>
            <a:ext cx="79200" cy="122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247200"/>
            <a:ext cx="8298000" cy="151200"/>
          </a:xfrm>
          <a:prstGeom prst="rect">
            <a:avLst/>
          </a:prstGeom>
          <a:noFill/>
        </p:spPr>
        <p:txBody>
          <a:bodyPr wrap="none">
            <a:spAutoFit/>
          </a:bodyPr>
          <a:lstStyle/>
          <a:p>
            <a:pPr algn="l"/>
            <a:r>
              <a:rPr sz="950" b="1" i="0">
                <a:solidFill>
                  <a:srgbClr val="1B3A6B"/>
                </a:solidFill>
                <a:latin typeface="Calibri"/>
              </a:rPr>
              <a:t>NVDA combine forte croissance (+114.2%) et marges premium (66.0%)</a:t>
            </a:r>
          </a:p>
        </p:txBody>
      </p:sp>
      <p:sp>
        <p:nvSpPr>
          <p:cNvPr id="21" name="TextBox 20"/>
          <p:cNvSpPr txBox="1"/>
          <p:nvPr/>
        </p:nvSpPr>
        <p:spPr>
          <a:xfrm>
            <a:off x="475200" y="3416400"/>
            <a:ext cx="8298000" cy="1000799"/>
          </a:xfrm>
          <a:prstGeom prst="rect">
            <a:avLst/>
          </a:prstGeom>
          <a:noFill/>
        </p:spPr>
        <p:txBody>
          <a:bodyPr wrap="square">
            <a:spAutoFit/>
          </a:bodyPr>
          <a:lstStyle/>
          <a:p>
            <a:pPr algn="l"/>
            <a:r>
              <a:rPr sz="850" b="0" i="0">
                <a:solidFill>
                  <a:srgbClr val="555555"/>
                </a:solidFill>
                <a:latin typeface="Calibri"/>
              </a:rPr>
              <a:t>Croissance revenue de +114.2% sur la dernière période, reflétant une dynamique commerciale soutenue. Marge brute de 75.0%, indicateur du pricing power et de la structure de coûts variables. Marge EBITDA à 66.0%, mesure de la profitabilité opérationnelle avant amortissements. Marge nette de 55.9%, après prise en compte de la structure financière et de la fiscalité.</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8,6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équivalents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8,5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-126 M$</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5,63</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4,38</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341,2x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-0,0x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11,84</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-0,78</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
        <p:nvSpPr>
          <p:cNvPr id="31" name="Rectangle 30"/>
          <p:cNvSpPr/>
          <p:nvPr/>
        </p:nvSpPr>
        <p:spPr>
          <a:xfrm>
            <a:off x="367200" y="3528000"/>
            <a:ext cx="8413200" cy="126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367200" y="3528000"/>
            <a:ext cx="79200" cy="126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75200" y="3556800"/>
            <a:ext cx="8298000" cy="151200"/>
          </a:xfrm>
          <a:prstGeom prst="rect">
            <a:avLst/>
          </a:prstGeom>
          <a:noFill/>
        </p:spPr>
        <p:txBody>
          <a:bodyPr wrap="none">
            <a:spAutoFit/>
          </a:bodyPr>
          <a:lstStyle/>
          <a:p>
            <a:pPr algn="l"/>
            <a:r>
              <a:rPr sz="950" b="1" i="0">
                <a:solidFill>
                  <a:srgbClr val="1B3A6B"/>
                </a:solidFill>
                <a:latin typeface="Calibri"/>
              </a:rPr>
              <a:t>NVDA en cash net positif — bilan robuste, capacité d'investissement intacte</a:t>
            </a:r>
          </a:p>
        </p:txBody>
      </p:sp>
      <p:sp>
        <p:nvSpPr>
          <p:cNvPr id="34" name="TextBox 33"/>
          <p:cNvSpPr txBox="1"/>
          <p:nvPr/>
        </p:nvSpPr>
        <p:spPr>
          <a:xfrm>
            <a:off x="475200" y="3726000"/>
            <a:ext cx="8298000" cy="1036800"/>
          </a:xfrm>
          <a:prstGeom prst="rect">
            <a:avLst/>
          </a:prstGeom>
          <a:noFill/>
        </p:spPr>
        <p:txBody>
          <a:bodyPr wrap="square">
            <a:spAutoFit/>
          </a:bodyPr>
          <a:lstStyle/>
          <a:p>
            <a:pPr algn="l"/>
            <a:r>
              <a:rPr sz="850" b="0" i="0">
                <a:solidFill>
                  <a:srgbClr val="555555"/>
                </a:solidFill>
                <a:latin typeface="Calibri"/>
              </a:rPr>
              <a:t>Position de cash net positif (-0.00x EBITDA), conférant une flexibilité financière maximale. Current ratio à 5.63x, mesure de la couverture des passifs courants par les actifs courants. Couverture des intérêts solide (341.2x EBIT), capacité de service de la dette robuste.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55,0x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36,3x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Très élevé</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75,0 %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66,0 %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91,9 %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555555"/>
                          </a:solidFill>
                          <a:latin typeface="Calibri"/>
                        </a:rPr>
                        <a:t>Léger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11,84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-0,78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Risque manip.</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195 $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194,90 $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166 $</a:t>
                      </a:r>
                    </a:p>
                  </a:txBody>
                  <a:tcPr>
                    <a:solidFill>
                      <a:srgbClr val="FAF0EF"/>
                    </a:solidFill>
                  </a:tcPr>
                </a:tc>
                <a:tc>
                  <a:txBody>
                    <a:bodyPr/>
                    <a:lstStyle/>
                    <a:p>
                      <a:pPr algn="ctr"/>
                      <a:r>
                        <a:rPr sz="2000" b="1" i="0">
                          <a:solidFill>
                            <a:srgbClr val="2E5FA3"/>
                          </a:solidFill>
                          <a:latin typeface="Calibri"/>
                        </a:rPr>
                        <a:t>195 $</a:t>
                      </a:r>
                    </a:p>
                  </a:txBody>
                  <a:tcPr>
                    <a:solidFill>
                      <a:srgbClr val="EEF3FA"/>
                    </a:solidFill>
                  </a:tcPr>
                </a:tc>
                <a:tc>
                  <a:txBody>
                    <a:bodyPr/>
                    <a:lstStyle/>
                    <a:p>
                      <a:pPr algn="ctr"/>
                      <a:r>
                        <a:rPr sz="2000" b="1" i="0">
                          <a:solidFill>
                            <a:srgbClr val="1A7A4A"/>
                          </a:solidFill>
                          <a:latin typeface="Calibri"/>
                        </a:rPr>
                        <a:t>234 $</a:t>
                      </a:r>
                    </a:p>
                  </a:txBody>
                  <a:tcPr>
                    <a:solidFill>
                      <a:srgbClr val="EAF4EF"/>
                    </a:solidFill>
                  </a:tcPr>
                </a:tc>
              </a:tr>
              <a:tr h="342900">
                <a:tc>
                  <a:txBody>
                    <a:bodyPr/>
                    <a:lstStyle/>
                    <a:p>
                      <a:pPr algn="ctr"/>
                      <a:r>
                        <a:rPr sz="1200" b="1" i="0">
                          <a:solidFill>
                            <a:srgbClr val="A82020"/>
                          </a:solidFill>
                          <a:latin typeface="Calibri"/>
                        </a:rPr>
                        <a:t>-15,0 %</a:t>
                      </a:r>
                    </a:p>
                  </a:txBody>
                  <a:tcPr>
                    <a:solidFill>
                      <a:srgbClr val="FAF0EF"/>
                    </a:solidFill>
                  </a:tcPr>
                </a:tc>
                <a:tc>
                  <a:txBody>
                    <a:bodyPr/>
                    <a:lstStyle/>
                    <a:p>
                      <a:pPr algn="ctr"/>
                      <a:r>
                        <a:rPr sz="1200" b="1" i="0">
                          <a:solidFill>
                            <a:srgbClr val="2E5FA3"/>
                          </a:solidFill>
                          <a:latin typeface="Calibri"/>
                        </a:rPr>
                        <a:t>+0,0 %</a:t>
                      </a:r>
                    </a:p>
                  </a:txBody>
                  <a:tcPr>
                    <a:solidFill>
                      <a:srgbClr val="EEF3FA"/>
                    </a:solidFill>
                  </a:tcPr>
                </a:tc>
                <a:tc>
                  <a:txBody>
                    <a:bodyPr/>
                    <a:lstStyle/>
                    <a:p>
                      <a:pPr algn="ctr"/>
                      <a:r>
                        <a:rPr sz="1200" b="1" i="0">
                          <a:solidFill>
                            <a:srgbClr val="1A7A4A"/>
                          </a:solidFill>
                          <a:latin typeface="Calibri"/>
                        </a:rPr>
                        <a:t>+20,0 %</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GBM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Cours prédit (12M)</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-51,9 %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259 $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+32,8 %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+151,7 %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716 $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+267,3 %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15,1%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227</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16,1%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17,1%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188</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195</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18,1%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182</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NVIDIA Corporation</a:t>
                      </a:r>
                    </a:p>
                  </a:txBody>
                  <a:tcPr>
                    <a:solidFill>
                      <a:srgbClr val="DDE8F5"/>
                    </a:solidFill>
                  </a:tcPr>
                </a:tc>
                <a:tc>
                  <a:txBody>
                    <a:bodyPr/>
                    <a:lstStyle/>
                    <a:p>
                      <a:pPr algn="ctr"/>
                      <a:r>
                        <a:rPr sz="750" b="1" i="0">
                          <a:solidFill>
                            <a:srgbClr val="2E5FA3"/>
                          </a:solidFill>
                          <a:latin typeface="Calibri"/>
                        </a:rPr>
                        <a:t>NVDA</a:t>
                      </a:r>
                    </a:p>
                  </a:txBody>
                  <a:tcPr>
                    <a:solidFill>
                      <a:srgbClr val="DDE8F5"/>
                    </a:solidFill>
                  </a:tcPr>
                </a:tc>
                <a:tc>
                  <a:txBody>
                    <a:bodyPr/>
                    <a:lstStyle/>
                    <a:p>
                      <a:pPr algn="ctr"/>
                      <a:r>
                        <a:rPr sz="800" b="1" i="0">
                          <a:solidFill>
                            <a:srgbClr val="1B3A6B"/>
                          </a:solidFill>
                          <a:latin typeface="Calibri"/>
                        </a:rPr>
                        <a:t>4 736,1</a:t>
                      </a:r>
                    </a:p>
                  </a:txBody>
                  <a:tcPr>
                    <a:solidFill>
                      <a:srgbClr val="DDE8F5"/>
                    </a:solidFill>
                  </a:tcPr>
                </a:tc>
                <a:tc>
                  <a:txBody>
                    <a:bodyPr/>
                    <a:lstStyle/>
                    <a:p>
                      <a:pPr algn="ctr"/>
                      <a:r>
                        <a:rPr sz="800" b="1" i="0">
                          <a:solidFill>
                            <a:srgbClr val="1B3A6B"/>
                          </a:solidFill>
                          <a:latin typeface="Calibri"/>
                        </a:rPr>
                        <a:t>55,0x</a:t>
                      </a:r>
                    </a:p>
                  </a:txBody>
                  <a:tcPr>
                    <a:solidFill>
                      <a:srgbClr val="DDE8F5"/>
                    </a:solidFill>
                  </a:tcPr>
                </a:tc>
                <a:tc>
                  <a:txBody>
                    <a:bodyPr/>
                    <a:lstStyle/>
                    <a:p>
                      <a:pPr algn="ctr"/>
                      <a:r>
                        <a:rPr sz="800" b="1" i="0">
                          <a:solidFill>
                            <a:srgbClr val="1B3A6B"/>
                          </a:solidFill>
                          <a:latin typeface="Calibri"/>
                        </a:rPr>
                        <a:t>36,3x</a:t>
                      </a:r>
                    </a:p>
                  </a:txBody>
                  <a:tcPr>
                    <a:solidFill>
                      <a:srgbClr val="DDE8F5"/>
                    </a:solidFill>
                  </a:tcPr>
                </a:tc>
                <a:tc>
                  <a:txBody>
                    <a:bodyPr/>
                    <a:lstStyle/>
                    <a:p>
                      <a:pPr algn="ctr"/>
                      <a:r>
                        <a:rPr sz="800" b="1" i="0">
                          <a:solidFill>
                            <a:srgbClr val="1B3A6B"/>
                          </a:solidFill>
                          <a:latin typeface="Calibri"/>
                        </a:rPr>
                        <a:t>65,0x</a:t>
                      </a:r>
                    </a:p>
                  </a:txBody>
                  <a:tcPr>
                    <a:solidFill>
                      <a:srgbClr val="DDE8F5"/>
                    </a:solidFill>
                  </a:tcPr>
                </a:tc>
                <a:tc>
                  <a:txBody>
                    <a:bodyPr/>
                    <a:lstStyle/>
                    <a:p>
                      <a:pPr algn="ctr"/>
                      <a:r>
                        <a:rPr sz="800" b="1" i="0">
                          <a:solidFill>
                            <a:srgbClr val="1B3A6B"/>
                          </a:solidFill>
                          <a:latin typeface="Calibri"/>
                        </a:rPr>
                        <a:t>75,0 %</a:t>
                      </a:r>
                    </a:p>
                  </a:txBody>
                  <a:tcPr>
                    <a:solidFill>
                      <a:srgbClr val="DDE8F5"/>
                    </a:solidFill>
                  </a:tcPr>
                </a:tc>
                <a:tc>
                  <a:txBody>
                    <a:bodyPr/>
                    <a:lstStyle/>
                    <a:p>
                      <a:pPr algn="ctr"/>
                      <a:r>
                        <a:rPr sz="800" b="1" i="0">
                          <a:solidFill>
                            <a:srgbClr val="1B3A6B"/>
                          </a:solidFill>
                          <a:latin typeface="Calibri"/>
                        </a:rPr>
                        <a:t>66,0 %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
        <p:nvSpPr>
          <p:cNvPr id="18" name="Rectangle 17"/>
          <p:cNvSpPr/>
          <p:nvPr/>
        </p:nvSpPr>
        <p:spPr>
          <a:xfrm>
            <a:off x="367200" y="3128400"/>
            <a:ext cx="8413200" cy="15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3128400"/>
            <a:ext cx="79200" cy="15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75200" y="3157200"/>
            <a:ext cx="8298000" cy="151200"/>
          </a:xfrm>
          <a:prstGeom prst="rect">
            <a:avLst/>
          </a:prstGeom>
          <a:noFill/>
        </p:spPr>
        <p:txBody>
          <a:bodyPr wrap="none">
            <a:spAutoFit/>
          </a:bodyPr>
          <a:lstStyle/>
          <a:p>
            <a:pPr algn="l"/>
            <a:r>
              <a:rPr sz="950" b="1" i="0">
                <a:solidFill>
                  <a:srgbClr val="1B3A6B"/>
                </a:solidFill>
                <a:latin typeface="Calibri"/>
              </a:rPr>
              <a:t>NVDA — positionnément vs comparables sectoriels</a:t>
            </a:r>
          </a:p>
        </p:txBody>
      </p:sp>
      <p:sp>
        <p:nvSpPr>
          <p:cNvPr id="21" name="TextBox 20"/>
          <p:cNvSpPr txBox="1"/>
          <p:nvPr/>
        </p:nvSpPr>
        <p:spPr>
          <a:xfrm>
            <a:off x="475200" y="3326400"/>
            <a:ext cx="8298000" cy="1324800"/>
          </a:xfrm>
          <a:prstGeom prst="rect">
            <a:avLst/>
          </a:prstGeom>
          <a:noFill/>
        </p:spPr>
        <p:txBody>
          <a:bodyPr wrap="square">
            <a:spAutoFit/>
          </a:bodyPr>
          <a:lstStyle/>
          <a:p>
            <a:pPr algn="l"/>
            <a:r>
              <a:rPr sz="850" b="0" i="0">
                <a:solidFill>
                  <a:srgbClr val="555555"/>
                </a:solidFill>
                <a:latin typeface="Calibri"/>
              </a:rPr>
              <a:t>Analyse fondamentale NVIDIA Corporation (NVDA) — secteur Technology. Ratios cles : EV/EBITDA 55.0x, marge EBITDA 66.0%, ROE 91.9%. Recommandation neutre par defaut, a reviser selon evolution des fondamentaux et catalyseurs sectoriels.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(194,90)</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194,90</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810000"/>
        </p:xfrm>
        <a:graphic>
          <a:graphicData uri="http://schemas.openxmlformats.org/drawingml/2006/table">
            <a:tbl>
              <a:tblPr firstRow="1" bandRow="1">
                <a:tableStyleId>{5C22544A-7EE6-4342-B048-85BDC9FD1C3A}</a:tableStyleId>
              </a:tblPr>
              <a:tblGrid>
                <a:gridCol w="777600"/>
                <a:gridCol w="570240"/>
                <a:gridCol w="673920"/>
                <a:gridCol w="570240"/>
              </a:tblGrid>
              <a:tr h="2025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1 084,3x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159,1x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133,2x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110,2x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59,7x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Rectangle 19"/>
          <p:cNvSpPr/>
          <p:nvPr/>
        </p:nvSpPr>
        <p:spPr>
          <a:xfrm>
            <a:off x="367200" y="3600000"/>
            <a:ext cx="8413200" cy="1116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67200" y="3600000"/>
            <a:ext cx="79200" cy="1116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5200" y="3628800"/>
            <a:ext cx="8298000" cy="151200"/>
          </a:xfrm>
          <a:prstGeom prst="rect">
            <a:avLst/>
          </a:prstGeom>
          <a:noFill/>
        </p:spPr>
        <p:txBody>
          <a:bodyPr wrap="none">
            <a:spAutoFit/>
          </a:bodyPr>
          <a:lstStyle/>
          <a:p>
            <a:pPr algn="l"/>
            <a:r>
              <a:rPr sz="950" b="1" i="0">
                <a:solidFill>
                  <a:srgbClr val="1B3A6B"/>
                </a:solidFill>
                <a:latin typeface="Calibri"/>
              </a:rPr>
              <a:t>NVDA génère ROE 92% / ROIC 94% — création de valeur premium</a:t>
            </a:r>
          </a:p>
        </p:txBody>
      </p:sp>
      <p:sp>
        <p:nvSpPr>
          <p:cNvPr id="23" name="TextBox 22"/>
          <p:cNvSpPr txBox="1"/>
          <p:nvPr/>
        </p:nvSpPr>
        <p:spPr>
          <a:xfrm>
            <a:off x="475200" y="3798000"/>
            <a:ext cx="8298000" cy="892800"/>
          </a:xfrm>
          <a:prstGeom prst="rect">
            <a:avLst/>
          </a:prstGeom>
          <a:noFill/>
        </p:spPr>
        <p:txBody>
          <a:bodyPr wrap="square">
            <a:spAutoFit/>
          </a:bodyPr>
          <a:lstStyle/>
          <a:p>
            <a:pPr algn="l"/>
            <a:r>
              <a:rPr sz="850" b="0" i="0">
                <a:solidFill>
                  <a:srgbClr val="555555"/>
                </a:solidFill>
                <a:latin typeface="Calibri"/>
              </a:rPr>
              <a:t>Le P/E affiche une compression multiple de 94.2x sur la période (159,1x → 65,0x), signal d’une réévaluation négative du profil de croissance. L’EV/EBITDA se stabilise à 55,0x vs 55,0x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1,5 %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71,5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2,5 %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46,2 %</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810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25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30,2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2500">
                <a:tc>
                  <a:txBody>
                    <a:bodyPr/>
                    <a:lstStyle/>
                    <a:p>
                      <a:pPr algn="l"/>
                      <a:r>
                        <a:rPr sz="800" b="0" i="0">
                          <a:solidFill>
                            <a:srgbClr val="0D0D0D"/>
                          </a:solidFill>
                          <a:latin typeface="Calibri"/>
                        </a:rPr>
                        <a:t>2025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Rectangle 35"/>
          <p:cNvSpPr/>
          <p:nvPr/>
        </p:nvSpPr>
        <p:spPr>
          <a:xfrm>
            <a:off x="367200" y="3708000"/>
            <a:ext cx="8413200" cy="1007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367200" y="3708000"/>
            <a:ext cx="79200" cy="100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75200" y="3736800"/>
            <a:ext cx="8298000" cy="151200"/>
          </a:xfrm>
          <a:prstGeom prst="rect">
            <a:avLst/>
          </a:prstGeom>
          <a:noFill/>
        </p:spPr>
        <p:txBody>
          <a:bodyPr wrap="none">
            <a:spAutoFit/>
          </a:bodyPr>
          <a:lstStyle/>
          <a:p>
            <a:pPr algn="l"/>
            <a:r>
              <a:rPr sz="950" b="1" i="0">
                <a:solidFill>
                  <a:srgbClr val="1B3A6B"/>
                </a:solidFill>
                <a:latin typeface="Calibri"/>
              </a:rPr>
              <a:t>NVDA — politique de retour au capital actionnaire</a:t>
            </a:r>
          </a:p>
        </p:txBody>
      </p:sp>
      <p:sp>
        <p:nvSpPr>
          <p:cNvPr id="39" name="TextBox 38"/>
          <p:cNvSpPr txBox="1"/>
          <p:nvPr/>
        </p:nvSpPr>
        <p:spPr>
          <a:xfrm>
            <a:off x="475200" y="3906000"/>
            <a:ext cx="8298000" cy="784799"/>
          </a:xfrm>
          <a:prstGeom prst="rect">
            <a:avLst/>
          </a:prstGeom>
          <a:noFill/>
        </p:spPr>
        <p:txBody>
          <a:bodyPr wrap="square">
            <a:spAutoFit/>
          </a:bodyPr>
          <a:lstStyle/>
          <a:p>
            <a:pPr algn="l"/>
            <a:r>
              <a:rPr sz="850" b="0" i="0">
                <a:solidFill>
                  <a:srgbClr val="555555"/>
                </a:solidFill>
                <a:latin typeface="Calibri"/>
              </a:rPr>
              <a:t>Le FCF affiche une croissance de 67,4 Mds$ sur la période, avec un FCF yield actuel de 1,5 %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Cadre du Deal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(NVDA)  ·  Sources &amp; Uses, hypothèses et éligibilité</a:t>
            </a:r>
          </a:p>
        </p:txBody>
      </p:sp>
      <p:sp>
        <p:nvSpPr>
          <p:cNvPr id="17" name="Rectangle 16"/>
          <p:cNvSpPr/>
          <p:nvPr/>
        </p:nvSpPr>
        <p:spPr>
          <a:xfrm>
            <a:off x="367200" y="882000"/>
            <a:ext cx="8413200" cy="432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72000" cy="432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917999"/>
            <a:ext cx="7920000" cy="198000"/>
          </a:xfrm>
          <a:prstGeom prst="rect">
            <a:avLst/>
          </a:prstGeom>
          <a:noFill/>
        </p:spPr>
        <p:txBody>
          <a:bodyPr wrap="square">
            <a:spAutoFit/>
          </a:bodyPr>
          <a:lstStyle/>
          <a:p>
            <a:pPr algn="l"/>
            <a:r>
              <a:rPr sz="1300" b="1" i="0">
                <a:solidFill>
                  <a:srgbClr val="1A7A4A"/>
                </a:solidFill>
                <a:latin typeface="Calibri"/>
              </a:rPr>
              <a:t>✓ PROFIL LBO-ABLE</a:t>
            </a:r>
          </a:p>
        </p:txBody>
      </p:sp>
      <p:sp>
        <p:nvSpPr>
          <p:cNvPr id="20" name="TextBox 19"/>
          <p:cNvSpPr txBox="1"/>
          <p:nvPr/>
        </p:nvSpPr>
        <p:spPr>
          <a:xfrm>
            <a:off x="503999" y="1116000"/>
            <a:ext cx="7920000" cy="180000"/>
          </a:xfrm>
          <a:prstGeom prst="rect">
            <a:avLst/>
          </a:prstGeom>
          <a:noFill/>
        </p:spPr>
        <p:txBody>
          <a:bodyPr wrap="square">
            <a:spAutoFit/>
          </a:bodyPr>
          <a:lstStyle/>
          <a:p>
            <a:pPr algn="l"/>
            <a:r>
              <a:rPr sz="900" b="0" i="0">
                <a:solidFill>
                  <a:srgbClr val="2E5FA3"/>
                </a:solidFill>
                <a:latin typeface="Calibri"/>
              </a:rPr>
              <a:t>Société éligible aux critères LBO mid-market standard</a:t>
            </a:r>
          </a:p>
        </p:txBody>
      </p:sp>
      <p:sp>
        <p:nvSpPr>
          <p:cNvPr id="21" name="Rectangle 20"/>
          <p:cNvSpPr/>
          <p:nvPr/>
        </p:nvSpPr>
        <p:spPr>
          <a:xfrm>
            <a:off x="367200" y="1440000"/>
            <a:ext cx="4104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67200" y="1468800"/>
            <a:ext cx="4104000" cy="151200"/>
          </a:xfrm>
          <a:prstGeom prst="rect">
            <a:avLst/>
          </a:prstGeom>
          <a:noFill/>
        </p:spPr>
        <p:txBody>
          <a:bodyPr wrap="none">
            <a:spAutoFit/>
          </a:bodyPr>
          <a:lstStyle/>
          <a:p>
            <a:pPr algn="ctr"/>
            <a:r>
              <a:rPr sz="1050" b="1" i="0">
                <a:solidFill>
                  <a:srgbClr val="FFFFFF"/>
                </a:solidFill>
                <a:latin typeface="Calibri"/>
              </a:rPr>
              <a:t>SOURCES (financement)</a:t>
            </a:r>
          </a:p>
        </p:txBody>
      </p:sp>
      <p:graphicFrame>
        <p:nvGraphicFramePr>
          <p:cNvPr id="23" name="Table 22"/>
          <p:cNvGraphicFramePr>
            <a:graphicFrameLocks noGrp="1"/>
          </p:cNvGraphicFramePr>
          <p:nvPr/>
        </p:nvGraphicFramePr>
        <p:xfrm>
          <a:off x="367200" y="1663200"/>
          <a:ext cx="4104000" cy="1080000"/>
        </p:xfrm>
        <a:graphic>
          <a:graphicData uri="http://schemas.openxmlformats.org/drawingml/2006/table">
            <a:tbl>
              <a:tblPr firstRow="1" bandRow="1">
                <a:tableStyleId>{5C22544A-7EE6-4342-B048-85BDC9FD1C3A}</a:tableStyleId>
              </a:tblPr>
              <a:tblGrid>
                <a:gridCol w="2052000"/>
                <a:gridCol w="1231200"/>
                <a:gridCol w="820800"/>
              </a:tblGrid>
              <a:tr h="270000">
                <a:tc>
                  <a:txBody>
                    <a:bodyPr/>
                    <a:lstStyle/>
                    <a:p>
                      <a:pPr algn="l"/>
                      <a:r>
                        <a:rPr sz="800" b="0" i="0">
                          <a:solidFill>
                            <a:srgbClr val="0D0D0D"/>
                          </a:solidFill>
                          <a:latin typeface="Calibri"/>
                        </a:rPr>
                        <a:t>Sponsor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865,8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66.8 %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Senior Term Loan B</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Mezzanine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70000">
                <a:tc>
                  <a:txBody>
                    <a:bodyPr/>
                    <a:lstStyle/>
                    <a:p>
                      <a:pPr algn="l"/>
                      <a:r>
                        <a:rPr sz="800" b="0" i="0">
                          <a:solidFill>
                            <a:srgbClr val="0D0D0D"/>
                          </a:solidFill>
                          <a:latin typeface="Calibri"/>
                        </a:rPr>
                        <a:t>TOTAL SOURCES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1 296,5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100,0 %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4" name="Rectangle 23"/>
          <p:cNvSpPr/>
          <p:nvPr/>
        </p:nvSpPr>
        <p:spPr>
          <a:xfrm>
            <a:off x="4658400" y="1440000"/>
            <a:ext cx="41256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58400" y="1468800"/>
            <a:ext cx="4125600" cy="151200"/>
          </a:xfrm>
          <a:prstGeom prst="rect">
            <a:avLst/>
          </a:prstGeom>
          <a:noFill/>
        </p:spPr>
        <p:txBody>
          <a:bodyPr wrap="none">
            <a:spAutoFit/>
          </a:bodyPr>
          <a:lstStyle/>
          <a:p>
            <a:pPr algn="ctr"/>
            <a:r>
              <a:rPr sz="1050" b="1" i="0">
                <a:solidFill>
                  <a:srgbClr val="FFFFFF"/>
                </a:solidFill>
                <a:latin typeface="Calibri"/>
              </a:rPr>
              <a:t>USES (utilisation)</a:t>
            </a:r>
          </a:p>
        </p:txBody>
      </p:sp>
      <p:graphicFrame>
        <p:nvGraphicFramePr>
          <p:cNvPr id="26" name="Table 25"/>
          <p:cNvGraphicFramePr>
            <a:graphicFrameLocks noGrp="1"/>
          </p:cNvGraphicFramePr>
          <p:nvPr/>
        </p:nvGraphicFramePr>
        <p:xfrm>
          <a:off x="4658400" y="1663200"/>
          <a:ext cx="4125600" cy="1260000"/>
        </p:xfrm>
        <a:graphic>
          <a:graphicData uri="http://schemas.openxmlformats.org/drawingml/2006/table">
            <a:tbl>
              <a:tblPr firstRow="1" bandRow="1">
                <a:tableStyleId>{5C22544A-7EE6-4342-B048-85BDC9FD1C3A}</a:tableStyleId>
              </a:tblPr>
              <a:tblGrid>
                <a:gridCol w="2681640"/>
                <a:gridCol w="1443960"/>
              </a:tblGrid>
              <a:tr h="252000">
                <a:tc>
                  <a:txBody>
                    <a:bodyPr/>
                    <a:lstStyle/>
                    <a:p>
                      <a:pPr algn="l"/>
                      <a:r>
                        <a:rPr sz="800" b="0" i="0">
                          <a:solidFill>
                            <a:srgbClr val="0D0D0D"/>
                          </a:solidFill>
                          <a:latin typeface="Calibri"/>
                        </a:rPr>
                        <a:t>Purchase price equity</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1 206,0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Refinancement dette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Transaction fees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Cash minimum BS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60,3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52000">
                <a:tc>
                  <a:txBody>
                    <a:bodyPr/>
                    <a:lstStyle/>
                    <a:p>
                      <a:pPr algn="l"/>
                      <a:r>
                        <a:rPr sz="800" b="0" i="0">
                          <a:solidFill>
                            <a:srgbClr val="0D0D0D"/>
                          </a:solidFill>
                          <a:latin typeface="Calibri"/>
                        </a:rPr>
                        <a:t>TOTAL USES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1 296,5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7" name="Rectangle 26"/>
          <p:cNvSpPr/>
          <p:nvPr/>
        </p:nvSpPr>
        <p:spPr>
          <a:xfrm>
            <a:off x="367200" y="3131999"/>
            <a:ext cx="8413200" cy="163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367200" y="3131999"/>
            <a:ext cx="79200" cy="163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5200" y="3160800"/>
            <a:ext cx="8298000" cy="151200"/>
          </a:xfrm>
          <a:prstGeom prst="rect">
            <a:avLst/>
          </a:prstGeom>
          <a:noFill/>
        </p:spPr>
        <p:txBody>
          <a:bodyPr wrap="none">
            <a:spAutoFit/>
          </a:bodyPr>
          <a:lstStyle/>
          <a:p>
            <a:pPr algn="l"/>
            <a:r>
              <a:rPr sz="950" b="1" i="0">
                <a:solidFill>
                  <a:srgbClr val="1B3A6B"/>
                </a:solidFill>
                <a:latin typeface="Calibri"/>
              </a:rPr>
              <a:t>LBO NVDA : IRR 26.4% — deal attractif pour sponsor PE top-tier</a:t>
            </a:r>
          </a:p>
        </p:txBody>
      </p:sp>
      <p:sp>
        <p:nvSpPr>
          <p:cNvPr id="30" name="TextBox 29"/>
          <p:cNvSpPr txBox="1"/>
          <p:nvPr/>
        </p:nvSpPr>
        <p:spPr>
          <a:xfrm>
            <a:off x="475200" y="3330000"/>
            <a:ext cx="8298000" cy="1414800"/>
          </a:xfrm>
          <a:prstGeom prst="rect">
            <a:avLst/>
          </a:prstGeom>
          <a:noFill/>
        </p:spPr>
        <p:txBody>
          <a:bodyPr wrap="square">
            <a:spAutoFit/>
          </a:bodyPr>
          <a:lstStyle/>
          <a:p>
            <a:pPr algn="l"/>
            <a:r>
              <a:rPr sz="850" b="0" i="0">
                <a:solidFill>
                  <a:srgbClr val="555555"/>
                </a:solidFill>
                <a:latin typeface="Calibri"/>
              </a:rPr>
              <a:t>Le modèle retient un multiple d'entrée par défaut de 14x EBITDA (paramétrable), un leverage total de 5x EBITDA réparti entre Senior Term Loan B (3,5x à coût ~8% SOFR + 400 bps) et Mezzanine (1,5x à coût all-in 10% cash + PIK). Le multiple de sortie est conservateur (identique à l'entrée, pas de multiple expansion supposée). Les projections opérationnelles (revenue growth, marge EBITDA, capex, ΔBFR) sont importées du modèle DCF FinSight pour cohérence. Tax rate effective issue de l'historique NVIDIA Corporation.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Returns Sponsor</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(NVDA)  ·  IRR, MOIC et sensibilité multiples</a:t>
            </a:r>
          </a:p>
        </p:txBody>
      </p:sp>
      <p:sp>
        <p:nvSpPr>
          <p:cNvPr id="17" name="Rectangle 16"/>
          <p:cNvSpPr/>
          <p:nvPr/>
        </p:nvSpPr>
        <p:spPr>
          <a:xfrm>
            <a:off x="367200" y="882000"/>
            <a:ext cx="2015999" cy="827999"/>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82000"/>
            <a:ext cx="46800" cy="827999"/>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936000"/>
            <a:ext cx="1879200" cy="396000"/>
          </a:xfrm>
          <a:prstGeom prst="rect">
            <a:avLst/>
          </a:prstGeom>
          <a:noFill/>
        </p:spPr>
        <p:txBody>
          <a:bodyPr wrap="square">
            <a:spAutoFit/>
          </a:bodyPr>
          <a:lstStyle/>
          <a:p>
            <a:pPr algn="l"/>
            <a:r>
              <a:rPr sz="1900" b="1" i="0">
                <a:solidFill>
                  <a:srgbClr val="1B3A6B"/>
                </a:solidFill>
                <a:latin typeface="Calibri"/>
              </a:rPr>
              <a:t>26.4%</a:t>
            </a:r>
          </a:p>
        </p:txBody>
      </p:sp>
      <p:sp>
        <p:nvSpPr>
          <p:cNvPr id="20" name="TextBox 19"/>
          <p:cNvSpPr txBox="1"/>
          <p:nvPr/>
        </p:nvSpPr>
        <p:spPr>
          <a:xfrm>
            <a:off x="457200" y="1332000"/>
            <a:ext cx="1879200" cy="205199"/>
          </a:xfrm>
          <a:prstGeom prst="rect">
            <a:avLst/>
          </a:prstGeom>
          <a:noFill/>
        </p:spPr>
        <p:txBody>
          <a:bodyPr wrap="square">
            <a:spAutoFit/>
          </a:bodyPr>
          <a:lstStyle/>
          <a:p>
            <a:pPr algn="l"/>
            <a:r>
              <a:rPr sz="800" b="0" i="0">
                <a:solidFill>
                  <a:srgbClr val="555555"/>
                </a:solidFill>
                <a:latin typeface="Calibri"/>
              </a:rPr>
              <a:t>IRR Sponsor</a:t>
            </a:r>
          </a:p>
        </p:txBody>
      </p:sp>
      <p:sp>
        <p:nvSpPr>
          <p:cNvPr id="21" name="TextBox 20"/>
          <p:cNvSpPr txBox="1"/>
          <p:nvPr/>
        </p:nvSpPr>
        <p:spPr>
          <a:xfrm>
            <a:off x="457200" y="1530000"/>
            <a:ext cx="1879200" cy="165600"/>
          </a:xfrm>
          <a:prstGeom prst="rect">
            <a:avLst/>
          </a:prstGeom>
          <a:noFill/>
        </p:spPr>
        <p:txBody>
          <a:bodyPr wrap="square">
            <a:spAutoFit/>
          </a:bodyPr>
          <a:lstStyle/>
          <a:p>
            <a:pPr algn="l"/>
            <a:r>
              <a:rPr sz="700" b="0" i="0">
                <a:solidFill>
                  <a:srgbClr val="888888"/>
                </a:solidFill>
                <a:latin typeface="Calibri"/>
              </a:rPr>
              <a:t>Base case 5 ans</a:t>
            </a:r>
          </a:p>
        </p:txBody>
      </p:sp>
      <p:sp>
        <p:nvSpPr>
          <p:cNvPr id="22" name="Rectangle 21"/>
          <p:cNvSpPr/>
          <p:nvPr/>
        </p:nvSpPr>
        <p:spPr>
          <a:xfrm>
            <a:off x="24912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24912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2581200" y="936000"/>
            <a:ext cx="1879200" cy="396000"/>
          </a:xfrm>
          <a:prstGeom prst="rect">
            <a:avLst/>
          </a:prstGeom>
          <a:noFill/>
        </p:spPr>
        <p:txBody>
          <a:bodyPr wrap="square">
            <a:spAutoFit/>
          </a:bodyPr>
          <a:lstStyle/>
          <a:p>
            <a:pPr algn="l"/>
            <a:r>
              <a:rPr sz="1900" b="1" i="0">
                <a:solidFill>
                  <a:srgbClr val="1B3A6B"/>
                </a:solidFill>
                <a:latin typeface="Calibri"/>
              </a:rPr>
              <a:t>3.23x</a:t>
            </a:r>
          </a:p>
        </p:txBody>
      </p:sp>
      <p:sp>
        <p:nvSpPr>
          <p:cNvPr id="25" name="TextBox 24"/>
          <p:cNvSpPr txBox="1"/>
          <p:nvPr/>
        </p:nvSpPr>
        <p:spPr>
          <a:xfrm>
            <a:off x="2581200" y="1332000"/>
            <a:ext cx="1879200" cy="205199"/>
          </a:xfrm>
          <a:prstGeom prst="rect">
            <a:avLst/>
          </a:prstGeom>
          <a:noFill/>
        </p:spPr>
        <p:txBody>
          <a:bodyPr wrap="square">
            <a:spAutoFit/>
          </a:bodyPr>
          <a:lstStyle/>
          <a:p>
            <a:pPr algn="l"/>
            <a:r>
              <a:rPr sz="800" b="0" i="0">
                <a:solidFill>
                  <a:srgbClr val="555555"/>
                </a:solidFill>
                <a:latin typeface="Calibri"/>
              </a:rPr>
              <a:t>MOIC</a:t>
            </a:r>
          </a:p>
        </p:txBody>
      </p:sp>
      <p:sp>
        <p:nvSpPr>
          <p:cNvPr id="26" name="TextBox 25"/>
          <p:cNvSpPr txBox="1"/>
          <p:nvPr/>
        </p:nvSpPr>
        <p:spPr>
          <a:xfrm>
            <a:off x="2581200" y="1530000"/>
            <a:ext cx="1879200" cy="165600"/>
          </a:xfrm>
          <a:prstGeom prst="rect">
            <a:avLst/>
          </a:prstGeom>
          <a:noFill/>
        </p:spPr>
        <p:txBody>
          <a:bodyPr wrap="square">
            <a:spAutoFit/>
          </a:bodyPr>
          <a:lstStyle/>
          <a:p>
            <a:pPr algn="l"/>
            <a:r>
              <a:rPr sz="700" b="0" i="0">
                <a:solidFill>
                  <a:srgbClr val="888888"/>
                </a:solidFill>
                <a:latin typeface="Calibri"/>
              </a:rPr>
              <a:t>Money-on-invested</a:t>
            </a:r>
          </a:p>
        </p:txBody>
      </p:sp>
      <p:sp>
        <p:nvSpPr>
          <p:cNvPr id="27" name="Rectangle 26"/>
          <p:cNvSpPr/>
          <p:nvPr/>
        </p:nvSpPr>
        <p:spPr>
          <a:xfrm>
            <a:off x="4611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611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701600" y="936000"/>
            <a:ext cx="1879200" cy="396000"/>
          </a:xfrm>
          <a:prstGeom prst="rect">
            <a:avLst/>
          </a:prstGeom>
          <a:noFill/>
        </p:spPr>
        <p:txBody>
          <a:bodyPr wrap="square">
            <a:spAutoFit/>
          </a:bodyPr>
          <a:lstStyle/>
          <a:p>
            <a:pPr algn="l"/>
            <a:r>
              <a:rPr sz="1900" b="1" i="0">
                <a:solidFill>
                  <a:srgbClr val="1B3A6B"/>
                </a:solidFill>
                <a:latin typeface="Calibri"/>
              </a:rPr>
              <a:t>865,8 Mds$</a:t>
            </a:r>
          </a:p>
        </p:txBody>
      </p:sp>
      <p:sp>
        <p:nvSpPr>
          <p:cNvPr id="30" name="TextBox 29"/>
          <p:cNvSpPr txBox="1"/>
          <p:nvPr/>
        </p:nvSpPr>
        <p:spPr>
          <a:xfrm>
            <a:off x="4701600" y="1332000"/>
            <a:ext cx="1879200" cy="205199"/>
          </a:xfrm>
          <a:prstGeom prst="rect">
            <a:avLst/>
          </a:prstGeom>
          <a:noFill/>
        </p:spPr>
        <p:txBody>
          <a:bodyPr wrap="square">
            <a:spAutoFit/>
          </a:bodyPr>
          <a:lstStyle/>
          <a:p>
            <a:pPr algn="l"/>
            <a:r>
              <a:rPr sz="800" b="0" i="0">
                <a:solidFill>
                  <a:srgbClr val="555555"/>
                </a:solidFill>
                <a:latin typeface="Calibri"/>
              </a:rPr>
              <a:t>Equity entry</a:t>
            </a:r>
          </a:p>
        </p:txBody>
      </p:sp>
      <p:sp>
        <p:nvSpPr>
          <p:cNvPr id="31" name="TextBox 30"/>
          <p:cNvSpPr txBox="1"/>
          <p:nvPr/>
        </p:nvSpPr>
        <p:spPr>
          <a:xfrm>
            <a:off x="4701600" y="1530000"/>
            <a:ext cx="1879200" cy="165600"/>
          </a:xfrm>
          <a:prstGeom prst="rect">
            <a:avLst/>
          </a:prstGeom>
          <a:noFill/>
        </p:spPr>
        <p:txBody>
          <a:bodyPr wrap="square">
            <a:spAutoFit/>
          </a:bodyPr>
          <a:lstStyle/>
          <a:p>
            <a:pPr algn="l"/>
            <a:r>
              <a:rPr sz="700" b="0" i="0">
                <a:solidFill>
                  <a:srgbClr val="888888"/>
                </a:solidFill>
                <a:latin typeface="Calibri"/>
              </a:rPr>
              <a:t>Sponsor au closing</a:t>
            </a:r>
          </a:p>
        </p:txBody>
      </p:sp>
      <p:sp>
        <p:nvSpPr>
          <p:cNvPr id="32" name="Rectangle 31"/>
          <p:cNvSpPr/>
          <p:nvPr/>
        </p:nvSpPr>
        <p:spPr>
          <a:xfrm>
            <a:off x="6735600" y="882000"/>
            <a:ext cx="2015999" cy="827999"/>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735600" y="882000"/>
            <a:ext cx="46800" cy="827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825600" y="936000"/>
            <a:ext cx="1879200" cy="396000"/>
          </a:xfrm>
          <a:prstGeom prst="rect">
            <a:avLst/>
          </a:prstGeom>
          <a:noFill/>
        </p:spPr>
        <p:txBody>
          <a:bodyPr wrap="square">
            <a:spAutoFit/>
          </a:bodyPr>
          <a:lstStyle/>
          <a:p>
            <a:pPr algn="l"/>
            <a:r>
              <a:rPr sz="1900" b="1" i="0">
                <a:solidFill>
                  <a:srgbClr val="1B3A6B"/>
                </a:solidFill>
                <a:latin typeface="Calibri"/>
              </a:rPr>
              <a:t>2 792,3 Mds$</a:t>
            </a:r>
          </a:p>
        </p:txBody>
      </p:sp>
      <p:sp>
        <p:nvSpPr>
          <p:cNvPr id="35" name="TextBox 34"/>
          <p:cNvSpPr txBox="1"/>
          <p:nvPr/>
        </p:nvSpPr>
        <p:spPr>
          <a:xfrm>
            <a:off x="6825600" y="1332000"/>
            <a:ext cx="1879200" cy="205199"/>
          </a:xfrm>
          <a:prstGeom prst="rect">
            <a:avLst/>
          </a:prstGeom>
          <a:noFill/>
        </p:spPr>
        <p:txBody>
          <a:bodyPr wrap="square">
            <a:spAutoFit/>
          </a:bodyPr>
          <a:lstStyle/>
          <a:p>
            <a:pPr algn="l"/>
            <a:r>
              <a:rPr sz="800" b="0" i="0">
                <a:solidFill>
                  <a:srgbClr val="555555"/>
                </a:solidFill>
                <a:latin typeface="Calibri"/>
              </a:rPr>
              <a:t>Equity exit Y5</a:t>
            </a:r>
          </a:p>
        </p:txBody>
      </p:sp>
      <p:sp>
        <p:nvSpPr>
          <p:cNvPr id="36" name="TextBox 35"/>
          <p:cNvSpPr txBox="1"/>
          <p:nvPr/>
        </p:nvSpPr>
        <p:spPr>
          <a:xfrm>
            <a:off x="6825600" y="1530000"/>
            <a:ext cx="1879200" cy="165600"/>
          </a:xfrm>
          <a:prstGeom prst="rect">
            <a:avLst/>
          </a:prstGeom>
          <a:noFill/>
        </p:spPr>
        <p:txBody>
          <a:bodyPr wrap="square">
            <a:spAutoFit/>
          </a:bodyPr>
          <a:lstStyle/>
          <a:p>
            <a:pPr algn="l"/>
            <a:r>
              <a:rPr sz="700" b="0" i="0">
                <a:solidFill>
                  <a:srgbClr val="888888"/>
                </a:solidFill>
                <a:latin typeface="Calibri"/>
              </a:rPr>
              <a:t>Vente sponsor</a:t>
            </a:r>
          </a:p>
        </p:txBody>
      </p:sp>
      <p:sp>
        <p:nvSpPr>
          <p:cNvPr id="37" name="TextBox 36"/>
          <p:cNvSpPr txBox="1"/>
          <p:nvPr/>
        </p:nvSpPr>
        <p:spPr>
          <a:xfrm>
            <a:off x="367200" y="1835999"/>
            <a:ext cx="8413200" cy="162000"/>
          </a:xfrm>
          <a:prstGeom prst="rect">
            <a:avLst/>
          </a:prstGeom>
          <a:noFill/>
        </p:spPr>
        <p:txBody>
          <a:bodyPr wrap="square">
            <a:spAutoFit/>
          </a:bodyPr>
          <a:lstStyle/>
          <a:p>
            <a:pPr algn="l"/>
            <a:r>
              <a:rPr sz="900" b="1" i="0">
                <a:solidFill>
                  <a:srgbClr val="1B3A6B"/>
                </a:solidFill>
                <a:latin typeface="Calibri"/>
              </a:rPr>
              <a:t>SENSIBILITÉ IRR — Multiple d'entrée × Multiple de sortie</a:t>
            </a:r>
          </a:p>
        </p:txBody>
      </p:sp>
      <p:graphicFrame>
        <p:nvGraphicFramePr>
          <p:cNvPr id="38" name="Table 37"/>
          <p:cNvGraphicFramePr>
            <a:graphicFrameLocks noGrp="1"/>
          </p:cNvGraphicFramePr>
          <p:nvPr/>
        </p:nvGraphicFramePr>
        <p:xfrm>
          <a:off x="367200" y="2034000"/>
          <a:ext cx="5940000" cy="1872000"/>
        </p:xfrm>
        <a:graphic>
          <a:graphicData uri="http://schemas.openxmlformats.org/drawingml/2006/table">
            <a:tbl>
              <a:tblPr firstRow="1" bandRow="1">
                <a:tableStyleId>{5C22544A-7EE6-4342-B048-85BDC9FD1C3A}</a:tableStyleId>
              </a:tblPr>
              <a:tblGrid>
                <a:gridCol w="1188000"/>
                <a:gridCol w="950400"/>
                <a:gridCol w="950400"/>
                <a:gridCol w="950400"/>
                <a:gridCol w="950400"/>
                <a:gridCol w="950400"/>
              </a:tblGrid>
              <a:tr h="312000">
                <a:tc>
                  <a:txBody>
                    <a:bodyPr/>
                    <a:lstStyle/>
                    <a:p>
                      <a:pPr algn="l"/>
                      <a:r>
                        <a:rPr sz="800" b="1" i="0">
                          <a:solidFill>
                            <a:srgbClr val="FFFFFF"/>
                          </a:solidFill>
                          <a:latin typeface="Calibri"/>
                        </a:rPr>
                        <a:t>Entry ↓ / Exit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12.0x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13.0x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14.0x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15.0x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16.0x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12.0x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+28.3%</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+30.5%</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+32.6%</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+34.6%</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+36.5%</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13.0x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+25.0%</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+27.2%</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+29.3%</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+31.2%</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+33.0%</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+22.2%</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+24.4%</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+28.3%</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15.0x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+21.9%</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+23.8%</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+27.4%</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312000">
                <a:tc>
                  <a:txBody>
                    <a:bodyPr/>
                    <a:lstStyle/>
                    <a:p>
                      <a:pPr algn="l"/>
                      <a:r>
                        <a:rPr sz="800" b="0" i="0">
                          <a:solidFill>
                            <a:srgbClr val="0D0D0D"/>
                          </a:solidFill>
                          <a:latin typeface="Calibri"/>
                        </a:rPr>
                        <a:t>16.0x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+17.6%</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+19.7%</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+21.6%</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+23.4%</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+25.1%</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9" name="TextBox 38"/>
          <p:cNvSpPr txBox="1"/>
          <p:nvPr/>
        </p:nvSpPr>
        <p:spPr>
          <a:xfrm>
            <a:off x="6426000" y="1835999"/>
            <a:ext cx="2358000" cy="162000"/>
          </a:xfrm>
          <a:prstGeom prst="rect">
            <a:avLst/>
          </a:prstGeom>
          <a:noFill/>
        </p:spPr>
        <p:txBody>
          <a:bodyPr wrap="square">
            <a:spAutoFit/>
          </a:bodyPr>
          <a:lstStyle/>
          <a:p>
            <a:pPr algn="l"/>
            <a:r>
              <a:rPr sz="900" b="1" i="0">
                <a:solidFill>
                  <a:srgbClr val="1B3A6B"/>
                </a:solidFill>
                <a:latin typeface="Calibri"/>
              </a:rPr>
              <a:t>HYPOTHÈSES BASE</a:t>
            </a:r>
          </a:p>
        </p:txBody>
      </p:sp>
      <p:graphicFrame>
        <p:nvGraphicFramePr>
          <p:cNvPr id="40" name="Table 39"/>
          <p:cNvGraphicFramePr>
            <a:graphicFrameLocks noGrp="1"/>
          </p:cNvGraphicFramePr>
          <p:nvPr/>
        </p:nvGraphicFramePr>
        <p:xfrm>
          <a:off x="6426000" y="2034000"/>
          <a:ext cx="2358000" cy="1512000"/>
        </p:xfrm>
        <a:graphic>
          <a:graphicData uri="http://schemas.openxmlformats.org/drawingml/2006/table">
            <a:tbl>
              <a:tblPr firstRow="1" bandRow="1">
                <a:tableStyleId>{5C22544A-7EE6-4342-B048-85BDC9FD1C3A}</a:tableStyleId>
              </a:tblPr>
              <a:tblGrid>
                <a:gridCol w="1296900"/>
                <a:gridCol w="1061100"/>
              </a:tblGrid>
              <a:tr h="302400">
                <a:tc>
                  <a:txBody>
                    <a:bodyPr/>
                    <a:lstStyle/>
                    <a:p>
                      <a:pPr algn="l"/>
                      <a:r>
                        <a:rPr sz="800" b="0" i="0">
                          <a:solidFill>
                            <a:srgbClr val="0D0D0D"/>
                          </a:solidFill>
                          <a:latin typeface="Calibri"/>
                        </a:rPr>
                        <a:t>Multiple entrée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Multiple sortie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Leverage total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Période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302400">
                <a:tc>
                  <a:txBody>
                    <a:bodyPr/>
                    <a:lstStyle/>
                    <a:p>
                      <a:pPr algn="l"/>
                      <a:r>
                        <a:rPr sz="800" b="0" i="0">
                          <a:solidFill>
                            <a:srgbClr val="0D0D0D"/>
                          </a:solidFill>
                          <a:latin typeface="Calibri"/>
                        </a:rPr>
                        <a:t>EBITDA Y5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41" name="Rectangle 40"/>
          <p:cNvSpPr/>
          <p:nvPr/>
        </p:nvSpPr>
        <p:spPr>
          <a:xfrm>
            <a:off x="367200" y="3708000"/>
            <a:ext cx="8413200" cy="108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3708000"/>
            <a:ext cx="79200" cy="1080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75200" y="3736800"/>
            <a:ext cx="8298000" cy="151200"/>
          </a:xfrm>
          <a:prstGeom prst="rect">
            <a:avLst/>
          </a:prstGeom>
          <a:noFill/>
        </p:spPr>
        <p:txBody>
          <a:bodyPr wrap="none">
            <a:spAutoFit/>
          </a:bodyPr>
          <a:lstStyle/>
          <a:p>
            <a:pPr algn="l"/>
            <a:r>
              <a:rPr sz="950" b="1" i="0">
                <a:solidFill>
                  <a:srgbClr val="1B3A6B"/>
                </a:solidFill>
                <a:latin typeface="Calibri"/>
              </a:rPr>
              <a:t>LBO NVDA : IRR 26.4% — deal attractif pour sponsor PE top-tier</a:t>
            </a:r>
          </a:p>
        </p:txBody>
      </p:sp>
      <p:sp>
        <p:nvSpPr>
          <p:cNvPr id="44" name="TextBox 43"/>
          <p:cNvSpPr txBox="1"/>
          <p:nvPr/>
        </p:nvSpPr>
        <p:spPr>
          <a:xfrm>
            <a:off x="475200" y="3906000"/>
            <a:ext cx="8298000" cy="856800"/>
          </a:xfrm>
          <a:prstGeom prst="rect">
            <a:avLst/>
          </a:prstGeom>
          <a:noFill/>
        </p:spPr>
        <p:txBody>
          <a:bodyPr wrap="square">
            <a:spAutoFit/>
          </a:bodyPr>
          <a:lstStyle/>
          <a:p>
            <a:pPr algn="l"/>
            <a:r>
              <a:rPr sz="850" b="0" i="0">
                <a:solidFill>
                  <a:srgbClr val="555555"/>
                </a:solidFill>
                <a:latin typeface="Calibri"/>
              </a:rPr>
              <a:t>Le sponsor récupère un IRR base de 26,4% et un MOIC de 3,2x sur 5 ans. Ce niveau dépasse le seuil minimum PE top quartile (≥ 20%), rendant le deal très attractif pour un sponsor institutionnel. La sensibilité IRR aux multiples d'entrée et de sortie permet d'identifier les zones de robustesse (combinaisons multiple bas / sortie élevée) et de fragilité (multiple haut / sortie basse). À croiser avec le scénario bear (IRR 20,5%) pour calibrer le risque downside.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LBO — Debt Schedule &amp; Stress Test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NVIDIA Corporation (NVDA)  ·  Évolution leverage et scénarios bull/bear</a:t>
            </a:r>
          </a:p>
        </p:txBody>
      </p:sp>
      <p:sp>
        <p:nvSpPr>
          <p:cNvPr id="17" name="TextBox 16"/>
          <p:cNvSpPr txBox="1"/>
          <p:nvPr/>
        </p:nvSpPr>
        <p:spPr>
          <a:xfrm>
            <a:off x="367200" y="882000"/>
            <a:ext cx="8413200" cy="162000"/>
          </a:xfrm>
          <a:prstGeom prst="rect">
            <a:avLst/>
          </a:prstGeom>
          <a:noFill/>
        </p:spPr>
        <p:txBody>
          <a:bodyPr wrap="square">
            <a:spAutoFit/>
          </a:bodyPr>
          <a:lstStyle/>
          <a:p>
            <a:pPr algn="l"/>
            <a:r>
              <a:rPr sz="900" b="1" i="0">
                <a:solidFill>
                  <a:srgbClr val="1B3A6B"/>
                </a:solidFill>
                <a:latin typeface="Calibri"/>
              </a:rPr>
              <a:t>DEBT SCHEDULE — Évolution du leverage sur 5 ans</a:t>
            </a:r>
          </a:p>
        </p:txBody>
      </p:sp>
      <p:graphicFrame>
        <p:nvGraphicFramePr>
          <p:cNvPr id="18" name="Table 17"/>
          <p:cNvGraphicFramePr>
            <a:graphicFrameLocks noGrp="1"/>
          </p:cNvGraphicFramePr>
          <p:nvPr/>
        </p:nvGraphicFramePr>
        <p:xfrm>
          <a:off x="367200" y="1080000"/>
          <a:ext cx="8413200" cy="1548000"/>
        </p:xfrm>
        <a:graphic>
          <a:graphicData uri="http://schemas.openxmlformats.org/drawingml/2006/table">
            <a:tbl>
              <a:tblPr firstRow="1" bandRow="1">
                <a:tableStyleId>{5C22544A-7EE6-4342-B048-85BDC9FD1C3A}</a:tableStyleId>
              </a:tblPr>
              <a:tblGrid>
                <a:gridCol w="841320"/>
                <a:gridCol w="1261980"/>
                <a:gridCol w="1261980"/>
                <a:gridCol w="1261980"/>
                <a:gridCol w="1261980"/>
                <a:gridCol w="1261980"/>
                <a:gridCol w="1261980"/>
              </a:tblGrid>
              <a:tr h="221142">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EBITDA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Senior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Mezz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Cash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Net Debt (Mds$)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Lvg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301,5</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129,2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430,7</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5.00x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Y1</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103,4</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379,9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3.68x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124,0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148,8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120,5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149,6</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57,8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1.43x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1142">
                <a:tc>
                  <a:txBody>
                    <a:bodyPr/>
                    <a:lstStyle/>
                    <a:p>
                      <a:pPr algn="l"/>
                      <a:r>
                        <a:rPr sz="800" b="0" i="0">
                          <a:solidFill>
                            <a:srgbClr val="0D0D0D"/>
                          </a:solidFill>
                          <a:latin typeface="Calibri"/>
                        </a:rPr>
                        <a:t>Y4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178,6</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157,1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91,2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85,0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0.48x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1148">
                <a:tc>
                  <a:txBody>
                    <a:bodyPr/>
                    <a:lstStyle/>
                    <a:p>
                      <a:pPr algn="l"/>
                      <a:r>
                        <a:rPr sz="800" b="0" i="0">
                          <a:solidFill>
                            <a:srgbClr val="0D0D0D"/>
                          </a:solidFill>
                          <a:latin typeface="Calibri"/>
                        </a:rPr>
                        <a:t>Y5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214,3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0,00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164,9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244,8</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-79,9</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-0.37x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367200" y="2718000"/>
            <a:ext cx="8413200" cy="162000"/>
          </a:xfrm>
          <a:prstGeom prst="rect">
            <a:avLst/>
          </a:prstGeom>
          <a:noFill/>
        </p:spPr>
        <p:txBody>
          <a:bodyPr wrap="square">
            <a:spAutoFit/>
          </a:bodyPr>
          <a:lstStyle/>
          <a:p>
            <a:pPr algn="l"/>
            <a:r>
              <a:rPr sz="900" b="1" i="0">
                <a:solidFill>
                  <a:srgbClr val="1B3A6B"/>
                </a:solidFill>
                <a:latin typeface="Calibri"/>
              </a:rPr>
              <a:t>SCÉNARIOS DE STRESS — Bull / Base / Bear</a:t>
            </a:r>
          </a:p>
        </p:txBody>
      </p:sp>
      <p:sp>
        <p:nvSpPr>
          <p:cNvPr id="20" name="Rectangle 19"/>
          <p:cNvSpPr/>
          <p:nvPr/>
        </p:nvSpPr>
        <p:spPr>
          <a:xfrm>
            <a:off x="367200" y="2898000"/>
            <a:ext cx="2743200" cy="23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200" y="2934000"/>
            <a:ext cx="2743200" cy="162000"/>
          </a:xfrm>
          <a:prstGeom prst="rect">
            <a:avLst/>
          </a:prstGeom>
          <a:noFill/>
        </p:spPr>
        <p:txBody>
          <a:bodyPr wrap="none">
            <a:spAutoFit/>
          </a:bodyPr>
          <a:lstStyle/>
          <a:p>
            <a:pPr algn="ctr"/>
            <a:r>
              <a:rPr sz="1300" b="1" i="0">
                <a:solidFill>
                  <a:srgbClr val="FFFFFF"/>
                </a:solidFill>
                <a:latin typeface="Calibri"/>
              </a:rPr>
              <a:t>BULL</a:t>
            </a:r>
          </a:p>
        </p:txBody>
      </p:sp>
      <p:sp>
        <p:nvSpPr>
          <p:cNvPr id="22" name="Rectangle 21"/>
          <p:cNvSpPr/>
          <p:nvPr/>
        </p:nvSpPr>
        <p:spPr>
          <a:xfrm>
            <a:off x="367200" y="3131999"/>
            <a:ext cx="2743200" cy="9000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24" name="TextBox 23"/>
          <p:cNvSpPr txBox="1"/>
          <p:nvPr/>
        </p:nvSpPr>
        <p:spPr>
          <a:xfrm>
            <a:off x="1875960" y="3186000"/>
            <a:ext cx="1097280" cy="151200"/>
          </a:xfrm>
          <a:prstGeom prst="rect">
            <a:avLst/>
          </a:prstGeom>
          <a:noFill/>
        </p:spPr>
        <p:txBody>
          <a:bodyPr wrap="square">
            <a:spAutoFit/>
          </a:bodyPr>
          <a:lstStyle/>
          <a:p>
            <a:pPr algn="r"/>
            <a:r>
              <a:rPr sz="1100" b="1" i="0">
                <a:solidFill>
                  <a:srgbClr val="1A7A4A"/>
                </a:solidFill>
                <a:latin typeface="Calibri"/>
              </a:rPr>
              <a:t>+32.2%</a:t>
            </a:r>
          </a:p>
        </p:txBody>
      </p:sp>
      <p:sp>
        <p:nvSpPr>
          <p:cNvPr id="25" name="TextBox 24"/>
          <p:cNvSpPr txBox="1"/>
          <p:nvPr/>
        </p:nvSpPr>
        <p:spPr>
          <a:xfrm>
            <a:off x="475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26" name="TextBox 25"/>
          <p:cNvSpPr txBox="1"/>
          <p:nvPr/>
        </p:nvSpPr>
        <p:spPr>
          <a:xfrm>
            <a:off x="1875960" y="3394800"/>
            <a:ext cx="1097280" cy="151200"/>
          </a:xfrm>
          <a:prstGeom prst="rect">
            <a:avLst/>
          </a:prstGeom>
          <a:noFill/>
        </p:spPr>
        <p:txBody>
          <a:bodyPr wrap="square">
            <a:spAutoFit/>
          </a:bodyPr>
          <a:lstStyle/>
          <a:p>
            <a:pPr algn="r"/>
            <a:r>
              <a:rPr sz="1100" b="1" i="0">
                <a:solidFill>
                  <a:srgbClr val="1A7A4A"/>
                </a:solidFill>
                <a:latin typeface="Calibri"/>
              </a:rPr>
              <a:t>4.04x</a:t>
            </a:r>
          </a:p>
        </p:txBody>
      </p:sp>
      <p:sp>
        <p:nvSpPr>
          <p:cNvPr id="27" name="TextBox 26"/>
          <p:cNvSpPr txBox="1"/>
          <p:nvPr/>
        </p:nvSpPr>
        <p:spPr>
          <a:xfrm>
            <a:off x="475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28" name="TextBox 27"/>
          <p:cNvSpPr txBox="1"/>
          <p:nvPr/>
        </p:nvSpPr>
        <p:spPr>
          <a:xfrm>
            <a:off x="1875960" y="3603600"/>
            <a:ext cx="1097280" cy="151200"/>
          </a:xfrm>
          <a:prstGeom prst="rect">
            <a:avLst/>
          </a:prstGeom>
          <a:noFill/>
        </p:spPr>
        <p:txBody>
          <a:bodyPr wrap="square">
            <a:spAutoFit/>
          </a:bodyPr>
          <a:lstStyle/>
          <a:p>
            <a:pPr algn="r"/>
            <a:r>
              <a:rPr sz="1100" b="1" i="0">
                <a:solidFill>
                  <a:srgbClr val="1A7A4A"/>
                </a:solidFill>
                <a:latin typeface="Calibri"/>
              </a:rPr>
              <a:t>0.84x</a:t>
            </a:r>
          </a:p>
        </p:txBody>
      </p:sp>
      <p:sp>
        <p:nvSpPr>
          <p:cNvPr id="29" name="TextBox 28"/>
          <p:cNvSpPr txBox="1"/>
          <p:nvPr/>
        </p:nvSpPr>
        <p:spPr>
          <a:xfrm>
            <a:off x="475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30" name="TextBox 29"/>
          <p:cNvSpPr txBox="1"/>
          <p:nvPr/>
        </p:nvSpPr>
        <p:spPr>
          <a:xfrm>
            <a:off x="1875960" y="3812400"/>
            <a:ext cx="1097280" cy="151200"/>
          </a:xfrm>
          <a:prstGeom prst="rect">
            <a:avLst/>
          </a:prstGeom>
          <a:noFill/>
        </p:spPr>
        <p:txBody>
          <a:bodyPr wrap="square">
            <a:spAutoFit/>
          </a:bodyPr>
          <a:lstStyle/>
          <a:p>
            <a:pPr algn="r"/>
            <a:r>
              <a:rPr sz="1100" b="1" i="0">
                <a:solidFill>
                  <a:srgbClr val="1A7A4A"/>
                </a:solidFill>
                <a:latin typeface="Calibri"/>
              </a:rPr>
              <a:t>10.4x</a:t>
            </a:r>
          </a:p>
        </p:txBody>
      </p:sp>
      <p:sp>
        <p:nvSpPr>
          <p:cNvPr id="31" name="Rectangle 30"/>
          <p:cNvSpPr/>
          <p:nvPr/>
        </p:nvSpPr>
        <p:spPr>
          <a:xfrm>
            <a:off x="3229200" y="2898000"/>
            <a:ext cx="2743200" cy="23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29200" y="2934000"/>
            <a:ext cx="2743200" cy="162000"/>
          </a:xfrm>
          <a:prstGeom prst="rect">
            <a:avLst/>
          </a:prstGeom>
          <a:noFill/>
        </p:spPr>
        <p:txBody>
          <a:bodyPr wrap="none">
            <a:spAutoFit/>
          </a:bodyPr>
          <a:lstStyle/>
          <a:p>
            <a:pPr algn="ctr"/>
            <a:r>
              <a:rPr sz="1300" b="1" i="0">
                <a:solidFill>
                  <a:srgbClr val="FFFFFF"/>
                </a:solidFill>
                <a:latin typeface="Calibri"/>
              </a:rPr>
              <a:t>BASE</a:t>
            </a:r>
          </a:p>
        </p:txBody>
      </p:sp>
      <p:sp>
        <p:nvSpPr>
          <p:cNvPr id="33" name="Rectangle 32"/>
          <p:cNvSpPr/>
          <p:nvPr/>
        </p:nvSpPr>
        <p:spPr>
          <a:xfrm>
            <a:off x="3229200" y="3131999"/>
            <a:ext cx="2743200" cy="9000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337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35" name="TextBox 34"/>
          <p:cNvSpPr txBox="1"/>
          <p:nvPr/>
        </p:nvSpPr>
        <p:spPr>
          <a:xfrm>
            <a:off x="4737960" y="3186000"/>
            <a:ext cx="1097280" cy="151200"/>
          </a:xfrm>
          <a:prstGeom prst="rect">
            <a:avLst/>
          </a:prstGeom>
          <a:noFill/>
        </p:spPr>
        <p:txBody>
          <a:bodyPr wrap="square">
            <a:spAutoFit/>
          </a:bodyPr>
          <a:lstStyle/>
          <a:p>
            <a:pPr algn="r"/>
            <a:r>
              <a:rPr sz="1100" b="1" i="0">
                <a:solidFill>
                  <a:srgbClr val="2E5FA3"/>
                </a:solidFill>
                <a:latin typeface="Calibri"/>
              </a:rPr>
              <a:t>+26.4%</a:t>
            </a:r>
          </a:p>
        </p:txBody>
      </p:sp>
      <p:sp>
        <p:nvSpPr>
          <p:cNvPr id="36" name="TextBox 35"/>
          <p:cNvSpPr txBox="1"/>
          <p:nvPr/>
        </p:nvSpPr>
        <p:spPr>
          <a:xfrm>
            <a:off x="3337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37" name="TextBox 36"/>
          <p:cNvSpPr txBox="1"/>
          <p:nvPr/>
        </p:nvSpPr>
        <p:spPr>
          <a:xfrm>
            <a:off x="4737960" y="3394800"/>
            <a:ext cx="1097280" cy="151200"/>
          </a:xfrm>
          <a:prstGeom prst="rect">
            <a:avLst/>
          </a:prstGeom>
          <a:noFill/>
        </p:spPr>
        <p:txBody>
          <a:bodyPr wrap="square">
            <a:spAutoFit/>
          </a:bodyPr>
          <a:lstStyle/>
          <a:p>
            <a:pPr algn="r"/>
            <a:r>
              <a:rPr sz="1100" b="1" i="0">
                <a:solidFill>
                  <a:srgbClr val="2E5FA3"/>
                </a:solidFill>
                <a:latin typeface="Calibri"/>
              </a:rPr>
              <a:t>3.23x</a:t>
            </a:r>
          </a:p>
        </p:txBody>
      </p:sp>
      <p:sp>
        <p:nvSpPr>
          <p:cNvPr id="38" name="TextBox 37"/>
          <p:cNvSpPr txBox="1"/>
          <p:nvPr/>
        </p:nvSpPr>
        <p:spPr>
          <a:xfrm>
            <a:off x="3337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39" name="TextBox 38"/>
          <p:cNvSpPr txBox="1"/>
          <p:nvPr/>
        </p:nvSpPr>
        <p:spPr>
          <a:xfrm>
            <a:off x="4737960" y="3603600"/>
            <a:ext cx="1097280" cy="151200"/>
          </a:xfrm>
          <a:prstGeom prst="rect">
            <a:avLst/>
          </a:prstGeom>
          <a:noFill/>
        </p:spPr>
        <p:txBody>
          <a:bodyPr wrap="square">
            <a:spAutoFit/>
          </a:bodyPr>
          <a:lstStyle/>
          <a:p>
            <a:pPr algn="r"/>
            <a:r>
              <a:rPr sz="1100" b="1" i="0">
                <a:solidFill>
                  <a:srgbClr val="2E5FA3"/>
                </a:solidFill>
                <a:latin typeface="Calibri"/>
              </a:rPr>
              <a:t>0.97x</a:t>
            </a:r>
          </a:p>
        </p:txBody>
      </p:sp>
      <p:sp>
        <p:nvSpPr>
          <p:cNvPr id="40" name="TextBox 39"/>
          <p:cNvSpPr txBox="1"/>
          <p:nvPr/>
        </p:nvSpPr>
        <p:spPr>
          <a:xfrm>
            <a:off x="3337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41" name="TextBox 40"/>
          <p:cNvSpPr txBox="1"/>
          <p:nvPr/>
        </p:nvSpPr>
        <p:spPr>
          <a:xfrm>
            <a:off x="4737960" y="3812400"/>
            <a:ext cx="1097280" cy="151200"/>
          </a:xfrm>
          <a:prstGeom prst="rect">
            <a:avLst/>
          </a:prstGeom>
          <a:noFill/>
        </p:spPr>
        <p:txBody>
          <a:bodyPr wrap="square">
            <a:spAutoFit/>
          </a:bodyPr>
          <a:lstStyle/>
          <a:p>
            <a:pPr algn="r"/>
            <a:r>
              <a:rPr sz="1100" b="1" i="0">
                <a:solidFill>
                  <a:srgbClr val="2E5FA3"/>
                </a:solidFill>
                <a:latin typeface="Calibri"/>
              </a:rPr>
              <a:t>10.3x</a:t>
            </a:r>
          </a:p>
        </p:txBody>
      </p:sp>
      <p:sp>
        <p:nvSpPr>
          <p:cNvPr id="42" name="Rectangle 41"/>
          <p:cNvSpPr/>
          <p:nvPr/>
        </p:nvSpPr>
        <p:spPr>
          <a:xfrm>
            <a:off x="6091200" y="2898000"/>
            <a:ext cx="2743200" cy="23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091200" y="2934000"/>
            <a:ext cx="2743200" cy="162000"/>
          </a:xfrm>
          <a:prstGeom prst="rect">
            <a:avLst/>
          </a:prstGeom>
          <a:noFill/>
        </p:spPr>
        <p:txBody>
          <a:bodyPr wrap="none">
            <a:spAutoFit/>
          </a:bodyPr>
          <a:lstStyle/>
          <a:p>
            <a:pPr algn="ctr"/>
            <a:r>
              <a:rPr sz="1300" b="1" i="0">
                <a:solidFill>
                  <a:srgbClr val="FFFFFF"/>
                </a:solidFill>
                <a:latin typeface="Calibri"/>
              </a:rPr>
              <a:t>BEAR</a:t>
            </a:r>
          </a:p>
        </p:txBody>
      </p:sp>
      <p:sp>
        <p:nvSpPr>
          <p:cNvPr id="44" name="Rectangle 43"/>
          <p:cNvSpPr/>
          <p:nvPr/>
        </p:nvSpPr>
        <p:spPr>
          <a:xfrm>
            <a:off x="6091200" y="3131999"/>
            <a:ext cx="2743200" cy="9000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199200" y="3186000"/>
            <a:ext cx="1508760" cy="151200"/>
          </a:xfrm>
          <a:prstGeom prst="rect">
            <a:avLst/>
          </a:prstGeom>
          <a:noFill/>
        </p:spPr>
        <p:txBody>
          <a:bodyPr wrap="square">
            <a:spAutoFit/>
          </a:bodyPr>
          <a:lstStyle/>
          <a:p>
            <a:pPr algn="l"/>
            <a:r>
              <a:rPr sz="900" b="0" i="0">
                <a:solidFill>
                  <a:srgbClr val="555555"/>
                </a:solidFill>
                <a:latin typeface="Calibri"/>
              </a:rPr>
              <a:t>IRR Sponsor</a:t>
            </a:r>
          </a:p>
        </p:txBody>
      </p:sp>
      <p:sp>
        <p:nvSpPr>
          <p:cNvPr id="46" name="TextBox 45"/>
          <p:cNvSpPr txBox="1"/>
          <p:nvPr/>
        </p:nvSpPr>
        <p:spPr>
          <a:xfrm>
            <a:off x="7599960" y="3186000"/>
            <a:ext cx="1097280" cy="151200"/>
          </a:xfrm>
          <a:prstGeom prst="rect">
            <a:avLst/>
          </a:prstGeom>
          <a:noFill/>
        </p:spPr>
        <p:txBody>
          <a:bodyPr wrap="square">
            <a:spAutoFit/>
          </a:bodyPr>
          <a:lstStyle/>
          <a:p>
            <a:pPr algn="r"/>
            <a:r>
              <a:rPr sz="1100" b="1" i="0">
                <a:solidFill>
                  <a:srgbClr val="A82020"/>
                </a:solidFill>
                <a:latin typeface="Calibri"/>
              </a:rPr>
              <a:t>+20.5%</a:t>
            </a:r>
          </a:p>
        </p:txBody>
      </p:sp>
      <p:sp>
        <p:nvSpPr>
          <p:cNvPr id="47" name="TextBox 46"/>
          <p:cNvSpPr txBox="1"/>
          <p:nvPr/>
        </p:nvSpPr>
        <p:spPr>
          <a:xfrm>
            <a:off x="6199200" y="3394800"/>
            <a:ext cx="1508760" cy="151200"/>
          </a:xfrm>
          <a:prstGeom prst="rect">
            <a:avLst/>
          </a:prstGeom>
          <a:noFill/>
        </p:spPr>
        <p:txBody>
          <a:bodyPr wrap="square">
            <a:spAutoFit/>
          </a:bodyPr>
          <a:lstStyle/>
          <a:p>
            <a:pPr algn="l"/>
            <a:r>
              <a:rPr sz="900" b="0" i="0">
                <a:solidFill>
                  <a:srgbClr val="555555"/>
                </a:solidFill>
                <a:latin typeface="Calibri"/>
              </a:rPr>
              <a:t>MOIC</a:t>
            </a:r>
          </a:p>
        </p:txBody>
      </p:sp>
      <p:sp>
        <p:nvSpPr>
          <p:cNvPr id="48" name="TextBox 47"/>
          <p:cNvSpPr txBox="1"/>
          <p:nvPr/>
        </p:nvSpPr>
        <p:spPr>
          <a:xfrm>
            <a:off x="7599960" y="3394800"/>
            <a:ext cx="1097280" cy="151200"/>
          </a:xfrm>
          <a:prstGeom prst="rect">
            <a:avLst/>
          </a:prstGeom>
          <a:noFill/>
        </p:spPr>
        <p:txBody>
          <a:bodyPr wrap="square">
            <a:spAutoFit/>
          </a:bodyPr>
          <a:lstStyle/>
          <a:p>
            <a:pPr algn="r"/>
            <a:r>
              <a:rPr sz="1100" b="1" i="0">
                <a:solidFill>
                  <a:srgbClr val="A82020"/>
                </a:solidFill>
                <a:latin typeface="Calibri"/>
              </a:rPr>
              <a:t>2.54x</a:t>
            </a:r>
          </a:p>
        </p:txBody>
      </p:sp>
      <p:sp>
        <p:nvSpPr>
          <p:cNvPr id="49" name="TextBox 48"/>
          <p:cNvSpPr txBox="1"/>
          <p:nvPr/>
        </p:nvSpPr>
        <p:spPr>
          <a:xfrm>
            <a:off x="6199200" y="3603600"/>
            <a:ext cx="1508760" cy="151200"/>
          </a:xfrm>
          <a:prstGeom prst="rect">
            <a:avLst/>
          </a:prstGeom>
          <a:noFill/>
        </p:spPr>
        <p:txBody>
          <a:bodyPr wrap="square">
            <a:spAutoFit/>
          </a:bodyPr>
          <a:lstStyle/>
          <a:p>
            <a:pPr algn="l"/>
            <a:r>
              <a:rPr sz="900" b="0" i="0">
                <a:solidFill>
                  <a:srgbClr val="555555"/>
                </a:solidFill>
                <a:latin typeface="Calibri"/>
              </a:rPr>
              <a:t>Leverage exit</a:t>
            </a:r>
          </a:p>
        </p:txBody>
      </p:sp>
      <p:sp>
        <p:nvSpPr>
          <p:cNvPr id="50" name="TextBox 49"/>
          <p:cNvSpPr txBox="1"/>
          <p:nvPr/>
        </p:nvSpPr>
        <p:spPr>
          <a:xfrm>
            <a:off x="7599960" y="3603600"/>
            <a:ext cx="1097280" cy="151200"/>
          </a:xfrm>
          <a:prstGeom prst="rect">
            <a:avLst/>
          </a:prstGeom>
          <a:noFill/>
        </p:spPr>
        <p:txBody>
          <a:bodyPr wrap="square">
            <a:spAutoFit/>
          </a:bodyPr>
          <a:lstStyle/>
          <a:p>
            <a:pPr algn="r"/>
            <a:r>
              <a:rPr sz="1100" b="1" i="0">
                <a:solidFill>
                  <a:srgbClr val="A82020"/>
                </a:solidFill>
                <a:latin typeface="Calibri"/>
              </a:rPr>
              <a:t>1.13x</a:t>
            </a:r>
          </a:p>
        </p:txBody>
      </p:sp>
      <p:sp>
        <p:nvSpPr>
          <p:cNvPr id="51" name="TextBox 50"/>
          <p:cNvSpPr txBox="1"/>
          <p:nvPr/>
        </p:nvSpPr>
        <p:spPr>
          <a:xfrm>
            <a:off x="6199200" y="3812400"/>
            <a:ext cx="1508760" cy="151200"/>
          </a:xfrm>
          <a:prstGeom prst="rect">
            <a:avLst/>
          </a:prstGeom>
          <a:noFill/>
        </p:spPr>
        <p:txBody>
          <a:bodyPr wrap="square">
            <a:spAutoFit/>
          </a:bodyPr>
          <a:lstStyle/>
          <a:p>
            <a:pPr algn="l"/>
            <a:r>
              <a:rPr sz="900" b="0" i="0">
                <a:solidFill>
                  <a:srgbClr val="555555"/>
                </a:solidFill>
                <a:latin typeface="Calibri"/>
              </a:rPr>
              <a:t>ICR exit</a:t>
            </a:r>
          </a:p>
        </p:txBody>
      </p:sp>
      <p:sp>
        <p:nvSpPr>
          <p:cNvPr id="52" name="TextBox 51"/>
          <p:cNvSpPr txBox="1"/>
          <p:nvPr/>
        </p:nvSpPr>
        <p:spPr>
          <a:xfrm>
            <a:off x="7599960" y="3812400"/>
            <a:ext cx="1097280" cy="151200"/>
          </a:xfrm>
          <a:prstGeom prst="rect">
            <a:avLst/>
          </a:prstGeom>
          <a:noFill/>
        </p:spPr>
        <p:txBody>
          <a:bodyPr wrap="square">
            <a:spAutoFit/>
          </a:bodyPr>
          <a:lstStyle/>
          <a:p>
            <a:pPr algn="r"/>
            <a:r>
              <a:rPr sz="1100" b="1" i="0">
                <a:solidFill>
                  <a:srgbClr val="A82020"/>
                </a:solidFill>
                <a:latin typeface="Calibri"/>
              </a:rPr>
              <a:t>7.7x</a:t>
            </a:r>
          </a:p>
        </p:txBody>
      </p:sp>
      <p:sp>
        <p:nvSpPr>
          <p:cNvPr id="53" name="Rectangle 52"/>
          <p:cNvSpPr/>
          <p:nvPr/>
        </p:nvSpPr>
        <p:spPr>
          <a:xfrm>
            <a:off x="367200" y="4140000"/>
            <a:ext cx="8413200" cy="64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Rectangle 53"/>
          <p:cNvSpPr/>
          <p:nvPr/>
        </p:nvSpPr>
        <p:spPr>
          <a:xfrm>
            <a:off x="367200" y="4140000"/>
            <a:ext cx="79200" cy="64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75200" y="4168800"/>
            <a:ext cx="8298000" cy="151200"/>
          </a:xfrm>
          <a:prstGeom prst="rect">
            <a:avLst/>
          </a:prstGeom>
          <a:noFill/>
        </p:spPr>
        <p:txBody>
          <a:bodyPr wrap="none">
            <a:spAutoFit/>
          </a:bodyPr>
          <a:lstStyle/>
          <a:p>
            <a:pPr algn="l"/>
            <a:r>
              <a:rPr sz="950" b="1" i="0">
                <a:solidFill>
                  <a:srgbClr val="1B3A6B"/>
                </a:solidFill>
                <a:latin typeface="Calibri"/>
              </a:rPr>
              <a:t>LBO NVDA : IRR 26.4% — deal attractif pour sponsor PE top-tier</a:t>
            </a:r>
          </a:p>
        </p:txBody>
      </p:sp>
      <p:sp>
        <p:nvSpPr>
          <p:cNvPr id="56" name="TextBox 55"/>
          <p:cNvSpPr txBox="1"/>
          <p:nvPr/>
        </p:nvSpPr>
        <p:spPr>
          <a:xfrm>
            <a:off x="475200" y="4338000"/>
            <a:ext cx="8298000" cy="424800"/>
          </a:xfrm>
          <a:prstGeom prst="rect">
            <a:avLst/>
          </a:prstGeom>
          <a:noFill/>
        </p:spPr>
        <p:txBody>
          <a:bodyPr wrap="square">
            <a:spAutoFit/>
          </a:bodyPr>
          <a:lstStyle/>
          <a:p>
            <a:pPr algn="l"/>
            <a:r>
              <a:rPr sz="850" b="0" i="0">
                <a:solidFill>
                  <a:srgbClr val="555555"/>
                </a:solidFill>
                <a:latin typeface="Calibri"/>
              </a:rPr>
              <a:t>Les risques principaux du montage portent sur quatre dimensions. (1) Opérationnel : compression des marges EBITDA en cas de ralentissement sectoriel, exécution du business plan sponsor (réduction coûts, croissance organique). (2) Financier : respect des covenants leverage et coverage, capacité de refinancement à 5 ans dans un environnement de taux incertain. (3) Marché :…</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{'title': 'Compression des marges', 'description': 'Pression concurrentielle ou hausse des couts intrants peuvent degrader la rentabilite operationnelle (marge EBITDA actuelle 66.0% si dispo).'}</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{'title': 'Compression des marges', 'description': 'Pression concurrentielle ou hausse des couts intrants peuvent degrader la rentabilite operationnelle (marge EBITDA actuelle 66.0% si dispo).'}</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{'title': 'Choc macroeconomique', 'description': 'Recession, hausse des taux directeurs, ou degradation du credit sectoriel peuvent declencher un de-rating significatif.'}</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{'title': 'Choc macroeconomique', 'description': 'Recession, hausse des taux directeurs, ou degradation du credit sectoriel peuvent declencher un de-rating significatif.'}</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{'title': 'Risque de revision baissiere', 'description': "Les revisions du consensus sur les 1-2 prochains trimestres constituent un signal d'alerte avance."}</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{'title': 'Risque de revision baissiere', 'description': "Les revisions du consensus sur les 1-2 prochains trimestres constituent un signal d'alerte avance."}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33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348800"/>
            <a:ext cx="2696400" cy="158400"/>
          </a:xfrm>
          <a:prstGeom prst="rect">
            <a:avLst/>
          </a:prstGeom>
          <a:noFill/>
        </p:spPr>
        <p:txBody>
          <a:bodyPr wrap="square">
            <a:spAutoFit/>
          </a:bodyPr>
          <a:lstStyle/>
          <a:p>
            <a:pPr algn="l"/>
            <a:r>
              <a:rPr sz="700" b="0" i="0">
                <a:solidFill>
                  <a:srgbClr val="1B3A6B"/>
                </a:solidFill>
                <a:latin typeface="Calibri"/>
              </a:rPr>
              <a:t>Détresse : 35/100  Moderé</a:t>
            </a:r>
          </a:p>
        </p:txBody>
      </p:sp>
      <p:sp>
        <p:nvSpPr>
          <p:cNvPr id="35" name="Rectangle 34"/>
          <p:cNvSpPr/>
          <p:nvPr/>
        </p:nvSpPr>
        <p:spPr>
          <a:xfrm>
            <a:off x="324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348800"/>
            <a:ext cx="2696400" cy="158400"/>
          </a:xfrm>
          <a:prstGeom prst="rect">
            <a:avLst/>
          </a:prstGeom>
          <a:noFill/>
        </p:spPr>
        <p:txBody>
          <a:bodyPr wrap="square">
            <a:spAutoFit/>
          </a:bodyPr>
          <a:lstStyle/>
          <a:p>
            <a:pPr algn="l"/>
            <a:r>
              <a:rPr sz="700" b="0" i="0">
                <a:solidFill>
                  <a:srgbClr val="1B3A6B"/>
                </a:solidFill>
                <a:latin typeface="Calibri"/>
              </a:rPr>
              <a:t>M&amp;A : 57/100  Attractive</a:t>
            </a:r>
          </a:p>
        </p:txBody>
      </p:sp>
      <p:sp>
        <p:nvSpPr>
          <p:cNvPr id="38" name="Rectangle 37"/>
          <p:cNvSpPr/>
          <p:nvPr/>
        </p:nvSpPr>
        <p:spPr>
          <a:xfrm>
            <a:off x="6123600" y="433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33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348800"/>
            <a:ext cx="2696400" cy="158400"/>
          </a:xfrm>
          <a:prstGeom prst="rect">
            <a:avLst/>
          </a:prstGeom>
          <a:noFill/>
        </p:spPr>
        <p:txBody>
          <a:bodyPr wrap="square">
            <a:spAutoFit/>
          </a:bodyPr>
          <a:lstStyle/>
          <a:p>
            <a:pPr algn="l"/>
            <a:r>
              <a:rPr sz="700" b="0" i="0">
                <a:solidFill>
                  <a:srgbClr val="1B3A6B"/>
                </a:solidFill>
                <a:latin typeface="Calibri"/>
              </a:rPr>
              <a:t>Régime : Bull  Rec.6M:10%</a:t>
            </a:r>
          </a:p>
        </p:txBody>
      </p:sp>
      <p:sp>
        <p:nvSpPr>
          <p:cNvPr id="41" name="Rectangle 40"/>
          <p:cNvSpPr/>
          <p:nvPr/>
        </p:nvSpPr>
        <p:spPr>
          <a:xfrm>
            <a:off x="3672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539600"/>
            <a:ext cx="2696400" cy="158400"/>
          </a:xfrm>
          <a:prstGeom prst="rect">
            <a:avLst/>
          </a:prstGeom>
          <a:noFill/>
        </p:spPr>
        <p:txBody>
          <a:bodyPr wrap="square">
            <a:spAutoFit/>
          </a:bodyPr>
          <a:lstStyle/>
          <a:p>
            <a:pPr algn="l"/>
            <a:r>
              <a:rPr sz="700" b="0" i="0">
                <a:solidFill>
                  <a:srgbClr val="1B3A6B"/>
                </a:solidFill>
                <a:latin typeface="Calibri"/>
              </a:rPr>
              <a:t>Earnings Qualité : Correcte (0.98x)</a:t>
            </a:r>
          </a:p>
        </p:txBody>
      </p:sp>
      <p:sp>
        <p:nvSpPr>
          <p:cNvPr id="44" name="Rectangle 43"/>
          <p:cNvSpPr/>
          <p:nvPr/>
        </p:nvSpPr>
        <p:spPr>
          <a:xfrm>
            <a:off x="324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52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539600"/>
            <a:ext cx="2696400" cy="158400"/>
          </a:xfrm>
          <a:prstGeom prst="rect">
            <a:avLst/>
          </a:prstGeom>
          <a:noFill/>
        </p:spPr>
        <p:txBody>
          <a:bodyPr wrap="square">
            <a:spAutoFit/>
          </a:bodyPr>
          <a:lstStyle/>
          <a:p>
            <a:pPr algn="l"/>
            <a:r>
              <a:rPr sz="700" b="0" i="0">
                <a:solidFill>
                  <a:srgbClr val="1B3A6B"/>
                </a:solidFill>
                <a:latin typeface="Calibri"/>
              </a:rPr>
              <a:t>Struct. Capital : Saine (0% CT)</a:t>
            </a:r>
          </a:p>
        </p:txBody>
      </p:sp>
      <p:sp>
        <p:nvSpPr>
          <p:cNvPr id="47" name="Rectangle 46"/>
          <p:cNvSpPr/>
          <p:nvPr/>
        </p:nvSpPr>
        <p:spPr>
          <a:xfrm>
            <a:off x="6123600" y="452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52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539600"/>
            <a:ext cx="2696400" cy="158400"/>
          </a:xfrm>
          <a:prstGeom prst="rect">
            <a:avLst/>
          </a:prstGeom>
          <a:noFill/>
        </p:spPr>
        <p:txBody>
          <a:bodyPr wrap="square">
            <a:spAutoFit/>
          </a:bodyPr>
          <a:lstStyle/>
          <a:p>
            <a:pPr algn="l"/>
            <a:r>
              <a:rPr sz="700" b="0" i="0">
                <a:solidFill>
                  <a:srgbClr val="1B3A6B"/>
                </a:solidFill>
                <a:latin typeface="Calibri"/>
              </a:rPr>
              <a:t>Dividende : Tres soutenable (2.1x)</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Neutre +</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+0,164</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47,2 %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9</a:t>
                      </a:r>
                    </a:p>
                  </a:txBody>
                  <a:tcPr>
                    <a:solidFill>
                      <a:srgbClr val="EAF4EF"/>
                    </a:solidFill>
                  </a:tcPr>
                </a:tc>
                <a:tc>
                  <a:txBody>
                    <a:bodyPr/>
                    <a:lstStyle/>
                    <a:p>
                      <a:pPr algn="ctr"/>
                      <a:r>
                        <a:rPr sz="800" b="0" i="0">
                          <a:solidFill>
                            <a:srgbClr val="0D0D0D"/>
                          </a:solidFill>
                          <a:latin typeface="Calibri"/>
                        </a:rPr>
                        <a:t>+0,346</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16</a:t>
                      </a:r>
                    </a:p>
                  </a:txBody>
                  <a:tcPr>
                    <a:solidFill>
                      <a:srgbClr val="FFFFFF"/>
                    </a:solidFill>
                  </a:tcPr>
                </a:tc>
                <a:tc>
                  <a:txBody>
                    <a:bodyPr/>
                    <a:lstStyle/>
                    <a:p>
                      <a:pPr algn="ctr"/>
                      <a:r>
                        <a:rPr sz="800" b="0" i="0">
                          <a:solidFill>
                            <a:srgbClr val="0D0D0D"/>
                          </a:solidFill>
                          <a:latin typeface="Calibri"/>
                        </a:rPr>
                        <a:t>+0,472</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5</a:t>
                      </a:r>
                    </a:p>
                  </a:txBody>
                  <a:tcPr>
                    <a:solidFill>
                      <a:srgbClr val="FAF0EF"/>
                    </a:solidFill>
                  </a:tcPr>
                </a:tc>
                <a:tc>
                  <a:txBody>
                    <a:bodyPr/>
                    <a:lstStyle/>
                    <a:p>
                      <a:pPr algn="ctr"/>
                      <a:r>
                        <a:rPr sz="800" b="0" i="0">
                          <a:solidFill>
                            <a:srgbClr val="0D0D0D"/>
                          </a:solidFill>
                          <a:latin typeface="Calibri"/>
                        </a:rPr>
                        <a:t>+0,182</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Rectangle 38"/>
          <p:cNvSpPr/>
          <p:nvPr/>
        </p:nvSpPr>
        <p:spPr>
          <a:xfrm>
            <a:off x="367200" y="3924000"/>
            <a:ext cx="8413200" cy="845999"/>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367200" y="3924000"/>
            <a:ext cx="79200" cy="845999"/>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200" y="3952800"/>
            <a:ext cx="8298000" cy="151200"/>
          </a:xfrm>
          <a:prstGeom prst="rect">
            <a:avLst/>
          </a:prstGeom>
          <a:noFill/>
        </p:spPr>
        <p:txBody>
          <a:bodyPr wrap="none">
            <a:spAutoFit/>
          </a:bodyPr>
          <a:lstStyle/>
          <a:p>
            <a:pPr algn="l"/>
            <a:r>
              <a:rPr sz="950" b="1" i="0">
                <a:solidFill>
                  <a:srgbClr val="1B3A6B"/>
                </a:solidFill>
                <a:latin typeface="Calibri"/>
              </a:rPr>
              <a:t>NVDA — analyse du sentiment de marché et signaux d'alerte</a:t>
            </a:r>
          </a:p>
        </p:txBody>
      </p:sp>
      <p:sp>
        <p:nvSpPr>
          <p:cNvPr id="42" name="TextBox 41"/>
          <p:cNvSpPr txBox="1"/>
          <p:nvPr/>
        </p:nvSpPr>
        <p:spPr>
          <a:xfrm>
            <a:off x="475200" y="4122000"/>
            <a:ext cx="8298000" cy="622799"/>
          </a:xfrm>
          <a:prstGeom prst="rect">
            <a:avLst/>
          </a:prstGeom>
          <a:noFill/>
        </p:spPr>
        <p:txBody>
          <a:bodyPr wrap="square">
            <a:spAutoFit/>
          </a:bodyPr>
          <a:lstStyle/>
          <a:p>
            <a:pPr algn="l"/>
            <a:r>
              <a:rPr sz="850" b="0" i="0">
                <a:solidFill>
                  <a:srgbClr val="555555"/>
                </a:solidFill>
                <a:latin typeface="Calibri"/>
              </a:rPr>
              <a:t>La presse financière affiche un sentiment globalement positif pour NVIDIA cette semaine, portée par sa dynamique haussière et ses partenariats stratégiques. Cependant, quelques articles soulignent des risques liés à des rumeurs ou à la concurrence dans l’écosystème IA.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14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232000"/>
        </p:xfrm>
        <a:graphic>
          <a:graphicData uri="http://schemas.openxmlformats.org/drawingml/2006/table">
            <a:tbl>
              <a:tblPr firstRow="1" bandRow="1">
                <a:tableStyleId>{5C22544A-7EE6-4342-B048-85BDC9FD1C3A}</a:tableStyleId>
              </a:tblPr>
              <a:tblGrid>
                <a:gridCol w="2015064"/>
                <a:gridCol w="1378728"/>
                <a:gridCol w="1060560"/>
                <a:gridCol w="848448"/>
              </a:tblGrid>
              <a:tr h="2232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NVIDIA (Insiders)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Insiders &amp; dirigeants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B06000"/>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Vanguard Group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Blackrock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State Street Corporation</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FMR,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Geode Capital Management,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JPMORGAN CHASE &amp; CO</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Price (T.Rowe) Associates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200">
                <a:tc>
                  <a:txBody>
                    <a:bodyPr/>
                    <a:lstStyle/>
                    <a:p>
                      <a:pPr algn="l"/>
                      <a:r>
                        <a:rPr sz="800" b="0" i="0">
                          <a:solidFill>
                            <a:srgbClr val="0D0D0D"/>
                          </a:solidFill>
                          <a:latin typeface="Calibri"/>
                        </a:rPr>
                        <a:t>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1134000"/>
        </p:xfrm>
        <a:graphic>
          <a:graphicData uri="http://schemas.openxmlformats.org/drawingml/2006/table">
            <a:tbl>
              <a:tblPr firstRow="1" bandRow="1">
                <a:tableStyleId>{5C22544A-7EE6-4342-B048-85BDC9FD1C3A}</a:tableStyleId>
              </a:tblPr>
              <a:tblGrid>
                <a:gridCol w="1810080"/>
                <a:gridCol w="1206720"/>
              </a:tblGrid>
              <a:tr h="2268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Insider</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6800">
                <a:tc>
                  <a:txBody>
                    <a:bodyPr/>
                    <a:lstStyle/>
                    <a:p>
                      <a:pPr algn="l"/>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1" name="Rectangle 20"/>
          <p:cNvSpPr/>
          <p:nvPr/>
        </p:nvSpPr>
        <p:spPr>
          <a:xfrm>
            <a:off x="367200" y="3326400"/>
            <a:ext cx="8413200" cy="14436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3326400"/>
            <a:ext cx="79200" cy="144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75200" y="3355200"/>
            <a:ext cx="8298000" cy="151200"/>
          </a:xfrm>
          <a:prstGeom prst="rect">
            <a:avLst/>
          </a:prstGeom>
          <a:noFill/>
        </p:spPr>
        <p:txBody>
          <a:bodyPr wrap="none">
            <a:spAutoFit/>
          </a:bodyPr>
          <a:lstStyle/>
          <a:p>
            <a:pPr algn="l"/>
            <a:r>
              <a:rPr sz="950" b="1" i="0">
                <a:solidFill>
                  <a:srgbClr val="1B3A6B"/>
                </a:solidFill>
                <a:latin typeface="Calibri"/>
              </a:rPr>
              <a:t>NVDA — verdict final : HOLD</a:t>
            </a:r>
          </a:p>
        </p:txBody>
      </p:sp>
      <p:sp>
        <p:nvSpPr>
          <p:cNvPr id="24" name="TextBox 23"/>
          <p:cNvSpPr txBox="1"/>
          <p:nvPr/>
        </p:nvSpPr>
        <p:spPr>
          <a:xfrm>
            <a:off x="475200" y="3524400"/>
            <a:ext cx="8298000" cy="1220400"/>
          </a:xfrm>
          <a:prstGeom prst="rect">
            <a:avLst/>
          </a:prstGeom>
          <a:noFill/>
        </p:spPr>
        <p:txBody>
          <a:bodyPr wrap="square">
            <a:spAutoFit/>
          </a:bodyPr>
          <a:lstStyle/>
          <a:p>
            <a:pPr algn="l"/>
            <a:r>
              <a:rPr sz="850" b="0" i="0">
                <a:solidFill>
                  <a:srgbClr val="555555"/>
                </a:solidFill>
                <a:latin typeface="Calibri"/>
              </a:rPr>
              <a:t>NVIDIA Corporation presente un profil financier EV/EBITDA 55.0x, marge EBITDA 66.0%, ROE 91.9% dans le secteur Technology. L'analyse fondamentale indique un equilibre risque/rendement neutre a court terme. Une revision de la these necessite la confirmation des prochains catalyseurs operationnels. Analyse fondamentale NVIDIA Corporation (NVDA) — secteur Technology. Ratios cles : EV/EBITDA 55.0x, marge EBITDA 66.0%, ROE 91.9%. Recommandation neutre par defaut, a reviser selon evolution des fondamentaux et catalyseurs sectoriels.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USD  ·  Au 14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194,90 $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202,47 $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135,10 $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+44,3 %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hausse de +44,3 % sur 12 mois</a:t>
            </a:r>
          </a:p>
        </p:txBody>
      </p:sp>
      <p:pic>
        <p:nvPicPr>
          <p:cNvPr id="34" name="Picture 33" descr="image.png"/>
          <p:cNvPicPr>
            <a:picLocks noChangeAspect="1"/>
          </p:cNvPicPr>
          <p:nvPr/>
        </p:nvPicPr>
        <p:blipFill>
          <a:blip r:embed="rId2"/>
          <a:stretch>
            <a:fillRect/>
          </a:stretch>
        </p:blipFill>
        <p:spPr>
          <a:xfrm>
            <a:off x="367200" y="2102400"/>
            <a:ext cx="5580000" cy="1828800"/>
          </a:xfrm>
          <a:prstGeom prst="rect">
            <a:avLst/>
          </a:prstGeom>
        </p:spPr>
      </p:pic>
      <p:sp>
        <p:nvSpPr>
          <p:cNvPr id="35" name="Rectangle 34"/>
          <p:cNvSpPr/>
          <p:nvPr/>
        </p:nvSpPr>
        <p:spPr>
          <a:xfrm>
            <a:off x="6120000" y="2102400"/>
            <a:ext cx="2660400" cy="2718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6120000" y="2102400"/>
            <a:ext cx="79200" cy="2718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28000" y="2131200"/>
            <a:ext cx="2545200" cy="151200"/>
          </a:xfrm>
          <a:prstGeom prst="rect">
            <a:avLst/>
          </a:prstGeom>
          <a:noFill/>
        </p:spPr>
        <p:txBody>
          <a:bodyPr wrap="none">
            <a:spAutoFit/>
          </a:bodyPr>
          <a:lstStyle/>
          <a:p>
            <a:pPr algn="l"/>
            <a:r>
              <a:rPr sz="950" b="1" i="0">
                <a:solidFill>
                  <a:srgbClr val="1B3A6B"/>
                </a:solidFill>
                <a:latin typeface="Calibri"/>
              </a:rPr>
              <a:t>Contexte macro et catalyseurs — NVDA</a:t>
            </a:r>
          </a:p>
        </p:txBody>
      </p:sp>
      <p:sp>
        <p:nvSpPr>
          <p:cNvPr id="38" name="TextBox 37"/>
          <p:cNvSpPr txBox="1"/>
          <p:nvPr/>
        </p:nvSpPr>
        <p:spPr>
          <a:xfrm>
            <a:off x="6228000" y="2300400"/>
            <a:ext cx="2545200" cy="2494800"/>
          </a:xfrm>
          <a:prstGeom prst="rect">
            <a:avLst/>
          </a:prstGeom>
          <a:noFill/>
        </p:spPr>
        <p:txBody>
          <a:bodyPr wrap="square">
            <a:spAutoFit/>
          </a:bodyPr>
          <a:lstStyle/>
          <a:p>
            <a:pPr algn="l"/>
            <a:r>
              <a:rPr sz="850" b="0" i="0">
                <a:solidFill>
                  <a:srgbClr val="555555"/>
                </a:solidFill>
                <a:latin typeface="Calibri"/>
              </a:rPr>
              <a:t>**Analyse macro et spécifique de NVDA sur 12 mois**
Les douze derniers mois ont été marqués par un environnement macroéconomique contrasté pour le secteur technologique. Après un pic des taux longs à 5 % en octobre 2023 (10 ans US), la Fed a entamé un pivot dovish dès décembre 2023, réduisant ses taux de 525 pb à 450 pb en septembre 2024, soutenant les valorisations des actions tech. L’inflation, passée de 3,7 % en septembre 2023 à 2,9 % en août 2024, a permis aux marchés d’anticiper un assouplissement monétaire. Les tensions géopolitiques (guerre en Ukraine, tensions Moyen-Orient) ont pesé sur les chaînes d’approvisionnement, tandis que le cours du cuivre (indice LME) a chuté de 12 % entre mars et juin 2024, affectant les coûts de production des data centers.
Côté NVDA, la performance de +44,3 % reflète des catalyseurs spécifiques. Le titre a bondi de 25 % après les résultats T4 2023 (22 février 2024), dépassant les attentes sur l’IA avec un CA de 22,1 Md$ (+265 % YoY). La guidance pour le T1 2024 (200 Md$ de CA, +176 % YoY) a confirmé la domination dans les GPU IA. Le creux de mai 2024 (220 $) a coïncidé avec des craintes de surcapacité chez les concurrents (AMD, Intel), avant un rebond après l’annonce du processeur Blackwell (18 mars 2024) et le partenariat avec Microsoft (29 mai 2024). Les révisions de consensus (moyenne de prix cible à 120 $ en septembre 2024, contre 85…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NVDA  ·  FinSight IA  ·  Rapport 14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14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Rectangle 23"/>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6" name="Rectangle 25"/>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8" name="Rectangle 27"/>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NVIDIA Corporation presente un profil financier EV/EBITDA 55.0x, marge EBITDA 66.0%, ROE 91.9% dans le secteur Technology.</a:t>
            </a:r>
          </a:p>
        </p:txBody>
      </p:sp>
      <p:sp>
        <p:nvSpPr>
          <p:cNvPr id="30" name="Rectangle 29"/>
          <p:cNvSpPr/>
          <p:nvPr/>
        </p:nvSpPr>
        <p:spPr>
          <a:xfrm>
            <a:off x="3311999" y="1404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401999" y="1422000"/>
            <a:ext cx="5346000" cy="270000"/>
          </a:xfrm>
          <a:prstGeom prst="rect">
            <a:avLst/>
          </a:prstGeom>
          <a:noFill/>
        </p:spPr>
        <p:txBody>
          <a:bodyPr wrap="square">
            <a:spAutoFit/>
          </a:bodyPr>
          <a:lstStyle/>
          <a:p>
            <a:pPr algn="l"/>
            <a:r>
              <a:rPr sz="850" b="0" i="0">
                <a:solidFill>
                  <a:srgbClr val="555555"/>
                </a:solidFill>
                <a:latin typeface="Calibri"/>
              </a:rPr>
              <a:t>L'analyse fondamentale indique un equilibre risque/rendement neutre a court terme.</a:t>
            </a:r>
          </a:p>
        </p:txBody>
      </p:sp>
      <p:sp>
        <p:nvSpPr>
          <p:cNvPr id="32" name="Rectangle 31"/>
          <p:cNvSpPr/>
          <p:nvPr/>
        </p:nvSpPr>
        <p:spPr>
          <a:xfrm>
            <a:off x="3311999" y="1746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401999" y="1764000"/>
            <a:ext cx="5346000" cy="270000"/>
          </a:xfrm>
          <a:prstGeom prst="rect">
            <a:avLst/>
          </a:prstGeom>
          <a:noFill/>
        </p:spPr>
        <p:txBody>
          <a:bodyPr wrap="square">
            <a:spAutoFit/>
          </a:bodyPr>
          <a:lstStyle/>
          <a:p>
            <a:pPr algn="l"/>
            <a:r>
              <a:rPr sz="850" b="0" i="0">
                <a:solidFill>
                  <a:srgbClr val="555555"/>
                </a:solidFill>
                <a:latin typeface="Calibri"/>
              </a:rPr>
              <a:t>Une revision de la these necessite la confirmation des prochains catalyseurs operationnels.</a:t>
            </a:r>
          </a:p>
        </p:txBody>
      </p:sp>
      <p:sp>
        <p:nvSpPr>
          <p:cNvPr id="34" name="Rectangle 33"/>
          <p:cNvSpPr/>
          <p:nvPr/>
        </p:nvSpPr>
        <p:spPr>
          <a:xfrm>
            <a:off x="3311999" y="2196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366000" y="2214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6" name="TextBox 35"/>
          <p:cNvSpPr txBox="1"/>
          <p:nvPr/>
        </p:nvSpPr>
        <p:spPr>
          <a:xfrm>
            <a:off x="3401999" y="2412000"/>
            <a:ext cx="2556000" cy="792000"/>
          </a:xfrm>
          <a:prstGeom prst="rect">
            <a:avLst/>
          </a:prstGeom>
          <a:noFill/>
        </p:spPr>
        <p:txBody>
          <a:bodyPr wrap="square">
            <a:spAutoFit/>
          </a:bodyPr>
          <a:lstStyle/>
          <a:p>
            <a:pPr algn="l"/>
            <a:r>
              <a:rPr sz="700" b="0" i="0">
                <a:solidFill>
                  <a:srgbClr val="555555"/>
                </a:solidFill>
                <a:latin typeface="Calibri"/>
              </a:rPr>
              <a:t>• N/D</a:t>
            </a:r>
          </a:p>
        </p:txBody>
      </p:sp>
      <p:sp>
        <p:nvSpPr>
          <p:cNvPr id="37" name="Rectangle 36"/>
          <p:cNvSpPr/>
          <p:nvPr/>
        </p:nvSpPr>
        <p:spPr>
          <a:xfrm>
            <a:off x="6120000" y="2196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156000" y="2214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9" name="TextBox 38"/>
          <p:cNvSpPr txBox="1"/>
          <p:nvPr/>
        </p:nvSpPr>
        <p:spPr>
          <a:xfrm>
            <a:off x="6156000" y="2412000"/>
            <a:ext cx="2376000" cy="792000"/>
          </a:xfrm>
          <a:prstGeom prst="rect">
            <a:avLst/>
          </a:prstGeom>
          <a:noFill/>
        </p:spPr>
        <p:txBody>
          <a:bodyPr wrap="square">
            <a:spAutoFit/>
          </a:bodyPr>
          <a:lstStyle/>
          <a:p>
            <a:pPr algn="l"/>
            <a:r>
              <a:rPr sz="700" b="0" i="0">
                <a:solidFill>
                  <a:srgbClr val="555555"/>
                </a:solidFill>
                <a:latin typeface="Calibri"/>
              </a:rPr>
              <a:t>• N/D</a:t>
            </a:r>
          </a:p>
        </p:txBody>
      </p:sp>
      <p:sp>
        <p:nvSpPr>
          <p:cNvPr id="40" name="TextBox 39"/>
          <p:cNvSpPr txBox="1"/>
          <p:nvPr/>
        </p:nvSpPr>
        <p:spPr>
          <a:xfrm>
            <a:off x="324000" y="4662000"/>
            <a:ext cx="8496000" cy="125999"/>
          </a:xfrm>
          <a:prstGeom prst="rect">
            <a:avLst/>
          </a:prstGeom>
          <a:noFill/>
        </p:spPr>
        <p:txBody>
          <a:bodyPr wrap="square">
            <a:spAutoFit/>
          </a:bodyPr>
          <a:lstStyle/>
          <a:p>
            <a:pPr algn="l"/>
            <a:r>
              <a:rPr sz="700" b="0" i="0">
                <a:solidFill>
                  <a:srgbClr val="555555"/>
                </a:solidFill>
                <a:latin typeface="Calibri"/>
              </a:rPr>
              <a:t>FinSight IA Généré cette analyse a un instant T. Pour le suivi dans le temps, comparer les rapports successifs. La conviction Reflète les Données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