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Services Financiers</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17.1x  ·  Croissance med. : +8.9 %  ·  Marge EBITDA med. : 0.0 %  ·  Score moyen : 80/100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Politique monétaire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La Fed pourrait assouplir sa politique plus tôt que prévu, soutenant les marges des banques via une courbe des taux plus pentue.</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Volatilité des marchés</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Une reprise de la volatilité des marchés actions et obligataires stimulerait les revenus de trading et de gestion d'actifs.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Réglementation</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réformes bancaires aux États-Unis pourraient réduire les coûts de conformité pour les acteurs majeurs comme GS et MS.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Risque de crédit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Un ralentissement économique pourrait dégrader la qualité des actifs et peser sur les provisions pour pertes.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La pression concurrentielle des fintechs et des néobanques menace les parts de marché des acteurs traditionnels.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Réglementation</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Des changements réglementaires défavorables pourraient alourdir les coûts opérationnels des banques.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17.1x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Marché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+8.9 %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0.0 %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+37.5 %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Synthèse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positionnément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Caractéristiques structurelles &amp; métriques de référence</a:t>
            </a:r>
          </a:p>
        </p:txBody>
      </p:sp>
      <p:sp>
        <p:nvSpPr>
          <p:cNvPr id="15" name="Rectangle 14"/>
          <p:cNvSpPr/>
          <p:nvPr/>
        </p:nvSpPr>
        <p:spPr>
          <a:xfrm>
            <a:off x="324000" y="900000"/>
            <a:ext cx="4932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900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928800"/>
            <a:ext cx="4788000" cy="162000"/>
          </a:xfrm>
          <a:prstGeom prst="rect">
            <a:avLst/>
          </a:prstGeom>
          <a:noFill/>
        </p:spPr>
        <p:txBody>
          <a:bodyPr wrap="square">
            <a:spAutoFit/>
          </a:bodyPr>
          <a:lstStyle/>
          <a:p>
            <a:pPr algn="l"/>
            <a:r>
              <a:rPr sz="900" b="1" i="0">
                <a:solidFill>
                  <a:srgbClr val="FFFFFF"/>
                </a:solidFill>
              </a:rPr>
              <a:t>PANORAMA SECTORIEL</a:t>
            </a:r>
          </a:p>
        </p:txBody>
      </p:sp>
      <p:sp>
        <p:nvSpPr>
          <p:cNvPr id="19" name="TextBox 18"/>
          <p:cNvSpPr txBox="1"/>
          <p:nvPr/>
        </p:nvSpPr>
        <p:spPr>
          <a:xfrm>
            <a:off x="468000" y="1152000"/>
            <a:ext cx="4716000" cy="936000"/>
          </a:xfrm>
          <a:prstGeom prst="rect">
            <a:avLst/>
          </a:prstGeom>
          <a:noFill/>
        </p:spPr>
        <p:txBody>
          <a:bodyPr wrap="square">
            <a:spAutoFit/>
          </a:bodyPr>
          <a:lstStyle/>
          <a:p>
            <a:pPr algn="l"/>
            <a:r>
              <a:rPr sz="1000" b="0" i="0">
                <a:solidFill>
                  <a:srgbClr val="555555"/>
                </a:solidFill>
              </a:rPr>
              <a:t>Le secteur des services financiers affiche une valorisation attractive avec un multiple EV/EBITDA médian de 17.1x, en ligne avec sa moyenne historique malgré une croissance des revenus de +8.9% et un momentum 52 semaines de +37.5%. Les banques d'investissement GS, MS et C bénéficient d'une surperformance structurelle liée à leur exposition aux marchés actions et aux activités de trading, malgré un environnement de taux toujours incertain.</a:t>
            </a:r>
          </a:p>
        </p:txBody>
      </p:sp>
      <p:sp>
        <p:nvSpPr>
          <p:cNvPr id="20" name="Rectangle 19"/>
          <p:cNvSpPr/>
          <p:nvPr/>
        </p:nvSpPr>
        <p:spPr>
          <a:xfrm>
            <a:off x="324000" y="2268000"/>
            <a:ext cx="4932000" cy="23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4000" y="2268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2296800"/>
            <a:ext cx="4788000" cy="162000"/>
          </a:xfrm>
          <a:prstGeom prst="rect">
            <a:avLst/>
          </a:prstGeom>
          <a:noFill/>
        </p:spPr>
        <p:txBody>
          <a:bodyPr wrap="square">
            <a:spAutoFit/>
          </a:bodyPr>
          <a:lstStyle/>
          <a:p>
            <a:pPr algn="l"/>
            <a:r>
              <a:rPr sz="900" b="1" i="0">
                <a:solidFill>
                  <a:srgbClr val="FFFFFF"/>
                </a:solidFill>
              </a:rPr>
              <a:t>CATALYSEURS CLÉS</a:t>
            </a:r>
          </a:p>
        </p:txBody>
      </p:sp>
      <p:sp>
        <p:nvSpPr>
          <p:cNvPr id="23" name="Rectangle 22"/>
          <p:cNvSpPr/>
          <p:nvPr/>
        </p:nvSpPr>
        <p:spPr>
          <a:xfrm>
            <a:off x="396000" y="2520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2538000"/>
            <a:ext cx="4680000" cy="162000"/>
          </a:xfrm>
          <a:prstGeom prst="rect">
            <a:avLst/>
          </a:prstGeom>
          <a:noFill/>
        </p:spPr>
        <p:txBody>
          <a:bodyPr wrap="square">
            <a:spAutoFit/>
          </a:bodyPr>
          <a:lstStyle/>
          <a:p>
            <a:pPr algn="l"/>
            <a:r>
              <a:rPr sz="1000" b="1" i="0">
                <a:solidFill>
                  <a:srgbClr val="1B3A6B"/>
                </a:solidFill>
              </a:rPr>
              <a:t>Politique monétaire</a:t>
            </a:r>
          </a:p>
        </p:txBody>
      </p:sp>
      <p:sp>
        <p:nvSpPr>
          <p:cNvPr id="25" name="TextBox 24"/>
          <p:cNvSpPr txBox="1"/>
          <p:nvPr/>
        </p:nvSpPr>
        <p:spPr>
          <a:xfrm>
            <a:off x="503999" y="2718000"/>
            <a:ext cx="4680000" cy="450000"/>
          </a:xfrm>
          <a:prstGeom prst="rect">
            <a:avLst/>
          </a:prstGeom>
          <a:noFill/>
        </p:spPr>
        <p:txBody>
          <a:bodyPr wrap="square">
            <a:spAutoFit/>
          </a:bodyPr>
          <a:lstStyle/>
          <a:p>
            <a:pPr algn="l"/>
            <a:r>
              <a:rPr sz="900" b="0" i="0">
                <a:solidFill>
                  <a:srgbClr val="555555"/>
                </a:solidFill>
              </a:rPr>
              <a:t>La Fed pourrait assouplir sa politique plus tôt que prévu, soutenant les marges des banques via une courbe des taux plus pentue.</a:t>
            </a:r>
          </a:p>
        </p:txBody>
      </p:sp>
      <p:sp>
        <p:nvSpPr>
          <p:cNvPr id="26" name="Rectangle 25"/>
          <p:cNvSpPr/>
          <p:nvPr/>
        </p:nvSpPr>
        <p:spPr>
          <a:xfrm>
            <a:off x="396000" y="3221999"/>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3999" y="3240000"/>
            <a:ext cx="4680000" cy="162000"/>
          </a:xfrm>
          <a:prstGeom prst="rect">
            <a:avLst/>
          </a:prstGeom>
          <a:noFill/>
        </p:spPr>
        <p:txBody>
          <a:bodyPr wrap="square">
            <a:spAutoFit/>
          </a:bodyPr>
          <a:lstStyle/>
          <a:p>
            <a:pPr algn="l"/>
            <a:r>
              <a:rPr sz="1000" b="1" i="0">
                <a:solidFill>
                  <a:srgbClr val="1B3A6B"/>
                </a:solidFill>
              </a:rPr>
              <a:t>Volatilité des marchés</a:t>
            </a:r>
          </a:p>
        </p:txBody>
      </p:sp>
      <p:sp>
        <p:nvSpPr>
          <p:cNvPr id="28" name="TextBox 27"/>
          <p:cNvSpPr txBox="1"/>
          <p:nvPr/>
        </p:nvSpPr>
        <p:spPr>
          <a:xfrm>
            <a:off x="503999" y="3420000"/>
            <a:ext cx="4680000" cy="450000"/>
          </a:xfrm>
          <a:prstGeom prst="rect">
            <a:avLst/>
          </a:prstGeom>
          <a:noFill/>
        </p:spPr>
        <p:txBody>
          <a:bodyPr wrap="square">
            <a:spAutoFit/>
          </a:bodyPr>
          <a:lstStyle/>
          <a:p>
            <a:pPr algn="l"/>
            <a:r>
              <a:rPr sz="900" b="0" i="0">
                <a:solidFill>
                  <a:srgbClr val="555555"/>
                </a:solidFill>
              </a:rPr>
              <a:t>Une reprise de la volatilité des marchés actions et obligataires stimulerait les revenus de trading et de gestion d'actifs.</a:t>
            </a:r>
          </a:p>
        </p:txBody>
      </p:sp>
      <p:sp>
        <p:nvSpPr>
          <p:cNvPr id="29" name="Rectangle 28"/>
          <p:cNvSpPr/>
          <p:nvPr/>
        </p:nvSpPr>
        <p:spPr>
          <a:xfrm>
            <a:off x="396000" y="3924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3999" y="3942000"/>
            <a:ext cx="4680000" cy="162000"/>
          </a:xfrm>
          <a:prstGeom prst="rect">
            <a:avLst/>
          </a:prstGeom>
          <a:noFill/>
        </p:spPr>
        <p:txBody>
          <a:bodyPr wrap="square">
            <a:spAutoFit/>
          </a:bodyPr>
          <a:lstStyle/>
          <a:p>
            <a:pPr algn="l"/>
            <a:r>
              <a:rPr sz="1000" b="1" i="0">
                <a:solidFill>
                  <a:srgbClr val="1B3A6B"/>
                </a:solidFill>
              </a:rPr>
              <a:t>Réglementation</a:t>
            </a:r>
          </a:p>
        </p:txBody>
      </p:sp>
      <p:sp>
        <p:nvSpPr>
          <p:cNvPr id="31" name="TextBox 30"/>
          <p:cNvSpPr txBox="1"/>
          <p:nvPr/>
        </p:nvSpPr>
        <p:spPr>
          <a:xfrm>
            <a:off x="503999" y="4122000"/>
            <a:ext cx="4680000" cy="450000"/>
          </a:xfrm>
          <a:prstGeom prst="rect">
            <a:avLst/>
          </a:prstGeom>
          <a:noFill/>
        </p:spPr>
        <p:txBody>
          <a:bodyPr wrap="square">
            <a:spAutoFit/>
          </a:bodyPr>
          <a:lstStyle/>
          <a:p>
            <a:pPr algn="l"/>
            <a:r>
              <a:rPr sz="900" b="0" i="0">
                <a:solidFill>
                  <a:srgbClr val="555555"/>
                </a:solidFill>
              </a:rPr>
              <a:t>Les réformes bancaires aux États-Unis pourraient réduire les coûts de conformité pour les acteurs majeurs comme GS et MS.</a:t>
            </a:r>
          </a:p>
        </p:txBody>
      </p:sp>
      <p:graphicFrame>
        <p:nvGraphicFramePr>
          <p:cNvPr id="32" name="Table 31"/>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+8.9 %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+37.5 %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80/100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Sociétés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Analysées</a:t>
                      </a:r>
                    </a:p>
                  </a:txBody>
                  <a:tcPr>
                    <a:solidFill>
                      <a:srgbClr val="F5F7FA"/>
                    </a:solidFill>
                  </a:tcPr>
                </a:tc>
              </a:tr>
            </a:tbl>
          </a:graphicData>
        </a:graphic>
      </p:graphicFrame>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The Goldman Sachs Group, Inc</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16.3x</a:t>
                      </a:r>
                    </a:p>
                  </a:txBody>
                  <a:tcPr>
                    <a:noFill/>
                  </a:tcPr>
                </a:tc>
                <a:tc>
                  <a:txBody>
                    <a:bodyPr/>
                    <a:lstStyle/>
                    <a:p>
                      <a:pPr algn="ctr"/>
                      <a:r>
                        <a:rPr sz="750" b="0">
                          <a:solidFill>
                            <a:srgbClr val="1A1A1A"/>
                          </a:solidFill>
                        </a:rPr>
                        <a:t>82.9 %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13.9 %</a:t>
                      </a:r>
                    </a:p>
                  </a:txBody>
                  <a:tcPr>
                    <a:noFill/>
                  </a:tcPr>
                </a:tc>
              </a:tr>
              <a:tr h="198000">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3.0x</a:t>
                      </a:r>
                    </a:p>
                  </a:txBody>
                  <a:tcPr>
                    <a:solidFill>
                      <a:srgbClr val="F5F7FA"/>
                    </a:solidFill>
                  </a:tcPr>
                </a:tc>
                <a:tc>
                  <a:txBody>
                    <a:bodyPr/>
                    <a:lstStyle/>
                    <a:p>
                      <a:pPr algn="ctr"/>
                      <a:r>
                        <a:rPr sz="750" b="0">
                          <a:solidFill>
                            <a:srgbClr val="1A1A1A"/>
                          </a:solidFill>
                        </a:rPr>
                        <a:t>17.7x</a:t>
                      </a:r>
                    </a:p>
                  </a:txBody>
                  <a:tcPr>
                    <a:solidFill>
                      <a:srgbClr val="F5F7FA"/>
                    </a:solidFill>
                  </a:tcPr>
                </a:tc>
                <a:tc>
                  <a:txBody>
                    <a:bodyPr/>
                    <a:lstStyle/>
                    <a:p>
                      <a:pPr algn="ctr"/>
                      <a:r>
                        <a:rPr sz="750" b="0">
                          <a:solidFill>
                            <a:srgbClr val="1A1A1A"/>
                          </a:solidFill>
                        </a:rPr>
                        <a:t>87.1 %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15.6 %</a:t>
                      </a:r>
                    </a:p>
                  </a:txBody>
                  <a:tcPr>
                    <a:solidFill>
                      <a:srgbClr val="F5F7FA"/>
                    </a:solidFill>
                  </a:tcPr>
                </a:tc>
              </a:tr>
              <a:tr h="198000">
                <a:tc>
                  <a:txBody>
                    <a:bodyPr/>
                    <a:lstStyle/>
                    <a:p>
                      <a:pPr algn="ctr"/>
                      <a:r>
                        <a:rPr sz="750" b="0">
                          <a:solidFill>
                            <a:srgbClr val="1A1A1A"/>
                          </a:solidFill>
                        </a:rPr>
                        <a:t>Citigroup Inc.</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0.4x</a:t>
                      </a:r>
                    </a:p>
                  </a:txBody>
                  <a:tcPr>
                    <a:noFill/>
                  </a:tcPr>
                </a:tc>
                <a:tc>
                  <a:txBody>
                    <a:bodyPr/>
                    <a:lstStyle/>
                    <a:p>
                      <a:pPr algn="ctr"/>
                      <a:r>
                        <a:rPr sz="750" b="0">
                          <a:solidFill>
                            <a:srgbClr val="1A1A1A"/>
                          </a:solidFill>
                        </a:rPr>
                        <a:t>18.0x</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Bank of America Corporation</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3.8x</a:t>
                      </a:r>
                    </a:p>
                  </a:txBody>
                  <a:tcPr>
                    <a:solidFill>
                      <a:srgbClr val="F5F7FA"/>
                    </a:solidFill>
                  </a:tcPr>
                </a:tc>
                <a:tc>
                  <a:txBody>
                    <a:bodyPr/>
                    <a:lstStyle/>
                    <a:p>
                      <a:pPr algn="ctr"/>
                      <a:r>
                        <a:rPr sz="750" b="0">
                          <a:solidFill>
                            <a:srgbClr val="1A1A1A"/>
                          </a:solidFill>
                        </a:rPr>
                        <a:t>14.0x</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10.2 %</a:t>
                      </a:r>
                    </a:p>
                  </a:txBody>
                  <a:tcPr>
                    <a:solidFill>
                      <a:srgbClr val="F5F7FA"/>
                    </a:solidFill>
                  </a:tcPr>
                </a:tc>
              </a:tr>
              <a:tr h="198000">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13.8x</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11.7 %</a:t>
                      </a:r>
                    </a:p>
                  </a:txBody>
                  <a:tcPr>
                    <a:noFill/>
                  </a:tcPr>
                </a:tc>
              </a:tr>
              <a:tr h="198000">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3.6x</a:t>
                      </a:r>
                    </a:p>
                  </a:txBody>
                  <a:tcPr>
                    <a:solidFill>
                      <a:srgbClr val="F5F7FA"/>
                    </a:solidFill>
                  </a:tcPr>
                </a:tc>
                <a:tc>
                  <a:txBody>
                    <a:bodyPr/>
                    <a:lstStyle/>
                    <a:p>
                      <a:pPr algn="ctr"/>
                      <a:r>
                        <a:rPr sz="750" b="0">
                          <a:solidFill>
                            <a:srgbClr val="1A1A1A"/>
                          </a:solidFill>
                        </a:rPr>
                        <a:t>21.1x</a:t>
                      </a:r>
                    </a:p>
                  </a:txBody>
                  <a:tcPr>
                    <a:solidFill>
                      <a:srgbClr val="F5F7FA"/>
                    </a:solidFill>
                  </a:tcPr>
                </a:tc>
                <a:tc>
                  <a:txBody>
                    <a:bodyPr/>
                    <a:lstStyle/>
                    <a:p>
                      <a:pPr algn="ctr"/>
                      <a:r>
                        <a:rPr sz="750" b="0">
                          <a:solidFill>
                            <a:srgbClr val="1A1A1A"/>
                          </a:solidFill>
                        </a:rPr>
                        <a:t>63.5 %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34.0 %</a:t>
                      </a:r>
                    </a:p>
                  </a:txBody>
                  <a:tcPr>
                    <a:solidFill>
                      <a:srgbClr val="F5F7FA"/>
                    </a:solidFill>
                  </a:tcPr>
                </a:tc>
              </a:tr>
              <a:tr h="198000">
                <a:tc>
                  <a:txBody>
                    <a:bodyPr/>
                    <a:lstStyle/>
                    <a:p>
                      <a:pPr algn="ctr"/>
                      <a:r>
                        <a:rPr sz="750" b="0">
                          <a:solidFill>
                            <a:srgbClr val="1A1A1A"/>
                          </a:solidFill>
                        </a:rPr>
                        <a:t>BlackRock, Inc.</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6.8x</a:t>
                      </a:r>
                    </a:p>
                  </a:txBody>
                  <a:tcPr>
                    <a:noFill/>
                  </a:tcPr>
                </a:tc>
                <a:tc>
                  <a:txBody>
                    <a:bodyPr/>
                    <a:lstStyle/>
                    <a:p>
                      <a:pPr algn="ctr"/>
                      <a:r>
                        <a:rPr sz="750" b="0">
                          <a:solidFill>
                            <a:srgbClr val="1A1A1A"/>
                          </a:solidFill>
                        </a:rPr>
                        <a:t>29.0x</a:t>
                      </a:r>
                    </a:p>
                  </a:txBody>
                  <a:tcPr>
                    <a:noFill/>
                  </a:tcPr>
                </a:tc>
                <a:tc>
                  <a:txBody>
                    <a:bodyPr/>
                    <a:lstStyle/>
                    <a:p>
                      <a:pPr algn="ctr"/>
                      <a:r>
                        <a:rPr sz="750" b="0">
                          <a:solidFill>
                            <a:srgbClr val="1A1A1A"/>
                          </a:solidFill>
                        </a:rPr>
                        <a:t>46.7 %</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10.7 %</a:t>
                      </a:r>
                    </a:p>
                  </a:txBody>
                  <a:tcPr>
                    <a:noFill/>
                  </a:tcPr>
                </a:tc>
              </a:tr>
              <a:tr h="198000">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3.6x</a:t>
                      </a:r>
                    </a:p>
                  </a:txBody>
                  <a:tcPr>
                    <a:solidFill>
                      <a:srgbClr val="F5F7FA"/>
                    </a:solidFill>
                  </a:tcPr>
                </a:tc>
                <a:tc>
                  <a:txBody>
                    <a:bodyPr/>
                    <a:lstStyle/>
                    <a:p>
                      <a:pPr algn="ctr"/>
                      <a:r>
                        <a:rPr sz="750" b="0">
                          <a:solidFill>
                            <a:srgbClr val="1A1A1A"/>
                          </a:solidFill>
                        </a:rPr>
                        <a:t>15.7x</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16.1 %</a:t>
                      </a:r>
                    </a:p>
                  </a:txBody>
                  <a:tcPr>
                    <a:solidFill>
                      <a:srgbClr val="F5F7FA"/>
                    </a:solidFill>
                  </a:tcPr>
                </a:tc>
              </a:tr>
              <a:tr h="198000">
                <a:tc>
                  <a:txBody>
                    <a:bodyPr/>
                    <a:lstStyle/>
                    <a:p>
                      <a:pPr algn="ctr"/>
                      <a:r>
                        <a:rPr sz="750" b="0">
                          <a:solidFill>
                            <a:srgbClr val="1A1A1A"/>
                          </a:solidFill>
                        </a:rPr>
                        <a:t>MÉDIANE</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17.0x</a:t>
                      </a:r>
                    </a:p>
                  </a:txBody>
                  <a:tcPr>
                    <a:noFill/>
                  </a:tcPr>
                </a:tc>
                <a:tc>
                  <a:txBody>
                    <a:bodyPr/>
                    <a:lstStyle/>
                    <a:p>
                      <a:pPr algn="ctr"/>
                      <a:r>
                        <a:rPr sz="750" b="0">
                          <a:solidFill>
                            <a:srgbClr val="1A1A1A"/>
                          </a:solidFill>
                        </a:rPr>
                        <a:t>73.2 %</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12.8 %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Médiane EV/EBITDA sectorielle s établit a 17.1x LTM. The Goldman Sachs Gr (—) se distingue comme le leader de qualité, combine a une marge EBITDA de 0.0 % et une croissance de +15.2 %. La dispersion des multiples revele l hétérogèneite des profils au sein du secteur Services Financiers — une lecture croisée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Marge d'intermédiation</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 remontée des taux longs pourrait élargir les marges nettes des banques d'investissement.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Activités de marché</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Une hausse de la volatilité des marchés actions et obligataires boosterait les revenus de trading.</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de financement</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Une inversion prolongée de la courbe des taux pourrait comprimer les marges des banques commerciales.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Demande de crédit</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Un ralentissement de l'économie réduirait la demande de prêts hypothécaires et de crédit corporate.</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80/100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Médian : 9.9 %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semble en phase de reprise modérée, soutenue par un environnement de taux plus favorable et une reprise des activités de marché.</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1A7A4A"/>
                </a:solidFill>
              </a:rPr>
              <a:t>Régime : Bull</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10%  (Faible)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par Sous-Secteur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4 industries GICS identifiées</a:t>
            </a:r>
          </a:p>
        </p:txBody>
      </p:sp>
      <p:graphicFrame>
        <p:nvGraphicFramePr>
          <p:cNvPr id="15" name="Table 14"/>
          <p:cNvGraphicFramePr>
            <a:graphicFrameLocks noGrp="1"/>
          </p:cNvGraphicFramePr>
          <p:nvPr/>
        </p:nvGraphicFramePr>
        <p:xfrm>
          <a:off x="324000" y="792000"/>
          <a:ext cx="8495997" cy="766800"/>
        </p:xfrm>
        <a:graphic>
          <a:graphicData uri="http://schemas.openxmlformats.org/drawingml/2006/table">
            <a:tbl>
              <a:tblPr firstRow="1" bandRow="1">
                <a:tableStyleId>{5C22544A-7EE6-4342-B048-85BDC9FD1C3A}</a:tableStyleId>
              </a:tblPr>
              <a:tblGrid>
                <a:gridCol w="2404528"/>
                <a:gridCol w="601132"/>
                <a:gridCol w="721358"/>
                <a:gridCol w="1122113"/>
                <a:gridCol w="1001886"/>
                <a:gridCol w="881660"/>
                <a:gridCol w="881660"/>
                <a:gridCol w="881660"/>
              </a:tblGrid>
              <a:tr h="153360">
                <a:tc>
                  <a:txBody>
                    <a:bodyPr/>
                    <a:lstStyle/>
                    <a:p>
                      <a:pPr algn="l"/>
                      <a:r>
                        <a:rPr sz="800" b="1">
                          <a:solidFill>
                            <a:srgbClr val="FFFFFF"/>
                          </a:solidFill>
                        </a:rPr>
                        <a:t>Sous-secteur</a:t>
                      </a:r>
                    </a:p>
                  </a:txBody>
                  <a:tcPr>
                    <a:solidFill>
                      <a:srgbClr val="1B3A6B"/>
                    </a:solidFill>
                  </a:tcPr>
                </a:tc>
                <a:tc>
                  <a:txBody>
                    <a:bodyPr/>
                    <a:lstStyle/>
                    <a:p>
                      <a:pPr algn="ctr"/>
                      <a:r>
                        <a:rPr sz="800" b="1">
                          <a:solidFill>
                            <a:srgbClr val="FFFFFF"/>
                          </a:solidFill>
                        </a:rPr>
                        <a:t>Nb</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Marge</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153360">
                <a:tc>
                  <a:txBody>
                    <a:bodyPr/>
                    <a:lstStyle/>
                    <a:p>
                      <a:pPr algn="l"/>
                      <a:r>
                        <a:rPr sz="800">
                          <a:solidFill>
                            <a:srgbClr val="1A1A1A"/>
                          </a:solidFill>
                        </a:rPr>
                        <a:t>Capital Markets</a:t>
                      </a:r>
                    </a:p>
                  </a:txBody>
                  <a:tcPr>
                    <a:solidFill>
                      <a:srgbClr val="F5F7FA"/>
                    </a:solidFill>
                  </a:tcPr>
                </a:tc>
                <a:tc>
                  <a:txBody>
                    <a:bodyPr/>
                    <a:lstStyle/>
                    <a:p>
                      <a:pPr algn="ctr"/>
                      <a:r>
                        <a:rPr sz="800">
                          <a:solidFill>
                            <a:srgbClr val="1A1A1A"/>
                          </a:solidFill>
                        </a:rPr>
                        <a:t>2</a:t>
                      </a:r>
                    </a:p>
                  </a:txBody>
                  <a:tcPr>
                    <a:solidFill>
                      <a:srgbClr val="F5F7FA"/>
                    </a:solidFill>
                  </a:tcPr>
                </a:tc>
                <a:tc>
                  <a:txBody>
                    <a:bodyPr/>
                    <a:lstStyle/>
                    <a:p>
                      <a:pPr algn="ctr"/>
                      <a:r>
                        <a:rPr sz="800">
                          <a:solidFill>
                            <a:srgbClr val="1A1A1A"/>
                          </a:solidFill>
                        </a:rPr>
                        <a:t>88</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+13.1%</a:t>
                      </a:r>
                    </a:p>
                  </a:txBody>
                  <a:tcPr>
                    <a:solidFill>
                      <a:srgbClr val="F5F7FA"/>
                    </a:solidFill>
                  </a:tcPr>
                </a:tc>
                <a:tc>
                  <a:txBody>
                    <a:bodyPr/>
                    <a:lstStyle/>
                    <a:p>
                      <a:pPr algn="ctr"/>
                      <a:r>
                        <a:rPr sz="800">
                          <a:solidFill>
                            <a:srgbClr val="1A1A1A"/>
                          </a:solidFill>
                        </a:rPr>
                        <a:t>+69.7%</a:t>
                      </a:r>
                    </a:p>
                  </a:txBody>
                  <a:tcPr>
                    <a:solidFill>
                      <a:srgbClr val="F5F7FA"/>
                    </a:solidFill>
                  </a:tcPr>
                </a:tc>
              </a:tr>
              <a:tr h="153360">
                <a:tc>
                  <a:txBody>
                    <a:bodyPr/>
                    <a:lstStyle/>
                    <a:p>
                      <a:pPr algn="l"/>
                      <a:r>
                        <a:rPr sz="800">
                          <a:solidFill>
                            <a:srgbClr val="1A1A1A"/>
                          </a:solidFill>
                        </a:rPr>
                        <a:t>Banks - Diversified</a:t>
                      </a:r>
                    </a:p>
                  </a:txBody>
                  <a:tcPr>
                    <a:solidFill>
                      <a:srgbClr val="FFFFFF"/>
                    </a:solidFill>
                  </a:tcPr>
                </a:tc>
                <a:tc>
                  <a:txBody>
                    <a:bodyPr/>
                    <a:lstStyle/>
                    <a:p>
                      <a:pPr algn="ctr"/>
                      <a:r>
                        <a:rPr sz="800">
                          <a:solidFill>
                            <a:srgbClr val="1A1A1A"/>
                          </a:solidFill>
                        </a:rPr>
                        <a:t>4</a:t>
                      </a:r>
                    </a:p>
                  </a:txBody>
                  <a:tcPr>
                    <a:solidFill>
                      <a:srgbClr val="FFFFFF"/>
                    </a:solidFill>
                  </a:tcPr>
                </a:tc>
                <a:tc>
                  <a:txBody>
                    <a:bodyPr/>
                    <a:lstStyle/>
                    <a:p>
                      <a:pPr algn="ctr"/>
                      <a:r>
                        <a:rPr sz="800">
                          <a:solidFill>
                            <a:srgbClr val="1A1A1A"/>
                          </a:solidFill>
                        </a:rPr>
                        <a:t>78</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a:t>
                      </a:r>
                    </a:p>
                  </a:txBody>
                  <a:tcPr>
                    <a:solidFill>
                      <a:srgbClr val="FFFFFF"/>
                    </a:solidFill>
                  </a:tcPr>
                </a:tc>
                <a:tc>
                  <a:txBody>
                    <a:bodyPr/>
                    <a:lstStyle/>
                    <a:p>
                      <a:pPr algn="ctr"/>
                      <a:r>
                        <a:rPr sz="800">
                          <a:solidFill>
                            <a:srgbClr val="1A1A1A"/>
                          </a:solidFill>
                        </a:rPr>
                        <a:t>—</a:t>
                      </a:r>
                    </a:p>
                  </a:txBody>
                  <a:tcPr>
                    <a:solidFill>
                      <a:srgbClr val="FFFFFF"/>
                    </a:solidFill>
                  </a:tcPr>
                </a:tc>
                <a:tc>
                  <a:txBody>
                    <a:bodyPr/>
                    <a:lstStyle/>
                    <a:p>
                      <a:pPr algn="ctr"/>
                      <a:r>
                        <a:rPr sz="800">
                          <a:solidFill>
                            <a:srgbClr val="1A1A1A"/>
                          </a:solidFill>
                        </a:rPr>
                        <a:t>+4.7%</a:t>
                      </a:r>
                    </a:p>
                  </a:txBody>
                  <a:tcPr>
                    <a:solidFill>
                      <a:srgbClr val="FFFFFF"/>
                    </a:solidFill>
                  </a:tcPr>
                </a:tc>
                <a:tc>
                  <a:txBody>
                    <a:bodyPr/>
                    <a:lstStyle/>
                    <a:p>
                      <a:pPr algn="ctr"/>
                      <a:r>
                        <a:rPr sz="800">
                          <a:solidFill>
                            <a:srgbClr val="1A1A1A"/>
                          </a:solidFill>
                        </a:rPr>
                        <a:t>+37.5%</a:t>
                      </a:r>
                    </a:p>
                  </a:txBody>
                  <a:tcPr>
                    <a:solidFill>
                      <a:srgbClr val="FFFFFF"/>
                    </a:solidFill>
                  </a:tcPr>
                </a:tc>
              </a:tr>
              <a:tr h="153360">
                <a:tc>
                  <a:txBody>
                    <a:bodyPr/>
                    <a:lstStyle/>
                    <a:p>
                      <a:pPr algn="l"/>
                      <a:r>
                        <a:rPr sz="800">
                          <a:solidFill>
                            <a:srgbClr val="1A1A1A"/>
                          </a:solidFill>
                        </a:rPr>
                        <a:t>Credit Services</a:t>
                      </a:r>
                    </a:p>
                  </a:txBody>
                  <a:tcPr>
                    <a:solidFill>
                      <a:srgbClr val="F5F7FA"/>
                    </a:solidFill>
                  </a:tcPr>
                </a:tc>
                <a:tc>
                  <a:txBody>
                    <a:bodyPr/>
                    <a:lstStyle/>
                    <a:p>
                      <a:pPr algn="ctr"/>
                      <a:r>
                        <a:rPr sz="800">
                          <a:solidFill>
                            <a:srgbClr val="1A1A1A"/>
                          </a:solidFill>
                        </a:rPr>
                        <a:t>1</a:t>
                      </a:r>
                    </a:p>
                  </a:txBody>
                  <a:tcPr>
                    <a:solidFill>
                      <a:srgbClr val="F5F7FA"/>
                    </a:solidFill>
                  </a:tcPr>
                </a:tc>
                <a:tc>
                  <a:txBody>
                    <a:bodyPr/>
                    <a:lstStyle/>
                    <a:p>
                      <a:pPr algn="ctr"/>
                      <a:r>
                        <a:rPr sz="800">
                          <a:solidFill>
                            <a:srgbClr val="1A1A1A"/>
                          </a:solidFill>
                        </a:rPr>
                        <a:t>76</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+10.6%</a:t>
                      </a:r>
                    </a:p>
                  </a:txBody>
                  <a:tcPr>
                    <a:solidFill>
                      <a:srgbClr val="F5F7FA"/>
                    </a:solidFill>
                  </a:tcPr>
                </a:tc>
                <a:tc>
                  <a:txBody>
                    <a:bodyPr/>
                    <a:lstStyle/>
                    <a:p>
                      <a:pPr algn="ctr"/>
                      <a:r>
                        <a:rPr sz="800">
                          <a:solidFill>
                            <a:srgbClr val="1A1A1A"/>
                          </a:solidFill>
                        </a:rPr>
                        <a:t>+25.6%</a:t>
                      </a:r>
                    </a:p>
                  </a:txBody>
                  <a:tcPr>
                    <a:solidFill>
                      <a:srgbClr val="F5F7FA"/>
                    </a:solidFill>
                  </a:tcPr>
                </a:tc>
              </a:tr>
              <a:tr h="153360">
                <a:tc>
                  <a:txBody>
                    <a:bodyPr/>
                    <a:lstStyle/>
                    <a:p>
                      <a:pPr algn="l"/>
                      <a:r>
                        <a:rPr sz="800">
                          <a:solidFill>
                            <a:srgbClr val="1A1A1A"/>
                          </a:solidFill>
                        </a:rPr>
                        <a:t>Asset Management</a:t>
                      </a:r>
                    </a:p>
                  </a:txBody>
                  <a:tcPr>
                    <a:solidFill>
                      <a:srgbClr val="FFFFFF"/>
                    </a:solidFill>
                  </a:tcPr>
                </a:tc>
                <a:tc>
                  <a:txBody>
                    <a:bodyPr/>
                    <a:lstStyle/>
                    <a:p>
                      <a:pPr algn="ctr"/>
                      <a:r>
                        <a:rPr sz="800">
                          <a:solidFill>
                            <a:srgbClr val="1A1A1A"/>
                          </a:solidFill>
                        </a:rPr>
                        <a:t>1</a:t>
                      </a:r>
                    </a:p>
                  </a:txBody>
                  <a:tcPr>
                    <a:solidFill>
                      <a:srgbClr val="FFFFFF"/>
                    </a:solidFill>
                  </a:tcPr>
                </a:tc>
                <a:tc>
                  <a:txBody>
                    <a:bodyPr/>
                    <a:lstStyle/>
                    <a:p>
                      <a:pPr algn="ctr"/>
                      <a:r>
                        <a:rPr sz="800">
                          <a:solidFill>
                            <a:srgbClr val="1A1A1A"/>
                          </a:solidFill>
                        </a:rPr>
                        <a:t>75</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17.1x</a:t>
                      </a:r>
                    </a:p>
                  </a:txBody>
                  <a:tcPr>
                    <a:solidFill>
                      <a:srgbClr val="FFFFFF"/>
                    </a:solidFill>
                  </a:tcPr>
                </a:tc>
                <a:tc>
                  <a:txBody>
                    <a:bodyPr/>
                    <a:lstStyle/>
                    <a:p>
                      <a:pPr algn="ctr"/>
                      <a:r>
                        <a:rPr sz="800">
                          <a:solidFill>
                            <a:srgbClr val="1A1A1A"/>
                          </a:solidFill>
                        </a:rPr>
                        <a:t>40.0%</a:t>
                      </a:r>
                    </a:p>
                  </a:txBody>
                  <a:tcPr>
                    <a:solidFill>
                      <a:srgbClr val="FFFFFF"/>
                    </a:solidFill>
                  </a:tcPr>
                </a:tc>
                <a:tc>
                  <a:txBody>
                    <a:bodyPr/>
                    <a:lstStyle/>
                    <a:p>
                      <a:pPr algn="ctr"/>
                      <a:r>
                        <a:rPr sz="800">
                          <a:solidFill>
                            <a:srgbClr val="1A1A1A"/>
                          </a:solidFill>
                        </a:rPr>
                        <a:t>+23.4%</a:t>
                      </a:r>
                    </a:p>
                  </a:txBody>
                  <a:tcPr>
                    <a:solidFill>
                      <a:srgbClr val="FFFFFF"/>
                    </a:solidFill>
                  </a:tcPr>
                </a:tc>
                <a:tc>
                  <a:txBody>
                    <a:bodyPr/>
                    <a:lstStyle/>
                    <a:p>
                      <a:pPr algn="ctr"/>
                      <a:r>
                        <a:rPr sz="800">
                          <a:solidFill>
                            <a:srgbClr val="1A1A1A"/>
                          </a:solidFill>
                        </a:rPr>
                        <a:t>+15.2%</a:t>
                      </a:r>
                    </a:p>
                  </a:txBody>
                  <a:tcPr>
                    <a:solidFill>
                      <a:srgbClr val="FFFFFF"/>
                    </a:solidFill>
                  </a:tcPr>
                </a:tc>
              </a:tr>
            </a:tbl>
          </a:graphicData>
        </a:graphic>
      </p:graphicFrame>
      <p:sp>
        <p:nvSpPr>
          <p:cNvPr id="16" name="Rectangle 15"/>
          <p:cNvSpPr/>
          <p:nvPr/>
        </p:nvSpPr>
        <p:spPr>
          <a:xfrm>
            <a:off x="324000" y="1792800"/>
            <a:ext cx="849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1839600"/>
            <a:ext cx="8352000" cy="162000"/>
          </a:xfrm>
          <a:prstGeom prst="rect">
            <a:avLst/>
          </a:prstGeom>
          <a:noFill/>
        </p:spPr>
        <p:txBody>
          <a:bodyPr wrap="square">
            <a:spAutoFit/>
          </a:bodyPr>
          <a:lstStyle/>
          <a:p>
            <a:pPr algn="l"/>
            <a:r>
              <a:rPr sz="1000" b="1" i="0">
                <a:solidFill>
                  <a:srgbClr val="FFFFFF"/>
                </a:solidFill>
              </a:rPr>
              <a:t>LEADERSHIP CAPITAL MARKETS — score 88/100</a:t>
            </a:r>
          </a:p>
        </p:txBody>
      </p:sp>
      <p:sp>
        <p:nvSpPr>
          <p:cNvPr id="18" name="Rectangle 17"/>
          <p:cNvSpPr/>
          <p:nvPr/>
        </p:nvSpPr>
        <p:spPr>
          <a:xfrm>
            <a:off x="324000" y="20808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20808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2134800"/>
            <a:ext cx="8424000" cy="1530000"/>
          </a:xfrm>
          <a:prstGeom prst="rect">
            <a:avLst/>
          </a:prstGeom>
          <a:noFill/>
        </p:spPr>
        <p:txBody>
          <a:bodyPr wrap="square">
            <a:spAutoFit/>
          </a:bodyPr>
          <a:lstStyle/>
          <a:p>
            <a:pPr algn="l"/>
            <a:r>
              <a:rPr sz="900" b="0" i="0">
                <a:solidFill>
                  <a:srgbClr val="555555"/>
                </a:solidFill>
              </a:rPr>
              <a:t>Le sous-segment Capital Markets ressort en tête du classement avec un score composite de 88/100 et un signal surpondérer, porté par 2 acteurs dont GS, MS. La valorisation médiane ressort sur des metriques de valorisation specifiques au secteur (ratios financiers) et une trajectoire top-line à +13.1% YoY. À l'inverse, Asset Management ferme la Marché (75/100, signal surpondérer), reflétant des fondamentaux sous pression ou une valorisation déjà tendue. L'écart de 13 points entre les extrêmes du classement justifie une approche sélective plutôt qu'une exposition beta uniforme au secteur. Cette cartographie guide le calibrage d'allocation sous-sectorielle : Surpondérer les segments avec score ≥ 60 et momentum positif, Sous-pondérer les segments avec marges compressees ou croissance negative, et conserver une exposition neutre aux segments en transition.</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Services Financiers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 </a:t>
                      </a:r>
                    </a:p>
                  </a:txBody>
                  <a:tcPr>
                    <a:noFill/>
                  </a:tcPr>
                </a:tc>
                <a:tc>
                  <a:txBody>
                    <a:bodyPr/>
                    <a:lstStyle/>
                    <a:p>
                      <a:pPr algn="ctr"/>
                      <a:r>
                        <a:rPr sz="750" b="0">
                          <a:solidFill>
                            <a:srgbClr val="1A1A1A"/>
                          </a:solidFill>
                        </a:rPr>
                        <a:t>90/100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890.79</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+15.2 %</a:t>
                      </a:r>
                    </a:p>
                  </a:txBody>
                  <a:tcPr>
                    <a:noFill/>
                  </a:tcPr>
                </a:tc>
                <a:tc>
                  <a:txBody>
                    <a:bodyPr/>
                    <a:lstStyle/>
                    <a:p>
                      <a:pPr algn="ctr"/>
                      <a:r>
                        <a:rPr sz="750" b="0">
                          <a:solidFill>
                            <a:srgbClr val="1A1A1A"/>
                          </a:solidFill>
                        </a:rPr>
                        <a:t>+75.4 %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MS</a:t>
                      </a:r>
                    </a:p>
                  </a:txBody>
                  <a:tcPr>
                    <a:solidFill>
                      <a:srgbClr val="F5F7FA"/>
                    </a:solidFill>
                  </a:tcPr>
                </a:tc>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86/100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181.14</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+11.0 %</a:t>
                      </a:r>
                    </a:p>
                  </a:txBody>
                  <a:tcPr>
                    <a:solidFill>
                      <a:srgbClr val="F5F7FA"/>
                    </a:solidFill>
                  </a:tcPr>
                </a:tc>
                <a:tc>
                  <a:txBody>
                    <a:bodyPr/>
                    <a:lstStyle/>
                    <a:p>
                      <a:pPr algn="ctr"/>
                      <a:r>
                        <a:rPr sz="750" b="0">
                          <a:solidFill>
                            <a:srgbClr val="1A1A1A"/>
                          </a:solidFill>
                        </a:rPr>
                        <a:t>+64.0 %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82/100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126.28</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+4.4 %</a:t>
                      </a:r>
                    </a:p>
                  </a:txBody>
                  <a:tcPr>
                    <a:noFill/>
                  </a:tcPr>
                </a:tc>
                <a:tc>
                  <a:txBody>
                    <a:bodyPr/>
                    <a:lstStyle/>
                    <a:p>
                      <a:pPr algn="ctr"/>
                      <a:r>
                        <a:rPr sz="750" b="0">
                          <a:solidFill>
                            <a:srgbClr val="1A1A1A"/>
                          </a:solidFill>
                        </a:rPr>
                        <a:t>+96.3 %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BAC</a:t>
                      </a:r>
                    </a:p>
                  </a:txBody>
                  <a:tcPr>
                    <a:solidFill>
                      <a:srgbClr val="F5F7FA"/>
                    </a:solidFill>
                  </a:tcPr>
                </a:tc>
                <a:tc>
                  <a:txBody>
                    <a:bodyPr/>
                    <a:lstStyle/>
                    <a:p>
                      <a:pPr algn="ctr"/>
                      <a:r>
                        <a:rPr sz="750" b="0">
                          <a:solidFill>
                            <a:srgbClr val="1A1A1A"/>
                          </a:solidFill>
                        </a:rPr>
                        <a:t>Bank of America Corporati</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53.35</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+7.2 %</a:t>
                      </a:r>
                    </a:p>
                  </a:txBody>
                  <a:tcPr>
                    <a:solidFill>
                      <a:srgbClr val="F5F7FA"/>
                    </a:solidFill>
                  </a:tcPr>
                </a:tc>
                <a:tc>
                  <a:txBody>
                    <a:bodyPr/>
                    <a:lstStyle/>
                    <a:p>
                      <a:pPr algn="ctr"/>
                      <a:r>
                        <a:rPr sz="750" b="0">
                          <a:solidFill>
                            <a:srgbClr val="1A1A1A"/>
                          </a:solidFill>
                        </a:rPr>
                        <a:t>+40.4 %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77/100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86.64</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+34.2 %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AXP</a:t>
                      </a:r>
                    </a:p>
                  </a:txBody>
                  <a:tcPr>
                    <a:solidFill>
                      <a:srgbClr val="F5F7FA"/>
                    </a:solidFill>
                  </a:tcPr>
                </a:tc>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323.82</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+10.6 %</a:t>
                      </a:r>
                    </a:p>
                  </a:txBody>
                  <a:tcPr>
                    <a:solidFill>
                      <a:srgbClr val="F5F7FA"/>
                    </a:solidFill>
                  </a:tcPr>
                </a:tc>
                <a:tc>
                  <a:txBody>
                    <a:bodyPr/>
                    <a:lstStyle/>
                    <a:p>
                      <a:pPr algn="ctr"/>
                      <a:r>
                        <a:rPr sz="750" b="0">
                          <a:solidFill>
                            <a:srgbClr val="1A1A1A"/>
                          </a:solidFill>
                        </a:rPr>
                        <a:t>+25.6 %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1023.65</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+23.4 %</a:t>
                      </a:r>
                    </a:p>
                  </a:txBody>
                  <a:tcPr>
                    <a:noFill/>
                  </a:tcPr>
                </a:tc>
                <a:tc>
                  <a:txBody>
                    <a:bodyPr/>
                    <a:lstStyle/>
                    <a:p>
                      <a:pPr algn="ctr"/>
                      <a:r>
                        <a:rPr sz="750" b="0">
                          <a:solidFill>
                            <a:srgbClr val="1A1A1A"/>
                          </a:solidFill>
                        </a:rPr>
                        <a:t>+15.2 %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JPM</a:t>
                      </a:r>
                    </a:p>
                  </a:txBody>
                  <a:tcPr>
                    <a:solidFill>
                      <a:srgbClr val="F5F7FA"/>
                    </a:solidFill>
                  </a:tcPr>
                </a:tc>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313.68</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+2.5 %</a:t>
                      </a:r>
                    </a:p>
                  </a:txBody>
                  <a:tcPr>
                    <a:solidFill>
                      <a:srgbClr val="F5F7FA"/>
                    </a:solidFill>
                  </a:tcPr>
                </a:tc>
                <a:tc>
                  <a:txBody>
                    <a:bodyPr/>
                    <a:lstStyle/>
                    <a:p>
                      <a:pPr algn="ctr"/>
                      <a:r>
                        <a:rPr sz="750" b="0">
                          <a:solidFill>
                            <a:srgbClr val="1A1A1A"/>
                          </a:solidFill>
                        </a:rPr>
                        <a:t>+34.6 %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Services Financiers — 8 BUY / 0 HOLD / 0 SELL · The Goldman Sachs Grou en tête (90/100)</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Services Financiers présente 8 BUY / 0 HOLD / 0 SELL sur 8 valeurs analysées. The Goldman Sachs Grou (score 90/100) constitue le coeur offensif recommande — fondamentaux solides et visibilité supérieure sur les revenus. La répartition des recommandations reflète un positionnément selectif cohérent avec la phase sectorielle actuelle. Les catalyseurs identifies — résultats trimestriels, guidance annuel, opérations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Médiane (opportunité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Médiane sectorielle : 17.1x. Les barres vertes sous cette ligne sont les candidats privilegies a analyser via Analyse Société individuelle (DCF, WACC, scénarios).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 </a:t>
                      </a:r>
                    </a:p>
                  </a:txBody>
                  <a:tcPr>
                    <a:noFill/>
                  </a:tcPr>
                </a:tc>
                <a:tc>
                  <a:txBody>
                    <a:bodyPr/>
                    <a:lstStyle/>
                    <a:p>
                      <a:pPr algn="ctr"/>
                      <a:r>
                        <a:rPr sz="750" b="0">
                          <a:solidFill>
                            <a:srgbClr val="1A1A1A"/>
                          </a:solidFill>
                        </a:rPr>
                        <a:t>90/100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23</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MS</a:t>
                      </a:r>
                    </a:p>
                  </a:txBody>
                  <a:tcPr>
                    <a:noFill/>
                  </a:tcPr>
                </a:tc>
                <a:tc>
                  <a:txBody>
                    <a:bodyPr/>
                    <a:lstStyle/>
                    <a:p>
                      <a:pPr algn="ctr"/>
                      <a:r>
                        <a:rPr sz="750" b="0">
                          <a:solidFill>
                            <a:srgbClr val="1A1A1A"/>
                          </a:solidFill>
                        </a:rPr>
                        <a:t>Morgan Stanley</a:t>
                      </a:r>
                    </a:p>
                  </a:txBody>
                  <a:tcPr>
                    <a:noFill/>
                  </a:tcPr>
                </a:tc>
                <a:tc>
                  <a:txBody>
                    <a:bodyPr/>
                    <a:lstStyle/>
                    <a:p>
                      <a:pPr algn="ctr"/>
                      <a:r>
                        <a:rPr sz="750" b="0">
                          <a:solidFill>
                            <a:srgbClr val="1A1A1A"/>
                          </a:solidFill>
                        </a:rPr>
                        <a:t>86/100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23</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21</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82/100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BAC</a:t>
                      </a:r>
                    </a:p>
                  </a:txBody>
                  <a:tcPr>
                    <a:noFill/>
                  </a:tcPr>
                </a:tc>
                <a:tc>
                  <a:txBody>
                    <a:bodyPr/>
                    <a:lstStyle/>
                    <a:p>
                      <a:pPr algn="ctr"/>
                      <a:r>
                        <a:rPr sz="750" b="0">
                          <a:solidFill>
                            <a:srgbClr val="1A1A1A"/>
                          </a:solidFill>
                        </a:rPr>
                        <a:t>Bank of America Corporati</a:t>
                      </a:r>
                    </a:p>
                  </a:txBody>
                  <a:tcPr>
                    <a:noFill/>
                  </a:tcPr>
                </a:tc>
                <a:tc>
                  <a:txBody>
                    <a:bodyPr/>
                    <a:lstStyle/>
                    <a:p>
                      <a:pPr algn="ctr"/>
                      <a:r>
                        <a:rPr sz="750" b="0">
                          <a:solidFill>
                            <a:srgbClr val="1A1A1A"/>
                          </a:solidFill>
                        </a:rPr>
                        <a:t>80/100</a:t>
                      </a:r>
                    </a:p>
                  </a:txBody>
                  <a:tcPr>
                    <a:noFill/>
                  </a:tcPr>
                </a:tc>
                <a:tc>
                  <a:txBody>
                    <a:bodyPr/>
                    <a:lstStyle/>
                    <a:p>
                      <a:pPr algn="ctr"/>
                      <a:r>
                        <a:rPr sz="750" b="1">
                          <a:solidFill>
                            <a:srgbClr val="A82020"/>
                          </a:solidFill>
                        </a:rPr>
                        <a:t>18</a:t>
                      </a:r>
                    </a:p>
                  </a:txBody>
                  <a:tcPr>
                    <a:solidFill>
                      <a:srgbClr val="FFEBEE"/>
                    </a:solidFill>
                  </a:tcPr>
                </a:tc>
                <a:tc>
                  <a:txBody>
                    <a:bodyPr/>
                    <a:lstStyle/>
                    <a:p>
                      <a:pPr algn="ctr"/>
                      <a:r>
                        <a:rPr sz="750" b="1">
                          <a:solidFill>
                            <a:srgbClr val="A82020"/>
                          </a:solidFill>
                        </a:rPr>
                        <a:t>19</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18</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77/100</a:t>
                      </a:r>
                    </a:p>
                  </a:txBody>
                  <a:tcPr>
                    <a:noFill/>
                  </a:tcPr>
                </a:tc>
                <a:tc>
                  <a:txBody>
                    <a:bodyPr/>
                    <a:lstStyle/>
                    <a:p>
                      <a:pPr algn="ctr"/>
                      <a:r>
                        <a:rPr sz="750" b="1">
                          <a:solidFill>
                            <a:srgbClr val="A82020"/>
                          </a:solidFill>
                        </a:rPr>
                        <a:t>18</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AXP</a:t>
                      </a:r>
                    </a:p>
                  </a:txBody>
                  <a:tcPr>
                    <a:noFill/>
                  </a:tcPr>
                </a:tc>
                <a:tc>
                  <a:txBody>
                    <a:bodyPr/>
                    <a:lstStyle/>
                    <a:p>
                      <a:pPr algn="ctr"/>
                      <a:r>
                        <a:rPr sz="750" b="0">
                          <a:solidFill>
                            <a:srgbClr val="1A1A1A"/>
                          </a:solidFill>
                        </a:rPr>
                        <a:t>American Express Company</a:t>
                      </a:r>
                    </a:p>
                  </a:txBody>
                  <a:tcPr>
                    <a:noFill/>
                  </a:tcPr>
                </a:tc>
                <a:tc>
                  <a:txBody>
                    <a:bodyPr/>
                    <a:lstStyle/>
                    <a:p>
                      <a:pPr algn="ctr"/>
                      <a:r>
                        <a:rPr sz="750" b="0">
                          <a:solidFill>
                            <a:srgbClr val="1A1A1A"/>
                          </a:solidFill>
                        </a:rPr>
                        <a:t>76/100</a:t>
                      </a:r>
                    </a:p>
                  </a:txBody>
                  <a:tcPr>
                    <a:no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1">
                          <a:solidFill>
                            <a:srgbClr val="A82020"/>
                          </a:solidFill>
                        </a:rPr>
                        <a:t>15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75/100</a:t>
                      </a:r>
                    </a:p>
                  </a:txBody>
                  <a:tcPr>
                    <a:no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14</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JPM</a:t>
                      </a:r>
                    </a:p>
                  </a:txBody>
                  <a:tcPr>
                    <a:noFill/>
                  </a:tcPr>
                </a:tc>
                <a:tc>
                  <a:txBody>
                    <a:bodyPr/>
                    <a:lstStyle/>
                    <a:p>
                      <a:pPr algn="ctr"/>
                      <a:r>
                        <a:rPr sz="750" b="0">
                          <a:solidFill>
                            <a:srgbClr val="1A1A1A"/>
                          </a:solidFill>
                        </a:rPr>
                        <a:t>JPMorgan Chase &amp; Co.</a:t>
                      </a:r>
                    </a:p>
                  </a:txBody>
                  <a:tcPr>
                    <a:noFill/>
                  </a:tcPr>
                </a:tc>
                <a:tc>
                  <a:txBody>
                    <a:bodyPr/>
                    <a:lstStyle/>
                    <a:p>
                      <a:pPr algn="ctr"/>
                      <a:r>
                        <a:rPr sz="750" b="0">
                          <a:solidFill>
                            <a:srgbClr val="1A1A1A"/>
                          </a:solidFill>
                        </a:rPr>
                        <a:t>74/100</a:t>
                      </a:r>
                    </a:p>
                  </a:txBody>
                  <a:tcPr>
                    <a:no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0">
                          <a:solidFill>
                            <a:srgbClr val="1A1A1A"/>
                          </a:solidFill>
                        </a:rPr>
                        <a:t>BUY</a:t>
                      </a:r>
                    </a:p>
                  </a:txBody>
                  <a:tcPr>
                    <a:no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SYNTHÈSE SCORES  ·  Score &gt;= 75 = fort  ·  50-74 = moyen  ·  &lt; 50 = faible  ·  Pondérations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The Goldman Sachs Group,  présente le profil le plus équilibre du secteur (90/100) avec des scores Value=16, Growth=25, Quality=25, Momentum=23. La dispersion des scores entre les 8 sociétés Reflète des profils hétérogènes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Sociétés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GS</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The Goldman Sachs Gr</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1069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P/E</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16.3x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P/B</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2.5x</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ROE</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13.9 %</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La Fed pourrait assouplir sa politique plus tôt que prévu, soutenant les marges des banques via une courbe des taux plus pentue.</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Un ralentissement économique pourrait dégrader la qualité des actifs et peser sur les provisions pour pertes.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MS</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Morgan Stanley</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217</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P/E</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17.7x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P/B</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2.8x</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ROE</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15.6 %</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Une reprise de la volatilité des marchés actions et obligataires stimulerait les revenus de trading et de gestion d'actifs.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La pression concurrentielle des fintechs et des néobanques menace les parts de marché des acteurs traditionnels.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C</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Citigroup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152</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P/E</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18.0x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P/B</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1.1x</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ROE</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6.8 %</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réformes bancaires aux États-Unis pourraient réduire les coûts de conformité pour les acteurs majeurs comme GS et MS.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Des changements réglementaires défavorables pourraient alourdir les coûts opérationnels des banques.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société vs médiane sectorielle (17.1x)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homogene — 0 acteur(s) se detachent nettement du reste du secteur, creant une prime de valorisation significative vs la médiane de 17.1x.
0 société(s) se traitent sous la médiane — potentiellement les meilleures asymétries risque/rendement sous reserve de catalyseurs fondamentaux.
La dispersion des multiples est caractéristique d'un secteur Services Financiers en phase de différentiation — les investisseurs selectifs peuvent exploiter cet Écart.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a:t>
                      </a:r>
                    </a:p>
                  </a:txBody>
                  <a:tcPr>
                    <a:noFill/>
                  </a:tcPr>
                </a:tc>
                <a:tc>
                  <a:txBody>
                    <a:bodyPr/>
                    <a:lstStyle/>
                    <a:p>
                      <a:pPr algn="ctr"/>
                      <a:r>
                        <a:rPr sz="750" b="0">
                          <a:solidFill>
                            <a:srgbClr val="1A1A1A"/>
                          </a:solidFill>
                        </a:rPr>
                        <a:t>890.79</a:t>
                      </a:r>
                    </a:p>
                  </a:txBody>
                  <a:tcPr>
                    <a:noFill/>
                  </a:tcPr>
                </a:tc>
                <a:tc>
                  <a:txBody>
                    <a:bodyPr/>
                    <a:lstStyle/>
                    <a:p>
                      <a:pPr algn="ctr"/>
                      <a:r>
                        <a:rPr sz="750" b="0">
                          <a:solidFill>
                            <a:srgbClr val="1A1A1A"/>
                          </a:solidFill>
                        </a:rPr>
                        <a:t>1024.4</a:t>
                      </a:r>
                    </a:p>
                  </a:txBody>
                  <a:tcPr>
                    <a:noFill/>
                  </a:tcPr>
                </a:tc>
                <a:tc>
                  <a:txBody>
                    <a:bodyPr/>
                    <a:lstStyle/>
                    <a:p>
                      <a:pPr algn="ctr"/>
                      <a:r>
                        <a:rPr sz="750" b="0">
                          <a:solidFill>
                            <a:srgbClr val="1A1A1A"/>
                          </a:solidFill>
                        </a:rPr>
                        <a:t>&lt; 846.3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MS</a:t>
                      </a:r>
                    </a:p>
                  </a:txBody>
                  <a:tcPr>
                    <a:solidFill>
                      <a:srgbClr val="F5F7FA"/>
                    </a:solidFill>
                  </a:tcPr>
                </a:tc>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181.14</a:t>
                      </a:r>
                    </a:p>
                  </a:txBody>
                  <a:tcPr>
                    <a:solidFill>
                      <a:srgbClr val="F5F7FA"/>
                    </a:solidFill>
                  </a:tcPr>
                </a:tc>
                <a:tc>
                  <a:txBody>
                    <a:bodyPr/>
                    <a:lstStyle/>
                    <a:p>
                      <a:pPr algn="ctr"/>
                      <a:r>
                        <a:rPr sz="750" b="0">
                          <a:solidFill>
                            <a:srgbClr val="1A1A1A"/>
                          </a:solidFill>
                        </a:rPr>
                        <a:t>208.3</a:t>
                      </a:r>
                    </a:p>
                  </a:txBody>
                  <a:tcPr>
                    <a:solidFill>
                      <a:srgbClr val="F5F7FA"/>
                    </a:solidFill>
                  </a:tcPr>
                </a:tc>
                <a:tc>
                  <a:txBody>
                    <a:bodyPr/>
                    <a:lstStyle/>
                    <a:p>
                      <a:pPr algn="ctr"/>
                      <a:r>
                        <a:rPr sz="750" b="0">
                          <a:solidFill>
                            <a:srgbClr val="1A1A1A"/>
                          </a:solidFill>
                        </a:rPr>
                        <a:t>&lt; 172.1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126.28</a:t>
                      </a:r>
                    </a:p>
                  </a:txBody>
                  <a:tcPr>
                    <a:noFill/>
                  </a:tcPr>
                </a:tc>
                <a:tc>
                  <a:txBody>
                    <a:bodyPr/>
                    <a:lstStyle/>
                    <a:p>
                      <a:pPr algn="ctr"/>
                      <a:r>
                        <a:rPr sz="750" b="0">
                          <a:solidFill>
                            <a:srgbClr val="1A1A1A"/>
                          </a:solidFill>
                        </a:rPr>
                        <a:t>145.2</a:t>
                      </a:r>
                    </a:p>
                  </a:txBody>
                  <a:tcPr>
                    <a:noFill/>
                  </a:tcPr>
                </a:tc>
                <a:tc>
                  <a:txBody>
                    <a:bodyPr/>
                    <a:lstStyle/>
                    <a:p>
                      <a:pPr algn="ctr"/>
                      <a:r>
                        <a:rPr sz="750" b="0">
                          <a:solidFill>
                            <a:srgbClr val="1A1A1A"/>
                          </a:solidFill>
                        </a:rPr>
                        <a:t>&lt; 120.0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BAC</a:t>
                      </a:r>
                    </a:p>
                  </a:txBody>
                  <a:tcPr>
                    <a:solidFill>
                      <a:srgbClr val="F5F7FA"/>
                    </a:solidFill>
                  </a:tcPr>
                </a:tc>
                <a:tc>
                  <a:txBody>
                    <a:bodyPr/>
                    <a:lstStyle/>
                    <a:p>
                      <a:pPr algn="ctr"/>
                      <a:r>
                        <a:rPr sz="750" b="0">
                          <a:solidFill>
                            <a:srgbClr val="1A1A1A"/>
                          </a:solidFill>
                        </a:rPr>
                        <a:t>Bank of America Corporat</a:t>
                      </a:r>
                    </a:p>
                  </a:txBody>
                  <a:tcPr>
                    <a:solidFill>
                      <a:srgbClr val="F5F7FA"/>
                    </a:solidFill>
                  </a:tcPr>
                </a:tc>
                <a:tc>
                  <a:txBody>
                    <a:bodyPr/>
                    <a:lstStyle/>
                    <a:p>
                      <a:pPr algn="ctr"/>
                      <a:r>
                        <a:rPr sz="750" b="0">
                          <a:solidFill>
                            <a:srgbClr val="1A1A1A"/>
                          </a:solidFill>
                        </a:rPr>
                        <a:t>53.35</a:t>
                      </a:r>
                    </a:p>
                  </a:txBody>
                  <a:tcPr>
                    <a:solidFill>
                      <a:srgbClr val="F5F7FA"/>
                    </a:solidFill>
                  </a:tcPr>
                </a:tc>
                <a:tc>
                  <a:txBody>
                    <a:bodyPr/>
                    <a:lstStyle/>
                    <a:p>
                      <a:pPr algn="ctr"/>
                      <a:r>
                        <a:rPr sz="750" b="0">
                          <a:solidFill>
                            <a:srgbClr val="1A1A1A"/>
                          </a:solidFill>
                        </a:rPr>
                        <a:t>61.4</a:t>
                      </a:r>
                    </a:p>
                  </a:txBody>
                  <a:tcPr>
                    <a:solidFill>
                      <a:srgbClr val="F5F7FA"/>
                    </a:solidFill>
                  </a:tcPr>
                </a:tc>
                <a:tc>
                  <a:txBody>
                    <a:bodyPr/>
                    <a:lstStyle/>
                    <a:p>
                      <a:pPr algn="ctr"/>
                      <a:r>
                        <a:rPr sz="750" b="0">
                          <a:solidFill>
                            <a:srgbClr val="1A1A1A"/>
                          </a:solidFill>
                        </a:rPr>
                        <a:t>&lt; 50.7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86.64</a:t>
                      </a:r>
                    </a:p>
                  </a:txBody>
                  <a:tcPr>
                    <a:noFill/>
                  </a:tcPr>
                </a:tc>
                <a:tc>
                  <a:txBody>
                    <a:bodyPr/>
                    <a:lstStyle/>
                    <a:p>
                      <a:pPr algn="ctr"/>
                      <a:r>
                        <a:rPr sz="750" b="0">
                          <a:solidFill>
                            <a:srgbClr val="1A1A1A"/>
                          </a:solidFill>
                        </a:rPr>
                        <a:t>99.6</a:t>
                      </a:r>
                    </a:p>
                  </a:txBody>
                  <a:tcPr>
                    <a:noFill/>
                  </a:tcPr>
                </a:tc>
                <a:tc>
                  <a:txBody>
                    <a:bodyPr/>
                    <a:lstStyle/>
                    <a:p>
                      <a:pPr algn="ctr"/>
                      <a:r>
                        <a:rPr sz="750" b="0">
                          <a:solidFill>
                            <a:srgbClr val="1A1A1A"/>
                          </a:solidFill>
                        </a:rPr>
                        <a:t>&lt; 82.3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AXP</a:t>
                      </a:r>
                    </a:p>
                  </a:txBody>
                  <a:tcPr>
                    <a:solidFill>
                      <a:srgbClr val="F5F7FA"/>
                    </a:solidFill>
                  </a:tcPr>
                </a:tc>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323.82</a:t>
                      </a:r>
                    </a:p>
                  </a:txBody>
                  <a:tcPr>
                    <a:solidFill>
                      <a:srgbClr val="F5F7FA"/>
                    </a:solidFill>
                  </a:tcPr>
                </a:tc>
                <a:tc>
                  <a:txBody>
                    <a:bodyPr/>
                    <a:lstStyle/>
                    <a:p>
                      <a:pPr algn="ctr"/>
                      <a:r>
                        <a:rPr sz="750" b="0">
                          <a:solidFill>
                            <a:srgbClr val="1A1A1A"/>
                          </a:solidFill>
                        </a:rPr>
                        <a:t>372.4</a:t>
                      </a:r>
                    </a:p>
                  </a:txBody>
                  <a:tcPr>
                    <a:solidFill>
                      <a:srgbClr val="F5F7FA"/>
                    </a:solidFill>
                  </a:tcPr>
                </a:tc>
                <a:tc>
                  <a:txBody>
                    <a:bodyPr/>
                    <a:lstStyle/>
                    <a:p>
                      <a:pPr algn="ctr"/>
                      <a:r>
                        <a:rPr sz="750" b="0">
                          <a:solidFill>
                            <a:srgbClr val="1A1A1A"/>
                          </a:solidFill>
                        </a:rPr>
                        <a:t>&lt; 307.6</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1023.65</a:t>
                      </a:r>
                    </a:p>
                  </a:txBody>
                  <a:tcPr>
                    <a:noFill/>
                  </a:tcPr>
                </a:tc>
                <a:tc>
                  <a:txBody>
                    <a:bodyPr/>
                    <a:lstStyle/>
                    <a:p>
                      <a:pPr algn="ctr"/>
                      <a:r>
                        <a:rPr sz="750" b="0">
                          <a:solidFill>
                            <a:srgbClr val="1A1A1A"/>
                          </a:solidFill>
                        </a:rPr>
                        <a:t>1177.2</a:t>
                      </a:r>
                    </a:p>
                  </a:txBody>
                  <a:tcPr>
                    <a:noFill/>
                  </a:tcPr>
                </a:tc>
                <a:tc>
                  <a:txBody>
                    <a:bodyPr/>
                    <a:lstStyle/>
                    <a:p>
                      <a:pPr algn="ctr"/>
                      <a:r>
                        <a:rPr sz="750" b="0">
                          <a:solidFill>
                            <a:srgbClr val="1A1A1A"/>
                          </a:solidFill>
                        </a:rPr>
                        <a:t>&lt; 972.5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JPM</a:t>
                      </a:r>
                    </a:p>
                  </a:txBody>
                  <a:tcPr>
                    <a:solidFill>
                      <a:srgbClr val="F5F7FA"/>
                    </a:solidFill>
                  </a:tcPr>
                </a:tc>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313.68</a:t>
                      </a:r>
                    </a:p>
                  </a:txBody>
                  <a:tcPr>
                    <a:solidFill>
                      <a:srgbClr val="F5F7FA"/>
                    </a:solidFill>
                  </a:tcPr>
                </a:tc>
                <a:tc>
                  <a:txBody>
                    <a:bodyPr/>
                    <a:lstStyle/>
                    <a:p>
                      <a:pPr algn="ctr"/>
                      <a:r>
                        <a:rPr sz="750" b="0">
                          <a:solidFill>
                            <a:srgbClr val="1A1A1A"/>
                          </a:solidFill>
                        </a:rPr>
                        <a:t>360.7</a:t>
                      </a:r>
                    </a:p>
                  </a:txBody>
                  <a:tcPr>
                    <a:solidFill>
                      <a:srgbClr val="F5F7FA"/>
                    </a:solidFill>
                  </a:tcPr>
                </a:tc>
                <a:tc>
                  <a:txBody>
                    <a:bodyPr/>
                    <a:lstStyle/>
                    <a:p>
                      <a:pPr algn="ctr"/>
                      <a:r>
                        <a:rPr sz="750" b="0">
                          <a:solidFill>
                            <a:srgbClr val="1A1A1A"/>
                          </a:solidFill>
                        </a:rPr>
                        <a:t>&lt; 298.0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probabilité de rendement positif a 12 mois est calculée sur des configurations similaires identifiees en backtesting sur Données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Risque de crédit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Un ralentissement économique pourrait dégrader la qualité des actifs et peser sur les provisions pour pertes.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La pression concurrentielle des fintechs et des néobanques menace les parts de marché des acteurs traditionnels.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Réglementation</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Des changements réglementaires défavorables pourraient alourdir les coûts opérationnels des banques.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Récession confirmee — 2 trimestrès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65 — dégradation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Révision baissière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financière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Médian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4.4%</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Médian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Génération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78/100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santé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solidité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Politique monétaire — La Fed pourrait assouplir sa politique plus tôt que prévu, soutenant les marges des</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Risque de crédit — Un ralentissement économique pourrait dégrader la qualité des actifs et peser sur les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Services Financiers (S&amp;P 500) ressort neutre (0.00), avec 25% d'articles a tonalité positive sur 8 analysés. La dispersion inter-valeurs est prononcée : JPM (+0.00) Porté la composanté haussière tandis que BLK (+0.00) reflète les pressions structurelles. Cette hétérogénéité valide une approche sélective plutôt que directionnelle sur le secteur — le sentiment moyen masque des situations fondamentalement différentes entre leaders et retardataires. La composanté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Boursière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Indexe a 100 au debut de la période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C  +96%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BLK  +15%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81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INTERPRÉTATION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création de valeur tandis que d'autrès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complète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