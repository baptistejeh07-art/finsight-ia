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Services Financiers</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17.1x  ·  Croissance med. : +8.9 %  ·  Marge EBITDA med. : 0.0 %  ·  Score moyen : 80/100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Résultats trimestriels solides</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Les publications récentes de GS, MS et C dépassent systématiquement les attentes du consensus, portées par des performances robustes en banque d'investissement et gestion d'actifs.</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Dynamique des fusions-acquisitions</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L'activité M&amp;A et levées de fonds reste soutenue, avec un pipeline robuste pour les 12 prochains mois, notamment dans les secteurs technologiques et énergétiques.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Politique monétaire accommodante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Les anticipations de baisses de taux de la Fed en 2024 soutiennent les valorisations des banques, en réduisant les coûts de financement et en stimulant la demande de crédit.</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Réglementation renforcée</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propositions de Bâle IV et les nouvelles règles Dodd-Frank pourraient alourdir les coûts opérationnels et limiter la rentabilité des activités de trading.</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Risque de crédit</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Un ralentissement économique prolongé ou une crise immobilière commerciale pourrait dégrader la qualité des actifs et peser sur les provisions.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Concurrence accrue</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L'émergence de fintechs et de néobanques intensifie la pression sur les marges des services bancaires traditionnels, notamment dans les paiements et la gestion de patrimoine.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Marché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+8.9 %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0.0 %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+37.5 %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Synthèse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positionnément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Caractéristiques structurelles &amp; métriques de référence</a:t>
            </a:r>
          </a:p>
        </p:txBody>
      </p:sp>
      <p:sp>
        <p:nvSpPr>
          <p:cNvPr id="15" name="Rectangle 14"/>
          <p:cNvSpPr/>
          <p:nvPr/>
        </p:nvSpPr>
        <p:spPr>
          <a:xfrm>
            <a:off x="324000" y="900000"/>
            <a:ext cx="4932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900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928800"/>
            <a:ext cx="4788000" cy="162000"/>
          </a:xfrm>
          <a:prstGeom prst="rect">
            <a:avLst/>
          </a:prstGeom>
          <a:noFill/>
        </p:spPr>
        <p:txBody>
          <a:bodyPr wrap="square">
            <a:spAutoFit/>
          </a:bodyPr>
          <a:lstStyle/>
          <a:p>
            <a:pPr algn="l"/>
            <a:r>
              <a:rPr sz="900" b="1" i="0">
                <a:solidFill>
                  <a:srgbClr val="FFFFFF"/>
                </a:solidFill>
              </a:rPr>
              <a:t>PANORAMA SECTORIEL</a:t>
            </a:r>
          </a:p>
        </p:txBody>
      </p:sp>
      <p:sp>
        <p:nvSpPr>
          <p:cNvPr id="19" name="TextBox 18"/>
          <p:cNvSpPr txBox="1"/>
          <p:nvPr/>
        </p:nvSpPr>
        <p:spPr>
          <a:xfrm>
            <a:off x="468000" y="1152000"/>
            <a:ext cx="4716000" cy="936000"/>
          </a:xfrm>
          <a:prstGeom prst="rect">
            <a:avLst/>
          </a:prstGeom>
          <a:noFill/>
        </p:spPr>
        <p:txBody>
          <a:bodyPr wrap="square">
            <a:spAutoFit/>
          </a:bodyPr>
          <a:lstStyle/>
          <a:p>
            <a:pPr algn="l"/>
            <a:r>
              <a:rPr sz="1000" b="0" i="0">
                <a:solidFill>
                  <a:srgbClr val="555555"/>
                </a:solidFill>
              </a:rPr>
              <a:t>Le secteur des Financial Services affiche une valorisation attractive avec un multiple EV/EBITDA médian de 17.1x, en ligne avec les fondamentaux de croissance et de rentabilité des grandes banques d'investissement américaines. La stabilité des marges EBITDA à 0.0% reflète une discipline opérationnelle malgré un environnement de taux volatil et des pressions réglementaires persistantes.</a:t>
            </a:r>
          </a:p>
        </p:txBody>
      </p:sp>
      <p:sp>
        <p:nvSpPr>
          <p:cNvPr id="20" name="Rectangle 19"/>
          <p:cNvSpPr/>
          <p:nvPr/>
        </p:nvSpPr>
        <p:spPr>
          <a:xfrm>
            <a:off x="324000" y="2268000"/>
            <a:ext cx="4932000" cy="23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4000" y="2268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2296800"/>
            <a:ext cx="4788000" cy="162000"/>
          </a:xfrm>
          <a:prstGeom prst="rect">
            <a:avLst/>
          </a:prstGeom>
          <a:noFill/>
        </p:spPr>
        <p:txBody>
          <a:bodyPr wrap="square">
            <a:spAutoFit/>
          </a:bodyPr>
          <a:lstStyle/>
          <a:p>
            <a:pPr algn="l"/>
            <a:r>
              <a:rPr sz="900" b="1" i="0">
                <a:solidFill>
                  <a:srgbClr val="FFFFFF"/>
                </a:solidFill>
              </a:rPr>
              <a:t>CATALYSEURS CLÉS</a:t>
            </a:r>
          </a:p>
        </p:txBody>
      </p:sp>
      <p:sp>
        <p:nvSpPr>
          <p:cNvPr id="23" name="Rectangle 22"/>
          <p:cNvSpPr/>
          <p:nvPr/>
        </p:nvSpPr>
        <p:spPr>
          <a:xfrm>
            <a:off x="396000" y="2520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2538000"/>
            <a:ext cx="4680000" cy="162000"/>
          </a:xfrm>
          <a:prstGeom prst="rect">
            <a:avLst/>
          </a:prstGeom>
          <a:noFill/>
        </p:spPr>
        <p:txBody>
          <a:bodyPr wrap="square">
            <a:spAutoFit/>
          </a:bodyPr>
          <a:lstStyle/>
          <a:p>
            <a:pPr algn="l"/>
            <a:r>
              <a:rPr sz="1000" b="1" i="0">
                <a:solidFill>
                  <a:srgbClr val="1B3A6B"/>
                </a:solidFill>
              </a:rPr>
              <a:t>Résultats trimestriels solides</a:t>
            </a:r>
          </a:p>
        </p:txBody>
      </p:sp>
      <p:sp>
        <p:nvSpPr>
          <p:cNvPr id="25" name="TextBox 24"/>
          <p:cNvSpPr txBox="1"/>
          <p:nvPr/>
        </p:nvSpPr>
        <p:spPr>
          <a:xfrm>
            <a:off x="503999" y="2718000"/>
            <a:ext cx="4680000" cy="450000"/>
          </a:xfrm>
          <a:prstGeom prst="rect">
            <a:avLst/>
          </a:prstGeom>
          <a:noFill/>
        </p:spPr>
        <p:txBody>
          <a:bodyPr wrap="square">
            <a:spAutoFit/>
          </a:bodyPr>
          <a:lstStyle/>
          <a:p>
            <a:pPr algn="l"/>
            <a:r>
              <a:rPr sz="900" b="0" i="0">
                <a:solidFill>
                  <a:srgbClr val="555555"/>
                </a:solidFill>
              </a:rPr>
              <a:t>Les publications récentes de GS, MS et C dépassent systématiquement les attentes du consensus, portées par des performances robustes en banque d'investissement et gestion d'actifs.</a:t>
            </a:r>
          </a:p>
        </p:txBody>
      </p:sp>
      <p:sp>
        <p:nvSpPr>
          <p:cNvPr id="26" name="Rectangle 25"/>
          <p:cNvSpPr/>
          <p:nvPr/>
        </p:nvSpPr>
        <p:spPr>
          <a:xfrm>
            <a:off x="396000" y="3221999"/>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3999" y="3240000"/>
            <a:ext cx="4680000" cy="162000"/>
          </a:xfrm>
          <a:prstGeom prst="rect">
            <a:avLst/>
          </a:prstGeom>
          <a:noFill/>
        </p:spPr>
        <p:txBody>
          <a:bodyPr wrap="square">
            <a:spAutoFit/>
          </a:bodyPr>
          <a:lstStyle/>
          <a:p>
            <a:pPr algn="l"/>
            <a:r>
              <a:rPr sz="1000" b="1" i="0">
                <a:solidFill>
                  <a:srgbClr val="1B3A6B"/>
                </a:solidFill>
              </a:rPr>
              <a:t>Dynamique des fusions-acquisitions</a:t>
            </a:r>
          </a:p>
        </p:txBody>
      </p:sp>
      <p:sp>
        <p:nvSpPr>
          <p:cNvPr id="28" name="TextBox 27"/>
          <p:cNvSpPr txBox="1"/>
          <p:nvPr/>
        </p:nvSpPr>
        <p:spPr>
          <a:xfrm>
            <a:off x="503999" y="3420000"/>
            <a:ext cx="4680000" cy="450000"/>
          </a:xfrm>
          <a:prstGeom prst="rect">
            <a:avLst/>
          </a:prstGeom>
          <a:noFill/>
        </p:spPr>
        <p:txBody>
          <a:bodyPr wrap="square">
            <a:spAutoFit/>
          </a:bodyPr>
          <a:lstStyle/>
          <a:p>
            <a:pPr algn="l"/>
            <a:r>
              <a:rPr sz="900" b="0" i="0">
                <a:solidFill>
                  <a:srgbClr val="555555"/>
                </a:solidFill>
              </a:rPr>
              <a:t>L'activité M&amp;A et levées de fonds reste soutenue, avec un pipeline robuste pour les 12 prochains mois, notamment dans les secteurs technologiques et énergétiques.</a:t>
            </a:r>
          </a:p>
        </p:txBody>
      </p:sp>
      <p:sp>
        <p:nvSpPr>
          <p:cNvPr id="29" name="Rectangle 28"/>
          <p:cNvSpPr/>
          <p:nvPr/>
        </p:nvSpPr>
        <p:spPr>
          <a:xfrm>
            <a:off x="396000" y="3924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3999" y="3942000"/>
            <a:ext cx="4680000" cy="162000"/>
          </a:xfrm>
          <a:prstGeom prst="rect">
            <a:avLst/>
          </a:prstGeom>
          <a:noFill/>
        </p:spPr>
        <p:txBody>
          <a:bodyPr wrap="square">
            <a:spAutoFit/>
          </a:bodyPr>
          <a:lstStyle/>
          <a:p>
            <a:pPr algn="l"/>
            <a:r>
              <a:rPr sz="1000" b="1" i="0">
                <a:solidFill>
                  <a:srgbClr val="1B3A6B"/>
                </a:solidFill>
              </a:rPr>
              <a:t>Politique monétaire accommodante</a:t>
            </a:r>
          </a:p>
        </p:txBody>
      </p:sp>
      <p:sp>
        <p:nvSpPr>
          <p:cNvPr id="31" name="TextBox 30"/>
          <p:cNvSpPr txBox="1"/>
          <p:nvPr/>
        </p:nvSpPr>
        <p:spPr>
          <a:xfrm>
            <a:off x="503999" y="4122000"/>
            <a:ext cx="4680000" cy="450000"/>
          </a:xfrm>
          <a:prstGeom prst="rect">
            <a:avLst/>
          </a:prstGeom>
          <a:noFill/>
        </p:spPr>
        <p:txBody>
          <a:bodyPr wrap="square">
            <a:spAutoFit/>
          </a:bodyPr>
          <a:lstStyle/>
          <a:p>
            <a:pPr algn="l"/>
            <a:r>
              <a:rPr sz="900" b="0" i="0">
                <a:solidFill>
                  <a:srgbClr val="555555"/>
                </a:solidFill>
              </a:rPr>
              <a:t>Les anticipations de baisses de taux de la Fed en 2024 soutiennent les valorisations des banques, en réduisant les coûts de financement et en stimulant la demande de crédit.</a:t>
            </a:r>
          </a:p>
        </p:txBody>
      </p:sp>
      <p:graphicFrame>
        <p:nvGraphicFramePr>
          <p:cNvPr id="32" name="Table 31"/>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+8.9 %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+37.5 %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80/100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Sociétés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Analysées</a:t>
                      </a:r>
                    </a:p>
                  </a:txBody>
                  <a:tcPr>
                    <a:solidFill>
                      <a:srgbClr val="F5F7FA"/>
                    </a:solidFill>
                  </a:tcPr>
                </a:tc>
              </a:tr>
            </a:tbl>
          </a:graphicData>
        </a:graphic>
      </p:graphicFrame>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The Goldman Sachs 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16.3x</a:t>
                      </a:r>
                    </a:p>
                  </a:txBody>
                  <a:tcPr>
                    <a:noFill/>
                  </a:tcPr>
                </a:tc>
                <a:tc>
                  <a:txBody>
                    <a:bodyPr/>
                    <a:lstStyle/>
                    <a:p>
                      <a:pPr algn="ctr"/>
                      <a:r>
                        <a:rPr sz="750" b="0">
                          <a:solidFill>
                            <a:srgbClr val="1A1A1A"/>
                          </a:solidFill>
                        </a:rPr>
                        <a:t>82.9 %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13.9 %</a:t>
                      </a:r>
                    </a:p>
                  </a:txBody>
                  <a:tcPr>
                    <a:noFill/>
                  </a:tcPr>
                </a:tc>
              </a:tr>
              <a:tr h="198000">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3.0x</a:t>
                      </a:r>
                    </a:p>
                  </a:txBody>
                  <a:tcPr>
                    <a:solidFill>
                      <a:srgbClr val="F5F7FA"/>
                    </a:solidFill>
                  </a:tcPr>
                </a:tc>
                <a:tc>
                  <a:txBody>
                    <a:bodyPr/>
                    <a:lstStyle/>
                    <a:p>
                      <a:pPr algn="ctr"/>
                      <a:r>
                        <a:rPr sz="750" b="0">
                          <a:solidFill>
                            <a:srgbClr val="1A1A1A"/>
                          </a:solidFill>
                        </a:rPr>
                        <a:t>17.7x</a:t>
                      </a:r>
                    </a:p>
                  </a:txBody>
                  <a:tcPr>
                    <a:solidFill>
                      <a:srgbClr val="F5F7FA"/>
                    </a:solidFill>
                  </a:tcPr>
                </a:tc>
                <a:tc>
                  <a:txBody>
                    <a:bodyPr/>
                    <a:lstStyle/>
                    <a:p>
                      <a:pPr algn="ctr"/>
                      <a:r>
                        <a:rPr sz="750" b="0">
                          <a:solidFill>
                            <a:srgbClr val="1A1A1A"/>
                          </a:solidFill>
                        </a:rPr>
                        <a:t>87.1 %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15.6 %</a:t>
                      </a:r>
                    </a:p>
                  </a:txBody>
                  <a:tcPr>
                    <a:solidFill>
                      <a:srgbClr val="F5F7FA"/>
                    </a:solidFill>
                  </a:tcPr>
                </a:tc>
              </a:tr>
              <a:tr h="198000">
                <a:tc>
                  <a:txBody>
                    <a:bodyPr/>
                    <a:lstStyle/>
                    <a:p>
                      <a:pPr algn="ctr"/>
                      <a:r>
                        <a:rPr sz="750" b="0">
                          <a:solidFill>
                            <a:srgbClr val="1A1A1A"/>
                          </a:solidFill>
                        </a:rPr>
                        <a:t>Citigroup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0.4x</a:t>
                      </a:r>
                    </a:p>
                  </a:txBody>
                  <a:tcPr>
                    <a:noFill/>
                  </a:tcPr>
                </a:tc>
                <a:tc>
                  <a:txBody>
                    <a:bodyPr/>
                    <a:lstStyle/>
                    <a:p>
                      <a:pPr algn="ctr"/>
                      <a:r>
                        <a:rPr sz="750" b="0">
                          <a:solidFill>
                            <a:srgbClr val="1A1A1A"/>
                          </a:solidFill>
                        </a:rPr>
                        <a:t>18.0x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Bank of America Corporation</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3.8x</a:t>
                      </a:r>
                    </a:p>
                  </a:txBody>
                  <a:tcPr>
                    <a:solidFill>
                      <a:srgbClr val="F5F7FA"/>
                    </a:solidFill>
                  </a:tcPr>
                </a:tc>
                <a:tc>
                  <a:txBody>
                    <a:bodyPr/>
                    <a:lstStyle/>
                    <a:p>
                      <a:pPr algn="ctr"/>
                      <a:r>
                        <a:rPr sz="750" b="0">
                          <a:solidFill>
                            <a:srgbClr val="1A1A1A"/>
                          </a:solidFill>
                        </a:rPr>
                        <a:t>14.0x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10.2 %</a:t>
                      </a:r>
                    </a:p>
                  </a:txBody>
                  <a:tcPr>
                    <a:solidFill>
                      <a:srgbClr val="F5F7FA"/>
                    </a:solidFill>
                  </a:tcPr>
                </a:tc>
              </a:tr>
              <a:tr h="198000">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13.8x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11.7 %</a:t>
                      </a:r>
                    </a:p>
                  </a:txBody>
                  <a:tcPr>
                    <a:noFill/>
                  </a:tcPr>
                </a:tc>
              </a:tr>
              <a:tr h="198000">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21.1x</a:t>
                      </a:r>
                    </a:p>
                  </a:txBody>
                  <a:tcPr>
                    <a:solidFill>
                      <a:srgbClr val="F5F7FA"/>
                    </a:solidFill>
                  </a:tcPr>
                </a:tc>
                <a:tc>
                  <a:txBody>
                    <a:bodyPr/>
                    <a:lstStyle/>
                    <a:p>
                      <a:pPr algn="ctr"/>
                      <a:r>
                        <a:rPr sz="750" b="0">
                          <a:solidFill>
                            <a:srgbClr val="1A1A1A"/>
                          </a:solidFill>
                        </a:rPr>
                        <a:t>63.5 %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34.0 %</a:t>
                      </a:r>
                    </a:p>
                  </a:txBody>
                  <a:tcPr>
                    <a:solidFill>
                      <a:srgbClr val="F5F7FA"/>
                    </a:solidFill>
                  </a:tcPr>
                </a:tc>
              </a:tr>
              <a:tr h="198000">
                <a:tc>
                  <a:txBody>
                    <a:bodyPr/>
                    <a:lstStyle/>
                    <a:p>
                      <a:pPr algn="ctr"/>
                      <a:r>
                        <a:rPr sz="750" b="0">
                          <a:solidFill>
                            <a:srgbClr val="1A1A1A"/>
                          </a:solidFill>
                        </a:rPr>
                        <a:t>BlackRock, Inc.</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6.8x</a:t>
                      </a:r>
                    </a:p>
                  </a:txBody>
                  <a:tcPr>
                    <a:noFill/>
                  </a:tcPr>
                </a:tc>
                <a:tc>
                  <a:txBody>
                    <a:bodyPr/>
                    <a:lstStyle/>
                    <a:p>
                      <a:pPr algn="ctr"/>
                      <a:r>
                        <a:rPr sz="750" b="0">
                          <a:solidFill>
                            <a:srgbClr val="1A1A1A"/>
                          </a:solidFill>
                        </a:rPr>
                        <a:t>29.0x</a:t>
                      </a:r>
                    </a:p>
                  </a:txBody>
                  <a:tcPr>
                    <a:noFill/>
                  </a:tcPr>
                </a:tc>
                <a:tc>
                  <a:txBody>
                    <a:bodyPr/>
                    <a:lstStyle/>
                    <a:p>
                      <a:pPr algn="ctr"/>
                      <a:r>
                        <a:rPr sz="750" b="0">
                          <a:solidFill>
                            <a:srgbClr val="1A1A1A"/>
                          </a:solidFill>
                        </a:rPr>
                        <a:t>46.7 %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10.7 %</a:t>
                      </a:r>
                    </a:p>
                  </a:txBody>
                  <a:tcPr>
                    <a:noFill/>
                  </a:tcPr>
                </a:tc>
              </a:tr>
              <a:tr h="198000">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15.7x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16.1 %</a:t>
                      </a:r>
                    </a:p>
                  </a:txBody>
                  <a:tcPr>
                    <a:solidFill>
                      <a:srgbClr val="F5F7FA"/>
                    </a:solidFill>
                  </a:tcPr>
                </a:tc>
              </a:tr>
              <a:tr h="198000">
                <a:tc>
                  <a:txBody>
                    <a:bodyPr/>
                    <a:lstStyle/>
                    <a:p>
                      <a:pPr algn="ctr"/>
                      <a:r>
                        <a:rPr sz="750" b="0">
                          <a:solidFill>
                            <a:srgbClr val="1A1A1A"/>
                          </a:solidFill>
                        </a:rPr>
                        <a:t>MÉDIANE</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17.0x</a:t>
                      </a:r>
                    </a:p>
                  </a:txBody>
                  <a:tcPr>
                    <a:noFill/>
                  </a:tcPr>
                </a:tc>
                <a:tc>
                  <a:txBody>
                    <a:bodyPr/>
                    <a:lstStyle/>
                    <a:p>
                      <a:pPr algn="ctr"/>
                      <a:r>
                        <a:rPr sz="750" b="0">
                          <a:solidFill>
                            <a:srgbClr val="1A1A1A"/>
                          </a:solidFill>
                        </a:rPr>
                        <a:t>73.2 %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12.8 %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Médiane EV/EBITDA sectorielle s établit a 17.1x LTM. The Goldman Sachs Gr (—) se distingue comme le leader de qualité, combine a une marge EBITDA de 0.0 % et une croissance de +15.2 %. La dispersion des multiples revele l hétérogèneite des profils au sein du secteur Services Financiers — une lecture croisée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Croissance des revenus en gestion d'actifs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Les flux entrants dans les fonds passifs et ETFs, portés par les performances boursières, devraient soutenir la croissance organique des revenus de MS et GS.</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Expansion des activités de conseil en ESG</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 demande croissante pour des services de financement durable et d'investissement responsable booste les commissions et les mandats advisory.</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Compression des marges nettes d'intérêt</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baisse des taux directeurs et la concurrence sur les dépôts pourraient réduire les marges de 10 à 20 points de base d'ici fin 2024.</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Volatilité des marchés</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Un retournement brutal des marchés actions ou obligataires impacterait négativement les revenus de trading et d'investissement pour C et GS.</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80/100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Médian : 9.9 %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 situe en phase de reprise modérée, soutenue par un environnement de taux stabilisés et une demande résiliente en services financiers.</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1A7A4A"/>
                </a:solidFill>
              </a:rPr>
              <a:t>Régime : Bull</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10%  (Faible)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par Sous-Secteur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4 industries GICS identifiées</a:t>
            </a:r>
          </a:p>
        </p:txBody>
      </p:sp>
      <p:graphicFrame>
        <p:nvGraphicFramePr>
          <p:cNvPr id="15" name="Table 14"/>
          <p:cNvGraphicFramePr>
            <a:graphicFrameLocks noGrp="1"/>
          </p:cNvGraphicFramePr>
          <p:nvPr/>
        </p:nvGraphicFramePr>
        <p:xfrm>
          <a:off x="324000" y="792000"/>
          <a:ext cx="8495997" cy="766800"/>
        </p:xfrm>
        <a:graphic>
          <a:graphicData uri="http://schemas.openxmlformats.org/drawingml/2006/table">
            <a:tbl>
              <a:tblPr firstRow="1" bandRow="1">
                <a:tableStyleId>{5C22544A-7EE6-4342-B048-85BDC9FD1C3A}</a:tableStyleId>
              </a:tblPr>
              <a:tblGrid>
                <a:gridCol w="2404528"/>
                <a:gridCol w="601132"/>
                <a:gridCol w="721358"/>
                <a:gridCol w="1122113"/>
                <a:gridCol w="1001886"/>
                <a:gridCol w="881660"/>
                <a:gridCol w="881660"/>
                <a:gridCol w="881660"/>
              </a:tblGrid>
              <a:tr h="153360">
                <a:tc>
                  <a:txBody>
                    <a:bodyPr/>
                    <a:lstStyle/>
                    <a:p>
                      <a:pPr algn="l"/>
                      <a:r>
                        <a:rPr sz="800" b="1">
                          <a:solidFill>
                            <a:srgbClr val="FFFFFF"/>
                          </a:solidFill>
                        </a:rPr>
                        <a:t>Sous-secteur</a:t>
                      </a:r>
                    </a:p>
                  </a:txBody>
                  <a:tcPr>
                    <a:solidFill>
                      <a:srgbClr val="1B3A6B"/>
                    </a:solidFill>
                  </a:tcPr>
                </a:tc>
                <a:tc>
                  <a:txBody>
                    <a:bodyPr/>
                    <a:lstStyle/>
                    <a:p>
                      <a:pPr algn="ctr"/>
                      <a:r>
                        <a:rPr sz="800" b="1">
                          <a:solidFill>
                            <a:srgbClr val="FFFFFF"/>
                          </a:solidFill>
                        </a:rPr>
                        <a:t>Nb</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Marge</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153360">
                <a:tc>
                  <a:txBody>
                    <a:bodyPr/>
                    <a:lstStyle/>
                    <a:p>
                      <a:pPr algn="l"/>
                      <a:r>
                        <a:rPr sz="800">
                          <a:solidFill>
                            <a:srgbClr val="1A1A1A"/>
                          </a:solidFill>
                        </a:rPr>
                        <a:t>Capital Markets</a:t>
                      </a:r>
                    </a:p>
                  </a:txBody>
                  <a:tcPr>
                    <a:solidFill>
                      <a:srgbClr val="F5F7FA"/>
                    </a:solidFill>
                  </a:tcPr>
                </a:tc>
                <a:tc>
                  <a:txBody>
                    <a:bodyPr/>
                    <a:lstStyle/>
                    <a:p>
                      <a:pPr algn="ctr"/>
                      <a:r>
                        <a:rPr sz="800">
                          <a:solidFill>
                            <a:srgbClr val="1A1A1A"/>
                          </a:solidFill>
                        </a:rPr>
                        <a:t>2</a:t>
                      </a:r>
                    </a:p>
                  </a:txBody>
                  <a:tcPr>
                    <a:solidFill>
                      <a:srgbClr val="F5F7FA"/>
                    </a:solidFill>
                  </a:tcPr>
                </a:tc>
                <a:tc>
                  <a:txBody>
                    <a:bodyPr/>
                    <a:lstStyle/>
                    <a:p>
                      <a:pPr algn="ctr"/>
                      <a:r>
                        <a:rPr sz="800">
                          <a:solidFill>
                            <a:srgbClr val="1A1A1A"/>
                          </a:solidFill>
                        </a:rPr>
                        <a:t>88</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+13.1%</a:t>
                      </a:r>
                    </a:p>
                  </a:txBody>
                  <a:tcPr>
                    <a:solidFill>
                      <a:srgbClr val="F5F7FA"/>
                    </a:solidFill>
                  </a:tcPr>
                </a:tc>
                <a:tc>
                  <a:txBody>
                    <a:bodyPr/>
                    <a:lstStyle/>
                    <a:p>
                      <a:pPr algn="ctr"/>
                      <a:r>
                        <a:rPr sz="800">
                          <a:solidFill>
                            <a:srgbClr val="1A1A1A"/>
                          </a:solidFill>
                        </a:rPr>
                        <a:t>+69.7%</a:t>
                      </a:r>
                    </a:p>
                  </a:txBody>
                  <a:tcPr>
                    <a:solidFill>
                      <a:srgbClr val="F5F7FA"/>
                    </a:solidFill>
                  </a:tcPr>
                </a:tc>
              </a:tr>
              <a:tr h="153360">
                <a:tc>
                  <a:txBody>
                    <a:bodyPr/>
                    <a:lstStyle/>
                    <a:p>
                      <a:pPr algn="l"/>
                      <a:r>
                        <a:rPr sz="800">
                          <a:solidFill>
                            <a:srgbClr val="1A1A1A"/>
                          </a:solidFill>
                        </a:rPr>
                        <a:t>Banks - Diversified</a:t>
                      </a:r>
                    </a:p>
                  </a:txBody>
                  <a:tcPr>
                    <a:solidFill>
                      <a:srgbClr val="FFFFFF"/>
                    </a:solidFill>
                  </a:tcPr>
                </a:tc>
                <a:tc>
                  <a:txBody>
                    <a:bodyPr/>
                    <a:lstStyle/>
                    <a:p>
                      <a:pPr algn="ctr"/>
                      <a:r>
                        <a:rPr sz="800">
                          <a:solidFill>
                            <a:srgbClr val="1A1A1A"/>
                          </a:solidFill>
                        </a:rPr>
                        <a:t>4</a:t>
                      </a:r>
                    </a:p>
                  </a:txBody>
                  <a:tcPr>
                    <a:solidFill>
                      <a:srgbClr val="FFFFFF"/>
                    </a:solidFill>
                  </a:tcPr>
                </a:tc>
                <a:tc>
                  <a:txBody>
                    <a:bodyPr/>
                    <a:lstStyle/>
                    <a:p>
                      <a:pPr algn="ctr"/>
                      <a:r>
                        <a:rPr sz="800">
                          <a:solidFill>
                            <a:srgbClr val="1A1A1A"/>
                          </a:solidFill>
                        </a:rPr>
                        <a:t>78</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+4.7%</a:t>
                      </a:r>
                    </a:p>
                  </a:txBody>
                  <a:tcPr>
                    <a:solidFill>
                      <a:srgbClr val="FFFFFF"/>
                    </a:solidFill>
                  </a:tcPr>
                </a:tc>
                <a:tc>
                  <a:txBody>
                    <a:bodyPr/>
                    <a:lstStyle/>
                    <a:p>
                      <a:pPr algn="ctr"/>
                      <a:r>
                        <a:rPr sz="800">
                          <a:solidFill>
                            <a:srgbClr val="1A1A1A"/>
                          </a:solidFill>
                        </a:rPr>
                        <a:t>+37.5%</a:t>
                      </a:r>
                    </a:p>
                  </a:txBody>
                  <a:tcPr>
                    <a:solidFill>
                      <a:srgbClr val="FFFFFF"/>
                    </a:solidFill>
                  </a:tcPr>
                </a:tc>
              </a:tr>
              <a:tr h="153360">
                <a:tc>
                  <a:txBody>
                    <a:bodyPr/>
                    <a:lstStyle/>
                    <a:p>
                      <a:pPr algn="l"/>
                      <a:r>
                        <a:rPr sz="800">
                          <a:solidFill>
                            <a:srgbClr val="1A1A1A"/>
                          </a:solidFill>
                        </a:rPr>
                        <a:t>Credit Services</a:t>
                      </a:r>
                    </a:p>
                  </a:txBody>
                  <a:tcPr>
                    <a:solidFill>
                      <a:srgbClr val="F5F7FA"/>
                    </a:solidFill>
                  </a:tcPr>
                </a:tc>
                <a:tc>
                  <a:txBody>
                    <a:bodyPr/>
                    <a:lstStyle/>
                    <a:p>
                      <a:pPr algn="ctr"/>
                      <a:r>
                        <a:rPr sz="800">
                          <a:solidFill>
                            <a:srgbClr val="1A1A1A"/>
                          </a:solidFill>
                        </a:rPr>
                        <a:t>1</a:t>
                      </a:r>
                    </a:p>
                  </a:txBody>
                  <a:tcPr>
                    <a:solidFill>
                      <a:srgbClr val="F5F7FA"/>
                    </a:solidFill>
                  </a:tcPr>
                </a:tc>
                <a:tc>
                  <a:txBody>
                    <a:bodyPr/>
                    <a:lstStyle/>
                    <a:p>
                      <a:pPr algn="ctr"/>
                      <a:r>
                        <a:rPr sz="800">
                          <a:solidFill>
                            <a:srgbClr val="1A1A1A"/>
                          </a:solidFill>
                        </a:rPr>
                        <a:t>76</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+10.6%</a:t>
                      </a:r>
                    </a:p>
                  </a:txBody>
                  <a:tcPr>
                    <a:solidFill>
                      <a:srgbClr val="F5F7FA"/>
                    </a:solidFill>
                  </a:tcPr>
                </a:tc>
                <a:tc>
                  <a:txBody>
                    <a:bodyPr/>
                    <a:lstStyle/>
                    <a:p>
                      <a:pPr algn="ctr"/>
                      <a:r>
                        <a:rPr sz="800">
                          <a:solidFill>
                            <a:srgbClr val="1A1A1A"/>
                          </a:solidFill>
                        </a:rPr>
                        <a:t>+25.6%</a:t>
                      </a:r>
                    </a:p>
                  </a:txBody>
                  <a:tcPr>
                    <a:solidFill>
                      <a:srgbClr val="F5F7FA"/>
                    </a:solidFill>
                  </a:tcPr>
                </a:tc>
              </a:tr>
              <a:tr h="153360">
                <a:tc>
                  <a:txBody>
                    <a:bodyPr/>
                    <a:lstStyle/>
                    <a:p>
                      <a:pPr algn="l"/>
                      <a:r>
                        <a:rPr sz="800">
                          <a:solidFill>
                            <a:srgbClr val="1A1A1A"/>
                          </a:solidFill>
                        </a:rPr>
                        <a:t>Asset Management</a:t>
                      </a:r>
                    </a:p>
                  </a:txBody>
                  <a:tcPr>
                    <a:solidFill>
                      <a:srgbClr val="FFFFFF"/>
                    </a:solidFill>
                  </a:tcPr>
                </a:tc>
                <a:tc>
                  <a:txBody>
                    <a:bodyPr/>
                    <a:lstStyle/>
                    <a:p>
                      <a:pPr algn="ctr"/>
                      <a:r>
                        <a:rPr sz="800">
                          <a:solidFill>
                            <a:srgbClr val="1A1A1A"/>
                          </a:solidFill>
                        </a:rPr>
                        <a:t>1</a:t>
                      </a:r>
                    </a:p>
                  </a:txBody>
                  <a:tcPr>
                    <a:solidFill>
                      <a:srgbClr val="FFFFFF"/>
                    </a:solidFill>
                  </a:tcPr>
                </a:tc>
                <a:tc>
                  <a:txBody>
                    <a:bodyPr/>
                    <a:lstStyle/>
                    <a:p>
                      <a:pPr algn="ctr"/>
                      <a:r>
                        <a:rPr sz="800">
                          <a:solidFill>
                            <a:srgbClr val="1A1A1A"/>
                          </a:solidFill>
                        </a:rPr>
                        <a:t>75</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17.1x</a:t>
                      </a:r>
                    </a:p>
                  </a:txBody>
                  <a:tcPr>
                    <a:solidFill>
                      <a:srgbClr val="FFFFFF"/>
                    </a:solidFill>
                  </a:tcPr>
                </a:tc>
                <a:tc>
                  <a:txBody>
                    <a:bodyPr/>
                    <a:lstStyle/>
                    <a:p>
                      <a:pPr algn="ctr"/>
                      <a:r>
                        <a:rPr sz="800">
                          <a:solidFill>
                            <a:srgbClr val="1A1A1A"/>
                          </a:solidFill>
                        </a:rPr>
                        <a:t>40.0%</a:t>
                      </a:r>
                    </a:p>
                  </a:txBody>
                  <a:tcPr>
                    <a:solidFill>
                      <a:srgbClr val="FFFFFF"/>
                    </a:solidFill>
                  </a:tcPr>
                </a:tc>
                <a:tc>
                  <a:txBody>
                    <a:bodyPr/>
                    <a:lstStyle/>
                    <a:p>
                      <a:pPr algn="ctr"/>
                      <a:r>
                        <a:rPr sz="800">
                          <a:solidFill>
                            <a:srgbClr val="1A1A1A"/>
                          </a:solidFill>
                        </a:rPr>
                        <a:t>+23.4%</a:t>
                      </a:r>
                    </a:p>
                  </a:txBody>
                  <a:tcPr>
                    <a:solidFill>
                      <a:srgbClr val="FFFFFF"/>
                    </a:solidFill>
                  </a:tcPr>
                </a:tc>
                <a:tc>
                  <a:txBody>
                    <a:bodyPr/>
                    <a:lstStyle/>
                    <a:p>
                      <a:pPr algn="ctr"/>
                      <a:r>
                        <a:rPr sz="800">
                          <a:solidFill>
                            <a:srgbClr val="1A1A1A"/>
                          </a:solidFill>
                        </a:rPr>
                        <a:t>+15.2%</a:t>
                      </a:r>
                    </a:p>
                  </a:txBody>
                  <a:tcPr>
                    <a:solidFill>
                      <a:srgbClr val="FFFFFF"/>
                    </a:solidFill>
                  </a:tcPr>
                </a:tc>
              </a:tr>
            </a:tbl>
          </a:graphicData>
        </a:graphic>
      </p:graphicFrame>
      <p:sp>
        <p:nvSpPr>
          <p:cNvPr id="16" name="Rectangle 15"/>
          <p:cNvSpPr/>
          <p:nvPr/>
        </p:nvSpPr>
        <p:spPr>
          <a:xfrm>
            <a:off x="324000" y="1792800"/>
            <a:ext cx="849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1839600"/>
            <a:ext cx="8352000" cy="162000"/>
          </a:xfrm>
          <a:prstGeom prst="rect">
            <a:avLst/>
          </a:prstGeom>
          <a:noFill/>
        </p:spPr>
        <p:txBody>
          <a:bodyPr wrap="square">
            <a:spAutoFit/>
          </a:bodyPr>
          <a:lstStyle/>
          <a:p>
            <a:pPr algn="l"/>
            <a:r>
              <a:rPr sz="1000" b="1" i="0">
                <a:solidFill>
                  <a:srgbClr val="FFFFFF"/>
                </a:solidFill>
              </a:rPr>
              <a:t>LEADERSHIP CAPITAL MARKETS — score 88/100</a:t>
            </a:r>
          </a:p>
        </p:txBody>
      </p:sp>
      <p:sp>
        <p:nvSpPr>
          <p:cNvPr id="18" name="Rectangle 17"/>
          <p:cNvSpPr/>
          <p:nvPr/>
        </p:nvSpPr>
        <p:spPr>
          <a:xfrm>
            <a:off x="324000" y="20808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20808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2134800"/>
            <a:ext cx="8424000" cy="1530000"/>
          </a:xfrm>
          <a:prstGeom prst="rect">
            <a:avLst/>
          </a:prstGeom>
          <a:noFill/>
        </p:spPr>
        <p:txBody>
          <a:bodyPr wrap="square">
            <a:spAutoFit/>
          </a:bodyPr>
          <a:lstStyle/>
          <a:p>
            <a:pPr algn="l"/>
            <a:r>
              <a:rPr sz="900" b="0" i="0">
                <a:solidFill>
                  <a:srgbClr val="555555"/>
                </a:solidFill>
              </a:rPr>
              <a:t>Le sous-segment Capital Markets ressort en tête du classement avec un score composite de 88/100 et un signal surpondérer, porté par 2 acteurs dont GS, MS. La valorisation médiane ressort sur des metriques de valorisation specifiques au secteur (ratios financiers) et une trajectoire top-line à +13.1% YoY. À l'inverse, Asset Management ferme la Marché (75/100, signal surpondérer), reflétant des fondamentaux sous pression ou une valorisation déjà tendue. L'écart de 13 points entre les extrêmes du classement justifie une approche sélective plutôt qu'une exposition beta uniforme au secteur. Cette cartographie guide le calibrage d'allocation sous-sectorielle : Surpondérer les segments avec score ≥ 60 et momentum positif, Sous-pondérer les segments avec marges compressees ou croissance negative, et conserver une exposition neutre aux segments en transition.</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Services Financiers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890.79</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+15.2 %</a:t>
                      </a:r>
                    </a:p>
                  </a:txBody>
                  <a:tcPr>
                    <a:noFill/>
                  </a:tcPr>
                </a:tc>
                <a:tc>
                  <a:txBody>
                    <a:bodyPr/>
                    <a:lstStyle/>
                    <a:p>
                      <a:pPr algn="ctr"/>
                      <a:r>
                        <a:rPr sz="750" b="0">
                          <a:solidFill>
                            <a:srgbClr val="1A1A1A"/>
                          </a:solidFill>
                        </a:rPr>
                        <a:t>+75.4 %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86/100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181.14</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+11.0 %</a:t>
                      </a:r>
                    </a:p>
                  </a:txBody>
                  <a:tcPr>
                    <a:solidFill>
                      <a:srgbClr val="F5F7FA"/>
                    </a:solidFill>
                  </a:tcPr>
                </a:tc>
                <a:tc>
                  <a:txBody>
                    <a:bodyPr/>
                    <a:lstStyle/>
                    <a:p>
                      <a:pPr algn="ctr"/>
                      <a:r>
                        <a:rPr sz="750" b="0">
                          <a:solidFill>
                            <a:srgbClr val="1A1A1A"/>
                          </a:solidFill>
                        </a:rPr>
                        <a:t>+64.0 %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126.28</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+4.4 %</a:t>
                      </a:r>
                    </a:p>
                  </a:txBody>
                  <a:tcPr>
                    <a:noFill/>
                  </a:tcPr>
                </a:tc>
                <a:tc>
                  <a:txBody>
                    <a:bodyPr/>
                    <a:lstStyle/>
                    <a:p>
                      <a:pPr algn="ctr"/>
                      <a:r>
                        <a:rPr sz="750" b="0">
                          <a:solidFill>
                            <a:srgbClr val="1A1A1A"/>
                          </a:solidFill>
                        </a:rPr>
                        <a:t>+96.3 %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Corporati</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53.35</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+7.2 %</a:t>
                      </a:r>
                    </a:p>
                  </a:txBody>
                  <a:tcPr>
                    <a:solidFill>
                      <a:srgbClr val="F5F7FA"/>
                    </a:solidFill>
                  </a:tcPr>
                </a:tc>
                <a:tc>
                  <a:txBody>
                    <a:bodyPr/>
                    <a:lstStyle/>
                    <a:p>
                      <a:pPr algn="ctr"/>
                      <a:r>
                        <a:rPr sz="750" b="0">
                          <a:solidFill>
                            <a:srgbClr val="1A1A1A"/>
                          </a:solidFill>
                        </a:rPr>
                        <a:t>+40.4 %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86.64</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+34.2 %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323.82</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+10.6 %</a:t>
                      </a:r>
                    </a:p>
                  </a:txBody>
                  <a:tcPr>
                    <a:solidFill>
                      <a:srgbClr val="F5F7FA"/>
                    </a:solidFill>
                  </a:tcPr>
                </a:tc>
                <a:tc>
                  <a:txBody>
                    <a:bodyPr/>
                    <a:lstStyle/>
                    <a:p>
                      <a:pPr algn="ctr"/>
                      <a:r>
                        <a:rPr sz="750" b="0">
                          <a:solidFill>
                            <a:srgbClr val="1A1A1A"/>
                          </a:solidFill>
                        </a:rPr>
                        <a:t>+25.6 %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1023.65</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+23.4 %</a:t>
                      </a:r>
                    </a:p>
                  </a:txBody>
                  <a:tcPr>
                    <a:noFill/>
                  </a:tcPr>
                </a:tc>
                <a:tc>
                  <a:txBody>
                    <a:bodyPr/>
                    <a:lstStyle/>
                    <a:p>
                      <a:pPr algn="ctr"/>
                      <a:r>
                        <a:rPr sz="750" b="0">
                          <a:solidFill>
                            <a:srgbClr val="1A1A1A"/>
                          </a:solidFill>
                        </a:rPr>
                        <a:t>+15.2 %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313.68</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+2.5 %</a:t>
                      </a:r>
                    </a:p>
                  </a:txBody>
                  <a:tcPr>
                    <a:solidFill>
                      <a:srgbClr val="F5F7FA"/>
                    </a:solidFill>
                  </a:tcPr>
                </a:tc>
                <a:tc>
                  <a:txBody>
                    <a:bodyPr/>
                    <a:lstStyle/>
                    <a:p>
                      <a:pPr algn="ctr"/>
                      <a:r>
                        <a:rPr sz="750" b="0">
                          <a:solidFill>
                            <a:srgbClr val="1A1A1A"/>
                          </a:solidFill>
                        </a:rPr>
                        <a:t>+34.6 %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Services Financiers — 8 BUY / 0 HOLD / 0 SELL · The Goldman Sachs Grou en tête (90/100)</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Services Financiers présente 8 BUY / 0 HOLD / 0 SELL sur 8 valeurs analysées. The Goldman Sachs Grou (score 90/100) constitue le coeur offensif recommande — fondamentaux solides et visibilité supérieure sur les revenus. La répartition des recommandations reflète un positionnément selectif cohérent avec la phase sectorielle actuelle. Les catalyseurs identifies — résultats trimestriels, guidance annuel, opérations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Médiane (opportunité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Médiane sectorielle : 17.1x. Les barres vertes sous cette ligne sont les candidats privilegies a analyser via Analyse Société individuelle (DCF, WACC, scénarios).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23</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MS</a:t>
                      </a:r>
                    </a:p>
                  </a:txBody>
                  <a:tcPr>
                    <a:noFill/>
                  </a:tcPr>
                </a:tc>
                <a:tc>
                  <a:txBody>
                    <a:bodyPr/>
                    <a:lstStyle/>
                    <a:p>
                      <a:pPr algn="ctr"/>
                      <a:r>
                        <a:rPr sz="750" b="0">
                          <a:solidFill>
                            <a:srgbClr val="1A1A1A"/>
                          </a:solidFill>
                        </a:rPr>
                        <a:t>Morgan Stanley</a:t>
                      </a:r>
                    </a:p>
                  </a:txBody>
                  <a:tcPr>
                    <a:noFill/>
                  </a:tcPr>
                </a:tc>
                <a:tc>
                  <a:txBody>
                    <a:bodyPr/>
                    <a:lstStyle/>
                    <a:p>
                      <a:pPr algn="ctr"/>
                      <a:r>
                        <a:rPr sz="750" b="0">
                          <a:solidFill>
                            <a:srgbClr val="1A1A1A"/>
                          </a:solidFill>
                        </a:rPr>
                        <a:t>86/100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23</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21</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BAC</a:t>
                      </a:r>
                    </a:p>
                  </a:txBody>
                  <a:tcPr>
                    <a:noFill/>
                  </a:tcPr>
                </a:tc>
                <a:tc>
                  <a:txBody>
                    <a:bodyPr/>
                    <a:lstStyle/>
                    <a:p>
                      <a:pPr algn="ctr"/>
                      <a:r>
                        <a:rPr sz="750" b="0">
                          <a:solidFill>
                            <a:srgbClr val="1A1A1A"/>
                          </a:solidFill>
                        </a:rPr>
                        <a:t>Bank of America Corporati</a:t>
                      </a:r>
                    </a:p>
                  </a:txBody>
                  <a:tcPr>
                    <a:noFill/>
                  </a:tcPr>
                </a:tc>
                <a:tc>
                  <a:txBody>
                    <a:bodyPr/>
                    <a:lstStyle/>
                    <a:p>
                      <a:pPr algn="ctr"/>
                      <a:r>
                        <a:rPr sz="750" b="0">
                          <a:solidFill>
                            <a:srgbClr val="1A1A1A"/>
                          </a:solidFill>
                        </a:rPr>
                        <a:t>80/100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19</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AXP</a:t>
                      </a:r>
                    </a:p>
                  </a:txBody>
                  <a:tcPr>
                    <a:noFill/>
                  </a:tcPr>
                </a:tc>
                <a:tc>
                  <a:txBody>
                    <a:bodyPr/>
                    <a:lstStyle/>
                    <a:p>
                      <a:pPr algn="ctr"/>
                      <a:r>
                        <a:rPr sz="750" b="0">
                          <a:solidFill>
                            <a:srgbClr val="1A1A1A"/>
                          </a:solidFill>
                        </a:rPr>
                        <a:t>American Express Company</a:t>
                      </a:r>
                    </a:p>
                  </a:txBody>
                  <a:tcPr>
                    <a:noFill/>
                  </a:tcPr>
                </a:tc>
                <a:tc>
                  <a:txBody>
                    <a:bodyPr/>
                    <a:lstStyle/>
                    <a:p>
                      <a:pPr algn="ctr"/>
                      <a:r>
                        <a:rPr sz="750" b="0">
                          <a:solidFill>
                            <a:srgbClr val="1A1A1A"/>
                          </a:solidFill>
                        </a:rPr>
                        <a:t>76/100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15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JPM</a:t>
                      </a:r>
                    </a:p>
                  </a:txBody>
                  <a:tcPr>
                    <a:noFill/>
                  </a:tcPr>
                </a:tc>
                <a:tc>
                  <a:txBody>
                    <a:bodyPr/>
                    <a:lstStyle/>
                    <a:p>
                      <a:pPr algn="ctr"/>
                      <a:r>
                        <a:rPr sz="750" b="0">
                          <a:solidFill>
                            <a:srgbClr val="1A1A1A"/>
                          </a:solidFill>
                        </a:rPr>
                        <a:t>JPMorgan Chase &amp; Co.</a:t>
                      </a:r>
                    </a:p>
                  </a:txBody>
                  <a:tcPr>
                    <a:noFill/>
                  </a:tcPr>
                </a:tc>
                <a:tc>
                  <a:txBody>
                    <a:bodyPr/>
                    <a:lstStyle/>
                    <a:p>
                      <a:pPr algn="ctr"/>
                      <a:r>
                        <a:rPr sz="750" b="0">
                          <a:solidFill>
                            <a:srgbClr val="1A1A1A"/>
                          </a:solidFill>
                        </a:rPr>
                        <a:t>74/100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0">
                          <a:solidFill>
                            <a:srgbClr val="1A1A1A"/>
                          </a:solidFill>
                        </a:rPr>
                        <a:t>BUY</a:t>
                      </a:r>
                    </a:p>
                  </a:txBody>
                  <a:tcPr>
                    <a:no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SYNTHÈSE SCORES  ·  Score &gt;= 75 = fort  ·  50-74 = moyen  ·  &lt; 50 = faible  ·  Pondérations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The Goldman Sachs Group,  présente le profil le plus équilibre du secteur (90/100) avec des scores Value=16, Growth=25, Quality=25, Momentum=23. La dispersion des scores entre les 8 sociétés Reflète des profils hétérogènes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Sociétés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GS</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The Goldman Sachs Gr</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1069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P/E</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16.3x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P/B</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2.5x</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ROE</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13.9 %</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Les publications récentes de GS, MS et C dépassent systématiquement les attentes du consensus, portées par des performances robustes en banque d'investissement</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propositions de Bâle IV et les nouvelles règles Dodd-Frank pourraient alourdir les coûts opérationnels et limiter la rentabilité des activités de</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MS</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Morgan Stanley</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217</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P/E</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17.7x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P/B</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2.8x</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ROE</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15.6 %</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L'activité M&amp;A et levées de fonds reste soutenue, avec un pipeline robuste pour les 12 prochains mois, notamment dans les secteurs technologiques et</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Un ralentissement économique prolongé ou une crise immobilière commerciale pourrait dégrader la qualité des actifs et peser sur les provisions.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C</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Citigroup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152</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P/E</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18.0x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P/B</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1.1x</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ROE</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6.8 %</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Les anticipations de baisses de taux de la Fed en 2024 soutiennent les valorisations des banques, en réduisant les coûts de financement et en stimulant la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L'émergence de fintechs et de néobanques intensifie la pression sur les marges des services bancaires traditionnels, notamment dans les paiements et</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société vs médiane sectorielle (17.1x)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homogene — 0 acteur(s) se detachent nettement du reste du secteur, creant une prime de valorisation significative vs la médiane de 17.1x.
0 société(s) se traitent sous la médiane — potentiellement les meilleures asymétries risque/rendement sous reserve de catalyseurs fondamentaux.
La dispersion des multiples est caractéristique d'un secteur Services Financiers en phase de différentiation — les investisseurs selectifs peuvent exploiter cet Écart.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a:t>
                      </a:r>
                    </a:p>
                  </a:txBody>
                  <a:tcPr>
                    <a:noFill/>
                  </a:tcPr>
                </a:tc>
                <a:tc>
                  <a:txBody>
                    <a:bodyPr/>
                    <a:lstStyle/>
                    <a:p>
                      <a:pPr algn="ctr"/>
                      <a:r>
                        <a:rPr sz="750" b="0">
                          <a:solidFill>
                            <a:srgbClr val="1A1A1A"/>
                          </a:solidFill>
                        </a:rPr>
                        <a:t>890.79</a:t>
                      </a:r>
                    </a:p>
                  </a:txBody>
                  <a:tcPr>
                    <a:noFill/>
                  </a:tcPr>
                </a:tc>
                <a:tc>
                  <a:txBody>
                    <a:bodyPr/>
                    <a:lstStyle/>
                    <a:p>
                      <a:pPr algn="ctr"/>
                      <a:r>
                        <a:rPr sz="750" b="0">
                          <a:solidFill>
                            <a:srgbClr val="1A1A1A"/>
                          </a:solidFill>
                        </a:rPr>
                        <a:t>1024.4</a:t>
                      </a:r>
                    </a:p>
                  </a:txBody>
                  <a:tcPr>
                    <a:noFill/>
                  </a:tcPr>
                </a:tc>
                <a:tc>
                  <a:txBody>
                    <a:bodyPr/>
                    <a:lstStyle/>
                    <a:p>
                      <a:pPr algn="ctr"/>
                      <a:r>
                        <a:rPr sz="750" b="0">
                          <a:solidFill>
                            <a:srgbClr val="1A1A1A"/>
                          </a:solidFill>
                        </a:rPr>
                        <a:t>&lt; 846.3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181.14</a:t>
                      </a:r>
                    </a:p>
                  </a:txBody>
                  <a:tcPr>
                    <a:solidFill>
                      <a:srgbClr val="F5F7FA"/>
                    </a:solidFill>
                  </a:tcPr>
                </a:tc>
                <a:tc>
                  <a:txBody>
                    <a:bodyPr/>
                    <a:lstStyle/>
                    <a:p>
                      <a:pPr algn="ctr"/>
                      <a:r>
                        <a:rPr sz="750" b="0">
                          <a:solidFill>
                            <a:srgbClr val="1A1A1A"/>
                          </a:solidFill>
                        </a:rPr>
                        <a:t>208.3</a:t>
                      </a:r>
                    </a:p>
                  </a:txBody>
                  <a:tcPr>
                    <a:solidFill>
                      <a:srgbClr val="F5F7FA"/>
                    </a:solidFill>
                  </a:tcPr>
                </a:tc>
                <a:tc>
                  <a:txBody>
                    <a:bodyPr/>
                    <a:lstStyle/>
                    <a:p>
                      <a:pPr algn="ctr"/>
                      <a:r>
                        <a:rPr sz="750" b="0">
                          <a:solidFill>
                            <a:srgbClr val="1A1A1A"/>
                          </a:solidFill>
                        </a:rPr>
                        <a:t>&lt; 172.1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126.28</a:t>
                      </a:r>
                    </a:p>
                  </a:txBody>
                  <a:tcPr>
                    <a:noFill/>
                  </a:tcPr>
                </a:tc>
                <a:tc>
                  <a:txBody>
                    <a:bodyPr/>
                    <a:lstStyle/>
                    <a:p>
                      <a:pPr algn="ctr"/>
                      <a:r>
                        <a:rPr sz="750" b="0">
                          <a:solidFill>
                            <a:srgbClr val="1A1A1A"/>
                          </a:solidFill>
                        </a:rPr>
                        <a:t>145.2</a:t>
                      </a:r>
                    </a:p>
                  </a:txBody>
                  <a:tcPr>
                    <a:noFill/>
                  </a:tcPr>
                </a:tc>
                <a:tc>
                  <a:txBody>
                    <a:bodyPr/>
                    <a:lstStyle/>
                    <a:p>
                      <a:pPr algn="ctr"/>
                      <a:r>
                        <a:rPr sz="750" b="0">
                          <a:solidFill>
                            <a:srgbClr val="1A1A1A"/>
                          </a:solidFill>
                        </a:rPr>
                        <a:t>&lt; 120.0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a:t>
                      </a:r>
                    </a:p>
                  </a:txBody>
                  <a:tcPr>
                    <a:solidFill>
                      <a:srgbClr val="F5F7FA"/>
                    </a:solidFill>
                  </a:tcPr>
                </a:tc>
                <a:tc>
                  <a:txBody>
                    <a:bodyPr/>
                    <a:lstStyle/>
                    <a:p>
                      <a:pPr algn="ctr"/>
                      <a:r>
                        <a:rPr sz="750" b="0">
                          <a:solidFill>
                            <a:srgbClr val="1A1A1A"/>
                          </a:solidFill>
                        </a:rPr>
                        <a:t>53.35</a:t>
                      </a:r>
                    </a:p>
                  </a:txBody>
                  <a:tcPr>
                    <a:solidFill>
                      <a:srgbClr val="F5F7FA"/>
                    </a:solidFill>
                  </a:tcPr>
                </a:tc>
                <a:tc>
                  <a:txBody>
                    <a:bodyPr/>
                    <a:lstStyle/>
                    <a:p>
                      <a:pPr algn="ctr"/>
                      <a:r>
                        <a:rPr sz="750" b="0">
                          <a:solidFill>
                            <a:srgbClr val="1A1A1A"/>
                          </a:solidFill>
                        </a:rPr>
                        <a:t>61.4</a:t>
                      </a:r>
                    </a:p>
                  </a:txBody>
                  <a:tcPr>
                    <a:solidFill>
                      <a:srgbClr val="F5F7FA"/>
                    </a:solidFill>
                  </a:tcPr>
                </a:tc>
                <a:tc>
                  <a:txBody>
                    <a:bodyPr/>
                    <a:lstStyle/>
                    <a:p>
                      <a:pPr algn="ctr"/>
                      <a:r>
                        <a:rPr sz="750" b="0">
                          <a:solidFill>
                            <a:srgbClr val="1A1A1A"/>
                          </a:solidFill>
                        </a:rPr>
                        <a:t>&lt; 50.7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86.64</a:t>
                      </a:r>
                    </a:p>
                  </a:txBody>
                  <a:tcPr>
                    <a:noFill/>
                  </a:tcPr>
                </a:tc>
                <a:tc>
                  <a:txBody>
                    <a:bodyPr/>
                    <a:lstStyle/>
                    <a:p>
                      <a:pPr algn="ctr"/>
                      <a:r>
                        <a:rPr sz="750" b="0">
                          <a:solidFill>
                            <a:srgbClr val="1A1A1A"/>
                          </a:solidFill>
                        </a:rPr>
                        <a:t>99.6</a:t>
                      </a:r>
                    </a:p>
                  </a:txBody>
                  <a:tcPr>
                    <a:noFill/>
                  </a:tcPr>
                </a:tc>
                <a:tc>
                  <a:txBody>
                    <a:bodyPr/>
                    <a:lstStyle/>
                    <a:p>
                      <a:pPr algn="ctr"/>
                      <a:r>
                        <a:rPr sz="750" b="0">
                          <a:solidFill>
                            <a:srgbClr val="1A1A1A"/>
                          </a:solidFill>
                        </a:rPr>
                        <a:t>&lt; 82.3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323.82</a:t>
                      </a:r>
                    </a:p>
                  </a:txBody>
                  <a:tcPr>
                    <a:solidFill>
                      <a:srgbClr val="F5F7FA"/>
                    </a:solidFill>
                  </a:tcPr>
                </a:tc>
                <a:tc>
                  <a:txBody>
                    <a:bodyPr/>
                    <a:lstStyle/>
                    <a:p>
                      <a:pPr algn="ctr"/>
                      <a:r>
                        <a:rPr sz="750" b="0">
                          <a:solidFill>
                            <a:srgbClr val="1A1A1A"/>
                          </a:solidFill>
                        </a:rPr>
                        <a:t>372.4</a:t>
                      </a:r>
                    </a:p>
                  </a:txBody>
                  <a:tcPr>
                    <a:solidFill>
                      <a:srgbClr val="F5F7FA"/>
                    </a:solidFill>
                  </a:tcPr>
                </a:tc>
                <a:tc>
                  <a:txBody>
                    <a:bodyPr/>
                    <a:lstStyle/>
                    <a:p>
                      <a:pPr algn="ctr"/>
                      <a:r>
                        <a:rPr sz="750" b="0">
                          <a:solidFill>
                            <a:srgbClr val="1A1A1A"/>
                          </a:solidFill>
                        </a:rPr>
                        <a:t>&lt; 307.6</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1023.65</a:t>
                      </a:r>
                    </a:p>
                  </a:txBody>
                  <a:tcPr>
                    <a:noFill/>
                  </a:tcPr>
                </a:tc>
                <a:tc>
                  <a:txBody>
                    <a:bodyPr/>
                    <a:lstStyle/>
                    <a:p>
                      <a:pPr algn="ctr"/>
                      <a:r>
                        <a:rPr sz="750" b="0">
                          <a:solidFill>
                            <a:srgbClr val="1A1A1A"/>
                          </a:solidFill>
                        </a:rPr>
                        <a:t>1177.2</a:t>
                      </a:r>
                    </a:p>
                  </a:txBody>
                  <a:tcPr>
                    <a:noFill/>
                  </a:tcPr>
                </a:tc>
                <a:tc>
                  <a:txBody>
                    <a:bodyPr/>
                    <a:lstStyle/>
                    <a:p>
                      <a:pPr algn="ctr"/>
                      <a:r>
                        <a:rPr sz="750" b="0">
                          <a:solidFill>
                            <a:srgbClr val="1A1A1A"/>
                          </a:solidFill>
                        </a:rPr>
                        <a:t>&lt; 972.5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313.68</a:t>
                      </a:r>
                    </a:p>
                  </a:txBody>
                  <a:tcPr>
                    <a:solidFill>
                      <a:srgbClr val="F5F7FA"/>
                    </a:solidFill>
                  </a:tcPr>
                </a:tc>
                <a:tc>
                  <a:txBody>
                    <a:bodyPr/>
                    <a:lstStyle/>
                    <a:p>
                      <a:pPr algn="ctr"/>
                      <a:r>
                        <a:rPr sz="750" b="0">
                          <a:solidFill>
                            <a:srgbClr val="1A1A1A"/>
                          </a:solidFill>
                        </a:rPr>
                        <a:t>360.7</a:t>
                      </a:r>
                    </a:p>
                  </a:txBody>
                  <a:tcPr>
                    <a:solidFill>
                      <a:srgbClr val="F5F7FA"/>
                    </a:solidFill>
                  </a:tcPr>
                </a:tc>
                <a:tc>
                  <a:txBody>
                    <a:bodyPr/>
                    <a:lstStyle/>
                    <a:p>
                      <a:pPr algn="ctr"/>
                      <a:r>
                        <a:rPr sz="750" b="0">
                          <a:solidFill>
                            <a:srgbClr val="1A1A1A"/>
                          </a:solidFill>
                        </a:rPr>
                        <a:t>&lt; 298.0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probabilité de rendement positif a 12 mois est calculée sur des configurations similaires identifiees en backtesting sur Données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Réglementation renforcée</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propositions de Bâle IV et les nouvelles règles Dodd-Frank pourraient alourdir les coûts opérationnels et limiter la rentabilité des activités de trading.</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Risque de crédit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Un ralentissement économique prolongé ou une crise immobilière commerciale pourrait dégrader la qualité des actifs et peser sur les provisions.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Concurrence accrue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L'émergence de fintechs et de néobanques intensifie la pression sur les marges des services bancaires traditionnels, notamment dans les paiements et la gestion de patrimoine.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Récession confirmee — 2 trimestrès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65 — dégradation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Révision baissière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financière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Médian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4.4%</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Médian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Génération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78/100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santé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solidité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Résultats trimestriels solides — Les publications récentes de GS, MS et C dépassent systématiquement les attentes du</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Réglementation renforcée — Les propositions de Bâle IV et les nouvelles règles Dodd-Frank pourraient alourdir les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Services Financiers (S&amp;P 500) ressort neutre (0.00), avec 25% d'articles a tonalité positive sur 8 analysés. La dispersion inter-valeurs est prononcée : JPM (+0.00) Porté la composanté haussière tandis que BLK (+0.00) reflète les pressions structurelles. Cette hétérogénéité valide une approche sélective plutôt que directionnelle sur le secteur — le sentiment moyen masque des situations fondamentalement différentes entre leaders et retardataires. La composanté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Boursière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Indexe a 100 au debut de la période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C  +96%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BLK  +15%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81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INTERPRÉTATION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création de valeur tandis que d'autrès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complète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