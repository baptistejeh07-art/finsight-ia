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Services Financiers</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14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17.1x  ·  Croissance med. : +8.9 %  ·  Marge EBITDA med. : 0.0 %  ·  Score moyen : 80/100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Taux Directeurs Élevés</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Maintien des taux BCE a 3 % — soutien structurel aux NIM bancaires et a la rentabilité des depots.</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Consolidation Sectorielle</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Fusions-acquisitions dans la banque retail — prime de contrôle sur les cibles sous-valorisees.</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Digitalisation Services</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Plateformes wealth management numeriques — réduction Coûts et captation millennials investisseurs.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Dégradâtion Crédit</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Hausse des NPL dans l'immobilier commercial et le crédit PME si récession confirmee.</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Baisse Taux BCE</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Pivot accommodant — compression des NIM de 15-25 bps par tranche de 25 bps de baisse.</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Régulation Bale IV</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Exigences CET1 plus élevées — pression sur le ROE et les politiques de retour de capital.</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17.1x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Marché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+8.9 %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0.0 %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+37.5 %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Synthèse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positionnément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Caractéristiques structurelles &amp; métriques de référence</a:t>
            </a:r>
          </a:p>
        </p:txBody>
      </p:sp>
      <p:sp>
        <p:nvSpPr>
          <p:cNvPr id="15" name="Rectangle 14"/>
          <p:cNvSpPr/>
          <p:nvPr/>
        </p:nvSpPr>
        <p:spPr>
          <a:xfrm>
            <a:off x="324000" y="900000"/>
            <a:ext cx="4932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900000"/>
            <a:ext cx="493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928800"/>
            <a:ext cx="4788000" cy="162000"/>
          </a:xfrm>
          <a:prstGeom prst="rect">
            <a:avLst/>
          </a:prstGeom>
          <a:noFill/>
        </p:spPr>
        <p:txBody>
          <a:bodyPr wrap="square">
            <a:spAutoFit/>
          </a:bodyPr>
          <a:lstStyle/>
          <a:p>
            <a:pPr algn="l"/>
            <a:r>
              <a:rPr sz="900" b="1" i="0">
                <a:solidFill>
                  <a:srgbClr val="FFFFFF"/>
                </a:solidFill>
              </a:rPr>
              <a:t>PANORAMA SECTORIEL</a:t>
            </a:r>
          </a:p>
        </p:txBody>
      </p:sp>
      <p:sp>
        <p:nvSpPr>
          <p:cNvPr id="19" name="TextBox 18"/>
          <p:cNvSpPr txBox="1"/>
          <p:nvPr/>
        </p:nvSpPr>
        <p:spPr>
          <a:xfrm>
            <a:off x="468000" y="1152000"/>
            <a:ext cx="4716000" cy="936000"/>
          </a:xfrm>
          <a:prstGeom prst="rect">
            <a:avLst/>
          </a:prstGeom>
          <a:noFill/>
        </p:spPr>
        <p:txBody>
          <a:bodyPr wrap="square">
            <a:spAutoFit/>
          </a:bodyPr>
          <a:lstStyle/>
          <a:p>
            <a:pPr algn="l"/>
            <a:r>
              <a:rPr sz="1000" b="0" i="0">
                <a:solidFill>
                  <a:srgbClr val="555555"/>
                </a:solidFill>
              </a:rPr>
              <a:t>Le secteur Financier couvre les banques, assureurs, sociétés de gestion d'actifs et fintech. L'environnement de taux élevés a restaure la rentabilité des marges d'intérêt, mais l'exposition au crédit immobilier et aux PME reste un facteur de risque dans un contexte macro degrade.</a:t>
            </a:r>
          </a:p>
        </p:txBody>
      </p:sp>
      <p:sp>
        <p:nvSpPr>
          <p:cNvPr id="20" name="Rectangle 19"/>
          <p:cNvSpPr/>
          <p:nvPr/>
        </p:nvSpPr>
        <p:spPr>
          <a:xfrm>
            <a:off x="324000" y="2268000"/>
            <a:ext cx="4932000" cy="239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4000" y="2268000"/>
            <a:ext cx="493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2296800"/>
            <a:ext cx="4788000" cy="162000"/>
          </a:xfrm>
          <a:prstGeom prst="rect">
            <a:avLst/>
          </a:prstGeom>
          <a:noFill/>
        </p:spPr>
        <p:txBody>
          <a:bodyPr wrap="square">
            <a:spAutoFit/>
          </a:bodyPr>
          <a:lstStyle/>
          <a:p>
            <a:pPr algn="l"/>
            <a:r>
              <a:rPr sz="900" b="1" i="0">
                <a:solidFill>
                  <a:srgbClr val="FFFFFF"/>
                </a:solidFill>
              </a:rPr>
              <a:t>CATALYSEURS CLÉS</a:t>
            </a:r>
          </a:p>
        </p:txBody>
      </p:sp>
      <p:sp>
        <p:nvSpPr>
          <p:cNvPr id="23" name="Rectangle 22"/>
          <p:cNvSpPr/>
          <p:nvPr/>
        </p:nvSpPr>
        <p:spPr>
          <a:xfrm>
            <a:off x="396000" y="2520000"/>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3999" y="2538000"/>
            <a:ext cx="4680000" cy="162000"/>
          </a:xfrm>
          <a:prstGeom prst="rect">
            <a:avLst/>
          </a:prstGeom>
          <a:noFill/>
        </p:spPr>
        <p:txBody>
          <a:bodyPr wrap="square">
            <a:spAutoFit/>
          </a:bodyPr>
          <a:lstStyle/>
          <a:p>
            <a:pPr algn="l"/>
            <a:r>
              <a:rPr sz="1000" b="1" i="0">
                <a:solidFill>
                  <a:srgbClr val="1B3A6B"/>
                </a:solidFill>
              </a:rPr>
              <a:t>Taux Directeurs Élevés</a:t>
            </a:r>
          </a:p>
        </p:txBody>
      </p:sp>
      <p:sp>
        <p:nvSpPr>
          <p:cNvPr id="25" name="TextBox 24"/>
          <p:cNvSpPr txBox="1"/>
          <p:nvPr/>
        </p:nvSpPr>
        <p:spPr>
          <a:xfrm>
            <a:off x="503999" y="2718000"/>
            <a:ext cx="4680000" cy="450000"/>
          </a:xfrm>
          <a:prstGeom prst="rect">
            <a:avLst/>
          </a:prstGeom>
          <a:noFill/>
        </p:spPr>
        <p:txBody>
          <a:bodyPr wrap="square">
            <a:spAutoFit/>
          </a:bodyPr>
          <a:lstStyle/>
          <a:p>
            <a:pPr algn="l"/>
            <a:r>
              <a:rPr sz="900" b="0" i="0">
                <a:solidFill>
                  <a:srgbClr val="555555"/>
                </a:solidFill>
              </a:rPr>
              <a:t>Maintien des taux BCE a 3 % — soutien structurel aux NIM bancaires et a la rentabilité des depots.</a:t>
            </a:r>
          </a:p>
        </p:txBody>
      </p:sp>
      <p:sp>
        <p:nvSpPr>
          <p:cNvPr id="26" name="Rectangle 25"/>
          <p:cNvSpPr/>
          <p:nvPr/>
        </p:nvSpPr>
        <p:spPr>
          <a:xfrm>
            <a:off x="396000" y="3221999"/>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3999" y="3240000"/>
            <a:ext cx="4680000" cy="162000"/>
          </a:xfrm>
          <a:prstGeom prst="rect">
            <a:avLst/>
          </a:prstGeom>
          <a:noFill/>
        </p:spPr>
        <p:txBody>
          <a:bodyPr wrap="square">
            <a:spAutoFit/>
          </a:bodyPr>
          <a:lstStyle/>
          <a:p>
            <a:pPr algn="l"/>
            <a:r>
              <a:rPr sz="1000" b="1" i="0">
                <a:solidFill>
                  <a:srgbClr val="1B3A6B"/>
                </a:solidFill>
              </a:rPr>
              <a:t>Consolidation Sectorielle</a:t>
            </a:r>
          </a:p>
        </p:txBody>
      </p:sp>
      <p:sp>
        <p:nvSpPr>
          <p:cNvPr id="28" name="TextBox 27"/>
          <p:cNvSpPr txBox="1"/>
          <p:nvPr/>
        </p:nvSpPr>
        <p:spPr>
          <a:xfrm>
            <a:off x="503999" y="3420000"/>
            <a:ext cx="4680000" cy="450000"/>
          </a:xfrm>
          <a:prstGeom prst="rect">
            <a:avLst/>
          </a:prstGeom>
          <a:noFill/>
        </p:spPr>
        <p:txBody>
          <a:bodyPr wrap="square">
            <a:spAutoFit/>
          </a:bodyPr>
          <a:lstStyle/>
          <a:p>
            <a:pPr algn="l"/>
            <a:r>
              <a:rPr sz="900" b="0" i="0">
                <a:solidFill>
                  <a:srgbClr val="555555"/>
                </a:solidFill>
              </a:rPr>
              <a:t>Fusions-acquisitions dans la banque retail — prime de contrôle sur les cibles sous-valorisees.</a:t>
            </a:r>
          </a:p>
        </p:txBody>
      </p:sp>
      <p:sp>
        <p:nvSpPr>
          <p:cNvPr id="29" name="Rectangle 28"/>
          <p:cNvSpPr/>
          <p:nvPr/>
        </p:nvSpPr>
        <p:spPr>
          <a:xfrm>
            <a:off x="396000" y="3924000"/>
            <a:ext cx="43200" cy="66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3999" y="3942000"/>
            <a:ext cx="4680000" cy="162000"/>
          </a:xfrm>
          <a:prstGeom prst="rect">
            <a:avLst/>
          </a:prstGeom>
          <a:noFill/>
        </p:spPr>
        <p:txBody>
          <a:bodyPr wrap="square">
            <a:spAutoFit/>
          </a:bodyPr>
          <a:lstStyle/>
          <a:p>
            <a:pPr algn="l"/>
            <a:r>
              <a:rPr sz="1000" b="1" i="0">
                <a:solidFill>
                  <a:srgbClr val="1B3A6B"/>
                </a:solidFill>
              </a:rPr>
              <a:t>Digitalisation Services</a:t>
            </a:r>
          </a:p>
        </p:txBody>
      </p:sp>
      <p:sp>
        <p:nvSpPr>
          <p:cNvPr id="31" name="TextBox 30"/>
          <p:cNvSpPr txBox="1"/>
          <p:nvPr/>
        </p:nvSpPr>
        <p:spPr>
          <a:xfrm>
            <a:off x="503999" y="4122000"/>
            <a:ext cx="4680000" cy="450000"/>
          </a:xfrm>
          <a:prstGeom prst="rect">
            <a:avLst/>
          </a:prstGeom>
          <a:noFill/>
        </p:spPr>
        <p:txBody>
          <a:bodyPr wrap="square">
            <a:spAutoFit/>
          </a:bodyPr>
          <a:lstStyle/>
          <a:p>
            <a:pPr algn="l"/>
            <a:r>
              <a:rPr sz="900" b="0" i="0">
                <a:solidFill>
                  <a:srgbClr val="555555"/>
                </a:solidFill>
              </a:rPr>
              <a:t>Plateformes wealth management numeriques — réduction Coûts et captation millennials investisseurs.</a:t>
            </a:r>
          </a:p>
        </p:txBody>
      </p:sp>
      <p:graphicFrame>
        <p:nvGraphicFramePr>
          <p:cNvPr id="32" name="Table 31"/>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17.1x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+8.9 %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+37.5 %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80/100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Sociétés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Analysées</a:t>
                      </a:r>
                    </a:p>
                  </a:txBody>
                  <a:tcPr>
                    <a:solidFill>
                      <a:srgbClr val="F5F7FA"/>
                    </a:solidFill>
                  </a:tcPr>
                </a:tc>
              </a:tr>
            </a:tbl>
          </a:graphicData>
        </a:graphic>
      </p:graphicFrame>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The Goldman Sachs Group, Inc</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0.7x</a:t>
                      </a:r>
                    </a:p>
                  </a:txBody>
                  <a:tcPr>
                    <a:noFill/>
                  </a:tcPr>
                </a:tc>
                <a:tc>
                  <a:txBody>
                    <a:bodyPr/>
                    <a:lstStyle/>
                    <a:p>
                      <a:pPr algn="ctr"/>
                      <a:r>
                        <a:rPr sz="750" b="0">
                          <a:solidFill>
                            <a:srgbClr val="1A1A1A"/>
                          </a:solidFill>
                        </a:rPr>
                        <a:t>16.3x</a:t>
                      </a:r>
                    </a:p>
                  </a:txBody>
                  <a:tcPr>
                    <a:noFill/>
                  </a:tcPr>
                </a:tc>
                <a:tc>
                  <a:txBody>
                    <a:bodyPr/>
                    <a:lstStyle/>
                    <a:p>
                      <a:pPr algn="ctr"/>
                      <a:r>
                        <a:rPr sz="750" b="0">
                          <a:solidFill>
                            <a:srgbClr val="1A1A1A"/>
                          </a:solidFill>
                        </a:rPr>
                        <a:t>82.9 %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13.9 %</a:t>
                      </a:r>
                    </a:p>
                  </a:txBody>
                  <a:tcPr>
                    <a:noFill/>
                  </a:tcPr>
                </a:tc>
              </a:tr>
              <a:tr h="198000">
                <a:tc>
                  <a:txBody>
                    <a:bodyPr/>
                    <a:lstStyle/>
                    <a:p>
                      <a:pPr algn="ctr"/>
                      <a:r>
                        <a:rPr sz="750" b="0">
                          <a:solidFill>
                            <a:srgbClr val="1A1A1A"/>
                          </a:solidFill>
                        </a:rPr>
                        <a:t>Morgan Stanley</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3.0x</a:t>
                      </a:r>
                    </a:p>
                  </a:txBody>
                  <a:tcPr>
                    <a:solidFill>
                      <a:srgbClr val="F5F7FA"/>
                    </a:solidFill>
                  </a:tcPr>
                </a:tc>
                <a:tc>
                  <a:txBody>
                    <a:bodyPr/>
                    <a:lstStyle/>
                    <a:p>
                      <a:pPr algn="ctr"/>
                      <a:r>
                        <a:rPr sz="750" b="0">
                          <a:solidFill>
                            <a:srgbClr val="1A1A1A"/>
                          </a:solidFill>
                        </a:rPr>
                        <a:t>17.7x</a:t>
                      </a:r>
                    </a:p>
                  </a:txBody>
                  <a:tcPr>
                    <a:solidFill>
                      <a:srgbClr val="F5F7FA"/>
                    </a:solidFill>
                  </a:tcPr>
                </a:tc>
                <a:tc>
                  <a:txBody>
                    <a:bodyPr/>
                    <a:lstStyle/>
                    <a:p>
                      <a:pPr algn="ctr"/>
                      <a:r>
                        <a:rPr sz="750" b="0">
                          <a:solidFill>
                            <a:srgbClr val="1A1A1A"/>
                          </a:solidFill>
                        </a:rPr>
                        <a:t>87.1 %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15.6 %</a:t>
                      </a:r>
                    </a:p>
                  </a:txBody>
                  <a:tcPr>
                    <a:solidFill>
                      <a:srgbClr val="F5F7FA"/>
                    </a:solidFill>
                  </a:tcPr>
                </a:tc>
              </a:tr>
              <a:tr h="198000">
                <a:tc>
                  <a:txBody>
                    <a:bodyPr/>
                    <a:lstStyle/>
                    <a:p>
                      <a:pPr algn="ctr"/>
                      <a:r>
                        <a:rPr sz="750" b="0">
                          <a:solidFill>
                            <a:srgbClr val="1A1A1A"/>
                          </a:solidFill>
                        </a:rPr>
                        <a:t>Citigroup Inc.</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0.4x</a:t>
                      </a:r>
                    </a:p>
                  </a:txBody>
                  <a:tcPr>
                    <a:noFill/>
                  </a:tcPr>
                </a:tc>
                <a:tc>
                  <a:txBody>
                    <a:bodyPr/>
                    <a:lstStyle/>
                    <a:p>
                      <a:pPr algn="ctr"/>
                      <a:r>
                        <a:rPr sz="750" b="0">
                          <a:solidFill>
                            <a:srgbClr val="1A1A1A"/>
                          </a:solidFill>
                        </a:rPr>
                        <a:t>18.0x</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Bank of America Corporation</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3.8x</a:t>
                      </a:r>
                    </a:p>
                  </a:txBody>
                  <a:tcPr>
                    <a:solidFill>
                      <a:srgbClr val="F5F7FA"/>
                    </a:solidFill>
                  </a:tcPr>
                </a:tc>
                <a:tc>
                  <a:txBody>
                    <a:bodyPr/>
                    <a:lstStyle/>
                    <a:p>
                      <a:pPr algn="ctr"/>
                      <a:r>
                        <a:rPr sz="750" b="0">
                          <a:solidFill>
                            <a:srgbClr val="1A1A1A"/>
                          </a:solidFill>
                        </a:rPr>
                        <a:t>14.0x</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10.2 %</a:t>
                      </a:r>
                    </a:p>
                  </a:txBody>
                  <a:tcPr>
                    <a:solidFill>
                      <a:srgbClr val="F5F7FA"/>
                    </a:solidFill>
                  </a:tcPr>
                </a:tc>
              </a:tr>
              <a:tr h="198000">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3.5x</a:t>
                      </a:r>
                    </a:p>
                  </a:txBody>
                  <a:tcPr>
                    <a:noFill/>
                  </a:tcPr>
                </a:tc>
                <a:tc>
                  <a:txBody>
                    <a:bodyPr/>
                    <a:lstStyle/>
                    <a:p>
                      <a:pPr algn="ctr"/>
                      <a:r>
                        <a:rPr sz="750" b="0">
                          <a:solidFill>
                            <a:srgbClr val="1A1A1A"/>
                          </a:solidFill>
                        </a:rPr>
                        <a:t>13.8x</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11.7 %</a:t>
                      </a:r>
                    </a:p>
                  </a:txBody>
                  <a:tcPr>
                    <a:noFill/>
                  </a:tcPr>
                </a:tc>
              </a:tr>
              <a:tr h="198000">
                <a:tc>
                  <a:txBody>
                    <a:bodyPr/>
                    <a:lstStyle/>
                    <a:p>
                      <a:pPr algn="ctr"/>
                      <a:r>
                        <a:rPr sz="750" b="0">
                          <a:solidFill>
                            <a:srgbClr val="1A1A1A"/>
                          </a:solidFill>
                        </a:rPr>
                        <a:t>American Express Company</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3.6x</a:t>
                      </a:r>
                    </a:p>
                  </a:txBody>
                  <a:tcPr>
                    <a:solidFill>
                      <a:srgbClr val="F5F7FA"/>
                    </a:solidFill>
                  </a:tcPr>
                </a:tc>
                <a:tc>
                  <a:txBody>
                    <a:bodyPr/>
                    <a:lstStyle/>
                    <a:p>
                      <a:pPr algn="ctr"/>
                      <a:r>
                        <a:rPr sz="750" b="0">
                          <a:solidFill>
                            <a:srgbClr val="1A1A1A"/>
                          </a:solidFill>
                        </a:rPr>
                        <a:t>21.1x</a:t>
                      </a:r>
                    </a:p>
                  </a:txBody>
                  <a:tcPr>
                    <a:solidFill>
                      <a:srgbClr val="F5F7FA"/>
                    </a:solidFill>
                  </a:tcPr>
                </a:tc>
                <a:tc>
                  <a:txBody>
                    <a:bodyPr/>
                    <a:lstStyle/>
                    <a:p>
                      <a:pPr algn="ctr"/>
                      <a:r>
                        <a:rPr sz="750" b="0">
                          <a:solidFill>
                            <a:srgbClr val="1A1A1A"/>
                          </a:solidFill>
                        </a:rPr>
                        <a:t>63.5 %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34.0 %</a:t>
                      </a:r>
                    </a:p>
                  </a:txBody>
                  <a:tcPr>
                    <a:solidFill>
                      <a:srgbClr val="F5F7FA"/>
                    </a:solidFill>
                  </a:tcPr>
                </a:tc>
              </a:tr>
              <a:tr h="198000">
                <a:tc>
                  <a:txBody>
                    <a:bodyPr/>
                    <a:lstStyle/>
                    <a:p>
                      <a:pPr algn="ctr"/>
                      <a:r>
                        <a:rPr sz="750" b="0">
                          <a:solidFill>
                            <a:srgbClr val="1A1A1A"/>
                          </a:solidFill>
                        </a:rPr>
                        <a:t>BlackRock, Inc.</a:t>
                      </a:r>
                    </a:p>
                  </a:txBody>
                  <a:tcPr>
                    <a:noFill/>
                  </a:tcPr>
                </a:tc>
                <a:tc>
                  <a:txBody>
                    <a:bodyPr/>
                    <a:lstStyle/>
                    <a:p>
                      <a:pPr algn="ctr"/>
                      <a:r>
                        <a:rPr sz="750" b="0">
                          <a:solidFill>
                            <a:srgbClr val="1A1A1A"/>
                          </a:solidFill>
                        </a:rPr>
                        <a:t>17.1x</a:t>
                      </a:r>
                    </a:p>
                  </a:txBody>
                  <a:tcPr>
                    <a:noFill/>
                  </a:tcPr>
                </a:tc>
                <a:tc>
                  <a:txBody>
                    <a:bodyPr/>
                    <a:lstStyle/>
                    <a:p>
                      <a:pPr algn="ctr"/>
                      <a:r>
                        <a:rPr sz="750" b="0">
                          <a:solidFill>
                            <a:srgbClr val="1A1A1A"/>
                          </a:solidFill>
                        </a:rPr>
                        <a:t>6.8x</a:t>
                      </a:r>
                    </a:p>
                  </a:txBody>
                  <a:tcPr>
                    <a:noFill/>
                  </a:tcPr>
                </a:tc>
                <a:tc>
                  <a:txBody>
                    <a:bodyPr/>
                    <a:lstStyle/>
                    <a:p>
                      <a:pPr algn="ctr"/>
                      <a:r>
                        <a:rPr sz="750" b="0">
                          <a:solidFill>
                            <a:srgbClr val="1A1A1A"/>
                          </a:solidFill>
                        </a:rPr>
                        <a:t>29.0x</a:t>
                      </a:r>
                    </a:p>
                  </a:txBody>
                  <a:tcPr>
                    <a:noFill/>
                  </a:tcPr>
                </a:tc>
                <a:tc>
                  <a:txBody>
                    <a:bodyPr/>
                    <a:lstStyle/>
                    <a:p>
                      <a:pPr algn="ctr"/>
                      <a:r>
                        <a:rPr sz="750" b="0">
                          <a:solidFill>
                            <a:srgbClr val="1A1A1A"/>
                          </a:solidFill>
                        </a:rPr>
                        <a:t>46.7 %</a:t>
                      </a:r>
                    </a:p>
                  </a:txBody>
                  <a:tcPr>
                    <a:noFill/>
                  </a:tcPr>
                </a:tc>
                <a:tc>
                  <a:txBody>
                    <a:bodyPr/>
                    <a:lstStyle/>
                    <a:p>
                      <a:pPr algn="ctr"/>
                      <a:r>
                        <a:rPr sz="750" b="0">
                          <a:solidFill>
                            <a:srgbClr val="1A1A1A"/>
                          </a:solidFill>
                        </a:rPr>
                        <a:t>40.0 %</a:t>
                      </a:r>
                    </a:p>
                  </a:txBody>
                  <a:tcPr>
                    <a:noFill/>
                  </a:tcPr>
                </a:tc>
                <a:tc>
                  <a:txBody>
                    <a:bodyPr/>
                    <a:lstStyle/>
                    <a:p>
                      <a:pPr algn="ctr"/>
                      <a:r>
                        <a:rPr sz="750" b="0">
                          <a:solidFill>
                            <a:srgbClr val="1A1A1A"/>
                          </a:solidFill>
                        </a:rPr>
                        <a:t>10.7 %</a:t>
                      </a:r>
                    </a:p>
                  </a:txBody>
                  <a:tcPr>
                    <a:noFill/>
                  </a:tcPr>
                </a:tc>
              </a:tr>
              <a:tr h="198000">
                <a:tc>
                  <a:txBody>
                    <a:bodyPr/>
                    <a:lstStyle/>
                    <a:p>
                      <a:pPr algn="ctr"/>
                      <a:r>
                        <a:rPr sz="750" b="0">
                          <a:solidFill>
                            <a:srgbClr val="1A1A1A"/>
                          </a:solidFill>
                        </a:rPr>
                        <a:t>JPMorgan Chase &amp; Co.</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3.6x</a:t>
                      </a:r>
                    </a:p>
                  </a:txBody>
                  <a:tcPr>
                    <a:solidFill>
                      <a:srgbClr val="F5F7FA"/>
                    </a:solidFill>
                  </a:tcPr>
                </a:tc>
                <a:tc>
                  <a:txBody>
                    <a:bodyPr/>
                    <a:lstStyle/>
                    <a:p>
                      <a:pPr algn="ctr"/>
                      <a:r>
                        <a:rPr sz="750" b="0">
                          <a:solidFill>
                            <a:srgbClr val="1A1A1A"/>
                          </a:solidFill>
                        </a:rPr>
                        <a:t>15.7x</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16.1 %</a:t>
                      </a:r>
                    </a:p>
                  </a:txBody>
                  <a:tcPr>
                    <a:solidFill>
                      <a:srgbClr val="F5F7FA"/>
                    </a:solidFill>
                  </a:tcPr>
                </a:tc>
              </a:tr>
              <a:tr h="198000">
                <a:tc>
                  <a:txBody>
                    <a:bodyPr/>
                    <a:lstStyle/>
                    <a:p>
                      <a:pPr algn="ctr"/>
                      <a:r>
                        <a:rPr sz="750" b="0">
                          <a:solidFill>
                            <a:srgbClr val="1A1A1A"/>
                          </a:solidFill>
                        </a:rPr>
                        <a:t>MÉDIANE</a:t>
                      </a:r>
                    </a:p>
                  </a:txBody>
                  <a:tcPr>
                    <a:noFill/>
                  </a:tcPr>
                </a:tc>
                <a:tc>
                  <a:txBody>
                    <a:bodyPr/>
                    <a:lstStyle/>
                    <a:p>
                      <a:pPr algn="ctr"/>
                      <a:r>
                        <a:rPr sz="750" b="0">
                          <a:solidFill>
                            <a:srgbClr val="1A1A1A"/>
                          </a:solidFill>
                        </a:rPr>
                        <a:t>17.1x</a:t>
                      </a:r>
                    </a:p>
                  </a:txBody>
                  <a:tcPr>
                    <a:noFill/>
                  </a:tcPr>
                </a:tc>
                <a:tc>
                  <a:txBody>
                    <a:bodyPr/>
                    <a:lstStyle/>
                    <a:p>
                      <a:pPr algn="ctr"/>
                      <a:r>
                        <a:rPr sz="750" b="0">
                          <a:solidFill>
                            <a:srgbClr val="1A1A1A"/>
                          </a:solidFill>
                        </a:rPr>
                        <a:t>3.5x</a:t>
                      </a:r>
                    </a:p>
                  </a:txBody>
                  <a:tcPr>
                    <a:noFill/>
                  </a:tcPr>
                </a:tc>
                <a:tc>
                  <a:txBody>
                    <a:bodyPr/>
                    <a:lstStyle/>
                    <a:p>
                      <a:pPr algn="ctr"/>
                      <a:r>
                        <a:rPr sz="750" b="0">
                          <a:solidFill>
                            <a:srgbClr val="1A1A1A"/>
                          </a:solidFill>
                        </a:rPr>
                        <a:t>17.0x</a:t>
                      </a:r>
                    </a:p>
                  </a:txBody>
                  <a:tcPr>
                    <a:noFill/>
                  </a:tcPr>
                </a:tc>
                <a:tc>
                  <a:txBody>
                    <a:bodyPr/>
                    <a:lstStyle/>
                    <a:p>
                      <a:pPr algn="ctr"/>
                      <a:r>
                        <a:rPr sz="750" b="0">
                          <a:solidFill>
                            <a:srgbClr val="1A1A1A"/>
                          </a:solidFill>
                        </a:rPr>
                        <a:t>73.2 %</a:t>
                      </a:r>
                    </a:p>
                  </a:txBody>
                  <a:tcPr>
                    <a:noFill/>
                  </a:tcPr>
                </a:tc>
                <a:tc>
                  <a:txBody>
                    <a:bodyPr/>
                    <a:lstStyle/>
                    <a:p>
                      <a:pPr algn="ctr"/>
                      <a:r>
                        <a:rPr sz="750" b="0">
                          <a:solidFill>
                            <a:srgbClr val="1A1A1A"/>
                          </a:solidFill>
                        </a:rPr>
                        <a:t>40.0 %</a:t>
                      </a:r>
                    </a:p>
                  </a:txBody>
                  <a:tcPr>
                    <a:noFill/>
                  </a:tcPr>
                </a:tc>
                <a:tc>
                  <a:txBody>
                    <a:bodyPr/>
                    <a:lstStyle/>
                    <a:p>
                      <a:pPr algn="ctr"/>
                      <a:r>
                        <a:rPr sz="750" b="0">
                          <a:solidFill>
                            <a:srgbClr val="1A1A1A"/>
                          </a:solidFill>
                        </a:rPr>
                        <a:t>12.8 %</a:t>
                      </a:r>
                    </a:p>
                  </a:txBody>
                  <a:tcPr>
                    <a:noFill/>
                  </a:tcPr>
                </a:tc>
              </a:tr>
            </a:tbl>
          </a:graphicData>
        </a:graphic>
      </p:graphicFrame>
      <p:sp>
        <p:nvSpPr>
          <p:cNvPr id="16" name="Rectangle 15"/>
          <p:cNvSpPr/>
          <p:nvPr/>
        </p:nvSpPr>
        <p:spPr>
          <a:xfrm>
            <a:off x="324000" y="3131999"/>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131999"/>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150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420000"/>
            <a:ext cx="8352000" cy="720000"/>
          </a:xfrm>
          <a:prstGeom prst="rect">
            <a:avLst/>
          </a:prstGeom>
          <a:noFill/>
        </p:spPr>
        <p:txBody>
          <a:bodyPr wrap="square">
            <a:spAutoFit/>
          </a:bodyPr>
          <a:lstStyle/>
          <a:p>
            <a:pPr algn="l"/>
            <a:r>
              <a:rPr sz="850" b="0" i="0">
                <a:solidFill>
                  <a:srgbClr val="555555"/>
                </a:solidFill>
              </a:rPr>
              <a:t>La Médiane EV/EBITDA sectorielle s établit a 17.1x LTM. The Goldman Sachs Gr (—) se distingue comme le leader de qualité, combine a une marge EBITDA de 0.0 % et une croissance de +15.2 %. La dispersion des multiples revele l hétérogèneite des profils au sein du secteur Services Financiers — une lecture croisée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Marge Nette d'Intérêt</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Taux élevés soutiennent les NIM — pic attendu T2 2026</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Gestion d'Actifs</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Collecte nette positive — Marchés actions porteurs</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Coût du Risque</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Montee progressive des provisions — NPL en hausse</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Régulation</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Bale IV — impact CET1 estime a -80bps grandes banques EU</a:t>
            </a:r>
          </a:p>
        </p:txBody>
      </p:sp>
      <p:sp>
        <p:nvSpPr>
          <p:cNvPr id="35" name="Rectangle 34"/>
          <p:cNvSpPr/>
          <p:nvPr/>
        </p:nvSpPr>
        <p:spPr>
          <a:xfrm>
            <a:off x="5976000" y="900000"/>
            <a:ext cx="2844000" cy="39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80/100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Médian : 9.9 %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Secteur en maturité cyclique | NIM en pic, qualité d'actif à surveiller</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1A7A4A"/>
                </a:solidFill>
              </a:rPr>
              <a:t>Régime : Bull</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10%  (Faible)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par Sous-Secteur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4 industries GICS identifiées</a:t>
            </a:r>
          </a:p>
        </p:txBody>
      </p:sp>
      <p:graphicFrame>
        <p:nvGraphicFramePr>
          <p:cNvPr id="15" name="Table 14"/>
          <p:cNvGraphicFramePr>
            <a:graphicFrameLocks noGrp="1"/>
          </p:cNvGraphicFramePr>
          <p:nvPr/>
        </p:nvGraphicFramePr>
        <p:xfrm>
          <a:off x="324000" y="792000"/>
          <a:ext cx="8495997" cy="766800"/>
        </p:xfrm>
        <a:graphic>
          <a:graphicData uri="http://schemas.openxmlformats.org/drawingml/2006/table">
            <a:tbl>
              <a:tblPr firstRow="1" bandRow="1">
                <a:tableStyleId>{5C22544A-7EE6-4342-B048-85BDC9FD1C3A}</a:tableStyleId>
              </a:tblPr>
              <a:tblGrid>
                <a:gridCol w="2404528"/>
                <a:gridCol w="601132"/>
                <a:gridCol w="721358"/>
                <a:gridCol w="1122113"/>
                <a:gridCol w="1001886"/>
                <a:gridCol w="881660"/>
                <a:gridCol w="881660"/>
                <a:gridCol w="881660"/>
              </a:tblGrid>
              <a:tr h="153360">
                <a:tc>
                  <a:txBody>
                    <a:bodyPr/>
                    <a:lstStyle/>
                    <a:p>
                      <a:pPr algn="l"/>
                      <a:r>
                        <a:rPr sz="800" b="1">
                          <a:solidFill>
                            <a:srgbClr val="FFFFFF"/>
                          </a:solidFill>
                        </a:rPr>
                        <a:t>Sous-secteur</a:t>
                      </a:r>
                    </a:p>
                  </a:txBody>
                  <a:tcPr>
                    <a:solidFill>
                      <a:srgbClr val="1B3A6B"/>
                    </a:solidFill>
                  </a:tcPr>
                </a:tc>
                <a:tc>
                  <a:txBody>
                    <a:bodyPr/>
                    <a:lstStyle/>
                    <a:p>
                      <a:pPr algn="ctr"/>
                      <a:r>
                        <a:rPr sz="800" b="1">
                          <a:solidFill>
                            <a:srgbClr val="FFFFFF"/>
                          </a:solidFill>
                        </a:rPr>
                        <a:t>Nb</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Marge</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153360">
                <a:tc>
                  <a:txBody>
                    <a:bodyPr/>
                    <a:lstStyle/>
                    <a:p>
                      <a:pPr algn="l"/>
                      <a:r>
                        <a:rPr sz="800">
                          <a:solidFill>
                            <a:srgbClr val="1A1A1A"/>
                          </a:solidFill>
                        </a:rPr>
                        <a:t>Capital Markets</a:t>
                      </a:r>
                    </a:p>
                  </a:txBody>
                  <a:tcPr>
                    <a:solidFill>
                      <a:srgbClr val="F5F7FA"/>
                    </a:solidFill>
                  </a:tcPr>
                </a:tc>
                <a:tc>
                  <a:txBody>
                    <a:bodyPr/>
                    <a:lstStyle/>
                    <a:p>
                      <a:pPr algn="ctr"/>
                      <a:r>
                        <a:rPr sz="800">
                          <a:solidFill>
                            <a:srgbClr val="1A1A1A"/>
                          </a:solidFill>
                        </a:rPr>
                        <a:t>2</a:t>
                      </a:r>
                    </a:p>
                  </a:txBody>
                  <a:tcPr>
                    <a:solidFill>
                      <a:srgbClr val="F5F7FA"/>
                    </a:solidFill>
                  </a:tcPr>
                </a:tc>
                <a:tc>
                  <a:txBody>
                    <a:bodyPr/>
                    <a:lstStyle/>
                    <a:p>
                      <a:pPr algn="ctr"/>
                      <a:r>
                        <a:rPr sz="800">
                          <a:solidFill>
                            <a:srgbClr val="1A1A1A"/>
                          </a:solidFill>
                        </a:rPr>
                        <a:t>88</a:t>
                      </a:r>
                    </a:p>
                  </a:txBody>
                  <a:tcPr>
                    <a:solidFill>
                      <a:srgbClr val="F5F7FA"/>
                    </a:solidFill>
                  </a:tcPr>
                </a:tc>
                <a:tc>
                  <a:txBody>
                    <a:bodyPr/>
                    <a:lstStyle/>
                    <a:p>
                      <a:pPr algn="ctr"/>
                      <a:r>
                        <a:rPr sz="800" b="1">
                          <a:solidFill>
                            <a:srgbClr val="1A7A4A"/>
                          </a:solidFill>
                        </a:rPr>
                        <a:t>Surpondérer</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+13.1%</a:t>
                      </a:r>
                    </a:p>
                  </a:txBody>
                  <a:tcPr>
                    <a:solidFill>
                      <a:srgbClr val="F5F7FA"/>
                    </a:solidFill>
                  </a:tcPr>
                </a:tc>
                <a:tc>
                  <a:txBody>
                    <a:bodyPr/>
                    <a:lstStyle/>
                    <a:p>
                      <a:pPr algn="ctr"/>
                      <a:r>
                        <a:rPr sz="800">
                          <a:solidFill>
                            <a:srgbClr val="1A1A1A"/>
                          </a:solidFill>
                        </a:rPr>
                        <a:t>+69.7%</a:t>
                      </a:r>
                    </a:p>
                  </a:txBody>
                  <a:tcPr>
                    <a:solidFill>
                      <a:srgbClr val="F5F7FA"/>
                    </a:solidFill>
                  </a:tcPr>
                </a:tc>
              </a:tr>
              <a:tr h="153360">
                <a:tc>
                  <a:txBody>
                    <a:bodyPr/>
                    <a:lstStyle/>
                    <a:p>
                      <a:pPr algn="l"/>
                      <a:r>
                        <a:rPr sz="800">
                          <a:solidFill>
                            <a:srgbClr val="1A1A1A"/>
                          </a:solidFill>
                        </a:rPr>
                        <a:t>Banks - Diversified</a:t>
                      </a:r>
                    </a:p>
                  </a:txBody>
                  <a:tcPr>
                    <a:solidFill>
                      <a:srgbClr val="FFFFFF"/>
                    </a:solidFill>
                  </a:tcPr>
                </a:tc>
                <a:tc>
                  <a:txBody>
                    <a:bodyPr/>
                    <a:lstStyle/>
                    <a:p>
                      <a:pPr algn="ctr"/>
                      <a:r>
                        <a:rPr sz="800">
                          <a:solidFill>
                            <a:srgbClr val="1A1A1A"/>
                          </a:solidFill>
                        </a:rPr>
                        <a:t>4</a:t>
                      </a:r>
                    </a:p>
                  </a:txBody>
                  <a:tcPr>
                    <a:solidFill>
                      <a:srgbClr val="FFFFFF"/>
                    </a:solidFill>
                  </a:tcPr>
                </a:tc>
                <a:tc>
                  <a:txBody>
                    <a:bodyPr/>
                    <a:lstStyle/>
                    <a:p>
                      <a:pPr algn="ctr"/>
                      <a:r>
                        <a:rPr sz="800">
                          <a:solidFill>
                            <a:srgbClr val="1A1A1A"/>
                          </a:solidFill>
                        </a:rPr>
                        <a:t>78</a:t>
                      </a:r>
                    </a:p>
                  </a:txBody>
                  <a:tcPr>
                    <a:solidFill>
                      <a:srgbClr val="FFFFFF"/>
                    </a:solidFill>
                  </a:tcPr>
                </a:tc>
                <a:tc>
                  <a:txBody>
                    <a:bodyPr/>
                    <a:lstStyle/>
                    <a:p>
                      <a:pPr algn="ctr"/>
                      <a:r>
                        <a:rPr sz="800" b="1">
                          <a:solidFill>
                            <a:srgbClr val="1A7A4A"/>
                          </a:solidFill>
                        </a:rPr>
                        <a:t>Surpondérer</a:t>
                      </a:r>
                    </a:p>
                  </a:txBody>
                  <a:tcPr>
                    <a:solidFill>
                      <a:srgbClr val="FFFFFF"/>
                    </a:solidFill>
                  </a:tcPr>
                </a:tc>
                <a:tc>
                  <a:txBody>
                    <a:bodyPr/>
                    <a:lstStyle/>
                    <a:p>
                      <a:pPr algn="ctr"/>
                      <a:r>
                        <a:rPr sz="800">
                          <a:solidFill>
                            <a:srgbClr val="1A1A1A"/>
                          </a:solidFill>
                        </a:rPr>
                        <a:t>—</a:t>
                      </a:r>
                    </a:p>
                  </a:txBody>
                  <a:tcPr>
                    <a:solidFill>
                      <a:srgbClr val="FFFFFF"/>
                    </a:solidFill>
                  </a:tcPr>
                </a:tc>
                <a:tc>
                  <a:txBody>
                    <a:bodyPr/>
                    <a:lstStyle/>
                    <a:p>
                      <a:pPr algn="ctr"/>
                      <a:r>
                        <a:rPr sz="800">
                          <a:solidFill>
                            <a:srgbClr val="1A1A1A"/>
                          </a:solidFill>
                        </a:rPr>
                        <a:t>—</a:t>
                      </a:r>
                    </a:p>
                  </a:txBody>
                  <a:tcPr>
                    <a:solidFill>
                      <a:srgbClr val="FFFFFF"/>
                    </a:solidFill>
                  </a:tcPr>
                </a:tc>
                <a:tc>
                  <a:txBody>
                    <a:bodyPr/>
                    <a:lstStyle/>
                    <a:p>
                      <a:pPr algn="ctr"/>
                      <a:r>
                        <a:rPr sz="800">
                          <a:solidFill>
                            <a:srgbClr val="1A1A1A"/>
                          </a:solidFill>
                        </a:rPr>
                        <a:t>+4.7%</a:t>
                      </a:r>
                    </a:p>
                  </a:txBody>
                  <a:tcPr>
                    <a:solidFill>
                      <a:srgbClr val="FFFFFF"/>
                    </a:solidFill>
                  </a:tcPr>
                </a:tc>
                <a:tc>
                  <a:txBody>
                    <a:bodyPr/>
                    <a:lstStyle/>
                    <a:p>
                      <a:pPr algn="ctr"/>
                      <a:r>
                        <a:rPr sz="800">
                          <a:solidFill>
                            <a:srgbClr val="1A1A1A"/>
                          </a:solidFill>
                        </a:rPr>
                        <a:t>+37.5%</a:t>
                      </a:r>
                    </a:p>
                  </a:txBody>
                  <a:tcPr>
                    <a:solidFill>
                      <a:srgbClr val="FFFFFF"/>
                    </a:solidFill>
                  </a:tcPr>
                </a:tc>
              </a:tr>
              <a:tr h="153360">
                <a:tc>
                  <a:txBody>
                    <a:bodyPr/>
                    <a:lstStyle/>
                    <a:p>
                      <a:pPr algn="l"/>
                      <a:r>
                        <a:rPr sz="800">
                          <a:solidFill>
                            <a:srgbClr val="1A1A1A"/>
                          </a:solidFill>
                        </a:rPr>
                        <a:t>Credit Services</a:t>
                      </a:r>
                    </a:p>
                  </a:txBody>
                  <a:tcPr>
                    <a:solidFill>
                      <a:srgbClr val="F5F7FA"/>
                    </a:solidFill>
                  </a:tcPr>
                </a:tc>
                <a:tc>
                  <a:txBody>
                    <a:bodyPr/>
                    <a:lstStyle/>
                    <a:p>
                      <a:pPr algn="ctr"/>
                      <a:r>
                        <a:rPr sz="800">
                          <a:solidFill>
                            <a:srgbClr val="1A1A1A"/>
                          </a:solidFill>
                        </a:rPr>
                        <a:t>1</a:t>
                      </a:r>
                    </a:p>
                  </a:txBody>
                  <a:tcPr>
                    <a:solidFill>
                      <a:srgbClr val="F5F7FA"/>
                    </a:solidFill>
                  </a:tcPr>
                </a:tc>
                <a:tc>
                  <a:txBody>
                    <a:bodyPr/>
                    <a:lstStyle/>
                    <a:p>
                      <a:pPr algn="ctr"/>
                      <a:r>
                        <a:rPr sz="800">
                          <a:solidFill>
                            <a:srgbClr val="1A1A1A"/>
                          </a:solidFill>
                        </a:rPr>
                        <a:t>76</a:t>
                      </a:r>
                    </a:p>
                  </a:txBody>
                  <a:tcPr>
                    <a:solidFill>
                      <a:srgbClr val="F5F7FA"/>
                    </a:solidFill>
                  </a:tcPr>
                </a:tc>
                <a:tc>
                  <a:txBody>
                    <a:bodyPr/>
                    <a:lstStyle/>
                    <a:p>
                      <a:pPr algn="ctr"/>
                      <a:r>
                        <a:rPr sz="800" b="1">
                          <a:solidFill>
                            <a:srgbClr val="1A7A4A"/>
                          </a:solidFill>
                        </a:rPr>
                        <a:t>Surpondérer</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a:t>
                      </a:r>
                    </a:p>
                  </a:txBody>
                  <a:tcPr>
                    <a:solidFill>
                      <a:srgbClr val="F5F7FA"/>
                    </a:solidFill>
                  </a:tcPr>
                </a:tc>
                <a:tc>
                  <a:txBody>
                    <a:bodyPr/>
                    <a:lstStyle/>
                    <a:p>
                      <a:pPr algn="ctr"/>
                      <a:r>
                        <a:rPr sz="800">
                          <a:solidFill>
                            <a:srgbClr val="1A1A1A"/>
                          </a:solidFill>
                        </a:rPr>
                        <a:t>+10.6%</a:t>
                      </a:r>
                    </a:p>
                  </a:txBody>
                  <a:tcPr>
                    <a:solidFill>
                      <a:srgbClr val="F5F7FA"/>
                    </a:solidFill>
                  </a:tcPr>
                </a:tc>
                <a:tc>
                  <a:txBody>
                    <a:bodyPr/>
                    <a:lstStyle/>
                    <a:p>
                      <a:pPr algn="ctr"/>
                      <a:r>
                        <a:rPr sz="800">
                          <a:solidFill>
                            <a:srgbClr val="1A1A1A"/>
                          </a:solidFill>
                        </a:rPr>
                        <a:t>+25.6%</a:t>
                      </a:r>
                    </a:p>
                  </a:txBody>
                  <a:tcPr>
                    <a:solidFill>
                      <a:srgbClr val="F5F7FA"/>
                    </a:solidFill>
                  </a:tcPr>
                </a:tc>
              </a:tr>
              <a:tr h="153360">
                <a:tc>
                  <a:txBody>
                    <a:bodyPr/>
                    <a:lstStyle/>
                    <a:p>
                      <a:pPr algn="l"/>
                      <a:r>
                        <a:rPr sz="800">
                          <a:solidFill>
                            <a:srgbClr val="1A1A1A"/>
                          </a:solidFill>
                        </a:rPr>
                        <a:t>Asset Management</a:t>
                      </a:r>
                    </a:p>
                  </a:txBody>
                  <a:tcPr>
                    <a:solidFill>
                      <a:srgbClr val="FFFFFF"/>
                    </a:solidFill>
                  </a:tcPr>
                </a:tc>
                <a:tc>
                  <a:txBody>
                    <a:bodyPr/>
                    <a:lstStyle/>
                    <a:p>
                      <a:pPr algn="ctr"/>
                      <a:r>
                        <a:rPr sz="800">
                          <a:solidFill>
                            <a:srgbClr val="1A1A1A"/>
                          </a:solidFill>
                        </a:rPr>
                        <a:t>1</a:t>
                      </a:r>
                    </a:p>
                  </a:txBody>
                  <a:tcPr>
                    <a:solidFill>
                      <a:srgbClr val="FFFFFF"/>
                    </a:solidFill>
                  </a:tcPr>
                </a:tc>
                <a:tc>
                  <a:txBody>
                    <a:bodyPr/>
                    <a:lstStyle/>
                    <a:p>
                      <a:pPr algn="ctr"/>
                      <a:r>
                        <a:rPr sz="800">
                          <a:solidFill>
                            <a:srgbClr val="1A1A1A"/>
                          </a:solidFill>
                        </a:rPr>
                        <a:t>75</a:t>
                      </a:r>
                    </a:p>
                  </a:txBody>
                  <a:tcPr>
                    <a:solidFill>
                      <a:srgbClr val="FFFFFF"/>
                    </a:solidFill>
                  </a:tcPr>
                </a:tc>
                <a:tc>
                  <a:txBody>
                    <a:bodyPr/>
                    <a:lstStyle/>
                    <a:p>
                      <a:pPr algn="ctr"/>
                      <a:r>
                        <a:rPr sz="800" b="1">
                          <a:solidFill>
                            <a:srgbClr val="1A7A4A"/>
                          </a:solidFill>
                        </a:rPr>
                        <a:t>Surpondérer</a:t>
                      </a:r>
                    </a:p>
                  </a:txBody>
                  <a:tcPr>
                    <a:solidFill>
                      <a:srgbClr val="FFFFFF"/>
                    </a:solidFill>
                  </a:tcPr>
                </a:tc>
                <a:tc>
                  <a:txBody>
                    <a:bodyPr/>
                    <a:lstStyle/>
                    <a:p>
                      <a:pPr algn="ctr"/>
                      <a:r>
                        <a:rPr sz="800">
                          <a:solidFill>
                            <a:srgbClr val="1A1A1A"/>
                          </a:solidFill>
                        </a:rPr>
                        <a:t>17.1x</a:t>
                      </a:r>
                    </a:p>
                  </a:txBody>
                  <a:tcPr>
                    <a:solidFill>
                      <a:srgbClr val="FFFFFF"/>
                    </a:solidFill>
                  </a:tcPr>
                </a:tc>
                <a:tc>
                  <a:txBody>
                    <a:bodyPr/>
                    <a:lstStyle/>
                    <a:p>
                      <a:pPr algn="ctr"/>
                      <a:r>
                        <a:rPr sz="800">
                          <a:solidFill>
                            <a:srgbClr val="1A1A1A"/>
                          </a:solidFill>
                        </a:rPr>
                        <a:t>40.0%</a:t>
                      </a:r>
                    </a:p>
                  </a:txBody>
                  <a:tcPr>
                    <a:solidFill>
                      <a:srgbClr val="FFFFFF"/>
                    </a:solidFill>
                  </a:tcPr>
                </a:tc>
                <a:tc>
                  <a:txBody>
                    <a:bodyPr/>
                    <a:lstStyle/>
                    <a:p>
                      <a:pPr algn="ctr"/>
                      <a:r>
                        <a:rPr sz="800">
                          <a:solidFill>
                            <a:srgbClr val="1A1A1A"/>
                          </a:solidFill>
                        </a:rPr>
                        <a:t>+23.4%</a:t>
                      </a:r>
                    </a:p>
                  </a:txBody>
                  <a:tcPr>
                    <a:solidFill>
                      <a:srgbClr val="FFFFFF"/>
                    </a:solidFill>
                  </a:tcPr>
                </a:tc>
                <a:tc>
                  <a:txBody>
                    <a:bodyPr/>
                    <a:lstStyle/>
                    <a:p>
                      <a:pPr algn="ctr"/>
                      <a:r>
                        <a:rPr sz="800">
                          <a:solidFill>
                            <a:srgbClr val="1A1A1A"/>
                          </a:solidFill>
                        </a:rPr>
                        <a:t>+15.2%</a:t>
                      </a:r>
                    </a:p>
                  </a:txBody>
                  <a:tcPr>
                    <a:solidFill>
                      <a:srgbClr val="FFFFFF"/>
                    </a:solidFill>
                  </a:tcPr>
                </a:tc>
              </a:tr>
            </a:tbl>
          </a:graphicData>
        </a:graphic>
      </p:graphicFrame>
      <p:sp>
        <p:nvSpPr>
          <p:cNvPr id="16" name="Rectangle 15"/>
          <p:cNvSpPr/>
          <p:nvPr/>
        </p:nvSpPr>
        <p:spPr>
          <a:xfrm>
            <a:off x="324000" y="1792800"/>
            <a:ext cx="849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1839600"/>
            <a:ext cx="8352000" cy="162000"/>
          </a:xfrm>
          <a:prstGeom prst="rect">
            <a:avLst/>
          </a:prstGeom>
          <a:noFill/>
        </p:spPr>
        <p:txBody>
          <a:bodyPr wrap="square">
            <a:spAutoFit/>
          </a:bodyPr>
          <a:lstStyle/>
          <a:p>
            <a:pPr algn="l"/>
            <a:r>
              <a:rPr sz="1000" b="1" i="0">
                <a:solidFill>
                  <a:srgbClr val="FFFFFF"/>
                </a:solidFill>
              </a:rPr>
              <a:t>LEADERSHIP CAPITAL MARKETS — score 88/100</a:t>
            </a:r>
          </a:p>
        </p:txBody>
      </p:sp>
      <p:sp>
        <p:nvSpPr>
          <p:cNvPr id="18" name="Rectangle 17"/>
          <p:cNvSpPr/>
          <p:nvPr/>
        </p:nvSpPr>
        <p:spPr>
          <a:xfrm>
            <a:off x="324000" y="20808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20808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2134800"/>
            <a:ext cx="8424000" cy="1530000"/>
          </a:xfrm>
          <a:prstGeom prst="rect">
            <a:avLst/>
          </a:prstGeom>
          <a:noFill/>
        </p:spPr>
        <p:txBody>
          <a:bodyPr wrap="square">
            <a:spAutoFit/>
          </a:bodyPr>
          <a:lstStyle/>
          <a:p>
            <a:pPr algn="l"/>
            <a:r>
              <a:rPr sz="900" b="0" i="0">
                <a:solidFill>
                  <a:srgbClr val="555555"/>
                </a:solidFill>
              </a:rPr>
              <a:t>Le sous-segment Capital Markets ressort en tête du classement avec un score composite de 88/100 et un signal surpondérer, porté par 2 acteurs dont GS, MS. La valorisation médiane ressort sur des metriques de valorisation specifiques au secteur (ratios financiers) et une trajectoire top-line à +13.1% YoY. À l'inverse, Asset Management ferme la Marché (75/100, signal surpondérer), reflétant des fondamentaux sous pression ou une valorisation déjà tendue. L'écart de 13 points entre les extrêmes du classement justifie une approche sélective plutôt qu'une exposition beta uniforme au secteur. Cette cartographie guide le calibrage d'allocation sous-sectorielle : Surpondérer les segments avec score ≥ 60 et momentum positif, Sous-pondérer les segments avec marges compressees ou croissance negative, et conserver une exposition neutre aux segments en transition.</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Services Financiers  ·  S&amp;P 500  ·  Tri par score FinSight decroissant</a:t>
            </a:r>
          </a:p>
        </p:txBody>
      </p:sp>
      <p:graphicFrame>
        <p:nvGraphicFramePr>
          <p:cNvPr id="15" name="Table 14"/>
          <p:cNvGraphicFramePr>
            <a:graphicFrameLocks noGrp="1"/>
          </p:cNvGraphicFramePr>
          <p:nvPr/>
        </p:nvGraphicFramePr>
        <p:xfrm>
          <a:off x="324000" y="900000"/>
          <a:ext cx="8495998" cy="16200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1800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180000">
                <a:tc>
                  <a:txBody>
                    <a:bodyPr/>
                    <a:lstStyle/>
                    <a:p>
                      <a:pPr algn="ctr"/>
                      <a:r>
                        <a:rPr sz="750" b="0">
                          <a:solidFill>
                            <a:srgbClr val="1A1A1A"/>
                          </a:solidFill>
                        </a:rPr>
                        <a:t>1</a:t>
                      </a:r>
                    </a:p>
                  </a:txBody>
                  <a:tcPr>
                    <a:noFill/>
                  </a:tcPr>
                </a:tc>
                <a:tc>
                  <a:txBody>
                    <a:bodyPr/>
                    <a:lstStyle/>
                    <a:p>
                      <a:pPr algn="ctr"/>
                      <a:r>
                        <a:rPr sz="750" b="0">
                          <a:solidFill>
                            <a:srgbClr val="1A1A1A"/>
                          </a:solidFill>
                        </a:rPr>
                        <a:t>GS</a:t>
                      </a:r>
                    </a:p>
                  </a:txBody>
                  <a:tcPr>
                    <a:noFill/>
                  </a:tcPr>
                </a:tc>
                <a:tc>
                  <a:txBody>
                    <a:bodyPr/>
                    <a:lstStyle/>
                    <a:p>
                      <a:pPr algn="ctr"/>
                      <a:r>
                        <a:rPr sz="750" b="0">
                          <a:solidFill>
                            <a:srgbClr val="1A1A1A"/>
                          </a:solidFill>
                        </a:rPr>
                        <a:t>The Goldman Sachs Group, </a:t>
                      </a:r>
                    </a:p>
                  </a:txBody>
                  <a:tcPr>
                    <a:noFill/>
                  </a:tcPr>
                </a:tc>
                <a:tc>
                  <a:txBody>
                    <a:bodyPr/>
                    <a:lstStyle/>
                    <a:p>
                      <a:pPr algn="ctr"/>
                      <a:r>
                        <a:rPr sz="750" b="0">
                          <a:solidFill>
                            <a:srgbClr val="1A1A1A"/>
                          </a:solidFill>
                        </a:rPr>
                        <a:t>90/100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890.79</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+15.2 %</a:t>
                      </a:r>
                    </a:p>
                  </a:txBody>
                  <a:tcPr>
                    <a:noFill/>
                  </a:tcPr>
                </a:tc>
                <a:tc>
                  <a:txBody>
                    <a:bodyPr/>
                    <a:lstStyle/>
                    <a:p>
                      <a:pPr algn="ctr"/>
                      <a:r>
                        <a:rPr sz="750" b="0">
                          <a:solidFill>
                            <a:srgbClr val="1A1A1A"/>
                          </a:solidFill>
                        </a:rPr>
                        <a:t>+75.4 %</a:t>
                      </a:r>
                    </a:p>
                  </a:txBody>
                  <a:tcPr>
                    <a:noFill/>
                  </a:tcPr>
                </a:tc>
              </a:tr>
              <a:tr h="1800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MS</a:t>
                      </a:r>
                    </a:p>
                  </a:txBody>
                  <a:tcPr>
                    <a:solidFill>
                      <a:srgbClr val="F5F7FA"/>
                    </a:solidFill>
                  </a:tcPr>
                </a:tc>
                <a:tc>
                  <a:txBody>
                    <a:bodyPr/>
                    <a:lstStyle/>
                    <a:p>
                      <a:pPr algn="ctr"/>
                      <a:r>
                        <a:rPr sz="750" b="0">
                          <a:solidFill>
                            <a:srgbClr val="1A1A1A"/>
                          </a:solidFill>
                        </a:rPr>
                        <a:t>Morgan Stanley</a:t>
                      </a:r>
                    </a:p>
                  </a:txBody>
                  <a:tcPr>
                    <a:solidFill>
                      <a:srgbClr val="F5F7FA"/>
                    </a:solidFill>
                  </a:tcPr>
                </a:tc>
                <a:tc>
                  <a:txBody>
                    <a:bodyPr/>
                    <a:lstStyle/>
                    <a:p>
                      <a:pPr algn="ctr"/>
                      <a:r>
                        <a:rPr sz="750" b="0">
                          <a:solidFill>
                            <a:srgbClr val="1A1A1A"/>
                          </a:solidFill>
                        </a:rPr>
                        <a:t>86/100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181.14</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+11.0 %</a:t>
                      </a:r>
                    </a:p>
                  </a:txBody>
                  <a:tcPr>
                    <a:solidFill>
                      <a:srgbClr val="F5F7FA"/>
                    </a:solidFill>
                  </a:tcPr>
                </a:tc>
                <a:tc>
                  <a:txBody>
                    <a:bodyPr/>
                    <a:lstStyle/>
                    <a:p>
                      <a:pPr algn="ctr"/>
                      <a:r>
                        <a:rPr sz="750" b="0">
                          <a:solidFill>
                            <a:srgbClr val="1A1A1A"/>
                          </a:solidFill>
                        </a:rPr>
                        <a:t>+64.0 %</a:t>
                      </a:r>
                    </a:p>
                  </a:txBody>
                  <a:tcPr>
                    <a:solidFill>
                      <a:srgbClr val="F5F7FA"/>
                    </a:solidFill>
                  </a:tcPr>
                </a:tc>
              </a:tr>
              <a:tr h="180000">
                <a:tc>
                  <a:txBody>
                    <a:bodyPr/>
                    <a:lstStyle/>
                    <a:p>
                      <a:pPr algn="ctr"/>
                      <a:r>
                        <a:rPr sz="750" b="0">
                          <a:solidFill>
                            <a:srgbClr val="1A1A1A"/>
                          </a:solidFill>
                        </a:rPr>
                        <a:t>3</a:t>
                      </a:r>
                    </a:p>
                  </a:txBody>
                  <a:tcPr>
                    <a:noFill/>
                  </a:tcPr>
                </a:tc>
                <a:tc>
                  <a:txBody>
                    <a:bodyPr/>
                    <a:lstStyle/>
                    <a:p>
                      <a:pPr algn="ctr"/>
                      <a:r>
                        <a:rPr sz="750" b="0">
                          <a:solidFill>
                            <a:srgbClr val="1A1A1A"/>
                          </a:solidFill>
                        </a:rPr>
                        <a:t>C</a:t>
                      </a:r>
                    </a:p>
                  </a:txBody>
                  <a:tcPr>
                    <a:noFill/>
                  </a:tcPr>
                </a:tc>
                <a:tc>
                  <a:txBody>
                    <a:bodyPr/>
                    <a:lstStyle/>
                    <a:p>
                      <a:pPr algn="ctr"/>
                      <a:r>
                        <a:rPr sz="750" b="0">
                          <a:solidFill>
                            <a:srgbClr val="1A1A1A"/>
                          </a:solidFill>
                        </a:rPr>
                        <a:t>Citigroup Inc.</a:t>
                      </a:r>
                    </a:p>
                  </a:txBody>
                  <a:tcPr>
                    <a:noFill/>
                  </a:tcPr>
                </a:tc>
                <a:tc>
                  <a:txBody>
                    <a:bodyPr/>
                    <a:lstStyle/>
                    <a:p>
                      <a:pPr algn="ctr"/>
                      <a:r>
                        <a:rPr sz="750" b="0">
                          <a:solidFill>
                            <a:srgbClr val="1A1A1A"/>
                          </a:solidFill>
                        </a:rPr>
                        <a:t>82/100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126.28</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+4.4 %</a:t>
                      </a:r>
                    </a:p>
                  </a:txBody>
                  <a:tcPr>
                    <a:noFill/>
                  </a:tcPr>
                </a:tc>
                <a:tc>
                  <a:txBody>
                    <a:bodyPr/>
                    <a:lstStyle/>
                    <a:p>
                      <a:pPr algn="ctr"/>
                      <a:r>
                        <a:rPr sz="750" b="0">
                          <a:solidFill>
                            <a:srgbClr val="1A1A1A"/>
                          </a:solidFill>
                        </a:rPr>
                        <a:t>+96.3 %</a:t>
                      </a:r>
                    </a:p>
                  </a:txBody>
                  <a:tcPr>
                    <a:noFill/>
                  </a:tcPr>
                </a:tc>
              </a:tr>
              <a:tr h="1800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BAC</a:t>
                      </a:r>
                    </a:p>
                  </a:txBody>
                  <a:tcPr>
                    <a:solidFill>
                      <a:srgbClr val="F5F7FA"/>
                    </a:solidFill>
                  </a:tcPr>
                </a:tc>
                <a:tc>
                  <a:txBody>
                    <a:bodyPr/>
                    <a:lstStyle/>
                    <a:p>
                      <a:pPr algn="ctr"/>
                      <a:r>
                        <a:rPr sz="750" b="0">
                          <a:solidFill>
                            <a:srgbClr val="1A1A1A"/>
                          </a:solidFill>
                        </a:rPr>
                        <a:t>Bank of America Corporati</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53.35</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+7.2 %</a:t>
                      </a:r>
                    </a:p>
                  </a:txBody>
                  <a:tcPr>
                    <a:solidFill>
                      <a:srgbClr val="F5F7FA"/>
                    </a:solidFill>
                  </a:tcPr>
                </a:tc>
                <a:tc>
                  <a:txBody>
                    <a:bodyPr/>
                    <a:lstStyle/>
                    <a:p>
                      <a:pPr algn="ctr"/>
                      <a:r>
                        <a:rPr sz="750" b="0">
                          <a:solidFill>
                            <a:srgbClr val="1A1A1A"/>
                          </a:solidFill>
                        </a:rPr>
                        <a:t>+40.4 %</a:t>
                      </a:r>
                    </a:p>
                  </a:txBody>
                  <a:tcPr>
                    <a:solidFill>
                      <a:srgbClr val="F5F7FA"/>
                    </a:solidFill>
                  </a:tcPr>
                </a:tc>
              </a:tr>
              <a:tr h="180000">
                <a:tc>
                  <a:txBody>
                    <a:bodyPr/>
                    <a:lstStyle/>
                    <a:p>
                      <a:pPr algn="ctr"/>
                      <a:r>
                        <a:rPr sz="750" b="0">
                          <a:solidFill>
                            <a:srgbClr val="1A1A1A"/>
                          </a:solidFill>
                        </a:rPr>
                        <a:t>5</a:t>
                      </a:r>
                    </a:p>
                  </a:txBody>
                  <a:tcPr>
                    <a:noFill/>
                  </a:tcPr>
                </a:tc>
                <a:tc>
                  <a:txBody>
                    <a:bodyPr/>
                    <a:lstStyle/>
                    <a:p>
                      <a:pPr algn="ctr"/>
                      <a:r>
                        <a:rPr sz="750" b="0">
                          <a:solidFill>
                            <a:srgbClr val="1A1A1A"/>
                          </a:solidFill>
                        </a:rPr>
                        <a:t>WFC</a:t>
                      </a:r>
                    </a:p>
                  </a:txBody>
                  <a:tcPr>
                    <a:noFill/>
                  </a:tcPr>
                </a:tc>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77/100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86.64</a:t>
                      </a:r>
                    </a:p>
                  </a:txBody>
                  <a:tcPr>
                    <a:noFill/>
                  </a:tcPr>
                </a:tc>
                <a:tc>
                  <a:txBody>
                    <a:bodyPr/>
                    <a:lstStyle/>
                    <a:p>
                      <a:pPr algn="ctr"/>
                      <a:r>
                        <a:rPr sz="750" b="0">
                          <a:solidFill>
                            <a:srgbClr val="1A1A1A"/>
                          </a:solidFill>
                        </a:rPr>
                        <a:t>—</a:t>
                      </a:r>
                    </a:p>
                  </a:txBody>
                  <a:tcPr>
                    <a:noFill/>
                  </a:tcPr>
                </a:tc>
                <a:tc>
                  <a:txBody>
                    <a:bodyPr/>
                    <a:lstStyle/>
                    <a:p>
                      <a:pPr algn="ctr"/>
                      <a:r>
                        <a:rPr sz="750" b="0">
                          <a:solidFill>
                            <a:srgbClr val="1A1A1A"/>
                          </a:solidFill>
                        </a:rPr>
                        <a:t>0.0 %</a:t>
                      </a:r>
                    </a:p>
                  </a:txBody>
                  <a:tcPr>
                    <a:noFill/>
                  </a:tcPr>
                </a:tc>
                <a:tc>
                  <a:txBody>
                    <a:bodyPr/>
                    <a:lstStyle/>
                    <a:p>
                      <a:pPr algn="ctr"/>
                      <a:r>
                        <a:rPr sz="750" b="0">
                          <a:solidFill>
                            <a:srgbClr val="1A1A1A"/>
                          </a:solidFill>
                        </a:rPr>
                        <a:t>+5.0 %</a:t>
                      </a:r>
                    </a:p>
                  </a:txBody>
                  <a:tcPr>
                    <a:noFill/>
                  </a:tcPr>
                </a:tc>
                <a:tc>
                  <a:txBody>
                    <a:bodyPr/>
                    <a:lstStyle/>
                    <a:p>
                      <a:pPr algn="ctr"/>
                      <a:r>
                        <a:rPr sz="750" b="0">
                          <a:solidFill>
                            <a:srgbClr val="1A1A1A"/>
                          </a:solidFill>
                        </a:rPr>
                        <a:t>+34.2 %</a:t>
                      </a:r>
                    </a:p>
                  </a:txBody>
                  <a:tcPr>
                    <a:noFill/>
                  </a:tcPr>
                </a:tc>
              </a:tr>
              <a:tr h="1800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AXP</a:t>
                      </a:r>
                    </a:p>
                  </a:txBody>
                  <a:tcPr>
                    <a:solidFill>
                      <a:srgbClr val="F5F7FA"/>
                    </a:solidFill>
                  </a:tcPr>
                </a:tc>
                <a:tc>
                  <a:txBody>
                    <a:bodyPr/>
                    <a:lstStyle/>
                    <a:p>
                      <a:pPr algn="ctr"/>
                      <a:r>
                        <a:rPr sz="750" b="0">
                          <a:solidFill>
                            <a:srgbClr val="1A1A1A"/>
                          </a:solidFill>
                        </a:rPr>
                        <a:t>American Express Company</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323.82</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+10.6 %</a:t>
                      </a:r>
                    </a:p>
                  </a:txBody>
                  <a:tcPr>
                    <a:solidFill>
                      <a:srgbClr val="F5F7FA"/>
                    </a:solidFill>
                  </a:tcPr>
                </a:tc>
                <a:tc>
                  <a:txBody>
                    <a:bodyPr/>
                    <a:lstStyle/>
                    <a:p>
                      <a:pPr algn="ctr"/>
                      <a:r>
                        <a:rPr sz="750" b="0">
                          <a:solidFill>
                            <a:srgbClr val="1A1A1A"/>
                          </a:solidFill>
                        </a:rPr>
                        <a:t>+25.6 %</a:t>
                      </a:r>
                    </a:p>
                  </a:txBody>
                  <a:tcPr>
                    <a:solidFill>
                      <a:srgbClr val="F5F7FA"/>
                    </a:solidFill>
                  </a:tcPr>
                </a:tc>
              </a:tr>
              <a:tr h="180000">
                <a:tc>
                  <a:txBody>
                    <a:bodyPr/>
                    <a:lstStyle/>
                    <a:p>
                      <a:pPr algn="ctr"/>
                      <a:r>
                        <a:rPr sz="750" b="0">
                          <a:solidFill>
                            <a:srgbClr val="1A1A1A"/>
                          </a:solidFill>
                        </a:rPr>
                        <a:t>7</a:t>
                      </a:r>
                    </a:p>
                  </a:txBody>
                  <a:tcPr>
                    <a:noFill/>
                  </a:tcPr>
                </a:tc>
                <a:tc>
                  <a:txBody>
                    <a:bodyPr/>
                    <a:lstStyle/>
                    <a:p>
                      <a:pPr algn="ctr"/>
                      <a:r>
                        <a:rPr sz="750" b="0">
                          <a:solidFill>
                            <a:srgbClr val="1A1A1A"/>
                          </a:solidFill>
                        </a:rPr>
                        <a:t>BLK</a:t>
                      </a:r>
                    </a:p>
                  </a:txBody>
                  <a:tcPr>
                    <a:noFill/>
                  </a:tcPr>
                </a:tc>
                <a:tc>
                  <a:txBody>
                    <a:bodyPr/>
                    <a:lstStyle/>
                    <a:p>
                      <a:pPr algn="ctr"/>
                      <a:r>
                        <a:rPr sz="750" b="0">
                          <a:solidFill>
                            <a:srgbClr val="1A1A1A"/>
                          </a:solidFill>
                        </a:rPr>
                        <a:t>BlackRock, Inc.</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1023.65</a:t>
                      </a:r>
                    </a:p>
                  </a:txBody>
                  <a:tcPr>
                    <a:noFill/>
                  </a:tcPr>
                </a:tc>
                <a:tc>
                  <a:txBody>
                    <a:bodyPr/>
                    <a:lstStyle/>
                    <a:p>
                      <a:pPr algn="ctr"/>
                      <a:r>
                        <a:rPr sz="750" b="0">
                          <a:solidFill>
                            <a:srgbClr val="1A1A1A"/>
                          </a:solidFill>
                        </a:rPr>
                        <a:t>17.1x</a:t>
                      </a:r>
                    </a:p>
                  </a:txBody>
                  <a:tcPr>
                    <a:noFill/>
                  </a:tcPr>
                </a:tc>
                <a:tc>
                  <a:txBody>
                    <a:bodyPr/>
                    <a:lstStyle/>
                    <a:p>
                      <a:pPr algn="ctr"/>
                      <a:r>
                        <a:rPr sz="750" b="0">
                          <a:solidFill>
                            <a:srgbClr val="1A1A1A"/>
                          </a:solidFill>
                        </a:rPr>
                        <a:t>40.0 %</a:t>
                      </a:r>
                    </a:p>
                  </a:txBody>
                  <a:tcPr>
                    <a:noFill/>
                  </a:tcPr>
                </a:tc>
                <a:tc>
                  <a:txBody>
                    <a:bodyPr/>
                    <a:lstStyle/>
                    <a:p>
                      <a:pPr algn="ctr"/>
                      <a:r>
                        <a:rPr sz="750" b="0">
                          <a:solidFill>
                            <a:srgbClr val="1A1A1A"/>
                          </a:solidFill>
                        </a:rPr>
                        <a:t>+23.4 %</a:t>
                      </a:r>
                    </a:p>
                  </a:txBody>
                  <a:tcPr>
                    <a:noFill/>
                  </a:tcPr>
                </a:tc>
                <a:tc>
                  <a:txBody>
                    <a:bodyPr/>
                    <a:lstStyle/>
                    <a:p>
                      <a:pPr algn="ctr"/>
                      <a:r>
                        <a:rPr sz="750" b="0">
                          <a:solidFill>
                            <a:srgbClr val="1A1A1A"/>
                          </a:solidFill>
                        </a:rPr>
                        <a:t>+15.2 %</a:t>
                      </a:r>
                    </a:p>
                  </a:txBody>
                  <a:tcPr>
                    <a:noFill/>
                  </a:tcPr>
                </a:tc>
              </a:tr>
              <a:tr h="1800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JPM</a:t>
                      </a:r>
                    </a:p>
                  </a:txBody>
                  <a:tcPr>
                    <a:solidFill>
                      <a:srgbClr val="F5F7FA"/>
                    </a:solidFill>
                  </a:tcPr>
                </a:tc>
                <a:tc>
                  <a:txBody>
                    <a:bodyPr/>
                    <a:lstStyle/>
                    <a:p>
                      <a:pPr algn="ctr"/>
                      <a:r>
                        <a:rPr sz="750" b="0">
                          <a:solidFill>
                            <a:srgbClr val="1A1A1A"/>
                          </a:solidFill>
                        </a:rPr>
                        <a:t>JPMorgan Chase &amp; Co.</a:t>
                      </a:r>
                    </a:p>
                  </a:txBody>
                  <a:tcPr>
                    <a:solidFill>
                      <a:srgbClr val="F5F7FA"/>
                    </a:solidFill>
                  </a:tcPr>
                </a:tc>
                <a:tc>
                  <a:txBody>
                    <a:bodyPr/>
                    <a:lstStyle/>
                    <a:p>
                      <a:pPr algn="ctr"/>
                      <a:r>
                        <a:rPr sz="750" b="0">
                          <a:solidFill>
                            <a:srgbClr val="1A1A1A"/>
                          </a:solidFill>
                        </a:rPr>
                        <a:t>74/100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313.68</a:t>
                      </a:r>
                    </a:p>
                  </a:txBody>
                  <a:tcPr>
                    <a:solidFill>
                      <a:srgbClr val="F5F7FA"/>
                    </a:solidFill>
                  </a:tcPr>
                </a:tc>
                <a:tc>
                  <a:txBody>
                    <a:bodyPr/>
                    <a:lstStyle/>
                    <a:p>
                      <a:pPr algn="ctr"/>
                      <a:r>
                        <a:rPr sz="750" b="0">
                          <a:solidFill>
                            <a:srgbClr val="1A1A1A"/>
                          </a:solidFill>
                        </a:rPr>
                        <a:t>—</a:t>
                      </a:r>
                    </a:p>
                  </a:txBody>
                  <a:tcPr>
                    <a:solidFill>
                      <a:srgbClr val="F5F7FA"/>
                    </a:solidFill>
                  </a:tcPr>
                </a:tc>
                <a:tc>
                  <a:txBody>
                    <a:bodyPr/>
                    <a:lstStyle/>
                    <a:p>
                      <a:pPr algn="ctr"/>
                      <a:r>
                        <a:rPr sz="750" b="0">
                          <a:solidFill>
                            <a:srgbClr val="1A1A1A"/>
                          </a:solidFill>
                        </a:rPr>
                        <a:t>0.0 %</a:t>
                      </a:r>
                    </a:p>
                  </a:txBody>
                  <a:tcPr>
                    <a:solidFill>
                      <a:srgbClr val="F5F7FA"/>
                    </a:solidFill>
                  </a:tcPr>
                </a:tc>
                <a:tc>
                  <a:txBody>
                    <a:bodyPr/>
                    <a:lstStyle/>
                    <a:p>
                      <a:pPr algn="ctr"/>
                      <a:r>
                        <a:rPr sz="750" b="0">
                          <a:solidFill>
                            <a:srgbClr val="1A1A1A"/>
                          </a:solidFill>
                        </a:rPr>
                        <a:t>+2.5 %</a:t>
                      </a:r>
                    </a:p>
                  </a:txBody>
                  <a:tcPr>
                    <a:solidFill>
                      <a:srgbClr val="F5F7FA"/>
                    </a:solidFill>
                  </a:tcPr>
                </a:tc>
                <a:tc>
                  <a:txBody>
                    <a:bodyPr/>
                    <a:lstStyle/>
                    <a:p>
                      <a:pPr algn="ctr"/>
                      <a:r>
                        <a:rPr sz="750" b="0">
                          <a:solidFill>
                            <a:srgbClr val="1A1A1A"/>
                          </a:solidFill>
                        </a:rPr>
                        <a:t>+34.6 %</a:t>
                      </a:r>
                    </a:p>
                  </a:txBody>
                  <a:tcPr>
                    <a:solidFill>
                      <a:srgbClr val="F5F7FA"/>
                    </a:solidFill>
                  </a:tcPr>
                </a:tc>
              </a:tr>
            </a:tbl>
          </a:graphicData>
        </a:graphic>
      </p:graphicFrame>
      <p:sp>
        <p:nvSpPr>
          <p:cNvPr id="16" name="Rectangle 15"/>
          <p:cNvSpPr/>
          <p:nvPr/>
        </p:nvSpPr>
        <p:spPr>
          <a:xfrm>
            <a:off x="324000" y="29519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519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006000"/>
            <a:ext cx="8280000" cy="216000"/>
          </a:xfrm>
          <a:prstGeom prst="rect">
            <a:avLst/>
          </a:prstGeom>
          <a:noFill/>
        </p:spPr>
        <p:txBody>
          <a:bodyPr wrap="square">
            <a:spAutoFit/>
          </a:bodyPr>
          <a:lstStyle/>
          <a:p>
            <a:pPr algn="l"/>
            <a:r>
              <a:rPr sz="900" b="1" i="0">
                <a:solidFill>
                  <a:srgbClr val="1B3A6B"/>
                </a:solidFill>
              </a:rPr>
              <a:t>Services Financiers — 8 BUY / 0 HOLD / 0 SELL · The Goldman Sachs Grou en tête (90/100)</a:t>
            </a:r>
          </a:p>
        </p:txBody>
      </p:sp>
      <p:sp>
        <p:nvSpPr>
          <p:cNvPr id="19" name="TextBox 18"/>
          <p:cNvSpPr txBox="1"/>
          <p:nvPr/>
        </p:nvSpPr>
        <p:spPr>
          <a:xfrm>
            <a:off x="468000" y="3257999"/>
            <a:ext cx="8280000" cy="1260000"/>
          </a:xfrm>
          <a:prstGeom prst="rect">
            <a:avLst/>
          </a:prstGeom>
          <a:noFill/>
        </p:spPr>
        <p:txBody>
          <a:bodyPr wrap="square">
            <a:spAutoFit/>
          </a:bodyPr>
          <a:lstStyle/>
          <a:p>
            <a:pPr algn="l"/>
            <a:r>
              <a:rPr sz="850" b="0" i="0">
                <a:solidFill>
                  <a:srgbClr val="555555"/>
                </a:solidFill>
              </a:rPr>
              <a:t>Le secteur Services Financiers présente 8 BUY / 0 HOLD / 0 SELL sur 8 valeurs analysées. The Goldman Sachs Grou (score 90/100) constitue le coeur offensif recommande — fondamentaux solides et visibilité supérieure sur les revenus. La répartition des recommandations reflète un positionnément selectif cohérent avec la phase sectorielle actuelle. Les catalyseurs identifies — résultats trimestriels, guidance annuel, opérations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Classement EV/EBITDA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acteur  ·  Tri croissant  ·  Vert = sous Médiane (opportunité relative)  ·  Top 15</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Médiane sectorielle : 17.1x. Les barres vertes sous cette ligne sont les candidats privilegies a analyser via Analyse Société individuelle (DCF, WACC, scénarios).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23328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59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59200">
                <a:tc>
                  <a:txBody>
                    <a:bodyPr/>
                    <a:lstStyle/>
                    <a:p>
                      <a:pPr algn="ctr"/>
                      <a:r>
                        <a:rPr sz="750" b="0">
                          <a:solidFill>
                            <a:srgbClr val="1A1A1A"/>
                          </a:solidFill>
                        </a:rPr>
                        <a:t>GS</a:t>
                      </a:r>
                    </a:p>
                  </a:txBody>
                  <a:tcPr>
                    <a:noFill/>
                  </a:tcPr>
                </a:tc>
                <a:tc>
                  <a:txBody>
                    <a:bodyPr/>
                    <a:lstStyle/>
                    <a:p>
                      <a:pPr algn="ctr"/>
                      <a:r>
                        <a:rPr sz="750" b="0">
                          <a:solidFill>
                            <a:srgbClr val="1A1A1A"/>
                          </a:solidFill>
                        </a:rPr>
                        <a:t>The Goldman Sachs Group, </a:t>
                      </a:r>
                    </a:p>
                  </a:txBody>
                  <a:tcPr>
                    <a:noFill/>
                  </a:tcPr>
                </a:tc>
                <a:tc>
                  <a:txBody>
                    <a:bodyPr/>
                    <a:lstStyle/>
                    <a:p>
                      <a:pPr algn="ctr"/>
                      <a:r>
                        <a:rPr sz="750" b="0">
                          <a:solidFill>
                            <a:srgbClr val="1A1A1A"/>
                          </a:solidFill>
                        </a:rPr>
                        <a:t>90/100</a:t>
                      </a:r>
                    </a:p>
                  </a:txBody>
                  <a:tcPr>
                    <a:no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23</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MS</a:t>
                      </a:r>
                    </a:p>
                  </a:txBody>
                  <a:tcPr>
                    <a:noFill/>
                  </a:tcPr>
                </a:tc>
                <a:tc>
                  <a:txBody>
                    <a:bodyPr/>
                    <a:lstStyle/>
                    <a:p>
                      <a:pPr algn="ctr"/>
                      <a:r>
                        <a:rPr sz="750" b="0">
                          <a:solidFill>
                            <a:srgbClr val="1A1A1A"/>
                          </a:solidFill>
                        </a:rPr>
                        <a:t>Morgan Stanley</a:t>
                      </a:r>
                    </a:p>
                  </a:txBody>
                  <a:tcPr>
                    <a:noFill/>
                  </a:tcPr>
                </a:tc>
                <a:tc>
                  <a:txBody>
                    <a:bodyPr/>
                    <a:lstStyle/>
                    <a:p>
                      <a:pPr algn="ctr"/>
                      <a:r>
                        <a:rPr sz="750" b="0">
                          <a:solidFill>
                            <a:srgbClr val="1A1A1A"/>
                          </a:solidFill>
                        </a:rPr>
                        <a:t>86/100</a:t>
                      </a:r>
                    </a:p>
                  </a:txBody>
                  <a:tcPr>
                    <a:no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23</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21</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C</a:t>
                      </a:r>
                    </a:p>
                  </a:txBody>
                  <a:tcPr>
                    <a:noFill/>
                  </a:tcPr>
                </a:tc>
                <a:tc>
                  <a:txBody>
                    <a:bodyPr/>
                    <a:lstStyle/>
                    <a:p>
                      <a:pPr algn="ctr"/>
                      <a:r>
                        <a:rPr sz="750" b="0">
                          <a:solidFill>
                            <a:srgbClr val="1A1A1A"/>
                          </a:solidFill>
                        </a:rPr>
                        <a:t>Citigroup Inc.</a:t>
                      </a:r>
                    </a:p>
                  </a:txBody>
                  <a:tcPr>
                    <a:noFill/>
                  </a:tcPr>
                </a:tc>
                <a:tc>
                  <a:txBody>
                    <a:bodyPr/>
                    <a:lstStyle/>
                    <a:p>
                      <a:pPr algn="ctr"/>
                      <a:r>
                        <a:rPr sz="750" b="0">
                          <a:solidFill>
                            <a:srgbClr val="1A1A1A"/>
                          </a:solidFill>
                        </a:rPr>
                        <a:t>82/100</a:t>
                      </a:r>
                    </a:p>
                  </a:txBody>
                  <a:tcPr>
                    <a:no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16</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BAC</a:t>
                      </a:r>
                    </a:p>
                  </a:txBody>
                  <a:tcPr>
                    <a:noFill/>
                  </a:tcPr>
                </a:tc>
                <a:tc>
                  <a:txBody>
                    <a:bodyPr/>
                    <a:lstStyle/>
                    <a:p>
                      <a:pPr algn="ctr"/>
                      <a:r>
                        <a:rPr sz="750" b="0">
                          <a:solidFill>
                            <a:srgbClr val="1A1A1A"/>
                          </a:solidFill>
                        </a:rPr>
                        <a:t>Bank of America Corporati</a:t>
                      </a:r>
                    </a:p>
                  </a:txBody>
                  <a:tcPr>
                    <a:noFill/>
                  </a:tcPr>
                </a:tc>
                <a:tc>
                  <a:txBody>
                    <a:bodyPr/>
                    <a:lstStyle/>
                    <a:p>
                      <a:pPr algn="ctr"/>
                      <a:r>
                        <a:rPr sz="750" b="0">
                          <a:solidFill>
                            <a:srgbClr val="1A1A1A"/>
                          </a:solidFill>
                        </a:rPr>
                        <a:t>80/100</a:t>
                      </a:r>
                    </a:p>
                  </a:txBody>
                  <a:tcPr>
                    <a:noFill/>
                  </a:tcPr>
                </a:tc>
                <a:tc>
                  <a:txBody>
                    <a:bodyPr/>
                    <a:lstStyle/>
                    <a:p>
                      <a:pPr algn="ctr"/>
                      <a:r>
                        <a:rPr sz="750" b="1">
                          <a:solidFill>
                            <a:srgbClr val="A82020"/>
                          </a:solidFill>
                        </a:rPr>
                        <a:t>18</a:t>
                      </a:r>
                    </a:p>
                  </a:txBody>
                  <a:tcPr>
                    <a:solidFill>
                      <a:srgbClr val="FFEBEE"/>
                    </a:solidFill>
                  </a:tcPr>
                </a:tc>
                <a:tc>
                  <a:txBody>
                    <a:bodyPr/>
                    <a:lstStyle/>
                    <a:p>
                      <a:pPr algn="ctr"/>
                      <a:r>
                        <a:rPr sz="750" b="1">
                          <a:solidFill>
                            <a:srgbClr val="A82020"/>
                          </a:solidFill>
                        </a:rPr>
                        <a:t>19</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18</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WFC</a:t>
                      </a:r>
                    </a:p>
                  </a:txBody>
                  <a:tcPr>
                    <a:noFill/>
                  </a:tcPr>
                </a:tc>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77/100</a:t>
                      </a:r>
                    </a:p>
                  </a:txBody>
                  <a:tcPr>
                    <a:noFill/>
                  </a:tcPr>
                </a:tc>
                <a:tc>
                  <a:txBody>
                    <a:bodyPr/>
                    <a:lstStyle/>
                    <a:p>
                      <a:pPr algn="ctr"/>
                      <a:r>
                        <a:rPr sz="750" b="1">
                          <a:solidFill>
                            <a:srgbClr val="A82020"/>
                          </a:solidFill>
                        </a:rPr>
                        <a:t>18</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AXP</a:t>
                      </a:r>
                    </a:p>
                  </a:txBody>
                  <a:tcPr>
                    <a:noFill/>
                  </a:tcPr>
                </a:tc>
                <a:tc>
                  <a:txBody>
                    <a:bodyPr/>
                    <a:lstStyle/>
                    <a:p>
                      <a:pPr algn="ctr"/>
                      <a:r>
                        <a:rPr sz="750" b="0">
                          <a:solidFill>
                            <a:srgbClr val="1A1A1A"/>
                          </a:solidFill>
                        </a:rPr>
                        <a:t>American Express Company</a:t>
                      </a:r>
                    </a:p>
                  </a:txBody>
                  <a:tcPr>
                    <a:noFill/>
                  </a:tcPr>
                </a:tc>
                <a:tc>
                  <a:txBody>
                    <a:bodyPr/>
                    <a:lstStyle/>
                    <a:p>
                      <a:pPr algn="ctr"/>
                      <a:r>
                        <a:rPr sz="750" b="0">
                          <a:solidFill>
                            <a:srgbClr val="1A1A1A"/>
                          </a:solidFill>
                        </a:rPr>
                        <a:t>76/100</a:t>
                      </a:r>
                    </a:p>
                  </a:txBody>
                  <a:tcPr>
                    <a:noFill/>
                  </a:tcPr>
                </a:tc>
                <a:tc>
                  <a:txBody>
                    <a:bodyPr/>
                    <a:lstStyle/>
                    <a:p>
                      <a:pPr algn="ctr"/>
                      <a:r>
                        <a:rPr sz="750" b="1">
                          <a:solidFill>
                            <a:srgbClr val="A82020"/>
                          </a:solidFill>
                        </a:rPr>
                        <a:t>14</a:t>
                      </a:r>
                    </a:p>
                  </a:txBody>
                  <a:tcPr>
                    <a:solidFill>
                      <a:srgbClr val="FFEBEE"/>
                    </a:solidFill>
                  </a:tcPr>
                </a:tc>
                <a:tc>
                  <a:txBody>
                    <a:bodyPr/>
                    <a:lstStyle/>
                    <a:p>
                      <a:pPr algn="ctr"/>
                      <a:r>
                        <a:rPr sz="750" b="1">
                          <a:solidFill>
                            <a:srgbClr val="A82020"/>
                          </a:solidFill>
                        </a:rPr>
                        <a:t>22</a:t>
                      </a:r>
                    </a:p>
                  </a:txBody>
                  <a:tcPr>
                    <a:solidFill>
                      <a:srgbClr val="FFEBEE"/>
                    </a:solidFill>
                  </a:tcPr>
                </a:tc>
                <a:tc>
                  <a:txBody>
                    <a:bodyPr/>
                    <a:lstStyle/>
                    <a:p>
                      <a:pPr algn="ctr"/>
                      <a:r>
                        <a:rPr sz="750" b="1">
                          <a:solidFill>
                            <a:srgbClr val="A82020"/>
                          </a:solidFill>
                        </a:rPr>
                        <a:t>22</a:t>
                      </a:r>
                    </a:p>
                  </a:txBody>
                  <a:tcPr>
                    <a:solidFill>
                      <a:srgbClr val="FFEBEE"/>
                    </a:solidFill>
                  </a:tcPr>
                </a:tc>
                <a:tc>
                  <a:txBody>
                    <a:bodyPr/>
                    <a:lstStyle/>
                    <a:p>
                      <a:pPr algn="ctr"/>
                      <a:r>
                        <a:rPr sz="750" b="1">
                          <a:solidFill>
                            <a:srgbClr val="A82020"/>
                          </a:solidFill>
                        </a:rPr>
                        <a:t>15</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BLK</a:t>
                      </a:r>
                    </a:p>
                  </a:txBody>
                  <a:tcPr>
                    <a:noFill/>
                  </a:tcPr>
                </a:tc>
                <a:tc>
                  <a:txBody>
                    <a:bodyPr/>
                    <a:lstStyle/>
                    <a:p>
                      <a:pPr algn="ctr"/>
                      <a:r>
                        <a:rPr sz="750" b="0">
                          <a:solidFill>
                            <a:srgbClr val="1A1A1A"/>
                          </a:solidFill>
                        </a:rPr>
                        <a:t>BlackRock, Inc.</a:t>
                      </a:r>
                    </a:p>
                  </a:txBody>
                  <a:tcPr>
                    <a:noFill/>
                  </a:tcPr>
                </a:tc>
                <a:tc>
                  <a:txBody>
                    <a:bodyPr/>
                    <a:lstStyle/>
                    <a:p>
                      <a:pPr algn="ctr"/>
                      <a:r>
                        <a:rPr sz="750" b="0">
                          <a:solidFill>
                            <a:srgbClr val="1A1A1A"/>
                          </a:solidFill>
                        </a:rPr>
                        <a:t>75/100</a:t>
                      </a:r>
                    </a:p>
                  </a:txBody>
                  <a:tcPr>
                    <a:noFill/>
                  </a:tcPr>
                </a:tc>
                <a:tc>
                  <a:txBody>
                    <a:bodyPr/>
                    <a:lstStyle/>
                    <a:p>
                      <a:pPr algn="ctr"/>
                      <a:r>
                        <a:rPr sz="750" b="1">
                          <a:solidFill>
                            <a:srgbClr val="A82020"/>
                          </a:solidFill>
                        </a:rPr>
                        <a:t>10</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14</a:t>
                      </a:r>
                    </a:p>
                  </a:txBody>
                  <a:tcPr>
                    <a:solidFill>
                      <a:srgbClr val="FFEBEE"/>
                    </a:solid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JPM</a:t>
                      </a:r>
                    </a:p>
                  </a:txBody>
                  <a:tcPr>
                    <a:noFill/>
                  </a:tcPr>
                </a:tc>
                <a:tc>
                  <a:txBody>
                    <a:bodyPr/>
                    <a:lstStyle/>
                    <a:p>
                      <a:pPr algn="ctr"/>
                      <a:r>
                        <a:rPr sz="750" b="0">
                          <a:solidFill>
                            <a:srgbClr val="1A1A1A"/>
                          </a:solidFill>
                        </a:rPr>
                        <a:t>JPMorgan Chase &amp; Co.</a:t>
                      </a:r>
                    </a:p>
                  </a:txBody>
                  <a:tcPr>
                    <a:noFill/>
                  </a:tcPr>
                </a:tc>
                <a:tc>
                  <a:txBody>
                    <a:bodyPr/>
                    <a:lstStyle/>
                    <a:p>
                      <a:pPr algn="ctr"/>
                      <a:r>
                        <a:rPr sz="750" b="0">
                          <a:solidFill>
                            <a:srgbClr val="1A1A1A"/>
                          </a:solidFill>
                        </a:rPr>
                        <a:t>74/100</a:t>
                      </a:r>
                    </a:p>
                  </a:txBody>
                  <a:tcPr>
                    <a:noFill/>
                  </a:tcPr>
                </a:tc>
                <a:tc>
                  <a:txBody>
                    <a:bodyPr/>
                    <a:lstStyle/>
                    <a:p>
                      <a:pPr algn="ctr"/>
                      <a:r>
                        <a:rPr sz="750" b="1">
                          <a:solidFill>
                            <a:srgbClr val="A82020"/>
                          </a:solidFill>
                        </a:rPr>
                        <a:t>17</a:t>
                      </a:r>
                    </a:p>
                  </a:txBody>
                  <a:tcPr>
                    <a:solidFill>
                      <a:srgbClr val="FFEBEE"/>
                    </a:solidFill>
                  </a:tcPr>
                </a:tc>
                <a:tc>
                  <a:txBody>
                    <a:bodyPr/>
                    <a:lstStyle/>
                    <a:p>
                      <a:pPr algn="ctr"/>
                      <a:r>
                        <a:rPr sz="750" b="1">
                          <a:solidFill>
                            <a:srgbClr val="A82020"/>
                          </a:solidFill>
                        </a:rPr>
                        <a:t>14</a:t>
                      </a:r>
                    </a:p>
                  </a:txBody>
                  <a:tcPr>
                    <a:solidFill>
                      <a:srgbClr val="FFEBEE"/>
                    </a:solidFill>
                  </a:tcPr>
                </a:tc>
                <a:tc>
                  <a:txBody>
                    <a:bodyPr/>
                    <a:lstStyle/>
                    <a:p>
                      <a:pPr algn="ctr"/>
                      <a:r>
                        <a:rPr sz="750" b="1">
                          <a:solidFill>
                            <a:srgbClr val="A82020"/>
                          </a:solidFill>
                        </a:rPr>
                        <a:t>25</a:t>
                      </a:r>
                    </a:p>
                  </a:txBody>
                  <a:tcPr>
                    <a:solidFill>
                      <a:srgbClr val="FFEBEE"/>
                    </a:solidFill>
                  </a:tcPr>
                </a:tc>
                <a:tc>
                  <a:txBody>
                    <a:bodyPr/>
                    <a:lstStyle/>
                    <a:p>
                      <a:pPr algn="ctr"/>
                      <a:r>
                        <a:rPr sz="750" b="1">
                          <a:solidFill>
                            <a:srgbClr val="A82020"/>
                          </a:solidFill>
                        </a:rPr>
                        <a:t>17</a:t>
                      </a:r>
                    </a:p>
                  </a:txBody>
                  <a:tcPr>
                    <a:solidFill>
                      <a:srgbClr val="FFEBEE"/>
                    </a:solidFill>
                  </a:tcPr>
                </a:tc>
                <a:tc>
                  <a:txBody>
                    <a:bodyPr/>
                    <a:lstStyle/>
                    <a:p>
                      <a:pPr algn="ctr"/>
                      <a:r>
                        <a:rPr sz="750" b="0">
                          <a:solidFill>
                            <a:srgbClr val="1A1A1A"/>
                          </a:solidFill>
                        </a:rPr>
                        <a:t>BUY</a:t>
                      </a:r>
                    </a:p>
                  </a:txBody>
                  <a:tcPr>
                    <a:noFill/>
                  </a:tcPr>
                </a:tc>
              </a:tr>
            </a:tbl>
          </a:graphicData>
        </a:graphic>
      </p:graphicFrame>
      <p:sp>
        <p:nvSpPr>
          <p:cNvPr id="16" name="Rectangle 15"/>
          <p:cNvSpPr/>
          <p:nvPr/>
        </p:nvSpPr>
        <p:spPr>
          <a:xfrm>
            <a:off x="324000" y="3358800"/>
            <a:ext cx="8496000" cy="1501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588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376800"/>
            <a:ext cx="8352000" cy="216000"/>
          </a:xfrm>
          <a:prstGeom prst="rect">
            <a:avLst/>
          </a:prstGeom>
          <a:noFill/>
        </p:spPr>
        <p:txBody>
          <a:bodyPr wrap="square">
            <a:spAutoFit/>
          </a:bodyPr>
          <a:lstStyle/>
          <a:p>
            <a:pPr algn="l"/>
            <a:r>
              <a:rPr sz="750" b="1" i="0">
                <a:solidFill>
                  <a:srgbClr val="FFFFFF"/>
                </a:solidFill>
              </a:rPr>
              <a:t>SYNTHÈSE SCORES  ·  Score &gt;= 75 = fort  ·  50-74 = moyen  ·  &lt; 50 = faible  ·  Pondérations : Value / Growth / Quality / Momentum = 25 % chacun</a:t>
            </a:r>
          </a:p>
        </p:txBody>
      </p:sp>
      <p:sp>
        <p:nvSpPr>
          <p:cNvPr id="19" name="TextBox 18"/>
          <p:cNvSpPr txBox="1"/>
          <p:nvPr/>
        </p:nvSpPr>
        <p:spPr>
          <a:xfrm>
            <a:off x="396000" y="3664800"/>
            <a:ext cx="8352000" cy="1141200"/>
          </a:xfrm>
          <a:prstGeom prst="rect">
            <a:avLst/>
          </a:prstGeom>
          <a:noFill/>
        </p:spPr>
        <p:txBody>
          <a:bodyPr wrap="square">
            <a:spAutoFit/>
          </a:bodyPr>
          <a:lstStyle/>
          <a:p>
            <a:pPr algn="l"/>
            <a:r>
              <a:rPr sz="850" b="0" i="0">
                <a:solidFill>
                  <a:srgbClr val="555555"/>
                </a:solidFill>
              </a:rPr>
              <a:t>The Goldman Sachs Group,  présente le profil le plus équilibre du secteur (90/100) avec des scores Value=16, Growth=25, Quality=25, Momentum=23. La dispersion des scores entre les 8 sociétés Reflète des profils hétérogènes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Sociétés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GS</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The Goldman Sachs Gr</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1069</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0.0 %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Maintien des taux BCE a 3 % — soutien structurel aux NIM bancaires et a la rentabilité des depots.</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Hausse des NPL dans l'immobilier commercial et le crédit PME si récession confirmee.</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MS</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Morgan Stanley</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217</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0.0 %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Fusions-acquisitions dans la banque retail — prime de contrôle sur les cibles sous-valorisees.</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Pivot accommodant — compression des NIM de 15-25 bps par tranche de 25 bps de baisse.</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C</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Citigroup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152</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P/E</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18.0x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P/B</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1.1x</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ROE</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6.8 %</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Plateformes wealth management numeriques — réduction Coûts et captation millennials investisseurs.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Exigences CET1 plus élevées — pression sur le ROE et les politiques de retour de capital.</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société vs médiane sectorielle (17.1x)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homogene — 0 acteur(s) se detachent nettement du reste du secteur, creant une prime de valorisation significative vs la médiane de 17.1x.
0 société(s) se traitent sous la médiane — potentiellement les meilleures asymétries risque/rendement sous reserve de catalyseurs fondamentaux.
La dispersion des multiples est caractéristique d'un secteur Services Financiers en phase de différentiation — les investisseurs selectifs peuvent exploiter cet Écart.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6848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87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 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87200">
                <a:tc>
                  <a:txBody>
                    <a:bodyPr/>
                    <a:lstStyle/>
                    <a:p>
                      <a:pPr algn="ctr"/>
                      <a:r>
                        <a:rPr sz="750" b="0">
                          <a:solidFill>
                            <a:srgbClr val="1A1A1A"/>
                          </a:solidFill>
                        </a:rPr>
                        <a:t>GS</a:t>
                      </a:r>
                    </a:p>
                  </a:txBody>
                  <a:tcPr>
                    <a:noFill/>
                  </a:tcPr>
                </a:tc>
                <a:tc>
                  <a:txBody>
                    <a:bodyPr/>
                    <a:lstStyle/>
                    <a:p>
                      <a:pPr algn="ctr"/>
                      <a:r>
                        <a:rPr sz="750" b="0">
                          <a:solidFill>
                            <a:srgbClr val="1A1A1A"/>
                          </a:solidFill>
                        </a:rPr>
                        <a:t>The Goldman Sachs Group,</a:t>
                      </a:r>
                    </a:p>
                  </a:txBody>
                  <a:tcPr>
                    <a:noFill/>
                  </a:tcPr>
                </a:tc>
                <a:tc>
                  <a:txBody>
                    <a:bodyPr/>
                    <a:lstStyle/>
                    <a:p>
                      <a:pPr algn="ctr"/>
                      <a:r>
                        <a:rPr sz="750" b="0">
                          <a:solidFill>
                            <a:srgbClr val="1A1A1A"/>
                          </a:solidFill>
                        </a:rPr>
                        <a:t>890.79</a:t>
                      </a:r>
                    </a:p>
                  </a:txBody>
                  <a:tcPr>
                    <a:noFill/>
                  </a:tcPr>
                </a:tc>
                <a:tc>
                  <a:txBody>
                    <a:bodyPr/>
                    <a:lstStyle/>
                    <a:p>
                      <a:pPr algn="ctr"/>
                      <a:r>
                        <a:rPr sz="750" b="0">
                          <a:solidFill>
                            <a:srgbClr val="1A1A1A"/>
                          </a:solidFill>
                        </a:rPr>
                        <a:t>1024.4</a:t>
                      </a:r>
                    </a:p>
                  </a:txBody>
                  <a:tcPr>
                    <a:noFill/>
                  </a:tcPr>
                </a:tc>
                <a:tc>
                  <a:txBody>
                    <a:bodyPr/>
                    <a:lstStyle/>
                    <a:p>
                      <a:pPr algn="ctr"/>
                      <a:r>
                        <a:rPr sz="750" b="0">
                          <a:solidFill>
                            <a:srgbClr val="1A1A1A"/>
                          </a:solidFill>
                        </a:rPr>
                        <a:t>&lt; 846.3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MS</a:t>
                      </a:r>
                    </a:p>
                  </a:txBody>
                  <a:tcPr>
                    <a:solidFill>
                      <a:srgbClr val="F5F7FA"/>
                    </a:solidFill>
                  </a:tcPr>
                </a:tc>
                <a:tc>
                  <a:txBody>
                    <a:bodyPr/>
                    <a:lstStyle/>
                    <a:p>
                      <a:pPr algn="ctr"/>
                      <a:r>
                        <a:rPr sz="750" b="0">
                          <a:solidFill>
                            <a:srgbClr val="1A1A1A"/>
                          </a:solidFill>
                        </a:rPr>
                        <a:t>Morgan Stanley</a:t>
                      </a:r>
                    </a:p>
                  </a:txBody>
                  <a:tcPr>
                    <a:solidFill>
                      <a:srgbClr val="F5F7FA"/>
                    </a:solidFill>
                  </a:tcPr>
                </a:tc>
                <a:tc>
                  <a:txBody>
                    <a:bodyPr/>
                    <a:lstStyle/>
                    <a:p>
                      <a:pPr algn="ctr"/>
                      <a:r>
                        <a:rPr sz="750" b="0">
                          <a:solidFill>
                            <a:srgbClr val="1A1A1A"/>
                          </a:solidFill>
                        </a:rPr>
                        <a:t>181.14</a:t>
                      </a:r>
                    </a:p>
                  </a:txBody>
                  <a:tcPr>
                    <a:solidFill>
                      <a:srgbClr val="F5F7FA"/>
                    </a:solidFill>
                  </a:tcPr>
                </a:tc>
                <a:tc>
                  <a:txBody>
                    <a:bodyPr/>
                    <a:lstStyle/>
                    <a:p>
                      <a:pPr algn="ctr"/>
                      <a:r>
                        <a:rPr sz="750" b="0">
                          <a:solidFill>
                            <a:srgbClr val="1A1A1A"/>
                          </a:solidFill>
                        </a:rPr>
                        <a:t>208.3</a:t>
                      </a:r>
                    </a:p>
                  </a:txBody>
                  <a:tcPr>
                    <a:solidFill>
                      <a:srgbClr val="F5F7FA"/>
                    </a:solidFill>
                  </a:tcPr>
                </a:tc>
                <a:tc>
                  <a:txBody>
                    <a:bodyPr/>
                    <a:lstStyle/>
                    <a:p>
                      <a:pPr algn="ctr"/>
                      <a:r>
                        <a:rPr sz="750" b="0">
                          <a:solidFill>
                            <a:srgbClr val="1A1A1A"/>
                          </a:solidFill>
                        </a:rPr>
                        <a:t>&lt; 172.1</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C</a:t>
                      </a:r>
                    </a:p>
                  </a:txBody>
                  <a:tcPr>
                    <a:noFill/>
                  </a:tcPr>
                </a:tc>
                <a:tc>
                  <a:txBody>
                    <a:bodyPr/>
                    <a:lstStyle/>
                    <a:p>
                      <a:pPr algn="ctr"/>
                      <a:r>
                        <a:rPr sz="750" b="0">
                          <a:solidFill>
                            <a:srgbClr val="1A1A1A"/>
                          </a:solidFill>
                        </a:rPr>
                        <a:t>Citigroup Inc.</a:t>
                      </a:r>
                    </a:p>
                  </a:txBody>
                  <a:tcPr>
                    <a:noFill/>
                  </a:tcPr>
                </a:tc>
                <a:tc>
                  <a:txBody>
                    <a:bodyPr/>
                    <a:lstStyle/>
                    <a:p>
                      <a:pPr algn="ctr"/>
                      <a:r>
                        <a:rPr sz="750" b="0">
                          <a:solidFill>
                            <a:srgbClr val="1A1A1A"/>
                          </a:solidFill>
                        </a:rPr>
                        <a:t>126.28</a:t>
                      </a:r>
                    </a:p>
                  </a:txBody>
                  <a:tcPr>
                    <a:noFill/>
                  </a:tcPr>
                </a:tc>
                <a:tc>
                  <a:txBody>
                    <a:bodyPr/>
                    <a:lstStyle/>
                    <a:p>
                      <a:pPr algn="ctr"/>
                      <a:r>
                        <a:rPr sz="750" b="0">
                          <a:solidFill>
                            <a:srgbClr val="1A1A1A"/>
                          </a:solidFill>
                        </a:rPr>
                        <a:t>145.2</a:t>
                      </a:r>
                    </a:p>
                  </a:txBody>
                  <a:tcPr>
                    <a:noFill/>
                  </a:tcPr>
                </a:tc>
                <a:tc>
                  <a:txBody>
                    <a:bodyPr/>
                    <a:lstStyle/>
                    <a:p>
                      <a:pPr algn="ctr"/>
                      <a:r>
                        <a:rPr sz="750" b="0">
                          <a:solidFill>
                            <a:srgbClr val="1A1A1A"/>
                          </a:solidFill>
                        </a:rPr>
                        <a:t>&lt; 120.0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BAC</a:t>
                      </a:r>
                    </a:p>
                  </a:txBody>
                  <a:tcPr>
                    <a:solidFill>
                      <a:srgbClr val="F5F7FA"/>
                    </a:solidFill>
                  </a:tcPr>
                </a:tc>
                <a:tc>
                  <a:txBody>
                    <a:bodyPr/>
                    <a:lstStyle/>
                    <a:p>
                      <a:pPr algn="ctr"/>
                      <a:r>
                        <a:rPr sz="750" b="0">
                          <a:solidFill>
                            <a:srgbClr val="1A1A1A"/>
                          </a:solidFill>
                        </a:rPr>
                        <a:t>Bank of America Corporat</a:t>
                      </a:r>
                    </a:p>
                  </a:txBody>
                  <a:tcPr>
                    <a:solidFill>
                      <a:srgbClr val="F5F7FA"/>
                    </a:solidFill>
                  </a:tcPr>
                </a:tc>
                <a:tc>
                  <a:txBody>
                    <a:bodyPr/>
                    <a:lstStyle/>
                    <a:p>
                      <a:pPr algn="ctr"/>
                      <a:r>
                        <a:rPr sz="750" b="0">
                          <a:solidFill>
                            <a:srgbClr val="1A1A1A"/>
                          </a:solidFill>
                        </a:rPr>
                        <a:t>53.35</a:t>
                      </a:r>
                    </a:p>
                  </a:txBody>
                  <a:tcPr>
                    <a:solidFill>
                      <a:srgbClr val="F5F7FA"/>
                    </a:solidFill>
                  </a:tcPr>
                </a:tc>
                <a:tc>
                  <a:txBody>
                    <a:bodyPr/>
                    <a:lstStyle/>
                    <a:p>
                      <a:pPr algn="ctr"/>
                      <a:r>
                        <a:rPr sz="750" b="0">
                          <a:solidFill>
                            <a:srgbClr val="1A1A1A"/>
                          </a:solidFill>
                        </a:rPr>
                        <a:t>61.4</a:t>
                      </a:r>
                    </a:p>
                  </a:txBody>
                  <a:tcPr>
                    <a:solidFill>
                      <a:srgbClr val="F5F7FA"/>
                    </a:solidFill>
                  </a:tcPr>
                </a:tc>
                <a:tc>
                  <a:txBody>
                    <a:bodyPr/>
                    <a:lstStyle/>
                    <a:p>
                      <a:pPr algn="ctr"/>
                      <a:r>
                        <a:rPr sz="750" b="0">
                          <a:solidFill>
                            <a:srgbClr val="1A1A1A"/>
                          </a:solidFill>
                        </a:rPr>
                        <a:t>&lt; 50.7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WFC</a:t>
                      </a:r>
                    </a:p>
                  </a:txBody>
                  <a:tcPr>
                    <a:noFill/>
                  </a:tcPr>
                </a:tc>
                <a:tc>
                  <a:txBody>
                    <a:bodyPr/>
                    <a:lstStyle/>
                    <a:p>
                      <a:pPr algn="ctr"/>
                      <a:r>
                        <a:rPr sz="750" b="0">
                          <a:solidFill>
                            <a:srgbClr val="1A1A1A"/>
                          </a:solidFill>
                        </a:rPr>
                        <a:t>Wells Fargo &amp; Company</a:t>
                      </a:r>
                    </a:p>
                  </a:txBody>
                  <a:tcPr>
                    <a:noFill/>
                  </a:tcPr>
                </a:tc>
                <a:tc>
                  <a:txBody>
                    <a:bodyPr/>
                    <a:lstStyle/>
                    <a:p>
                      <a:pPr algn="ctr"/>
                      <a:r>
                        <a:rPr sz="750" b="0">
                          <a:solidFill>
                            <a:srgbClr val="1A1A1A"/>
                          </a:solidFill>
                        </a:rPr>
                        <a:t>86.64</a:t>
                      </a:r>
                    </a:p>
                  </a:txBody>
                  <a:tcPr>
                    <a:noFill/>
                  </a:tcPr>
                </a:tc>
                <a:tc>
                  <a:txBody>
                    <a:bodyPr/>
                    <a:lstStyle/>
                    <a:p>
                      <a:pPr algn="ctr"/>
                      <a:r>
                        <a:rPr sz="750" b="0">
                          <a:solidFill>
                            <a:srgbClr val="1A1A1A"/>
                          </a:solidFill>
                        </a:rPr>
                        <a:t>99.6</a:t>
                      </a:r>
                    </a:p>
                  </a:txBody>
                  <a:tcPr>
                    <a:noFill/>
                  </a:tcPr>
                </a:tc>
                <a:tc>
                  <a:txBody>
                    <a:bodyPr/>
                    <a:lstStyle/>
                    <a:p>
                      <a:pPr algn="ctr"/>
                      <a:r>
                        <a:rPr sz="750" b="0">
                          <a:solidFill>
                            <a:srgbClr val="1A1A1A"/>
                          </a:solidFill>
                        </a:rPr>
                        <a:t>&lt; 82.3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AXP</a:t>
                      </a:r>
                    </a:p>
                  </a:txBody>
                  <a:tcPr>
                    <a:solidFill>
                      <a:srgbClr val="F5F7FA"/>
                    </a:solidFill>
                  </a:tcPr>
                </a:tc>
                <a:tc>
                  <a:txBody>
                    <a:bodyPr/>
                    <a:lstStyle/>
                    <a:p>
                      <a:pPr algn="ctr"/>
                      <a:r>
                        <a:rPr sz="750" b="0">
                          <a:solidFill>
                            <a:srgbClr val="1A1A1A"/>
                          </a:solidFill>
                        </a:rPr>
                        <a:t>American Express Company</a:t>
                      </a:r>
                    </a:p>
                  </a:txBody>
                  <a:tcPr>
                    <a:solidFill>
                      <a:srgbClr val="F5F7FA"/>
                    </a:solidFill>
                  </a:tcPr>
                </a:tc>
                <a:tc>
                  <a:txBody>
                    <a:bodyPr/>
                    <a:lstStyle/>
                    <a:p>
                      <a:pPr algn="ctr"/>
                      <a:r>
                        <a:rPr sz="750" b="0">
                          <a:solidFill>
                            <a:srgbClr val="1A1A1A"/>
                          </a:solidFill>
                        </a:rPr>
                        <a:t>323.82</a:t>
                      </a:r>
                    </a:p>
                  </a:txBody>
                  <a:tcPr>
                    <a:solidFill>
                      <a:srgbClr val="F5F7FA"/>
                    </a:solidFill>
                  </a:tcPr>
                </a:tc>
                <a:tc>
                  <a:txBody>
                    <a:bodyPr/>
                    <a:lstStyle/>
                    <a:p>
                      <a:pPr algn="ctr"/>
                      <a:r>
                        <a:rPr sz="750" b="0">
                          <a:solidFill>
                            <a:srgbClr val="1A1A1A"/>
                          </a:solidFill>
                        </a:rPr>
                        <a:t>372.4</a:t>
                      </a:r>
                    </a:p>
                  </a:txBody>
                  <a:tcPr>
                    <a:solidFill>
                      <a:srgbClr val="F5F7FA"/>
                    </a:solidFill>
                  </a:tcPr>
                </a:tc>
                <a:tc>
                  <a:txBody>
                    <a:bodyPr/>
                    <a:lstStyle/>
                    <a:p>
                      <a:pPr algn="ctr"/>
                      <a:r>
                        <a:rPr sz="750" b="0">
                          <a:solidFill>
                            <a:srgbClr val="1A1A1A"/>
                          </a:solidFill>
                        </a:rPr>
                        <a:t>&lt; 307.6</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BLK</a:t>
                      </a:r>
                    </a:p>
                  </a:txBody>
                  <a:tcPr>
                    <a:noFill/>
                  </a:tcPr>
                </a:tc>
                <a:tc>
                  <a:txBody>
                    <a:bodyPr/>
                    <a:lstStyle/>
                    <a:p>
                      <a:pPr algn="ctr"/>
                      <a:r>
                        <a:rPr sz="750" b="0">
                          <a:solidFill>
                            <a:srgbClr val="1A1A1A"/>
                          </a:solidFill>
                        </a:rPr>
                        <a:t>BlackRock, Inc.</a:t>
                      </a:r>
                    </a:p>
                  </a:txBody>
                  <a:tcPr>
                    <a:noFill/>
                  </a:tcPr>
                </a:tc>
                <a:tc>
                  <a:txBody>
                    <a:bodyPr/>
                    <a:lstStyle/>
                    <a:p>
                      <a:pPr algn="ctr"/>
                      <a:r>
                        <a:rPr sz="750" b="0">
                          <a:solidFill>
                            <a:srgbClr val="1A1A1A"/>
                          </a:solidFill>
                        </a:rPr>
                        <a:t>1023.65</a:t>
                      </a:r>
                    </a:p>
                  </a:txBody>
                  <a:tcPr>
                    <a:noFill/>
                  </a:tcPr>
                </a:tc>
                <a:tc>
                  <a:txBody>
                    <a:bodyPr/>
                    <a:lstStyle/>
                    <a:p>
                      <a:pPr algn="ctr"/>
                      <a:r>
                        <a:rPr sz="750" b="0">
                          <a:solidFill>
                            <a:srgbClr val="1A1A1A"/>
                          </a:solidFill>
                        </a:rPr>
                        <a:t>1177.2</a:t>
                      </a:r>
                    </a:p>
                  </a:txBody>
                  <a:tcPr>
                    <a:noFill/>
                  </a:tcPr>
                </a:tc>
                <a:tc>
                  <a:txBody>
                    <a:bodyPr/>
                    <a:lstStyle/>
                    <a:p>
                      <a:pPr algn="ctr"/>
                      <a:r>
                        <a:rPr sz="750" b="0">
                          <a:solidFill>
                            <a:srgbClr val="1A1A1A"/>
                          </a:solidFill>
                        </a:rPr>
                        <a:t>&lt; 972.5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JPM</a:t>
                      </a:r>
                    </a:p>
                  </a:txBody>
                  <a:tcPr>
                    <a:solidFill>
                      <a:srgbClr val="F5F7FA"/>
                    </a:solidFill>
                  </a:tcPr>
                </a:tc>
                <a:tc>
                  <a:txBody>
                    <a:bodyPr/>
                    <a:lstStyle/>
                    <a:p>
                      <a:pPr algn="ctr"/>
                      <a:r>
                        <a:rPr sz="750" b="0">
                          <a:solidFill>
                            <a:srgbClr val="1A1A1A"/>
                          </a:solidFill>
                        </a:rPr>
                        <a:t>JPMorgan Chase &amp; Co.</a:t>
                      </a:r>
                    </a:p>
                  </a:txBody>
                  <a:tcPr>
                    <a:solidFill>
                      <a:srgbClr val="F5F7FA"/>
                    </a:solidFill>
                  </a:tcPr>
                </a:tc>
                <a:tc>
                  <a:txBody>
                    <a:bodyPr/>
                    <a:lstStyle/>
                    <a:p>
                      <a:pPr algn="ctr"/>
                      <a:r>
                        <a:rPr sz="750" b="0">
                          <a:solidFill>
                            <a:srgbClr val="1A1A1A"/>
                          </a:solidFill>
                        </a:rPr>
                        <a:t>313.68</a:t>
                      </a:r>
                    </a:p>
                  </a:txBody>
                  <a:tcPr>
                    <a:solidFill>
                      <a:srgbClr val="F5F7FA"/>
                    </a:solidFill>
                  </a:tcPr>
                </a:tc>
                <a:tc>
                  <a:txBody>
                    <a:bodyPr/>
                    <a:lstStyle/>
                    <a:p>
                      <a:pPr algn="ctr"/>
                      <a:r>
                        <a:rPr sz="750" b="0">
                          <a:solidFill>
                            <a:srgbClr val="1A1A1A"/>
                          </a:solidFill>
                        </a:rPr>
                        <a:t>360.7</a:t>
                      </a:r>
                    </a:p>
                  </a:txBody>
                  <a:tcPr>
                    <a:solidFill>
                      <a:srgbClr val="F5F7FA"/>
                    </a:solidFill>
                  </a:tcPr>
                </a:tc>
                <a:tc>
                  <a:txBody>
                    <a:bodyPr/>
                    <a:lstStyle/>
                    <a:p>
                      <a:pPr algn="ctr"/>
                      <a:r>
                        <a:rPr sz="750" b="0">
                          <a:solidFill>
                            <a:srgbClr val="1A1A1A"/>
                          </a:solidFill>
                        </a:rPr>
                        <a:t>&lt; 298.0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304800"/>
            <a:ext cx="8496000" cy="90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304800"/>
            <a:ext cx="36000" cy="90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333600"/>
            <a:ext cx="8316000" cy="180000"/>
          </a:xfrm>
          <a:prstGeom prst="rect">
            <a:avLst/>
          </a:prstGeom>
          <a:noFill/>
        </p:spPr>
        <p:txBody>
          <a:bodyPr wrap="square">
            <a:spAutoFit/>
          </a:bodyPr>
          <a:lstStyle/>
          <a:p>
            <a:pPr algn="l"/>
            <a:r>
              <a:rPr sz="750" b="1" i="0">
                <a:solidFill>
                  <a:srgbClr val="B06000"/>
                </a:solidFill>
              </a:rPr>
              <a:t>NOTE METHODOLOGIQUE</a:t>
            </a:r>
          </a:p>
        </p:txBody>
      </p:sp>
      <p:sp>
        <p:nvSpPr>
          <p:cNvPr id="22" name="TextBox 21"/>
          <p:cNvSpPr txBox="1"/>
          <p:nvPr/>
        </p:nvSpPr>
        <p:spPr>
          <a:xfrm>
            <a:off x="468000" y="3520800"/>
            <a:ext cx="8316000" cy="666000"/>
          </a:xfrm>
          <a:prstGeom prst="rect">
            <a:avLst/>
          </a:prstGeom>
          <a:noFill/>
        </p:spPr>
        <p:txBody>
          <a:bodyPr wrap="square">
            <a:spAutoFit/>
          </a:bodyPr>
          <a:lstStyle/>
          <a:p>
            <a:pPr algn="l"/>
            <a:r>
              <a:rPr sz="750" b="0" i="0">
                <a:solidFill>
                  <a:srgbClr val="555555"/>
                </a:solidFill>
              </a:rPr>
              <a:t>La probabilité de rendement positif a 12 mois est calculée sur des configurations similaires identifiees en backtesting sur Données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Dégradâtion Crédit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Hausse des NPL dans l'immobilier commercial et le crédit PME si récession confirmee.</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Baisse Taux BCE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Pivot accommodant — compression des NIM de 15-25 bps par tranche de 25 bps de baisse.</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Régulation Bale IV</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Exigences CET1 plus élevées — pression sur le ROE et les politiques de retour de capital.</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Récession confirmee — 2 trimestrès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65 — dégradation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Révision baissière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Réglementaire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08000"/>
            <a:ext cx="8496000" cy="198000"/>
          </a:xfrm>
          <a:prstGeom prst="rect">
            <a:avLst/>
          </a:prstGeom>
          <a:noFill/>
        </p:spPr>
        <p:txBody>
          <a:bodyPr wrap="square">
            <a:spAutoFit/>
          </a:bodyPr>
          <a:lstStyle/>
          <a:p>
            <a:pPr algn="l"/>
            <a:r>
              <a:rPr sz="850" b="1" i="0">
                <a:solidFill>
                  <a:srgbClr val="1B3A6B"/>
                </a:solidFill>
              </a:rPr>
              <a:t>Sante financière agregee du secteur</a:t>
            </a:r>
          </a:p>
        </p:txBody>
      </p:sp>
      <p:sp>
        <p:nvSpPr>
          <p:cNvPr id="30" name="Rectangle 29"/>
          <p:cNvSpPr/>
          <p:nvPr/>
        </p:nvSpPr>
        <p:spPr>
          <a:xfrm>
            <a:off x="324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24000"/>
            <a:ext cx="36000" cy="79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3960000"/>
            <a:ext cx="2538000" cy="360000"/>
          </a:xfrm>
          <a:prstGeom prst="rect">
            <a:avLst/>
          </a:prstGeom>
          <a:noFill/>
        </p:spPr>
        <p:txBody>
          <a:bodyPr wrap="square">
            <a:spAutoFit/>
          </a:bodyPr>
          <a:lstStyle/>
          <a:p>
            <a:pPr algn="l"/>
            <a:r>
              <a:rPr sz="2200" b="1" i="0">
                <a:solidFill>
                  <a:srgbClr val="1B3A6B"/>
                </a:solidFill>
              </a:rPr>
              <a:t>N/D</a:t>
            </a:r>
          </a:p>
        </p:txBody>
      </p:sp>
      <p:sp>
        <p:nvSpPr>
          <p:cNvPr id="33" name="TextBox 32"/>
          <p:cNvSpPr txBox="1"/>
          <p:nvPr/>
        </p:nvSpPr>
        <p:spPr>
          <a:xfrm>
            <a:off x="413999" y="4338000"/>
            <a:ext cx="2538000" cy="162000"/>
          </a:xfrm>
          <a:prstGeom prst="rect">
            <a:avLst/>
          </a:prstGeom>
          <a:noFill/>
        </p:spPr>
        <p:txBody>
          <a:bodyPr wrap="square">
            <a:spAutoFit/>
          </a:bodyPr>
          <a:lstStyle/>
          <a:p>
            <a:pPr algn="l"/>
            <a:r>
              <a:rPr sz="850" b="0" i="0">
                <a:solidFill>
                  <a:srgbClr val="555555"/>
                </a:solidFill>
              </a:rPr>
              <a:t>ND/EBITDA Médian</a:t>
            </a:r>
          </a:p>
        </p:txBody>
      </p:sp>
      <p:sp>
        <p:nvSpPr>
          <p:cNvPr id="34" name="TextBox 33"/>
          <p:cNvSpPr txBox="1"/>
          <p:nvPr/>
        </p:nvSpPr>
        <p:spPr>
          <a:xfrm>
            <a:off x="413999" y="4500000"/>
            <a:ext cx="2538000" cy="144000"/>
          </a:xfrm>
          <a:prstGeom prst="rect">
            <a:avLst/>
          </a:prstGeom>
          <a:noFill/>
        </p:spPr>
        <p:txBody>
          <a:bodyPr wrap="square">
            <a:spAutoFit/>
          </a:bodyPr>
          <a:lstStyle/>
          <a:p>
            <a:pPr algn="l"/>
            <a:r>
              <a:rPr sz="800" b="0" i="0">
                <a:solidFill>
                  <a:srgbClr val="AAAAAA"/>
                </a:solidFill>
              </a:rPr>
              <a:t>levier sectoriel</a:t>
            </a:r>
          </a:p>
        </p:txBody>
      </p:sp>
      <p:sp>
        <p:nvSpPr>
          <p:cNvPr id="35" name="Rectangle 34"/>
          <p:cNvSpPr/>
          <p:nvPr/>
        </p:nvSpPr>
        <p:spPr>
          <a:xfrm>
            <a:off x="3276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3960000"/>
            <a:ext cx="2538000" cy="360000"/>
          </a:xfrm>
          <a:prstGeom prst="rect">
            <a:avLst/>
          </a:prstGeom>
          <a:noFill/>
        </p:spPr>
        <p:txBody>
          <a:bodyPr wrap="square">
            <a:spAutoFit/>
          </a:bodyPr>
          <a:lstStyle/>
          <a:p>
            <a:pPr algn="l"/>
            <a:r>
              <a:rPr sz="2200" b="1" i="0">
                <a:solidFill>
                  <a:srgbClr val="1B3A6B"/>
                </a:solidFill>
              </a:rPr>
              <a:t>4.4%</a:t>
            </a:r>
          </a:p>
        </p:txBody>
      </p:sp>
      <p:sp>
        <p:nvSpPr>
          <p:cNvPr id="38" name="TextBox 37"/>
          <p:cNvSpPr txBox="1"/>
          <p:nvPr/>
        </p:nvSpPr>
        <p:spPr>
          <a:xfrm>
            <a:off x="3366000" y="4338000"/>
            <a:ext cx="2538000" cy="162000"/>
          </a:xfrm>
          <a:prstGeom prst="rect">
            <a:avLst/>
          </a:prstGeom>
          <a:noFill/>
        </p:spPr>
        <p:txBody>
          <a:bodyPr wrap="square">
            <a:spAutoFit/>
          </a:bodyPr>
          <a:lstStyle/>
          <a:p>
            <a:pPr algn="l"/>
            <a:r>
              <a:rPr sz="850" b="0" i="0">
                <a:solidFill>
                  <a:srgbClr val="555555"/>
                </a:solidFill>
              </a:rPr>
              <a:t>FCF Yield Médian</a:t>
            </a:r>
          </a:p>
        </p:txBody>
      </p:sp>
      <p:sp>
        <p:nvSpPr>
          <p:cNvPr id="39" name="TextBox 38"/>
          <p:cNvSpPr txBox="1"/>
          <p:nvPr/>
        </p:nvSpPr>
        <p:spPr>
          <a:xfrm>
            <a:off x="3366000" y="4500000"/>
            <a:ext cx="2538000" cy="144000"/>
          </a:xfrm>
          <a:prstGeom prst="rect">
            <a:avLst/>
          </a:prstGeom>
          <a:noFill/>
        </p:spPr>
        <p:txBody>
          <a:bodyPr wrap="square">
            <a:spAutoFit/>
          </a:bodyPr>
          <a:lstStyle/>
          <a:p>
            <a:pPr algn="l"/>
            <a:r>
              <a:rPr sz="800" b="0" i="0">
                <a:solidFill>
                  <a:srgbClr val="AAAAAA"/>
                </a:solidFill>
              </a:rPr>
              <a:t>Génération cash</a:t>
            </a:r>
          </a:p>
        </p:txBody>
      </p:sp>
      <p:sp>
        <p:nvSpPr>
          <p:cNvPr id="40" name="Rectangle 39"/>
          <p:cNvSpPr/>
          <p:nvPr/>
        </p:nvSpPr>
        <p:spPr>
          <a:xfrm>
            <a:off x="6228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3960000"/>
            <a:ext cx="2538000" cy="360000"/>
          </a:xfrm>
          <a:prstGeom prst="rect">
            <a:avLst/>
          </a:prstGeom>
          <a:noFill/>
        </p:spPr>
        <p:txBody>
          <a:bodyPr wrap="square">
            <a:spAutoFit/>
          </a:bodyPr>
          <a:lstStyle/>
          <a:p>
            <a:pPr algn="l"/>
            <a:r>
              <a:rPr sz="2200" b="1" i="0">
                <a:solidFill>
                  <a:srgbClr val="1B3A6B"/>
                </a:solidFill>
              </a:rPr>
              <a:t>78/100</a:t>
            </a:r>
          </a:p>
        </p:txBody>
      </p:sp>
      <p:sp>
        <p:nvSpPr>
          <p:cNvPr id="43" name="TextBox 42"/>
          <p:cNvSpPr txBox="1"/>
          <p:nvPr/>
        </p:nvSpPr>
        <p:spPr>
          <a:xfrm>
            <a:off x="6318000" y="4338000"/>
            <a:ext cx="2538000" cy="162000"/>
          </a:xfrm>
          <a:prstGeom prst="rect">
            <a:avLst/>
          </a:prstGeom>
          <a:noFill/>
        </p:spPr>
        <p:txBody>
          <a:bodyPr wrap="square">
            <a:spAutoFit/>
          </a:bodyPr>
          <a:lstStyle/>
          <a:p>
            <a:pPr algn="l"/>
            <a:r>
              <a:rPr sz="850" b="0" i="0">
                <a:solidFill>
                  <a:srgbClr val="555555"/>
                </a:solidFill>
              </a:rPr>
              <a:t>Score santé moyen</a:t>
            </a:r>
          </a:p>
        </p:txBody>
      </p:sp>
      <p:sp>
        <p:nvSpPr>
          <p:cNvPr id="44" name="TextBox 43"/>
          <p:cNvSpPr txBox="1"/>
          <p:nvPr/>
        </p:nvSpPr>
        <p:spPr>
          <a:xfrm>
            <a:off x="6318000" y="4500000"/>
            <a:ext cx="2538000" cy="144000"/>
          </a:xfrm>
          <a:prstGeom prst="rect">
            <a:avLst/>
          </a:prstGeom>
          <a:noFill/>
        </p:spPr>
        <p:txBody>
          <a:bodyPr wrap="square">
            <a:spAutoFit/>
          </a:bodyPr>
          <a:lstStyle/>
          <a:p>
            <a:pPr algn="l"/>
            <a:r>
              <a:rPr sz="800" b="0" i="0">
                <a:solidFill>
                  <a:srgbClr val="AAAAAA"/>
                </a:solidFill>
              </a:rPr>
              <a:t>solidité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Taux Directeurs Élevés — Maintien des taux BCE a 3 % — soutien structurel aux NIM bancaires et a la rentabilité</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Dégradâtion Crédit — Hausse des NPL dans l'immobilier commercial et le crédit PME si récession confirmee.</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Services Financiers (S&amp;P 500) ressort neutre (0.00), avec 25% d'articles a tonalité positive sur 8 analysés. La dispersion inter-valeurs est prononcée : JPM (+0.00) Porté la composanté haussière tandis que BLK (+0.00) reflète les pressions structurelles. Cette hétérogénéité valide une approche sélective plutôt que directionnelle sur le secteur — le sentiment moyen masque des situations fondamentalement différentes entre leaders et retardataires. La composanté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Boursière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Services Financiers  ·  S&amp;P 500  ·  Indexe a 100 au debut de la période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C  +96%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BLK  +15%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81 pts — 8 valeur(s) positives vs 0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INTERPRÉTATION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création de valeur tandis que d'autrès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Avertissement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complète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