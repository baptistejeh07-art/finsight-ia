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Services Financiers</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13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16.7x  ·  Croissance med. : +8.9 %  ·  Marge EBITDA med. : 0.0 %  ·  Score moyen : 80/100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Politiques monétaires</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Les anticipations de baisses des taux de la Fed à partir de mi-2024 devraient soutenir la demande de crédit et les volumes de transactions sur les marchés de capitaux.</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Réglementation</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L'assouplissement progressif des règles de Bâle IV en Europe et aux États-Unis pourrait réduire les coûts en capital pour les banques d'investissement comme GS et MS.</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Technologie</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L'adoption accélérée de l'IA et des solutions cloud dans les services financiers optimise les coûts opérationnels et améliore l'efficacité des plateformes de trading.</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Crédit</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Un durcissement inattendu des conditions de crédit pourrait peser sur les marges des banques commerciales comme C, notamment dans les segments des PME et des particuliers.</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Géopolitique</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Les tensions commerciales persistantes entre les États-Unis et la Chine menacent les revenus des banques d'investissement exposées aux flux transpacifiques.</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Cyber</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L'augmentation des cyberattaques ciblant les infrastructures financières pourrait entraîner des coûts de conformité et de réparation significatifs.</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16.7x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Marché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+8.9 %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0.0 %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+39.3 %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Synthèse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positionnément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Caractéristiques structurelles &amp; metriques_dict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080000"/>
          </a:xfrm>
          <a:prstGeom prst="rect">
            <a:avLst/>
          </a:prstGeom>
          <a:noFill/>
        </p:spPr>
        <p:txBody>
          <a:bodyPr wrap="square">
            <a:spAutoFit/>
          </a:bodyPr>
          <a:lstStyle/>
          <a:p>
            <a:pPr algn="l"/>
            <a:r>
              <a:rPr sz="900" b="0" i="0">
                <a:solidFill>
                  <a:srgbClr val="555555"/>
                </a:solidFill>
              </a:rPr>
              <a:t>Le secteur des Financial Services affiche une valorisation attractive avec un multiple EV/EBITDA médian de 16.7x, proche de sa moyenne historique, malgré une marge EBITDA stagnante à 0.0% reflétant des pressions concurrentielles sur les taux et les coûts de conformité. La croissance des revenus à +8.9% et un momentum 52 semaines de +39.3% indiquent une dynamique de reprise post-réglementaire et une exposition favorable aux marchés actions et aux fusions-acquisitions.</a:t>
            </a:r>
          </a:p>
        </p:txBody>
      </p:sp>
      <p:sp>
        <p:nvSpPr>
          <p:cNvPr id="18" name="Rectangle 17"/>
          <p:cNvSpPr/>
          <p:nvPr/>
        </p:nvSpPr>
        <p:spPr>
          <a:xfrm>
            <a:off x="324000" y="2160000"/>
            <a:ext cx="4932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000" y="2178000"/>
            <a:ext cx="4932000" cy="144000"/>
          </a:xfrm>
          <a:prstGeom prst="rect">
            <a:avLst/>
          </a:prstGeom>
          <a:noFill/>
        </p:spPr>
        <p:txBody>
          <a:bodyPr wrap="square">
            <a:spAutoFit/>
          </a:bodyPr>
          <a:lstStyle/>
          <a:p>
            <a:pPr algn="ctr"/>
            <a:r>
              <a:rPr sz="800" b="1" i="0">
                <a:solidFill>
                  <a:srgbClr val="FFFFFF"/>
                </a:solidFill>
              </a:rPr>
              <a:t>CATALYSEURS CLES</a:t>
            </a:r>
          </a:p>
        </p:txBody>
      </p:sp>
      <p:sp>
        <p:nvSpPr>
          <p:cNvPr id="20" name="Rectangle 19"/>
          <p:cNvSpPr/>
          <p:nvPr/>
        </p:nvSpPr>
        <p:spPr>
          <a:xfrm>
            <a:off x="360000" y="2358000"/>
            <a:ext cx="28800" cy="48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2358000"/>
            <a:ext cx="4716000" cy="162000"/>
          </a:xfrm>
          <a:prstGeom prst="rect">
            <a:avLst/>
          </a:prstGeom>
          <a:noFill/>
        </p:spPr>
        <p:txBody>
          <a:bodyPr wrap="square">
            <a:spAutoFit/>
          </a:bodyPr>
          <a:lstStyle/>
          <a:p>
            <a:pPr algn="l"/>
            <a:r>
              <a:rPr sz="850" b="1" i="0">
                <a:solidFill>
                  <a:srgbClr val="1B3A6B"/>
                </a:solidFill>
              </a:rPr>
              <a:t>Politiques monétaires</a:t>
            </a:r>
          </a:p>
        </p:txBody>
      </p:sp>
      <p:sp>
        <p:nvSpPr>
          <p:cNvPr id="22" name="TextBox 21"/>
          <p:cNvSpPr txBox="1"/>
          <p:nvPr/>
        </p:nvSpPr>
        <p:spPr>
          <a:xfrm>
            <a:off x="468000" y="2520000"/>
            <a:ext cx="4716000" cy="378000"/>
          </a:xfrm>
          <a:prstGeom prst="rect">
            <a:avLst/>
          </a:prstGeom>
          <a:noFill/>
        </p:spPr>
        <p:txBody>
          <a:bodyPr wrap="square">
            <a:spAutoFit/>
          </a:bodyPr>
          <a:lstStyle/>
          <a:p>
            <a:pPr algn="l"/>
            <a:r>
              <a:rPr sz="800" b="0" i="0">
                <a:solidFill>
                  <a:srgbClr val="555555"/>
                </a:solidFill>
              </a:rPr>
              <a:t>Les anticipations de baisses des taux de la Fed à partir de mi-2024 devraient soutenir la demande de crédit et les volumes de transactions sur les marchés de capitaux.</a:t>
            </a:r>
          </a:p>
        </p:txBody>
      </p:sp>
      <p:sp>
        <p:nvSpPr>
          <p:cNvPr id="23" name="Rectangle 22"/>
          <p:cNvSpPr/>
          <p:nvPr/>
        </p:nvSpPr>
        <p:spPr>
          <a:xfrm>
            <a:off x="360000" y="2898000"/>
            <a:ext cx="28800" cy="48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8000" y="2898000"/>
            <a:ext cx="4716000" cy="162000"/>
          </a:xfrm>
          <a:prstGeom prst="rect">
            <a:avLst/>
          </a:prstGeom>
          <a:noFill/>
        </p:spPr>
        <p:txBody>
          <a:bodyPr wrap="square">
            <a:spAutoFit/>
          </a:bodyPr>
          <a:lstStyle/>
          <a:p>
            <a:pPr algn="l"/>
            <a:r>
              <a:rPr sz="850" b="1" i="0">
                <a:solidFill>
                  <a:srgbClr val="1B3A6B"/>
                </a:solidFill>
              </a:rPr>
              <a:t>Réglementation</a:t>
            </a:r>
          </a:p>
        </p:txBody>
      </p:sp>
      <p:sp>
        <p:nvSpPr>
          <p:cNvPr id="25" name="TextBox 24"/>
          <p:cNvSpPr txBox="1"/>
          <p:nvPr/>
        </p:nvSpPr>
        <p:spPr>
          <a:xfrm>
            <a:off x="468000" y="3060000"/>
            <a:ext cx="4716000" cy="378000"/>
          </a:xfrm>
          <a:prstGeom prst="rect">
            <a:avLst/>
          </a:prstGeom>
          <a:noFill/>
        </p:spPr>
        <p:txBody>
          <a:bodyPr wrap="square">
            <a:spAutoFit/>
          </a:bodyPr>
          <a:lstStyle/>
          <a:p>
            <a:pPr algn="l"/>
            <a:r>
              <a:rPr sz="800" b="0" i="0">
                <a:solidFill>
                  <a:srgbClr val="555555"/>
                </a:solidFill>
              </a:rPr>
              <a:t>L'assouplissement progressif des règles de Bâle IV en Europe et aux États-Unis pourrait réduire les coûts en capital pour les banques d'investissement comme GS et MS.</a:t>
            </a:r>
          </a:p>
        </p:txBody>
      </p:sp>
      <p:sp>
        <p:nvSpPr>
          <p:cNvPr id="26" name="Rectangle 25"/>
          <p:cNvSpPr/>
          <p:nvPr/>
        </p:nvSpPr>
        <p:spPr>
          <a:xfrm>
            <a:off x="360000" y="3438000"/>
            <a:ext cx="28800" cy="48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3438000"/>
            <a:ext cx="4716000" cy="162000"/>
          </a:xfrm>
          <a:prstGeom prst="rect">
            <a:avLst/>
          </a:prstGeom>
          <a:noFill/>
        </p:spPr>
        <p:txBody>
          <a:bodyPr wrap="square">
            <a:spAutoFit/>
          </a:bodyPr>
          <a:lstStyle/>
          <a:p>
            <a:pPr algn="l"/>
            <a:r>
              <a:rPr sz="850" b="1" i="0">
                <a:solidFill>
                  <a:srgbClr val="1B3A6B"/>
                </a:solidFill>
              </a:rPr>
              <a:t>Technologie</a:t>
            </a:r>
          </a:p>
        </p:txBody>
      </p:sp>
      <p:sp>
        <p:nvSpPr>
          <p:cNvPr id="28" name="TextBox 27"/>
          <p:cNvSpPr txBox="1"/>
          <p:nvPr/>
        </p:nvSpPr>
        <p:spPr>
          <a:xfrm>
            <a:off x="468000" y="3600000"/>
            <a:ext cx="4716000" cy="378000"/>
          </a:xfrm>
          <a:prstGeom prst="rect">
            <a:avLst/>
          </a:prstGeom>
          <a:noFill/>
        </p:spPr>
        <p:txBody>
          <a:bodyPr wrap="square">
            <a:spAutoFit/>
          </a:bodyPr>
          <a:lstStyle/>
          <a:p>
            <a:pPr algn="l"/>
            <a:r>
              <a:rPr sz="800" b="0" i="0">
                <a:solidFill>
                  <a:srgbClr val="555555"/>
                </a:solidFill>
              </a:rPr>
              <a:t>L'adoption accélérée de l'IA et des solutions cloud dans les services financiers optimise les coûts opérationnels et améliore l'efficacité des plateformes de trading.</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16.7x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+8.9 %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+39.3 %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80/100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Sociétés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Analysées</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The Goldman Sachs Group, Inc</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0.8x</a:t>
                      </a:r>
                    </a:p>
                  </a:txBody>
                  <a:tcPr>
                    <a:noFill/>
                  </a:tcPr>
                </a:tc>
                <a:tc>
                  <a:txBody>
                    <a:bodyPr/>
                    <a:lstStyle/>
                    <a:p>
                      <a:pPr algn="ctr"/>
                      <a:r>
                        <a:rPr sz="750" b="0">
                          <a:solidFill>
                            <a:srgbClr val="1A1A1A"/>
                          </a:solidFill>
                        </a:rPr>
                        <a:t>17.3x</a:t>
                      </a:r>
                    </a:p>
                  </a:txBody>
                  <a:tcPr>
                    <a:noFill/>
                  </a:tcPr>
                </a:tc>
                <a:tc>
                  <a:txBody>
                    <a:bodyPr/>
                    <a:lstStyle/>
                    <a:p>
                      <a:pPr algn="ctr"/>
                      <a:r>
                        <a:rPr sz="750" b="0">
                          <a:solidFill>
                            <a:srgbClr val="1A1A1A"/>
                          </a:solidFill>
                        </a:rPr>
                        <a:t>82.9 %</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13.9 %</a:t>
                      </a:r>
                    </a:p>
                  </a:txBody>
                  <a:tcPr>
                    <a:noFill/>
                  </a:tcPr>
                </a:tc>
              </a:tr>
              <a:tr h="198000">
                <a:tc>
                  <a:txBody>
                    <a:bodyPr/>
                    <a:lstStyle/>
                    <a:p>
                      <a:pPr algn="ctr"/>
                      <a:r>
                        <a:rPr sz="750" b="0">
                          <a:solidFill>
                            <a:srgbClr val="1A1A1A"/>
                          </a:solidFill>
                        </a:rPr>
                        <a:t>Morgan Stanley</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2.9x</a:t>
                      </a:r>
                    </a:p>
                  </a:txBody>
                  <a:tcPr>
                    <a:solidFill>
                      <a:srgbClr val="F5F7FA"/>
                    </a:solidFill>
                  </a:tcPr>
                </a:tc>
                <a:tc>
                  <a:txBody>
                    <a:bodyPr/>
                    <a:lstStyle/>
                    <a:p>
                      <a:pPr algn="ctr"/>
                      <a:r>
                        <a:rPr sz="750" b="0">
                          <a:solidFill>
                            <a:srgbClr val="1A1A1A"/>
                          </a:solidFill>
                        </a:rPr>
                        <a:t>17.5x</a:t>
                      </a:r>
                    </a:p>
                  </a:txBody>
                  <a:tcPr>
                    <a:solidFill>
                      <a:srgbClr val="F5F7FA"/>
                    </a:solidFill>
                  </a:tcPr>
                </a:tc>
                <a:tc>
                  <a:txBody>
                    <a:bodyPr/>
                    <a:lstStyle/>
                    <a:p>
                      <a:pPr algn="ctr"/>
                      <a:r>
                        <a:rPr sz="750" b="0">
                          <a:solidFill>
                            <a:srgbClr val="1A1A1A"/>
                          </a:solidFill>
                        </a:rPr>
                        <a:t>87.1 %</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15.6 %</a:t>
                      </a:r>
                    </a:p>
                  </a:txBody>
                  <a:tcPr>
                    <a:solidFill>
                      <a:srgbClr val="F5F7FA"/>
                    </a:solidFill>
                  </a:tcPr>
                </a:tc>
              </a:tr>
              <a:tr h="198000">
                <a:tc>
                  <a:txBody>
                    <a:bodyPr/>
                    <a:lstStyle/>
                    <a:p>
                      <a:pPr algn="ctr"/>
                      <a:r>
                        <a:rPr sz="750" b="0">
                          <a:solidFill>
                            <a:srgbClr val="1A1A1A"/>
                          </a:solidFill>
                        </a:rPr>
                        <a:t>Citigroup Inc.</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0.4x</a:t>
                      </a:r>
                    </a:p>
                  </a:txBody>
                  <a:tcPr>
                    <a:noFill/>
                  </a:tcPr>
                </a:tc>
                <a:tc>
                  <a:txBody>
                    <a:bodyPr/>
                    <a:lstStyle/>
                    <a:p>
                      <a:pPr algn="ctr"/>
                      <a:r>
                        <a:rPr sz="750" b="0">
                          <a:solidFill>
                            <a:srgbClr val="1A1A1A"/>
                          </a:solidFill>
                        </a:rPr>
                        <a:t>17.9x</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Bank of America Corporation</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3.7x</a:t>
                      </a:r>
                    </a:p>
                  </a:txBody>
                  <a:tcPr>
                    <a:solidFill>
                      <a:srgbClr val="F5F7FA"/>
                    </a:solidFill>
                  </a:tcPr>
                </a:tc>
                <a:tc>
                  <a:txBody>
                    <a:bodyPr/>
                    <a:lstStyle/>
                    <a:p>
                      <a:pPr algn="ctr"/>
                      <a:r>
                        <a:rPr sz="750" b="0">
                          <a:solidFill>
                            <a:srgbClr val="1A1A1A"/>
                          </a:solidFill>
                        </a:rPr>
                        <a:t>13.9x</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10.2 %</a:t>
                      </a:r>
                    </a:p>
                  </a:txBody>
                  <a:tcPr>
                    <a:solidFill>
                      <a:srgbClr val="F5F7FA"/>
                    </a:solidFill>
                  </a:tcPr>
                </a:tc>
              </a:tr>
              <a:tr h="198000">
                <a:tc>
                  <a:txBody>
                    <a:bodyPr/>
                    <a:lstStyle/>
                    <a:p>
                      <a:pPr algn="ctr"/>
                      <a:r>
                        <a:rPr sz="750" b="0">
                          <a:solidFill>
                            <a:srgbClr val="1A1A1A"/>
                          </a:solidFill>
                        </a:rPr>
                        <a:t>Wells Fargo &amp; Company</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3.5x</a:t>
                      </a:r>
                    </a:p>
                  </a:txBody>
                  <a:tcPr>
                    <a:noFill/>
                  </a:tcPr>
                </a:tc>
                <a:tc>
                  <a:txBody>
                    <a:bodyPr/>
                    <a:lstStyle/>
                    <a:p>
                      <a:pPr algn="ctr"/>
                      <a:r>
                        <a:rPr sz="750" b="0">
                          <a:solidFill>
                            <a:srgbClr val="1A1A1A"/>
                          </a:solidFill>
                        </a:rPr>
                        <a:t>13.7x</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11.7 %</a:t>
                      </a:r>
                    </a:p>
                  </a:txBody>
                  <a:tcPr>
                    <a:noFill/>
                  </a:tcPr>
                </a:tc>
              </a:tr>
              <a:tr h="198000">
                <a:tc>
                  <a:txBody>
                    <a:bodyPr/>
                    <a:lstStyle/>
                    <a:p>
                      <a:pPr algn="ctr"/>
                      <a:r>
                        <a:rPr sz="750" b="0">
                          <a:solidFill>
                            <a:srgbClr val="1A1A1A"/>
                          </a:solidFill>
                        </a:rPr>
                        <a:t>American Express Company</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3.5x</a:t>
                      </a:r>
                    </a:p>
                  </a:txBody>
                  <a:tcPr>
                    <a:solidFill>
                      <a:srgbClr val="F5F7FA"/>
                    </a:solidFill>
                  </a:tcPr>
                </a:tc>
                <a:tc>
                  <a:txBody>
                    <a:bodyPr/>
                    <a:lstStyle/>
                    <a:p>
                      <a:pPr algn="ctr"/>
                      <a:r>
                        <a:rPr sz="750" b="0">
                          <a:solidFill>
                            <a:srgbClr val="1A1A1A"/>
                          </a:solidFill>
                        </a:rPr>
                        <a:t>20.7x</a:t>
                      </a:r>
                    </a:p>
                  </a:txBody>
                  <a:tcPr>
                    <a:solidFill>
                      <a:srgbClr val="F5F7FA"/>
                    </a:solidFill>
                  </a:tcPr>
                </a:tc>
                <a:tc>
                  <a:txBody>
                    <a:bodyPr/>
                    <a:lstStyle/>
                    <a:p>
                      <a:pPr algn="ctr"/>
                      <a:r>
                        <a:rPr sz="750" b="0">
                          <a:solidFill>
                            <a:srgbClr val="1A1A1A"/>
                          </a:solidFill>
                        </a:rPr>
                        <a:t>63.5 %</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34.0 %</a:t>
                      </a:r>
                    </a:p>
                  </a:txBody>
                  <a:tcPr>
                    <a:solidFill>
                      <a:srgbClr val="F5F7FA"/>
                    </a:solidFill>
                  </a:tcPr>
                </a:tc>
              </a:tr>
              <a:tr h="198000">
                <a:tc>
                  <a:txBody>
                    <a:bodyPr/>
                    <a:lstStyle/>
                    <a:p>
                      <a:pPr algn="ctr"/>
                      <a:r>
                        <a:rPr sz="750" b="0">
                          <a:solidFill>
                            <a:srgbClr val="1A1A1A"/>
                          </a:solidFill>
                        </a:rPr>
                        <a:t>BlackRock, Inc.</a:t>
                      </a:r>
                    </a:p>
                  </a:txBody>
                  <a:tcPr>
                    <a:noFill/>
                  </a:tcPr>
                </a:tc>
                <a:tc>
                  <a:txBody>
                    <a:bodyPr/>
                    <a:lstStyle/>
                    <a:p>
                      <a:pPr algn="ctr"/>
                      <a:r>
                        <a:rPr sz="750" b="0">
                          <a:solidFill>
                            <a:srgbClr val="1A1A1A"/>
                          </a:solidFill>
                        </a:rPr>
                        <a:t>16.7x</a:t>
                      </a:r>
                    </a:p>
                  </a:txBody>
                  <a:tcPr>
                    <a:noFill/>
                  </a:tcPr>
                </a:tc>
                <a:tc>
                  <a:txBody>
                    <a:bodyPr/>
                    <a:lstStyle/>
                    <a:p>
                      <a:pPr algn="ctr"/>
                      <a:r>
                        <a:rPr sz="750" b="0">
                          <a:solidFill>
                            <a:srgbClr val="1A1A1A"/>
                          </a:solidFill>
                        </a:rPr>
                        <a:t>6.7x</a:t>
                      </a:r>
                    </a:p>
                  </a:txBody>
                  <a:tcPr>
                    <a:noFill/>
                  </a:tcPr>
                </a:tc>
                <a:tc>
                  <a:txBody>
                    <a:bodyPr/>
                    <a:lstStyle/>
                    <a:p>
                      <a:pPr algn="ctr"/>
                      <a:r>
                        <a:rPr sz="750" b="0">
                          <a:solidFill>
                            <a:srgbClr val="1A1A1A"/>
                          </a:solidFill>
                        </a:rPr>
                        <a:t>28.6x</a:t>
                      </a:r>
                    </a:p>
                  </a:txBody>
                  <a:tcPr>
                    <a:noFill/>
                  </a:tcPr>
                </a:tc>
                <a:tc>
                  <a:txBody>
                    <a:bodyPr/>
                    <a:lstStyle/>
                    <a:p>
                      <a:pPr algn="ctr"/>
                      <a:r>
                        <a:rPr sz="750" b="0">
                          <a:solidFill>
                            <a:srgbClr val="1A1A1A"/>
                          </a:solidFill>
                        </a:rPr>
                        <a:t>46.7 %</a:t>
                      </a:r>
                    </a:p>
                  </a:txBody>
                  <a:tcPr>
                    <a:noFill/>
                  </a:tcPr>
                </a:tc>
                <a:tc>
                  <a:txBody>
                    <a:bodyPr/>
                    <a:lstStyle/>
                    <a:p>
                      <a:pPr algn="ctr"/>
                      <a:r>
                        <a:rPr sz="750" b="0">
                          <a:solidFill>
                            <a:srgbClr val="1A1A1A"/>
                          </a:solidFill>
                        </a:rPr>
                        <a:t>40.0 %</a:t>
                      </a:r>
                    </a:p>
                  </a:txBody>
                  <a:tcPr>
                    <a:noFill/>
                  </a:tcPr>
                </a:tc>
                <a:tc>
                  <a:txBody>
                    <a:bodyPr/>
                    <a:lstStyle/>
                    <a:p>
                      <a:pPr algn="ctr"/>
                      <a:r>
                        <a:rPr sz="750" b="0">
                          <a:solidFill>
                            <a:srgbClr val="1A1A1A"/>
                          </a:solidFill>
                        </a:rPr>
                        <a:t>10.7 %</a:t>
                      </a:r>
                    </a:p>
                  </a:txBody>
                  <a:tcPr>
                    <a:noFill/>
                  </a:tcPr>
                </a:tc>
              </a:tr>
              <a:tr h="198000">
                <a:tc>
                  <a:txBody>
                    <a:bodyPr/>
                    <a:lstStyle/>
                    <a:p>
                      <a:pPr algn="ctr"/>
                      <a:r>
                        <a:rPr sz="750" b="0">
                          <a:solidFill>
                            <a:srgbClr val="1A1A1A"/>
                          </a:solidFill>
                        </a:rPr>
                        <a:t>JPMorgan Chase &amp; Co.</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3.5x</a:t>
                      </a:r>
                    </a:p>
                  </a:txBody>
                  <a:tcPr>
                    <a:solidFill>
                      <a:srgbClr val="F5F7FA"/>
                    </a:solidFill>
                  </a:tcPr>
                </a:tc>
                <a:tc>
                  <a:txBody>
                    <a:bodyPr/>
                    <a:lstStyle/>
                    <a:p>
                      <a:pPr algn="ctr"/>
                      <a:r>
                        <a:rPr sz="750" b="0">
                          <a:solidFill>
                            <a:srgbClr val="1A1A1A"/>
                          </a:solidFill>
                        </a:rPr>
                        <a:t>15.5x</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16.1 %</a:t>
                      </a:r>
                    </a:p>
                  </a:txBody>
                  <a:tcPr>
                    <a:solidFill>
                      <a:srgbClr val="F5F7FA"/>
                    </a:solidFill>
                  </a:tcPr>
                </a:tc>
              </a:tr>
              <a:tr h="198000">
                <a:tc>
                  <a:txBody>
                    <a:bodyPr/>
                    <a:lstStyle/>
                    <a:p>
                      <a:pPr algn="ctr"/>
                      <a:r>
                        <a:rPr sz="750" b="0">
                          <a:solidFill>
                            <a:srgbClr val="1A1A1A"/>
                          </a:solidFill>
                        </a:rPr>
                        <a:t>MÉDIANE</a:t>
                      </a:r>
                    </a:p>
                  </a:txBody>
                  <a:tcPr>
                    <a:noFill/>
                  </a:tcPr>
                </a:tc>
                <a:tc>
                  <a:txBody>
                    <a:bodyPr/>
                    <a:lstStyle/>
                    <a:p>
                      <a:pPr algn="ctr"/>
                      <a:r>
                        <a:rPr sz="750" b="0">
                          <a:solidFill>
                            <a:srgbClr val="1A1A1A"/>
                          </a:solidFill>
                        </a:rPr>
                        <a:t>16.7x</a:t>
                      </a:r>
                    </a:p>
                  </a:txBody>
                  <a:tcPr>
                    <a:noFill/>
                  </a:tcPr>
                </a:tc>
                <a:tc>
                  <a:txBody>
                    <a:bodyPr/>
                    <a:lstStyle/>
                    <a:p>
                      <a:pPr algn="ctr"/>
                      <a:r>
                        <a:rPr sz="750" b="0">
                          <a:solidFill>
                            <a:srgbClr val="1A1A1A"/>
                          </a:solidFill>
                        </a:rPr>
                        <a:t>3.5x</a:t>
                      </a:r>
                    </a:p>
                  </a:txBody>
                  <a:tcPr>
                    <a:noFill/>
                  </a:tcPr>
                </a:tc>
                <a:tc>
                  <a:txBody>
                    <a:bodyPr/>
                    <a:lstStyle/>
                    <a:p>
                      <a:pPr algn="ctr"/>
                      <a:r>
                        <a:rPr sz="750" b="0">
                          <a:solidFill>
                            <a:srgbClr val="1A1A1A"/>
                          </a:solidFill>
                        </a:rPr>
                        <a:t>17.4x</a:t>
                      </a:r>
                    </a:p>
                  </a:txBody>
                  <a:tcPr>
                    <a:noFill/>
                  </a:tcPr>
                </a:tc>
                <a:tc>
                  <a:txBody>
                    <a:bodyPr/>
                    <a:lstStyle/>
                    <a:p>
                      <a:pPr algn="ctr"/>
                      <a:r>
                        <a:rPr sz="750" b="0">
                          <a:solidFill>
                            <a:srgbClr val="1A1A1A"/>
                          </a:solidFill>
                        </a:rPr>
                        <a:t>73.2 %</a:t>
                      </a:r>
                    </a:p>
                  </a:txBody>
                  <a:tcPr>
                    <a:noFill/>
                  </a:tcPr>
                </a:tc>
                <a:tc>
                  <a:txBody>
                    <a:bodyPr/>
                    <a:lstStyle/>
                    <a:p>
                      <a:pPr algn="ctr"/>
                      <a:r>
                        <a:rPr sz="750" b="0">
                          <a:solidFill>
                            <a:srgbClr val="1A1A1A"/>
                          </a:solidFill>
                        </a:rPr>
                        <a:t>40.0 %</a:t>
                      </a:r>
                    </a:p>
                  </a:txBody>
                  <a:tcPr>
                    <a:noFill/>
                  </a:tcPr>
                </a:tc>
                <a:tc>
                  <a:txBody>
                    <a:bodyPr/>
                    <a:lstStyle/>
                    <a:p>
                      <a:pPr algn="ctr"/>
                      <a:r>
                        <a:rPr sz="750" b="0">
                          <a:solidFill>
                            <a:srgbClr val="1A1A1A"/>
                          </a:solidFill>
                        </a:rPr>
                        <a:t>12.8 %</a:t>
                      </a:r>
                    </a:p>
                  </a:txBody>
                  <a:tcPr>
                    <a:noFill/>
                  </a:tcPr>
                </a:tc>
              </a:tr>
            </a:tbl>
          </a:graphicData>
        </a:graphic>
      </p:graphicFrame>
      <p:sp>
        <p:nvSpPr>
          <p:cNvPr id="16" name="Rectangle 15"/>
          <p:cNvSpPr/>
          <p:nvPr/>
        </p:nvSpPr>
        <p:spPr>
          <a:xfrm>
            <a:off x="324000" y="3131999"/>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131999"/>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150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420000"/>
            <a:ext cx="8352000" cy="720000"/>
          </a:xfrm>
          <a:prstGeom prst="rect">
            <a:avLst/>
          </a:prstGeom>
          <a:noFill/>
        </p:spPr>
        <p:txBody>
          <a:bodyPr wrap="square">
            <a:spAutoFit/>
          </a:bodyPr>
          <a:lstStyle/>
          <a:p>
            <a:pPr algn="l"/>
            <a:r>
              <a:rPr sz="850" b="0" i="0">
                <a:solidFill>
                  <a:srgbClr val="555555"/>
                </a:solidFill>
              </a:rPr>
              <a:t>La Médiane EV/EBITDA sectorielle s établit a 16.7x LTM. The Goldman Sachs Gr (—) se distingue comme le leader de qualité, combine a une marge EBITDA de 0.0 % et une croissance de +15.2 %. La dispersion des multiples revele l hétérogèneite des profils au sein du secteur Services Financiers — une lecture croisée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Marge d'intérêt nette</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La normalisation des courbes de taux devrait améliorer la marge d'intérêt nette pour les banques commerciales, soutenant la rentabilité.</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Volumes de M&amp;A</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Les niveaux élevés de liquidités corporatives et les valorisations attractives des actifs devraient stimuler l'activité de fusions-acquisitions.</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Coûts de conformité</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La pression réglementaire persistante pourrait continuer à peser sur les marges des banques d'investissement malgré les gains d'efficacité.</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Concurrence FinTech</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L'émergence de néobanques et de solutions de paiement alternatives limite la croissance organique des revenus traditionnels des banques.</a:t>
            </a:r>
          </a:p>
        </p:txBody>
      </p:sp>
      <p:sp>
        <p:nvSpPr>
          <p:cNvPr id="35" name="Rectangle 34"/>
          <p:cNvSpPr/>
          <p:nvPr/>
        </p:nvSpPr>
        <p:spPr>
          <a:xfrm>
            <a:off x="5976000" y="900000"/>
            <a:ext cx="2844000" cy="39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80/100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Médian : 9.9 %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Le secteur semble en phase de reprise modérée, avec une croissance des revenus soutenue par la résilience des marchés actions et une demande résiduelle de crédit.</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par Sous-Secteur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4 industries GICS identifiées</a:t>
            </a:r>
          </a:p>
        </p:txBody>
      </p:sp>
      <p:graphicFrame>
        <p:nvGraphicFramePr>
          <p:cNvPr id="15" name="Table 14"/>
          <p:cNvGraphicFramePr>
            <a:graphicFrameLocks noGrp="1"/>
          </p:cNvGraphicFramePr>
          <p:nvPr/>
        </p:nvGraphicFramePr>
        <p:xfrm>
          <a:off x="324000" y="792000"/>
          <a:ext cx="8495997" cy="766800"/>
        </p:xfrm>
        <a:graphic>
          <a:graphicData uri="http://schemas.openxmlformats.org/drawingml/2006/table">
            <a:tbl>
              <a:tblPr firstRow="1" bandRow="1">
                <a:tableStyleId>{5C22544A-7EE6-4342-B048-85BDC9FD1C3A}</a:tableStyleId>
              </a:tblPr>
              <a:tblGrid>
                <a:gridCol w="2404528"/>
                <a:gridCol w="601132"/>
                <a:gridCol w="721358"/>
                <a:gridCol w="1122113"/>
                <a:gridCol w="1001886"/>
                <a:gridCol w="881660"/>
                <a:gridCol w="881660"/>
                <a:gridCol w="881660"/>
              </a:tblGrid>
              <a:tr h="153360">
                <a:tc>
                  <a:txBody>
                    <a:bodyPr/>
                    <a:lstStyle/>
                    <a:p>
                      <a:pPr algn="l"/>
                      <a:r>
                        <a:rPr sz="800" b="1">
                          <a:solidFill>
                            <a:srgbClr val="FFFFFF"/>
                          </a:solidFill>
                        </a:rPr>
                        <a:t>Sous-secteur</a:t>
                      </a:r>
                    </a:p>
                  </a:txBody>
                  <a:tcPr>
                    <a:solidFill>
                      <a:srgbClr val="1B3A6B"/>
                    </a:solidFill>
                  </a:tcPr>
                </a:tc>
                <a:tc>
                  <a:txBody>
                    <a:bodyPr/>
                    <a:lstStyle/>
                    <a:p>
                      <a:pPr algn="ctr"/>
                      <a:r>
                        <a:rPr sz="800" b="1">
                          <a:solidFill>
                            <a:srgbClr val="FFFFFF"/>
                          </a:solidFill>
                        </a:rPr>
                        <a:t>Nb</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Marge</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153360">
                <a:tc>
                  <a:txBody>
                    <a:bodyPr/>
                    <a:lstStyle/>
                    <a:p>
                      <a:pPr algn="l"/>
                      <a:r>
                        <a:rPr sz="800">
                          <a:solidFill>
                            <a:srgbClr val="1A1A1A"/>
                          </a:solidFill>
                        </a:rPr>
                        <a:t>Capital Markets</a:t>
                      </a:r>
                    </a:p>
                  </a:txBody>
                  <a:tcPr>
                    <a:solidFill>
                      <a:srgbClr val="F5F7FA"/>
                    </a:solidFill>
                  </a:tcPr>
                </a:tc>
                <a:tc>
                  <a:txBody>
                    <a:bodyPr/>
                    <a:lstStyle/>
                    <a:p>
                      <a:pPr algn="ctr"/>
                      <a:r>
                        <a:rPr sz="800">
                          <a:solidFill>
                            <a:srgbClr val="1A1A1A"/>
                          </a:solidFill>
                        </a:rPr>
                        <a:t>2</a:t>
                      </a:r>
                    </a:p>
                  </a:txBody>
                  <a:tcPr>
                    <a:solidFill>
                      <a:srgbClr val="F5F7FA"/>
                    </a:solidFill>
                  </a:tcPr>
                </a:tc>
                <a:tc>
                  <a:txBody>
                    <a:bodyPr/>
                    <a:lstStyle/>
                    <a:p>
                      <a:pPr algn="ctr"/>
                      <a:r>
                        <a:rPr sz="800">
                          <a:solidFill>
                            <a:srgbClr val="1A1A1A"/>
                          </a:solidFill>
                        </a:rPr>
                        <a:t>88</a:t>
                      </a:r>
                    </a:p>
                  </a:txBody>
                  <a:tcPr>
                    <a:solidFill>
                      <a:srgbClr val="F5F7FA"/>
                    </a:solidFill>
                  </a:tcPr>
                </a:tc>
                <a:tc>
                  <a:txBody>
                    <a:bodyPr/>
                    <a:lstStyle/>
                    <a:p>
                      <a:pPr algn="ctr"/>
                      <a:r>
                        <a:rPr sz="800" b="1">
                          <a:solidFill>
                            <a:srgbClr val="1A7A4A"/>
                          </a:solidFill>
                        </a:rPr>
                        <a:t>Surpondérer</a:t>
                      </a:r>
                    </a:p>
                  </a:txBody>
                  <a:tcPr>
                    <a:solidFill>
                      <a:srgbClr val="F5F7FA"/>
                    </a:solidFill>
                  </a:tcPr>
                </a:tc>
                <a:tc>
                  <a:txBody>
                    <a:bodyPr/>
                    <a:lstStyle/>
                    <a:p>
                      <a:pPr algn="ctr"/>
                      <a:r>
                        <a:rPr sz="800">
                          <a:solidFill>
                            <a:srgbClr val="1A1A1A"/>
                          </a:solidFill>
                        </a:rPr>
                        <a:t>—</a:t>
                      </a:r>
                    </a:p>
                  </a:txBody>
                  <a:tcPr>
                    <a:solidFill>
                      <a:srgbClr val="F5F7FA"/>
                    </a:solidFill>
                  </a:tcPr>
                </a:tc>
                <a:tc>
                  <a:txBody>
                    <a:bodyPr/>
                    <a:lstStyle/>
                    <a:p>
                      <a:pPr algn="ctr"/>
                      <a:r>
                        <a:rPr sz="800">
                          <a:solidFill>
                            <a:srgbClr val="1A1A1A"/>
                          </a:solidFill>
                        </a:rPr>
                        <a:t>—</a:t>
                      </a:r>
                    </a:p>
                  </a:txBody>
                  <a:tcPr>
                    <a:solidFill>
                      <a:srgbClr val="F5F7FA"/>
                    </a:solidFill>
                  </a:tcPr>
                </a:tc>
                <a:tc>
                  <a:txBody>
                    <a:bodyPr/>
                    <a:lstStyle/>
                    <a:p>
                      <a:pPr algn="ctr"/>
                      <a:r>
                        <a:rPr sz="800">
                          <a:solidFill>
                            <a:srgbClr val="1A1A1A"/>
                          </a:solidFill>
                        </a:rPr>
                        <a:t>+13.1%</a:t>
                      </a:r>
                    </a:p>
                  </a:txBody>
                  <a:tcPr>
                    <a:solidFill>
                      <a:srgbClr val="F5F7FA"/>
                    </a:solidFill>
                  </a:tcPr>
                </a:tc>
                <a:tc>
                  <a:txBody>
                    <a:bodyPr/>
                    <a:lstStyle/>
                    <a:p>
                      <a:pPr algn="ctr"/>
                      <a:r>
                        <a:rPr sz="800">
                          <a:solidFill>
                            <a:srgbClr val="1A1A1A"/>
                          </a:solidFill>
                        </a:rPr>
                        <a:t>+71.4%</a:t>
                      </a:r>
                    </a:p>
                  </a:txBody>
                  <a:tcPr>
                    <a:solidFill>
                      <a:srgbClr val="F5F7FA"/>
                    </a:solidFill>
                  </a:tcPr>
                </a:tc>
              </a:tr>
              <a:tr h="153360">
                <a:tc>
                  <a:txBody>
                    <a:bodyPr/>
                    <a:lstStyle/>
                    <a:p>
                      <a:pPr algn="l"/>
                      <a:r>
                        <a:rPr sz="800">
                          <a:solidFill>
                            <a:srgbClr val="1A1A1A"/>
                          </a:solidFill>
                        </a:rPr>
                        <a:t>Banks - Diversified</a:t>
                      </a:r>
                    </a:p>
                  </a:txBody>
                  <a:tcPr>
                    <a:solidFill>
                      <a:srgbClr val="FFFFFF"/>
                    </a:solidFill>
                  </a:tcPr>
                </a:tc>
                <a:tc>
                  <a:txBody>
                    <a:bodyPr/>
                    <a:lstStyle/>
                    <a:p>
                      <a:pPr algn="ctr"/>
                      <a:r>
                        <a:rPr sz="800">
                          <a:solidFill>
                            <a:srgbClr val="1A1A1A"/>
                          </a:solidFill>
                        </a:rPr>
                        <a:t>4</a:t>
                      </a:r>
                    </a:p>
                  </a:txBody>
                  <a:tcPr>
                    <a:solidFill>
                      <a:srgbClr val="FFFFFF"/>
                    </a:solidFill>
                  </a:tcPr>
                </a:tc>
                <a:tc>
                  <a:txBody>
                    <a:bodyPr/>
                    <a:lstStyle/>
                    <a:p>
                      <a:pPr algn="ctr"/>
                      <a:r>
                        <a:rPr sz="800">
                          <a:solidFill>
                            <a:srgbClr val="1A1A1A"/>
                          </a:solidFill>
                        </a:rPr>
                        <a:t>78</a:t>
                      </a:r>
                    </a:p>
                  </a:txBody>
                  <a:tcPr>
                    <a:solidFill>
                      <a:srgbClr val="FFFFFF"/>
                    </a:solidFill>
                  </a:tcPr>
                </a:tc>
                <a:tc>
                  <a:txBody>
                    <a:bodyPr/>
                    <a:lstStyle/>
                    <a:p>
                      <a:pPr algn="ctr"/>
                      <a:r>
                        <a:rPr sz="800" b="1">
                          <a:solidFill>
                            <a:srgbClr val="1A7A4A"/>
                          </a:solidFill>
                        </a:rPr>
                        <a:t>Surpondérer</a:t>
                      </a:r>
                    </a:p>
                  </a:txBody>
                  <a:tcPr>
                    <a:solidFill>
                      <a:srgbClr val="FFFFFF"/>
                    </a:solidFill>
                  </a:tcPr>
                </a:tc>
                <a:tc>
                  <a:txBody>
                    <a:bodyPr/>
                    <a:lstStyle/>
                    <a:p>
                      <a:pPr algn="ctr"/>
                      <a:r>
                        <a:rPr sz="800">
                          <a:solidFill>
                            <a:srgbClr val="1A1A1A"/>
                          </a:solidFill>
                        </a:rPr>
                        <a:t>—</a:t>
                      </a:r>
                    </a:p>
                  </a:txBody>
                  <a:tcPr>
                    <a:solidFill>
                      <a:srgbClr val="FFFFFF"/>
                    </a:solidFill>
                  </a:tcPr>
                </a:tc>
                <a:tc>
                  <a:txBody>
                    <a:bodyPr/>
                    <a:lstStyle/>
                    <a:p>
                      <a:pPr algn="ctr"/>
                      <a:r>
                        <a:rPr sz="800">
                          <a:solidFill>
                            <a:srgbClr val="1A1A1A"/>
                          </a:solidFill>
                        </a:rPr>
                        <a:t>—</a:t>
                      </a:r>
                    </a:p>
                  </a:txBody>
                  <a:tcPr>
                    <a:solidFill>
                      <a:srgbClr val="FFFFFF"/>
                    </a:solidFill>
                  </a:tcPr>
                </a:tc>
                <a:tc>
                  <a:txBody>
                    <a:bodyPr/>
                    <a:lstStyle/>
                    <a:p>
                      <a:pPr algn="ctr"/>
                      <a:r>
                        <a:rPr sz="800">
                          <a:solidFill>
                            <a:srgbClr val="1A1A1A"/>
                          </a:solidFill>
                        </a:rPr>
                        <a:t>+4.7%</a:t>
                      </a:r>
                    </a:p>
                  </a:txBody>
                  <a:tcPr>
                    <a:solidFill>
                      <a:srgbClr val="FFFFFF"/>
                    </a:solidFill>
                  </a:tcPr>
                </a:tc>
                <a:tc>
                  <a:txBody>
                    <a:bodyPr/>
                    <a:lstStyle/>
                    <a:p>
                      <a:pPr algn="ctr"/>
                      <a:r>
                        <a:rPr sz="800">
                          <a:solidFill>
                            <a:srgbClr val="1A1A1A"/>
                          </a:solidFill>
                        </a:rPr>
                        <a:t>+39.3%</a:t>
                      </a:r>
                    </a:p>
                  </a:txBody>
                  <a:tcPr>
                    <a:solidFill>
                      <a:srgbClr val="FFFFFF"/>
                    </a:solidFill>
                  </a:tcPr>
                </a:tc>
              </a:tr>
              <a:tr h="153360">
                <a:tc>
                  <a:txBody>
                    <a:bodyPr/>
                    <a:lstStyle/>
                    <a:p>
                      <a:pPr algn="l"/>
                      <a:r>
                        <a:rPr sz="800">
                          <a:solidFill>
                            <a:srgbClr val="1A1A1A"/>
                          </a:solidFill>
                        </a:rPr>
                        <a:t>Credit Services</a:t>
                      </a:r>
                    </a:p>
                  </a:txBody>
                  <a:tcPr>
                    <a:solidFill>
                      <a:srgbClr val="F5F7FA"/>
                    </a:solidFill>
                  </a:tcPr>
                </a:tc>
                <a:tc>
                  <a:txBody>
                    <a:bodyPr/>
                    <a:lstStyle/>
                    <a:p>
                      <a:pPr algn="ctr"/>
                      <a:r>
                        <a:rPr sz="800">
                          <a:solidFill>
                            <a:srgbClr val="1A1A1A"/>
                          </a:solidFill>
                        </a:rPr>
                        <a:t>1</a:t>
                      </a:r>
                    </a:p>
                  </a:txBody>
                  <a:tcPr>
                    <a:solidFill>
                      <a:srgbClr val="F5F7FA"/>
                    </a:solidFill>
                  </a:tcPr>
                </a:tc>
                <a:tc>
                  <a:txBody>
                    <a:bodyPr/>
                    <a:lstStyle/>
                    <a:p>
                      <a:pPr algn="ctr"/>
                      <a:r>
                        <a:rPr sz="800">
                          <a:solidFill>
                            <a:srgbClr val="1A1A1A"/>
                          </a:solidFill>
                        </a:rPr>
                        <a:t>76</a:t>
                      </a:r>
                    </a:p>
                  </a:txBody>
                  <a:tcPr>
                    <a:solidFill>
                      <a:srgbClr val="F5F7FA"/>
                    </a:solidFill>
                  </a:tcPr>
                </a:tc>
                <a:tc>
                  <a:txBody>
                    <a:bodyPr/>
                    <a:lstStyle/>
                    <a:p>
                      <a:pPr algn="ctr"/>
                      <a:r>
                        <a:rPr sz="800" b="1">
                          <a:solidFill>
                            <a:srgbClr val="1A7A4A"/>
                          </a:solidFill>
                        </a:rPr>
                        <a:t>Surpondérer</a:t>
                      </a:r>
                    </a:p>
                  </a:txBody>
                  <a:tcPr>
                    <a:solidFill>
                      <a:srgbClr val="F5F7FA"/>
                    </a:solidFill>
                  </a:tcPr>
                </a:tc>
                <a:tc>
                  <a:txBody>
                    <a:bodyPr/>
                    <a:lstStyle/>
                    <a:p>
                      <a:pPr algn="ctr"/>
                      <a:r>
                        <a:rPr sz="800">
                          <a:solidFill>
                            <a:srgbClr val="1A1A1A"/>
                          </a:solidFill>
                        </a:rPr>
                        <a:t>—</a:t>
                      </a:r>
                    </a:p>
                  </a:txBody>
                  <a:tcPr>
                    <a:solidFill>
                      <a:srgbClr val="F5F7FA"/>
                    </a:solidFill>
                  </a:tcPr>
                </a:tc>
                <a:tc>
                  <a:txBody>
                    <a:bodyPr/>
                    <a:lstStyle/>
                    <a:p>
                      <a:pPr algn="ctr"/>
                      <a:r>
                        <a:rPr sz="800">
                          <a:solidFill>
                            <a:srgbClr val="1A1A1A"/>
                          </a:solidFill>
                        </a:rPr>
                        <a:t>—</a:t>
                      </a:r>
                    </a:p>
                  </a:txBody>
                  <a:tcPr>
                    <a:solidFill>
                      <a:srgbClr val="F5F7FA"/>
                    </a:solidFill>
                  </a:tcPr>
                </a:tc>
                <a:tc>
                  <a:txBody>
                    <a:bodyPr/>
                    <a:lstStyle/>
                    <a:p>
                      <a:pPr algn="ctr"/>
                      <a:r>
                        <a:rPr sz="800">
                          <a:solidFill>
                            <a:srgbClr val="1A1A1A"/>
                          </a:solidFill>
                        </a:rPr>
                        <a:t>+10.6%</a:t>
                      </a:r>
                    </a:p>
                  </a:txBody>
                  <a:tcPr>
                    <a:solidFill>
                      <a:srgbClr val="F5F7FA"/>
                    </a:solidFill>
                  </a:tcPr>
                </a:tc>
                <a:tc>
                  <a:txBody>
                    <a:bodyPr/>
                    <a:lstStyle/>
                    <a:p>
                      <a:pPr algn="ctr"/>
                      <a:r>
                        <a:rPr sz="800">
                          <a:solidFill>
                            <a:srgbClr val="1A1A1A"/>
                          </a:solidFill>
                        </a:rPr>
                        <a:t>+22.8%</a:t>
                      </a:r>
                    </a:p>
                  </a:txBody>
                  <a:tcPr>
                    <a:solidFill>
                      <a:srgbClr val="F5F7FA"/>
                    </a:solidFill>
                  </a:tcPr>
                </a:tc>
              </a:tr>
              <a:tr h="153360">
                <a:tc>
                  <a:txBody>
                    <a:bodyPr/>
                    <a:lstStyle/>
                    <a:p>
                      <a:pPr algn="l"/>
                      <a:r>
                        <a:rPr sz="800">
                          <a:solidFill>
                            <a:srgbClr val="1A1A1A"/>
                          </a:solidFill>
                        </a:rPr>
                        <a:t>Asset Management</a:t>
                      </a:r>
                    </a:p>
                  </a:txBody>
                  <a:tcPr>
                    <a:solidFill>
                      <a:srgbClr val="FFFFFF"/>
                    </a:solidFill>
                  </a:tcPr>
                </a:tc>
                <a:tc>
                  <a:txBody>
                    <a:bodyPr/>
                    <a:lstStyle/>
                    <a:p>
                      <a:pPr algn="ctr"/>
                      <a:r>
                        <a:rPr sz="800">
                          <a:solidFill>
                            <a:srgbClr val="1A1A1A"/>
                          </a:solidFill>
                        </a:rPr>
                        <a:t>1</a:t>
                      </a:r>
                    </a:p>
                  </a:txBody>
                  <a:tcPr>
                    <a:solidFill>
                      <a:srgbClr val="FFFFFF"/>
                    </a:solidFill>
                  </a:tcPr>
                </a:tc>
                <a:tc>
                  <a:txBody>
                    <a:bodyPr/>
                    <a:lstStyle/>
                    <a:p>
                      <a:pPr algn="ctr"/>
                      <a:r>
                        <a:rPr sz="800">
                          <a:solidFill>
                            <a:srgbClr val="1A1A1A"/>
                          </a:solidFill>
                        </a:rPr>
                        <a:t>75</a:t>
                      </a:r>
                    </a:p>
                  </a:txBody>
                  <a:tcPr>
                    <a:solidFill>
                      <a:srgbClr val="FFFFFF"/>
                    </a:solidFill>
                  </a:tcPr>
                </a:tc>
                <a:tc>
                  <a:txBody>
                    <a:bodyPr/>
                    <a:lstStyle/>
                    <a:p>
                      <a:pPr algn="ctr"/>
                      <a:r>
                        <a:rPr sz="800" b="1">
                          <a:solidFill>
                            <a:srgbClr val="1A7A4A"/>
                          </a:solidFill>
                        </a:rPr>
                        <a:t>Surpondérer</a:t>
                      </a:r>
                    </a:p>
                  </a:txBody>
                  <a:tcPr>
                    <a:solidFill>
                      <a:srgbClr val="FFFFFF"/>
                    </a:solidFill>
                  </a:tcPr>
                </a:tc>
                <a:tc>
                  <a:txBody>
                    <a:bodyPr/>
                    <a:lstStyle/>
                    <a:p>
                      <a:pPr algn="ctr"/>
                      <a:r>
                        <a:rPr sz="800">
                          <a:solidFill>
                            <a:srgbClr val="1A1A1A"/>
                          </a:solidFill>
                        </a:rPr>
                        <a:t>16.7x</a:t>
                      </a:r>
                    </a:p>
                  </a:txBody>
                  <a:tcPr>
                    <a:solidFill>
                      <a:srgbClr val="FFFFFF"/>
                    </a:solidFill>
                  </a:tcPr>
                </a:tc>
                <a:tc>
                  <a:txBody>
                    <a:bodyPr/>
                    <a:lstStyle/>
                    <a:p>
                      <a:pPr algn="ctr"/>
                      <a:r>
                        <a:rPr sz="800">
                          <a:solidFill>
                            <a:srgbClr val="1A1A1A"/>
                          </a:solidFill>
                        </a:rPr>
                        <a:t>40.0%</a:t>
                      </a:r>
                    </a:p>
                  </a:txBody>
                  <a:tcPr>
                    <a:solidFill>
                      <a:srgbClr val="FFFFFF"/>
                    </a:solidFill>
                  </a:tcPr>
                </a:tc>
                <a:tc>
                  <a:txBody>
                    <a:bodyPr/>
                    <a:lstStyle/>
                    <a:p>
                      <a:pPr algn="ctr"/>
                      <a:r>
                        <a:rPr sz="800">
                          <a:solidFill>
                            <a:srgbClr val="1A1A1A"/>
                          </a:solidFill>
                        </a:rPr>
                        <a:t>+23.4%</a:t>
                      </a:r>
                    </a:p>
                  </a:txBody>
                  <a:tcPr>
                    <a:solidFill>
                      <a:srgbClr val="FFFFFF"/>
                    </a:solidFill>
                  </a:tcPr>
                </a:tc>
                <a:tc>
                  <a:txBody>
                    <a:bodyPr/>
                    <a:lstStyle/>
                    <a:p>
                      <a:pPr algn="ctr"/>
                      <a:r>
                        <a:rPr sz="800">
                          <a:solidFill>
                            <a:srgbClr val="1A1A1A"/>
                          </a:solidFill>
                        </a:rPr>
                        <a:t>+12.3%</a:t>
                      </a:r>
                    </a:p>
                  </a:txBody>
                  <a:tcPr>
                    <a:solidFill>
                      <a:srgbClr val="FFFFFF"/>
                    </a:solidFill>
                  </a:tcPr>
                </a:tc>
              </a:tr>
            </a:tbl>
          </a:graphicData>
        </a:graphic>
      </p:graphicFrame>
      <p:sp>
        <p:nvSpPr>
          <p:cNvPr id="16" name="Rectangle 15"/>
          <p:cNvSpPr/>
          <p:nvPr/>
        </p:nvSpPr>
        <p:spPr>
          <a:xfrm>
            <a:off x="324000" y="1666800"/>
            <a:ext cx="2700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1666800"/>
            <a:ext cx="43200" cy="16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3999" y="1684800"/>
            <a:ext cx="2520000" cy="136800"/>
          </a:xfrm>
          <a:prstGeom prst="rect">
            <a:avLst/>
          </a:prstGeom>
          <a:noFill/>
        </p:spPr>
        <p:txBody>
          <a:bodyPr wrap="square">
            <a:spAutoFit/>
          </a:bodyPr>
          <a:lstStyle/>
          <a:p>
            <a:pPr algn="l"/>
            <a:r>
              <a:rPr sz="800" b="1" i="0">
                <a:solidFill>
                  <a:srgbClr val="1B3A6B"/>
                </a:solidFill>
              </a:rPr>
              <a:t>Capital Markets — Surpondérer</a:t>
            </a:r>
          </a:p>
        </p:txBody>
      </p:sp>
      <p:sp>
        <p:nvSpPr>
          <p:cNvPr id="19" name="TextBox 18"/>
          <p:cNvSpPr txBox="1"/>
          <p:nvPr/>
        </p:nvSpPr>
        <p:spPr>
          <a:xfrm>
            <a:off x="413999" y="1846800"/>
            <a:ext cx="2520000" cy="900000"/>
          </a:xfrm>
          <a:prstGeom prst="rect">
            <a:avLst/>
          </a:prstGeom>
          <a:noFill/>
        </p:spPr>
        <p:txBody>
          <a:bodyPr wrap="square">
            <a:spAutoFit/>
          </a:bodyPr>
          <a:lstStyle/>
          <a:p>
            <a:pPr algn="l"/>
            <a:r>
              <a:rPr sz="750" b="0" i="0">
                <a:solidFill>
                  <a:srgbClr val="555555"/>
                </a:solidFill>
              </a:rPr>
              <a:t>• GS (90/100)
• MS (86/100)</a:t>
            </a:r>
          </a:p>
        </p:txBody>
      </p:sp>
      <p:sp>
        <p:nvSpPr>
          <p:cNvPr id="20" name="Rectangle 19"/>
          <p:cNvSpPr/>
          <p:nvPr/>
        </p:nvSpPr>
        <p:spPr>
          <a:xfrm>
            <a:off x="3204000" y="1666800"/>
            <a:ext cx="2700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04000" y="1666800"/>
            <a:ext cx="43200" cy="16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94000" y="1684800"/>
            <a:ext cx="2520000" cy="136800"/>
          </a:xfrm>
          <a:prstGeom prst="rect">
            <a:avLst/>
          </a:prstGeom>
          <a:noFill/>
        </p:spPr>
        <p:txBody>
          <a:bodyPr wrap="square">
            <a:spAutoFit/>
          </a:bodyPr>
          <a:lstStyle/>
          <a:p>
            <a:pPr algn="l"/>
            <a:r>
              <a:rPr sz="800" b="1" i="0">
                <a:solidFill>
                  <a:srgbClr val="1B3A6B"/>
                </a:solidFill>
              </a:rPr>
              <a:t>Banks - Diversified — Surpondérer</a:t>
            </a:r>
          </a:p>
        </p:txBody>
      </p:sp>
      <p:sp>
        <p:nvSpPr>
          <p:cNvPr id="23" name="TextBox 22"/>
          <p:cNvSpPr txBox="1"/>
          <p:nvPr/>
        </p:nvSpPr>
        <p:spPr>
          <a:xfrm>
            <a:off x="3294000" y="1846800"/>
            <a:ext cx="2520000" cy="900000"/>
          </a:xfrm>
          <a:prstGeom prst="rect">
            <a:avLst/>
          </a:prstGeom>
          <a:noFill/>
        </p:spPr>
        <p:txBody>
          <a:bodyPr wrap="square">
            <a:spAutoFit/>
          </a:bodyPr>
          <a:lstStyle/>
          <a:p>
            <a:pPr algn="l"/>
            <a:r>
              <a:rPr sz="750" b="0" i="0">
                <a:solidFill>
                  <a:srgbClr val="555555"/>
                </a:solidFill>
              </a:rPr>
              <a:t>• C (82/100)
• BAC (81/100)
• WFC (77/100)</a:t>
            </a:r>
          </a:p>
        </p:txBody>
      </p:sp>
      <p:sp>
        <p:nvSpPr>
          <p:cNvPr id="24" name="Rectangle 23"/>
          <p:cNvSpPr/>
          <p:nvPr/>
        </p:nvSpPr>
        <p:spPr>
          <a:xfrm>
            <a:off x="6083999" y="1666800"/>
            <a:ext cx="2700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83999" y="1666800"/>
            <a:ext cx="43200" cy="16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3999" y="1684800"/>
            <a:ext cx="2520000" cy="136800"/>
          </a:xfrm>
          <a:prstGeom prst="rect">
            <a:avLst/>
          </a:prstGeom>
          <a:noFill/>
        </p:spPr>
        <p:txBody>
          <a:bodyPr wrap="square">
            <a:spAutoFit/>
          </a:bodyPr>
          <a:lstStyle/>
          <a:p>
            <a:pPr algn="l"/>
            <a:r>
              <a:rPr sz="800" b="1" i="0">
                <a:solidFill>
                  <a:srgbClr val="1B3A6B"/>
                </a:solidFill>
              </a:rPr>
              <a:t>Credit Services — Surpondérer</a:t>
            </a:r>
          </a:p>
        </p:txBody>
      </p:sp>
      <p:sp>
        <p:nvSpPr>
          <p:cNvPr id="27" name="TextBox 26"/>
          <p:cNvSpPr txBox="1"/>
          <p:nvPr/>
        </p:nvSpPr>
        <p:spPr>
          <a:xfrm>
            <a:off x="6173999" y="1846800"/>
            <a:ext cx="2520000" cy="900000"/>
          </a:xfrm>
          <a:prstGeom prst="rect">
            <a:avLst/>
          </a:prstGeom>
          <a:noFill/>
        </p:spPr>
        <p:txBody>
          <a:bodyPr wrap="square">
            <a:spAutoFit/>
          </a:bodyPr>
          <a:lstStyle/>
          <a:p>
            <a:pPr algn="l"/>
            <a:r>
              <a:rPr sz="750" b="0" i="0">
                <a:solidFill>
                  <a:srgbClr val="555555"/>
                </a:solidFill>
              </a:rPr>
              <a:t>• AXP (76/100)</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Services Financiers  ·  S&amp;P 500  ·  Tri par score FinSight decroissant</a:t>
            </a:r>
          </a:p>
        </p:txBody>
      </p:sp>
      <p:graphicFrame>
        <p:nvGraphicFramePr>
          <p:cNvPr id="15" name="Table 14"/>
          <p:cNvGraphicFramePr>
            <a:graphicFrameLocks noGrp="1"/>
          </p:cNvGraphicFramePr>
          <p:nvPr/>
        </p:nvGraphicFramePr>
        <p:xfrm>
          <a:off x="324000" y="900000"/>
          <a:ext cx="8495998" cy="16200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1800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180000">
                <a:tc>
                  <a:txBody>
                    <a:bodyPr/>
                    <a:lstStyle/>
                    <a:p>
                      <a:pPr algn="ctr"/>
                      <a:r>
                        <a:rPr sz="750" b="0">
                          <a:solidFill>
                            <a:srgbClr val="1A1A1A"/>
                          </a:solidFill>
                        </a:rPr>
                        <a:t>1</a:t>
                      </a:r>
                    </a:p>
                  </a:txBody>
                  <a:tcPr>
                    <a:noFill/>
                  </a:tcPr>
                </a:tc>
                <a:tc>
                  <a:txBody>
                    <a:bodyPr/>
                    <a:lstStyle/>
                    <a:p>
                      <a:pPr algn="ctr"/>
                      <a:r>
                        <a:rPr sz="750" b="0">
                          <a:solidFill>
                            <a:srgbClr val="1A1A1A"/>
                          </a:solidFill>
                        </a:rPr>
                        <a:t>GS</a:t>
                      </a:r>
                    </a:p>
                  </a:txBody>
                  <a:tcPr>
                    <a:noFill/>
                  </a:tcPr>
                </a:tc>
                <a:tc>
                  <a:txBody>
                    <a:bodyPr/>
                    <a:lstStyle/>
                    <a:p>
                      <a:pPr algn="ctr"/>
                      <a:r>
                        <a:rPr sz="750" b="0">
                          <a:solidFill>
                            <a:srgbClr val="1A1A1A"/>
                          </a:solidFill>
                        </a:rPr>
                        <a:t>The Goldman Sachs Group, </a:t>
                      </a:r>
                    </a:p>
                  </a:txBody>
                  <a:tcPr>
                    <a:noFill/>
                  </a:tcPr>
                </a:tc>
                <a:tc>
                  <a:txBody>
                    <a:bodyPr/>
                    <a:lstStyle/>
                    <a:p>
                      <a:pPr algn="ctr"/>
                      <a:r>
                        <a:rPr sz="750" b="0">
                          <a:solidFill>
                            <a:srgbClr val="1A1A1A"/>
                          </a:solidFill>
                        </a:rPr>
                        <a:t>90/100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885.38</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+15.2 %</a:t>
                      </a:r>
                    </a:p>
                  </a:txBody>
                  <a:tcPr>
                    <a:noFill/>
                  </a:tcPr>
                </a:tc>
                <a:tc>
                  <a:txBody>
                    <a:bodyPr/>
                    <a:lstStyle/>
                    <a:p>
                      <a:pPr algn="ctr"/>
                      <a:r>
                        <a:rPr sz="750" b="0">
                          <a:solidFill>
                            <a:srgbClr val="1A1A1A"/>
                          </a:solidFill>
                        </a:rPr>
                        <a:t>+80.1 %</a:t>
                      </a:r>
                    </a:p>
                  </a:txBody>
                  <a:tcPr>
                    <a:noFill/>
                  </a:tcPr>
                </a:tc>
              </a:tr>
              <a:tr h="1800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MS</a:t>
                      </a:r>
                    </a:p>
                  </a:txBody>
                  <a:tcPr>
                    <a:solidFill>
                      <a:srgbClr val="F5F7FA"/>
                    </a:solidFill>
                  </a:tcPr>
                </a:tc>
                <a:tc>
                  <a:txBody>
                    <a:bodyPr/>
                    <a:lstStyle/>
                    <a:p>
                      <a:pPr algn="ctr"/>
                      <a:r>
                        <a:rPr sz="750" b="0">
                          <a:solidFill>
                            <a:srgbClr val="1A1A1A"/>
                          </a:solidFill>
                        </a:rPr>
                        <a:t>Morgan Stanley</a:t>
                      </a:r>
                    </a:p>
                  </a:txBody>
                  <a:tcPr>
                    <a:solidFill>
                      <a:srgbClr val="F5F7FA"/>
                    </a:solidFill>
                  </a:tcPr>
                </a:tc>
                <a:tc>
                  <a:txBody>
                    <a:bodyPr/>
                    <a:lstStyle/>
                    <a:p>
                      <a:pPr algn="ctr"/>
                      <a:r>
                        <a:rPr sz="750" b="0">
                          <a:solidFill>
                            <a:srgbClr val="1A1A1A"/>
                          </a:solidFill>
                        </a:rPr>
                        <a:t>86/100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178.345</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+11.0 %</a:t>
                      </a:r>
                    </a:p>
                  </a:txBody>
                  <a:tcPr>
                    <a:solidFill>
                      <a:srgbClr val="F5F7FA"/>
                    </a:solidFill>
                  </a:tcPr>
                </a:tc>
                <a:tc>
                  <a:txBody>
                    <a:bodyPr/>
                    <a:lstStyle/>
                    <a:p>
                      <a:pPr algn="ctr"/>
                      <a:r>
                        <a:rPr sz="750" b="0">
                          <a:solidFill>
                            <a:srgbClr val="1A1A1A"/>
                          </a:solidFill>
                        </a:rPr>
                        <a:t>+62.8 %</a:t>
                      </a:r>
                    </a:p>
                  </a:txBody>
                  <a:tcPr>
                    <a:solidFill>
                      <a:srgbClr val="F5F7FA"/>
                    </a:solidFill>
                  </a:tcPr>
                </a:tc>
              </a:tr>
              <a:tr h="180000">
                <a:tc>
                  <a:txBody>
                    <a:bodyPr/>
                    <a:lstStyle/>
                    <a:p>
                      <a:pPr algn="ctr"/>
                      <a:r>
                        <a:rPr sz="750" b="0">
                          <a:solidFill>
                            <a:srgbClr val="1A1A1A"/>
                          </a:solidFill>
                        </a:rPr>
                        <a:t>3</a:t>
                      </a:r>
                    </a:p>
                  </a:txBody>
                  <a:tcPr>
                    <a:noFill/>
                  </a:tcPr>
                </a:tc>
                <a:tc>
                  <a:txBody>
                    <a:bodyPr/>
                    <a:lstStyle/>
                    <a:p>
                      <a:pPr algn="ctr"/>
                      <a:r>
                        <a:rPr sz="750" b="0">
                          <a:solidFill>
                            <a:srgbClr val="1A1A1A"/>
                          </a:solidFill>
                        </a:rPr>
                        <a:t>C</a:t>
                      </a:r>
                    </a:p>
                  </a:txBody>
                  <a:tcPr>
                    <a:noFill/>
                  </a:tcPr>
                </a:tc>
                <a:tc>
                  <a:txBody>
                    <a:bodyPr/>
                    <a:lstStyle/>
                    <a:p>
                      <a:pPr algn="ctr"/>
                      <a:r>
                        <a:rPr sz="750" b="0">
                          <a:solidFill>
                            <a:srgbClr val="1A1A1A"/>
                          </a:solidFill>
                        </a:rPr>
                        <a:t>Citigroup Inc.</a:t>
                      </a:r>
                    </a:p>
                  </a:txBody>
                  <a:tcPr>
                    <a:noFill/>
                  </a:tcPr>
                </a:tc>
                <a:tc>
                  <a:txBody>
                    <a:bodyPr/>
                    <a:lstStyle/>
                    <a:p>
                      <a:pPr algn="ctr"/>
                      <a:r>
                        <a:rPr sz="750" b="0">
                          <a:solidFill>
                            <a:srgbClr val="1A1A1A"/>
                          </a:solidFill>
                        </a:rPr>
                        <a:t>82/100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124.96</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+4.4 %</a:t>
                      </a:r>
                    </a:p>
                  </a:txBody>
                  <a:tcPr>
                    <a:noFill/>
                  </a:tcPr>
                </a:tc>
                <a:tc>
                  <a:txBody>
                    <a:bodyPr/>
                    <a:lstStyle/>
                    <a:p>
                      <a:pPr algn="ctr"/>
                      <a:r>
                        <a:rPr sz="750" b="0">
                          <a:solidFill>
                            <a:srgbClr val="1A1A1A"/>
                          </a:solidFill>
                        </a:rPr>
                        <a:t>+96.8 %</a:t>
                      </a:r>
                    </a:p>
                  </a:txBody>
                  <a:tcPr>
                    <a:noFill/>
                  </a:tcPr>
                </a:tc>
              </a:tr>
              <a:tr h="1800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BAC</a:t>
                      </a:r>
                    </a:p>
                  </a:txBody>
                  <a:tcPr>
                    <a:solidFill>
                      <a:srgbClr val="F5F7FA"/>
                    </a:solidFill>
                  </a:tcPr>
                </a:tc>
                <a:tc>
                  <a:txBody>
                    <a:bodyPr/>
                    <a:lstStyle/>
                    <a:p>
                      <a:pPr algn="ctr"/>
                      <a:r>
                        <a:rPr sz="750" b="0">
                          <a:solidFill>
                            <a:srgbClr val="1A1A1A"/>
                          </a:solidFill>
                        </a:rPr>
                        <a:t>Bank of America Corporati</a:t>
                      </a:r>
                    </a:p>
                  </a:txBody>
                  <a:tcPr>
                    <a:solidFill>
                      <a:srgbClr val="F5F7FA"/>
                    </a:solidFill>
                  </a:tcPr>
                </a:tc>
                <a:tc>
                  <a:txBody>
                    <a:bodyPr/>
                    <a:lstStyle/>
                    <a:p>
                      <a:pPr algn="ctr"/>
                      <a:r>
                        <a:rPr sz="750" b="0">
                          <a:solidFill>
                            <a:srgbClr val="1A1A1A"/>
                          </a:solidFill>
                        </a:rPr>
                        <a:t>81/100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52.805</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+7.2 %</a:t>
                      </a:r>
                    </a:p>
                  </a:txBody>
                  <a:tcPr>
                    <a:solidFill>
                      <a:srgbClr val="F5F7FA"/>
                    </a:solidFill>
                  </a:tcPr>
                </a:tc>
                <a:tc>
                  <a:txBody>
                    <a:bodyPr/>
                    <a:lstStyle/>
                    <a:p>
                      <a:pPr algn="ctr"/>
                      <a:r>
                        <a:rPr sz="750" b="0">
                          <a:solidFill>
                            <a:srgbClr val="1A1A1A"/>
                          </a:solidFill>
                        </a:rPr>
                        <a:t>+43.3 %</a:t>
                      </a:r>
                    </a:p>
                  </a:txBody>
                  <a:tcPr>
                    <a:solidFill>
                      <a:srgbClr val="F5F7FA"/>
                    </a:solidFill>
                  </a:tcPr>
                </a:tc>
              </a:tr>
              <a:tr h="180000">
                <a:tc>
                  <a:txBody>
                    <a:bodyPr/>
                    <a:lstStyle/>
                    <a:p>
                      <a:pPr algn="ctr"/>
                      <a:r>
                        <a:rPr sz="750" b="0">
                          <a:solidFill>
                            <a:srgbClr val="1A1A1A"/>
                          </a:solidFill>
                        </a:rPr>
                        <a:t>5</a:t>
                      </a:r>
                    </a:p>
                  </a:txBody>
                  <a:tcPr>
                    <a:noFill/>
                  </a:tcPr>
                </a:tc>
                <a:tc>
                  <a:txBody>
                    <a:bodyPr/>
                    <a:lstStyle/>
                    <a:p>
                      <a:pPr algn="ctr"/>
                      <a:r>
                        <a:rPr sz="750" b="0">
                          <a:solidFill>
                            <a:srgbClr val="1A1A1A"/>
                          </a:solidFill>
                        </a:rPr>
                        <a:t>WFC</a:t>
                      </a:r>
                    </a:p>
                  </a:txBody>
                  <a:tcPr>
                    <a:noFill/>
                  </a:tcPr>
                </a:tc>
                <a:tc>
                  <a:txBody>
                    <a:bodyPr/>
                    <a:lstStyle/>
                    <a:p>
                      <a:pPr algn="ctr"/>
                      <a:r>
                        <a:rPr sz="750" b="0">
                          <a:solidFill>
                            <a:srgbClr val="1A1A1A"/>
                          </a:solidFill>
                        </a:rPr>
                        <a:t>Wells Fargo &amp; Company</a:t>
                      </a:r>
                    </a:p>
                  </a:txBody>
                  <a:tcPr>
                    <a:noFill/>
                  </a:tcPr>
                </a:tc>
                <a:tc>
                  <a:txBody>
                    <a:bodyPr/>
                    <a:lstStyle/>
                    <a:p>
                      <a:pPr algn="ctr"/>
                      <a:r>
                        <a:rPr sz="750" b="0">
                          <a:solidFill>
                            <a:srgbClr val="1A1A1A"/>
                          </a:solidFill>
                        </a:rPr>
                        <a:t>77/100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85.695</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+5.0 %</a:t>
                      </a:r>
                    </a:p>
                  </a:txBody>
                  <a:tcPr>
                    <a:noFill/>
                  </a:tcPr>
                </a:tc>
                <a:tc>
                  <a:txBody>
                    <a:bodyPr/>
                    <a:lstStyle/>
                    <a:p>
                      <a:pPr algn="ctr"/>
                      <a:r>
                        <a:rPr sz="750" b="0">
                          <a:solidFill>
                            <a:srgbClr val="1A1A1A"/>
                          </a:solidFill>
                        </a:rPr>
                        <a:t>+35.3 %</a:t>
                      </a:r>
                    </a:p>
                  </a:txBody>
                  <a:tcPr>
                    <a:noFill/>
                  </a:tcPr>
                </a:tc>
              </a:tr>
              <a:tr h="1800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AXP</a:t>
                      </a:r>
                    </a:p>
                  </a:txBody>
                  <a:tcPr>
                    <a:solidFill>
                      <a:srgbClr val="F5F7FA"/>
                    </a:solidFill>
                  </a:tcPr>
                </a:tc>
                <a:tc>
                  <a:txBody>
                    <a:bodyPr/>
                    <a:lstStyle/>
                    <a:p>
                      <a:pPr algn="ctr"/>
                      <a:r>
                        <a:rPr sz="750" b="0">
                          <a:solidFill>
                            <a:srgbClr val="1A1A1A"/>
                          </a:solidFill>
                        </a:rPr>
                        <a:t>American Express Company</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318.11</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+10.6 %</a:t>
                      </a:r>
                    </a:p>
                  </a:txBody>
                  <a:tcPr>
                    <a:solidFill>
                      <a:srgbClr val="F5F7FA"/>
                    </a:solidFill>
                  </a:tcPr>
                </a:tc>
                <a:tc>
                  <a:txBody>
                    <a:bodyPr/>
                    <a:lstStyle/>
                    <a:p>
                      <a:pPr algn="ctr"/>
                      <a:r>
                        <a:rPr sz="750" b="0">
                          <a:solidFill>
                            <a:srgbClr val="1A1A1A"/>
                          </a:solidFill>
                        </a:rPr>
                        <a:t>+22.8 %</a:t>
                      </a:r>
                    </a:p>
                  </a:txBody>
                  <a:tcPr>
                    <a:solidFill>
                      <a:srgbClr val="F5F7FA"/>
                    </a:solidFill>
                  </a:tcPr>
                </a:tc>
              </a:tr>
              <a:tr h="180000">
                <a:tc>
                  <a:txBody>
                    <a:bodyPr/>
                    <a:lstStyle/>
                    <a:p>
                      <a:pPr algn="ctr"/>
                      <a:r>
                        <a:rPr sz="750" b="0">
                          <a:solidFill>
                            <a:srgbClr val="1A1A1A"/>
                          </a:solidFill>
                        </a:rPr>
                        <a:t>7</a:t>
                      </a:r>
                    </a:p>
                  </a:txBody>
                  <a:tcPr>
                    <a:noFill/>
                  </a:tcPr>
                </a:tc>
                <a:tc>
                  <a:txBody>
                    <a:bodyPr/>
                    <a:lstStyle/>
                    <a:p>
                      <a:pPr algn="ctr"/>
                      <a:r>
                        <a:rPr sz="750" b="0">
                          <a:solidFill>
                            <a:srgbClr val="1A1A1A"/>
                          </a:solidFill>
                        </a:rPr>
                        <a:t>BLK</a:t>
                      </a:r>
                    </a:p>
                  </a:txBody>
                  <a:tcPr>
                    <a:noFill/>
                  </a:tcPr>
                </a:tc>
                <a:tc>
                  <a:txBody>
                    <a:bodyPr/>
                    <a:lstStyle/>
                    <a:p>
                      <a:pPr algn="ctr"/>
                      <a:r>
                        <a:rPr sz="750" b="0">
                          <a:solidFill>
                            <a:srgbClr val="1A1A1A"/>
                          </a:solidFill>
                        </a:rPr>
                        <a:t>BlackRock, Inc.</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1009.0</a:t>
                      </a:r>
                    </a:p>
                  </a:txBody>
                  <a:tcPr>
                    <a:noFill/>
                  </a:tcPr>
                </a:tc>
                <a:tc>
                  <a:txBody>
                    <a:bodyPr/>
                    <a:lstStyle/>
                    <a:p>
                      <a:pPr algn="ctr"/>
                      <a:r>
                        <a:rPr sz="750" b="0">
                          <a:solidFill>
                            <a:srgbClr val="1A1A1A"/>
                          </a:solidFill>
                        </a:rPr>
                        <a:t>16.7x</a:t>
                      </a:r>
                    </a:p>
                  </a:txBody>
                  <a:tcPr>
                    <a:noFill/>
                  </a:tcPr>
                </a:tc>
                <a:tc>
                  <a:txBody>
                    <a:bodyPr/>
                    <a:lstStyle/>
                    <a:p>
                      <a:pPr algn="ctr"/>
                      <a:r>
                        <a:rPr sz="750" b="0">
                          <a:solidFill>
                            <a:srgbClr val="1A1A1A"/>
                          </a:solidFill>
                        </a:rPr>
                        <a:t>40.0 %</a:t>
                      </a:r>
                    </a:p>
                  </a:txBody>
                  <a:tcPr>
                    <a:noFill/>
                  </a:tcPr>
                </a:tc>
                <a:tc>
                  <a:txBody>
                    <a:bodyPr/>
                    <a:lstStyle/>
                    <a:p>
                      <a:pPr algn="ctr"/>
                      <a:r>
                        <a:rPr sz="750" b="0">
                          <a:solidFill>
                            <a:srgbClr val="1A1A1A"/>
                          </a:solidFill>
                        </a:rPr>
                        <a:t>+23.4 %</a:t>
                      </a:r>
                    </a:p>
                  </a:txBody>
                  <a:tcPr>
                    <a:noFill/>
                  </a:tcPr>
                </a:tc>
                <a:tc>
                  <a:txBody>
                    <a:bodyPr/>
                    <a:lstStyle/>
                    <a:p>
                      <a:pPr algn="ctr"/>
                      <a:r>
                        <a:rPr sz="750" b="0">
                          <a:solidFill>
                            <a:srgbClr val="1A1A1A"/>
                          </a:solidFill>
                        </a:rPr>
                        <a:t>+12.3 %</a:t>
                      </a:r>
                    </a:p>
                  </a:txBody>
                  <a:tcPr>
                    <a:noFill/>
                  </a:tcPr>
                </a:tc>
              </a:tr>
              <a:tr h="1800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JPM</a:t>
                      </a:r>
                    </a:p>
                  </a:txBody>
                  <a:tcPr>
                    <a:solidFill>
                      <a:srgbClr val="F5F7FA"/>
                    </a:solidFill>
                  </a:tcPr>
                </a:tc>
                <a:tc>
                  <a:txBody>
                    <a:bodyPr/>
                    <a:lstStyle/>
                    <a:p>
                      <a:pPr algn="ctr"/>
                      <a:r>
                        <a:rPr sz="750" b="0">
                          <a:solidFill>
                            <a:srgbClr val="1A1A1A"/>
                          </a:solidFill>
                        </a:rPr>
                        <a:t>JPMorgan Chase &amp; Co.</a:t>
                      </a:r>
                    </a:p>
                  </a:txBody>
                  <a:tcPr>
                    <a:solidFill>
                      <a:srgbClr val="F5F7FA"/>
                    </a:solidFill>
                  </a:tcPr>
                </a:tc>
                <a:tc>
                  <a:txBody>
                    <a:bodyPr/>
                    <a:lstStyle/>
                    <a:p>
                      <a:pPr algn="ctr"/>
                      <a:r>
                        <a:rPr sz="750" b="0">
                          <a:solidFill>
                            <a:srgbClr val="1A1A1A"/>
                          </a:solidFill>
                        </a:rPr>
                        <a:t>74/100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310.54</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+2.5 %</a:t>
                      </a:r>
                    </a:p>
                  </a:txBody>
                  <a:tcPr>
                    <a:solidFill>
                      <a:srgbClr val="F5F7FA"/>
                    </a:solidFill>
                  </a:tcPr>
                </a:tc>
                <a:tc>
                  <a:txBody>
                    <a:bodyPr/>
                    <a:lstStyle/>
                    <a:p>
                      <a:pPr algn="ctr"/>
                      <a:r>
                        <a:rPr sz="750" b="0">
                          <a:solidFill>
                            <a:srgbClr val="1A1A1A"/>
                          </a:solidFill>
                        </a:rPr>
                        <a:t>+32.0 %</a:t>
                      </a:r>
                    </a:p>
                  </a:txBody>
                  <a:tcPr>
                    <a:solidFill>
                      <a:srgbClr val="F5F7FA"/>
                    </a:solidFill>
                  </a:tcPr>
                </a:tc>
              </a:tr>
            </a:tbl>
          </a:graphicData>
        </a:graphic>
      </p:graphicFrame>
      <p:sp>
        <p:nvSpPr>
          <p:cNvPr id="16" name="Rectangle 15"/>
          <p:cNvSpPr/>
          <p:nvPr/>
        </p:nvSpPr>
        <p:spPr>
          <a:xfrm>
            <a:off x="324000" y="2951999"/>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51999"/>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006000"/>
            <a:ext cx="8280000" cy="216000"/>
          </a:xfrm>
          <a:prstGeom prst="rect">
            <a:avLst/>
          </a:prstGeom>
          <a:noFill/>
        </p:spPr>
        <p:txBody>
          <a:bodyPr wrap="square">
            <a:spAutoFit/>
          </a:bodyPr>
          <a:lstStyle/>
          <a:p>
            <a:pPr algn="l"/>
            <a:r>
              <a:rPr sz="900" b="1" i="0">
                <a:solidFill>
                  <a:srgbClr val="1B3A6B"/>
                </a:solidFill>
              </a:rPr>
              <a:t>Services Financiers — 8 BUY / 0 HOLD / 0 SELL · The Goldman Sachs Grou en tête (90/100)</a:t>
            </a:r>
          </a:p>
        </p:txBody>
      </p:sp>
      <p:sp>
        <p:nvSpPr>
          <p:cNvPr id="19" name="TextBox 18"/>
          <p:cNvSpPr txBox="1"/>
          <p:nvPr/>
        </p:nvSpPr>
        <p:spPr>
          <a:xfrm>
            <a:off x="468000" y="3257999"/>
            <a:ext cx="8280000" cy="1260000"/>
          </a:xfrm>
          <a:prstGeom prst="rect">
            <a:avLst/>
          </a:prstGeom>
          <a:noFill/>
        </p:spPr>
        <p:txBody>
          <a:bodyPr wrap="square">
            <a:spAutoFit/>
          </a:bodyPr>
          <a:lstStyle/>
          <a:p>
            <a:pPr algn="l"/>
            <a:r>
              <a:rPr sz="850" b="0" i="0">
                <a:solidFill>
                  <a:srgbClr val="555555"/>
                </a:solidFill>
              </a:rPr>
              <a:t>Le secteur Services Financiers présente 8 BUY / 0 HOLD / 0 SELL sur 8 valeurs analysées. The Goldman Sachs Grou (score 90/100) constitue le coeur offensif recommande — fondamentaux solides et visibilité supérieure sur les revenus. La répartition des recommandations reflète un positionnément selectif cohérent avec la phase sectorielle actuelle. Les catalyseurs identifies — résultats trimestriels, guidance annuel, opérations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Classement EV/EBITDA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acteur  ·  Tri croissant  ·  Vert = sous Médiane (opportunité relative)  ·  Top 15</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Médiane sectorielle : 16.7x. Les barres vertes sous cette ligne sont les candidats privilegies a analyser via Analyse Société individuelle (DCF, WACC, scénarios).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23328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59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59200">
                <a:tc>
                  <a:txBody>
                    <a:bodyPr/>
                    <a:lstStyle/>
                    <a:p>
                      <a:pPr algn="ctr"/>
                      <a:r>
                        <a:rPr sz="750" b="0">
                          <a:solidFill>
                            <a:srgbClr val="1A1A1A"/>
                          </a:solidFill>
                        </a:rPr>
                        <a:t>GS</a:t>
                      </a:r>
                    </a:p>
                  </a:txBody>
                  <a:tcPr>
                    <a:noFill/>
                  </a:tcPr>
                </a:tc>
                <a:tc>
                  <a:txBody>
                    <a:bodyPr/>
                    <a:lstStyle/>
                    <a:p>
                      <a:pPr algn="ctr"/>
                      <a:r>
                        <a:rPr sz="750" b="0">
                          <a:solidFill>
                            <a:srgbClr val="1A1A1A"/>
                          </a:solidFill>
                        </a:rPr>
                        <a:t>The Goldman Sachs Group, </a:t>
                      </a:r>
                    </a:p>
                  </a:txBody>
                  <a:tcPr>
                    <a:noFill/>
                  </a:tcPr>
                </a:tc>
                <a:tc>
                  <a:txBody>
                    <a:bodyPr/>
                    <a:lstStyle/>
                    <a:p>
                      <a:pPr algn="ctr"/>
                      <a:r>
                        <a:rPr sz="750" b="0">
                          <a:solidFill>
                            <a:srgbClr val="1A1A1A"/>
                          </a:solidFill>
                        </a:rPr>
                        <a:t>90/100</a:t>
                      </a:r>
                    </a:p>
                  </a:txBody>
                  <a:tcPr>
                    <a:noFill/>
                  </a:tcPr>
                </a:tc>
                <a:tc>
                  <a:txBody>
                    <a:bodyPr/>
                    <a:lstStyle/>
                    <a:p>
                      <a:pPr algn="ctr"/>
                      <a:r>
                        <a:rPr sz="750" b="1">
                          <a:solidFill>
                            <a:srgbClr val="A82020"/>
                          </a:solidFill>
                        </a:rPr>
                        <a:t>16</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24</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MS</a:t>
                      </a:r>
                    </a:p>
                  </a:txBody>
                  <a:tcPr>
                    <a:noFill/>
                  </a:tcPr>
                </a:tc>
                <a:tc>
                  <a:txBody>
                    <a:bodyPr/>
                    <a:lstStyle/>
                    <a:p>
                      <a:pPr algn="ctr"/>
                      <a:r>
                        <a:rPr sz="750" b="0">
                          <a:solidFill>
                            <a:srgbClr val="1A1A1A"/>
                          </a:solidFill>
                        </a:rPr>
                        <a:t>Morgan Stanley</a:t>
                      </a:r>
                    </a:p>
                  </a:txBody>
                  <a:tcPr>
                    <a:noFill/>
                  </a:tcPr>
                </a:tc>
                <a:tc>
                  <a:txBody>
                    <a:bodyPr/>
                    <a:lstStyle/>
                    <a:p>
                      <a:pPr algn="ctr"/>
                      <a:r>
                        <a:rPr sz="750" b="0">
                          <a:solidFill>
                            <a:srgbClr val="1A1A1A"/>
                          </a:solidFill>
                        </a:rPr>
                        <a:t>86/100</a:t>
                      </a:r>
                    </a:p>
                  </a:txBody>
                  <a:tcPr>
                    <a:noFill/>
                  </a:tcPr>
                </a:tc>
                <a:tc>
                  <a:txBody>
                    <a:bodyPr/>
                    <a:lstStyle/>
                    <a:p>
                      <a:pPr algn="ctr"/>
                      <a:r>
                        <a:rPr sz="750" b="1">
                          <a:solidFill>
                            <a:srgbClr val="A82020"/>
                          </a:solidFill>
                        </a:rPr>
                        <a:t>16</a:t>
                      </a:r>
                    </a:p>
                  </a:txBody>
                  <a:tcPr>
                    <a:solidFill>
                      <a:srgbClr val="FFEBEE"/>
                    </a:solidFill>
                  </a:tcPr>
                </a:tc>
                <a:tc>
                  <a:txBody>
                    <a:bodyPr/>
                    <a:lstStyle/>
                    <a:p>
                      <a:pPr algn="ctr"/>
                      <a:r>
                        <a:rPr sz="750" b="1">
                          <a:solidFill>
                            <a:srgbClr val="A82020"/>
                          </a:solidFill>
                        </a:rPr>
                        <a:t>23</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21</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C</a:t>
                      </a:r>
                    </a:p>
                  </a:txBody>
                  <a:tcPr>
                    <a:noFill/>
                  </a:tcPr>
                </a:tc>
                <a:tc>
                  <a:txBody>
                    <a:bodyPr/>
                    <a:lstStyle/>
                    <a:p>
                      <a:pPr algn="ctr"/>
                      <a:r>
                        <a:rPr sz="750" b="0">
                          <a:solidFill>
                            <a:srgbClr val="1A1A1A"/>
                          </a:solidFill>
                        </a:rPr>
                        <a:t>Citigroup Inc.</a:t>
                      </a:r>
                    </a:p>
                  </a:txBody>
                  <a:tcPr>
                    <a:noFill/>
                  </a:tcPr>
                </a:tc>
                <a:tc>
                  <a:txBody>
                    <a:bodyPr/>
                    <a:lstStyle/>
                    <a:p>
                      <a:pPr algn="ctr"/>
                      <a:r>
                        <a:rPr sz="750" b="0">
                          <a:solidFill>
                            <a:srgbClr val="1A1A1A"/>
                          </a:solidFill>
                        </a:rPr>
                        <a:t>82/100</a:t>
                      </a:r>
                    </a:p>
                  </a:txBody>
                  <a:tcPr>
                    <a:noFill/>
                  </a:tcPr>
                </a:tc>
                <a:tc>
                  <a:txBody>
                    <a:bodyPr/>
                    <a:lstStyle/>
                    <a:p>
                      <a:pPr algn="ctr"/>
                      <a:r>
                        <a:rPr sz="750" b="1">
                          <a:solidFill>
                            <a:srgbClr val="A82020"/>
                          </a:solidFill>
                        </a:rPr>
                        <a:t>16</a:t>
                      </a:r>
                    </a:p>
                  </a:txBody>
                  <a:tcPr>
                    <a:solidFill>
                      <a:srgbClr val="FFEBEE"/>
                    </a:solidFill>
                  </a:tcPr>
                </a:tc>
                <a:tc>
                  <a:txBody>
                    <a:bodyPr/>
                    <a:lstStyle/>
                    <a:p>
                      <a:pPr algn="ctr"/>
                      <a:r>
                        <a:rPr sz="750" b="1">
                          <a:solidFill>
                            <a:srgbClr val="A82020"/>
                          </a:solidFill>
                        </a:rPr>
                        <a:t>16</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BAC</a:t>
                      </a:r>
                    </a:p>
                  </a:txBody>
                  <a:tcPr>
                    <a:noFill/>
                  </a:tcPr>
                </a:tc>
                <a:tc>
                  <a:txBody>
                    <a:bodyPr/>
                    <a:lstStyle/>
                    <a:p>
                      <a:pPr algn="ctr"/>
                      <a:r>
                        <a:rPr sz="750" b="0">
                          <a:solidFill>
                            <a:srgbClr val="1A1A1A"/>
                          </a:solidFill>
                        </a:rPr>
                        <a:t>Bank of America Corporati</a:t>
                      </a:r>
                    </a:p>
                  </a:txBody>
                  <a:tcPr>
                    <a:noFill/>
                  </a:tcPr>
                </a:tc>
                <a:tc>
                  <a:txBody>
                    <a:bodyPr/>
                    <a:lstStyle/>
                    <a:p>
                      <a:pPr algn="ctr"/>
                      <a:r>
                        <a:rPr sz="750" b="0">
                          <a:solidFill>
                            <a:srgbClr val="1A1A1A"/>
                          </a:solidFill>
                        </a:rPr>
                        <a:t>81/100</a:t>
                      </a:r>
                    </a:p>
                  </a:txBody>
                  <a:tcPr>
                    <a:noFill/>
                  </a:tcPr>
                </a:tc>
                <a:tc>
                  <a:txBody>
                    <a:bodyPr/>
                    <a:lstStyle/>
                    <a:p>
                      <a:pPr algn="ctr"/>
                      <a:r>
                        <a:rPr sz="750" b="1">
                          <a:solidFill>
                            <a:srgbClr val="A82020"/>
                          </a:solidFill>
                        </a:rPr>
                        <a:t>18</a:t>
                      </a:r>
                    </a:p>
                  </a:txBody>
                  <a:tcPr>
                    <a:solidFill>
                      <a:srgbClr val="FFEBEE"/>
                    </a:solidFill>
                  </a:tcPr>
                </a:tc>
                <a:tc>
                  <a:txBody>
                    <a:bodyPr/>
                    <a:lstStyle/>
                    <a:p>
                      <a:pPr algn="ctr"/>
                      <a:r>
                        <a:rPr sz="750" b="1">
                          <a:solidFill>
                            <a:srgbClr val="A82020"/>
                          </a:solidFill>
                        </a:rPr>
                        <a:t>19</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18</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WFC</a:t>
                      </a:r>
                    </a:p>
                  </a:txBody>
                  <a:tcPr>
                    <a:noFill/>
                  </a:tcPr>
                </a:tc>
                <a:tc>
                  <a:txBody>
                    <a:bodyPr/>
                    <a:lstStyle/>
                    <a:p>
                      <a:pPr algn="ctr"/>
                      <a:r>
                        <a:rPr sz="750" b="0">
                          <a:solidFill>
                            <a:srgbClr val="1A1A1A"/>
                          </a:solidFill>
                        </a:rPr>
                        <a:t>Wells Fargo &amp; Company</a:t>
                      </a:r>
                    </a:p>
                  </a:txBody>
                  <a:tcPr>
                    <a:noFill/>
                  </a:tcPr>
                </a:tc>
                <a:tc>
                  <a:txBody>
                    <a:bodyPr/>
                    <a:lstStyle/>
                    <a:p>
                      <a:pPr algn="ctr"/>
                      <a:r>
                        <a:rPr sz="750" b="0">
                          <a:solidFill>
                            <a:srgbClr val="1A1A1A"/>
                          </a:solidFill>
                        </a:rPr>
                        <a:t>77/100</a:t>
                      </a:r>
                    </a:p>
                  </a:txBody>
                  <a:tcPr>
                    <a:noFill/>
                  </a:tcPr>
                </a:tc>
                <a:tc>
                  <a:txBody>
                    <a:bodyPr/>
                    <a:lstStyle/>
                    <a:p>
                      <a:pPr algn="ctr"/>
                      <a:r>
                        <a:rPr sz="750" b="1">
                          <a:solidFill>
                            <a:srgbClr val="A82020"/>
                          </a:solidFill>
                        </a:rPr>
                        <a:t>18</a:t>
                      </a:r>
                    </a:p>
                  </a:txBody>
                  <a:tcPr>
                    <a:solidFill>
                      <a:srgbClr val="FFEBEE"/>
                    </a:solidFill>
                  </a:tcPr>
                </a:tc>
                <a:tc>
                  <a:txBody>
                    <a:bodyPr/>
                    <a:lstStyle/>
                    <a:p>
                      <a:pPr algn="ctr"/>
                      <a:r>
                        <a:rPr sz="750" b="1">
                          <a:solidFill>
                            <a:srgbClr val="A82020"/>
                          </a:solidFill>
                        </a:rPr>
                        <a:t>17</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17</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AXP</a:t>
                      </a:r>
                    </a:p>
                  </a:txBody>
                  <a:tcPr>
                    <a:noFill/>
                  </a:tcPr>
                </a:tc>
                <a:tc>
                  <a:txBody>
                    <a:bodyPr/>
                    <a:lstStyle/>
                    <a:p>
                      <a:pPr algn="ctr"/>
                      <a:r>
                        <a:rPr sz="750" b="0">
                          <a:solidFill>
                            <a:srgbClr val="1A1A1A"/>
                          </a:solidFill>
                        </a:rPr>
                        <a:t>American Express Company</a:t>
                      </a:r>
                    </a:p>
                  </a:txBody>
                  <a:tcPr>
                    <a:noFill/>
                  </a:tcPr>
                </a:tc>
                <a:tc>
                  <a:txBody>
                    <a:bodyPr/>
                    <a:lstStyle/>
                    <a:p>
                      <a:pPr algn="ctr"/>
                      <a:r>
                        <a:rPr sz="750" b="0">
                          <a:solidFill>
                            <a:srgbClr val="1A1A1A"/>
                          </a:solidFill>
                        </a:rPr>
                        <a:t>76/100</a:t>
                      </a:r>
                    </a:p>
                  </a:txBody>
                  <a:tcPr>
                    <a:noFill/>
                  </a:tcPr>
                </a:tc>
                <a:tc>
                  <a:txBody>
                    <a:bodyPr/>
                    <a:lstStyle/>
                    <a:p>
                      <a:pPr algn="ctr"/>
                      <a:r>
                        <a:rPr sz="750" b="1">
                          <a:solidFill>
                            <a:srgbClr val="A82020"/>
                          </a:solidFill>
                        </a:rPr>
                        <a:t>14</a:t>
                      </a:r>
                    </a:p>
                  </a:txBody>
                  <a:tcPr>
                    <a:solidFill>
                      <a:srgbClr val="FFEBEE"/>
                    </a:solidFill>
                  </a:tcPr>
                </a:tc>
                <a:tc>
                  <a:txBody>
                    <a:bodyPr/>
                    <a:lstStyle/>
                    <a:p>
                      <a:pPr algn="ctr"/>
                      <a:r>
                        <a:rPr sz="750" b="1">
                          <a:solidFill>
                            <a:srgbClr val="A82020"/>
                          </a:solidFill>
                        </a:rPr>
                        <a:t>22</a:t>
                      </a:r>
                    </a:p>
                  </a:txBody>
                  <a:tcPr>
                    <a:solidFill>
                      <a:srgbClr val="FFEBEE"/>
                    </a:solidFill>
                  </a:tcPr>
                </a:tc>
                <a:tc>
                  <a:txBody>
                    <a:bodyPr/>
                    <a:lstStyle/>
                    <a:p>
                      <a:pPr algn="ctr"/>
                      <a:r>
                        <a:rPr sz="750" b="1">
                          <a:solidFill>
                            <a:srgbClr val="A82020"/>
                          </a:solidFill>
                        </a:rPr>
                        <a:t>22</a:t>
                      </a:r>
                    </a:p>
                  </a:txBody>
                  <a:tcPr>
                    <a:solidFill>
                      <a:srgbClr val="FFEBEE"/>
                    </a:solidFill>
                  </a:tcPr>
                </a:tc>
                <a:tc>
                  <a:txBody>
                    <a:bodyPr/>
                    <a:lstStyle/>
                    <a:p>
                      <a:pPr algn="ctr"/>
                      <a:r>
                        <a:rPr sz="750" b="1">
                          <a:solidFill>
                            <a:srgbClr val="A82020"/>
                          </a:solidFill>
                        </a:rPr>
                        <a:t>15</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BLK</a:t>
                      </a:r>
                    </a:p>
                  </a:txBody>
                  <a:tcPr>
                    <a:noFill/>
                  </a:tcPr>
                </a:tc>
                <a:tc>
                  <a:txBody>
                    <a:bodyPr/>
                    <a:lstStyle/>
                    <a:p>
                      <a:pPr algn="ctr"/>
                      <a:r>
                        <a:rPr sz="750" b="0">
                          <a:solidFill>
                            <a:srgbClr val="1A1A1A"/>
                          </a:solidFill>
                        </a:rPr>
                        <a:t>BlackRock, Inc.</a:t>
                      </a:r>
                    </a:p>
                  </a:txBody>
                  <a:tcPr>
                    <a:noFill/>
                  </a:tcPr>
                </a:tc>
                <a:tc>
                  <a:txBody>
                    <a:bodyPr/>
                    <a:lstStyle/>
                    <a:p>
                      <a:pPr algn="ctr"/>
                      <a:r>
                        <a:rPr sz="750" b="0">
                          <a:solidFill>
                            <a:srgbClr val="1A1A1A"/>
                          </a:solidFill>
                        </a:rPr>
                        <a:t>75/100</a:t>
                      </a:r>
                    </a:p>
                  </a:txBody>
                  <a:tcPr>
                    <a:noFill/>
                  </a:tcPr>
                </a:tc>
                <a:tc>
                  <a:txBody>
                    <a:bodyPr/>
                    <a:lstStyle/>
                    <a:p>
                      <a:pPr algn="ctr"/>
                      <a:r>
                        <a:rPr sz="750" b="1">
                          <a:solidFill>
                            <a:srgbClr val="A82020"/>
                          </a:solidFill>
                        </a:rPr>
                        <a:t>10</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13</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JPM</a:t>
                      </a:r>
                    </a:p>
                  </a:txBody>
                  <a:tcPr>
                    <a:noFill/>
                  </a:tcPr>
                </a:tc>
                <a:tc>
                  <a:txBody>
                    <a:bodyPr/>
                    <a:lstStyle/>
                    <a:p>
                      <a:pPr algn="ctr"/>
                      <a:r>
                        <a:rPr sz="750" b="0">
                          <a:solidFill>
                            <a:srgbClr val="1A1A1A"/>
                          </a:solidFill>
                        </a:rPr>
                        <a:t>JPMorgan Chase &amp; Co.</a:t>
                      </a:r>
                    </a:p>
                  </a:txBody>
                  <a:tcPr>
                    <a:noFill/>
                  </a:tcPr>
                </a:tc>
                <a:tc>
                  <a:txBody>
                    <a:bodyPr/>
                    <a:lstStyle/>
                    <a:p>
                      <a:pPr algn="ctr"/>
                      <a:r>
                        <a:rPr sz="750" b="0">
                          <a:solidFill>
                            <a:srgbClr val="1A1A1A"/>
                          </a:solidFill>
                        </a:rPr>
                        <a:t>74/100</a:t>
                      </a:r>
                    </a:p>
                  </a:txBody>
                  <a:tcPr>
                    <a:noFill/>
                  </a:tcPr>
                </a:tc>
                <a:tc>
                  <a:txBody>
                    <a:bodyPr/>
                    <a:lstStyle/>
                    <a:p>
                      <a:pPr algn="ctr"/>
                      <a:r>
                        <a:rPr sz="750" b="1">
                          <a:solidFill>
                            <a:srgbClr val="A82020"/>
                          </a:solidFill>
                        </a:rPr>
                        <a:t>17</a:t>
                      </a:r>
                    </a:p>
                  </a:txBody>
                  <a:tcPr>
                    <a:solidFill>
                      <a:srgbClr val="FFEBEE"/>
                    </a:solidFill>
                  </a:tcPr>
                </a:tc>
                <a:tc>
                  <a:txBody>
                    <a:bodyPr/>
                    <a:lstStyle/>
                    <a:p>
                      <a:pPr algn="ctr"/>
                      <a:r>
                        <a:rPr sz="750" b="1">
                          <a:solidFill>
                            <a:srgbClr val="A82020"/>
                          </a:solidFill>
                        </a:rPr>
                        <a:t>14</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16</a:t>
                      </a:r>
                    </a:p>
                  </a:txBody>
                  <a:tcPr>
                    <a:solidFill>
                      <a:srgbClr val="FFEBEE"/>
                    </a:solidFill>
                  </a:tcPr>
                </a:tc>
                <a:tc>
                  <a:txBody>
                    <a:bodyPr/>
                    <a:lstStyle/>
                    <a:p>
                      <a:pPr algn="ctr"/>
                      <a:r>
                        <a:rPr sz="750" b="0">
                          <a:solidFill>
                            <a:srgbClr val="1A1A1A"/>
                          </a:solidFill>
                        </a:rPr>
                        <a:t>BUY</a:t>
                      </a:r>
                    </a:p>
                  </a:txBody>
                  <a:tcPr>
                    <a:noFill/>
                  </a:tcPr>
                </a:tc>
              </a:tr>
            </a:tbl>
          </a:graphicData>
        </a:graphic>
      </p:graphicFrame>
      <p:sp>
        <p:nvSpPr>
          <p:cNvPr id="16" name="Rectangle 15"/>
          <p:cNvSpPr/>
          <p:nvPr/>
        </p:nvSpPr>
        <p:spPr>
          <a:xfrm>
            <a:off x="324000" y="3358800"/>
            <a:ext cx="8496000" cy="1501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3588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376800"/>
            <a:ext cx="8352000" cy="216000"/>
          </a:xfrm>
          <a:prstGeom prst="rect">
            <a:avLst/>
          </a:prstGeom>
          <a:noFill/>
        </p:spPr>
        <p:txBody>
          <a:bodyPr wrap="square">
            <a:spAutoFit/>
          </a:bodyPr>
          <a:lstStyle/>
          <a:p>
            <a:pPr algn="l"/>
            <a:r>
              <a:rPr sz="750" b="1" i="0">
                <a:solidFill>
                  <a:srgbClr val="FFFFFF"/>
                </a:solidFill>
              </a:rPr>
              <a:t>SYNTHÈSE SCORES  ·  Score &gt;= 75 = fort  ·  50-74 = moyen  ·  &lt; 50 = faible  ·  Pondérations : Value / Growth / Quality / Momentum = 25 % chacun</a:t>
            </a:r>
          </a:p>
        </p:txBody>
      </p:sp>
      <p:sp>
        <p:nvSpPr>
          <p:cNvPr id="19" name="TextBox 18"/>
          <p:cNvSpPr txBox="1"/>
          <p:nvPr/>
        </p:nvSpPr>
        <p:spPr>
          <a:xfrm>
            <a:off x="396000" y="3664800"/>
            <a:ext cx="8352000" cy="1141200"/>
          </a:xfrm>
          <a:prstGeom prst="rect">
            <a:avLst/>
          </a:prstGeom>
          <a:noFill/>
        </p:spPr>
        <p:txBody>
          <a:bodyPr wrap="square">
            <a:spAutoFit/>
          </a:bodyPr>
          <a:lstStyle/>
          <a:p>
            <a:pPr algn="l"/>
            <a:r>
              <a:rPr sz="850" b="0" i="0">
                <a:solidFill>
                  <a:srgbClr val="555555"/>
                </a:solidFill>
              </a:rPr>
              <a:t>The Goldman Sachs Group,  présente le profil le plus équilibre du secteur (90/100) avec des scores Value=16, Growth=25, Quality=25, Momentum=24. La dispersion des scores entre les 8 sociétés Reflète des profils hétérogènes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Sociétés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GS</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The Goldman Sachs Gr</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1062</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0.0 %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Les anticipations de baisses des taux de la Fed à partir de mi-2024 devraient soutenir la demande de crédit et les volumes de transactions sur les marchés de</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Un durcissement inattendu des conditions de crédit pourrait peser sur les marges des banques commerciales comme C, notamment dans les segments des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MS</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Morgan Stanley</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214</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0.0 %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L'assouplissement progressif des règles de Bâle IV en Europe et aux États-Unis pourrait réduire les coûts en capital pour les banques d'investissement comme GS</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Les tensions commerciales persistantes entre les États-Unis et la Chine menacent les revenus des banques d'investissement exposées aux flux</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C</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Citigroup Inc.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150</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0.0 %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L'adoption accélérée de l'IA et des solutions cloud dans les services financiers optimise les coûts opérationnels et améliore l'efficacité des plateformes de</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L'augmentation des cyberattaques ciblant les infrastructures financières pourrait entraîner des coûts de conformité et de réparation significatifs.</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société vs médiane sectorielle (16.7x)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homogene — 0 acteur(s) se detachent nettement du reste du secteur, creant une prime de valorisation significative vs la médiane de 16.7x.
0 société(s) se traitent sous la médiane — potentiellement les meilleures asymétries risque/rendement sous reserve de catalyseurs fondamentaux.
La dispersion des multiples est caractéristique d'un secteur Services Financiers en phase de différentiation — les investisseurs selectifs peuvent exploiter cet Écart.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6848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87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 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87200">
                <a:tc>
                  <a:txBody>
                    <a:bodyPr/>
                    <a:lstStyle/>
                    <a:p>
                      <a:pPr algn="ctr"/>
                      <a:r>
                        <a:rPr sz="750" b="0">
                          <a:solidFill>
                            <a:srgbClr val="1A1A1A"/>
                          </a:solidFill>
                        </a:rPr>
                        <a:t>GS</a:t>
                      </a:r>
                    </a:p>
                  </a:txBody>
                  <a:tcPr>
                    <a:noFill/>
                  </a:tcPr>
                </a:tc>
                <a:tc>
                  <a:txBody>
                    <a:bodyPr/>
                    <a:lstStyle/>
                    <a:p>
                      <a:pPr algn="ctr"/>
                      <a:r>
                        <a:rPr sz="750" b="0">
                          <a:solidFill>
                            <a:srgbClr val="1A1A1A"/>
                          </a:solidFill>
                        </a:rPr>
                        <a:t>The Goldman Sachs Group,</a:t>
                      </a:r>
                    </a:p>
                  </a:txBody>
                  <a:tcPr>
                    <a:noFill/>
                  </a:tcPr>
                </a:tc>
                <a:tc>
                  <a:txBody>
                    <a:bodyPr/>
                    <a:lstStyle/>
                    <a:p>
                      <a:pPr algn="ctr"/>
                      <a:r>
                        <a:rPr sz="750" b="0">
                          <a:solidFill>
                            <a:srgbClr val="1A1A1A"/>
                          </a:solidFill>
                        </a:rPr>
                        <a:t>885.38</a:t>
                      </a:r>
                    </a:p>
                  </a:txBody>
                  <a:tcPr>
                    <a:noFill/>
                  </a:tcPr>
                </a:tc>
                <a:tc>
                  <a:txBody>
                    <a:bodyPr/>
                    <a:lstStyle/>
                    <a:p>
                      <a:pPr algn="ctr"/>
                      <a:r>
                        <a:rPr sz="750" b="0">
                          <a:solidFill>
                            <a:srgbClr val="1A1A1A"/>
                          </a:solidFill>
                        </a:rPr>
                        <a:t>1018.2</a:t>
                      </a:r>
                    </a:p>
                  </a:txBody>
                  <a:tcPr>
                    <a:noFill/>
                  </a:tcPr>
                </a:tc>
                <a:tc>
                  <a:txBody>
                    <a:bodyPr/>
                    <a:lstStyle/>
                    <a:p>
                      <a:pPr algn="ctr"/>
                      <a:r>
                        <a:rPr sz="750" b="0">
                          <a:solidFill>
                            <a:srgbClr val="1A1A1A"/>
                          </a:solidFill>
                        </a:rPr>
                        <a:t>&lt; 841.1</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MS</a:t>
                      </a:r>
                    </a:p>
                  </a:txBody>
                  <a:tcPr>
                    <a:solidFill>
                      <a:srgbClr val="F5F7FA"/>
                    </a:solidFill>
                  </a:tcPr>
                </a:tc>
                <a:tc>
                  <a:txBody>
                    <a:bodyPr/>
                    <a:lstStyle/>
                    <a:p>
                      <a:pPr algn="ctr"/>
                      <a:r>
                        <a:rPr sz="750" b="0">
                          <a:solidFill>
                            <a:srgbClr val="1A1A1A"/>
                          </a:solidFill>
                        </a:rPr>
                        <a:t>Morgan Stanley</a:t>
                      </a:r>
                    </a:p>
                  </a:txBody>
                  <a:tcPr>
                    <a:solidFill>
                      <a:srgbClr val="F5F7FA"/>
                    </a:solidFill>
                  </a:tcPr>
                </a:tc>
                <a:tc>
                  <a:txBody>
                    <a:bodyPr/>
                    <a:lstStyle/>
                    <a:p>
                      <a:pPr algn="ctr"/>
                      <a:r>
                        <a:rPr sz="750" b="0">
                          <a:solidFill>
                            <a:srgbClr val="1A1A1A"/>
                          </a:solidFill>
                        </a:rPr>
                        <a:t>178.345</a:t>
                      </a:r>
                    </a:p>
                  </a:txBody>
                  <a:tcPr>
                    <a:solidFill>
                      <a:srgbClr val="F5F7FA"/>
                    </a:solidFill>
                  </a:tcPr>
                </a:tc>
                <a:tc>
                  <a:txBody>
                    <a:bodyPr/>
                    <a:lstStyle/>
                    <a:p>
                      <a:pPr algn="ctr"/>
                      <a:r>
                        <a:rPr sz="750" b="0">
                          <a:solidFill>
                            <a:srgbClr val="1A1A1A"/>
                          </a:solidFill>
                        </a:rPr>
                        <a:t>205.1</a:t>
                      </a:r>
                    </a:p>
                  </a:txBody>
                  <a:tcPr>
                    <a:solidFill>
                      <a:srgbClr val="F5F7FA"/>
                    </a:solidFill>
                  </a:tcPr>
                </a:tc>
                <a:tc>
                  <a:txBody>
                    <a:bodyPr/>
                    <a:lstStyle/>
                    <a:p>
                      <a:pPr algn="ctr"/>
                      <a:r>
                        <a:rPr sz="750" b="0">
                          <a:solidFill>
                            <a:srgbClr val="1A1A1A"/>
                          </a:solidFill>
                        </a:rPr>
                        <a:t>&lt; 169.4</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C</a:t>
                      </a:r>
                    </a:p>
                  </a:txBody>
                  <a:tcPr>
                    <a:noFill/>
                  </a:tcPr>
                </a:tc>
                <a:tc>
                  <a:txBody>
                    <a:bodyPr/>
                    <a:lstStyle/>
                    <a:p>
                      <a:pPr algn="ctr"/>
                      <a:r>
                        <a:rPr sz="750" b="0">
                          <a:solidFill>
                            <a:srgbClr val="1A1A1A"/>
                          </a:solidFill>
                        </a:rPr>
                        <a:t>Citigroup Inc.</a:t>
                      </a:r>
                    </a:p>
                  </a:txBody>
                  <a:tcPr>
                    <a:noFill/>
                  </a:tcPr>
                </a:tc>
                <a:tc>
                  <a:txBody>
                    <a:bodyPr/>
                    <a:lstStyle/>
                    <a:p>
                      <a:pPr algn="ctr"/>
                      <a:r>
                        <a:rPr sz="750" b="0">
                          <a:solidFill>
                            <a:srgbClr val="1A1A1A"/>
                          </a:solidFill>
                        </a:rPr>
                        <a:t>124.96</a:t>
                      </a:r>
                    </a:p>
                  </a:txBody>
                  <a:tcPr>
                    <a:noFill/>
                  </a:tcPr>
                </a:tc>
                <a:tc>
                  <a:txBody>
                    <a:bodyPr/>
                    <a:lstStyle/>
                    <a:p>
                      <a:pPr algn="ctr"/>
                      <a:r>
                        <a:rPr sz="750" b="0">
                          <a:solidFill>
                            <a:srgbClr val="1A1A1A"/>
                          </a:solidFill>
                        </a:rPr>
                        <a:t>143.7</a:t>
                      </a:r>
                    </a:p>
                  </a:txBody>
                  <a:tcPr>
                    <a:noFill/>
                  </a:tcPr>
                </a:tc>
                <a:tc>
                  <a:txBody>
                    <a:bodyPr/>
                    <a:lstStyle/>
                    <a:p>
                      <a:pPr algn="ctr"/>
                      <a:r>
                        <a:rPr sz="750" b="0">
                          <a:solidFill>
                            <a:srgbClr val="1A1A1A"/>
                          </a:solidFill>
                        </a:rPr>
                        <a:t>&lt; 118.7</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BAC</a:t>
                      </a:r>
                    </a:p>
                  </a:txBody>
                  <a:tcPr>
                    <a:solidFill>
                      <a:srgbClr val="F5F7FA"/>
                    </a:solidFill>
                  </a:tcPr>
                </a:tc>
                <a:tc>
                  <a:txBody>
                    <a:bodyPr/>
                    <a:lstStyle/>
                    <a:p>
                      <a:pPr algn="ctr"/>
                      <a:r>
                        <a:rPr sz="750" b="0">
                          <a:solidFill>
                            <a:srgbClr val="1A1A1A"/>
                          </a:solidFill>
                        </a:rPr>
                        <a:t>Bank of America Corporat</a:t>
                      </a:r>
                    </a:p>
                  </a:txBody>
                  <a:tcPr>
                    <a:solidFill>
                      <a:srgbClr val="F5F7FA"/>
                    </a:solidFill>
                  </a:tcPr>
                </a:tc>
                <a:tc>
                  <a:txBody>
                    <a:bodyPr/>
                    <a:lstStyle/>
                    <a:p>
                      <a:pPr algn="ctr"/>
                      <a:r>
                        <a:rPr sz="750" b="0">
                          <a:solidFill>
                            <a:srgbClr val="1A1A1A"/>
                          </a:solidFill>
                        </a:rPr>
                        <a:t>52.805</a:t>
                      </a:r>
                    </a:p>
                  </a:txBody>
                  <a:tcPr>
                    <a:solidFill>
                      <a:srgbClr val="F5F7FA"/>
                    </a:solidFill>
                  </a:tcPr>
                </a:tc>
                <a:tc>
                  <a:txBody>
                    <a:bodyPr/>
                    <a:lstStyle/>
                    <a:p>
                      <a:pPr algn="ctr"/>
                      <a:r>
                        <a:rPr sz="750" b="0">
                          <a:solidFill>
                            <a:srgbClr val="1A1A1A"/>
                          </a:solidFill>
                        </a:rPr>
                        <a:t>60.7</a:t>
                      </a:r>
                    </a:p>
                  </a:txBody>
                  <a:tcPr>
                    <a:solidFill>
                      <a:srgbClr val="F5F7FA"/>
                    </a:solidFill>
                  </a:tcPr>
                </a:tc>
                <a:tc>
                  <a:txBody>
                    <a:bodyPr/>
                    <a:lstStyle/>
                    <a:p>
                      <a:pPr algn="ctr"/>
                      <a:r>
                        <a:rPr sz="750" b="0">
                          <a:solidFill>
                            <a:srgbClr val="1A1A1A"/>
                          </a:solidFill>
                        </a:rPr>
                        <a:t>&lt; 50.2</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WFC</a:t>
                      </a:r>
                    </a:p>
                  </a:txBody>
                  <a:tcPr>
                    <a:noFill/>
                  </a:tcPr>
                </a:tc>
                <a:tc>
                  <a:txBody>
                    <a:bodyPr/>
                    <a:lstStyle/>
                    <a:p>
                      <a:pPr algn="ctr"/>
                      <a:r>
                        <a:rPr sz="750" b="0">
                          <a:solidFill>
                            <a:srgbClr val="1A1A1A"/>
                          </a:solidFill>
                        </a:rPr>
                        <a:t>Wells Fargo &amp; Company</a:t>
                      </a:r>
                    </a:p>
                  </a:txBody>
                  <a:tcPr>
                    <a:noFill/>
                  </a:tcPr>
                </a:tc>
                <a:tc>
                  <a:txBody>
                    <a:bodyPr/>
                    <a:lstStyle/>
                    <a:p>
                      <a:pPr algn="ctr"/>
                      <a:r>
                        <a:rPr sz="750" b="0">
                          <a:solidFill>
                            <a:srgbClr val="1A1A1A"/>
                          </a:solidFill>
                        </a:rPr>
                        <a:t>85.695</a:t>
                      </a:r>
                    </a:p>
                  </a:txBody>
                  <a:tcPr>
                    <a:noFill/>
                  </a:tcPr>
                </a:tc>
                <a:tc>
                  <a:txBody>
                    <a:bodyPr/>
                    <a:lstStyle/>
                    <a:p>
                      <a:pPr algn="ctr"/>
                      <a:r>
                        <a:rPr sz="750" b="0">
                          <a:solidFill>
                            <a:srgbClr val="1A1A1A"/>
                          </a:solidFill>
                        </a:rPr>
                        <a:t>98.5</a:t>
                      </a:r>
                    </a:p>
                  </a:txBody>
                  <a:tcPr>
                    <a:noFill/>
                  </a:tcPr>
                </a:tc>
                <a:tc>
                  <a:txBody>
                    <a:bodyPr/>
                    <a:lstStyle/>
                    <a:p>
                      <a:pPr algn="ctr"/>
                      <a:r>
                        <a:rPr sz="750" b="0">
                          <a:solidFill>
                            <a:srgbClr val="1A1A1A"/>
                          </a:solidFill>
                        </a:rPr>
                        <a:t>&lt; 81.4</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AXP</a:t>
                      </a:r>
                    </a:p>
                  </a:txBody>
                  <a:tcPr>
                    <a:solidFill>
                      <a:srgbClr val="F5F7FA"/>
                    </a:solidFill>
                  </a:tcPr>
                </a:tc>
                <a:tc>
                  <a:txBody>
                    <a:bodyPr/>
                    <a:lstStyle/>
                    <a:p>
                      <a:pPr algn="ctr"/>
                      <a:r>
                        <a:rPr sz="750" b="0">
                          <a:solidFill>
                            <a:srgbClr val="1A1A1A"/>
                          </a:solidFill>
                        </a:rPr>
                        <a:t>American Express Company</a:t>
                      </a:r>
                    </a:p>
                  </a:txBody>
                  <a:tcPr>
                    <a:solidFill>
                      <a:srgbClr val="F5F7FA"/>
                    </a:solidFill>
                  </a:tcPr>
                </a:tc>
                <a:tc>
                  <a:txBody>
                    <a:bodyPr/>
                    <a:lstStyle/>
                    <a:p>
                      <a:pPr algn="ctr"/>
                      <a:r>
                        <a:rPr sz="750" b="0">
                          <a:solidFill>
                            <a:srgbClr val="1A1A1A"/>
                          </a:solidFill>
                        </a:rPr>
                        <a:t>318.11</a:t>
                      </a:r>
                    </a:p>
                  </a:txBody>
                  <a:tcPr>
                    <a:solidFill>
                      <a:srgbClr val="F5F7FA"/>
                    </a:solidFill>
                  </a:tcPr>
                </a:tc>
                <a:tc>
                  <a:txBody>
                    <a:bodyPr/>
                    <a:lstStyle/>
                    <a:p>
                      <a:pPr algn="ctr"/>
                      <a:r>
                        <a:rPr sz="750" b="0">
                          <a:solidFill>
                            <a:srgbClr val="1A1A1A"/>
                          </a:solidFill>
                        </a:rPr>
                        <a:t>365.8</a:t>
                      </a:r>
                    </a:p>
                  </a:txBody>
                  <a:tcPr>
                    <a:solidFill>
                      <a:srgbClr val="F5F7FA"/>
                    </a:solidFill>
                  </a:tcPr>
                </a:tc>
                <a:tc>
                  <a:txBody>
                    <a:bodyPr/>
                    <a:lstStyle/>
                    <a:p>
                      <a:pPr algn="ctr"/>
                      <a:r>
                        <a:rPr sz="750" b="0">
                          <a:solidFill>
                            <a:srgbClr val="1A1A1A"/>
                          </a:solidFill>
                        </a:rPr>
                        <a:t>&lt; 302.2</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BLK</a:t>
                      </a:r>
                    </a:p>
                  </a:txBody>
                  <a:tcPr>
                    <a:noFill/>
                  </a:tcPr>
                </a:tc>
                <a:tc>
                  <a:txBody>
                    <a:bodyPr/>
                    <a:lstStyle/>
                    <a:p>
                      <a:pPr algn="ctr"/>
                      <a:r>
                        <a:rPr sz="750" b="0">
                          <a:solidFill>
                            <a:srgbClr val="1A1A1A"/>
                          </a:solidFill>
                        </a:rPr>
                        <a:t>BlackRock, Inc.</a:t>
                      </a:r>
                    </a:p>
                  </a:txBody>
                  <a:tcPr>
                    <a:noFill/>
                  </a:tcPr>
                </a:tc>
                <a:tc>
                  <a:txBody>
                    <a:bodyPr/>
                    <a:lstStyle/>
                    <a:p>
                      <a:pPr algn="ctr"/>
                      <a:r>
                        <a:rPr sz="750" b="0">
                          <a:solidFill>
                            <a:srgbClr val="1A1A1A"/>
                          </a:solidFill>
                        </a:rPr>
                        <a:t>1009.0</a:t>
                      </a:r>
                    </a:p>
                  </a:txBody>
                  <a:tcPr>
                    <a:noFill/>
                  </a:tcPr>
                </a:tc>
                <a:tc>
                  <a:txBody>
                    <a:bodyPr/>
                    <a:lstStyle/>
                    <a:p>
                      <a:pPr algn="ctr"/>
                      <a:r>
                        <a:rPr sz="750" b="0">
                          <a:solidFill>
                            <a:srgbClr val="1A1A1A"/>
                          </a:solidFill>
                        </a:rPr>
                        <a:t>1160.3</a:t>
                      </a:r>
                    </a:p>
                  </a:txBody>
                  <a:tcPr>
                    <a:noFill/>
                  </a:tcPr>
                </a:tc>
                <a:tc>
                  <a:txBody>
                    <a:bodyPr/>
                    <a:lstStyle/>
                    <a:p>
                      <a:pPr algn="ctr"/>
                      <a:r>
                        <a:rPr sz="750" b="0">
                          <a:solidFill>
                            <a:srgbClr val="1A1A1A"/>
                          </a:solidFill>
                        </a:rPr>
                        <a:t>&lt; 958.5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JPM</a:t>
                      </a:r>
                    </a:p>
                  </a:txBody>
                  <a:tcPr>
                    <a:solidFill>
                      <a:srgbClr val="F5F7FA"/>
                    </a:solidFill>
                  </a:tcPr>
                </a:tc>
                <a:tc>
                  <a:txBody>
                    <a:bodyPr/>
                    <a:lstStyle/>
                    <a:p>
                      <a:pPr algn="ctr"/>
                      <a:r>
                        <a:rPr sz="750" b="0">
                          <a:solidFill>
                            <a:srgbClr val="1A1A1A"/>
                          </a:solidFill>
                        </a:rPr>
                        <a:t>JPMorgan Chase &amp; Co.</a:t>
                      </a:r>
                    </a:p>
                  </a:txBody>
                  <a:tcPr>
                    <a:solidFill>
                      <a:srgbClr val="F5F7FA"/>
                    </a:solidFill>
                  </a:tcPr>
                </a:tc>
                <a:tc>
                  <a:txBody>
                    <a:bodyPr/>
                    <a:lstStyle/>
                    <a:p>
                      <a:pPr algn="ctr"/>
                      <a:r>
                        <a:rPr sz="750" b="0">
                          <a:solidFill>
                            <a:srgbClr val="1A1A1A"/>
                          </a:solidFill>
                        </a:rPr>
                        <a:t>310.54</a:t>
                      </a:r>
                    </a:p>
                  </a:txBody>
                  <a:tcPr>
                    <a:solidFill>
                      <a:srgbClr val="F5F7FA"/>
                    </a:solidFill>
                  </a:tcPr>
                </a:tc>
                <a:tc>
                  <a:txBody>
                    <a:bodyPr/>
                    <a:lstStyle/>
                    <a:p>
                      <a:pPr algn="ctr"/>
                      <a:r>
                        <a:rPr sz="750" b="0">
                          <a:solidFill>
                            <a:srgbClr val="1A1A1A"/>
                          </a:solidFill>
                        </a:rPr>
                        <a:t>357.1</a:t>
                      </a:r>
                    </a:p>
                  </a:txBody>
                  <a:tcPr>
                    <a:solidFill>
                      <a:srgbClr val="F5F7FA"/>
                    </a:solidFill>
                  </a:tcPr>
                </a:tc>
                <a:tc>
                  <a:txBody>
                    <a:bodyPr/>
                    <a:lstStyle/>
                    <a:p>
                      <a:pPr algn="ctr"/>
                      <a:r>
                        <a:rPr sz="750" b="0">
                          <a:solidFill>
                            <a:srgbClr val="1A1A1A"/>
                          </a:solidFill>
                        </a:rPr>
                        <a:t>&lt; 295.0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304800"/>
            <a:ext cx="8496000" cy="90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304800"/>
            <a:ext cx="36000" cy="90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333600"/>
            <a:ext cx="8316000" cy="180000"/>
          </a:xfrm>
          <a:prstGeom prst="rect">
            <a:avLst/>
          </a:prstGeom>
          <a:noFill/>
        </p:spPr>
        <p:txBody>
          <a:bodyPr wrap="square">
            <a:spAutoFit/>
          </a:bodyPr>
          <a:lstStyle/>
          <a:p>
            <a:pPr algn="l"/>
            <a:r>
              <a:rPr sz="750" b="1" i="0">
                <a:solidFill>
                  <a:srgbClr val="B06000"/>
                </a:solidFill>
              </a:rPr>
              <a:t>NOTE METHODOLOGIQUE</a:t>
            </a:r>
          </a:p>
        </p:txBody>
      </p:sp>
      <p:sp>
        <p:nvSpPr>
          <p:cNvPr id="22" name="TextBox 21"/>
          <p:cNvSpPr txBox="1"/>
          <p:nvPr/>
        </p:nvSpPr>
        <p:spPr>
          <a:xfrm>
            <a:off x="468000" y="3520800"/>
            <a:ext cx="8316000" cy="666000"/>
          </a:xfrm>
          <a:prstGeom prst="rect">
            <a:avLst/>
          </a:prstGeom>
          <a:noFill/>
        </p:spPr>
        <p:txBody>
          <a:bodyPr wrap="square">
            <a:spAutoFit/>
          </a:bodyPr>
          <a:lstStyle/>
          <a:p>
            <a:pPr algn="l"/>
            <a:r>
              <a:rPr sz="750" b="0" i="0">
                <a:solidFill>
                  <a:srgbClr val="555555"/>
                </a:solidFill>
              </a:rPr>
              <a:t>La probabilité de rendement positif a 12 mois est calculée sur des configurations similaires identifiees en backtesting sur Données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Crédit</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Un durcissement inattendu des conditions de crédit pourrait peser sur les marges des banques commerciales comme C, notamment dans les segments des PME et des particuliers.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Géopolitique</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Les tensions commerciales persistantes entre les États-Unis et la Chine menacent les revenus des banques d'investissement exposées aux flux transpacifiques.</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Cyber</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L'augmentation des cyberattaques ciblant les infrastructures financières pourrait entraîner des coûts de conformité et de réparation significatifs.</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Récession confirmee — 2 trimestrès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65 — dégradation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Révision baissière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Réglementaire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08000"/>
            <a:ext cx="8496000" cy="198000"/>
          </a:xfrm>
          <a:prstGeom prst="rect">
            <a:avLst/>
          </a:prstGeom>
          <a:noFill/>
        </p:spPr>
        <p:txBody>
          <a:bodyPr wrap="square">
            <a:spAutoFit/>
          </a:bodyPr>
          <a:lstStyle/>
          <a:p>
            <a:pPr algn="l"/>
            <a:r>
              <a:rPr sz="850" b="1" i="0">
                <a:solidFill>
                  <a:srgbClr val="1B3A6B"/>
                </a:solidFill>
              </a:rPr>
              <a:t>Sante financière agregee du secteur</a:t>
            </a:r>
          </a:p>
        </p:txBody>
      </p:sp>
      <p:sp>
        <p:nvSpPr>
          <p:cNvPr id="30" name="Rectangle 29"/>
          <p:cNvSpPr/>
          <p:nvPr/>
        </p:nvSpPr>
        <p:spPr>
          <a:xfrm>
            <a:off x="324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24000"/>
            <a:ext cx="36000" cy="79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3960000"/>
            <a:ext cx="2538000" cy="360000"/>
          </a:xfrm>
          <a:prstGeom prst="rect">
            <a:avLst/>
          </a:prstGeom>
          <a:noFill/>
        </p:spPr>
        <p:txBody>
          <a:bodyPr wrap="square">
            <a:spAutoFit/>
          </a:bodyPr>
          <a:lstStyle/>
          <a:p>
            <a:pPr algn="l"/>
            <a:r>
              <a:rPr sz="2200" b="1" i="0">
                <a:solidFill>
                  <a:srgbClr val="1B3A6B"/>
                </a:solidFill>
              </a:rPr>
              <a:t>N/D</a:t>
            </a:r>
          </a:p>
        </p:txBody>
      </p:sp>
      <p:sp>
        <p:nvSpPr>
          <p:cNvPr id="33" name="TextBox 32"/>
          <p:cNvSpPr txBox="1"/>
          <p:nvPr/>
        </p:nvSpPr>
        <p:spPr>
          <a:xfrm>
            <a:off x="413999" y="4338000"/>
            <a:ext cx="2538000" cy="162000"/>
          </a:xfrm>
          <a:prstGeom prst="rect">
            <a:avLst/>
          </a:prstGeom>
          <a:noFill/>
        </p:spPr>
        <p:txBody>
          <a:bodyPr wrap="square">
            <a:spAutoFit/>
          </a:bodyPr>
          <a:lstStyle/>
          <a:p>
            <a:pPr algn="l"/>
            <a:r>
              <a:rPr sz="850" b="0" i="0">
                <a:solidFill>
                  <a:srgbClr val="555555"/>
                </a:solidFill>
              </a:rPr>
              <a:t>ND/EBITDA Médian</a:t>
            </a:r>
          </a:p>
        </p:txBody>
      </p:sp>
      <p:sp>
        <p:nvSpPr>
          <p:cNvPr id="34" name="TextBox 33"/>
          <p:cNvSpPr txBox="1"/>
          <p:nvPr/>
        </p:nvSpPr>
        <p:spPr>
          <a:xfrm>
            <a:off x="413999" y="4500000"/>
            <a:ext cx="2538000" cy="144000"/>
          </a:xfrm>
          <a:prstGeom prst="rect">
            <a:avLst/>
          </a:prstGeom>
          <a:noFill/>
        </p:spPr>
        <p:txBody>
          <a:bodyPr wrap="square">
            <a:spAutoFit/>
          </a:bodyPr>
          <a:lstStyle/>
          <a:p>
            <a:pPr algn="l"/>
            <a:r>
              <a:rPr sz="800" b="0" i="0">
                <a:solidFill>
                  <a:srgbClr val="AAAAAA"/>
                </a:solidFill>
              </a:rPr>
              <a:t>levier sectoriel</a:t>
            </a:r>
          </a:p>
        </p:txBody>
      </p:sp>
      <p:sp>
        <p:nvSpPr>
          <p:cNvPr id="35" name="Rectangle 34"/>
          <p:cNvSpPr/>
          <p:nvPr/>
        </p:nvSpPr>
        <p:spPr>
          <a:xfrm>
            <a:off x="3276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24000"/>
            <a:ext cx="36000" cy="79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3960000"/>
            <a:ext cx="2538000" cy="360000"/>
          </a:xfrm>
          <a:prstGeom prst="rect">
            <a:avLst/>
          </a:prstGeom>
          <a:noFill/>
        </p:spPr>
        <p:txBody>
          <a:bodyPr wrap="square">
            <a:spAutoFit/>
          </a:bodyPr>
          <a:lstStyle/>
          <a:p>
            <a:pPr algn="l"/>
            <a:r>
              <a:rPr sz="2200" b="1" i="0">
                <a:solidFill>
                  <a:srgbClr val="1B3A6B"/>
                </a:solidFill>
              </a:rPr>
              <a:t>4.5%</a:t>
            </a:r>
          </a:p>
        </p:txBody>
      </p:sp>
      <p:sp>
        <p:nvSpPr>
          <p:cNvPr id="38" name="TextBox 37"/>
          <p:cNvSpPr txBox="1"/>
          <p:nvPr/>
        </p:nvSpPr>
        <p:spPr>
          <a:xfrm>
            <a:off x="3366000" y="4338000"/>
            <a:ext cx="2538000" cy="162000"/>
          </a:xfrm>
          <a:prstGeom prst="rect">
            <a:avLst/>
          </a:prstGeom>
          <a:noFill/>
        </p:spPr>
        <p:txBody>
          <a:bodyPr wrap="square">
            <a:spAutoFit/>
          </a:bodyPr>
          <a:lstStyle/>
          <a:p>
            <a:pPr algn="l"/>
            <a:r>
              <a:rPr sz="850" b="0" i="0">
                <a:solidFill>
                  <a:srgbClr val="555555"/>
                </a:solidFill>
              </a:rPr>
              <a:t>FCF Yield Médian</a:t>
            </a:r>
          </a:p>
        </p:txBody>
      </p:sp>
      <p:sp>
        <p:nvSpPr>
          <p:cNvPr id="39" name="TextBox 38"/>
          <p:cNvSpPr txBox="1"/>
          <p:nvPr/>
        </p:nvSpPr>
        <p:spPr>
          <a:xfrm>
            <a:off x="3366000" y="4500000"/>
            <a:ext cx="2538000" cy="144000"/>
          </a:xfrm>
          <a:prstGeom prst="rect">
            <a:avLst/>
          </a:prstGeom>
          <a:noFill/>
        </p:spPr>
        <p:txBody>
          <a:bodyPr wrap="square">
            <a:spAutoFit/>
          </a:bodyPr>
          <a:lstStyle/>
          <a:p>
            <a:pPr algn="l"/>
            <a:r>
              <a:rPr sz="800" b="0" i="0">
                <a:solidFill>
                  <a:srgbClr val="AAAAAA"/>
                </a:solidFill>
              </a:rPr>
              <a:t>Génération cash</a:t>
            </a:r>
          </a:p>
        </p:txBody>
      </p:sp>
      <p:sp>
        <p:nvSpPr>
          <p:cNvPr id="40" name="Rectangle 39"/>
          <p:cNvSpPr/>
          <p:nvPr/>
        </p:nvSpPr>
        <p:spPr>
          <a:xfrm>
            <a:off x="6228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24000"/>
            <a:ext cx="36000" cy="79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3960000"/>
            <a:ext cx="2538000" cy="360000"/>
          </a:xfrm>
          <a:prstGeom prst="rect">
            <a:avLst/>
          </a:prstGeom>
          <a:noFill/>
        </p:spPr>
        <p:txBody>
          <a:bodyPr wrap="square">
            <a:spAutoFit/>
          </a:bodyPr>
          <a:lstStyle/>
          <a:p>
            <a:pPr algn="l"/>
            <a:r>
              <a:rPr sz="2200" b="1" i="0">
                <a:solidFill>
                  <a:srgbClr val="1B3A6B"/>
                </a:solidFill>
              </a:rPr>
              <a:t>79/100</a:t>
            </a:r>
          </a:p>
        </p:txBody>
      </p:sp>
      <p:sp>
        <p:nvSpPr>
          <p:cNvPr id="43" name="TextBox 42"/>
          <p:cNvSpPr txBox="1"/>
          <p:nvPr/>
        </p:nvSpPr>
        <p:spPr>
          <a:xfrm>
            <a:off x="6318000" y="4338000"/>
            <a:ext cx="2538000" cy="162000"/>
          </a:xfrm>
          <a:prstGeom prst="rect">
            <a:avLst/>
          </a:prstGeom>
          <a:noFill/>
        </p:spPr>
        <p:txBody>
          <a:bodyPr wrap="square">
            <a:spAutoFit/>
          </a:bodyPr>
          <a:lstStyle/>
          <a:p>
            <a:pPr algn="l"/>
            <a:r>
              <a:rPr sz="850" b="0" i="0">
                <a:solidFill>
                  <a:srgbClr val="555555"/>
                </a:solidFill>
              </a:rPr>
              <a:t>Score santé moyen</a:t>
            </a:r>
          </a:p>
        </p:txBody>
      </p:sp>
      <p:sp>
        <p:nvSpPr>
          <p:cNvPr id="44" name="TextBox 43"/>
          <p:cNvSpPr txBox="1"/>
          <p:nvPr/>
        </p:nvSpPr>
        <p:spPr>
          <a:xfrm>
            <a:off x="6318000" y="4500000"/>
            <a:ext cx="2538000" cy="144000"/>
          </a:xfrm>
          <a:prstGeom prst="rect">
            <a:avLst/>
          </a:prstGeom>
          <a:noFill/>
        </p:spPr>
        <p:txBody>
          <a:bodyPr wrap="square">
            <a:spAutoFit/>
          </a:bodyPr>
          <a:lstStyle/>
          <a:p>
            <a:pPr algn="l"/>
            <a:r>
              <a:rPr sz="800" b="0" i="0">
                <a:solidFill>
                  <a:srgbClr val="AAAAAA"/>
                </a:solidFill>
              </a:rPr>
              <a:t>solidité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Politiques monétaires — Les anticipations de baisses des taux de la Fed à partir de mi-2024 devraient soutenir la</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Crédit — Un durcissement inattendu des conditions de crédit pourrait peser sur les marges des</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Services Financiers (S&amp;P 500) ressort neutre (0.00), avec 25% d'articles a tonalité positive sur 8 analysés. La dispersion inter-valeurs est prononcée : JPM (+0.00) Porté la composanté haussière tandis que BLK (+0.00) reflète les pressions structurelles. Cette hétérogénéité valide une approche sélective plutôt que directionnelle sur le secteur — le sentiment moyen masque des situations fondamentalement différentes entre leaders et retardataires. La composanté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Boursière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S&amp;P 500  ·  Indexe a 100 au debut de la période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C  +97%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BLK  +12%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84 pts — 8 valeur(s) positives vs 0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INTERPRÉTATION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création de valeur tandis que d'autrès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complète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