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Technology</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Healthcare  ·  6 sociétés analysées</a:t>
            </a:r>
          </a:p>
        </p:txBody>
      </p:sp>
      <p:sp>
        <p:nvSpPr>
          <p:cNvPr id="7" name="Rectangle 6"/>
          <p:cNvSpPr/>
          <p:nvPr/>
        </p:nvSpPr>
        <p:spPr>
          <a:xfrm>
            <a:off x="3276000" y="3311999"/>
            <a:ext cx="255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NEUTRE</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08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Healthcare  ·  6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B06000"/>
                </a:solidFill>
              </a:rPr>
              <a:t>● NEUTRE</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11.8x  ·  Croissance med. : +8.8 %  ·  Marge EBITDA med. : 22.0 %  ·  Score moyen : 58/100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Adoption de l'IA générative</a:t>
            </a:r>
          </a:p>
        </p:txBody>
      </p:sp>
      <p:sp>
        <p:nvSpPr>
          <p:cNvPr id="24" name="TextBox 23"/>
          <p:cNvSpPr txBox="1"/>
          <p:nvPr/>
        </p:nvSpPr>
        <p:spPr>
          <a:xfrm>
            <a:off x="468000" y="1853999"/>
            <a:ext cx="3851999" cy="450000"/>
          </a:xfrm>
          <a:prstGeom prst="rect">
            <a:avLst/>
          </a:prstGeom>
          <a:noFill/>
        </p:spPr>
        <p:txBody>
          <a:bodyPr wrap="square">
            <a:spAutoFit/>
          </a:bodyPr>
          <a:lstStyle/>
          <a:p>
            <a:pPr algn="l"/>
            <a:r>
              <a:rPr sz="750" b="0" i="0">
                <a:solidFill>
                  <a:srgbClr val="555555"/>
                </a:solidFill>
              </a:rPr>
              <a:t>Les dépenses en solutions d'IA générative devraient croître de +35% en 2024, boostant les revenus des éditeurs de logiciels spécialisés comme TEC6.</a:t>
            </a:r>
          </a:p>
        </p:txBody>
      </p:sp>
      <p:sp>
        <p:nvSpPr>
          <p:cNvPr id="25" name="Rectangle 24"/>
          <p:cNvSpPr/>
          <p:nvPr/>
        </p:nvSpPr>
        <p:spPr>
          <a:xfrm>
            <a:off x="324000" y="2484000"/>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484000"/>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501999"/>
            <a:ext cx="3851999" cy="198000"/>
          </a:xfrm>
          <a:prstGeom prst="rect">
            <a:avLst/>
          </a:prstGeom>
          <a:noFill/>
        </p:spPr>
        <p:txBody>
          <a:bodyPr wrap="square">
            <a:spAutoFit/>
          </a:bodyPr>
          <a:lstStyle/>
          <a:p>
            <a:pPr algn="l"/>
            <a:r>
              <a:rPr sz="850" b="1" i="0">
                <a:solidFill>
                  <a:srgbClr val="1B3A6B"/>
                </a:solidFill>
              </a:rPr>
              <a:t>Cybersécurité</a:t>
            </a:r>
          </a:p>
        </p:txBody>
      </p:sp>
      <p:sp>
        <p:nvSpPr>
          <p:cNvPr id="28" name="TextBox 27"/>
          <p:cNvSpPr txBox="1"/>
          <p:nvPr/>
        </p:nvSpPr>
        <p:spPr>
          <a:xfrm>
            <a:off x="468000" y="2681999"/>
            <a:ext cx="3851999" cy="450000"/>
          </a:xfrm>
          <a:prstGeom prst="rect">
            <a:avLst/>
          </a:prstGeom>
          <a:noFill/>
        </p:spPr>
        <p:txBody>
          <a:bodyPr wrap="square">
            <a:spAutoFit/>
          </a:bodyPr>
          <a:lstStyle/>
          <a:p>
            <a:pPr algn="l"/>
            <a:r>
              <a:rPr sz="750" b="0" i="0">
                <a:solidFill>
                  <a:srgbClr val="555555"/>
                </a:solidFill>
              </a:rPr>
              <a:t>La hausse des cyberattaques (+20% en 2023) accélère les investissements des entreprises dans des solutions de sécurité avancées, bénéficiant aux acteurs comme TEC5.</a:t>
            </a:r>
          </a:p>
        </p:txBody>
      </p:sp>
      <p:sp>
        <p:nvSpPr>
          <p:cNvPr id="29" name="Rectangle 28"/>
          <p:cNvSpPr/>
          <p:nvPr/>
        </p:nvSpPr>
        <p:spPr>
          <a:xfrm>
            <a:off x="324000" y="3311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3311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3330000"/>
            <a:ext cx="3851999" cy="198000"/>
          </a:xfrm>
          <a:prstGeom prst="rect">
            <a:avLst/>
          </a:prstGeom>
          <a:noFill/>
        </p:spPr>
        <p:txBody>
          <a:bodyPr wrap="square">
            <a:spAutoFit/>
          </a:bodyPr>
          <a:lstStyle/>
          <a:p>
            <a:pPr algn="l"/>
            <a:r>
              <a:rPr sz="850" b="1" i="0">
                <a:solidFill>
                  <a:srgbClr val="1B3A6B"/>
                </a:solidFill>
              </a:rPr>
              <a:t>Edge Computing</a:t>
            </a:r>
          </a:p>
        </p:txBody>
      </p:sp>
      <p:sp>
        <p:nvSpPr>
          <p:cNvPr id="32" name="TextBox 31"/>
          <p:cNvSpPr txBox="1"/>
          <p:nvPr/>
        </p:nvSpPr>
        <p:spPr>
          <a:xfrm>
            <a:off x="468000" y="3510000"/>
            <a:ext cx="3851999" cy="450000"/>
          </a:xfrm>
          <a:prstGeom prst="rect">
            <a:avLst/>
          </a:prstGeom>
          <a:noFill/>
        </p:spPr>
        <p:txBody>
          <a:bodyPr wrap="square">
            <a:spAutoFit/>
          </a:bodyPr>
          <a:lstStyle/>
          <a:p>
            <a:pPr algn="l"/>
            <a:r>
              <a:rPr sz="750" b="0" i="0">
                <a:solidFill>
                  <a:srgbClr val="555555"/>
                </a:solidFill>
              </a:rPr>
              <a:t>Le déploiement des réseaux 5G et IoT stimule la demande pour des infrastructures edge, créant des opportunités pour les fournisseurs de TEC4.</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Régulation antitrust</a:t>
            </a:r>
          </a:p>
        </p:txBody>
      </p:sp>
      <p:sp>
        <p:nvSpPr>
          <p:cNvPr id="38" name="TextBox 37"/>
          <p:cNvSpPr txBox="1"/>
          <p:nvPr/>
        </p:nvSpPr>
        <p:spPr>
          <a:xfrm>
            <a:off x="4860000" y="1853999"/>
            <a:ext cx="3851999" cy="450000"/>
          </a:xfrm>
          <a:prstGeom prst="rect">
            <a:avLst/>
          </a:prstGeom>
          <a:noFill/>
        </p:spPr>
        <p:txBody>
          <a:bodyPr wrap="square">
            <a:spAutoFit/>
          </a:bodyPr>
          <a:lstStyle/>
          <a:p>
            <a:pPr algn="l"/>
            <a:r>
              <a:rPr sz="750" b="0" i="0">
                <a:solidFill>
                  <a:srgbClr val="555555"/>
                </a:solidFill>
              </a:rPr>
              <a:t>Les enquêtes accrues des régulateurs (UE, USA) sur les géants technologiques pourraient entraîner des amendes ou des restrictions opérationnelles.</a:t>
            </a:r>
          </a:p>
        </p:txBody>
      </p:sp>
      <p:sp>
        <p:nvSpPr>
          <p:cNvPr id="39" name="Rectangle 38"/>
          <p:cNvSpPr/>
          <p:nvPr/>
        </p:nvSpPr>
        <p:spPr>
          <a:xfrm>
            <a:off x="4716000" y="2484000"/>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484000"/>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501999"/>
            <a:ext cx="3851999" cy="198000"/>
          </a:xfrm>
          <a:prstGeom prst="rect">
            <a:avLst/>
          </a:prstGeom>
          <a:noFill/>
        </p:spPr>
        <p:txBody>
          <a:bodyPr wrap="square">
            <a:spAutoFit/>
          </a:bodyPr>
          <a:lstStyle/>
          <a:p>
            <a:pPr algn="l"/>
            <a:r>
              <a:rPr sz="850" b="1" i="0">
                <a:solidFill>
                  <a:srgbClr val="A82020"/>
                </a:solidFill>
              </a:rPr>
              <a:t>Concurrence asiatique</a:t>
            </a:r>
          </a:p>
        </p:txBody>
      </p:sp>
      <p:sp>
        <p:nvSpPr>
          <p:cNvPr id="42" name="TextBox 41"/>
          <p:cNvSpPr txBox="1"/>
          <p:nvPr/>
        </p:nvSpPr>
        <p:spPr>
          <a:xfrm>
            <a:off x="4860000" y="2681999"/>
            <a:ext cx="3851999" cy="450000"/>
          </a:xfrm>
          <a:prstGeom prst="rect">
            <a:avLst/>
          </a:prstGeom>
          <a:noFill/>
        </p:spPr>
        <p:txBody>
          <a:bodyPr wrap="square">
            <a:spAutoFit/>
          </a:bodyPr>
          <a:lstStyle/>
          <a:p>
            <a:pPr algn="l"/>
            <a:r>
              <a:rPr sz="750" b="0" i="0">
                <a:solidFill>
                  <a:srgbClr val="555555"/>
                </a:solidFill>
              </a:rPr>
              <a:t>La montée en puissance des acteurs chinois (ex: Huawei, ByteDance) exerce une pression tarifaire sur les marges des entreprises occidentales.</a:t>
            </a:r>
          </a:p>
        </p:txBody>
      </p:sp>
      <p:sp>
        <p:nvSpPr>
          <p:cNvPr id="43" name="Rectangle 42"/>
          <p:cNvSpPr/>
          <p:nvPr/>
        </p:nvSpPr>
        <p:spPr>
          <a:xfrm>
            <a:off x="4716000" y="3311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3311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3330000"/>
            <a:ext cx="3851999" cy="198000"/>
          </a:xfrm>
          <a:prstGeom prst="rect">
            <a:avLst/>
          </a:prstGeom>
          <a:noFill/>
        </p:spPr>
        <p:txBody>
          <a:bodyPr wrap="square">
            <a:spAutoFit/>
          </a:bodyPr>
          <a:lstStyle/>
          <a:p>
            <a:pPr algn="l"/>
            <a:r>
              <a:rPr sz="850" b="1" i="0">
                <a:solidFill>
                  <a:srgbClr val="A82020"/>
                </a:solidFill>
              </a:rPr>
              <a:t>Volatilité des taux</a:t>
            </a:r>
          </a:p>
        </p:txBody>
      </p:sp>
      <p:sp>
        <p:nvSpPr>
          <p:cNvPr id="46" name="TextBox 45"/>
          <p:cNvSpPr txBox="1"/>
          <p:nvPr/>
        </p:nvSpPr>
        <p:spPr>
          <a:xfrm>
            <a:off x="4860000" y="3510000"/>
            <a:ext cx="3851999" cy="450000"/>
          </a:xfrm>
          <a:prstGeom prst="rect">
            <a:avLst/>
          </a:prstGeom>
          <a:noFill/>
        </p:spPr>
        <p:txBody>
          <a:bodyPr wrap="square">
            <a:spAutoFit/>
          </a:bodyPr>
          <a:lstStyle/>
          <a:p>
            <a:pPr algn="l"/>
            <a:r>
              <a:rPr sz="750" b="0" i="0">
                <a:solidFill>
                  <a:srgbClr val="555555"/>
                </a:solidFill>
              </a:rPr>
              <a:t>Une hausse prolongée des taux d'intérêt augmenterait le coût du capital, pesant sur les valorisations des entreprises à forte croissance.</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11.8x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+8.8 %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22.0 %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+12.5 %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Healthcare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Présentation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Sociétés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6 sociétés · Scatter valorisation · Scores FinSight détaillés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Présentation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Présentation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1620000"/>
          </a:xfrm>
          <a:prstGeom prst="rect">
            <a:avLst/>
          </a:prstGeom>
          <a:noFill/>
        </p:spPr>
        <p:txBody>
          <a:bodyPr wrap="square">
            <a:spAutoFit/>
          </a:bodyPr>
          <a:lstStyle/>
          <a:p>
            <a:pPr algn="l"/>
            <a:r>
              <a:rPr sz="900" b="0" i="0">
                <a:solidFill>
                  <a:srgbClr val="555555"/>
                </a:solidFill>
              </a:rPr>
              <a:t>Le secteur Technology affiche une valorisation modérée avec un EV/EBITDA médian de 11.8x, aligné sur une croissance des revenus de +8.8% et une marge EBITDA solide de 22.0%, reflétant une résilience post-pandémie malgré des pressions sur les coûts d'infrastructure cloud.</a:t>
            </a:r>
          </a:p>
        </p:txBody>
      </p:sp>
      <p:sp>
        <p:nvSpPr>
          <p:cNvPr id="18" name="Rectangle 17"/>
          <p:cNvSpPr/>
          <p:nvPr/>
        </p:nvSpPr>
        <p:spPr>
          <a:xfrm>
            <a:off x="396000" y="2700000"/>
            <a:ext cx="4788000" cy="16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6000" y="2718000"/>
            <a:ext cx="4788000" cy="144000"/>
          </a:xfrm>
          <a:prstGeom prst="rect">
            <a:avLst/>
          </a:prstGeom>
          <a:noFill/>
        </p:spPr>
        <p:txBody>
          <a:bodyPr wrap="square">
            <a:spAutoFit/>
          </a:bodyPr>
          <a:lstStyle/>
          <a:p>
            <a:pPr algn="ctr"/>
            <a:r>
              <a:rPr sz="800" b="1" i="0">
                <a:solidFill>
                  <a:srgbClr val="FFFFFF"/>
                </a:solidFill>
              </a:rPr>
              <a:t>CATALYSEURS CLES</a:t>
            </a:r>
          </a:p>
        </p:txBody>
      </p:sp>
      <p:sp>
        <p:nvSpPr>
          <p:cNvPr id="20" name="Rectangle 19"/>
          <p:cNvSpPr/>
          <p:nvPr/>
        </p:nvSpPr>
        <p:spPr>
          <a:xfrm>
            <a:off x="486000" y="2898000"/>
            <a:ext cx="28800" cy="48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000" y="2898000"/>
            <a:ext cx="4500000" cy="162000"/>
          </a:xfrm>
          <a:prstGeom prst="rect">
            <a:avLst/>
          </a:prstGeom>
          <a:noFill/>
        </p:spPr>
        <p:txBody>
          <a:bodyPr wrap="square">
            <a:spAutoFit/>
          </a:bodyPr>
          <a:lstStyle/>
          <a:p>
            <a:pPr algn="l"/>
            <a:r>
              <a:rPr sz="850" b="1" i="0">
                <a:solidFill>
                  <a:srgbClr val="1B3A6B"/>
                </a:solidFill>
              </a:rPr>
              <a:t>Adoption de l'IA générative</a:t>
            </a:r>
          </a:p>
        </p:txBody>
      </p:sp>
      <p:sp>
        <p:nvSpPr>
          <p:cNvPr id="22" name="TextBox 21"/>
          <p:cNvSpPr txBox="1"/>
          <p:nvPr/>
        </p:nvSpPr>
        <p:spPr>
          <a:xfrm>
            <a:off x="594000" y="3060000"/>
            <a:ext cx="4500000" cy="378000"/>
          </a:xfrm>
          <a:prstGeom prst="rect">
            <a:avLst/>
          </a:prstGeom>
          <a:noFill/>
        </p:spPr>
        <p:txBody>
          <a:bodyPr wrap="square">
            <a:spAutoFit/>
          </a:bodyPr>
          <a:lstStyle/>
          <a:p>
            <a:pPr algn="l"/>
            <a:r>
              <a:rPr sz="800" b="0" i="0">
                <a:solidFill>
                  <a:srgbClr val="555555"/>
                </a:solidFill>
              </a:rPr>
              <a:t>Les dépenses en solutions d'IA générative devraient croître de +35% en 2024, boostant les revenus des éditeurs de logiciels spécialisés comme TEC6.</a:t>
            </a:r>
          </a:p>
        </p:txBody>
      </p:sp>
      <p:sp>
        <p:nvSpPr>
          <p:cNvPr id="23" name="Rectangle 22"/>
          <p:cNvSpPr/>
          <p:nvPr/>
        </p:nvSpPr>
        <p:spPr>
          <a:xfrm>
            <a:off x="486000" y="3438000"/>
            <a:ext cx="28800" cy="48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000" y="3438000"/>
            <a:ext cx="4500000" cy="162000"/>
          </a:xfrm>
          <a:prstGeom prst="rect">
            <a:avLst/>
          </a:prstGeom>
          <a:noFill/>
        </p:spPr>
        <p:txBody>
          <a:bodyPr wrap="square">
            <a:spAutoFit/>
          </a:bodyPr>
          <a:lstStyle/>
          <a:p>
            <a:pPr algn="l"/>
            <a:r>
              <a:rPr sz="850" b="1" i="0">
                <a:solidFill>
                  <a:srgbClr val="1B3A6B"/>
                </a:solidFill>
              </a:rPr>
              <a:t>Cybersécurité</a:t>
            </a:r>
          </a:p>
        </p:txBody>
      </p:sp>
      <p:sp>
        <p:nvSpPr>
          <p:cNvPr id="25" name="TextBox 24"/>
          <p:cNvSpPr txBox="1"/>
          <p:nvPr/>
        </p:nvSpPr>
        <p:spPr>
          <a:xfrm>
            <a:off x="594000" y="3600000"/>
            <a:ext cx="4500000" cy="378000"/>
          </a:xfrm>
          <a:prstGeom prst="rect">
            <a:avLst/>
          </a:prstGeom>
          <a:noFill/>
        </p:spPr>
        <p:txBody>
          <a:bodyPr wrap="square">
            <a:spAutoFit/>
          </a:bodyPr>
          <a:lstStyle/>
          <a:p>
            <a:pPr algn="l"/>
            <a:r>
              <a:rPr sz="800" b="0" i="0">
                <a:solidFill>
                  <a:srgbClr val="555555"/>
                </a:solidFill>
              </a:rPr>
              <a:t>La hausse des cyberattaques (+20% en 2023) accélère les investissements des entreprises dans des solutions de sécurité avancées, bénéficiant aux acteurs comme TEC5.</a:t>
            </a:r>
          </a:p>
        </p:txBody>
      </p:sp>
      <p:sp>
        <p:nvSpPr>
          <p:cNvPr id="26" name="Rectangle 25"/>
          <p:cNvSpPr/>
          <p:nvPr/>
        </p:nvSpPr>
        <p:spPr>
          <a:xfrm>
            <a:off x="486000" y="3978000"/>
            <a:ext cx="28800" cy="48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000" y="3978000"/>
            <a:ext cx="4500000" cy="162000"/>
          </a:xfrm>
          <a:prstGeom prst="rect">
            <a:avLst/>
          </a:prstGeom>
          <a:noFill/>
        </p:spPr>
        <p:txBody>
          <a:bodyPr wrap="square">
            <a:spAutoFit/>
          </a:bodyPr>
          <a:lstStyle/>
          <a:p>
            <a:pPr algn="l"/>
            <a:r>
              <a:rPr sz="850" b="1" i="0">
                <a:solidFill>
                  <a:srgbClr val="1B3A6B"/>
                </a:solidFill>
              </a:rPr>
              <a:t>Edge Computing</a:t>
            </a:r>
          </a:p>
        </p:txBody>
      </p:sp>
      <p:sp>
        <p:nvSpPr>
          <p:cNvPr id="28" name="TextBox 27"/>
          <p:cNvSpPr txBox="1"/>
          <p:nvPr/>
        </p:nvSpPr>
        <p:spPr>
          <a:xfrm>
            <a:off x="594000" y="4140000"/>
            <a:ext cx="4500000" cy="378000"/>
          </a:xfrm>
          <a:prstGeom prst="rect">
            <a:avLst/>
          </a:prstGeom>
          <a:noFill/>
        </p:spPr>
        <p:txBody>
          <a:bodyPr wrap="square">
            <a:spAutoFit/>
          </a:bodyPr>
          <a:lstStyle/>
          <a:p>
            <a:pPr algn="l"/>
            <a:r>
              <a:rPr sz="800" b="0" i="0">
                <a:solidFill>
                  <a:srgbClr val="555555"/>
                </a:solidFill>
              </a:rPr>
              <a:t>Le déploiement des réseaux 5G et IoT stimule la demande pour des infrastructures edge, créant des opportunités pour les fournisseurs de TEC4.</a:t>
            </a:r>
          </a:p>
        </p:txBody>
      </p:sp>
      <p:graphicFrame>
        <p:nvGraphicFramePr>
          <p:cNvPr id="29" name="Table 28"/>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Métrique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EV/EBITDA</a:t>
                      </a:r>
                    </a:p>
                  </a:txBody>
                  <a:tcPr>
                    <a:noFill/>
                  </a:tcPr>
                </a:tc>
                <a:tc>
                  <a:txBody>
                    <a:bodyPr/>
                    <a:lstStyle/>
                    <a:p>
                      <a:pPr algn="ctr"/>
                      <a:r>
                        <a:rPr sz="750" b="0">
                          <a:solidFill>
                            <a:srgbClr val="1A1A1A"/>
                          </a:solidFill>
                        </a:rPr>
                        <a:t>11.8x</a:t>
                      </a:r>
                    </a:p>
                  </a:txBody>
                  <a:tcPr>
                    <a:noFill/>
                  </a:tcPr>
                </a:tc>
                <a:tc>
                  <a:txBody>
                    <a:bodyPr/>
                    <a:lstStyle/>
                    <a:p>
                      <a:pPr algn="ctr"/>
                      <a:r>
                        <a:rPr sz="750" b="0">
                          <a:solidFill>
                            <a:srgbClr val="1A1A1A"/>
                          </a:solidFill>
                        </a:rPr>
                        <a:t>Médiane secteur</a:t>
                      </a:r>
                    </a:p>
                  </a:txBody>
                  <a:tcPr>
                    <a:noFill/>
                  </a:tcPr>
                </a:tc>
              </a:tr>
              <a:tr h="208799">
                <a:tc>
                  <a:txBody>
                    <a:bodyPr/>
                    <a:lstStyle/>
                    <a:p>
                      <a:pPr algn="ctr"/>
                      <a:r>
                        <a:rPr sz="750" b="0">
                          <a:solidFill>
                            <a:srgbClr val="1A1A1A"/>
                          </a:solidFill>
                        </a:rPr>
                        <a:t>Mg EBITDA</a:t>
                      </a:r>
                    </a:p>
                  </a:txBody>
                  <a:tcPr>
                    <a:solidFill>
                      <a:srgbClr val="F5F7FA"/>
                    </a:solidFill>
                  </a:tcPr>
                </a:tc>
                <a:tc>
                  <a:txBody>
                    <a:bodyPr/>
                    <a:lstStyle/>
                    <a:p>
                      <a:pPr algn="ctr"/>
                      <a:r>
                        <a:rPr sz="750" b="0">
                          <a:solidFill>
                            <a:srgbClr val="1A1A1A"/>
                          </a:solidFill>
                        </a:rPr>
                        <a:t>22.0 %</a:t>
                      </a:r>
                    </a:p>
                  </a:txBody>
                  <a:tcPr>
                    <a:solidFill>
                      <a:srgbClr val="F5F7FA"/>
                    </a:solidFill>
                  </a:tcPr>
                </a:tc>
                <a:tc>
                  <a:txBody>
                    <a:bodyPr/>
                    <a:lstStyle/>
                    <a:p>
                      <a:pPr algn="ctr"/>
                      <a:r>
                        <a:rPr sz="750" b="0">
                          <a:solidFill>
                            <a:srgbClr val="1A1A1A"/>
                          </a:solidFill>
                        </a:rPr>
                        <a:t>LTM</a:t>
                      </a:r>
                    </a:p>
                  </a:txBody>
                  <a:tcPr>
                    <a:solidFill>
                      <a:srgbClr val="F5F7FA"/>
                    </a:solidFill>
                  </a:tcPr>
                </a:tc>
              </a:tr>
              <a:tr h="208799">
                <a:tc>
                  <a:txBody>
                    <a:bodyPr/>
                    <a:lstStyle/>
                    <a:p>
                      <a:pPr algn="ctr"/>
                      <a:r>
                        <a:rPr sz="750" b="0">
                          <a:solidFill>
                            <a:srgbClr val="1A1A1A"/>
                          </a:solidFill>
                        </a:rPr>
                        <a:t>Croissance</a:t>
                      </a:r>
                    </a:p>
                  </a:txBody>
                  <a:tcPr>
                    <a:noFill/>
                  </a:tcPr>
                </a:tc>
                <a:tc>
                  <a:txBody>
                    <a:bodyPr/>
                    <a:lstStyle/>
                    <a:p>
                      <a:pPr algn="ctr"/>
                      <a:r>
                        <a:rPr sz="750" b="0">
                          <a:solidFill>
                            <a:srgbClr val="1A1A1A"/>
                          </a:solidFill>
                        </a:rPr>
                        <a:t>+8.8 %</a:t>
                      </a:r>
                    </a:p>
                  </a:txBody>
                  <a:tcPr>
                    <a:noFill/>
                  </a:tcPr>
                </a:tc>
                <a:tc>
                  <a:txBody>
                    <a:bodyPr/>
                    <a:lstStyle/>
                    <a:p>
                      <a:pPr algn="ctr"/>
                      <a:r>
                        <a:rPr sz="750" b="0">
                          <a:solidFill>
                            <a:srgbClr val="1A1A1A"/>
                          </a:solidFill>
                        </a:rPr>
                        <a:t>YoY</a:t>
                      </a:r>
                    </a:p>
                  </a:txBody>
                  <a:tcPr>
                    <a:noFill/>
                  </a:tcPr>
                </a:tc>
              </a:tr>
              <a:tr h="208799">
                <a:tc>
                  <a:txBody>
                    <a:bodyPr/>
                    <a:lstStyle/>
                    <a:p>
                      <a:pPr algn="ctr"/>
                      <a:r>
                        <a:rPr sz="750" b="0">
                          <a:solidFill>
                            <a:srgbClr val="1A1A1A"/>
                          </a:solidFill>
                        </a:rPr>
                        <a:t>Momentum</a:t>
                      </a:r>
                    </a:p>
                  </a:txBody>
                  <a:tcPr>
                    <a:solidFill>
                      <a:srgbClr val="F5F7FA"/>
                    </a:solidFill>
                  </a:tcPr>
                </a:tc>
                <a:tc>
                  <a:txBody>
                    <a:bodyPr/>
                    <a:lstStyle/>
                    <a:p>
                      <a:pPr algn="ctr"/>
                      <a:r>
                        <a:rPr sz="750" b="0">
                          <a:solidFill>
                            <a:srgbClr val="1A1A1A"/>
                          </a:solidFill>
                        </a:rPr>
                        <a:t>+12.5 %</a:t>
                      </a:r>
                    </a:p>
                  </a:txBody>
                  <a:tcPr>
                    <a:solidFill>
                      <a:srgbClr val="F5F7FA"/>
                    </a:solidFill>
                  </a:tcPr>
                </a:tc>
                <a:tc>
                  <a:txBody>
                    <a:bodyPr/>
                    <a:lstStyle/>
                    <a:p>
                      <a:pPr algn="ctr"/>
                      <a:r>
                        <a:rPr sz="750" b="0">
                          <a:solidFill>
                            <a:srgbClr val="1A1A1A"/>
                          </a:solidFill>
                        </a:rPr>
                        <a:t>52W</a:t>
                      </a:r>
                    </a:p>
                  </a:txBody>
                  <a:tcPr>
                    <a:solidFill>
                      <a:srgbClr val="F5F7FA"/>
                    </a:solidFill>
                  </a:tcPr>
                </a:tc>
              </a:tr>
              <a:tr h="208799">
                <a:tc>
                  <a:txBody>
                    <a:bodyPr/>
                    <a:lstStyle/>
                    <a:p>
                      <a:pPr algn="ctr"/>
                      <a:r>
                        <a:rPr sz="750" b="0">
                          <a:solidFill>
                            <a:srgbClr val="1A1A1A"/>
                          </a:solidFill>
                        </a:rPr>
                        <a:t>Score Moyen</a:t>
                      </a:r>
                    </a:p>
                  </a:txBody>
                  <a:tcPr>
                    <a:noFill/>
                  </a:tcPr>
                </a:tc>
                <a:tc>
                  <a:txBody>
                    <a:bodyPr/>
                    <a:lstStyle/>
                    <a:p>
                      <a:pPr algn="ctr"/>
                      <a:r>
                        <a:rPr sz="750" b="0">
                          <a:solidFill>
                            <a:srgbClr val="1A1A1A"/>
                          </a:solidFill>
                        </a:rPr>
                        <a:t>58/100</a:t>
                      </a:r>
                    </a:p>
                  </a:txBody>
                  <a:tcPr>
                    <a:noFill/>
                  </a:tcPr>
                </a:tc>
                <a:tc>
                  <a:txBody>
                    <a:bodyPr/>
                    <a:lstStyle/>
                    <a:p>
                      <a:pPr algn="ctr"/>
                      <a:r>
                        <a:rPr sz="750" b="0">
                          <a:solidFill>
                            <a:srgbClr val="1A1A1A"/>
                          </a:solidFill>
                        </a:rPr>
                        <a:t>FinSight</a:t>
                      </a:r>
                    </a:p>
                  </a:txBody>
                  <a:tcPr>
                    <a:noFill/>
                  </a:tcPr>
                </a:tc>
              </a:tr>
              <a:tr h="208805">
                <a:tc>
                  <a:txBody>
                    <a:bodyPr/>
                    <a:lstStyle/>
                    <a:p>
                      <a:pPr algn="ctr"/>
                      <a:r>
                        <a:rPr sz="750" b="0">
                          <a:solidFill>
                            <a:srgbClr val="1A1A1A"/>
                          </a:solidFill>
                        </a:rPr>
                        <a:t>Nb Societes</a:t>
                      </a:r>
                    </a:p>
                  </a:txBody>
                  <a:tcPr>
                    <a:solidFill>
                      <a:srgbClr val="F5F7FA"/>
                    </a:solidFill>
                  </a:tcPr>
                </a:tc>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Analysees</a:t>
                      </a:r>
                    </a:p>
                  </a:txBody>
                  <a:tcPr>
                    <a:solidFill>
                      <a:srgbClr val="F5F7FA"/>
                    </a:solidFill>
                  </a:tcPr>
                </a:tc>
              </a:tr>
            </a:tbl>
          </a:graphicData>
        </a:graphic>
      </p:graphicFrame>
      <p:sp>
        <p:nvSpPr>
          <p:cNvPr id="30" name="Rectangle 2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Comparaison multiples LTM — 6 sociétés vs médiane sectorielle</a:t>
            </a:r>
          </a:p>
        </p:txBody>
      </p:sp>
      <p:graphicFrame>
        <p:nvGraphicFramePr>
          <p:cNvPr id="15" name="Table 14"/>
          <p:cNvGraphicFramePr>
            <a:graphicFrameLocks noGrp="1"/>
          </p:cNvGraphicFramePr>
          <p:nvPr/>
        </p:nvGraphicFramePr>
        <p:xfrm>
          <a:off x="324000" y="900000"/>
          <a:ext cx="8495998" cy="1584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Societe</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Technology Corp 6</a:t>
                      </a:r>
                    </a:p>
                  </a:txBody>
                  <a:tcPr>
                    <a:noFill/>
                  </a:tcPr>
                </a:tc>
                <a:tc>
                  <a:txBody>
                    <a:bodyPr/>
                    <a:lstStyle/>
                    <a:p>
                      <a:pPr algn="ctr"/>
                      <a:r>
                        <a:rPr sz="750" b="0">
                          <a:solidFill>
                            <a:srgbClr val="1A1A1A"/>
                          </a:solidFill>
                        </a:rPr>
                        <a:t>15.5x</a:t>
                      </a:r>
                    </a:p>
                  </a:txBody>
                  <a:tcPr>
                    <a:noFill/>
                  </a:tcPr>
                </a:tc>
                <a:tc>
                  <a:txBody>
                    <a:bodyPr/>
                    <a:lstStyle/>
                    <a:p>
                      <a:pPr algn="ctr"/>
                      <a:r>
                        <a:rPr sz="750" b="0">
                          <a:solidFill>
                            <a:srgbClr val="1A1A1A"/>
                          </a:solidFill>
                        </a:rPr>
                        <a:t>4.0x</a:t>
                      </a:r>
                    </a:p>
                  </a:txBody>
                  <a:tcPr>
                    <a:noFill/>
                  </a:tcPr>
                </a:tc>
                <a:tc>
                  <a:txBody>
                    <a:bodyPr/>
                    <a:lstStyle/>
                    <a:p>
                      <a:pPr algn="ctr"/>
                      <a:r>
                        <a:rPr sz="750" b="0">
                          <a:solidFill>
                            <a:srgbClr val="1A1A1A"/>
                          </a:solidFill>
                        </a:rPr>
                        <a:t>25.0x</a:t>
                      </a:r>
                    </a:p>
                  </a:txBody>
                  <a:tcPr>
                    <a:noFill/>
                  </a:tcPr>
                </a:tc>
                <a:tc>
                  <a:txBody>
                    <a:bodyPr/>
                    <a:lstStyle/>
                    <a:p>
                      <a:pPr algn="ctr"/>
                      <a:r>
                        <a:rPr sz="750" b="0">
                          <a:solidFill>
                            <a:srgbClr val="1A1A1A"/>
                          </a:solidFill>
                        </a:rPr>
                        <a:t>42.5 %</a:t>
                      </a:r>
                    </a:p>
                  </a:txBody>
                  <a:tcPr>
                    <a:noFill/>
                  </a:tcPr>
                </a:tc>
                <a:tc>
                  <a:txBody>
                    <a:bodyPr/>
                    <a:lstStyle/>
                    <a:p>
                      <a:pPr algn="ctr"/>
                      <a:r>
                        <a:rPr sz="750" b="0">
                          <a:solidFill>
                            <a:srgbClr val="1A1A1A"/>
                          </a:solidFill>
                        </a:rPr>
                        <a:t>24.0 %</a:t>
                      </a:r>
                    </a:p>
                  </a:txBody>
                  <a:tcPr>
                    <a:noFill/>
                  </a:tcPr>
                </a:tc>
                <a:tc>
                  <a:txBody>
                    <a:bodyPr/>
                    <a:lstStyle/>
                    <a:p>
                      <a:pPr algn="ctr"/>
                      <a:r>
                        <a:rPr sz="750" b="0">
                          <a:solidFill>
                            <a:srgbClr val="1A1A1A"/>
                          </a:solidFill>
                        </a:rPr>
                        <a:t>20.0 %</a:t>
                      </a:r>
                    </a:p>
                  </a:txBody>
                  <a:tcPr>
                    <a:noFill/>
                  </a:tcPr>
                </a:tc>
              </a:tr>
              <a:tr h="198000">
                <a:tc>
                  <a:txBody>
                    <a:bodyPr/>
                    <a:lstStyle/>
                    <a:p>
                      <a:pPr algn="ctr"/>
                      <a:r>
                        <a:rPr sz="750" b="0">
                          <a:solidFill>
                            <a:srgbClr val="1A1A1A"/>
                          </a:solidFill>
                        </a:rPr>
                        <a:t>Technology Corp 5</a:t>
                      </a:r>
                    </a:p>
                  </a:txBody>
                  <a:tcPr>
                    <a:solidFill>
                      <a:srgbClr val="F5F7FA"/>
                    </a:solidFill>
                  </a:tcPr>
                </a:tc>
                <a:tc>
                  <a:txBody>
                    <a:bodyPr/>
                    <a:lstStyle/>
                    <a:p>
                      <a:pPr algn="ctr"/>
                      <a:r>
                        <a:rPr sz="750" b="0">
                          <a:solidFill>
                            <a:srgbClr val="1A1A1A"/>
                          </a:solidFill>
                        </a:rPr>
                        <a:t>14.0x</a:t>
                      </a:r>
                    </a:p>
                  </a:txBody>
                  <a:tcPr>
                    <a:solidFill>
                      <a:srgbClr val="F5F7FA"/>
                    </a:solidFill>
                  </a:tcPr>
                </a:tc>
                <a:tc>
                  <a:txBody>
                    <a:bodyPr/>
                    <a:lstStyle/>
                    <a:p>
                      <a:pPr algn="ctr"/>
                      <a:r>
                        <a:rPr sz="750" b="0">
                          <a:solidFill>
                            <a:srgbClr val="1A1A1A"/>
                          </a:solidFill>
                        </a:rPr>
                        <a:t>3.6x</a:t>
                      </a:r>
                    </a:p>
                  </a:txBody>
                  <a:tcPr>
                    <a:solidFill>
                      <a:srgbClr val="F5F7FA"/>
                    </a:solidFill>
                  </a:tcPr>
                </a:tc>
                <a:tc>
                  <a:txBody>
                    <a:bodyPr/>
                    <a:lstStyle/>
                    <a:p>
                      <a:pPr algn="ctr"/>
                      <a:r>
                        <a:rPr sz="750" b="0">
                          <a:solidFill>
                            <a:srgbClr val="1A1A1A"/>
                          </a:solidFill>
                        </a:rPr>
                        <a:t>23.0x</a:t>
                      </a:r>
                    </a:p>
                  </a:txBody>
                  <a:tcPr>
                    <a:solidFill>
                      <a:srgbClr val="F5F7FA"/>
                    </a:solidFill>
                  </a:tcPr>
                </a:tc>
                <a:tc>
                  <a:txBody>
                    <a:bodyPr/>
                    <a:lstStyle/>
                    <a:p>
                      <a:pPr algn="ctr"/>
                      <a:r>
                        <a:rPr sz="750" b="0">
                          <a:solidFill>
                            <a:srgbClr val="1A1A1A"/>
                          </a:solidFill>
                        </a:rPr>
                        <a:t>42.0 %</a:t>
                      </a:r>
                    </a:p>
                  </a:txBody>
                  <a:tcPr>
                    <a:solidFill>
                      <a:srgbClr val="F5F7FA"/>
                    </a:solidFill>
                  </a:tcPr>
                </a:tc>
                <a:tc>
                  <a:txBody>
                    <a:bodyPr/>
                    <a:lstStyle/>
                    <a:p>
                      <a:pPr algn="ctr"/>
                      <a:r>
                        <a:rPr sz="750" b="0">
                          <a:solidFill>
                            <a:srgbClr val="1A1A1A"/>
                          </a:solidFill>
                        </a:rPr>
                        <a:t>23.2 %</a:t>
                      </a:r>
                    </a:p>
                  </a:txBody>
                  <a:tcPr>
                    <a:solidFill>
                      <a:srgbClr val="F5F7FA"/>
                    </a:solidFill>
                  </a:tcPr>
                </a:tc>
                <a:tc>
                  <a:txBody>
                    <a:bodyPr/>
                    <a:lstStyle/>
                    <a:p>
                      <a:pPr algn="ctr"/>
                      <a:r>
                        <a:rPr sz="750" b="0">
                          <a:solidFill>
                            <a:srgbClr val="1A1A1A"/>
                          </a:solidFill>
                        </a:rPr>
                        <a:t>19.0 %</a:t>
                      </a:r>
                    </a:p>
                  </a:txBody>
                  <a:tcPr>
                    <a:solidFill>
                      <a:srgbClr val="F5F7FA"/>
                    </a:solidFill>
                  </a:tcPr>
                </a:tc>
              </a:tr>
              <a:tr h="198000">
                <a:tc>
                  <a:txBody>
                    <a:bodyPr/>
                    <a:lstStyle/>
                    <a:p>
                      <a:pPr algn="ctr"/>
                      <a:r>
                        <a:rPr sz="750" b="0">
                          <a:solidFill>
                            <a:srgbClr val="1A1A1A"/>
                          </a:solidFill>
                        </a:rPr>
                        <a:t>Technology Corp 4</a:t>
                      </a:r>
                    </a:p>
                  </a:txBody>
                  <a:tcPr>
                    <a:noFill/>
                  </a:tcPr>
                </a:tc>
                <a:tc>
                  <a:txBody>
                    <a:bodyPr/>
                    <a:lstStyle/>
                    <a:p>
                      <a:pPr algn="ctr"/>
                      <a:r>
                        <a:rPr sz="750" b="0">
                          <a:solidFill>
                            <a:srgbClr val="1A1A1A"/>
                          </a:solidFill>
                        </a:rPr>
                        <a:t>12.5x</a:t>
                      </a:r>
                    </a:p>
                  </a:txBody>
                  <a:tcPr>
                    <a:noFill/>
                  </a:tcPr>
                </a:tc>
                <a:tc>
                  <a:txBody>
                    <a:bodyPr/>
                    <a:lstStyle/>
                    <a:p>
                      <a:pPr algn="ctr"/>
                      <a:r>
                        <a:rPr sz="750" b="0">
                          <a:solidFill>
                            <a:srgbClr val="1A1A1A"/>
                          </a:solidFill>
                        </a:rPr>
                        <a:t>3.2x</a:t>
                      </a:r>
                    </a:p>
                  </a:txBody>
                  <a:tcPr>
                    <a:noFill/>
                  </a:tcPr>
                </a:tc>
                <a:tc>
                  <a:txBody>
                    <a:bodyPr/>
                    <a:lstStyle/>
                    <a:p>
                      <a:pPr algn="ctr"/>
                      <a:r>
                        <a:rPr sz="750" b="0">
                          <a:solidFill>
                            <a:srgbClr val="1A1A1A"/>
                          </a:solidFill>
                        </a:rPr>
                        <a:t>21.0x</a:t>
                      </a:r>
                    </a:p>
                  </a:txBody>
                  <a:tcPr>
                    <a:noFill/>
                  </a:tcPr>
                </a:tc>
                <a:tc>
                  <a:txBody>
                    <a:bodyPr/>
                    <a:lstStyle/>
                    <a:p>
                      <a:pPr algn="ctr"/>
                      <a:r>
                        <a:rPr sz="750" b="0">
                          <a:solidFill>
                            <a:srgbClr val="1A1A1A"/>
                          </a:solidFill>
                        </a:rPr>
                        <a:t>41.5 %</a:t>
                      </a:r>
                    </a:p>
                  </a:txBody>
                  <a:tcPr>
                    <a:noFill/>
                  </a:tcPr>
                </a:tc>
                <a:tc>
                  <a:txBody>
                    <a:bodyPr/>
                    <a:lstStyle/>
                    <a:p>
                      <a:pPr algn="ctr"/>
                      <a:r>
                        <a:rPr sz="750" b="0">
                          <a:solidFill>
                            <a:srgbClr val="1A1A1A"/>
                          </a:solidFill>
                        </a:rPr>
                        <a:t>22.4 %</a:t>
                      </a:r>
                    </a:p>
                  </a:txBody>
                  <a:tcPr>
                    <a:noFill/>
                  </a:tcPr>
                </a:tc>
                <a:tc>
                  <a:txBody>
                    <a:bodyPr/>
                    <a:lstStyle/>
                    <a:p>
                      <a:pPr algn="ctr"/>
                      <a:r>
                        <a:rPr sz="750" b="0">
                          <a:solidFill>
                            <a:srgbClr val="1A1A1A"/>
                          </a:solidFill>
                        </a:rPr>
                        <a:t>18.0 %</a:t>
                      </a:r>
                    </a:p>
                  </a:txBody>
                  <a:tcPr>
                    <a:noFill/>
                  </a:tcPr>
                </a:tc>
              </a:tr>
              <a:tr h="198000">
                <a:tc>
                  <a:txBody>
                    <a:bodyPr/>
                    <a:lstStyle/>
                    <a:p>
                      <a:pPr algn="ctr"/>
                      <a:r>
                        <a:rPr sz="750" b="0">
                          <a:solidFill>
                            <a:srgbClr val="1A1A1A"/>
                          </a:solidFill>
                        </a:rPr>
                        <a:t>Technology Corp 3</a:t>
                      </a:r>
                    </a:p>
                  </a:txBody>
                  <a:tcPr>
                    <a:solidFill>
                      <a:srgbClr val="F5F7FA"/>
                    </a:solidFill>
                  </a:tcPr>
                </a:tc>
                <a:tc>
                  <a:txBody>
                    <a:bodyPr/>
                    <a:lstStyle/>
                    <a:p>
                      <a:pPr algn="ctr"/>
                      <a:r>
                        <a:rPr sz="750" b="0">
                          <a:solidFill>
                            <a:srgbClr val="1A1A1A"/>
                          </a:solidFill>
                        </a:rPr>
                        <a:t>11.0x</a:t>
                      </a:r>
                    </a:p>
                  </a:txBody>
                  <a:tcPr>
                    <a:solidFill>
                      <a:srgbClr val="F5F7FA"/>
                    </a:solidFill>
                  </a:tcPr>
                </a:tc>
                <a:tc>
                  <a:txBody>
                    <a:bodyPr/>
                    <a:lstStyle/>
                    <a:p>
                      <a:pPr algn="ctr"/>
                      <a:r>
                        <a:rPr sz="750" b="0">
                          <a:solidFill>
                            <a:srgbClr val="1A1A1A"/>
                          </a:solidFill>
                        </a:rPr>
                        <a:t>2.8x</a:t>
                      </a:r>
                    </a:p>
                  </a:txBody>
                  <a:tcPr>
                    <a:solidFill>
                      <a:srgbClr val="F5F7FA"/>
                    </a:solidFill>
                  </a:tcPr>
                </a:tc>
                <a:tc>
                  <a:txBody>
                    <a:bodyPr/>
                    <a:lstStyle/>
                    <a:p>
                      <a:pPr algn="ctr"/>
                      <a:r>
                        <a:rPr sz="750" b="0">
                          <a:solidFill>
                            <a:srgbClr val="1A1A1A"/>
                          </a:solidFill>
                        </a:rPr>
                        <a:t>19.0x</a:t>
                      </a:r>
                    </a:p>
                  </a:txBody>
                  <a:tcPr>
                    <a:solidFill>
                      <a:srgbClr val="F5F7FA"/>
                    </a:solidFill>
                  </a:tcPr>
                </a:tc>
                <a:tc>
                  <a:txBody>
                    <a:bodyPr/>
                    <a:lstStyle/>
                    <a:p>
                      <a:pPr algn="ctr"/>
                      <a:r>
                        <a:rPr sz="750" b="0">
                          <a:solidFill>
                            <a:srgbClr val="1A1A1A"/>
                          </a:solidFill>
                        </a:rPr>
                        <a:t>41.0 %</a:t>
                      </a:r>
                    </a:p>
                  </a:txBody>
                  <a:tcPr>
                    <a:solidFill>
                      <a:srgbClr val="F5F7FA"/>
                    </a:solidFill>
                  </a:tcPr>
                </a:tc>
                <a:tc>
                  <a:txBody>
                    <a:bodyPr/>
                    <a:lstStyle/>
                    <a:p>
                      <a:pPr algn="ctr"/>
                      <a:r>
                        <a:rPr sz="750" b="0">
                          <a:solidFill>
                            <a:srgbClr val="1A1A1A"/>
                          </a:solidFill>
                        </a:rPr>
                        <a:t>21.6 %</a:t>
                      </a:r>
                    </a:p>
                  </a:txBody>
                  <a:tcPr>
                    <a:solidFill>
                      <a:srgbClr val="F5F7FA"/>
                    </a:solidFill>
                  </a:tcPr>
                </a:tc>
                <a:tc>
                  <a:txBody>
                    <a:bodyPr/>
                    <a:lstStyle/>
                    <a:p>
                      <a:pPr algn="ctr"/>
                      <a:r>
                        <a:rPr sz="750" b="0">
                          <a:solidFill>
                            <a:srgbClr val="1A1A1A"/>
                          </a:solidFill>
                        </a:rPr>
                        <a:t>17.0 %</a:t>
                      </a:r>
                    </a:p>
                  </a:txBody>
                  <a:tcPr>
                    <a:solidFill>
                      <a:srgbClr val="F5F7FA"/>
                    </a:solidFill>
                  </a:tcPr>
                </a:tc>
              </a:tr>
              <a:tr h="198000">
                <a:tc>
                  <a:txBody>
                    <a:bodyPr/>
                    <a:lstStyle/>
                    <a:p>
                      <a:pPr algn="ctr"/>
                      <a:r>
                        <a:rPr sz="750" b="0">
                          <a:solidFill>
                            <a:srgbClr val="1A1A1A"/>
                          </a:solidFill>
                        </a:rPr>
                        <a:t>Technology Corp 2</a:t>
                      </a:r>
                    </a:p>
                  </a:txBody>
                  <a:tcPr>
                    <a:noFill/>
                  </a:tcPr>
                </a:tc>
                <a:tc>
                  <a:txBody>
                    <a:bodyPr/>
                    <a:lstStyle/>
                    <a:p>
                      <a:pPr algn="ctr"/>
                      <a:r>
                        <a:rPr sz="750" b="0">
                          <a:solidFill>
                            <a:srgbClr val="1A1A1A"/>
                          </a:solidFill>
                        </a:rPr>
                        <a:t>9.5x</a:t>
                      </a:r>
                    </a:p>
                  </a:txBody>
                  <a:tcPr>
                    <a:noFill/>
                  </a:tcPr>
                </a:tc>
                <a:tc>
                  <a:txBody>
                    <a:bodyPr/>
                    <a:lstStyle/>
                    <a:p>
                      <a:pPr algn="ctr"/>
                      <a:r>
                        <a:rPr sz="750" b="0">
                          <a:solidFill>
                            <a:srgbClr val="1A1A1A"/>
                          </a:solidFill>
                        </a:rPr>
                        <a:t>2.4x</a:t>
                      </a:r>
                    </a:p>
                  </a:txBody>
                  <a:tcPr>
                    <a:noFill/>
                  </a:tcPr>
                </a:tc>
                <a:tc>
                  <a:txBody>
                    <a:bodyPr/>
                    <a:lstStyle/>
                    <a:p>
                      <a:pPr algn="ctr"/>
                      <a:r>
                        <a:rPr sz="750" b="0">
                          <a:solidFill>
                            <a:srgbClr val="1A1A1A"/>
                          </a:solidFill>
                        </a:rPr>
                        <a:t>17.0x</a:t>
                      </a:r>
                    </a:p>
                  </a:txBody>
                  <a:tcPr>
                    <a:noFill/>
                  </a:tcPr>
                </a:tc>
                <a:tc>
                  <a:txBody>
                    <a:bodyPr/>
                    <a:lstStyle/>
                    <a:p>
                      <a:pPr algn="ctr"/>
                      <a:r>
                        <a:rPr sz="750" b="0">
                          <a:solidFill>
                            <a:srgbClr val="1A1A1A"/>
                          </a:solidFill>
                        </a:rPr>
                        <a:t>40.5 %</a:t>
                      </a:r>
                    </a:p>
                  </a:txBody>
                  <a:tcPr>
                    <a:noFill/>
                  </a:tcPr>
                </a:tc>
                <a:tc>
                  <a:txBody>
                    <a:bodyPr/>
                    <a:lstStyle/>
                    <a:p>
                      <a:pPr algn="ctr"/>
                      <a:r>
                        <a:rPr sz="750" b="0">
                          <a:solidFill>
                            <a:srgbClr val="1A1A1A"/>
                          </a:solidFill>
                        </a:rPr>
                        <a:t>20.8 %</a:t>
                      </a:r>
                    </a:p>
                  </a:txBody>
                  <a:tcPr>
                    <a:noFill/>
                  </a:tcPr>
                </a:tc>
                <a:tc>
                  <a:txBody>
                    <a:bodyPr/>
                    <a:lstStyle/>
                    <a:p>
                      <a:pPr algn="ctr"/>
                      <a:r>
                        <a:rPr sz="750" b="0">
                          <a:solidFill>
                            <a:srgbClr val="1A1A1A"/>
                          </a:solidFill>
                        </a:rPr>
                        <a:t>16.0 %</a:t>
                      </a:r>
                    </a:p>
                  </a:txBody>
                  <a:tcPr>
                    <a:noFill/>
                  </a:tcPr>
                </a:tc>
              </a:tr>
              <a:tr h="198000">
                <a:tc>
                  <a:txBody>
                    <a:bodyPr/>
                    <a:lstStyle/>
                    <a:p>
                      <a:pPr algn="ctr"/>
                      <a:r>
                        <a:rPr sz="750" b="0">
                          <a:solidFill>
                            <a:srgbClr val="1A1A1A"/>
                          </a:solidFill>
                        </a:rPr>
                        <a:t>Technology Corp 1</a:t>
                      </a:r>
                    </a:p>
                  </a:txBody>
                  <a:tcPr>
                    <a:solidFill>
                      <a:srgbClr val="F5F7FA"/>
                    </a:solidFill>
                  </a:tcPr>
                </a:tc>
                <a:tc>
                  <a:txBody>
                    <a:bodyPr/>
                    <a:lstStyle/>
                    <a:p>
                      <a:pPr algn="ctr"/>
                      <a:r>
                        <a:rPr sz="750" b="0">
                          <a:solidFill>
                            <a:srgbClr val="1A1A1A"/>
                          </a:solidFill>
                        </a:rPr>
                        <a:t>8.0x</a:t>
                      </a:r>
                    </a:p>
                  </a:txBody>
                  <a:tcPr>
                    <a:solidFill>
                      <a:srgbClr val="F5F7FA"/>
                    </a:solidFill>
                  </a:tcPr>
                </a:tc>
                <a:tc>
                  <a:txBody>
                    <a:bodyPr/>
                    <a:lstStyle/>
                    <a:p>
                      <a:pPr algn="ctr"/>
                      <a:r>
                        <a:rPr sz="750" b="0">
                          <a:solidFill>
                            <a:srgbClr val="1A1A1A"/>
                          </a:solidFill>
                        </a:rPr>
                        <a:t>2.0x</a:t>
                      </a:r>
                    </a:p>
                  </a:txBody>
                  <a:tcPr>
                    <a:solidFill>
                      <a:srgbClr val="F5F7FA"/>
                    </a:solidFill>
                  </a:tcPr>
                </a:tc>
                <a:tc>
                  <a:txBody>
                    <a:bodyPr/>
                    <a:lstStyle/>
                    <a:p>
                      <a:pPr algn="ctr"/>
                      <a:r>
                        <a:rPr sz="750" b="0">
                          <a:solidFill>
                            <a:srgbClr val="1A1A1A"/>
                          </a:solidFill>
                        </a:rPr>
                        <a:t>15.0x</a:t>
                      </a:r>
                    </a:p>
                  </a:txBody>
                  <a:tcPr>
                    <a:solidFill>
                      <a:srgbClr val="F5F7FA"/>
                    </a:solidFill>
                  </a:tcPr>
                </a:tc>
                <a:tc>
                  <a:txBody>
                    <a:bodyPr/>
                    <a:lstStyle/>
                    <a:p>
                      <a:pPr algn="ctr"/>
                      <a:r>
                        <a:rPr sz="750" b="0">
                          <a:solidFill>
                            <a:srgbClr val="1A1A1A"/>
                          </a:solidFill>
                        </a:rPr>
                        <a:t>40.0 %</a:t>
                      </a:r>
                    </a:p>
                  </a:txBody>
                  <a:tcPr>
                    <a:solidFill>
                      <a:srgbClr val="F5F7FA"/>
                    </a:solidFill>
                  </a:tcPr>
                </a:tc>
                <a:tc>
                  <a:txBody>
                    <a:bodyPr/>
                    <a:lstStyle/>
                    <a:p>
                      <a:pPr algn="ctr"/>
                      <a:r>
                        <a:rPr sz="750" b="0">
                          <a:solidFill>
                            <a:srgbClr val="1A1A1A"/>
                          </a:solidFill>
                        </a:rPr>
                        <a:t>20.0 %</a:t>
                      </a:r>
                    </a:p>
                  </a:txBody>
                  <a:tcPr>
                    <a:solidFill>
                      <a:srgbClr val="F5F7FA"/>
                    </a:solidFill>
                  </a:tcPr>
                </a:tc>
                <a:tc>
                  <a:txBody>
                    <a:bodyPr/>
                    <a:lstStyle/>
                    <a:p>
                      <a:pPr algn="ctr"/>
                      <a:r>
                        <a:rPr sz="750" b="0">
                          <a:solidFill>
                            <a:srgbClr val="1A1A1A"/>
                          </a:solidFill>
                        </a:rPr>
                        <a:t>15.0 %</a:t>
                      </a:r>
                    </a:p>
                  </a:txBody>
                  <a:tcPr>
                    <a:solidFill>
                      <a:srgbClr val="F5F7FA"/>
                    </a:solidFill>
                  </a:tcPr>
                </a:tc>
              </a:tr>
              <a:tr h="198000">
                <a:tc>
                  <a:txBody>
                    <a:bodyPr/>
                    <a:lstStyle/>
                    <a:p>
                      <a:pPr algn="ctr"/>
                      <a:r>
                        <a:rPr sz="750" b="0">
                          <a:solidFill>
                            <a:srgbClr val="1A1A1A"/>
                          </a:solidFill>
                        </a:rPr>
                        <a:t>MEDIANE</a:t>
                      </a:r>
                    </a:p>
                  </a:txBody>
                  <a:tcPr>
                    <a:noFill/>
                  </a:tcPr>
                </a:tc>
                <a:tc>
                  <a:txBody>
                    <a:bodyPr/>
                    <a:lstStyle/>
                    <a:p>
                      <a:pPr algn="ctr"/>
                      <a:r>
                        <a:rPr sz="750" b="0">
                          <a:solidFill>
                            <a:srgbClr val="1A1A1A"/>
                          </a:solidFill>
                        </a:rPr>
                        <a:t>11.8x</a:t>
                      </a:r>
                    </a:p>
                  </a:txBody>
                  <a:tcPr>
                    <a:noFill/>
                  </a:tcPr>
                </a:tc>
                <a:tc>
                  <a:txBody>
                    <a:bodyPr/>
                    <a:lstStyle/>
                    <a:p>
                      <a:pPr algn="ctr"/>
                      <a:r>
                        <a:rPr sz="750" b="0">
                          <a:solidFill>
                            <a:srgbClr val="1A1A1A"/>
                          </a:solidFill>
                        </a:rPr>
                        <a:t>3.0x</a:t>
                      </a:r>
                    </a:p>
                  </a:txBody>
                  <a:tcPr>
                    <a:noFill/>
                  </a:tcPr>
                </a:tc>
                <a:tc>
                  <a:txBody>
                    <a:bodyPr/>
                    <a:lstStyle/>
                    <a:p>
                      <a:pPr algn="ctr"/>
                      <a:r>
                        <a:rPr sz="750" b="0">
                          <a:solidFill>
                            <a:srgbClr val="1A1A1A"/>
                          </a:solidFill>
                        </a:rPr>
                        <a:t>20.0x</a:t>
                      </a:r>
                    </a:p>
                  </a:txBody>
                  <a:tcPr>
                    <a:noFill/>
                  </a:tcPr>
                </a:tc>
                <a:tc>
                  <a:txBody>
                    <a:bodyPr/>
                    <a:lstStyle/>
                    <a:p>
                      <a:pPr algn="ctr"/>
                      <a:r>
                        <a:rPr sz="750" b="0">
                          <a:solidFill>
                            <a:srgbClr val="1A1A1A"/>
                          </a:solidFill>
                        </a:rPr>
                        <a:t>41.2 %</a:t>
                      </a:r>
                    </a:p>
                  </a:txBody>
                  <a:tcPr>
                    <a:noFill/>
                  </a:tcPr>
                </a:tc>
                <a:tc>
                  <a:txBody>
                    <a:bodyPr/>
                    <a:lstStyle/>
                    <a:p>
                      <a:pPr algn="ctr"/>
                      <a:r>
                        <a:rPr sz="750" b="0">
                          <a:solidFill>
                            <a:srgbClr val="1A1A1A"/>
                          </a:solidFill>
                        </a:rPr>
                        <a:t>22.0 %</a:t>
                      </a:r>
                    </a:p>
                  </a:txBody>
                  <a:tcPr>
                    <a:noFill/>
                  </a:tcPr>
                </a:tc>
                <a:tc>
                  <a:txBody>
                    <a:bodyPr/>
                    <a:lstStyle/>
                    <a:p>
                      <a:pPr algn="ctr"/>
                      <a:r>
                        <a:rPr sz="750" b="0">
                          <a:solidFill>
                            <a:srgbClr val="1A1A1A"/>
                          </a:solidFill>
                        </a:rPr>
                        <a:t>17.5 %</a:t>
                      </a:r>
                    </a:p>
                  </a:txBody>
                  <a:tcPr>
                    <a:noFill/>
                  </a:tcPr>
                </a:tc>
              </a:tr>
            </a:tbl>
          </a:graphicData>
        </a:graphic>
      </p:graphicFrame>
      <p:sp>
        <p:nvSpPr>
          <p:cNvPr id="16" name="Rectangle 15"/>
          <p:cNvSpPr/>
          <p:nvPr/>
        </p:nvSpPr>
        <p:spPr>
          <a:xfrm>
            <a:off x="324000" y="2736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736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2754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3024000"/>
            <a:ext cx="8352000" cy="720000"/>
          </a:xfrm>
          <a:prstGeom prst="rect">
            <a:avLst/>
          </a:prstGeom>
          <a:noFill/>
        </p:spPr>
        <p:txBody>
          <a:bodyPr wrap="square">
            <a:spAutoFit/>
          </a:bodyPr>
          <a:lstStyle/>
          <a:p>
            <a:pPr algn="l"/>
            <a:r>
              <a:rPr sz="850" b="0" i="0">
                <a:solidFill>
                  <a:srgbClr val="555555"/>
                </a:solidFill>
              </a:rPr>
              <a:t>La mediane EV/EBITDA sectorielle s etablit a 11.8x LTM. Technology Corp 6 (15.5x) se distingue comme le leader de qualite, combine a une marge EBITDA de 24.0 % et une croissance de +12.5 %. La dispersion des multiples revele l heterogeneite des profils au sein du secteur Technology — une lecture croisee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Drivers de croissance &amp; sensibilité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Croissance des dépenses IT</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Les budgets IT des entreprises devraient augmenter de +6.5% en 2024, soutenant la demande pour les solutions technologiques.</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M&amp;A stratégique</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Les fusions-acquisitions dans le cloud et la cybersécurité (ex: acquisitions de startups par Microsoft ou Palo Alto) créent des synergies de revenus.</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Coûts énergétiques</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La hausse des coûts énergétiques pour les data centers (ex: +15% en Europe) réduit les marges des acteurs gourmands en infrastructure.</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Saturation du marché PC</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Le ralentissement des ventes de PC (-5% en 2023) impacte négativement les revenus des fabricants de composants comme TEC4.</a:t>
            </a:r>
          </a:p>
        </p:txBody>
      </p:sp>
      <p:sp>
        <p:nvSpPr>
          <p:cNvPr id="35" name="Rectangle 34"/>
          <p:cNvSpPr/>
          <p:nvPr/>
        </p:nvSpPr>
        <p:spPr>
          <a:xfrm>
            <a:off x="5976000" y="900000"/>
            <a:ext cx="2844000" cy="39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NEUTRE</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58/100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9.5 %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540000"/>
          </a:xfrm>
          <a:prstGeom prst="rect">
            <a:avLst/>
          </a:prstGeom>
          <a:noFill/>
        </p:spPr>
        <p:txBody>
          <a:bodyPr wrap="square">
            <a:spAutoFit/>
          </a:bodyPr>
          <a:lstStyle/>
          <a:p>
            <a:pPr algn="ctr"/>
            <a:r>
              <a:rPr sz="800" b="0" i="0">
                <a:solidFill>
                  <a:srgbClr val="2A5298"/>
                </a:solidFill>
              </a:rPr>
              <a:t>Le secteur Technology semble en phase de maturation post-pandémie, avec une croissance modérée mais des fondamentaux solides, typique d'un cycle de consolidation.</a:t>
            </a:r>
          </a:p>
        </p:txBody>
      </p:sp>
      <p:sp>
        <p:nvSpPr>
          <p:cNvPr id="44" name="Rectangle 43"/>
          <p:cNvSpPr/>
          <p:nvPr/>
        </p:nvSpPr>
        <p:spPr>
          <a:xfrm>
            <a:off x="6083999" y="4031999"/>
            <a:ext cx="2628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76000" y="4086000"/>
            <a:ext cx="2844000" cy="180000"/>
          </a:xfrm>
          <a:prstGeom prst="rect">
            <a:avLst/>
          </a:prstGeom>
          <a:noFill/>
        </p:spPr>
        <p:txBody>
          <a:bodyPr wrap="square">
            <a:spAutoFit/>
          </a:bodyPr>
          <a:lstStyle/>
          <a:p>
            <a:pPr algn="ctr"/>
            <a:r>
              <a:rPr sz="700" b="1" i="0">
                <a:solidFill>
                  <a:srgbClr val="AAAAAA"/>
                </a:solidFill>
              </a:rPr>
              <a:t>CONTEXTE MACRO</a:t>
            </a:r>
          </a:p>
        </p:txBody>
      </p:sp>
      <p:sp>
        <p:nvSpPr>
          <p:cNvPr id="46" name="TextBox 45"/>
          <p:cNvSpPr txBox="1"/>
          <p:nvPr/>
        </p:nvSpPr>
        <p:spPr>
          <a:xfrm>
            <a:off x="5976000" y="4266000"/>
            <a:ext cx="2844000" cy="198000"/>
          </a:xfrm>
          <a:prstGeom prst="rect">
            <a:avLst/>
          </a:prstGeom>
          <a:noFill/>
        </p:spPr>
        <p:txBody>
          <a:bodyPr wrap="square">
            <a:spAutoFit/>
          </a:bodyPr>
          <a:lstStyle/>
          <a:p>
            <a:pPr algn="ctr"/>
            <a:r>
              <a:rPr sz="850" b="1" i="0">
                <a:solidFill>
                  <a:srgbClr val="E67E22"/>
                </a:solidFill>
              </a:rPr>
              <a:t>Regime : Volatile</a:t>
            </a:r>
          </a:p>
        </p:txBody>
      </p:sp>
      <p:sp>
        <p:nvSpPr>
          <p:cNvPr id="47" name="TextBox 46"/>
          <p:cNvSpPr txBox="1"/>
          <p:nvPr/>
        </p:nvSpPr>
        <p:spPr>
          <a:xfrm>
            <a:off x="5976000" y="4482000"/>
            <a:ext cx="2844000" cy="180000"/>
          </a:xfrm>
          <a:prstGeom prst="rect">
            <a:avLst/>
          </a:prstGeom>
          <a:noFill/>
        </p:spPr>
        <p:txBody>
          <a:bodyPr wrap="square">
            <a:spAutoFit/>
          </a:bodyPr>
          <a:lstStyle/>
          <a:p>
            <a:pPr algn="ctr"/>
            <a:r>
              <a:rPr sz="750" b="0" i="0">
                <a:solidFill>
                  <a:srgbClr val="555555"/>
                </a:solidFill>
              </a:rPr>
              <a:t>Rec. 6M : 18%  (Faible)</a:t>
            </a:r>
          </a:p>
        </p:txBody>
      </p:sp>
      <p:sp>
        <p:nvSpPr>
          <p:cNvPr id="48" name="Rectangle 4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Sociétés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6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Sociétés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6 sociétés analysées  ·  Technology  ·  Healthcare  ·  Tri par score FinSight decroissant</a:t>
            </a:r>
          </a:p>
        </p:txBody>
      </p:sp>
      <p:graphicFrame>
        <p:nvGraphicFramePr>
          <p:cNvPr id="15" name="Table 14"/>
          <p:cNvGraphicFramePr>
            <a:graphicFrameLocks noGrp="1"/>
          </p:cNvGraphicFramePr>
          <p:nvPr/>
        </p:nvGraphicFramePr>
        <p:xfrm>
          <a:off x="324000" y="900000"/>
          <a:ext cx="8495998" cy="13104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1872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187200">
                <a:tc>
                  <a:txBody>
                    <a:bodyPr/>
                    <a:lstStyle/>
                    <a:p>
                      <a:pPr algn="ctr"/>
                      <a:r>
                        <a:rPr sz="750" b="0">
                          <a:solidFill>
                            <a:srgbClr val="1A1A1A"/>
                          </a:solidFill>
                        </a:rPr>
                        <a:t>1</a:t>
                      </a:r>
                    </a:p>
                  </a:txBody>
                  <a:tcPr>
                    <a:noFill/>
                  </a:tcPr>
                </a:tc>
                <a:tc>
                  <a:txBody>
                    <a:bodyPr/>
                    <a:lstStyle/>
                    <a:p>
                      <a:pPr algn="ctr"/>
                      <a:r>
                        <a:rPr sz="750" b="0">
                          <a:solidFill>
                            <a:srgbClr val="1A1A1A"/>
                          </a:solidFill>
                        </a:rPr>
                        <a:t>TEC6</a:t>
                      </a:r>
                    </a:p>
                  </a:txBody>
                  <a:tcPr>
                    <a:noFill/>
                  </a:tcPr>
                </a:tc>
                <a:tc>
                  <a:txBody>
                    <a:bodyPr/>
                    <a:lstStyle/>
                    <a:p>
                      <a:pPr algn="ctr"/>
                      <a:r>
                        <a:rPr sz="750" b="0">
                          <a:solidFill>
                            <a:srgbClr val="1A1A1A"/>
                          </a:solidFill>
                        </a:rPr>
                        <a:t>Technology Corp 6</a:t>
                      </a:r>
                    </a:p>
                  </a:txBody>
                  <a:tcPr>
                    <a:noFill/>
                  </a:tcPr>
                </a:tc>
                <a:tc>
                  <a:txBody>
                    <a:bodyPr/>
                    <a:lstStyle/>
                    <a:p>
                      <a:pPr algn="ctr"/>
                      <a:r>
                        <a:rPr sz="750" b="0">
                          <a:solidFill>
                            <a:srgbClr val="1A1A1A"/>
                          </a:solidFill>
                        </a:rPr>
                        <a:t>68/100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130</a:t>
                      </a:r>
                    </a:p>
                  </a:txBody>
                  <a:tcPr>
                    <a:noFill/>
                  </a:tcPr>
                </a:tc>
                <a:tc>
                  <a:txBody>
                    <a:bodyPr/>
                    <a:lstStyle/>
                    <a:p>
                      <a:pPr algn="ctr"/>
                      <a:r>
                        <a:rPr sz="750" b="0">
                          <a:solidFill>
                            <a:srgbClr val="1A1A1A"/>
                          </a:solidFill>
                        </a:rPr>
                        <a:t>15.5x</a:t>
                      </a:r>
                    </a:p>
                  </a:txBody>
                  <a:tcPr>
                    <a:noFill/>
                  </a:tcPr>
                </a:tc>
                <a:tc>
                  <a:txBody>
                    <a:bodyPr/>
                    <a:lstStyle/>
                    <a:p>
                      <a:pPr algn="ctr"/>
                      <a:r>
                        <a:rPr sz="750" b="0">
                          <a:solidFill>
                            <a:srgbClr val="1A1A1A"/>
                          </a:solidFill>
                        </a:rPr>
                        <a:t>24.0 %</a:t>
                      </a:r>
                    </a:p>
                  </a:txBody>
                  <a:tcPr>
                    <a:noFill/>
                  </a:tcPr>
                </a:tc>
                <a:tc>
                  <a:txBody>
                    <a:bodyPr/>
                    <a:lstStyle/>
                    <a:p>
                      <a:pPr algn="ctr"/>
                      <a:r>
                        <a:rPr sz="750" b="0">
                          <a:solidFill>
                            <a:srgbClr val="1A1A1A"/>
                          </a:solidFill>
                        </a:rPr>
                        <a:t>+12.5 %</a:t>
                      </a:r>
                    </a:p>
                  </a:txBody>
                  <a:tcPr>
                    <a:noFill/>
                  </a:tcPr>
                </a:tc>
                <a:tc>
                  <a:txBody>
                    <a:bodyPr/>
                    <a:lstStyle/>
                    <a:p>
                      <a:pPr algn="ctr"/>
                      <a:r>
                        <a:rPr sz="750" b="0">
                          <a:solidFill>
                            <a:srgbClr val="1A1A1A"/>
                          </a:solidFill>
                        </a:rPr>
                        <a:t>+20.0 %</a:t>
                      </a:r>
                    </a:p>
                  </a:txBody>
                  <a:tcPr>
                    <a:noFill/>
                  </a:tcPr>
                </a:tc>
              </a:tr>
              <a:tr h="1872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TEC5</a:t>
                      </a:r>
                    </a:p>
                  </a:txBody>
                  <a:tcPr>
                    <a:solidFill>
                      <a:srgbClr val="F5F7FA"/>
                    </a:solidFill>
                  </a:tcPr>
                </a:tc>
                <a:tc>
                  <a:txBody>
                    <a:bodyPr/>
                    <a:lstStyle/>
                    <a:p>
                      <a:pPr algn="ctr"/>
                      <a:r>
                        <a:rPr sz="750" b="0">
                          <a:solidFill>
                            <a:srgbClr val="1A1A1A"/>
                          </a:solidFill>
                        </a:rPr>
                        <a:t>Technology Corp 5</a:t>
                      </a:r>
                    </a:p>
                  </a:txBody>
                  <a:tcPr>
                    <a:solidFill>
                      <a:srgbClr val="F5F7FA"/>
                    </a:solidFill>
                  </a:tcPr>
                </a:tc>
                <a:tc>
                  <a:txBody>
                    <a:bodyPr/>
                    <a:lstStyle/>
                    <a:p>
                      <a:pPr algn="ctr"/>
                      <a:r>
                        <a:rPr sz="750" b="0">
                          <a:solidFill>
                            <a:srgbClr val="1A1A1A"/>
                          </a:solidFill>
                        </a:rPr>
                        <a:t>64/100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120</a:t>
                      </a:r>
                    </a:p>
                  </a:txBody>
                  <a:tcPr>
                    <a:solidFill>
                      <a:srgbClr val="F5F7FA"/>
                    </a:solidFill>
                  </a:tcPr>
                </a:tc>
                <a:tc>
                  <a:txBody>
                    <a:bodyPr/>
                    <a:lstStyle/>
                    <a:p>
                      <a:pPr algn="ctr"/>
                      <a:r>
                        <a:rPr sz="750" b="0">
                          <a:solidFill>
                            <a:srgbClr val="1A1A1A"/>
                          </a:solidFill>
                        </a:rPr>
                        <a:t>14.0x</a:t>
                      </a:r>
                    </a:p>
                  </a:txBody>
                  <a:tcPr>
                    <a:solidFill>
                      <a:srgbClr val="F5F7FA"/>
                    </a:solidFill>
                  </a:tcPr>
                </a:tc>
                <a:tc>
                  <a:txBody>
                    <a:bodyPr/>
                    <a:lstStyle/>
                    <a:p>
                      <a:pPr algn="ctr"/>
                      <a:r>
                        <a:rPr sz="750" b="0">
                          <a:solidFill>
                            <a:srgbClr val="1A1A1A"/>
                          </a:solidFill>
                        </a:rPr>
                        <a:t>23.2 %</a:t>
                      </a:r>
                    </a:p>
                  </a:txBody>
                  <a:tcPr>
                    <a:solidFill>
                      <a:srgbClr val="F5F7FA"/>
                    </a:solidFill>
                  </a:tcPr>
                </a:tc>
                <a:tc>
                  <a:txBody>
                    <a:bodyPr/>
                    <a:lstStyle/>
                    <a:p>
                      <a:pPr algn="ctr"/>
                      <a:r>
                        <a:rPr sz="750" b="0">
                          <a:solidFill>
                            <a:srgbClr val="1A1A1A"/>
                          </a:solidFill>
                        </a:rPr>
                        <a:t>+11.0 %</a:t>
                      </a:r>
                    </a:p>
                  </a:txBody>
                  <a:tcPr>
                    <a:solidFill>
                      <a:srgbClr val="F5F7FA"/>
                    </a:solidFill>
                  </a:tcPr>
                </a:tc>
                <a:tc>
                  <a:txBody>
                    <a:bodyPr/>
                    <a:lstStyle/>
                    <a:p>
                      <a:pPr algn="ctr"/>
                      <a:r>
                        <a:rPr sz="750" b="0">
                          <a:solidFill>
                            <a:srgbClr val="1A1A1A"/>
                          </a:solidFill>
                        </a:rPr>
                        <a:t>+17.0 %</a:t>
                      </a:r>
                    </a:p>
                  </a:txBody>
                  <a:tcPr>
                    <a:solidFill>
                      <a:srgbClr val="F5F7FA"/>
                    </a:solidFill>
                  </a:tcPr>
                </a:tc>
              </a:tr>
              <a:tr h="187200">
                <a:tc>
                  <a:txBody>
                    <a:bodyPr/>
                    <a:lstStyle/>
                    <a:p>
                      <a:pPr algn="ctr"/>
                      <a:r>
                        <a:rPr sz="750" b="0">
                          <a:solidFill>
                            <a:srgbClr val="1A1A1A"/>
                          </a:solidFill>
                        </a:rPr>
                        <a:t>3</a:t>
                      </a:r>
                    </a:p>
                  </a:txBody>
                  <a:tcPr>
                    <a:noFill/>
                  </a:tcPr>
                </a:tc>
                <a:tc>
                  <a:txBody>
                    <a:bodyPr/>
                    <a:lstStyle/>
                    <a:p>
                      <a:pPr algn="ctr"/>
                      <a:r>
                        <a:rPr sz="750" b="0">
                          <a:solidFill>
                            <a:srgbClr val="1A1A1A"/>
                          </a:solidFill>
                        </a:rPr>
                        <a:t>TEC4</a:t>
                      </a:r>
                    </a:p>
                  </a:txBody>
                  <a:tcPr>
                    <a:noFill/>
                  </a:tcPr>
                </a:tc>
                <a:tc>
                  <a:txBody>
                    <a:bodyPr/>
                    <a:lstStyle/>
                    <a:p>
                      <a:pPr algn="ctr"/>
                      <a:r>
                        <a:rPr sz="750" b="0">
                          <a:solidFill>
                            <a:srgbClr val="1A1A1A"/>
                          </a:solidFill>
                        </a:rPr>
                        <a:t>Technology Corp 4</a:t>
                      </a:r>
                    </a:p>
                  </a:txBody>
                  <a:tcPr>
                    <a:noFill/>
                  </a:tcPr>
                </a:tc>
                <a:tc>
                  <a:txBody>
                    <a:bodyPr/>
                    <a:lstStyle/>
                    <a:p>
                      <a:pPr algn="ctr"/>
                      <a:r>
                        <a:rPr sz="750" b="0">
                          <a:solidFill>
                            <a:srgbClr val="1A1A1A"/>
                          </a:solidFill>
                        </a:rPr>
                        <a:t>60/100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110</a:t>
                      </a:r>
                    </a:p>
                  </a:txBody>
                  <a:tcPr>
                    <a:noFill/>
                  </a:tcPr>
                </a:tc>
                <a:tc>
                  <a:txBody>
                    <a:bodyPr/>
                    <a:lstStyle/>
                    <a:p>
                      <a:pPr algn="ctr"/>
                      <a:r>
                        <a:rPr sz="750" b="0">
                          <a:solidFill>
                            <a:srgbClr val="1A1A1A"/>
                          </a:solidFill>
                        </a:rPr>
                        <a:t>12.5x</a:t>
                      </a:r>
                    </a:p>
                  </a:txBody>
                  <a:tcPr>
                    <a:noFill/>
                  </a:tcPr>
                </a:tc>
                <a:tc>
                  <a:txBody>
                    <a:bodyPr/>
                    <a:lstStyle/>
                    <a:p>
                      <a:pPr algn="ctr"/>
                      <a:r>
                        <a:rPr sz="750" b="0">
                          <a:solidFill>
                            <a:srgbClr val="1A1A1A"/>
                          </a:solidFill>
                        </a:rPr>
                        <a:t>22.4 %</a:t>
                      </a:r>
                    </a:p>
                  </a:txBody>
                  <a:tcPr>
                    <a:noFill/>
                  </a:tcPr>
                </a:tc>
                <a:tc>
                  <a:txBody>
                    <a:bodyPr/>
                    <a:lstStyle/>
                    <a:p>
                      <a:pPr algn="ctr"/>
                      <a:r>
                        <a:rPr sz="750" b="0">
                          <a:solidFill>
                            <a:srgbClr val="1A1A1A"/>
                          </a:solidFill>
                        </a:rPr>
                        <a:t>+9.5 %</a:t>
                      </a:r>
                    </a:p>
                  </a:txBody>
                  <a:tcPr>
                    <a:noFill/>
                  </a:tcPr>
                </a:tc>
                <a:tc>
                  <a:txBody>
                    <a:bodyPr/>
                    <a:lstStyle/>
                    <a:p>
                      <a:pPr algn="ctr"/>
                      <a:r>
                        <a:rPr sz="750" b="0">
                          <a:solidFill>
                            <a:srgbClr val="1A1A1A"/>
                          </a:solidFill>
                        </a:rPr>
                        <a:t>+14.0 %</a:t>
                      </a:r>
                    </a:p>
                  </a:txBody>
                  <a:tcPr>
                    <a:noFill/>
                  </a:tcPr>
                </a:tc>
              </a:tr>
              <a:tr h="1872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TEC3</a:t>
                      </a:r>
                    </a:p>
                  </a:txBody>
                  <a:tcPr>
                    <a:solidFill>
                      <a:srgbClr val="F5F7FA"/>
                    </a:solidFill>
                  </a:tcPr>
                </a:tc>
                <a:tc>
                  <a:txBody>
                    <a:bodyPr/>
                    <a:lstStyle/>
                    <a:p>
                      <a:pPr algn="ctr"/>
                      <a:r>
                        <a:rPr sz="750" b="0">
                          <a:solidFill>
                            <a:srgbClr val="1A1A1A"/>
                          </a:solidFill>
                        </a:rPr>
                        <a:t>Technology Corp 3</a:t>
                      </a:r>
                    </a:p>
                  </a:txBody>
                  <a:tcPr>
                    <a:solidFill>
                      <a:srgbClr val="F5F7FA"/>
                    </a:solidFill>
                  </a:tcPr>
                </a:tc>
                <a:tc>
                  <a:txBody>
                    <a:bodyPr/>
                    <a:lstStyle/>
                    <a:p>
                      <a:pPr algn="ctr"/>
                      <a:r>
                        <a:rPr sz="750" b="0">
                          <a:solidFill>
                            <a:srgbClr val="1A1A1A"/>
                          </a:solidFill>
                        </a:rPr>
                        <a:t>56/100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100</a:t>
                      </a:r>
                    </a:p>
                  </a:txBody>
                  <a:tcPr>
                    <a:solidFill>
                      <a:srgbClr val="F5F7FA"/>
                    </a:solidFill>
                  </a:tcPr>
                </a:tc>
                <a:tc>
                  <a:txBody>
                    <a:bodyPr/>
                    <a:lstStyle/>
                    <a:p>
                      <a:pPr algn="ctr"/>
                      <a:r>
                        <a:rPr sz="750" b="0">
                          <a:solidFill>
                            <a:srgbClr val="1A1A1A"/>
                          </a:solidFill>
                        </a:rPr>
                        <a:t>11.0x</a:t>
                      </a:r>
                    </a:p>
                  </a:txBody>
                  <a:tcPr>
                    <a:solidFill>
                      <a:srgbClr val="F5F7FA"/>
                    </a:solidFill>
                  </a:tcPr>
                </a:tc>
                <a:tc>
                  <a:txBody>
                    <a:bodyPr/>
                    <a:lstStyle/>
                    <a:p>
                      <a:pPr algn="ctr"/>
                      <a:r>
                        <a:rPr sz="750" b="0">
                          <a:solidFill>
                            <a:srgbClr val="1A1A1A"/>
                          </a:solidFill>
                        </a:rPr>
                        <a:t>21.6 %</a:t>
                      </a:r>
                    </a:p>
                  </a:txBody>
                  <a:tcPr>
                    <a:solidFill>
                      <a:srgbClr val="F5F7FA"/>
                    </a:solidFill>
                  </a:tcPr>
                </a:tc>
                <a:tc>
                  <a:txBody>
                    <a:bodyPr/>
                    <a:lstStyle/>
                    <a:p>
                      <a:pPr algn="ctr"/>
                      <a:r>
                        <a:rPr sz="750" b="0">
                          <a:solidFill>
                            <a:srgbClr val="1A1A1A"/>
                          </a:solidFill>
                        </a:rPr>
                        <a:t>+8.0 %</a:t>
                      </a:r>
                    </a:p>
                  </a:txBody>
                  <a:tcPr>
                    <a:solidFill>
                      <a:srgbClr val="F5F7FA"/>
                    </a:solidFill>
                  </a:tcPr>
                </a:tc>
                <a:tc>
                  <a:txBody>
                    <a:bodyPr/>
                    <a:lstStyle/>
                    <a:p>
                      <a:pPr algn="ctr"/>
                      <a:r>
                        <a:rPr sz="750" b="0">
                          <a:solidFill>
                            <a:srgbClr val="1A1A1A"/>
                          </a:solidFill>
                        </a:rPr>
                        <a:t>+11.0 %</a:t>
                      </a:r>
                    </a:p>
                  </a:txBody>
                  <a:tcPr>
                    <a:solidFill>
                      <a:srgbClr val="F5F7FA"/>
                    </a:solidFill>
                  </a:tcPr>
                </a:tc>
              </a:tr>
              <a:tr h="187200">
                <a:tc>
                  <a:txBody>
                    <a:bodyPr/>
                    <a:lstStyle/>
                    <a:p>
                      <a:pPr algn="ctr"/>
                      <a:r>
                        <a:rPr sz="750" b="0">
                          <a:solidFill>
                            <a:srgbClr val="1A1A1A"/>
                          </a:solidFill>
                        </a:rPr>
                        <a:t>5</a:t>
                      </a:r>
                    </a:p>
                  </a:txBody>
                  <a:tcPr>
                    <a:noFill/>
                  </a:tcPr>
                </a:tc>
                <a:tc>
                  <a:txBody>
                    <a:bodyPr/>
                    <a:lstStyle/>
                    <a:p>
                      <a:pPr algn="ctr"/>
                      <a:r>
                        <a:rPr sz="750" b="0">
                          <a:solidFill>
                            <a:srgbClr val="1A1A1A"/>
                          </a:solidFill>
                        </a:rPr>
                        <a:t>TEC2</a:t>
                      </a:r>
                    </a:p>
                  </a:txBody>
                  <a:tcPr>
                    <a:noFill/>
                  </a:tcPr>
                </a:tc>
                <a:tc>
                  <a:txBody>
                    <a:bodyPr/>
                    <a:lstStyle/>
                    <a:p>
                      <a:pPr algn="ctr"/>
                      <a:r>
                        <a:rPr sz="750" b="0">
                          <a:solidFill>
                            <a:srgbClr val="1A1A1A"/>
                          </a:solidFill>
                        </a:rPr>
                        <a:t>Technology Corp 2</a:t>
                      </a:r>
                    </a:p>
                  </a:txBody>
                  <a:tcPr>
                    <a:noFill/>
                  </a:tcPr>
                </a:tc>
                <a:tc>
                  <a:txBody>
                    <a:bodyPr/>
                    <a:lstStyle/>
                    <a:p>
                      <a:pPr algn="ctr"/>
                      <a:r>
                        <a:rPr sz="750" b="0">
                          <a:solidFill>
                            <a:srgbClr val="1A1A1A"/>
                          </a:solidFill>
                        </a:rPr>
                        <a:t>52/100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90</a:t>
                      </a:r>
                    </a:p>
                  </a:txBody>
                  <a:tcPr>
                    <a:noFill/>
                  </a:tcPr>
                </a:tc>
                <a:tc>
                  <a:txBody>
                    <a:bodyPr/>
                    <a:lstStyle/>
                    <a:p>
                      <a:pPr algn="ctr"/>
                      <a:r>
                        <a:rPr sz="750" b="0">
                          <a:solidFill>
                            <a:srgbClr val="1A1A1A"/>
                          </a:solidFill>
                        </a:rPr>
                        <a:t>9.5x</a:t>
                      </a:r>
                    </a:p>
                  </a:txBody>
                  <a:tcPr>
                    <a:noFill/>
                  </a:tcPr>
                </a:tc>
                <a:tc>
                  <a:txBody>
                    <a:bodyPr/>
                    <a:lstStyle/>
                    <a:p>
                      <a:pPr algn="ctr"/>
                      <a:r>
                        <a:rPr sz="750" b="0">
                          <a:solidFill>
                            <a:srgbClr val="1A1A1A"/>
                          </a:solidFill>
                        </a:rPr>
                        <a:t>20.8 %</a:t>
                      </a:r>
                    </a:p>
                  </a:txBody>
                  <a:tcPr>
                    <a:noFill/>
                  </a:tcPr>
                </a:tc>
                <a:tc>
                  <a:txBody>
                    <a:bodyPr/>
                    <a:lstStyle/>
                    <a:p>
                      <a:pPr algn="ctr"/>
                      <a:r>
                        <a:rPr sz="750" b="0">
                          <a:solidFill>
                            <a:srgbClr val="1A1A1A"/>
                          </a:solidFill>
                        </a:rPr>
                        <a:t>+6.5 %</a:t>
                      </a:r>
                    </a:p>
                  </a:txBody>
                  <a:tcPr>
                    <a:noFill/>
                  </a:tcPr>
                </a:tc>
                <a:tc>
                  <a:txBody>
                    <a:bodyPr/>
                    <a:lstStyle/>
                    <a:p>
                      <a:pPr algn="ctr"/>
                      <a:r>
                        <a:rPr sz="750" b="0">
                          <a:solidFill>
                            <a:srgbClr val="1A1A1A"/>
                          </a:solidFill>
                        </a:rPr>
                        <a:t>+8.0 %</a:t>
                      </a:r>
                    </a:p>
                  </a:txBody>
                  <a:tcPr>
                    <a:noFill/>
                  </a:tcPr>
                </a:tc>
              </a:tr>
              <a:tr h="1872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TEC1</a:t>
                      </a:r>
                    </a:p>
                  </a:txBody>
                  <a:tcPr>
                    <a:solidFill>
                      <a:srgbClr val="F5F7FA"/>
                    </a:solidFill>
                  </a:tcPr>
                </a:tc>
                <a:tc>
                  <a:txBody>
                    <a:bodyPr/>
                    <a:lstStyle/>
                    <a:p>
                      <a:pPr algn="ctr"/>
                      <a:r>
                        <a:rPr sz="750" b="0">
                          <a:solidFill>
                            <a:srgbClr val="1A1A1A"/>
                          </a:solidFill>
                        </a:rPr>
                        <a:t>Technology Corp 1</a:t>
                      </a:r>
                    </a:p>
                  </a:txBody>
                  <a:tcPr>
                    <a:solidFill>
                      <a:srgbClr val="F5F7FA"/>
                    </a:solidFill>
                  </a:tcPr>
                </a:tc>
                <a:tc>
                  <a:txBody>
                    <a:bodyPr/>
                    <a:lstStyle/>
                    <a:p>
                      <a:pPr algn="ctr"/>
                      <a:r>
                        <a:rPr sz="750" b="0">
                          <a:solidFill>
                            <a:srgbClr val="1A1A1A"/>
                          </a:solidFill>
                        </a:rPr>
                        <a:t>48/100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80</a:t>
                      </a:r>
                    </a:p>
                  </a:txBody>
                  <a:tcPr>
                    <a:solidFill>
                      <a:srgbClr val="F5F7FA"/>
                    </a:solidFill>
                  </a:tcPr>
                </a:tc>
                <a:tc>
                  <a:txBody>
                    <a:bodyPr/>
                    <a:lstStyle/>
                    <a:p>
                      <a:pPr algn="ctr"/>
                      <a:r>
                        <a:rPr sz="750" b="0">
                          <a:solidFill>
                            <a:srgbClr val="1A1A1A"/>
                          </a:solidFill>
                        </a:rPr>
                        <a:t>8.0x</a:t>
                      </a:r>
                    </a:p>
                  </a:txBody>
                  <a:tcPr>
                    <a:solidFill>
                      <a:srgbClr val="F5F7FA"/>
                    </a:solidFill>
                  </a:tcPr>
                </a:tc>
                <a:tc>
                  <a:txBody>
                    <a:bodyPr/>
                    <a:lstStyle/>
                    <a:p>
                      <a:pPr algn="ctr"/>
                      <a:r>
                        <a:rPr sz="750" b="0">
                          <a:solidFill>
                            <a:srgbClr val="1A1A1A"/>
                          </a:solidFill>
                        </a:rPr>
                        <a:t>20.0 %</a:t>
                      </a:r>
                    </a:p>
                  </a:txBody>
                  <a:tcPr>
                    <a:solidFill>
                      <a:srgbClr val="F5F7FA"/>
                    </a:solidFill>
                  </a:tcPr>
                </a:tc>
                <a:tc>
                  <a:txBody>
                    <a:bodyPr/>
                    <a:lstStyle/>
                    <a:p>
                      <a:pPr algn="ctr"/>
                      <a:r>
                        <a:rPr sz="750" b="0">
                          <a:solidFill>
                            <a:srgbClr val="1A1A1A"/>
                          </a:solidFill>
                        </a:rPr>
                        <a:t>+5.0 %</a:t>
                      </a:r>
                    </a:p>
                  </a:txBody>
                  <a:tcPr>
                    <a:solidFill>
                      <a:srgbClr val="F5F7FA"/>
                    </a:solidFill>
                  </a:tcPr>
                </a:tc>
                <a:tc>
                  <a:txBody>
                    <a:bodyPr/>
                    <a:lstStyle/>
                    <a:p>
                      <a:pPr algn="ctr"/>
                      <a:r>
                        <a:rPr sz="750" b="0">
                          <a:solidFill>
                            <a:srgbClr val="1A1A1A"/>
                          </a:solidFill>
                        </a:rPr>
                        <a:t>+5.0 %</a:t>
                      </a:r>
                    </a:p>
                  </a:txBody>
                  <a:tcPr>
                    <a:solidFill>
                      <a:srgbClr val="F5F7FA"/>
                    </a:solidFill>
                  </a:tcPr>
                </a:tc>
              </a:tr>
            </a:tbl>
          </a:graphicData>
        </a:graphic>
      </p:graphicFrame>
      <p:sp>
        <p:nvSpPr>
          <p:cNvPr id="16" name="Rectangle 15"/>
          <p:cNvSpPr/>
          <p:nvPr/>
        </p:nvSpPr>
        <p:spPr>
          <a:xfrm>
            <a:off x="324000" y="26424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642400"/>
            <a:ext cx="360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2696400"/>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2948400"/>
            <a:ext cx="8280000" cy="1260000"/>
          </a:xfrm>
          <a:prstGeom prst="rect">
            <a:avLst/>
          </a:prstGeom>
          <a:noFill/>
        </p:spPr>
        <p:txBody>
          <a:bodyPr wrap="square">
            <a:spAutoFit/>
          </a:bodyPr>
          <a:lstStyle/>
          <a:p>
            <a:pPr algn="l"/>
            <a:r>
              <a:rPr sz="850" b="0" i="0">
                <a:solidFill>
                  <a:srgbClr val="555555"/>
                </a:solidFill>
              </a:rPr>
              <a:t>Le secteur Technology presente 1 BUY / 5 HOLD / 0 SELL sur 6 valeurs analysées. Technology Corp 6 (score 68/100) constitue le coeur offensif recommande — fondamentaux solides et visibilité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Classement EV/EBITDA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acteur  ·  Tri croissant  ·  Vert = sous mediane (opportunite relative)  ·  Top 15</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TEC2 offre la meilleure asymetrie — EV/EBITDA de 9.5x sous la mediane de 11.8x avec un score FinSight de 52/100.
TEC6 traite en prime (15.5x vs mediane 11.8x) — verifier si la croissance justifie ce multiple.
Mediane sectorielle : 11.8x. Les barres vertes sous cette ligne sont les candidats privilegies a analyser via Analyse Societe individuelle (DCF, WACC, scenarios).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14112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01600">
                <a:tc>
                  <a:txBody>
                    <a:bodyPr/>
                    <a:lstStyle/>
                    <a:p>
                      <a:pPr algn="ctr"/>
                      <a:r>
                        <a:rPr sz="750" b="0">
                          <a:solidFill>
                            <a:srgbClr val="1A1A1A"/>
                          </a:solidFill>
                        </a:rPr>
                        <a:t>TEC6</a:t>
                      </a:r>
                    </a:p>
                  </a:txBody>
                  <a:tcPr>
                    <a:noFill/>
                  </a:tcPr>
                </a:tc>
                <a:tc>
                  <a:txBody>
                    <a:bodyPr/>
                    <a:lstStyle/>
                    <a:p>
                      <a:pPr algn="ctr"/>
                      <a:r>
                        <a:rPr sz="750" b="0">
                          <a:solidFill>
                            <a:srgbClr val="1A1A1A"/>
                          </a:solidFill>
                        </a:rPr>
                        <a:t>Technology Corp 6</a:t>
                      </a:r>
                    </a:p>
                  </a:txBody>
                  <a:tcPr>
                    <a:noFill/>
                  </a:tcPr>
                </a:tc>
                <a:tc>
                  <a:txBody>
                    <a:bodyPr/>
                    <a:lstStyle/>
                    <a:p>
                      <a:pPr algn="ctr"/>
                      <a:r>
                        <a:rPr sz="750" b="0">
                          <a:solidFill>
                            <a:srgbClr val="1A1A1A"/>
                          </a:solidFill>
                        </a:rPr>
                        <a:t>68/100</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TEC5</a:t>
                      </a:r>
                    </a:p>
                  </a:txBody>
                  <a:tcPr>
                    <a:solidFill>
                      <a:srgbClr val="F5F7FA"/>
                    </a:solidFill>
                  </a:tcPr>
                </a:tc>
                <a:tc>
                  <a:txBody>
                    <a:bodyPr/>
                    <a:lstStyle/>
                    <a:p>
                      <a:pPr algn="ctr"/>
                      <a:r>
                        <a:rPr sz="750" b="0">
                          <a:solidFill>
                            <a:srgbClr val="1A1A1A"/>
                          </a:solidFill>
                        </a:rPr>
                        <a:t>Technology Corp 5</a:t>
                      </a:r>
                    </a:p>
                  </a:txBody>
                  <a:tcPr>
                    <a:solidFill>
                      <a:srgbClr val="F5F7FA"/>
                    </a:solidFill>
                  </a:tcPr>
                </a:tc>
                <a:tc>
                  <a:txBody>
                    <a:bodyPr/>
                    <a:lstStyle/>
                    <a:p>
                      <a:pPr algn="ctr"/>
                      <a:r>
                        <a:rPr sz="750" b="0">
                          <a:solidFill>
                            <a:srgbClr val="1A1A1A"/>
                          </a:solidFill>
                        </a:rPr>
                        <a:t>64/100</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TEC4</a:t>
                      </a:r>
                    </a:p>
                  </a:txBody>
                  <a:tcPr>
                    <a:noFill/>
                  </a:tcPr>
                </a:tc>
                <a:tc>
                  <a:txBody>
                    <a:bodyPr/>
                    <a:lstStyle/>
                    <a:p>
                      <a:pPr algn="ctr"/>
                      <a:r>
                        <a:rPr sz="750" b="0">
                          <a:solidFill>
                            <a:srgbClr val="1A1A1A"/>
                          </a:solidFill>
                        </a:rPr>
                        <a:t>Technology Corp 4</a:t>
                      </a:r>
                    </a:p>
                  </a:txBody>
                  <a:tcPr>
                    <a:noFill/>
                  </a:tcPr>
                </a:tc>
                <a:tc>
                  <a:txBody>
                    <a:bodyPr/>
                    <a:lstStyle/>
                    <a:p>
                      <a:pPr algn="ctr"/>
                      <a:r>
                        <a:rPr sz="750" b="0">
                          <a:solidFill>
                            <a:srgbClr val="1A1A1A"/>
                          </a:solidFill>
                        </a:rPr>
                        <a:t>60/100</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TEC3</a:t>
                      </a:r>
                    </a:p>
                  </a:txBody>
                  <a:tcPr>
                    <a:solidFill>
                      <a:srgbClr val="F5F7FA"/>
                    </a:solidFill>
                  </a:tcPr>
                </a:tc>
                <a:tc>
                  <a:txBody>
                    <a:bodyPr/>
                    <a:lstStyle/>
                    <a:p>
                      <a:pPr algn="ctr"/>
                      <a:r>
                        <a:rPr sz="750" b="0">
                          <a:solidFill>
                            <a:srgbClr val="1A1A1A"/>
                          </a:solidFill>
                        </a:rPr>
                        <a:t>Technology Corp 3</a:t>
                      </a:r>
                    </a:p>
                  </a:txBody>
                  <a:tcPr>
                    <a:solidFill>
                      <a:srgbClr val="F5F7FA"/>
                    </a:solidFill>
                  </a:tcPr>
                </a:tc>
                <a:tc>
                  <a:txBody>
                    <a:bodyPr/>
                    <a:lstStyle/>
                    <a:p>
                      <a:pPr algn="ctr"/>
                      <a:r>
                        <a:rPr sz="750" b="0">
                          <a:solidFill>
                            <a:srgbClr val="1A1A1A"/>
                          </a:solidFill>
                        </a:rPr>
                        <a:t>56/100</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TEC2</a:t>
                      </a:r>
                    </a:p>
                  </a:txBody>
                  <a:tcPr>
                    <a:noFill/>
                  </a:tcPr>
                </a:tc>
                <a:tc>
                  <a:txBody>
                    <a:bodyPr/>
                    <a:lstStyle/>
                    <a:p>
                      <a:pPr algn="ctr"/>
                      <a:r>
                        <a:rPr sz="750" b="0">
                          <a:solidFill>
                            <a:srgbClr val="1A1A1A"/>
                          </a:solidFill>
                        </a:rPr>
                        <a:t>Technology Corp 2</a:t>
                      </a:r>
                    </a:p>
                  </a:txBody>
                  <a:tcPr>
                    <a:noFill/>
                  </a:tcPr>
                </a:tc>
                <a:tc>
                  <a:txBody>
                    <a:bodyPr/>
                    <a:lstStyle/>
                    <a:p>
                      <a:pPr algn="ctr"/>
                      <a:r>
                        <a:rPr sz="750" b="0">
                          <a:solidFill>
                            <a:srgbClr val="1A1A1A"/>
                          </a:solidFill>
                        </a:rPr>
                        <a:t>52/100</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TEC1</a:t>
                      </a:r>
                    </a:p>
                  </a:txBody>
                  <a:tcPr>
                    <a:solidFill>
                      <a:srgbClr val="F5F7FA"/>
                    </a:solidFill>
                  </a:tcPr>
                </a:tc>
                <a:tc>
                  <a:txBody>
                    <a:bodyPr/>
                    <a:lstStyle/>
                    <a:p>
                      <a:pPr algn="ctr"/>
                      <a:r>
                        <a:rPr sz="750" b="0">
                          <a:solidFill>
                            <a:srgbClr val="1A1A1A"/>
                          </a:solidFill>
                        </a:rPr>
                        <a:t>Technology Corp 1</a:t>
                      </a:r>
                    </a:p>
                  </a:txBody>
                  <a:tcPr>
                    <a:solidFill>
                      <a:srgbClr val="F5F7FA"/>
                    </a:solidFill>
                  </a:tcPr>
                </a:tc>
                <a:tc>
                  <a:txBody>
                    <a:bodyPr/>
                    <a:lstStyle/>
                    <a:p>
                      <a:pPr algn="ctr"/>
                      <a:r>
                        <a:rPr sz="750" b="0">
                          <a:solidFill>
                            <a:srgbClr val="1A1A1A"/>
                          </a:solidFill>
                        </a:rPr>
                        <a:t>48/100</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HOLD</a:t>
                      </a:r>
                    </a:p>
                  </a:txBody>
                  <a:tcPr>
                    <a:solidFill>
                      <a:srgbClr val="F5F7FA"/>
                    </a:solidFill>
                  </a:tcPr>
                </a:tc>
              </a:tr>
            </a:tbl>
          </a:graphicData>
        </a:graphic>
      </p:graphicFrame>
      <p:sp>
        <p:nvSpPr>
          <p:cNvPr id="16" name="Rectangle 15"/>
          <p:cNvSpPr/>
          <p:nvPr/>
        </p:nvSpPr>
        <p:spPr>
          <a:xfrm>
            <a:off x="324000" y="28152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152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2833200"/>
            <a:ext cx="8352000" cy="216000"/>
          </a:xfrm>
          <a:prstGeom prst="rect">
            <a:avLst/>
          </a:prstGeom>
          <a:noFill/>
        </p:spPr>
        <p:txBody>
          <a:bodyPr wrap="square">
            <a:spAutoFit/>
          </a:bodyPr>
          <a:lstStyle/>
          <a:p>
            <a:pPr algn="l"/>
            <a:r>
              <a:rPr sz="750" b="1" i="0">
                <a:solidFill>
                  <a:srgbClr val="FFFFFF"/>
                </a:solidFill>
              </a:rPr>
              <a:t>SYNTHESE SCORES  ·  Score &gt;= 75 = fort  ·  50-74 = moyen  ·  &lt; 50 = faible  ·  Ponderations : Value / Growth / Quality / Momentum = 25 % chacun</a:t>
            </a:r>
          </a:p>
        </p:txBody>
      </p:sp>
      <p:sp>
        <p:nvSpPr>
          <p:cNvPr id="19" name="TextBox 18"/>
          <p:cNvSpPr txBox="1"/>
          <p:nvPr/>
        </p:nvSpPr>
        <p:spPr>
          <a:xfrm>
            <a:off x="396000" y="3121200"/>
            <a:ext cx="8352000" cy="1260000"/>
          </a:xfrm>
          <a:prstGeom prst="rect">
            <a:avLst/>
          </a:prstGeom>
          <a:noFill/>
        </p:spPr>
        <p:txBody>
          <a:bodyPr wrap="square">
            <a:spAutoFit/>
          </a:bodyPr>
          <a:lstStyle/>
          <a:p>
            <a:pPr algn="l"/>
            <a:r>
              <a:rPr sz="850" b="0" i="0">
                <a:solidFill>
                  <a:srgbClr val="555555"/>
                </a:solidFill>
              </a:rPr>
              <a:t>Technology Corp 6 presente le profil le plus equilibre du secteur (68/100) avec des scores Value=17, Growth=17, Quality=17, Momentum=17. La dispersion des scores entre les 6 societes reflete des profils heterogenes — une allocation selective privilegiant les leaders qualitatifs est recommandee dans la configuration sectorielle actuelle.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TEC6</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Technology Corp 6</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156</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15.5x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24.0 %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3.3</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Les dépenses en solutions d'IA générative devraient croître de +35% en 2024, boostant les revenus des éditeurs de logiciels spécialisés comme TEC6.</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Les enquêtes accrues des régulateurs (UE, USA) sur les géants technologiques pourraient entraîner des amendes ou des restrictions opérationnelles.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TEC5</a:t>
            </a:r>
          </a:p>
        </p:txBody>
      </p:sp>
      <p:sp>
        <p:nvSpPr>
          <p:cNvPr id="45" name="Rectangle 44"/>
          <p:cNvSpPr/>
          <p:nvPr/>
        </p:nvSpPr>
        <p:spPr>
          <a:xfrm>
            <a:off x="511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HOLD</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Technology Corp 5</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130</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14.0x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23.2 %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3.2</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La hausse des cyberattaques (+20% en 2023) accélère les investissements des entreprises dans des solutions de sécurité avancées, bénéficiant aux acteurs comme</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La montée en puissance des acteurs chinois (ex: Huawei, ByteDance) exerce une pression tarifaire sur les marges des entreprises occidentales.</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TEC4</a:t>
            </a:r>
          </a:p>
        </p:txBody>
      </p:sp>
      <p:sp>
        <p:nvSpPr>
          <p:cNvPr id="72" name="Rectangle 71"/>
          <p:cNvSpPr/>
          <p:nvPr/>
        </p:nvSpPr>
        <p:spPr>
          <a:xfrm>
            <a:off x="799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HOLD</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Technology Corp 4</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119</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12.5x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22.4 %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3.1</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Le déploiement des réseaux 5G et IoT stimule la demande pour des infrastructures edge, créant des opportunités pour les fournisseurs de TEC4.</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Une hausse prolongée des taux d'intérêt augmenterait le coût du capital, pesant sur les valorisations des entreprises à forte croissance.</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(11.8x)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2 acteur(s) se detachent nettement du reste du secteur, creant une prime de valorisation significative vs la médiane de 11.8x.
2 societe(s) se traitent sous la médiane — potentiellement les meilleures asymetries risque/rendement sous reserve de catalyseurs fondamentaux.
La dispersion des multiples est caracteristique d'un secteur Technology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négatif + sentiment négatif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définie par la convergence de 3 signaux : décote &gt; 10 % vs DCF Base · momentum 52W négatif · sentiment FinBERT négatif.</a:t>
            </a:r>
          </a:p>
        </p:txBody>
      </p:sp>
      <p:graphicFrame>
        <p:nvGraphicFramePr>
          <p:cNvPr id="18" name="Table 17"/>
          <p:cNvGraphicFramePr>
            <a:graphicFrameLocks noGrp="1"/>
          </p:cNvGraphicFramePr>
          <p:nvPr/>
        </p:nvGraphicFramePr>
        <p:xfrm>
          <a:off x="324000" y="1260000"/>
          <a:ext cx="8495997" cy="13104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872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 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87200">
                <a:tc>
                  <a:txBody>
                    <a:bodyPr/>
                    <a:lstStyle/>
                    <a:p>
                      <a:pPr algn="ctr"/>
                      <a:r>
                        <a:rPr sz="750" b="0">
                          <a:solidFill>
                            <a:srgbClr val="1A1A1A"/>
                          </a:solidFill>
                        </a:rPr>
                        <a:t>TEC6</a:t>
                      </a:r>
                    </a:p>
                  </a:txBody>
                  <a:tcPr>
                    <a:noFill/>
                  </a:tcPr>
                </a:tc>
                <a:tc>
                  <a:txBody>
                    <a:bodyPr/>
                    <a:lstStyle/>
                    <a:p>
                      <a:pPr algn="ctr"/>
                      <a:r>
                        <a:rPr sz="750" b="0">
                          <a:solidFill>
                            <a:srgbClr val="1A1A1A"/>
                          </a:solidFill>
                        </a:rPr>
                        <a:t>Technology Corp 6</a:t>
                      </a:r>
                    </a:p>
                  </a:txBody>
                  <a:tcPr>
                    <a:noFill/>
                  </a:tcPr>
                </a:tc>
                <a:tc>
                  <a:txBody>
                    <a:bodyPr/>
                    <a:lstStyle/>
                    <a:p>
                      <a:pPr algn="ctr"/>
                      <a:r>
                        <a:rPr sz="750" b="0">
                          <a:solidFill>
                            <a:srgbClr val="1A1A1A"/>
                          </a:solidFill>
                        </a:rPr>
                        <a:t>130</a:t>
                      </a:r>
                    </a:p>
                  </a:txBody>
                  <a:tcPr>
                    <a:noFill/>
                  </a:tcPr>
                </a:tc>
                <a:tc>
                  <a:txBody>
                    <a:bodyPr/>
                    <a:lstStyle/>
                    <a:p>
                      <a:pPr algn="ctr"/>
                      <a:r>
                        <a:rPr sz="750" b="0">
                          <a:solidFill>
                            <a:srgbClr val="1A1A1A"/>
                          </a:solidFill>
                        </a:rPr>
                        <a:t>149.5</a:t>
                      </a:r>
                    </a:p>
                  </a:txBody>
                  <a:tcPr>
                    <a:noFill/>
                  </a:tcPr>
                </a:tc>
                <a:tc>
                  <a:txBody>
                    <a:bodyPr/>
                    <a:lstStyle/>
                    <a:p>
                      <a:pPr algn="ctr"/>
                      <a:r>
                        <a:rPr sz="750" b="0">
                          <a:solidFill>
                            <a:srgbClr val="1A1A1A"/>
                          </a:solidFill>
                        </a:rPr>
                        <a:t>&lt; 123.5</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TEC5</a:t>
                      </a:r>
                    </a:p>
                  </a:txBody>
                  <a:tcPr>
                    <a:solidFill>
                      <a:srgbClr val="F5F7FA"/>
                    </a:solidFill>
                  </a:tcPr>
                </a:tc>
                <a:tc>
                  <a:txBody>
                    <a:bodyPr/>
                    <a:lstStyle/>
                    <a:p>
                      <a:pPr algn="ctr"/>
                      <a:r>
                        <a:rPr sz="750" b="0">
                          <a:solidFill>
                            <a:srgbClr val="1A1A1A"/>
                          </a:solidFill>
                        </a:rPr>
                        <a:t>Technology Corp 5</a:t>
                      </a:r>
                    </a:p>
                  </a:txBody>
                  <a:tcPr>
                    <a:solidFill>
                      <a:srgbClr val="F5F7FA"/>
                    </a:solidFill>
                  </a:tcPr>
                </a:tc>
                <a:tc>
                  <a:txBody>
                    <a:bodyPr/>
                    <a:lstStyle/>
                    <a:p>
                      <a:pPr algn="ctr"/>
                      <a:r>
                        <a:rPr sz="750" b="0">
                          <a:solidFill>
                            <a:srgbClr val="1A1A1A"/>
                          </a:solidFill>
                        </a:rPr>
                        <a:t>120</a:t>
                      </a:r>
                    </a:p>
                  </a:txBody>
                  <a:tcPr>
                    <a:solidFill>
                      <a:srgbClr val="F5F7FA"/>
                    </a:solidFill>
                  </a:tcPr>
                </a:tc>
                <a:tc>
                  <a:txBody>
                    <a:bodyPr/>
                    <a:lstStyle/>
                    <a:p>
                      <a:pPr algn="ctr"/>
                      <a:r>
                        <a:rPr sz="750" b="0">
                          <a:solidFill>
                            <a:srgbClr val="1A1A1A"/>
                          </a:solidFill>
                        </a:rPr>
                        <a:t>138.0</a:t>
                      </a:r>
                    </a:p>
                  </a:txBody>
                  <a:tcPr>
                    <a:solidFill>
                      <a:srgbClr val="F5F7FA"/>
                    </a:solidFill>
                  </a:tcPr>
                </a:tc>
                <a:tc>
                  <a:txBody>
                    <a:bodyPr/>
                    <a:lstStyle/>
                    <a:p>
                      <a:pPr algn="ctr"/>
                      <a:r>
                        <a:rPr sz="750" b="0">
                          <a:solidFill>
                            <a:srgbClr val="1A1A1A"/>
                          </a:solidFill>
                        </a:rPr>
                        <a:t>&lt; 114.0</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87200">
                <a:tc>
                  <a:txBody>
                    <a:bodyPr/>
                    <a:lstStyle/>
                    <a:p>
                      <a:pPr algn="ctr"/>
                      <a:r>
                        <a:rPr sz="750" b="0">
                          <a:solidFill>
                            <a:srgbClr val="1A1A1A"/>
                          </a:solidFill>
                        </a:rPr>
                        <a:t>TEC4</a:t>
                      </a:r>
                    </a:p>
                  </a:txBody>
                  <a:tcPr>
                    <a:noFill/>
                  </a:tcPr>
                </a:tc>
                <a:tc>
                  <a:txBody>
                    <a:bodyPr/>
                    <a:lstStyle/>
                    <a:p>
                      <a:pPr algn="ctr"/>
                      <a:r>
                        <a:rPr sz="750" b="0">
                          <a:solidFill>
                            <a:srgbClr val="1A1A1A"/>
                          </a:solidFill>
                        </a:rPr>
                        <a:t>Technology Corp 4</a:t>
                      </a:r>
                    </a:p>
                  </a:txBody>
                  <a:tcPr>
                    <a:noFill/>
                  </a:tcPr>
                </a:tc>
                <a:tc>
                  <a:txBody>
                    <a:bodyPr/>
                    <a:lstStyle/>
                    <a:p>
                      <a:pPr algn="ctr"/>
                      <a:r>
                        <a:rPr sz="750" b="0">
                          <a:solidFill>
                            <a:srgbClr val="1A1A1A"/>
                          </a:solidFill>
                        </a:rPr>
                        <a:t>110</a:t>
                      </a:r>
                    </a:p>
                  </a:txBody>
                  <a:tcPr>
                    <a:noFill/>
                  </a:tcPr>
                </a:tc>
                <a:tc>
                  <a:txBody>
                    <a:bodyPr/>
                    <a:lstStyle/>
                    <a:p>
                      <a:pPr algn="ctr"/>
                      <a:r>
                        <a:rPr sz="750" b="0">
                          <a:solidFill>
                            <a:srgbClr val="1A1A1A"/>
                          </a:solidFill>
                        </a:rPr>
                        <a:t>126.5</a:t>
                      </a:r>
                    </a:p>
                  </a:txBody>
                  <a:tcPr>
                    <a:noFill/>
                  </a:tcPr>
                </a:tc>
                <a:tc>
                  <a:txBody>
                    <a:bodyPr/>
                    <a:lstStyle/>
                    <a:p>
                      <a:pPr algn="ctr"/>
                      <a:r>
                        <a:rPr sz="750" b="0">
                          <a:solidFill>
                            <a:srgbClr val="1A1A1A"/>
                          </a:solidFill>
                        </a:rPr>
                        <a:t>&lt; 104.5</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87200">
                <a:tc>
                  <a:txBody>
                    <a:bodyPr/>
                    <a:lstStyle/>
                    <a:p>
                      <a:pPr algn="ctr"/>
                      <a:r>
                        <a:rPr sz="750" b="0">
                          <a:solidFill>
                            <a:srgbClr val="1A1A1A"/>
                          </a:solidFill>
                        </a:rPr>
                        <a:t>TEC3</a:t>
                      </a:r>
                    </a:p>
                  </a:txBody>
                  <a:tcPr>
                    <a:solidFill>
                      <a:srgbClr val="F5F7FA"/>
                    </a:solidFill>
                  </a:tcPr>
                </a:tc>
                <a:tc>
                  <a:txBody>
                    <a:bodyPr/>
                    <a:lstStyle/>
                    <a:p>
                      <a:pPr algn="ctr"/>
                      <a:r>
                        <a:rPr sz="750" b="0">
                          <a:solidFill>
                            <a:srgbClr val="1A1A1A"/>
                          </a:solidFill>
                        </a:rPr>
                        <a:t>Technology Corp 3</a:t>
                      </a:r>
                    </a:p>
                  </a:txBody>
                  <a:tcPr>
                    <a:solidFill>
                      <a:srgbClr val="F5F7FA"/>
                    </a:solidFill>
                  </a:tcPr>
                </a:tc>
                <a:tc>
                  <a:txBody>
                    <a:bodyPr/>
                    <a:lstStyle/>
                    <a:p>
                      <a:pPr algn="ctr"/>
                      <a:r>
                        <a:rPr sz="750" b="0">
                          <a:solidFill>
                            <a:srgbClr val="1A1A1A"/>
                          </a:solidFill>
                        </a:rPr>
                        <a:t>100</a:t>
                      </a:r>
                    </a:p>
                  </a:txBody>
                  <a:tcPr>
                    <a:solidFill>
                      <a:srgbClr val="F5F7FA"/>
                    </a:solidFill>
                  </a:tcPr>
                </a:tc>
                <a:tc>
                  <a:txBody>
                    <a:bodyPr/>
                    <a:lstStyle/>
                    <a:p>
                      <a:pPr algn="ctr"/>
                      <a:r>
                        <a:rPr sz="750" b="0">
                          <a:solidFill>
                            <a:srgbClr val="1A1A1A"/>
                          </a:solidFill>
                        </a:rPr>
                        <a:t>115.0</a:t>
                      </a:r>
                    </a:p>
                  </a:txBody>
                  <a:tcPr>
                    <a:solidFill>
                      <a:srgbClr val="F5F7FA"/>
                    </a:solidFill>
                  </a:tcPr>
                </a:tc>
                <a:tc>
                  <a:txBody>
                    <a:bodyPr/>
                    <a:lstStyle/>
                    <a:p>
                      <a:pPr algn="ctr"/>
                      <a:r>
                        <a:rPr sz="750" b="0">
                          <a:solidFill>
                            <a:srgbClr val="1A1A1A"/>
                          </a:solidFill>
                        </a:rPr>
                        <a:t>&lt; 95.0</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87200">
                <a:tc>
                  <a:txBody>
                    <a:bodyPr/>
                    <a:lstStyle/>
                    <a:p>
                      <a:pPr algn="ctr"/>
                      <a:r>
                        <a:rPr sz="750" b="0">
                          <a:solidFill>
                            <a:srgbClr val="1A1A1A"/>
                          </a:solidFill>
                        </a:rPr>
                        <a:t>TEC2</a:t>
                      </a:r>
                    </a:p>
                  </a:txBody>
                  <a:tcPr>
                    <a:noFill/>
                  </a:tcPr>
                </a:tc>
                <a:tc>
                  <a:txBody>
                    <a:bodyPr/>
                    <a:lstStyle/>
                    <a:p>
                      <a:pPr algn="ctr"/>
                      <a:r>
                        <a:rPr sz="750" b="0">
                          <a:solidFill>
                            <a:srgbClr val="1A1A1A"/>
                          </a:solidFill>
                        </a:rPr>
                        <a:t>Technology Corp 2</a:t>
                      </a:r>
                    </a:p>
                  </a:txBody>
                  <a:tcPr>
                    <a:noFill/>
                  </a:tcPr>
                </a:tc>
                <a:tc>
                  <a:txBody>
                    <a:bodyPr/>
                    <a:lstStyle/>
                    <a:p>
                      <a:pPr algn="ctr"/>
                      <a:r>
                        <a:rPr sz="750" b="0">
                          <a:solidFill>
                            <a:srgbClr val="1A1A1A"/>
                          </a:solidFill>
                        </a:rPr>
                        <a:t>90</a:t>
                      </a:r>
                    </a:p>
                  </a:txBody>
                  <a:tcPr>
                    <a:noFill/>
                  </a:tcPr>
                </a:tc>
                <a:tc>
                  <a:txBody>
                    <a:bodyPr/>
                    <a:lstStyle/>
                    <a:p>
                      <a:pPr algn="ctr"/>
                      <a:r>
                        <a:rPr sz="750" b="0">
                          <a:solidFill>
                            <a:srgbClr val="1A1A1A"/>
                          </a:solidFill>
                        </a:rPr>
                        <a:t>103.5</a:t>
                      </a:r>
                    </a:p>
                  </a:txBody>
                  <a:tcPr>
                    <a:noFill/>
                  </a:tcPr>
                </a:tc>
                <a:tc>
                  <a:txBody>
                    <a:bodyPr/>
                    <a:lstStyle/>
                    <a:p>
                      <a:pPr algn="ctr"/>
                      <a:r>
                        <a:rPr sz="750" b="0">
                          <a:solidFill>
                            <a:srgbClr val="1A1A1A"/>
                          </a:solidFill>
                        </a:rPr>
                        <a:t>&lt; 85.5</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87200">
                <a:tc>
                  <a:txBody>
                    <a:bodyPr/>
                    <a:lstStyle/>
                    <a:p>
                      <a:pPr algn="ctr"/>
                      <a:r>
                        <a:rPr sz="750" b="0">
                          <a:solidFill>
                            <a:srgbClr val="1A1A1A"/>
                          </a:solidFill>
                        </a:rPr>
                        <a:t>TEC1</a:t>
                      </a:r>
                    </a:p>
                  </a:txBody>
                  <a:tcPr>
                    <a:solidFill>
                      <a:srgbClr val="F5F7FA"/>
                    </a:solidFill>
                  </a:tcPr>
                </a:tc>
                <a:tc>
                  <a:txBody>
                    <a:bodyPr/>
                    <a:lstStyle/>
                    <a:p>
                      <a:pPr algn="ctr"/>
                      <a:r>
                        <a:rPr sz="750" b="0">
                          <a:solidFill>
                            <a:srgbClr val="1A1A1A"/>
                          </a:solidFill>
                        </a:rPr>
                        <a:t>Technology Corp 1</a:t>
                      </a:r>
                    </a:p>
                  </a:txBody>
                  <a:tcPr>
                    <a:solidFill>
                      <a:srgbClr val="F5F7FA"/>
                    </a:solidFill>
                  </a:tcPr>
                </a:tc>
                <a:tc>
                  <a:txBody>
                    <a:bodyPr/>
                    <a:lstStyle/>
                    <a:p>
                      <a:pPr algn="ctr"/>
                      <a:r>
                        <a:rPr sz="750" b="0">
                          <a:solidFill>
                            <a:srgbClr val="1A1A1A"/>
                          </a:solidFill>
                        </a:rPr>
                        <a:t>80</a:t>
                      </a:r>
                    </a:p>
                  </a:txBody>
                  <a:tcPr>
                    <a:solidFill>
                      <a:srgbClr val="F5F7FA"/>
                    </a:solidFill>
                  </a:tcPr>
                </a:tc>
                <a:tc>
                  <a:txBody>
                    <a:bodyPr/>
                    <a:lstStyle/>
                    <a:p>
                      <a:pPr algn="ctr"/>
                      <a:r>
                        <a:rPr sz="750" b="0">
                          <a:solidFill>
                            <a:srgbClr val="1A1A1A"/>
                          </a:solidFill>
                        </a:rPr>
                        <a:t>92.0</a:t>
                      </a:r>
                    </a:p>
                  </a:txBody>
                  <a:tcPr>
                    <a:solidFill>
                      <a:srgbClr val="F5F7FA"/>
                    </a:solidFill>
                  </a:tcPr>
                </a:tc>
                <a:tc>
                  <a:txBody>
                    <a:bodyPr/>
                    <a:lstStyle/>
                    <a:p>
                      <a:pPr algn="ctr"/>
                      <a:r>
                        <a:rPr sz="750" b="0">
                          <a:solidFill>
                            <a:srgbClr val="1A1A1A"/>
                          </a:solidFill>
                        </a:rPr>
                        <a:t>&lt; 76.0</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bl>
          </a:graphicData>
        </a:graphic>
      </p:graphicFrame>
      <p:sp>
        <p:nvSpPr>
          <p:cNvPr id="19" name="Rectangle 18"/>
          <p:cNvSpPr/>
          <p:nvPr/>
        </p:nvSpPr>
        <p:spPr>
          <a:xfrm>
            <a:off x="324000" y="2750400"/>
            <a:ext cx="8496000" cy="900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2750400"/>
            <a:ext cx="36000" cy="90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2779200"/>
            <a:ext cx="8316000" cy="180000"/>
          </a:xfrm>
          <a:prstGeom prst="rect">
            <a:avLst/>
          </a:prstGeom>
          <a:noFill/>
        </p:spPr>
        <p:txBody>
          <a:bodyPr wrap="square">
            <a:spAutoFit/>
          </a:bodyPr>
          <a:lstStyle/>
          <a:p>
            <a:pPr algn="l"/>
            <a:r>
              <a:rPr sz="750" b="1" i="0">
                <a:solidFill>
                  <a:srgbClr val="B06000"/>
                </a:solidFill>
              </a:rPr>
              <a:t>NOTE METHODOLOGIQUE</a:t>
            </a:r>
          </a:p>
        </p:txBody>
      </p:sp>
      <p:sp>
        <p:nvSpPr>
          <p:cNvPr id="22" name="TextBox 21"/>
          <p:cNvSpPr txBox="1"/>
          <p:nvPr/>
        </p:nvSpPr>
        <p:spPr>
          <a:xfrm>
            <a:off x="468000" y="2966400"/>
            <a:ext cx="8316000" cy="666000"/>
          </a:xfrm>
          <a:prstGeom prst="rect">
            <a:avLst/>
          </a:prstGeom>
          <a:noFill/>
        </p:spPr>
        <p:txBody>
          <a:bodyPr wrap="square">
            <a:spAutoFit/>
          </a:bodyPr>
          <a:lstStyle/>
          <a:p>
            <a:pPr algn="l"/>
            <a:r>
              <a:rPr sz="750" b="0" i="0">
                <a:solidFill>
                  <a:srgbClr val="555555"/>
                </a:solidFill>
              </a:rPr>
              <a:t>La probabilite de rendement positif a 12 mois est calculee sur des configurations similaires identifiees en backtesting sur donnees historiques (2010-2024). Elle ne constitue pas une garantie de performance future.</a:t>
            </a:r>
          </a:p>
        </p:txBody>
      </p:sp>
      <p:sp>
        <p:nvSpPr>
          <p:cNvPr id="23" name="Rectangle 22"/>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Thèse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Régulation antitrust</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Les enquêtes accrues des régulateurs (UE, USA) sur les géants technologiques pourraient entraîner des amendes ou des restrictions opérationnelles.</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Concurrence asiatique</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La montée en puissance des acteurs chinois (ex: Huawei, ByteDance) exerce une pression tarifaire sur les marges des entreprises occidentales.</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Volatilité des taux</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Une hausse prolongée des taux d'intérêt augmenterait le coût du capital, pesant sur les valorisations des entreprises à forte croissance.</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thèse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Recession confirmee — 2 trimestres négatifs</a:t>
                      </a:r>
                    </a:p>
                  </a:txBody>
                  <a:tcPr>
                    <a:noFill/>
                  </a:tcPr>
                </a:tc>
                <a:tc>
                  <a:txBody>
                    <a:bodyPr/>
                    <a:lstStyle/>
                    <a:p>
                      <a:pPr algn="ctr"/>
                      <a:r>
                        <a:rPr sz="800" b="0">
                          <a:solidFill>
                            <a:srgbClr val="1A1A1A"/>
                          </a:solidFill>
                        </a:rPr>
                        <a:t>6-9 mois</a:t>
                      </a:r>
                    </a:p>
                  </a:txBody>
                  <a:tcPr>
                    <a:noFill/>
                  </a:tcPr>
                </a:tc>
              </a:tr>
              <a:tr h="223200">
                <a:tc>
                  <a:txBody>
                    <a:bodyPr/>
                    <a:lstStyle/>
                    <a:p>
                      <a:pPr algn="ctr"/>
                      <a:r>
                        <a:rPr sz="800" b="0">
                          <a:solidFill>
                            <a:srgbClr val="1A1A1A"/>
                          </a:solidFill>
                        </a:rPr>
                        <a:t>Sectoriel</a:t>
                      </a:r>
                    </a:p>
                  </a:txBody>
                  <a:tcPr>
                    <a:solidFill>
                      <a:srgbClr val="F5F7FA"/>
                    </a:solidFill>
                  </a:tcPr>
                </a:tc>
                <a:tc>
                  <a:txBody>
                    <a:bodyPr/>
                    <a:lstStyle/>
                    <a:p>
                      <a:pPr algn="ctr"/>
                      <a:r>
                        <a:rPr sz="800" b="0">
                          <a:solidFill>
                            <a:srgbClr val="1A1A1A"/>
                          </a:solidFill>
                        </a:rPr>
                        <a:t>Score moyen &lt; 43 — degradation generalisee</a:t>
                      </a:r>
                    </a:p>
                  </a:txBody>
                  <a:tcPr>
                    <a:solidFill>
                      <a:srgbClr val="F5F7FA"/>
                    </a:solidFill>
                  </a:tcPr>
                </a:tc>
                <a:tc>
                  <a:txBody>
                    <a:bodyPr/>
                    <a:lstStyle/>
                    <a:p>
                      <a:pPr algn="ctr"/>
                      <a:r>
                        <a:rPr sz="800" b="0">
                          <a:solidFill>
                            <a:srgbClr val="1A1A1A"/>
                          </a:solidFill>
                        </a:rPr>
                        <a:t>6-12 mois</a:t>
                      </a:r>
                    </a:p>
                  </a:txBody>
                  <a:tcPr>
                    <a:solidFill>
                      <a:srgbClr val="F5F7FA"/>
                    </a:solidFill>
                  </a:tcPr>
                </a:tc>
              </a:tr>
              <a:tr h="223200">
                <a:tc>
                  <a:txBody>
                    <a:bodyPr/>
                    <a:lstStyle/>
                    <a:p>
                      <a:pPr algn="ctr"/>
                      <a:r>
                        <a:rPr sz="800" b="0">
                          <a:solidFill>
                            <a:srgbClr val="1A1A1A"/>
                          </a:solidFill>
                        </a:rPr>
                        <a:t>Fondamental</a:t>
                      </a:r>
                    </a:p>
                  </a:txBody>
                  <a:tcPr>
                    <a:noFill/>
                  </a:tcPr>
                </a:tc>
                <a:tc>
                  <a:txBody>
                    <a:bodyPr/>
                    <a:lstStyle/>
                    <a:p>
                      <a:pPr algn="ctr"/>
                      <a:r>
                        <a:rPr sz="800" b="0">
                          <a:solidFill>
                            <a:srgbClr val="1A1A1A"/>
                          </a:solidFill>
                        </a:rPr>
                        <a:t>Revision baissiere EPS &gt; 15 %</a:t>
                      </a:r>
                    </a:p>
                  </a:txBody>
                  <a:tcPr>
                    <a:noFill/>
                  </a:tcPr>
                </a:tc>
                <a:tc>
                  <a:txBody>
                    <a:bodyPr/>
                    <a:lstStyle/>
                    <a:p>
                      <a:pPr algn="ctr"/>
                      <a:r>
                        <a:rPr sz="800" b="0">
                          <a:solidFill>
                            <a:srgbClr val="1A1A1A"/>
                          </a:solidFill>
                        </a:rPr>
                        <a:t>3-6 mois</a:t>
                      </a:r>
                    </a:p>
                  </a:txBody>
                  <a:tcPr>
                    <a:noFill/>
                  </a:tcPr>
                </a:tc>
              </a:tr>
              <a:tr h="223200">
                <a:tc>
                  <a:txBody>
                    <a:bodyPr/>
                    <a:lstStyle/>
                    <a:p>
                      <a:pPr algn="ctr"/>
                      <a:r>
                        <a:rPr sz="800" b="0">
                          <a:solidFill>
                            <a:srgbClr val="1A1A1A"/>
                          </a:solidFill>
                        </a:rPr>
                        <a:t>Reglementaire</a:t>
                      </a:r>
                    </a:p>
                  </a:txBody>
                  <a:tcPr>
                    <a:solidFill>
                      <a:srgbClr val="F5F7FA"/>
                    </a:solidFill>
                  </a:tcPr>
                </a:tc>
                <a:tc>
                  <a:txBody>
                    <a:bodyPr/>
                    <a:lstStyle/>
                    <a:p>
                      <a:pPr algn="ctr"/>
                      <a:r>
                        <a:rPr sz="800" b="0">
                          <a:solidFill>
                            <a:srgbClr val="1A1A1A"/>
                          </a:solidFill>
                        </a:rPr>
                        <a:t>Mesures restrictives majeures</a:t>
                      </a:r>
                    </a:p>
                  </a:txBody>
                  <a:tcPr>
                    <a:solidFill>
                      <a:srgbClr val="F5F7FA"/>
                    </a:solidFill>
                  </a:tcPr>
                </a:tc>
                <a:tc>
                  <a:txBody>
                    <a:bodyPr/>
                    <a:lstStyle/>
                    <a:p>
                      <a:pPr algn="ctr"/>
                      <a:r>
                        <a:rPr sz="800" b="0">
                          <a:solidFill>
                            <a:srgbClr val="1A1A1A"/>
                          </a:solidFill>
                        </a:rPr>
                        <a:t>Variable</a:t>
                      </a:r>
                    </a:p>
                  </a:txBody>
                  <a:tcPr>
                    <a:solidFill>
                      <a:srgbClr val="F5F7FA"/>
                    </a:solidFill>
                  </a:tcPr>
                </a:tc>
              </a:tr>
            </a:tbl>
          </a:graphicData>
        </a:graphic>
      </p:graphicFrame>
      <p:sp>
        <p:nvSpPr>
          <p:cNvPr id="29" name="TextBox 28"/>
          <p:cNvSpPr txBox="1"/>
          <p:nvPr/>
        </p:nvSpPr>
        <p:spPr>
          <a:xfrm>
            <a:off x="324000" y="3708000"/>
            <a:ext cx="8496000" cy="198000"/>
          </a:xfrm>
          <a:prstGeom prst="rect">
            <a:avLst/>
          </a:prstGeom>
          <a:noFill/>
        </p:spPr>
        <p:txBody>
          <a:bodyPr wrap="square">
            <a:spAutoFit/>
          </a:bodyPr>
          <a:lstStyle/>
          <a:p>
            <a:pPr algn="l"/>
            <a:r>
              <a:rPr sz="850" b="1" i="0">
                <a:solidFill>
                  <a:srgbClr val="1B3A6B"/>
                </a:solidFill>
              </a:rPr>
              <a:t>Sante financiere agregee du secteur</a:t>
            </a:r>
          </a:p>
        </p:txBody>
      </p:sp>
      <p:sp>
        <p:nvSpPr>
          <p:cNvPr id="30" name="Rectangle 29"/>
          <p:cNvSpPr/>
          <p:nvPr/>
        </p:nvSpPr>
        <p:spPr>
          <a:xfrm>
            <a:off x="324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3924000"/>
            <a:ext cx="36000" cy="79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3960000"/>
            <a:ext cx="2538000" cy="360000"/>
          </a:xfrm>
          <a:prstGeom prst="rect">
            <a:avLst/>
          </a:prstGeom>
          <a:noFill/>
        </p:spPr>
        <p:txBody>
          <a:bodyPr wrap="square">
            <a:spAutoFit/>
          </a:bodyPr>
          <a:lstStyle/>
          <a:p>
            <a:pPr algn="l"/>
            <a:r>
              <a:rPr sz="2200" b="1" i="0">
                <a:solidFill>
                  <a:srgbClr val="1B3A6B"/>
                </a:solidFill>
              </a:rPr>
              <a:t>N/D</a:t>
            </a:r>
          </a:p>
        </p:txBody>
      </p:sp>
      <p:sp>
        <p:nvSpPr>
          <p:cNvPr id="33" name="TextBox 32"/>
          <p:cNvSpPr txBox="1"/>
          <p:nvPr/>
        </p:nvSpPr>
        <p:spPr>
          <a:xfrm>
            <a:off x="413999" y="4338000"/>
            <a:ext cx="2538000" cy="162000"/>
          </a:xfrm>
          <a:prstGeom prst="rect">
            <a:avLst/>
          </a:prstGeom>
          <a:noFill/>
        </p:spPr>
        <p:txBody>
          <a:bodyPr wrap="square">
            <a:spAutoFit/>
          </a:bodyPr>
          <a:lstStyle/>
          <a:p>
            <a:pPr algn="l"/>
            <a:r>
              <a:rPr sz="850" b="0" i="0">
                <a:solidFill>
                  <a:srgbClr val="555555"/>
                </a:solidFill>
              </a:rPr>
              <a:t>ND/EBITDA median</a:t>
            </a:r>
          </a:p>
        </p:txBody>
      </p:sp>
      <p:sp>
        <p:nvSpPr>
          <p:cNvPr id="34" name="TextBox 33"/>
          <p:cNvSpPr txBox="1"/>
          <p:nvPr/>
        </p:nvSpPr>
        <p:spPr>
          <a:xfrm>
            <a:off x="413999" y="4500000"/>
            <a:ext cx="2538000" cy="144000"/>
          </a:xfrm>
          <a:prstGeom prst="rect">
            <a:avLst/>
          </a:prstGeom>
          <a:noFill/>
        </p:spPr>
        <p:txBody>
          <a:bodyPr wrap="square">
            <a:spAutoFit/>
          </a:bodyPr>
          <a:lstStyle/>
          <a:p>
            <a:pPr algn="l"/>
            <a:r>
              <a:rPr sz="800" b="0" i="0">
                <a:solidFill>
                  <a:srgbClr val="AAAAAA"/>
                </a:solidFill>
              </a:rPr>
              <a:t>levier sectoriel</a:t>
            </a:r>
          </a:p>
        </p:txBody>
      </p:sp>
      <p:sp>
        <p:nvSpPr>
          <p:cNvPr id="35" name="Rectangle 34"/>
          <p:cNvSpPr/>
          <p:nvPr/>
        </p:nvSpPr>
        <p:spPr>
          <a:xfrm>
            <a:off x="3276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76000" y="3924000"/>
            <a:ext cx="36000" cy="79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66000" y="3960000"/>
            <a:ext cx="2538000" cy="360000"/>
          </a:xfrm>
          <a:prstGeom prst="rect">
            <a:avLst/>
          </a:prstGeom>
          <a:noFill/>
        </p:spPr>
        <p:txBody>
          <a:bodyPr wrap="square">
            <a:spAutoFit/>
          </a:bodyPr>
          <a:lstStyle/>
          <a:p>
            <a:pPr algn="l"/>
            <a:r>
              <a:rPr sz="2200" b="1" i="0">
                <a:solidFill>
                  <a:srgbClr val="1B3A6B"/>
                </a:solidFill>
              </a:rPr>
              <a:t>N/D</a:t>
            </a:r>
          </a:p>
        </p:txBody>
      </p:sp>
      <p:sp>
        <p:nvSpPr>
          <p:cNvPr id="38" name="TextBox 37"/>
          <p:cNvSpPr txBox="1"/>
          <p:nvPr/>
        </p:nvSpPr>
        <p:spPr>
          <a:xfrm>
            <a:off x="3366000" y="4338000"/>
            <a:ext cx="2538000" cy="162000"/>
          </a:xfrm>
          <a:prstGeom prst="rect">
            <a:avLst/>
          </a:prstGeom>
          <a:noFill/>
        </p:spPr>
        <p:txBody>
          <a:bodyPr wrap="square">
            <a:spAutoFit/>
          </a:bodyPr>
          <a:lstStyle/>
          <a:p>
            <a:pPr algn="l"/>
            <a:r>
              <a:rPr sz="850" b="0" i="0">
                <a:solidFill>
                  <a:srgbClr val="555555"/>
                </a:solidFill>
              </a:rPr>
              <a:t>FCF Yield median</a:t>
            </a:r>
          </a:p>
        </p:txBody>
      </p:sp>
      <p:sp>
        <p:nvSpPr>
          <p:cNvPr id="39" name="TextBox 38"/>
          <p:cNvSpPr txBox="1"/>
          <p:nvPr/>
        </p:nvSpPr>
        <p:spPr>
          <a:xfrm>
            <a:off x="3366000" y="4500000"/>
            <a:ext cx="2538000" cy="144000"/>
          </a:xfrm>
          <a:prstGeom prst="rect">
            <a:avLst/>
          </a:prstGeom>
          <a:noFill/>
        </p:spPr>
        <p:txBody>
          <a:bodyPr wrap="square">
            <a:spAutoFit/>
          </a:bodyPr>
          <a:lstStyle/>
          <a:p>
            <a:pPr algn="l"/>
            <a:r>
              <a:rPr sz="800" b="0" i="0">
                <a:solidFill>
                  <a:srgbClr val="AAAAAA"/>
                </a:solidFill>
              </a:rPr>
              <a:t>generation cash</a:t>
            </a:r>
          </a:p>
        </p:txBody>
      </p:sp>
      <p:sp>
        <p:nvSpPr>
          <p:cNvPr id="40" name="Rectangle 39"/>
          <p:cNvSpPr/>
          <p:nvPr/>
        </p:nvSpPr>
        <p:spPr>
          <a:xfrm>
            <a:off x="6228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28000" y="3924000"/>
            <a:ext cx="36000" cy="79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18000" y="3960000"/>
            <a:ext cx="2538000" cy="360000"/>
          </a:xfrm>
          <a:prstGeom prst="rect">
            <a:avLst/>
          </a:prstGeom>
          <a:noFill/>
        </p:spPr>
        <p:txBody>
          <a:bodyPr wrap="square">
            <a:spAutoFit/>
          </a:bodyPr>
          <a:lstStyle/>
          <a:p>
            <a:pPr algn="l"/>
            <a:r>
              <a:rPr sz="2200" b="1" i="0">
                <a:solidFill>
                  <a:srgbClr val="1B3A6B"/>
                </a:solidFill>
              </a:rPr>
              <a:t>58/100</a:t>
            </a:r>
          </a:p>
        </p:txBody>
      </p:sp>
      <p:sp>
        <p:nvSpPr>
          <p:cNvPr id="43" name="TextBox 42"/>
          <p:cNvSpPr txBox="1"/>
          <p:nvPr/>
        </p:nvSpPr>
        <p:spPr>
          <a:xfrm>
            <a:off x="6318000" y="4338000"/>
            <a:ext cx="2538000" cy="162000"/>
          </a:xfrm>
          <a:prstGeom prst="rect">
            <a:avLst/>
          </a:prstGeom>
          <a:noFill/>
        </p:spPr>
        <p:txBody>
          <a:bodyPr wrap="square">
            <a:spAutoFit/>
          </a:bodyPr>
          <a:lstStyle/>
          <a:p>
            <a:pPr algn="l"/>
            <a:r>
              <a:rPr sz="850" b="0" i="0">
                <a:solidFill>
                  <a:srgbClr val="555555"/>
                </a:solidFill>
              </a:rPr>
              <a:t>Score sante moyen</a:t>
            </a:r>
          </a:p>
        </p:txBody>
      </p:sp>
      <p:sp>
        <p:nvSpPr>
          <p:cNvPr id="44" name="TextBox 43"/>
          <p:cNvSpPr txBox="1"/>
          <p:nvPr/>
        </p:nvSpPr>
        <p:spPr>
          <a:xfrm>
            <a:off x="6318000" y="4500000"/>
            <a:ext cx="2538000" cy="144000"/>
          </a:xfrm>
          <a:prstGeom prst="rect">
            <a:avLst/>
          </a:prstGeom>
          <a:noFill/>
        </p:spPr>
        <p:txBody>
          <a:bodyPr wrap="square">
            <a:spAutoFit/>
          </a:bodyPr>
          <a:lstStyle/>
          <a:p>
            <a:pPr algn="l"/>
            <a:r>
              <a:rPr sz="800" b="0" i="0">
                <a:solidFill>
                  <a:srgbClr val="AAAAAA"/>
                </a:solidFill>
              </a:rPr>
              <a:t>solidite bilans</a:t>
            </a:r>
          </a:p>
        </p:txBody>
      </p:sp>
      <p:sp>
        <p:nvSpPr>
          <p:cNvPr id="45" name="Rectangle 4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Marché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Articles récents  ·  6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0.18</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 positif modéré</a:t>
            </a:r>
          </a:p>
        </p:txBody>
      </p:sp>
      <p:sp>
        <p:nvSpPr>
          <p:cNvPr id="20" name="Rectangle 19"/>
          <p:cNvSpPr/>
          <p:nvPr/>
        </p:nvSpPr>
        <p:spPr>
          <a:xfrm>
            <a:off x="2412000" y="900000"/>
            <a:ext cx="599999"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1 articles (17 %)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3 articles (50 %)</a:t>
            </a:r>
          </a:p>
        </p:txBody>
      </p:sp>
      <p:sp>
        <p:nvSpPr>
          <p:cNvPr id="26" name="Rectangle 25"/>
          <p:cNvSpPr/>
          <p:nvPr/>
        </p:nvSpPr>
        <p:spPr>
          <a:xfrm>
            <a:off x="2412000" y="1548000"/>
            <a:ext cx="1199999"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Négatif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(33 %)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Thèmes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Adoption de l'IA générative — Les dépenses en solutions d'IA générative devraient croître de +35% en 2024, boostant les</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Régulation antitrust — Les enquêtes accrues des régulateurs (UE, USA) sur les géants technologiques pourraient</a:t>
            </a:r>
          </a:p>
        </p:txBody>
      </p:sp>
      <p:sp>
        <p:nvSpPr>
          <p:cNvPr id="36" name="Rectangle 35"/>
          <p:cNvSpPr/>
          <p:nvPr/>
        </p:nvSpPr>
        <p:spPr>
          <a:xfrm>
            <a:off x="324000" y="2664000"/>
            <a:ext cx="8496000" cy="19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1620000"/>
          </a:xfrm>
          <a:prstGeom prst="rect">
            <a:avLst/>
          </a:prstGeom>
          <a:noFill/>
        </p:spPr>
        <p:txBody>
          <a:bodyPr wrap="square">
            <a:spAutoFit/>
          </a:bodyPr>
          <a:lstStyle/>
          <a:p>
            <a:pPr algn="l"/>
            <a:r>
              <a:rPr sz="850" b="0" i="0">
                <a:solidFill>
                  <a:srgbClr val="555555"/>
                </a:solidFill>
              </a:rPr>
              <a:t>Le sentiment agrégé FinBERT sur le secteur Technology (Healthcare) ressort légèrement positif (0.18), avec 17% d'articles a tonalité positive sur 6 analysés. La dispersion inter-valeurs est prononcée : TEC6 (+0.25) porte la composante haussière tandis que TEC1 (+0.10) reflète les pressions structurelles. Cette hétérogénéité valide une approche sélective plutôt que directionnelle sur le secteur — le sentiment moyen masque des situations fondamentalement différentes entre leaders et retardataires. La composante thématique (catalyseurs vs risques) suggère que les flux narratifs restent orientés positivement, avec des newsflows soutenus sur la croissance et les marges. Le suivi du ratio Positif/Négatif dans les prochaines semaines constitue un indicateur avancé pour anticiper les rotations sectorielles.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Healthcare  ·  Indexe a 100 au debut de la periode</a:t>
            </a:r>
          </a:p>
        </p:txBody>
      </p:sp>
      <p:pic>
        <p:nvPicPr>
          <p:cNvPr id="15" name="Picture 14" descr="image.png"/>
          <p:cNvPicPr>
            <a:picLocks noChangeAspect="1"/>
          </p:cNvPicPr>
          <p:nvPr/>
        </p:nvPicPr>
        <p:blipFill>
          <a:blip r:embed="rId2"/>
          <a:stretch>
            <a:fillRect/>
          </a:stretch>
        </p:blipFill>
        <p:spPr>
          <a:xfrm>
            <a:off x="324000" y="827999"/>
            <a:ext cx="5940000" cy="3671999"/>
          </a:xfrm>
          <a:prstGeom prst="rect">
            <a:avLst/>
          </a:prstGeom>
        </p:spPr>
      </p:pic>
      <p:sp>
        <p:nvSpPr>
          <p:cNvPr id="16" name="Rectangle 15"/>
          <p:cNvSpPr/>
          <p:nvPr/>
        </p:nvSpPr>
        <p:spPr>
          <a:xfrm>
            <a:off x="6336000" y="827999"/>
            <a:ext cx="2448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000" y="827999"/>
            <a:ext cx="2448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8000" y="846000"/>
            <a:ext cx="2340000" cy="198000"/>
          </a:xfrm>
          <a:prstGeom prst="rect">
            <a:avLst/>
          </a:prstGeom>
          <a:noFill/>
        </p:spPr>
        <p:txBody>
          <a:bodyPr wrap="square">
            <a:spAutoFit/>
          </a:bodyPr>
          <a:lstStyle/>
          <a:p>
            <a:pPr algn="l"/>
            <a:r>
              <a:rPr sz="800" b="1" i="0">
                <a:solidFill>
                  <a:srgbClr val="FFFFFF"/>
                </a:solidFill>
              </a:rPr>
              <a:t>LECTURE ANALYTIQUE</a:t>
            </a:r>
          </a:p>
        </p:txBody>
      </p:sp>
      <p:sp>
        <p:nvSpPr>
          <p:cNvPr id="19" name="TextBox 18"/>
          <p:cNvSpPr txBox="1"/>
          <p:nvPr/>
        </p:nvSpPr>
        <p:spPr>
          <a:xfrm>
            <a:off x="6408000" y="1152000"/>
            <a:ext cx="2304000" cy="324000"/>
          </a:xfrm>
          <a:prstGeom prst="rect">
            <a:avLst/>
          </a:prstGeom>
          <a:noFill/>
        </p:spPr>
        <p:txBody>
          <a:bodyPr wrap="square">
            <a:spAutoFit/>
          </a:bodyPr>
          <a:lstStyle/>
          <a:p>
            <a:pPr algn="l"/>
            <a:r>
              <a:rPr sz="700" b="1" i="0">
                <a:solidFill>
                  <a:srgbClr val="1B3A6B"/>
                </a:solidFill>
              </a:rPr>
              <a:t>MEILLEURE PERFORMANCE</a:t>
            </a:r>
          </a:p>
        </p:txBody>
      </p:sp>
      <p:sp>
        <p:nvSpPr>
          <p:cNvPr id="20" name="TextBox 19"/>
          <p:cNvSpPr txBox="1"/>
          <p:nvPr/>
        </p:nvSpPr>
        <p:spPr>
          <a:xfrm>
            <a:off x="6408000" y="1314000"/>
            <a:ext cx="2304000" cy="324000"/>
          </a:xfrm>
          <a:prstGeom prst="rect">
            <a:avLst/>
          </a:prstGeom>
          <a:noFill/>
        </p:spPr>
        <p:txBody>
          <a:bodyPr wrap="square">
            <a:spAutoFit/>
          </a:bodyPr>
          <a:lstStyle/>
          <a:p>
            <a:pPr algn="l"/>
            <a:r>
              <a:rPr sz="900" b="1" i="0">
                <a:solidFill>
                  <a:srgbClr val="1B3A6B"/>
                </a:solidFill>
              </a:rPr>
              <a:t>TEC6  +20%  sur 52 semaines</a:t>
            </a:r>
          </a:p>
        </p:txBody>
      </p:sp>
      <p:sp>
        <p:nvSpPr>
          <p:cNvPr id="21" name="TextBox 20"/>
          <p:cNvSpPr txBox="1"/>
          <p:nvPr/>
        </p:nvSpPr>
        <p:spPr>
          <a:xfrm>
            <a:off x="6408000" y="1655999"/>
            <a:ext cx="2304000" cy="324000"/>
          </a:xfrm>
          <a:prstGeom prst="rect">
            <a:avLst/>
          </a:prstGeom>
          <a:noFill/>
        </p:spPr>
        <p:txBody>
          <a:bodyPr wrap="square">
            <a:spAutoFit/>
          </a:bodyPr>
          <a:lstStyle/>
          <a:p>
            <a:pPr algn="l"/>
            <a:r>
              <a:rPr sz="700" b="1" i="0">
                <a:solidFill>
                  <a:srgbClr val="1B3A6B"/>
                </a:solidFill>
              </a:rPr>
              <a:t>PIRE PERFORMANCE</a:t>
            </a:r>
          </a:p>
        </p:txBody>
      </p:sp>
      <p:sp>
        <p:nvSpPr>
          <p:cNvPr id="22" name="TextBox 21"/>
          <p:cNvSpPr txBox="1"/>
          <p:nvPr/>
        </p:nvSpPr>
        <p:spPr>
          <a:xfrm>
            <a:off x="6408000" y="1818000"/>
            <a:ext cx="2304000" cy="324000"/>
          </a:xfrm>
          <a:prstGeom prst="rect">
            <a:avLst/>
          </a:prstGeom>
          <a:noFill/>
        </p:spPr>
        <p:txBody>
          <a:bodyPr wrap="square">
            <a:spAutoFit/>
          </a:bodyPr>
          <a:lstStyle/>
          <a:p>
            <a:pPr algn="l"/>
            <a:r>
              <a:rPr sz="900" b="1" i="0">
                <a:solidFill>
                  <a:srgbClr val="A82020"/>
                </a:solidFill>
              </a:rPr>
              <a:t>TEC1  +5%  sur 52 semaines</a:t>
            </a:r>
          </a:p>
        </p:txBody>
      </p:sp>
      <p:sp>
        <p:nvSpPr>
          <p:cNvPr id="23" name="TextBox 22"/>
          <p:cNvSpPr txBox="1"/>
          <p:nvPr/>
        </p:nvSpPr>
        <p:spPr>
          <a:xfrm>
            <a:off x="6408000" y="2196000"/>
            <a:ext cx="2304000" cy="324000"/>
          </a:xfrm>
          <a:prstGeom prst="rect">
            <a:avLst/>
          </a:prstGeom>
          <a:noFill/>
        </p:spPr>
        <p:txBody>
          <a:bodyPr wrap="square">
            <a:spAutoFit/>
          </a:bodyPr>
          <a:lstStyle/>
          <a:p>
            <a:pPr algn="l"/>
            <a:r>
              <a:rPr sz="700" b="1" i="0">
                <a:solidFill>
                  <a:srgbClr val="1B3A6B"/>
                </a:solidFill>
              </a:rPr>
              <a:t>DISPERSION</a:t>
            </a:r>
          </a:p>
        </p:txBody>
      </p:sp>
      <p:sp>
        <p:nvSpPr>
          <p:cNvPr id="24" name="TextBox 23"/>
          <p:cNvSpPr txBox="1"/>
          <p:nvPr/>
        </p:nvSpPr>
        <p:spPr>
          <a:xfrm>
            <a:off x="6408000" y="2358000"/>
            <a:ext cx="2304000" cy="324000"/>
          </a:xfrm>
          <a:prstGeom prst="rect">
            <a:avLst/>
          </a:prstGeom>
          <a:noFill/>
        </p:spPr>
        <p:txBody>
          <a:bodyPr wrap="square">
            <a:spAutoFit/>
          </a:bodyPr>
          <a:lstStyle/>
          <a:p>
            <a:pPr algn="l"/>
            <a:r>
              <a:rPr sz="800" b="0" i="0">
                <a:solidFill>
                  <a:srgbClr val="555555"/>
                </a:solidFill>
              </a:rPr>
              <a:t>Écart 15 pts — 6 valeur(s) positives vs 0 négatives.</a:t>
            </a:r>
          </a:p>
        </p:txBody>
      </p:sp>
      <p:sp>
        <p:nvSpPr>
          <p:cNvPr id="25" name="TextBox 24"/>
          <p:cNvSpPr txBox="1"/>
          <p:nvPr/>
        </p:nvSpPr>
        <p:spPr>
          <a:xfrm>
            <a:off x="6408000" y="2772000"/>
            <a:ext cx="2304000" cy="324000"/>
          </a:xfrm>
          <a:prstGeom prst="rect">
            <a:avLst/>
          </a:prstGeom>
          <a:noFill/>
        </p:spPr>
        <p:txBody>
          <a:bodyPr wrap="square">
            <a:spAutoFit/>
          </a:bodyPr>
          <a:lstStyle/>
          <a:p>
            <a:pPr algn="l"/>
            <a:r>
              <a:rPr sz="700" b="1" i="0">
                <a:solidFill>
                  <a:srgbClr val="1B3A6B"/>
                </a:solidFill>
              </a:rPr>
              <a:t>INTERPRETATION</a:t>
            </a:r>
          </a:p>
        </p:txBody>
      </p:sp>
      <p:sp>
        <p:nvSpPr>
          <p:cNvPr id="26" name="TextBox 25"/>
          <p:cNvSpPr txBox="1"/>
          <p:nvPr/>
        </p:nvSpPr>
        <p:spPr>
          <a:xfrm>
            <a:off x="6408000" y="2934000"/>
            <a:ext cx="2304000" cy="324000"/>
          </a:xfrm>
          <a:prstGeom prst="rect">
            <a:avLst/>
          </a:prstGeom>
          <a:noFill/>
        </p:spPr>
        <p:txBody>
          <a:bodyPr wrap="square">
            <a:spAutoFit/>
          </a:bodyPr>
          <a:lstStyle/>
          <a:p>
            <a:pPr algn="l"/>
            <a:r>
              <a:rPr sz="750" b="0" i="0">
                <a:solidFill>
                  <a:srgbClr val="555555"/>
                </a:solidFill>
              </a:rPr>
              <a:t>La dispersion des trajectoires reflète la bifurcation sectorielle : certains acteurs captent l'essentiel de la creation de valeur tandis que d'autres subissent des sorties de capitaux structurelles.</a:t>
            </a:r>
          </a:p>
        </p:txBody>
      </p:sp>
      <p:sp>
        <p:nvSpPr>
          <p:cNvPr id="27" name="TextBox 26"/>
          <p:cNvSpPr txBox="1"/>
          <p:nvPr/>
        </p:nvSpPr>
        <p:spPr>
          <a:xfrm>
            <a:off x="6408000" y="3366000"/>
            <a:ext cx="2304000" cy="324000"/>
          </a:xfrm>
          <a:prstGeom prst="rect">
            <a:avLst/>
          </a:prstGeom>
          <a:noFill/>
        </p:spPr>
        <p:txBody>
          <a:bodyPr wrap="square">
            <a:spAutoFit/>
          </a:bodyPr>
          <a:lstStyle/>
          <a:p>
            <a:pPr algn="l"/>
            <a:r>
              <a:rPr sz="750" b="0" i="0">
                <a:solidFill>
                  <a:srgbClr val="555555"/>
                </a:solidFill>
              </a:rPr>
              <a:t>Le momentum 52W est intégré dans le score FinSight comme signal de confirmation de la thèse d'investissement.</a:t>
            </a:r>
          </a:p>
        </p:txBody>
      </p:sp>
      <p:sp>
        <p:nvSpPr>
          <p:cNvPr id="28" name="Rectangle 2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collectées</a:t>
                      </a:r>
                    </a:p>
                  </a:txBody>
                  <a:tcPr>
                    <a:solidFill>
                      <a:srgbClr val="1B3A6B"/>
                    </a:solidFill>
                  </a:tcPr>
                </a:tc>
                <a:tc>
                  <a:txBody>
                    <a:bodyPr/>
                    <a:lstStyle/>
                    <a:p>
                      <a:pPr algn="ctr"/>
                      <a:r>
                        <a:rPr sz="800" b="1">
                          <a:solidFill>
                            <a:srgbClr val="FFFFFF"/>
                          </a:solidFill>
                        </a:rPr>
                        <a:t>Fréquence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états financiers LTM</a:t>
                      </a:r>
                    </a:p>
                  </a:txBody>
                  <a:tcPr>
                    <a:noFill/>
                  </a:tcPr>
                </a:tc>
                <a:tc>
                  <a:txBody>
                    <a:bodyPr/>
                    <a:lstStyle/>
                    <a:p>
                      <a:pPr algn="ctr"/>
                      <a:r>
                        <a:rPr sz="750" b="0">
                          <a:solidFill>
                            <a:srgbClr val="1A1A1A"/>
                          </a:solidFill>
                        </a:rPr>
                        <a:t>Temps réel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calculés, scoring multifactoriel</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Thèse contraire, conviction delta</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cohérence, flags erreur</a:t>
                      </a:r>
                    </a:p>
                  </a:txBody>
                  <a:tcPr>
                    <a:solidFill>
                      <a:srgbClr val="F5F7FA"/>
                    </a:solidFill>
                  </a:tcPr>
                </a:tc>
                <a:tc>
                  <a:txBody>
                    <a:bodyPr/>
                    <a:lstStyle/>
                    <a:p>
                      <a:pPr algn="ctr"/>
                      <a:r>
                        <a:rPr sz="750" b="0">
                          <a:solidFill>
                            <a:srgbClr val="1A1A1A"/>
                          </a:solidFill>
                        </a:rPr>
                        <a:t>Systématique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financières historiques sont issues de sources publiques et peuvent présenter des délais ou inexactitudes. Les prévisions sont basées sur le consensus et les modèles internes FinSight IA — elles ne constituent pas des engagements. La méthodologie de scoring est soumise à des biais inhérents à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généré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