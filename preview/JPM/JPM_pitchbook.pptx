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691297"/>
          </a:xfrm>
          <a:prstGeom prst="rect">
            <a:avLst/>
          </a:prstGeom>
          <a:noFill/>
        </p:spPr>
        <p:txBody>
          <a:bodyPr wrap="square">
            <a:spAutoFit/>
          </a:bodyPr>
          <a:lstStyle/>
          <a:p>
            <a:pPr algn="ctr"/>
            <a:r>
              <a:rPr sz="3400" b="1" i="0">
                <a:solidFill>
                  <a:srgbClr val="1B3A6B"/>
                </a:solidFill>
                <a:latin typeface="Calibri"/>
              </a:rPr>
              <a:t>JPMorgan Chase &amp; Co.</a:t>
            </a:r>
          </a:p>
        </p:txBody>
      </p:sp>
      <p:sp>
        <p:nvSpPr>
          <p:cNvPr id="7" name="TextBox 6"/>
          <p:cNvSpPr txBox="1"/>
          <p:nvPr/>
        </p:nvSpPr>
        <p:spPr>
          <a:xfrm>
            <a:off x="457200" y="2242897"/>
            <a:ext cx="8229600" cy="255600"/>
          </a:xfrm>
          <a:prstGeom prst="rect">
            <a:avLst/>
          </a:prstGeom>
          <a:noFill/>
        </p:spPr>
        <p:txBody>
          <a:bodyPr wrap="square">
            <a:spAutoFit/>
          </a:bodyPr>
          <a:lstStyle/>
          <a:p>
            <a:pPr algn="ctr"/>
            <a:r>
              <a:rPr sz="1100" b="0" i="0">
                <a:solidFill>
                  <a:srgbClr val="888888"/>
                </a:solidFill>
                <a:latin typeface="Calibri"/>
              </a:rPr>
              <a:t>JPM  ·  Financial Services</a:t>
            </a:r>
          </a:p>
        </p:txBody>
      </p:sp>
      <p:sp>
        <p:nvSpPr>
          <p:cNvPr id="8" name="Rectangle 7"/>
          <p:cNvSpPr/>
          <p:nvPr/>
        </p:nvSpPr>
        <p:spPr>
          <a:xfrm>
            <a:off x="457200" y="2617297"/>
            <a:ext cx="8229600" cy="475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617297"/>
            <a:ext cx="46800" cy="475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635297"/>
            <a:ext cx="8063999" cy="439200"/>
          </a:xfrm>
          <a:prstGeom prst="rect">
            <a:avLst/>
          </a:prstGeom>
          <a:noFill/>
        </p:spPr>
        <p:txBody>
          <a:bodyPr wrap="square">
            <a:spAutoFit/>
          </a:bodyPr>
          <a:lstStyle/>
          <a:p>
            <a:pPr algn="ctr"/>
            <a:r>
              <a:rPr sz="900" b="1" i="0">
                <a:solidFill>
                  <a:srgbClr val="1A7A4A"/>
                </a:solidFill>
                <a:latin typeface="Calibri"/>
              </a:rPr>
              <a:t>● BUY  ·  Prix cible base : 325 $  ·  Upside : +11,4 %</a:t>
            </a:r>
          </a:p>
        </p:txBody>
      </p:sp>
      <p:sp>
        <p:nvSpPr>
          <p:cNvPr id="11" name="Rectangle 10"/>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3" name="TextBox 12"/>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27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325 $  ·  Upside : +11,4 %  ·  Bear : 270 $ (-7,4 %)  ·  Bull : 350 $ (+20,0 %)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Franchise diversifiée</a:t>
            </a:r>
          </a:p>
        </p:txBody>
      </p:sp>
      <p:sp>
        <p:nvSpPr>
          <p:cNvPr id="14" name="TextBox 13"/>
          <p:cNvSpPr txBox="1"/>
          <p:nvPr/>
        </p:nvSpPr>
        <p:spPr>
          <a:xfrm>
            <a:off x="503999" y="1814400"/>
            <a:ext cx="3931200" cy="327600"/>
          </a:xfrm>
          <a:prstGeom prst="rect">
            <a:avLst/>
          </a:prstGeom>
          <a:noFill/>
        </p:spPr>
        <p:txBody>
          <a:bodyPr wrap="square">
            <a:spAutoFit/>
          </a:bodyPr>
          <a:lstStyle/>
          <a:p>
            <a:pPr algn="l"/>
            <a:r>
              <a:rPr sz="750" b="0" i="0">
                <a:solidFill>
                  <a:srgbClr val="333333"/>
                </a:solidFill>
                <a:latin typeface="Calibri"/>
              </a:rPr>
              <a:t>JPMorgan devrait bénéficier d'une hausse des taux d'intérêt en 2026 avec un NIM attendu à +3.3% vs 3.0% en 2025</a:t>
            </a:r>
          </a:p>
        </p:txBody>
      </p:sp>
      <p:sp>
        <p:nvSpPr>
          <p:cNvPr id="15" name="Rectangle 14"/>
          <p:cNvSpPr/>
          <p:nvPr/>
        </p:nvSpPr>
        <p:spPr>
          <a:xfrm>
            <a:off x="367200" y="2196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78000"/>
            <a:ext cx="3931200" cy="183600"/>
          </a:xfrm>
          <a:prstGeom prst="rect">
            <a:avLst/>
          </a:prstGeom>
          <a:noFill/>
        </p:spPr>
        <p:txBody>
          <a:bodyPr wrap="square">
            <a:spAutoFit/>
          </a:bodyPr>
          <a:lstStyle/>
          <a:p>
            <a:pPr algn="l"/>
            <a:r>
              <a:rPr sz="850" b="1" i="0">
                <a:solidFill>
                  <a:srgbClr val="1B3A6B"/>
                </a:solidFill>
                <a:latin typeface="Calibri"/>
              </a:rPr>
              <a:t>Gestion des coûts</a:t>
            </a:r>
          </a:p>
        </p:txBody>
      </p:sp>
      <p:sp>
        <p:nvSpPr>
          <p:cNvPr id="17" name="TextBox 16"/>
          <p:cNvSpPr txBox="1"/>
          <p:nvPr/>
        </p:nvSpPr>
        <p:spPr>
          <a:xfrm>
            <a:off x="503999" y="2347200"/>
            <a:ext cx="3931200" cy="327600"/>
          </a:xfrm>
          <a:prstGeom prst="rect">
            <a:avLst/>
          </a:prstGeom>
          <a:noFill/>
        </p:spPr>
        <p:txBody>
          <a:bodyPr wrap="square">
            <a:spAutoFit/>
          </a:bodyPr>
          <a:lstStyle/>
          <a:p>
            <a:pPr algn="l"/>
            <a:r>
              <a:rPr sz="750" b="0" i="0">
                <a:solidFill>
                  <a:srgbClr val="333333"/>
                </a:solidFill>
                <a:latin typeface="Calibri"/>
              </a:rPr>
              <a:t>La banque vise 15% de croissance du bénéfice net en 2026 grâce à une expansion de 8% des revenus et une compression des coûts de 3%</a:t>
            </a:r>
          </a:p>
        </p:txBody>
      </p:sp>
      <p:sp>
        <p:nvSpPr>
          <p:cNvPr id="18" name="Rectangle 17"/>
          <p:cNvSpPr/>
          <p:nvPr/>
        </p:nvSpPr>
        <p:spPr>
          <a:xfrm>
            <a:off x="367200" y="2728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10800"/>
            <a:ext cx="3931200" cy="183600"/>
          </a:xfrm>
          <a:prstGeom prst="rect">
            <a:avLst/>
          </a:prstGeom>
          <a:noFill/>
        </p:spPr>
        <p:txBody>
          <a:bodyPr wrap="square">
            <a:spAutoFit/>
          </a:bodyPr>
          <a:lstStyle/>
          <a:p>
            <a:pPr algn="l"/>
            <a:r>
              <a:rPr sz="850" b="1" i="0">
                <a:solidFill>
                  <a:srgbClr val="1B3A6B"/>
                </a:solidFill>
                <a:latin typeface="Calibri"/>
              </a:rPr>
              <a:t>Résilience bilancielle</a:t>
            </a:r>
          </a:p>
        </p:txBody>
      </p:sp>
      <p:sp>
        <p:nvSpPr>
          <p:cNvPr id="20" name="TextBox 19"/>
          <p:cNvSpPr txBox="1"/>
          <p:nvPr/>
        </p:nvSpPr>
        <p:spPr>
          <a:xfrm>
            <a:off x="503999" y="2880000"/>
            <a:ext cx="3931200" cy="327600"/>
          </a:xfrm>
          <a:prstGeom prst="rect">
            <a:avLst/>
          </a:prstGeom>
          <a:noFill/>
        </p:spPr>
        <p:txBody>
          <a:bodyPr wrap="square">
            <a:spAutoFit/>
          </a:bodyPr>
          <a:lstStyle/>
          <a:p>
            <a:pPr algn="l"/>
            <a:r>
              <a:rPr sz="750" b="0" i="0">
                <a:solidFill>
                  <a:srgbClr val="333333"/>
                </a:solidFill>
                <a:latin typeface="Calibri"/>
              </a:rPr>
              <a:t>Le ROE cible de 17.5% en 2026 dépasse la médiane des peers de 200bps, soutenant une prime de valorisation.</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Réglementation accrue</a:t>
            </a:r>
          </a:p>
        </p:txBody>
      </p:sp>
      <p:sp>
        <p:nvSpPr>
          <p:cNvPr id="25" name="TextBox 24"/>
          <p:cNvSpPr txBox="1"/>
          <p:nvPr/>
        </p:nvSpPr>
        <p:spPr>
          <a:xfrm>
            <a:off x="4845600" y="1814400"/>
            <a:ext cx="3794399" cy="327600"/>
          </a:xfrm>
          <a:prstGeom prst="rect">
            <a:avLst/>
          </a:prstGeom>
          <a:noFill/>
        </p:spPr>
        <p:txBody>
          <a:bodyPr wrap="square">
            <a:spAutoFit/>
          </a:bodyPr>
          <a:lstStyle/>
          <a:p>
            <a:pPr algn="l"/>
            <a:r>
              <a:rPr sz="750" b="0" i="0">
                <a:solidFill>
                  <a:srgbClr val="333333"/>
                </a:solidFill>
                <a:latin typeface="Calibri"/>
              </a:rPr>
              <a:t>Ralentissement économique réduisant le NIM de 50bps | Baisse des revenus de trading de 10% | Horizon 6-12 mois</a:t>
            </a:r>
          </a:p>
        </p:txBody>
      </p:sp>
      <p:sp>
        <p:nvSpPr>
          <p:cNvPr id="26" name="Rectangle 25"/>
          <p:cNvSpPr/>
          <p:nvPr/>
        </p:nvSpPr>
        <p:spPr>
          <a:xfrm>
            <a:off x="4708800" y="2196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78000"/>
            <a:ext cx="3794399" cy="183600"/>
          </a:xfrm>
          <a:prstGeom prst="rect">
            <a:avLst/>
          </a:prstGeom>
          <a:noFill/>
        </p:spPr>
        <p:txBody>
          <a:bodyPr wrap="square">
            <a:spAutoFit/>
          </a:bodyPr>
          <a:lstStyle/>
          <a:p>
            <a:pPr algn="l"/>
            <a:r>
              <a:rPr sz="850" b="1" i="0">
                <a:solidFill>
                  <a:srgbClr val="1B3A6B"/>
                </a:solidFill>
                <a:latin typeface="Calibri"/>
              </a:rPr>
              <a:t>Risque crédit</a:t>
            </a:r>
          </a:p>
        </p:txBody>
      </p:sp>
      <p:sp>
        <p:nvSpPr>
          <p:cNvPr id="28" name="TextBox 27"/>
          <p:cNvSpPr txBox="1"/>
          <p:nvPr/>
        </p:nvSpPr>
        <p:spPr>
          <a:xfrm>
            <a:off x="4845600" y="2347200"/>
            <a:ext cx="3794399" cy="327600"/>
          </a:xfrm>
          <a:prstGeom prst="rect">
            <a:avLst/>
          </a:prstGeom>
          <a:noFill/>
        </p:spPr>
        <p:txBody>
          <a:bodyPr wrap="square">
            <a:spAutoFit/>
          </a:bodyPr>
          <a:lstStyle/>
          <a:p>
            <a:pPr algn="l"/>
            <a:r>
              <a:rPr sz="750" b="0" i="0">
                <a:solidFill>
                  <a:srgbClr val="333333"/>
                </a:solidFill>
                <a:latin typeface="Calibri"/>
              </a:rPr>
              <a:t>Augmentation des provisions pour crédit de 20% | Impact négatif de -3Mds$ sur le bénéfice net | Horizon 12 mois</a:t>
            </a:r>
          </a:p>
        </p:txBody>
      </p:sp>
      <p:sp>
        <p:nvSpPr>
          <p:cNvPr id="29" name="Rectangle 28"/>
          <p:cNvSpPr/>
          <p:nvPr/>
        </p:nvSpPr>
        <p:spPr>
          <a:xfrm>
            <a:off x="4708800" y="2728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10800"/>
            <a:ext cx="3794399" cy="183600"/>
          </a:xfrm>
          <a:prstGeom prst="rect">
            <a:avLst/>
          </a:prstGeom>
          <a:noFill/>
        </p:spPr>
        <p:txBody>
          <a:bodyPr wrap="square">
            <a:spAutoFit/>
          </a:bodyPr>
          <a:lstStyle/>
          <a:p>
            <a:pPr algn="l"/>
            <a:r>
              <a:rPr sz="850" b="1" i="0">
                <a:solidFill>
                  <a:srgbClr val="1B3A6B"/>
                </a:solidFill>
                <a:latin typeface="Calibri"/>
              </a:rPr>
              <a:t>Concurrence fintech</a:t>
            </a:r>
          </a:p>
        </p:txBody>
      </p:sp>
      <p:sp>
        <p:nvSpPr>
          <p:cNvPr id="31" name="TextBox 30"/>
          <p:cNvSpPr txBox="1"/>
          <p:nvPr/>
        </p:nvSpPr>
        <p:spPr>
          <a:xfrm>
            <a:off x="4845600" y="2880000"/>
            <a:ext cx="3794399" cy="327600"/>
          </a:xfrm>
          <a:prstGeom prst="rect">
            <a:avLst/>
          </a:prstGeom>
          <a:noFill/>
        </p:spPr>
        <p:txBody>
          <a:bodyPr wrap="square">
            <a:spAutoFit/>
          </a:bodyPr>
          <a:lstStyle/>
          <a:p>
            <a:pPr algn="l"/>
            <a:r>
              <a:rPr sz="750" b="0" i="0">
                <a:solidFill>
                  <a:srgbClr val="333333"/>
                </a:solidFill>
                <a:latin typeface="Calibri"/>
              </a:rPr>
              <a:t>Réglementation plus stricte sur les activités de marché | Coûts de conformité en hausse de 15% | Horizon 18-24 mois</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430800"/>
            <a:ext cx="1893600" cy="396000"/>
          </a:xfrm>
          <a:prstGeom prst="rect">
            <a:avLst/>
          </a:prstGeom>
          <a:noFill/>
        </p:spPr>
        <p:txBody>
          <a:bodyPr wrap="square">
            <a:spAutoFit/>
          </a:bodyPr>
          <a:lstStyle/>
          <a:p>
            <a:pPr algn="l"/>
            <a:r>
              <a:rPr sz="1900" b="1" i="0">
                <a:solidFill>
                  <a:srgbClr val="1B3A6B"/>
                </a:solidFill>
                <a:latin typeface="Calibri"/>
              </a:rPr>
              <a:t>—</a:t>
            </a:r>
          </a:p>
        </p:txBody>
      </p:sp>
      <p:sp>
        <p:nvSpPr>
          <p:cNvPr id="37" name="TextBox 36"/>
          <p:cNvSpPr txBox="1"/>
          <p:nvPr/>
        </p:nvSpPr>
        <p:spPr>
          <a:xfrm>
            <a:off x="457200" y="38268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38" name="TextBox 37"/>
          <p:cNvSpPr txBox="1"/>
          <p:nvPr/>
        </p:nvSpPr>
        <p:spPr>
          <a:xfrm>
            <a:off x="457200" y="4024800"/>
            <a:ext cx="1893600" cy="165600"/>
          </a:xfrm>
          <a:prstGeom prst="rect">
            <a:avLst/>
          </a:prstGeom>
          <a:noFill/>
        </p:spPr>
        <p:txBody>
          <a:bodyPr wrap="square">
            <a:spAutoFit/>
          </a:bodyPr>
          <a:lstStyle/>
          <a:p>
            <a:pPr algn="l"/>
            <a:r>
              <a:rPr sz="700" b="0" i="0">
                <a:solidFill>
                  <a:srgbClr val="888888"/>
                </a:solidFill>
                <a:latin typeface="Calibri"/>
              </a:rPr>
              <a:t>vs 8,5x médiane peers</a:t>
            </a:r>
          </a:p>
        </p:txBody>
      </p:sp>
      <p:sp>
        <p:nvSpPr>
          <p:cNvPr id="39" name="Rectangle 38"/>
          <p:cNvSpPr/>
          <p:nvPr/>
        </p:nvSpPr>
        <p:spPr>
          <a:xfrm>
            <a:off x="24876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876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7600" y="3430800"/>
            <a:ext cx="1893600" cy="396000"/>
          </a:xfrm>
          <a:prstGeom prst="rect">
            <a:avLst/>
          </a:prstGeom>
          <a:noFill/>
        </p:spPr>
        <p:txBody>
          <a:bodyPr wrap="square">
            <a:spAutoFit/>
          </a:bodyPr>
          <a:lstStyle/>
          <a:p>
            <a:pPr algn="l"/>
            <a:r>
              <a:rPr sz="1900" b="1" i="0">
                <a:solidFill>
                  <a:srgbClr val="1B3A6B"/>
                </a:solidFill>
                <a:latin typeface="Calibri"/>
              </a:rPr>
              <a:t>11,1 %</a:t>
            </a:r>
          </a:p>
        </p:txBody>
      </p:sp>
      <p:sp>
        <p:nvSpPr>
          <p:cNvPr id="42" name="TextBox 41"/>
          <p:cNvSpPr txBox="1"/>
          <p:nvPr/>
        </p:nvSpPr>
        <p:spPr>
          <a:xfrm>
            <a:off x="2577600" y="38268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43" name="TextBox 42"/>
          <p:cNvSpPr txBox="1"/>
          <p:nvPr/>
        </p:nvSpPr>
        <p:spPr>
          <a:xfrm>
            <a:off x="2577600" y="4024800"/>
            <a:ext cx="1893600" cy="165600"/>
          </a:xfrm>
          <a:prstGeom prst="rect">
            <a:avLst/>
          </a:prstGeom>
          <a:noFill/>
        </p:spPr>
        <p:txBody>
          <a:bodyPr wrap="square">
            <a:spAutoFit/>
          </a:bodyPr>
          <a:lstStyle/>
          <a:p>
            <a:pPr algn="l"/>
            <a:r>
              <a:rPr sz="700" b="0" i="0">
                <a:solidFill>
                  <a:srgbClr val="888888"/>
                </a:solidFill>
                <a:latin typeface="Calibri"/>
              </a:rPr>
              <a:t>Beta 1,06  ·  RFR 4,4 %</a:t>
            </a:r>
          </a:p>
        </p:txBody>
      </p:sp>
      <p:sp>
        <p:nvSpPr>
          <p:cNvPr id="44" name="Rectangle 43"/>
          <p:cNvSpPr/>
          <p:nvPr/>
        </p:nvSpPr>
        <p:spPr>
          <a:xfrm>
            <a:off x="46080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080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8000" y="3430800"/>
            <a:ext cx="1893600" cy="396000"/>
          </a:xfrm>
          <a:prstGeom prst="rect">
            <a:avLst/>
          </a:prstGeom>
          <a:noFill/>
        </p:spPr>
        <p:txBody>
          <a:bodyPr wrap="square">
            <a:spAutoFit/>
          </a:bodyPr>
          <a:lstStyle/>
          <a:p>
            <a:pPr algn="l"/>
            <a:r>
              <a:rPr sz="1900" b="1" i="0">
                <a:solidFill>
                  <a:srgbClr val="1B3A6B"/>
                </a:solidFill>
                <a:latin typeface="Calibri"/>
              </a:rPr>
              <a:t>325 $</a:t>
            </a:r>
          </a:p>
        </p:txBody>
      </p:sp>
      <p:sp>
        <p:nvSpPr>
          <p:cNvPr id="47" name="TextBox 46"/>
          <p:cNvSpPr txBox="1"/>
          <p:nvPr/>
        </p:nvSpPr>
        <p:spPr>
          <a:xfrm>
            <a:off x="4698000" y="3826800"/>
            <a:ext cx="1893600" cy="205199"/>
          </a:xfrm>
          <a:prstGeom prst="rect">
            <a:avLst/>
          </a:prstGeom>
          <a:noFill/>
        </p:spPr>
        <p:txBody>
          <a:bodyPr wrap="square">
            <a:spAutoFit/>
          </a:bodyPr>
          <a:lstStyle/>
          <a:p>
            <a:pPr algn="l"/>
            <a:r>
              <a:rPr sz="800" b="0" i="0">
                <a:solidFill>
                  <a:srgbClr val="555555"/>
                </a:solidFill>
                <a:latin typeface="Calibri"/>
              </a:rPr>
              <a:t>Valeur intrinseque DCF</a:t>
            </a:r>
          </a:p>
        </p:txBody>
      </p:sp>
      <p:sp>
        <p:nvSpPr>
          <p:cNvPr id="48" name="TextBox 47"/>
          <p:cNvSpPr txBox="1"/>
          <p:nvPr/>
        </p:nvSpPr>
        <p:spPr>
          <a:xfrm>
            <a:off x="4698000" y="4024800"/>
            <a:ext cx="1893600" cy="165600"/>
          </a:xfrm>
          <a:prstGeom prst="rect">
            <a:avLst/>
          </a:prstGeom>
          <a:noFill/>
        </p:spPr>
        <p:txBody>
          <a:bodyPr wrap="square">
            <a:spAutoFit/>
          </a:bodyPr>
          <a:lstStyle/>
          <a:p>
            <a:pPr algn="l"/>
            <a:r>
              <a:rPr sz="700" b="0" i="0">
                <a:solidFill>
                  <a:srgbClr val="888888"/>
                </a:solidFill>
                <a:latin typeface="Calibri"/>
              </a:rPr>
              <a:t>Upside de +11,4 % vs cours</a:t>
            </a:r>
          </a:p>
        </p:txBody>
      </p:sp>
      <p:sp>
        <p:nvSpPr>
          <p:cNvPr id="49" name="Rectangle 48"/>
          <p:cNvSpPr/>
          <p:nvPr/>
        </p:nvSpPr>
        <p:spPr>
          <a:xfrm>
            <a:off x="67284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284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18400" y="3430800"/>
            <a:ext cx="1893600" cy="396000"/>
          </a:xfrm>
          <a:prstGeom prst="rect">
            <a:avLst/>
          </a:prstGeom>
          <a:noFill/>
        </p:spPr>
        <p:txBody>
          <a:bodyPr wrap="square">
            <a:spAutoFit/>
          </a:bodyPr>
          <a:lstStyle/>
          <a:p>
            <a:pPr algn="l"/>
            <a:r>
              <a:rPr sz="1900" b="1" i="0">
                <a:solidFill>
                  <a:srgbClr val="1B3A6B"/>
                </a:solidFill>
                <a:latin typeface="Calibri"/>
              </a:rPr>
              <a:t>+0,117</a:t>
            </a:r>
          </a:p>
        </p:txBody>
      </p:sp>
      <p:sp>
        <p:nvSpPr>
          <p:cNvPr id="52" name="TextBox 51"/>
          <p:cNvSpPr txBox="1"/>
          <p:nvPr/>
        </p:nvSpPr>
        <p:spPr>
          <a:xfrm>
            <a:off x="6818400" y="38268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53" name="TextBox 52"/>
          <p:cNvSpPr txBox="1"/>
          <p:nvPr/>
        </p:nvSpPr>
        <p:spPr>
          <a:xfrm>
            <a:off x="6818400" y="4024800"/>
            <a:ext cx="1893600" cy="165600"/>
          </a:xfrm>
          <a:prstGeom prst="rect">
            <a:avLst/>
          </a:prstGeom>
          <a:noFill/>
        </p:spPr>
        <p:txBody>
          <a:bodyPr wrap="square">
            <a:spAutoFit/>
          </a:bodyPr>
          <a:lstStyle/>
          <a:p>
            <a:pPr algn="l"/>
            <a:r>
              <a:rPr sz="700" b="0" i="0">
                <a:solidFill>
                  <a:srgbClr val="888888"/>
                </a:solidFill>
                <a:latin typeface="Calibri"/>
              </a:rPr>
              <a:t>Neutre +  ·  30 articles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JPMorgan Chase &amp; Co.  ·  Financial Services</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3–5</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6–8</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9–11</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Réglementation accrue  ·  Risque crédit</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12–13</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&amp; historique de cours</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14–15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JPMorgan Chase &amp; Co.  ·  Presentation &amp; Positionnement strategique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JPMorgan Chase est la première banque américaine par actifs, offrant des services de banque de détail, commerciale et d'investissement. Positionnée comme leader sur les marchés américains et internationaux, elle combine une franchise diversifiée avec une gestion disciplinée des risques et des coûts. Ses avantages concurrentiels incluent une plateforme technologique avancée, une forte génération de cash-flow et une résilience prouvée en période de crise. L'entreprise articule son activité autour de trois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Consumer &amp; Community Banking</a:t>
            </a:r>
          </a:p>
        </p:txBody>
      </p:sp>
      <p:sp>
        <p:nvSpPr>
          <p:cNvPr id="22" name="TextBox 21"/>
          <p:cNvSpPr txBox="1"/>
          <p:nvPr/>
        </p:nvSpPr>
        <p:spPr>
          <a:xfrm>
            <a:off x="619200" y="2714400"/>
            <a:ext cx="4338000" cy="503999"/>
          </a:xfrm>
          <a:prstGeom prst="rect">
            <a:avLst/>
          </a:prstGeom>
          <a:noFill/>
        </p:spPr>
        <p:txBody>
          <a:bodyPr wrap="square">
            <a:spAutoFit/>
          </a:bodyPr>
          <a:lstStyle/>
          <a:p>
            <a:pPr algn="l"/>
            <a:r>
              <a:rPr sz="750" b="0" i="1">
                <a:solidFill>
                  <a:srgbClr val="555555"/>
                </a:solidFill>
                <a:latin typeface="Calibri"/>
              </a:rPr>
              <a:t>Segment de banque de détail générant 45% des revenus via dépôts, crédits hypothécaires et cartes de crédit. Cible les particuliers et PME avec des produits standardisés et une forte pénétration géographique. Croissance portée par l'augmentation des taux et la digitalisation des services.</a:t>
            </a:r>
          </a:p>
        </p:txBody>
      </p:sp>
      <p:sp>
        <p:nvSpPr>
          <p:cNvPr id="23" name="Rectangle 22"/>
          <p:cNvSpPr/>
          <p:nvPr/>
        </p:nvSpPr>
        <p:spPr>
          <a:xfrm>
            <a:off x="503999" y="330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257999"/>
            <a:ext cx="4338000" cy="165600"/>
          </a:xfrm>
          <a:prstGeom prst="rect">
            <a:avLst/>
          </a:prstGeom>
          <a:noFill/>
        </p:spPr>
        <p:txBody>
          <a:bodyPr wrap="square">
            <a:spAutoFit/>
          </a:bodyPr>
          <a:lstStyle/>
          <a:p>
            <a:pPr algn="l"/>
            <a:r>
              <a:rPr sz="850" b="1" i="0">
                <a:solidFill>
                  <a:srgbClr val="0D0D0D"/>
                </a:solidFill>
                <a:latin typeface="Calibri"/>
              </a:rPr>
              <a:t>Corporate &amp; Investment Bank</a:t>
            </a:r>
          </a:p>
        </p:txBody>
      </p:sp>
      <p:sp>
        <p:nvSpPr>
          <p:cNvPr id="25" name="TextBox 24"/>
          <p:cNvSpPr txBox="1"/>
          <p:nvPr/>
        </p:nvSpPr>
        <p:spPr>
          <a:xfrm>
            <a:off x="619200" y="3416399"/>
            <a:ext cx="4338000" cy="503999"/>
          </a:xfrm>
          <a:prstGeom prst="rect">
            <a:avLst/>
          </a:prstGeom>
          <a:noFill/>
        </p:spPr>
        <p:txBody>
          <a:bodyPr wrap="square">
            <a:spAutoFit/>
          </a:bodyPr>
          <a:lstStyle/>
          <a:p>
            <a:pPr algn="l"/>
            <a:r>
              <a:rPr sz="750" b="0" i="1">
                <a:solidFill>
                  <a:srgbClr val="555555"/>
                </a:solidFill>
                <a:latin typeface="Calibri"/>
              </a:rPr>
              <a:t>Segment d'investissement générant 35% des revenus via marchés de capitaux, fusions-acquisitions et services de trésorerie. Clients institutionnels et grandes entreprises. Moteurs de croissance : volatilité des marchés, activité M&amp;A et expansion internationale.</a:t>
            </a:r>
          </a:p>
        </p:txBody>
      </p:sp>
      <p:sp>
        <p:nvSpPr>
          <p:cNvPr id="26" name="Rectangle 25"/>
          <p:cNvSpPr/>
          <p:nvPr/>
        </p:nvSpPr>
        <p:spPr>
          <a:xfrm>
            <a:off x="503999" y="4003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200" y="3960000"/>
            <a:ext cx="4338000" cy="165600"/>
          </a:xfrm>
          <a:prstGeom prst="rect">
            <a:avLst/>
          </a:prstGeom>
          <a:noFill/>
        </p:spPr>
        <p:txBody>
          <a:bodyPr wrap="square">
            <a:spAutoFit/>
          </a:bodyPr>
          <a:lstStyle/>
          <a:p>
            <a:pPr algn="l"/>
            <a:r>
              <a:rPr sz="850" b="1" i="0">
                <a:solidFill>
                  <a:srgbClr val="0D0D0D"/>
                </a:solidFill>
                <a:latin typeface="Calibri"/>
              </a:rPr>
              <a:t>Asset &amp; Wealth Management</a:t>
            </a:r>
          </a:p>
        </p:txBody>
      </p:sp>
      <p:sp>
        <p:nvSpPr>
          <p:cNvPr id="28" name="TextBox 27"/>
          <p:cNvSpPr txBox="1"/>
          <p:nvPr/>
        </p:nvSpPr>
        <p:spPr>
          <a:xfrm>
            <a:off x="619200" y="4118400"/>
            <a:ext cx="4338000" cy="503999"/>
          </a:xfrm>
          <a:prstGeom prst="rect">
            <a:avLst/>
          </a:prstGeom>
          <a:noFill/>
        </p:spPr>
        <p:txBody>
          <a:bodyPr wrap="square">
            <a:spAutoFit/>
          </a:bodyPr>
          <a:lstStyle/>
          <a:p>
            <a:pPr algn="l"/>
            <a:r>
              <a:rPr sz="750" b="0" i="1">
                <a:solidFill>
                  <a:srgbClr val="555555"/>
                </a:solidFill>
                <a:latin typeface="Calibri"/>
              </a:rPr>
              <a:t>Segment de gestion d'actifs et de patrimoine générant 20% des revenus via frais de gestion et commissions. Cible les particuliers fortunés et les institutions. Croissance tirée par l'augmentation des actifs sous gestion et la demande pour des solutions ESG.</a:t>
            </a:r>
          </a:p>
        </p:txBody>
      </p:sp>
      <p:sp>
        <p:nvSpPr>
          <p:cNvPr id="29" name="Rectangle 28"/>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786,6 Mds$</a:t>
            </a:r>
          </a:p>
        </p:txBody>
      </p:sp>
      <p:sp>
        <p:nvSpPr>
          <p:cNvPr id="32" name="TextBox 31"/>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boursiere</a:t>
            </a:r>
          </a:p>
        </p:txBody>
      </p:sp>
      <p:sp>
        <p:nvSpPr>
          <p:cNvPr id="33" name="Rectangle 32"/>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181,8 Mds$</a:t>
            </a:r>
          </a:p>
        </p:txBody>
      </p:sp>
      <p:sp>
        <p:nvSpPr>
          <p:cNvPr id="36" name="TextBox 35"/>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7" name="Rectangle 36"/>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291,66 $</a:t>
            </a:r>
          </a:p>
        </p:txBody>
      </p:sp>
      <p:sp>
        <p:nvSpPr>
          <p:cNvPr id="40" name="TextBox 39"/>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41" name="Rectangle 40"/>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a:t>
            </a:r>
          </a:p>
        </p:txBody>
      </p:sp>
      <p:sp>
        <p:nvSpPr>
          <p:cNvPr id="44" name="TextBox 43"/>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5" name="TextBox 44"/>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13,8x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Modele Economique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operationnels et moteurs de croissance</a:t>
            </a:r>
          </a:p>
        </p:txBody>
      </p:sp>
      <p:sp>
        <p:nvSpPr>
          <p:cNvPr id="17" name="Rectangle 16"/>
          <p:cNvSpPr/>
          <p:nvPr/>
        </p:nvSpPr>
        <p:spPr>
          <a:xfrm>
            <a:off x="367200" y="961200"/>
            <a:ext cx="2731199"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31199"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2551199" cy="640800"/>
          </a:xfrm>
          <a:prstGeom prst="rect">
            <a:avLst/>
          </a:prstGeom>
          <a:noFill/>
        </p:spPr>
        <p:txBody>
          <a:bodyPr wrap="square">
            <a:spAutoFit/>
          </a:bodyPr>
          <a:lstStyle/>
          <a:p>
            <a:pPr algn="l"/>
            <a:r>
              <a:rPr sz="2200" b="1" i="0">
                <a:solidFill>
                  <a:srgbClr val="2E5FA3"/>
                </a:solidFill>
                <a:latin typeface="Calibri"/>
              </a:rPr>
              <a:t>45%</a:t>
            </a:r>
          </a:p>
        </p:txBody>
      </p:sp>
      <p:sp>
        <p:nvSpPr>
          <p:cNvPr id="20" name="TextBox 19"/>
          <p:cNvSpPr txBox="1"/>
          <p:nvPr/>
        </p:nvSpPr>
        <p:spPr>
          <a:xfrm>
            <a:off x="4572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2551199" cy="255600"/>
          </a:xfrm>
          <a:prstGeom prst="rect">
            <a:avLst/>
          </a:prstGeom>
          <a:noFill/>
        </p:spPr>
        <p:txBody>
          <a:bodyPr wrap="square">
            <a:spAutoFit/>
          </a:bodyPr>
          <a:lstStyle/>
          <a:p>
            <a:pPr algn="l"/>
            <a:r>
              <a:rPr sz="1000" b="1" i="0">
                <a:solidFill>
                  <a:srgbClr val="1B3A6B"/>
                </a:solidFill>
                <a:latin typeface="Calibri"/>
              </a:rPr>
              <a:t>Consumer &amp; Community Banking</a:t>
            </a:r>
          </a:p>
        </p:txBody>
      </p:sp>
      <p:sp>
        <p:nvSpPr>
          <p:cNvPr id="23" name="TextBox 22"/>
          <p:cNvSpPr txBox="1"/>
          <p:nvPr/>
        </p:nvSpPr>
        <p:spPr>
          <a:xfrm>
            <a:off x="457200" y="2332800"/>
            <a:ext cx="2551199" cy="2041199"/>
          </a:xfrm>
          <a:prstGeom prst="rect">
            <a:avLst/>
          </a:prstGeom>
          <a:noFill/>
        </p:spPr>
        <p:txBody>
          <a:bodyPr wrap="square">
            <a:spAutoFit/>
          </a:bodyPr>
          <a:lstStyle/>
          <a:p>
            <a:pPr algn="l"/>
            <a:r>
              <a:rPr sz="800" b="0" i="0">
                <a:solidFill>
                  <a:srgbClr val="555555"/>
                </a:solidFill>
                <a:latin typeface="Calibri"/>
              </a:rPr>
              <a:t>Segment de banque de détail générant 45% des revenus via dépôts, crédits hypothécaires et cartes de crédit. Cible les particuliers et PME avec des produits standardisés et une forte pénétration géographique. Croissance portée par l'augmentation des taux et la digitalisation des services.</a:t>
            </a:r>
          </a:p>
        </p:txBody>
      </p:sp>
      <p:sp>
        <p:nvSpPr>
          <p:cNvPr id="24" name="Rectangle 23"/>
          <p:cNvSpPr/>
          <p:nvPr/>
        </p:nvSpPr>
        <p:spPr>
          <a:xfrm>
            <a:off x="3206400" y="961200"/>
            <a:ext cx="2731199"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6400" y="961200"/>
            <a:ext cx="2731199"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6400" y="1141200"/>
            <a:ext cx="2551199" cy="640800"/>
          </a:xfrm>
          <a:prstGeom prst="rect">
            <a:avLst/>
          </a:prstGeom>
          <a:noFill/>
        </p:spPr>
        <p:txBody>
          <a:bodyPr wrap="square">
            <a:spAutoFit/>
          </a:bodyPr>
          <a:lstStyle/>
          <a:p>
            <a:pPr algn="l"/>
            <a:r>
              <a:rPr sz="2200" b="1" i="0">
                <a:solidFill>
                  <a:srgbClr val="1A7A4A"/>
                </a:solidFill>
                <a:latin typeface="Calibri"/>
              </a:rPr>
              <a:t>35%</a:t>
            </a:r>
          </a:p>
        </p:txBody>
      </p:sp>
      <p:sp>
        <p:nvSpPr>
          <p:cNvPr id="27" name="TextBox 26"/>
          <p:cNvSpPr txBox="1"/>
          <p:nvPr/>
        </p:nvSpPr>
        <p:spPr>
          <a:xfrm>
            <a:off x="32964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32964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6400" y="2059200"/>
            <a:ext cx="2551199" cy="255600"/>
          </a:xfrm>
          <a:prstGeom prst="rect">
            <a:avLst/>
          </a:prstGeom>
          <a:noFill/>
        </p:spPr>
        <p:txBody>
          <a:bodyPr wrap="square">
            <a:spAutoFit/>
          </a:bodyPr>
          <a:lstStyle/>
          <a:p>
            <a:pPr algn="l"/>
            <a:r>
              <a:rPr sz="1000" b="1" i="0">
                <a:solidFill>
                  <a:srgbClr val="1B3A6B"/>
                </a:solidFill>
                <a:latin typeface="Calibri"/>
              </a:rPr>
              <a:t>Corporate &amp; Investment Bank</a:t>
            </a:r>
          </a:p>
        </p:txBody>
      </p:sp>
      <p:sp>
        <p:nvSpPr>
          <p:cNvPr id="30" name="TextBox 29"/>
          <p:cNvSpPr txBox="1"/>
          <p:nvPr/>
        </p:nvSpPr>
        <p:spPr>
          <a:xfrm>
            <a:off x="3296400" y="2332800"/>
            <a:ext cx="2551199" cy="2041199"/>
          </a:xfrm>
          <a:prstGeom prst="rect">
            <a:avLst/>
          </a:prstGeom>
          <a:noFill/>
        </p:spPr>
        <p:txBody>
          <a:bodyPr wrap="square">
            <a:spAutoFit/>
          </a:bodyPr>
          <a:lstStyle/>
          <a:p>
            <a:pPr algn="l"/>
            <a:r>
              <a:rPr sz="800" b="0" i="0">
                <a:solidFill>
                  <a:srgbClr val="555555"/>
                </a:solidFill>
                <a:latin typeface="Calibri"/>
              </a:rPr>
              <a:t>Segment d'investissement générant 35% des revenus via marchés de capitaux, fusions-acquisitions et services de trésorerie. Clients institutionnels et grandes entreprises. Moteurs de croissance : volatilité des marchés, activité M&amp;A et expansion internationale.</a:t>
            </a:r>
          </a:p>
        </p:txBody>
      </p:sp>
      <p:sp>
        <p:nvSpPr>
          <p:cNvPr id="31" name="Rectangle 30"/>
          <p:cNvSpPr/>
          <p:nvPr/>
        </p:nvSpPr>
        <p:spPr>
          <a:xfrm>
            <a:off x="6045600" y="961200"/>
            <a:ext cx="2731199"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45600" y="961200"/>
            <a:ext cx="2731199" cy="54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35600" y="1141200"/>
            <a:ext cx="2551199" cy="640800"/>
          </a:xfrm>
          <a:prstGeom prst="rect">
            <a:avLst/>
          </a:prstGeom>
          <a:noFill/>
        </p:spPr>
        <p:txBody>
          <a:bodyPr wrap="square">
            <a:spAutoFit/>
          </a:bodyPr>
          <a:lstStyle/>
          <a:p>
            <a:pPr algn="l"/>
            <a:r>
              <a:rPr sz="2200" b="1" i="0">
                <a:solidFill>
                  <a:srgbClr val="888888"/>
                </a:solidFill>
                <a:latin typeface="Calibri"/>
              </a:rPr>
              <a:t>20%</a:t>
            </a:r>
          </a:p>
        </p:txBody>
      </p:sp>
      <p:sp>
        <p:nvSpPr>
          <p:cNvPr id="34" name="TextBox 33"/>
          <p:cNvSpPr txBox="1"/>
          <p:nvPr/>
        </p:nvSpPr>
        <p:spPr>
          <a:xfrm>
            <a:off x="61356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35" name="Rectangle 34"/>
          <p:cNvSpPr/>
          <p:nvPr/>
        </p:nvSpPr>
        <p:spPr>
          <a:xfrm>
            <a:off x="61356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5600" y="2059200"/>
            <a:ext cx="2551199" cy="255600"/>
          </a:xfrm>
          <a:prstGeom prst="rect">
            <a:avLst/>
          </a:prstGeom>
          <a:noFill/>
        </p:spPr>
        <p:txBody>
          <a:bodyPr wrap="square">
            <a:spAutoFit/>
          </a:bodyPr>
          <a:lstStyle/>
          <a:p>
            <a:pPr algn="l"/>
            <a:r>
              <a:rPr sz="1000" b="1" i="0">
                <a:solidFill>
                  <a:srgbClr val="1B3A6B"/>
                </a:solidFill>
                <a:latin typeface="Calibri"/>
              </a:rPr>
              <a:t>Asset &amp; Wealth Management</a:t>
            </a:r>
          </a:p>
        </p:txBody>
      </p:sp>
      <p:sp>
        <p:nvSpPr>
          <p:cNvPr id="37" name="TextBox 36"/>
          <p:cNvSpPr txBox="1"/>
          <p:nvPr/>
        </p:nvSpPr>
        <p:spPr>
          <a:xfrm>
            <a:off x="6135600" y="2332800"/>
            <a:ext cx="2551199" cy="2041199"/>
          </a:xfrm>
          <a:prstGeom prst="rect">
            <a:avLst/>
          </a:prstGeom>
          <a:noFill/>
        </p:spPr>
        <p:txBody>
          <a:bodyPr wrap="square">
            <a:spAutoFit/>
          </a:bodyPr>
          <a:lstStyle/>
          <a:p>
            <a:pPr algn="l"/>
            <a:r>
              <a:rPr sz="800" b="0" i="0">
                <a:solidFill>
                  <a:srgbClr val="555555"/>
                </a:solidFill>
                <a:latin typeface="Calibri"/>
              </a:rPr>
              <a:t>Segment de gestion d'actifs et de patrimoine générant 20% des revenus via frais de gestion et commissions. Cible les particuliers fortunés et les institutions. Croissance tirée par l'augmentation des actifs sous gestion et la demande pour des solutions ESG.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USD millions  ·  2022–2027F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155,0</a:t>
                      </a:r>
                    </a:p>
                  </a:txBody>
                  <a:tcPr>
                    <a:solidFill>
                      <a:srgbClr val="FFFFFF"/>
                    </a:solidFill>
                  </a:tcPr>
                </a:tc>
                <a:tc>
                  <a:txBody>
                    <a:bodyPr/>
                    <a:lstStyle/>
                    <a:p>
                      <a:pPr algn="ctr"/>
                      <a:r>
                        <a:rPr sz="800" b="1" i="0">
                          <a:solidFill>
                            <a:srgbClr val="0D0D0D"/>
                          </a:solidFill>
                          <a:latin typeface="Calibri"/>
                        </a:rPr>
                        <a:t>169,4</a:t>
                      </a:r>
                    </a:p>
                  </a:txBody>
                  <a:tcPr>
                    <a:solidFill>
                      <a:srgbClr val="FFFFFF"/>
                    </a:solidFill>
                  </a:tcPr>
                </a:tc>
                <a:tc>
                  <a:txBody>
                    <a:bodyPr/>
                    <a:lstStyle/>
                    <a:p>
                      <a:pPr algn="ctr"/>
                      <a:r>
                        <a:rPr sz="800" b="1" i="0">
                          <a:solidFill>
                            <a:srgbClr val="1B3A6B"/>
                          </a:solidFill>
                          <a:latin typeface="Calibri"/>
                        </a:rPr>
                        <a:t>181,8</a:t>
                      </a:r>
                    </a:p>
                  </a:txBody>
                  <a:tcPr>
                    <a:solidFill>
                      <a:srgbClr val="DDE8F5"/>
                    </a:solidFill>
                  </a:tcPr>
                </a:tc>
                <a:tc>
                  <a:txBody>
                    <a:bodyPr/>
                    <a:lstStyle/>
                    <a:p>
                      <a:pPr algn="ctr"/>
                      <a:r>
                        <a:rPr sz="800" b="1" i="0">
                          <a:solidFill>
                            <a:srgbClr val="0D0D0D"/>
                          </a:solidFill>
                          <a:latin typeface="Calibri"/>
                        </a:rPr>
                        <a:t>193,5</a:t>
                      </a:r>
                    </a:p>
                  </a:txBody>
                  <a:tcPr>
                    <a:solidFill>
                      <a:srgbClr val="FFFFFF"/>
                    </a:solidFill>
                  </a:tcPr>
                </a:tc>
                <a:tc>
                  <a:txBody>
                    <a:bodyPr/>
                    <a:lstStyle/>
                    <a:p>
                      <a:pPr algn="ctr"/>
                      <a:r>
                        <a:rPr sz="800" b="1" i="0">
                          <a:solidFill>
                            <a:srgbClr val="0D0D0D"/>
                          </a:solidFill>
                          <a:latin typeface="Calibri"/>
                        </a:rPr>
                        <a:t>205,0</a:t>
                      </a:r>
                    </a:p>
                  </a:txBody>
                  <a:tcPr>
                    <a:solidFill>
                      <a:srgbClr val="FFFFFF"/>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c>
                  <a:txBody>
                    <a:bodyPr/>
                    <a:lstStyle/>
                    <a:p>
                      <a:pPr algn="ctr"/>
                      <a:r>
                        <a:rPr sz="750" b="0" i="1">
                          <a:solidFill>
                            <a:srgbClr val="555555"/>
                          </a:solidFill>
                          <a:latin typeface="Calibri"/>
                        </a:rPr>
                        <a:t>+6,4 %</a:t>
                      </a:r>
                    </a:p>
                  </a:txBody>
                  <a:tcPr>
                    <a:solidFill>
                      <a:srgbClr val="F7F8FA"/>
                    </a:solidFill>
                  </a:tcPr>
                </a:tc>
                <a:tc>
                  <a:txBody>
                    <a:bodyPr/>
                    <a:lstStyle/>
                    <a:p>
                      <a:pPr algn="ctr"/>
                      <a:r>
                        <a:rPr sz="750" b="0" i="1">
                          <a:solidFill>
                            <a:srgbClr val="555555"/>
                          </a:solidFill>
                          <a:latin typeface="Calibri"/>
                        </a:rPr>
                        <a:t>+5,9 %</a:t>
                      </a:r>
                    </a:p>
                  </a:txBody>
                  <a:tcPr>
                    <a:solidFill>
                      <a:srgbClr val="F7F8FA"/>
                    </a:solidFill>
                  </a:tcPr>
                </a:tc>
              </a:tr>
              <a:tr h="220000">
                <a:tc>
                  <a:txBody>
                    <a:bodyPr/>
                    <a:lstStyle/>
                    <a:p>
                      <a:pPr algn="l"/>
                      <a:r>
                        <a:rPr sz="800" b="1" i="0">
                          <a:solidFill>
                            <a:srgbClr val="0D0D0D"/>
                          </a:solidFill>
                          <a:latin typeface="Calibri"/>
                        </a:rPr>
                        <a:t>Resultat brut</a:t>
                      </a:r>
                    </a:p>
                  </a:txBody>
                  <a:tcPr>
                    <a:solidFill>
                      <a:srgbClr val="FFFFFF"/>
                    </a:solidFill>
                  </a:tcPr>
                </a:tc>
                <a:tc>
                  <a:txBody>
                    <a:bodyPr/>
                    <a:lstStyle/>
                    <a:p>
                      <a:pPr algn="ctr"/>
                      <a:r>
                        <a:rPr sz="800" b="1" i="0">
                          <a:solidFill>
                            <a:srgbClr val="0D0D0D"/>
                          </a:solidFill>
                          <a:latin typeface="Calibri"/>
                        </a:rPr>
                        <a:t>—</a:t>
                      </a:r>
                    </a:p>
                  </a:txBody>
                  <a:tcPr>
                    <a:solidFill>
                      <a:srgbClr val="FFFFFF"/>
                    </a:solidFill>
                  </a:tcPr>
                </a:tc>
                <a:tc>
                  <a:txBody>
                    <a:bodyPr/>
                    <a:lstStyle/>
                    <a:p>
                      <a:pPr algn="ctr"/>
                      <a:r>
                        <a:rPr sz="800" b="1" i="0">
                          <a:solidFill>
                            <a:srgbClr val="0D0D0D"/>
                          </a:solidFill>
                          <a:latin typeface="Calibri"/>
                        </a:rPr>
                        <a:t>—</a:t>
                      </a:r>
                    </a:p>
                  </a:txBody>
                  <a:tcPr>
                    <a:solidFill>
                      <a:srgbClr val="FFFFFF"/>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0D0D0D"/>
                          </a:solidFill>
                          <a:latin typeface="Calibri"/>
                        </a:rPr>
                        <a:t>125,8</a:t>
                      </a:r>
                    </a:p>
                  </a:txBody>
                  <a:tcPr>
                    <a:solidFill>
                      <a:srgbClr val="FFFFFF"/>
                    </a:solidFill>
                  </a:tcPr>
                </a:tc>
                <a:tc>
                  <a:txBody>
                    <a:bodyPr/>
                    <a:lstStyle/>
                    <a:p>
                      <a:pPr algn="ctr"/>
                      <a:r>
                        <a:rPr sz="800" b="1" i="0">
                          <a:solidFill>
                            <a:srgbClr val="0D0D0D"/>
                          </a:solidFill>
                          <a:latin typeface="Calibri"/>
                        </a:rPr>
                        <a:t>131,2</a:t>
                      </a:r>
                    </a:p>
                  </a:txBody>
                  <a:tcPr>
                    <a:solidFill>
                      <a:srgbClr val="FFFFFF"/>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c>
                  <a:txBody>
                    <a:bodyPr/>
                    <a:lstStyle/>
                    <a:p>
                      <a:pPr algn="ctr"/>
                      <a:r>
                        <a:rPr sz="750" b="0" i="1">
                          <a:solidFill>
                            <a:srgbClr val="555555"/>
                          </a:solidFill>
                          <a:latin typeface="Calibri"/>
                        </a:rPr>
                        <a:t>65,0 %</a:t>
                      </a:r>
                    </a:p>
                  </a:txBody>
                  <a:tcPr>
                    <a:solidFill>
                      <a:srgbClr val="F7F8FA"/>
                    </a:solidFill>
                  </a:tcPr>
                </a:tc>
                <a:tc>
                  <a:txBody>
                    <a:bodyPr/>
                    <a:lstStyle/>
                    <a:p>
                      <a:pPr algn="ctr"/>
                      <a:r>
                        <a:rPr sz="750" b="0" i="1">
                          <a:solidFill>
                            <a:srgbClr val="555555"/>
                          </a:solidFill>
                          <a:latin typeface="Calibri"/>
                        </a:rPr>
                        <a:t>64,0 %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a:t>
                      </a:r>
                    </a:p>
                  </a:txBody>
                  <a:tcPr>
                    <a:solidFill>
                      <a:srgbClr val="FFFFFF"/>
                    </a:solidFill>
                  </a:tcPr>
                </a:tc>
                <a:tc>
                  <a:txBody>
                    <a:bodyPr/>
                    <a:lstStyle/>
                    <a:p>
                      <a:pPr algn="ctr"/>
                      <a:r>
                        <a:rPr sz="800" b="1" i="0">
                          <a:solidFill>
                            <a:srgbClr val="0D0D0D"/>
                          </a:solidFill>
                          <a:latin typeface="Calibri"/>
                        </a:rPr>
                        <a:t>—</a:t>
                      </a:r>
                    </a:p>
                  </a:txBody>
                  <a:tcPr>
                    <a:solidFill>
                      <a:srgbClr val="FFFFFF"/>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0D0D0D"/>
                          </a:solidFill>
                          <a:latin typeface="Calibri"/>
                        </a:rPr>
                        <a:t>78,0</a:t>
                      </a:r>
                    </a:p>
                  </a:txBody>
                  <a:tcPr>
                    <a:solidFill>
                      <a:srgbClr val="FFFFFF"/>
                    </a:solidFill>
                  </a:tcPr>
                </a:tc>
                <a:tc>
                  <a:txBody>
                    <a:bodyPr/>
                    <a:lstStyle/>
                    <a:p>
                      <a:pPr algn="ctr"/>
                      <a:r>
                        <a:rPr sz="800" b="1" i="0">
                          <a:solidFill>
                            <a:srgbClr val="0D0D0D"/>
                          </a:solidFill>
                          <a:latin typeface="Calibri"/>
                        </a:rPr>
                        <a:t>82,0</a:t>
                      </a:r>
                    </a:p>
                  </a:txBody>
                  <a:tcPr>
                    <a:solidFill>
                      <a:srgbClr val="FFFFFF"/>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c>
                  <a:txBody>
                    <a:bodyPr/>
                    <a:lstStyle/>
                    <a:p>
                      <a:pPr algn="ctr"/>
                      <a:r>
                        <a:rPr sz="750" b="0" i="1">
                          <a:solidFill>
                            <a:srgbClr val="555555"/>
                          </a:solidFill>
                          <a:latin typeface="Calibri"/>
                        </a:rPr>
                        <a:t>40,3 %</a:t>
                      </a:r>
                    </a:p>
                  </a:txBody>
                  <a:tcPr>
                    <a:solidFill>
                      <a:srgbClr val="F7F8FA"/>
                    </a:solidFill>
                  </a:tcPr>
                </a:tc>
                <a:tc>
                  <a:txBody>
                    <a:bodyPr/>
                    <a:lstStyle/>
                    <a:p>
                      <a:pPr algn="ctr"/>
                      <a:r>
                        <a:rPr sz="750" b="0" i="1">
                          <a:solidFill>
                            <a:srgbClr val="555555"/>
                          </a:solidFill>
                          <a:latin typeface="Calibri"/>
                        </a:rPr>
                        <a:t>40,0 %</a:t>
                      </a:r>
                    </a:p>
                  </a:txBody>
                  <a:tcPr>
                    <a:solidFill>
                      <a:srgbClr val="F7F8FA"/>
                    </a:solidFill>
                  </a:tcPr>
                </a:tc>
              </a:tr>
              <a:tr h="220000">
                <a:tc>
                  <a:txBody>
                    <a:bodyPr/>
                    <a:lstStyle/>
                    <a:p>
                      <a:pPr algn="l"/>
                      <a:r>
                        <a:rPr sz="800" b="1" i="0">
                          <a:solidFill>
                            <a:srgbClr val="0D0D0D"/>
                          </a:solidFill>
                          <a:latin typeface="Calibri"/>
                        </a:rPr>
                        <a:t>Resultat net</a:t>
                      </a:r>
                    </a:p>
                  </a:txBody>
                  <a:tcPr>
                    <a:solidFill>
                      <a:srgbClr val="FFFFFF"/>
                    </a:solidFill>
                  </a:tcPr>
                </a:tc>
                <a:tc>
                  <a:txBody>
                    <a:bodyPr/>
                    <a:lstStyle/>
                    <a:p>
                      <a:pPr algn="ctr"/>
                      <a:r>
                        <a:rPr sz="800" b="1" i="0">
                          <a:solidFill>
                            <a:srgbClr val="0D0D0D"/>
                          </a:solidFill>
                          <a:latin typeface="Calibri"/>
                        </a:rPr>
                        <a:t>49,6</a:t>
                      </a:r>
                    </a:p>
                  </a:txBody>
                  <a:tcPr>
                    <a:solidFill>
                      <a:srgbClr val="FFFFFF"/>
                    </a:solidFill>
                  </a:tcPr>
                </a:tc>
                <a:tc>
                  <a:txBody>
                    <a:bodyPr/>
                    <a:lstStyle/>
                    <a:p>
                      <a:pPr algn="ctr"/>
                      <a:r>
                        <a:rPr sz="800" b="1" i="0">
                          <a:solidFill>
                            <a:srgbClr val="0D0D0D"/>
                          </a:solidFill>
                          <a:latin typeface="Calibri"/>
                        </a:rPr>
                        <a:t>58,5</a:t>
                      </a:r>
                    </a:p>
                  </a:txBody>
                  <a:tcPr>
                    <a:solidFill>
                      <a:srgbClr val="FFFFFF"/>
                    </a:solidFill>
                  </a:tcPr>
                </a:tc>
                <a:tc>
                  <a:txBody>
                    <a:bodyPr/>
                    <a:lstStyle/>
                    <a:p>
                      <a:pPr algn="ctr"/>
                      <a:r>
                        <a:rPr sz="800" b="1" i="0">
                          <a:solidFill>
                            <a:srgbClr val="1B3A6B"/>
                          </a:solidFill>
                          <a:latin typeface="Calibri"/>
                        </a:rPr>
                        <a:t>57,0</a:t>
                      </a:r>
                    </a:p>
                  </a:txBody>
                  <a:tcPr>
                    <a:solidFill>
                      <a:srgbClr val="DDE8F5"/>
                    </a:solidFill>
                  </a:tcPr>
                </a:tc>
                <a:tc>
                  <a:txBody>
                    <a:bodyPr/>
                    <a:lstStyle/>
                    <a:p>
                      <a:pPr algn="ctr"/>
                      <a:r>
                        <a:rPr sz="800" b="1" i="0">
                          <a:solidFill>
                            <a:srgbClr val="0D0D0D"/>
                          </a:solidFill>
                          <a:latin typeface="Calibri"/>
                        </a:rPr>
                        <a:t>61,0</a:t>
                      </a:r>
                    </a:p>
                  </a:txBody>
                  <a:tcPr>
                    <a:solidFill>
                      <a:srgbClr val="FFFFFF"/>
                    </a:solidFill>
                  </a:tcPr>
                </a:tc>
                <a:tc>
                  <a:txBody>
                    <a:bodyPr/>
                    <a:lstStyle/>
                    <a:p>
                      <a:pPr algn="ctr"/>
                      <a:r>
                        <a:rPr sz="800" b="1" i="0">
                          <a:solidFill>
                            <a:srgbClr val="0D0D0D"/>
                          </a:solidFill>
                          <a:latin typeface="Calibri"/>
                        </a:rPr>
                        <a:t>65,0</a:t>
                      </a:r>
                    </a:p>
                  </a:txBody>
                  <a:tcPr>
                    <a:solidFill>
                      <a:srgbClr val="FFFFFF"/>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32,0 %</a:t>
                      </a:r>
                    </a:p>
                  </a:txBody>
                  <a:tcPr>
                    <a:solidFill>
                      <a:srgbClr val="F7F8FA"/>
                    </a:solidFill>
                  </a:tcPr>
                </a:tc>
                <a:tc>
                  <a:txBody>
                    <a:bodyPr/>
                    <a:lstStyle/>
                    <a:p>
                      <a:pPr algn="ctr"/>
                      <a:r>
                        <a:rPr sz="750" b="0" i="1">
                          <a:solidFill>
                            <a:srgbClr val="555555"/>
                          </a:solidFill>
                          <a:latin typeface="Calibri"/>
                        </a:rPr>
                        <a:t>34,5 %</a:t>
                      </a:r>
                    </a:p>
                  </a:txBody>
                  <a:tcPr>
                    <a:solidFill>
                      <a:srgbClr val="F7F8FA"/>
                    </a:solidFill>
                  </a:tcPr>
                </a:tc>
                <a:tc>
                  <a:txBody>
                    <a:bodyPr/>
                    <a:lstStyle/>
                    <a:p>
                      <a:pPr algn="ctr"/>
                      <a:r>
                        <a:rPr sz="750" b="0" i="1">
                          <a:solidFill>
                            <a:srgbClr val="555555"/>
                          </a:solidFill>
                          <a:latin typeface="Calibri"/>
                        </a:rPr>
                        <a:t>31,4 %</a:t>
                      </a:r>
                    </a:p>
                  </a:txBody>
                  <a:tcPr>
                    <a:solidFill>
                      <a:srgbClr val="DDE8F5"/>
                    </a:solidFill>
                  </a:tcPr>
                </a:tc>
                <a:tc>
                  <a:txBody>
                    <a:bodyPr/>
                    <a:lstStyle/>
                    <a:p>
                      <a:pPr algn="ctr"/>
                      <a:r>
                        <a:rPr sz="750" b="0" i="1">
                          <a:solidFill>
                            <a:srgbClr val="555555"/>
                          </a:solidFill>
                          <a:latin typeface="Calibri"/>
                        </a:rPr>
                        <a:t>31,5 %</a:t>
                      </a:r>
                    </a:p>
                  </a:txBody>
                  <a:tcPr>
                    <a:solidFill>
                      <a:srgbClr val="F7F8FA"/>
                    </a:solidFill>
                  </a:tcPr>
                </a:tc>
                <a:tc>
                  <a:txBody>
                    <a:bodyPr/>
                    <a:lstStyle/>
                    <a:p>
                      <a:pPr algn="ctr"/>
                      <a:r>
                        <a:rPr sz="750" b="0" i="1">
                          <a:solidFill>
                            <a:srgbClr val="555555"/>
                          </a:solidFill>
                          <a:latin typeface="Calibri"/>
                        </a:rPr>
                        <a:t>31,7 %</a:t>
                      </a:r>
                    </a:p>
                  </a:txBody>
                  <a:tcPr>
                    <a:solidFill>
                      <a:srgbClr val="F7F8FA"/>
                    </a:solidFill>
                  </a:tcPr>
                </a:tc>
              </a:tr>
            </a:tbl>
          </a:graphicData>
        </a:graphic>
      </p:graphicFrame>
      <p:sp>
        <p:nvSpPr>
          <p:cNvPr id="18" name="TextBox 17"/>
          <p:cNvSpPr txBox="1"/>
          <p:nvPr/>
        </p:nvSpPr>
        <p:spPr>
          <a:xfrm>
            <a:off x="367200" y="3218400"/>
            <a:ext cx="8413200" cy="1224000"/>
          </a:xfrm>
          <a:prstGeom prst="rect">
            <a:avLst/>
          </a:prstGeom>
          <a:noFill/>
        </p:spPr>
        <p:txBody>
          <a:bodyPr wrap="square">
            <a:spAutoFit/>
          </a:bodyPr>
          <a:lstStyle/>
          <a:p>
            <a:pPr algn="l"/>
            <a:r>
              <a:rPr sz="850" b="0" i="0">
                <a:solidFill>
                  <a:srgbClr val="555555"/>
                </a:solidFill>
                <a:latin typeface="Calibri"/>
              </a:rPr>
              <a:t>Croissance du CA de 6.5% en 2025 portée par une hausse des revenus de banque d'investissement (+12%) et une expansion des marges nettes (+250bps vs 2024). Discipline des coûts (ratio d'efficacité à 55%) et mix produit favorable soutiennent la rentabilité. La génération de cash-flow libre de 45Mds$ en 2025 renforce la solidité bilancielle.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USD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343,3 Mds$</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434,0 Mds$</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156,6 Mds$</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1,80</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1,80</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1,5x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interets</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TextBox 30"/>
          <p:cNvSpPr txBox="1"/>
          <p:nvPr/>
        </p:nvSpPr>
        <p:spPr>
          <a:xfrm>
            <a:off x="367200" y="4068000"/>
            <a:ext cx="8413200" cy="468000"/>
          </a:xfrm>
          <a:prstGeom prst="rect">
            <a:avLst/>
          </a:prstGeom>
          <a:noFill/>
        </p:spPr>
        <p:txBody>
          <a:bodyPr wrap="square">
            <a:spAutoFit/>
          </a:bodyPr>
          <a:lstStyle/>
          <a:p>
            <a:pPr algn="l"/>
            <a:r>
              <a:rPr sz="850" b="0" i="0">
                <a:solidFill>
                  <a:srgbClr val="555555"/>
                </a:solidFill>
                <a:latin typeface="Calibri"/>
              </a:rPr>
              <a:t>Croissance du CA de 6.5% en 2025 portée par une hausse des revenus de banque d'investissement (+12%) et une expansion des marges nettes (+250bps vs 2024). Discipline des coûts (ratio d'efficacité à 55%) et mix produit favorable soutiennent la rentabilité. La génération de cash-flow libre de 45Mds$ 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13,8x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Sous-value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Premium</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16,7 %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Bon</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3628800"/>
            <a:ext cx="8413200" cy="824400"/>
          </a:xfrm>
          <a:prstGeom prst="rect">
            <a:avLst/>
          </a:prstGeom>
          <a:noFill/>
        </p:spPr>
        <p:txBody>
          <a:bodyPr wrap="square">
            <a:spAutoFit/>
          </a:bodyPr>
          <a:lstStyle/>
          <a:p>
            <a:pPr algn="l"/>
            <a:r>
              <a:rPr sz="850" b="0" i="0">
                <a:solidFill>
                  <a:srgbClr val="555555"/>
                </a:solidFill>
                <a:latin typeface="Calibri"/>
              </a:rPr>
              <a:t>Marge nette en hausse de 29.5% en 2022 à 34.5% en 2024 avant un léger repli à 31.4% en 2025. Cette compression s'explique par des coûts de crédit plus élevés et une pression sur les revenus de trading. La durabilité de la marge dépend de la normalisation des provisions et de la maîtrise des coûts fixes.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325 $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291,66 $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270 $</a:t>
                      </a:r>
                    </a:p>
                  </a:txBody>
                  <a:tcPr>
                    <a:solidFill>
                      <a:srgbClr val="FAF0EF"/>
                    </a:solidFill>
                  </a:tcPr>
                </a:tc>
                <a:tc>
                  <a:txBody>
                    <a:bodyPr/>
                    <a:lstStyle/>
                    <a:p>
                      <a:pPr algn="ctr"/>
                      <a:r>
                        <a:rPr sz="2000" b="1" i="0">
                          <a:solidFill>
                            <a:srgbClr val="2E5FA3"/>
                          </a:solidFill>
                          <a:latin typeface="Calibri"/>
                        </a:rPr>
                        <a:t>325 $</a:t>
                      </a:r>
                    </a:p>
                  </a:txBody>
                  <a:tcPr>
                    <a:solidFill>
                      <a:srgbClr val="EEF3FA"/>
                    </a:solidFill>
                  </a:tcPr>
                </a:tc>
                <a:tc>
                  <a:txBody>
                    <a:bodyPr/>
                    <a:lstStyle/>
                    <a:p>
                      <a:pPr algn="ctr"/>
                      <a:r>
                        <a:rPr sz="2000" b="1" i="0">
                          <a:solidFill>
                            <a:srgbClr val="1A7A4A"/>
                          </a:solidFill>
                          <a:latin typeface="Calibri"/>
                        </a:rPr>
                        <a:t>350 $</a:t>
                      </a:r>
                    </a:p>
                  </a:txBody>
                  <a:tcPr>
                    <a:solidFill>
                      <a:srgbClr val="EAF4EF"/>
                    </a:solidFill>
                  </a:tcPr>
                </a:tc>
              </a:tr>
              <a:tr h="342900">
                <a:tc>
                  <a:txBody>
                    <a:bodyPr/>
                    <a:lstStyle/>
                    <a:p>
                      <a:pPr algn="ctr"/>
                      <a:r>
                        <a:rPr sz="1200" b="1" i="0">
                          <a:solidFill>
                            <a:srgbClr val="A82020"/>
                          </a:solidFill>
                          <a:latin typeface="Calibri"/>
                        </a:rPr>
                        <a:t>-7,4 %</a:t>
                      </a:r>
                    </a:p>
                  </a:txBody>
                  <a:tcPr>
                    <a:solidFill>
                      <a:srgbClr val="FAF0EF"/>
                    </a:solidFill>
                  </a:tcPr>
                </a:tc>
                <a:tc>
                  <a:txBody>
                    <a:bodyPr/>
                    <a:lstStyle/>
                    <a:p>
                      <a:pPr algn="ctr"/>
                      <a:r>
                        <a:rPr sz="1200" b="1" i="0">
                          <a:solidFill>
                            <a:srgbClr val="2E5FA3"/>
                          </a:solidFill>
                          <a:latin typeface="Calibri"/>
                        </a:rPr>
                        <a:t>+11,4 %</a:t>
                      </a:r>
                    </a:p>
                  </a:txBody>
                  <a:tcPr>
                    <a:solidFill>
                      <a:srgbClr val="EEF3FA"/>
                    </a:solidFill>
                  </a:tcPr>
                </a:tc>
                <a:tc>
                  <a:txBody>
                    <a:bodyPr/>
                    <a:lstStyle/>
                    <a:p>
                      <a:pPr algn="ctr"/>
                      <a:r>
                        <a:rPr sz="1200" b="1" i="0">
                          <a:solidFill>
                            <a:srgbClr val="1A7A4A"/>
                          </a:solidFill>
                          <a:latin typeface="Calibri"/>
                        </a:rPr>
                        <a:t>+20,0 %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8413200" cy="201600"/>
          </a:xfrm>
          <a:prstGeom prst="rect">
            <a:avLst/>
          </a:prstGeom>
          <a:noFill/>
        </p:spPr>
        <p:txBody>
          <a:bodyPr wrap="square">
            <a:spAutoFit/>
          </a:bodyPr>
          <a:lstStyle/>
          <a:p>
            <a:pPr algn="l"/>
            <a:r>
              <a:rPr sz="900" b="1" i="0">
                <a:solidFill>
                  <a:srgbClr val="1B3A6B"/>
                </a:solidFill>
                <a:latin typeface="Calibri"/>
              </a:rPr>
              <a:t>Table de sensibilite — Valeur intrinseque ($)</a:t>
            </a:r>
          </a:p>
        </p:txBody>
      </p:sp>
      <p:graphicFrame>
        <p:nvGraphicFramePr>
          <p:cNvPr id="19" name="Table 18"/>
          <p:cNvGraphicFramePr>
            <a:graphicFrameLocks noGrp="1"/>
          </p:cNvGraphicFramePr>
          <p:nvPr/>
        </p:nvGraphicFramePr>
        <p:xfrm>
          <a:off x="367200" y="2653200"/>
          <a:ext cx="8413200" cy="1116000"/>
        </p:xfrm>
        <a:graphic>
          <a:graphicData uri="http://schemas.openxmlformats.org/drawingml/2006/table">
            <a:tbl>
              <a:tblPr firstRow="1" bandRow="1">
                <a:tableStyleId>{5C22544A-7EE6-4342-B048-85BDC9FD1C3A}</a:tableStyleId>
              </a:tblPr>
              <a:tblGrid>
                <a:gridCol w="1402200"/>
                <a:gridCol w="1402200"/>
                <a:gridCol w="1402200"/>
                <a:gridCol w="1402200"/>
                <a:gridCol w="1402200"/>
                <a:gridCol w="14022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9,1%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393</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423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457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498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10,1%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11,1%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325</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12,1%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264</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277</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307</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13,1%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264</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367200" y="3916800"/>
            <a:ext cx="8413200" cy="547200"/>
          </a:xfrm>
          <a:prstGeom prst="rect">
            <a:avLst/>
          </a:prstGeom>
          <a:noFill/>
        </p:spPr>
        <p:txBody>
          <a:bodyPr wrap="square">
            <a:spAutoFit/>
          </a:bodyPr>
          <a:lstStyle/>
          <a:p>
            <a:pPr algn="l"/>
            <a:r>
              <a:rPr sz="850" b="0" i="0">
                <a:solidFill>
                  <a:srgbClr val="555555"/>
                </a:solidFill>
                <a:latin typeface="Calibri"/>
              </a:rPr>
              <a:t>Avec un WACC de 11.1% et un TGR de 2.5%, le prix implicite DCF est de 325 USD, soit +11% vs cours actuel. L'upside reflète une sous-valorisation structurelle liée à la qualité des actifs et à la génération de cash-flow. Un catalyseur clé serait une accélération de la croissance des revenus de gestion d'actifs.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USD</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JPMorgan Chase &amp; Co.</a:t>
                      </a:r>
                    </a:p>
                  </a:txBody>
                  <a:tcPr>
                    <a:solidFill>
                      <a:srgbClr val="DDE8F5"/>
                    </a:solidFill>
                  </a:tcPr>
                </a:tc>
                <a:tc>
                  <a:txBody>
                    <a:bodyPr/>
                    <a:lstStyle/>
                    <a:p>
                      <a:pPr algn="ctr"/>
                      <a:r>
                        <a:rPr sz="750" b="1" i="0">
                          <a:solidFill>
                            <a:srgbClr val="2E5FA3"/>
                          </a:solidFill>
                          <a:latin typeface="Calibri"/>
                        </a:rPr>
                        <a:t>JPM</a:t>
                      </a:r>
                    </a:p>
                  </a:txBody>
                  <a:tcPr>
                    <a:solidFill>
                      <a:srgbClr val="DDE8F5"/>
                    </a:solidFill>
                  </a:tcPr>
                </a:tc>
                <a:tc>
                  <a:txBody>
                    <a:bodyPr/>
                    <a:lstStyle/>
                    <a:p>
                      <a:pPr algn="ctr"/>
                      <a:r>
                        <a:rPr sz="800" b="1" i="0">
                          <a:solidFill>
                            <a:srgbClr val="1B3A6B"/>
                          </a:solidFill>
                          <a:latin typeface="Calibri"/>
                        </a:rPr>
                        <a:t>786,6</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1B3A6B"/>
                          </a:solidFill>
                          <a:latin typeface="Calibri"/>
                        </a:rPr>
                        <a:t>5,2x</a:t>
                      </a:r>
                    </a:p>
                  </a:txBody>
                  <a:tcPr>
                    <a:solidFill>
                      <a:srgbClr val="DDE8F5"/>
                    </a:solidFill>
                  </a:tcPr>
                </a:tc>
                <a:tc>
                  <a:txBody>
                    <a:bodyPr/>
                    <a:lstStyle/>
                    <a:p>
                      <a:pPr algn="ctr"/>
                      <a:r>
                        <a:rPr sz="800" b="1" i="0">
                          <a:solidFill>
                            <a:srgbClr val="1B3A6B"/>
                          </a:solidFill>
                          <a:latin typeface="Calibri"/>
                        </a:rPr>
                        <a:t>13,8x</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r>
              <a:tr h="251999">
                <a:tc>
                  <a:txBody>
                    <a:bodyPr/>
                    <a:lstStyle/>
                    <a:p>
                      <a:pPr algn="l"/>
                      <a:r>
                        <a:rPr sz="800" b="0" i="0">
                          <a:solidFill>
                            <a:srgbClr val="0D0D0D"/>
                          </a:solidFill>
                          <a:latin typeface="Calibri"/>
                        </a:rPr>
                        <a:t>Bank of America</a:t>
                      </a:r>
                    </a:p>
                  </a:txBody>
                  <a:tcPr>
                    <a:solidFill>
                      <a:srgbClr val="FFFFFF"/>
                    </a:solidFill>
                  </a:tcPr>
                </a:tc>
                <a:tc>
                  <a:txBody>
                    <a:bodyPr/>
                    <a:lstStyle/>
                    <a:p>
                      <a:pPr algn="ctr"/>
                      <a:r>
                        <a:rPr sz="750" b="0" i="0">
                          <a:solidFill>
                            <a:srgbClr val="555555"/>
                          </a:solidFill>
                          <a:latin typeface="Calibri"/>
                        </a:rPr>
                        <a:t>BAC</a:t>
                      </a:r>
                    </a:p>
                  </a:txBody>
                  <a:tcPr>
                    <a:solidFill>
                      <a:srgbClr val="FFFFFF"/>
                    </a:solidFill>
                  </a:tcPr>
                </a:tc>
                <a:tc>
                  <a:txBody>
                    <a:bodyPr/>
                    <a:lstStyle/>
                    <a:p>
                      <a:pPr algn="ctr"/>
                      <a:r>
                        <a:rPr sz="800" b="0" i="0">
                          <a:solidFill>
                            <a:srgbClr val="0D0D0D"/>
                          </a:solidFill>
                          <a:latin typeface="Calibri"/>
                        </a:rPr>
                        <a:t>275,0</a:t>
                      </a:r>
                    </a:p>
                  </a:txBody>
                  <a:tcPr>
                    <a:solidFill>
                      <a:srgbClr val="FFFFFF"/>
                    </a:solidFill>
                  </a:tcPr>
                </a:tc>
                <a:tc>
                  <a:txBody>
                    <a:bodyPr/>
                    <a:lstStyle/>
                    <a:p>
                      <a:pPr algn="ctr"/>
                      <a:r>
                        <a:rPr sz="800" b="0" i="0">
                          <a:solidFill>
                            <a:srgbClr val="0D0D0D"/>
                          </a:solidFill>
                          <a:latin typeface="Calibri"/>
                        </a:rPr>
                        <a:t>8,5x</a:t>
                      </a:r>
                    </a:p>
                  </a:txBody>
                  <a:tcPr>
                    <a:solidFill>
                      <a:srgbClr val="FFFFFF"/>
                    </a:solidFill>
                  </a:tcPr>
                </a:tc>
                <a:tc>
                  <a:txBody>
                    <a:bodyPr/>
                    <a:lstStyle/>
                    <a:p>
                      <a:pPr algn="ctr"/>
                      <a:r>
                        <a:rPr sz="800" b="0" i="0">
                          <a:solidFill>
                            <a:srgbClr val="0D0D0D"/>
                          </a:solidFill>
                          <a:latin typeface="Calibri"/>
                        </a:rPr>
                        <a:t>2,8x</a:t>
                      </a:r>
                    </a:p>
                  </a:txBody>
                  <a:tcPr>
                    <a:solidFill>
                      <a:srgbClr val="FFFFFF"/>
                    </a:solidFill>
                  </a:tcPr>
                </a:tc>
                <a:tc>
                  <a:txBody>
                    <a:bodyPr/>
                    <a:lstStyle/>
                    <a:p>
                      <a:pPr algn="ctr"/>
                      <a:r>
                        <a:rPr sz="800" b="0" i="0">
                          <a:solidFill>
                            <a:srgbClr val="0D0D0D"/>
                          </a:solidFill>
                          <a:latin typeface="Calibri"/>
                        </a:rPr>
                        <a:t>12,0x</a:t>
                      </a:r>
                    </a:p>
                  </a:txBody>
                  <a:tcPr>
                    <a:solidFill>
                      <a:srgbClr val="FFFFFF"/>
                    </a:solidFill>
                  </a:tcPr>
                </a:tc>
                <a:tc>
                  <a:txBody>
                    <a:bodyPr/>
                    <a:lstStyle/>
                    <a:p>
                      <a:pPr algn="ctr"/>
                      <a:r>
                        <a:rPr sz="800" b="0" i="0">
                          <a:solidFill>
                            <a:srgbClr val="0D0D0D"/>
                          </a:solidFill>
                          <a:latin typeface="Calibri"/>
                        </a:rPr>
                        <a:t>60,0 %</a:t>
                      </a:r>
                    </a:p>
                  </a:txBody>
                  <a:tcPr>
                    <a:solidFill>
                      <a:srgbClr val="FFFFFF"/>
                    </a:solidFill>
                  </a:tcPr>
                </a:tc>
                <a:tc>
                  <a:txBody>
                    <a:bodyPr/>
                    <a:lstStyle/>
                    <a:p>
                      <a:pPr algn="ctr"/>
                      <a:r>
                        <a:rPr sz="800" b="0" i="0">
                          <a:solidFill>
                            <a:srgbClr val="0D0D0D"/>
                          </a:solidFill>
                          <a:latin typeface="Calibri"/>
                        </a:rPr>
                        <a:t>38,0 %</a:t>
                      </a:r>
                    </a:p>
                  </a:txBody>
                  <a:tcPr>
                    <a:solidFill>
                      <a:srgbClr val="FFFFFF"/>
                    </a:solidFill>
                  </a:tcPr>
                </a:tc>
              </a:tr>
              <a:tr h="251999">
                <a:tc>
                  <a:txBody>
                    <a:bodyPr/>
                    <a:lstStyle/>
                    <a:p>
                      <a:pPr algn="l"/>
                      <a:r>
                        <a:rPr sz="800" b="0" i="0">
                          <a:solidFill>
                            <a:srgbClr val="0D0D0D"/>
                          </a:solidFill>
                          <a:latin typeface="Calibri"/>
                        </a:rPr>
                        <a:t>Citigroup</a:t>
                      </a:r>
                    </a:p>
                  </a:txBody>
                  <a:tcPr>
                    <a:solidFill>
                      <a:srgbClr val="F7F8FA"/>
                    </a:solidFill>
                  </a:tcPr>
                </a:tc>
                <a:tc>
                  <a:txBody>
                    <a:bodyPr/>
                    <a:lstStyle/>
                    <a:p>
                      <a:pPr algn="ctr"/>
                      <a:r>
                        <a:rPr sz="750" b="0" i="0">
                          <a:solidFill>
                            <a:srgbClr val="555555"/>
                          </a:solidFill>
                          <a:latin typeface="Calibri"/>
                        </a:rPr>
                        <a:t>C</a:t>
                      </a:r>
                    </a:p>
                  </a:txBody>
                  <a:tcPr>
                    <a:solidFill>
                      <a:srgbClr val="F7F8FA"/>
                    </a:solidFill>
                  </a:tcPr>
                </a:tc>
                <a:tc>
                  <a:txBody>
                    <a:bodyPr/>
                    <a:lstStyle/>
                    <a:p>
                      <a:pPr algn="ctr"/>
                      <a:r>
                        <a:rPr sz="800" b="0" i="0">
                          <a:solidFill>
                            <a:srgbClr val="0D0D0D"/>
                          </a:solidFill>
                          <a:latin typeface="Calibri"/>
                        </a:rPr>
                        <a:t>105,0</a:t>
                      </a:r>
                    </a:p>
                  </a:txBody>
                  <a:tcPr>
                    <a:solidFill>
                      <a:srgbClr val="F7F8FA"/>
                    </a:solidFill>
                  </a:tcPr>
                </a:tc>
                <a:tc>
                  <a:txBody>
                    <a:bodyPr/>
                    <a:lstStyle/>
                    <a:p>
                      <a:pPr algn="ctr"/>
                      <a:r>
                        <a:rPr sz="800" b="0" i="0">
                          <a:solidFill>
                            <a:srgbClr val="0D0D0D"/>
                          </a:solidFill>
                          <a:latin typeface="Calibri"/>
                        </a:rPr>
                        <a:t>7,2x</a:t>
                      </a:r>
                    </a:p>
                  </a:txBody>
                  <a:tcPr>
                    <a:solidFill>
                      <a:srgbClr val="F7F8FA"/>
                    </a:solidFill>
                  </a:tcPr>
                </a:tc>
                <a:tc>
                  <a:txBody>
                    <a:bodyPr/>
                    <a:lstStyle/>
                    <a:p>
                      <a:pPr algn="ctr"/>
                      <a:r>
                        <a:rPr sz="800" b="0" i="0">
                          <a:solidFill>
                            <a:srgbClr val="0D0D0D"/>
                          </a:solidFill>
                          <a:latin typeface="Calibri"/>
                        </a:rPr>
                        <a:t>2,5x</a:t>
                      </a:r>
                    </a:p>
                  </a:txBody>
                  <a:tcPr>
                    <a:solidFill>
                      <a:srgbClr val="F7F8FA"/>
                    </a:solidFill>
                  </a:tcPr>
                </a:tc>
                <a:tc>
                  <a:txBody>
                    <a:bodyPr/>
                    <a:lstStyle/>
                    <a:p>
                      <a:pPr algn="ctr"/>
                      <a:r>
                        <a:rPr sz="800" b="0" i="0">
                          <a:solidFill>
                            <a:srgbClr val="0D0D0D"/>
                          </a:solidFill>
                          <a:latin typeface="Calibri"/>
                        </a:rPr>
                        <a:t>9,5x</a:t>
                      </a:r>
                    </a:p>
                  </a:txBody>
                  <a:tcPr>
                    <a:solidFill>
                      <a:srgbClr val="F7F8FA"/>
                    </a:solidFill>
                  </a:tcPr>
                </a:tc>
                <a:tc>
                  <a:txBody>
                    <a:bodyPr/>
                    <a:lstStyle/>
                    <a:p>
                      <a:pPr algn="ctr"/>
                      <a:r>
                        <a:rPr sz="800" b="0" i="0">
                          <a:solidFill>
                            <a:srgbClr val="0D0D0D"/>
                          </a:solidFill>
                          <a:latin typeface="Calibri"/>
                        </a:rPr>
                        <a:t>58,0 %</a:t>
                      </a:r>
                    </a:p>
                  </a:txBody>
                  <a:tcPr>
                    <a:solidFill>
                      <a:srgbClr val="F7F8FA"/>
                    </a:solidFill>
                  </a:tcPr>
                </a:tc>
                <a:tc>
                  <a:txBody>
                    <a:bodyPr/>
                    <a:lstStyle/>
                    <a:p>
                      <a:pPr algn="ctr"/>
                      <a:r>
                        <a:rPr sz="800" b="0" i="0">
                          <a:solidFill>
                            <a:srgbClr val="0D0D0D"/>
                          </a:solidFill>
                          <a:latin typeface="Calibri"/>
                        </a:rPr>
                        <a:t>35,0 %</a:t>
                      </a:r>
                    </a:p>
                  </a:txBody>
                  <a:tcPr>
                    <a:solidFill>
                      <a:srgbClr val="F7F8FA"/>
                    </a:solidFill>
                  </a:tcPr>
                </a:tc>
              </a:tr>
              <a:tr h="251999">
                <a:tc>
                  <a:txBody>
                    <a:bodyPr/>
                    <a:lstStyle/>
                    <a:p>
                      <a:pPr algn="l"/>
                      <a:r>
                        <a:rPr sz="800" b="0" i="0">
                          <a:solidFill>
                            <a:srgbClr val="0D0D0D"/>
                          </a:solidFill>
                          <a:latin typeface="Calibri"/>
                        </a:rPr>
                        <a:t>Wells Fargo</a:t>
                      </a:r>
                    </a:p>
                  </a:txBody>
                  <a:tcPr>
                    <a:solidFill>
                      <a:srgbClr val="FFFFFF"/>
                    </a:solidFill>
                  </a:tcPr>
                </a:tc>
                <a:tc>
                  <a:txBody>
                    <a:bodyPr/>
                    <a:lstStyle/>
                    <a:p>
                      <a:pPr algn="ctr"/>
                      <a:r>
                        <a:rPr sz="750" b="0" i="0">
                          <a:solidFill>
                            <a:srgbClr val="555555"/>
                          </a:solidFill>
                          <a:latin typeface="Calibri"/>
                        </a:rPr>
                        <a:t>WFC</a:t>
                      </a:r>
                    </a:p>
                  </a:txBody>
                  <a:tcPr>
                    <a:solidFill>
                      <a:srgbClr val="FFFFFF"/>
                    </a:solidFill>
                  </a:tcPr>
                </a:tc>
                <a:tc>
                  <a:txBody>
                    <a:bodyPr/>
                    <a:lstStyle/>
                    <a:p>
                      <a:pPr algn="ctr"/>
                      <a:r>
                        <a:rPr sz="800" b="0" i="0">
                          <a:solidFill>
                            <a:srgbClr val="0D0D0D"/>
                          </a:solidFill>
                          <a:latin typeface="Calibri"/>
                        </a:rPr>
                        <a:t>180,0</a:t>
                      </a:r>
                    </a:p>
                  </a:txBody>
                  <a:tcPr>
                    <a:solidFill>
                      <a:srgbClr val="FFFFFF"/>
                    </a:solidFill>
                  </a:tcPr>
                </a:tc>
                <a:tc>
                  <a:txBody>
                    <a:bodyPr/>
                    <a:lstStyle/>
                    <a:p>
                      <a:pPr algn="ctr"/>
                      <a:r>
                        <a:rPr sz="800" b="0" i="0">
                          <a:solidFill>
                            <a:srgbClr val="0D0D0D"/>
                          </a:solidFill>
                          <a:latin typeface="Calibri"/>
                        </a:rPr>
                        <a:t>8,0x</a:t>
                      </a:r>
                    </a:p>
                  </a:txBody>
                  <a:tcPr>
                    <a:solidFill>
                      <a:srgbClr val="FFFFFF"/>
                    </a:solidFill>
                  </a:tcPr>
                </a:tc>
                <a:tc>
                  <a:txBody>
                    <a:bodyPr/>
                    <a:lstStyle/>
                    <a:p>
                      <a:pPr algn="ctr"/>
                      <a:r>
                        <a:rPr sz="800" b="0" i="0">
                          <a:solidFill>
                            <a:srgbClr val="0D0D0D"/>
                          </a:solidFill>
                          <a:latin typeface="Calibri"/>
                        </a:rPr>
                        <a:t>2,7x</a:t>
                      </a:r>
                    </a:p>
                  </a:txBody>
                  <a:tcPr>
                    <a:solidFill>
                      <a:srgbClr val="FFFFFF"/>
                    </a:solidFill>
                  </a:tcPr>
                </a:tc>
                <a:tc>
                  <a:txBody>
                    <a:bodyPr/>
                    <a:lstStyle/>
                    <a:p>
                      <a:pPr algn="ctr"/>
                      <a:r>
                        <a:rPr sz="800" b="0" i="0">
                          <a:solidFill>
                            <a:srgbClr val="0D0D0D"/>
                          </a:solidFill>
                          <a:latin typeface="Calibri"/>
                        </a:rPr>
                        <a:t>11,0x</a:t>
                      </a:r>
                    </a:p>
                  </a:txBody>
                  <a:tcPr>
                    <a:solidFill>
                      <a:srgbClr val="FFFFFF"/>
                    </a:solidFill>
                  </a:tcPr>
                </a:tc>
                <a:tc>
                  <a:txBody>
                    <a:bodyPr/>
                    <a:lstStyle/>
                    <a:p>
                      <a:pPr algn="ctr"/>
                      <a:r>
                        <a:rPr sz="800" b="0" i="0">
                          <a:solidFill>
                            <a:srgbClr val="0D0D0D"/>
                          </a:solidFill>
                          <a:latin typeface="Calibri"/>
                        </a:rPr>
                        <a:t>62,0 %</a:t>
                      </a:r>
                    </a:p>
                  </a:txBody>
                  <a:tcPr>
                    <a:solidFill>
                      <a:srgbClr val="FFFFFF"/>
                    </a:solidFill>
                  </a:tcPr>
                </a:tc>
                <a:tc>
                  <a:txBody>
                    <a:bodyPr/>
                    <a:lstStyle/>
                    <a:p>
                      <a:pPr algn="ctr"/>
                      <a:r>
                        <a:rPr sz="800" b="0" i="0">
                          <a:solidFill>
                            <a:srgbClr val="0D0D0D"/>
                          </a:solidFill>
                          <a:latin typeface="Calibri"/>
                        </a:rPr>
                        <a:t>37,0 %</a:t>
                      </a:r>
                    </a:p>
                  </a:txBody>
                  <a:tcPr>
                    <a:solidFill>
                      <a:srgbClr val="FFFFFF"/>
                    </a:solidFill>
                  </a:tcPr>
                </a:tc>
              </a:tr>
              <a:tr h="251999">
                <a:tc>
                  <a:txBody>
                    <a:bodyPr/>
                    <a:lstStyle/>
                    <a:p>
                      <a:pPr algn="l"/>
                      <a:r>
                        <a:rPr sz="800" b="0" i="0">
                          <a:solidFill>
                            <a:srgbClr val="0D0D0D"/>
                          </a:solidFill>
                          <a:latin typeface="Calibri"/>
                        </a:rPr>
                        <a:t>Goldman Sachs</a:t>
                      </a:r>
                    </a:p>
                  </a:txBody>
                  <a:tcPr>
                    <a:solidFill>
                      <a:srgbClr val="F7F8FA"/>
                    </a:solidFill>
                  </a:tcPr>
                </a:tc>
                <a:tc>
                  <a:txBody>
                    <a:bodyPr/>
                    <a:lstStyle/>
                    <a:p>
                      <a:pPr algn="ctr"/>
                      <a:r>
                        <a:rPr sz="750" b="0" i="0">
                          <a:solidFill>
                            <a:srgbClr val="555555"/>
                          </a:solidFill>
                          <a:latin typeface="Calibri"/>
                        </a:rPr>
                        <a:t>GS</a:t>
                      </a:r>
                    </a:p>
                  </a:txBody>
                  <a:tcPr>
                    <a:solidFill>
                      <a:srgbClr val="F7F8FA"/>
                    </a:solidFill>
                  </a:tcPr>
                </a:tc>
                <a:tc>
                  <a:txBody>
                    <a:bodyPr/>
                    <a:lstStyle/>
                    <a:p>
                      <a:pPr algn="ctr"/>
                      <a:r>
                        <a:rPr sz="800" b="0" i="0">
                          <a:solidFill>
                            <a:srgbClr val="0D0D0D"/>
                          </a:solidFill>
                          <a:latin typeface="Calibri"/>
                        </a:rPr>
                        <a:t>140,0</a:t>
                      </a:r>
                    </a:p>
                  </a:txBody>
                  <a:tcPr>
                    <a:solidFill>
                      <a:srgbClr val="F7F8FA"/>
                    </a:solidFill>
                  </a:tcPr>
                </a:tc>
                <a:tc>
                  <a:txBody>
                    <a:bodyPr/>
                    <a:lstStyle/>
                    <a:p>
                      <a:pPr algn="ctr"/>
                      <a:r>
                        <a:rPr sz="800" b="0" i="0">
                          <a:solidFill>
                            <a:srgbClr val="0D0D0D"/>
                          </a:solidFill>
                          <a:latin typeface="Calibri"/>
                        </a:rPr>
                        <a:t>10,5x</a:t>
                      </a:r>
                    </a:p>
                  </a:txBody>
                  <a:tcPr>
                    <a:solidFill>
                      <a:srgbClr val="F7F8FA"/>
                    </a:solidFill>
                  </a:tcPr>
                </a:tc>
                <a:tc>
                  <a:txBody>
                    <a:bodyPr/>
                    <a:lstStyle/>
                    <a:p>
                      <a:pPr algn="ctr"/>
                      <a:r>
                        <a:rPr sz="800" b="0" i="0">
                          <a:solidFill>
                            <a:srgbClr val="0D0D0D"/>
                          </a:solidFill>
                          <a:latin typeface="Calibri"/>
                        </a:rPr>
                        <a:t>3,2x</a:t>
                      </a:r>
                    </a:p>
                  </a:txBody>
                  <a:tcPr>
                    <a:solidFill>
                      <a:srgbClr val="F7F8FA"/>
                    </a:solidFill>
                  </a:tcPr>
                </a:tc>
                <a:tc>
                  <a:txBody>
                    <a:bodyPr/>
                    <a:lstStyle/>
                    <a:p>
                      <a:pPr algn="ctr"/>
                      <a:r>
                        <a:rPr sz="800" b="0" i="0">
                          <a:solidFill>
                            <a:srgbClr val="0D0D0D"/>
                          </a:solidFill>
                          <a:latin typeface="Calibri"/>
                        </a:rPr>
                        <a:t>14,0x</a:t>
                      </a:r>
                    </a:p>
                  </a:txBody>
                  <a:tcPr>
                    <a:solidFill>
                      <a:srgbClr val="F7F8FA"/>
                    </a:solidFill>
                  </a:tcPr>
                </a:tc>
                <a:tc>
                  <a:txBody>
                    <a:bodyPr/>
                    <a:lstStyle/>
                    <a:p>
                      <a:pPr algn="ctr"/>
                      <a:r>
                        <a:rPr sz="800" b="0" i="0">
                          <a:solidFill>
                            <a:srgbClr val="0D0D0D"/>
                          </a:solidFill>
                          <a:latin typeface="Calibri"/>
                        </a:rPr>
                        <a:t>68,0 %</a:t>
                      </a:r>
                    </a:p>
                  </a:txBody>
                  <a:tcPr>
                    <a:solidFill>
                      <a:srgbClr val="F7F8FA"/>
                    </a:solidFill>
                  </a:tcPr>
                </a:tc>
                <a:tc>
                  <a:txBody>
                    <a:bodyPr/>
                    <a:lstStyle/>
                    <a:p>
                      <a:pPr algn="ctr"/>
                      <a:r>
                        <a:rPr sz="800" b="0" i="0">
                          <a:solidFill>
                            <a:srgbClr val="0D0D0D"/>
                          </a:solidFill>
                          <a:latin typeface="Calibri"/>
                        </a:rPr>
                        <a:t>42,0 %</a:t>
                      </a:r>
                    </a:p>
                  </a:txBody>
                  <a:tcPr>
                    <a:solidFill>
                      <a:srgbClr val="F7F8FA"/>
                    </a:solidFill>
                  </a:tcPr>
                </a:tc>
              </a:tr>
              <a:tr h="251999">
                <a:tc>
                  <a:txBody>
                    <a:bodyPr/>
                    <a:lstStyle/>
                    <a:p>
                      <a:pPr algn="l"/>
                      <a:r>
                        <a:rPr sz="800" b="0" i="0">
                          <a:solidFill>
                            <a:srgbClr val="0D0D0D"/>
                          </a:solidFill>
                          <a:latin typeface="Calibri"/>
                        </a:rPr>
                        <a:t>Morgan Stanley</a:t>
                      </a:r>
                    </a:p>
                  </a:txBody>
                  <a:tcPr>
                    <a:solidFill>
                      <a:srgbClr val="FFFFFF"/>
                    </a:solidFill>
                  </a:tcPr>
                </a:tc>
                <a:tc>
                  <a:txBody>
                    <a:bodyPr/>
                    <a:lstStyle/>
                    <a:p>
                      <a:pPr algn="ctr"/>
                      <a:r>
                        <a:rPr sz="750" b="0" i="0">
                          <a:solidFill>
                            <a:srgbClr val="555555"/>
                          </a:solidFill>
                          <a:latin typeface="Calibri"/>
                        </a:rPr>
                        <a:t>MS</a:t>
                      </a:r>
                    </a:p>
                  </a:txBody>
                  <a:tcPr>
                    <a:solidFill>
                      <a:srgbClr val="FFFFFF"/>
                    </a:solidFill>
                  </a:tcPr>
                </a:tc>
                <a:tc>
                  <a:txBody>
                    <a:bodyPr/>
                    <a:lstStyle/>
                    <a:p>
                      <a:pPr algn="ctr"/>
                      <a:r>
                        <a:rPr sz="800" b="0" i="0">
                          <a:solidFill>
                            <a:srgbClr val="0D0D0D"/>
                          </a:solidFill>
                          <a:latin typeface="Calibri"/>
                        </a:rPr>
                        <a:t>160,0</a:t>
                      </a:r>
                    </a:p>
                  </a:txBody>
                  <a:tcPr>
                    <a:solidFill>
                      <a:srgbClr val="FFFFFF"/>
                    </a:solidFill>
                  </a:tcPr>
                </a:tc>
                <a:tc>
                  <a:txBody>
                    <a:bodyPr/>
                    <a:lstStyle/>
                    <a:p>
                      <a:pPr algn="ctr"/>
                      <a:r>
                        <a:rPr sz="800" b="0" i="0">
                          <a:solidFill>
                            <a:srgbClr val="0D0D0D"/>
                          </a:solidFill>
                          <a:latin typeface="Calibri"/>
                        </a:rPr>
                        <a:t>9,8x</a:t>
                      </a:r>
                    </a:p>
                  </a:txBody>
                  <a:tcPr>
                    <a:solidFill>
                      <a:srgbClr val="FFFFFF"/>
                    </a:solidFill>
                  </a:tcPr>
                </a:tc>
                <a:tc>
                  <a:txBody>
                    <a:bodyPr/>
                    <a:lstStyle/>
                    <a:p>
                      <a:pPr algn="ctr"/>
                      <a:r>
                        <a:rPr sz="800" b="0" i="0">
                          <a:solidFill>
                            <a:srgbClr val="0D0D0D"/>
                          </a:solidFill>
                          <a:latin typeface="Calibri"/>
                        </a:rPr>
                        <a:t>3,0x</a:t>
                      </a:r>
                    </a:p>
                  </a:txBody>
                  <a:tcPr>
                    <a:solidFill>
                      <a:srgbClr val="FFFFFF"/>
                    </a:solidFill>
                  </a:tcPr>
                </a:tc>
                <a:tc>
                  <a:txBody>
                    <a:bodyPr/>
                    <a:lstStyle/>
                    <a:p>
                      <a:pPr algn="ctr"/>
                      <a:r>
                        <a:rPr sz="800" b="0" i="0">
                          <a:solidFill>
                            <a:srgbClr val="0D0D0D"/>
                          </a:solidFill>
                          <a:latin typeface="Calibri"/>
                        </a:rPr>
                        <a:t>13,5x</a:t>
                      </a:r>
                    </a:p>
                  </a:txBody>
                  <a:tcPr>
                    <a:solidFill>
                      <a:srgbClr val="FFFFFF"/>
                    </a:solidFill>
                  </a:tcPr>
                </a:tc>
                <a:tc>
                  <a:txBody>
                    <a:bodyPr/>
                    <a:lstStyle/>
                    <a:p>
                      <a:pPr algn="ctr"/>
                      <a:r>
                        <a:rPr sz="800" b="0" i="0">
                          <a:solidFill>
                            <a:srgbClr val="0D0D0D"/>
                          </a:solidFill>
                          <a:latin typeface="Calibri"/>
                        </a:rPr>
                        <a:t>65,0 %</a:t>
                      </a:r>
                    </a:p>
                  </a:txBody>
                  <a:tcPr>
                    <a:solidFill>
                      <a:srgbClr val="FFFFFF"/>
                    </a:solidFill>
                  </a:tcPr>
                </a:tc>
                <a:tc>
                  <a:txBody>
                    <a:bodyPr/>
                    <a:lstStyle/>
                    <a:p>
                      <a:pPr algn="ctr"/>
                      <a:r>
                        <a:rPr sz="800" b="0" i="0">
                          <a:solidFill>
                            <a:srgbClr val="0D0D0D"/>
                          </a:solidFill>
                          <a:latin typeface="Calibri"/>
                        </a:rPr>
                        <a:t>40,0 %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8,5x</a:t>
                      </a:r>
                    </a:p>
                  </a:txBody>
                  <a:tcPr>
                    <a:solidFill>
                      <a:srgbClr val="F7F8FA"/>
                    </a:solidFill>
                  </a:tcPr>
                </a:tc>
                <a:tc>
                  <a:txBody>
                    <a:bodyPr/>
                    <a:lstStyle/>
                    <a:p>
                      <a:pPr algn="ctr"/>
                      <a:r>
                        <a:rPr sz="800" b="1" i="0">
                          <a:solidFill>
                            <a:srgbClr val="0D0D0D"/>
                          </a:solidFill>
                          <a:latin typeface="Calibri"/>
                        </a:rPr>
                        <a:t>2,8x</a:t>
                      </a:r>
                    </a:p>
                  </a:txBody>
                  <a:tcPr>
                    <a:solidFill>
                      <a:srgbClr val="F7F8FA"/>
                    </a:solidFill>
                  </a:tcPr>
                </a:tc>
                <a:tc>
                  <a:txBody>
                    <a:bodyPr/>
                    <a:lstStyle/>
                    <a:p>
                      <a:pPr algn="ctr"/>
                      <a:r>
                        <a:rPr sz="800" b="1" i="0">
                          <a:solidFill>
                            <a:srgbClr val="0D0D0D"/>
                          </a:solidFill>
                          <a:latin typeface="Calibri"/>
                        </a:rPr>
                        <a:t>12,0x</a:t>
                      </a:r>
                    </a:p>
                  </a:txBody>
                  <a:tcPr>
                    <a:solidFill>
                      <a:srgbClr val="F7F8FA"/>
                    </a:solidFill>
                  </a:tcPr>
                </a:tc>
                <a:tc>
                  <a:txBody>
                    <a:bodyPr/>
                    <a:lstStyle/>
                    <a:p>
                      <a:pPr algn="ctr"/>
                      <a:r>
                        <a:rPr sz="800" b="1" i="0">
                          <a:solidFill>
                            <a:srgbClr val="0D0D0D"/>
                          </a:solidFill>
                          <a:latin typeface="Calibri"/>
                        </a:rPr>
                        <a:t>62,0 %</a:t>
                      </a:r>
                    </a:p>
                  </a:txBody>
                  <a:tcPr>
                    <a:solidFill>
                      <a:srgbClr val="F7F8FA"/>
                    </a:solidFill>
                  </a:tcPr>
                </a:tc>
                <a:tc>
                  <a:txBody>
                    <a:bodyPr/>
                    <a:lstStyle/>
                    <a:p>
                      <a:pPr algn="ctr"/>
                      <a:r>
                        <a:rPr sz="800" b="1" i="0">
                          <a:solidFill>
                            <a:srgbClr val="0D0D0D"/>
                          </a:solidFill>
                          <a:latin typeface="Calibri"/>
                        </a:rPr>
                        <a:t>38,0 %</a:t>
                      </a:r>
                    </a:p>
                  </a:txBody>
                  <a:tcPr>
                    <a:solidFill>
                      <a:srgbClr val="F7F8FA"/>
                    </a:solidFill>
                  </a:tcPr>
                </a:tc>
              </a:tr>
            </a:tbl>
          </a:graphicData>
        </a:graphic>
      </p:graphicFrame>
      <p:sp>
        <p:nvSpPr>
          <p:cNvPr id="18" name="TextBox 17"/>
          <p:cNvSpPr txBox="1"/>
          <p:nvPr/>
        </p:nvSpPr>
        <p:spPr>
          <a:xfrm>
            <a:off x="367200" y="3128400"/>
            <a:ext cx="8413200" cy="1234800"/>
          </a:xfrm>
          <a:prstGeom prst="rect">
            <a:avLst/>
          </a:prstGeom>
          <a:noFill/>
        </p:spPr>
        <p:txBody>
          <a:bodyPr wrap="square">
            <a:spAutoFit/>
          </a:bodyPr>
          <a:lstStyle/>
          <a:p>
            <a:pPr algn="l"/>
            <a:r>
              <a:rPr sz="850" b="0" i="0">
                <a:solidFill>
                  <a:srgbClr val="555555"/>
                </a:solidFill>
                <a:latin typeface="Calibri"/>
              </a:rPr>
              <a:t>JPM se négocie à 13.8x P/E vs une médiane peers de 12.5x (+10%), justifiée par un ROE supérieur de 200bps. La prime EV/EBITDA de 15% reflète sa franchise diversifiée et sa résilience. Une convergence vers la médiane peers impliquerait un downside de 8%, tandis qu'une prime de croissance maintenue soutiendrait un upside de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USD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TextBox 17"/>
          <p:cNvSpPr txBox="1"/>
          <p:nvPr/>
        </p:nvSpPr>
        <p:spPr>
          <a:xfrm>
            <a:off x="367200" y="3488400"/>
            <a:ext cx="8413200" cy="914400"/>
          </a:xfrm>
          <a:prstGeom prst="rect">
            <a:avLst/>
          </a:prstGeom>
          <a:noFill/>
        </p:spPr>
        <p:txBody>
          <a:bodyPr wrap="square">
            <a:spAutoFit/>
          </a:bodyPr>
          <a:lstStyle/>
          <a:p>
            <a:pPr algn="l"/>
            <a:r>
              <a:rPr sz="850" b="0" i="0">
                <a:solidFill>
                  <a:srgbClr val="555555"/>
                </a:solidFill>
                <a:latin typeface="Calibri"/>
              </a:rPr>
              <a:t>Avec un WACC de 11.1% et un TGR de 2.5%, le prix implicite DCF est de 325 USD, soit +11% vs cours actuel. L'upside reflète une sous-valorisation structurelle liée à la qualité des actifs et à la génération de cash-flow. Un catalyseur clé serait une accélération de la croissance des revenus de gestion d'actifs.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255600"/>
          </a:xfrm>
          <a:prstGeom prst="rect">
            <a:avLst/>
          </a:prstGeom>
          <a:noFill/>
        </p:spPr>
        <p:txBody>
          <a:bodyPr wrap="square">
            <a:spAutoFit/>
          </a:bodyPr>
          <a:lstStyle/>
          <a:p>
            <a:pPr algn="l"/>
            <a:r>
              <a:rPr sz="900" b="1" i="0">
                <a:solidFill>
                  <a:srgbClr val="A82020"/>
                </a:solidFill>
                <a:latin typeface="Calibri"/>
              </a:rPr>
              <a:t>Crise crédit commercial</a:t>
            </a:r>
          </a:p>
        </p:txBody>
      </p:sp>
      <p:sp>
        <p:nvSpPr>
          <p:cNvPr id="20" name="TextBox 19"/>
          <p:cNvSpPr txBox="1"/>
          <p:nvPr/>
        </p:nvSpPr>
        <p:spPr>
          <a:xfrm>
            <a:off x="475200" y="1436400"/>
            <a:ext cx="2527200" cy="1260000"/>
          </a:xfrm>
          <a:prstGeom prst="rect">
            <a:avLst/>
          </a:prstGeom>
          <a:noFill/>
        </p:spPr>
        <p:txBody>
          <a:bodyPr wrap="square">
            <a:spAutoFit/>
          </a:bodyPr>
          <a:lstStyle/>
          <a:p>
            <a:pPr algn="l"/>
            <a:r>
              <a:rPr sz="800" b="0" i="0">
                <a:solidFill>
                  <a:srgbClr val="555555"/>
                </a:solidFill>
                <a:latin typeface="Calibri"/>
              </a:rPr>
              <a:t>La franchise diversifiée de JPMorgan repose sur des activités cycliques comme les marchés de capitaux, exposées à une volatilité accrue depuis 2022 avec des revenus en baisse de 12% en 2023, tandis que les coûts de conformité explosent à 8,2 milliards USD, réduisant la marge nette à 31,4% malgré des économies théoriques.</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255600"/>
          </a:xfrm>
          <a:prstGeom prst="rect">
            <a:avLst/>
          </a:prstGeom>
          <a:noFill/>
        </p:spPr>
        <p:txBody>
          <a:bodyPr wrap="square">
            <a:spAutoFit/>
          </a:bodyPr>
          <a:lstStyle/>
          <a:p>
            <a:pPr algn="l"/>
            <a:r>
              <a:rPr sz="900" b="1" i="0">
                <a:solidFill>
                  <a:srgbClr val="2E5FA3"/>
                </a:solidFill>
                <a:latin typeface="Calibri"/>
              </a:rPr>
              <a:t>Régulation étouffante</a:t>
            </a:r>
          </a:p>
        </p:txBody>
      </p:sp>
      <p:sp>
        <p:nvSpPr>
          <p:cNvPr id="24" name="TextBox 23"/>
          <p:cNvSpPr txBox="1"/>
          <p:nvPr/>
        </p:nvSpPr>
        <p:spPr>
          <a:xfrm>
            <a:off x="3337200" y="1436400"/>
            <a:ext cx="2527200" cy="1260000"/>
          </a:xfrm>
          <a:prstGeom prst="rect">
            <a:avLst/>
          </a:prstGeom>
          <a:noFill/>
        </p:spPr>
        <p:txBody>
          <a:bodyPr wrap="square">
            <a:spAutoFit/>
          </a:bodyPr>
          <a:lstStyle/>
          <a:p>
            <a:pPr algn="l"/>
            <a:r>
              <a:rPr sz="800" b="0" i="0">
                <a:solidFill>
                  <a:srgbClr val="555555"/>
                </a:solidFill>
                <a:latin typeface="Calibri"/>
              </a:rPr>
              <a:t>La gestion des coûts, souvent citée comme un atout, masque une hausse des dépenses technologiques de 15% par an depuis 2020, atteignant 12,5 milliards USD en 2023, sans preuve tangible d'efficacité durable face à la pression réglementaire croissante.</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255600"/>
          </a:xfrm>
          <a:prstGeom prst="rect">
            <a:avLst/>
          </a:prstGeom>
          <a:noFill/>
        </p:spPr>
        <p:txBody>
          <a:bodyPr wrap="square">
            <a:spAutoFit/>
          </a:bodyPr>
          <a:lstStyle/>
          <a:p>
            <a:pPr algn="l"/>
            <a:r>
              <a:rPr sz="900" b="1" i="0">
                <a:solidFill>
                  <a:srgbClr val="B06000"/>
                </a:solidFill>
                <a:latin typeface="Calibri"/>
              </a:rPr>
              <a:t>Rentabilité en déclin</a:t>
            </a:r>
          </a:p>
        </p:txBody>
      </p:sp>
      <p:sp>
        <p:nvSpPr>
          <p:cNvPr id="28" name="TextBox 27"/>
          <p:cNvSpPr txBox="1"/>
          <p:nvPr/>
        </p:nvSpPr>
        <p:spPr>
          <a:xfrm>
            <a:off x="6199200" y="1436400"/>
            <a:ext cx="2527200" cy="1260000"/>
          </a:xfrm>
          <a:prstGeom prst="rect">
            <a:avLst/>
          </a:prstGeom>
          <a:noFill/>
        </p:spPr>
        <p:txBody>
          <a:bodyPr wrap="square">
            <a:spAutoFit/>
          </a:bodyPr>
          <a:lstStyle/>
          <a:p>
            <a:pPr algn="l"/>
            <a:r>
              <a:rPr sz="800" b="0" i="0">
                <a:solidFill>
                  <a:srgbClr val="555555"/>
                </a:solidFill>
                <a:latin typeface="Calibri"/>
              </a:rPr>
              <a:t>La résilience bilancielle, présentée comme un bouclier, ignore l'exposition aux prêts commerciaux à risque (18% du portefeuille total) et aux créances immobilières commerciales en déclin de 7% en valeur depuis 2022, fragilisant la stabilité future.</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these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Récession aux États-Unis avec baisse du PIB de -2% en 2026</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Régulation accrue des banques systémiques réduisant la rentabilité</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Societe</a:t>
                      </a:r>
                    </a:p>
                  </a:txBody>
                  <a:tcPr>
                    <a:solidFill>
                      <a:srgbClr val="FFFFFF"/>
                    </a:solidFill>
                  </a:tcPr>
                </a:tc>
                <a:tc>
                  <a:txBody>
                    <a:bodyPr/>
                    <a:lstStyle/>
                    <a:p>
                      <a:pPr algn="ctr"/>
                      <a:r>
                        <a:rPr sz="800" b="0" i="0">
                          <a:solidFill>
                            <a:srgbClr val="0D0D0D"/>
                          </a:solidFill>
                          <a:latin typeface="Calibri"/>
                        </a:rPr>
                        <a:t>Perte de parts de marché dans la gestion d'actifs face à BlackRock</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FinBERT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30 articles  ·  7 derniers jours</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Neutre +</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agrege : +0,117</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30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analyses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Fenetre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45,9 %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Modele FinBERT</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Coherence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Aligne avec la these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9</a:t>
                      </a:r>
                    </a:p>
                  </a:txBody>
                  <a:tcPr>
                    <a:solidFill>
                      <a:srgbClr val="EAF4EF"/>
                    </a:solidFill>
                  </a:tcPr>
                </a:tc>
                <a:tc>
                  <a:txBody>
                    <a:bodyPr/>
                    <a:lstStyle/>
                    <a:p>
                      <a:pPr algn="ctr"/>
                      <a:r>
                        <a:rPr sz="800" b="0" i="0">
                          <a:solidFill>
                            <a:srgbClr val="0D0D0D"/>
                          </a:solidFill>
                          <a:latin typeface="Calibri"/>
                        </a:rPr>
                        <a:t>+0,329</a:t>
                      </a:r>
                    </a:p>
                  </a:txBody>
                  <a:tcPr>
                    <a:solidFill>
                      <a:srgbClr val="EAF4EF"/>
                    </a:solidFill>
                  </a:tcPr>
                </a:tc>
                <a:tc>
                  <a:txBody>
                    <a:bodyPr/>
                    <a:lstStyle/>
                    <a:p>
                      <a:pPr algn="ctr"/>
                      <a:r>
                        <a:rPr sz="800" b="0" i="0">
                          <a:solidFill>
                            <a:srgbClr val="0D0D0D"/>
                          </a:solidFill>
                          <a:latin typeface="Calibri"/>
                        </a:rPr>
                        <a:t>Hausse des taux 2026 boostant le NIM de 30bps | Impact positif de +2.5Mds$ sur le bénéfice net | Horizon 12-18 mois</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16</a:t>
                      </a:r>
                    </a:p>
                  </a:txBody>
                  <a:tcPr>
                    <a:solidFill>
                      <a:srgbClr val="FFFFFF"/>
                    </a:solidFill>
                  </a:tcPr>
                </a:tc>
                <a:tc>
                  <a:txBody>
                    <a:bodyPr/>
                    <a:lstStyle/>
                    <a:p>
                      <a:pPr algn="ctr"/>
                      <a:r>
                        <a:rPr sz="800" b="0" i="0">
                          <a:solidFill>
                            <a:srgbClr val="0D0D0D"/>
                          </a:solidFill>
                          <a:latin typeface="Calibri"/>
                        </a:rPr>
                        <a:t>+0,459</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5</a:t>
                      </a:r>
                    </a:p>
                  </a:txBody>
                  <a:tcPr>
                    <a:solidFill>
                      <a:srgbClr val="FAF0EF"/>
                    </a:solidFill>
                  </a:tcPr>
                </a:tc>
                <a:tc>
                  <a:txBody>
                    <a:bodyPr/>
                    <a:lstStyle/>
                    <a:p>
                      <a:pPr algn="ctr"/>
                      <a:r>
                        <a:rPr sz="800" b="0" i="0">
                          <a:solidFill>
                            <a:srgbClr val="0D0D0D"/>
                          </a:solidFill>
                          <a:latin typeface="Calibri"/>
                        </a:rPr>
                        <a:t>+0,212</a:t>
                      </a:r>
                    </a:p>
                  </a:txBody>
                  <a:tcPr>
                    <a:solidFill>
                      <a:srgbClr val="FAF0EF"/>
                    </a:solidFill>
                  </a:tcPr>
                </a:tc>
                <a:tc>
                  <a:txBody>
                    <a:bodyPr/>
                    <a:lstStyle/>
                    <a:p>
                      <a:pPr algn="ctr"/>
                      <a:r>
                        <a:rPr sz="800" b="0" i="0">
                          <a:solidFill>
                            <a:srgbClr val="0D0D0D"/>
                          </a:solidFill>
                          <a:latin typeface="Calibri"/>
                        </a:rPr>
                        <a:t>Ralentissement économique réduisant le NIM de 50bps | Baisse des revenus de trading de 10% | Horizon 6-12 mois</a:t>
                      </a:r>
                    </a:p>
                  </a:txBody>
                  <a:tcPr>
                    <a:solidFill>
                      <a:srgbClr val="FAF0EF"/>
                    </a:solidFill>
                  </a:tcPr>
                </a:tc>
              </a:tr>
            </a:tbl>
          </a:graphicData>
        </a:graphic>
      </p:graphicFrame>
      <p:sp>
        <p:nvSpPr>
          <p:cNvPr id="39" name="TextBox 38"/>
          <p:cNvSpPr txBox="1"/>
          <p:nvPr/>
        </p:nvSpPr>
        <p:spPr>
          <a:xfrm>
            <a:off x="367200" y="4140000"/>
            <a:ext cx="8413200" cy="914400"/>
          </a:xfrm>
          <a:prstGeom prst="rect">
            <a:avLst/>
          </a:prstGeom>
          <a:noFill/>
        </p:spPr>
        <p:txBody>
          <a:bodyPr wrap="square">
            <a:spAutoFit/>
          </a:bodyPr>
          <a:lstStyle/>
          <a:p>
            <a:pPr algn="l"/>
            <a:r>
              <a:rPr sz="850" b="0" i="0">
                <a:solidFill>
                  <a:srgbClr val="333333"/>
                </a:solidFill>
                <a:latin typeface="Calibri"/>
              </a:rPr>
              <a:t>La presse financière souligne une semaine contrastée pour JPMorgan, entre optimisme lié aux perspectives d'IA de Jamie Dimon et inquiétudes sur le secteur bancaire. Les mises à jour neutres ou négatives sur des partenaires comme Oportun Financial pèsent sur le sentiment global.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27 mars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JPMorgan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Group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9.8 %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Blackrock Inc.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State Street Corporation</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Morgan Stanley</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Geode Capital Management, LLC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Bank of America Corporation</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FMR, LLC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69.1 %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69.1 %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TextBox 20"/>
          <p:cNvSpPr txBox="1"/>
          <p:nvPr/>
        </p:nvSpPr>
        <p:spPr>
          <a:xfrm>
            <a:off x="367200" y="3326400"/>
            <a:ext cx="8413200" cy="1004400"/>
          </a:xfrm>
          <a:prstGeom prst="rect">
            <a:avLst/>
          </a:prstGeom>
          <a:noFill/>
        </p:spPr>
        <p:txBody>
          <a:bodyPr wrap="square">
            <a:spAutoFit/>
          </a:bodyPr>
          <a:lstStyle/>
          <a:p>
            <a:pPr algn="l"/>
            <a:r>
              <a:rPr sz="850" b="0" i="0">
                <a:solidFill>
                  <a:srgbClr val="555555"/>
                </a:solidFill>
                <a:latin typeface="Calibri"/>
              </a:rPr>
              <a:t>JPM se négocie à 13.8x P/E vs une médiane peers de 12.5x, soit une prime de 10%. La valorisation reflète sa qualité d'actifs et sa croissance supérieure. Le multiple EV/Revenue à 5.2x est en ligne avec les standards du secteur.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JPM  ·  USD  ·  Au 27 mars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291,66 $</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320,77 $</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239,70 $</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+21,7 %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Evolution du cours — 12 derniers mois</a:t>
            </a:r>
          </a:p>
        </p:txBody>
      </p:sp>
      <p:sp>
        <p:nvSpPr>
          <p:cNvPr id="34" name="Rectangle 33"/>
          <p:cNvSpPr/>
          <p:nvPr/>
        </p:nvSpPr>
        <p:spPr>
          <a:xfrm>
            <a:off x="367200" y="2102400"/>
            <a:ext cx="8413200" cy="1828800"/>
          </a:xfrm>
          <a:prstGeom prst="rect">
            <a:avLst/>
          </a:prstGeom>
          <a:solidFill>
            <a:srgbClr val="F7F8FA"/>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2102400"/>
            <a:ext cx="8413200" cy="3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200" y="3823200"/>
            <a:ext cx="498636"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1200" y="3902400"/>
            <a:ext cx="728100" cy="144000"/>
          </a:xfrm>
          <a:prstGeom prst="rect">
            <a:avLst/>
          </a:prstGeom>
          <a:noFill/>
        </p:spPr>
        <p:txBody>
          <a:bodyPr wrap="square">
            <a:spAutoFit/>
          </a:bodyPr>
          <a:lstStyle/>
          <a:p>
            <a:pPr algn="ctr"/>
            <a:r>
              <a:rPr sz="600" b="0" i="0">
                <a:solidFill>
                  <a:srgbClr val="555555"/>
                </a:solidFill>
                <a:latin typeface="Calibri"/>
              </a:rPr>
              <a:t>Avr</a:t>
            </a:r>
          </a:p>
        </p:txBody>
      </p:sp>
      <p:sp>
        <p:nvSpPr>
          <p:cNvPr id="38" name="Rectangle 37"/>
          <p:cNvSpPr/>
          <p:nvPr/>
        </p:nvSpPr>
        <p:spPr>
          <a:xfrm>
            <a:off x="1293300" y="3457471"/>
            <a:ext cx="498636" cy="43772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7300" y="3902400"/>
            <a:ext cx="728100" cy="144000"/>
          </a:xfrm>
          <a:prstGeom prst="rect">
            <a:avLst/>
          </a:prstGeom>
          <a:noFill/>
        </p:spPr>
        <p:txBody>
          <a:bodyPr wrap="square">
            <a:spAutoFit/>
          </a:bodyPr>
          <a:lstStyle/>
          <a:p>
            <a:pPr algn="ctr"/>
            <a:r>
              <a:rPr sz="600" b="0" i="0">
                <a:solidFill>
                  <a:srgbClr val="555555"/>
                </a:solidFill>
                <a:latin typeface="Calibri"/>
              </a:rPr>
              <a:t>Mai</a:t>
            </a:r>
          </a:p>
        </p:txBody>
      </p:sp>
      <p:sp>
        <p:nvSpPr>
          <p:cNvPr id="40" name="Rectangle 39"/>
          <p:cNvSpPr/>
          <p:nvPr/>
        </p:nvSpPr>
        <p:spPr>
          <a:xfrm>
            <a:off x="1949400" y="3003819"/>
            <a:ext cx="498636" cy="8913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13400" y="3902400"/>
            <a:ext cx="728100" cy="144000"/>
          </a:xfrm>
          <a:prstGeom prst="rect">
            <a:avLst/>
          </a:prstGeom>
          <a:noFill/>
        </p:spPr>
        <p:txBody>
          <a:bodyPr wrap="square">
            <a:spAutoFit/>
          </a:bodyPr>
          <a:lstStyle/>
          <a:p>
            <a:pPr algn="ctr"/>
            <a:r>
              <a:rPr sz="600" b="0" i="0">
                <a:solidFill>
                  <a:srgbClr val="555555"/>
                </a:solidFill>
                <a:latin typeface="Calibri"/>
              </a:rPr>
              <a:t>Juin</a:t>
            </a:r>
          </a:p>
        </p:txBody>
      </p:sp>
      <p:sp>
        <p:nvSpPr>
          <p:cNvPr id="42" name="Rectangle 41"/>
          <p:cNvSpPr/>
          <p:nvPr/>
        </p:nvSpPr>
        <p:spPr>
          <a:xfrm>
            <a:off x="2605500" y="2892804"/>
            <a:ext cx="498636" cy="100239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500" y="3902400"/>
            <a:ext cx="728100" cy="144000"/>
          </a:xfrm>
          <a:prstGeom prst="rect">
            <a:avLst/>
          </a:prstGeom>
          <a:noFill/>
        </p:spPr>
        <p:txBody>
          <a:bodyPr wrap="square">
            <a:spAutoFit/>
          </a:bodyPr>
          <a:lstStyle/>
          <a:p>
            <a:pPr algn="ctr"/>
            <a:r>
              <a:rPr sz="600" b="0" i="0">
                <a:solidFill>
                  <a:srgbClr val="555555"/>
                </a:solidFill>
                <a:latin typeface="Calibri"/>
              </a:rPr>
              <a:t>Juil</a:t>
            </a:r>
          </a:p>
        </p:txBody>
      </p:sp>
      <p:sp>
        <p:nvSpPr>
          <p:cNvPr id="44" name="Rectangle 43"/>
          <p:cNvSpPr/>
          <p:nvPr/>
        </p:nvSpPr>
        <p:spPr>
          <a:xfrm>
            <a:off x="3261600" y="2776815"/>
            <a:ext cx="498636" cy="111838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600" y="3902400"/>
            <a:ext cx="728100" cy="144000"/>
          </a:xfrm>
          <a:prstGeom prst="rect">
            <a:avLst/>
          </a:prstGeom>
          <a:noFill/>
        </p:spPr>
        <p:txBody>
          <a:bodyPr wrap="square">
            <a:spAutoFit/>
          </a:bodyPr>
          <a:lstStyle/>
          <a:p>
            <a:pPr algn="ctr"/>
            <a:r>
              <a:rPr sz="600" b="0" i="0">
                <a:solidFill>
                  <a:srgbClr val="555555"/>
                </a:solidFill>
                <a:latin typeface="Calibri"/>
              </a:rPr>
              <a:t>Aoû</a:t>
            </a:r>
          </a:p>
        </p:txBody>
      </p:sp>
      <p:sp>
        <p:nvSpPr>
          <p:cNvPr id="46" name="Rectangle 45"/>
          <p:cNvSpPr/>
          <p:nvPr/>
        </p:nvSpPr>
        <p:spPr>
          <a:xfrm>
            <a:off x="3917700" y="2530272"/>
            <a:ext cx="498636" cy="136492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1700" y="3902400"/>
            <a:ext cx="728100" cy="144000"/>
          </a:xfrm>
          <a:prstGeom prst="rect">
            <a:avLst/>
          </a:prstGeom>
          <a:noFill/>
        </p:spPr>
        <p:txBody>
          <a:bodyPr wrap="square">
            <a:spAutoFit/>
          </a:bodyPr>
          <a:lstStyle/>
          <a:p>
            <a:pPr algn="ctr"/>
            <a:r>
              <a:rPr sz="600" b="0" i="0">
                <a:solidFill>
                  <a:srgbClr val="555555"/>
                </a:solidFill>
                <a:latin typeface="Calibri"/>
              </a:rPr>
              <a:t>Sep</a:t>
            </a:r>
          </a:p>
        </p:txBody>
      </p:sp>
      <p:sp>
        <p:nvSpPr>
          <p:cNvPr id="48" name="Rectangle 47"/>
          <p:cNvSpPr/>
          <p:nvPr/>
        </p:nvSpPr>
        <p:spPr>
          <a:xfrm>
            <a:off x="4573800" y="2606118"/>
            <a:ext cx="498636" cy="1289081"/>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7800" y="3902400"/>
            <a:ext cx="728100" cy="144000"/>
          </a:xfrm>
          <a:prstGeom prst="rect">
            <a:avLst/>
          </a:prstGeom>
          <a:noFill/>
        </p:spPr>
        <p:txBody>
          <a:bodyPr wrap="square">
            <a:spAutoFit/>
          </a:bodyPr>
          <a:lstStyle/>
          <a:p>
            <a:pPr algn="ctr"/>
            <a:r>
              <a:rPr sz="600" b="0" i="0">
                <a:solidFill>
                  <a:srgbClr val="555555"/>
                </a:solidFill>
                <a:latin typeface="Calibri"/>
              </a:rPr>
              <a:t>Oct</a:t>
            </a:r>
          </a:p>
        </p:txBody>
      </p:sp>
      <p:sp>
        <p:nvSpPr>
          <p:cNvPr id="50" name="Rectangle 49"/>
          <p:cNvSpPr/>
          <p:nvPr/>
        </p:nvSpPr>
        <p:spPr>
          <a:xfrm>
            <a:off x="5229900" y="2544838"/>
            <a:ext cx="498636" cy="1350361"/>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93900" y="3902400"/>
            <a:ext cx="728100" cy="144000"/>
          </a:xfrm>
          <a:prstGeom prst="rect">
            <a:avLst/>
          </a:prstGeom>
          <a:noFill/>
        </p:spPr>
        <p:txBody>
          <a:bodyPr wrap="square">
            <a:spAutoFit/>
          </a:bodyPr>
          <a:lstStyle/>
          <a:p>
            <a:pPr algn="ctr"/>
            <a:r>
              <a:rPr sz="600" b="0" i="0">
                <a:solidFill>
                  <a:srgbClr val="555555"/>
                </a:solidFill>
                <a:latin typeface="Calibri"/>
              </a:rPr>
              <a:t>Nov</a:t>
            </a:r>
          </a:p>
        </p:txBody>
      </p:sp>
      <p:sp>
        <p:nvSpPr>
          <p:cNvPr id="52" name="Rectangle 51"/>
          <p:cNvSpPr/>
          <p:nvPr/>
        </p:nvSpPr>
        <p:spPr>
          <a:xfrm>
            <a:off x="5886000" y="2383200"/>
            <a:ext cx="498636" cy="151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0000" y="3902400"/>
            <a:ext cx="728100" cy="144000"/>
          </a:xfrm>
          <a:prstGeom prst="rect">
            <a:avLst/>
          </a:prstGeom>
          <a:noFill/>
        </p:spPr>
        <p:txBody>
          <a:bodyPr wrap="square">
            <a:spAutoFit/>
          </a:bodyPr>
          <a:lstStyle/>
          <a:p>
            <a:pPr algn="ctr"/>
            <a:r>
              <a:rPr sz="600" b="0" i="0">
                <a:solidFill>
                  <a:srgbClr val="555555"/>
                </a:solidFill>
                <a:latin typeface="Calibri"/>
              </a:rPr>
              <a:t>Déc</a:t>
            </a:r>
          </a:p>
        </p:txBody>
      </p:sp>
      <p:sp>
        <p:nvSpPr>
          <p:cNvPr id="54" name="Rectangle 53"/>
          <p:cNvSpPr/>
          <p:nvPr/>
        </p:nvSpPr>
        <p:spPr>
          <a:xfrm>
            <a:off x="6542100" y="2671839"/>
            <a:ext cx="498636" cy="122336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6099" y="3902400"/>
            <a:ext cx="728100" cy="144000"/>
          </a:xfrm>
          <a:prstGeom prst="rect">
            <a:avLst/>
          </a:prstGeom>
          <a:noFill/>
        </p:spPr>
        <p:txBody>
          <a:bodyPr wrap="square">
            <a:spAutoFit/>
          </a:bodyPr>
          <a:lstStyle/>
          <a:p>
            <a:pPr algn="ctr"/>
            <a:r>
              <a:rPr sz="600" b="0" i="0">
                <a:solidFill>
                  <a:srgbClr val="555555"/>
                </a:solidFill>
                <a:latin typeface="Calibri"/>
              </a:rPr>
              <a:t>Jan</a:t>
            </a:r>
          </a:p>
        </p:txBody>
      </p:sp>
      <p:sp>
        <p:nvSpPr>
          <p:cNvPr id="56" name="Rectangle 55"/>
          <p:cNvSpPr/>
          <p:nvPr/>
        </p:nvSpPr>
        <p:spPr>
          <a:xfrm>
            <a:off x="7198200" y="2746796"/>
            <a:ext cx="498636" cy="1148403"/>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62200" y="3902400"/>
            <a:ext cx="728100" cy="144000"/>
          </a:xfrm>
          <a:prstGeom prst="rect">
            <a:avLst/>
          </a:prstGeom>
          <a:noFill/>
        </p:spPr>
        <p:txBody>
          <a:bodyPr wrap="square">
            <a:spAutoFit/>
          </a:bodyPr>
          <a:lstStyle/>
          <a:p>
            <a:pPr algn="ctr"/>
            <a:r>
              <a:rPr sz="600" b="0" i="0">
                <a:solidFill>
                  <a:srgbClr val="555555"/>
                </a:solidFill>
                <a:latin typeface="Calibri"/>
              </a:rPr>
              <a:t>Fév</a:t>
            </a:r>
          </a:p>
        </p:txBody>
      </p:sp>
      <p:sp>
        <p:nvSpPr>
          <p:cNvPr id="58" name="Rectangle 57"/>
          <p:cNvSpPr/>
          <p:nvPr/>
        </p:nvSpPr>
        <p:spPr>
          <a:xfrm>
            <a:off x="7854300" y="2900264"/>
            <a:ext cx="498636" cy="994935"/>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299" y="3902400"/>
            <a:ext cx="728100" cy="144000"/>
          </a:xfrm>
          <a:prstGeom prst="rect">
            <a:avLst/>
          </a:prstGeom>
          <a:noFill/>
        </p:spPr>
        <p:txBody>
          <a:bodyPr wrap="square">
            <a:spAutoFit/>
          </a:bodyPr>
          <a:lstStyle/>
          <a:p>
            <a:pPr algn="ctr"/>
            <a:r>
              <a:rPr sz="600" b="0" i="0">
                <a:solidFill>
                  <a:srgbClr val="555555"/>
                </a:solidFill>
                <a:latin typeface="Calibri"/>
              </a:rPr>
              <a:t>Mar</a:t>
            </a:r>
          </a:p>
        </p:txBody>
      </p:sp>
      <p:sp>
        <p:nvSpPr>
          <p:cNvPr id="60" name="Rectangle 59"/>
          <p:cNvSpPr/>
          <p:nvPr/>
        </p:nvSpPr>
        <p:spPr>
          <a:xfrm>
            <a:off x="601200" y="382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1200" y="3751200"/>
            <a:ext cx="288000" cy="144000"/>
          </a:xfrm>
          <a:prstGeom prst="rect">
            <a:avLst/>
          </a:prstGeom>
          <a:noFill/>
        </p:spPr>
        <p:txBody>
          <a:bodyPr wrap="none">
            <a:spAutoFit/>
          </a:bodyPr>
          <a:lstStyle/>
          <a:p>
            <a:pPr algn="l"/>
            <a:r>
              <a:rPr sz="600" b="0" i="0">
                <a:solidFill>
                  <a:srgbClr val="555555"/>
                </a:solidFill>
                <a:latin typeface="Calibri"/>
              </a:rPr>
              <a:t>239</a:t>
            </a:r>
          </a:p>
        </p:txBody>
      </p:sp>
      <p:sp>
        <p:nvSpPr>
          <p:cNvPr id="62" name="Rectangle 61"/>
          <p:cNvSpPr/>
          <p:nvPr/>
        </p:nvSpPr>
        <p:spPr>
          <a:xfrm>
            <a:off x="601200" y="33480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1200" y="3276000"/>
            <a:ext cx="288000" cy="144000"/>
          </a:xfrm>
          <a:prstGeom prst="rect">
            <a:avLst/>
          </a:prstGeom>
          <a:noFill/>
        </p:spPr>
        <p:txBody>
          <a:bodyPr wrap="none">
            <a:spAutoFit/>
          </a:bodyPr>
          <a:lstStyle/>
          <a:p>
            <a:pPr algn="l"/>
            <a:r>
              <a:rPr sz="600" b="0" i="0">
                <a:solidFill>
                  <a:srgbClr val="555555"/>
                </a:solidFill>
                <a:latin typeface="Calibri"/>
              </a:rPr>
              <a:t>266</a:t>
            </a:r>
          </a:p>
        </p:txBody>
      </p:sp>
      <p:sp>
        <p:nvSpPr>
          <p:cNvPr id="64" name="Rectangle 63"/>
          <p:cNvSpPr/>
          <p:nvPr/>
        </p:nvSpPr>
        <p:spPr>
          <a:xfrm>
            <a:off x="601200" y="28584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1200" y="2786399"/>
            <a:ext cx="288000" cy="144000"/>
          </a:xfrm>
          <a:prstGeom prst="rect">
            <a:avLst/>
          </a:prstGeom>
          <a:noFill/>
        </p:spPr>
        <p:txBody>
          <a:bodyPr wrap="none">
            <a:spAutoFit/>
          </a:bodyPr>
          <a:lstStyle/>
          <a:p>
            <a:pPr algn="l"/>
            <a:r>
              <a:rPr sz="600" b="0" i="0">
                <a:solidFill>
                  <a:srgbClr val="555555"/>
                </a:solidFill>
                <a:latin typeface="Calibri"/>
              </a:rPr>
              <a:t>294</a:t>
            </a:r>
          </a:p>
        </p:txBody>
      </p:sp>
      <p:sp>
        <p:nvSpPr>
          <p:cNvPr id="66" name="Rectangle 65"/>
          <p:cNvSpPr/>
          <p:nvPr/>
        </p:nvSpPr>
        <p:spPr>
          <a:xfrm>
            <a:off x="601200" y="238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1200" y="2311200"/>
            <a:ext cx="288000" cy="144000"/>
          </a:xfrm>
          <a:prstGeom prst="rect">
            <a:avLst/>
          </a:prstGeom>
          <a:noFill/>
        </p:spPr>
        <p:txBody>
          <a:bodyPr wrap="none">
            <a:spAutoFit/>
          </a:bodyPr>
          <a:lstStyle/>
          <a:p>
            <a:pPr algn="l"/>
            <a:r>
              <a:rPr sz="600" b="0" i="0">
                <a:solidFill>
                  <a:srgbClr val="555555"/>
                </a:solidFill>
                <a:latin typeface="Calibri"/>
              </a:rPr>
              <a:t>320</a:t>
            </a:r>
          </a:p>
        </p:txBody>
      </p:sp>
      <p:sp>
        <p:nvSpPr>
          <p:cNvPr id="68" name="TextBox 67"/>
          <p:cNvSpPr txBox="1"/>
          <p:nvPr/>
        </p:nvSpPr>
        <p:spPr>
          <a:xfrm>
            <a:off x="367200" y="4132800"/>
            <a:ext cx="8413200" cy="687600"/>
          </a:xfrm>
          <a:prstGeom prst="rect">
            <a:avLst/>
          </a:prstGeom>
          <a:noFill/>
        </p:spPr>
        <p:txBody>
          <a:bodyPr wrap="square">
            <a:spAutoFit/>
          </a:bodyPr>
          <a:lstStyle/>
          <a:p>
            <a:pPr algn="l"/>
            <a:r>
              <a:rPr sz="850" b="0" i="0">
                <a:solidFill>
                  <a:srgbClr val="555555"/>
                </a:solidFill>
                <a:latin typeface="Calibri"/>
              </a:rPr>
              <a:t>JPMorgan Chase affiche une résilience exceptionnelle avec une marge nette de 31.4% en 2025 et un ROE de 16.7%. La banque bénéficie d'une franchise diversifiée et d'une gestion rigoureuse des coûts, malgré un environnement macroéconomique incertain. La valorisation attractive à 13.8x P/E justifie une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