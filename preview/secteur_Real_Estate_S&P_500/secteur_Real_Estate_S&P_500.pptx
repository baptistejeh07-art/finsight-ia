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Real Estate</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S&amp;P 500  ·  8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29 mars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Real Estate  ·  S&amp;P 500  ·  8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18.8x  ·  Croissance med. : +5.8 %  ·  Marge EBITDA med. : 67.6 %  ·  Score moyen : 62/100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Pivot Monétaire BCE</a:t>
            </a:r>
          </a:p>
        </p:txBody>
      </p:sp>
      <p:sp>
        <p:nvSpPr>
          <p:cNvPr id="24" name="TextBox 23"/>
          <p:cNvSpPr txBox="1"/>
          <p:nvPr/>
        </p:nvSpPr>
        <p:spPr>
          <a:xfrm>
            <a:off x="468000" y="1853999"/>
            <a:ext cx="3851999" cy="306000"/>
          </a:xfrm>
          <a:prstGeom prst="rect">
            <a:avLst/>
          </a:prstGeom>
          <a:noFill/>
        </p:spPr>
        <p:txBody>
          <a:bodyPr wrap="square">
            <a:spAutoFit/>
          </a:bodyPr>
          <a:lstStyle/>
          <a:p>
            <a:pPr algn="l"/>
            <a:r>
              <a:rPr sz="750" b="0" i="0">
                <a:solidFill>
                  <a:srgbClr val="555555"/>
                </a:solidFill>
              </a:rPr>
              <a:t>Baisse des taux directeurs — compression des taux de capitalisation et réévaluation des ANR.</a:t>
            </a:r>
          </a:p>
        </p:txBody>
      </p:sp>
      <p:sp>
        <p:nvSpPr>
          <p:cNvPr id="25" name="Rectangle 24"/>
          <p:cNvSpPr/>
          <p:nvPr/>
        </p:nvSpPr>
        <p:spPr>
          <a:xfrm>
            <a:off x="324000" y="2268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268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286000"/>
            <a:ext cx="3851999" cy="198000"/>
          </a:xfrm>
          <a:prstGeom prst="rect">
            <a:avLst/>
          </a:prstGeom>
          <a:noFill/>
        </p:spPr>
        <p:txBody>
          <a:bodyPr wrap="square">
            <a:spAutoFit/>
          </a:bodyPr>
          <a:lstStyle/>
          <a:p>
            <a:pPr algn="l"/>
            <a:r>
              <a:rPr sz="850" b="1" i="0">
                <a:solidFill>
                  <a:srgbClr val="1B3A6B"/>
                </a:solidFill>
              </a:rPr>
              <a:t>Penurie Logements</a:t>
            </a:r>
          </a:p>
        </p:txBody>
      </p:sp>
      <p:sp>
        <p:nvSpPr>
          <p:cNvPr id="28" name="TextBox 27"/>
          <p:cNvSpPr txBox="1"/>
          <p:nvPr/>
        </p:nvSpPr>
        <p:spPr>
          <a:xfrm>
            <a:off x="468000" y="2466000"/>
            <a:ext cx="3851999" cy="306000"/>
          </a:xfrm>
          <a:prstGeom prst="rect">
            <a:avLst/>
          </a:prstGeom>
          <a:noFill/>
        </p:spPr>
        <p:txBody>
          <a:bodyPr wrap="square">
            <a:spAutoFit/>
          </a:bodyPr>
          <a:lstStyle/>
          <a:p>
            <a:pPr algn="l"/>
            <a:r>
              <a:rPr sz="750" b="0" i="0">
                <a:solidFill>
                  <a:srgbClr val="555555"/>
                </a:solidFill>
              </a:rPr>
              <a:t>Deficit de construction en France et Allemagne — soutien structurel a la valeur des actifs residentiels.</a:t>
            </a:r>
          </a:p>
        </p:txBody>
      </p:sp>
      <p:sp>
        <p:nvSpPr>
          <p:cNvPr id="29" name="Rectangle 28"/>
          <p:cNvSpPr/>
          <p:nvPr/>
        </p:nvSpPr>
        <p:spPr>
          <a:xfrm>
            <a:off x="324000" y="2880000"/>
            <a:ext cx="36000" cy="54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2880000"/>
            <a:ext cx="4068000" cy="54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2898000"/>
            <a:ext cx="3851999" cy="198000"/>
          </a:xfrm>
          <a:prstGeom prst="rect">
            <a:avLst/>
          </a:prstGeom>
          <a:noFill/>
        </p:spPr>
        <p:txBody>
          <a:bodyPr wrap="square">
            <a:spAutoFit/>
          </a:bodyPr>
          <a:lstStyle/>
          <a:p>
            <a:pPr algn="l"/>
            <a:r>
              <a:rPr sz="850" b="1" i="0">
                <a:solidFill>
                  <a:srgbClr val="1B3A6B"/>
                </a:solidFill>
              </a:rPr>
              <a:t>Actifs Durables</a:t>
            </a:r>
          </a:p>
        </p:txBody>
      </p:sp>
      <p:sp>
        <p:nvSpPr>
          <p:cNvPr id="32" name="TextBox 31"/>
          <p:cNvSpPr txBox="1"/>
          <p:nvPr/>
        </p:nvSpPr>
        <p:spPr>
          <a:xfrm>
            <a:off x="468000" y="3078000"/>
            <a:ext cx="3851999" cy="306000"/>
          </a:xfrm>
          <a:prstGeom prst="rect">
            <a:avLst/>
          </a:prstGeom>
          <a:noFill/>
        </p:spPr>
        <p:txBody>
          <a:bodyPr wrap="square">
            <a:spAutoFit/>
          </a:bodyPr>
          <a:lstStyle/>
          <a:p>
            <a:pPr algn="l"/>
            <a:r>
              <a:rPr sz="750" b="0" i="0">
                <a:solidFill>
                  <a:srgbClr val="555555"/>
                </a:solidFill>
              </a:rPr>
              <a:t>Renovation energetique obligatoire — valorisation differentielle actifs certifies.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Maintien Taux Élevés</a:t>
            </a:r>
          </a:p>
        </p:txBody>
      </p:sp>
      <p:sp>
        <p:nvSpPr>
          <p:cNvPr id="38" name="TextBox 37"/>
          <p:cNvSpPr txBox="1"/>
          <p:nvPr/>
        </p:nvSpPr>
        <p:spPr>
          <a:xfrm>
            <a:off x="4860000" y="1853999"/>
            <a:ext cx="3851999" cy="306000"/>
          </a:xfrm>
          <a:prstGeom prst="rect">
            <a:avLst/>
          </a:prstGeom>
          <a:noFill/>
        </p:spPr>
        <p:txBody>
          <a:bodyPr wrap="square">
            <a:spAutoFit/>
          </a:bodyPr>
          <a:lstStyle/>
          <a:p>
            <a:pPr algn="l"/>
            <a:r>
              <a:rPr sz="750" b="0" i="0">
                <a:solidFill>
                  <a:srgbClr val="555555"/>
                </a:solidFill>
              </a:rPr>
              <a:t>Taux longs &gt; 4 % prolonges — pressions sur les ANR et les covenants de dette.</a:t>
            </a:r>
          </a:p>
        </p:txBody>
      </p:sp>
      <p:sp>
        <p:nvSpPr>
          <p:cNvPr id="39" name="Rectangle 38"/>
          <p:cNvSpPr/>
          <p:nvPr/>
        </p:nvSpPr>
        <p:spPr>
          <a:xfrm>
            <a:off x="4716000" y="2268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268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286000"/>
            <a:ext cx="3851999" cy="198000"/>
          </a:xfrm>
          <a:prstGeom prst="rect">
            <a:avLst/>
          </a:prstGeom>
          <a:noFill/>
        </p:spPr>
        <p:txBody>
          <a:bodyPr wrap="square">
            <a:spAutoFit/>
          </a:bodyPr>
          <a:lstStyle/>
          <a:p>
            <a:pPr algn="l"/>
            <a:r>
              <a:rPr sz="850" b="1" i="0">
                <a:solidFill>
                  <a:srgbClr val="A82020"/>
                </a:solidFill>
              </a:rPr>
              <a:t>Dégradâtion Locative</a:t>
            </a:r>
          </a:p>
        </p:txBody>
      </p:sp>
      <p:sp>
        <p:nvSpPr>
          <p:cNvPr id="42" name="TextBox 41"/>
          <p:cNvSpPr txBox="1"/>
          <p:nvPr/>
        </p:nvSpPr>
        <p:spPr>
          <a:xfrm>
            <a:off x="4860000" y="2466000"/>
            <a:ext cx="3851999" cy="306000"/>
          </a:xfrm>
          <a:prstGeom prst="rect">
            <a:avLst/>
          </a:prstGeom>
          <a:noFill/>
        </p:spPr>
        <p:txBody>
          <a:bodyPr wrap="square">
            <a:spAutoFit/>
          </a:bodyPr>
          <a:lstStyle/>
          <a:p>
            <a:pPr algn="l"/>
            <a:r>
              <a:rPr sz="750" b="0" i="0">
                <a:solidFill>
                  <a:srgbClr val="555555"/>
                </a:solidFill>
              </a:rPr>
              <a:t>Vacance bureau en hausse post-teletravail — risques sur les loyers tertiaires secondaires.</a:t>
            </a:r>
          </a:p>
        </p:txBody>
      </p:sp>
      <p:sp>
        <p:nvSpPr>
          <p:cNvPr id="43" name="Rectangle 42"/>
          <p:cNvSpPr/>
          <p:nvPr/>
        </p:nvSpPr>
        <p:spPr>
          <a:xfrm>
            <a:off x="4716000" y="2880000"/>
            <a:ext cx="36000" cy="54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2880000"/>
            <a:ext cx="4068000" cy="54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2898000"/>
            <a:ext cx="3851999" cy="198000"/>
          </a:xfrm>
          <a:prstGeom prst="rect">
            <a:avLst/>
          </a:prstGeom>
          <a:noFill/>
        </p:spPr>
        <p:txBody>
          <a:bodyPr wrap="square">
            <a:spAutoFit/>
          </a:bodyPr>
          <a:lstStyle/>
          <a:p>
            <a:pPr algn="l"/>
            <a:r>
              <a:rPr sz="850" b="1" i="0">
                <a:solidFill>
                  <a:srgbClr val="A82020"/>
                </a:solidFill>
              </a:rPr>
              <a:t>Refinancement</a:t>
            </a:r>
          </a:p>
        </p:txBody>
      </p:sp>
      <p:sp>
        <p:nvSpPr>
          <p:cNvPr id="46" name="TextBox 45"/>
          <p:cNvSpPr txBox="1"/>
          <p:nvPr/>
        </p:nvSpPr>
        <p:spPr>
          <a:xfrm>
            <a:off x="4860000" y="3078000"/>
            <a:ext cx="3851999" cy="306000"/>
          </a:xfrm>
          <a:prstGeom prst="rect">
            <a:avLst/>
          </a:prstGeom>
          <a:noFill/>
        </p:spPr>
        <p:txBody>
          <a:bodyPr wrap="square">
            <a:spAutoFit/>
          </a:bodyPr>
          <a:lstStyle/>
          <a:p>
            <a:pPr algn="l"/>
            <a:r>
              <a:rPr sz="750" b="0" i="0">
                <a:solidFill>
                  <a:srgbClr val="555555"/>
                </a:solidFill>
              </a:rPr>
              <a:t>Mur de dette 2025-2027 — risques de dilution pour les foncieres surendettees.</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18.8x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marche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+5.8 %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67.6 %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-0.8 %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Real Estate  ·  S&amp;P 500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8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Synthese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positionnement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Real Estate  ·  Caractéristiques structurelles &amp; métriques de référence</a:t>
            </a:r>
          </a:p>
        </p:txBody>
      </p:sp>
      <p:sp>
        <p:nvSpPr>
          <p:cNvPr id="15" name="Rectangle 14"/>
          <p:cNvSpPr/>
          <p:nvPr/>
        </p:nvSpPr>
        <p:spPr>
          <a:xfrm>
            <a:off x="324000" y="900000"/>
            <a:ext cx="4932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6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4716000" cy="1620000"/>
          </a:xfrm>
          <a:prstGeom prst="rect">
            <a:avLst/>
          </a:prstGeom>
          <a:noFill/>
        </p:spPr>
        <p:txBody>
          <a:bodyPr wrap="square">
            <a:spAutoFit/>
          </a:bodyPr>
          <a:lstStyle/>
          <a:p>
            <a:pPr algn="l"/>
            <a:r>
              <a:rPr sz="1200" b="0" i="0">
                <a:solidFill>
                  <a:srgbClr val="555555"/>
                </a:solidFill>
              </a:rPr>
              <a:t>Le secteur Immobilier regroupe les foncières cotees (SIIC/REIT), promoteurs et gestionnaires d'actifs immobiliers. En phase de réévaluation post-hausse des taux, il offre des décotes sur ANR attractives pour les investisseurs patients.</a:t>
            </a:r>
          </a:p>
        </p:txBody>
      </p:sp>
      <p:sp>
        <p:nvSpPr>
          <p:cNvPr id="18" name="Rectangle 17"/>
          <p:cNvSpPr/>
          <p:nvPr/>
        </p:nvSpPr>
        <p:spPr>
          <a:xfrm>
            <a:off x="468000" y="2700000"/>
            <a:ext cx="4680000" cy="16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2718000"/>
            <a:ext cx="4500000" cy="144000"/>
          </a:xfrm>
          <a:prstGeom prst="rect">
            <a:avLst/>
          </a:prstGeom>
          <a:noFill/>
        </p:spPr>
        <p:txBody>
          <a:bodyPr wrap="square">
            <a:spAutoFit/>
          </a:bodyPr>
          <a:lstStyle/>
          <a:p>
            <a:pPr algn="l"/>
            <a:r>
              <a:rPr sz="750" b="1" i="0">
                <a:solidFill>
                  <a:srgbClr val="FFFFFF"/>
                </a:solidFill>
              </a:rPr>
              <a:t>CATALYSEURS CLÉS</a:t>
            </a:r>
          </a:p>
        </p:txBody>
      </p:sp>
      <p:sp>
        <p:nvSpPr>
          <p:cNvPr id="20" name="Rectangle 19"/>
          <p:cNvSpPr/>
          <p:nvPr/>
        </p:nvSpPr>
        <p:spPr>
          <a:xfrm>
            <a:off x="468000" y="2898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00" y="2898000"/>
            <a:ext cx="4428000" cy="162000"/>
          </a:xfrm>
          <a:prstGeom prst="rect">
            <a:avLst/>
          </a:prstGeom>
          <a:noFill/>
        </p:spPr>
        <p:txBody>
          <a:bodyPr wrap="square">
            <a:spAutoFit/>
          </a:bodyPr>
          <a:lstStyle/>
          <a:p>
            <a:pPr algn="l"/>
            <a:r>
              <a:rPr sz="800" b="1" i="0">
                <a:solidFill>
                  <a:srgbClr val="1B3A6B"/>
                </a:solidFill>
              </a:rPr>
              <a:t>Pivot Monétaire BCE</a:t>
            </a:r>
          </a:p>
        </p:txBody>
      </p:sp>
      <p:sp>
        <p:nvSpPr>
          <p:cNvPr id="22" name="TextBox 21"/>
          <p:cNvSpPr txBox="1"/>
          <p:nvPr/>
        </p:nvSpPr>
        <p:spPr>
          <a:xfrm>
            <a:off x="576000" y="3060000"/>
            <a:ext cx="4428000" cy="306000"/>
          </a:xfrm>
          <a:prstGeom prst="rect">
            <a:avLst/>
          </a:prstGeom>
          <a:noFill/>
        </p:spPr>
        <p:txBody>
          <a:bodyPr wrap="square">
            <a:spAutoFit/>
          </a:bodyPr>
          <a:lstStyle/>
          <a:p>
            <a:pPr algn="l"/>
            <a:r>
              <a:rPr sz="750" b="0" i="0">
                <a:solidFill>
                  <a:srgbClr val="555555"/>
                </a:solidFill>
              </a:rPr>
              <a:t>Baisse des taux directeurs — compression des taux de capitalisation et réévaluation des ANR.</a:t>
            </a:r>
          </a:p>
        </p:txBody>
      </p:sp>
      <p:sp>
        <p:nvSpPr>
          <p:cNvPr id="23" name="Rectangle 22"/>
          <p:cNvSpPr/>
          <p:nvPr/>
        </p:nvSpPr>
        <p:spPr>
          <a:xfrm>
            <a:off x="468000" y="3384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00" y="3384000"/>
            <a:ext cx="4428000" cy="162000"/>
          </a:xfrm>
          <a:prstGeom prst="rect">
            <a:avLst/>
          </a:prstGeom>
          <a:noFill/>
        </p:spPr>
        <p:txBody>
          <a:bodyPr wrap="square">
            <a:spAutoFit/>
          </a:bodyPr>
          <a:lstStyle/>
          <a:p>
            <a:pPr algn="l"/>
            <a:r>
              <a:rPr sz="800" b="1" i="0">
                <a:solidFill>
                  <a:srgbClr val="1B3A6B"/>
                </a:solidFill>
              </a:rPr>
              <a:t>Penurie Logements</a:t>
            </a:r>
          </a:p>
        </p:txBody>
      </p:sp>
      <p:sp>
        <p:nvSpPr>
          <p:cNvPr id="25" name="TextBox 24"/>
          <p:cNvSpPr txBox="1"/>
          <p:nvPr/>
        </p:nvSpPr>
        <p:spPr>
          <a:xfrm>
            <a:off x="576000" y="3546000"/>
            <a:ext cx="4428000" cy="306000"/>
          </a:xfrm>
          <a:prstGeom prst="rect">
            <a:avLst/>
          </a:prstGeom>
          <a:noFill/>
        </p:spPr>
        <p:txBody>
          <a:bodyPr wrap="square">
            <a:spAutoFit/>
          </a:bodyPr>
          <a:lstStyle/>
          <a:p>
            <a:pPr algn="l"/>
            <a:r>
              <a:rPr sz="750" b="0" i="0">
                <a:solidFill>
                  <a:srgbClr val="555555"/>
                </a:solidFill>
              </a:rPr>
              <a:t>Deficit de construction en France et Allemagne — soutien structurel a la valeur des actifs residentiels.</a:t>
            </a:r>
          </a:p>
        </p:txBody>
      </p:sp>
      <p:sp>
        <p:nvSpPr>
          <p:cNvPr id="26" name="Rectangle 25"/>
          <p:cNvSpPr/>
          <p:nvPr/>
        </p:nvSpPr>
        <p:spPr>
          <a:xfrm>
            <a:off x="468000" y="3870000"/>
            <a:ext cx="28800" cy="43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6000" y="3870000"/>
            <a:ext cx="4428000" cy="162000"/>
          </a:xfrm>
          <a:prstGeom prst="rect">
            <a:avLst/>
          </a:prstGeom>
          <a:noFill/>
        </p:spPr>
        <p:txBody>
          <a:bodyPr wrap="square">
            <a:spAutoFit/>
          </a:bodyPr>
          <a:lstStyle/>
          <a:p>
            <a:pPr algn="l"/>
            <a:r>
              <a:rPr sz="800" b="1" i="0">
                <a:solidFill>
                  <a:srgbClr val="1B3A6B"/>
                </a:solidFill>
              </a:rPr>
              <a:t>Actifs Durables</a:t>
            </a:r>
          </a:p>
        </p:txBody>
      </p:sp>
      <p:sp>
        <p:nvSpPr>
          <p:cNvPr id="28" name="TextBox 27"/>
          <p:cNvSpPr txBox="1"/>
          <p:nvPr/>
        </p:nvSpPr>
        <p:spPr>
          <a:xfrm>
            <a:off x="576000" y="4031999"/>
            <a:ext cx="4428000" cy="306000"/>
          </a:xfrm>
          <a:prstGeom prst="rect">
            <a:avLst/>
          </a:prstGeom>
          <a:noFill/>
        </p:spPr>
        <p:txBody>
          <a:bodyPr wrap="square">
            <a:spAutoFit/>
          </a:bodyPr>
          <a:lstStyle/>
          <a:p>
            <a:pPr algn="l"/>
            <a:r>
              <a:rPr sz="750" b="0" i="0">
                <a:solidFill>
                  <a:srgbClr val="555555"/>
                </a:solidFill>
              </a:rPr>
              <a:t>Renovation energetique obligatoire — valorisation differentielle actifs certifies.</a:t>
            </a:r>
          </a:p>
        </p:txBody>
      </p:sp>
      <p:graphicFrame>
        <p:nvGraphicFramePr>
          <p:cNvPr id="29" name="Table 28"/>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Décote ANR</a:t>
                      </a:r>
                    </a:p>
                  </a:txBody>
                  <a:tcPr>
                    <a:noFill/>
                  </a:tcPr>
                </a:tc>
                <a:tc>
                  <a:txBody>
                    <a:bodyPr/>
                    <a:lstStyle/>
                    <a:p>
                      <a:pPr algn="ctr"/>
                      <a:r>
                        <a:rPr sz="750" b="0">
                          <a:solidFill>
                            <a:srgbClr val="1A1A1A"/>
                          </a:solidFill>
                        </a:rPr>
                        <a:t>-22 %</a:t>
                      </a:r>
                    </a:p>
                  </a:txBody>
                  <a:tcPr>
                    <a:noFill/>
                  </a:tcPr>
                </a:tc>
                <a:tc>
                  <a:txBody>
                    <a:bodyPr/>
                    <a:lstStyle/>
                    <a:p>
                      <a:pPr algn="ctr"/>
                      <a:r>
                        <a:rPr sz="750" b="0">
                          <a:solidFill>
                            <a:srgbClr val="1A1A1A"/>
                          </a:solidFill>
                        </a:rPr>
                        <a:t>Opportunite</a:t>
                      </a:r>
                    </a:p>
                  </a:txBody>
                  <a:tcPr>
                    <a:noFill/>
                  </a:tcPr>
                </a:tc>
              </a:tr>
              <a:tr h="208799">
                <a:tc>
                  <a:txBody>
                    <a:bodyPr/>
                    <a:lstStyle/>
                    <a:p>
                      <a:pPr algn="ctr"/>
                      <a:r>
                        <a:rPr sz="750" b="0">
                          <a:solidFill>
                            <a:srgbClr val="1A1A1A"/>
                          </a:solidFill>
                        </a:rPr>
                        <a:t>Div. Yield</a:t>
                      </a:r>
                    </a:p>
                  </a:txBody>
                  <a:tcPr>
                    <a:solidFill>
                      <a:srgbClr val="F5F7FA"/>
                    </a:solidFill>
                  </a:tcPr>
                </a:tc>
                <a:tc>
                  <a:txBody>
                    <a:bodyPr/>
                    <a:lstStyle/>
                    <a:p>
                      <a:pPr algn="ctr"/>
                      <a:r>
                        <a:rPr sz="750" b="0">
                          <a:solidFill>
                            <a:srgbClr val="1A1A1A"/>
                          </a:solidFill>
                        </a:rPr>
                        <a:t>4,8 %</a:t>
                      </a:r>
                    </a:p>
                  </a:txBody>
                  <a:tcPr>
                    <a:solidFill>
                      <a:srgbClr val="F5F7FA"/>
                    </a:solidFill>
                  </a:tcPr>
                </a:tc>
                <a:tc>
                  <a:txBody>
                    <a:bodyPr/>
                    <a:lstStyle/>
                    <a:p>
                      <a:pPr algn="ctr"/>
                      <a:r>
                        <a:rPr sz="750" b="0">
                          <a:solidFill>
                            <a:srgbClr val="1A1A1A"/>
                          </a:solidFill>
                        </a:rPr>
                        <a:t>Attractif</a:t>
                      </a:r>
                    </a:p>
                  </a:txBody>
                  <a:tcPr>
                    <a:solidFill>
                      <a:srgbClr val="F5F7FA"/>
                    </a:solidFill>
                  </a:tcPr>
                </a:tc>
              </a:tr>
              <a:tr h="208799">
                <a:tc>
                  <a:txBody>
                    <a:bodyPr/>
                    <a:lstStyle/>
                    <a:p>
                      <a:pPr algn="ctr"/>
                      <a:r>
                        <a:rPr sz="750" b="0">
                          <a:solidFill>
                            <a:srgbClr val="1A1A1A"/>
                          </a:solidFill>
                        </a:rPr>
                        <a:t>LTV median</a:t>
                      </a:r>
                    </a:p>
                  </a:txBody>
                  <a:tcPr>
                    <a:noFill/>
                  </a:tcPr>
                </a:tc>
                <a:tc>
                  <a:txBody>
                    <a:bodyPr/>
                    <a:lstStyle/>
                    <a:p>
                      <a:pPr algn="ctr"/>
                      <a:r>
                        <a:rPr sz="750" b="0">
                          <a:solidFill>
                            <a:srgbClr val="1A1A1A"/>
                          </a:solidFill>
                        </a:rPr>
                        <a:t>38 %</a:t>
                      </a:r>
                    </a:p>
                  </a:txBody>
                  <a:tcPr>
                    <a:noFill/>
                  </a:tcPr>
                </a:tc>
                <a:tc>
                  <a:txBody>
                    <a:bodyPr/>
                    <a:lstStyle/>
                    <a:p>
                      <a:pPr algn="ctr"/>
                      <a:r>
                        <a:rPr sz="750" b="0">
                          <a:solidFill>
                            <a:srgbClr val="1A1A1A"/>
                          </a:solidFill>
                        </a:rPr>
                        <a:t>Prudent</a:t>
                      </a:r>
                    </a:p>
                  </a:txBody>
                  <a:tcPr>
                    <a:noFill/>
                  </a:tcPr>
                </a:tc>
              </a:tr>
              <a:tr h="208799">
                <a:tc>
                  <a:txBody>
                    <a:bodyPr/>
                    <a:lstStyle/>
                    <a:p>
                      <a:pPr algn="ctr"/>
                      <a:r>
                        <a:rPr sz="750" b="0">
                          <a:solidFill>
                            <a:srgbClr val="1A1A1A"/>
                          </a:solidFill>
                        </a:rPr>
                        <a:t>ICR median</a:t>
                      </a:r>
                    </a:p>
                  </a:txBody>
                  <a:tcPr>
                    <a:solidFill>
                      <a:srgbClr val="F5F7FA"/>
                    </a:solidFill>
                  </a:tcPr>
                </a:tc>
                <a:tc>
                  <a:txBody>
                    <a:bodyPr/>
                    <a:lstStyle/>
                    <a:p>
                      <a:pPr algn="ctr"/>
                      <a:r>
                        <a:rPr sz="750" b="0">
                          <a:solidFill>
                            <a:srgbClr val="1A1A1A"/>
                          </a:solidFill>
                        </a:rPr>
                        <a:t>3,2x</a:t>
                      </a:r>
                    </a:p>
                  </a:txBody>
                  <a:tcPr>
                    <a:solidFill>
                      <a:srgbClr val="F5F7FA"/>
                    </a:solidFill>
                  </a:tcPr>
                </a:tc>
                <a:tc>
                  <a:txBody>
                    <a:bodyPr/>
                    <a:lstStyle/>
                    <a:p>
                      <a:pPr algn="ctr"/>
                      <a:r>
                        <a:rPr sz="750" b="0">
                          <a:solidFill>
                            <a:srgbClr val="1A1A1A"/>
                          </a:solidFill>
                        </a:rPr>
                        <a:t>Sain</a:t>
                      </a:r>
                    </a:p>
                  </a:txBody>
                  <a:tcPr>
                    <a:solidFill>
                      <a:srgbClr val="F5F7FA"/>
                    </a:solidFill>
                  </a:tcPr>
                </a:tc>
              </a:tr>
              <a:tr h="208799">
                <a:tc>
                  <a:txBody>
                    <a:bodyPr/>
                    <a:lstStyle/>
                    <a:p>
                      <a:pPr algn="ctr"/>
                      <a:r>
                        <a:rPr sz="750" b="0">
                          <a:solidFill>
                            <a:srgbClr val="1A1A1A"/>
                          </a:solidFill>
                        </a:rPr>
                        <a:t>Vacance</a:t>
                      </a:r>
                    </a:p>
                  </a:txBody>
                  <a:tcPr>
                    <a:noFill/>
                  </a:tcPr>
                </a:tc>
                <a:tc>
                  <a:txBody>
                    <a:bodyPr/>
                    <a:lstStyle/>
                    <a:p>
                      <a:pPr algn="ctr"/>
                      <a:r>
                        <a:rPr sz="750" b="0">
                          <a:solidFill>
                            <a:srgbClr val="1A1A1A"/>
                          </a:solidFill>
                        </a:rPr>
                        <a:t>7,4 %</a:t>
                      </a:r>
                    </a:p>
                  </a:txBody>
                  <a:tcPr>
                    <a:noFill/>
                  </a:tcPr>
                </a:tc>
                <a:tc>
                  <a:txBody>
                    <a:bodyPr/>
                    <a:lstStyle/>
                    <a:p>
                      <a:pPr algn="ctr"/>
                      <a:r>
                        <a:rPr sz="750" b="0">
                          <a:solidFill>
                            <a:srgbClr val="1A1A1A"/>
                          </a:solidFill>
                        </a:rPr>
                        <a:t>Moderee</a:t>
                      </a:r>
                    </a:p>
                  </a:txBody>
                  <a:tcPr>
                    <a:noFill/>
                  </a:tcPr>
                </a:tc>
              </a:tr>
              <a:tr h="208805">
                <a:tc>
                  <a:txBody>
                    <a:bodyPr/>
                    <a:lstStyle/>
                    <a:p>
                      <a:pPr algn="ctr"/>
                      <a:r>
                        <a:rPr sz="750" b="0">
                          <a:solidFill>
                            <a:srgbClr val="1A1A1A"/>
                          </a:solidFill>
                        </a:rPr>
                        <a:t>EPRA NTA</a:t>
                      </a:r>
                    </a:p>
                  </a:txBody>
                  <a:tcPr>
                    <a:solidFill>
                      <a:srgbClr val="F5F7FA"/>
                    </a:solidFill>
                  </a:tcPr>
                </a:tc>
                <a:tc>
                  <a:txBody>
                    <a:bodyPr/>
                    <a:lstStyle/>
                    <a:p>
                      <a:pPr algn="ctr"/>
                      <a:r>
                        <a:rPr sz="750" b="0">
                          <a:solidFill>
                            <a:srgbClr val="1A1A1A"/>
                          </a:solidFill>
                        </a:rPr>
                        <a:t>ref.</a:t>
                      </a:r>
                    </a:p>
                  </a:txBody>
                  <a:tcPr>
                    <a:solidFill>
                      <a:srgbClr val="F5F7FA"/>
                    </a:solidFill>
                  </a:tcPr>
                </a:tc>
                <a:tc>
                  <a:txBody>
                    <a:bodyPr/>
                    <a:lstStyle/>
                    <a:p>
                      <a:pPr algn="ctr"/>
                      <a:r>
                        <a:rPr sz="750" b="0">
                          <a:solidFill>
                            <a:srgbClr val="1A1A1A"/>
                          </a:solidFill>
                        </a:rPr>
                        <a:t>Benchmark</a:t>
                      </a:r>
                    </a:p>
                  </a:txBody>
                  <a:tcPr>
                    <a:solidFill>
                      <a:srgbClr val="F5F7FA"/>
                    </a:solidFill>
                  </a:tcPr>
                </a:tc>
              </a:tr>
            </a:tbl>
          </a:graphicData>
        </a:graphic>
      </p:graphicFrame>
      <p:sp>
        <p:nvSpPr>
          <p:cNvPr id="30" name="Rectangle 2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Real Estate  ·  Comparaison multiples LTM — 8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Société</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Simon Property Group, Inc.</a:t>
                      </a:r>
                    </a:p>
                  </a:txBody>
                  <a:tcPr>
                    <a:noFill/>
                  </a:tcPr>
                </a:tc>
                <a:tc>
                  <a:txBody>
                    <a:bodyPr/>
                    <a:lstStyle/>
                    <a:p>
                      <a:pPr algn="ctr"/>
                      <a:r>
                        <a:rPr sz="750" b="0">
                          <a:solidFill>
                            <a:srgbClr val="1A1A1A"/>
                          </a:solidFill>
                        </a:rPr>
                        <a:t>18.8x</a:t>
                      </a:r>
                    </a:p>
                  </a:txBody>
                  <a:tcPr>
                    <a:noFill/>
                  </a:tcPr>
                </a:tc>
                <a:tc>
                  <a:txBody>
                    <a:bodyPr/>
                    <a:lstStyle/>
                    <a:p>
                      <a:pPr algn="ctr"/>
                      <a:r>
                        <a:rPr sz="750" b="0">
                          <a:solidFill>
                            <a:srgbClr val="1A1A1A"/>
                          </a:solidFill>
                        </a:rPr>
                        <a:t>13.9x</a:t>
                      </a:r>
                    </a:p>
                  </a:txBody>
                  <a:tcPr>
                    <a:noFill/>
                  </a:tcPr>
                </a:tc>
                <a:tc>
                  <a:txBody>
                    <a:bodyPr/>
                    <a:lstStyle/>
                    <a:p>
                      <a:pPr algn="ctr"/>
                      <a:r>
                        <a:rPr sz="750" b="0">
                          <a:solidFill>
                            <a:srgbClr val="1A1A1A"/>
                          </a:solidFill>
                        </a:rPr>
                        <a:t>12.7x</a:t>
                      </a:r>
                    </a:p>
                  </a:txBody>
                  <a:tcPr>
                    <a:noFill/>
                  </a:tcPr>
                </a:tc>
                <a:tc>
                  <a:txBody>
                    <a:bodyPr/>
                    <a:lstStyle/>
                    <a:p>
                      <a:pPr algn="ctr"/>
                      <a:r>
                        <a:rPr sz="750" b="0">
                          <a:solidFill>
                            <a:srgbClr val="1A1A1A"/>
                          </a:solidFill>
                        </a:rPr>
                        <a:t>81.9 %</a:t>
                      </a:r>
                    </a:p>
                  </a:txBody>
                  <a:tcPr>
                    <a:noFill/>
                  </a:tcPr>
                </a:tc>
                <a:tc>
                  <a:txBody>
                    <a:bodyPr/>
                    <a:lstStyle/>
                    <a:p>
                      <a:pPr algn="ctr"/>
                      <a:r>
                        <a:rPr sz="750" b="0">
                          <a:solidFill>
                            <a:srgbClr val="1A1A1A"/>
                          </a:solidFill>
                        </a:rPr>
                        <a:t>73.9 %</a:t>
                      </a:r>
                    </a:p>
                  </a:txBody>
                  <a:tcPr>
                    <a:noFill/>
                  </a:tcPr>
                </a:tc>
                <a:tc>
                  <a:txBody>
                    <a:bodyPr/>
                    <a:lstStyle/>
                    <a:p>
                      <a:pPr algn="ctr"/>
                      <a:r>
                        <a:rPr sz="750" b="0">
                          <a:solidFill>
                            <a:srgbClr val="1A1A1A"/>
                          </a:solidFill>
                        </a:rPr>
                        <a:t>104.1 %</a:t>
                      </a:r>
                    </a:p>
                  </a:txBody>
                  <a:tcPr>
                    <a:noFill/>
                  </a:tcPr>
                </a:tc>
              </a:tr>
              <a:tr h="198000">
                <a:tc>
                  <a:txBody>
                    <a:bodyPr/>
                    <a:lstStyle/>
                    <a:p>
                      <a:pPr algn="ctr"/>
                      <a:r>
                        <a:rPr sz="750" b="0">
                          <a:solidFill>
                            <a:srgbClr val="1A1A1A"/>
                          </a:solidFill>
                        </a:rPr>
                        <a:t>American Tower Corporation</a:t>
                      </a:r>
                    </a:p>
                  </a:txBody>
                  <a:tcPr>
                    <a:solidFill>
                      <a:srgbClr val="F5F7FA"/>
                    </a:solidFill>
                  </a:tcPr>
                </a:tc>
                <a:tc>
                  <a:txBody>
                    <a:bodyPr/>
                    <a:lstStyle/>
                    <a:p>
                      <a:pPr algn="ctr"/>
                      <a:r>
                        <a:rPr sz="750" b="0">
                          <a:solidFill>
                            <a:srgbClr val="1A1A1A"/>
                          </a:solidFill>
                        </a:rPr>
                        <a:t>18.7x</a:t>
                      </a:r>
                    </a:p>
                  </a:txBody>
                  <a:tcPr>
                    <a:solidFill>
                      <a:srgbClr val="F5F7FA"/>
                    </a:solidFill>
                  </a:tcPr>
                </a:tc>
                <a:tc>
                  <a:txBody>
                    <a:bodyPr/>
                    <a:lstStyle/>
                    <a:p>
                      <a:pPr algn="ctr"/>
                      <a:r>
                        <a:rPr sz="750" b="0">
                          <a:solidFill>
                            <a:srgbClr val="1A1A1A"/>
                          </a:solidFill>
                        </a:rPr>
                        <a:t>12.1x</a:t>
                      </a:r>
                    </a:p>
                  </a:txBody>
                  <a:tcPr>
                    <a:solidFill>
                      <a:srgbClr val="F5F7FA"/>
                    </a:solidFill>
                  </a:tcPr>
                </a:tc>
                <a:tc>
                  <a:txBody>
                    <a:bodyPr/>
                    <a:lstStyle/>
                    <a:p>
                      <a:pPr algn="ctr"/>
                      <a:r>
                        <a:rPr sz="750" b="0">
                          <a:solidFill>
                            <a:srgbClr val="1A1A1A"/>
                          </a:solidFill>
                        </a:rPr>
                        <a:t>31.3x</a:t>
                      </a:r>
                    </a:p>
                  </a:txBody>
                  <a:tcPr>
                    <a:solidFill>
                      <a:srgbClr val="F5F7FA"/>
                    </a:solidFill>
                  </a:tcPr>
                </a:tc>
                <a:tc>
                  <a:txBody>
                    <a:bodyPr/>
                    <a:lstStyle/>
                    <a:p>
                      <a:pPr algn="ctr"/>
                      <a:r>
                        <a:rPr sz="750" b="0">
                          <a:solidFill>
                            <a:srgbClr val="1A1A1A"/>
                          </a:solidFill>
                        </a:rPr>
                        <a:t>74.2 %</a:t>
                      </a:r>
                    </a:p>
                  </a:txBody>
                  <a:tcPr>
                    <a:solidFill>
                      <a:srgbClr val="F5F7FA"/>
                    </a:solidFill>
                  </a:tcPr>
                </a:tc>
                <a:tc>
                  <a:txBody>
                    <a:bodyPr/>
                    <a:lstStyle/>
                    <a:p>
                      <a:pPr algn="ctr"/>
                      <a:r>
                        <a:rPr sz="750" b="0">
                          <a:solidFill>
                            <a:srgbClr val="1A1A1A"/>
                          </a:solidFill>
                        </a:rPr>
                        <a:t>64.9 %</a:t>
                      </a:r>
                    </a:p>
                  </a:txBody>
                  <a:tcPr>
                    <a:solidFill>
                      <a:srgbClr val="F5F7FA"/>
                    </a:solidFill>
                  </a:tcPr>
                </a:tc>
                <a:tc>
                  <a:txBody>
                    <a:bodyPr/>
                    <a:lstStyle/>
                    <a:p>
                      <a:pPr algn="ctr"/>
                      <a:r>
                        <a:rPr sz="750" b="0">
                          <a:solidFill>
                            <a:srgbClr val="1A1A1A"/>
                          </a:solidFill>
                        </a:rPr>
                        <a:t>26.3 %</a:t>
                      </a:r>
                    </a:p>
                  </a:txBody>
                  <a:tcPr>
                    <a:solidFill>
                      <a:srgbClr val="F5F7FA"/>
                    </a:solidFill>
                  </a:tcPr>
                </a:tc>
              </a:tr>
              <a:tr h="198000">
                <a:tc>
                  <a:txBody>
                    <a:bodyPr/>
                    <a:lstStyle/>
                    <a:p>
                      <a:pPr algn="ctr"/>
                      <a:r>
                        <a:rPr sz="750" b="0">
                          <a:solidFill>
                            <a:srgbClr val="1A1A1A"/>
                          </a:solidFill>
                        </a:rPr>
                        <a:t>AvalonBay Communities, Inc.</a:t>
                      </a:r>
                    </a:p>
                  </a:txBody>
                  <a:tcPr>
                    <a:noFill/>
                  </a:tcPr>
                </a:tc>
                <a:tc>
                  <a:txBody>
                    <a:bodyPr/>
                    <a:lstStyle/>
                    <a:p>
                      <a:pPr algn="ctr"/>
                      <a:r>
                        <a:rPr sz="750" b="0">
                          <a:solidFill>
                            <a:srgbClr val="1A1A1A"/>
                          </a:solidFill>
                        </a:rPr>
                        <a:t>17.3x</a:t>
                      </a:r>
                    </a:p>
                  </a:txBody>
                  <a:tcPr>
                    <a:noFill/>
                  </a:tcPr>
                </a:tc>
                <a:tc>
                  <a:txBody>
                    <a:bodyPr/>
                    <a:lstStyle/>
                    <a:p>
                      <a:pPr algn="ctr"/>
                      <a:r>
                        <a:rPr sz="750" b="0">
                          <a:solidFill>
                            <a:srgbClr val="1A1A1A"/>
                          </a:solidFill>
                        </a:rPr>
                        <a:t>10.5x</a:t>
                      </a:r>
                    </a:p>
                  </a:txBody>
                  <a:tcPr>
                    <a:noFill/>
                  </a:tcPr>
                </a:tc>
                <a:tc>
                  <a:txBody>
                    <a:bodyPr/>
                    <a:lstStyle/>
                    <a:p>
                      <a:pPr algn="ctr"/>
                      <a:r>
                        <a:rPr sz="750" b="0">
                          <a:solidFill>
                            <a:srgbClr val="1A1A1A"/>
                          </a:solidFill>
                        </a:rPr>
                        <a:t>21.7x</a:t>
                      </a:r>
                    </a:p>
                  </a:txBody>
                  <a:tcPr>
                    <a:noFill/>
                  </a:tcPr>
                </a:tc>
                <a:tc>
                  <a:txBody>
                    <a:bodyPr/>
                    <a:lstStyle/>
                    <a:p>
                      <a:pPr algn="ctr"/>
                      <a:r>
                        <a:rPr sz="750" b="0">
                          <a:solidFill>
                            <a:srgbClr val="1A1A1A"/>
                          </a:solidFill>
                        </a:rPr>
                        <a:t>63.1 %</a:t>
                      </a:r>
                    </a:p>
                  </a:txBody>
                  <a:tcPr>
                    <a:noFill/>
                  </a:tcPr>
                </a:tc>
                <a:tc>
                  <a:txBody>
                    <a:bodyPr/>
                    <a:lstStyle/>
                    <a:p>
                      <a:pPr algn="ctr"/>
                      <a:r>
                        <a:rPr sz="750" b="0">
                          <a:solidFill>
                            <a:srgbClr val="1A1A1A"/>
                          </a:solidFill>
                        </a:rPr>
                        <a:t>60.7 %</a:t>
                      </a:r>
                    </a:p>
                  </a:txBody>
                  <a:tcPr>
                    <a:noFill/>
                  </a:tcPr>
                </a:tc>
                <a:tc>
                  <a:txBody>
                    <a:bodyPr/>
                    <a:lstStyle/>
                    <a:p>
                      <a:pPr algn="ctr"/>
                      <a:r>
                        <a:rPr sz="750" b="0">
                          <a:solidFill>
                            <a:srgbClr val="1A1A1A"/>
                          </a:solidFill>
                        </a:rPr>
                        <a:t>8.9 %</a:t>
                      </a:r>
                    </a:p>
                  </a:txBody>
                  <a:tcPr>
                    <a:noFill/>
                  </a:tcPr>
                </a:tc>
              </a:tr>
              <a:tr h="198000">
                <a:tc>
                  <a:txBody>
                    <a:bodyPr/>
                    <a:lstStyle/>
                    <a:p>
                      <a:pPr algn="ctr"/>
                      <a:r>
                        <a:rPr sz="750" b="0">
                          <a:solidFill>
                            <a:srgbClr val="1A1A1A"/>
                          </a:solidFill>
                        </a:rPr>
                        <a:t>Prologis, Inc.</a:t>
                      </a:r>
                    </a:p>
                  </a:txBody>
                  <a:tcPr>
                    <a:solidFill>
                      <a:srgbClr val="F5F7FA"/>
                    </a:solidFill>
                  </a:tcPr>
                </a:tc>
                <a:tc>
                  <a:txBody>
                    <a:bodyPr/>
                    <a:lstStyle/>
                    <a:p>
                      <a:pPr algn="ctr"/>
                      <a:r>
                        <a:rPr sz="750" b="0">
                          <a:solidFill>
                            <a:srgbClr val="1A1A1A"/>
                          </a:solidFill>
                        </a:rPr>
                        <a:t>24.7x</a:t>
                      </a:r>
                    </a:p>
                  </a:txBody>
                  <a:tcPr>
                    <a:solidFill>
                      <a:srgbClr val="F5F7FA"/>
                    </a:solidFill>
                  </a:tcPr>
                </a:tc>
                <a:tc>
                  <a:txBody>
                    <a:bodyPr/>
                    <a:lstStyle/>
                    <a:p>
                      <a:pPr algn="ctr"/>
                      <a:r>
                        <a:rPr sz="750" b="0">
                          <a:solidFill>
                            <a:srgbClr val="1A1A1A"/>
                          </a:solidFill>
                        </a:rPr>
                        <a:t>17.3x</a:t>
                      </a:r>
                    </a:p>
                  </a:txBody>
                  <a:tcPr>
                    <a:solidFill>
                      <a:srgbClr val="F5F7FA"/>
                    </a:solidFill>
                  </a:tcPr>
                </a:tc>
                <a:tc>
                  <a:txBody>
                    <a:bodyPr/>
                    <a:lstStyle/>
                    <a:p>
                      <a:pPr algn="ctr"/>
                      <a:r>
                        <a:rPr sz="750" b="0">
                          <a:solidFill>
                            <a:srgbClr val="1A1A1A"/>
                          </a:solidFill>
                        </a:rPr>
                        <a:t>36.2x</a:t>
                      </a:r>
                    </a:p>
                  </a:txBody>
                  <a:tcPr>
                    <a:solidFill>
                      <a:srgbClr val="F5F7FA"/>
                    </a:solidFill>
                  </a:tcPr>
                </a:tc>
                <a:tc>
                  <a:txBody>
                    <a:bodyPr/>
                    <a:lstStyle/>
                    <a:p>
                      <a:pPr algn="ctr"/>
                      <a:r>
                        <a:rPr sz="750" b="0">
                          <a:solidFill>
                            <a:srgbClr val="1A1A1A"/>
                          </a:solidFill>
                        </a:rPr>
                        <a:t>75.7 %</a:t>
                      </a:r>
                    </a:p>
                  </a:txBody>
                  <a:tcPr>
                    <a:solidFill>
                      <a:srgbClr val="F5F7FA"/>
                    </a:solidFill>
                  </a:tcPr>
                </a:tc>
                <a:tc>
                  <a:txBody>
                    <a:bodyPr/>
                    <a:lstStyle/>
                    <a:p>
                      <a:pPr algn="ctr"/>
                      <a:r>
                        <a:rPr sz="750" b="0">
                          <a:solidFill>
                            <a:srgbClr val="1A1A1A"/>
                          </a:solidFill>
                        </a:rPr>
                        <a:t>70.1 %</a:t>
                      </a:r>
                    </a:p>
                  </a:txBody>
                  <a:tcPr>
                    <a:solidFill>
                      <a:srgbClr val="F5F7FA"/>
                    </a:solidFill>
                  </a:tcPr>
                </a:tc>
                <a:tc>
                  <a:txBody>
                    <a:bodyPr/>
                    <a:lstStyle/>
                    <a:p>
                      <a:pPr algn="ctr"/>
                      <a:r>
                        <a:rPr sz="750" b="0">
                          <a:solidFill>
                            <a:srgbClr val="1A1A1A"/>
                          </a:solidFill>
                        </a:rPr>
                        <a:t>6.1 %</a:t>
                      </a:r>
                    </a:p>
                  </a:txBody>
                  <a:tcPr>
                    <a:solidFill>
                      <a:srgbClr val="F5F7FA"/>
                    </a:solidFill>
                  </a:tcPr>
                </a:tc>
              </a:tr>
              <a:tr h="198000">
                <a:tc>
                  <a:txBody>
                    <a:bodyPr/>
                    <a:lstStyle/>
                    <a:p>
                      <a:pPr algn="ctr"/>
                      <a:r>
                        <a:rPr sz="750" b="0">
                          <a:solidFill>
                            <a:srgbClr val="1A1A1A"/>
                          </a:solidFill>
                        </a:rPr>
                        <a:t>Realty Income Corporation</a:t>
                      </a:r>
                    </a:p>
                  </a:txBody>
                  <a:tcPr>
                    <a:noFill/>
                  </a:tcPr>
                </a:tc>
                <a:tc>
                  <a:txBody>
                    <a:bodyPr/>
                    <a:lstStyle/>
                    <a:p>
                      <a:pPr algn="ctr"/>
                      <a:r>
                        <a:rPr sz="750" b="0">
                          <a:solidFill>
                            <a:srgbClr val="1A1A1A"/>
                          </a:solidFill>
                        </a:rPr>
                        <a:t>16.9x</a:t>
                      </a:r>
                    </a:p>
                  </a:txBody>
                  <a:tcPr>
                    <a:noFill/>
                  </a:tcPr>
                </a:tc>
                <a:tc>
                  <a:txBody>
                    <a:bodyPr/>
                    <a:lstStyle/>
                    <a:p>
                      <a:pPr algn="ctr"/>
                      <a:r>
                        <a:rPr sz="750" b="0">
                          <a:solidFill>
                            <a:srgbClr val="1A1A1A"/>
                          </a:solidFill>
                        </a:rPr>
                        <a:t>15.0x</a:t>
                      </a:r>
                    </a:p>
                  </a:txBody>
                  <a:tcPr>
                    <a:noFill/>
                  </a:tcPr>
                </a:tc>
                <a:tc>
                  <a:txBody>
                    <a:bodyPr/>
                    <a:lstStyle/>
                    <a:p>
                      <a:pPr algn="ctr"/>
                      <a:r>
                        <a:rPr sz="750" b="0">
                          <a:solidFill>
                            <a:srgbClr val="1A1A1A"/>
                          </a:solidFill>
                        </a:rPr>
                        <a:t>51.9x</a:t>
                      </a:r>
                    </a:p>
                  </a:txBody>
                  <a:tcPr>
                    <a:noFill/>
                  </a:tcPr>
                </a:tc>
                <a:tc>
                  <a:txBody>
                    <a:bodyPr/>
                    <a:lstStyle/>
                    <a:p>
                      <a:pPr algn="ctr"/>
                      <a:r>
                        <a:rPr sz="750" b="0">
                          <a:solidFill>
                            <a:srgbClr val="1A1A1A"/>
                          </a:solidFill>
                        </a:rPr>
                        <a:t>92.6 %</a:t>
                      </a:r>
                    </a:p>
                  </a:txBody>
                  <a:tcPr>
                    <a:noFill/>
                  </a:tcPr>
                </a:tc>
                <a:tc>
                  <a:txBody>
                    <a:bodyPr/>
                    <a:lstStyle/>
                    <a:p>
                      <a:pPr algn="ctr"/>
                      <a:r>
                        <a:rPr sz="750" b="0">
                          <a:solidFill>
                            <a:srgbClr val="1A1A1A"/>
                          </a:solidFill>
                        </a:rPr>
                        <a:t>88.7 %</a:t>
                      </a:r>
                    </a:p>
                  </a:txBody>
                  <a:tcPr>
                    <a:noFill/>
                  </a:tcPr>
                </a:tc>
                <a:tc>
                  <a:txBody>
                    <a:bodyPr/>
                    <a:lstStyle/>
                    <a:p>
                      <a:pPr algn="ctr"/>
                      <a:r>
                        <a:rPr sz="750" b="0">
                          <a:solidFill>
                            <a:srgbClr val="1A1A1A"/>
                          </a:solidFill>
                        </a:rPr>
                        <a:t>2.7 %</a:t>
                      </a:r>
                    </a:p>
                  </a:txBody>
                  <a:tcPr>
                    <a:noFill/>
                  </a:tcPr>
                </a:tc>
              </a:tr>
              <a:tr h="198000">
                <a:tc>
                  <a:txBody>
                    <a:bodyPr/>
                    <a:lstStyle/>
                    <a:p>
                      <a:pPr algn="ctr"/>
                      <a:r>
                        <a:rPr sz="750" b="0">
                          <a:solidFill>
                            <a:srgbClr val="1A1A1A"/>
                          </a:solidFill>
                        </a:rPr>
                        <a:t>Public Storage</a:t>
                      </a:r>
                    </a:p>
                  </a:txBody>
                  <a:tcPr>
                    <a:solidFill>
                      <a:srgbClr val="F5F7FA"/>
                    </a:solidFill>
                  </a:tcPr>
                </a:tc>
                <a:tc>
                  <a:txBody>
                    <a:bodyPr/>
                    <a:lstStyle/>
                    <a:p>
                      <a:pPr algn="ctr"/>
                      <a:r>
                        <a:rPr sz="750" b="0">
                          <a:solidFill>
                            <a:srgbClr val="1A1A1A"/>
                          </a:solidFill>
                        </a:rPr>
                        <a:t>17.9x</a:t>
                      </a:r>
                    </a:p>
                  </a:txBody>
                  <a:tcPr>
                    <a:solidFill>
                      <a:srgbClr val="F5F7FA"/>
                    </a:solidFill>
                  </a:tcPr>
                </a:tc>
                <a:tc>
                  <a:txBody>
                    <a:bodyPr/>
                    <a:lstStyle/>
                    <a:p>
                      <a:pPr algn="ctr"/>
                      <a:r>
                        <a:rPr sz="750" b="0">
                          <a:solidFill>
                            <a:srgbClr val="1A1A1A"/>
                          </a:solidFill>
                        </a:rPr>
                        <a:t>12.6x</a:t>
                      </a:r>
                    </a:p>
                  </a:txBody>
                  <a:tcPr>
                    <a:solidFill>
                      <a:srgbClr val="F5F7FA"/>
                    </a:solidFill>
                  </a:tcPr>
                </a:tc>
                <a:tc>
                  <a:txBody>
                    <a:bodyPr/>
                    <a:lstStyle/>
                    <a:p>
                      <a:pPr algn="ctr"/>
                      <a:r>
                        <a:rPr sz="750" b="0">
                          <a:solidFill>
                            <a:srgbClr val="1A1A1A"/>
                          </a:solidFill>
                        </a:rPr>
                        <a:t>29.5x</a:t>
                      </a:r>
                    </a:p>
                  </a:txBody>
                  <a:tcPr>
                    <a:solidFill>
                      <a:srgbClr val="F5F7FA"/>
                    </a:solidFill>
                  </a:tcPr>
                </a:tc>
                <a:tc>
                  <a:txBody>
                    <a:bodyPr/>
                    <a:lstStyle/>
                    <a:p>
                      <a:pPr algn="ctr"/>
                      <a:r>
                        <a:rPr sz="750" b="0">
                          <a:solidFill>
                            <a:srgbClr val="1A1A1A"/>
                          </a:solidFill>
                        </a:rPr>
                        <a:t>74.7 %</a:t>
                      </a:r>
                    </a:p>
                  </a:txBody>
                  <a:tcPr>
                    <a:solidFill>
                      <a:srgbClr val="F5F7FA"/>
                    </a:solidFill>
                  </a:tcPr>
                </a:tc>
                <a:tc>
                  <a:txBody>
                    <a:bodyPr/>
                    <a:lstStyle/>
                    <a:p>
                      <a:pPr algn="ctr"/>
                      <a:r>
                        <a:rPr sz="750" b="0">
                          <a:solidFill>
                            <a:srgbClr val="1A1A1A"/>
                          </a:solidFill>
                        </a:rPr>
                        <a:t>70.5 %</a:t>
                      </a:r>
                    </a:p>
                  </a:txBody>
                  <a:tcPr>
                    <a:solidFill>
                      <a:srgbClr val="F5F7FA"/>
                    </a:solidFill>
                  </a:tcPr>
                </a:tc>
                <a:tc>
                  <a:txBody>
                    <a:bodyPr/>
                    <a:lstStyle/>
                    <a:p>
                      <a:pPr algn="ctr"/>
                      <a:r>
                        <a:rPr sz="750" b="0">
                          <a:solidFill>
                            <a:srgbClr val="1A1A1A"/>
                          </a:solidFill>
                        </a:rPr>
                        <a:t>18.8 %</a:t>
                      </a:r>
                    </a:p>
                  </a:txBody>
                  <a:tcPr>
                    <a:solidFill>
                      <a:srgbClr val="F5F7FA"/>
                    </a:solidFill>
                  </a:tcPr>
                </a:tc>
              </a:tr>
              <a:tr h="198000">
                <a:tc>
                  <a:txBody>
                    <a:bodyPr/>
                    <a:lstStyle/>
                    <a:p>
                      <a:pPr algn="ctr"/>
                      <a:r>
                        <a:rPr sz="750" b="0">
                          <a:solidFill>
                            <a:srgbClr val="1A1A1A"/>
                          </a:solidFill>
                        </a:rPr>
                        <a:t>Equinix, Inc.</a:t>
                      </a:r>
                    </a:p>
                  </a:txBody>
                  <a:tcPr>
                    <a:noFill/>
                  </a:tcPr>
                </a:tc>
                <a:tc>
                  <a:txBody>
                    <a:bodyPr/>
                    <a:lstStyle/>
                    <a:p>
                      <a:pPr algn="ctr"/>
                      <a:r>
                        <a:rPr sz="750" b="0">
                          <a:solidFill>
                            <a:srgbClr val="1A1A1A"/>
                          </a:solidFill>
                        </a:rPr>
                        <a:t>28.4x</a:t>
                      </a:r>
                    </a:p>
                  </a:txBody>
                  <a:tcPr>
                    <a:noFill/>
                  </a:tcPr>
                </a:tc>
                <a:tc>
                  <a:txBody>
                    <a:bodyPr/>
                    <a:lstStyle/>
                    <a:p>
                      <a:pPr algn="ctr"/>
                      <a:r>
                        <a:rPr sz="750" b="0">
                          <a:solidFill>
                            <a:srgbClr val="1A1A1A"/>
                          </a:solidFill>
                        </a:rPr>
                        <a:t>12.5x</a:t>
                      </a:r>
                    </a:p>
                  </a:txBody>
                  <a:tcPr>
                    <a:noFill/>
                  </a:tcPr>
                </a:tc>
                <a:tc>
                  <a:txBody>
                    <a:bodyPr/>
                    <a:lstStyle/>
                    <a:p>
                      <a:pPr algn="ctr"/>
                      <a:r>
                        <a:rPr sz="750" b="0">
                          <a:solidFill>
                            <a:srgbClr val="1A1A1A"/>
                          </a:solidFill>
                        </a:rPr>
                        <a:t>69.9x</a:t>
                      </a:r>
                    </a:p>
                  </a:txBody>
                  <a:tcPr>
                    <a:noFill/>
                  </a:tcPr>
                </a:tc>
                <a:tc>
                  <a:txBody>
                    <a:bodyPr/>
                    <a:lstStyle/>
                    <a:p>
                      <a:pPr algn="ctr"/>
                      <a:r>
                        <a:rPr sz="750" b="0">
                          <a:solidFill>
                            <a:srgbClr val="1A1A1A"/>
                          </a:solidFill>
                        </a:rPr>
                        <a:t>51.3 %</a:t>
                      </a:r>
                    </a:p>
                  </a:txBody>
                  <a:tcPr>
                    <a:noFill/>
                  </a:tcPr>
                </a:tc>
                <a:tc>
                  <a:txBody>
                    <a:bodyPr/>
                    <a:lstStyle/>
                    <a:p>
                      <a:pPr algn="ctr"/>
                      <a:r>
                        <a:rPr sz="750" b="0">
                          <a:solidFill>
                            <a:srgbClr val="1A1A1A"/>
                          </a:solidFill>
                        </a:rPr>
                        <a:t>44.0 %</a:t>
                      </a:r>
                    </a:p>
                  </a:txBody>
                  <a:tcPr>
                    <a:noFill/>
                  </a:tcPr>
                </a:tc>
                <a:tc>
                  <a:txBody>
                    <a:bodyPr/>
                    <a:lstStyle/>
                    <a:p>
                      <a:pPr algn="ctr"/>
                      <a:r>
                        <a:rPr sz="750" b="0">
                          <a:solidFill>
                            <a:srgbClr val="1A1A1A"/>
                          </a:solidFill>
                        </a:rPr>
                        <a:t>9.7 %</a:t>
                      </a:r>
                    </a:p>
                  </a:txBody>
                  <a:tcPr>
                    <a:noFill/>
                  </a:tcPr>
                </a:tc>
              </a:tr>
              <a:tr h="198000">
                <a:tc>
                  <a:txBody>
                    <a:bodyPr/>
                    <a:lstStyle/>
                    <a:p>
                      <a:pPr algn="ctr"/>
                      <a:r>
                        <a:rPr sz="750" b="0">
                          <a:solidFill>
                            <a:srgbClr val="1A1A1A"/>
                          </a:solidFill>
                        </a:rPr>
                        <a:t>Crown Castle Inc.</a:t>
                      </a:r>
                    </a:p>
                  </a:txBody>
                  <a:tcPr>
                    <a:solidFill>
                      <a:srgbClr val="F5F7FA"/>
                    </a:solidFill>
                  </a:tcPr>
                </a:tc>
                <a:tc>
                  <a:txBody>
                    <a:bodyPr/>
                    <a:lstStyle/>
                    <a:p>
                      <a:pPr algn="ctr"/>
                      <a:r>
                        <a:rPr sz="750" b="0">
                          <a:solidFill>
                            <a:srgbClr val="1A1A1A"/>
                          </a:solidFill>
                        </a:rPr>
                        <a:t>23.0x</a:t>
                      </a:r>
                    </a:p>
                  </a:txBody>
                  <a:tcPr>
                    <a:solidFill>
                      <a:srgbClr val="F5F7FA"/>
                    </a:solidFill>
                  </a:tcPr>
                </a:tc>
                <a:tc>
                  <a:txBody>
                    <a:bodyPr/>
                    <a:lstStyle/>
                    <a:p>
                      <a:pPr algn="ctr"/>
                      <a:r>
                        <a:rPr sz="750" b="0">
                          <a:solidFill>
                            <a:srgbClr val="1A1A1A"/>
                          </a:solidFill>
                        </a:rPr>
                        <a:t>14.9x</a:t>
                      </a:r>
                    </a:p>
                  </a:txBody>
                  <a:tcPr>
                    <a:solidFill>
                      <a:srgbClr val="F5F7FA"/>
                    </a:solidFill>
                  </a:tcPr>
                </a:tc>
                <a:tc>
                  <a:txBody>
                    <a:bodyPr/>
                    <a:lstStyle/>
                    <a:p>
                      <a:pPr algn="ctr"/>
                      <a:r>
                        <a:rPr sz="750" b="0">
                          <a:solidFill>
                            <a:srgbClr val="1A1A1A"/>
                          </a:solidFill>
                        </a:rPr>
                        <a:t>31.2x</a:t>
                      </a:r>
                    </a:p>
                  </a:txBody>
                  <a:tcPr>
                    <a:solidFill>
                      <a:srgbClr val="F5F7FA"/>
                    </a:solidFill>
                  </a:tcPr>
                </a:tc>
                <a:tc>
                  <a:txBody>
                    <a:bodyPr/>
                    <a:lstStyle/>
                    <a:p>
                      <a:pPr algn="ctr"/>
                      <a:r>
                        <a:rPr sz="750" b="0">
                          <a:solidFill>
                            <a:srgbClr val="1A1A1A"/>
                          </a:solidFill>
                        </a:rPr>
                        <a:t>74.1 %</a:t>
                      </a:r>
                    </a:p>
                  </a:txBody>
                  <a:tcPr>
                    <a:solidFill>
                      <a:srgbClr val="F5F7FA"/>
                    </a:solidFill>
                  </a:tcPr>
                </a:tc>
                <a:tc>
                  <a:txBody>
                    <a:bodyPr/>
                    <a:lstStyle/>
                    <a:p>
                      <a:pPr algn="ctr"/>
                      <a:r>
                        <a:rPr sz="750" b="0">
                          <a:solidFill>
                            <a:srgbClr val="1A1A1A"/>
                          </a:solidFill>
                        </a:rPr>
                        <a:t>65.1 %</a:t>
                      </a:r>
                    </a:p>
                  </a:txBody>
                  <a:tcPr>
                    <a:solidFill>
                      <a:srgbClr val="F5F7FA"/>
                    </a:solidFill>
                  </a:tcPr>
                </a:tc>
                <a:tc>
                  <a:txBody>
                    <a:bodyPr/>
                    <a:lstStyle/>
                    <a:p>
                      <a:pPr algn="ctr"/>
                      <a:r>
                        <a:rPr sz="750" b="0">
                          <a:solidFill>
                            <a:srgbClr val="1A1A1A"/>
                          </a:solidFill>
                        </a:rPr>
                        <a:t>0.0 %</a:t>
                      </a:r>
                    </a:p>
                  </a:txBody>
                  <a:tcPr>
                    <a:solidFill>
                      <a:srgbClr val="F5F7FA"/>
                    </a:solidFill>
                  </a:tcPr>
                </a:tc>
              </a:tr>
              <a:tr h="198000">
                <a:tc>
                  <a:txBody>
                    <a:bodyPr/>
                    <a:lstStyle/>
                    <a:p>
                      <a:pPr algn="ctr"/>
                      <a:r>
                        <a:rPr sz="750" b="0">
                          <a:solidFill>
                            <a:srgbClr val="1A1A1A"/>
                          </a:solidFill>
                        </a:rPr>
                        <a:t>MEDIANE</a:t>
                      </a:r>
                    </a:p>
                  </a:txBody>
                  <a:tcPr>
                    <a:noFill/>
                  </a:tcPr>
                </a:tc>
                <a:tc>
                  <a:txBody>
                    <a:bodyPr/>
                    <a:lstStyle/>
                    <a:p>
                      <a:pPr algn="ctr"/>
                      <a:r>
                        <a:rPr sz="750" b="0">
                          <a:solidFill>
                            <a:srgbClr val="1A1A1A"/>
                          </a:solidFill>
                        </a:rPr>
                        <a:t>18.8x</a:t>
                      </a:r>
                    </a:p>
                  </a:txBody>
                  <a:tcPr>
                    <a:noFill/>
                  </a:tcPr>
                </a:tc>
                <a:tc>
                  <a:txBody>
                    <a:bodyPr/>
                    <a:lstStyle/>
                    <a:p>
                      <a:pPr algn="ctr"/>
                      <a:r>
                        <a:rPr sz="750" b="0">
                          <a:solidFill>
                            <a:srgbClr val="1A1A1A"/>
                          </a:solidFill>
                        </a:rPr>
                        <a:t>13.3x</a:t>
                      </a:r>
                    </a:p>
                  </a:txBody>
                  <a:tcPr>
                    <a:noFill/>
                  </a:tcPr>
                </a:tc>
                <a:tc>
                  <a:txBody>
                    <a:bodyPr/>
                    <a:lstStyle/>
                    <a:p>
                      <a:pPr algn="ctr"/>
                      <a:r>
                        <a:rPr sz="750" b="0">
                          <a:solidFill>
                            <a:srgbClr val="1A1A1A"/>
                          </a:solidFill>
                        </a:rPr>
                        <a:t>31.3x</a:t>
                      </a:r>
                    </a:p>
                  </a:txBody>
                  <a:tcPr>
                    <a:noFill/>
                  </a:tcPr>
                </a:tc>
                <a:tc>
                  <a:txBody>
                    <a:bodyPr/>
                    <a:lstStyle/>
                    <a:p>
                      <a:pPr algn="ctr"/>
                      <a:r>
                        <a:rPr sz="750" b="0">
                          <a:solidFill>
                            <a:srgbClr val="1A1A1A"/>
                          </a:solidFill>
                        </a:rPr>
                        <a:t>74.5 %</a:t>
                      </a:r>
                    </a:p>
                  </a:txBody>
                  <a:tcPr>
                    <a:noFill/>
                  </a:tcPr>
                </a:tc>
                <a:tc>
                  <a:txBody>
                    <a:bodyPr/>
                    <a:lstStyle/>
                    <a:p>
                      <a:pPr algn="ctr"/>
                      <a:r>
                        <a:rPr sz="750" b="0">
                          <a:solidFill>
                            <a:srgbClr val="1A1A1A"/>
                          </a:solidFill>
                        </a:rPr>
                        <a:t>67.6 %</a:t>
                      </a:r>
                    </a:p>
                  </a:txBody>
                  <a:tcPr>
                    <a:noFill/>
                  </a:tcPr>
                </a:tc>
                <a:tc>
                  <a:txBody>
                    <a:bodyPr/>
                    <a:lstStyle/>
                    <a:p>
                      <a:pPr algn="ctr"/>
                      <a:r>
                        <a:rPr sz="750" b="0">
                          <a:solidFill>
                            <a:srgbClr val="1A1A1A"/>
                          </a:solidFill>
                        </a:rPr>
                        <a:t>9.7 %</a:t>
                      </a:r>
                    </a:p>
                  </a:txBody>
                  <a:tcPr>
                    <a:noFill/>
                  </a:tcPr>
                </a:tc>
              </a:tr>
            </a:tbl>
          </a:graphicData>
        </a:graphic>
      </p:graphicFrame>
      <p:sp>
        <p:nvSpPr>
          <p:cNvPr id="16" name="Rectangle 15"/>
          <p:cNvSpPr/>
          <p:nvPr/>
        </p:nvSpPr>
        <p:spPr>
          <a:xfrm>
            <a:off x="324000" y="29880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88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006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276000"/>
            <a:ext cx="8352000" cy="720000"/>
          </a:xfrm>
          <a:prstGeom prst="rect">
            <a:avLst/>
          </a:prstGeom>
          <a:noFill/>
        </p:spPr>
        <p:txBody>
          <a:bodyPr wrap="square">
            <a:spAutoFit/>
          </a:bodyPr>
          <a:lstStyle/>
          <a:p>
            <a:pPr algn="l"/>
            <a:r>
              <a:rPr sz="850" b="0" i="0">
                <a:solidFill>
                  <a:srgbClr val="555555"/>
                </a:solidFill>
              </a:rPr>
              <a:t>La mediane EV/EBITDA sectorielle s etablit a 18.8x LTM. Simon Property Group (18.8x) se distingue comme le leader de qualite, combine a une marge EBITDA de 73.9 % et une croissance de +13.2 %. La dispersion des multiples revele l heterogeneite des profils au sein du secteur Real Estate — une lecture croisee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Real Estate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Pivot Taux</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Chaque -25bps BCE = +3-5 % sur les ANR sectoriels</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Residentiel Deficitaire</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Offre structurellement insuffisante metropoles EU</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Bureau Post-Covid</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Vacance bureau — actifs secondaires a risque</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Refinancement</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Mur de dette — risque dilution pour les leverages</a:t>
            </a:r>
          </a:p>
        </p:txBody>
      </p:sp>
      <p:sp>
        <p:nvSpPr>
          <p:cNvPr id="35" name="Rectangle 34"/>
          <p:cNvSpPr/>
          <p:nvPr/>
        </p:nvSpPr>
        <p:spPr>
          <a:xfrm>
            <a:off x="5976000" y="900000"/>
            <a:ext cx="2844000" cy="36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62/100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median : 8.4 %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720000"/>
          </a:xfrm>
          <a:prstGeom prst="rect">
            <a:avLst/>
          </a:prstGeom>
          <a:noFill/>
        </p:spPr>
        <p:txBody>
          <a:bodyPr wrap="square">
            <a:spAutoFit/>
          </a:bodyPr>
          <a:lstStyle/>
          <a:p>
            <a:pPr algn="ctr"/>
            <a:r>
              <a:rPr sz="800" b="0" i="0">
                <a:solidFill>
                  <a:srgbClr val="2A5298"/>
                </a:solidFill>
              </a:rPr>
              <a:t>Secteur en réévaluation | ANR en décote, sensibilité aux taux majeure</a:t>
            </a:r>
          </a:p>
        </p:txBody>
      </p:sp>
      <p:sp>
        <p:nvSpPr>
          <p:cNvPr id="44" name="Rectangle 43"/>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8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8 sociétés analysées  ·  Real Estate  ·  S&amp;P 500  ·  Tri par score FinSight decroissant</a:t>
            </a:r>
          </a:p>
        </p:txBody>
      </p:sp>
      <p:graphicFrame>
        <p:nvGraphicFramePr>
          <p:cNvPr id="15" name="Table 14"/>
          <p:cNvGraphicFramePr>
            <a:graphicFrameLocks noGrp="1"/>
          </p:cNvGraphicFramePr>
          <p:nvPr/>
        </p:nvGraphicFramePr>
        <p:xfrm>
          <a:off x="324000" y="900000"/>
          <a:ext cx="8495998" cy="18144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2016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201600">
                <a:tc>
                  <a:txBody>
                    <a:bodyPr/>
                    <a:lstStyle/>
                    <a:p>
                      <a:pPr algn="ctr"/>
                      <a:r>
                        <a:rPr sz="750" b="0">
                          <a:solidFill>
                            <a:srgbClr val="1A1A1A"/>
                          </a:solidFill>
                        </a:rPr>
                        <a:t>1</a:t>
                      </a:r>
                    </a:p>
                  </a:txBody>
                  <a:tcPr>
                    <a:noFill/>
                  </a:tcPr>
                </a:tc>
                <a:tc>
                  <a:txBody>
                    <a:bodyPr/>
                    <a:lstStyle/>
                    <a:p>
                      <a:pPr algn="ctr"/>
                      <a:r>
                        <a:rPr sz="750" b="0">
                          <a:solidFill>
                            <a:srgbClr val="1A1A1A"/>
                          </a:solidFill>
                        </a:rPr>
                        <a:t>SPG</a:t>
                      </a:r>
                    </a:p>
                  </a:txBody>
                  <a:tcPr>
                    <a:noFill/>
                  </a:tcPr>
                </a:tc>
                <a:tc>
                  <a:txBody>
                    <a:bodyPr/>
                    <a:lstStyle/>
                    <a:p>
                      <a:pPr algn="ctr"/>
                      <a:r>
                        <a:rPr sz="750" b="0">
                          <a:solidFill>
                            <a:srgbClr val="1A1A1A"/>
                          </a:solidFill>
                        </a:rPr>
                        <a:t>Simon Property Group, Inc</a:t>
                      </a:r>
                    </a:p>
                  </a:txBody>
                  <a:tcPr>
                    <a:noFill/>
                  </a:tcPr>
                </a:tc>
                <a:tc>
                  <a:txBody>
                    <a:bodyPr/>
                    <a:lstStyle/>
                    <a:p>
                      <a:pPr algn="ctr"/>
                      <a:r>
                        <a:rPr sz="750" b="0">
                          <a:solidFill>
                            <a:srgbClr val="1A1A1A"/>
                          </a:solidFill>
                        </a:rPr>
                        <a:t>82/100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180.19</a:t>
                      </a:r>
                    </a:p>
                  </a:txBody>
                  <a:tcPr>
                    <a:noFill/>
                  </a:tcPr>
                </a:tc>
                <a:tc>
                  <a:txBody>
                    <a:bodyPr/>
                    <a:lstStyle/>
                    <a:p>
                      <a:pPr algn="ctr"/>
                      <a:r>
                        <a:rPr sz="750" b="0">
                          <a:solidFill>
                            <a:srgbClr val="1A1A1A"/>
                          </a:solidFill>
                        </a:rPr>
                        <a:t>18.8x</a:t>
                      </a:r>
                    </a:p>
                  </a:txBody>
                  <a:tcPr>
                    <a:noFill/>
                  </a:tcPr>
                </a:tc>
                <a:tc>
                  <a:txBody>
                    <a:bodyPr/>
                    <a:lstStyle/>
                    <a:p>
                      <a:pPr algn="ctr"/>
                      <a:r>
                        <a:rPr sz="750" b="0">
                          <a:solidFill>
                            <a:srgbClr val="1A1A1A"/>
                          </a:solidFill>
                        </a:rPr>
                        <a:t>73.9 %</a:t>
                      </a:r>
                    </a:p>
                  </a:txBody>
                  <a:tcPr>
                    <a:noFill/>
                  </a:tcPr>
                </a:tc>
                <a:tc>
                  <a:txBody>
                    <a:bodyPr/>
                    <a:lstStyle/>
                    <a:p>
                      <a:pPr algn="ctr"/>
                      <a:r>
                        <a:rPr sz="750" b="0">
                          <a:solidFill>
                            <a:srgbClr val="1A1A1A"/>
                          </a:solidFill>
                        </a:rPr>
                        <a:t>+13.2 %</a:t>
                      </a:r>
                    </a:p>
                  </a:txBody>
                  <a:tcPr>
                    <a:noFill/>
                  </a:tcPr>
                </a:tc>
                <a:tc>
                  <a:txBody>
                    <a:bodyPr/>
                    <a:lstStyle/>
                    <a:p>
                      <a:pPr algn="ctr"/>
                      <a:r>
                        <a:rPr sz="750" b="0">
                          <a:solidFill>
                            <a:srgbClr val="1A1A1A"/>
                          </a:solidFill>
                        </a:rPr>
                        <a:t>+11.1 %</a:t>
                      </a:r>
                    </a:p>
                  </a:txBody>
                  <a:tcPr>
                    <a:noFill/>
                  </a:tcPr>
                </a:tc>
              </a:tr>
              <a:tr h="2016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AMT</a:t>
                      </a:r>
                    </a:p>
                  </a:txBody>
                  <a:tcPr>
                    <a:solidFill>
                      <a:srgbClr val="F5F7FA"/>
                    </a:solidFill>
                  </a:tcPr>
                </a:tc>
                <a:tc>
                  <a:txBody>
                    <a:bodyPr/>
                    <a:lstStyle/>
                    <a:p>
                      <a:pPr algn="ctr"/>
                      <a:r>
                        <a:rPr sz="750" b="0">
                          <a:solidFill>
                            <a:srgbClr val="1A1A1A"/>
                          </a:solidFill>
                        </a:rPr>
                        <a:t>American Tower Corporatio</a:t>
                      </a:r>
                    </a:p>
                  </a:txBody>
                  <a:tcPr>
                    <a:solidFill>
                      <a:srgbClr val="F5F7FA"/>
                    </a:solidFill>
                  </a:tcPr>
                </a:tc>
                <a:tc>
                  <a:txBody>
                    <a:bodyPr/>
                    <a:lstStyle/>
                    <a:p>
                      <a:pPr algn="ctr"/>
                      <a:r>
                        <a:rPr sz="750" b="0">
                          <a:solidFill>
                            <a:srgbClr val="1A1A1A"/>
                          </a:solidFill>
                        </a:rPr>
                        <a:t>63/100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169.52</a:t>
                      </a:r>
                    </a:p>
                  </a:txBody>
                  <a:tcPr>
                    <a:solidFill>
                      <a:srgbClr val="F5F7FA"/>
                    </a:solidFill>
                  </a:tcPr>
                </a:tc>
                <a:tc>
                  <a:txBody>
                    <a:bodyPr/>
                    <a:lstStyle/>
                    <a:p>
                      <a:pPr algn="ctr"/>
                      <a:r>
                        <a:rPr sz="750" b="0">
                          <a:solidFill>
                            <a:srgbClr val="1A1A1A"/>
                          </a:solidFill>
                        </a:rPr>
                        <a:t>18.7x</a:t>
                      </a:r>
                    </a:p>
                  </a:txBody>
                  <a:tcPr>
                    <a:solidFill>
                      <a:srgbClr val="F5F7FA"/>
                    </a:solidFill>
                  </a:tcPr>
                </a:tc>
                <a:tc>
                  <a:txBody>
                    <a:bodyPr/>
                    <a:lstStyle/>
                    <a:p>
                      <a:pPr algn="ctr"/>
                      <a:r>
                        <a:rPr sz="750" b="0">
                          <a:solidFill>
                            <a:srgbClr val="1A1A1A"/>
                          </a:solidFill>
                        </a:rPr>
                        <a:t>64.9 %</a:t>
                      </a:r>
                    </a:p>
                  </a:txBody>
                  <a:tcPr>
                    <a:solidFill>
                      <a:srgbClr val="F5F7FA"/>
                    </a:solidFill>
                  </a:tcPr>
                </a:tc>
                <a:tc>
                  <a:txBody>
                    <a:bodyPr/>
                    <a:lstStyle/>
                    <a:p>
                      <a:pPr algn="ctr"/>
                      <a:r>
                        <a:rPr sz="750" b="0">
                          <a:solidFill>
                            <a:srgbClr val="1A1A1A"/>
                          </a:solidFill>
                        </a:rPr>
                        <a:t>+7.5 %</a:t>
                      </a:r>
                    </a:p>
                  </a:txBody>
                  <a:tcPr>
                    <a:solidFill>
                      <a:srgbClr val="F5F7FA"/>
                    </a:solidFill>
                  </a:tcPr>
                </a:tc>
                <a:tc>
                  <a:txBody>
                    <a:bodyPr/>
                    <a:lstStyle/>
                    <a:p>
                      <a:pPr algn="ctr"/>
                      <a:r>
                        <a:rPr sz="750" b="0">
                          <a:solidFill>
                            <a:srgbClr val="1A1A1A"/>
                          </a:solidFill>
                        </a:rPr>
                        <a:t>-16.9 %</a:t>
                      </a:r>
                    </a:p>
                  </a:txBody>
                  <a:tcPr>
                    <a:solidFill>
                      <a:srgbClr val="F5F7FA"/>
                    </a:solidFill>
                  </a:tcPr>
                </a:tc>
              </a:tr>
              <a:tr h="201600">
                <a:tc>
                  <a:txBody>
                    <a:bodyPr/>
                    <a:lstStyle/>
                    <a:p>
                      <a:pPr algn="ctr"/>
                      <a:r>
                        <a:rPr sz="750" b="0">
                          <a:solidFill>
                            <a:srgbClr val="1A1A1A"/>
                          </a:solidFill>
                        </a:rPr>
                        <a:t>3</a:t>
                      </a:r>
                    </a:p>
                  </a:txBody>
                  <a:tcPr>
                    <a:noFill/>
                  </a:tcPr>
                </a:tc>
                <a:tc>
                  <a:txBody>
                    <a:bodyPr/>
                    <a:lstStyle/>
                    <a:p>
                      <a:pPr algn="ctr"/>
                      <a:r>
                        <a:rPr sz="750" b="0">
                          <a:solidFill>
                            <a:srgbClr val="1A1A1A"/>
                          </a:solidFill>
                        </a:rPr>
                        <a:t>AVB</a:t>
                      </a:r>
                    </a:p>
                  </a:txBody>
                  <a:tcPr>
                    <a:noFill/>
                  </a:tcPr>
                </a:tc>
                <a:tc>
                  <a:txBody>
                    <a:bodyPr/>
                    <a:lstStyle/>
                    <a:p>
                      <a:pPr algn="ctr"/>
                      <a:r>
                        <a:rPr sz="750" b="0">
                          <a:solidFill>
                            <a:srgbClr val="1A1A1A"/>
                          </a:solidFill>
                        </a:rPr>
                        <a:t>AvalonBay Communities, In</a:t>
                      </a:r>
                    </a:p>
                  </a:txBody>
                  <a:tcPr>
                    <a:noFill/>
                  </a:tcPr>
                </a:tc>
                <a:tc>
                  <a:txBody>
                    <a:bodyPr/>
                    <a:lstStyle/>
                    <a:p>
                      <a:pPr algn="ctr"/>
                      <a:r>
                        <a:rPr sz="750" b="0">
                          <a:solidFill>
                            <a:srgbClr val="1A1A1A"/>
                          </a:solidFill>
                        </a:rPr>
                        <a:t>63/100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160.81</a:t>
                      </a:r>
                    </a:p>
                  </a:txBody>
                  <a:tcPr>
                    <a:noFill/>
                  </a:tcPr>
                </a:tc>
                <a:tc>
                  <a:txBody>
                    <a:bodyPr/>
                    <a:lstStyle/>
                    <a:p>
                      <a:pPr algn="ctr"/>
                      <a:r>
                        <a:rPr sz="750" b="0">
                          <a:solidFill>
                            <a:srgbClr val="1A1A1A"/>
                          </a:solidFill>
                        </a:rPr>
                        <a:t>17.3x</a:t>
                      </a:r>
                    </a:p>
                  </a:txBody>
                  <a:tcPr>
                    <a:noFill/>
                  </a:tcPr>
                </a:tc>
                <a:tc>
                  <a:txBody>
                    <a:bodyPr/>
                    <a:lstStyle/>
                    <a:p>
                      <a:pPr algn="ctr"/>
                      <a:r>
                        <a:rPr sz="750" b="0">
                          <a:solidFill>
                            <a:srgbClr val="1A1A1A"/>
                          </a:solidFill>
                        </a:rPr>
                        <a:t>60.7 %</a:t>
                      </a:r>
                    </a:p>
                  </a:txBody>
                  <a:tcPr>
                    <a:noFill/>
                  </a:tcPr>
                </a:tc>
                <a:tc>
                  <a:txBody>
                    <a:bodyPr/>
                    <a:lstStyle/>
                    <a:p>
                      <a:pPr algn="ctr"/>
                      <a:r>
                        <a:rPr sz="750" b="0">
                          <a:solidFill>
                            <a:srgbClr val="1A1A1A"/>
                          </a:solidFill>
                        </a:rPr>
                        <a:t>+3.7 %</a:t>
                      </a:r>
                    </a:p>
                  </a:txBody>
                  <a:tcPr>
                    <a:noFill/>
                  </a:tcPr>
                </a:tc>
                <a:tc>
                  <a:txBody>
                    <a:bodyPr/>
                    <a:lstStyle/>
                    <a:p>
                      <a:pPr algn="ctr"/>
                      <a:r>
                        <a:rPr sz="750" b="0">
                          <a:solidFill>
                            <a:srgbClr val="1A1A1A"/>
                          </a:solidFill>
                        </a:rPr>
                        <a:t>-24.7 %</a:t>
                      </a:r>
                    </a:p>
                  </a:txBody>
                  <a:tcPr>
                    <a:noFill/>
                  </a:tcPr>
                </a:tc>
              </a:tr>
              <a:tr h="2016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PLD</a:t>
                      </a:r>
                    </a:p>
                  </a:txBody>
                  <a:tcPr>
                    <a:solidFill>
                      <a:srgbClr val="F5F7FA"/>
                    </a:solidFill>
                  </a:tcPr>
                </a:tc>
                <a:tc>
                  <a:txBody>
                    <a:bodyPr/>
                    <a:lstStyle/>
                    <a:p>
                      <a:pPr algn="ctr"/>
                      <a:r>
                        <a:rPr sz="750" b="0">
                          <a:solidFill>
                            <a:srgbClr val="1A1A1A"/>
                          </a:solidFill>
                        </a:rPr>
                        <a:t>Prologis, Inc.</a:t>
                      </a:r>
                    </a:p>
                  </a:txBody>
                  <a:tcPr>
                    <a:solidFill>
                      <a:srgbClr val="F5F7FA"/>
                    </a:solidFill>
                  </a:tcPr>
                </a:tc>
                <a:tc>
                  <a:txBody>
                    <a:bodyPr/>
                    <a:lstStyle/>
                    <a:p>
                      <a:pPr algn="ctr"/>
                      <a:r>
                        <a:rPr sz="750" b="0">
                          <a:solidFill>
                            <a:srgbClr val="1A1A1A"/>
                          </a:solidFill>
                        </a:rPr>
                        <a:t>62/100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128.9</a:t>
                      </a:r>
                    </a:p>
                  </a:txBody>
                  <a:tcPr>
                    <a:solidFill>
                      <a:srgbClr val="F5F7FA"/>
                    </a:solidFill>
                  </a:tcPr>
                </a:tc>
                <a:tc>
                  <a:txBody>
                    <a:bodyPr/>
                    <a:lstStyle/>
                    <a:p>
                      <a:pPr algn="ctr"/>
                      <a:r>
                        <a:rPr sz="750" b="0">
                          <a:solidFill>
                            <a:srgbClr val="1A1A1A"/>
                          </a:solidFill>
                        </a:rPr>
                        <a:t>24.7x</a:t>
                      </a:r>
                    </a:p>
                  </a:txBody>
                  <a:tcPr>
                    <a:solidFill>
                      <a:srgbClr val="F5F7FA"/>
                    </a:solidFill>
                  </a:tcPr>
                </a:tc>
                <a:tc>
                  <a:txBody>
                    <a:bodyPr/>
                    <a:lstStyle/>
                    <a:p>
                      <a:pPr algn="ctr"/>
                      <a:r>
                        <a:rPr sz="750" b="0">
                          <a:solidFill>
                            <a:srgbClr val="1A1A1A"/>
                          </a:solidFill>
                        </a:rPr>
                        <a:t>70.1 %</a:t>
                      </a:r>
                    </a:p>
                  </a:txBody>
                  <a:tcPr>
                    <a:solidFill>
                      <a:srgbClr val="F5F7FA"/>
                    </a:solidFill>
                  </a:tcPr>
                </a:tc>
                <a:tc>
                  <a:txBody>
                    <a:bodyPr/>
                    <a:lstStyle/>
                    <a:p>
                      <a:pPr algn="ctr"/>
                      <a:r>
                        <a:rPr sz="750" b="0">
                          <a:solidFill>
                            <a:srgbClr val="1A1A1A"/>
                          </a:solidFill>
                        </a:rPr>
                        <a:t>+4.0 %</a:t>
                      </a:r>
                    </a:p>
                  </a:txBody>
                  <a:tcPr>
                    <a:solidFill>
                      <a:srgbClr val="F5F7FA"/>
                    </a:solidFill>
                  </a:tcPr>
                </a:tc>
                <a:tc>
                  <a:txBody>
                    <a:bodyPr/>
                    <a:lstStyle/>
                    <a:p>
                      <a:pPr algn="ctr"/>
                      <a:r>
                        <a:rPr sz="750" b="0">
                          <a:solidFill>
                            <a:srgbClr val="1A1A1A"/>
                          </a:solidFill>
                        </a:rPr>
                        <a:t>+16.1 %</a:t>
                      </a:r>
                    </a:p>
                  </a:txBody>
                  <a:tcPr>
                    <a:solidFill>
                      <a:srgbClr val="F5F7FA"/>
                    </a:solidFill>
                  </a:tcPr>
                </a:tc>
              </a:tr>
              <a:tr h="201600">
                <a:tc>
                  <a:txBody>
                    <a:bodyPr/>
                    <a:lstStyle/>
                    <a:p>
                      <a:pPr algn="ctr"/>
                      <a:r>
                        <a:rPr sz="750" b="0">
                          <a:solidFill>
                            <a:srgbClr val="1A1A1A"/>
                          </a:solidFill>
                        </a:rPr>
                        <a:t>5</a:t>
                      </a:r>
                    </a:p>
                  </a:txBody>
                  <a:tcPr>
                    <a:noFill/>
                  </a:tcPr>
                </a:tc>
                <a:tc>
                  <a:txBody>
                    <a:bodyPr/>
                    <a:lstStyle/>
                    <a:p>
                      <a:pPr algn="ctr"/>
                      <a:r>
                        <a:rPr sz="750" b="0">
                          <a:solidFill>
                            <a:srgbClr val="1A1A1A"/>
                          </a:solidFill>
                        </a:rPr>
                        <a:t>O</a:t>
                      </a:r>
                    </a:p>
                  </a:txBody>
                  <a:tcPr>
                    <a:noFill/>
                  </a:tcPr>
                </a:tc>
                <a:tc>
                  <a:txBody>
                    <a:bodyPr/>
                    <a:lstStyle/>
                    <a:p>
                      <a:pPr algn="ctr"/>
                      <a:r>
                        <a:rPr sz="750" b="0">
                          <a:solidFill>
                            <a:srgbClr val="1A1A1A"/>
                          </a:solidFill>
                        </a:rPr>
                        <a:t>Realty Income Corporation</a:t>
                      </a:r>
                    </a:p>
                  </a:txBody>
                  <a:tcPr>
                    <a:noFill/>
                  </a:tcPr>
                </a:tc>
                <a:tc>
                  <a:txBody>
                    <a:bodyPr/>
                    <a:lstStyle/>
                    <a:p>
                      <a:pPr algn="ctr"/>
                      <a:r>
                        <a:rPr sz="750" b="0">
                          <a:solidFill>
                            <a:srgbClr val="1A1A1A"/>
                          </a:solidFill>
                        </a:rPr>
                        <a:t>61/100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60.69</a:t>
                      </a:r>
                    </a:p>
                  </a:txBody>
                  <a:tcPr>
                    <a:noFill/>
                  </a:tcPr>
                </a:tc>
                <a:tc>
                  <a:txBody>
                    <a:bodyPr/>
                    <a:lstStyle/>
                    <a:p>
                      <a:pPr algn="ctr"/>
                      <a:r>
                        <a:rPr sz="750" b="0">
                          <a:solidFill>
                            <a:srgbClr val="1A1A1A"/>
                          </a:solidFill>
                        </a:rPr>
                        <a:t>16.9x</a:t>
                      </a:r>
                    </a:p>
                  </a:txBody>
                  <a:tcPr>
                    <a:noFill/>
                  </a:tcPr>
                </a:tc>
                <a:tc>
                  <a:txBody>
                    <a:bodyPr/>
                    <a:lstStyle/>
                    <a:p>
                      <a:pPr algn="ctr"/>
                      <a:r>
                        <a:rPr sz="750" b="0">
                          <a:solidFill>
                            <a:srgbClr val="1A1A1A"/>
                          </a:solidFill>
                        </a:rPr>
                        <a:t>88.7 %</a:t>
                      </a:r>
                    </a:p>
                  </a:txBody>
                  <a:tcPr>
                    <a:noFill/>
                  </a:tcPr>
                </a:tc>
                <a:tc>
                  <a:txBody>
                    <a:bodyPr/>
                    <a:lstStyle/>
                    <a:p>
                      <a:pPr algn="ctr"/>
                      <a:r>
                        <a:rPr sz="750" b="0">
                          <a:solidFill>
                            <a:srgbClr val="1A1A1A"/>
                          </a:solidFill>
                        </a:rPr>
                        <a:t>+11.0 %</a:t>
                      </a:r>
                    </a:p>
                  </a:txBody>
                  <a:tcPr>
                    <a:noFill/>
                  </a:tcPr>
                </a:tc>
                <a:tc>
                  <a:txBody>
                    <a:bodyPr/>
                    <a:lstStyle/>
                    <a:p>
                      <a:pPr algn="ctr"/>
                      <a:r>
                        <a:rPr sz="750" b="0">
                          <a:solidFill>
                            <a:srgbClr val="1A1A1A"/>
                          </a:solidFill>
                        </a:rPr>
                        <a:t>+8.3 %</a:t>
                      </a:r>
                    </a:p>
                  </a:txBody>
                  <a:tcPr>
                    <a:noFill/>
                  </a:tcPr>
                </a:tc>
              </a:tr>
              <a:tr h="2016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PSA</a:t>
                      </a:r>
                    </a:p>
                  </a:txBody>
                  <a:tcPr>
                    <a:solidFill>
                      <a:srgbClr val="F5F7FA"/>
                    </a:solidFill>
                  </a:tcPr>
                </a:tc>
                <a:tc>
                  <a:txBody>
                    <a:bodyPr/>
                    <a:lstStyle/>
                    <a:p>
                      <a:pPr algn="ctr"/>
                      <a:r>
                        <a:rPr sz="750" b="0">
                          <a:solidFill>
                            <a:srgbClr val="1A1A1A"/>
                          </a:solidFill>
                        </a:rPr>
                        <a:t>Public Storage</a:t>
                      </a:r>
                    </a:p>
                  </a:txBody>
                  <a:tcPr>
                    <a:solidFill>
                      <a:srgbClr val="F5F7FA"/>
                    </a:solidFill>
                  </a:tcPr>
                </a:tc>
                <a:tc>
                  <a:txBody>
                    <a:bodyPr/>
                    <a:lstStyle/>
                    <a:p>
                      <a:pPr algn="ctr"/>
                      <a:r>
                        <a:rPr sz="750" b="0">
                          <a:solidFill>
                            <a:srgbClr val="1A1A1A"/>
                          </a:solidFill>
                        </a:rPr>
                        <a:t>61/100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266.01</a:t>
                      </a:r>
                    </a:p>
                  </a:txBody>
                  <a:tcPr>
                    <a:solidFill>
                      <a:srgbClr val="F5F7FA"/>
                    </a:solidFill>
                  </a:tcPr>
                </a:tc>
                <a:tc>
                  <a:txBody>
                    <a:bodyPr/>
                    <a:lstStyle/>
                    <a:p>
                      <a:pPr algn="ctr"/>
                      <a:r>
                        <a:rPr sz="750" b="0">
                          <a:solidFill>
                            <a:srgbClr val="1A1A1A"/>
                          </a:solidFill>
                        </a:rPr>
                        <a:t>17.9x</a:t>
                      </a:r>
                    </a:p>
                  </a:txBody>
                  <a:tcPr>
                    <a:solidFill>
                      <a:srgbClr val="F5F7FA"/>
                    </a:solidFill>
                  </a:tcPr>
                </a:tc>
                <a:tc>
                  <a:txBody>
                    <a:bodyPr/>
                    <a:lstStyle/>
                    <a:p>
                      <a:pPr algn="ctr"/>
                      <a:r>
                        <a:rPr sz="750" b="0">
                          <a:solidFill>
                            <a:srgbClr val="1A1A1A"/>
                          </a:solidFill>
                        </a:rPr>
                        <a:t>70.5 %</a:t>
                      </a:r>
                    </a:p>
                  </a:txBody>
                  <a:tcPr>
                    <a:solidFill>
                      <a:srgbClr val="F5F7FA"/>
                    </a:solidFill>
                  </a:tcPr>
                </a:tc>
                <a:tc>
                  <a:txBody>
                    <a:bodyPr/>
                    <a:lstStyle/>
                    <a:p>
                      <a:pPr algn="ctr"/>
                      <a:r>
                        <a:rPr sz="750" b="0">
                          <a:solidFill>
                            <a:srgbClr val="1A1A1A"/>
                          </a:solidFill>
                        </a:rPr>
                        <a:t>+3.3 %</a:t>
                      </a:r>
                    </a:p>
                  </a:txBody>
                  <a:tcPr>
                    <a:solidFill>
                      <a:srgbClr val="F5F7FA"/>
                    </a:solidFill>
                  </a:tcPr>
                </a:tc>
                <a:tc>
                  <a:txBody>
                    <a:bodyPr/>
                    <a:lstStyle/>
                    <a:p>
                      <a:pPr algn="ctr"/>
                      <a:r>
                        <a:rPr sz="750" b="0">
                          <a:solidFill>
                            <a:srgbClr val="1A1A1A"/>
                          </a:solidFill>
                        </a:rPr>
                        <a:t>-9.9 %</a:t>
                      </a:r>
                    </a:p>
                  </a:txBody>
                  <a:tcPr>
                    <a:solidFill>
                      <a:srgbClr val="F5F7FA"/>
                    </a:solidFill>
                  </a:tcPr>
                </a:tc>
              </a:tr>
              <a:tr h="201600">
                <a:tc>
                  <a:txBody>
                    <a:bodyPr/>
                    <a:lstStyle/>
                    <a:p>
                      <a:pPr algn="ctr"/>
                      <a:r>
                        <a:rPr sz="750" b="0">
                          <a:solidFill>
                            <a:srgbClr val="1A1A1A"/>
                          </a:solidFill>
                        </a:rPr>
                        <a:t>7</a:t>
                      </a:r>
                    </a:p>
                  </a:txBody>
                  <a:tcPr>
                    <a:noFill/>
                  </a:tcPr>
                </a:tc>
                <a:tc>
                  <a:txBody>
                    <a:bodyPr/>
                    <a:lstStyle/>
                    <a:p>
                      <a:pPr algn="ctr"/>
                      <a:r>
                        <a:rPr sz="750" b="0">
                          <a:solidFill>
                            <a:srgbClr val="1A1A1A"/>
                          </a:solidFill>
                        </a:rPr>
                        <a:t>EQIX</a:t>
                      </a:r>
                    </a:p>
                  </a:txBody>
                  <a:tcPr>
                    <a:noFill/>
                  </a:tcPr>
                </a:tc>
                <a:tc>
                  <a:txBody>
                    <a:bodyPr/>
                    <a:lstStyle/>
                    <a:p>
                      <a:pPr algn="ctr"/>
                      <a:r>
                        <a:rPr sz="750" b="0">
                          <a:solidFill>
                            <a:srgbClr val="1A1A1A"/>
                          </a:solidFill>
                        </a:rPr>
                        <a:t>Equinix, Inc.</a:t>
                      </a:r>
                    </a:p>
                  </a:txBody>
                  <a:tcPr>
                    <a:noFill/>
                  </a:tcPr>
                </a:tc>
                <a:tc>
                  <a:txBody>
                    <a:bodyPr/>
                    <a:lstStyle/>
                    <a:p>
                      <a:pPr algn="ctr"/>
                      <a:r>
                        <a:rPr sz="750" b="0">
                          <a:solidFill>
                            <a:srgbClr val="1A1A1A"/>
                          </a:solidFill>
                        </a:rPr>
                        <a:t>56/100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963.0</a:t>
                      </a:r>
                    </a:p>
                  </a:txBody>
                  <a:tcPr>
                    <a:noFill/>
                  </a:tcPr>
                </a:tc>
                <a:tc>
                  <a:txBody>
                    <a:bodyPr/>
                    <a:lstStyle/>
                    <a:p>
                      <a:pPr algn="ctr"/>
                      <a:r>
                        <a:rPr sz="750" b="0">
                          <a:solidFill>
                            <a:srgbClr val="1A1A1A"/>
                          </a:solidFill>
                        </a:rPr>
                        <a:t>28.4x</a:t>
                      </a:r>
                    </a:p>
                  </a:txBody>
                  <a:tcPr>
                    <a:noFill/>
                  </a:tcPr>
                </a:tc>
                <a:tc>
                  <a:txBody>
                    <a:bodyPr/>
                    <a:lstStyle/>
                    <a:p>
                      <a:pPr algn="ctr"/>
                      <a:r>
                        <a:rPr sz="750" b="0">
                          <a:solidFill>
                            <a:srgbClr val="1A1A1A"/>
                          </a:solidFill>
                        </a:rPr>
                        <a:t>44.0 %</a:t>
                      </a:r>
                    </a:p>
                  </a:txBody>
                  <a:tcPr>
                    <a:noFill/>
                  </a:tcPr>
                </a:tc>
                <a:tc>
                  <a:txBody>
                    <a:bodyPr/>
                    <a:lstStyle/>
                    <a:p>
                      <a:pPr algn="ctr"/>
                      <a:r>
                        <a:rPr sz="750" b="0">
                          <a:solidFill>
                            <a:srgbClr val="1A1A1A"/>
                          </a:solidFill>
                        </a:rPr>
                        <a:t>+8.1 %</a:t>
                      </a:r>
                    </a:p>
                  </a:txBody>
                  <a:tcPr>
                    <a:noFill/>
                  </a:tcPr>
                </a:tc>
                <a:tc>
                  <a:txBody>
                    <a:bodyPr/>
                    <a:lstStyle/>
                    <a:p>
                      <a:pPr algn="ctr"/>
                      <a:r>
                        <a:rPr sz="750" b="0">
                          <a:solidFill>
                            <a:srgbClr val="1A1A1A"/>
                          </a:solidFill>
                        </a:rPr>
                        <a:t>+12.5 %</a:t>
                      </a:r>
                    </a:p>
                  </a:txBody>
                  <a:tcPr>
                    <a:noFill/>
                  </a:tcPr>
                </a:tc>
              </a:tr>
              <a:tr h="2016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CCI</a:t>
                      </a:r>
                    </a:p>
                  </a:txBody>
                  <a:tcPr>
                    <a:solidFill>
                      <a:srgbClr val="F5F7FA"/>
                    </a:solidFill>
                  </a:tcPr>
                </a:tc>
                <a:tc>
                  <a:txBody>
                    <a:bodyPr/>
                    <a:lstStyle/>
                    <a:p>
                      <a:pPr algn="ctr"/>
                      <a:r>
                        <a:rPr sz="750" b="0">
                          <a:solidFill>
                            <a:srgbClr val="1A1A1A"/>
                          </a:solidFill>
                        </a:rPr>
                        <a:t>Crown Castle Inc.</a:t>
                      </a:r>
                    </a:p>
                  </a:txBody>
                  <a:tcPr>
                    <a:solidFill>
                      <a:srgbClr val="F5F7FA"/>
                    </a:solidFill>
                  </a:tcPr>
                </a:tc>
                <a:tc>
                  <a:txBody>
                    <a:bodyPr/>
                    <a:lstStyle/>
                    <a:p>
                      <a:pPr algn="ctr"/>
                      <a:r>
                        <a:rPr sz="750" b="0">
                          <a:solidFill>
                            <a:srgbClr val="1A1A1A"/>
                          </a:solidFill>
                        </a:rPr>
                        <a:t>44/100</a:t>
                      </a:r>
                    </a:p>
                  </a:txBody>
                  <a:tcPr>
                    <a:solidFill>
                      <a:srgbClr val="F5F7FA"/>
                    </a:solidFill>
                  </a:tcPr>
                </a:tc>
                <a:tc>
                  <a:txBody>
                    <a:bodyPr/>
                    <a:lstStyle/>
                    <a:p>
                      <a:pPr algn="ctr"/>
                      <a:r>
                        <a:rPr sz="750" b="0">
                          <a:solidFill>
                            <a:srgbClr val="1A1A1A"/>
                          </a:solidFill>
                        </a:rPr>
                        <a:t>SELL</a:t>
                      </a:r>
                    </a:p>
                  </a:txBody>
                  <a:tcPr>
                    <a:solidFill>
                      <a:srgbClr val="F5F7FA"/>
                    </a:solidFill>
                  </a:tcPr>
                </a:tc>
                <a:tc>
                  <a:txBody>
                    <a:bodyPr/>
                    <a:lstStyle/>
                    <a:p>
                      <a:pPr algn="ctr"/>
                      <a:r>
                        <a:rPr sz="750" b="0">
                          <a:solidFill>
                            <a:srgbClr val="1A1A1A"/>
                          </a:solidFill>
                        </a:rPr>
                        <a:t>78.59</a:t>
                      </a:r>
                    </a:p>
                  </a:txBody>
                  <a:tcPr>
                    <a:solidFill>
                      <a:srgbClr val="F5F7FA"/>
                    </a:solidFill>
                  </a:tcPr>
                </a:tc>
                <a:tc>
                  <a:txBody>
                    <a:bodyPr/>
                    <a:lstStyle/>
                    <a:p>
                      <a:pPr algn="ctr"/>
                      <a:r>
                        <a:rPr sz="750" b="0">
                          <a:solidFill>
                            <a:srgbClr val="1A1A1A"/>
                          </a:solidFill>
                        </a:rPr>
                        <a:t>23.0x</a:t>
                      </a:r>
                    </a:p>
                  </a:txBody>
                  <a:tcPr>
                    <a:solidFill>
                      <a:srgbClr val="F5F7FA"/>
                    </a:solidFill>
                  </a:tcPr>
                </a:tc>
                <a:tc>
                  <a:txBody>
                    <a:bodyPr/>
                    <a:lstStyle/>
                    <a:p>
                      <a:pPr algn="ctr"/>
                      <a:r>
                        <a:rPr sz="750" b="0">
                          <a:solidFill>
                            <a:srgbClr val="1A1A1A"/>
                          </a:solidFill>
                        </a:rPr>
                        <a:t>65.1 %</a:t>
                      </a:r>
                    </a:p>
                  </a:txBody>
                  <a:tcPr>
                    <a:solidFill>
                      <a:srgbClr val="F5F7FA"/>
                    </a:solidFill>
                  </a:tcPr>
                </a:tc>
                <a:tc>
                  <a:txBody>
                    <a:bodyPr/>
                    <a:lstStyle/>
                    <a:p>
                      <a:pPr algn="ctr"/>
                      <a:r>
                        <a:rPr sz="750" b="0">
                          <a:solidFill>
                            <a:srgbClr val="1A1A1A"/>
                          </a:solidFill>
                        </a:rPr>
                        <a:t>-4.3 %</a:t>
                      </a:r>
                    </a:p>
                  </a:txBody>
                  <a:tcPr>
                    <a:solidFill>
                      <a:srgbClr val="F5F7FA"/>
                    </a:solidFill>
                  </a:tcPr>
                </a:tc>
                <a:tc>
                  <a:txBody>
                    <a:bodyPr/>
                    <a:lstStyle/>
                    <a:p>
                      <a:pPr algn="ctr"/>
                      <a:r>
                        <a:rPr sz="750" b="0">
                          <a:solidFill>
                            <a:srgbClr val="1A1A1A"/>
                          </a:solidFill>
                        </a:rPr>
                        <a:t>-21.0 %</a:t>
                      </a:r>
                    </a:p>
                  </a:txBody>
                  <a:tcPr>
                    <a:solidFill>
                      <a:srgbClr val="F5F7FA"/>
                    </a:solidFill>
                  </a:tcPr>
                </a:tc>
              </a:tr>
            </a:tbl>
          </a:graphicData>
        </a:graphic>
      </p:graphicFrame>
      <p:sp>
        <p:nvSpPr>
          <p:cNvPr id="16" name="Rectangle 15"/>
          <p:cNvSpPr/>
          <p:nvPr/>
        </p:nvSpPr>
        <p:spPr>
          <a:xfrm>
            <a:off x="324000" y="28224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22400"/>
            <a:ext cx="360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2876400"/>
            <a:ext cx="8280000" cy="216000"/>
          </a:xfrm>
          <a:prstGeom prst="rect">
            <a:avLst/>
          </a:prstGeom>
          <a:noFill/>
        </p:spPr>
        <p:txBody>
          <a:bodyPr wrap="square">
            <a:spAutoFit/>
          </a:bodyPr>
          <a:lstStyle/>
          <a:p>
            <a:pPr algn="l"/>
            <a:r>
              <a:rPr sz="900" b="1" i="0">
                <a:solidFill>
                  <a:srgbClr val="1B3A6B"/>
                </a:solidFill>
              </a:rPr>
              <a:t>Lecture analytique — Ce que la cartographie revele</a:t>
            </a:r>
          </a:p>
        </p:txBody>
      </p:sp>
      <p:sp>
        <p:nvSpPr>
          <p:cNvPr id="19" name="TextBox 18"/>
          <p:cNvSpPr txBox="1"/>
          <p:nvPr/>
        </p:nvSpPr>
        <p:spPr>
          <a:xfrm>
            <a:off x="468000" y="3128400"/>
            <a:ext cx="8280000" cy="900000"/>
          </a:xfrm>
          <a:prstGeom prst="rect">
            <a:avLst/>
          </a:prstGeom>
          <a:noFill/>
        </p:spPr>
        <p:txBody>
          <a:bodyPr wrap="square">
            <a:spAutoFit/>
          </a:bodyPr>
          <a:lstStyle/>
          <a:p>
            <a:pPr algn="l"/>
            <a:r>
              <a:rPr sz="850" b="0" i="0">
                <a:solidFill>
                  <a:srgbClr val="555555"/>
                </a:solidFill>
              </a:rPr>
              <a:t>Le secteur Real Estate presente 1 BUY / 6 HOLD / 1 SELL sur 8 valeurs analysées. Simon Property Group,  (score 82/100) constitue le coeur offensif recommande — fondamentaux solides et visibilité supérieure sur les revenus. La répartition des recommandations reflete un positionnement selectif cohérent avec la phase sectorielle actuelle. Les catalyseurs identifies — resultats trimestriels, guidance annuel, operations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vs Croissance Revenue YoY  ·  4 quadrants  ·  Chaque point = une societe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PLD domine le quadrant Premium Justifie — valorisation élevée (24.7x) soutenue par 75.7 % de marge brute.
La médiane sectorielle ressort a 18.8x — les acteurs en dessous offrent potentiellement les meilleures asymetries risque/rendement.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1814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016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01600">
                <a:tc>
                  <a:txBody>
                    <a:bodyPr/>
                    <a:lstStyle/>
                    <a:p>
                      <a:pPr algn="ctr"/>
                      <a:r>
                        <a:rPr sz="750" b="0">
                          <a:solidFill>
                            <a:srgbClr val="1A1A1A"/>
                          </a:solidFill>
                        </a:rPr>
                        <a:t>SPG</a:t>
                      </a:r>
                    </a:p>
                  </a:txBody>
                  <a:tcPr>
                    <a:noFill/>
                  </a:tcPr>
                </a:tc>
                <a:tc>
                  <a:txBody>
                    <a:bodyPr/>
                    <a:lstStyle/>
                    <a:p>
                      <a:pPr algn="ctr"/>
                      <a:r>
                        <a:rPr sz="750" b="0">
                          <a:solidFill>
                            <a:srgbClr val="1A1A1A"/>
                          </a:solidFill>
                        </a:rPr>
                        <a:t>Simon Property Group, Inc</a:t>
                      </a:r>
                    </a:p>
                  </a:txBody>
                  <a:tcPr>
                    <a:noFill/>
                  </a:tcPr>
                </a:tc>
                <a:tc>
                  <a:txBody>
                    <a:bodyPr/>
                    <a:lstStyle/>
                    <a:p>
                      <a:pPr algn="ctr"/>
                      <a:r>
                        <a:rPr sz="750" b="0">
                          <a:solidFill>
                            <a:srgbClr val="1A1A1A"/>
                          </a:solidFill>
                        </a:rPr>
                        <a:t>82/100</a:t>
                      </a:r>
                    </a:p>
                  </a:txBody>
                  <a:tcPr>
                    <a:noFill/>
                  </a:tcPr>
                </a:tc>
                <a:tc>
                  <a:txBody>
                    <a:bodyPr/>
                    <a:lstStyle/>
                    <a:p>
                      <a:pPr algn="ctr"/>
                      <a:r>
                        <a:rPr sz="750" b="0">
                          <a:solidFill>
                            <a:srgbClr val="1A1A1A"/>
                          </a:solidFill>
                        </a:rPr>
                        <a:t>18</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BUY</a:t>
                      </a:r>
                    </a:p>
                  </a:txBody>
                  <a:tcPr>
                    <a:noFill/>
                  </a:tcPr>
                </a:tc>
              </a:tr>
              <a:tr h="201600">
                <a:tc>
                  <a:txBody>
                    <a:bodyPr/>
                    <a:lstStyle/>
                    <a:p>
                      <a:pPr algn="ctr"/>
                      <a:r>
                        <a:rPr sz="750" b="0">
                          <a:solidFill>
                            <a:srgbClr val="1A1A1A"/>
                          </a:solidFill>
                        </a:rPr>
                        <a:t>AMT</a:t>
                      </a:r>
                    </a:p>
                  </a:txBody>
                  <a:tcPr>
                    <a:solidFill>
                      <a:srgbClr val="F5F7FA"/>
                    </a:solidFill>
                  </a:tcPr>
                </a:tc>
                <a:tc>
                  <a:txBody>
                    <a:bodyPr/>
                    <a:lstStyle/>
                    <a:p>
                      <a:pPr algn="ctr"/>
                      <a:r>
                        <a:rPr sz="750" b="0">
                          <a:solidFill>
                            <a:srgbClr val="1A1A1A"/>
                          </a:solidFill>
                        </a:rPr>
                        <a:t>American Tower Corporatio</a:t>
                      </a:r>
                    </a:p>
                  </a:txBody>
                  <a:tcPr>
                    <a:solidFill>
                      <a:srgbClr val="F5F7FA"/>
                    </a:solidFill>
                  </a:tcPr>
                </a:tc>
                <a:tc>
                  <a:txBody>
                    <a:bodyPr/>
                    <a:lstStyle/>
                    <a:p>
                      <a:pPr algn="ctr"/>
                      <a:r>
                        <a:rPr sz="750" b="0">
                          <a:solidFill>
                            <a:srgbClr val="1A1A1A"/>
                          </a:solidFill>
                        </a:rPr>
                        <a:t>63/100</a:t>
                      </a:r>
                    </a:p>
                  </a:txBody>
                  <a:tcPr>
                    <a:solidFill>
                      <a:srgbClr val="F5F7FA"/>
                    </a:solidFill>
                  </a:tcPr>
                </a:tc>
                <a:tc>
                  <a:txBody>
                    <a:bodyPr/>
                    <a:lstStyle/>
                    <a:p>
                      <a:pPr algn="ctr"/>
                      <a:r>
                        <a:rPr sz="750" b="0">
                          <a:solidFill>
                            <a:srgbClr val="1A1A1A"/>
                          </a:solidFill>
                        </a:rPr>
                        <a:t>9</a:t>
                      </a:r>
                    </a:p>
                  </a:txBody>
                  <a:tcPr>
                    <a:solidFill>
                      <a:srgbClr val="F5F7FA"/>
                    </a:solidFill>
                  </a:tcPr>
                </a:tc>
                <a:tc>
                  <a:txBody>
                    <a:bodyPr/>
                    <a:lstStyle/>
                    <a:p>
                      <a:pPr algn="ctr"/>
                      <a:r>
                        <a:rPr sz="750" b="0">
                          <a:solidFill>
                            <a:srgbClr val="1A1A1A"/>
                          </a:solidFill>
                        </a:rPr>
                        <a:t>19</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9</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AVB</a:t>
                      </a:r>
                    </a:p>
                  </a:txBody>
                  <a:tcPr>
                    <a:noFill/>
                  </a:tcPr>
                </a:tc>
                <a:tc>
                  <a:txBody>
                    <a:bodyPr/>
                    <a:lstStyle/>
                    <a:p>
                      <a:pPr algn="ctr"/>
                      <a:r>
                        <a:rPr sz="750" b="0">
                          <a:solidFill>
                            <a:srgbClr val="1A1A1A"/>
                          </a:solidFill>
                        </a:rPr>
                        <a:t>AvalonBay Communities, In</a:t>
                      </a:r>
                    </a:p>
                  </a:txBody>
                  <a:tcPr>
                    <a:noFill/>
                  </a:tcPr>
                </a:tc>
                <a:tc>
                  <a:txBody>
                    <a:bodyPr/>
                    <a:lstStyle/>
                    <a:p>
                      <a:pPr algn="ctr"/>
                      <a:r>
                        <a:rPr sz="750" b="0">
                          <a:solidFill>
                            <a:srgbClr val="1A1A1A"/>
                          </a:solidFill>
                        </a:rPr>
                        <a:t>63/100</a:t>
                      </a:r>
                    </a:p>
                  </a:txBody>
                  <a:tcPr>
                    <a:noFill/>
                  </a:tcPr>
                </a:tc>
                <a:tc>
                  <a:txBody>
                    <a:bodyPr/>
                    <a:lstStyle/>
                    <a:p>
                      <a:pPr algn="ctr"/>
                      <a:r>
                        <a:rPr sz="750" b="0">
                          <a:solidFill>
                            <a:srgbClr val="1A1A1A"/>
                          </a:solidFill>
                        </a:rPr>
                        <a:t>14</a:t>
                      </a:r>
                    </a:p>
                  </a:txBody>
                  <a:tcPr>
                    <a:noFill/>
                  </a:tcPr>
                </a:tc>
                <a:tc>
                  <a:txBody>
                    <a:bodyPr/>
                    <a:lstStyle/>
                    <a:p>
                      <a:pPr algn="ctr"/>
                      <a:r>
                        <a:rPr sz="750" b="0">
                          <a:solidFill>
                            <a:srgbClr val="1A1A1A"/>
                          </a:solidFill>
                        </a:rPr>
                        <a:t>15</a:t>
                      </a:r>
                    </a:p>
                  </a:txBody>
                  <a:tcPr>
                    <a:noFill/>
                  </a:tcPr>
                </a:tc>
                <a:tc>
                  <a:txBody>
                    <a:bodyPr/>
                    <a:lstStyle/>
                    <a:p>
                      <a:pPr algn="ctr"/>
                      <a:r>
                        <a:rPr sz="750" b="0">
                          <a:solidFill>
                            <a:srgbClr val="1A1A1A"/>
                          </a:solidFill>
                        </a:rPr>
                        <a:t>25</a:t>
                      </a:r>
                    </a:p>
                  </a:txBody>
                  <a:tcPr>
                    <a:noFill/>
                  </a:tcPr>
                </a:tc>
                <a:tc>
                  <a:txBody>
                    <a:bodyPr/>
                    <a:lstStyle/>
                    <a:p>
                      <a:pPr algn="ctr"/>
                      <a:r>
                        <a:rPr sz="750" b="0">
                          <a:solidFill>
                            <a:srgbClr val="1A1A1A"/>
                          </a:solidFill>
                        </a:rPr>
                        <a:t>8</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PLD</a:t>
                      </a:r>
                    </a:p>
                  </a:txBody>
                  <a:tcPr>
                    <a:solidFill>
                      <a:srgbClr val="F5F7FA"/>
                    </a:solidFill>
                  </a:tcPr>
                </a:tc>
                <a:tc>
                  <a:txBody>
                    <a:bodyPr/>
                    <a:lstStyle/>
                    <a:p>
                      <a:pPr algn="ctr"/>
                      <a:r>
                        <a:rPr sz="750" b="0">
                          <a:solidFill>
                            <a:srgbClr val="1A1A1A"/>
                          </a:solidFill>
                        </a:rPr>
                        <a:t>Prologis, Inc.</a:t>
                      </a:r>
                    </a:p>
                  </a:txBody>
                  <a:tcPr>
                    <a:solidFill>
                      <a:srgbClr val="F5F7FA"/>
                    </a:solidFill>
                  </a:tcPr>
                </a:tc>
                <a:tc>
                  <a:txBody>
                    <a:bodyPr/>
                    <a:lstStyle/>
                    <a:p>
                      <a:pPr algn="ctr"/>
                      <a:r>
                        <a:rPr sz="750" b="0">
                          <a:solidFill>
                            <a:srgbClr val="1A1A1A"/>
                          </a:solidFill>
                        </a:rPr>
                        <a:t>62/100</a:t>
                      </a:r>
                    </a:p>
                  </a:txBody>
                  <a:tcPr>
                    <a:solidFill>
                      <a:srgbClr val="F5F7FA"/>
                    </a:solidFill>
                  </a:tcPr>
                </a:tc>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16</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14</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O</a:t>
                      </a:r>
                    </a:p>
                  </a:txBody>
                  <a:tcPr>
                    <a:noFill/>
                  </a:tcPr>
                </a:tc>
                <a:tc>
                  <a:txBody>
                    <a:bodyPr/>
                    <a:lstStyle/>
                    <a:p>
                      <a:pPr algn="ctr"/>
                      <a:r>
                        <a:rPr sz="750" b="0">
                          <a:solidFill>
                            <a:srgbClr val="1A1A1A"/>
                          </a:solidFill>
                        </a:rPr>
                        <a:t>Realty Income Corporation</a:t>
                      </a:r>
                    </a:p>
                  </a:txBody>
                  <a:tcPr>
                    <a:noFill/>
                  </a:tcPr>
                </a:tc>
                <a:tc>
                  <a:txBody>
                    <a:bodyPr/>
                    <a:lstStyle/>
                    <a:p>
                      <a:pPr algn="ctr"/>
                      <a:r>
                        <a:rPr sz="750" b="0">
                          <a:solidFill>
                            <a:srgbClr val="1A1A1A"/>
                          </a:solidFill>
                        </a:rPr>
                        <a:t>61/100</a:t>
                      </a:r>
                    </a:p>
                  </a:txBody>
                  <a:tcPr>
                    <a:noFill/>
                  </a:tcPr>
                </a:tc>
                <a:tc>
                  <a:txBody>
                    <a:bodyPr/>
                    <a:lstStyle/>
                    <a:p>
                      <a:pPr algn="ctr"/>
                      <a:r>
                        <a:rPr sz="750" b="0">
                          <a:solidFill>
                            <a:srgbClr val="1A1A1A"/>
                          </a:solidFill>
                        </a:rPr>
                        <a:t>0</a:t>
                      </a:r>
                    </a:p>
                  </a:txBody>
                  <a:tcPr>
                    <a:noFill/>
                  </a:tcPr>
                </a:tc>
                <a:tc>
                  <a:txBody>
                    <a:bodyPr/>
                    <a:lstStyle/>
                    <a:p>
                      <a:pPr algn="ctr"/>
                      <a:r>
                        <a:rPr sz="750" b="0">
                          <a:solidFill>
                            <a:srgbClr val="1A1A1A"/>
                          </a:solidFill>
                        </a:rPr>
                        <a:t>23</a:t>
                      </a:r>
                    </a:p>
                  </a:txBody>
                  <a:tcPr>
                    <a:noFill/>
                  </a:tcPr>
                </a:tc>
                <a:tc>
                  <a:txBody>
                    <a:bodyPr/>
                    <a:lstStyle/>
                    <a:p>
                      <a:pPr algn="ctr"/>
                      <a:r>
                        <a:rPr sz="750" b="0">
                          <a:solidFill>
                            <a:srgbClr val="1A1A1A"/>
                          </a:solidFill>
                        </a:rPr>
                        <a:t>24</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PSA</a:t>
                      </a:r>
                    </a:p>
                  </a:txBody>
                  <a:tcPr>
                    <a:solidFill>
                      <a:srgbClr val="F5F7FA"/>
                    </a:solidFill>
                  </a:tcPr>
                </a:tc>
                <a:tc>
                  <a:txBody>
                    <a:bodyPr/>
                    <a:lstStyle/>
                    <a:p>
                      <a:pPr algn="ctr"/>
                      <a:r>
                        <a:rPr sz="750" b="0">
                          <a:solidFill>
                            <a:srgbClr val="1A1A1A"/>
                          </a:solidFill>
                        </a:rPr>
                        <a:t>Public Storage</a:t>
                      </a:r>
                    </a:p>
                  </a:txBody>
                  <a:tcPr>
                    <a:solidFill>
                      <a:srgbClr val="F5F7FA"/>
                    </a:solidFill>
                  </a:tcPr>
                </a:tc>
                <a:tc>
                  <a:txBody>
                    <a:bodyPr/>
                    <a:lstStyle/>
                    <a:p>
                      <a:pPr algn="ctr"/>
                      <a:r>
                        <a:rPr sz="750" b="0">
                          <a:solidFill>
                            <a:srgbClr val="1A1A1A"/>
                          </a:solidFill>
                        </a:rPr>
                        <a:t>61/100</a:t>
                      </a:r>
                    </a:p>
                  </a:txBody>
                  <a:tcPr>
                    <a:solidFill>
                      <a:srgbClr val="F5F7FA"/>
                    </a:solidFill>
                  </a:tcPr>
                </a:tc>
                <a:tc>
                  <a:txBody>
                    <a:bodyPr/>
                    <a:lstStyle/>
                    <a:p>
                      <a:pPr algn="ctr"/>
                      <a:r>
                        <a:rPr sz="750" b="0">
                          <a:solidFill>
                            <a:srgbClr val="1A1A1A"/>
                          </a:solidFill>
                        </a:rPr>
                        <a:t>10</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25</a:t>
                      </a:r>
                    </a:p>
                  </a:txBody>
                  <a:tcPr>
                    <a:solidFill>
                      <a:srgbClr val="F5F7FA"/>
                    </a:solidFill>
                  </a:tcPr>
                </a:tc>
                <a:tc>
                  <a:txBody>
                    <a:bodyPr/>
                    <a:lstStyle/>
                    <a:p>
                      <a:pPr algn="ctr"/>
                      <a:r>
                        <a:rPr sz="750" b="0">
                          <a:solidFill>
                            <a:srgbClr val="1A1A1A"/>
                          </a:solidFill>
                        </a:rPr>
                        <a:t>10</a:t>
                      </a:r>
                    </a:p>
                  </a:txBody>
                  <a:tcPr>
                    <a:solidFill>
                      <a:srgbClr val="F5F7FA"/>
                    </a:solidFill>
                  </a:tcPr>
                </a:tc>
                <a:tc>
                  <a:txBody>
                    <a:bodyPr/>
                    <a:lstStyle/>
                    <a:p>
                      <a:pPr algn="ctr"/>
                      <a:r>
                        <a:rPr sz="750" b="0">
                          <a:solidFill>
                            <a:srgbClr val="1A1A1A"/>
                          </a:solidFill>
                        </a:rPr>
                        <a:t>HOLD</a:t>
                      </a:r>
                    </a:p>
                  </a:txBody>
                  <a:tcPr>
                    <a:solidFill>
                      <a:srgbClr val="F5F7FA"/>
                    </a:solidFill>
                  </a:tcPr>
                </a:tc>
              </a:tr>
              <a:tr h="201600">
                <a:tc>
                  <a:txBody>
                    <a:bodyPr/>
                    <a:lstStyle/>
                    <a:p>
                      <a:pPr algn="ctr"/>
                      <a:r>
                        <a:rPr sz="750" b="0">
                          <a:solidFill>
                            <a:srgbClr val="1A1A1A"/>
                          </a:solidFill>
                        </a:rPr>
                        <a:t>EQIX</a:t>
                      </a:r>
                    </a:p>
                  </a:txBody>
                  <a:tcPr>
                    <a:noFill/>
                  </a:tcPr>
                </a:tc>
                <a:tc>
                  <a:txBody>
                    <a:bodyPr/>
                    <a:lstStyle/>
                    <a:p>
                      <a:pPr algn="ctr"/>
                      <a:r>
                        <a:rPr sz="750" b="0">
                          <a:solidFill>
                            <a:srgbClr val="1A1A1A"/>
                          </a:solidFill>
                        </a:rPr>
                        <a:t>Equinix, Inc.</a:t>
                      </a:r>
                    </a:p>
                  </a:txBody>
                  <a:tcPr>
                    <a:noFill/>
                  </a:tcPr>
                </a:tc>
                <a:tc>
                  <a:txBody>
                    <a:bodyPr/>
                    <a:lstStyle/>
                    <a:p>
                      <a:pPr algn="ctr"/>
                      <a:r>
                        <a:rPr sz="750" b="0">
                          <a:solidFill>
                            <a:srgbClr val="1A1A1A"/>
                          </a:solidFill>
                        </a:rPr>
                        <a:t>56/100</a:t>
                      </a:r>
                    </a:p>
                  </a:txBody>
                  <a:tcPr>
                    <a:noFill/>
                  </a:tcPr>
                </a:tc>
                <a:tc>
                  <a:txBody>
                    <a:bodyPr/>
                    <a:lstStyle/>
                    <a:p>
                      <a:pPr algn="ctr"/>
                      <a:r>
                        <a:rPr sz="750" b="0">
                          <a:solidFill>
                            <a:srgbClr val="1A1A1A"/>
                          </a:solidFill>
                        </a:rPr>
                        <a:t>0</a:t>
                      </a:r>
                    </a:p>
                  </a:txBody>
                  <a:tcPr>
                    <a:noFill/>
                  </a:tcPr>
                </a:tc>
                <a:tc>
                  <a:txBody>
                    <a:bodyPr/>
                    <a:lstStyle/>
                    <a:p>
                      <a:pPr algn="ctr"/>
                      <a:r>
                        <a:rPr sz="750" b="0">
                          <a:solidFill>
                            <a:srgbClr val="1A1A1A"/>
                          </a:solidFill>
                        </a:rPr>
                        <a:t>20</a:t>
                      </a:r>
                    </a:p>
                  </a:txBody>
                  <a:tcPr>
                    <a:noFill/>
                  </a:tcPr>
                </a:tc>
                <a:tc>
                  <a:txBody>
                    <a:bodyPr/>
                    <a:lstStyle/>
                    <a:p>
                      <a:pPr algn="ctr"/>
                      <a:r>
                        <a:rPr sz="750" b="0">
                          <a:solidFill>
                            <a:srgbClr val="1A1A1A"/>
                          </a:solidFill>
                        </a:rPr>
                        <a:t>21</a:t>
                      </a:r>
                    </a:p>
                  </a:txBody>
                  <a:tcPr>
                    <a:noFill/>
                  </a:tcPr>
                </a:tc>
                <a:tc>
                  <a:txBody>
                    <a:bodyPr/>
                    <a:lstStyle/>
                    <a:p>
                      <a:pPr algn="ctr"/>
                      <a:r>
                        <a:rPr sz="750" b="0">
                          <a:solidFill>
                            <a:srgbClr val="1A1A1A"/>
                          </a:solidFill>
                        </a:rPr>
                        <a:t>13</a:t>
                      </a:r>
                    </a:p>
                  </a:txBody>
                  <a:tcPr>
                    <a:noFill/>
                  </a:tcPr>
                </a:tc>
                <a:tc>
                  <a:txBody>
                    <a:bodyPr/>
                    <a:lstStyle/>
                    <a:p>
                      <a:pPr algn="ctr"/>
                      <a:r>
                        <a:rPr sz="750" b="0">
                          <a:solidFill>
                            <a:srgbClr val="1A1A1A"/>
                          </a:solidFill>
                        </a:rPr>
                        <a:t>HOLD</a:t>
                      </a:r>
                    </a:p>
                  </a:txBody>
                  <a:tcPr>
                    <a:noFill/>
                  </a:tcPr>
                </a:tc>
              </a:tr>
              <a:tr h="201600">
                <a:tc>
                  <a:txBody>
                    <a:bodyPr/>
                    <a:lstStyle/>
                    <a:p>
                      <a:pPr algn="ctr"/>
                      <a:r>
                        <a:rPr sz="750" b="0">
                          <a:solidFill>
                            <a:srgbClr val="1A1A1A"/>
                          </a:solidFill>
                        </a:rPr>
                        <a:t>CCI</a:t>
                      </a:r>
                    </a:p>
                  </a:txBody>
                  <a:tcPr>
                    <a:solidFill>
                      <a:srgbClr val="F5F7FA"/>
                    </a:solidFill>
                  </a:tcPr>
                </a:tc>
                <a:tc>
                  <a:txBody>
                    <a:bodyPr/>
                    <a:lstStyle/>
                    <a:p>
                      <a:pPr algn="ctr"/>
                      <a:r>
                        <a:rPr sz="750" b="0">
                          <a:solidFill>
                            <a:srgbClr val="1A1A1A"/>
                          </a:solidFill>
                        </a:rPr>
                        <a:t>Crown Castle Inc.</a:t>
                      </a:r>
                    </a:p>
                  </a:txBody>
                  <a:tcPr>
                    <a:solidFill>
                      <a:srgbClr val="F5F7FA"/>
                    </a:solidFill>
                  </a:tcPr>
                </a:tc>
                <a:tc>
                  <a:txBody>
                    <a:bodyPr/>
                    <a:lstStyle/>
                    <a:p>
                      <a:pPr algn="ctr"/>
                      <a:r>
                        <a:rPr sz="750" b="0">
                          <a:solidFill>
                            <a:srgbClr val="1A1A1A"/>
                          </a:solidFill>
                        </a:rPr>
                        <a:t>44/100</a:t>
                      </a:r>
                    </a:p>
                  </a:txBody>
                  <a:tcPr>
                    <a:solidFill>
                      <a:srgbClr val="F5F7FA"/>
                    </a:solidFill>
                  </a:tcPr>
                </a:tc>
                <a:tc>
                  <a:txBody>
                    <a:bodyPr/>
                    <a:lstStyle/>
                    <a:p>
                      <a:pPr algn="ctr"/>
                      <a:r>
                        <a:rPr sz="750" b="0">
                          <a:solidFill>
                            <a:srgbClr val="1A1A1A"/>
                          </a:solidFill>
                        </a:rPr>
                        <a:t>9</a:t>
                      </a:r>
                    </a:p>
                  </a:txBody>
                  <a:tcPr>
                    <a:solidFill>
                      <a:srgbClr val="F5F7FA"/>
                    </a:solidFill>
                  </a:tcPr>
                </a:tc>
                <a:tc>
                  <a:txBody>
                    <a:bodyPr/>
                    <a:lstStyle/>
                    <a:p>
                      <a:pPr algn="ctr"/>
                      <a:r>
                        <a:rPr sz="750" b="0">
                          <a:solidFill>
                            <a:srgbClr val="1A1A1A"/>
                          </a:solidFill>
                        </a:rPr>
                        <a:t>7</a:t>
                      </a:r>
                    </a:p>
                  </a:txBody>
                  <a:tcPr>
                    <a:solidFill>
                      <a:srgbClr val="F5F7FA"/>
                    </a:solidFill>
                  </a:tcPr>
                </a:tc>
                <a:tc>
                  <a:txBody>
                    <a:bodyPr/>
                    <a:lstStyle/>
                    <a:p>
                      <a:pPr algn="ctr"/>
                      <a:r>
                        <a:rPr sz="750" b="0">
                          <a:solidFill>
                            <a:srgbClr val="1A1A1A"/>
                          </a:solidFill>
                        </a:rPr>
                        <a:t>18</a:t>
                      </a:r>
                    </a:p>
                  </a:txBody>
                  <a:tcPr>
                    <a:solidFill>
                      <a:srgbClr val="F5F7FA"/>
                    </a:solidFill>
                  </a:tcPr>
                </a:tc>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SELL</a:t>
                      </a:r>
                    </a:p>
                  </a:txBody>
                  <a:tcPr>
                    <a:solidFill>
                      <a:srgbClr val="F5F7FA"/>
                    </a:solidFill>
                  </a:tcPr>
                </a:tc>
              </a:tr>
            </a:tbl>
          </a:graphicData>
        </a:graphic>
      </p:graphicFrame>
      <p:sp>
        <p:nvSpPr>
          <p:cNvPr id="16" name="Rectangle 15"/>
          <p:cNvSpPr/>
          <p:nvPr/>
        </p:nvSpPr>
        <p:spPr>
          <a:xfrm>
            <a:off x="324000" y="2822400"/>
            <a:ext cx="8496000"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2840400"/>
            <a:ext cx="8352000" cy="216000"/>
          </a:xfrm>
          <a:prstGeom prst="rect">
            <a:avLst/>
          </a:prstGeom>
          <a:noFill/>
        </p:spPr>
        <p:txBody>
          <a:bodyPr wrap="square">
            <a:spAutoFit/>
          </a:bodyPr>
          <a:lstStyle/>
          <a:p>
            <a:pPr algn="l"/>
            <a:r>
              <a:rPr sz="750" b="0" i="0">
                <a:solidFill>
                  <a:srgbClr val="FFFFFF"/>
                </a:solidFill>
              </a:rPr>
              <a:t>LECTURE : Score &gt;= 75 = fort  ·  50-74 = moyen  ·  &lt; 50 = faible  ·  Pondération : Value 25 % · Growth 25 % · Quality 25 % · Momentum 25 %</a:t>
            </a:r>
          </a:p>
        </p:txBody>
      </p:sp>
      <p:sp>
        <p:nvSpPr>
          <p:cNvPr id="18" name="Rectangle 17"/>
          <p:cNvSpPr/>
          <p:nvPr/>
        </p:nvSpPr>
        <p:spPr>
          <a:xfrm>
            <a:off x="324000" y="3110400"/>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1104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6000" y="3128400"/>
            <a:ext cx="8316000" cy="216000"/>
          </a:xfrm>
          <a:prstGeom prst="rect">
            <a:avLst/>
          </a:prstGeom>
          <a:noFill/>
        </p:spPr>
        <p:txBody>
          <a:bodyPr wrap="square">
            <a:spAutoFit/>
          </a:bodyPr>
          <a:lstStyle/>
          <a:p>
            <a:pPr algn="l"/>
            <a:r>
              <a:rPr sz="850" b="1" i="0">
                <a:solidFill>
                  <a:srgbClr val="FFFFFF"/>
                </a:solidFill>
              </a:rPr>
              <a:t>SYNTHESE SCORES</a:t>
            </a:r>
          </a:p>
        </p:txBody>
      </p:sp>
      <p:sp>
        <p:nvSpPr>
          <p:cNvPr id="21" name="TextBox 20"/>
          <p:cNvSpPr txBox="1"/>
          <p:nvPr/>
        </p:nvSpPr>
        <p:spPr>
          <a:xfrm>
            <a:off x="396000" y="3398400"/>
            <a:ext cx="8352000" cy="684000"/>
          </a:xfrm>
          <a:prstGeom prst="rect">
            <a:avLst/>
          </a:prstGeom>
          <a:noFill/>
        </p:spPr>
        <p:txBody>
          <a:bodyPr wrap="square">
            <a:spAutoFit/>
          </a:bodyPr>
          <a:lstStyle/>
          <a:p>
            <a:pPr algn="l"/>
            <a:r>
              <a:rPr sz="850" b="0" i="0">
                <a:solidFill>
                  <a:srgbClr val="555555"/>
                </a:solidFill>
              </a:rPr>
              <a:t>Simon Property Group, Inc presente le profil le plus equilibre du secteur (82/100) avec des scores Value=18, Growth=25, Quality=25, Momentum=13. La dispersion des scores entre les 8 sociétés reflete des profils hétérogènes — une allocation selective privilegiant les leaders qualitatifs est recommandee dans la configuration sectorielle actuelle.</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Synthese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Societes — Synthese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SPG</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Simon Property Group</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216</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18.8x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73.9 %</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2.5</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Baisse des taux directeurs — compression des taux de capitalisation et réévaluation des ANR.</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Taux longs &gt; 4 % prolonges — pressions sur les ANR et les covenants de dette.</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AMT</a:t>
            </a:r>
          </a:p>
        </p:txBody>
      </p:sp>
      <p:sp>
        <p:nvSpPr>
          <p:cNvPr id="45" name="Rectangle 44"/>
          <p:cNvSpPr/>
          <p:nvPr/>
        </p:nvSpPr>
        <p:spPr>
          <a:xfrm>
            <a:off x="511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HOLD</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American Tower Corpo</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183</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EV/EBITDA</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18.7x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64.9 %</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Altman Z</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2.5</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Deficit de construction en France et Allemagne — soutien structurel a la valeur des actifs residentiels.</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Vacance bureau en hausse post-teletravail — risques sur les loyers tertiaires secondaires.</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AVB</a:t>
            </a:r>
          </a:p>
        </p:txBody>
      </p:sp>
      <p:sp>
        <p:nvSpPr>
          <p:cNvPr id="72" name="Rectangle 71"/>
          <p:cNvSpPr/>
          <p:nvPr/>
        </p:nvSpPr>
        <p:spPr>
          <a:xfrm>
            <a:off x="799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HOLD</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AvalonBay Communitie</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174</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EV/EBITDA</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17.3x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Marge EBITDA</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60.7 %</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Altman Z</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2.5</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Renovation energetique obligatoire — valorisation differentielle actifs certifies.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Mur de dette 2025-2027 — risques de dilution pour les foncieres surendettees.</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societe vs médiane sectorielle (18.8x)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La distribution est bimodale — 3 acteur(s) se detachent nettement du reste du secteur, creant une prime de valorisation significative vs la médiane de 18.8x.
0 societe(s) se traitent sous la médiane — potentiellement les meilleures asymetries risque/rendement sous reserve de catalyseurs fondamentaux.
La dispersion des multiples est caracteristique d'un secteur Real Estate en phase de differentiation — les investisseurs selectifs peuvent exploiter cet ecart.</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7820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980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98000">
                <a:tc>
                  <a:txBody>
                    <a:bodyPr/>
                    <a:lstStyle/>
                    <a:p>
                      <a:pPr algn="ctr"/>
                      <a:r>
                        <a:rPr sz="750" b="0">
                          <a:solidFill>
                            <a:srgbClr val="1A1A1A"/>
                          </a:solidFill>
                        </a:rPr>
                        <a:t>SPG</a:t>
                      </a:r>
                    </a:p>
                  </a:txBody>
                  <a:tcPr>
                    <a:noFill/>
                  </a:tcPr>
                </a:tc>
                <a:tc>
                  <a:txBody>
                    <a:bodyPr/>
                    <a:lstStyle/>
                    <a:p>
                      <a:pPr algn="ctr"/>
                      <a:r>
                        <a:rPr sz="750" b="0">
                          <a:solidFill>
                            <a:srgbClr val="1A1A1A"/>
                          </a:solidFill>
                        </a:rPr>
                        <a:t>Simon Property Group, In</a:t>
                      </a:r>
                    </a:p>
                  </a:txBody>
                  <a:tcPr>
                    <a:noFill/>
                  </a:tcPr>
                </a:tc>
                <a:tc>
                  <a:txBody>
                    <a:bodyPr/>
                    <a:lstStyle/>
                    <a:p>
                      <a:pPr algn="ctr"/>
                      <a:r>
                        <a:rPr sz="750" b="0">
                          <a:solidFill>
                            <a:srgbClr val="1A1A1A"/>
                          </a:solidFill>
                        </a:rPr>
                        <a:t>180.19</a:t>
                      </a:r>
                    </a:p>
                  </a:txBody>
                  <a:tcPr>
                    <a:noFill/>
                  </a:tcPr>
                </a:tc>
                <a:tc>
                  <a:txBody>
                    <a:bodyPr/>
                    <a:lstStyle/>
                    <a:p>
                      <a:pPr algn="ctr"/>
                      <a:r>
                        <a:rPr sz="750" b="0">
                          <a:solidFill>
                            <a:srgbClr val="1A1A1A"/>
                          </a:solidFill>
                        </a:rPr>
                        <a:t>207.2</a:t>
                      </a:r>
                    </a:p>
                  </a:txBody>
                  <a:tcPr>
                    <a:noFill/>
                  </a:tcPr>
                </a:tc>
                <a:tc>
                  <a:txBody>
                    <a:bodyPr/>
                    <a:lstStyle/>
                    <a:p>
                      <a:pPr algn="ctr"/>
                      <a:r>
                        <a:rPr sz="750" b="0">
                          <a:solidFill>
                            <a:srgbClr val="1A1A1A"/>
                          </a:solidFill>
                        </a:rPr>
                        <a:t>&lt; 171.2</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98000">
                <a:tc>
                  <a:txBody>
                    <a:bodyPr/>
                    <a:lstStyle/>
                    <a:p>
                      <a:pPr algn="ctr"/>
                      <a:r>
                        <a:rPr sz="750" b="0">
                          <a:solidFill>
                            <a:srgbClr val="1A1A1A"/>
                          </a:solidFill>
                        </a:rPr>
                        <a:t>AMT</a:t>
                      </a:r>
                    </a:p>
                  </a:txBody>
                  <a:tcPr>
                    <a:solidFill>
                      <a:srgbClr val="F5F7FA"/>
                    </a:solidFill>
                  </a:tcPr>
                </a:tc>
                <a:tc>
                  <a:txBody>
                    <a:bodyPr/>
                    <a:lstStyle/>
                    <a:p>
                      <a:pPr algn="ctr"/>
                      <a:r>
                        <a:rPr sz="750" b="0">
                          <a:solidFill>
                            <a:srgbClr val="1A1A1A"/>
                          </a:solidFill>
                        </a:rPr>
                        <a:t>American Tower Corporati</a:t>
                      </a:r>
                    </a:p>
                  </a:txBody>
                  <a:tcPr>
                    <a:solidFill>
                      <a:srgbClr val="F5F7FA"/>
                    </a:solidFill>
                  </a:tcPr>
                </a:tc>
                <a:tc>
                  <a:txBody>
                    <a:bodyPr/>
                    <a:lstStyle/>
                    <a:p>
                      <a:pPr algn="ctr"/>
                      <a:r>
                        <a:rPr sz="750" b="0">
                          <a:solidFill>
                            <a:srgbClr val="1A1A1A"/>
                          </a:solidFill>
                        </a:rPr>
                        <a:t>169.52</a:t>
                      </a:r>
                    </a:p>
                  </a:txBody>
                  <a:tcPr>
                    <a:solidFill>
                      <a:srgbClr val="F5F7FA"/>
                    </a:solidFill>
                  </a:tcPr>
                </a:tc>
                <a:tc>
                  <a:txBody>
                    <a:bodyPr/>
                    <a:lstStyle/>
                    <a:p>
                      <a:pPr algn="ctr"/>
                      <a:r>
                        <a:rPr sz="750" b="0">
                          <a:solidFill>
                            <a:srgbClr val="1A1A1A"/>
                          </a:solidFill>
                        </a:rPr>
                        <a:t>194.9</a:t>
                      </a:r>
                    </a:p>
                  </a:txBody>
                  <a:tcPr>
                    <a:solidFill>
                      <a:srgbClr val="F5F7FA"/>
                    </a:solidFill>
                  </a:tcPr>
                </a:tc>
                <a:tc>
                  <a:txBody>
                    <a:bodyPr/>
                    <a:lstStyle/>
                    <a:p>
                      <a:pPr algn="ctr"/>
                      <a:r>
                        <a:rPr sz="750" b="0">
                          <a:solidFill>
                            <a:srgbClr val="1A1A1A"/>
                          </a:solidFill>
                        </a:rPr>
                        <a:t>&lt; 161.0</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AVB</a:t>
                      </a:r>
                    </a:p>
                  </a:txBody>
                  <a:tcPr>
                    <a:noFill/>
                  </a:tcPr>
                </a:tc>
                <a:tc>
                  <a:txBody>
                    <a:bodyPr/>
                    <a:lstStyle/>
                    <a:p>
                      <a:pPr algn="ctr"/>
                      <a:r>
                        <a:rPr sz="750" b="0">
                          <a:solidFill>
                            <a:srgbClr val="1A1A1A"/>
                          </a:solidFill>
                        </a:rPr>
                        <a:t>AvalonBay Communities, I</a:t>
                      </a:r>
                    </a:p>
                  </a:txBody>
                  <a:tcPr>
                    <a:noFill/>
                  </a:tcPr>
                </a:tc>
                <a:tc>
                  <a:txBody>
                    <a:bodyPr/>
                    <a:lstStyle/>
                    <a:p>
                      <a:pPr algn="ctr"/>
                      <a:r>
                        <a:rPr sz="750" b="0">
                          <a:solidFill>
                            <a:srgbClr val="1A1A1A"/>
                          </a:solidFill>
                        </a:rPr>
                        <a:t>160.81</a:t>
                      </a:r>
                    </a:p>
                  </a:txBody>
                  <a:tcPr>
                    <a:noFill/>
                  </a:tcPr>
                </a:tc>
                <a:tc>
                  <a:txBody>
                    <a:bodyPr/>
                    <a:lstStyle/>
                    <a:p>
                      <a:pPr algn="ctr"/>
                      <a:r>
                        <a:rPr sz="750" b="0">
                          <a:solidFill>
                            <a:srgbClr val="1A1A1A"/>
                          </a:solidFill>
                        </a:rPr>
                        <a:t>184.9</a:t>
                      </a:r>
                    </a:p>
                  </a:txBody>
                  <a:tcPr>
                    <a:noFill/>
                  </a:tcPr>
                </a:tc>
                <a:tc>
                  <a:txBody>
                    <a:bodyPr/>
                    <a:lstStyle/>
                    <a:p>
                      <a:pPr algn="ctr"/>
                      <a:r>
                        <a:rPr sz="750" b="0">
                          <a:solidFill>
                            <a:srgbClr val="1A1A1A"/>
                          </a:solidFill>
                        </a:rPr>
                        <a:t>&lt; 152.8</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PLD</a:t>
                      </a:r>
                    </a:p>
                  </a:txBody>
                  <a:tcPr>
                    <a:solidFill>
                      <a:srgbClr val="F5F7FA"/>
                    </a:solidFill>
                  </a:tcPr>
                </a:tc>
                <a:tc>
                  <a:txBody>
                    <a:bodyPr/>
                    <a:lstStyle/>
                    <a:p>
                      <a:pPr algn="ctr"/>
                      <a:r>
                        <a:rPr sz="750" b="0">
                          <a:solidFill>
                            <a:srgbClr val="1A1A1A"/>
                          </a:solidFill>
                        </a:rPr>
                        <a:t>Prologis, Inc.</a:t>
                      </a:r>
                    </a:p>
                  </a:txBody>
                  <a:tcPr>
                    <a:solidFill>
                      <a:srgbClr val="F5F7FA"/>
                    </a:solidFill>
                  </a:tcPr>
                </a:tc>
                <a:tc>
                  <a:txBody>
                    <a:bodyPr/>
                    <a:lstStyle/>
                    <a:p>
                      <a:pPr algn="ctr"/>
                      <a:r>
                        <a:rPr sz="750" b="0">
                          <a:solidFill>
                            <a:srgbClr val="1A1A1A"/>
                          </a:solidFill>
                        </a:rPr>
                        <a:t>128.9</a:t>
                      </a:r>
                    </a:p>
                  </a:txBody>
                  <a:tcPr>
                    <a:solidFill>
                      <a:srgbClr val="F5F7FA"/>
                    </a:solidFill>
                  </a:tcPr>
                </a:tc>
                <a:tc>
                  <a:txBody>
                    <a:bodyPr/>
                    <a:lstStyle/>
                    <a:p>
                      <a:pPr algn="ctr"/>
                      <a:r>
                        <a:rPr sz="750" b="0">
                          <a:solidFill>
                            <a:srgbClr val="1A1A1A"/>
                          </a:solidFill>
                        </a:rPr>
                        <a:t>148.2</a:t>
                      </a:r>
                    </a:p>
                  </a:txBody>
                  <a:tcPr>
                    <a:solidFill>
                      <a:srgbClr val="F5F7FA"/>
                    </a:solidFill>
                  </a:tcPr>
                </a:tc>
                <a:tc>
                  <a:txBody>
                    <a:bodyPr/>
                    <a:lstStyle/>
                    <a:p>
                      <a:pPr algn="ctr"/>
                      <a:r>
                        <a:rPr sz="750" b="0">
                          <a:solidFill>
                            <a:srgbClr val="1A1A1A"/>
                          </a:solidFill>
                        </a:rPr>
                        <a:t>&lt; 122.5</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O</a:t>
                      </a:r>
                    </a:p>
                  </a:txBody>
                  <a:tcPr>
                    <a:noFill/>
                  </a:tcPr>
                </a:tc>
                <a:tc>
                  <a:txBody>
                    <a:bodyPr/>
                    <a:lstStyle/>
                    <a:p>
                      <a:pPr algn="ctr"/>
                      <a:r>
                        <a:rPr sz="750" b="0">
                          <a:solidFill>
                            <a:srgbClr val="1A1A1A"/>
                          </a:solidFill>
                        </a:rPr>
                        <a:t>Realty Income Corporatio</a:t>
                      </a:r>
                    </a:p>
                  </a:txBody>
                  <a:tcPr>
                    <a:noFill/>
                  </a:tcPr>
                </a:tc>
                <a:tc>
                  <a:txBody>
                    <a:bodyPr/>
                    <a:lstStyle/>
                    <a:p>
                      <a:pPr algn="ctr"/>
                      <a:r>
                        <a:rPr sz="750" b="0">
                          <a:solidFill>
                            <a:srgbClr val="1A1A1A"/>
                          </a:solidFill>
                        </a:rPr>
                        <a:t>60.69</a:t>
                      </a:r>
                    </a:p>
                  </a:txBody>
                  <a:tcPr>
                    <a:noFill/>
                  </a:tcPr>
                </a:tc>
                <a:tc>
                  <a:txBody>
                    <a:bodyPr/>
                    <a:lstStyle/>
                    <a:p>
                      <a:pPr algn="ctr"/>
                      <a:r>
                        <a:rPr sz="750" b="0">
                          <a:solidFill>
                            <a:srgbClr val="1A1A1A"/>
                          </a:solidFill>
                        </a:rPr>
                        <a:t>69.8</a:t>
                      </a:r>
                    </a:p>
                  </a:txBody>
                  <a:tcPr>
                    <a:noFill/>
                  </a:tcPr>
                </a:tc>
                <a:tc>
                  <a:txBody>
                    <a:bodyPr/>
                    <a:lstStyle/>
                    <a:p>
                      <a:pPr algn="ctr"/>
                      <a:r>
                        <a:rPr sz="750" b="0">
                          <a:solidFill>
                            <a:srgbClr val="1A1A1A"/>
                          </a:solidFill>
                        </a:rPr>
                        <a:t>&lt; 57.7</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PSA</a:t>
                      </a:r>
                    </a:p>
                  </a:txBody>
                  <a:tcPr>
                    <a:solidFill>
                      <a:srgbClr val="F5F7FA"/>
                    </a:solidFill>
                  </a:tcPr>
                </a:tc>
                <a:tc>
                  <a:txBody>
                    <a:bodyPr/>
                    <a:lstStyle/>
                    <a:p>
                      <a:pPr algn="ctr"/>
                      <a:r>
                        <a:rPr sz="750" b="0">
                          <a:solidFill>
                            <a:srgbClr val="1A1A1A"/>
                          </a:solidFill>
                        </a:rPr>
                        <a:t>Public Storage</a:t>
                      </a:r>
                    </a:p>
                  </a:txBody>
                  <a:tcPr>
                    <a:solidFill>
                      <a:srgbClr val="F5F7FA"/>
                    </a:solidFill>
                  </a:tcPr>
                </a:tc>
                <a:tc>
                  <a:txBody>
                    <a:bodyPr/>
                    <a:lstStyle/>
                    <a:p>
                      <a:pPr algn="ctr"/>
                      <a:r>
                        <a:rPr sz="750" b="0">
                          <a:solidFill>
                            <a:srgbClr val="1A1A1A"/>
                          </a:solidFill>
                        </a:rPr>
                        <a:t>266.01</a:t>
                      </a:r>
                    </a:p>
                  </a:txBody>
                  <a:tcPr>
                    <a:solidFill>
                      <a:srgbClr val="F5F7FA"/>
                    </a:solidFill>
                  </a:tcPr>
                </a:tc>
                <a:tc>
                  <a:txBody>
                    <a:bodyPr/>
                    <a:lstStyle/>
                    <a:p>
                      <a:pPr algn="ctr"/>
                      <a:r>
                        <a:rPr sz="750" b="0">
                          <a:solidFill>
                            <a:srgbClr val="1A1A1A"/>
                          </a:solidFill>
                        </a:rPr>
                        <a:t>305.9</a:t>
                      </a:r>
                    </a:p>
                  </a:txBody>
                  <a:tcPr>
                    <a:solidFill>
                      <a:srgbClr val="F5F7FA"/>
                    </a:solidFill>
                  </a:tcPr>
                </a:tc>
                <a:tc>
                  <a:txBody>
                    <a:bodyPr/>
                    <a:lstStyle/>
                    <a:p>
                      <a:pPr algn="ctr"/>
                      <a:r>
                        <a:rPr sz="750" b="0">
                          <a:solidFill>
                            <a:srgbClr val="1A1A1A"/>
                          </a:solidFill>
                        </a:rPr>
                        <a:t>&lt; 252.7</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98000">
                <a:tc>
                  <a:txBody>
                    <a:bodyPr/>
                    <a:lstStyle/>
                    <a:p>
                      <a:pPr algn="ctr"/>
                      <a:r>
                        <a:rPr sz="750" b="0">
                          <a:solidFill>
                            <a:srgbClr val="1A1A1A"/>
                          </a:solidFill>
                        </a:rPr>
                        <a:t>EQIX</a:t>
                      </a:r>
                    </a:p>
                  </a:txBody>
                  <a:tcPr>
                    <a:noFill/>
                  </a:tcPr>
                </a:tc>
                <a:tc>
                  <a:txBody>
                    <a:bodyPr/>
                    <a:lstStyle/>
                    <a:p>
                      <a:pPr algn="ctr"/>
                      <a:r>
                        <a:rPr sz="750" b="0">
                          <a:solidFill>
                            <a:srgbClr val="1A1A1A"/>
                          </a:solidFill>
                        </a:rPr>
                        <a:t>Equinix, Inc.</a:t>
                      </a:r>
                    </a:p>
                  </a:txBody>
                  <a:tcPr>
                    <a:noFill/>
                  </a:tcPr>
                </a:tc>
                <a:tc>
                  <a:txBody>
                    <a:bodyPr/>
                    <a:lstStyle/>
                    <a:p>
                      <a:pPr algn="ctr"/>
                      <a:r>
                        <a:rPr sz="750" b="0">
                          <a:solidFill>
                            <a:srgbClr val="1A1A1A"/>
                          </a:solidFill>
                        </a:rPr>
                        <a:t>963.0</a:t>
                      </a:r>
                    </a:p>
                  </a:txBody>
                  <a:tcPr>
                    <a:noFill/>
                  </a:tcPr>
                </a:tc>
                <a:tc>
                  <a:txBody>
                    <a:bodyPr/>
                    <a:lstStyle/>
                    <a:p>
                      <a:pPr algn="ctr"/>
                      <a:r>
                        <a:rPr sz="750" b="0">
                          <a:solidFill>
                            <a:srgbClr val="1A1A1A"/>
                          </a:solidFill>
                        </a:rPr>
                        <a:t>1107.4</a:t>
                      </a:r>
                    </a:p>
                  </a:txBody>
                  <a:tcPr>
                    <a:noFill/>
                  </a:tcPr>
                </a:tc>
                <a:tc>
                  <a:txBody>
                    <a:bodyPr/>
                    <a:lstStyle/>
                    <a:p>
                      <a:pPr algn="ctr"/>
                      <a:r>
                        <a:rPr sz="750" b="0">
                          <a:solidFill>
                            <a:srgbClr val="1A1A1A"/>
                          </a:solidFill>
                        </a:rPr>
                        <a:t>&lt; 914.8</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98000">
                <a:tc>
                  <a:txBody>
                    <a:bodyPr/>
                    <a:lstStyle/>
                    <a:p>
                      <a:pPr algn="ctr"/>
                      <a:r>
                        <a:rPr sz="750" b="0">
                          <a:solidFill>
                            <a:srgbClr val="1A1A1A"/>
                          </a:solidFill>
                        </a:rPr>
                        <a:t>CCI</a:t>
                      </a:r>
                    </a:p>
                  </a:txBody>
                  <a:tcPr>
                    <a:solidFill>
                      <a:srgbClr val="F5F7FA"/>
                    </a:solidFill>
                  </a:tcPr>
                </a:tc>
                <a:tc>
                  <a:txBody>
                    <a:bodyPr/>
                    <a:lstStyle/>
                    <a:p>
                      <a:pPr algn="ctr"/>
                      <a:r>
                        <a:rPr sz="750" b="0">
                          <a:solidFill>
                            <a:srgbClr val="1A1A1A"/>
                          </a:solidFill>
                        </a:rPr>
                        <a:t>Crown Castle Inc.</a:t>
                      </a:r>
                    </a:p>
                  </a:txBody>
                  <a:tcPr>
                    <a:solidFill>
                      <a:srgbClr val="F5F7FA"/>
                    </a:solidFill>
                  </a:tcPr>
                </a:tc>
                <a:tc>
                  <a:txBody>
                    <a:bodyPr/>
                    <a:lstStyle/>
                    <a:p>
                      <a:pPr algn="ctr"/>
                      <a:r>
                        <a:rPr sz="750" b="0">
                          <a:solidFill>
                            <a:srgbClr val="1A1A1A"/>
                          </a:solidFill>
                        </a:rPr>
                        <a:t>78.59</a:t>
                      </a:r>
                    </a:p>
                  </a:txBody>
                  <a:tcPr>
                    <a:solidFill>
                      <a:srgbClr val="F5F7FA"/>
                    </a:solidFill>
                  </a:tcPr>
                </a:tc>
                <a:tc>
                  <a:txBody>
                    <a:bodyPr/>
                    <a:lstStyle/>
                    <a:p>
                      <a:pPr algn="ctr"/>
                      <a:r>
                        <a:rPr sz="750" b="0">
                          <a:solidFill>
                            <a:srgbClr val="1A1A1A"/>
                          </a:solidFill>
                        </a:rPr>
                        <a:t>90.4</a:t>
                      </a:r>
                    </a:p>
                  </a:txBody>
                  <a:tcPr>
                    <a:solidFill>
                      <a:srgbClr val="F5F7FA"/>
                    </a:solidFill>
                  </a:tcPr>
                </a:tc>
                <a:tc>
                  <a:txBody>
                    <a:bodyPr/>
                    <a:lstStyle/>
                    <a:p>
                      <a:pPr algn="ctr"/>
                      <a:r>
                        <a:rPr sz="750" b="0">
                          <a:solidFill>
                            <a:srgbClr val="1A1A1A"/>
                          </a:solidFill>
                        </a:rPr>
                        <a:t>&lt; 74.7</a:t>
                      </a:r>
                    </a:p>
                  </a:txBody>
                  <a:tcPr>
                    <a:solidFill>
                      <a:srgbClr val="F5F7FA"/>
                    </a:solidFill>
                  </a:tcPr>
                </a:tc>
                <a:tc>
                  <a:txBody>
                    <a:bodyPr/>
                    <a:lstStyle/>
                    <a:p>
                      <a:pPr algn="ctr"/>
                      <a:r>
                        <a:rPr sz="750" b="0">
                          <a:solidFill>
                            <a:srgbClr val="1A1A1A"/>
                          </a:solidFill>
                        </a:rPr>
                        <a:t>Eviter</a:t>
                      </a:r>
                    </a:p>
                  </a:txBody>
                  <a:tcPr>
                    <a:solidFill>
                      <a:srgbClr val="F5F7FA"/>
                    </a:solidFill>
                  </a:tcPr>
                </a:tc>
                <a:tc>
                  <a:txBody>
                    <a:bodyPr/>
                    <a:lstStyle/>
                    <a:p>
                      <a:pPr algn="ctr"/>
                      <a:r>
                        <a:rPr sz="750" b="0">
                          <a:solidFill>
                            <a:srgbClr val="1A1A1A"/>
                          </a:solidFill>
                        </a:rPr>
                        <a:t>~35 %</a:t>
                      </a:r>
                    </a:p>
                  </a:txBody>
                  <a:tcPr>
                    <a:solidFill>
                      <a:srgbClr val="F5F7FA"/>
                    </a:solidFill>
                  </a:tcPr>
                </a:tc>
              </a:tr>
            </a:tbl>
          </a:graphicData>
        </a:graphic>
      </p:graphicFrame>
      <p:sp>
        <p:nvSpPr>
          <p:cNvPr id="19" name="Rectangle 18"/>
          <p:cNvSpPr/>
          <p:nvPr/>
        </p:nvSpPr>
        <p:spPr>
          <a:xfrm>
            <a:off x="324000" y="3114000"/>
            <a:ext cx="8496000" cy="576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114000"/>
            <a:ext cx="36000" cy="57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142800"/>
            <a:ext cx="8316000" cy="180000"/>
          </a:xfrm>
          <a:prstGeom prst="rect">
            <a:avLst/>
          </a:prstGeom>
          <a:noFill/>
        </p:spPr>
        <p:txBody>
          <a:bodyPr wrap="square">
            <a:spAutoFit/>
          </a:bodyPr>
          <a:lstStyle/>
          <a:p>
            <a:pPr algn="l"/>
            <a:r>
              <a:rPr sz="800" b="1" i="0">
                <a:solidFill>
                  <a:srgbClr val="B06000"/>
                </a:solidFill>
              </a:rPr>
              <a:t>NOTE METHODOLOGIQUE</a:t>
            </a:r>
          </a:p>
        </p:txBody>
      </p:sp>
      <p:sp>
        <p:nvSpPr>
          <p:cNvPr id="22" name="TextBox 21"/>
          <p:cNvSpPr txBox="1"/>
          <p:nvPr/>
        </p:nvSpPr>
        <p:spPr>
          <a:xfrm>
            <a:off x="468000" y="3330000"/>
            <a:ext cx="8316000" cy="324000"/>
          </a:xfrm>
          <a:prstGeom prst="rect">
            <a:avLst/>
          </a:prstGeom>
          <a:noFill/>
        </p:spPr>
        <p:txBody>
          <a:bodyPr wrap="square">
            <a:spAutoFit/>
          </a:bodyPr>
          <a:lstStyle/>
          <a:p>
            <a:pPr algn="l"/>
            <a:r>
              <a:rPr sz="750" b="0" i="0">
                <a:solidFill>
                  <a:srgbClr val="555555"/>
                </a:solidFill>
              </a:rPr>
              <a:t>La probabilite de rendement positif a 12 mois est calculee sur des configurations similaires identifiees en backtesting sur donnees historiques (2010-2024). Elle ne constitue pas une garantie de performance future.</a:t>
            </a:r>
          </a:p>
        </p:txBody>
      </p:sp>
      <p:sp>
        <p:nvSpPr>
          <p:cNvPr id="23" name="Rectangle 22"/>
          <p:cNvSpPr/>
          <p:nvPr/>
        </p:nvSpPr>
        <p:spPr>
          <a:xfrm>
            <a:off x="32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2000" y="4086000"/>
            <a:ext cx="2592000" cy="360000"/>
          </a:xfrm>
          <a:prstGeom prst="rect">
            <a:avLst/>
          </a:prstGeom>
          <a:noFill/>
        </p:spPr>
        <p:txBody>
          <a:bodyPr wrap="square">
            <a:spAutoFit/>
          </a:bodyPr>
          <a:lstStyle/>
          <a:p>
            <a:pPr algn="l"/>
            <a:r>
              <a:rPr sz="2000" b="1" i="0">
                <a:solidFill>
                  <a:srgbClr val="1B3A6B"/>
                </a:solidFill>
              </a:rPr>
              <a:t>68 %</a:t>
            </a:r>
          </a:p>
        </p:txBody>
      </p:sp>
      <p:sp>
        <p:nvSpPr>
          <p:cNvPr id="26" name="TextBox 25"/>
          <p:cNvSpPr txBox="1"/>
          <p:nvPr/>
        </p:nvSpPr>
        <p:spPr>
          <a:xfrm>
            <a:off x="432000" y="4428000"/>
            <a:ext cx="2592000" cy="162000"/>
          </a:xfrm>
          <a:prstGeom prst="rect">
            <a:avLst/>
          </a:prstGeom>
          <a:noFill/>
        </p:spPr>
        <p:txBody>
          <a:bodyPr wrap="square">
            <a:spAutoFit/>
          </a:bodyPr>
          <a:lstStyle/>
          <a:p>
            <a:pPr algn="l"/>
            <a:r>
              <a:rPr sz="750" b="0" i="0">
                <a:solidFill>
                  <a:srgbClr val="555555"/>
                </a:solidFill>
              </a:rPr>
              <a:t>Proba. rendement +</a:t>
            </a:r>
          </a:p>
        </p:txBody>
      </p:sp>
      <p:sp>
        <p:nvSpPr>
          <p:cNvPr id="27" name="TextBox 26"/>
          <p:cNvSpPr txBox="1"/>
          <p:nvPr/>
        </p:nvSpPr>
        <p:spPr>
          <a:xfrm>
            <a:off x="432000" y="4572000"/>
            <a:ext cx="2592000" cy="144000"/>
          </a:xfrm>
          <a:prstGeom prst="rect">
            <a:avLst/>
          </a:prstGeom>
          <a:noFill/>
        </p:spPr>
        <p:txBody>
          <a:bodyPr wrap="square">
            <a:spAutoFit/>
          </a:bodyPr>
          <a:lstStyle/>
          <a:p>
            <a:pPr algn="l"/>
            <a:r>
              <a:rPr sz="700" b="0" i="0">
                <a:solidFill>
                  <a:srgbClr val="AAAAAA"/>
                </a:solidFill>
              </a:rPr>
              <a:t>historique 12 mois</a:t>
            </a:r>
          </a:p>
        </p:txBody>
      </p:sp>
      <p:sp>
        <p:nvSpPr>
          <p:cNvPr id="28" name="Rectangle 27"/>
          <p:cNvSpPr/>
          <p:nvPr/>
        </p:nvSpPr>
        <p:spPr>
          <a:xfrm>
            <a:off x="3204000"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4000"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12000" y="4086000"/>
            <a:ext cx="2592000" cy="360000"/>
          </a:xfrm>
          <a:prstGeom prst="rect">
            <a:avLst/>
          </a:prstGeom>
          <a:noFill/>
        </p:spPr>
        <p:txBody>
          <a:bodyPr wrap="square">
            <a:spAutoFit/>
          </a:bodyPr>
          <a:lstStyle/>
          <a:p>
            <a:pPr algn="l"/>
            <a:r>
              <a:rPr sz="2000" b="1" i="0">
                <a:solidFill>
                  <a:srgbClr val="1B3A6B"/>
                </a:solidFill>
              </a:rPr>
              <a:t>1 / 8</a:t>
            </a:r>
          </a:p>
        </p:txBody>
      </p:sp>
      <p:sp>
        <p:nvSpPr>
          <p:cNvPr id="31" name="TextBox 30"/>
          <p:cNvSpPr txBox="1"/>
          <p:nvPr/>
        </p:nvSpPr>
        <p:spPr>
          <a:xfrm>
            <a:off x="3312000" y="4428000"/>
            <a:ext cx="2592000" cy="162000"/>
          </a:xfrm>
          <a:prstGeom prst="rect">
            <a:avLst/>
          </a:prstGeom>
          <a:noFill/>
        </p:spPr>
        <p:txBody>
          <a:bodyPr wrap="square">
            <a:spAutoFit/>
          </a:bodyPr>
          <a:lstStyle/>
          <a:p>
            <a:pPr algn="l"/>
            <a:r>
              <a:rPr sz="750" b="0" i="0">
                <a:solidFill>
                  <a:srgbClr val="555555"/>
                </a:solidFill>
              </a:rPr>
              <a:t>Societes en zone</a:t>
            </a:r>
          </a:p>
        </p:txBody>
      </p:sp>
      <p:sp>
        <p:nvSpPr>
          <p:cNvPr id="32" name="TextBox 31"/>
          <p:cNvSpPr txBox="1"/>
          <p:nvPr/>
        </p:nvSpPr>
        <p:spPr>
          <a:xfrm>
            <a:off x="3312000" y="4572000"/>
            <a:ext cx="2592000" cy="144000"/>
          </a:xfrm>
          <a:prstGeom prst="rect">
            <a:avLst/>
          </a:prstGeom>
          <a:noFill/>
        </p:spPr>
        <p:txBody>
          <a:bodyPr wrap="square">
            <a:spAutoFit/>
          </a:bodyPr>
          <a:lstStyle/>
          <a:p>
            <a:pPr algn="l"/>
            <a:r>
              <a:rPr sz="700" b="0" i="0">
                <a:solidFill>
                  <a:srgbClr val="AAAAAA"/>
                </a:solidFill>
              </a:rPr>
              <a:t>recommandation BUY</a:t>
            </a:r>
          </a:p>
        </p:txBody>
      </p:sp>
      <p:sp>
        <p:nvSpPr>
          <p:cNvPr id="33" name="Rectangle 32"/>
          <p:cNvSpPr/>
          <p:nvPr/>
        </p:nvSpPr>
        <p:spPr>
          <a:xfrm>
            <a:off x="6083999" y="4068000"/>
            <a:ext cx="2772000" cy="7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83999" y="4068000"/>
            <a:ext cx="36000" cy="720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92000" y="4086000"/>
            <a:ext cx="2592000" cy="360000"/>
          </a:xfrm>
          <a:prstGeom prst="rect">
            <a:avLst/>
          </a:prstGeom>
          <a:noFill/>
        </p:spPr>
        <p:txBody>
          <a:bodyPr wrap="square">
            <a:spAutoFit/>
          </a:bodyPr>
          <a:lstStyle/>
          <a:p>
            <a:pPr algn="l"/>
            <a:r>
              <a:rPr sz="2000" b="1" i="0">
                <a:solidFill>
                  <a:srgbClr val="1B3A6B"/>
                </a:solidFill>
              </a:rPr>
              <a:t>-10 %</a:t>
            </a:r>
          </a:p>
        </p:txBody>
      </p:sp>
      <p:sp>
        <p:nvSpPr>
          <p:cNvPr id="36" name="TextBox 35"/>
          <p:cNvSpPr txBox="1"/>
          <p:nvPr/>
        </p:nvSpPr>
        <p:spPr>
          <a:xfrm>
            <a:off x="6192000" y="4428000"/>
            <a:ext cx="2592000" cy="162000"/>
          </a:xfrm>
          <a:prstGeom prst="rect">
            <a:avLst/>
          </a:prstGeom>
          <a:noFill/>
        </p:spPr>
        <p:txBody>
          <a:bodyPr wrap="square">
            <a:spAutoFit/>
          </a:bodyPr>
          <a:lstStyle/>
          <a:p>
            <a:pPr algn="l"/>
            <a:r>
              <a:rPr sz="750" b="0" i="0">
                <a:solidFill>
                  <a:srgbClr val="555555"/>
                </a:solidFill>
              </a:rPr>
              <a:t>Décote DCF min.</a:t>
            </a:r>
          </a:p>
        </p:txBody>
      </p:sp>
      <p:sp>
        <p:nvSpPr>
          <p:cNvPr id="37" name="TextBox 36"/>
          <p:cNvSpPr txBox="1"/>
          <p:nvPr/>
        </p:nvSpPr>
        <p:spPr>
          <a:xfrm>
            <a:off x="6192000" y="4572000"/>
            <a:ext cx="2592000" cy="144000"/>
          </a:xfrm>
          <a:prstGeom prst="rect">
            <a:avLst/>
          </a:prstGeom>
          <a:noFill/>
        </p:spPr>
        <p:txBody>
          <a:bodyPr wrap="square">
            <a:spAutoFit/>
          </a:bodyPr>
          <a:lstStyle/>
          <a:p>
            <a:pPr algn="l"/>
            <a:r>
              <a:rPr sz="700" b="0" i="0">
                <a:solidFill>
                  <a:srgbClr val="AAAAAA"/>
                </a:solidFill>
              </a:rPr>
              <a:t>seuil d'activation</a:t>
            </a:r>
          </a:p>
        </p:txBody>
      </p:sp>
      <p:sp>
        <p:nvSpPr>
          <p:cNvPr id="38" name="Rectangle 3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Maintien Taux Élevés</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Taux longs &gt; 4 % prolonges — pressions sur les ANR et les covenants de dette.</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Dégradâtion Locative</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Vacance bureau en hausse post-teletravail — risques sur les loyers tertiaires secondaires.</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Refinancement</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Mur de dette 2025-2027 — risques de dilution pour les foncieres surendettees.</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Taux</a:t>
                      </a:r>
                    </a:p>
                  </a:txBody>
                  <a:tcPr>
                    <a:noFill/>
                  </a:tcPr>
                </a:tc>
                <a:tc>
                  <a:txBody>
                    <a:bodyPr/>
                    <a:lstStyle/>
                    <a:p>
                      <a:pPr algn="ctr"/>
                      <a:r>
                        <a:rPr sz="800" b="0">
                          <a:solidFill>
                            <a:srgbClr val="1A1A1A"/>
                          </a:solidFill>
                        </a:rPr>
                        <a:t>OAT 10Y &gt; 4,5 % pendant 12 mois</a:t>
                      </a:r>
                    </a:p>
                  </a:txBody>
                  <a:tcPr>
                    <a:noFill/>
                  </a:tcPr>
                </a:tc>
                <a:tc>
                  <a:txBody>
                    <a:bodyPr/>
                    <a:lstStyle/>
                    <a:p>
                      <a:pPr algn="ctr"/>
                      <a:r>
                        <a:rPr sz="800" b="0">
                          <a:solidFill>
                            <a:srgbClr val="1A1A1A"/>
                          </a:solidFill>
                        </a:rPr>
                        <a:t>6-12 mois</a:t>
                      </a:r>
                    </a:p>
                  </a:txBody>
                  <a:tcPr>
                    <a:noFill/>
                  </a:tcPr>
                </a:tc>
              </a:tr>
              <a:tr h="223200">
                <a:tc>
                  <a:txBody>
                    <a:bodyPr/>
                    <a:lstStyle/>
                    <a:p>
                      <a:pPr algn="ctr"/>
                      <a:r>
                        <a:rPr sz="800" b="0">
                          <a:solidFill>
                            <a:srgbClr val="1A1A1A"/>
                          </a:solidFill>
                        </a:rPr>
                        <a:t>Vacance</a:t>
                      </a:r>
                    </a:p>
                  </a:txBody>
                  <a:tcPr>
                    <a:solidFill>
                      <a:srgbClr val="F5F7FA"/>
                    </a:solidFill>
                  </a:tcPr>
                </a:tc>
                <a:tc>
                  <a:txBody>
                    <a:bodyPr/>
                    <a:lstStyle/>
                    <a:p>
                      <a:pPr algn="ctr"/>
                      <a:r>
                        <a:rPr sz="800" b="0">
                          <a:solidFill>
                            <a:srgbClr val="1A1A1A"/>
                          </a:solidFill>
                        </a:rPr>
                        <a:t>Vacance bureau &gt; 15 %</a:t>
                      </a:r>
                    </a:p>
                  </a:txBody>
                  <a:tcPr>
                    <a:solidFill>
                      <a:srgbClr val="F5F7FA"/>
                    </a:solidFill>
                  </a:tcPr>
                </a:tc>
                <a:tc>
                  <a:txBody>
                    <a:bodyPr/>
                    <a:lstStyle/>
                    <a:p>
                      <a:pPr algn="ctr"/>
                      <a:r>
                        <a:rPr sz="800" b="0">
                          <a:solidFill>
                            <a:srgbClr val="1A1A1A"/>
                          </a:solidFill>
                        </a:rPr>
                        <a:t>12-18 mois</a:t>
                      </a:r>
                    </a:p>
                  </a:txBody>
                  <a:tcPr>
                    <a:solidFill>
                      <a:srgbClr val="F5F7FA"/>
                    </a:solidFill>
                  </a:tcPr>
                </a:tc>
              </a:tr>
              <a:tr h="223200">
                <a:tc>
                  <a:txBody>
                    <a:bodyPr/>
                    <a:lstStyle/>
                    <a:p>
                      <a:pPr algn="ctr"/>
                      <a:r>
                        <a:rPr sz="800" b="0">
                          <a:solidFill>
                            <a:srgbClr val="1A1A1A"/>
                          </a:solidFill>
                        </a:rPr>
                        <a:t>Dette</a:t>
                      </a:r>
                    </a:p>
                  </a:txBody>
                  <a:tcPr>
                    <a:noFill/>
                  </a:tcPr>
                </a:tc>
                <a:tc>
                  <a:txBody>
                    <a:bodyPr/>
                    <a:lstStyle/>
                    <a:p>
                      <a:pPr algn="ctr"/>
                      <a:r>
                        <a:rPr sz="800" b="0">
                          <a:solidFill>
                            <a:srgbClr val="1A1A1A"/>
                          </a:solidFill>
                        </a:rPr>
                        <a:t>LTV &gt; 50 % — covenant breach</a:t>
                      </a:r>
                    </a:p>
                  </a:txBody>
                  <a:tcPr>
                    <a:noFill/>
                  </a:tcPr>
                </a:tc>
                <a:tc>
                  <a:txBody>
                    <a:bodyPr/>
                    <a:lstStyle/>
                    <a:p>
                      <a:pPr algn="ctr"/>
                      <a:r>
                        <a:rPr sz="800" b="0">
                          <a:solidFill>
                            <a:srgbClr val="1A1A1A"/>
                          </a:solidFill>
                        </a:rPr>
                        <a:t>Immediat</a:t>
                      </a:r>
                    </a:p>
                  </a:txBody>
                  <a:tcPr>
                    <a:noFill/>
                  </a:tcPr>
                </a:tc>
              </a:tr>
              <a:tr h="223200">
                <a:tc>
                  <a:txBody>
                    <a:bodyPr/>
                    <a:lstStyle/>
                    <a:p>
                      <a:pPr algn="ctr"/>
                      <a:r>
                        <a:rPr sz="800" b="0">
                          <a:solidFill>
                            <a:srgbClr val="1A1A1A"/>
                          </a:solidFill>
                        </a:rPr>
                        <a:t>Macro</a:t>
                      </a:r>
                    </a:p>
                  </a:txBody>
                  <a:tcPr>
                    <a:solidFill>
                      <a:srgbClr val="F5F7FA"/>
                    </a:solidFill>
                  </a:tcPr>
                </a:tc>
                <a:tc>
                  <a:txBody>
                    <a:bodyPr/>
                    <a:lstStyle/>
                    <a:p>
                      <a:pPr algn="ctr"/>
                      <a:r>
                        <a:rPr sz="800" b="0">
                          <a:solidFill>
                            <a:srgbClr val="1A1A1A"/>
                          </a:solidFill>
                        </a:rPr>
                        <a:t>Recession — loyers -10 %</a:t>
                      </a:r>
                    </a:p>
                  </a:txBody>
                  <a:tcPr>
                    <a:solidFill>
                      <a:srgbClr val="F5F7FA"/>
                    </a:solidFill>
                  </a:tcPr>
                </a:tc>
                <a:tc>
                  <a:txBody>
                    <a:bodyPr/>
                    <a:lstStyle/>
                    <a:p>
                      <a:pPr algn="ctr"/>
                      <a:r>
                        <a:rPr sz="800" b="0">
                          <a:solidFill>
                            <a:srgbClr val="1A1A1A"/>
                          </a:solidFill>
                        </a:rPr>
                        <a:t>9-12 mois</a:t>
                      </a:r>
                    </a:p>
                  </a:txBody>
                  <a:tcPr>
                    <a:solidFill>
                      <a:srgbClr val="F5F7FA"/>
                    </a:solidFill>
                  </a:tcPr>
                </a:tc>
              </a:tr>
            </a:tbl>
          </a:graphicData>
        </a:graphic>
      </p:graphicFrame>
      <p:sp>
        <p:nvSpPr>
          <p:cNvPr id="29" name="Rectangle 2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8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0.00</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a:t>
            </a:r>
          </a:p>
        </p:txBody>
      </p:sp>
      <p:sp>
        <p:nvSpPr>
          <p:cNvPr id="20" name="Rectangle 19"/>
          <p:cNvSpPr/>
          <p:nvPr/>
        </p:nvSpPr>
        <p:spPr>
          <a:xfrm>
            <a:off x="2412000" y="900000"/>
            <a:ext cx="90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2 articles (25 %)</a:t>
            </a:r>
          </a:p>
        </p:txBody>
      </p:sp>
      <p:sp>
        <p:nvSpPr>
          <p:cNvPr id="23" name="Rectangle 22"/>
          <p:cNvSpPr/>
          <p:nvPr/>
        </p:nvSpPr>
        <p:spPr>
          <a:xfrm>
            <a:off x="2412000" y="1224000"/>
            <a:ext cx="1800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4 articles (50 %)</a:t>
            </a:r>
          </a:p>
        </p:txBody>
      </p:sp>
      <p:sp>
        <p:nvSpPr>
          <p:cNvPr id="26" name="Rectangle 25"/>
          <p:cNvSpPr/>
          <p:nvPr/>
        </p:nvSpPr>
        <p:spPr>
          <a:xfrm>
            <a:off x="2412000" y="1548000"/>
            <a:ext cx="90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2 articles (25 %)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Pivot Monétaire BCE — Baisse des taux directeurs — compression des taux de capitalisation et réévaluation des ANR.</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Maintien Taux Élevés — Taux longs &gt; 4 % prolonges — pressions sur les ANR et les covenants de dette.</a:t>
            </a:r>
          </a:p>
        </p:txBody>
      </p:sp>
      <p:sp>
        <p:nvSpPr>
          <p:cNvPr id="36" name="Rectangle 35"/>
          <p:cNvSpPr/>
          <p:nvPr/>
        </p:nvSpPr>
        <p:spPr>
          <a:xfrm>
            <a:off x="324000" y="2664000"/>
            <a:ext cx="8496000" cy="115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827999"/>
          </a:xfrm>
          <a:prstGeom prst="rect">
            <a:avLst/>
          </a:prstGeom>
          <a:noFill/>
        </p:spPr>
        <p:txBody>
          <a:bodyPr wrap="square">
            <a:spAutoFit/>
          </a:bodyPr>
          <a:lstStyle/>
          <a:p>
            <a:pPr algn="l"/>
            <a:r>
              <a:rPr sz="850" b="0" i="0">
                <a:solidFill>
                  <a:srgbClr val="555555"/>
                </a:solidFill>
              </a:rPr>
              <a:t>Le sentiment agrégé sur le secteur Real Estate S&amp;P 500 ressort neutre (0.00). La dispersion est forte — les leaders sectoriels tirent le sentiment vers le haut tandis que les valeurs en restructuration drainent la composante negative. Cette hétérogénéité valide une approche selective plut que directionelle sur le secteur.</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Sources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complete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Boursiere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Real Estate  ·  S&amp;P 500  ·  Indexe a 100 au debut de la periode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PLD  +16%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AVB  -25%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41 pts — 4 valeur(s) positives vs 4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INTERPRETATION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creation de valeur tandis que d'autres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