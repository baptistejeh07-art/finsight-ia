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FTSE 100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^FTSE  ·  10 secteurs analysés  ·  100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80 %  ·  ERP 4.3%</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65.7/100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8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2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0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FTSE 100 (^FTSE)  ·  10 secteurs  ·  100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10 349  ·  YTD : +4.0%  ·  P/E Forward : 11.6x  ·  ERP : 4.3% (Favorable)  ·  Conviction 80 %</a:t>
            </a:r>
          </a:p>
        </p:txBody>
      </p:sp>
      <p:sp>
        <p:nvSpPr>
          <p:cNvPr id="18" name="Rectangle 17"/>
          <p:cNvSpPr/>
          <p:nvPr/>
        </p:nvSpPr>
        <p:spPr>
          <a:xfrm>
            <a:off x="324000" y="1368000"/>
            <a:ext cx="792000" cy="16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738000" cy="162000"/>
          </a:xfrm>
          <a:prstGeom prst="rect">
            <a:avLst/>
          </a:prstGeom>
          <a:noFill/>
        </p:spPr>
        <p:txBody>
          <a:bodyPr wrap="square" anchor="ctr">
            <a:spAutoFit/>
          </a:bodyPr>
          <a:lstStyle/>
          <a:p>
            <a:pPr algn="ctr"/>
            <a:r>
              <a:rPr sz="750" b="1" i="0">
                <a:solidFill>
                  <a:srgbClr val="FFFFFF"/>
                </a:solidFill>
              </a:rPr>
              <a:t>Régime Bear</a:t>
            </a:r>
          </a:p>
        </p:txBody>
      </p:sp>
      <p:sp>
        <p:nvSpPr>
          <p:cNvPr id="20" name="Rectangle 19"/>
          <p:cNvSpPr/>
          <p:nvPr/>
        </p:nvSpPr>
        <p:spPr>
          <a:xfrm>
            <a:off x="117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6000" y="1368000"/>
            <a:ext cx="738000" cy="162000"/>
          </a:xfrm>
          <a:prstGeom prst="rect">
            <a:avLst/>
          </a:prstGeom>
          <a:noFill/>
        </p:spPr>
        <p:txBody>
          <a:bodyPr wrap="square" anchor="ctr">
            <a:spAutoFit/>
          </a:bodyPr>
          <a:lstStyle/>
          <a:p>
            <a:pPr algn="ctr"/>
            <a:r>
              <a:rPr sz="750" b="0" i="0">
                <a:solidFill>
                  <a:srgbClr val="1B3A6B"/>
                </a:solidFill>
              </a:rPr>
              <a:t>VIX 27</a:t>
            </a:r>
          </a:p>
        </p:txBody>
      </p:sp>
      <p:sp>
        <p:nvSpPr>
          <p:cNvPr id="22" name="Rectangle 21"/>
          <p:cNvSpPr/>
          <p:nvPr/>
        </p:nvSpPr>
        <p:spPr>
          <a:xfrm>
            <a:off x="2015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5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86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7999" y="1368000"/>
            <a:ext cx="738000" cy="162000"/>
          </a:xfrm>
          <a:prstGeom prst="rect">
            <a:avLst/>
          </a:prstGeom>
          <a:noFill/>
        </p:spPr>
        <p:txBody>
          <a:bodyPr wrap="square" anchor="ctr">
            <a:spAutoFit/>
          </a:bodyPr>
          <a:lstStyle/>
          <a:p>
            <a:pPr algn="ctr"/>
            <a:r>
              <a:rPr sz="750" b="0" i="0">
                <a:solidFill>
                  <a:srgbClr val="1B3A6B"/>
                </a:solidFill>
              </a:rPr>
              <a:t>Rec. 6M 34%</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Accélération de la transition énergétique</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Les entreprises des secteurs Utilities et Materials pourraient bénéficier d’investissements massifs dans les infrastruct</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Résilience des dividendes</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Les sociétés du FTSE 100 affichent des rendements dividendes élevés (moyenne ~4%), offrant un coussin de protection en c</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Dépréciation de la livre sterling</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Une livre sterling plus faible soutient les exportations des multinationales du FTSE 100, notamment dans les secteurs In</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FTSE 100 est Surpondérer avec une conviction de 80% (sur la base des 10 secteurs analyses). 8 secteur(s) ressortent Surpondérer — Utilities, Materials, Industrials — portes par leur momentum positif 52 semaines. 2 secteurs sont Neutre et 0 en Sous-ponderer.  Le FTSE 100 affiche un cours de 10 349 (YTD : +4.0%). P/E Forward 11.6x vs médiane historique 10 ans 13.5x — valorisation en ligne avec l'historique. ERP Damodaran 4.3% (adequat). Score composite moyen : 65.7/100 — conviction 80 %.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FTSE 100  ·  ^FTSE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10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FTSE 100 (^FTSE)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FTSE 100 regroupe les 100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10 349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+4.0%</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11.6x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13.5x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4.3%</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10</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100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Surpondérer (score composite 65.7/100). P/E Forward 11.6x vs médiane historique 13.5x — valorisation proche des normes historiques. ERP Damodaran : 4.3% (Favorable). Secteurs a Surponderer : Utilities  ·  Materials  ·  Industrials. Secteurs a Sous-ponderer : aucun. 2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FTSE 100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11.6x</a:t>
                      </a:r>
                    </a:p>
                  </a:txBody>
                  <a:tcPr>
                    <a:noFill/>
                  </a:tcPr>
                </a:tc>
                <a:tc>
                  <a:txBody>
                    <a:bodyPr/>
                    <a:lstStyle/>
                    <a:p>
                      <a:pPr algn="ctr"/>
                      <a:r>
                        <a:rPr sz="800" b="0">
                          <a:solidFill>
                            <a:srgbClr val="1A1A1A"/>
                          </a:solidFill>
                        </a:rPr>
                        <a:t>-14% decote</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13.5x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4.3%</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-14% decote</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Le P/E de 11,6x reste attractif par rapport à sa moyenne historique de 13,5x, reflétant une décote justifiée par les incertitudes macroéconomiques. L’ERP de 4,3% est favorable, mais dépend fortement de la stabilité des taux longs et des primes de risque sectorielles.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FTSE 100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10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10 secteurs GICS  ·  100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45454">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45454">
                <a:tc>
                  <a:txBody>
                    <a:bodyPr/>
                    <a:lstStyle/>
                    <a:p>
                      <a:pPr algn="ctr"/>
                      <a:r>
                        <a:rPr sz="800" b="0">
                          <a:solidFill>
                            <a:srgbClr val="1A1A1A"/>
                          </a:solidFill>
                        </a:rPr>
                        <a:t>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34.2%</a:t>
                      </a:r>
                    </a:p>
                  </a:txBody>
                  <a:tcPr>
                    <a:noFill/>
                  </a:tcPr>
                </a:tc>
                <a:tc>
                  <a:txBody>
                    <a:bodyPr/>
                    <a:lstStyle/>
                    <a:p>
                      <a:pPr algn="ctr"/>
                      <a:r>
                        <a:rPr sz="800" b="0">
                          <a:solidFill>
                            <a:srgbClr val="1A1A1A"/>
                          </a:solidFill>
                        </a:rPr>
                        <a:t>-5.7%</a:t>
                      </a:r>
                    </a:p>
                  </a:txBody>
                  <a:tcPr>
                    <a:noFill/>
                  </a:tcPr>
                </a:tc>
                <a:tc>
                  <a:txBody>
                    <a:bodyPr/>
                    <a:lstStyle/>
                    <a:p>
                      <a:pPr algn="ctr"/>
                      <a:r>
                        <a:rPr sz="800" b="0">
                          <a:solidFill>
                            <a:srgbClr val="1A1A1A"/>
                          </a:solidFill>
                        </a:rPr>
                        <a:t>1.8x</a:t>
                      </a:r>
                    </a:p>
                  </a:txBody>
                  <a:tcPr>
                    <a:noFill/>
                  </a:tcPr>
                </a:tc>
                <a:tc>
                  <a:txBody>
                    <a:bodyPr/>
                    <a:lstStyle/>
                    <a:p>
                      <a:pPr algn="ctr"/>
                      <a:r>
                        <a:rPr sz="800" b="0">
                          <a:solidFill>
                            <a:srgbClr val="1A1A1A"/>
                          </a:solidFill>
                        </a:rPr>
                        <a:t>3.5%</a:t>
                      </a:r>
                    </a:p>
                  </a:txBody>
                  <a:tcPr>
                    <a:noFill/>
                  </a:tcPr>
                </a:tc>
              </a:tr>
              <a:tr h="245454">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28.8%</a:t>
                      </a:r>
                    </a:p>
                  </a:txBody>
                  <a:tcPr>
                    <a:solidFill>
                      <a:srgbClr val="F5F7FA"/>
                    </a:solidFill>
                  </a:tcPr>
                </a:tc>
                <a:tc>
                  <a:txBody>
                    <a:bodyPr/>
                    <a:lstStyle/>
                    <a:p>
                      <a:pPr algn="ctr"/>
                      <a:r>
                        <a:rPr sz="800" b="0">
                          <a:solidFill>
                            <a:srgbClr val="1A1A1A"/>
                          </a:solidFill>
                        </a:rPr>
                        <a:t>+15.9%</a:t>
                      </a:r>
                    </a:p>
                  </a:txBody>
                  <a:tcPr>
                    <a:solidFill>
                      <a:srgbClr val="F5F7FA"/>
                    </a:solidFill>
                  </a:tcPr>
                </a:tc>
                <a:tc>
                  <a:txBody>
                    <a:bodyPr/>
                    <a:lstStyle/>
                    <a:p>
                      <a:pPr algn="ctr"/>
                      <a:r>
                        <a:rPr sz="800" b="0">
                          <a:solidFill>
                            <a:srgbClr val="1A1A1A"/>
                          </a:solidFill>
                        </a:rPr>
                        <a:t>3.8x</a:t>
                      </a:r>
                    </a:p>
                  </a:txBody>
                  <a:tcPr>
                    <a:solidFill>
                      <a:srgbClr val="F5F7FA"/>
                    </a:solidFill>
                  </a:tcPr>
                </a:tc>
                <a:tc>
                  <a:txBody>
                    <a:bodyPr/>
                    <a:lstStyle/>
                    <a:p>
                      <a:pPr algn="ctr"/>
                      <a:r>
                        <a:rPr sz="800" b="0">
                          <a:solidFill>
                            <a:srgbClr val="1A1A1A"/>
                          </a:solidFill>
                        </a:rPr>
                        <a:t>2.2%</a:t>
                      </a:r>
                    </a:p>
                  </a:txBody>
                  <a:tcPr>
                    <a:solidFill>
                      <a:srgbClr val="F5F7FA"/>
                    </a:solidFill>
                  </a:tcPr>
                </a:tc>
              </a:tr>
              <a:tr h="245454">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71</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21.3%</a:t>
                      </a:r>
                    </a:p>
                  </a:txBody>
                  <a:tcPr>
                    <a:noFill/>
                  </a:tcPr>
                </a:tc>
                <a:tc>
                  <a:txBody>
                    <a:bodyPr/>
                    <a:lstStyle/>
                    <a:p>
                      <a:pPr algn="ctr"/>
                      <a:r>
                        <a:rPr sz="800" b="0">
                          <a:solidFill>
                            <a:srgbClr val="1A1A1A"/>
                          </a:solidFill>
                        </a:rPr>
                        <a:t>+6.9%</a:t>
                      </a:r>
                    </a:p>
                  </a:txBody>
                  <a:tcPr>
                    <a:noFill/>
                  </a:tcPr>
                </a:tc>
                <a:tc>
                  <a:txBody>
                    <a:bodyPr/>
                    <a:lstStyle/>
                    <a:p>
                      <a:pPr algn="ctr"/>
                      <a:r>
                        <a:rPr sz="800" b="0">
                          <a:solidFill>
                            <a:srgbClr val="1A1A1A"/>
                          </a:solidFill>
                        </a:rPr>
                        <a:t>4.9x</a:t>
                      </a:r>
                    </a:p>
                  </a:txBody>
                  <a:tcPr>
                    <a:noFill/>
                  </a:tcPr>
                </a:tc>
                <a:tc>
                  <a:txBody>
                    <a:bodyPr/>
                    <a:lstStyle/>
                    <a:p>
                      <a:pPr algn="ctr"/>
                      <a:r>
                        <a:rPr sz="800" b="0">
                          <a:solidFill>
                            <a:srgbClr val="1A1A1A"/>
                          </a:solidFill>
                        </a:rPr>
                        <a:t>1.8%</a:t>
                      </a:r>
                    </a:p>
                  </a:txBody>
                  <a:tcPr>
                    <a:noFill/>
                  </a:tcPr>
                </a:tc>
              </a:tr>
              <a:tr h="245454">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69</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19.9%</a:t>
                      </a:r>
                    </a:p>
                  </a:txBody>
                  <a:tcPr>
                    <a:solidFill>
                      <a:srgbClr val="F5F7FA"/>
                    </a:solidFill>
                  </a:tcPr>
                </a:tc>
                <a:tc>
                  <a:txBody>
                    <a:bodyPr/>
                    <a:lstStyle/>
                    <a:p>
                      <a:pPr algn="ctr"/>
                      <a:r>
                        <a:rPr sz="800" b="0">
                          <a:solidFill>
                            <a:srgbClr val="1A1A1A"/>
                          </a:solidFill>
                        </a:rPr>
                        <a:t>+23.8%</a:t>
                      </a:r>
                    </a:p>
                  </a:txBody>
                  <a:tcPr>
                    <a:solidFill>
                      <a:srgbClr val="F5F7FA"/>
                    </a:solidFill>
                  </a:tcPr>
                </a:tc>
                <a:tc>
                  <a:txBody>
                    <a:bodyPr/>
                    <a:lstStyle/>
                    <a:p>
                      <a:pPr algn="ctr"/>
                      <a:r>
                        <a:rPr sz="800" b="0">
                          <a:solidFill>
                            <a:srgbClr val="1A1A1A"/>
                          </a:solidFill>
                        </a:rPr>
                        <a:t>1.5x</a:t>
                      </a:r>
                    </a:p>
                  </a:txBody>
                  <a:tcPr>
                    <a:solidFill>
                      <a:srgbClr val="F5F7FA"/>
                    </a:solidFill>
                  </a:tcPr>
                </a:tc>
                <a:tc>
                  <a:txBody>
                    <a:bodyPr/>
                    <a:lstStyle/>
                    <a:p>
                      <a:pPr algn="ctr"/>
                      <a:r>
                        <a:rPr sz="800" b="0">
                          <a:solidFill>
                            <a:srgbClr val="1A1A1A"/>
                          </a:solidFill>
                        </a:rPr>
                        <a:t>2.5%</a:t>
                      </a:r>
                    </a:p>
                  </a:txBody>
                  <a:tcPr>
                    <a:solidFill>
                      <a:srgbClr val="F5F7FA"/>
                    </a:solidFill>
                  </a:tcPr>
                </a:tc>
              </a:tr>
              <a:tr h="245454">
                <a:tc>
                  <a:txBody>
                    <a:bodyPr/>
                    <a:lstStyle/>
                    <a:p>
                      <a:pPr algn="ctr"/>
                      <a:r>
                        <a:rPr sz="800" b="0">
                          <a:solidFill>
                            <a:srgbClr val="1A1A1A"/>
                          </a:solidFill>
                        </a:rPr>
                        <a:t>5</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68</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10.2%</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2.3x</a:t>
                      </a:r>
                    </a:p>
                  </a:txBody>
                  <a:tcPr>
                    <a:noFill/>
                  </a:tcPr>
                </a:tc>
                <a:tc>
                  <a:txBody>
                    <a:bodyPr/>
                    <a:lstStyle/>
                    <a:p>
                      <a:pPr algn="ctr"/>
                      <a:r>
                        <a:rPr sz="800" b="0">
                          <a:solidFill>
                            <a:srgbClr val="1A1A1A"/>
                          </a:solidFill>
                        </a:rPr>
                        <a:t>4.0%</a:t>
                      </a:r>
                    </a:p>
                  </a:txBody>
                  <a:tcPr>
                    <a:noFill/>
                  </a:tcPr>
                </a:tc>
              </a:tr>
              <a:tr h="245454">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29.4%</a:t>
                      </a:r>
                    </a:p>
                  </a:txBody>
                  <a:tcPr>
                    <a:solidFill>
                      <a:srgbClr val="F5F7FA"/>
                    </a:solidFill>
                  </a:tcPr>
                </a:tc>
                <a:tc>
                  <a:txBody>
                    <a:bodyPr/>
                    <a:lstStyle/>
                    <a:p>
                      <a:pPr algn="ctr"/>
                      <a:r>
                        <a:rPr sz="800" b="0">
                          <a:solidFill>
                            <a:srgbClr val="1A1A1A"/>
                          </a:solidFill>
                        </a:rPr>
                        <a:t>+4.9%</a:t>
                      </a:r>
                    </a:p>
                  </a:txBody>
                  <a:tcPr>
                    <a:solidFill>
                      <a:srgbClr val="F5F7FA"/>
                    </a:solidFill>
                  </a:tcPr>
                </a:tc>
                <a:tc>
                  <a:txBody>
                    <a:bodyPr/>
                    <a:lstStyle/>
                    <a:p>
                      <a:pPr algn="ctr"/>
                      <a:r>
                        <a:rPr sz="800" b="0">
                          <a:solidFill>
                            <a:srgbClr val="1A1A1A"/>
                          </a:solidFill>
                        </a:rPr>
                        <a:t>4.2x</a:t>
                      </a:r>
                    </a:p>
                  </a:txBody>
                  <a:tcPr>
                    <a:solidFill>
                      <a:srgbClr val="F5F7FA"/>
                    </a:solidFill>
                  </a:tcPr>
                </a:tc>
                <a:tc>
                  <a:txBody>
                    <a:bodyPr/>
                    <a:lstStyle/>
                    <a:p>
                      <a:pPr algn="ctr"/>
                      <a:r>
                        <a:rPr sz="800" b="0">
                          <a:solidFill>
                            <a:srgbClr val="1A1A1A"/>
                          </a:solidFill>
                        </a:rPr>
                        <a:t>1.6%</a:t>
                      </a:r>
                    </a:p>
                  </a:txBody>
                  <a:tcPr>
                    <a:solidFill>
                      <a:srgbClr val="F5F7FA"/>
                    </a:solidFill>
                  </a:tcPr>
                </a:tc>
              </a:tr>
              <a:tr h="245454">
                <a:tc>
                  <a:txBody>
                    <a:bodyPr/>
                    <a:lstStyle/>
                    <a:p>
                      <a:pPr algn="ctr"/>
                      <a:r>
                        <a:rPr sz="800" b="0">
                          <a:solidFill>
                            <a:srgbClr val="1A1A1A"/>
                          </a:solidFill>
                        </a:rPr>
                        <a:t>7</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61</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49.6%</a:t>
                      </a:r>
                    </a:p>
                  </a:txBody>
                  <a:tcPr>
                    <a:noFill/>
                  </a:tcPr>
                </a:tc>
                <a:tc>
                  <a:txBody>
                    <a:bodyPr/>
                    <a:lstStyle/>
                    <a:p>
                      <a:pPr algn="ctr"/>
                      <a:r>
                        <a:rPr sz="800" b="0">
                          <a:solidFill>
                            <a:srgbClr val="1A1A1A"/>
                          </a:solidFill>
                        </a:rPr>
                        <a:t>+12.5%</a:t>
                      </a:r>
                    </a:p>
                  </a:txBody>
                  <a:tcPr>
                    <a:noFill/>
                  </a:tcPr>
                </a:tc>
                <a:tc>
                  <a:txBody>
                    <a:bodyPr/>
                    <a:lstStyle/>
                    <a:p>
                      <a:pPr algn="ctr"/>
                      <a:r>
                        <a:rPr sz="800" b="0">
                          <a:solidFill>
                            <a:srgbClr val="1A1A1A"/>
                          </a:solidFill>
                        </a:rPr>
                        <a:t>2.1x</a:t>
                      </a:r>
                    </a:p>
                  </a:txBody>
                  <a:tcPr>
                    <a:noFill/>
                  </a:tcPr>
                </a:tc>
                <a:tc>
                  <a:txBody>
                    <a:bodyPr/>
                    <a:lstStyle/>
                    <a:p>
                      <a:pPr algn="ctr"/>
                      <a:r>
                        <a:rPr sz="800" b="0">
                          <a:solidFill>
                            <a:srgbClr val="1A1A1A"/>
                          </a:solidFill>
                        </a:rPr>
                        <a:t>4.2%</a:t>
                      </a:r>
                    </a:p>
                  </a:txBody>
                  <a:tcPr>
                    <a:noFill/>
                  </a:tcPr>
                </a:tc>
              </a:tr>
              <a:tr h="245454">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61</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42.0%</a:t>
                      </a:r>
                    </a:p>
                  </a:txBody>
                  <a:tcPr>
                    <a:solidFill>
                      <a:srgbClr val="F5F7FA"/>
                    </a:solidFill>
                  </a:tcPr>
                </a:tc>
                <a:tc>
                  <a:txBody>
                    <a:bodyPr/>
                    <a:lstStyle/>
                    <a:p>
                      <a:pPr algn="ctr"/>
                      <a:r>
                        <a:rPr sz="800" b="0">
                          <a:solidFill>
                            <a:srgbClr val="1A1A1A"/>
                          </a:solidFill>
                        </a:rPr>
                        <a:t>+3.3%</a:t>
                      </a:r>
                    </a:p>
                  </a:txBody>
                  <a:tcPr>
                    <a:solidFill>
                      <a:srgbClr val="F5F7FA"/>
                    </a:solidFill>
                  </a:tcPr>
                </a:tc>
                <a:tc>
                  <a:txBody>
                    <a:bodyPr/>
                    <a:lstStyle/>
                    <a:p>
                      <a:pPr algn="ctr"/>
                      <a:r>
                        <a:rPr sz="800" b="0">
                          <a:solidFill>
                            <a:srgbClr val="1A1A1A"/>
                          </a:solidFill>
                        </a:rPr>
                        <a:t>3.6x</a:t>
                      </a:r>
                    </a:p>
                  </a:txBody>
                  <a:tcPr>
                    <a:solidFill>
                      <a:srgbClr val="F5F7FA"/>
                    </a:solidFill>
                  </a:tcPr>
                </a:tc>
                <a:tc>
                  <a:txBody>
                    <a:bodyPr/>
                    <a:lstStyle/>
                    <a:p>
                      <a:pPr algn="ctr"/>
                      <a:r>
                        <a:rPr sz="800" b="0">
                          <a:solidFill>
                            <a:srgbClr val="1A1A1A"/>
                          </a:solidFill>
                        </a:rPr>
                        <a:t>1.1%</a:t>
                      </a:r>
                    </a:p>
                  </a:txBody>
                  <a:tcPr>
                    <a:solidFill>
                      <a:srgbClr val="F5F7FA"/>
                    </a:solidFill>
                  </a:tcPr>
                </a:tc>
              </a:tr>
              <a:tr h="245454">
                <a:tc>
                  <a:txBody>
                    <a:bodyPr/>
                    <a:lstStyle/>
                    <a:p>
                      <a:pPr algn="ctr"/>
                      <a:r>
                        <a:rPr sz="800" b="0">
                          <a:solidFill>
                            <a:srgbClr val="1A1A1A"/>
                          </a:solidFill>
                        </a:rPr>
                        <a:t>9</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56</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13.2%</a:t>
                      </a:r>
                    </a:p>
                  </a:txBody>
                  <a:tcPr>
                    <a:noFill/>
                  </a:tcPr>
                </a:tc>
                <a:tc>
                  <a:txBody>
                    <a:bodyPr/>
                    <a:lstStyle/>
                    <a:p>
                      <a:pPr algn="ctr"/>
                      <a:r>
                        <a:rPr sz="800" b="0">
                          <a:solidFill>
                            <a:srgbClr val="1A1A1A"/>
                          </a:solidFill>
                        </a:rPr>
                        <a:t>+9.2%</a:t>
                      </a:r>
                    </a:p>
                  </a:txBody>
                  <a:tcPr>
                    <a:noFill/>
                  </a:tcPr>
                </a:tc>
                <a:tc>
                  <a:txBody>
                    <a:bodyPr/>
                    <a:lstStyle/>
                    <a:p>
                      <a:pPr algn="ctr"/>
                      <a:r>
                        <a:rPr sz="800" b="0">
                          <a:solidFill>
                            <a:srgbClr val="1A1A1A"/>
                          </a:solidFill>
                        </a:rPr>
                        <a:t>5.8x</a:t>
                      </a:r>
                    </a:p>
                  </a:txBody>
                  <a:tcPr>
                    <a:noFill/>
                  </a:tcPr>
                </a:tc>
                <a:tc>
                  <a:txBody>
                    <a:bodyPr/>
                    <a:lstStyle/>
                    <a:p>
                      <a:pPr algn="ctr"/>
                      <a:r>
                        <a:rPr sz="800" b="0">
                          <a:solidFill>
                            <a:srgbClr val="1A1A1A"/>
                          </a:solidFill>
                        </a:rPr>
                        <a:t>0.9%</a:t>
                      </a:r>
                    </a:p>
                  </a:txBody>
                  <a:tcPr>
                    <a:noFill/>
                  </a:tcPr>
                </a:tc>
              </a:tr>
              <a:tr h="24546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49</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20.5%</a:t>
                      </a:r>
                    </a:p>
                  </a:txBody>
                  <a:tcPr>
                    <a:solidFill>
                      <a:srgbClr val="F5F7FA"/>
                    </a:solidFill>
                  </a:tcPr>
                </a:tc>
                <a:tc>
                  <a:txBody>
                    <a:bodyPr/>
                    <a:lstStyle/>
                    <a:p>
                      <a:pPr algn="ctr"/>
                      <a:r>
                        <a:rPr sz="800" b="0">
                          <a:solidFill>
                            <a:srgbClr val="1A1A1A"/>
                          </a:solidFill>
                        </a:rPr>
                        <a:t>+1.9%</a:t>
                      </a:r>
                    </a:p>
                  </a:txBody>
                  <a:tcPr>
                    <a:solidFill>
                      <a:srgbClr val="F5F7FA"/>
                    </a:solidFill>
                  </a:tcPr>
                </a:tc>
                <a:tc>
                  <a:txBody>
                    <a:bodyPr/>
                    <a:lstStyle/>
                    <a:p>
                      <a:pPr algn="ctr"/>
                      <a:r>
                        <a:rPr sz="800" b="0">
                          <a:solidFill>
                            <a:srgbClr val="1A1A1A"/>
                          </a:solidFill>
                        </a:rPr>
                        <a:t>5.2x</a:t>
                      </a:r>
                    </a:p>
                  </a:txBody>
                  <a:tcPr>
                    <a:solidFill>
                      <a:srgbClr val="F5F7FA"/>
                    </a:solidFill>
                  </a:tcPr>
                </a:tc>
                <a:tc>
                  <a:txBody>
                    <a:bodyPr/>
                    <a:lstStyle/>
                    <a:p>
                      <a:pPr algn="ctr"/>
                      <a:r>
                        <a:rPr sz="800" b="0">
                          <a:solidFill>
                            <a:srgbClr val="1A1A1A"/>
                          </a:solidFill>
                        </a:rPr>
                        <a:t>3.0%</a:t>
                      </a:r>
                    </a:p>
                  </a:txBody>
                  <a:tcPr>
                    <a:solidFill>
                      <a:srgbClr val="F5F7FA"/>
                    </a:solidFill>
                  </a:tcPr>
                </a:tc>
              </a:tr>
            </a:tbl>
          </a:graphicData>
        </a:graphic>
      </p:graphicFrame>
      <p:sp>
        <p:nvSpPr>
          <p:cNvPr id="16" name="Rectangle 15"/>
          <p:cNvSpPr/>
          <p:nvPr/>
        </p:nvSpPr>
        <p:spPr>
          <a:xfrm>
            <a:off x="324000" y="3690000"/>
            <a:ext cx="8496000" cy="111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690000"/>
            <a:ext cx="43200" cy="111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4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3978000"/>
            <a:ext cx="8208000" cy="791999"/>
          </a:xfrm>
          <a:prstGeom prst="rect">
            <a:avLst/>
          </a:prstGeom>
          <a:noFill/>
        </p:spPr>
        <p:txBody>
          <a:bodyPr wrap="square">
            <a:spAutoFit/>
          </a:bodyPr>
          <a:lstStyle/>
          <a:p>
            <a:pPr algn="l"/>
            <a:r>
              <a:rPr sz="750" b="0" i="0">
                <a:solidFill>
                  <a:srgbClr val="555555"/>
                </a:solidFill>
              </a:rPr>
              <a:t>8 secteur(s) sur 10 franchissent le seuil Surpondérer (score &gt; 65) : Utilities · Materials · Industrials · Financials · Energy · Health Care · Real Estate · Communication Services. 0 secteur(s) en Sous-pondérer : aucun. 2 secteur(s) en position Neutre. L'écart entre le secteur leader (Utilities, score 85/100) et le secteur le plus faible (Consumer Staples, score 49/100) est de 36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Utilities  ·  Materials en zone Opportunite (EV/EBITDA attractif) — forte conviction score Surponderer.
Utilities  ·  Materials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10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2909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29090">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75</a:t>
                      </a:r>
                    </a:p>
                  </a:txBody>
                  <a:tcPr>
                    <a:solidFill>
                      <a:srgbClr val="E8F5EE"/>
                    </a:solidFill>
                  </a:tcPr>
                </a:tc>
                <a:tc>
                  <a:txBody>
                    <a:bodyPr/>
                    <a:lstStyle/>
                    <a:p>
                      <a:pPr algn="ctr"/>
                      <a:r>
                        <a:rPr sz="800" b="0">
                          <a:solidFill>
                            <a:srgbClr val="1A1A1A"/>
                          </a:solidFill>
                        </a:rPr>
                        <a:t>30</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Industrials</a:t>
                      </a:r>
                    </a:p>
                  </a:txBody>
                  <a:tcPr>
                    <a:noFill/>
                  </a:tcPr>
                </a:tc>
                <a:tc>
                  <a:txBody>
                    <a:bodyPr/>
                    <a:lstStyle/>
                    <a:p>
                      <a:pPr algn="ctr"/>
                      <a:r>
                        <a:rPr sz="800" b="0">
                          <a:solidFill>
                            <a:srgbClr val="1A1A1A"/>
                          </a:solidFill>
                        </a:rPr>
                        <a:t>71</a:t>
                      </a:r>
                    </a:p>
                  </a:txBody>
                  <a:tcPr>
                    <a:solidFill>
                      <a:srgbClr val="E8F5EE"/>
                    </a:solid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69</a:t>
                      </a:r>
                    </a:p>
                  </a:txBody>
                  <a:tcPr>
                    <a:solidFill>
                      <a:srgbClr val="E8F5EE"/>
                    </a:solidFill>
                  </a:tcPr>
                </a:tc>
                <a:tc>
                  <a:txBody>
                    <a:bodyPr/>
                    <a:lstStyle/>
                    <a:p>
                      <a:pPr algn="ctr"/>
                      <a:r>
                        <a:rPr sz="800" b="0">
                          <a:solidFill>
                            <a:srgbClr val="1A1A1A"/>
                          </a:solidFill>
                        </a:rPr>
                        <a:t>28</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Energy</a:t>
                      </a:r>
                    </a:p>
                  </a:txBody>
                  <a:tcPr>
                    <a:noFill/>
                  </a:tcPr>
                </a:tc>
                <a:tc>
                  <a:txBody>
                    <a:bodyPr/>
                    <a:lstStyle/>
                    <a:p>
                      <a:pPr algn="ctr"/>
                      <a:r>
                        <a:rPr sz="800" b="0">
                          <a:solidFill>
                            <a:srgbClr val="1A1A1A"/>
                          </a:solidFill>
                        </a:rPr>
                        <a:t>68</a:t>
                      </a:r>
                    </a:p>
                  </a:txBody>
                  <a:tcPr>
                    <a:solidFill>
                      <a:srgbClr val="E8F5EE"/>
                    </a:solidFill>
                  </a:tcPr>
                </a:tc>
                <a:tc>
                  <a:txBody>
                    <a:bodyPr/>
                    <a:lstStyle/>
                    <a:p>
                      <a:pPr algn="ctr"/>
                      <a:r>
                        <a:rPr sz="800" b="0">
                          <a:solidFill>
                            <a:srgbClr val="1A1A1A"/>
                          </a:solidFill>
                        </a:rPr>
                        <a:t>27</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62</a:t>
                      </a:r>
                    </a:p>
                  </a:txBody>
                  <a:tcPr>
                    <a:solidFill>
                      <a:srgbClr val="FDF3E5"/>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19</a:t>
                      </a:r>
                    </a:p>
                  </a:txBody>
                  <a:tcPr>
                    <a:solidFill>
                      <a:srgbClr val="F5F7FA"/>
                    </a:solidFill>
                  </a:tcPr>
                </a:tc>
                <a:tc>
                  <a:txBody>
                    <a:bodyPr/>
                    <a:lstStyle/>
                    <a:p>
                      <a:pPr algn="ctr"/>
                      <a:r>
                        <a:rPr sz="800" b="0">
                          <a:solidFill>
                            <a:srgbClr val="1A1A1A"/>
                          </a:solidFill>
                        </a:rPr>
                        <a:t>19</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Real Estate</a:t>
                      </a:r>
                    </a:p>
                  </a:txBody>
                  <a:tcPr>
                    <a:noFill/>
                  </a:tcPr>
                </a:tc>
                <a:tc>
                  <a:txBody>
                    <a:bodyPr/>
                    <a:lstStyle/>
                    <a:p>
                      <a:pPr algn="ctr"/>
                      <a:r>
                        <a:rPr sz="800" b="0">
                          <a:solidFill>
                            <a:srgbClr val="1A1A1A"/>
                          </a:solidFill>
                        </a:rPr>
                        <a:t>61</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61</a:t>
                      </a:r>
                    </a:p>
                  </a:txBody>
                  <a:tcPr>
                    <a:solidFill>
                      <a:srgbClr val="FDF3E5"/>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18</a:t>
                      </a:r>
                    </a:p>
                  </a:txBody>
                  <a:tcPr>
                    <a:solidFill>
                      <a:srgbClr val="F5F7FA"/>
                    </a:solidFill>
                  </a:tcPr>
                </a:tc>
                <a:tc>
                  <a:txBody>
                    <a:bodyPr/>
                    <a:lstStyle/>
                    <a:p>
                      <a:pPr algn="ctr"/>
                      <a:r>
                        <a:rPr sz="800" b="0">
                          <a:solidFill>
                            <a:srgbClr val="1A1A1A"/>
                          </a:solidFill>
                        </a:rPr>
                        <a:t>18</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Cons. Discret.</a:t>
                      </a:r>
                    </a:p>
                  </a:txBody>
                  <a:tcPr>
                    <a:noFill/>
                  </a:tcPr>
                </a:tc>
                <a:tc>
                  <a:txBody>
                    <a:bodyPr/>
                    <a:lstStyle/>
                    <a:p>
                      <a:pPr algn="ctr"/>
                      <a:r>
                        <a:rPr sz="800" b="0">
                          <a:solidFill>
                            <a:srgbClr val="1A1A1A"/>
                          </a:solidFill>
                        </a:rPr>
                        <a:t>56</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17</a:t>
                      </a:r>
                    </a:p>
                  </a:txBody>
                  <a:tcPr>
                    <a:noFill/>
                  </a:tcPr>
                </a:tc>
                <a:tc>
                  <a:txBody>
                    <a:bodyPr/>
                    <a:lstStyle/>
                    <a:p>
                      <a:pPr algn="ctr"/>
                      <a:r>
                        <a:rPr sz="800" b="0">
                          <a:solidFill>
                            <a:srgbClr val="1A1A1A"/>
                          </a:solidFill>
                        </a:rPr>
                        <a:t>17</a:t>
                      </a:r>
                    </a:p>
                  </a:txBody>
                  <a:tcPr>
                    <a:noFill/>
                  </a:tcPr>
                </a:tc>
                <a:tc>
                  <a:txBody>
                    <a:bodyPr/>
                    <a:lstStyle/>
                    <a:p>
                      <a:pPr algn="ctr"/>
                      <a:r>
                        <a:rPr sz="800" b="0">
                          <a:solidFill>
                            <a:srgbClr val="B06000"/>
                          </a:solidFill>
                        </a:rPr>
                        <a:t>Neutre</a:t>
                      </a:r>
                    </a:p>
                  </a:txBody>
                  <a:tcPr>
                    <a:solidFill>
                      <a:srgbClr val="FDF3E5"/>
                    </a:solidFill>
                  </a:tcPr>
                </a:tc>
              </a:tr>
              <a:tr h="229100">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49</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355200"/>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643200"/>
            <a:ext cx="8496000" cy="11627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643200"/>
            <a:ext cx="43200" cy="11627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6972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3931200"/>
            <a:ext cx="8208000" cy="838799"/>
          </a:xfrm>
          <a:prstGeom prst="rect">
            <a:avLst/>
          </a:prstGeom>
          <a:noFill/>
        </p:spPr>
        <p:txBody>
          <a:bodyPr wrap="square">
            <a:spAutoFit/>
          </a:bodyPr>
          <a:lstStyle/>
          <a:p>
            <a:pPr algn="l"/>
            <a:r>
              <a:rPr sz="750" b="0" i="0">
                <a:solidFill>
                  <a:srgbClr val="555555"/>
                </a:solidFill>
              </a:rPr>
              <a:t>Utilities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8.3x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CNA.L</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1.6x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684000" cy="198000"/>
          </a:xfrm>
          <a:prstGeom prst="rect">
            <a:avLst/>
          </a:prstGeom>
          <a:noFill/>
        </p:spPr>
        <p:txBody>
          <a:bodyPr wrap="square">
            <a:spAutoFit/>
          </a:bodyPr>
          <a:lstStyle/>
          <a:p>
            <a:pPr algn="l"/>
            <a:r>
              <a:rPr sz="800" b="1" i="0">
                <a:solidFill>
                  <a:srgbClr val="1B3A6B"/>
                </a:solidFill>
              </a:rPr>
              <a:t>NG.L</a:t>
            </a:r>
          </a:p>
        </p:txBody>
      </p:sp>
      <p:sp>
        <p:nvSpPr>
          <p:cNvPr id="29" name="TextBox 28"/>
          <p:cNvSpPr txBox="1"/>
          <p:nvPr/>
        </p:nvSpPr>
        <p:spPr>
          <a:xfrm>
            <a:off x="1152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692000" y="1915200"/>
            <a:ext cx="540000" cy="198000"/>
          </a:xfrm>
          <a:prstGeom prst="rect">
            <a:avLst/>
          </a:prstGeom>
          <a:noFill/>
        </p:spPr>
        <p:txBody>
          <a:bodyPr wrap="square">
            <a:spAutoFit/>
          </a:bodyPr>
          <a:lstStyle/>
          <a:p>
            <a:pPr algn="l"/>
            <a:r>
              <a:rPr sz="800" b="0" i="0">
                <a:solidFill>
                  <a:srgbClr val="555555"/>
                </a:solidFill>
              </a:rPr>
              <a:t>15.0x</a:t>
            </a:r>
          </a:p>
        </p:txBody>
      </p:sp>
      <p:sp>
        <p:nvSpPr>
          <p:cNvPr id="31" name="TextBox 30"/>
          <p:cNvSpPr txBox="1"/>
          <p:nvPr/>
        </p:nvSpPr>
        <p:spPr>
          <a:xfrm>
            <a:off x="2232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TextBox 31"/>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3" name="Rectangle 32"/>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+43.8% — momentum surpondérer</a:t>
            </a:r>
          </a:p>
        </p:txBody>
      </p:sp>
      <p:sp>
        <p:nvSpPr>
          <p:cNvPr id="35" name="TextBox 34"/>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6" name="Rectangle 35"/>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8" name="Rectangle 37"/>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Materials</a:t>
            </a:r>
          </a:p>
        </p:txBody>
      </p:sp>
      <p:sp>
        <p:nvSpPr>
          <p:cNvPr id="41" name="Rectangle 40"/>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3" name="TextBox 42"/>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75/100  ·  EV/EBITDA : 8.5x</a:t>
            </a:r>
          </a:p>
        </p:txBody>
      </p:sp>
      <p:sp>
        <p:nvSpPr>
          <p:cNvPr id="44" name="TextBox 43"/>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5" name="Rectangle 44"/>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AAL.L</a:t>
            </a:r>
          </a:p>
        </p:txBody>
      </p:sp>
      <p:sp>
        <p:nvSpPr>
          <p:cNvPr id="47" name="TextBox 46"/>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48" name="TextBox 47"/>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8.5x</a:t>
            </a:r>
          </a:p>
        </p:txBody>
      </p:sp>
      <p:sp>
        <p:nvSpPr>
          <p:cNvPr id="49" name="TextBox 48"/>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85</a:t>
            </a:r>
          </a:p>
        </p:txBody>
      </p:sp>
      <p:sp>
        <p:nvSpPr>
          <p:cNvPr id="50" name="Rectangle 49"/>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915200"/>
            <a:ext cx="684000" cy="198000"/>
          </a:xfrm>
          <a:prstGeom prst="rect">
            <a:avLst/>
          </a:prstGeom>
          <a:noFill/>
        </p:spPr>
        <p:txBody>
          <a:bodyPr wrap="square">
            <a:spAutoFit/>
          </a:bodyPr>
          <a:lstStyle/>
          <a:p>
            <a:pPr algn="l"/>
            <a:r>
              <a:rPr sz="800" b="1" i="0">
                <a:solidFill>
                  <a:srgbClr val="1B3A6B"/>
                </a:solidFill>
              </a:rPr>
              <a:t>ANTO.L</a:t>
            </a:r>
          </a:p>
        </p:txBody>
      </p:sp>
      <p:sp>
        <p:nvSpPr>
          <p:cNvPr id="52" name="TextBox 51"/>
          <p:cNvSpPr txBox="1"/>
          <p:nvPr/>
        </p:nvSpPr>
        <p:spPr>
          <a:xfrm>
            <a:off x="3978000" y="19152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518000" y="1915200"/>
            <a:ext cx="540000" cy="198000"/>
          </a:xfrm>
          <a:prstGeom prst="rect">
            <a:avLst/>
          </a:prstGeom>
          <a:noFill/>
        </p:spPr>
        <p:txBody>
          <a:bodyPr wrap="square">
            <a:spAutoFit/>
          </a:bodyPr>
          <a:lstStyle/>
          <a:p>
            <a:pPr algn="l"/>
            <a:r>
              <a:rPr sz="800" b="0" i="0">
                <a:solidFill>
                  <a:srgbClr val="555555"/>
                </a:solidFill>
              </a:rPr>
              <a:t>8.3x</a:t>
            </a:r>
          </a:p>
        </p:txBody>
      </p:sp>
      <p:sp>
        <p:nvSpPr>
          <p:cNvPr id="54" name="TextBox 53"/>
          <p:cNvSpPr txBox="1"/>
          <p:nvPr/>
        </p:nvSpPr>
        <p:spPr>
          <a:xfrm>
            <a:off x="5058000" y="1915200"/>
            <a:ext cx="540000" cy="198000"/>
          </a:xfrm>
          <a:prstGeom prst="rect">
            <a:avLst/>
          </a:prstGeom>
          <a:noFill/>
        </p:spPr>
        <p:txBody>
          <a:bodyPr wrap="square">
            <a:spAutoFit/>
          </a:bodyPr>
          <a:lstStyle/>
          <a:p>
            <a:pPr algn="l"/>
            <a:r>
              <a:rPr sz="800" b="0" i="0">
                <a:solidFill>
                  <a:srgbClr val="555555"/>
                </a:solidFill>
              </a:rPr>
              <a:t>85</a:t>
            </a:r>
          </a:p>
        </p:txBody>
      </p:sp>
      <p:sp>
        <p:nvSpPr>
          <p:cNvPr id="55" name="Rectangle 54"/>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2210400"/>
            <a:ext cx="684000" cy="198000"/>
          </a:xfrm>
          <a:prstGeom prst="rect">
            <a:avLst/>
          </a:prstGeom>
          <a:noFill/>
        </p:spPr>
        <p:txBody>
          <a:bodyPr wrap="square">
            <a:spAutoFit/>
          </a:bodyPr>
          <a:lstStyle/>
          <a:p>
            <a:pPr algn="l"/>
            <a:r>
              <a:rPr sz="800" b="1" i="0">
                <a:solidFill>
                  <a:srgbClr val="1B3A6B"/>
                </a:solidFill>
              </a:rPr>
              <a:t>EDV.L</a:t>
            </a:r>
          </a:p>
        </p:txBody>
      </p:sp>
      <p:sp>
        <p:nvSpPr>
          <p:cNvPr id="57" name="TextBox 56"/>
          <p:cNvSpPr txBox="1"/>
          <p:nvPr/>
        </p:nvSpPr>
        <p:spPr>
          <a:xfrm>
            <a:off x="3978000" y="22104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518000" y="2210400"/>
            <a:ext cx="540000" cy="198000"/>
          </a:xfrm>
          <a:prstGeom prst="rect">
            <a:avLst/>
          </a:prstGeom>
          <a:noFill/>
        </p:spPr>
        <p:txBody>
          <a:bodyPr wrap="square">
            <a:spAutoFit/>
          </a:bodyPr>
          <a:lstStyle/>
          <a:p>
            <a:pPr algn="l"/>
            <a:r>
              <a:rPr sz="800" b="0" i="0">
                <a:solidFill>
                  <a:srgbClr val="555555"/>
                </a:solidFill>
              </a:rPr>
              <a:t>4.7x</a:t>
            </a:r>
          </a:p>
        </p:txBody>
      </p:sp>
      <p:sp>
        <p:nvSpPr>
          <p:cNvPr id="59" name="TextBox 58"/>
          <p:cNvSpPr txBox="1"/>
          <p:nvPr/>
        </p:nvSpPr>
        <p:spPr>
          <a:xfrm>
            <a:off x="5058000" y="2210400"/>
            <a:ext cx="540000" cy="198000"/>
          </a:xfrm>
          <a:prstGeom prst="rect">
            <a:avLst/>
          </a:prstGeom>
          <a:noFill/>
        </p:spPr>
        <p:txBody>
          <a:bodyPr wrap="square">
            <a:spAutoFit/>
          </a:bodyPr>
          <a:lstStyle/>
          <a:p>
            <a:pPr algn="l"/>
            <a:r>
              <a:rPr sz="800" b="0" i="0">
                <a:solidFill>
                  <a:srgbClr val="555555"/>
                </a:solidFill>
              </a:rPr>
              <a:t>85</a:t>
            </a:r>
          </a:p>
        </p:txBody>
      </p:sp>
      <p:sp>
        <p:nvSpPr>
          <p:cNvPr id="60" name="TextBox 59"/>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1" name="Rectangle 60"/>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+100.5% — momentum surpondérer</a:t>
            </a:r>
          </a:p>
        </p:txBody>
      </p:sp>
      <p:sp>
        <p:nvSpPr>
          <p:cNvPr id="63" name="TextBox 62"/>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4" name="Rectangle 63"/>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6" name="Rectangle 65"/>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69" name="Rectangle 68"/>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1" name="TextBox 70"/>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71/100  ·  EV/EBITDA : 11.4x</a:t>
            </a:r>
          </a:p>
        </p:txBody>
      </p:sp>
      <p:sp>
        <p:nvSpPr>
          <p:cNvPr id="72" name="TextBox 71"/>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3" name="Rectangle 72"/>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BA.L</a:t>
            </a:r>
          </a:p>
        </p:txBody>
      </p:sp>
      <p:sp>
        <p:nvSpPr>
          <p:cNvPr id="75" name="TextBox 74"/>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76" name="TextBox 75"/>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20.7x</a:t>
            </a:r>
          </a:p>
        </p:txBody>
      </p:sp>
      <p:sp>
        <p:nvSpPr>
          <p:cNvPr id="77" name="TextBox 76"/>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85</a:t>
            </a:r>
          </a:p>
        </p:txBody>
      </p:sp>
      <p:sp>
        <p:nvSpPr>
          <p:cNvPr id="78" name="Rectangle 77"/>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915200"/>
            <a:ext cx="684000" cy="198000"/>
          </a:xfrm>
          <a:prstGeom prst="rect">
            <a:avLst/>
          </a:prstGeom>
          <a:noFill/>
        </p:spPr>
        <p:txBody>
          <a:bodyPr wrap="square">
            <a:spAutoFit/>
          </a:bodyPr>
          <a:lstStyle/>
          <a:p>
            <a:pPr algn="l"/>
            <a:r>
              <a:rPr sz="800" b="1" i="0">
                <a:solidFill>
                  <a:srgbClr val="1B3A6B"/>
                </a:solidFill>
              </a:rPr>
              <a:t>DPLM.L</a:t>
            </a:r>
          </a:p>
        </p:txBody>
      </p:sp>
      <p:sp>
        <p:nvSpPr>
          <p:cNvPr id="80" name="TextBox 79"/>
          <p:cNvSpPr txBox="1"/>
          <p:nvPr/>
        </p:nvSpPr>
        <p:spPr>
          <a:xfrm>
            <a:off x="6803999" y="19152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343999" y="1915200"/>
            <a:ext cx="540000" cy="198000"/>
          </a:xfrm>
          <a:prstGeom prst="rect">
            <a:avLst/>
          </a:prstGeom>
          <a:noFill/>
        </p:spPr>
        <p:txBody>
          <a:bodyPr wrap="square">
            <a:spAutoFit/>
          </a:bodyPr>
          <a:lstStyle/>
          <a:p>
            <a:pPr algn="l"/>
            <a:r>
              <a:rPr sz="800" b="0" i="0">
                <a:solidFill>
                  <a:srgbClr val="555555"/>
                </a:solidFill>
              </a:rPr>
              <a:t>24.8x</a:t>
            </a:r>
          </a:p>
        </p:txBody>
      </p:sp>
      <p:sp>
        <p:nvSpPr>
          <p:cNvPr id="82" name="TextBox 81"/>
          <p:cNvSpPr txBox="1"/>
          <p:nvPr/>
        </p:nvSpPr>
        <p:spPr>
          <a:xfrm>
            <a:off x="7883999" y="1915200"/>
            <a:ext cx="540000" cy="198000"/>
          </a:xfrm>
          <a:prstGeom prst="rect">
            <a:avLst/>
          </a:prstGeom>
          <a:noFill/>
        </p:spPr>
        <p:txBody>
          <a:bodyPr wrap="square">
            <a:spAutoFit/>
          </a:bodyPr>
          <a:lstStyle/>
          <a:p>
            <a:pPr algn="l"/>
            <a:r>
              <a:rPr sz="800" b="0" i="0">
                <a:solidFill>
                  <a:srgbClr val="555555"/>
                </a:solidFill>
              </a:rPr>
              <a:t>85</a:t>
            </a:r>
          </a:p>
        </p:txBody>
      </p:sp>
      <p:sp>
        <p:nvSpPr>
          <p:cNvPr id="83" name="Rectangle 82"/>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2210400"/>
            <a:ext cx="684000" cy="198000"/>
          </a:xfrm>
          <a:prstGeom prst="rect">
            <a:avLst/>
          </a:prstGeom>
          <a:noFill/>
        </p:spPr>
        <p:txBody>
          <a:bodyPr wrap="square">
            <a:spAutoFit/>
          </a:bodyPr>
          <a:lstStyle/>
          <a:p>
            <a:pPr algn="l"/>
            <a:r>
              <a:rPr sz="800" b="1" i="0">
                <a:solidFill>
                  <a:srgbClr val="1B3A6B"/>
                </a:solidFill>
              </a:rPr>
              <a:t>FERG.L</a:t>
            </a:r>
          </a:p>
        </p:txBody>
      </p:sp>
      <p:sp>
        <p:nvSpPr>
          <p:cNvPr id="85" name="TextBox 84"/>
          <p:cNvSpPr txBox="1"/>
          <p:nvPr/>
        </p:nvSpPr>
        <p:spPr>
          <a:xfrm>
            <a:off x="6803999" y="22104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343999" y="2210400"/>
            <a:ext cx="540000" cy="198000"/>
          </a:xfrm>
          <a:prstGeom prst="rect">
            <a:avLst/>
          </a:prstGeom>
          <a:noFill/>
        </p:spPr>
        <p:txBody>
          <a:bodyPr wrap="square">
            <a:spAutoFit/>
          </a:bodyPr>
          <a:lstStyle/>
          <a:p>
            <a:pPr algn="l"/>
            <a:r>
              <a:rPr sz="800" b="0" i="0">
                <a:solidFill>
                  <a:srgbClr val="555555"/>
                </a:solidFill>
              </a:rPr>
              <a:t>13.3x</a:t>
            </a:r>
          </a:p>
        </p:txBody>
      </p:sp>
      <p:sp>
        <p:nvSpPr>
          <p:cNvPr id="87" name="TextBox 86"/>
          <p:cNvSpPr txBox="1"/>
          <p:nvPr/>
        </p:nvSpPr>
        <p:spPr>
          <a:xfrm>
            <a:off x="7883999" y="2210400"/>
            <a:ext cx="540000" cy="198000"/>
          </a:xfrm>
          <a:prstGeom prst="rect">
            <a:avLst/>
          </a:prstGeom>
          <a:noFill/>
        </p:spPr>
        <p:txBody>
          <a:bodyPr wrap="square">
            <a:spAutoFit/>
          </a:bodyPr>
          <a:lstStyle/>
          <a:p>
            <a:pPr algn="l"/>
            <a:r>
              <a:rPr sz="800" b="0" i="0">
                <a:solidFill>
                  <a:srgbClr val="555555"/>
                </a:solidFill>
              </a:rPr>
              <a:t>85</a:t>
            </a:r>
          </a:p>
        </p:txBody>
      </p:sp>
      <p:sp>
        <p:nvSpPr>
          <p:cNvPr id="88" name="TextBox 87"/>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89" name="Rectangle 88"/>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+30.3% — momentum surpondérer</a:t>
            </a:r>
          </a:p>
        </p:txBody>
      </p:sp>
      <p:sp>
        <p:nvSpPr>
          <p:cNvPr id="91" name="TextBox 90"/>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2" name="Rectangle 91"/>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94" name="Rectangle 9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marche US (S&amp;P 500). Pour les indices europeens (CAC 40, DAX, Euro Stoxx), les proxies sectoriels equivalents ne sont pas disponibles via yfinance. L'optimisation est donc calculee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SURPONDERER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Utilities — score 85/100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Materials — score 75/100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Industrials — score 71/100</a:t>
            </a:r>
          </a:p>
        </p:txBody>
      </p:sp>
      <p:sp>
        <p:nvSpPr>
          <p:cNvPr id="27" name="TextBox 26"/>
          <p:cNvSpPr txBox="1"/>
          <p:nvPr/>
        </p:nvSpPr>
        <p:spPr>
          <a:xfrm>
            <a:off x="432000" y="3941999"/>
            <a:ext cx="3888000" cy="234000"/>
          </a:xfrm>
          <a:prstGeom prst="rect">
            <a:avLst/>
          </a:prstGeom>
          <a:noFill/>
        </p:spPr>
        <p:txBody>
          <a:bodyPr wrap="square">
            <a:spAutoFit/>
          </a:bodyPr>
          <a:lstStyle/>
          <a:p>
            <a:pPr algn="l"/>
            <a:r>
              <a:rPr sz="800" b="0" i="0">
                <a:solidFill>
                  <a:srgbClr val="555555"/>
                </a:solidFill>
              </a:rPr>
              <a:t>• Financials — score 69/100</a:t>
            </a:r>
          </a:p>
        </p:txBody>
      </p:sp>
      <p:sp>
        <p:nvSpPr>
          <p:cNvPr id="28" name="Rectangle 27"/>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SOUS-PONDERER</a:t>
            </a:r>
          </a:p>
        </p:txBody>
      </p:sp>
      <p:sp>
        <p:nvSpPr>
          <p:cNvPr id="31" name="Rectangle 3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13.5x
PE Forward indice : 11.6x
Zone d'entrée favorable (PE &lt; mediane) :
Utilities  ·  Materials
Zone de prudence (PE &gt; mediane +15 %) :
Industrials
Methodologie : le PE Forward estime est ancre sur le PE global de l'indice ajuste du score sectoriel (+/- ecart). Les secteurs a gauche de la ligne pointillee (mediane 10 ans) offrent un meilleur point d'entree. Un ecart &gt; +20 % vs la médiane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FTSE 100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FTSE 100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10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 l'Indice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FTSE 100  ·  vs S&amp;P 500, Obligations &amp; Or  ·  Indexe a 100  ·  Source yfinance</a:t>
            </a:r>
          </a:p>
        </p:txBody>
      </p:sp>
      <p:pic>
        <p:nvPicPr>
          <p:cNvPr id="15" name="Picture 14" descr="image.png"/>
          <p:cNvPicPr>
            <a:picLocks noChangeAspect="1"/>
          </p:cNvPicPr>
          <p:nvPr/>
        </p:nvPicPr>
        <p:blipFill>
          <a:blip r:embed="rId2"/>
          <a:stretch>
            <a:fillRect/>
          </a:stretch>
        </p:blipFill>
        <p:spPr>
          <a:xfrm>
            <a:off x="324000" y="792000"/>
            <a:ext cx="8496000" cy="2340000"/>
          </a:xfrm>
          <a:prstGeom prst="rect">
            <a:avLst/>
          </a:prstGeom>
        </p:spPr>
      </p:pic>
      <p:sp>
        <p:nvSpPr>
          <p:cNvPr id="16" name="Rectangle 15"/>
          <p:cNvSpPr/>
          <p:nvPr/>
        </p:nvSpPr>
        <p:spPr>
          <a:xfrm>
            <a:off x="324000" y="3240000"/>
            <a:ext cx="8496000" cy="156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240000"/>
            <a:ext cx="43200" cy="156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294000"/>
            <a:ext cx="8208000" cy="216000"/>
          </a:xfrm>
          <a:prstGeom prst="rect">
            <a:avLst/>
          </a:prstGeom>
          <a:noFill/>
        </p:spPr>
        <p:txBody>
          <a:bodyPr wrap="square">
            <a:spAutoFit/>
          </a:bodyPr>
          <a:lstStyle/>
          <a:p>
            <a:pPr algn="l"/>
            <a:r>
              <a:rPr sz="800" b="1" i="0">
                <a:solidFill>
                  <a:srgbClr val="1B3A6B"/>
                </a:solidFill>
              </a:rPr>
              <a:t>Lecture analytique — FTSE 100 sur 52 semaines</a:t>
            </a:r>
          </a:p>
        </p:txBody>
      </p:sp>
      <p:sp>
        <p:nvSpPr>
          <p:cNvPr id="19" name="TextBox 18"/>
          <p:cNvSpPr txBox="1"/>
          <p:nvPr/>
        </p:nvSpPr>
        <p:spPr>
          <a:xfrm>
            <a:off x="432000" y="3528000"/>
            <a:ext cx="8208000" cy="1242000"/>
          </a:xfrm>
          <a:prstGeom prst="rect">
            <a:avLst/>
          </a:prstGeom>
          <a:noFill/>
        </p:spPr>
        <p:txBody>
          <a:bodyPr wrap="square">
            <a:spAutoFit/>
          </a:bodyPr>
          <a:lstStyle/>
          <a:p>
            <a:pPr algn="l"/>
            <a:r>
              <a:rPr sz="750" b="0" i="0">
                <a:solidFill>
                  <a:srgbClr val="555555"/>
                </a:solidFill>
              </a:rPr>
              <a:t>Tendance haussiere sur 52 semaines (+20.2%). Cours actuel : 10 349 (YTD : +4.0%).  Plus haut atteint en 2026-02 (+26.7% vs base) — porte par l'appetit pour le risque et les flux entrants sur les equites europeennes.  Point bas en 2025-04 (-10.8% vs base).  Rebond de +31.0pts depuis le creux de 2025-04 — soutenu par les publications de resultats et les anticipations de politique monetaire accommodante.  Vs S&amp;P 500 (+16.1%) : surperformance de +4.1pt — les equites europeennes captent les flux de rebalancement.  Or (+49.3%) surperforme nettement — signal d aversion au risque et demande de protection contre l inflation.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