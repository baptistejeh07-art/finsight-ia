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DAX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^GDAXI  ·  10 secteurs analysés  ·  40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20 %  ·  ERP 3.0%</a:t>
            </a:r>
          </a:p>
        </p:txBody>
      </p:sp>
      <p:sp>
        <p:nvSpPr>
          <p:cNvPr id="11" name="Rectangle 10"/>
          <p:cNvSpPr/>
          <p:nvPr/>
        </p:nvSpPr>
        <p:spPr>
          <a:xfrm>
            <a:off x="457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200" y="3096000"/>
            <a:ext cx="1224000" cy="180000"/>
          </a:xfrm>
          <a:prstGeom prst="rect">
            <a:avLst/>
          </a:prstGeom>
          <a:noFill/>
        </p:spPr>
        <p:txBody>
          <a:bodyPr wrap="square">
            <a:spAutoFit/>
          </a:bodyPr>
          <a:lstStyle/>
          <a:p>
            <a:pPr algn="l"/>
            <a:r>
              <a:rPr sz="700" b="0" i="0">
                <a:solidFill>
                  <a:srgbClr val="555555"/>
                </a:solidFill>
              </a:rPr>
              <a:t>Cours</a:t>
            </a:r>
          </a:p>
        </p:txBody>
      </p:sp>
      <p:sp>
        <p:nvSpPr>
          <p:cNvPr id="13" name="TextBox 12"/>
          <p:cNvSpPr txBox="1"/>
          <p:nvPr/>
        </p:nvSpPr>
        <p:spPr>
          <a:xfrm>
            <a:off x="511200" y="3258000"/>
            <a:ext cx="1224000" cy="324000"/>
          </a:xfrm>
          <a:prstGeom prst="rect">
            <a:avLst/>
          </a:prstGeom>
          <a:noFill/>
        </p:spPr>
        <p:txBody>
          <a:bodyPr wrap="square">
            <a:spAutoFit/>
          </a:bodyPr>
          <a:lstStyle/>
          <a:p>
            <a:pPr algn="l"/>
            <a:r>
              <a:rPr sz="1100" b="1" i="0">
                <a:solidFill>
                  <a:srgbClr val="1B3A6B"/>
                </a:solidFill>
              </a:rPr>
              <a:t>24 044</a:t>
            </a:r>
          </a:p>
        </p:txBody>
      </p:sp>
      <p:sp>
        <p:nvSpPr>
          <p:cNvPr id="14" name="Rectangle 13"/>
          <p:cNvSpPr/>
          <p:nvPr/>
        </p:nvSpPr>
        <p:spPr>
          <a:xfrm>
            <a:off x="18288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2800" y="3096000"/>
            <a:ext cx="1224000" cy="180000"/>
          </a:xfrm>
          <a:prstGeom prst="rect">
            <a:avLst/>
          </a:prstGeom>
          <a:noFill/>
        </p:spPr>
        <p:txBody>
          <a:bodyPr wrap="square">
            <a:spAutoFit/>
          </a:bodyPr>
          <a:lstStyle/>
          <a:p>
            <a:pPr algn="l"/>
            <a:r>
              <a:rPr sz="700" b="0" i="0">
                <a:solidFill>
                  <a:srgbClr val="555555"/>
                </a:solidFill>
              </a:rPr>
              <a:t>Variation YTD</a:t>
            </a:r>
          </a:p>
        </p:txBody>
      </p:sp>
      <p:sp>
        <p:nvSpPr>
          <p:cNvPr id="16" name="TextBox 15"/>
          <p:cNvSpPr txBox="1"/>
          <p:nvPr/>
        </p:nvSpPr>
        <p:spPr>
          <a:xfrm>
            <a:off x="1882800" y="3258000"/>
            <a:ext cx="1224000" cy="324000"/>
          </a:xfrm>
          <a:prstGeom prst="rect">
            <a:avLst/>
          </a:prstGeom>
          <a:noFill/>
        </p:spPr>
        <p:txBody>
          <a:bodyPr wrap="square">
            <a:spAutoFit/>
          </a:bodyPr>
          <a:lstStyle/>
          <a:p>
            <a:pPr algn="l"/>
            <a:r>
              <a:rPr sz="1100" b="1" i="0">
                <a:solidFill>
                  <a:srgbClr val="1B3A6B"/>
                </a:solidFill>
              </a:rPr>
              <a:t>-2.0%</a:t>
            </a:r>
          </a:p>
        </p:txBody>
      </p:sp>
      <p:sp>
        <p:nvSpPr>
          <p:cNvPr id="17" name="Rectangle 16"/>
          <p:cNvSpPr/>
          <p:nvPr/>
        </p:nvSpPr>
        <p:spPr>
          <a:xfrm>
            <a:off x="32004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54400" y="3096000"/>
            <a:ext cx="1224000" cy="180000"/>
          </a:xfrm>
          <a:prstGeom prst="rect">
            <a:avLst/>
          </a:prstGeom>
          <a:noFill/>
        </p:spPr>
        <p:txBody>
          <a:bodyPr wrap="square">
            <a:spAutoFit/>
          </a:bodyPr>
          <a:lstStyle/>
          <a:p>
            <a:pPr algn="l"/>
            <a:r>
              <a:rPr sz="700" b="0" i="0">
                <a:solidFill>
                  <a:srgbClr val="555555"/>
                </a:solidFill>
              </a:rPr>
              <a:t>Surpondérer</a:t>
            </a:r>
          </a:p>
        </p:txBody>
      </p:sp>
      <p:sp>
        <p:nvSpPr>
          <p:cNvPr id="19" name="TextBox 18"/>
          <p:cNvSpPr txBox="1"/>
          <p:nvPr/>
        </p:nvSpPr>
        <p:spPr>
          <a:xfrm>
            <a:off x="3254400" y="3258000"/>
            <a:ext cx="1224000" cy="324000"/>
          </a:xfrm>
          <a:prstGeom prst="rect">
            <a:avLst/>
          </a:prstGeom>
          <a:noFill/>
        </p:spPr>
        <p:txBody>
          <a:bodyPr wrap="square">
            <a:spAutoFit/>
          </a:bodyPr>
          <a:lstStyle/>
          <a:p>
            <a:pPr algn="l"/>
            <a:r>
              <a:rPr sz="1100" b="1" i="0">
                <a:solidFill>
                  <a:srgbClr val="1B3A6B"/>
                </a:solidFill>
              </a:rPr>
              <a:t>2 sect.</a:t>
            </a:r>
          </a:p>
        </p:txBody>
      </p:sp>
      <p:sp>
        <p:nvSpPr>
          <p:cNvPr id="20" name="Rectangle 19"/>
          <p:cNvSpPr/>
          <p:nvPr/>
        </p:nvSpPr>
        <p:spPr>
          <a:xfrm>
            <a:off x="45720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6000" y="3096000"/>
            <a:ext cx="1224000" cy="180000"/>
          </a:xfrm>
          <a:prstGeom prst="rect">
            <a:avLst/>
          </a:prstGeom>
          <a:noFill/>
        </p:spPr>
        <p:txBody>
          <a:bodyPr wrap="square">
            <a:spAutoFit/>
          </a:bodyPr>
          <a:lstStyle/>
          <a:p>
            <a:pPr algn="l"/>
            <a:r>
              <a:rPr sz="700" b="0" i="0">
                <a:solidFill>
                  <a:srgbClr val="555555"/>
                </a:solidFill>
              </a:rPr>
              <a:t>Neutre</a:t>
            </a:r>
          </a:p>
        </p:txBody>
      </p:sp>
      <p:sp>
        <p:nvSpPr>
          <p:cNvPr id="22" name="TextBox 21"/>
          <p:cNvSpPr txBox="1"/>
          <p:nvPr/>
        </p:nvSpPr>
        <p:spPr>
          <a:xfrm>
            <a:off x="4626000" y="3258000"/>
            <a:ext cx="1224000" cy="324000"/>
          </a:xfrm>
          <a:prstGeom prst="rect">
            <a:avLst/>
          </a:prstGeom>
          <a:noFill/>
        </p:spPr>
        <p:txBody>
          <a:bodyPr wrap="square">
            <a:spAutoFit/>
          </a:bodyPr>
          <a:lstStyle/>
          <a:p>
            <a:pPr algn="l"/>
            <a:r>
              <a:rPr sz="1100" b="1" i="0">
                <a:solidFill>
                  <a:srgbClr val="1B3A6B"/>
                </a:solidFill>
              </a:rPr>
              <a:t>6 sect.</a:t>
            </a:r>
          </a:p>
        </p:txBody>
      </p:sp>
      <p:sp>
        <p:nvSpPr>
          <p:cNvPr id="23" name="Rectangle 22"/>
          <p:cNvSpPr/>
          <p:nvPr/>
        </p:nvSpPr>
        <p:spPr>
          <a:xfrm>
            <a:off x="59436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97600" y="3096000"/>
            <a:ext cx="1224000" cy="180000"/>
          </a:xfrm>
          <a:prstGeom prst="rect">
            <a:avLst/>
          </a:prstGeom>
          <a:noFill/>
        </p:spPr>
        <p:txBody>
          <a:bodyPr wrap="square">
            <a:spAutoFit/>
          </a:bodyPr>
          <a:lstStyle/>
          <a:p>
            <a:pPr algn="l"/>
            <a:r>
              <a:rPr sz="700" b="0" i="0">
                <a:solidFill>
                  <a:srgbClr val="555555"/>
                </a:solidFill>
              </a:rPr>
              <a:t>Sous-pondérer</a:t>
            </a:r>
          </a:p>
        </p:txBody>
      </p:sp>
      <p:sp>
        <p:nvSpPr>
          <p:cNvPr id="25" name="TextBox 24"/>
          <p:cNvSpPr txBox="1"/>
          <p:nvPr/>
        </p:nvSpPr>
        <p:spPr>
          <a:xfrm>
            <a:off x="5997600" y="3258000"/>
            <a:ext cx="1224000" cy="324000"/>
          </a:xfrm>
          <a:prstGeom prst="rect">
            <a:avLst/>
          </a:prstGeom>
          <a:noFill/>
        </p:spPr>
        <p:txBody>
          <a:bodyPr wrap="square">
            <a:spAutoFit/>
          </a:bodyPr>
          <a:lstStyle/>
          <a:p>
            <a:pPr algn="l"/>
            <a:r>
              <a:rPr sz="1100" b="1" i="0">
                <a:solidFill>
                  <a:srgbClr val="1B3A6B"/>
                </a:solidFill>
              </a:rPr>
              <a:t>2 sect.</a:t>
            </a:r>
          </a:p>
        </p:txBody>
      </p:sp>
      <p:sp>
        <p:nvSpPr>
          <p:cNvPr id="26" name="Rectangle 25"/>
          <p:cNvSpPr/>
          <p:nvPr/>
        </p:nvSpPr>
        <p:spPr>
          <a:xfrm>
            <a:off x="7315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9200" y="3096000"/>
            <a:ext cx="1224000" cy="180000"/>
          </a:xfrm>
          <a:prstGeom prst="rect">
            <a:avLst/>
          </a:prstGeom>
          <a:noFill/>
        </p:spPr>
        <p:txBody>
          <a:bodyPr wrap="square">
            <a:spAutoFit/>
          </a:bodyPr>
          <a:lstStyle/>
          <a:p>
            <a:pPr algn="l"/>
            <a:r>
              <a:rPr sz="700" b="0" i="0">
                <a:solidFill>
                  <a:srgbClr val="555555"/>
                </a:solidFill>
              </a:rPr>
              <a:t>Score médian</a:t>
            </a:r>
          </a:p>
        </p:txBody>
      </p:sp>
      <p:sp>
        <p:nvSpPr>
          <p:cNvPr id="28" name="TextBox 27"/>
          <p:cNvSpPr txBox="1"/>
          <p:nvPr/>
        </p:nvSpPr>
        <p:spPr>
          <a:xfrm>
            <a:off x="7369200" y="3258000"/>
            <a:ext cx="1224000" cy="324000"/>
          </a:xfrm>
          <a:prstGeom prst="rect">
            <a:avLst/>
          </a:prstGeom>
          <a:noFill/>
        </p:spPr>
        <p:txBody>
          <a:bodyPr wrap="square">
            <a:spAutoFit/>
          </a:bodyPr>
          <a:lstStyle/>
          <a:p>
            <a:pPr algn="l"/>
            <a:r>
              <a:rPr sz="1100" b="1" i="0">
                <a:solidFill>
                  <a:srgbClr val="1B3A6B"/>
                </a:solidFill>
              </a:rPr>
              <a:t>53/100</a:t>
            </a:r>
          </a:p>
        </p:txBody>
      </p:sp>
      <p:sp>
        <p:nvSpPr>
          <p:cNvPr id="29" name="Rectangle 28"/>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31" name="TextBox 30"/>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(^GDAXI)  ·  10 secteurs  ·  40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24 044  ·  YTD : -2.0%  ·  P/E Forward : 13.8x  ·  ERP : 3.0% (Neutre)  ·  Conviction 20 %</a:t>
            </a:r>
          </a:p>
        </p:txBody>
      </p:sp>
      <p:sp>
        <p:nvSpPr>
          <p:cNvPr id="18" name="Rectangle 17"/>
          <p:cNvSpPr/>
          <p:nvPr/>
        </p:nvSpPr>
        <p:spPr>
          <a:xfrm>
            <a:off x="324000" y="1368000"/>
            <a:ext cx="7920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Bull</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18</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10%</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000" y="1584000"/>
            <a:ext cx="8496000" cy="180000"/>
          </a:xfrm>
          <a:prstGeom prst="rect">
            <a:avLst/>
          </a:prstGeom>
          <a:noFill/>
        </p:spPr>
        <p:txBody>
          <a:bodyPr wrap="square" anchor="ctr">
            <a:spAutoFit/>
          </a:bodyPr>
          <a:lstStyle/>
          <a:p>
            <a:pPr algn="ctr"/>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Résultats semestriels des industriels</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Les publications des entreprises du secteur des industriels pourraient surprendre positivement si la demande en infrastr</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Décisions de la BCE sur les taux</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Une baisse des taux directeurs plus rapide que prévu pourrait relancer les valorisations des secteurs cycliques comme le</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Stabilité des prix de l'énergie</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Une stabilisation des prix du gaz et de l'électricité en Europe soutiendrait les marges des utilities et réduirait la pr</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SYNTHÈSE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DAX 40 est Neutre avec une conviction de 20% (sur la base des 10 secteurs analyses). 2 secteur(s) ressortent Surpondérer — Utilities, Industrials — portes par leur momentum positif 52 semaines. 6 secteurs sont Neutre et 2 en Sous-ponderer.  Le DAX 40 affiche un cours de 24 044 (YTD : -2.0%). P/E Forward 13.8x vs médiane historique 10 ans — — valorisation en ligne avec l'historique. ERP Damodaran 3.0% (adéquat). Score composite moyen : 53/100 — conviction 20 %. Secteurs a Surpondérer : aucun. Secteurs a éviter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^GDAXI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10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DAX 40  —  Caractéristiques &amp; Valorisation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^GDAXI  ·  Analyse institutionnelle FinSight  ·  Données yfinance / FMP</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DAX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24 044</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-2.0%</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13.8x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3.0%</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10</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positionnément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53/100). P/E Forward 13.8x vs médiane historique — — valorisation proche des normes historiques. ERP Damodaran : 3.0% (Neutre). Secteurs a Surpondérer : Serv. Publ.  ·  Industrie. Secteurs a Sous-pondérer : Conso. Déf.  ·  Immobilier. 6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INTERPRÉTATION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13.8x</a:t>
                      </a:r>
                    </a:p>
                  </a:txBody>
                  <a:tcPr>
                    <a:noFill/>
                  </a:tcPr>
                </a:tc>
                <a:tc>
                  <a:txBody>
                    <a:bodyPr/>
                    <a:lstStyle/>
                    <a:p>
                      <a:pPr algn="ctr"/>
                      <a:r>
                        <a:rPr sz="800" b="0">
                          <a:solidFill>
                            <a:srgbClr val="1A1A1A"/>
                          </a:solidFill>
                        </a:rPr>
                        <a:t>-5%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3.0%</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Prime/Décote</a:t>
                      </a:r>
                    </a:p>
                  </a:txBody>
                  <a:tcPr>
                    <a:noFill/>
                  </a:tcPr>
                </a:tc>
                <a:tc>
                  <a:txBody>
                    <a:bodyPr/>
                    <a:lstStyle/>
                    <a:p>
                      <a:pPr algn="ctr"/>
                      <a:r>
                        <a:rPr sz="800" b="0">
                          <a:solidFill>
                            <a:srgbClr val="1A1A1A"/>
                          </a:solidFill>
                        </a:rPr>
                        <a:t>-5%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Score FinSight 53/100 — signal Neutre, 2 secteurs Surpondérer / 2 Sous-pondérer</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Cours 24 044 (YTD -2.0%) — Croissance BPA forward +8.5%. Le P/E Forward de 13.8x offre une décote de -5% decote vs l'historique (—) — opportunité si les fondamentaux restent solides. Un re-rating est possible en cas de révision haussière des BPA ou de pivot Fed. A 13.8x, le Marché price implicitement une croissance BPA supérieure de 19% au scénario central — tout ralentissement serait partiellement absorbe par la décote existante. L'ERP Damodaran de 3.0% reste dans la zone de reference. Ni comprime ni attractif — privilegier la rotation sectorielle et le stock-picking plutot qu'une exposition beta pure. Implication allocation : valorisation deprimee offre un point d'entree favorable. Renforcer les secteurs a score FinSight élevé (&gt;65) — la décote compense le risque de normalisation des...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INTERPRÉTATION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positionnément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10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45454">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45454">
                <a:tc>
                  <a:txBody>
                    <a:bodyPr/>
                    <a:lstStyle/>
                    <a:p>
                      <a:pPr algn="ctr"/>
                      <a:r>
                        <a:rPr sz="800" b="0">
                          <a:solidFill>
                            <a:srgbClr val="1A1A1A"/>
                          </a:solidFill>
                        </a:rPr>
                        <a:t>1</a:t>
                      </a:r>
                    </a:p>
                  </a:txBody>
                  <a:tcPr>
                    <a:noFill/>
                  </a:tcPr>
                </a:tc>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10.4%</a:t>
                      </a:r>
                    </a:p>
                  </a:txBody>
                  <a:tcPr>
                    <a:noFill/>
                  </a:tcPr>
                </a:tc>
                <a:tc>
                  <a:txBody>
                    <a:bodyPr/>
                    <a:lstStyle/>
                    <a:p>
                      <a:pPr algn="ctr"/>
                      <a:r>
                        <a:rPr sz="800" b="0">
                          <a:solidFill>
                            <a:srgbClr val="1A1A1A"/>
                          </a:solidFill>
                        </a:rPr>
                        <a:t>-26.3%</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45454">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78</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11.8%</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45454">
                <a:tc>
                  <a:txBody>
                    <a:bodyPr/>
                    <a:lstStyle/>
                    <a:p>
                      <a:pPr algn="ctr"/>
                      <a:r>
                        <a:rPr sz="800" b="0">
                          <a:solidFill>
                            <a:srgbClr val="1A1A1A"/>
                          </a:solidFill>
                        </a:rPr>
                        <a:t>3</a:t>
                      </a:r>
                    </a:p>
                  </a:txBody>
                  <a:tcPr>
                    <a:noFill/>
                  </a:tcPr>
                </a:tc>
                <a:tc>
                  <a:txBody>
                    <a:bodyPr/>
                    <a:lstStyle/>
                    <a:p>
                      <a:pPr algn="ctr"/>
                      <a:r>
                        <a:rPr sz="800" b="0">
                          <a:solidFill>
                            <a:srgbClr val="1A1A1A"/>
                          </a:solidFill>
                        </a:rPr>
                        <a:t>Finance</a:t>
                      </a:r>
                    </a:p>
                  </a:txBody>
                  <a:tcPr>
                    <a:noFill/>
                  </a:tcPr>
                </a:tc>
                <a:tc>
                  <a:txBody>
                    <a:bodyPr/>
                    <a:lstStyle/>
                    <a:p>
                      <a:pPr algn="ctr"/>
                      <a:r>
                        <a:rPr sz="800" b="0">
                          <a:solidFill>
                            <a:srgbClr val="1A1A1A"/>
                          </a:solidFill>
                        </a:rPr>
                        <a:t>57</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16.1%</a:t>
                      </a:r>
                    </a:p>
                  </a:txBody>
                  <a:tcPr>
                    <a:noFill/>
                  </a:tcPr>
                </a:tc>
                <a:tc>
                  <a:txBody>
                    <a:bodyPr/>
                    <a:lstStyle/>
                    <a:p>
                      <a:pPr algn="ctr"/>
                      <a:r>
                        <a:rPr sz="800" b="0">
                          <a:solidFill>
                            <a:srgbClr val="1A1A1A"/>
                          </a:solidFill>
                        </a:rPr>
                        <a:t>+0.3%</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45454">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56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22.8%</a:t>
                      </a:r>
                    </a:p>
                  </a:txBody>
                  <a:tcPr>
                    <a:solidFill>
                      <a:srgbClr val="F5F7FA"/>
                    </a:solidFill>
                  </a:tcPr>
                </a:tc>
                <a:tc>
                  <a:txBody>
                    <a:bodyPr/>
                    <a:lstStyle/>
                    <a:p>
                      <a:pPr algn="ctr"/>
                      <a:r>
                        <a:rPr sz="800" b="0">
                          <a:solidFill>
                            <a:srgbClr val="1A1A1A"/>
                          </a:solidFill>
                        </a:rPr>
                        <a:t>+0.7%</a:t>
                      </a:r>
                    </a:p>
                  </a:txBody>
                  <a:tcPr>
                    <a:solidFill>
                      <a:srgbClr val="F5F7FA"/>
                    </a:solidFill>
                  </a:tcPr>
                </a:tc>
                <a:tc>
                  <a:txBody>
                    <a:bodyPr/>
                    <a:lstStyle/>
                    <a:p>
                      <a:pPr algn="ctr"/>
                      <a:r>
                        <a:rPr sz="800" b="0">
                          <a:solidFill>
                            <a:srgbClr val="1A1A1A"/>
                          </a:solidFill>
                        </a:rPr>
                        <a:t>4.2x</a:t>
                      </a:r>
                    </a:p>
                  </a:txBody>
                  <a:tcPr>
                    <a:solidFill>
                      <a:srgbClr val="F5F7FA"/>
                    </a:solidFill>
                  </a:tcPr>
                </a:tc>
                <a:tc>
                  <a:txBody>
                    <a:bodyPr/>
                    <a:lstStyle/>
                    <a:p>
                      <a:pPr algn="ctr"/>
                      <a:r>
                        <a:rPr sz="800" b="0">
                          <a:solidFill>
                            <a:srgbClr val="1A1A1A"/>
                          </a:solidFill>
                        </a:rPr>
                        <a:t>1.6%</a:t>
                      </a:r>
                    </a:p>
                  </a:txBody>
                  <a:tcPr>
                    <a:solidFill>
                      <a:srgbClr val="F5F7FA"/>
                    </a:solidFill>
                  </a:tcPr>
                </a:tc>
              </a:tr>
              <a:tr h="245454">
                <a:tc>
                  <a:txBody>
                    <a:bodyPr/>
                    <a:lstStyle/>
                    <a:p>
                      <a:pPr algn="ctr"/>
                      <a:r>
                        <a:rPr sz="800" b="0">
                          <a:solidFill>
                            <a:srgbClr val="1A1A1A"/>
                          </a:solidFill>
                        </a:rPr>
                        <a:t>5</a:t>
                      </a:r>
                    </a:p>
                  </a:txBody>
                  <a:tcPr>
                    <a:noFill/>
                  </a:tcPr>
                </a:tc>
                <a:tc>
                  <a:txBody>
                    <a:bodyPr/>
                    <a:lstStyle/>
                    <a:p>
                      <a:pPr algn="ctr"/>
                      <a:r>
                        <a:rPr sz="800" b="0">
                          <a:solidFill>
                            <a:srgbClr val="1A1A1A"/>
                          </a:solidFill>
                        </a:rPr>
                        <a:t>Technologie</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28.9%</a:t>
                      </a:r>
                    </a:p>
                  </a:txBody>
                  <a:tcPr>
                    <a:noFill/>
                  </a:tcPr>
                </a:tc>
                <a:tc>
                  <a:txBody>
                    <a:bodyPr/>
                    <a:lstStyle/>
                    <a:p>
                      <a:pPr algn="ctr"/>
                      <a:r>
                        <a:rPr sz="800" b="0">
                          <a:solidFill>
                            <a:srgbClr val="1A1A1A"/>
                          </a:solidFill>
                        </a:rPr>
                        <a:t>+5.2%</a:t>
                      </a:r>
                    </a:p>
                  </a:txBody>
                  <a:tcPr>
                    <a:noFill/>
                  </a:tcPr>
                </a:tc>
                <a:tc>
                  <a:txBody>
                    <a:bodyPr/>
                    <a:lstStyle/>
                    <a:p>
                      <a:pPr algn="ctr"/>
                      <a:r>
                        <a:rPr sz="800" b="0">
                          <a:solidFill>
                            <a:srgbClr val="1A1A1A"/>
                          </a:solidFill>
                        </a:rPr>
                        <a:t>8.5x</a:t>
                      </a:r>
                    </a:p>
                  </a:txBody>
                  <a:tcPr>
                    <a:noFill/>
                  </a:tcPr>
                </a:tc>
                <a:tc>
                  <a:txBody>
                    <a:bodyPr/>
                    <a:lstStyle/>
                    <a:p>
                      <a:pPr algn="ctr"/>
                      <a:r>
                        <a:rPr sz="800" b="0">
                          <a:solidFill>
                            <a:srgbClr val="1A1A1A"/>
                          </a:solidFill>
                        </a:rPr>
                        <a:t>0.7%</a:t>
                      </a:r>
                    </a:p>
                  </a:txBody>
                  <a:tcPr>
                    <a:noFill/>
                  </a:tcPr>
                </a:tc>
              </a:tr>
              <a:tr h="245454">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49</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13.5%</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45454">
                <a:tc>
                  <a:txBody>
                    <a:bodyPr/>
                    <a:lstStyle/>
                    <a:p>
                      <a:pPr algn="ctr"/>
                      <a:r>
                        <a:rPr sz="800" b="0">
                          <a:solidFill>
                            <a:srgbClr val="1A1A1A"/>
                          </a:solidFill>
                        </a:rPr>
                        <a:t>7</a:t>
                      </a:r>
                    </a:p>
                  </a:txBody>
                  <a:tcPr>
                    <a:noFill/>
                  </a:tcPr>
                </a:tc>
                <a:tc>
                  <a:txBody>
                    <a:bodyPr/>
                    <a:lstStyle/>
                    <a:p>
                      <a:pPr algn="ctr"/>
                      <a:r>
                        <a:rPr sz="800" b="0">
                          <a:solidFill>
                            <a:srgbClr val="1A1A1A"/>
                          </a:solidFill>
                        </a:rPr>
                        <a:t>Conso. Cycl.</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7.3%</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5.8x</a:t>
                      </a:r>
                    </a:p>
                  </a:txBody>
                  <a:tcPr>
                    <a:noFill/>
                  </a:tcPr>
                </a:tc>
                <a:tc>
                  <a:txBody>
                    <a:bodyPr/>
                    <a:lstStyle/>
                    <a:p>
                      <a:pPr algn="ctr"/>
                      <a:r>
                        <a:rPr sz="800" b="0">
                          <a:solidFill>
                            <a:srgbClr val="1A1A1A"/>
                          </a:solidFill>
                        </a:rPr>
                        <a:t>0.9%</a:t>
                      </a:r>
                    </a:p>
                  </a:txBody>
                  <a:tcPr>
                    <a:noFill/>
                  </a:tcPr>
                </a:tc>
              </a:tr>
              <a:tr h="245454">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40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34.5%</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45454">
                <a:tc>
                  <a:txBody>
                    <a:bodyPr/>
                    <a:lstStyle/>
                    <a:p>
                      <a:pPr algn="ctr"/>
                      <a:r>
                        <a:rPr sz="800" b="0">
                          <a:solidFill>
                            <a:srgbClr val="1A1A1A"/>
                          </a:solidFill>
                        </a:rPr>
                        <a:t>9</a:t>
                      </a:r>
                    </a:p>
                  </a:txBody>
                  <a:tcPr>
                    <a:noFill/>
                  </a:tcPr>
                </a:tc>
                <a:tc>
                  <a:txBody>
                    <a:bodyPr/>
                    <a:lstStyle/>
                    <a:p>
                      <a:pPr algn="ctr"/>
                      <a:r>
                        <a:rPr sz="800" b="0">
                          <a:solidFill>
                            <a:srgbClr val="1A1A1A"/>
                          </a:solidFill>
                        </a:rPr>
                        <a:t>Conso. Déf.</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4546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33.6%</a:t>
                      </a:r>
                    </a:p>
                  </a:txBody>
                  <a:tcPr>
                    <a:solidFill>
                      <a:srgbClr val="F5F7FA"/>
                    </a:solidFill>
                  </a:tcPr>
                </a:tc>
                <a:tc>
                  <a:txBody>
                    <a:bodyPr/>
                    <a:lstStyle/>
                    <a:p>
                      <a:pPr algn="ctr"/>
                      <a:r>
                        <a:rPr sz="800" b="0">
                          <a:solidFill>
                            <a:srgbClr val="1A1A1A"/>
                          </a:solidFill>
                        </a:rPr>
                        <a:t>-35.9%</a:t>
                      </a:r>
                    </a:p>
                  </a:txBody>
                  <a:tcPr>
                    <a:solidFill>
                      <a:srgbClr val="F5F7FA"/>
                    </a:solidFill>
                  </a:tcPr>
                </a:tc>
                <a:tc>
                  <a:txBody>
                    <a:bodyPr/>
                    <a:lstStyle/>
                    <a:p>
                      <a:pPr algn="ctr"/>
                      <a:r>
                        <a:rPr sz="800" b="0">
                          <a:solidFill>
                            <a:srgbClr val="1A1A1A"/>
                          </a:solidFill>
                        </a:rPr>
                        <a:t>2.1x</a:t>
                      </a:r>
                    </a:p>
                  </a:txBody>
                  <a:tcPr>
                    <a:solidFill>
                      <a:srgbClr val="F5F7FA"/>
                    </a:solidFill>
                  </a:tcPr>
                </a:tc>
                <a:tc>
                  <a:txBody>
                    <a:bodyPr/>
                    <a:lstStyle/>
                    <a:p>
                      <a:pPr algn="ctr"/>
                      <a:r>
                        <a:rPr sz="800" b="0">
                          <a:solidFill>
                            <a:srgbClr val="1A1A1A"/>
                          </a:solidFill>
                        </a:rPr>
                        <a:t>4.2%</a:t>
                      </a:r>
                    </a:p>
                  </a:txBody>
                  <a:tcPr>
                    <a:solidFill>
                      <a:srgbClr val="F5F7FA"/>
                    </a:solidFill>
                  </a:tcPr>
                </a:tc>
              </a:tr>
            </a:tbl>
          </a:graphicData>
        </a:graphic>
      </p:graphicFrame>
      <p:sp>
        <p:nvSpPr>
          <p:cNvPr id="16" name="Rectangle 15"/>
          <p:cNvSpPr/>
          <p:nvPr/>
        </p:nvSpPr>
        <p:spPr>
          <a:xfrm>
            <a:off x="324000" y="3690000"/>
            <a:ext cx="8496000" cy="111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690000"/>
            <a:ext cx="43200" cy="111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44000"/>
            <a:ext cx="8208000" cy="216000"/>
          </a:xfrm>
          <a:prstGeom prst="rect">
            <a:avLst/>
          </a:prstGeom>
          <a:noFill/>
        </p:spPr>
        <p:txBody>
          <a:bodyPr wrap="square">
            <a:spAutoFit/>
          </a:bodyPr>
          <a:lstStyle/>
          <a:p>
            <a:pPr algn="l"/>
            <a:r>
              <a:rPr sz="800" b="1" i="0">
                <a:solidFill>
                  <a:srgbClr val="1B3A6B"/>
                </a:solidFill>
              </a:rPr>
              <a:t>2 secteurs Surpondérer / 2 Sous-pondérer — spread 53 pts (bifurcation marquée)</a:t>
            </a:r>
          </a:p>
        </p:txBody>
      </p:sp>
      <p:sp>
        <p:nvSpPr>
          <p:cNvPr id="19" name="TextBox 18"/>
          <p:cNvSpPr txBox="1"/>
          <p:nvPr/>
        </p:nvSpPr>
        <p:spPr>
          <a:xfrm>
            <a:off x="432000" y="3978000"/>
            <a:ext cx="8208000" cy="791999"/>
          </a:xfrm>
          <a:prstGeom prst="rect">
            <a:avLst/>
          </a:prstGeom>
          <a:noFill/>
        </p:spPr>
        <p:txBody>
          <a:bodyPr wrap="square">
            <a:spAutoFit/>
          </a:bodyPr>
          <a:lstStyle/>
          <a:p>
            <a:pPr algn="l"/>
            <a:r>
              <a:rPr sz="750" b="0" i="0">
                <a:solidFill>
                  <a:srgbClr val="555555"/>
                </a:solidFill>
              </a:rPr>
              <a:t>2 secteur(s) sur 10 franchissent le seuil Surpondérer (score &gt; 65) : Serv. Publ. · Industrie. 2 secteur(s) en Sous-pondérer : Conso. Déf. · Immobilier. 6 secteur(s) en Neutre. L'Écart leader/retardataire (Serv. Publ. 85pts / Immobilier 32pts) = 53 pts de spread — bifurcation marquée. Secteurs proches du seuil de bascule (55-65) : Finance · Santé · Technologie. Marge EBITDA Médiane des surpondérés : 11.8%. La dispersion élevée justifié une approche concentrée : surexposer les secteurs verts, éviter les secteurs rouges. Un portefeuille également pondéré sous-performerait le benchmark.</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Serv. Publ.  ·  Industrie en zone Opportunite (EV/EBITDA attractif) — forte conviction score Surpondérer.
Serv. Publ.  ·  Industrie : valorisation attractive — croissance correcte, meilleur ratio risque/rendement.
Les pointilles representent les Médianes sectorielles (EV/EBITDA et BPA growth). Favoriser les secteurs en bas droite (forte croissance, valorisation modérée).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2909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29090">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Finance</a:t>
                      </a:r>
                    </a:p>
                  </a:txBody>
                  <a:tcPr>
                    <a:noFill/>
                  </a:tcPr>
                </a:tc>
                <a:tc>
                  <a:txBody>
                    <a:bodyPr/>
                    <a:lstStyle/>
                    <a:p>
                      <a:pPr algn="ctr"/>
                      <a:r>
                        <a:rPr sz="800" b="0">
                          <a:solidFill>
                            <a:srgbClr val="1A1A1A"/>
                          </a:solidFill>
                        </a:rPr>
                        <a:t>57</a:t>
                      </a:r>
                    </a:p>
                  </a:txBody>
                  <a:tcPr>
                    <a:solidFill>
                      <a:srgbClr val="FDF3E5"/>
                    </a:solid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17</a:t>
                      </a:r>
                    </a:p>
                  </a:txBody>
                  <a:tcPr>
                    <a:noFill/>
                  </a:tcPr>
                </a:tc>
                <a:tc>
                  <a:txBody>
                    <a:bodyPr/>
                    <a:lstStyle/>
                    <a:p>
                      <a:pPr algn="ctr"/>
                      <a:r>
                        <a:rPr sz="800" b="0">
                          <a:solidFill>
                            <a:srgbClr val="1A1A1A"/>
                          </a:solidFill>
                        </a:rPr>
                        <a:t>17</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56</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Technologie</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49</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Conso. Cycl.</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Conso. Déf.</a:t>
                      </a:r>
                    </a:p>
                  </a:txBody>
                  <a:tcPr>
                    <a:no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Sous-ponderer</a:t>
                      </a:r>
                    </a:p>
                  </a:txBody>
                  <a:tcPr>
                    <a:solidFill>
                      <a:srgbClr val="FBEBEB"/>
                    </a:solidFill>
                  </a:tcPr>
                </a:tc>
              </a:tr>
              <a:tr h="229100">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32</a:t>
                      </a:r>
                    </a:p>
                  </a:txBody>
                  <a:tcPr>
                    <a:solidFill>
                      <a:srgbClr val="FBEBEB"/>
                    </a:solidFill>
                  </a:tcPr>
                </a:tc>
                <a:tc>
                  <a:txBody>
                    <a:bodyPr/>
                    <a:lstStyle/>
                    <a:p>
                      <a:pPr algn="ctr"/>
                      <a:r>
                        <a:rPr sz="800" b="0">
                          <a:solidFill>
                            <a:srgbClr val="1A1A1A"/>
                          </a:solidFill>
                        </a:rPr>
                        <a:t>13</a:t>
                      </a:r>
                    </a:p>
                  </a:txBody>
                  <a:tcPr>
                    <a:solidFill>
                      <a:srgbClr val="F5F7FA"/>
                    </a:solidFill>
                  </a:tcPr>
                </a:tc>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10</a:t>
                      </a:r>
                    </a:p>
                  </a:txBody>
                  <a:tcPr>
                    <a:solidFill>
                      <a:srgbClr val="F5F7FA"/>
                    </a:solidFill>
                  </a:tcPr>
                </a:tc>
                <a:tc>
                  <a:txBody>
                    <a:bodyPr/>
                    <a:lstStyle/>
                    <a:p>
                      <a:pPr algn="ctr"/>
                      <a:r>
                        <a:rPr sz="800" b="0">
                          <a:solidFill>
                            <a:srgbClr val="A82020"/>
                          </a:solidFill>
                        </a:rPr>
                        <a:t>Sous-ponderer</a:t>
                      </a:r>
                    </a:p>
                  </a:txBody>
                  <a:tcPr>
                    <a:solidFill>
                      <a:srgbClr val="FBEBEB"/>
                    </a:solidFill>
                  </a:tcPr>
                </a:tc>
              </a:tr>
            </a:tbl>
          </a:graphicData>
        </a:graphic>
      </p:graphicFrame>
      <p:sp>
        <p:nvSpPr>
          <p:cNvPr id="16" name="TextBox 15"/>
          <p:cNvSpPr txBox="1"/>
          <p:nvPr/>
        </p:nvSpPr>
        <p:spPr>
          <a:xfrm>
            <a:off x="324000" y="3355200"/>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643200"/>
            <a:ext cx="8496000" cy="11627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643200"/>
            <a:ext cx="43200" cy="11627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6972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3931200"/>
            <a:ext cx="8208000" cy="838799"/>
          </a:xfrm>
          <a:prstGeom prst="rect">
            <a:avLst/>
          </a:prstGeom>
          <a:noFill/>
        </p:spPr>
        <p:txBody>
          <a:bodyPr wrap="square">
            <a:spAutoFit/>
          </a:bodyPr>
          <a:lstStyle/>
          <a:p>
            <a:pPr algn="l"/>
            <a:r>
              <a:rPr sz="750" b="0" i="0">
                <a:solidFill>
                  <a:srgbClr val="555555"/>
                </a:solidFill>
              </a:rPr>
              <a:t>Serv. Publ. affiche le profil le plus robuste (score 85/100) avec momentum=34pts, révisions=26pts, valorisation=26pts. À l'opposé, Immobilier (score 32/100) cumule les handicaps : momentum=0, révisions=0, valorisation=0. Dimension dominante sur l'ensemble de l'univers : momentum. Secteurs avec profil composite fort (&gt;50 sur les 3 dimensions) : aucun. Ces secteurs représentent les meilleures opportunités d'entrée dans le contexte actuel.</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19.0x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EOAN.DE</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13.1x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684000" cy="198000"/>
          </a:xfrm>
          <a:prstGeom prst="rect">
            <a:avLst/>
          </a:prstGeom>
          <a:noFill/>
        </p:spPr>
        <p:txBody>
          <a:bodyPr wrap="square">
            <a:spAutoFit/>
          </a:bodyPr>
          <a:lstStyle/>
          <a:p>
            <a:pPr algn="l"/>
            <a:r>
              <a:rPr sz="800" b="1" i="0">
                <a:solidFill>
                  <a:srgbClr val="1B3A6B"/>
                </a:solidFill>
              </a:rPr>
              <a:t>RWE.DE</a:t>
            </a:r>
          </a:p>
        </p:txBody>
      </p:sp>
      <p:sp>
        <p:nvSpPr>
          <p:cNvPr id="29" name="TextBox 28"/>
          <p:cNvSpPr txBox="1"/>
          <p:nvPr/>
        </p:nvSpPr>
        <p:spPr>
          <a:xfrm>
            <a:off x="1152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692000" y="1915200"/>
            <a:ext cx="540000" cy="198000"/>
          </a:xfrm>
          <a:prstGeom prst="rect">
            <a:avLst/>
          </a:prstGeom>
          <a:noFill/>
        </p:spPr>
        <p:txBody>
          <a:bodyPr wrap="square">
            <a:spAutoFit/>
          </a:bodyPr>
          <a:lstStyle/>
          <a:p>
            <a:pPr algn="l"/>
            <a:r>
              <a:rPr sz="800" b="0" i="0">
                <a:solidFill>
                  <a:srgbClr val="555555"/>
                </a:solidFill>
              </a:rPr>
              <a:t>24.9x</a:t>
            </a:r>
          </a:p>
        </p:txBody>
      </p:sp>
      <p:sp>
        <p:nvSpPr>
          <p:cNvPr id="31" name="TextBox 30"/>
          <p:cNvSpPr txBox="1"/>
          <p:nvPr/>
        </p:nvSpPr>
        <p:spPr>
          <a:xfrm>
            <a:off x="2232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TextBox 31"/>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3" name="Rectangle 32"/>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+54.3% — momentum surpondérer</a:t>
            </a:r>
          </a:p>
        </p:txBody>
      </p:sp>
      <p:sp>
        <p:nvSpPr>
          <p:cNvPr id="35" name="TextBox 34"/>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6" name="Rectangle 35"/>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8" name="Rectangle 37"/>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41" name="Rectangle 40"/>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3" name="TextBox 42"/>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78/100  ·  EV/EBITDA : 14.6x</a:t>
            </a:r>
          </a:p>
        </p:txBody>
      </p:sp>
      <p:sp>
        <p:nvSpPr>
          <p:cNvPr id="44" name="TextBox 43"/>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5" name="Rectangle 44"/>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DTG.DE</a:t>
            </a:r>
          </a:p>
        </p:txBody>
      </p:sp>
      <p:sp>
        <p:nvSpPr>
          <p:cNvPr id="47" name="TextBox 46"/>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8" name="TextBox 47"/>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12.8x</a:t>
            </a:r>
          </a:p>
        </p:txBody>
      </p:sp>
      <p:sp>
        <p:nvSpPr>
          <p:cNvPr id="49" name="TextBox 48"/>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50" name="Rectangle 49"/>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915200"/>
            <a:ext cx="684000" cy="198000"/>
          </a:xfrm>
          <a:prstGeom prst="rect">
            <a:avLst/>
          </a:prstGeom>
          <a:noFill/>
        </p:spPr>
        <p:txBody>
          <a:bodyPr wrap="square">
            <a:spAutoFit/>
          </a:bodyPr>
          <a:lstStyle/>
          <a:p>
            <a:pPr algn="l"/>
            <a:r>
              <a:rPr sz="800" b="1" i="0">
                <a:solidFill>
                  <a:srgbClr val="1B3A6B"/>
                </a:solidFill>
              </a:rPr>
              <a:t>DHL.DE</a:t>
            </a:r>
          </a:p>
        </p:txBody>
      </p:sp>
      <p:sp>
        <p:nvSpPr>
          <p:cNvPr id="52" name="TextBox 51"/>
          <p:cNvSpPr txBox="1"/>
          <p:nvPr/>
        </p:nvSpPr>
        <p:spPr>
          <a:xfrm>
            <a:off x="3978000" y="19152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518000" y="1915200"/>
            <a:ext cx="540000" cy="198000"/>
          </a:xfrm>
          <a:prstGeom prst="rect">
            <a:avLst/>
          </a:prstGeom>
          <a:noFill/>
        </p:spPr>
        <p:txBody>
          <a:bodyPr wrap="square">
            <a:spAutoFit/>
          </a:bodyPr>
          <a:lstStyle/>
          <a:p>
            <a:pPr algn="l"/>
            <a:r>
              <a:rPr sz="800" b="0" i="0">
                <a:solidFill>
                  <a:srgbClr val="555555"/>
                </a:solidFill>
              </a:rPr>
              <a:t>10.0x</a:t>
            </a:r>
          </a:p>
        </p:txBody>
      </p:sp>
      <p:sp>
        <p:nvSpPr>
          <p:cNvPr id="54" name="TextBox 53"/>
          <p:cNvSpPr txBox="1"/>
          <p:nvPr/>
        </p:nvSpPr>
        <p:spPr>
          <a:xfrm>
            <a:off x="5058000" y="1915200"/>
            <a:ext cx="540000" cy="198000"/>
          </a:xfrm>
          <a:prstGeom prst="rect">
            <a:avLst/>
          </a:prstGeom>
          <a:noFill/>
        </p:spPr>
        <p:txBody>
          <a:bodyPr wrap="square">
            <a:spAutoFit/>
          </a:bodyPr>
          <a:lstStyle/>
          <a:p>
            <a:pPr algn="l"/>
            <a:r>
              <a:rPr sz="800" b="0" i="0">
                <a:solidFill>
                  <a:srgbClr val="555555"/>
                </a:solidFill>
              </a:rPr>
              <a:t>85</a:t>
            </a:r>
          </a:p>
        </p:txBody>
      </p:sp>
      <p:sp>
        <p:nvSpPr>
          <p:cNvPr id="55" name="Rectangle 54"/>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2210400"/>
            <a:ext cx="684000" cy="198000"/>
          </a:xfrm>
          <a:prstGeom prst="rect">
            <a:avLst/>
          </a:prstGeom>
          <a:noFill/>
        </p:spPr>
        <p:txBody>
          <a:bodyPr wrap="square">
            <a:spAutoFit/>
          </a:bodyPr>
          <a:lstStyle/>
          <a:p>
            <a:pPr algn="l"/>
            <a:r>
              <a:rPr sz="800" b="1" i="0">
                <a:solidFill>
                  <a:srgbClr val="1B3A6B"/>
                </a:solidFill>
              </a:rPr>
              <a:t>NDA.DE</a:t>
            </a:r>
          </a:p>
        </p:txBody>
      </p:sp>
      <p:sp>
        <p:nvSpPr>
          <p:cNvPr id="57" name="TextBox 56"/>
          <p:cNvSpPr txBox="1"/>
          <p:nvPr/>
        </p:nvSpPr>
        <p:spPr>
          <a:xfrm>
            <a:off x="3978000" y="22104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518000" y="2210400"/>
            <a:ext cx="540000" cy="198000"/>
          </a:xfrm>
          <a:prstGeom prst="rect">
            <a:avLst/>
          </a:prstGeom>
          <a:noFill/>
        </p:spPr>
        <p:txBody>
          <a:bodyPr wrap="square">
            <a:spAutoFit/>
          </a:bodyPr>
          <a:lstStyle/>
          <a:p>
            <a:pPr algn="l"/>
            <a:r>
              <a:rPr sz="800" b="0" i="0">
                <a:solidFill>
                  <a:srgbClr val="555555"/>
                </a:solidFill>
              </a:rPr>
              <a:t>8.3x</a:t>
            </a:r>
          </a:p>
        </p:txBody>
      </p:sp>
      <p:sp>
        <p:nvSpPr>
          <p:cNvPr id="59" name="TextBox 58"/>
          <p:cNvSpPr txBox="1"/>
          <p:nvPr/>
        </p:nvSpPr>
        <p:spPr>
          <a:xfrm>
            <a:off x="5058000" y="2210400"/>
            <a:ext cx="540000" cy="198000"/>
          </a:xfrm>
          <a:prstGeom prst="rect">
            <a:avLst/>
          </a:prstGeom>
          <a:noFill/>
        </p:spPr>
        <p:txBody>
          <a:bodyPr wrap="square">
            <a:spAutoFit/>
          </a:bodyPr>
          <a:lstStyle/>
          <a:p>
            <a:pPr algn="l"/>
            <a:r>
              <a:rPr sz="800" b="0" i="0">
                <a:solidFill>
                  <a:srgbClr val="555555"/>
                </a:solidFill>
              </a:rPr>
              <a:t>85</a:t>
            </a:r>
          </a:p>
        </p:txBody>
      </p:sp>
      <p:sp>
        <p:nvSpPr>
          <p:cNvPr id="60" name="TextBox 59"/>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1" name="Rectangle 60"/>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+57.8% — momentum surpondérer</a:t>
            </a:r>
          </a:p>
        </p:txBody>
      </p:sp>
      <p:sp>
        <p:nvSpPr>
          <p:cNvPr id="63" name="TextBox 62"/>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4" name="Rectangle 63"/>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6" name="Rectangle 65"/>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69" name="Rectangle 68"/>
          <p:cNvSpPr/>
          <p:nvPr/>
        </p:nvSpPr>
        <p:spPr>
          <a:xfrm>
            <a:off x="7955999" y="846000"/>
            <a:ext cx="648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Neutre</a:t>
            </a:r>
          </a:p>
        </p:txBody>
      </p:sp>
      <p:sp>
        <p:nvSpPr>
          <p:cNvPr id="71" name="TextBox 70"/>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57/100  ·  EV/EBITDA : 5.6x</a:t>
            </a:r>
          </a:p>
        </p:txBody>
      </p:sp>
      <p:sp>
        <p:nvSpPr>
          <p:cNvPr id="72" name="TextBox 71"/>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3" name="Rectangle 72"/>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DBK.DE</a:t>
            </a:r>
          </a:p>
        </p:txBody>
      </p:sp>
      <p:sp>
        <p:nvSpPr>
          <p:cNvPr id="75" name="TextBox 74"/>
          <p:cNvSpPr txBox="1"/>
          <p:nvPr/>
        </p:nvSpPr>
        <p:spPr>
          <a:xfrm>
            <a:off x="6803999" y="1620000"/>
            <a:ext cx="540000" cy="198000"/>
          </a:xfrm>
          <a:prstGeom prst="rect">
            <a:avLst/>
          </a:prstGeom>
          <a:noFill/>
        </p:spPr>
        <p:txBody>
          <a:bodyPr wrap="square">
            <a:spAutoFit/>
          </a:bodyPr>
          <a:lstStyle/>
          <a:p>
            <a:pPr algn="l"/>
            <a:r>
              <a:rPr sz="800" b="0" i="0">
                <a:solidFill>
                  <a:srgbClr val="B06000"/>
                </a:solidFill>
              </a:rPr>
              <a:t>Neutre</a:t>
            </a:r>
          </a:p>
        </p:txBody>
      </p:sp>
      <p:sp>
        <p:nvSpPr>
          <p:cNvPr id="76" name="TextBox 75"/>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~5.6x</a:t>
            </a:r>
          </a:p>
        </p:txBody>
      </p:sp>
      <p:sp>
        <p:nvSpPr>
          <p:cNvPr id="77" name="TextBox 76"/>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78" name="Rectangle 77"/>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915200"/>
            <a:ext cx="684000" cy="198000"/>
          </a:xfrm>
          <a:prstGeom prst="rect">
            <a:avLst/>
          </a:prstGeom>
          <a:noFill/>
        </p:spPr>
        <p:txBody>
          <a:bodyPr wrap="square">
            <a:spAutoFit/>
          </a:bodyPr>
          <a:lstStyle/>
          <a:p>
            <a:pPr algn="l"/>
            <a:r>
              <a:rPr sz="800" b="1" i="0">
                <a:solidFill>
                  <a:srgbClr val="1B3A6B"/>
                </a:solidFill>
              </a:rPr>
              <a:t>ALV.DE</a:t>
            </a:r>
          </a:p>
        </p:txBody>
      </p:sp>
      <p:sp>
        <p:nvSpPr>
          <p:cNvPr id="80" name="TextBox 79"/>
          <p:cNvSpPr txBox="1"/>
          <p:nvPr/>
        </p:nvSpPr>
        <p:spPr>
          <a:xfrm>
            <a:off x="6803999" y="1915200"/>
            <a:ext cx="540000" cy="198000"/>
          </a:xfrm>
          <a:prstGeom prst="rect">
            <a:avLst/>
          </a:prstGeom>
          <a:noFill/>
        </p:spPr>
        <p:txBody>
          <a:bodyPr wrap="square">
            <a:spAutoFit/>
          </a:bodyPr>
          <a:lstStyle/>
          <a:p>
            <a:pPr algn="l"/>
            <a:r>
              <a:rPr sz="800" b="0" i="0">
                <a:solidFill>
                  <a:srgbClr val="B06000"/>
                </a:solidFill>
              </a:rPr>
              <a:t>Neutre</a:t>
            </a:r>
          </a:p>
        </p:txBody>
      </p:sp>
      <p:sp>
        <p:nvSpPr>
          <p:cNvPr id="81" name="TextBox 80"/>
          <p:cNvSpPr txBox="1"/>
          <p:nvPr/>
        </p:nvSpPr>
        <p:spPr>
          <a:xfrm>
            <a:off x="7343999" y="1915200"/>
            <a:ext cx="540000" cy="198000"/>
          </a:xfrm>
          <a:prstGeom prst="rect">
            <a:avLst/>
          </a:prstGeom>
          <a:noFill/>
        </p:spPr>
        <p:txBody>
          <a:bodyPr wrap="square">
            <a:spAutoFit/>
          </a:bodyPr>
          <a:lstStyle/>
          <a:p>
            <a:pPr algn="l"/>
            <a:r>
              <a:rPr sz="800" b="0" i="0">
                <a:solidFill>
                  <a:srgbClr val="555555"/>
                </a:solidFill>
              </a:rPr>
              <a:t>2.8x</a:t>
            </a:r>
          </a:p>
        </p:txBody>
      </p:sp>
      <p:sp>
        <p:nvSpPr>
          <p:cNvPr id="82" name="TextBox 81"/>
          <p:cNvSpPr txBox="1"/>
          <p:nvPr/>
        </p:nvSpPr>
        <p:spPr>
          <a:xfrm>
            <a:off x="7883999" y="1915200"/>
            <a:ext cx="540000" cy="198000"/>
          </a:xfrm>
          <a:prstGeom prst="rect">
            <a:avLst/>
          </a:prstGeom>
          <a:noFill/>
        </p:spPr>
        <p:txBody>
          <a:bodyPr wrap="square">
            <a:spAutoFit/>
          </a:bodyPr>
          <a:lstStyle/>
          <a:p>
            <a:pPr algn="l"/>
            <a:r>
              <a:rPr sz="800" b="0" i="0">
                <a:solidFill>
                  <a:srgbClr val="555555"/>
                </a:solidFill>
              </a:rPr>
              <a:t>63</a:t>
            </a:r>
          </a:p>
        </p:txBody>
      </p:sp>
      <p:sp>
        <p:nvSpPr>
          <p:cNvPr id="83" name="Rectangle 82"/>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2210400"/>
            <a:ext cx="684000" cy="198000"/>
          </a:xfrm>
          <a:prstGeom prst="rect">
            <a:avLst/>
          </a:prstGeom>
          <a:noFill/>
        </p:spPr>
        <p:txBody>
          <a:bodyPr wrap="square">
            <a:spAutoFit/>
          </a:bodyPr>
          <a:lstStyle/>
          <a:p>
            <a:pPr algn="l"/>
            <a:r>
              <a:rPr sz="800" b="1" i="0">
                <a:solidFill>
                  <a:srgbClr val="1B3A6B"/>
                </a:solidFill>
              </a:rPr>
              <a:t>HNR1.DE</a:t>
            </a:r>
          </a:p>
        </p:txBody>
      </p:sp>
      <p:sp>
        <p:nvSpPr>
          <p:cNvPr id="85" name="TextBox 84"/>
          <p:cNvSpPr txBox="1"/>
          <p:nvPr/>
        </p:nvSpPr>
        <p:spPr>
          <a:xfrm>
            <a:off x="6803999" y="2210400"/>
            <a:ext cx="540000" cy="198000"/>
          </a:xfrm>
          <a:prstGeom prst="rect">
            <a:avLst/>
          </a:prstGeom>
          <a:noFill/>
        </p:spPr>
        <p:txBody>
          <a:bodyPr wrap="square">
            <a:spAutoFit/>
          </a:bodyPr>
          <a:lstStyle/>
          <a:p>
            <a:pPr algn="l"/>
            <a:r>
              <a:rPr sz="800" b="0" i="0">
                <a:solidFill>
                  <a:srgbClr val="B06000"/>
                </a:solidFill>
              </a:rPr>
              <a:t>Neutre</a:t>
            </a:r>
          </a:p>
        </p:txBody>
      </p:sp>
      <p:sp>
        <p:nvSpPr>
          <p:cNvPr id="86" name="TextBox 85"/>
          <p:cNvSpPr txBox="1"/>
          <p:nvPr/>
        </p:nvSpPr>
        <p:spPr>
          <a:xfrm>
            <a:off x="7343999" y="2210400"/>
            <a:ext cx="540000" cy="198000"/>
          </a:xfrm>
          <a:prstGeom prst="rect">
            <a:avLst/>
          </a:prstGeom>
          <a:noFill/>
        </p:spPr>
        <p:txBody>
          <a:bodyPr wrap="square">
            <a:spAutoFit/>
          </a:bodyPr>
          <a:lstStyle/>
          <a:p>
            <a:pPr algn="l"/>
            <a:r>
              <a:rPr sz="800" b="0" i="0">
                <a:solidFill>
                  <a:srgbClr val="555555"/>
                </a:solidFill>
              </a:rPr>
              <a:t>5.6x</a:t>
            </a:r>
          </a:p>
        </p:txBody>
      </p:sp>
      <p:sp>
        <p:nvSpPr>
          <p:cNvPr id="87" name="TextBox 86"/>
          <p:cNvSpPr txBox="1"/>
          <p:nvPr/>
        </p:nvSpPr>
        <p:spPr>
          <a:xfrm>
            <a:off x="7883999" y="2210400"/>
            <a:ext cx="540000" cy="198000"/>
          </a:xfrm>
          <a:prstGeom prst="rect">
            <a:avLst/>
          </a:prstGeom>
          <a:noFill/>
        </p:spPr>
        <p:txBody>
          <a:bodyPr wrap="square">
            <a:spAutoFit/>
          </a:bodyPr>
          <a:lstStyle/>
          <a:p>
            <a:pPr algn="l"/>
            <a:r>
              <a:rPr sz="800" b="0" i="0">
                <a:solidFill>
                  <a:srgbClr val="555555"/>
                </a:solidFill>
              </a:rPr>
              <a:t>51</a:t>
            </a:r>
          </a:p>
        </p:txBody>
      </p:sp>
      <p:sp>
        <p:nvSpPr>
          <p:cNvPr id="88" name="TextBox 87"/>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89" name="Rectangle 88"/>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+6.8% — momentum neutre</a:t>
            </a:r>
          </a:p>
        </p:txBody>
      </p:sp>
      <p:sp>
        <p:nvSpPr>
          <p:cNvPr id="91" name="TextBox 90"/>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2" name="Rectangle 91"/>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94" name="Rectangle 9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Marché US (S&amp;P 500). Pour les indices européens (CAC 40, DAX, Euro Stoxx), les proxies sectoriels équivalents ne sont pas disponibles via yfinance. L'optimisation est donc calculée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SURPONDÉRER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Serv. Publ.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Industrie — score 78/100</a:t>
            </a:r>
          </a:p>
        </p:txBody>
      </p:sp>
      <p:sp>
        <p:nvSpPr>
          <p:cNvPr id="26" name="Rectangle 25"/>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SOUS-PONDÉRER</a:t>
            </a:r>
          </a:p>
        </p:txBody>
      </p:sp>
      <p:sp>
        <p:nvSpPr>
          <p:cNvPr id="29" name="TextBox 28"/>
          <p:cNvSpPr txBox="1"/>
          <p:nvPr/>
        </p:nvSpPr>
        <p:spPr>
          <a:xfrm>
            <a:off x="4824000" y="3131999"/>
            <a:ext cx="3888000" cy="234000"/>
          </a:xfrm>
          <a:prstGeom prst="rect">
            <a:avLst/>
          </a:prstGeom>
          <a:noFill/>
        </p:spPr>
        <p:txBody>
          <a:bodyPr wrap="square">
            <a:spAutoFit/>
          </a:bodyPr>
          <a:lstStyle/>
          <a:p>
            <a:pPr algn="l"/>
            <a:r>
              <a:rPr sz="800" b="0" i="0">
                <a:solidFill>
                  <a:srgbClr val="555555"/>
                </a:solidFill>
              </a:rPr>
              <a:t>• Conso. Déf. — score 38/100</a:t>
            </a:r>
          </a:p>
        </p:txBody>
      </p:sp>
      <p:sp>
        <p:nvSpPr>
          <p:cNvPr id="30" name="TextBox 29"/>
          <p:cNvSpPr txBox="1"/>
          <p:nvPr/>
        </p:nvSpPr>
        <p:spPr>
          <a:xfrm>
            <a:off x="4824000" y="3401999"/>
            <a:ext cx="3888000" cy="234000"/>
          </a:xfrm>
          <a:prstGeom prst="rect">
            <a:avLst/>
          </a:prstGeom>
          <a:noFill/>
        </p:spPr>
        <p:txBody>
          <a:bodyPr wrap="square">
            <a:spAutoFit/>
          </a:bodyPr>
          <a:lstStyle/>
          <a:p>
            <a:pPr algn="l"/>
            <a:r>
              <a:rPr sz="800" b="0" i="0">
                <a:solidFill>
                  <a:srgbClr val="555555"/>
                </a:solidFill>
              </a:rPr>
              <a:t>• Immobilier — score 32/100</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
PE Forward indice : 13.8x
Zone d'entrée favorable (PE &lt; Médiane) :
Serv. Publ.  ·  Industrie  ·  Finance
Zone de prudence (PE &gt; Médiane +15 %) :
Aucun
Méthodologie : le PE Forward estime est ancre sur le PE global de l'indice Ajusté du score sectoriel (+/- Écart). Les secteurs a gauche de la ligne pointillee (Médiane 10 ans) offrent un meilleur point d'entree. Un Écart &gt; +20 % vs la médiane justifié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trimestrès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DAX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Technologie</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Finance</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Conso. Cycl.</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Conso. Déf.</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Énergie</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Serv. Publ.</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10 secteurs  ·  Signal composite</a:t>
            </a:r>
          </a:p>
        </p:txBody>
      </p:sp>
      <p:pic>
        <p:nvPicPr>
          <p:cNvPr id="15" name="Picture 14" descr="image.png"/>
          <p:cNvPicPr>
            <a:picLocks noChangeAspect="1"/>
          </p:cNvPicPr>
          <p:nvPr/>
        </p:nvPicPr>
        <p:blipFill>
          <a:blip r:embed="rId2"/>
          <a:stretch>
            <a:fillRect/>
          </a:stretch>
        </p:blipFill>
        <p:spPr>
          <a:xfrm>
            <a:off x="324000" y="827999"/>
            <a:ext cx="4860000" cy="3960000"/>
          </a:xfrm>
          <a:prstGeom prst="rect">
            <a:avLst/>
          </a:prstGeom>
        </p:spPr>
      </p:pic>
      <p:sp>
        <p:nvSpPr>
          <p:cNvPr id="16" name="Rectangle 15"/>
          <p:cNvSpPr/>
          <p:nvPr/>
        </p:nvSpPr>
        <p:spPr>
          <a:xfrm>
            <a:off x="5364000" y="827999"/>
            <a:ext cx="3420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364000" y="827999"/>
            <a:ext cx="43200" cy="115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2000" y="864000"/>
            <a:ext cx="3240000" cy="540000"/>
          </a:xfrm>
          <a:prstGeom prst="rect">
            <a:avLst/>
          </a:prstGeom>
          <a:noFill/>
        </p:spPr>
        <p:txBody>
          <a:bodyPr wrap="square">
            <a:spAutoFit/>
          </a:bodyPr>
          <a:lstStyle/>
          <a:p>
            <a:pPr algn="l"/>
            <a:r>
              <a:rPr sz="2800" b="1" i="0">
                <a:solidFill>
                  <a:srgbClr val="1A7A4A"/>
                </a:solidFill>
              </a:rPr>
              <a:t>+0.06</a:t>
            </a:r>
          </a:p>
        </p:txBody>
      </p:sp>
      <p:sp>
        <p:nvSpPr>
          <p:cNvPr id="19" name="TextBox 18"/>
          <p:cNvSpPr txBox="1"/>
          <p:nvPr/>
        </p:nvSpPr>
        <p:spPr>
          <a:xfrm>
            <a:off x="5472000" y="1422000"/>
            <a:ext cx="3240000" cy="162000"/>
          </a:xfrm>
          <a:prstGeom prst="rect">
            <a:avLst/>
          </a:prstGeom>
          <a:noFill/>
        </p:spPr>
        <p:txBody>
          <a:bodyPr wrap="square">
            <a:spAutoFit/>
          </a:bodyPr>
          <a:lstStyle/>
          <a:p>
            <a:pPr algn="l"/>
            <a:r>
              <a:rPr sz="750" b="0" i="0">
                <a:solidFill>
                  <a:srgbClr val="555555"/>
                </a:solidFill>
              </a:rPr>
              <a:t>Score composite secteurs</a:t>
            </a:r>
          </a:p>
        </p:txBody>
      </p:sp>
      <p:sp>
        <p:nvSpPr>
          <p:cNvPr id="20" name="TextBox 19"/>
          <p:cNvSpPr txBox="1"/>
          <p:nvPr/>
        </p:nvSpPr>
        <p:spPr>
          <a:xfrm>
            <a:off x="5472000" y="1584000"/>
            <a:ext cx="3240000" cy="198000"/>
          </a:xfrm>
          <a:prstGeom prst="rect">
            <a:avLst/>
          </a:prstGeom>
          <a:noFill/>
        </p:spPr>
        <p:txBody>
          <a:bodyPr wrap="square">
            <a:spAutoFit/>
          </a:bodyPr>
          <a:lstStyle/>
          <a:p>
            <a:pPr algn="l"/>
            <a:r>
              <a:rPr sz="900" b="1" i="0">
                <a:solidFill>
                  <a:srgbClr val="1A7A4A"/>
                </a:solidFill>
              </a:rPr>
              <a:t>Neutre</a:t>
            </a:r>
          </a:p>
        </p:txBody>
      </p:sp>
      <p:sp>
        <p:nvSpPr>
          <p:cNvPr id="21" name="Rectangle 20"/>
          <p:cNvSpPr/>
          <p:nvPr/>
        </p:nvSpPr>
        <p:spPr>
          <a:xfrm>
            <a:off x="5364000" y="2052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4000" y="2052000"/>
            <a:ext cx="1504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18000" y="2070000"/>
            <a:ext cx="3311999" cy="144000"/>
          </a:xfrm>
          <a:prstGeom prst="rect">
            <a:avLst/>
          </a:prstGeom>
          <a:noFill/>
        </p:spPr>
        <p:txBody>
          <a:bodyPr wrap="square">
            <a:spAutoFit/>
          </a:bodyPr>
          <a:lstStyle/>
          <a:p>
            <a:pPr algn="l"/>
            <a:r>
              <a:rPr sz="800" b="1" i="0">
                <a:solidFill>
                  <a:srgbClr val="FFFFFF"/>
                </a:solidFill>
              </a:rPr>
              <a:t>Surpondérer</a:t>
            </a:r>
          </a:p>
        </p:txBody>
      </p:sp>
      <p:sp>
        <p:nvSpPr>
          <p:cNvPr id="24" name="TextBox 23"/>
          <p:cNvSpPr txBox="1"/>
          <p:nvPr/>
        </p:nvSpPr>
        <p:spPr>
          <a:xfrm>
            <a:off x="5418000" y="2221200"/>
            <a:ext cx="3311999" cy="136800"/>
          </a:xfrm>
          <a:prstGeom prst="rect">
            <a:avLst/>
          </a:prstGeom>
          <a:noFill/>
        </p:spPr>
        <p:txBody>
          <a:bodyPr wrap="square">
            <a:spAutoFit/>
          </a:bodyPr>
          <a:lstStyle/>
          <a:p>
            <a:pPr algn="l"/>
            <a:r>
              <a:rPr sz="750" b="0" i="0">
                <a:solidFill>
                  <a:srgbClr val="FFFFFF"/>
                </a:solidFill>
              </a:rPr>
              <a:t>15 sect. (44 %)</a:t>
            </a:r>
          </a:p>
        </p:txBody>
      </p:sp>
      <p:sp>
        <p:nvSpPr>
          <p:cNvPr id="25" name="Rectangle 24"/>
          <p:cNvSpPr/>
          <p:nvPr/>
        </p:nvSpPr>
        <p:spPr>
          <a:xfrm>
            <a:off x="5364000" y="2430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64000" y="2430000"/>
            <a:ext cx="11970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18000" y="2448000"/>
            <a:ext cx="3311999" cy="144000"/>
          </a:xfrm>
          <a:prstGeom prst="rect">
            <a:avLst/>
          </a:prstGeom>
          <a:noFill/>
        </p:spPr>
        <p:txBody>
          <a:bodyPr wrap="square">
            <a:spAutoFit/>
          </a:bodyPr>
          <a:lstStyle/>
          <a:p>
            <a:pPr algn="l"/>
            <a:r>
              <a:rPr sz="800" b="1" i="0">
                <a:solidFill>
                  <a:srgbClr val="FFFFFF"/>
                </a:solidFill>
              </a:rPr>
              <a:t>Neutre</a:t>
            </a:r>
          </a:p>
        </p:txBody>
      </p:sp>
      <p:sp>
        <p:nvSpPr>
          <p:cNvPr id="28" name="TextBox 27"/>
          <p:cNvSpPr txBox="1"/>
          <p:nvPr/>
        </p:nvSpPr>
        <p:spPr>
          <a:xfrm>
            <a:off x="5418000" y="2599200"/>
            <a:ext cx="3311999" cy="136800"/>
          </a:xfrm>
          <a:prstGeom prst="rect">
            <a:avLst/>
          </a:prstGeom>
          <a:noFill/>
        </p:spPr>
        <p:txBody>
          <a:bodyPr wrap="square">
            <a:spAutoFit/>
          </a:bodyPr>
          <a:lstStyle/>
          <a:p>
            <a:pPr algn="l"/>
            <a:r>
              <a:rPr sz="750" b="0" i="0">
                <a:solidFill>
                  <a:srgbClr val="FFFFFF"/>
                </a:solidFill>
              </a:rPr>
              <a:t>12 sect. (35 %)</a:t>
            </a:r>
          </a:p>
        </p:txBody>
      </p:sp>
      <p:sp>
        <p:nvSpPr>
          <p:cNvPr id="29" name="Rectangle 28"/>
          <p:cNvSpPr/>
          <p:nvPr/>
        </p:nvSpPr>
        <p:spPr>
          <a:xfrm>
            <a:off x="5364000" y="2808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364000" y="2808000"/>
            <a:ext cx="718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18000" y="2826000"/>
            <a:ext cx="3311999" cy="144000"/>
          </a:xfrm>
          <a:prstGeom prst="rect">
            <a:avLst/>
          </a:prstGeom>
          <a:noFill/>
        </p:spPr>
        <p:txBody>
          <a:bodyPr wrap="square">
            <a:spAutoFit/>
          </a:bodyPr>
          <a:lstStyle/>
          <a:p>
            <a:pPr algn="l"/>
            <a:r>
              <a:rPr sz="800" b="1" i="0">
                <a:solidFill>
                  <a:srgbClr val="1A1A1A"/>
                </a:solidFill>
              </a:rPr>
              <a:t>Sous-pondérer</a:t>
            </a:r>
          </a:p>
        </p:txBody>
      </p:sp>
      <p:sp>
        <p:nvSpPr>
          <p:cNvPr id="32" name="TextBox 31"/>
          <p:cNvSpPr txBox="1"/>
          <p:nvPr/>
        </p:nvSpPr>
        <p:spPr>
          <a:xfrm>
            <a:off x="5418000" y="2977200"/>
            <a:ext cx="3311999" cy="136800"/>
          </a:xfrm>
          <a:prstGeom prst="rect">
            <a:avLst/>
          </a:prstGeom>
          <a:noFill/>
        </p:spPr>
        <p:txBody>
          <a:bodyPr wrap="square">
            <a:spAutoFit/>
          </a:bodyPr>
          <a:lstStyle/>
          <a:p>
            <a:pPr algn="l"/>
            <a:r>
              <a:rPr sz="750" b="0" i="0">
                <a:solidFill>
                  <a:srgbClr val="1A1A1A"/>
                </a:solidFill>
              </a:rPr>
              <a:t>7 sect. (21 %)</a:t>
            </a:r>
          </a:p>
        </p:txBody>
      </p:sp>
      <p:sp>
        <p:nvSpPr>
          <p:cNvPr id="33" name="Rectangle 32"/>
          <p:cNvSpPr/>
          <p:nvPr/>
        </p:nvSpPr>
        <p:spPr>
          <a:xfrm>
            <a:off x="5364000" y="3168000"/>
            <a:ext cx="3420000" cy="14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00000" y="3175200"/>
            <a:ext cx="3348000" cy="129600"/>
          </a:xfrm>
          <a:prstGeom prst="rect">
            <a:avLst/>
          </a:prstGeom>
          <a:noFill/>
        </p:spPr>
        <p:txBody>
          <a:bodyPr wrap="square">
            <a:spAutoFit/>
          </a:bodyPr>
          <a:lstStyle/>
          <a:p>
            <a:pPr algn="ctr"/>
            <a:r>
              <a:rPr sz="700" b="1" i="0">
                <a:solidFill>
                  <a:srgbClr val="FFFFFF"/>
                </a:solidFill>
              </a:rPr>
              <a:t>SECTEURS LEADERS / RETARDATAIRES</a:t>
            </a:r>
          </a:p>
        </p:txBody>
      </p:sp>
      <p:sp>
        <p:nvSpPr>
          <p:cNvPr id="35" name="Rectangle 34"/>
          <p:cNvSpPr/>
          <p:nvPr/>
        </p:nvSpPr>
        <p:spPr>
          <a:xfrm>
            <a:off x="5364000" y="3330000"/>
            <a:ext cx="3420000" cy="737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18000" y="3348000"/>
            <a:ext cx="3311999" cy="702000"/>
          </a:xfrm>
          <a:prstGeom prst="rect">
            <a:avLst/>
          </a:prstGeom>
          <a:noFill/>
        </p:spPr>
        <p:txBody>
          <a:bodyPr wrap="square">
            <a:spAutoFit/>
          </a:bodyPr>
          <a:lstStyle/>
          <a:p>
            <a:pPr algn="l"/>
            <a:r>
              <a:rPr sz="750" b="0" i="0">
                <a:solidFill>
                  <a:srgbClr val="555555"/>
                </a:solidFill>
              </a:rPr>
              <a:t>Surpondérer : Resultats T4  ·  Cycle IA  ·  Innovation semi</a:t>
            </a:r>
          </a:p>
        </p:txBody>
      </p:sp>
      <p:sp>
        <p:nvSpPr>
          <p:cNvPr id="37" name="Rectangle 36"/>
          <p:cNvSpPr/>
          <p:nvPr/>
        </p:nvSpPr>
        <p:spPr>
          <a:xfrm>
            <a:off x="5364000" y="4104000"/>
            <a:ext cx="342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18000" y="4121999"/>
            <a:ext cx="3311999" cy="648000"/>
          </a:xfrm>
          <a:prstGeom prst="rect">
            <a:avLst/>
          </a:prstGeom>
          <a:noFill/>
        </p:spPr>
        <p:txBody>
          <a:bodyPr wrap="square">
            <a:spAutoFit/>
          </a:bodyPr>
          <a:lstStyle/>
          <a:p>
            <a:pPr algn="l"/>
            <a:r>
              <a:rPr sz="750" b="0" i="0">
                <a:solidFill>
                  <a:srgbClr val="555555"/>
                </a:solidFill>
              </a:rPr>
              <a:t>Sous-pondérer : Regulation  ·  Taux LT  ·  CRE</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Sectoriels — Synthèse Allocataire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Score composite FinSight  ·  Données yfinance</a:t>
            </a:r>
          </a:p>
        </p:txBody>
      </p:sp>
      <p:sp>
        <p:nvSpPr>
          <p:cNvPr id="15" name="TextBox 14"/>
          <p:cNvSpPr txBox="1"/>
          <p:nvPr/>
        </p:nvSpPr>
        <p:spPr>
          <a:xfrm>
            <a:off x="324000" y="756000"/>
            <a:ext cx="8496000" cy="198000"/>
          </a:xfrm>
          <a:prstGeom prst="rect">
            <a:avLst/>
          </a:prstGeom>
          <a:noFill/>
        </p:spPr>
        <p:txBody>
          <a:bodyPr wrap="square">
            <a:spAutoFit/>
          </a:bodyPr>
          <a:lstStyle/>
          <a:p>
            <a:pPr algn="l"/>
            <a:r>
              <a:rPr sz="850" b="1" i="0">
                <a:solidFill>
                  <a:srgbClr val="1B3A6B"/>
                </a:solidFill>
              </a:rPr>
              <a:t>Scores sectoriels FinSight — synthèse allocataire</a:t>
            </a:r>
          </a:p>
        </p:txBody>
      </p:sp>
      <p:graphicFrame>
        <p:nvGraphicFramePr>
          <p:cNvPr id="16" name="Table 15"/>
          <p:cNvGraphicFramePr>
            <a:graphicFrameLocks noGrp="1"/>
          </p:cNvGraphicFramePr>
          <p:nvPr/>
        </p:nvGraphicFramePr>
        <p:xfrm>
          <a:off x="324000" y="990000"/>
          <a:ext cx="8495995" cy="2808000"/>
        </p:xfrm>
        <a:graphic>
          <a:graphicData uri="http://schemas.openxmlformats.org/drawingml/2006/table">
            <a:tbl>
              <a:tblPr firstRow="1" bandRow="1">
                <a:tableStyleId>{5C22544A-7EE6-4342-B048-85BDC9FD1C3A}</a:tableStyleId>
              </a:tblPr>
              <a:tblGrid>
                <a:gridCol w="545197"/>
                <a:gridCol w="2271657"/>
                <a:gridCol w="681497"/>
                <a:gridCol w="1590160"/>
                <a:gridCol w="1135828"/>
                <a:gridCol w="1135828"/>
                <a:gridCol w="1135828"/>
              </a:tblGrid>
              <a:tr h="255272">
                <a:tc>
                  <a:txBody>
                    <a:bodyPr/>
                    <a:lstStyle/>
                    <a:p>
                      <a:pPr algn="ctr"/>
                      <a:r>
                        <a:rPr sz="800" b="1">
                          <a:solidFill>
                            <a:srgbClr val="FFFFFF"/>
                          </a:solidFill>
                        </a:rPr>
                        <a:t>Rang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r>
              <a:tr h="255272">
                <a:tc>
                  <a:txBody>
                    <a:bodyPr/>
                    <a:lstStyle/>
                    <a:p>
                      <a:pPr algn="ctr"/>
                      <a:r>
                        <a:rPr sz="800" b="0">
                          <a:solidFill>
                            <a:srgbClr val="1A1A1A"/>
                          </a:solidFill>
                        </a:rPr>
                        <a:t>1</a:t>
                      </a:r>
                    </a:p>
                  </a:txBody>
                  <a:tcPr>
                    <a:noFill/>
                  </a:tcPr>
                </a:tc>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19.0x</a:t>
                      </a:r>
                    </a:p>
                  </a:txBody>
                  <a:tcPr>
                    <a:noFill/>
                  </a:tcPr>
                </a:tc>
                <a:tc>
                  <a:txBody>
                    <a:bodyPr/>
                    <a:lstStyle/>
                    <a:p>
                      <a:pPr algn="ctr"/>
                      <a:r>
                        <a:rPr sz="800" b="0">
                          <a:solidFill>
                            <a:srgbClr val="1A1A1A"/>
                          </a:solidFill>
                        </a:rPr>
                        <a:t>10.4%</a:t>
                      </a:r>
                    </a:p>
                  </a:txBody>
                  <a:tcPr>
                    <a:noFill/>
                  </a:tcPr>
                </a:tc>
                <a:tc>
                  <a:txBody>
                    <a:bodyPr/>
                    <a:lstStyle/>
                    <a:p>
                      <a:pPr algn="ctr"/>
                      <a:r>
                        <a:rPr sz="800" b="0">
                          <a:solidFill>
                            <a:srgbClr val="1A1A1A"/>
                          </a:solidFill>
                        </a:rPr>
                        <a:t>-26.3%</a:t>
                      </a:r>
                    </a:p>
                  </a:txBody>
                  <a:tcPr>
                    <a:noFill/>
                  </a:tcPr>
                </a:tc>
              </a:tr>
              <a:tr h="255272">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78</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14.6x</a:t>
                      </a:r>
                    </a:p>
                  </a:txBody>
                  <a:tcPr>
                    <a:solidFill>
                      <a:srgbClr val="F5F7FA"/>
                    </a:solidFill>
                  </a:tcPr>
                </a:tc>
                <a:tc>
                  <a:txBody>
                    <a:bodyPr/>
                    <a:lstStyle/>
                    <a:p>
                      <a:pPr algn="ctr"/>
                      <a:r>
                        <a:rPr sz="800" b="0">
                          <a:solidFill>
                            <a:srgbClr val="1A1A1A"/>
                          </a:solidFill>
                        </a:rPr>
                        <a:t>11.8%</a:t>
                      </a:r>
                    </a:p>
                  </a:txBody>
                  <a:tcPr>
                    <a:solidFill>
                      <a:srgbClr val="F5F7FA"/>
                    </a:solidFill>
                  </a:tcPr>
                </a:tc>
                <a:tc>
                  <a:txBody>
                    <a:bodyPr/>
                    <a:lstStyle/>
                    <a:p>
                      <a:pPr algn="ctr"/>
                      <a:r>
                        <a:rPr sz="800" b="0">
                          <a:solidFill>
                            <a:srgbClr val="1A1A1A"/>
                          </a:solidFill>
                        </a:rPr>
                        <a:t>+5.5%</a:t>
                      </a:r>
                    </a:p>
                  </a:txBody>
                  <a:tcPr>
                    <a:solidFill>
                      <a:srgbClr val="F5F7FA"/>
                    </a:solidFill>
                  </a:tcPr>
                </a:tc>
              </a:tr>
              <a:tr h="255272">
                <a:tc>
                  <a:txBody>
                    <a:bodyPr/>
                    <a:lstStyle/>
                    <a:p>
                      <a:pPr algn="ctr"/>
                      <a:r>
                        <a:rPr sz="800" b="0">
                          <a:solidFill>
                            <a:srgbClr val="1A1A1A"/>
                          </a:solidFill>
                        </a:rPr>
                        <a:t>3</a:t>
                      </a:r>
                    </a:p>
                  </a:txBody>
                  <a:tcPr>
                    <a:noFill/>
                  </a:tcPr>
                </a:tc>
                <a:tc>
                  <a:txBody>
                    <a:bodyPr/>
                    <a:lstStyle/>
                    <a:p>
                      <a:pPr algn="ctr"/>
                      <a:r>
                        <a:rPr sz="800" b="0">
                          <a:solidFill>
                            <a:srgbClr val="1A1A1A"/>
                          </a:solidFill>
                        </a:rPr>
                        <a:t>Finance</a:t>
                      </a:r>
                    </a:p>
                  </a:txBody>
                  <a:tcPr>
                    <a:noFill/>
                  </a:tcPr>
                </a:tc>
                <a:tc>
                  <a:txBody>
                    <a:bodyPr/>
                    <a:lstStyle/>
                    <a:p>
                      <a:pPr algn="ctr"/>
                      <a:r>
                        <a:rPr sz="800" b="0">
                          <a:solidFill>
                            <a:srgbClr val="1A1A1A"/>
                          </a:solidFill>
                        </a:rPr>
                        <a:t>57</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5.6x</a:t>
                      </a:r>
                    </a:p>
                  </a:txBody>
                  <a:tcPr>
                    <a:noFill/>
                  </a:tcPr>
                </a:tc>
                <a:tc>
                  <a:txBody>
                    <a:bodyPr/>
                    <a:lstStyle/>
                    <a:p>
                      <a:pPr algn="ctr"/>
                      <a:r>
                        <a:rPr sz="800" b="0">
                          <a:solidFill>
                            <a:srgbClr val="1A1A1A"/>
                          </a:solidFill>
                        </a:rPr>
                        <a:t>16.1%</a:t>
                      </a:r>
                    </a:p>
                  </a:txBody>
                  <a:tcPr>
                    <a:noFill/>
                  </a:tcPr>
                </a:tc>
                <a:tc>
                  <a:txBody>
                    <a:bodyPr/>
                    <a:lstStyle/>
                    <a:p>
                      <a:pPr algn="ctr"/>
                      <a:r>
                        <a:rPr sz="800" b="0">
                          <a:solidFill>
                            <a:srgbClr val="1A1A1A"/>
                          </a:solidFill>
                        </a:rPr>
                        <a:t>+0.3%</a:t>
                      </a:r>
                    </a:p>
                  </a:txBody>
                  <a:tcPr>
                    <a:noFill/>
                  </a:tcPr>
                </a:tc>
              </a:tr>
              <a:tr h="255272">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56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11.4x</a:t>
                      </a:r>
                    </a:p>
                  </a:txBody>
                  <a:tcPr>
                    <a:solidFill>
                      <a:srgbClr val="F5F7FA"/>
                    </a:solidFill>
                  </a:tcPr>
                </a:tc>
                <a:tc>
                  <a:txBody>
                    <a:bodyPr/>
                    <a:lstStyle/>
                    <a:p>
                      <a:pPr algn="ctr"/>
                      <a:r>
                        <a:rPr sz="800" b="0">
                          <a:solidFill>
                            <a:srgbClr val="1A1A1A"/>
                          </a:solidFill>
                        </a:rPr>
                        <a:t>22.8%</a:t>
                      </a:r>
                    </a:p>
                  </a:txBody>
                  <a:tcPr>
                    <a:solidFill>
                      <a:srgbClr val="F5F7FA"/>
                    </a:solidFill>
                  </a:tcPr>
                </a:tc>
                <a:tc>
                  <a:txBody>
                    <a:bodyPr/>
                    <a:lstStyle/>
                    <a:p>
                      <a:pPr algn="ctr"/>
                      <a:r>
                        <a:rPr sz="800" b="0">
                          <a:solidFill>
                            <a:srgbClr val="1A1A1A"/>
                          </a:solidFill>
                        </a:rPr>
                        <a:t>+0.7%</a:t>
                      </a:r>
                    </a:p>
                  </a:txBody>
                  <a:tcPr>
                    <a:solidFill>
                      <a:srgbClr val="F5F7FA"/>
                    </a:solidFill>
                  </a:tcPr>
                </a:tc>
              </a:tr>
              <a:tr h="255272">
                <a:tc>
                  <a:txBody>
                    <a:bodyPr/>
                    <a:lstStyle/>
                    <a:p>
                      <a:pPr algn="ctr"/>
                      <a:r>
                        <a:rPr sz="800" b="0">
                          <a:solidFill>
                            <a:srgbClr val="1A1A1A"/>
                          </a:solidFill>
                        </a:rPr>
                        <a:t>5</a:t>
                      </a:r>
                    </a:p>
                  </a:txBody>
                  <a:tcPr>
                    <a:noFill/>
                  </a:tcPr>
                </a:tc>
                <a:tc>
                  <a:txBody>
                    <a:bodyPr/>
                    <a:lstStyle/>
                    <a:p>
                      <a:pPr algn="ctr"/>
                      <a:r>
                        <a:rPr sz="800" b="0">
                          <a:solidFill>
                            <a:srgbClr val="1A1A1A"/>
                          </a:solidFill>
                        </a:rPr>
                        <a:t>Technologie</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14.9x</a:t>
                      </a:r>
                    </a:p>
                  </a:txBody>
                  <a:tcPr>
                    <a:noFill/>
                  </a:tcPr>
                </a:tc>
                <a:tc>
                  <a:txBody>
                    <a:bodyPr/>
                    <a:lstStyle/>
                    <a:p>
                      <a:pPr algn="ctr"/>
                      <a:r>
                        <a:rPr sz="800" b="0">
                          <a:solidFill>
                            <a:srgbClr val="1A1A1A"/>
                          </a:solidFill>
                        </a:rPr>
                        <a:t>28.9%</a:t>
                      </a:r>
                    </a:p>
                  </a:txBody>
                  <a:tcPr>
                    <a:noFill/>
                  </a:tcPr>
                </a:tc>
                <a:tc>
                  <a:txBody>
                    <a:bodyPr/>
                    <a:lstStyle/>
                    <a:p>
                      <a:pPr algn="ctr"/>
                      <a:r>
                        <a:rPr sz="800" b="0">
                          <a:solidFill>
                            <a:srgbClr val="1A1A1A"/>
                          </a:solidFill>
                        </a:rPr>
                        <a:t>+5.2%</a:t>
                      </a:r>
                    </a:p>
                  </a:txBody>
                  <a:tcPr>
                    <a:noFill/>
                  </a:tcPr>
                </a:tc>
              </a:tr>
              <a:tr h="255272">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49</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10.9x</a:t>
                      </a:r>
                    </a:p>
                  </a:txBody>
                  <a:tcPr>
                    <a:solidFill>
                      <a:srgbClr val="F5F7FA"/>
                    </a:solidFill>
                  </a:tcPr>
                </a:tc>
                <a:tc>
                  <a:txBody>
                    <a:bodyPr/>
                    <a:lstStyle/>
                    <a:p>
                      <a:pPr algn="ctr"/>
                      <a:r>
                        <a:rPr sz="800" b="0">
                          <a:solidFill>
                            <a:srgbClr val="1A1A1A"/>
                          </a:solidFill>
                        </a:rPr>
                        <a:t>13.5%</a:t>
                      </a:r>
                    </a:p>
                  </a:txBody>
                  <a:tcPr>
                    <a:solidFill>
                      <a:srgbClr val="F5F7FA"/>
                    </a:solidFill>
                  </a:tcPr>
                </a:tc>
                <a:tc>
                  <a:txBody>
                    <a:bodyPr/>
                    <a:lstStyle/>
                    <a:p>
                      <a:pPr algn="ctr"/>
                      <a:r>
                        <a:rPr sz="800" b="0">
                          <a:solidFill>
                            <a:srgbClr val="1A1A1A"/>
                          </a:solidFill>
                        </a:rPr>
                        <a:t>-5.1%</a:t>
                      </a:r>
                    </a:p>
                  </a:txBody>
                  <a:tcPr>
                    <a:solidFill>
                      <a:srgbClr val="F5F7FA"/>
                    </a:solidFill>
                  </a:tcPr>
                </a:tc>
              </a:tr>
              <a:tr h="255272">
                <a:tc>
                  <a:txBody>
                    <a:bodyPr/>
                    <a:lstStyle/>
                    <a:p>
                      <a:pPr algn="ctr"/>
                      <a:r>
                        <a:rPr sz="800" b="0">
                          <a:solidFill>
                            <a:srgbClr val="1A1A1A"/>
                          </a:solidFill>
                        </a:rPr>
                        <a:t>7</a:t>
                      </a:r>
                    </a:p>
                  </a:txBody>
                  <a:tcPr>
                    <a:noFill/>
                  </a:tcPr>
                </a:tc>
                <a:tc>
                  <a:txBody>
                    <a:bodyPr/>
                    <a:lstStyle/>
                    <a:p>
                      <a:pPr algn="ctr"/>
                      <a:r>
                        <a:rPr sz="800" b="0">
                          <a:solidFill>
                            <a:srgbClr val="1A1A1A"/>
                          </a:solidFill>
                        </a:rPr>
                        <a:t>Conso. Cycl.</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10.9x</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1A1A"/>
                          </a:solidFill>
                        </a:rPr>
                        <a:t>-1.4%</a:t>
                      </a:r>
                    </a:p>
                  </a:txBody>
                  <a:tcPr>
                    <a:noFill/>
                  </a:tcPr>
                </a:tc>
              </a:tr>
              <a:tr h="255272">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40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7.4x</a:t>
                      </a:r>
                    </a:p>
                  </a:txBody>
                  <a:tcPr>
                    <a:solidFill>
                      <a:srgbClr val="F5F7FA"/>
                    </a:solidFill>
                  </a:tcPr>
                </a:tc>
                <a:tc>
                  <a:txBody>
                    <a:bodyPr/>
                    <a:lstStyle/>
                    <a:p>
                      <a:pPr algn="ctr"/>
                      <a:r>
                        <a:rPr sz="800" b="0">
                          <a:solidFill>
                            <a:srgbClr val="1A1A1A"/>
                          </a:solidFill>
                        </a:rPr>
                        <a:t>34.5%</a:t>
                      </a:r>
                    </a:p>
                  </a:txBody>
                  <a:tcPr>
                    <a:solidFill>
                      <a:srgbClr val="F5F7FA"/>
                    </a:solidFill>
                  </a:tcPr>
                </a:tc>
                <a:tc>
                  <a:txBody>
                    <a:bodyPr/>
                    <a:lstStyle/>
                    <a:p>
                      <a:pPr algn="ctr"/>
                      <a:r>
                        <a:rPr sz="800" b="0">
                          <a:solidFill>
                            <a:srgbClr val="1A1A1A"/>
                          </a:solidFill>
                        </a:rPr>
                        <a:t>+2.5%</a:t>
                      </a:r>
                    </a:p>
                  </a:txBody>
                  <a:tcPr>
                    <a:solidFill>
                      <a:srgbClr val="F5F7FA"/>
                    </a:solidFill>
                  </a:tcPr>
                </a:tc>
              </a:tr>
              <a:tr h="255272">
                <a:tc>
                  <a:txBody>
                    <a:bodyPr/>
                    <a:lstStyle/>
                    <a:p>
                      <a:pPr algn="ctr"/>
                      <a:r>
                        <a:rPr sz="800" b="0">
                          <a:solidFill>
                            <a:srgbClr val="1A1A1A"/>
                          </a:solidFill>
                        </a:rPr>
                        <a:t>9</a:t>
                      </a:r>
                    </a:p>
                  </a:txBody>
                  <a:tcPr>
                    <a:noFill/>
                  </a:tcPr>
                </a:tc>
                <a:tc>
                  <a:txBody>
                    <a:bodyPr/>
                    <a:lstStyle/>
                    <a:p>
                      <a:pPr algn="ctr"/>
                      <a:r>
                        <a:rPr sz="800" b="0">
                          <a:solidFill>
                            <a:srgbClr val="1A1A1A"/>
                          </a:solidFill>
                        </a:rPr>
                        <a:t>Conso. Déf.</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8.6x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-3.2%</a:t>
                      </a:r>
                    </a:p>
                  </a:txBody>
                  <a:tcPr>
                    <a:noFill/>
                  </a:tcPr>
                </a:tc>
              </a:tr>
              <a:tr h="25528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28.7x</a:t>
                      </a:r>
                    </a:p>
                  </a:txBody>
                  <a:tcPr>
                    <a:solidFill>
                      <a:srgbClr val="F5F7FA"/>
                    </a:solidFill>
                  </a:tcPr>
                </a:tc>
                <a:tc>
                  <a:txBody>
                    <a:bodyPr/>
                    <a:lstStyle/>
                    <a:p>
                      <a:pPr algn="ctr"/>
                      <a:r>
                        <a:rPr sz="800" b="0">
                          <a:solidFill>
                            <a:srgbClr val="1A1A1A"/>
                          </a:solidFill>
                        </a:rPr>
                        <a:t>33.6%</a:t>
                      </a:r>
                    </a:p>
                  </a:txBody>
                  <a:tcPr>
                    <a:solidFill>
                      <a:srgbClr val="F5F7FA"/>
                    </a:solidFill>
                  </a:tcPr>
                </a:tc>
                <a:tc>
                  <a:txBody>
                    <a:bodyPr/>
                    <a:lstStyle/>
                    <a:p>
                      <a:pPr algn="ctr"/>
                      <a:r>
                        <a:rPr sz="800" b="0">
                          <a:solidFill>
                            <a:srgbClr val="1A1A1A"/>
                          </a:solidFill>
                        </a:rPr>
                        <a:t>-35.9%</a:t>
                      </a:r>
                    </a:p>
                  </a:txBody>
                  <a:tcPr>
                    <a:solidFill>
                      <a:srgbClr val="F5F7FA"/>
                    </a:solidFill>
                  </a:tcPr>
                </a:tc>
              </a:tr>
            </a:tbl>
          </a:graphicData>
        </a:graphic>
      </p:graphicFrame>
      <p:sp>
        <p:nvSpPr>
          <p:cNvPr id="17" name="Rectangle 16"/>
          <p:cNvSpPr/>
          <p:nvPr/>
        </p:nvSpPr>
        <p:spPr>
          <a:xfrm>
            <a:off x="324000" y="4248000"/>
            <a:ext cx="8496000" cy="5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4248000"/>
            <a:ext cx="43200" cy="540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4284000"/>
            <a:ext cx="8208000" cy="180000"/>
          </a:xfrm>
          <a:prstGeom prst="rect">
            <a:avLst/>
          </a:prstGeom>
          <a:noFill/>
        </p:spPr>
        <p:txBody>
          <a:bodyPr wrap="square">
            <a:spAutoFit/>
          </a:bodyPr>
          <a:lstStyle/>
          <a:p>
            <a:pPr algn="l"/>
            <a:r>
              <a:rPr sz="800" b="1" i="0">
                <a:solidFill>
                  <a:srgbClr val="555555"/>
                </a:solidFill>
              </a:rPr>
              <a:t>Note — ETF sectoriels SPDR non disponibles pour cet indice</a:t>
            </a:r>
          </a:p>
        </p:txBody>
      </p:sp>
      <p:sp>
        <p:nvSpPr>
          <p:cNvPr id="20" name="TextBox 19"/>
          <p:cNvSpPr txBox="1"/>
          <p:nvPr/>
        </p:nvSpPr>
        <p:spPr>
          <a:xfrm>
            <a:off x="432000" y="4482000"/>
            <a:ext cx="8208000" cy="288000"/>
          </a:xfrm>
          <a:prstGeom prst="rect">
            <a:avLst/>
          </a:prstGeom>
          <a:noFill/>
        </p:spPr>
        <p:txBody>
          <a:bodyPr wrap="square">
            <a:spAutoFit/>
          </a:bodyPr>
          <a:lstStyle/>
          <a:p>
            <a:pPr algn="l"/>
            <a:r>
              <a:rPr sz="750" b="0" i="0">
                <a:solidFill>
                  <a:srgbClr val="555555"/>
                </a:solidFill>
              </a:rPr>
              <a:t>Les ETF sectoriels SPDR sont references sur le Marché US (S&amp;P 500). Pour les indices européens, les équivalents iShares / Amundi ne sont pas encore intégrés.</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Informations réglementaires et sources de données</a:t>
            </a:r>
          </a:p>
        </p:txBody>
      </p:sp>
      <p:sp>
        <p:nvSpPr>
          <p:cNvPr id="15" name="Rectangle 14"/>
          <p:cNvSpPr/>
          <p:nvPr/>
        </p:nvSpPr>
        <p:spPr>
          <a:xfrm>
            <a:off x="324000" y="756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756000"/>
            <a:ext cx="43200" cy="1007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3999" y="774000"/>
            <a:ext cx="8352000" cy="125999"/>
          </a:xfrm>
          <a:prstGeom prst="rect">
            <a:avLst/>
          </a:prstGeom>
          <a:noFill/>
        </p:spPr>
        <p:txBody>
          <a:bodyPr wrap="square">
            <a:spAutoFit/>
          </a:bodyPr>
          <a:lstStyle/>
          <a:p>
            <a:pPr algn="l"/>
            <a:r>
              <a:rPr sz="900" b="1" i="0">
                <a:solidFill>
                  <a:srgbClr val="A82020"/>
                </a:solidFill>
              </a:rPr>
              <a:t>AVERTISSEMENT LÉGAL</a:t>
            </a:r>
          </a:p>
        </p:txBody>
      </p:sp>
      <p:sp>
        <p:nvSpPr>
          <p:cNvPr id="18" name="TextBox 17"/>
          <p:cNvSpPr txBox="1"/>
          <p:nvPr/>
        </p:nvSpPr>
        <p:spPr>
          <a:xfrm>
            <a:off x="413999" y="917999"/>
            <a:ext cx="8352000" cy="827999"/>
          </a:xfrm>
          <a:prstGeom prst="rect">
            <a:avLst/>
          </a:prstGeom>
          <a:noFill/>
        </p:spPr>
        <p:txBody>
          <a:bodyPr wrap="square">
            <a:spAutoFit/>
          </a:bodyPr>
          <a:lstStyle/>
          <a:p>
            <a:pPr algn="l"/>
            <a:r>
              <a:rPr sz="750" b="0" i="0">
                <a:solidFill>
                  <a:srgbClr val="555555"/>
                </a:solidFill>
              </a:rPr>
              <a:t>Ce document a été généré automatiquement par FinSight IA v1.0 le 14 avril 2026. Il est produit intégralement par un système d'intelligence artificielle et ne constitue pas un conseil en investissement au sens de la directive européenne MiFID II (2014/65/UE). FinSight IA n'est pas un prestataire de services d'investissement agréé. Tout investisseur est invité à procéder à sa propre diligence et à consulter un professionnel qualifié avant toute décision. Les performances passées ne préjugent pas des performances futures.</a:t>
            </a:r>
          </a:p>
        </p:txBody>
      </p:sp>
      <p:sp>
        <p:nvSpPr>
          <p:cNvPr id="19" name="Rectangle 18"/>
          <p:cNvSpPr/>
          <p:nvPr/>
        </p:nvSpPr>
        <p:spPr>
          <a:xfrm>
            <a:off x="324000" y="1872000"/>
            <a:ext cx="8496000" cy="14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8000" y="1879200"/>
            <a:ext cx="8388000" cy="125999"/>
          </a:xfrm>
          <a:prstGeom prst="rect">
            <a:avLst/>
          </a:prstGeom>
          <a:noFill/>
        </p:spPr>
        <p:txBody>
          <a:bodyPr wrap="square">
            <a:spAutoFit/>
          </a:bodyPr>
          <a:lstStyle/>
          <a:p>
            <a:pPr algn="l"/>
            <a:r>
              <a:rPr sz="850" b="1" i="0">
                <a:solidFill>
                  <a:srgbClr val="FFFFFF"/>
                </a:solidFill>
              </a:rPr>
              <a:t>MÉTHODOLOGIE &amp; SOURCES</a:t>
            </a:r>
          </a:p>
        </p:txBody>
      </p:sp>
      <p:sp>
        <p:nvSpPr>
          <p:cNvPr id="21" name="TextBox 20"/>
          <p:cNvSpPr txBox="1"/>
          <p:nvPr/>
        </p:nvSpPr>
        <p:spPr>
          <a:xfrm>
            <a:off x="378000" y="2088000"/>
            <a:ext cx="1800000" cy="144000"/>
          </a:xfrm>
          <a:prstGeom prst="rect">
            <a:avLst/>
          </a:prstGeom>
          <a:noFill/>
        </p:spPr>
        <p:txBody>
          <a:bodyPr wrap="square">
            <a:spAutoFit/>
          </a:bodyPr>
          <a:lstStyle/>
          <a:p>
            <a:pPr algn="l"/>
            <a:r>
              <a:rPr sz="750" b="1" i="0">
                <a:solidFill>
                  <a:srgbClr val="1B3A6B"/>
                </a:solidFill>
              </a:rPr>
              <a:t>Univers :</a:t>
            </a:r>
          </a:p>
        </p:txBody>
      </p:sp>
      <p:sp>
        <p:nvSpPr>
          <p:cNvPr id="22" name="TextBox 21"/>
          <p:cNvSpPr txBox="1"/>
          <p:nvPr/>
        </p:nvSpPr>
        <p:spPr>
          <a:xfrm>
            <a:off x="2178000" y="2088000"/>
            <a:ext cx="6623999" cy="198000"/>
          </a:xfrm>
          <a:prstGeom prst="rect">
            <a:avLst/>
          </a:prstGeom>
          <a:noFill/>
        </p:spPr>
        <p:txBody>
          <a:bodyPr wrap="square">
            <a:spAutoFit/>
          </a:bodyPr>
          <a:lstStyle/>
          <a:p>
            <a:pPr algn="l"/>
            <a:r>
              <a:rPr sz="750" b="0" i="0">
                <a:solidFill>
                  <a:srgbClr val="555555"/>
                </a:solidFill>
              </a:rPr>
              <a:t>DAX 40 — 40 sociétés, 10 secteurs GICS</a:t>
            </a:r>
          </a:p>
        </p:txBody>
      </p:sp>
      <p:sp>
        <p:nvSpPr>
          <p:cNvPr id="23" name="TextBox 22"/>
          <p:cNvSpPr txBox="1"/>
          <p:nvPr/>
        </p:nvSpPr>
        <p:spPr>
          <a:xfrm>
            <a:off x="378000" y="2311200"/>
            <a:ext cx="1800000" cy="144000"/>
          </a:xfrm>
          <a:prstGeom prst="rect">
            <a:avLst/>
          </a:prstGeom>
          <a:noFill/>
        </p:spPr>
        <p:txBody>
          <a:bodyPr wrap="square">
            <a:spAutoFit/>
          </a:bodyPr>
          <a:lstStyle/>
          <a:p>
            <a:pPr algn="l"/>
            <a:r>
              <a:rPr sz="750" b="1" i="0">
                <a:solidFill>
                  <a:srgbClr val="1B3A6B"/>
                </a:solidFill>
              </a:rPr>
              <a:t>Score composite :</a:t>
            </a:r>
          </a:p>
        </p:txBody>
      </p:sp>
      <p:sp>
        <p:nvSpPr>
          <p:cNvPr id="24" name="TextBox 23"/>
          <p:cNvSpPr txBox="1"/>
          <p:nvPr/>
        </p:nvSpPr>
        <p:spPr>
          <a:xfrm>
            <a:off x="2178000" y="2311200"/>
            <a:ext cx="6623999" cy="198000"/>
          </a:xfrm>
          <a:prstGeom prst="rect">
            <a:avLst/>
          </a:prstGeom>
          <a:noFill/>
        </p:spPr>
        <p:txBody>
          <a:bodyPr wrap="square">
            <a:spAutoFit/>
          </a:bodyPr>
          <a:lstStyle/>
          <a:p>
            <a:pPr algn="l"/>
            <a:r>
              <a:rPr sz="750" b="0" i="0">
                <a:solidFill>
                  <a:srgbClr val="555555"/>
                </a:solidFill>
              </a:rPr>
              <a:t>Moyenne pondérée : 40% momentum prix 3M, 30% révision BPA, 30% valorisation relative</a:t>
            </a:r>
          </a:p>
        </p:txBody>
      </p:sp>
      <p:sp>
        <p:nvSpPr>
          <p:cNvPr id="25" name="TextBox 24"/>
          <p:cNvSpPr txBox="1"/>
          <p:nvPr/>
        </p:nvSpPr>
        <p:spPr>
          <a:xfrm>
            <a:off x="378000" y="2534400"/>
            <a:ext cx="1800000" cy="144000"/>
          </a:xfrm>
          <a:prstGeom prst="rect">
            <a:avLst/>
          </a:prstGeom>
          <a:noFill/>
        </p:spPr>
        <p:txBody>
          <a:bodyPr wrap="square">
            <a:spAutoFit/>
          </a:bodyPr>
          <a:lstStyle/>
          <a:p>
            <a:pPr algn="l"/>
            <a:r>
              <a:rPr sz="750" b="1" i="0">
                <a:solidFill>
                  <a:srgbClr val="1B3A6B"/>
                </a:solidFill>
              </a:rPr>
              <a:t>Signal :</a:t>
            </a:r>
          </a:p>
        </p:txBody>
      </p:sp>
      <p:sp>
        <p:nvSpPr>
          <p:cNvPr id="26" name="TextBox 25"/>
          <p:cNvSpPr txBox="1"/>
          <p:nvPr/>
        </p:nvSpPr>
        <p:spPr>
          <a:xfrm>
            <a:off x="2178000" y="2534400"/>
            <a:ext cx="6623999" cy="198000"/>
          </a:xfrm>
          <a:prstGeom prst="rect">
            <a:avLst/>
          </a:prstGeom>
          <a:noFill/>
        </p:spPr>
        <p:txBody>
          <a:bodyPr wrap="square">
            <a:spAutoFit/>
          </a:bodyPr>
          <a:lstStyle/>
          <a:p>
            <a:pPr algn="l"/>
            <a:r>
              <a:rPr sz="750" b="0" i="0">
                <a:solidFill>
                  <a:srgbClr val="555555"/>
                </a:solidFill>
              </a:rPr>
              <a:t>Surpondérer (score &gt;= 60) · Neutre (40-60) · Sous-pondérer (&lt; 40)</a:t>
            </a:r>
          </a:p>
        </p:txBody>
      </p:sp>
      <p:sp>
        <p:nvSpPr>
          <p:cNvPr id="27" name="TextBox 26"/>
          <p:cNvSpPr txBox="1"/>
          <p:nvPr/>
        </p:nvSpPr>
        <p:spPr>
          <a:xfrm>
            <a:off x="378000" y="2757600"/>
            <a:ext cx="1800000" cy="144000"/>
          </a:xfrm>
          <a:prstGeom prst="rect">
            <a:avLst/>
          </a:prstGeom>
          <a:noFill/>
        </p:spPr>
        <p:txBody>
          <a:bodyPr wrap="square">
            <a:spAutoFit/>
          </a:bodyPr>
          <a:lstStyle/>
          <a:p>
            <a:pPr algn="l"/>
            <a:r>
              <a:rPr sz="750" b="1" i="0">
                <a:solidFill>
                  <a:srgbClr val="1B3A6B"/>
                </a:solidFill>
              </a:rPr>
              <a:t>Allocation Markowitz :</a:t>
            </a:r>
          </a:p>
        </p:txBody>
      </p:sp>
      <p:sp>
        <p:nvSpPr>
          <p:cNvPr id="28" name="TextBox 27"/>
          <p:cNvSpPr txBox="1"/>
          <p:nvPr/>
        </p:nvSpPr>
        <p:spPr>
          <a:xfrm>
            <a:off x="2178000" y="2757600"/>
            <a:ext cx="6623999" cy="198000"/>
          </a:xfrm>
          <a:prstGeom prst="rect">
            <a:avLst/>
          </a:prstGeom>
          <a:noFill/>
        </p:spPr>
        <p:txBody>
          <a:bodyPr wrap="square">
            <a:spAutoFit/>
          </a:bodyPr>
          <a:lstStyle/>
          <a:p>
            <a:pPr algn="l"/>
            <a:r>
              <a:rPr sz="750" b="0" i="0">
                <a:solidFill>
                  <a:srgbClr val="555555"/>
                </a:solidFill>
              </a:rPr>
              <a:t>Optimisation mean-variance sur rendements ETF SPDR 52S. Contrainte max 40% par secteur.</a:t>
            </a:r>
          </a:p>
        </p:txBody>
      </p:sp>
      <p:sp>
        <p:nvSpPr>
          <p:cNvPr id="29" name="TextBox 28"/>
          <p:cNvSpPr txBox="1"/>
          <p:nvPr/>
        </p:nvSpPr>
        <p:spPr>
          <a:xfrm>
            <a:off x="378000" y="2980800"/>
            <a:ext cx="1800000" cy="144000"/>
          </a:xfrm>
          <a:prstGeom prst="rect">
            <a:avLst/>
          </a:prstGeom>
          <a:noFill/>
        </p:spPr>
        <p:txBody>
          <a:bodyPr wrap="square">
            <a:spAutoFit/>
          </a:bodyPr>
          <a:lstStyle/>
          <a:p>
            <a:pPr algn="l"/>
            <a:r>
              <a:rPr sz="750" b="1" i="0">
                <a:solidFill>
                  <a:srgbClr val="1B3A6B"/>
                </a:solidFill>
              </a:rPr>
              <a:t>ERP sectoriel :</a:t>
            </a:r>
          </a:p>
        </p:txBody>
      </p:sp>
      <p:sp>
        <p:nvSpPr>
          <p:cNvPr id="30" name="TextBox 29"/>
          <p:cNvSpPr txBox="1"/>
          <p:nvPr/>
        </p:nvSpPr>
        <p:spPr>
          <a:xfrm>
            <a:off x="2178000" y="2980800"/>
            <a:ext cx="6623999" cy="198000"/>
          </a:xfrm>
          <a:prstGeom prst="rect">
            <a:avLst/>
          </a:prstGeom>
          <a:noFill/>
        </p:spPr>
        <p:txBody>
          <a:bodyPr wrap="square">
            <a:spAutoFit/>
          </a:bodyPr>
          <a:lstStyle/>
          <a:p>
            <a:pPr algn="l"/>
            <a:r>
              <a:rPr sz="750" b="0" i="0">
                <a:solidFill>
                  <a:srgbClr val="555555"/>
                </a:solidFill>
              </a:rPr>
              <a:t>Earnings Yield (1/PE forward) - Taux 10Y US. Seuils : Tendu &lt; 2%, Neutre 2-4%, Favorable &gt; 4%.</a:t>
            </a:r>
          </a:p>
        </p:txBody>
      </p:sp>
      <p:sp>
        <p:nvSpPr>
          <p:cNvPr id="31" name="TextBox 30"/>
          <p:cNvSpPr txBox="1"/>
          <p:nvPr/>
        </p:nvSpPr>
        <p:spPr>
          <a:xfrm>
            <a:off x="378000" y="3203999"/>
            <a:ext cx="1800000" cy="144000"/>
          </a:xfrm>
          <a:prstGeom prst="rect">
            <a:avLst/>
          </a:prstGeom>
          <a:noFill/>
        </p:spPr>
        <p:txBody>
          <a:bodyPr wrap="square">
            <a:spAutoFit/>
          </a:bodyPr>
          <a:lstStyle/>
          <a:p>
            <a:pPr algn="l"/>
            <a:r>
              <a:rPr sz="750" b="1" i="0">
                <a:solidFill>
                  <a:srgbClr val="1B3A6B"/>
                </a:solidFill>
              </a:rPr>
              <a:t>Rotation sectorielle :</a:t>
            </a:r>
          </a:p>
        </p:txBody>
      </p:sp>
      <p:sp>
        <p:nvSpPr>
          <p:cNvPr id="32" name="TextBox 31"/>
          <p:cNvSpPr txBox="1"/>
          <p:nvPr/>
        </p:nvSpPr>
        <p:spPr>
          <a:xfrm>
            <a:off x="2178000" y="3203999"/>
            <a:ext cx="6623999" cy="198000"/>
          </a:xfrm>
          <a:prstGeom prst="rect">
            <a:avLst/>
          </a:prstGeom>
          <a:noFill/>
        </p:spPr>
        <p:txBody>
          <a:bodyPr wrap="square">
            <a:spAutoFit/>
          </a:bodyPr>
          <a:lstStyle/>
          <a:p>
            <a:pPr algn="l"/>
            <a:r>
              <a:rPr sz="750" b="0" i="0">
                <a:solidFill>
                  <a:srgbClr val="555555"/>
                </a:solidFill>
              </a:rPr>
              <a:t>Modèle 4 phases (Expansion, Ralentissement, Récession, Reprise). ISM, courbe taux, Leading indicators.</a:t>
            </a:r>
          </a:p>
        </p:txBody>
      </p:sp>
      <p:sp>
        <p:nvSpPr>
          <p:cNvPr id="33" name="TextBox 32"/>
          <p:cNvSpPr txBox="1"/>
          <p:nvPr/>
        </p:nvSpPr>
        <p:spPr>
          <a:xfrm>
            <a:off x="378000" y="3427199"/>
            <a:ext cx="1800000" cy="144000"/>
          </a:xfrm>
          <a:prstGeom prst="rect">
            <a:avLst/>
          </a:prstGeom>
          <a:noFill/>
        </p:spPr>
        <p:txBody>
          <a:bodyPr wrap="square">
            <a:spAutoFit/>
          </a:bodyPr>
          <a:lstStyle/>
          <a:p>
            <a:pPr algn="l"/>
            <a:r>
              <a:rPr sz="750" b="1" i="0">
                <a:solidFill>
                  <a:srgbClr val="1B3A6B"/>
                </a:solidFill>
              </a:rPr>
              <a:t>Sentiment :</a:t>
            </a:r>
          </a:p>
        </p:txBody>
      </p:sp>
      <p:sp>
        <p:nvSpPr>
          <p:cNvPr id="34" name="TextBox 33"/>
          <p:cNvSpPr txBox="1"/>
          <p:nvPr/>
        </p:nvSpPr>
        <p:spPr>
          <a:xfrm>
            <a:off x="2178000" y="3427199"/>
            <a:ext cx="6623999" cy="198000"/>
          </a:xfrm>
          <a:prstGeom prst="rect">
            <a:avLst/>
          </a:prstGeom>
          <a:noFill/>
        </p:spPr>
        <p:txBody>
          <a:bodyPr wrap="square">
            <a:spAutoFit/>
          </a:bodyPr>
          <a:lstStyle/>
          <a:p>
            <a:pPr algn="l"/>
            <a:r>
              <a:rPr sz="750" b="0" i="0">
                <a:solidFill>
                  <a:srgbClr val="555555"/>
                </a:solidFill>
              </a:rPr>
              <a:t>FinBERT (ProsusAI/finbert) sur articles Finnhub 7 jours. Score agrégé par secteur.</a:t>
            </a:r>
          </a:p>
        </p:txBody>
      </p:sp>
      <p:sp>
        <p:nvSpPr>
          <p:cNvPr id="35" name="TextBox 34"/>
          <p:cNvSpPr txBox="1"/>
          <p:nvPr/>
        </p:nvSpPr>
        <p:spPr>
          <a:xfrm>
            <a:off x="378000" y="3650399"/>
            <a:ext cx="1800000" cy="144000"/>
          </a:xfrm>
          <a:prstGeom prst="rect">
            <a:avLst/>
          </a:prstGeom>
          <a:noFill/>
        </p:spPr>
        <p:txBody>
          <a:bodyPr wrap="square">
            <a:spAutoFit/>
          </a:bodyPr>
          <a:lstStyle/>
          <a:p>
            <a:pPr algn="l"/>
            <a:r>
              <a:rPr sz="750" b="1" i="0">
                <a:solidFill>
                  <a:srgbClr val="1B3A6B"/>
                </a:solidFill>
              </a:rPr>
              <a:t>Biais de cadrage :</a:t>
            </a:r>
          </a:p>
        </p:txBody>
      </p:sp>
      <p:sp>
        <p:nvSpPr>
          <p:cNvPr id="36" name="TextBox 35"/>
          <p:cNvSpPr txBox="1"/>
          <p:nvPr/>
        </p:nvSpPr>
        <p:spPr>
          <a:xfrm>
            <a:off x="2178000" y="3650399"/>
            <a:ext cx="6623999" cy="198000"/>
          </a:xfrm>
          <a:prstGeom prst="rect">
            <a:avLst/>
          </a:prstGeom>
          <a:noFill/>
        </p:spPr>
        <p:txBody>
          <a:bodyPr wrap="square">
            <a:spAutoFit/>
          </a:bodyPr>
          <a:lstStyle/>
          <a:p>
            <a:pPr algn="l"/>
            <a:r>
              <a:rPr sz="750" b="0" i="0">
                <a:solidFill>
                  <a:srgbClr val="555555"/>
                </a:solidFill>
              </a:rPr>
              <a:t>Score FinSight composite, pas de backtest performance. Les ratios utilisés (momentum/révisions BPA/valorisation) sont de natures différentes et leur pondération peut être débattue.</a:t>
            </a:r>
          </a:p>
        </p:txBody>
      </p:sp>
      <p:sp>
        <p:nvSpPr>
          <p:cNvPr id="37" name="TextBox 36"/>
          <p:cNvSpPr txBox="1"/>
          <p:nvPr/>
        </p:nvSpPr>
        <p:spPr>
          <a:xfrm>
            <a:off x="378000" y="3873599"/>
            <a:ext cx="1800000" cy="144000"/>
          </a:xfrm>
          <a:prstGeom prst="rect">
            <a:avLst/>
          </a:prstGeom>
          <a:noFill/>
        </p:spPr>
        <p:txBody>
          <a:bodyPr wrap="square">
            <a:spAutoFit/>
          </a:bodyPr>
          <a:lstStyle/>
          <a:p>
            <a:pPr algn="l"/>
            <a:r>
              <a:rPr sz="750" b="1" i="0">
                <a:solidFill>
                  <a:srgbClr val="1B3A6B"/>
                </a:solidFill>
              </a:rPr>
              <a:t>Limites sectorielles :</a:t>
            </a:r>
          </a:p>
        </p:txBody>
      </p:sp>
      <p:sp>
        <p:nvSpPr>
          <p:cNvPr id="38" name="TextBox 37"/>
          <p:cNvSpPr txBox="1"/>
          <p:nvPr/>
        </p:nvSpPr>
        <p:spPr>
          <a:xfrm>
            <a:off x="2178000" y="3873599"/>
            <a:ext cx="6623999" cy="198000"/>
          </a:xfrm>
          <a:prstGeom prst="rect">
            <a:avLst/>
          </a:prstGeom>
          <a:noFill/>
        </p:spPr>
        <p:txBody>
          <a:bodyPr wrap="square">
            <a:spAutoFit/>
          </a:bodyPr>
          <a:lstStyle/>
          <a:p>
            <a:pPr algn="l"/>
            <a:r>
              <a:rPr sz="750" b="0" i="0">
                <a:solidFill>
                  <a:srgbClr val="555555"/>
                </a:solidFill>
              </a:rPr>
              <a:t>Les sous-secteurs (banques vs assurance, E&amp;P vs raffinage) ne sont pas traités indépendamment — le profil dominant de chaque secteur GICS guide l'analyse.</a:t>
            </a:r>
          </a:p>
        </p:txBody>
      </p:sp>
      <p:sp>
        <p:nvSpPr>
          <p:cNvPr id="39" name="TextBox 38"/>
          <p:cNvSpPr txBox="1"/>
          <p:nvPr/>
        </p:nvSpPr>
        <p:spPr>
          <a:xfrm>
            <a:off x="378000" y="4096799"/>
            <a:ext cx="1800000" cy="144000"/>
          </a:xfrm>
          <a:prstGeom prst="rect">
            <a:avLst/>
          </a:prstGeom>
          <a:noFill/>
        </p:spPr>
        <p:txBody>
          <a:bodyPr wrap="square">
            <a:spAutoFit/>
          </a:bodyPr>
          <a:lstStyle/>
          <a:p>
            <a:pPr algn="l"/>
            <a:r>
              <a:rPr sz="750" b="1" i="0">
                <a:solidFill>
                  <a:srgbClr val="1B3A6B"/>
                </a:solidFill>
              </a:rPr>
              <a:t>Horizon d'allocation :</a:t>
            </a:r>
          </a:p>
        </p:txBody>
      </p:sp>
      <p:sp>
        <p:nvSpPr>
          <p:cNvPr id="40" name="TextBox 39"/>
          <p:cNvSpPr txBox="1"/>
          <p:nvPr/>
        </p:nvSpPr>
        <p:spPr>
          <a:xfrm>
            <a:off x="2178000" y="4096799"/>
            <a:ext cx="6623999" cy="198000"/>
          </a:xfrm>
          <a:prstGeom prst="rect">
            <a:avLst/>
          </a:prstGeom>
          <a:noFill/>
        </p:spPr>
        <p:txBody>
          <a:bodyPr wrap="square">
            <a:spAutoFit/>
          </a:bodyPr>
          <a:lstStyle/>
          <a:p>
            <a:pPr algn="l"/>
            <a:r>
              <a:rPr sz="750" b="0" i="0">
                <a:solidFill>
                  <a:srgbClr val="555555"/>
                </a:solidFill>
              </a:rPr>
              <a:t>12 mois glissants. Les signaux sont révisés mensuellement selon la dynamique des ratios et l'évolution du contexte macro (réunions BCE/Fed, publications trimestrielles).</a:t>
            </a:r>
          </a:p>
        </p:txBody>
      </p:sp>
      <p:sp>
        <p:nvSpPr>
          <p:cNvPr id="41" name="TextBox 40"/>
          <p:cNvSpPr txBox="1"/>
          <p:nvPr/>
        </p:nvSpPr>
        <p:spPr>
          <a:xfrm>
            <a:off x="378000" y="4319999"/>
            <a:ext cx="1800000" cy="144000"/>
          </a:xfrm>
          <a:prstGeom prst="rect">
            <a:avLst/>
          </a:prstGeom>
          <a:noFill/>
        </p:spPr>
        <p:txBody>
          <a:bodyPr wrap="square">
            <a:spAutoFit/>
          </a:bodyPr>
          <a:lstStyle/>
          <a:p>
            <a:pPr algn="l"/>
            <a:r>
              <a:rPr sz="750" b="1" i="0">
                <a:solidFill>
                  <a:srgbClr val="1B3A6B"/>
                </a:solidFill>
              </a:rPr>
              <a:t>Sources données :</a:t>
            </a:r>
          </a:p>
        </p:txBody>
      </p:sp>
      <p:sp>
        <p:nvSpPr>
          <p:cNvPr id="42" name="TextBox 41"/>
          <p:cNvSpPr txBox="1"/>
          <p:nvPr/>
        </p:nvSpPr>
        <p:spPr>
          <a:xfrm>
            <a:off x="2178000" y="4319999"/>
            <a:ext cx="6623999" cy="198000"/>
          </a:xfrm>
          <a:prstGeom prst="rect">
            <a:avLst/>
          </a:prstGeom>
          <a:noFill/>
        </p:spPr>
        <p:txBody>
          <a:bodyPr wrap="square">
            <a:spAutoFit/>
          </a:bodyPr>
          <a:lstStyle/>
          <a:p>
            <a:pPr algn="l"/>
            <a:r>
              <a:rPr sz="750" b="0" i="0">
                <a:solidFill>
                  <a:srgbClr val="555555"/>
                </a:solidFill>
              </a:rPr>
              <a:t>yfinance (cours, fondamentaux), FMP (multiples), Finnhub (news), ETF SPDR (sectoriels US).</a:t>
            </a:r>
          </a:p>
        </p:txBody>
      </p:sp>
      <p:sp>
        <p:nvSpPr>
          <p:cNvPr id="43" name="TextBox 42"/>
          <p:cNvSpPr txBox="1"/>
          <p:nvPr/>
        </p:nvSpPr>
        <p:spPr>
          <a:xfrm>
            <a:off x="324000" y="4536000"/>
            <a:ext cx="8496000" cy="144000"/>
          </a:xfrm>
          <a:prstGeom prst="rect">
            <a:avLst/>
          </a:prstGeom>
          <a:noFill/>
        </p:spPr>
        <p:txBody>
          <a:bodyPr wrap="square">
            <a:spAutoFit/>
          </a:bodyPr>
          <a:lstStyle/>
          <a:p>
            <a:pPr algn="ctr"/>
            <a:r>
              <a:rPr sz="700" b="1" i="0">
                <a:solidFill>
                  <a:srgbClr val="1B3A6B"/>
                </a:solidFill>
              </a:rPr>
              <a:t>Document confidentiel — Diffusion restreinte. © 2026 FinSight IA.</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