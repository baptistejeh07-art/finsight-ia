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DAX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^GDAXI  ·  10 secteurs analysés  ·  40 sociétés couvertes</a:t>
            </a:r>
          </a:p>
        </p:txBody>
      </p:sp>
      <p:sp>
        <p:nvSpPr>
          <p:cNvPr id="8" name="Rectangle 7"/>
          <p:cNvSpPr/>
          <p:nvPr/>
        </p:nvSpPr>
        <p:spPr>
          <a:xfrm>
            <a:off x="457200" y="2448000"/>
            <a:ext cx="8229600" cy="4752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B06000"/>
                </a:solidFill>
              </a:rPr>
              <a:t>● NEUTRE  ·  Conviction 20 %</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49/100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2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5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3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2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(^GDAXI)  ·  10 secteurs  ·  40 sociétés  ·  Horizon 12 mois</a:t>
            </a:r>
          </a:p>
        </p:txBody>
      </p:sp>
      <p:sp>
        <p:nvSpPr>
          <p:cNvPr id="15" name="Rectangle 14"/>
          <p:cNvSpPr/>
          <p:nvPr/>
        </p:nvSpPr>
        <p:spPr>
          <a:xfrm>
            <a:off x="324000" y="827999"/>
            <a:ext cx="1728000" cy="27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NEUTRE</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23 299  ·  YTD : -5.1%  ·  P/E Forward : 13.8x  ·  ERP : 2.9% (Neutre)  ·  Conviction 20 %</a:t>
            </a:r>
          </a:p>
        </p:txBody>
      </p:sp>
      <p:sp>
        <p:nvSpPr>
          <p:cNvPr id="18" name="Rectangle 17"/>
          <p:cNvSpPr/>
          <p:nvPr/>
        </p:nvSpPr>
        <p:spPr>
          <a:xfrm>
            <a:off x="324000" y="1368000"/>
            <a:ext cx="882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75200"/>
            <a:ext cx="828000" cy="144000"/>
          </a:xfrm>
          <a:prstGeom prst="rect">
            <a:avLst/>
          </a:prstGeom>
          <a:noFill/>
        </p:spPr>
        <p:txBody>
          <a:bodyPr wrap="square">
            <a:spAutoFit/>
          </a:bodyPr>
          <a:lstStyle/>
          <a:p>
            <a:pPr algn="ctr"/>
            <a:r>
              <a:rPr sz="750" b="1" i="0">
                <a:solidFill>
                  <a:srgbClr val="FFFFFF"/>
                </a:solidFill>
              </a:rPr>
              <a:t>Regime Volatile</a:t>
            </a:r>
          </a:p>
        </p:txBody>
      </p:sp>
      <p:sp>
        <p:nvSpPr>
          <p:cNvPr id="20" name="Rectangle 19"/>
          <p:cNvSpPr/>
          <p:nvPr/>
        </p:nvSpPr>
        <p:spPr>
          <a:xfrm>
            <a:off x="126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6000" y="1375200"/>
            <a:ext cx="738000" cy="144000"/>
          </a:xfrm>
          <a:prstGeom prst="rect">
            <a:avLst/>
          </a:prstGeom>
          <a:noFill/>
        </p:spPr>
        <p:txBody>
          <a:bodyPr wrap="square">
            <a:spAutoFit/>
          </a:bodyPr>
          <a:lstStyle/>
          <a:p>
            <a:pPr algn="ctr"/>
            <a:r>
              <a:rPr sz="750" b="0" i="0">
                <a:solidFill>
                  <a:srgbClr val="1B3A6B"/>
                </a:solidFill>
              </a:rPr>
              <a:t>VIX 24</a:t>
            </a:r>
          </a:p>
        </p:txBody>
      </p:sp>
      <p:sp>
        <p:nvSpPr>
          <p:cNvPr id="22" name="Rectangle 21"/>
          <p:cNvSpPr/>
          <p:nvPr/>
        </p:nvSpPr>
        <p:spPr>
          <a:xfrm>
            <a:off x="2106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41999" y="1375200"/>
            <a:ext cx="738000" cy="144000"/>
          </a:xfrm>
          <a:prstGeom prst="rect">
            <a:avLst/>
          </a:prstGeom>
          <a:noFill/>
        </p:spPr>
        <p:txBody>
          <a:bodyPr wrap="square">
            <a:spAutoFit/>
          </a:bodyPr>
          <a:lstStyle/>
          <a:p>
            <a:pPr algn="ctr"/>
            <a:r>
              <a:rPr sz="750" b="0" i="0">
                <a:solidFill>
                  <a:srgbClr val="1B3A6B"/>
                </a:solidFill>
              </a:rPr>
              <a:t>Spread +0.7%</a:t>
            </a:r>
          </a:p>
        </p:txBody>
      </p:sp>
      <p:sp>
        <p:nvSpPr>
          <p:cNvPr id="24" name="Rectangle 23"/>
          <p:cNvSpPr/>
          <p:nvPr/>
        </p:nvSpPr>
        <p:spPr>
          <a:xfrm>
            <a:off x="295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7999" y="1375200"/>
            <a:ext cx="738000" cy="144000"/>
          </a:xfrm>
          <a:prstGeom prst="rect">
            <a:avLst/>
          </a:prstGeom>
          <a:noFill/>
        </p:spPr>
        <p:txBody>
          <a:bodyPr wrap="square">
            <a:spAutoFit/>
          </a:bodyPr>
          <a:lstStyle/>
          <a:p>
            <a:pPr algn="ctr"/>
            <a:r>
              <a:rPr sz="750" b="0" i="0">
                <a:solidFill>
                  <a:srgbClr val="1B3A6B"/>
                </a:solidFill>
              </a:rPr>
              <a:t>Rec. 6M 26%</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Cycle IA</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Desinflation</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DAX 40 est Neutre avec une conviction de 20% (sur la base des 10 secteurs analyses). 2 secteur(s) ressortent Surponderer — Utilities, Industrials — portes par leur momentum positif 52 semaines. 5 secteurs sont Neutre et 3 en Sous-ponderer.  Le DAX 40 affiche un cours de 23 299 (YTD : -5.1%). P/E Forward 13.8x vs mediane historique 10 ans 18.2x — valorisation en ligne avec l'historique. ERP Damodaran 2.9% (adequat). Score composite moyen : —/100 — conviction 20 %.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^GDAXI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10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(^GDAXI)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DAX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23 299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-5.1%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13.8x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2.9%</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10</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Neutre (score composite —/100). P/E Forward 13.8x vs mediane historique 18.2x — valorisation proche des normes historiques. ERP Damodaran : 2.9% (Neutre). Secteurs a Surponderer : Utilities  ·  Industrials. Secteurs a Sous-ponderer : Cons. Discret.  ·  Cons. Staples  ·  Real Estate. 5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13.8x</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80000"/>
            <a:ext cx="8496000" cy="19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80000"/>
            <a:ext cx="43200" cy="19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934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168000"/>
            <a:ext cx="8208000" cy="1601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demeurent restrictifs. Le secteur Technologie (P/E 28.5x vs mediane 22x) concentre la prime de valorisation.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 Indicators OCDE en legere hausse. Cette configuration favorise les secteurs avec forte visibilite BPA et moindre sensibilite aux taux : Technology, Health Care, Financials. Les secteurs defensifs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10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10 secteurs GICS  ·  40 sociétés  ·  Tri par score FinSight décroissant</a:t>
            </a:r>
          </a:p>
        </p:txBody>
      </p:sp>
      <p:graphicFrame>
        <p:nvGraphicFramePr>
          <p:cNvPr id="15" name="Table 14"/>
          <p:cNvGraphicFramePr>
            <a:graphicFrameLocks noGrp="1"/>
          </p:cNvGraphicFramePr>
          <p:nvPr/>
        </p:nvGraphicFramePr>
        <p:xfrm>
          <a:off x="324000" y="827999"/>
          <a:ext cx="8495994" cy="2700000"/>
        </p:xfrm>
        <a:graphic>
          <a:graphicData uri="http://schemas.openxmlformats.org/drawingml/2006/table">
            <a:tbl>
              <a:tblPr firstRow="1" bandRow="1">
                <a:tableStyleId>{5C22544A-7EE6-4342-B048-85BDC9FD1C3A}</a:tableStyleId>
              </a:tblPr>
              <a:tblGrid>
                <a:gridCol w="492521"/>
                <a:gridCol w="1846956"/>
                <a:gridCol w="615652"/>
                <a:gridCol w="1436521"/>
                <a:gridCol w="1026086"/>
                <a:gridCol w="1026086"/>
                <a:gridCol w="1026086"/>
                <a:gridCol w="1026086"/>
              </a:tblGrid>
              <a:tr h="245454">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Mom.</a:t>
                      </a:r>
                    </a:p>
                  </a:txBody>
                  <a:tcPr>
                    <a:solidFill>
                      <a:srgbClr val="1B3A6B"/>
                    </a:solidFill>
                  </a:tcPr>
                </a:tc>
              </a:tr>
              <a:tr h="245454">
                <a:tc>
                  <a:txBody>
                    <a:bodyPr/>
                    <a:lstStyle/>
                    <a:p>
                      <a:pPr algn="ctr"/>
                      <a:r>
                        <a:rPr sz="800" b="0">
                          <a:solidFill>
                            <a:srgbClr val="1A1A1A"/>
                          </a:solidFill>
                        </a:rPr>
                        <a:t>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19.0x</a:t>
                      </a:r>
                    </a:p>
                  </a:txBody>
                  <a:tcPr>
                    <a:noFill/>
                  </a:tcPr>
                </a:tc>
                <a:tc>
                  <a:txBody>
                    <a:bodyPr/>
                    <a:lstStyle/>
                    <a:p>
                      <a:pPr algn="ctr"/>
                      <a:r>
                        <a:rPr sz="800" b="0">
                          <a:solidFill>
                            <a:srgbClr val="1A1A1A"/>
                          </a:solidFill>
                        </a:rPr>
                        <a:t>10.4%</a:t>
                      </a:r>
                    </a:p>
                  </a:txBody>
                  <a:tcPr>
                    <a:noFill/>
                  </a:tcPr>
                </a:tc>
                <a:tc>
                  <a:txBody>
                    <a:bodyPr/>
                    <a:lstStyle/>
                    <a:p>
                      <a:pPr algn="ctr"/>
                      <a:r>
                        <a:rPr sz="800" b="0">
                          <a:solidFill>
                            <a:srgbClr val="1A1A1A"/>
                          </a:solidFill>
                        </a:rPr>
                        <a:t>-26.3%</a:t>
                      </a:r>
                    </a:p>
                  </a:txBody>
                  <a:tcPr>
                    <a:noFill/>
                  </a:tcPr>
                </a:tc>
                <a:tc>
                  <a:txBody>
                    <a:bodyPr/>
                    <a:lstStyle/>
                    <a:p>
                      <a:pPr algn="ctr"/>
                      <a:r>
                        <a:rPr sz="800" b="0">
                          <a:solidFill>
                            <a:srgbClr val="1A1A1A"/>
                          </a:solidFill>
                        </a:rPr>
                        <a:t>+49.4%</a:t>
                      </a:r>
                    </a:p>
                  </a:txBody>
                  <a:tcPr>
                    <a:noFill/>
                  </a:tcPr>
                </a:tc>
              </a:tr>
              <a:tr h="245454">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67</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14.3x</a:t>
                      </a:r>
                    </a:p>
                  </a:txBody>
                  <a:tcPr>
                    <a:solidFill>
                      <a:srgbClr val="F5F7FA"/>
                    </a:solidFill>
                  </a:tcPr>
                </a:tc>
                <a:tc>
                  <a:txBody>
                    <a:bodyPr/>
                    <a:lstStyle/>
                    <a:p>
                      <a:pPr algn="ctr"/>
                      <a:r>
                        <a:rPr sz="800" b="0">
                          <a:solidFill>
                            <a:srgbClr val="1A1A1A"/>
                          </a:solidFill>
                        </a:rPr>
                        <a:t>11.8%</a:t>
                      </a:r>
                    </a:p>
                  </a:txBody>
                  <a:tcPr>
                    <a:solidFill>
                      <a:srgbClr val="F5F7FA"/>
                    </a:solidFill>
                  </a:tcPr>
                </a:tc>
                <a:tc>
                  <a:txBody>
                    <a:bodyPr/>
                    <a:lstStyle/>
                    <a:p>
                      <a:pPr algn="ctr"/>
                      <a:r>
                        <a:rPr sz="800" b="0">
                          <a:solidFill>
                            <a:srgbClr val="1A1A1A"/>
                          </a:solidFill>
                        </a:rPr>
                        <a:t>+5.5%</a:t>
                      </a:r>
                    </a:p>
                  </a:txBody>
                  <a:tcPr>
                    <a:solidFill>
                      <a:srgbClr val="F5F7FA"/>
                    </a:solidFill>
                  </a:tcPr>
                </a:tc>
                <a:tc>
                  <a:txBody>
                    <a:bodyPr/>
                    <a:lstStyle/>
                    <a:p>
                      <a:pPr algn="ctr"/>
                      <a:r>
                        <a:rPr sz="800" b="0">
                          <a:solidFill>
                            <a:srgbClr val="1A1A1A"/>
                          </a:solidFill>
                        </a:rPr>
                        <a:t>+37.9%</a:t>
                      </a:r>
                    </a:p>
                  </a:txBody>
                  <a:tcPr>
                    <a:solidFill>
                      <a:srgbClr val="F5F7FA"/>
                    </a:solidFill>
                  </a:tcPr>
                </a:tc>
              </a:tr>
              <a:tr h="245454">
                <a:tc>
                  <a:txBody>
                    <a:bodyPr/>
                    <a:lstStyle/>
                    <a:p>
                      <a:pPr algn="ctr"/>
                      <a:r>
                        <a:rPr sz="800" b="0">
                          <a:solidFill>
                            <a:srgbClr val="1A1A1A"/>
                          </a:solidFill>
                        </a:rPr>
                        <a:t>3</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14.8x</a:t>
                      </a:r>
                    </a:p>
                  </a:txBody>
                  <a:tcPr>
                    <a:noFill/>
                  </a:tcPr>
                </a:tc>
                <a:tc>
                  <a:txBody>
                    <a:bodyPr/>
                    <a:lstStyle/>
                    <a:p>
                      <a:pPr algn="ctr"/>
                      <a:r>
                        <a:rPr sz="800" b="0">
                          <a:solidFill>
                            <a:srgbClr val="1A1A1A"/>
                          </a:solidFill>
                        </a:rPr>
                        <a:t>28.9%</a:t>
                      </a:r>
                    </a:p>
                  </a:txBody>
                  <a:tcPr>
                    <a:noFill/>
                  </a:tcPr>
                </a:tc>
                <a:tc>
                  <a:txBody>
                    <a:bodyPr/>
                    <a:lstStyle/>
                    <a:p>
                      <a:pPr algn="ctr"/>
                      <a:r>
                        <a:rPr sz="800" b="0">
                          <a:solidFill>
                            <a:srgbClr val="1A1A1A"/>
                          </a:solidFill>
                        </a:rPr>
                        <a:t>+5.2%</a:t>
                      </a:r>
                    </a:p>
                  </a:txBody>
                  <a:tcPr>
                    <a:noFill/>
                  </a:tcPr>
                </a:tc>
                <a:tc>
                  <a:txBody>
                    <a:bodyPr/>
                    <a:lstStyle/>
                    <a:p>
                      <a:pPr algn="ctr"/>
                      <a:r>
                        <a:rPr sz="800" b="0">
                          <a:solidFill>
                            <a:srgbClr val="1A1A1A"/>
                          </a:solidFill>
                        </a:rPr>
                        <a:t>-1.8%</a:t>
                      </a:r>
                    </a:p>
                  </a:txBody>
                  <a:tcPr>
                    <a:noFill/>
                  </a:tcPr>
                </a:tc>
              </a:tr>
              <a:tr h="245454">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11.3x</a:t>
                      </a:r>
                    </a:p>
                  </a:txBody>
                  <a:tcPr>
                    <a:solidFill>
                      <a:srgbClr val="F5F7FA"/>
                    </a:solidFill>
                  </a:tcPr>
                </a:tc>
                <a:tc>
                  <a:txBody>
                    <a:bodyPr/>
                    <a:lstStyle/>
                    <a:p>
                      <a:pPr algn="ctr"/>
                      <a:r>
                        <a:rPr sz="800" b="0">
                          <a:solidFill>
                            <a:srgbClr val="1A1A1A"/>
                          </a:solidFill>
                        </a:rPr>
                        <a:t>22.8%</a:t>
                      </a:r>
                    </a:p>
                  </a:txBody>
                  <a:tcPr>
                    <a:solidFill>
                      <a:srgbClr val="F5F7FA"/>
                    </a:solidFill>
                  </a:tcPr>
                </a:tc>
                <a:tc>
                  <a:txBody>
                    <a:bodyPr/>
                    <a:lstStyle/>
                    <a:p>
                      <a:pPr algn="ctr"/>
                      <a:r>
                        <a:rPr sz="800" b="0">
                          <a:solidFill>
                            <a:srgbClr val="1A1A1A"/>
                          </a:solidFill>
                        </a:rPr>
                        <a:t>+0.7%</a:t>
                      </a:r>
                    </a:p>
                  </a:txBody>
                  <a:tcPr>
                    <a:solidFill>
                      <a:srgbClr val="F5F7FA"/>
                    </a:solidFill>
                  </a:tcPr>
                </a:tc>
                <a:tc>
                  <a:txBody>
                    <a:bodyPr/>
                    <a:lstStyle/>
                    <a:p>
                      <a:pPr algn="ctr"/>
                      <a:r>
                        <a:rPr sz="800" b="0">
                          <a:solidFill>
                            <a:srgbClr val="1A1A1A"/>
                          </a:solidFill>
                        </a:rPr>
                        <a:t>+10.1%</a:t>
                      </a:r>
                    </a:p>
                  </a:txBody>
                  <a:tcPr>
                    <a:solidFill>
                      <a:srgbClr val="F5F7FA"/>
                    </a:solidFill>
                  </a:tcPr>
                </a:tc>
              </a:tr>
              <a:tr h="245454">
                <a:tc>
                  <a:txBody>
                    <a:bodyPr/>
                    <a:lstStyle/>
                    <a:p>
                      <a:pPr algn="ctr"/>
                      <a:r>
                        <a:rPr sz="800" b="0">
                          <a:solidFill>
                            <a:srgbClr val="1A1A1A"/>
                          </a:solidFill>
                        </a:rPr>
                        <a:t>5</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5.4x</a:t>
                      </a:r>
                    </a:p>
                  </a:txBody>
                  <a:tcPr>
                    <a:noFill/>
                  </a:tcPr>
                </a:tc>
                <a:tc>
                  <a:txBody>
                    <a:bodyPr/>
                    <a:lstStyle/>
                    <a:p>
                      <a:pPr algn="ctr"/>
                      <a:r>
                        <a:rPr sz="800" b="0">
                          <a:solidFill>
                            <a:srgbClr val="1A1A1A"/>
                          </a:solidFill>
                        </a:rPr>
                        <a:t>16.1%</a:t>
                      </a:r>
                    </a:p>
                  </a:txBody>
                  <a:tcPr>
                    <a:noFill/>
                  </a:tcPr>
                </a:tc>
                <a:tc>
                  <a:txBody>
                    <a:bodyPr/>
                    <a:lstStyle/>
                    <a:p>
                      <a:pPr algn="ctr"/>
                      <a:r>
                        <a:rPr sz="800" b="0">
                          <a:solidFill>
                            <a:srgbClr val="1A1A1A"/>
                          </a:solidFill>
                        </a:rPr>
                        <a:t>+0.3%</a:t>
                      </a:r>
                    </a:p>
                  </a:txBody>
                  <a:tcPr>
                    <a:noFill/>
                  </a:tcPr>
                </a:tc>
                <a:tc>
                  <a:txBody>
                    <a:bodyPr/>
                    <a:lstStyle/>
                    <a:p>
                      <a:pPr algn="ctr"/>
                      <a:r>
                        <a:rPr sz="800" b="0">
                          <a:solidFill>
                            <a:srgbClr val="1A1A1A"/>
                          </a:solidFill>
                        </a:rPr>
                        <a:t>-0.2%</a:t>
                      </a:r>
                    </a:p>
                  </a:txBody>
                  <a:tcPr>
                    <a:noFill/>
                  </a:tcPr>
                </a:tc>
              </a:tr>
              <a:tr h="245454">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10.9x</a:t>
                      </a:r>
                    </a:p>
                  </a:txBody>
                  <a:tcPr>
                    <a:solidFill>
                      <a:srgbClr val="F5F7FA"/>
                    </a:solidFill>
                  </a:tcPr>
                </a:tc>
                <a:tc>
                  <a:txBody>
                    <a:bodyPr/>
                    <a:lstStyle/>
                    <a:p>
                      <a:pPr algn="ctr"/>
                      <a:r>
                        <a:rPr sz="800" b="0">
                          <a:solidFill>
                            <a:srgbClr val="1A1A1A"/>
                          </a:solidFill>
                        </a:rPr>
                        <a:t>14.1%</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1A1A1A"/>
                          </a:solidFill>
                        </a:rPr>
                        <a:t>-4.5%</a:t>
                      </a:r>
                    </a:p>
                  </a:txBody>
                  <a:tcPr>
                    <a:solidFill>
                      <a:srgbClr val="F5F7FA"/>
                    </a:solidFill>
                  </a:tcPr>
                </a:tc>
              </a:tr>
              <a:tr h="245454">
                <a:tc>
                  <a:txBody>
                    <a:bodyPr/>
                    <a:lstStyle/>
                    <a:p>
                      <a:pPr algn="ctr"/>
                      <a:r>
                        <a:rPr sz="800" b="0">
                          <a:solidFill>
                            <a:srgbClr val="1A1A1A"/>
                          </a:solidFill>
                        </a:rPr>
                        <a:t>7</a:t>
                      </a:r>
                    </a:p>
                  </a:txBody>
                  <a:tcPr>
                    <a:noFill/>
                  </a:tcPr>
                </a:tc>
                <a:tc>
                  <a:txBody>
                    <a:bodyPr/>
                    <a:lstStyle/>
                    <a:p>
                      <a:pPr algn="ctr"/>
                      <a:r>
                        <a:rPr sz="800" b="0">
                          <a:solidFill>
                            <a:srgbClr val="1A1A1A"/>
                          </a:solidFill>
                        </a:rPr>
                        <a:t>Comm. Services</a:t>
                      </a:r>
                    </a:p>
                  </a:txBody>
                  <a:tcPr>
                    <a:noFill/>
                  </a:tcPr>
                </a:tc>
                <a:tc>
                  <a:txBody>
                    <a:bodyPr/>
                    <a:lstStyle/>
                    <a:p>
                      <a:pPr algn="ctr"/>
                      <a:r>
                        <a:rPr sz="800" b="0">
                          <a:solidFill>
                            <a:srgbClr val="1A1A1A"/>
                          </a:solidFill>
                        </a:rPr>
                        <a:t>43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7.7x</a:t>
                      </a:r>
                    </a:p>
                  </a:txBody>
                  <a:tcPr>
                    <a:noFill/>
                  </a:tcPr>
                </a:tc>
                <a:tc>
                  <a:txBody>
                    <a:bodyPr/>
                    <a:lstStyle/>
                    <a:p>
                      <a:pPr algn="ctr"/>
                      <a:r>
                        <a:rPr sz="800" b="0">
                          <a:solidFill>
                            <a:srgbClr val="1A1A1A"/>
                          </a:solidFill>
                        </a:rPr>
                        <a:t>34.5%</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-5.9%</a:t>
                      </a:r>
                    </a:p>
                  </a:txBody>
                  <a:tcPr>
                    <a:noFill/>
                  </a:tcPr>
                </a:tc>
              </a:tr>
              <a:tr h="245454">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Cons. Discret.</a:t>
                      </a:r>
                    </a:p>
                  </a:txBody>
                  <a:tcPr>
                    <a:solidFill>
                      <a:srgbClr val="F5F7FA"/>
                    </a:solidFill>
                  </a:tcPr>
                </a:tc>
                <a:tc>
                  <a:txBody>
                    <a:bodyPr/>
                    <a:lstStyle/>
                    <a:p>
                      <a:pPr algn="ctr"/>
                      <a:r>
                        <a:rPr sz="800" b="0">
                          <a:solidFill>
                            <a:srgbClr val="1A1A1A"/>
                          </a:solidFill>
                        </a:rPr>
                        <a:t>39</a:t>
                      </a:r>
                    </a:p>
                  </a:txBody>
                  <a:tcPr>
                    <a:solidFill>
                      <a:srgbClr val="F5F7FA"/>
                    </a:solid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10.9x</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1A1A1A"/>
                          </a:solidFill>
                        </a:rPr>
                        <a:t>-12.8%</a:t>
                      </a:r>
                    </a:p>
                  </a:txBody>
                  <a:tcPr>
                    <a:solidFill>
                      <a:srgbClr val="F5F7FA"/>
                    </a:solidFill>
                  </a:tcPr>
                </a:tc>
              </a:tr>
              <a:tr h="245454">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8.7x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1A1A1A"/>
                          </a:solidFill>
                        </a:rPr>
                        <a:t>-23.3%</a:t>
                      </a:r>
                    </a:p>
                  </a:txBody>
                  <a:tcPr>
                    <a:noFill/>
                  </a:tcPr>
                </a:tc>
              </a:tr>
              <a:tr h="24546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27</a:t>
                      </a:r>
                    </a:p>
                  </a:txBody>
                  <a:tcPr>
                    <a:solidFill>
                      <a:srgbClr val="F5F7FA"/>
                    </a:solid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28.4x</a:t>
                      </a:r>
                    </a:p>
                  </a:txBody>
                  <a:tcPr>
                    <a:solidFill>
                      <a:srgbClr val="F5F7FA"/>
                    </a:solidFill>
                  </a:tcPr>
                </a:tc>
                <a:tc>
                  <a:txBody>
                    <a:bodyPr/>
                    <a:lstStyle/>
                    <a:p>
                      <a:pPr algn="ctr"/>
                      <a:r>
                        <a:rPr sz="800" b="0">
                          <a:solidFill>
                            <a:srgbClr val="1A1A1A"/>
                          </a:solidFill>
                        </a:rPr>
                        <a:t>33.6%</a:t>
                      </a:r>
                    </a:p>
                  </a:txBody>
                  <a:tcPr>
                    <a:solidFill>
                      <a:srgbClr val="F5F7FA"/>
                    </a:solidFill>
                  </a:tcPr>
                </a:tc>
                <a:tc>
                  <a:txBody>
                    <a:bodyPr/>
                    <a:lstStyle/>
                    <a:p>
                      <a:pPr algn="ctr"/>
                      <a:r>
                        <a:rPr sz="800" b="0">
                          <a:solidFill>
                            <a:srgbClr val="1A1A1A"/>
                          </a:solidFill>
                        </a:rPr>
                        <a:t>-35.9%</a:t>
                      </a:r>
                    </a:p>
                  </a:txBody>
                  <a:tcPr>
                    <a:solidFill>
                      <a:srgbClr val="F5F7FA"/>
                    </a:solidFill>
                  </a:tcPr>
                </a:tc>
                <a:tc>
                  <a:txBody>
                    <a:bodyPr/>
                    <a:lstStyle/>
                    <a:p>
                      <a:pPr algn="ctr"/>
                      <a:r>
                        <a:rPr sz="800" b="0">
                          <a:solidFill>
                            <a:srgbClr val="1A1A1A"/>
                          </a:solidFill>
                        </a:rPr>
                        <a:t>-19.0%</a:t>
                      </a:r>
                    </a:p>
                  </a:txBody>
                  <a:tcPr>
                    <a:solidFill>
                      <a:srgbClr val="F5F7FA"/>
                    </a:solidFill>
                  </a:tcPr>
                </a:tc>
              </a:tr>
            </a:tbl>
          </a:graphicData>
        </a:graphic>
      </p:graphicFrame>
      <p:sp>
        <p:nvSpPr>
          <p:cNvPr id="16" name="Rectangle 15"/>
          <p:cNvSpPr/>
          <p:nvPr/>
        </p:nvSpPr>
        <p:spPr>
          <a:xfrm>
            <a:off x="324000" y="3510000"/>
            <a:ext cx="8496000" cy="129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510000"/>
            <a:ext cx="43200" cy="129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56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3798000"/>
            <a:ext cx="8208000" cy="971999"/>
          </a:xfrm>
          <a:prstGeom prst="rect">
            <a:avLst/>
          </a:prstGeom>
          <a:noFill/>
        </p:spPr>
        <p:txBody>
          <a:bodyPr wrap="square">
            <a:spAutoFit/>
          </a:bodyPr>
          <a:lstStyle/>
          <a:p>
            <a:pPr algn="l"/>
            <a:r>
              <a:rPr sz="750" b="0" i="0">
                <a:solidFill>
                  <a:srgbClr val="555555"/>
                </a:solidFill>
              </a:rPr>
              <a:t>2 secteur(s) sur 10 franchissent le seuil Surpondérer (score &gt; 65) : Utilities · Industrials. 3 secteur(s) en Sous-pondérer : Consumer Discretionary · Consumer Staples · Real Estate. 5 secteur(s) en position Neutre. L'écart entre le secteur leader (Utilities, score 85/100) et le secteur le plus faible (Real Estate, score 27/100) est de 58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Utilities  ·  Industrials en zone Opportunite (EV/EBITDA attractif) — forte conviction score Surponderer.
Utilities  ·  Industrials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10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2909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29090">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67</a:t>
                      </a:r>
                    </a:p>
                  </a:txBody>
                  <a:tcPr>
                    <a:solidFill>
                      <a:srgbClr val="E8F5EE"/>
                    </a:solidFill>
                  </a:tcPr>
                </a:tc>
                <a:tc>
                  <a:txBody>
                    <a:bodyPr/>
                    <a:lstStyle/>
                    <a:p>
                      <a:pPr algn="ctr"/>
                      <a:r>
                        <a:rPr sz="800" b="0">
                          <a:solidFill>
                            <a:srgbClr val="1A1A1A"/>
                          </a:solidFill>
                        </a:rPr>
                        <a:t>27</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29090">
                <a:tc>
                  <a:txBody>
                    <a:bodyPr/>
                    <a:lstStyle/>
                    <a:p>
                      <a:pPr algn="ctr"/>
                      <a:r>
                        <a:rPr sz="800" b="0">
                          <a:solidFill>
                            <a:srgbClr val="1A1A1A"/>
                          </a:solidFill>
                        </a:rPr>
                        <a:t>Technology</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45</a:t>
                      </a:r>
                    </a:p>
                  </a:txBody>
                  <a:tcPr>
                    <a:solidFill>
                      <a:srgbClr val="FDF3E5"/>
                    </a:solidFill>
                  </a:tcPr>
                </a:tc>
                <a:tc>
                  <a:txBody>
                    <a:bodyPr/>
                    <a:lstStyle/>
                    <a:p>
                      <a:pPr algn="ctr"/>
                      <a:r>
                        <a:rPr sz="800" b="0">
                          <a:solidFill>
                            <a:srgbClr val="1A1A1A"/>
                          </a:solidFill>
                        </a:rPr>
                        <a:t>18</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Comm. Services</a:t>
                      </a:r>
                    </a:p>
                  </a:txBody>
                  <a:tcPr>
                    <a:noFill/>
                  </a:tcPr>
                </a:tc>
                <a:tc>
                  <a:txBody>
                    <a:bodyPr/>
                    <a:lstStyle/>
                    <a:p>
                      <a:pPr algn="ctr"/>
                      <a:r>
                        <a:rPr sz="800" b="0">
                          <a:solidFill>
                            <a:srgbClr val="1A1A1A"/>
                          </a:solidFill>
                        </a:rPr>
                        <a:t>43</a:t>
                      </a:r>
                    </a:p>
                  </a:txBody>
                  <a:tcPr>
                    <a:solidFill>
                      <a:srgbClr val="FBEBEB"/>
                    </a:solidFill>
                  </a:tcPr>
                </a:tc>
                <a:tc>
                  <a:txBody>
                    <a:bodyPr/>
                    <a:lstStyle/>
                    <a:p>
                      <a:pPr algn="ctr"/>
                      <a:r>
                        <a:rPr sz="800" b="0">
                          <a:solidFill>
                            <a:srgbClr val="1A1A1A"/>
                          </a:solidFill>
                        </a:rPr>
                        <a:t>17</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B06000"/>
                          </a:solidFill>
                        </a:rPr>
                        <a:t>Neutre</a:t>
                      </a:r>
                    </a:p>
                  </a:txBody>
                  <a:tcPr>
                    <a:solidFill>
                      <a:srgbClr val="FDF3E5"/>
                    </a:solidFill>
                  </a:tcPr>
                </a:tc>
              </a:tr>
              <a:tr h="229090">
                <a:tc>
                  <a:txBody>
                    <a:bodyPr/>
                    <a:lstStyle/>
                    <a:p>
                      <a:pPr algn="ctr"/>
                      <a:r>
                        <a:rPr sz="800" b="0">
                          <a:solidFill>
                            <a:srgbClr val="1A1A1A"/>
                          </a:solidFill>
                        </a:rPr>
                        <a:t>Cons. Discret.</a:t>
                      </a:r>
                    </a:p>
                  </a:txBody>
                  <a:tcPr>
                    <a:solidFill>
                      <a:srgbClr val="F5F7FA"/>
                    </a:solidFill>
                  </a:tcPr>
                </a:tc>
                <a:tc>
                  <a:txBody>
                    <a:bodyPr/>
                    <a:lstStyle/>
                    <a:p>
                      <a:pPr algn="ctr"/>
                      <a:r>
                        <a:rPr sz="800" b="0">
                          <a:solidFill>
                            <a:srgbClr val="1A1A1A"/>
                          </a:solidFill>
                        </a:rPr>
                        <a:t>39</a:t>
                      </a:r>
                    </a:p>
                  </a:txBody>
                  <a:tcPr>
                    <a:solidFill>
                      <a:srgbClr val="FBEBEB"/>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A82020"/>
                          </a:solidFill>
                        </a:rPr>
                        <a:t>Sous-pondérer</a:t>
                      </a:r>
                    </a:p>
                  </a:txBody>
                  <a:tcPr>
                    <a:solidFill>
                      <a:srgbClr val="FBEBEB"/>
                    </a:solidFill>
                  </a:tcPr>
                </a:tc>
              </a:tr>
              <a:tr h="229090">
                <a:tc>
                  <a:txBody>
                    <a:bodyPr/>
                    <a:lstStyle/>
                    <a:p>
                      <a:pPr algn="ctr"/>
                      <a:r>
                        <a:rPr sz="800" b="0">
                          <a:solidFill>
                            <a:srgbClr val="1A1A1A"/>
                          </a:solidFill>
                        </a:rPr>
                        <a:t>Cons. Staples</a:t>
                      </a:r>
                    </a:p>
                  </a:txBody>
                  <a:tcPr>
                    <a:noFill/>
                  </a:tcPr>
                </a:tc>
                <a:tc>
                  <a:txBody>
                    <a:bodyPr/>
                    <a:lstStyle/>
                    <a:p>
                      <a:pPr algn="ctr"/>
                      <a:r>
                        <a:rPr sz="800" b="0">
                          <a:solidFill>
                            <a:srgbClr val="1A1A1A"/>
                          </a:solidFill>
                        </a:rPr>
                        <a:t>32</a:t>
                      </a:r>
                    </a:p>
                  </a:txBody>
                  <a:tcPr>
                    <a:solidFill>
                      <a:srgbClr val="FBEBEB"/>
                    </a:solid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10</a:t>
                      </a:r>
                    </a:p>
                  </a:txBody>
                  <a:tcPr>
                    <a:noFill/>
                  </a:tcPr>
                </a:tc>
                <a:tc>
                  <a:txBody>
                    <a:bodyPr/>
                    <a:lstStyle/>
                    <a:p>
                      <a:pPr algn="ctr"/>
                      <a:r>
                        <a:rPr sz="800" b="0">
                          <a:solidFill>
                            <a:srgbClr val="1A1A1A"/>
                          </a:solidFill>
                        </a:rPr>
                        <a:t>10</a:t>
                      </a:r>
                    </a:p>
                  </a:txBody>
                  <a:tcPr>
                    <a:noFill/>
                  </a:tcPr>
                </a:tc>
                <a:tc>
                  <a:txBody>
                    <a:bodyPr/>
                    <a:lstStyle/>
                    <a:p>
                      <a:pPr algn="ctr"/>
                      <a:r>
                        <a:rPr sz="800" b="0">
                          <a:solidFill>
                            <a:srgbClr val="A82020"/>
                          </a:solidFill>
                        </a:rPr>
                        <a:t>Sous-pondérer</a:t>
                      </a:r>
                    </a:p>
                  </a:txBody>
                  <a:tcPr>
                    <a:solidFill>
                      <a:srgbClr val="FBEBEB"/>
                    </a:solidFill>
                  </a:tcPr>
                </a:tc>
              </a:tr>
              <a:tr h="2291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27</a:t>
                      </a:r>
                    </a:p>
                  </a:txBody>
                  <a:tcPr>
                    <a:solidFill>
                      <a:srgbClr val="FBEBEB"/>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8</a:t>
                      </a:r>
                    </a:p>
                  </a:txBody>
                  <a:tcPr>
                    <a:solidFill>
                      <a:srgbClr val="F5F7FA"/>
                    </a:solidFill>
                  </a:tcPr>
                </a:tc>
                <a:tc>
                  <a:txBody>
                    <a:bodyPr/>
                    <a:lstStyle/>
                    <a:p>
                      <a:pPr algn="ctr"/>
                      <a:r>
                        <a:rPr sz="800" b="0">
                          <a:solidFill>
                            <a:srgbClr val="A82020"/>
                          </a:solidFill>
                        </a:rPr>
                        <a:t>Sous-pondérer</a:t>
                      </a:r>
                    </a:p>
                  </a:txBody>
                  <a:tcPr>
                    <a:solidFill>
                      <a:srgbClr val="FBEBEB"/>
                    </a:solidFill>
                  </a:tcPr>
                </a:tc>
              </a:tr>
            </a:tbl>
          </a:graphicData>
        </a:graphic>
      </p:graphicFrame>
      <p:sp>
        <p:nvSpPr>
          <p:cNvPr id="16" name="TextBox 15"/>
          <p:cNvSpPr txBox="1"/>
          <p:nvPr/>
        </p:nvSpPr>
        <p:spPr>
          <a:xfrm>
            <a:off x="324000" y="3355200"/>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643200"/>
            <a:ext cx="8496000" cy="11627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643200"/>
            <a:ext cx="43200" cy="11627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6972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3931200"/>
            <a:ext cx="8208000" cy="838799"/>
          </a:xfrm>
          <a:prstGeom prst="rect">
            <a:avLst/>
          </a:prstGeom>
          <a:noFill/>
        </p:spPr>
        <p:txBody>
          <a:bodyPr wrap="square">
            <a:spAutoFit/>
          </a:bodyPr>
          <a:lstStyle/>
          <a:p>
            <a:pPr algn="l"/>
            <a:r>
              <a:rPr sz="750" b="0" i="0">
                <a:solidFill>
                  <a:srgbClr val="555555"/>
                </a:solidFill>
              </a:rPr>
              <a:t>Utilities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Distribution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19.0x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576000" cy="198000"/>
          </a:xfrm>
          <a:prstGeom prst="rect">
            <a:avLst/>
          </a:prstGeom>
          <a:noFill/>
        </p:spPr>
        <p:txBody>
          <a:bodyPr wrap="square">
            <a:spAutoFit/>
          </a:bodyPr>
          <a:lstStyle/>
          <a:p>
            <a:pPr algn="l"/>
            <a:r>
              <a:rPr sz="800" b="1" i="0">
                <a:solidFill>
                  <a:srgbClr val="1B3A6B"/>
                </a:solidFill>
              </a:rPr>
              <a:t>EOAN.DE</a:t>
            </a:r>
          </a:p>
        </p:txBody>
      </p:sp>
      <p:sp>
        <p:nvSpPr>
          <p:cNvPr id="24" name="TextBox 23"/>
          <p:cNvSpPr txBox="1"/>
          <p:nvPr/>
        </p:nvSpPr>
        <p:spPr>
          <a:xfrm>
            <a:off x="1044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584000" y="1620000"/>
            <a:ext cx="540000" cy="198000"/>
          </a:xfrm>
          <a:prstGeom prst="rect">
            <a:avLst/>
          </a:prstGeom>
          <a:noFill/>
        </p:spPr>
        <p:txBody>
          <a:bodyPr wrap="square">
            <a:spAutoFit/>
          </a:bodyPr>
          <a:lstStyle/>
          <a:p>
            <a:pPr algn="l"/>
            <a:r>
              <a:rPr sz="800" b="0" i="0">
                <a:solidFill>
                  <a:srgbClr val="555555"/>
                </a:solidFill>
              </a:rPr>
              <a:t>13.0x</a:t>
            </a:r>
          </a:p>
        </p:txBody>
      </p:sp>
      <p:sp>
        <p:nvSpPr>
          <p:cNvPr id="26" name="TextBox 25"/>
          <p:cNvSpPr txBox="1"/>
          <p:nvPr/>
        </p:nvSpPr>
        <p:spPr>
          <a:xfrm>
            <a:off x="2124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576000" cy="198000"/>
          </a:xfrm>
          <a:prstGeom prst="rect">
            <a:avLst/>
          </a:prstGeom>
          <a:noFill/>
        </p:spPr>
        <p:txBody>
          <a:bodyPr wrap="square">
            <a:spAutoFit/>
          </a:bodyPr>
          <a:lstStyle/>
          <a:p>
            <a:pPr algn="l"/>
            <a:r>
              <a:rPr sz="800" b="1" i="0">
                <a:solidFill>
                  <a:srgbClr val="1B3A6B"/>
                </a:solidFill>
              </a:rPr>
              <a:t>RWE.DE</a:t>
            </a:r>
          </a:p>
        </p:txBody>
      </p:sp>
      <p:sp>
        <p:nvSpPr>
          <p:cNvPr id="29" name="TextBox 28"/>
          <p:cNvSpPr txBox="1"/>
          <p:nvPr/>
        </p:nvSpPr>
        <p:spPr>
          <a:xfrm>
            <a:off x="1044000" y="1915200"/>
            <a:ext cx="540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584000" y="1915200"/>
            <a:ext cx="540000" cy="198000"/>
          </a:xfrm>
          <a:prstGeom prst="rect">
            <a:avLst/>
          </a:prstGeom>
          <a:noFill/>
        </p:spPr>
        <p:txBody>
          <a:bodyPr wrap="square">
            <a:spAutoFit/>
          </a:bodyPr>
          <a:lstStyle/>
          <a:p>
            <a:pPr algn="l"/>
            <a:r>
              <a:rPr sz="800" b="0" i="0">
                <a:solidFill>
                  <a:srgbClr val="555555"/>
                </a:solidFill>
              </a:rPr>
              <a:t>25.0x</a:t>
            </a:r>
          </a:p>
        </p:txBody>
      </p:sp>
      <p:sp>
        <p:nvSpPr>
          <p:cNvPr id="31" name="TextBox 30"/>
          <p:cNvSpPr txBox="1"/>
          <p:nvPr/>
        </p:nvSpPr>
        <p:spPr>
          <a:xfrm>
            <a:off x="2124000" y="1915200"/>
            <a:ext cx="540000" cy="198000"/>
          </a:xfrm>
          <a:prstGeom prst="rect">
            <a:avLst/>
          </a:prstGeom>
          <a:noFill/>
        </p:spPr>
        <p:txBody>
          <a:bodyPr wrap="square">
            <a:spAutoFit/>
          </a:bodyPr>
          <a:lstStyle/>
          <a:p>
            <a:pPr algn="l"/>
            <a:r>
              <a:rPr sz="800" b="0" i="0">
                <a:solidFill>
                  <a:srgbClr val="555555"/>
                </a:solidFill>
              </a:rPr>
              <a:t>85</a:t>
            </a:r>
          </a:p>
        </p:txBody>
      </p:sp>
      <p:sp>
        <p:nvSpPr>
          <p:cNvPr id="32" name="TextBox 31"/>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3" name="Rectangle 32"/>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+49.4% — momentum surponderer</a:t>
            </a:r>
          </a:p>
        </p:txBody>
      </p:sp>
      <p:sp>
        <p:nvSpPr>
          <p:cNvPr id="35" name="TextBox 34"/>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6" name="Rectangle 35"/>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8" name="Rectangle 37"/>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Industrials</a:t>
            </a:r>
          </a:p>
        </p:txBody>
      </p:sp>
      <p:sp>
        <p:nvSpPr>
          <p:cNvPr id="41" name="Rectangle 40"/>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3" name="TextBox 42"/>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67/100  ·  EV/EBITDA : 14.3x</a:t>
            </a:r>
          </a:p>
        </p:txBody>
      </p:sp>
      <p:sp>
        <p:nvSpPr>
          <p:cNvPr id="44" name="TextBox 43"/>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5" name="Rectangle 44"/>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94000" y="1620000"/>
            <a:ext cx="576000" cy="198000"/>
          </a:xfrm>
          <a:prstGeom prst="rect">
            <a:avLst/>
          </a:prstGeom>
          <a:noFill/>
        </p:spPr>
        <p:txBody>
          <a:bodyPr wrap="square">
            <a:spAutoFit/>
          </a:bodyPr>
          <a:lstStyle/>
          <a:p>
            <a:pPr algn="l"/>
            <a:r>
              <a:rPr sz="800" b="1" i="0">
                <a:solidFill>
                  <a:srgbClr val="1B3A6B"/>
                </a:solidFill>
              </a:rPr>
              <a:t>NDA.DE</a:t>
            </a:r>
          </a:p>
        </p:txBody>
      </p:sp>
      <p:sp>
        <p:nvSpPr>
          <p:cNvPr id="47" name="TextBox 46"/>
          <p:cNvSpPr txBox="1"/>
          <p:nvPr/>
        </p:nvSpPr>
        <p:spPr>
          <a:xfrm>
            <a:off x="3870000" y="1620000"/>
            <a:ext cx="540000" cy="198000"/>
          </a:xfrm>
          <a:prstGeom prst="rect">
            <a:avLst/>
          </a:prstGeom>
          <a:noFill/>
        </p:spPr>
        <p:txBody>
          <a:bodyPr wrap="square">
            <a:spAutoFit/>
          </a:bodyPr>
          <a:lstStyle/>
          <a:p>
            <a:pPr algn="l"/>
            <a:r>
              <a:rPr sz="800" b="0" i="0">
                <a:solidFill>
                  <a:srgbClr val="1A7A4A"/>
                </a:solidFill>
              </a:rPr>
              <a:t>Surp.</a:t>
            </a:r>
          </a:p>
        </p:txBody>
      </p:sp>
      <p:sp>
        <p:nvSpPr>
          <p:cNvPr id="48" name="TextBox 47"/>
          <p:cNvSpPr txBox="1"/>
          <p:nvPr/>
        </p:nvSpPr>
        <p:spPr>
          <a:xfrm>
            <a:off x="4410000" y="1620000"/>
            <a:ext cx="540000" cy="198000"/>
          </a:xfrm>
          <a:prstGeom prst="rect">
            <a:avLst/>
          </a:prstGeom>
          <a:noFill/>
        </p:spPr>
        <p:txBody>
          <a:bodyPr wrap="square">
            <a:spAutoFit/>
          </a:bodyPr>
          <a:lstStyle/>
          <a:p>
            <a:pPr algn="l"/>
            <a:r>
              <a:rPr sz="800" b="0" i="0">
                <a:solidFill>
                  <a:srgbClr val="555555"/>
                </a:solidFill>
              </a:rPr>
              <a:t>7.2x</a:t>
            </a:r>
          </a:p>
        </p:txBody>
      </p:sp>
      <p:sp>
        <p:nvSpPr>
          <p:cNvPr id="49" name="TextBox 48"/>
          <p:cNvSpPr txBox="1"/>
          <p:nvPr/>
        </p:nvSpPr>
        <p:spPr>
          <a:xfrm>
            <a:off x="4950000" y="1620000"/>
            <a:ext cx="540000" cy="198000"/>
          </a:xfrm>
          <a:prstGeom prst="rect">
            <a:avLst/>
          </a:prstGeom>
          <a:noFill/>
        </p:spPr>
        <p:txBody>
          <a:bodyPr wrap="square">
            <a:spAutoFit/>
          </a:bodyPr>
          <a:lstStyle/>
          <a:p>
            <a:pPr algn="l"/>
            <a:r>
              <a:rPr sz="800" b="0" i="0">
                <a:solidFill>
                  <a:srgbClr val="555555"/>
                </a:solidFill>
              </a:rPr>
              <a:t>85</a:t>
            </a:r>
          </a:p>
        </p:txBody>
      </p:sp>
      <p:sp>
        <p:nvSpPr>
          <p:cNvPr id="50" name="Rectangle 49"/>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915200"/>
            <a:ext cx="576000" cy="198000"/>
          </a:xfrm>
          <a:prstGeom prst="rect">
            <a:avLst/>
          </a:prstGeom>
          <a:noFill/>
        </p:spPr>
        <p:txBody>
          <a:bodyPr wrap="square">
            <a:spAutoFit/>
          </a:bodyPr>
          <a:lstStyle/>
          <a:p>
            <a:pPr algn="l"/>
            <a:r>
              <a:rPr sz="800" b="1" i="0">
                <a:solidFill>
                  <a:srgbClr val="1B3A6B"/>
                </a:solidFill>
              </a:rPr>
              <a:t>ENR.DE</a:t>
            </a:r>
          </a:p>
        </p:txBody>
      </p:sp>
      <p:sp>
        <p:nvSpPr>
          <p:cNvPr id="52" name="TextBox 51"/>
          <p:cNvSpPr txBox="1"/>
          <p:nvPr/>
        </p:nvSpPr>
        <p:spPr>
          <a:xfrm>
            <a:off x="3870000" y="1915200"/>
            <a:ext cx="540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10000" y="1915200"/>
            <a:ext cx="540000" cy="198000"/>
          </a:xfrm>
          <a:prstGeom prst="rect">
            <a:avLst/>
          </a:prstGeom>
          <a:noFill/>
        </p:spPr>
        <p:txBody>
          <a:bodyPr wrap="square">
            <a:spAutoFit/>
          </a:bodyPr>
          <a:lstStyle/>
          <a:p>
            <a:pPr algn="l"/>
            <a:r>
              <a:rPr sz="800" b="0" i="0">
                <a:solidFill>
                  <a:srgbClr val="555555"/>
                </a:solidFill>
              </a:rPr>
              <a:t>38.0x</a:t>
            </a:r>
          </a:p>
        </p:txBody>
      </p:sp>
      <p:sp>
        <p:nvSpPr>
          <p:cNvPr id="54" name="TextBox 53"/>
          <p:cNvSpPr txBox="1"/>
          <p:nvPr/>
        </p:nvSpPr>
        <p:spPr>
          <a:xfrm>
            <a:off x="4950000" y="1915200"/>
            <a:ext cx="540000" cy="198000"/>
          </a:xfrm>
          <a:prstGeom prst="rect">
            <a:avLst/>
          </a:prstGeom>
          <a:noFill/>
        </p:spPr>
        <p:txBody>
          <a:bodyPr wrap="square">
            <a:spAutoFit/>
          </a:bodyPr>
          <a:lstStyle/>
          <a:p>
            <a:pPr algn="l"/>
            <a:r>
              <a:rPr sz="800" b="0" i="0">
                <a:solidFill>
                  <a:srgbClr val="555555"/>
                </a:solidFill>
              </a:rPr>
              <a:t>85</a:t>
            </a:r>
          </a:p>
        </p:txBody>
      </p:sp>
      <p:sp>
        <p:nvSpPr>
          <p:cNvPr id="55" name="Rectangle 54"/>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2210400"/>
            <a:ext cx="576000" cy="198000"/>
          </a:xfrm>
          <a:prstGeom prst="rect">
            <a:avLst/>
          </a:prstGeom>
          <a:noFill/>
        </p:spPr>
        <p:txBody>
          <a:bodyPr wrap="square">
            <a:spAutoFit/>
          </a:bodyPr>
          <a:lstStyle/>
          <a:p>
            <a:pPr algn="l"/>
            <a:r>
              <a:rPr sz="800" b="1" i="0">
                <a:solidFill>
                  <a:srgbClr val="1B3A6B"/>
                </a:solidFill>
              </a:rPr>
              <a:t>DHL.DE</a:t>
            </a:r>
          </a:p>
        </p:txBody>
      </p:sp>
      <p:sp>
        <p:nvSpPr>
          <p:cNvPr id="57" name="TextBox 56"/>
          <p:cNvSpPr txBox="1"/>
          <p:nvPr/>
        </p:nvSpPr>
        <p:spPr>
          <a:xfrm>
            <a:off x="3870000" y="2210400"/>
            <a:ext cx="540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10000" y="2210400"/>
            <a:ext cx="540000" cy="198000"/>
          </a:xfrm>
          <a:prstGeom prst="rect">
            <a:avLst/>
          </a:prstGeom>
          <a:noFill/>
        </p:spPr>
        <p:txBody>
          <a:bodyPr wrap="square">
            <a:spAutoFit/>
          </a:bodyPr>
          <a:lstStyle/>
          <a:p>
            <a:pPr algn="l"/>
            <a:r>
              <a:rPr sz="800" b="0" i="0">
                <a:solidFill>
                  <a:srgbClr val="555555"/>
                </a:solidFill>
              </a:rPr>
              <a:t>9.7x</a:t>
            </a:r>
          </a:p>
        </p:txBody>
      </p:sp>
      <p:sp>
        <p:nvSpPr>
          <p:cNvPr id="59" name="TextBox 58"/>
          <p:cNvSpPr txBox="1"/>
          <p:nvPr/>
        </p:nvSpPr>
        <p:spPr>
          <a:xfrm>
            <a:off x="4950000" y="2210400"/>
            <a:ext cx="540000" cy="198000"/>
          </a:xfrm>
          <a:prstGeom prst="rect">
            <a:avLst/>
          </a:prstGeom>
          <a:noFill/>
        </p:spPr>
        <p:txBody>
          <a:bodyPr wrap="square">
            <a:spAutoFit/>
          </a:bodyPr>
          <a:lstStyle/>
          <a:p>
            <a:pPr algn="l"/>
            <a:r>
              <a:rPr sz="800" b="0" i="0">
                <a:solidFill>
                  <a:srgbClr val="555555"/>
                </a:solidFill>
              </a:rPr>
              <a:t>80</a:t>
            </a:r>
          </a:p>
        </p:txBody>
      </p:sp>
      <p:sp>
        <p:nvSpPr>
          <p:cNvPr id="60" name="TextBox 59"/>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1" name="Rectangle 60"/>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+37.9% — momentum surponderer</a:t>
            </a:r>
          </a:p>
        </p:txBody>
      </p:sp>
      <p:sp>
        <p:nvSpPr>
          <p:cNvPr id="63" name="TextBox 62"/>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4" name="Rectangle 63"/>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6" name="Rectangle 65"/>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69" name="Rectangle 68"/>
          <p:cNvSpPr/>
          <p:nvPr/>
        </p:nvSpPr>
        <p:spPr>
          <a:xfrm>
            <a:off x="7955999" y="846000"/>
            <a:ext cx="648000" cy="23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Neutre</a:t>
            </a:r>
          </a:p>
        </p:txBody>
      </p:sp>
      <p:sp>
        <p:nvSpPr>
          <p:cNvPr id="71" name="TextBox 70"/>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55/100  ·  EV/EBITDA : 14.8x</a:t>
            </a:r>
          </a:p>
        </p:txBody>
      </p:sp>
      <p:sp>
        <p:nvSpPr>
          <p:cNvPr id="72" name="TextBox 71"/>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3" name="Rectangle 72"/>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19999" y="1620000"/>
            <a:ext cx="576000" cy="198000"/>
          </a:xfrm>
          <a:prstGeom prst="rect">
            <a:avLst/>
          </a:prstGeom>
          <a:noFill/>
        </p:spPr>
        <p:txBody>
          <a:bodyPr wrap="square">
            <a:spAutoFit/>
          </a:bodyPr>
          <a:lstStyle/>
          <a:p>
            <a:pPr algn="l"/>
            <a:r>
              <a:rPr sz="800" b="1" i="0">
                <a:solidFill>
                  <a:srgbClr val="1B3A6B"/>
                </a:solidFill>
              </a:rPr>
              <a:t>IFX.DE</a:t>
            </a:r>
          </a:p>
        </p:txBody>
      </p:sp>
      <p:sp>
        <p:nvSpPr>
          <p:cNvPr id="75" name="TextBox 74"/>
          <p:cNvSpPr txBox="1"/>
          <p:nvPr/>
        </p:nvSpPr>
        <p:spPr>
          <a:xfrm>
            <a:off x="6695999" y="1620000"/>
            <a:ext cx="540000" cy="198000"/>
          </a:xfrm>
          <a:prstGeom prst="rect">
            <a:avLst/>
          </a:prstGeom>
          <a:noFill/>
        </p:spPr>
        <p:txBody>
          <a:bodyPr wrap="square">
            <a:spAutoFit/>
          </a:bodyPr>
          <a:lstStyle/>
          <a:p>
            <a:pPr algn="l"/>
            <a:r>
              <a:rPr sz="800" b="0" i="0">
                <a:solidFill>
                  <a:srgbClr val="B06000"/>
                </a:solidFill>
              </a:rPr>
              <a:t>Neutre</a:t>
            </a:r>
          </a:p>
        </p:txBody>
      </p:sp>
      <p:sp>
        <p:nvSpPr>
          <p:cNvPr id="76" name="TextBox 75"/>
          <p:cNvSpPr txBox="1"/>
          <p:nvPr/>
        </p:nvSpPr>
        <p:spPr>
          <a:xfrm>
            <a:off x="7235999" y="1620000"/>
            <a:ext cx="540000" cy="198000"/>
          </a:xfrm>
          <a:prstGeom prst="rect">
            <a:avLst/>
          </a:prstGeom>
          <a:noFill/>
        </p:spPr>
        <p:txBody>
          <a:bodyPr wrap="square">
            <a:spAutoFit/>
          </a:bodyPr>
          <a:lstStyle/>
          <a:p>
            <a:pPr algn="l"/>
            <a:r>
              <a:rPr sz="800" b="0" i="0">
                <a:solidFill>
                  <a:srgbClr val="555555"/>
                </a:solidFill>
              </a:rPr>
              <a:t>14.2x</a:t>
            </a:r>
          </a:p>
        </p:txBody>
      </p:sp>
      <p:sp>
        <p:nvSpPr>
          <p:cNvPr id="77" name="TextBox 76"/>
          <p:cNvSpPr txBox="1"/>
          <p:nvPr/>
        </p:nvSpPr>
        <p:spPr>
          <a:xfrm>
            <a:off x="7775999" y="1620000"/>
            <a:ext cx="540000" cy="198000"/>
          </a:xfrm>
          <a:prstGeom prst="rect">
            <a:avLst/>
          </a:prstGeom>
          <a:noFill/>
        </p:spPr>
        <p:txBody>
          <a:bodyPr wrap="square">
            <a:spAutoFit/>
          </a:bodyPr>
          <a:lstStyle/>
          <a:p>
            <a:pPr algn="l"/>
            <a:r>
              <a:rPr sz="800" b="0" i="0">
                <a:solidFill>
                  <a:srgbClr val="555555"/>
                </a:solidFill>
              </a:rPr>
              <a:t>85</a:t>
            </a:r>
          </a:p>
        </p:txBody>
      </p:sp>
      <p:sp>
        <p:nvSpPr>
          <p:cNvPr id="78" name="Rectangle 77"/>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915200"/>
            <a:ext cx="576000" cy="198000"/>
          </a:xfrm>
          <a:prstGeom prst="rect">
            <a:avLst/>
          </a:prstGeom>
          <a:noFill/>
        </p:spPr>
        <p:txBody>
          <a:bodyPr wrap="square">
            <a:spAutoFit/>
          </a:bodyPr>
          <a:lstStyle/>
          <a:p>
            <a:pPr algn="l"/>
            <a:r>
              <a:rPr sz="800" b="1" i="0">
                <a:solidFill>
                  <a:srgbClr val="1B3A6B"/>
                </a:solidFill>
              </a:rPr>
              <a:t>SAP.DE</a:t>
            </a:r>
          </a:p>
        </p:txBody>
      </p:sp>
      <p:sp>
        <p:nvSpPr>
          <p:cNvPr id="80" name="TextBox 79"/>
          <p:cNvSpPr txBox="1"/>
          <p:nvPr/>
        </p:nvSpPr>
        <p:spPr>
          <a:xfrm>
            <a:off x="6695999" y="1915200"/>
            <a:ext cx="540000" cy="198000"/>
          </a:xfrm>
          <a:prstGeom prst="rect">
            <a:avLst/>
          </a:prstGeom>
          <a:noFill/>
        </p:spPr>
        <p:txBody>
          <a:bodyPr wrap="square">
            <a:spAutoFit/>
          </a:bodyPr>
          <a:lstStyle/>
          <a:p>
            <a:pPr algn="l"/>
            <a:r>
              <a:rPr sz="800" b="0" i="0">
                <a:solidFill>
                  <a:srgbClr val="B06000"/>
                </a:solidFill>
              </a:rPr>
              <a:t>Neutre</a:t>
            </a:r>
          </a:p>
        </p:txBody>
      </p:sp>
      <p:sp>
        <p:nvSpPr>
          <p:cNvPr id="81" name="TextBox 80"/>
          <p:cNvSpPr txBox="1"/>
          <p:nvPr/>
        </p:nvSpPr>
        <p:spPr>
          <a:xfrm>
            <a:off x="7235999" y="1915200"/>
            <a:ext cx="540000" cy="198000"/>
          </a:xfrm>
          <a:prstGeom prst="rect">
            <a:avLst/>
          </a:prstGeom>
          <a:noFill/>
        </p:spPr>
        <p:txBody>
          <a:bodyPr wrap="square">
            <a:spAutoFit/>
          </a:bodyPr>
          <a:lstStyle/>
          <a:p>
            <a:pPr algn="l"/>
            <a:r>
              <a:rPr sz="800" b="0" i="0">
                <a:solidFill>
                  <a:srgbClr val="555555"/>
                </a:solidFill>
              </a:rPr>
              <a:t>15.3x</a:t>
            </a:r>
          </a:p>
        </p:txBody>
      </p:sp>
      <p:sp>
        <p:nvSpPr>
          <p:cNvPr id="82" name="TextBox 81"/>
          <p:cNvSpPr txBox="1"/>
          <p:nvPr/>
        </p:nvSpPr>
        <p:spPr>
          <a:xfrm>
            <a:off x="7775999" y="1915200"/>
            <a:ext cx="540000" cy="198000"/>
          </a:xfrm>
          <a:prstGeom prst="rect">
            <a:avLst/>
          </a:prstGeom>
          <a:noFill/>
        </p:spPr>
        <p:txBody>
          <a:bodyPr wrap="square">
            <a:spAutoFit/>
          </a:bodyPr>
          <a:lstStyle/>
          <a:p>
            <a:pPr algn="l"/>
            <a:r>
              <a:rPr sz="800" b="0" i="0">
                <a:solidFill>
                  <a:srgbClr val="555555"/>
                </a:solidFill>
              </a:rPr>
              <a:t>25</a:t>
            </a:r>
          </a:p>
        </p:txBody>
      </p:sp>
      <p:sp>
        <p:nvSpPr>
          <p:cNvPr id="83" name="TextBox 8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84" name="Rectangle 8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-1.8% — momentum neutre</a:t>
            </a:r>
          </a:p>
        </p:txBody>
      </p:sp>
      <p:sp>
        <p:nvSpPr>
          <p:cNvPr id="86" name="TextBox 8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87" name="Rectangle 8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89" name="Rectangle 8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Distribution des Valorisations Sectorielles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par secteur  ·  Vert = Surponderer · Amber = Neutre · Rouge = Sous-ponderer</a:t>
            </a:r>
          </a:p>
        </p:txBody>
      </p:sp>
      <p:pic>
        <p:nvPicPr>
          <p:cNvPr id="15" name="Picture 14" descr="image.png"/>
          <p:cNvPicPr>
            <a:picLocks noChangeAspect="1"/>
          </p:cNvPicPr>
          <p:nvPr/>
        </p:nvPicPr>
        <p:blipFill>
          <a:blip r:embed="rId2"/>
          <a:stretch>
            <a:fillRect/>
          </a:stretch>
        </p:blipFill>
        <p:spPr>
          <a:xfrm>
            <a:off x="324000" y="827999"/>
            <a:ext cx="5040000" cy="3168000"/>
          </a:xfrm>
          <a:prstGeom prst="rect">
            <a:avLst/>
          </a:prstGeom>
        </p:spPr>
      </p:pic>
      <p:sp>
        <p:nvSpPr>
          <p:cNvPr id="16" name="Rectangle 15"/>
          <p:cNvSpPr/>
          <p:nvPr/>
        </p:nvSpPr>
        <p:spPr>
          <a:xfrm>
            <a:off x="5544000" y="827999"/>
            <a:ext cx="3276000" cy="31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44000" y="827999"/>
            <a:ext cx="43200" cy="316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2000" y="864000"/>
            <a:ext cx="3096000" cy="216000"/>
          </a:xfrm>
          <a:prstGeom prst="rect">
            <a:avLst/>
          </a:prstGeom>
          <a:noFill/>
        </p:spPr>
        <p:txBody>
          <a:bodyPr wrap="square">
            <a:spAutoFit/>
          </a:bodyPr>
          <a:lstStyle/>
          <a:p>
            <a:pPr algn="l"/>
            <a:r>
              <a:rPr sz="850" b="1" i="0">
                <a:solidFill>
                  <a:srgbClr val="1B3A6B"/>
                </a:solidFill>
              </a:rPr>
              <a:t>Lecture de la Distribution</a:t>
            </a:r>
          </a:p>
        </p:txBody>
      </p:sp>
      <p:sp>
        <p:nvSpPr>
          <p:cNvPr id="19" name="TextBox 18"/>
          <p:cNvSpPr txBox="1"/>
          <p:nvPr/>
        </p:nvSpPr>
        <p:spPr>
          <a:xfrm>
            <a:off x="5652000" y="1116000"/>
            <a:ext cx="3096000" cy="2808000"/>
          </a:xfrm>
          <a:prstGeom prst="rect">
            <a:avLst/>
          </a:prstGeom>
          <a:noFill/>
        </p:spPr>
        <p:txBody>
          <a:bodyPr wrap="square">
            <a:spAutoFit/>
          </a:bodyPr>
          <a:lstStyle/>
          <a:p>
            <a:pPr algn="l"/>
            <a:r>
              <a:rPr sz="800" b="0" i="0">
                <a:solidFill>
                  <a:srgbClr val="555555"/>
                </a:solidFill>
              </a:rPr>
              <a:t>Real Estate traite a 28.4x — prime de 156 % vs la mediane sectorielle (11.1x). Cette prime est justifiee par une croissance BPA structurellement elevee.
Financials offre la valorisation la plus attractive (5.4x) mais le signal Neutre reflete les risques specifiques au secteur.
Mediane sectorielle : 11.1x EV/EBITDA — seuil de reference pour evaluer la cherte relative.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d'entree Accumuler / Neutre / Alleger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d'entree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mediane 10 ans : 18.2x
PE Forward indice : 13.8x
Zone d'entree favorable (PE &lt; mediane) :
Industrials
Zone de prudence (PE &gt; mediane +15 %) :
Aucun
Methodologie : le PE Forward estime est ancre sur le PE global de l'indice ajuste du score sectoriel (+/- ecart). Les secteurs a gauche de la ligne pointillee (mediane 10 ans) offrent un meilleur point d'entree. Un ecart &gt; +20 % vs la mediane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Neutre</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NEUTRE</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DAX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FinBERT Agrégé</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sémantique FinBERT  ·  34 articles  ·  7 jours glissants  ·  10 secteurs</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agrégé FinBERT</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080000" cy="162000"/>
          </a:xfrm>
          <a:prstGeom prst="rect">
            <a:avLst/>
          </a:prstGeom>
          <a:noFill/>
        </p:spPr>
        <p:txBody>
          <a:bodyPr wrap="square">
            <a:spAutoFit/>
          </a:bodyPr>
          <a:lstStyle/>
          <a:p>
            <a:pPr algn="l"/>
            <a:r>
              <a:rPr sz="850" b="1" i="0">
                <a:solidFill>
                  <a:srgbClr val="FFFFFF"/>
                </a:solidFill>
              </a:rPr>
              <a:t>Positif</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articles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08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articles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080000" cy="162000"/>
          </a:xfrm>
          <a:prstGeom prst="rect">
            <a:avLst/>
          </a:prstGeom>
          <a:noFill/>
        </p:spPr>
        <p:txBody>
          <a:bodyPr wrap="square">
            <a:spAutoFit/>
          </a:bodyPr>
          <a:lstStyle/>
          <a:p>
            <a:pPr algn="l"/>
            <a:r>
              <a:rPr sz="850" b="1" i="0">
                <a:solidFill>
                  <a:srgbClr val="1A1A1A"/>
                </a:solidFill>
              </a:rPr>
              <a:t>Négatif</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articles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Thèmes dominants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Distribution sentiment par secteur</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 l'Indice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vs S&amp;P 500, Obligations &amp; Or  ·  Indexe a 100  ·  Source yfinance</a:t>
            </a:r>
          </a:p>
        </p:txBody>
      </p:sp>
      <p:sp>
        <p:nvSpPr>
          <p:cNvPr id="15" name="Rectangle 14"/>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17" name="Rectangle 16"/>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19" name="Rectangle 18"/>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21" name="Rectangle 20"/>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23" name="Rectangle 22"/>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25" name="Rectangle 24"/>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27" name="TextBox 26"/>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 40  ·  ETF sectoriels SPDR/iShares  ·  Donnees yfinance</a:t>
            </a:r>
          </a:p>
        </p:txBody>
      </p:sp>
      <p:sp>
        <p:nvSpPr>
          <p:cNvPr id="28" name="TextBox 27"/>
          <p:cNvSpPr txBox="1"/>
          <p:nvPr/>
        </p:nvSpPr>
        <p:spPr>
          <a:xfrm>
            <a:off x="324000" y="756000"/>
            <a:ext cx="8496000" cy="198000"/>
          </a:xfrm>
          <a:prstGeom prst="rect">
            <a:avLst/>
          </a:prstGeom>
          <a:noFill/>
        </p:spPr>
        <p:txBody>
          <a:bodyPr wrap="square">
            <a:spAutoFit/>
          </a:bodyPr>
          <a:lstStyle/>
          <a:p>
            <a:pPr algn="l"/>
            <a:r>
              <a:rPr sz="850" b="1" i="0">
                <a:solidFill>
                  <a:srgbClr val="1B3A6B"/>
                </a:solidFill>
              </a:rPr>
              <a:t>Scores sectoriels FinSight — synthese allocataire</a:t>
            </a:r>
          </a:p>
        </p:txBody>
      </p:sp>
      <p:graphicFrame>
        <p:nvGraphicFramePr>
          <p:cNvPr id="29" name="Table 28"/>
          <p:cNvGraphicFramePr>
            <a:graphicFrameLocks noGrp="1"/>
          </p:cNvGraphicFramePr>
          <p:nvPr/>
        </p:nvGraphicFramePr>
        <p:xfrm>
          <a:off x="324000" y="990000"/>
          <a:ext cx="8495995" cy="2808000"/>
        </p:xfrm>
        <a:graphic>
          <a:graphicData uri="http://schemas.openxmlformats.org/drawingml/2006/table">
            <a:tbl>
              <a:tblPr firstRow="1" bandRow="1">
                <a:tableStyleId>{5C22544A-7EE6-4342-B048-85BDC9FD1C3A}</a:tableStyleId>
              </a:tblPr>
              <a:tblGrid>
                <a:gridCol w="545197"/>
                <a:gridCol w="2271657"/>
                <a:gridCol w="681497"/>
                <a:gridCol w="1590160"/>
                <a:gridCol w="1135828"/>
                <a:gridCol w="1135828"/>
                <a:gridCol w="1135828"/>
              </a:tblGrid>
              <a:tr h="255272">
                <a:tc>
                  <a:txBody>
                    <a:bodyPr/>
                    <a:lstStyle/>
                    <a:p>
                      <a:pPr algn="ctr"/>
                      <a:r>
                        <a:rPr sz="800" b="1">
                          <a:solidFill>
                            <a:srgbClr val="FFFFFF"/>
                          </a:solidFill>
                        </a:rPr>
                        <a:t>Rang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EV/EBITDA</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r>
              <a:tr h="255272">
                <a:tc>
                  <a:txBody>
                    <a:bodyPr/>
                    <a:lstStyle/>
                    <a:p>
                      <a:pPr algn="ctr"/>
                      <a:r>
                        <a:rPr sz="800" b="0">
                          <a:solidFill>
                            <a:srgbClr val="1A1A1A"/>
                          </a:solidFill>
                        </a:rPr>
                        <a:t>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19.0x</a:t>
                      </a:r>
                    </a:p>
                  </a:txBody>
                  <a:tcPr>
                    <a:noFill/>
                  </a:tcPr>
                </a:tc>
                <a:tc>
                  <a:txBody>
                    <a:bodyPr/>
                    <a:lstStyle/>
                    <a:p>
                      <a:pPr algn="ctr"/>
                      <a:r>
                        <a:rPr sz="800" b="0">
                          <a:solidFill>
                            <a:srgbClr val="1A1A1A"/>
                          </a:solidFill>
                        </a:rPr>
                        <a:t>10.4%</a:t>
                      </a:r>
                    </a:p>
                  </a:txBody>
                  <a:tcPr>
                    <a:noFill/>
                  </a:tcPr>
                </a:tc>
                <a:tc>
                  <a:txBody>
                    <a:bodyPr/>
                    <a:lstStyle/>
                    <a:p>
                      <a:pPr algn="ctr"/>
                      <a:r>
                        <a:rPr sz="800" b="0">
                          <a:solidFill>
                            <a:srgbClr val="1A1A1A"/>
                          </a:solidFill>
                        </a:rPr>
                        <a:t>-26.3%</a:t>
                      </a:r>
                    </a:p>
                  </a:txBody>
                  <a:tcPr>
                    <a:noFill/>
                  </a:tcPr>
                </a:tc>
              </a:tr>
              <a:tr h="255272">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67</a:t>
                      </a:r>
                    </a:p>
                  </a:txBody>
                  <a:tcPr>
                    <a:solidFill>
                      <a:srgbClr val="F5F7FA"/>
                    </a:solidFill>
                  </a:tcPr>
                </a:tc>
                <a:tc>
                  <a:txBody>
                    <a:bodyPr/>
                    <a:lstStyle/>
                    <a:p>
                      <a:pPr algn="ctr"/>
                      <a:r>
                        <a:rPr sz="800" b="0">
                          <a:solidFill>
                            <a:srgbClr val="1A7A4A"/>
                          </a:solidFill>
                        </a:rPr>
                        <a:t>Surponderer</a:t>
                      </a:r>
                    </a:p>
                  </a:txBody>
                  <a:tcPr>
                    <a:solidFill>
                      <a:srgbClr val="E8F5EE"/>
                    </a:solidFill>
                  </a:tcPr>
                </a:tc>
                <a:tc>
                  <a:txBody>
                    <a:bodyPr/>
                    <a:lstStyle/>
                    <a:p>
                      <a:pPr algn="ctr"/>
                      <a:r>
                        <a:rPr sz="800" b="0">
                          <a:solidFill>
                            <a:srgbClr val="1A1A1A"/>
                          </a:solidFill>
                        </a:rPr>
                        <a:t>14.3x</a:t>
                      </a:r>
                    </a:p>
                  </a:txBody>
                  <a:tcPr>
                    <a:solidFill>
                      <a:srgbClr val="F5F7FA"/>
                    </a:solidFill>
                  </a:tcPr>
                </a:tc>
                <a:tc>
                  <a:txBody>
                    <a:bodyPr/>
                    <a:lstStyle/>
                    <a:p>
                      <a:pPr algn="ctr"/>
                      <a:r>
                        <a:rPr sz="800" b="0">
                          <a:solidFill>
                            <a:srgbClr val="1A1A1A"/>
                          </a:solidFill>
                        </a:rPr>
                        <a:t>11.8%</a:t>
                      </a:r>
                    </a:p>
                  </a:txBody>
                  <a:tcPr>
                    <a:solidFill>
                      <a:srgbClr val="F5F7FA"/>
                    </a:solidFill>
                  </a:tcPr>
                </a:tc>
                <a:tc>
                  <a:txBody>
                    <a:bodyPr/>
                    <a:lstStyle/>
                    <a:p>
                      <a:pPr algn="ctr"/>
                      <a:r>
                        <a:rPr sz="800" b="0">
                          <a:solidFill>
                            <a:srgbClr val="1A1A1A"/>
                          </a:solidFill>
                        </a:rPr>
                        <a:t>+5.5%</a:t>
                      </a:r>
                    </a:p>
                  </a:txBody>
                  <a:tcPr>
                    <a:solidFill>
                      <a:srgbClr val="F5F7FA"/>
                    </a:solidFill>
                  </a:tcPr>
                </a:tc>
              </a:tr>
              <a:tr h="255272">
                <a:tc>
                  <a:txBody>
                    <a:bodyPr/>
                    <a:lstStyle/>
                    <a:p>
                      <a:pPr algn="ctr"/>
                      <a:r>
                        <a:rPr sz="800" b="0">
                          <a:solidFill>
                            <a:srgbClr val="1A1A1A"/>
                          </a:solidFill>
                        </a:rPr>
                        <a:t>3</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14.8x</a:t>
                      </a:r>
                    </a:p>
                  </a:txBody>
                  <a:tcPr>
                    <a:noFill/>
                  </a:tcPr>
                </a:tc>
                <a:tc>
                  <a:txBody>
                    <a:bodyPr/>
                    <a:lstStyle/>
                    <a:p>
                      <a:pPr algn="ctr"/>
                      <a:r>
                        <a:rPr sz="800" b="0">
                          <a:solidFill>
                            <a:srgbClr val="1A1A1A"/>
                          </a:solidFill>
                        </a:rPr>
                        <a:t>28.9%</a:t>
                      </a:r>
                    </a:p>
                  </a:txBody>
                  <a:tcPr>
                    <a:noFill/>
                  </a:tcPr>
                </a:tc>
                <a:tc>
                  <a:txBody>
                    <a:bodyPr/>
                    <a:lstStyle/>
                    <a:p>
                      <a:pPr algn="ctr"/>
                      <a:r>
                        <a:rPr sz="800" b="0">
                          <a:solidFill>
                            <a:srgbClr val="1A1A1A"/>
                          </a:solidFill>
                        </a:rPr>
                        <a:t>+5.2%</a:t>
                      </a:r>
                    </a:p>
                  </a:txBody>
                  <a:tcPr>
                    <a:noFill/>
                  </a:tcPr>
                </a:tc>
              </a:tr>
              <a:tr h="255272">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51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11.3x</a:t>
                      </a:r>
                    </a:p>
                  </a:txBody>
                  <a:tcPr>
                    <a:solidFill>
                      <a:srgbClr val="F5F7FA"/>
                    </a:solidFill>
                  </a:tcPr>
                </a:tc>
                <a:tc>
                  <a:txBody>
                    <a:bodyPr/>
                    <a:lstStyle/>
                    <a:p>
                      <a:pPr algn="ctr"/>
                      <a:r>
                        <a:rPr sz="800" b="0">
                          <a:solidFill>
                            <a:srgbClr val="1A1A1A"/>
                          </a:solidFill>
                        </a:rPr>
                        <a:t>22.8%</a:t>
                      </a:r>
                    </a:p>
                  </a:txBody>
                  <a:tcPr>
                    <a:solidFill>
                      <a:srgbClr val="F5F7FA"/>
                    </a:solidFill>
                  </a:tcPr>
                </a:tc>
                <a:tc>
                  <a:txBody>
                    <a:bodyPr/>
                    <a:lstStyle/>
                    <a:p>
                      <a:pPr algn="ctr"/>
                      <a:r>
                        <a:rPr sz="800" b="0">
                          <a:solidFill>
                            <a:srgbClr val="1A1A1A"/>
                          </a:solidFill>
                        </a:rPr>
                        <a:t>+0.7%</a:t>
                      </a:r>
                    </a:p>
                  </a:txBody>
                  <a:tcPr>
                    <a:solidFill>
                      <a:srgbClr val="F5F7FA"/>
                    </a:solidFill>
                  </a:tcPr>
                </a:tc>
              </a:tr>
              <a:tr h="255272">
                <a:tc>
                  <a:txBody>
                    <a:bodyPr/>
                    <a:lstStyle/>
                    <a:p>
                      <a:pPr algn="ctr"/>
                      <a:r>
                        <a:rPr sz="800" b="0">
                          <a:solidFill>
                            <a:srgbClr val="1A1A1A"/>
                          </a:solidFill>
                        </a:rPr>
                        <a:t>5</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50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5.4x</a:t>
                      </a:r>
                    </a:p>
                  </a:txBody>
                  <a:tcPr>
                    <a:noFill/>
                  </a:tcPr>
                </a:tc>
                <a:tc>
                  <a:txBody>
                    <a:bodyPr/>
                    <a:lstStyle/>
                    <a:p>
                      <a:pPr algn="ctr"/>
                      <a:r>
                        <a:rPr sz="800" b="0">
                          <a:solidFill>
                            <a:srgbClr val="1A1A1A"/>
                          </a:solidFill>
                        </a:rPr>
                        <a:t>16.1%</a:t>
                      </a:r>
                    </a:p>
                  </a:txBody>
                  <a:tcPr>
                    <a:noFill/>
                  </a:tcPr>
                </a:tc>
                <a:tc>
                  <a:txBody>
                    <a:bodyPr/>
                    <a:lstStyle/>
                    <a:p>
                      <a:pPr algn="ctr"/>
                      <a:r>
                        <a:rPr sz="800" b="0">
                          <a:solidFill>
                            <a:srgbClr val="1A1A1A"/>
                          </a:solidFill>
                        </a:rPr>
                        <a:t>+0.3%</a:t>
                      </a:r>
                    </a:p>
                  </a:txBody>
                  <a:tcPr>
                    <a:noFill/>
                  </a:tcPr>
                </a:tc>
              </a:tr>
              <a:tr h="255272">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45</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10.9x</a:t>
                      </a:r>
                    </a:p>
                  </a:txBody>
                  <a:tcPr>
                    <a:solidFill>
                      <a:srgbClr val="F5F7FA"/>
                    </a:solidFill>
                  </a:tcPr>
                </a:tc>
                <a:tc>
                  <a:txBody>
                    <a:bodyPr/>
                    <a:lstStyle/>
                    <a:p>
                      <a:pPr algn="ctr"/>
                      <a:r>
                        <a:rPr sz="800" b="0">
                          <a:solidFill>
                            <a:srgbClr val="1A1A1A"/>
                          </a:solidFill>
                        </a:rPr>
                        <a:t>14.1%</a:t>
                      </a:r>
                    </a:p>
                  </a:txBody>
                  <a:tcPr>
                    <a:solidFill>
                      <a:srgbClr val="F5F7FA"/>
                    </a:solidFill>
                  </a:tcPr>
                </a:tc>
                <a:tc>
                  <a:txBody>
                    <a:bodyPr/>
                    <a:lstStyle/>
                    <a:p>
                      <a:pPr algn="ctr"/>
                      <a:r>
                        <a:rPr sz="800" b="0">
                          <a:solidFill>
                            <a:srgbClr val="1A1A1A"/>
                          </a:solidFill>
                        </a:rPr>
                        <a:t>-5.3%</a:t>
                      </a:r>
                    </a:p>
                  </a:txBody>
                  <a:tcPr>
                    <a:solidFill>
                      <a:srgbClr val="F5F7FA"/>
                    </a:solidFill>
                  </a:tcPr>
                </a:tc>
              </a:tr>
              <a:tr h="255272">
                <a:tc>
                  <a:txBody>
                    <a:bodyPr/>
                    <a:lstStyle/>
                    <a:p>
                      <a:pPr algn="ctr"/>
                      <a:r>
                        <a:rPr sz="800" b="0">
                          <a:solidFill>
                            <a:srgbClr val="1A1A1A"/>
                          </a:solidFill>
                        </a:rPr>
                        <a:t>7</a:t>
                      </a:r>
                    </a:p>
                  </a:txBody>
                  <a:tcPr>
                    <a:noFill/>
                  </a:tcPr>
                </a:tc>
                <a:tc>
                  <a:txBody>
                    <a:bodyPr/>
                    <a:lstStyle/>
                    <a:p>
                      <a:pPr algn="ctr"/>
                      <a:r>
                        <a:rPr sz="800" b="0">
                          <a:solidFill>
                            <a:srgbClr val="1A1A1A"/>
                          </a:solidFill>
                        </a:rPr>
                        <a:t>Comm. Services</a:t>
                      </a:r>
                    </a:p>
                  </a:txBody>
                  <a:tcPr>
                    <a:noFill/>
                  </a:tcPr>
                </a:tc>
                <a:tc>
                  <a:txBody>
                    <a:bodyPr/>
                    <a:lstStyle/>
                    <a:p>
                      <a:pPr algn="ctr"/>
                      <a:r>
                        <a:rPr sz="800" b="0">
                          <a:solidFill>
                            <a:srgbClr val="1A1A1A"/>
                          </a:solidFill>
                        </a:rPr>
                        <a:t>43</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7.7x</a:t>
                      </a:r>
                    </a:p>
                  </a:txBody>
                  <a:tcPr>
                    <a:noFill/>
                  </a:tcPr>
                </a:tc>
                <a:tc>
                  <a:txBody>
                    <a:bodyPr/>
                    <a:lstStyle/>
                    <a:p>
                      <a:pPr algn="ctr"/>
                      <a:r>
                        <a:rPr sz="800" b="0">
                          <a:solidFill>
                            <a:srgbClr val="1A1A1A"/>
                          </a:solidFill>
                        </a:rPr>
                        <a:t>34.5%</a:t>
                      </a:r>
                    </a:p>
                  </a:txBody>
                  <a:tcPr>
                    <a:noFill/>
                  </a:tcPr>
                </a:tc>
                <a:tc>
                  <a:txBody>
                    <a:bodyPr/>
                    <a:lstStyle/>
                    <a:p>
                      <a:pPr algn="ctr"/>
                      <a:r>
                        <a:rPr sz="800" b="0">
                          <a:solidFill>
                            <a:srgbClr val="1A1A1A"/>
                          </a:solidFill>
                        </a:rPr>
                        <a:t>+2.5%</a:t>
                      </a:r>
                    </a:p>
                  </a:txBody>
                  <a:tcPr>
                    <a:noFill/>
                  </a:tcPr>
                </a:tc>
              </a:tr>
              <a:tr h="255272">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Cons. Discret.</a:t>
                      </a:r>
                    </a:p>
                  </a:txBody>
                  <a:tcPr>
                    <a:solidFill>
                      <a:srgbClr val="F5F7FA"/>
                    </a:solidFill>
                  </a:tcPr>
                </a:tc>
                <a:tc>
                  <a:txBody>
                    <a:bodyPr/>
                    <a:lstStyle/>
                    <a:p>
                      <a:pPr algn="ctr"/>
                      <a:r>
                        <a:rPr sz="800" b="0">
                          <a:solidFill>
                            <a:srgbClr val="1A1A1A"/>
                          </a:solidFill>
                        </a:rPr>
                        <a:t>39</a:t>
                      </a:r>
                    </a:p>
                  </a:txBody>
                  <a:tcPr>
                    <a:solidFill>
                      <a:srgbClr val="F5F7FA"/>
                    </a:solid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10.9x</a:t>
                      </a:r>
                    </a:p>
                  </a:txBody>
                  <a:tcPr>
                    <a:solidFill>
                      <a:srgbClr val="F5F7FA"/>
                    </a:solidFill>
                  </a:tcPr>
                </a:tc>
                <a:tc>
                  <a:txBody>
                    <a:bodyPr/>
                    <a:lstStyle/>
                    <a:p>
                      <a:pPr algn="ctr"/>
                      <a:r>
                        <a:rPr sz="800" b="0">
                          <a:solidFill>
                            <a:srgbClr val="1A1A1A"/>
                          </a:solidFill>
                        </a:rPr>
                        <a:t>7.3%</a:t>
                      </a:r>
                    </a:p>
                  </a:txBody>
                  <a:tcPr>
                    <a:solidFill>
                      <a:srgbClr val="F5F7FA"/>
                    </a:solidFill>
                  </a:tcPr>
                </a:tc>
                <a:tc>
                  <a:txBody>
                    <a:bodyPr/>
                    <a:lstStyle/>
                    <a:p>
                      <a:pPr algn="ctr"/>
                      <a:r>
                        <a:rPr sz="800" b="0">
                          <a:solidFill>
                            <a:srgbClr val="1A1A1A"/>
                          </a:solidFill>
                        </a:rPr>
                        <a:t>-1.4%</a:t>
                      </a:r>
                    </a:p>
                  </a:txBody>
                  <a:tcPr>
                    <a:solidFill>
                      <a:srgbClr val="F5F7FA"/>
                    </a:solidFill>
                  </a:tcPr>
                </a:tc>
              </a:tr>
              <a:tr h="255272">
                <a:tc>
                  <a:txBody>
                    <a:bodyPr/>
                    <a:lstStyle/>
                    <a:p>
                      <a:pPr algn="ctr"/>
                      <a:r>
                        <a:rPr sz="800" b="0">
                          <a:solidFill>
                            <a:srgbClr val="1A1A1A"/>
                          </a:solidFill>
                        </a:rPr>
                        <a:t>9</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8.7x</a:t>
                      </a:r>
                    </a:p>
                  </a:txBody>
                  <a:tcPr>
                    <a:no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-3.2%</a:t>
                      </a:r>
                    </a:p>
                  </a:txBody>
                  <a:tcPr>
                    <a:noFill/>
                  </a:tcPr>
                </a:tc>
              </a:tr>
              <a:tr h="25528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27</a:t>
                      </a:r>
                    </a:p>
                  </a:txBody>
                  <a:tcPr>
                    <a:solidFill>
                      <a:srgbClr val="F5F7FA"/>
                    </a:solidFill>
                  </a:tcPr>
                </a:tc>
                <a:tc>
                  <a:txBody>
                    <a:bodyPr/>
                    <a:lstStyle/>
                    <a:p>
                      <a:pPr algn="ctr"/>
                      <a:r>
                        <a:rPr sz="800" b="0">
                          <a:solidFill>
                            <a:srgbClr val="A82020"/>
                          </a:solidFill>
                        </a:rPr>
                        <a:t>Sous-ponderer</a:t>
                      </a:r>
                    </a:p>
                  </a:txBody>
                  <a:tcPr>
                    <a:solidFill>
                      <a:srgbClr val="FBEBEB"/>
                    </a:solidFill>
                  </a:tcPr>
                </a:tc>
                <a:tc>
                  <a:txBody>
                    <a:bodyPr/>
                    <a:lstStyle/>
                    <a:p>
                      <a:pPr algn="ctr"/>
                      <a:r>
                        <a:rPr sz="800" b="0">
                          <a:solidFill>
                            <a:srgbClr val="1A1A1A"/>
                          </a:solidFill>
                        </a:rPr>
                        <a:t>28.4x</a:t>
                      </a:r>
                    </a:p>
                  </a:txBody>
                  <a:tcPr>
                    <a:solidFill>
                      <a:srgbClr val="F5F7FA"/>
                    </a:solidFill>
                  </a:tcPr>
                </a:tc>
                <a:tc>
                  <a:txBody>
                    <a:bodyPr/>
                    <a:lstStyle/>
                    <a:p>
                      <a:pPr algn="ctr"/>
                      <a:r>
                        <a:rPr sz="800" b="0">
                          <a:solidFill>
                            <a:srgbClr val="1A1A1A"/>
                          </a:solidFill>
                        </a:rPr>
                        <a:t>33.6%</a:t>
                      </a:r>
                    </a:p>
                  </a:txBody>
                  <a:tcPr>
                    <a:solidFill>
                      <a:srgbClr val="F5F7FA"/>
                    </a:solidFill>
                  </a:tcPr>
                </a:tc>
                <a:tc>
                  <a:txBody>
                    <a:bodyPr/>
                    <a:lstStyle/>
                    <a:p>
                      <a:pPr algn="ctr"/>
                      <a:r>
                        <a:rPr sz="800" b="0">
                          <a:solidFill>
                            <a:srgbClr val="1A1A1A"/>
                          </a:solidFill>
                        </a:rPr>
                        <a:t>-35.9%</a:t>
                      </a:r>
                    </a:p>
                  </a:txBody>
                  <a:tcPr>
                    <a:solidFill>
                      <a:srgbClr val="F5F7FA"/>
                    </a:solidFill>
                  </a:tcPr>
                </a:tc>
              </a:tr>
            </a:tbl>
          </a:graphicData>
        </a:graphic>
      </p:graphicFrame>
      <p:sp>
        <p:nvSpPr>
          <p:cNvPr id="30" name="Rectangle 29"/>
          <p:cNvSpPr/>
          <p:nvPr/>
        </p:nvSpPr>
        <p:spPr>
          <a:xfrm>
            <a:off x="324000" y="4248000"/>
            <a:ext cx="8496000" cy="54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000" y="4248000"/>
            <a:ext cx="43200" cy="540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2000" y="4284000"/>
            <a:ext cx="8208000" cy="180000"/>
          </a:xfrm>
          <a:prstGeom prst="rect">
            <a:avLst/>
          </a:prstGeom>
          <a:noFill/>
        </p:spPr>
        <p:txBody>
          <a:bodyPr wrap="square">
            <a:spAutoFit/>
          </a:bodyPr>
          <a:lstStyle/>
          <a:p>
            <a:pPr algn="l"/>
            <a:r>
              <a:rPr sz="800" b="1" i="0">
                <a:solidFill>
                  <a:srgbClr val="555555"/>
                </a:solidFill>
              </a:rPr>
              <a:t>Note — ETF sectoriels SPDR non disponibles pour cet indice</a:t>
            </a:r>
          </a:p>
        </p:txBody>
      </p:sp>
      <p:sp>
        <p:nvSpPr>
          <p:cNvPr id="33" name="TextBox 32"/>
          <p:cNvSpPr txBox="1"/>
          <p:nvPr/>
        </p:nvSpPr>
        <p:spPr>
          <a:xfrm>
            <a:off x="432000" y="4482000"/>
            <a:ext cx="8208000" cy="288000"/>
          </a:xfrm>
          <a:prstGeom prst="rect">
            <a:avLst/>
          </a:prstGeom>
          <a:noFill/>
        </p:spPr>
        <p:txBody>
          <a:bodyPr wrap="square">
            <a:spAutoFit/>
          </a:bodyPr>
          <a:lstStyle/>
          <a:p>
            <a:pPr algn="l"/>
            <a:r>
              <a:rPr sz="750" b="0" i="0">
                <a:solidFill>
                  <a:srgbClr val="555555"/>
                </a:solidFill>
              </a:rPr>
              <a:t>Les ETF sectoriels SPDR sont references sur le marche US (S&amp;P 500). Pour les indices europeens, les equivalents iShares / Amundi ne sont pas encore integres.</a:t>
            </a:r>
          </a:p>
        </p:txBody>
      </p:sp>
      <p:sp>
        <p:nvSpPr>
          <p:cNvPr id="34" name="Rectangle 33"/>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