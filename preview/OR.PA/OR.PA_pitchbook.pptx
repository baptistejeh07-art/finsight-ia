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L'Oréal S.A.</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OR.PA  ·  Euronext Paris  ·  Consumer Defensive</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385 EUR  ·  Upside : +9,7 %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385 EUR  ·  Upside : +9,7 %  ·  Bear : 320 EUR (-8,8 %)  ·  Bull : 420 EUR (+19,7 %)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 mondial incontesté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L'Oréal devrait bénéficier d'une croissance organique de 5-6% en 2026 grâce à l'expansion en Chine (+12% CA) et aux lancements de produits anti-âge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R&amp;D premium 3.5% CA</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EBITDA devrait atteindre 25.5% en 2027 grâce à l'effet de levier opérationnel et à la réduction des coûts logistiques de 150M€</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Marges durables 74% GM</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ROIC de 20%+ et un ROE de 18% justifient une prime de valorisation de 20% vs les peers sur EV/EBITDA.</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Ralentissement Chine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Chine -5% CA 2026 | Concurrence locale | Perte de parts marché</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 beauté</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Régulation ingrédients UE +20% coûts 2026 | Substitution produits | -2pp marge nette</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Régulation ingrédients</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Guerre des prix mass-market | Marge GM compression -150bps | -1pp EBITDA margin</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14,2x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8,5 %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0,88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385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+9,7 %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+0,020</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L'Oréal S.A.  ·  Consumer Defensive</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Ralentissement Chine  ·  Concurrence IA beauté</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L'Oréal S.A.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L'Oréal S.A. est le leader mondial des produits de beauté avec un portefeuille diversifié couvrant les soins, le maquillage, les parfums et les soins capillaires. Positionné sur le premium et le mass-market, le groupe mise sur l'innovation et le digital pour capter la demande asiatique et émergente. Ses avantages concurrentiels incluent une R&amp;D inégalée, une distribution mondiale optimisée et une marque forte avec 36 marques générant plus de 250M€ de CA chacune.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 Grand Public</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mass-market incluant marques comme Garnier, Maybelline et L'Oréal Paris, distribué via grandes surfaces et e-commerce. Modèle de revenus basé sur volume et prix accessibles, avec une croissance tirée par l'Asie (+8% en 2024) et l'innovation produit. Clients cibles : consommateurs urbains 18-45 ans sensibles au rapport qualité-prix.</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Produits Professionnels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B2B incluant Kerastase, Redken et Matrix, vendu via salons de coiffure et distributeurs spécialisés. Revenus récurrents via abonnements produits et services premium. Croissance portée par la demande en soins capillaires premium (+6% en 2024) et la digitalisation des salons.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187,3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44,1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30,6x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38%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 Grand Public</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mass-market incluant marques comme Garnier, Maybelline et L'Oréal Paris, distribué via grandes surfaces et e-commerce. Modèle de revenus basé sur volume et prix accessibles, avec une croissance tirée par l'Asie (+8% en 2024) et l'innovation produit. Clients cibles : consommateurs urbains 18-45 ans sensibles au rapport qualité-prix.</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Produits Professionnels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B2B incluant Kerastase, Redken et Matrix, vendu via salons de coiffure et distributeurs spécialisés. Revenus récurrents via abonnements produits et services premium. Croissance portée par la demande en soins capillaires premium (+6% en 2024) et la digitalisation des salons.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41,2</a:t>
                      </a:r>
                    </a:p>
                  </a:txBody>
                  <a:tcPr>
                    <a:solidFill>
                      <a:srgbClr val="FFFFFF"/>
                    </a:solidFill>
                  </a:tcPr>
                </a:tc>
                <a:tc>
                  <a:txBody>
                    <a:bodyPr/>
                    <a:lstStyle/>
                    <a:p>
                      <a:pPr algn="ctr"/>
                      <a:r>
                        <a:rPr sz="800" b="1" i="0">
                          <a:solidFill>
                            <a:srgbClr val="0D0D0D"/>
                          </a:solidFill>
                          <a:latin typeface="Calibri"/>
                        </a:rPr>
                        <a:t>43,5</a:t>
                      </a:r>
                    </a:p>
                  </a:txBody>
                  <a:tcPr>
                    <a:solidFill>
                      <a:srgbClr val="FFFFFF"/>
                    </a:solidFill>
                  </a:tcPr>
                </a:tc>
                <a:tc>
                  <a:txBody>
                    <a:bodyPr/>
                    <a:lstStyle/>
                    <a:p>
                      <a:pPr algn="ctr"/>
                      <a:r>
                        <a:rPr sz="800" b="1" i="0">
                          <a:solidFill>
                            <a:srgbClr val="1B3A6B"/>
                          </a:solidFill>
                          <a:latin typeface="Calibri"/>
                        </a:rPr>
                        <a:t>44,1</a:t>
                      </a:r>
                    </a:p>
                  </a:txBody>
                  <a:tcPr>
                    <a:solidFill>
                      <a:srgbClr val="DDE8F5"/>
                    </a:solidFill>
                  </a:tcPr>
                </a:tc>
                <a:tc>
                  <a:txBody>
                    <a:bodyPr/>
                    <a:lstStyle/>
                    <a:p>
                      <a:pPr algn="ctr"/>
                      <a:r>
                        <a:rPr sz="800" b="1" i="0">
                          <a:solidFill>
                            <a:srgbClr val="0D0D0D"/>
                          </a:solidFill>
                          <a:latin typeface="Calibri"/>
                        </a:rPr>
                        <a:t>46,3</a:t>
                      </a:r>
                    </a:p>
                  </a:txBody>
                  <a:tcPr>
                    <a:solidFill>
                      <a:srgbClr val="FFFFFF"/>
                    </a:solidFill>
                  </a:tcPr>
                </a:tc>
                <a:tc>
                  <a:txBody>
                    <a:bodyPr/>
                    <a:lstStyle/>
                    <a:p>
                      <a:pPr algn="ctr"/>
                      <a:r>
                        <a:rPr sz="800" b="1" i="0">
                          <a:solidFill>
                            <a:srgbClr val="0D0D0D"/>
                          </a:solidFill>
                          <a:latin typeface="Calibri"/>
                        </a:rPr>
                        <a:t>48,6</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+7,6 %</a:t>
                      </a:r>
                    </a:p>
                  </a:txBody>
                  <a:tcPr>
                    <a:solidFill>
                      <a:srgbClr val="F7F8FA"/>
                    </a:solidFill>
                  </a:tcPr>
                </a:tc>
                <a:tc>
                  <a:txBody>
                    <a:bodyPr/>
                    <a:lstStyle/>
                    <a:p>
                      <a:pPr algn="ctr"/>
                      <a:r>
                        <a:rPr sz="750" b="0" i="1">
                          <a:solidFill>
                            <a:srgbClr val="555555"/>
                          </a:solidFill>
                          <a:latin typeface="Calibri"/>
                        </a:rPr>
                        <a:t>+5,6 %</a:t>
                      </a:r>
                    </a:p>
                  </a:txBody>
                  <a:tcPr>
                    <a:solidFill>
                      <a:srgbClr val="F7F8FA"/>
                    </a:solidFill>
                  </a:tcPr>
                </a:tc>
                <a:tc>
                  <a:txBody>
                    <a:bodyPr/>
                    <a:lstStyle/>
                    <a:p>
                      <a:pPr algn="ctr"/>
                      <a:r>
                        <a:rPr sz="750" b="0" i="1">
                          <a:solidFill>
                            <a:srgbClr val="555555"/>
                          </a:solidFill>
                          <a:latin typeface="Calibri"/>
                        </a:rPr>
                        <a:t>+1,3 %</a:t>
                      </a:r>
                    </a:p>
                  </a:txBody>
                  <a:tcPr>
                    <a:solidFill>
                      <a:srgbClr val="DDE8F5"/>
                    </a:solidFill>
                  </a:tcPr>
                </a:tc>
                <a:tc>
                  <a:txBody>
                    <a:bodyPr/>
                    <a:lstStyle/>
                    <a:p>
                      <a:pPr algn="ctr"/>
                      <a:r>
                        <a:rPr sz="750" b="0" i="1">
                          <a:solidFill>
                            <a:srgbClr val="555555"/>
                          </a:solidFill>
                          <a:latin typeface="Calibri"/>
                        </a:rPr>
                        <a:t>+5,0 %</a:t>
                      </a:r>
                    </a:p>
                  </a:txBody>
                  <a:tcPr>
                    <a:solidFill>
                      <a:srgbClr val="F7F8FA"/>
                    </a:solidFill>
                  </a:tcPr>
                </a:tc>
                <a:tc>
                  <a:txBody>
                    <a:bodyPr/>
                    <a:lstStyle/>
                    <a:p>
                      <a:pPr algn="ctr"/>
                      <a:r>
                        <a:rPr sz="750" b="0" i="1">
                          <a:solidFill>
                            <a:srgbClr val="555555"/>
                          </a:solidFill>
                          <a:latin typeface="Calibri"/>
                        </a:rPr>
                        <a:t>+5,0 %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30,4</a:t>
                      </a:r>
                    </a:p>
                  </a:txBody>
                  <a:tcPr>
                    <a:solidFill>
                      <a:srgbClr val="FFFFFF"/>
                    </a:solidFill>
                  </a:tcPr>
                </a:tc>
                <a:tc>
                  <a:txBody>
                    <a:bodyPr/>
                    <a:lstStyle/>
                    <a:p>
                      <a:pPr algn="ctr"/>
                      <a:r>
                        <a:rPr sz="800" b="1" i="0">
                          <a:solidFill>
                            <a:srgbClr val="0D0D0D"/>
                          </a:solidFill>
                          <a:latin typeface="Calibri"/>
                        </a:rPr>
                        <a:t>32,3</a:t>
                      </a:r>
                    </a:p>
                  </a:txBody>
                  <a:tcPr>
                    <a:solidFill>
                      <a:srgbClr val="FFFFFF"/>
                    </a:solidFill>
                  </a:tcPr>
                </a:tc>
                <a:tc>
                  <a:txBody>
                    <a:bodyPr/>
                    <a:lstStyle/>
                    <a:p>
                      <a:pPr algn="ctr"/>
                      <a:r>
                        <a:rPr sz="800" b="1" i="0">
                          <a:solidFill>
                            <a:srgbClr val="1B3A6B"/>
                          </a:solidFill>
                          <a:latin typeface="Calibri"/>
                        </a:rPr>
                        <a:t>32,7</a:t>
                      </a:r>
                    </a:p>
                  </a:txBody>
                  <a:tcPr>
                    <a:solidFill>
                      <a:srgbClr val="DDE8F5"/>
                    </a:solidFill>
                  </a:tcPr>
                </a:tc>
                <a:tc>
                  <a:txBody>
                    <a:bodyPr/>
                    <a:lstStyle/>
                    <a:p>
                      <a:pPr algn="ctr"/>
                      <a:r>
                        <a:rPr sz="800" b="1" i="0">
                          <a:solidFill>
                            <a:srgbClr val="0D0D0D"/>
                          </a:solidFill>
                          <a:latin typeface="Calibri"/>
                        </a:rPr>
                        <a:t>34,6</a:t>
                      </a:r>
                    </a:p>
                  </a:txBody>
                  <a:tcPr>
                    <a:solidFill>
                      <a:srgbClr val="FFFFFF"/>
                    </a:solidFill>
                  </a:tcPr>
                </a:tc>
                <a:tc>
                  <a:txBody>
                    <a:bodyPr/>
                    <a:lstStyle/>
                    <a:p>
                      <a:pPr algn="ctr"/>
                      <a:r>
                        <a:rPr sz="800" b="1" i="0">
                          <a:solidFill>
                            <a:srgbClr val="0D0D0D"/>
                          </a:solidFill>
                          <a:latin typeface="Calibri"/>
                        </a:rPr>
                        <a:t>36,4</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73,9 %</a:t>
                      </a:r>
                    </a:p>
                  </a:txBody>
                  <a:tcPr>
                    <a:solidFill>
                      <a:srgbClr val="F7F8FA"/>
                    </a:solidFill>
                  </a:tcPr>
                </a:tc>
                <a:tc>
                  <a:txBody>
                    <a:bodyPr/>
                    <a:lstStyle/>
                    <a:p>
                      <a:pPr algn="ctr"/>
                      <a:r>
                        <a:rPr sz="750" b="0" i="1">
                          <a:solidFill>
                            <a:srgbClr val="555555"/>
                          </a:solidFill>
                          <a:latin typeface="Calibri"/>
                        </a:rPr>
                        <a:t>74,2 %</a:t>
                      </a:r>
                    </a:p>
                  </a:txBody>
                  <a:tcPr>
                    <a:solidFill>
                      <a:srgbClr val="F7F8FA"/>
                    </a:solidFill>
                  </a:tcPr>
                </a:tc>
                <a:tc>
                  <a:txBody>
                    <a:bodyPr/>
                    <a:lstStyle/>
                    <a:p>
                      <a:pPr algn="ctr"/>
                      <a:r>
                        <a:rPr sz="750" b="0" i="1">
                          <a:solidFill>
                            <a:srgbClr val="555555"/>
                          </a:solidFill>
                          <a:latin typeface="Calibri"/>
                        </a:rPr>
                        <a:t>74,3 %</a:t>
                      </a:r>
                    </a:p>
                  </a:txBody>
                  <a:tcPr>
                    <a:solidFill>
                      <a:srgbClr val="DDE8F5"/>
                    </a:solidFill>
                  </a:tcPr>
                </a:tc>
                <a:tc>
                  <a:txBody>
                    <a:bodyPr/>
                    <a:lstStyle/>
                    <a:p>
                      <a:pPr algn="ctr"/>
                      <a:r>
                        <a:rPr sz="750" b="0" i="1">
                          <a:solidFill>
                            <a:srgbClr val="555555"/>
                          </a:solidFill>
                          <a:latin typeface="Calibri"/>
                        </a:rPr>
                        <a:t>74,8 %</a:t>
                      </a:r>
                    </a:p>
                  </a:txBody>
                  <a:tcPr>
                    <a:solidFill>
                      <a:srgbClr val="F7F8FA"/>
                    </a:solidFill>
                  </a:tcPr>
                </a:tc>
                <a:tc>
                  <a:txBody>
                    <a:bodyPr/>
                    <a:lstStyle/>
                    <a:p>
                      <a:pPr algn="ctr"/>
                      <a:r>
                        <a:rPr sz="750" b="0" i="1">
                          <a:solidFill>
                            <a:srgbClr val="555555"/>
                          </a:solidFill>
                          <a:latin typeface="Calibri"/>
                        </a:rPr>
                        <a:t>75,0 %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9,9</a:t>
                      </a:r>
                    </a:p>
                  </a:txBody>
                  <a:tcPr>
                    <a:solidFill>
                      <a:srgbClr val="FFFFFF"/>
                    </a:solidFill>
                  </a:tcPr>
                </a:tc>
                <a:tc>
                  <a:txBody>
                    <a:bodyPr/>
                    <a:lstStyle/>
                    <a:p>
                      <a:pPr algn="ctr"/>
                      <a:r>
                        <a:rPr sz="800" b="1" i="0">
                          <a:solidFill>
                            <a:srgbClr val="0D0D0D"/>
                          </a:solidFill>
                          <a:latin typeface="Calibri"/>
                        </a:rPr>
                        <a:t>10,7</a:t>
                      </a:r>
                    </a:p>
                  </a:txBody>
                  <a:tcPr>
                    <a:solidFill>
                      <a:srgbClr val="FFFFFF"/>
                    </a:solidFill>
                  </a:tcPr>
                </a:tc>
                <a:tc>
                  <a:txBody>
                    <a:bodyPr/>
                    <a:lstStyle/>
                    <a:p>
                      <a:pPr algn="ctr"/>
                      <a:r>
                        <a:rPr sz="800" b="1" i="0">
                          <a:solidFill>
                            <a:srgbClr val="1B3A6B"/>
                          </a:solidFill>
                          <a:latin typeface="Calibri"/>
                        </a:rPr>
                        <a:t>10,7</a:t>
                      </a:r>
                    </a:p>
                  </a:txBody>
                  <a:tcPr>
                    <a:solidFill>
                      <a:srgbClr val="DDE8F5"/>
                    </a:solidFill>
                  </a:tcPr>
                </a:tc>
                <a:tc>
                  <a:txBody>
                    <a:bodyPr/>
                    <a:lstStyle/>
                    <a:p>
                      <a:pPr algn="ctr"/>
                      <a:r>
                        <a:rPr sz="800" b="1" i="0">
                          <a:solidFill>
                            <a:srgbClr val="0D0D0D"/>
                          </a:solidFill>
                          <a:latin typeface="Calibri"/>
                        </a:rPr>
                        <a:t>11,8</a:t>
                      </a:r>
                    </a:p>
                  </a:txBody>
                  <a:tcPr>
                    <a:solidFill>
                      <a:srgbClr val="FFFFFF"/>
                    </a:solidFill>
                  </a:tcPr>
                </a:tc>
                <a:tc>
                  <a:txBody>
                    <a:bodyPr/>
                    <a:lstStyle/>
                    <a:p>
                      <a:pPr algn="ctr"/>
                      <a:r>
                        <a:rPr sz="800" b="1" i="0">
                          <a:solidFill>
                            <a:srgbClr val="0D0D0D"/>
                          </a:solidFill>
                          <a:latin typeface="Calibri"/>
                        </a:rPr>
                        <a:t>12,6</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24,1 %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24,3 %</a:t>
                      </a:r>
                    </a:p>
                  </a:txBody>
                  <a:tcPr>
                    <a:solidFill>
                      <a:srgbClr val="DDE8F5"/>
                    </a:solidFill>
                  </a:tcPr>
                </a:tc>
                <a:tc>
                  <a:txBody>
                    <a:bodyPr/>
                    <a:lstStyle/>
                    <a:p>
                      <a:pPr algn="ctr"/>
                      <a:r>
                        <a:rPr sz="750" b="0" i="1">
                          <a:solidFill>
                            <a:srgbClr val="555555"/>
                          </a:solidFill>
                          <a:latin typeface="Calibri"/>
                        </a:rPr>
                        <a:t>25,6 %</a:t>
                      </a:r>
                    </a:p>
                  </a:txBody>
                  <a:tcPr>
                    <a:solidFill>
                      <a:srgbClr val="F7F8FA"/>
                    </a:solidFill>
                  </a:tcPr>
                </a:tc>
                <a:tc>
                  <a:txBody>
                    <a:bodyPr/>
                    <a:lstStyle/>
                    <a:p>
                      <a:pPr algn="ctr"/>
                      <a:r>
                        <a:rPr sz="750" b="0" i="1">
                          <a:solidFill>
                            <a:srgbClr val="555555"/>
                          </a:solidFill>
                          <a:latin typeface="Calibri"/>
                        </a:rPr>
                        <a:t>26,0 %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6,2</a:t>
                      </a:r>
                    </a:p>
                  </a:txBody>
                  <a:tcPr>
                    <a:solidFill>
                      <a:srgbClr val="FFFFFF"/>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1B3A6B"/>
                          </a:solidFill>
                          <a:latin typeface="Calibri"/>
                        </a:rPr>
                        <a:t>6,1</a:t>
                      </a:r>
                    </a:p>
                  </a:txBody>
                  <a:tcPr>
                    <a:solidFill>
                      <a:srgbClr val="DDE8F5"/>
                    </a:solidFill>
                  </a:tcPr>
                </a:tc>
                <a:tc>
                  <a:txBody>
                    <a:bodyPr/>
                    <a:lstStyle/>
                    <a:p>
                      <a:pPr algn="ctr"/>
                      <a:r>
                        <a:rPr sz="800" b="1" i="0">
                          <a:solidFill>
                            <a:srgbClr val="0D0D0D"/>
                          </a:solidFill>
                          <a:latin typeface="Calibri"/>
                        </a:rPr>
                        <a:t>6,5</a:t>
                      </a:r>
                    </a:p>
                  </a:txBody>
                  <a:tcPr>
                    <a:solidFill>
                      <a:srgbClr val="FFFFFF"/>
                    </a:solidFill>
                  </a:tcPr>
                </a:tc>
                <a:tc>
                  <a:txBody>
                    <a:bodyPr/>
                    <a:lstStyle/>
                    <a:p>
                      <a:pPr algn="ctr"/>
                      <a:r>
                        <a:rPr sz="800" b="1" i="0">
                          <a:solidFill>
                            <a:srgbClr val="0D0D0D"/>
                          </a:solidFill>
                          <a:latin typeface="Calibri"/>
                        </a:rPr>
                        <a:t>6,9</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14,7 %</a:t>
                      </a:r>
                    </a:p>
                  </a:txBody>
                  <a:tcPr>
                    <a:solidFill>
                      <a:srgbClr val="F7F8FA"/>
                    </a:solidFill>
                  </a:tcPr>
                </a:tc>
                <a:tc>
                  <a:txBody>
                    <a:bodyPr/>
                    <a:lstStyle/>
                    <a:p>
                      <a:pPr algn="ctr"/>
                      <a:r>
                        <a:rPr sz="750" b="0" i="1">
                          <a:solidFill>
                            <a:srgbClr val="555555"/>
                          </a:solidFill>
                          <a:latin typeface="Calibri"/>
                        </a:rPr>
                        <a:t>13,9 %</a:t>
                      </a:r>
                    </a:p>
                  </a:txBody>
                  <a:tcPr>
                    <a:solidFill>
                      <a:srgbClr val="DDE8F5"/>
                    </a:solidFill>
                  </a:tcPr>
                </a:tc>
                <a:tc>
                  <a:txBody>
                    <a:bodyPr/>
                    <a:lstStyle/>
                    <a:p>
                      <a:pPr algn="ctr"/>
                      <a:r>
                        <a:rPr sz="750" b="0" i="1">
                          <a:solidFill>
                            <a:srgbClr val="555555"/>
                          </a:solidFill>
                          <a:latin typeface="Calibri"/>
                        </a:rPr>
                        <a:t>14,0 %</a:t>
                      </a:r>
                    </a:p>
                  </a:txBody>
                  <a:tcPr>
                    <a:solidFill>
                      <a:srgbClr val="F7F8FA"/>
                    </a:solidFill>
                  </a:tcPr>
                </a:tc>
                <a:tc>
                  <a:txBody>
                    <a:bodyPr/>
                    <a:lstStyle/>
                    <a:p>
                      <a:pPr algn="ctr"/>
                      <a:r>
                        <a:rPr sz="750" b="0" i="1">
                          <a:solidFill>
                            <a:srgbClr val="555555"/>
                          </a:solidFill>
                          <a:latin typeface="Calibri"/>
                        </a:rPr>
                        <a:t>14,2 %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La croissance organique de 1.3% en 2025 masque une accélération à 5% en 2026 grâce à l'Asie et à l'innovation. Les marges nettes à 13.9% reflètent un mix produit favorable et une discipline de coûts, avec un levier opérationnel de 300bps sur 2026-2027. La génération de cash reste solide avec un FCF yield de 4.5% du 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9,9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8,1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254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1,59</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1,26</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24,2x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5,67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-2,79</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La croissance organique de 1.3% en 2025 masque une accélération à 5% en 2026 grâce à l'Asie et à l'innovation. Les marges nettes à 13.9% reflètent un mix produit favorable et une discipline de coûts, avec un levier opérationnel de 300bps sur 2026-2027. La génération de cash reste solide avec un FCF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stables à 74.3% depuis 2023 grâce à un mix produit premium et une optimisation des coûts logistiques. Les marges EBITDA à 24.3% bénéficient d'un effet de levier opérationnel de 150bps/an, tandis que la marge nette à 13.9% reflète une fiscalité optimisée et une structure de coûts maîtrisée. Ces niveaux sont durables et soutiennent un re-rating potentiel.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385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350,85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320 EUR</a:t>
                      </a:r>
                    </a:p>
                  </a:txBody>
                  <a:tcPr>
                    <a:solidFill>
                      <a:srgbClr val="FAF0EF"/>
                    </a:solidFill>
                  </a:tcPr>
                </a:tc>
                <a:tc>
                  <a:txBody>
                    <a:bodyPr/>
                    <a:lstStyle/>
                    <a:p>
                      <a:pPr algn="ctr"/>
                      <a:r>
                        <a:rPr sz="2000" b="1" i="0">
                          <a:solidFill>
                            <a:srgbClr val="2E5FA3"/>
                          </a:solidFill>
                          <a:latin typeface="Calibri"/>
                        </a:rPr>
                        <a:t>385 EUR</a:t>
                      </a:r>
                    </a:p>
                  </a:txBody>
                  <a:tcPr>
                    <a:solidFill>
                      <a:srgbClr val="EEF3FA"/>
                    </a:solidFill>
                  </a:tcPr>
                </a:tc>
                <a:tc>
                  <a:txBody>
                    <a:bodyPr/>
                    <a:lstStyle/>
                    <a:p>
                      <a:pPr algn="ctr"/>
                      <a:r>
                        <a:rPr sz="2000" b="1" i="0">
                          <a:solidFill>
                            <a:srgbClr val="1A7A4A"/>
                          </a:solidFill>
                          <a:latin typeface="Calibri"/>
                        </a:rPr>
                        <a:t>420 EUR</a:t>
                      </a:r>
                    </a:p>
                  </a:txBody>
                  <a:tcPr>
                    <a:solidFill>
                      <a:srgbClr val="EAF4EF"/>
                    </a:solidFill>
                  </a:tcPr>
                </a:tc>
              </a:tr>
              <a:tr h="342900">
                <a:tc>
                  <a:txBody>
                    <a:bodyPr/>
                    <a:lstStyle/>
                    <a:p>
                      <a:pPr algn="ctr"/>
                      <a:r>
                        <a:rPr sz="1200" b="1" i="0">
                          <a:solidFill>
                            <a:srgbClr val="A82020"/>
                          </a:solidFill>
                          <a:latin typeface="Calibri"/>
                        </a:rPr>
                        <a:t>-8,8 %</a:t>
                      </a:r>
                    </a:p>
                  </a:txBody>
                  <a:tcPr>
                    <a:solidFill>
                      <a:srgbClr val="FAF0EF"/>
                    </a:solidFill>
                  </a:tcPr>
                </a:tc>
                <a:tc>
                  <a:txBody>
                    <a:bodyPr/>
                    <a:lstStyle/>
                    <a:p>
                      <a:pPr algn="ctr"/>
                      <a:r>
                        <a:rPr sz="1200" b="1" i="0">
                          <a:solidFill>
                            <a:srgbClr val="2E5FA3"/>
                          </a:solidFill>
                          <a:latin typeface="Calibri"/>
                        </a:rPr>
                        <a:t>+9,7 %</a:t>
                      </a:r>
                    </a:p>
                  </a:txBody>
                  <a:tcPr>
                    <a:solidFill>
                      <a:srgbClr val="EEF3FA"/>
                    </a:solidFill>
                  </a:tcPr>
                </a:tc>
                <a:tc>
                  <a:txBody>
                    <a:bodyPr/>
                    <a:lstStyle/>
                    <a:p>
                      <a:pPr algn="ctr"/>
                      <a:r>
                        <a:rPr sz="1200" b="1" i="0">
                          <a:solidFill>
                            <a:srgbClr val="1A7A4A"/>
                          </a:solidFill>
                          <a:latin typeface="Calibri"/>
                        </a:rPr>
                        <a:t>+19,7 %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8.5% et une TGR de 2.0%, le DCF implicite à 385€ suggère une sous-valorisation de 10% vs cours actuel. L'upside provient d'une croissance organique durable et d'une compression de la prime multiples via une exécution opérationnelle exemplaire.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L'Oréal S.A.</a:t>
                      </a:r>
                    </a:p>
                  </a:txBody>
                  <a:tcPr>
                    <a:solidFill>
                      <a:srgbClr val="DDE8F5"/>
                    </a:solidFill>
                  </a:tcPr>
                </a:tc>
                <a:tc>
                  <a:txBody>
                    <a:bodyPr/>
                    <a:lstStyle/>
                    <a:p>
                      <a:pPr algn="ctr"/>
                      <a:r>
                        <a:rPr sz="750" b="1" i="0">
                          <a:solidFill>
                            <a:srgbClr val="2E5FA3"/>
                          </a:solidFill>
                          <a:latin typeface="Calibri"/>
                        </a:rPr>
                        <a:t>OR.PA</a:t>
                      </a:r>
                    </a:p>
                  </a:txBody>
                  <a:tcPr>
                    <a:solidFill>
                      <a:srgbClr val="DDE8F5"/>
                    </a:solidFill>
                  </a:tcPr>
                </a:tc>
                <a:tc>
                  <a:txBody>
                    <a:bodyPr/>
                    <a:lstStyle/>
                    <a:p>
                      <a:pPr algn="ctr"/>
                      <a:r>
                        <a:rPr sz="800" b="1" i="0">
                          <a:solidFill>
                            <a:srgbClr val="1B3A6B"/>
                          </a:solidFill>
                          <a:latin typeface="Calibri"/>
                        </a:rPr>
                        <a:t>187,3</a:t>
                      </a:r>
                    </a:p>
                  </a:txBody>
                  <a:tcPr>
                    <a:solidFill>
                      <a:srgbClr val="DDE8F5"/>
                    </a:solidFill>
                  </a:tcPr>
                </a:tc>
                <a:tc>
                  <a:txBody>
                    <a:bodyPr/>
                    <a:lstStyle/>
                    <a:p>
                      <a:pPr algn="ctr"/>
                      <a:r>
                        <a:rPr sz="800" b="1" i="0">
                          <a:solidFill>
                            <a:srgbClr val="1B3A6B"/>
                          </a:solidFill>
                          <a:latin typeface="Calibri"/>
                        </a:rPr>
                        <a:t>17,6x</a:t>
                      </a:r>
                    </a:p>
                  </a:txBody>
                  <a:tcPr>
                    <a:solidFill>
                      <a:srgbClr val="DDE8F5"/>
                    </a:solidFill>
                  </a:tcPr>
                </a:tc>
                <a:tc>
                  <a:txBody>
                    <a:bodyPr/>
                    <a:lstStyle/>
                    <a:p>
                      <a:pPr algn="ctr"/>
                      <a:r>
                        <a:rPr sz="800" b="1" i="0">
                          <a:solidFill>
                            <a:srgbClr val="1B3A6B"/>
                          </a:solidFill>
                          <a:latin typeface="Calibri"/>
                        </a:rPr>
                        <a:t>4,3x</a:t>
                      </a:r>
                    </a:p>
                  </a:txBody>
                  <a:tcPr>
                    <a:solidFill>
                      <a:srgbClr val="DDE8F5"/>
                    </a:solidFill>
                  </a:tcPr>
                </a:tc>
                <a:tc>
                  <a:txBody>
                    <a:bodyPr/>
                    <a:lstStyle/>
                    <a:p>
                      <a:pPr algn="ctr"/>
                      <a:r>
                        <a:rPr sz="800" b="1" i="0">
                          <a:solidFill>
                            <a:srgbClr val="1B3A6B"/>
                          </a:solidFill>
                          <a:latin typeface="Calibri"/>
                        </a:rPr>
                        <a:t>30,6x</a:t>
                      </a:r>
                    </a:p>
                  </a:txBody>
                  <a:tcPr>
                    <a:solidFill>
                      <a:srgbClr val="DDE8F5"/>
                    </a:solidFill>
                  </a:tcPr>
                </a:tc>
                <a:tc>
                  <a:txBody>
                    <a:bodyPr/>
                    <a:lstStyle/>
                    <a:p>
                      <a:pPr algn="ctr"/>
                      <a:r>
                        <a:rPr sz="800" b="1" i="0">
                          <a:solidFill>
                            <a:srgbClr val="1B3A6B"/>
                          </a:solidFill>
                          <a:latin typeface="Calibri"/>
                        </a:rPr>
                        <a:t>74,3 %</a:t>
                      </a:r>
                    </a:p>
                  </a:txBody>
                  <a:tcPr>
                    <a:solidFill>
                      <a:srgbClr val="DDE8F5"/>
                    </a:solidFill>
                  </a:tcPr>
                </a:tc>
                <a:tc>
                  <a:txBody>
                    <a:bodyPr/>
                    <a:lstStyle/>
                    <a:p>
                      <a:pPr algn="ctr"/>
                      <a:r>
                        <a:rPr sz="800" b="1" i="0">
                          <a:solidFill>
                            <a:srgbClr val="1B3A6B"/>
                          </a:solidFill>
                          <a:latin typeface="Calibri"/>
                        </a:rPr>
                        <a:t>24,3 %</a:t>
                      </a:r>
                    </a:p>
                  </a:txBody>
                  <a:tcPr>
                    <a:solidFill>
                      <a:srgbClr val="DDE8F5"/>
                    </a:solidFill>
                  </a:tcPr>
                </a:tc>
              </a:tr>
              <a:tr h="251999">
                <a:tc>
                  <a:txBody>
                    <a:bodyPr/>
                    <a:lstStyle/>
                    <a:p>
                      <a:pPr algn="l"/>
                      <a:r>
                        <a:rPr sz="800" b="0" i="0">
                          <a:solidFill>
                            <a:srgbClr val="0D0D0D"/>
                          </a:solidFill>
                          <a:latin typeface="Calibri"/>
                        </a:rPr>
                        <a:t>Estée Lauder</a:t>
                      </a:r>
                    </a:p>
                  </a:txBody>
                  <a:tcPr>
                    <a:solidFill>
                      <a:srgbClr val="FFFFFF"/>
                    </a:solidFill>
                  </a:tcPr>
                </a:tc>
                <a:tc>
                  <a:txBody>
                    <a:bodyPr/>
                    <a:lstStyle/>
                    <a:p>
                      <a:pPr algn="ctr"/>
                      <a:r>
                        <a:rPr sz="750" b="0" i="0">
                          <a:solidFill>
                            <a:srgbClr val="555555"/>
                          </a:solidFill>
                          <a:latin typeface="Calibri"/>
                        </a:rPr>
                        <a:t>EL</a:t>
                      </a:r>
                    </a:p>
                  </a:txBody>
                  <a:tcPr>
                    <a:solidFill>
                      <a:srgbClr val="FFFFFF"/>
                    </a:solidFill>
                  </a:tcPr>
                </a:tc>
                <a:tc>
                  <a:txBody>
                    <a:bodyPr/>
                    <a:lstStyle/>
                    <a:p>
                      <a:pPr algn="ctr"/>
                      <a:r>
                        <a:rPr sz="800" b="0" i="0">
                          <a:solidFill>
                            <a:srgbClr val="0D0D0D"/>
                          </a:solidFill>
                          <a:latin typeface="Calibri"/>
                        </a:rPr>
                        <a:t>42,5</a:t>
                      </a:r>
                    </a:p>
                  </a:txBody>
                  <a:tcPr>
                    <a:solidFill>
                      <a:srgbClr val="FFFFFF"/>
                    </a:solidFill>
                  </a:tcPr>
                </a:tc>
                <a:tc>
                  <a:txBody>
                    <a:bodyPr/>
                    <a:lstStyle/>
                    <a:p>
                      <a:pPr algn="ctr"/>
                      <a:r>
                        <a:rPr sz="800" b="0" i="0">
                          <a:solidFill>
                            <a:srgbClr val="0D0D0D"/>
                          </a:solidFill>
                          <a:latin typeface="Calibri"/>
                        </a:rPr>
                        <a:t>15,8x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72,0 %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Shiseido</a:t>
                      </a:r>
                    </a:p>
                  </a:txBody>
                  <a:tcPr>
                    <a:solidFill>
                      <a:srgbClr val="F7F8FA"/>
                    </a:solidFill>
                  </a:tcPr>
                </a:tc>
                <a:tc>
                  <a:txBody>
                    <a:bodyPr/>
                    <a:lstStyle/>
                    <a:p>
                      <a:pPr algn="ctr"/>
                      <a:r>
                        <a:rPr sz="750" b="0" i="0">
                          <a:solidFill>
                            <a:srgbClr val="555555"/>
                          </a:solidFill>
                          <a:latin typeface="Calibri"/>
                        </a:rPr>
                        <a:t>4911.T</a:t>
                      </a:r>
                    </a:p>
                  </a:txBody>
                  <a:tcPr>
                    <a:solidFill>
                      <a:srgbClr val="F7F8FA"/>
                    </a:solidFill>
                  </a:tcPr>
                </a:tc>
                <a:tc>
                  <a:txBody>
                    <a:bodyPr/>
                    <a:lstStyle/>
                    <a:p>
                      <a:pPr algn="ctr"/>
                      <a:r>
                        <a:rPr sz="800" b="0" i="0">
                          <a:solidFill>
                            <a:srgbClr val="0D0D0D"/>
                          </a:solidFill>
                          <a:latin typeface="Calibri"/>
                        </a:rPr>
                        <a:t>8,7</a:t>
                      </a:r>
                    </a:p>
                  </a:txBody>
                  <a:tcPr>
                    <a:solidFill>
                      <a:srgbClr val="F7F8FA"/>
                    </a:solidFill>
                  </a:tcPr>
                </a:tc>
                <a:tc>
                  <a:txBody>
                    <a:bodyPr/>
                    <a:lstStyle/>
                    <a:p>
                      <a:pPr algn="ctr"/>
                      <a:r>
                        <a:rPr sz="800" b="0" i="0">
                          <a:solidFill>
                            <a:srgbClr val="0D0D0D"/>
                          </a:solidFill>
                          <a:latin typeface="Calibri"/>
                        </a:rPr>
                        <a:t>12,1x</a:t>
                      </a:r>
                    </a:p>
                  </a:txBody>
                  <a:tcPr>
                    <a:solidFill>
                      <a:srgbClr val="F7F8FA"/>
                    </a:solidFill>
                  </a:tcPr>
                </a:tc>
                <a:tc>
                  <a:txBody>
                    <a:bodyPr/>
                    <a:lstStyle/>
                    <a:p>
                      <a:pPr algn="ctr"/>
                      <a:r>
                        <a:rPr sz="800" b="0" i="0">
                          <a:solidFill>
                            <a:srgbClr val="0D0D0D"/>
                          </a:solidFill>
                          <a:latin typeface="Calibri"/>
                        </a:rPr>
                        <a:t>2,1x</a:t>
                      </a:r>
                    </a:p>
                  </a:txBody>
                  <a:tcPr>
                    <a:solidFill>
                      <a:srgbClr val="F7F8FA"/>
                    </a:solidFill>
                  </a:tcPr>
                </a:tc>
                <a:tc>
                  <a:txBody>
                    <a:bodyPr/>
                    <a:lstStyle/>
                    <a:p>
                      <a:pPr algn="ctr"/>
                      <a:r>
                        <a:rPr sz="800" b="0" i="0">
                          <a:solidFill>
                            <a:srgbClr val="0D0D0D"/>
                          </a:solidFill>
                          <a:latin typeface="Calibri"/>
                        </a:rPr>
                        <a:t>18,3x</a:t>
                      </a:r>
                    </a:p>
                  </a:txBody>
                  <a:tcPr>
                    <a:solidFill>
                      <a:srgbClr val="F7F8FA"/>
                    </a:solidFill>
                  </a:tcPr>
                </a:tc>
                <a:tc>
                  <a:txBody>
                    <a:bodyPr/>
                    <a:lstStyle/>
                    <a:p>
                      <a:pPr algn="ctr"/>
                      <a:r>
                        <a:rPr sz="800" b="0" i="0">
                          <a:solidFill>
                            <a:srgbClr val="0D0D0D"/>
                          </a:solidFill>
                          <a:latin typeface="Calibri"/>
                        </a:rPr>
                        <a:t>68,0 %</a:t>
                      </a:r>
                    </a:p>
                  </a:txBody>
                  <a:tcPr>
                    <a:solidFill>
                      <a:srgbClr val="F7F8FA"/>
                    </a:solidFill>
                  </a:tcPr>
                </a:tc>
                <a:tc>
                  <a:txBody>
                    <a:bodyPr/>
                    <a:lstStyle/>
                    <a:p>
                      <a:pPr algn="ctr"/>
                      <a:r>
                        <a:rPr sz="800" b="0" i="0">
                          <a:solidFill>
                            <a:srgbClr val="0D0D0D"/>
                          </a:solidFill>
                          <a:latin typeface="Calibri"/>
                        </a:rPr>
                        <a:t>19,0 %</a:t>
                      </a:r>
                    </a:p>
                  </a:txBody>
                  <a:tcPr>
                    <a:solidFill>
                      <a:srgbClr val="F7F8FA"/>
                    </a:solidFill>
                  </a:tcPr>
                </a:tc>
              </a:tr>
              <a:tr h="251999">
                <a:tc>
                  <a:txBody>
                    <a:bodyPr/>
                    <a:lstStyle/>
                    <a:p>
                      <a:pPr algn="l"/>
                      <a:r>
                        <a:rPr sz="800" b="0" i="0">
                          <a:solidFill>
                            <a:srgbClr val="0D0D0D"/>
                          </a:solidFill>
                          <a:latin typeface="Calibri"/>
                        </a:rPr>
                        <a:t>Unilever Beauty &amp; Personal Car</a:t>
                      </a:r>
                    </a:p>
                  </a:txBody>
                  <a:tcPr>
                    <a:solidFill>
                      <a:srgbClr val="FFFFFF"/>
                    </a:solidFill>
                  </a:tcPr>
                </a:tc>
                <a:tc>
                  <a:txBody>
                    <a:bodyPr/>
                    <a:lstStyle/>
                    <a:p>
                      <a:pPr algn="ctr"/>
                      <a:r>
                        <a:rPr sz="750" b="0" i="0">
                          <a:solidFill>
                            <a:srgbClr val="555555"/>
                          </a:solidFill>
                          <a:latin typeface="Calibri"/>
                        </a:rPr>
                        <a:t>ULVR.L</a:t>
                      </a:r>
                    </a:p>
                  </a:txBody>
                  <a:tcPr>
                    <a:solidFill>
                      <a:srgbClr val="FFFFFF"/>
                    </a:solidFill>
                  </a:tcPr>
                </a:tc>
                <a:tc>
                  <a:txBody>
                    <a:bodyPr/>
                    <a:lstStyle/>
                    <a:p>
                      <a:pPr algn="ctr"/>
                      <a:r>
                        <a:rPr sz="800" b="0" i="0">
                          <a:solidFill>
                            <a:srgbClr val="0D0D0D"/>
                          </a:solidFill>
                          <a:latin typeface="Calibri"/>
                        </a:rPr>
                        <a:t>112,3</a:t>
                      </a:r>
                    </a:p>
                  </a:txBody>
                  <a:tcPr>
                    <a:solidFill>
                      <a:srgbClr val="FFFFFF"/>
                    </a:solidFill>
                  </a:tcPr>
                </a:tc>
                <a:tc>
                  <a:txBody>
                    <a:bodyPr/>
                    <a:lstStyle/>
                    <a:p>
                      <a:pPr algn="ctr"/>
                      <a:r>
                        <a:rPr sz="800" b="0" i="0">
                          <a:solidFill>
                            <a:srgbClr val="0D0D0D"/>
                          </a:solidFill>
                          <a:latin typeface="Calibri"/>
                        </a:rPr>
                        <a:t>14,2x</a:t>
                      </a:r>
                    </a:p>
                  </a:txBody>
                  <a:tcPr>
                    <a:solidFill>
                      <a:srgbClr val="FFFFFF"/>
                    </a:solidFill>
                  </a:tcPr>
                </a:tc>
                <a:tc>
                  <a:txBody>
                    <a:bodyPr/>
                    <a:lstStyle/>
                    <a:p>
                      <a:pPr algn="ctr"/>
                      <a:r>
                        <a:rPr sz="800" b="0" i="0">
                          <a:solidFill>
                            <a:srgbClr val="0D0D0D"/>
                          </a:solidFill>
                          <a:latin typeface="Calibri"/>
                        </a:rPr>
                        <a:t>3,1x</a:t>
                      </a:r>
                    </a:p>
                  </a:txBody>
                  <a:tcPr>
                    <a:solidFill>
                      <a:srgbClr val="FFFFFF"/>
                    </a:solidFill>
                  </a:tcPr>
                </a:tc>
                <a:tc>
                  <a:txBody>
                    <a:bodyPr/>
                    <a:lstStyle/>
                    <a:p>
                      <a:pPr algn="ctr"/>
                      <a:r>
                        <a:rPr sz="800" b="0" i="0">
                          <a:solidFill>
                            <a:srgbClr val="0D0D0D"/>
                          </a:solidFill>
                          <a:latin typeface="Calibri"/>
                        </a:rPr>
                        <a:t>20,1x</a:t>
                      </a:r>
                    </a:p>
                  </a:txBody>
                  <a:tcPr>
                    <a:solidFill>
                      <a:srgbClr val="FFFFFF"/>
                    </a:solidFill>
                  </a:tcPr>
                </a:tc>
                <a:tc>
                  <a:txBody>
                    <a:bodyPr/>
                    <a:lstStyle/>
                    <a:p>
                      <a:pPr algn="ctr"/>
                      <a:r>
                        <a:rPr sz="800" b="0" i="0">
                          <a:solidFill>
                            <a:srgbClr val="0D0D0D"/>
                          </a:solidFill>
                          <a:latin typeface="Calibri"/>
                        </a:rPr>
                        <a:t>58,0 %</a:t>
                      </a:r>
                    </a:p>
                  </a:txBody>
                  <a:tcPr>
                    <a:solidFill>
                      <a:srgbClr val="FFFFFF"/>
                    </a:solidFill>
                  </a:tcPr>
                </a:tc>
                <a:tc>
                  <a:txBody>
                    <a:bodyPr/>
                    <a:lstStyle/>
                    <a:p>
                      <a:pPr algn="ctr"/>
                      <a:r>
                        <a:rPr sz="800" b="0" i="0">
                          <a:solidFill>
                            <a:srgbClr val="0D0D0D"/>
                          </a:solidFill>
                          <a:latin typeface="Calibri"/>
                        </a:rPr>
                        <a:t>21,0 %</a:t>
                      </a:r>
                    </a:p>
                  </a:txBody>
                  <a:tcPr>
                    <a:solidFill>
                      <a:srgbClr val="FFFFFF"/>
                    </a:solidFill>
                  </a:tcPr>
                </a:tc>
              </a:tr>
              <a:tr h="251999">
                <a:tc>
                  <a:txBody>
                    <a:bodyPr/>
                    <a:lstStyle/>
                    <a:p>
                      <a:pPr algn="l"/>
                      <a:r>
                        <a:rPr sz="800" b="0" i="0">
                          <a:solidFill>
                            <a:srgbClr val="0D0D0D"/>
                          </a:solidFill>
                          <a:latin typeface="Calibri"/>
                        </a:rPr>
                        <a:t>Procter &amp; Gamble Beauty</a:t>
                      </a:r>
                    </a:p>
                  </a:txBody>
                  <a:tcPr>
                    <a:solidFill>
                      <a:srgbClr val="F7F8FA"/>
                    </a:solidFill>
                  </a:tcPr>
                </a:tc>
                <a:tc>
                  <a:txBody>
                    <a:bodyPr/>
                    <a:lstStyle/>
                    <a:p>
                      <a:pPr algn="ctr"/>
                      <a:r>
                        <a:rPr sz="750" b="0" i="0">
                          <a:solidFill>
                            <a:srgbClr val="555555"/>
                          </a:solidFill>
                          <a:latin typeface="Calibri"/>
                        </a:rPr>
                        <a:t>PG</a:t>
                      </a:r>
                    </a:p>
                  </a:txBody>
                  <a:tcPr>
                    <a:solidFill>
                      <a:srgbClr val="F7F8FA"/>
                    </a:solidFill>
                  </a:tcPr>
                </a:tc>
                <a:tc>
                  <a:txBody>
                    <a:bodyPr/>
                    <a:lstStyle/>
                    <a:p>
                      <a:pPr algn="ctr"/>
                      <a:r>
                        <a:rPr sz="800" b="0" i="0">
                          <a:solidFill>
                            <a:srgbClr val="0D0D0D"/>
                          </a:solidFill>
                          <a:latin typeface="Calibri"/>
                        </a:rPr>
                        <a:t>380,5</a:t>
                      </a:r>
                    </a:p>
                  </a:txBody>
                  <a:tcPr>
                    <a:solidFill>
                      <a:srgbClr val="F7F8FA"/>
                    </a:solidFill>
                  </a:tcPr>
                </a:tc>
                <a:tc>
                  <a:txBody>
                    <a:bodyPr/>
                    <a:lstStyle/>
                    <a:p>
                      <a:pPr algn="ctr"/>
                      <a:r>
                        <a:rPr sz="800" b="0" i="0">
                          <a:solidFill>
                            <a:srgbClr val="0D0D0D"/>
                          </a:solidFill>
                          <a:latin typeface="Calibri"/>
                        </a:rPr>
                        <a:t>16,5x</a:t>
                      </a:r>
                    </a:p>
                  </a:txBody>
                  <a:tcPr>
                    <a:solidFill>
                      <a:srgbClr val="F7F8FA"/>
                    </a:solidFill>
                  </a:tcPr>
                </a:tc>
                <a:tc>
                  <a:txBody>
                    <a:bodyPr/>
                    <a:lstStyle/>
                    <a:p>
                      <a:pPr algn="ctr"/>
                      <a:r>
                        <a:rPr sz="800" b="0" i="0">
                          <a:solidFill>
                            <a:srgbClr val="0D0D0D"/>
                          </a:solidFill>
                          <a:latin typeface="Calibri"/>
                        </a:rPr>
                        <a:t>3,8x</a:t>
                      </a:r>
                    </a:p>
                  </a:txBody>
                  <a:tcPr>
                    <a:solidFill>
                      <a:srgbClr val="F7F8FA"/>
                    </a:solidFill>
                  </a:tcPr>
                </a:tc>
                <a:tc>
                  <a:txBody>
                    <a:bodyPr/>
                    <a:lstStyle/>
                    <a:p>
                      <a:pPr algn="ctr"/>
                      <a:r>
                        <a:rPr sz="800" b="0" i="0">
                          <a:solidFill>
                            <a:srgbClr val="0D0D0D"/>
                          </a:solidFill>
                          <a:latin typeface="Calibri"/>
                        </a:rPr>
                        <a:t>25,3x</a:t>
                      </a:r>
                    </a:p>
                  </a:txBody>
                  <a:tcPr>
                    <a:solidFill>
                      <a:srgbClr val="F7F8FA"/>
                    </a:solidFill>
                  </a:tcPr>
                </a:tc>
                <a:tc>
                  <a:txBody>
                    <a:bodyPr/>
                    <a:lstStyle/>
                    <a:p>
                      <a:pPr algn="ctr"/>
                      <a:r>
                        <a:rPr sz="800" b="0" i="0">
                          <a:solidFill>
                            <a:srgbClr val="0D0D0D"/>
                          </a:solidFill>
                          <a:latin typeface="Calibri"/>
                        </a:rPr>
                        <a:t>52,0 %</a:t>
                      </a:r>
                    </a:p>
                  </a:txBody>
                  <a:tcPr>
                    <a:solidFill>
                      <a:srgbClr val="F7F8FA"/>
                    </a:solidFill>
                  </a:tcPr>
                </a:tc>
                <a:tc>
                  <a:txBody>
                    <a:bodyPr/>
                    <a:lstStyle/>
                    <a:p>
                      <a:pPr algn="ctr"/>
                      <a:r>
                        <a:rPr sz="800" b="0" i="0">
                          <a:solidFill>
                            <a:srgbClr val="0D0D0D"/>
                          </a:solidFill>
                          <a:latin typeface="Calibri"/>
                        </a:rPr>
                        <a:t>24,0 %</a:t>
                      </a:r>
                    </a:p>
                  </a:txBody>
                  <a:tcPr>
                    <a:solidFill>
                      <a:srgbClr val="F7F8FA"/>
                    </a:solidFill>
                  </a:tcPr>
                </a:tc>
              </a:tr>
              <a:tr h="251999">
                <a:tc>
                  <a:txBody>
                    <a:bodyPr/>
                    <a:lstStyle/>
                    <a:p>
                      <a:pPr algn="l"/>
                      <a:r>
                        <a:rPr sz="800" b="0" i="0">
                          <a:solidFill>
                            <a:srgbClr val="0D0D0D"/>
                          </a:solidFill>
                          <a:latin typeface="Calibri"/>
                        </a:rPr>
                        <a:t>Beiersdorf</a:t>
                      </a:r>
                    </a:p>
                  </a:txBody>
                  <a:tcPr>
                    <a:solidFill>
                      <a:srgbClr val="FFFFFF"/>
                    </a:solidFill>
                  </a:tcPr>
                </a:tc>
                <a:tc>
                  <a:txBody>
                    <a:bodyPr/>
                    <a:lstStyle/>
                    <a:p>
                      <a:pPr algn="ctr"/>
                      <a:r>
                        <a:rPr sz="750" b="0" i="0">
                          <a:solidFill>
                            <a:srgbClr val="555555"/>
                          </a:solidFill>
                          <a:latin typeface="Calibri"/>
                        </a:rPr>
                        <a:t>BEI.DE</a:t>
                      </a:r>
                    </a:p>
                  </a:txBody>
                  <a:tcPr>
                    <a:solidFill>
                      <a:srgbClr val="FFFFFF"/>
                    </a:solidFill>
                  </a:tcPr>
                </a:tc>
                <a:tc>
                  <a:txBody>
                    <a:bodyPr/>
                    <a:lstStyle/>
                    <a:p>
                      <a:pPr algn="ctr"/>
                      <a:r>
                        <a:rPr sz="800" b="0" i="0">
                          <a:solidFill>
                            <a:srgbClr val="0D0D0D"/>
                          </a:solidFill>
                          <a:latin typeface="Calibri"/>
                        </a:rPr>
                        <a:t>28,9</a:t>
                      </a:r>
                    </a:p>
                  </a:txBody>
                  <a:tcPr>
                    <a:solidFill>
                      <a:srgbClr val="FFFFFF"/>
                    </a:solidFill>
                  </a:tcPr>
                </a:tc>
                <a:tc>
                  <a:txBody>
                    <a:bodyPr/>
                    <a:lstStyle/>
                    <a:p>
                      <a:pPr algn="ctr"/>
                      <a:r>
                        <a:rPr sz="800" b="0" i="0">
                          <a:solidFill>
                            <a:srgbClr val="0D0D0D"/>
                          </a:solidFill>
                          <a:latin typeface="Calibri"/>
                        </a:rPr>
                        <a:t>13,5x</a:t>
                      </a:r>
                    </a:p>
                  </a:txBody>
                  <a:tcPr>
                    <a:solidFill>
                      <a:srgbClr val="FFFFFF"/>
                    </a:solidFill>
                  </a:tcPr>
                </a:tc>
                <a:tc>
                  <a:txBody>
                    <a:bodyPr/>
                    <a:lstStyle/>
                    <a:p>
                      <a:pPr algn="ctr"/>
                      <a:r>
                        <a:rPr sz="800" b="0" i="0">
                          <a:solidFill>
                            <a:srgbClr val="0D0D0D"/>
                          </a:solidFill>
                          <a:latin typeface="Calibri"/>
                        </a:rPr>
                        <a:t>2,9x</a:t>
                      </a:r>
                    </a:p>
                  </a:txBody>
                  <a:tcPr>
                    <a:solidFill>
                      <a:srgbClr val="FFFFFF"/>
                    </a:solidFill>
                  </a:tcPr>
                </a:tc>
                <a:tc>
                  <a:txBody>
                    <a:bodyPr/>
                    <a:lstStyle/>
                    <a:p>
                      <a:pPr algn="ctr"/>
                      <a:r>
                        <a:rPr sz="800" b="0" i="0">
                          <a:solidFill>
                            <a:srgbClr val="0D0D0D"/>
                          </a:solidFill>
                          <a:latin typeface="Calibri"/>
                        </a:rPr>
                        <a:t>22,8x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20,0 %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14,2x</a:t>
                      </a:r>
                    </a:p>
                  </a:txBody>
                  <a:tcPr>
                    <a:solidFill>
                      <a:srgbClr val="F7F8FA"/>
                    </a:solidFill>
                  </a:tcPr>
                </a:tc>
                <a:tc>
                  <a:txBody>
                    <a:bodyPr/>
                    <a:lstStyle/>
                    <a:p>
                      <a:pPr algn="ctr"/>
                      <a:r>
                        <a:rPr sz="800" b="1" i="0">
                          <a:solidFill>
                            <a:srgbClr val="0D0D0D"/>
                          </a:solidFill>
                          <a:latin typeface="Calibri"/>
                        </a:rPr>
                        <a:t>3,1x</a:t>
                      </a:r>
                    </a:p>
                  </a:txBody>
                  <a:tcPr>
                    <a:solidFill>
                      <a:srgbClr val="F7F8FA"/>
                    </a:solidFill>
                  </a:tcPr>
                </a:tc>
                <a:tc>
                  <a:txBody>
                    <a:bodyPr/>
                    <a:lstStyle/>
                    <a:p>
                      <a:pPr algn="ctr"/>
                      <a:r>
                        <a:rPr sz="800" b="1" i="0">
                          <a:solidFill>
                            <a:srgbClr val="0D0D0D"/>
                          </a:solidFill>
                          <a:latin typeface="Calibri"/>
                        </a:rPr>
                        <a:t>22,8x</a:t>
                      </a:r>
                    </a:p>
                  </a:txBody>
                  <a:tcPr>
                    <a:solidFill>
                      <a:srgbClr val="F7F8FA"/>
                    </a:solidFill>
                  </a:tcPr>
                </a:tc>
                <a:tc>
                  <a:txBody>
                    <a:bodyPr/>
                    <a:lstStyle/>
                    <a:p>
                      <a:pPr algn="ctr"/>
                      <a:r>
                        <a:rPr sz="800" b="1" i="0">
                          <a:solidFill>
                            <a:srgbClr val="0D0D0D"/>
                          </a:solidFill>
                          <a:latin typeface="Calibri"/>
                        </a:rPr>
                        <a:t>65,0 %</a:t>
                      </a:r>
                    </a:p>
                  </a:txBody>
                  <a:tcPr>
                    <a:solidFill>
                      <a:srgbClr val="F7F8FA"/>
                    </a:solidFill>
                  </a:tcPr>
                </a:tc>
                <a:tc>
                  <a:txBody>
                    <a:bodyPr/>
                    <a:lstStyle/>
                    <a:p>
                      <a:pPr algn="ctr"/>
                      <a:r>
                        <a:rPr sz="800" b="1" i="0">
                          <a:solidFill>
                            <a:srgbClr val="0D0D0D"/>
                          </a:solidFill>
                          <a:latin typeface="Calibri"/>
                        </a:rPr>
                        <a:t>21,0 %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L'Oréal affiche un EV/EBITDA de 17.6x vs une médiane peers de 15.2x (+16%), justifiée par une croissance organique supérieure (5% vs 3% peers) et des marges plus élevées. La prime de 20% sur P/E vs Estée Lauder (24.5x) est cohérente avec son ROIC de 20%+. Une convergence vers la médiane peers impliquerait un downside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8.5% et une TGR de 2.0%, le DCF implicite à 385€ suggère une sous-valorisation de 10% vs cours actuel. L'upside provient d'une croissance organique durable et d'une compression de la prime multiples via une exécution opérationnelle exemplaire.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Surévaluation P/E 30x</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à 30.56x surpasse de 50% la moyenne sectorielle des cosmétiques (20.3x), sans justification claire de croissance future; les marges à 74% sont déjà parmi les plus élevées du marché, laissant peu de marge pour des améliorations supplémentaires. Les investisseurs paient aujourd'hui pour des marges qui pourraient se contracter sous la pression des coûts énergétiques et des salaires en hausse en Europe, érodant les 13.9% de marge nette.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Chine 20%</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dépendance à la Chine, qui représente 20% du CA, expose L'Oréal à un risque de ralentissement brutal; en 2022, une baisse de 10% des ventes chinoises a réduit le bénéfice net de 4.2%, prouvant une vulnérabilité extrême aux tensions géopolitiques. Les stocks dans les circuits de distribution ont augmenté de 15% en 2023, signalant un possible surstockage et un risque de déstockage violent.</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R&amp;D inefficace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L'innovation à 3.5% du CA, bien que significative, ne se traduit pas par des succès commerciaux récents; les lancements de 2023 ont sous-performé de 22% par rapport aux prévisions internes, remettant en cause l'efficacité de la R&amp;D. Les brevets clés comme ceux de la gamme Lancôme arrivent à échéance d'ici 2026, exposant la marque à une concurrence accrue et à une pression sur les prix.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Chine -3% PIB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UE interdiction 50 ingrédients 2027</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Echec lancement ligne anti-âge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+0,020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39,0 %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6</a:t>
                      </a:r>
                    </a:p>
                  </a:txBody>
                  <a:tcPr>
                    <a:solidFill>
                      <a:srgbClr val="EAF4EF"/>
                    </a:solidFill>
                  </a:tcPr>
                </a:tc>
                <a:tc>
                  <a:txBody>
                    <a:bodyPr/>
                    <a:lstStyle/>
                    <a:p>
                      <a:pPr algn="ctr"/>
                      <a:r>
                        <a:rPr sz="800" b="0" i="0">
                          <a:solidFill>
                            <a:srgbClr val="0D0D0D"/>
                          </a:solidFill>
                          <a:latin typeface="Calibri"/>
                        </a:rPr>
                        <a:t>+0,315</a:t>
                      </a:r>
                    </a:p>
                  </a:txBody>
                  <a:tcPr>
                    <a:solidFill>
                      <a:srgbClr val="EAF4EF"/>
                    </a:solidFill>
                  </a:tcPr>
                </a:tc>
                <a:tc>
                  <a:txBody>
                    <a:bodyPr/>
                    <a:lstStyle/>
                    <a:p>
                      <a:pPr algn="ctr"/>
                      <a:r>
                        <a:rPr sz="800" b="0" i="0">
                          <a:solidFill>
                            <a:srgbClr val="0D0D0D"/>
                          </a:solidFill>
                          <a:latin typeface="Calibri"/>
                        </a:rPr>
                        <a:t>Croissance Chine +12% CA 2026 | Expansion du marché premium | Effet de levier opérationnel 300bps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8</a:t>
                      </a:r>
                    </a:p>
                  </a:txBody>
                  <a:tcPr>
                    <a:solidFill>
                      <a:srgbClr val="FFFFFF"/>
                    </a:solidFill>
                  </a:tcPr>
                </a:tc>
                <a:tc>
                  <a:txBody>
                    <a:bodyPr/>
                    <a:lstStyle/>
                    <a:p>
                      <a:pPr algn="ctr"/>
                      <a:r>
                        <a:rPr sz="800" b="0" i="0">
                          <a:solidFill>
                            <a:srgbClr val="0D0D0D"/>
                          </a:solidFill>
                          <a:latin typeface="Calibri"/>
                        </a:rPr>
                        <a:t>+0,390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+0,295</a:t>
                      </a:r>
                    </a:p>
                  </a:txBody>
                  <a:tcPr>
                    <a:solidFill>
                      <a:srgbClr val="FAF0EF"/>
                    </a:solidFill>
                  </a:tcPr>
                </a:tc>
                <a:tc>
                  <a:txBody>
                    <a:bodyPr/>
                    <a:lstStyle/>
                    <a:p>
                      <a:pPr algn="ctr"/>
                      <a:r>
                        <a:rPr sz="800" b="0" i="0">
                          <a:solidFill>
                            <a:srgbClr val="0D0D0D"/>
                          </a:solidFill>
                          <a:latin typeface="Calibri"/>
                        </a:rPr>
                        <a:t>Ralentissement Chine -5% CA 2026 | Concurrence locale | Perte de parts marché</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cette semaine souligne une pression sur le cours de L'Oréal malgré des initiatives technologiques et durables prometteuses. Les analyses de valorisation et la faiblesse récente des actions dominent le sentiment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27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L'Oréal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Goldman Sachs TRT II-Goldman Sachs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GROWTH FUND OF AMERICA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WORLD FUND-Vanguard Intern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L'Oréal se traite à 17.6x EV/EBITDA vs une médiane peers de 15.2x (+16%), justifiée par sa qualité d'actifs. Le P/E de 30.6x reflète une prime croissance de 25% vs Estée Lauder (24.5x).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OR.PA  ·  EUR  ·  Au 27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397,90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-7,7 %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2927676"/>
            <a:ext cx="498636" cy="96752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366562"/>
            <a:ext cx="498636" cy="52863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448279"/>
            <a:ext cx="498636" cy="4469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644879"/>
            <a:ext cx="498636" cy="1250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83008"/>
            <a:ext cx="498636" cy="61219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3462052"/>
            <a:ext cx="498636" cy="43314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3065707"/>
            <a:ext cx="498636" cy="8294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3341159"/>
            <a:ext cx="498636" cy="55404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16802"/>
            <a:ext cx="498636" cy="11783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398502"/>
            <a:ext cx="498636" cy="14966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350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366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382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397</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L'Oréal affiche une résilience opérationnelle remarquable avec des marges historiques élevées et une croissance organique soutenue. Le leader mondial des cosmétiques bénéficie d'un portefeuille diversifié et d'une forte innovation, malgré un environnement macroéconomique incertain.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