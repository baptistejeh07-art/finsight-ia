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4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latin typeface="Calibri"/>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latin typeface="Calibri"/>
              </a:rPr>
              <a:t>Pitchbook  —  Analyse d'investissement</a:t>
            </a:r>
          </a:p>
        </p:txBody>
      </p:sp>
      <p:sp>
        <p:nvSpPr>
          <p:cNvPr id="6" name="TextBox 5"/>
          <p:cNvSpPr txBox="1"/>
          <p:nvPr/>
        </p:nvSpPr>
        <p:spPr>
          <a:xfrm>
            <a:off x="457200" y="1461599"/>
            <a:ext cx="8229600" cy="794232"/>
          </a:xfrm>
          <a:prstGeom prst="rect">
            <a:avLst/>
          </a:prstGeom>
          <a:noFill/>
        </p:spPr>
        <p:txBody>
          <a:bodyPr wrap="square">
            <a:spAutoFit/>
          </a:bodyPr>
          <a:lstStyle/>
          <a:p>
            <a:pPr algn="ctr"/>
            <a:r>
              <a:rPr sz="4000" b="1" i="0">
                <a:solidFill>
                  <a:srgbClr val="1B3A6B"/>
                </a:solidFill>
                <a:latin typeface="Calibri"/>
              </a:rPr>
              <a:t>L'Oréal S.A.</a:t>
            </a:r>
          </a:p>
        </p:txBody>
      </p:sp>
      <p:sp>
        <p:nvSpPr>
          <p:cNvPr id="7" name="TextBox 6"/>
          <p:cNvSpPr txBox="1"/>
          <p:nvPr/>
        </p:nvSpPr>
        <p:spPr>
          <a:xfrm>
            <a:off x="457200" y="2345832"/>
            <a:ext cx="8229600" cy="255600"/>
          </a:xfrm>
          <a:prstGeom prst="rect">
            <a:avLst/>
          </a:prstGeom>
          <a:noFill/>
        </p:spPr>
        <p:txBody>
          <a:bodyPr wrap="square">
            <a:spAutoFit/>
          </a:bodyPr>
          <a:lstStyle/>
          <a:p>
            <a:pPr algn="ctr"/>
            <a:r>
              <a:rPr sz="1100" b="0" i="0">
                <a:solidFill>
                  <a:srgbClr val="888888"/>
                </a:solidFill>
                <a:latin typeface="Calibri"/>
              </a:rPr>
              <a:t>OR.PA  ·  Euronext Paris  ·  Consumer Defensive</a:t>
            </a:r>
          </a:p>
        </p:txBody>
      </p:sp>
      <p:sp>
        <p:nvSpPr>
          <p:cNvPr id="8" name="Rectangle 7"/>
          <p:cNvSpPr/>
          <p:nvPr/>
        </p:nvSpPr>
        <p:spPr>
          <a:xfrm>
            <a:off x="457200" y="2720232"/>
            <a:ext cx="8229600" cy="475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720232"/>
            <a:ext cx="46800" cy="475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2738232"/>
            <a:ext cx="8063999" cy="439200"/>
          </a:xfrm>
          <a:prstGeom prst="rect">
            <a:avLst/>
          </a:prstGeom>
          <a:noFill/>
        </p:spPr>
        <p:txBody>
          <a:bodyPr wrap="square">
            <a:spAutoFit/>
          </a:bodyPr>
          <a:lstStyle/>
          <a:p>
            <a:pPr algn="ctr"/>
            <a:r>
              <a:rPr sz="900" b="1" i="0">
                <a:solidFill>
                  <a:srgbClr val="1A7A4A"/>
                </a:solidFill>
                <a:latin typeface="Calibri"/>
              </a:rPr>
              <a:t>● BUY  ·  Prix cible base : 385 EUR  ·  Upside : +9,7 %</a:t>
            </a:r>
          </a:p>
        </p:txBody>
      </p:sp>
      <p:sp>
        <p:nvSpPr>
          <p:cNvPr id="11" name="Rectangle 10"/>
          <p:cNvSpPr/>
          <p:nvPr/>
        </p:nvSpPr>
        <p:spPr>
          <a:xfrm>
            <a:off x="367200" y="4464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200" y="4554000"/>
            <a:ext cx="4114800" cy="201600"/>
          </a:xfrm>
          <a:prstGeom prst="rect">
            <a:avLst/>
          </a:prstGeom>
          <a:noFill/>
        </p:spPr>
        <p:txBody>
          <a:bodyPr wrap="square">
            <a:spAutoFit/>
          </a:bodyPr>
          <a:lstStyle/>
          <a:p>
            <a:pPr algn="l"/>
            <a:r>
              <a:rPr sz="800" b="0" i="0">
                <a:solidFill>
                  <a:srgbClr val="555555"/>
                </a:solidFill>
                <a:latin typeface="Calibri"/>
              </a:rPr>
              <a:t>Rapport confidentiel</a:t>
            </a:r>
          </a:p>
        </p:txBody>
      </p:sp>
      <p:sp>
        <p:nvSpPr>
          <p:cNvPr id="13" name="TextBox 12"/>
          <p:cNvSpPr txBox="1"/>
          <p:nvPr/>
        </p:nvSpPr>
        <p:spPr>
          <a:xfrm>
            <a:off x="4662000" y="4554000"/>
            <a:ext cx="4114800" cy="201600"/>
          </a:xfrm>
          <a:prstGeom prst="rect">
            <a:avLst/>
          </a:prstGeom>
          <a:noFill/>
        </p:spPr>
        <p:txBody>
          <a:bodyPr wrap="square">
            <a:spAutoFit/>
          </a:bodyPr>
          <a:lstStyle/>
          <a:p>
            <a:pPr algn="r"/>
            <a:r>
              <a:rPr sz="800" b="0" i="0">
                <a:solidFill>
                  <a:srgbClr val="555555"/>
                </a:solidFill>
                <a:latin typeface="Calibri"/>
              </a:rPr>
              <a:t>27 mars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Executive Summary</a:t>
            </a:r>
          </a:p>
        </p:txBody>
      </p:sp>
      <p:sp>
        <p:nvSpPr>
          <p:cNvPr id="6" name="Rectangle 5"/>
          <p:cNvSpPr/>
          <p:nvPr/>
        </p:nvSpPr>
        <p:spPr>
          <a:xfrm>
            <a:off x="367200" y="748800"/>
            <a:ext cx="8413200" cy="439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748800"/>
            <a:ext cx="46800" cy="439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766800"/>
            <a:ext cx="1098000" cy="403200"/>
          </a:xfrm>
          <a:prstGeom prst="rect">
            <a:avLst/>
          </a:prstGeom>
          <a:noFill/>
        </p:spPr>
        <p:txBody>
          <a:bodyPr wrap="square">
            <a:spAutoFit/>
          </a:bodyPr>
          <a:lstStyle/>
          <a:p>
            <a:pPr algn="l"/>
            <a:r>
              <a:rPr sz="1100" b="1" i="0">
                <a:solidFill>
                  <a:srgbClr val="1A7A4A"/>
                </a:solidFill>
                <a:latin typeface="Calibri"/>
              </a:rPr>
              <a:t>● BUY</a:t>
            </a:r>
          </a:p>
        </p:txBody>
      </p:sp>
      <p:sp>
        <p:nvSpPr>
          <p:cNvPr id="9" name="TextBox 8"/>
          <p:cNvSpPr txBox="1"/>
          <p:nvPr/>
        </p:nvSpPr>
        <p:spPr>
          <a:xfrm>
            <a:off x="1692000" y="766800"/>
            <a:ext cx="6948000" cy="403200"/>
          </a:xfrm>
          <a:prstGeom prst="rect">
            <a:avLst/>
          </a:prstGeom>
          <a:noFill/>
        </p:spPr>
        <p:txBody>
          <a:bodyPr wrap="square">
            <a:spAutoFit/>
          </a:bodyPr>
          <a:lstStyle/>
          <a:p>
            <a:pPr algn="l"/>
            <a:r>
              <a:rPr sz="900" b="0" i="0">
                <a:solidFill>
                  <a:srgbClr val="1B3A6B"/>
                </a:solidFill>
                <a:latin typeface="Calibri"/>
              </a:rPr>
              <a:t>Prix cible base : 385 EUR  ·  Upside : +9,7 %  ·  Bear : 340 EUR (-3,1 %)  ·  Bull : 420 EUR (+19,7 %)</a:t>
            </a:r>
          </a:p>
        </p:txBody>
      </p:sp>
      <p:sp>
        <p:nvSpPr>
          <p:cNvPr id="10" name="Rectangle 9"/>
          <p:cNvSpPr/>
          <p:nvPr/>
        </p:nvSpPr>
        <p:spPr>
          <a:xfrm>
            <a:off x="367200" y="1353600"/>
            <a:ext cx="4161600" cy="255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1353600"/>
            <a:ext cx="4161600" cy="255600"/>
          </a:xfrm>
          <a:prstGeom prst="rect">
            <a:avLst/>
          </a:prstGeom>
          <a:noFill/>
        </p:spPr>
        <p:txBody>
          <a:bodyPr wrap="square">
            <a:spAutoFit/>
          </a:bodyPr>
          <a:lstStyle/>
          <a:p>
            <a:pPr algn="l"/>
            <a:r>
              <a:rPr sz="900" b="1" i="0">
                <a:solidFill>
                  <a:srgbClr val="FFFFFF"/>
                </a:solidFill>
                <a:latin typeface="Calibri"/>
              </a:rPr>
              <a:t>THÈSE D'INVESTISSEMENT</a:t>
            </a:r>
          </a:p>
        </p:txBody>
      </p:sp>
      <p:sp>
        <p:nvSpPr>
          <p:cNvPr id="12" name="Rectangle 11"/>
          <p:cNvSpPr/>
          <p:nvPr/>
        </p:nvSpPr>
        <p:spPr>
          <a:xfrm>
            <a:off x="367200" y="16632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3999" y="1645200"/>
            <a:ext cx="3931200" cy="183600"/>
          </a:xfrm>
          <a:prstGeom prst="rect">
            <a:avLst/>
          </a:prstGeom>
          <a:noFill/>
        </p:spPr>
        <p:txBody>
          <a:bodyPr wrap="square">
            <a:spAutoFit/>
          </a:bodyPr>
          <a:lstStyle/>
          <a:p>
            <a:pPr algn="l"/>
            <a:r>
              <a:rPr sz="850" b="1" i="0">
                <a:solidFill>
                  <a:srgbClr val="1B3A6B"/>
                </a:solidFill>
                <a:latin typeface="Calibri"/>
              </a:rPr>
              <a:t>Pricing power</a:t>
            </a:r>
          </a:p>
        </p:txBody>
      </p:sp>
      <p:sp>
        <p:nvSpPr>
          <p:cNvPr id="14" name="TextBox 13"/>
          <p:cNvSpPr txBox="1"/>
          <p:nvPr/>
        </p:nvSpPr>
        <p:spPr>
          <a:xfrm>
            <a:off x="503999" y="1814400"/>
            <a:ext cx="3931200" cy="327600"/>
          </a:xfrm>
          <a:prstGeom prst="rect">
            <a:avLst/>
          </a:prstGeom>
          <a:noFill/>
        </p:spPr>
        <p:txBody>
          <a:bodyPr wrap="square">
            <a:spAutoFit/>
          </a:bodyPr>
          <a:lstStyle/>
          <a:p>
            <a:pPr algn="l"/>
            <a:r>
              <a:rPr sz="750" b="0" i="0">
                <a:solidFill>
                  <a:srgbClr val="333333"/>
                </a:solidFill>
                <a:latin typeface="Calibri"/>
              </a:rPr>
              <a:t>L'Oréal bénéficie d'une croissance organique de 4-5% dans les soins premium et les marchés émergents d'ici 2027</a:t>
            </a:r>
          </a:p>
        </p:txBody>
      </p:sp>
      <p:sp>
        <p:nvSpPr>
          <p:cNvPr id="15" name="Rectangle 14"/>
          <p:cNvSpPr/>
          <p:nvPr/>
        </p:nvSpPr>
        <p:spPr>
          <a:xfrm>
            <a:off x="367200" y="21960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2178000"/>
            <a:ext cx="3931200" cy="183600"/>
          </a:xfrm>
          <a:prstGeom prst="rect">
            <a:avLst/>
          </a:prstGeom>
          <a:noFill/>
        </p:spPr>
        <p:txBody>
          <a:bodyPr wrap="square">
            <a:spAutoFit/>
          </a:bodyPr>
          <a:lstStyle/>
          <a:p>
            <a:pPr algn="l"/>
            <a:r>
              <a:rPr sz="850" b="1" i="0">
                <a:solidFill>
                  <a:srgbClr val="1B3A6B"/>
                </a:solidFill>
                <a:latin typeface="Calibri"/>
              </a:rPr>
              <a:t>R&amp;D inégalée</a:t>
            </a:r>
          </a:p>
        </p:txBody>
      </p:sp>
      <p:sp>
        <p:nvSpPr>
          <p:cNvPr id="17" name="TextBox 16"/>
          <p:cNvSpPr txBox="1"/>
          <p:nvPr/>
        </p:nvSpPr>
        <p:spPr>
          <a:xfrm>
            <a:off x="503999" y="2347200"/>
            <a:ext cx="3931200" cy="327600"/>
          </a:xfrm>
          <a:prstGeom prst="rect">
            <a:avLst/>
          </a:prstGeom>
          <a:noFill/>
        </p:spPr>
        <p:txBody>
          <a:bodyPr wrap="square">
            <a:spAutoFit/>
          </a:bodyPr>
          <a:lstStyle/>
          <a:p>
            <a:pPr algn="l"/>
            <a:r>
              <a:rPr sz="750" b="0" i="0">
                <a:solidFill>
                  <a:srgbClr val="333333"/>
                </a:solidFill>
                <a:latin typeface="Calibri"/>
              </a:rPr>
              <a:t>Le groupe maintient un pricing power exceptionnel avec des hausses de prix de 5-7% en 2025 malgré l'inflation</a:t>
            </a:r>
          </a:p>
        </p:txBody>
      </p:sp>
      <p:sp>
        <p:nvSpPr>
          <p:cNvPr id="18" name="Rectangle 17"/>
          <p:cNvSpPr/>
          <p:nvPr/>
        </p:nvSpPr>
        <p:spPr>
          <a:xfrm>
            <a:off x="367200" y="27288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2710800"/>
            <a:ext cx="3931200" cy="183600"/>
          </a:xfrm>
          <a:prstGeom prst="rect">
            <a:avLst/>
          </a:prstGeom>
          <a:noFill/>
        </p:spPr>
        <p:txBody>
          <a:bodyPr wrap="square">
            <a:spAutoFit/>
          </a:bodyPr>
          <a:lstStyle/>
          <a:p>
            <a:pPr algn="l"/>
            <a:r>
              <a:rPr sz="850" b="1" i="0">
                <a:solidFill>
                  <a:srgbClr val="1B3A6B"/>
                </a:solidFill>
                <a:latin typeface="Calibri"/>
              </a:rPr>
              <a:t>Résilience géographique</a:t>
            </a:r>
          </a:p>
        </p:txBody>
      </p:sp>
      <p:sp>
        <p:nvSpPr>
          <p:cNvPr id="20" name="TextBox 19"/>
          <p:cNvSpPr txBox="1"/>
          <p:nvPr/>
        </p:nvSpPr>
        <p:spPr>
          <a:xfrm>
            <a:off x="503999" y="2880000"/>
            <a:ext cx="3931200" cy="327600"/>
          </a:xfrm>
          <a:prstGeom prst="rect">
            <a:avLst/>
          </a:prstGeom>
          <a:noFill/>
        </p:spPr>
        <p:txBody>
          <a:bodyPr wrap="square">
            <a:spAutoFit/>
          </a:bodyPr>
          <a:lstStyle/>
          <a:p>
            <a:pPr algn="l"/>
            <a:r>
              <a:rPr sz="750" b="0" i="0">
                <a:solidFill>
                  <a:srgbClr val="333333"/>
                </a:solidFill>
                <a:latin typeface="Calibri"/>
              </a:rPr>
              <a:t>La marge EBITDA devrait atteindre 25.5% en 2027 grâce à l'automatisation des usines et à la rationalisation des portefeuilles de marques</a:t>
            </a:r>
          </a:p>
        </p:txBody>
      </p:sp>
      <p:sp>
        <p:nvSpPr>
          <p:cNvPr id="21" name="Rectangle 20"/>
          <p:cNvSpPr/>
          <p:nvPr/>
        </p:nvSpPr>
        <p:spPr>
          <a:xfrm>
            <a:off x="4708800" y="1353600"/>
            <a:ext cx="4068000" cy="255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8800" y="1353600"/>
            <a:ext cx="4068000" cy="255600"/>
          </a:xfrm>
          <a:prstGeom prst="rect">
            <a:avLst/>
          </a:prstGeom>
          <a:noFill/>
        </p:spPr>
        <p:txBody>
          <a:bodyPr wrap="square">
            <a:spAutoFit/>
          </a:bodyPr>
          <a:lstStyle/>
          <a:p>
            <a:pPr algn="l"/>
            <a:r>
              <a:rPr sz="900" b="1" i="0">
                <a:solidFill>
                  <a:srgbClr val="FFFFFF"/>
                </a:solidFill>
                <a:latin typeface="Calibri"/>
              </a:rPr>
              <a:t>RISQUES PRINCIPAUX</a:t>
            </a:r>
          </a:p>
        </p:txBody>
      </p:sp>
      <p:sp>
        <p:nvSpPr>
          <p:cNvPr id="23" name="Rectangle 22"/>
          <p:cNvSpPr/>
          <p:nvPr/>
        </p:nvSpPr>
        <p:spPr>
          <a:xfrm>
            <a:off x="4708800" y="16632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5600" y="1645200"/>
            <a:ext cx="3794399" cy="183600"/>
          </a:xfrm>
          <a:prstGeom prst="rect">
            <a:avLst/>
          </a:prstGeom>
          <a:noFill/>
        </p:spPr>
        <p:txBody>
          <a:bodyPr wrap="square">
            <a:spAutoFit/>
          </a:bodyPr>
          <a:lstStyle/>
          <a:p>
            <a:pPr algn="l"/>
            <a:r>
              <a:rPr sz="850" b="1" i="0">
                <a:solidFill>
                  <a:srgbClr val="1B3A6B"/>
                </a:solidFill>
                <a:latin typeface="Calibri"/>
              </a:rPr>
              <a:t>Concurrence asiatique</a:t>
            </a:r>
          </a:p>
        </p:txBody>
      </p:sp>
      <p:sp>
        <p:nvSpPr>
          <p:cNvPr id="25" name="TextBox 24"/>
          <p:cNvSpPr txBox="1"/>
          <p:nvPr/>
        </p:nvSpPr>
        <p:spPr>
          <a:xfrm>
            <a:off x="4845600" y="1814400"/>
            <a:ext cx="3794399" cy="327600"/>
          </a:xfrm>
          <a:prstGeom prst="rect">
            <a:avLst/>
          </a:prstGeom>
          <a:noFill/>
        </p:spPr>
        <p:txBody>
          <a:bodyPr wrap="square">
            <a:spAutoFit/>
          </a:bodyPr>
          <a:lstStyle/>
          <a:p>
            <a:pPr algn="l"/>
            <a:r>
              <a:rPr sz="750" b="0" i="0">
                <a:solidFill>
                  <a:srgbClr val="333333"/>
                </a:solidFill>
                <a:latin typeface="Calibri"/>
              </a:rPr>
              <a:t>Concurrence accrue des marques asiatiques (Shopee, Perfect Diary) avec une pression sur les prix de -3% à -5% en 2026 | Régulation sanitaire en Europe (REACH) pourrait augmenter les coûts de…</a:t>
            </a:r>
          </a:p>
        </p:txBody>
      </p:sp>
      <p:sp>
        <p:nvSpPr>
          <p:cNvPr id="26" name="Rectangle 25"/>
          <p:cNvSpPr/>
          <p:nvPr/>
        </p:nvSpPr>
        <p:spPr>
          <a:xfrm>
            <a:off x="4708800" y="21960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5600" y="2178000"/>
            <a:ext cx="3794399" cy="183600"/>
          </a:xfrm>
          <a:prstGeom prst="rect">
            <a:avLst/>
          </a:prstGeom>
          <a:noFill/>
        </p:spPr>
        <p:txBody>
          <a:bodyPr wrap="square">
            <a:spAutoFit/>
          </a:bodyPr>
          <a:lstStyle/>
          <a:p>
            <a:pPr algn="l"/>
            <a:r>
              <a:rPr sz="850" b="1" i="0">
                <a:solidFill>
                  <a:srgbClr val="1B3A6B"/>
                </a:solidFill>
                <a:latin typeface="Calibri"/>
              </a:rPr>
              <a:t>Régulation sanitaire</a:t>
            </a:r>
          </a:p>
        </p:txBody>
      </p:sp>
      <p:sp>
        <p:nvSpPr>
          <p:cNvPr id="28" name="TextBox 27"/>
          <p:cNvSpPr txBox="1"/>
          <p:nvPr/>
        </p:nvSpPr>
        <p:spPr>
          <a:xfrm>
            <a:off x="4845600" y="2347200"/>
            <a:ext cx="3794399" cy="327600"/>
          </a:xfrm>
          <a:prstGeom prst="rect">
            <a:avLst/>
          </a:prstGeom>
          <a:noFill/>
        </p:spPr>
        <p:txBody>
          <a:bodyPr wrap="square">
            <a:spAutoFit/>
          </a:bodyPr>
          <a:lstStyle/>
          <a:p>
            <a:pPr algn="l"/>
            <a:r>
              <a:rPr sz="750" b="0" i="0">
                <a:solidFill>
                  <a:srgbClr val="333333"/>
                </a:solidFill>
                <a:latin typeface="Calibri"/>
              </a:rPr>
              <a:t>Ralentissement économique en Europe (-2% PIB en 2026) pourrait réduire la croissance organique à 1% | Hausse des coûts logistiques (+8% en 2026) due aux tensions géopolitiques et à la hausse des prix…</a:t>
            </a:r>
          </a:p>
        </p:txBody>
      </p:sp>
      <p:sp>
        <p:nvSpPr>
          <p:cNvPr id="29" name="Rectangle 28"/>
          <p:cNvSpPr/>
          <p:nvPr/>
        </p:nvSpPr>
        <p:spPr>
          <a:xfrm>
            <a:off x="4708800" y="27288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5600" y="2710800"/>
            <a:ext cx="3794399" cy="183600"/>
          </a:xfrm>
          <a:prstGeom prst="rect">
            <a:avLst/>
          </a:prstGeom>
          <a:noFill/>
        </p:spPr>
        <p:txBody>
          <a:bodyPr wrap="square">
            <a:spAutoFit/>
          </a:bodyPr>
          <a:lstStyle/>
          <a:p>
            <a:pPr algn="l"/>
            <a:r>
              <a:rPr sz="850" b="1" i="0">
                <a:solidFill>
                  <a:srgbClr val="1B3A6B"/>
                </a:solidFill>
                <a:latin typeface="Calibri"/>
              </a:rPr>
              <a:t>Dépendance luxe</a:t>
            </a:r>
          </a:p>
        </p:txBody>
      </p:sp>
      <p:sp>
        <p:nvSpPr>
          <p:cNvPr id="31" name="TextBox 30"/>
          <p:cNvSpPr txBox="1"/>
          <p:nvPr/>
        </p:nvSpPr>
        <p:spPr>
          <a:xfrm>
            <a:off x="4845600" y="2880000"/>
            <a:ext cx="3794399" cy="327600"/>
          </a:xfrm>
          <a:prstGeom prst="rect">
            <a:avLst/>
          </a:prstGeom>
          <a:noFill/>
        </p:spPr>
        <p:txBody>
          <a:bodyPr wrap="square">
            <a:spAutoFit/>
          </a:bodyPr>
          <a:lstStyle/>
          <a:p>
            <a:pPr algn="l"/>
            <a:r>
              <a:rPr sz="750" b="0" i="0">
                <a:solidFill>
                  <a:srgbClr val="333333"/>
                </a:solidFill>
                <a:latin typeface="Calibri"/>
              </a:rPr>
              <a:t>La résilience géographique masque une dépendance extrême à l'Europe (42% du CA) et aux USA (28%), zones en stagnation démographique et sous pression fiscale.</a:t>
            </a:r>
          </a:p>
        </p:txBody>
      </p:sp>
      <p:sp>
        <p:nvSpPr>
          <p:cNvPr id="32" name="Rectangle 31"/>
          <p:cNvSpPr/>
          <p:nvPr/>
        </p:nvSpPr>
        <p:spPr>
          <a:xfrm>
            <a:off x="4525200" y="1353600"/>
            <a:ext cx="10800" cy="1742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33012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72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3430800"/>
            <a:ext cx="1893600" cy="396000"/>
          </a:xfrm>
          <a:prstGeom prst="rect">
            <a:avLst/>
          </a:prstGeom>
          <a:noFill/>
        </p:spPr>
        <p:txBody>
          <a:bodyPr wrap="square">
            <a:spAutoFit/>
          </a:bodyPr>
          <a:lstStyle/>
          <a:p>
            <a:pPr algn="l"/>
            <a:r>
              <a:rPr sz="1900" b="1" i="0">
                <a:solidFill>
                  <a:srgbClr val="1B3A6B"/>
                </a:solidFill>
                <a:latin typeface="Calibri"/>
              </a:rPr>
              <a:t>17,6x</a:t>
            </a:r>
          </a:p>
        </p:txBody>
      </p:sp>
      <p:sp>
        <p:nvSpPr>
          <p:cNvPr id="37" name="TextBox 36"/>
          <p:cNvSpPr txBox="1"/>
          <p:nvPr/>
        </p:nvSpPr>
        <p:spPr>
          <a:xfrm>
            <a:off x="457200" y="3826800"/>
            <a:ext cx="1893600" cy="205199"/>
          </a:xfrm>
          <a:prstGeom prst="rect">
            <a:avLst/>
          </a:prstGeom>
          <a:noFill/>
        </p:spPr>
        <p:txBody>
          <a:bodyPr wrap="square">
            <a:spAutoFit/>
          </a:bodyPr>
          <a:lstStyle/>
          <a:p>
            <a:pPr algn="l"/>
            <a:r>
              <a:rPr sz="800" b="0" i="0">
                <a:solidFill>
                  <a:srgbClr val="555555"/>
                </a:solidFill>
                <a:latin typeface="Calibri"/>
              </a:rPr>
              <a:t>EV/EBITDA</a:t>
            </a:r>
          </a:p>
        </p:txBody>
      </p:sp>
      <p:sp>
        <p:nvSpPr>
          <p:cNvPr id="38" name="TextBox 37"/>
          <p:cNvSpPr txBox="1"/>
          <p:nvPr/>
        </p:nvSpPr>
        <p:spPr>
          <a:xfrm>
            <a:off x="457200" y="4024800"/>
            <a:ext cx="1893600" cy="165600"/>
          </a:xfrm>
          <a:prstGeom prst="rect">
            <a:avLst/>
          </a:prstGeom>
          <a:noFill/>
        </p:spPr>
        <p:txBody>
          <a:bodyPr wrap="square">
            <a:spAutoFit/>
          </a:bodyPr>
          <a:lstStyle/>
          <a:p>
            <a:pPr algn="l"/>
            <a:r>
              <a:rPr sz="700" b="0" i="0">
                <a:solidFill>
                  <a:srgbClr val="888888"/>
                </a:solidFill>
                <a:latin typeface="Calibri"/>
              </a:rPr>
              <a:t>vs 16,5x médiane peers</a:t>
            </a:r>
          </a:p>
        </p:txBody>
      </p:sp>
      <p:sp>
        <p:nvSpPr>
          <p:cNvPr id="39" name="Rectangle 38"/>
          <p:cNvSpPr/>
          <p:nvPr/>
        </p:nvSpPr>
        <p:spPr>
          <a:xfrm>
            <a:off x="24876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4876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77600" y="3430800"/>
            <a:ext cx="1893600" cy="396000"/>
          </a:xfrm>
          <a:prstGeom prst="rect">
            <a:avLst/>
          </a:prstGeom>
          <a:noFill/>
        </p:spPr>
        <p:txBody>
          <a:bodyPr wrap="square">
            <a:spAutoFit/>
          </a:bodyPr>
          <a:lstStyle/>
          <a:p>
            <a:pPr algn="l"/>
            <a:r>
              <a:rPr sz="1900" b="1" i="0">
                <a:solidFill>
                  <a:srgbClr val="1B3A6B"/>
                </a:solidFill>
                <a:latin typeface="Calibri"/>
              </a:rPr>
              <a:t>8,5 %</a:t>
            </a:r>
          </a:p>
        </p:txBody>
      </p:sp>
      <p:sp>
        <p:nvSpPr>
          <p:cNvPr id="42" name="TextBox 41"/>
          <p:cNvSpPr txBox="1"/>
          <p:nvPr/>
        </p:nvSpPr>
        <p:spPr>
          <a:xfrm>
            <a:off x="2577600" y="3826800"/>
            <a:ext cx="1893600" cy="205199"/>
          </a:xfrm>
          <a:prstGeom prst="rect">
            <a:avLst/>
          </a:prstGeom>
          <a:noFill/>
        </p:spPr>
        <p:txBody>
          <a:bodyPr wrap="square">
            <a:spAutoFit/>
          </a:bodyPr>
          <a:lstStyle/>
          <a:p>
            <a:pPr algn="l"/>
            <a:r>
              <a:rPr sz="800" b="0" i="0">
                <a:solidFill>
                  <a:srgbClr val="555555"/>
                </a:solidFill>
                <a:latin typeface="Calibri"/>
              </a:rPr>
              <a:t>WACC</a:t>
            </a:r>
          </a:p>
        </p:txBody>
      </p:sp>
      <p:sp>
        <p:nvSpPr>
          <p:cNvPr id="43" name="TextBox 42"/>
          <p:cNvSpPr txBox="1"/>
          <p:nvPr/>
        </p:nvSpPr>
        <p:spPr>
          <a:xfrm>
            <a:off x="2577600" y="4024800"/>
            <a:ext cx="1893600" cy="165600"/>
          </a:xfrm>
          <a:prstGeom prst="rect">
            <a:avLst/>
          </a:prstGeom>
          <a:noFill/>
        </p:spPr>
        <p:txBody>
          <a:bodyPr wrap="square">
            <a:spAutoFit/>
          </a:bodyPr>
          <a:lstStyle/>
          <a:p>
            <a:pPr algn="l"/>
            <a:r>
              <a:rPr sz="700" b="0" i="0">
                <a:solidFill>
                  <a:srgbClr val="888888"/>
                </a:solidFill>
                <a:latin typeface="Calibri"/>
              </a:rPr>
              <a:t>Beta 0,88  ·  RFR 4,4 %</a:t>
            </a:r>
          </a:p>
        </p:txBody>
      </p:sp>
      <p:sp>
        <p:nvSpPr>
          <p:cNvPr id="44" name="Rectangle 43"/>
          <p:cNvSpPr/>
          <p:nvPr/>
        </p:nvSpPr>
        <p:spPr>
          <a:xfrm>
            <a:off x="46080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6080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98000" y="3430800"/>
            <a:ext cx="1893600" cy="396000"/>
          </a:xfrm>
          <a:prstGeom prst="rect">
            <a:avLst/>
          </a:prstGeom>
          <a:noFill/>
        </p:spPr>
        <p:txBody>
          <a:bodyPr wrap="square">
            <a:spAutoFit/>
          </a:bodyPr>
          <a:lstStyle/>
          <a:p>
            <a:pPr algn="l"/>
            <a:r>
              <a:rPr sz="1900" b="1" i="0">
                <a:solidFill>
                  <a:srgbClr val="1B3A6B"/>
                </a:solidFill>
                <a:latin typeface="Calibri"/>
              </a:rPr>
              <a:t>385 EUR</a:t>
            </a:r>
          </a:p>
        </p:txBody>
      </p:sp>
      <p:sp>
        <p:nvSpPr>
          <p:cNvPr id="47" name="TextBox 46"/>
          <p:cNvSpPr txBox="1"/>
          <p:nvPr/>
        </p:nvSpPr>
        <p:spPr>
          <a:xfrm>
            <a:off x="4698000" y="3826800"/>
            <a:ext cx="1893600" cy="205199"/>
          </a:xfrm>
          <a:prstGeom prst="rect">
            <a:avLst/>
          </a:prstGeom>
          <a:noFill/>
        </p:spPr>
        <p:txBody>
          <a:bodyPr wrap="square">
            <a:spAutoFit/>
          </a:bodyPr>
          <a:lstStyle/>
          <a:p>
            <a:pPr algn="l"/>
            <a:r>
              <a:rPr sz="800" b="0" i="0">
                <a:solidFill>
                  <a:srgbClr val="555555"/>
                </a:solidFill>
                <a:latin typeface="Calibri"/>
              </a:rPr>
              <a:t>Valeur intrinseque DCF</a:t>
            </a:r>
          </a:p>
        </p:txBody>
      </p:sp>
      <p:sp>
        <p:nvSpPr>
          <p:cNvPr id="48" name="TextBox 47"/>
          <p:cNvSpPr txBox="1"/>
          <p:nvPr/>
        </p:nvSpPr>
        <p:spPr>
          <a:xfrm>
            <a:off x="4698000" y="4024800"/>
            <a:ext cx="1893600" cy="165600"/>
          </a:xfrm>
          <a:prstGeom prst="rect">
            <a:avLst/>
          </a:prstGeom>
          <a:noFill/>
        </p:spPr>
        <p:txBody>
          <a:bodyPr wrap="square">
            <a:spAutoFit/>
          </a:bodyPr>
          <a:lstStyle/>
          <a:p>
            <a:pPr algn="l"/>
            <a:r>
              <a:rPr sz="700" b="0" i="0">
                <a:solidFill>
                  <a:srgbClr val="888888"/>
                </a:solidFill>
                <a:latin typeface="Calibri"/>
              </a:rPr>
              <a:t>Upside de +9,7 % vs cours</a:t>
            </a:r>
          </a:p>
        </p:txBody>
      </p:sp>
      <p:sp>
        <p:nvSpPr>
          <p:cNvPr id="49" name="Rectangle 48"/>
          <p:cNvSpPr/>
          <p:nvPr/>
        </p:nvSpPr>
        <p:spPr>
          <a:xfrm>
            <a:off x="67284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7284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18400" y="3430800"/>
            <a:ext cx="1893600" cy="396000"/>
          </a:xfrm>
          <a:prstGeom prst="rect">
            <a:avLst/>
          </a:prstGeom>
          <a:noFill/>
        </p:spPr>
        <p:txBody>
          <a:bodyPr wrap="square">
            <a:spAutoFit/>
          </a:bodyPr>
          <a:lstStyle/>
          <a:p>
            <a:pPr algn="l"/>
            <a:r>
              <a:rPr sz="1900" b="1" i="0">
                <a:solidFill>
                  <a:srgbClr val="1B3A6B"/>
                </a:solidFill>
                <a:latin typeface="Calibri"/>
              </a:rPr>
              <a:t>+0,175</a:t>
            </a:r>
          </a:p>
        </p:txBody>
      </p:sp>
      <p:sp>
        <p:nvSpPr>
          <p:cNvPr id="52" name="TextBox 51"/>
          <p:cNvSpPr txBox="1"/>
          <p:nvPr/>
        </p:nvSpPr>
        <p:spPr>
          <a:xfrm>
            <a:off x="6818400" y="3826800"/>
            <a:ext cx="1893600" cy="205199"/>
          </a:xfrm>
          <a:prstGeom prst="rect">
            <a:avLst/>
          </a:prstGeom>
          <a:noFill/>
        </p:spPr>
        <p:txBody>
          <a:bodyPr wrap="square">
            <a:spAutoFit/>
          </a:bodyPr>
          <a:lstStyle/>
          <a:p>
            <a:pPr algn="l"/>
            <a:r>
              <a:rPr sz="800" b="0" i="0">
                <a:solidFill>
                  <a:srgbClr val="555555"/>
                </a:solidFill>
                <a:latin typeface="Calibri"/>
              </a:rPr>
              <a:t>Sentiment FinBERT</a:t>
            </a:r>
          </a:p>
        </p:txBody>
      </p:sp>
      <p:sp>
        <p:nvSpPr>
          <p:cNvPr id="53" name="TextBox 52"/>
          <p:cNvSpPr txBox="1"/>
          <p:nvPr/>
        </p:nvSpPr>
        <p:spPr>
          <a:xfrm>
            <a:off x="6818400" y="4024800"/>
            <a:ext cx="1893600" cy="165600"/>
          </a:xfrm>
          <a:prstGeom prst="rect">
            <a:avLst/>
          </a:prstGeom>
          <a:noFill/>
        </p:spPr>
        <p:txBody>
          <a:bodyPr wrap="square">
            <a:spAutoFit/>
          </a:bodyPr>
          <a:lstStyle/>
          <a:p>
            <a:pPr algn="l"/>
            <a:r>
              <a:rPr sz="700" b="0" i="0">
                <a:solidFill>
                  <a:srgbClr val="888888"/>
                </a:solidFill>
                <a:latin typeface="Calibri"/>
              </a:rPr>
              <a:t>Neutre +  ·  20 articles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Sommaire</a:t>
            </a:r>
          </a:p>
        </p:txBody>
      </p:sp>
      <p:sp>
        <p:nvSpPr>
          <p:cNvPr id="6" name="Rectangle 5"/>
          <p:cNvSpPr/>
          <p:nvPr/>
        </p:nvSpPr>
        <p:spPr>
          <a:xfrm>
            <a:off x="367200" y="8964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8964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950400"/>
            <a:ext cx="475200" cy="514800"/>
          </a:xfrm>
          <a:prstGeom prst="rect">
            <a:avLst/>
          </a:prstGeom>
          <a:noFill/>
        </p:spPr>
        <p:txBody>
          <a:bodyPr wrap="square">
            <a:spAutoFit/>
          </a:bodyPr>
          <a:lstStyle/>
          <a:p>
            <a:pPr algn="l"/>
            <a:r>
              <a:rPr sz="1700" b="1" i="0">
                <a:solidFill>
                  <a:srgbClr val="888888"/>
                </a:solidFill>
                <a:latin typeface="Calibri"/>
              </a:rPr>
              <a:t>01</a:t>
            </a:r>
          </a:p>
        </p:txBody>
      </p:sp>
      <p:sp>
        <p:nvSpPr>
          <p:cNvPr id="9" name="TextBox 8"/>
          <p:cNvSpPr txBox="1"/>
          <p:nvPr/>
        </p:nvSpPr>
        <p:spPr>
          <a:xfrm>
            <a:off x="1152000" y="968400"/>
            <a:ext cx="6120000" cy="255600"/>
          </a:xfrm>
          <a:prstGeom prst="rect">
            <a:avLst/>
          </a:prstGeom>
          <a:noFill/>
        </p:spPr>
        <p:txBody>
          <a:bodyPr wrap="square">
            <a:spAutoFit/>
          </a:bodyPr>
          <a:lstStyle/>
          <a:p>
            <a:pPr algn="l"/>
            <a:r>
              <a:rPr sz="1300" b="1" i="0">
                <a:solidFill>
                  <a:srgbClr val="1B3A6B"/>
                </a:solidFill>
                <a:latin typeface="Calibri"/>
              </a:rPr>
              <a:t>Company Overview</a:t>
            </a:r>
          </a:p>
        </p:txBody>
      </p:sp>
      <p:sp>
        <p:nvSpPr>
          <p:cNvPr id="10" name="TextBox 9"/>
          <p:cNvSpPr txBox="1"/>
          <p:nvPr/>
        </p:nvSpPr>
        <p:spPr>
          <a:xfrm>
            <a:off x="1152000" y="1202400"/>
            <a:ext cx="6120000" cy="255600"/>
          </a:xfrm>
          <a:prstGeom prst="rect">
            <a:avLst/>
          </a:prstGeom>
          <a:noFill/>
        </p:spPr>
        <p:txBody>
          <a:bodyPr wrap="square">
            <a:spAutoFit/>
          </a:bodyPr>
          <a:lstStyle/>
          <a:p>
            <a:pPr algn="l"/>
            <a:r>
              <a:rPr sz="850" b="0" i="0">
                <a:solidFill>
                  <a:srgbClr val="555555"/>
                </a:solidFill>
                <a:latin typeface="Calibri"/>
              </a:rPr>
              <a:t>L'Oréal S.A.  ·  Consumer Defensive</a:t>
            </a:r>
          </a:p>
        </p:txBody>
      </p:sp>
      <p:sp>
        <p:nvSpPr>
          <p:cNvPr id="11" name="TextBox 10"/>
          <p:cNvSpPr txBox="1"/>
          <p:nvPr/>
        </p:nvSpPr>
        <p:spPr>
          <a:xfrm>
            <a:off x="7405200" y="1058400"/>
            <a:ext cx="1375200" cy="255600"/>
          </a:xfrm>
          <a:prstGeom prst="rect">
            <a:avLst/>
          </a:prstGeom>
          <a:noFill/>
        </p:spPr>
        <p:txBody>
          <a:bodyPr wrap="square">
            <a:spAutoFit/>
          </a:bodyPr>
          <a:lstStyle/>
          <a:p>
            <a:pPr algn="r"/>
            <a:r>
              <a:rPr sz="900" b="0" i="0">
                <a:solidFill>
                  <a:srgbClr val="2E5FA3"/>
                </a:solidFill>
                <a:latin typeface="Calibri"/>
              </a:rPr>
              <a:t>3–5</a:t>
            </a:r>
          </a:p>
        </p:txBody>
      </p:sp>
      <p:sp>
        <p:nvSpPr>
          <p:cNvPr id="12" name="Rectangle 11"/>
          <p:cNvSpPr/>
          <p:nvPr/>
        </p:nvSpPr>
        <p:spPr>
          <a:xfrm>
            <a:off x="367200" y="15912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200" y="15912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999" y="1645200"/>
            <a:ext cx="475200" cy="514800"/>
          </a:xfrm>
          <a:prstGeom prst="rect">
            <a:avLst/>
          </a:prstGeom>
          <a:noFill/>
        </p:spPr>
        <p:txBody>
          <a:bodyPr wrap="square">
            <a:spAutoFit/>
          </a:bodyPr>
          <a:lstStyle/>
          <a:p>
            <a:pPr algn="l"/>
            <a:r>
              <a:rPr sz="1700" b="1" i="0">
                <a:solidFill>
                  <a:srgbClr val="888888"/>
                </a:solidFill>
                <a:latin typeface="Calibri"/>
              </a:rPr>
              <a:t>02</a:t>
            </a:r>
          </a:p>
        </p:txBody>
      </p:sp>
      <p:sp>
        <p:nvSpPr>
          <p:cNvPr id="15" name="TextBox 14"/>
          <p:cNvSpPr txBox="1"/>
          <p:nvPr/>
        </p:nvSpPr>
        <p:spPr>
          <a:xfrm>
            <a:off x="1152000" y="1663200"/>
            <a:ext cx="6120000" cy="255600"/>
          </a:xfrm>
          <a:prstGeom prst="rect">
            <a:avLst/>
          </a:prstGeom>
          <a:noFill/>
        </p:spPr>
        <p:txBody>
          <a:bodyPr wrap="square">
            <a:spAutoFit/>
          </a:bodyPr>
          <a:lstStyle/>
          <a:p>
            <a:pPr algn="l"/>
            <a:r>
              <a:rPr sz="1300" b="1" i="0">
                <a:solidFill>
                  <a:srgbClr val="1B3A6B"/>
                </a:solidFill>
                <a:latin typeface="Calibri"/>
              </a:rPr>
              <a:t>Analyse Financière</a:t>
            </a:r>
          </a:p>
        </p:txBody>
      </p:sp>
      <p:sp>
        <p:nvSpPr>
          <p:cNvPr id="16" name="TextBox 15"/>
          <p:cNvSpPr txBox="1"/>
          <p:nvPr/>
        </p:nvSpPr>
        <p:spPr>
          <a:xfrm>
            <a:off x="1152000" y="1897199"/>
            <a:ext cx="6120000" cy="255600"/>
          </a:xfrm>
          <a:prstGeom prst="rect">
            <a:avLst/>
          </a:prstGeom>
          <a:noFill/>
        </p:spPr>
        <p:txBody>
          <a:bodyPr wrap="square">
            <a:spAutoFit/>
          </a:bodyPr>
          <a:lstStyle/>
          <a:p>
            <a:pPr algn="l"/>
            <a:r>
              <a:rPr sz="850" b="0" i="0">
                <a:solidFill>
                  <a:srgbClr val="555555"/>
                </a:solidFill>
                <a:latin typeface="Calibri"/>
              </a:rPr>
              <a:t>Compte de résultat, bilan &amp; liquidité, ratios</a:t>
            </a:r>
          </a:p>
        </p:txBody>
      </p:sp>
      <p:sp>
        <p:nvSpPr>
          <p:cNvPr id="17" name="TextBox 16"/>
          <p:cNvSpPr txBox="1"/>
          <p:nvPr/>
        </p:nvSpPr>
        <p:spPr>
          <a:xfrm>
            <a:off x="7405200" y="1753200"/>
            <a:ext cx="1375200" cy="255600"/>
          </a:xfrm>
          <a:prstGeom prst="rect">
            <a:avLst/>
          </a:prstGeom>
          <a:noFill/>
        </p:spPr>
        <p:txBody>
          <a:bodyPr wrap="square">
            <a:spAutoFit/>
          </a:bodyPr>
          <a:lstStyle/>
          <a:p>
            <a:pPr algn="r"/>
            <a:r>
              <a:rPr sz="900" b="0" i="0">
                <a:solidFill>
                  <a:srgbClr val="2E5FA3"/>
                </a:solidFill>
                <a:latin typeface="Calibri"/>
              </a:rPr>
              <a:t>6–8</a:t>
            </a:r>
          </a:p>
        </p:txBody>
      </p:sp>
      <p:sp>
        <p:nvSpPr>
          <p:cNvPr id="18" name="Rectangle 17"/>
          <p:cNvSpPr/>
          <p:nvPr/>
        </p:nvSpPr>
        <p:spPr>
          <a:xfrm>
            <a:off x="367200" y="22860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22860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999" y="2340000"/>
            <a:ext cx="475200" cy="514800"/>
          </a:xfrm>
          <a:prstGeom prst="rect">
            <a:avLst/>
          </a:prstGeom>
          <a:noFill/>
        </p:spPr>
        <p:txBody>
          <a:bodyPr wrap="square">
            <a:spAutoFit/>
          </a:bodyPr>
          <a:lstStyle/>
          <a:p>
            <a:pPr algn="l"/>
            <a:r>
              <a:rPr sz="1700" b="1" i="0">
                <a:solidFill>
                  <a:srgbClr val="888888"/>
                </a:solidFill>
                <a:latin typeface="Calibri"/>
              </a:rPr>
              <a:t>03</a:t>
            </a:r>
          </a:p>
        </p:txBody>
      </p:sp>
      <p:sp>
        <p:nvSpPr>
          <p:cNvPr id="21" name="TextBox 20"/>
          <p:cNvSpPr txBox="1"/>
          <p:nvPr/>
        </p:nvSpPr>
        <p:spPr>
          <a:xfrm>
            <a:off x="1152000" y="2358000"/>
            <a:ext cx="6120000" cy="255600"/>
          </a:xfrm>
          <a:prstGeom prst="rect">
            <a:avLst/>
          </a:prstGeom>
          <a:noFill/>
        </p:spPr>
        <p:txBody>
          <a:bodyPr wrap="square">
            <a:spAutoFit/>
          </a:bodyPr>
          <a:lstStyle/>
          <a:p>
            <a:pPr algn="l"/>
            <a:r>
              <a:rPr sz="1300" b="1" i="0">
                <a:solidFill>
                  <a:srgbClr val="1B3A6B"/>
                </a:solidFill>
                <a:latin typeface="Calibri"/>
              </a:rPr>
              <a:t>Valorisation</a:t>
            </a:r>
          </a:p>
        </p:txBody>
      </p:sp>
      <p:sp>
        <p:nvSpPr>
          <p:cNvPr id="22" name="TextBox 21"/>
          <p:cNvSpPr txBox="1"/>
          <p:nvPr/>
        </p:nvSpPr>
        <p:spPr>
          <a:xfrm>
            <a:off x="1152000" y="2591999"/>
            <a:ext cx="6120000" cy="255600"/>
          </a:xfrm>
          <a:prstGeom prst="rect">
            <a:avLst/>
          </a:prstGeom>
          <a:noFill/>
        </p:spPr>
        <p:txBody>
          <a:bodyPr wrap="square">
            <a:spAutoFit/>
          </a:bodyPr>
          <a:lstStyle/>
          <a:p>
            <a:pPr algn="l"/>
            <a:r>
              <a:rPr sz="850" b="0" i="0">
                <a:solidFill>
                  <a:srgbClr val="555555"/>
                </a:solidFill>
                <a:latin typeface="Calibri"/>
              </a:rPr>
              <a:t>DCF, comparable peers, Football Field</a:t>
            </a:r>
          </a:p>
        </p:txBody>
      </p:sp>
      <p:sp>
        <p:nvSpPr>
          <p:cNvPr id="23" name="TextBox 22"/>
          <p:cNvSpPr txBox="1"/>
          <p:nvPr/>
        </p:nvSpPr>
        <p:spPr>
          <a:xfrm>
            <a:off x="7405200" y="2448000"/>
            <a:ext cx="1375200" cy="255600"/>
          </a:xfrm>
          <a:prstGeom prst="rect">
            <a:avLst/>
          </a:prstGeom>
          <a:noFill/>
        </p:spPr>
        <p:txBody>
          <a:bodyPr wrap="square">
            <a:spAutoFit/>
          </a:bodyPr>
          <a:lstStyle/>
          <a:p>
            <a:pPr algn="r"/>
            <a:r>
              <a:rPr sz="900" b="0" i="0">
                <a:solidFill>
                  <a:srgbClr val="2E5FA3"/>
                </a:solidFill>
                <a:latin typeface="Calibri"/>
              </a:rPr>
              <a:t>9–11</a:t>
            </a:r>
          </a:p>
        </p:txBody>
      </p:sp>
      <p:sp>
        <p:nvSpPr>
          <p:cNvPr id="24" name="Rectangle 23"/>
          <p:cNvSpPr/>
          <p:nvPr/>
        </p:nvSpPr>
        <p:spPr>
          <a:xfrm>
            <a:off x="367200" y="29808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7200" y="29808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3034800"/>
            <a:ext cx="475200" cy="514800"/>
          </a:xfrm>
          <a:prstGeom prst="rect">
            <a:avLst/>
          </a:prstGeom>
          <a:noFill/>
        </p:spPr>
        <p:txBody>
          <a:bodyPr wrap="square">
            <a:spAutoFit/>
          </a:bodyPr>
          <a:lstStyle/>
          <a:p>
            <a:pPr algn="l"/>
            <a:r>
              <a:rPr sz="1700" b="1" i="0">
                <a:solidFill>
                  <a:srgbClr val="888888"/>
                </a:solidFill>
                <a:latin typeface="Calibri"/>
              </a:rPr>
              <a:t>04</a:t>
            </a:r>
          </a:p>
        </p:txBody>
      </p:sp>
      <p:sp>
        <p:nvSpPr>
          <p:cNvPr id="27" name="TextBox 26"/>
          <p:cNvSpPr txBox="1"/>
          <p:nvPr/>
        </p:nvSpPr>
        <p:spPr>
          <a:xfrm>
            <a:off x="1152000" y="3052799"/>
            <a:ext cx="6120000" cy="255600"/>
          </a:xfrm>
          <a:prstGeom prst="rect">
            <a:avLst/>
          </a:prstGeom>
          <a:noFill/>
        </p:spPr>
        <p:txBody>
          <a:bodyPr wrap="square">
            <a:spAutoFit/>
          </a:bodyPr>
          <a:lstStyle/>
          <a:p>
            <a:pPr algn="l"/>
            <a:r>
              <a:rPr sz="1300" b="1" i="0">
                <a:solidFill>
                  <a:srgbClr val="1B3A6B"/>
                </a:solidFill>
                <a:latin typeface="Calibri"/>
              </a:rPr>
              <a:t>Risques &amp; Stratégie</a:t>
            </a:r>
          </a:p>
        </p:txBody>
      </p:sp>
      <p:sp>
        <p:nvSpPr>
          <p:cNvPr id="28" name="TextBox 27"/>
          <p:cNvSpPr txBox="1"/>
          <p:nvPr/>
        </p:nvSpPr>
        <p:spPr>
          <a:xfrm>
            <a:off x="1152000" y="3286799"/>
            <a:ext cx="6120000" cy="255600"/>
          </a:xfrm>
          <a:prstGeom prst="rect">
            <a:avLst/>
          </a:prstGeom>
          <a:noFill/>
        </p:spPr>
        <p:txBody>
          <a:bodyPr wrap="square">
            <a:spAutoFit/>
          </a:bodyPr>
          <a:lstStyle/>
          <a:p>
            <a:pPr algn="l"/>
            <a:r>
              <a:rPr sz="850" b="0" i="0">
                <a:solidFill>
                  <a:srgbClr val="555555"/>
                </a:solidFill>
                <a:latin typeface="Calibri"/>
              </a:rPr>
              <a:t>Concurrence asiatique  ·  Régulation sanitaire</a:t>
            </a:r>
          </a:p>
        </p:txBody>
      </p:sp>
      <p:sp>
        <p:nvSpPr>
          <p:cNvPr id="29" name="TextBox 28"/>
          <p:cNvSpPr txBox="1"/>
          <p:nvPr/>
        </p:nvSpPr>
        <p:spPr>
          <a:xfrm>
            <a:off x="7405200" y="3142799"/>
            <a:ext cx="1375200" cy="255600"/>
          </a:xfrm>
          <a:prstGeom prst="rect">
            <a:avLst/>
          </a:prstGeom>
          <a:noFill/>
        </p:spPr>
        <p:txBody>
          <a:bodyPr wrap="square">
            <a:spAutoFit/>
          </a:bodyPr>
          <a:lstStyle/>
          <a:p>
            <a:pPr algn="r"/>
            <a:r>
              <a:rPr sz="900" b="0" i="0">
                <a:solidFill>
                  <a:srgbClr val="2E5FA3"/>
                </a:solidFill>
                <a:latin typeface="Calibri"/>
              </a:rPr>
              <a:t>12–13</a:t>
            </a:r>
          </a:p>
        </p:txBody>
      </p:sp>
      <p:sp>
        <p:nvSpPr>
          <p:cNvPr id="30" name="Rectangle 29"/>
          <p:cNvSpPr/>
          <p:nvPr/>
        </p:nvSpPr>
        <p:spPr>
          <a:xfrm>
            <a:off x="367200" y="36756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7200" y="36756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3729600"/>
            <a:ext cx="475200" cy="514800"/>
          </a:xfrm>
          <a:prstGeom prst="rect">
            <a:avLst/>
          </a:prstGeom>
          <a:noFill/>
        </p:spPr>
        <p:txBody>
          <a:bodyPr wrap="square">
            <a:spAutoFit/>
          </a:bodyPr>
          <a:lstStyle/>
          <a:p>
            <a:pPr algn="l"/>
            <a:r>
              <a:rPr sz="1700" b="1" i="0">
                <a:solidFill>
                  <a:srgbClr val="888888"/>
                </a:solidFill>
                <a:latin typeface="Calibri"/>
              </a:rPr>
              <a:t>05</a:t>
            </a:r>
          </a:p>
        </p:txBody>
      </p:sp>
      <p:sp>
        <p:nvSpPr>
          <p:cNvPr id="33" name="TextBox 32"/>
          <p:cNvSpPr txBox="1"/>
          <p:nvPr/>
        </p:nvSpPr>
        <p:spPr>
          <a:xfrm>
            <a:off x="1152000" y="3747600"/>
            <a:ext cx="6120000" cy="255600"/>
          </a:xfrm>
          <a:prstGeom prst="rect">
            <a:avLst/>
          </a:prstGeom>
          <a:noFill/>
        </p:spPr>
        <p:txBody>
          <a:bodyPr wrap="square">
            <a:spAutoFit/>
          </a:bodyPr>
          <a:lstStyle/>
          <a:p>
            <a:pPr algn="l"/>
            <a:r>
              <a:rPr sz="1300" b="1" i="0">
                <a:solidFill>
                  <a:srgbClr val="1B3A6B"/>
                </a:solidFill>
                <a:latin typeface="Calibri"/>
              </a:rPr>
              <a:t>Sentiment &amp; Annexes</a:t>
            </a:r>
          </a:p>
        </p:txBody>
      </p:sp>
      <p:sp>
        <p:nvSpPr>
          <p:cNvPr id="34" name="TextBox 33"/>
          <p:cNvSpPr txBox="1"/>
          <p:nvPr/>
        </p:nvSpPr>
        <p:spPr>
          <a:xfrm>
            <a:off x="1152000" y="3981600"/>
            <a:ext cx="6120000" cy="255600"/>
          </a:xfrm>
          <a:prstGeom prst="rect">
            <a:avLst/>
          </a:prstGeom>
          <a:noFill/>
        </p:spPr>
        <p:txBody>
          <a:bodyPr wrap="square">
            <a:spAutoFit/>
          </a:bodyPr>
          <a:lstStyle/>
          <a:p>
            <a:pPr algn="l"/>
            <a:r>
              <a:rPr sz="850" b="0" i="0">
                <a:solidFill>
                  <a:srgbClr val="555555"/>
                </a:solidFill>
                <a:latin typeface="Calibri"/>
              </a:rPr>
              <a:t>FinBERT, actionnariat &amp; historique de cours</a:t>
            </a:r>
          </a:p>
        </p:txBody>
      </p:sp>
      <p:sp>
        <p:nvSpPr>
          <p:cNvPr id="35" name="TextBox 34"/>
          <p:cNvSpPr txBox="1"/>
          <p:nvPr/>
        </p:nvSpPr>
        <p:spPr>
          <a:xfrm>
            <a:off x="7405200" y="3837600"/>
            <a:ext cx="1375200" cy="255600"/>
          </a:xfrm>
          <a:prstGeom prst="rect">
            <a:avLst/>
          </a:prstGeom>
          <a:noFill/>
        </p:spPr>
        <p:txBody>
          <a:bodyPr wrap="square">
            <a:spAutoFit/>
          </a:bodyPr>
          <a:lstStyle/>
          <a:p>
            <a:pPr algn="r"/>
            <a:r>
              <a:rPr sz="900" b="0" i="0">
                <a:solidFill>
                  <a:srgbClr val="2E5FA3"/>
                </a:solidFill>
                <a:latin typeface="Calibri"/>
              </a:rPr>
              <a:t>14–15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01</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Company Overview</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Présentation, modèle économique &amp; données de marché</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Company Overview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L'Oréal S.A.  ·  Presentation &amp; Positionnement strategique</a:t>
            </a:r>
          </a:p>
        </p:txBody>
      </p:sp>
      <p:sp>
        <p:nvSpPr>
          <p:cNvPr id="17" name="Rectangle 16"/>
          <p:cNvSpPr/>
          <p:nvPr/>
        </p:nvSpPr>
        <p:spPr>
          <a:xfrm>
            <a:off x="367200" y="961200"/>
            <a:ext cx="4939200"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3520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1022400"/>
            <a:ext cx="4662000" cy="1440000"/>
          </a:xfrm>
          <a:prstGeom prst="rect">
            <a:avLst/>
          </a:prstGeom>
          <a:noFill/>
        </p:spPr>
        <p:txBody>
          <a:bodyPr wrap="square">
            <a:spAutoFit/>
          </a:bodyPr>
          <a:lstStyle/>
          <a:p>
            <a:pPr algn="l"/>
            <a:r>
              <a:rPr sz="850" b="0" i="0">
                <a:solidFill>
                  <a:srgbClr val="0D0D0D"/>
                </a:solidFill>
                <a:latin typeface="Calibri"/>
              </a:rPr>
              <a:t>L'Oréal S.A. est le leader mondial des produits de beauté avec un portefeuille diversifié couvrant les soins, le maquillage, les parfums et les soins capillaires. Positionné sur le premium à travers des marques comme Lancôme ou La Roche-Posay, le groupe cible les consommateurs exigeants via l'innovation et le digital. Ses avantages concurrentiels incluent une R&amp;D inégalée, une distribution mondiale optimisée et une résilience face aux cycles économiques grâce à la diversification géographique et segmentaire. L'entreprise articule son activité autour de deux segments stratégiques :</a:t>
            </a:r>
          </a:p>
        </p:txBody>
      </p:sp>
      <p:sp>
        <p:nvSpPr>
          <p:cNvPr id="20" name="Rectangle 19"/>
          <p:cNvSpPr/>
          <p:nvPr/>
        </p:nvSpPr>
        <p:spPr>
          <a:xfrm>
            <a:off x="503999" y="2599200"/>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9200" y="2556000"/>
            <a:ext cx="4338000" cy="165600"/>
          </a:xfrm>
          <a:prstGeom prst="rect">
            <a:avLst/>
          </a:prstGeom>
          <a:noFill/>
        </p:spPr>
        <p:txBody>
          <a:bodyPr wrap="square">
            <a:spAutoFit/>
          </a:bodyPr>
          <a:lstStyle/>
          <a:p>
            <a:pPr algn="l"/>
            <a:r>
              <a:rPr sz="850" b="1" i="0">
                <a:solidFill>
                  <a:srgbClr val="0D0D0D"/>
                </a:solidFill>
                <a:latin typeface="Calibri"/>
              </a:rPr>
              <a:t>Produits Grand Public</a:t>
            </a:r>
          </a:p>
        </p:txBody>
      </p:sp>
      <p:sp>
        <p:nvSpPr>
          <p:cNvPr id="22" name="TextBox 21"/>
          <p:cNvSpPr txBox="1"/>
          <p:nvPr/>
        </p:nvSpPr>
        <p:spPr>
          <a:xfrm>
            <a:off x="619200" y="2714400"/>
            <a:ext cx="4338000" cy="503999"/>
          </a:xfrm>
          <a:prstGeom prst="rect">
            <a:avLst/>
          </a:prstGeom>
          <a:noFill/>
        </p:spPr>
        <p:txBody>
          <a:bodyPr wrap="square">
            <a:spAutoFit/>
          </a:bodyPr>
          <a:lstStyle/>
          <a:p>
            <a:pPr algn="l"/>
            <a:r>
              <a:rPr sz="750" b="0" i="1">
                <a:solidFill>
                  <a:srgbClr val="555555"/>
                </a:solidFill>
                <a:latin typeface="Calibri"/>
              </a:rPr>
              <a:t>Segment le plus large avec des marques comme Garnier et L'Oréal Paris, ciblant les consommateurs via la grande distribution et le e-commerce. Modèle basé sur le volume et l'accessibilité, avec une croissance tirée par l'Asie et l'Amérique latine. Marges sous pression mais compensées par des économies d'échelle et une gestion rigoureuse des coûts.</a:t>
            </a:r>
          </a:p>
        </p:txBody>
      </p:sp>
      <p:sp>
        <p:nvSpPr>
          <p:cNvPr id="23" name="Rectangle 22"/>
          <p:cNvSpPr/>
          <p:nvPr/>
        </p:nvSpPr>
        <p:spPr>
          <a:xfrm>
            <a:off x="503999" y="3301199"/>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200" y="3257999"/>
            <a:ext cx="4338000" cy="165600"/>
          </a:xfrm>
          <a:prstGeom prst="rect">
            <a:avLst/>
          </a:prstGeom>
          <a:noFill/>
        </p:spPr>
        <p:txBody>
          <a:bodyPr wrap="square">
            <a:spAutoFit/>
          </a:bodyPr>
          <a:lstStyle/>
          <a:p>
            <a:pPr algn="l"/>
            <a:r>
              <a:rPr sz="850" b="1" i="0">
                <a:solidFill>
                  <a:srgbClr val="0D0D0D"/>
                </a:solidFill>
                <a:latin typeface="Calibri"/>
              </a:rPr>
              <a:t>Produits Professionnels</a:t>
            </a:r>
          </a:p>
        </p:txBody>
      </p:sp>
      <p:sp>
        <p:nvSpPr>
          <p:cNvPr id="25" name="TextBox 24"/>
          <p:cNvSpPr txBox="1"/>
          <p:nvPr/>
        </p:nvSpPr>
        <p:spPr>
          <a:xfrm>
            <a:off x="619200" y="3416399"/>
            <a:ext cx="4338000" cy="503999"/>
          </a:xfrm>
          <a:prstGeom prst="rect">
            <a:avLst/>
          </a:prstGeom>
          <a:noFill/>
        </p:spPr>
        <p:txBody>
          <a:bodyPr wrap="square">
            <a:spAutoFit/>
          </a:bodyPr>
          <a:lstStyle/>
          <a:p>
            <a:pPr algn="l"/>
            <a:r>
              <a:rPr sz="750" b="0" i="1">
                <a:solidFill>
                  <a:srgbClr val="555555"/>
                </a:solidFill>
                <a:latin typeface="Calibri"/>
              </a:rPr>
              <a:t>Cible les salons de coiffure avec des marques comme Kérastase et Redken. Modèle récurrent basé sur des contrats de distribution et des services aux professionnels. Croissance stable grâce à la fidélisation des salons et à l'innovation produit. Marges élevées et résilientes aux cycles économiques.</a:t>
            </a:r>
          </a:p>
        </p:txBody>
      </p:sp>
      <p:sp>
        <p:nvSpPr>
          <p:cNvPr id="26" name="Rectangle 25"/>
          <p:cNvSpPr/>
          <p:nvPr/>
        </p:nvSpPr>
        <p:spPr>
          <a:xfrm>
            <a:off x="5558400" y="961200"/>
            <a:ext cx="32004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58400" y="9612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48400" y="1015200"/>
            <a:ext cx="3063600" cy="396000"/>
          </a:xfrm>
          <a:prstGeom prst="rect">
            <a:avLst/>
          </a:prstGeom>
          <a:noFill/>
        </p:spPr>
        <p:txBody>
          <a:bodyPr wrap="square">
            <a:spAutoFit/>
          </a:bodyPr>
          <a:lstStyle/>
          <a:p>
            <a:pPr algn="l"/>
            <a:r>
              <a:rPr sz="1900" b="1" i="0">
                <a:solidFill>
                  <a:srgbClr val="FFFFFF"/>
                </a:solidFill>
                <a:latin typeface="Calibri"/>
              </a:rPr>
              <a:t>187,3 Md€</a:t>
            </a:r>
          </a:p>
        </p:txBody>
      </p:sp>
      <p:sp>
        <p:nvSpPr>
          <p:cNvPr id="29" name="TextBox 28"/>
          <p:cNvSpPr txBox="1"/>
          <p:nvPr/>
        </p:nvSpPr>
        <p:spPr>
          <a:xfrm>
            <a:off x="5648400" y="1411200"/>
            <a:ext cx="3063600" cy="205199"/>
          </a:xfrm>
          <a:prstGeom prst="rect">
            <a:avLst/>
          </a:prstGeom>
          <a:noFill/>
        </p:spPr>
        <p:txBody>
          <a:bodyPr wrap="square">
            <a:spAutoFit/>
          </a:bodyPr>
          <a:lstStyle/>
          <a:p>
            <a:pPr algn="l"/>
            <a:r>
              <a:rPr sz="800" b="0" i="0">
                <a:solidFill>
                  <a:srgbClr val="FFFFFF"/>
                </a:solidFill>
                <a:latin typeface="Calibri"/>
              </a:rPr>
              <a:t>Capitalisation boursiere</a:t>
            </a:r>
          </a:p>
        </p:txBody>
      </p:sp>
      <p:sp>
        <p:nvSpPr>
          <p:cNvPr id="30" name="Rectangle 29"/>
          <p:cNvSpPr/>
          <p:nvPr/>
        </p:nvSpPr>
        <p:spPr>
          <a:xfrm>
            <a:off x="5558400" y="18468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58400" y="1846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48400" y="1900800"/>
            <a:ext cx="3063600" cy="396000"/>
          </a:xfrm>
          <a:prstGeom prst="rect">
            <a:avLst/>
          </a:prstGeom>
          <a:noFill/>
        </p:spPr>
        <p:txBody>
          <a:bodyPr wrap="square">
            <a:spAutoFit/>
          </a:bodyPr>
          <a:lstStyle/>
          <a:p>
            <a:pPr algn="l"/>
            <a:r>
              <a:rPr sz="1900" b="1" i="0">
                <a:solidFill>
                  <a:srgbClr val="1B3A6B"/>
                </a:solidFill>
                <a:latin typeface="Calibri"/>
              </a:rPr>
              <a:t>44,1 Md€</a:t>
            </a:r>
          </a:p>
        </p:txBody>
      </p:sp>
      <p:sp>
        <p:nvSpPr>
          <p:cNvPr id="33" name="TextBox 32"/>
          <p:cNvSpPr txBox="1"/>
          <p:nvPr/>
        </p:nvSpPr>
        <p:spPr>
          <a:xfrm>
            <a:off x="5648400" y="2296800"/>
            <a:ext cx="3063600" cy="205199"/>
          </a:xfrm>
          <a:prstGeom prst="rect">
            <a:avLst/>
          </a:prstGeom>
          <a:noFill/>
        </p:spPr>
        <p:txBody>
          <a:bodyPr wrap="square">
            <a:spAutoFit/>
          </a:bodyPr>
          <a:lstStyle/>
          <a:p>
            <a:pPr algn="l"/>
            <a:r>
              <a:rPr sz="800" b="0" i="0">
                <a:solidFill>
                  <a:srgbClr val="555555"/>
                </a:solidFill>
                <a:latin typeface="Calibri"/>
              </a:rPr>
              <a:t>Chiffre d'affaires (2025)</a:t>
            </a:r>
          </a:p>
        </p:txBody>
      </p:sp>
      <p:sp>
        <p:nvSpPr>
          <p:cNvPr id="34" name="Rectangle 33"/>
          <p:cNvSpPr/>
          <p:nvPr/>
        </p:nvSpPr>
        <p:spPr>
          <a:xfrm>
            <a:off x="5558400" y="27324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58400" y="27324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48400" y="2786400"/>
            <a:ext cx="3063600" cy="396000"/>
          </a:xfrm>
          <a:prstGeom prst="rect">
            <a:avLst/>
          </a:prstGeom>
          <a:noFill/>
        </p:spPr>
        <p:txBody>
          <a:bodyPr wrap="square">
            <a:spAutoFit/>
          </a:bodyPr>
          <a:lstStyle/>
          <a:p>
            <a:pPr algn="l"/>
            <a:r>
              <a:rPr sz="1900" b="1" i="0">
                <a:solidFill>
                  <a:srgbClr val="1B3A6B"/>
                </a:solidFill>
                <a:latin typeface="Calibri"/>
              </a:rPr>
              <a:t>350,85 EUR</a:t>
            </a:r>
          </a:p>
        </p:txBody>
      </p:sp>
      <p:sp>
        <p:nvSpPr>
          <p:cNvPr id="37" name="TextBox 36"/>
          <p:cNvSpPr txBox="1"/>
          <p:nvPr/>
        </p:nvSpPr>
        <p:spPr>
          <a:xfrm>
            <a:off x="5648400" y="3182400"/>
            <a:ext cx="30636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38" name="Rectangle 37"/>
          <p:cNvSpPr/>
          <p:nvPr/>
        </p:nvSpPr>
        <p:spPr>
          <a:xfrm>
            <a:off x="5558400" y="36216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58400" y="36216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48400" y="3675600"/>
            <a:ext cx="3063600" cy="396000"/>
          </a:xfrm>
          <a:prstGeom prst="rect">
            <a:avLst/>
          </a:prstGeom>
          <a:noFill/>
        </p:spPr>
        <p:txBody>
          <a:bodyPr wrap="square">
            <a:spAutoFit/>
          </a:bodyPr>
          <a:lstStyle/>
          <a:p>
            <a:pPr algn="l"/>
            <a:r>
              <a:rPr sz="1900" b="1" i="0">
                <a:solidFill>
                  <a:srgbClr val="1B3A6B"/>
                </a:solidFill>
                <a:latin typeface="Calibri"/>
              </a:rPr>
              <a:t>17,6x</a:t>
            </a:r>
          </a:p>
        </p:txBody>
      </p:sp>
      <p:sp>
        <p:nvSpPr>
          <p:cNvPr id="41" name="TextBox 40"/>
          <p:cNvSpPr txBox="1"/>
          <p:nvPr/>
        </p:nvSpPr>
        <p:spPr>
          <a:xfrm>
            <a:off x="5648400" y="4071600"/>
            <a:ext cx="3063600" cy="205199"/>
          </a:xfrm>
          <a:prstGeom prst="rect">
            <a:avLst/>
          </a:prstGeom>
          <a:noFill/>
        </p:spPr>
        <p:txBody>
          <a:bodyPr wrap="square">
            <a:spAutoFit/>
          </a:bodyPr>
          <a:lstStyle/>
          <a:p>
            <a:pPr algn="l"/>
            <a:r>
              <a:rPr sz="800" b="0" i="0">
                <a:solidFill>
                  <a:srgbClr val="555555"/>
                </a:solidFill>
                <a:latin typeface="Calibri"/>
              </a:rPr>
              <a:t>EV/EBITDA (LTM)</a:t>
            </a:r>
          </a:p>
        </p:txBody>
      </p:sp>
      <p:sp>
        <p:nvSpPr>
          <p:cNvPr id="42" name="TextBox 41"/>
          <p:cNvSpPr txBox="1"/>
          <p:nvPr/>
        </p:nvSpPr>
        <p:spPr>
          <a:xfrm>
            <a:off x="5648400" y="4269600"/>
            <a:ext cx="3063600" cy="165600"/>
          </a:xfrm>
          <a:prstGeom prst="rect">
            <a:avLst/>
          </a:prstGeom>
          <a:noFill/>
        </p:spPr>
        <p:txBody>
          <a:bodyPr wrap="square">
            <a:spAutoFit/>
          </a:bodyPr>
          <a:lstStyle/>
          <a:p>
            <a:pPr algn="l"/>
            <a:r>
              <a:rPr sz="700" b="0" i="0">
                <a:solidFill>
                  <a:srgbClr val="888888"/>
                </a:solidFill>
                <a:latin typeface="Calibri"/>
              </a:rPr>
              <a:t>P/E : 30,6x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Modele Economique</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Segments operationnels et moteurs de croissance</a:t>
            </a:r>
          </a:p>
        </p:txBody>
      </p:sp>
      <p:sp>
        <p:nvSpPr>
          <p:cNvPr id="17" name="Rectangle 16"/>
          <p:cNvSpPr/>
          <p:nvPr/>
        </p:nvSpPr>
        <p:spPr>
          <a:xfrm>
            <a:off x="367200" y="961200"/>
            <a:ext cx="4150800" cy="3520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1508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141200"/>
            <a:ext cx="3970800" cy="640800"/>
          </a:xfrm>
          <a:prstGeom prst="rect">
            <a:avLst/>
          </a:prstGeom>
          <a:noFill/>
        </p:spPr>
        <p:txBody>
          <a:bodyPr wrap="square">
            <a:spAutoFit/>
          </a:bodyPr>
          <a:lstStyle/>
          <a:p>
            <a:pPr algn="l"/>
            <a:r>
              <a:rPr sz="2200" b="1" i="0">
                <a:solidFill>
                  <a:srgbClr val="2E5FA3"/>
                </a:solidFill>
                <a:latin typeface="Calibri"/>
              </a:rPr>
              <a:t>45%</a:t>
            </a:r>
          </a:p>
        </p:txBody>
      </p:sp>
      <p:sp>
        <p:nvSpPr>
          <p:cNvPr id="20" name="TextBox 19"/>
          <p:cNvSpPr txBox="1"/>
          <p:nvPr/>
        </p:nvSpPr>
        <p:spPr>
          <a:xfrm>
            <a:off x="4572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1" name="Rectangle 20"/>
          <p:cNvSpPr/>
          <p:nvPr/>
        </p:nvSpPr>
        <p:spPr>
          <a:xfrm>
            <a:off x="4572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059200"/>
            <a:ext cx="3970800" cy="255600"/>
          </a:xfrm>
          <a:prstGeom prst="rect">
            <a:avLst/>
          </a:prstGeom>
          <a:noFill/>
        </p:spPr>
        <p:txBody>
          <a:bodyPr wrap="square">
            <a:spAutoFit/>
          </a:bodyPr>
          <a:lstStyle/>
          <a:p>
            <a:pPr algn="l"/>
            <a:r>
              <a:rPr sz="1000" b="1" i="0">
                <a:solidFill>
                  <a:srgbClr val="1B3A6B"/>
                </a:solidFill>
                <a:latin typeface="Calibri"/>
              </a:rPr>
              <a:t>Produits Grand Public</a:t>
            </a:r>
          </a:p>
        </p:txBody>
      </p:sp>
      <p:sp>
        <p:nvSpPr>
          <p:cNvPr id="23" name="TextBox 22"/>
          <p:cNvSpPr txBox="1"/>
          <p:nvPr/>
        </p:nvSpPr>
        <p:spPr>
          <a:xfrm>
            <a:off x="457200" y="2332800"/>
            <a:ext cx="3970800" cy="2041199"/>
          </a:xfrm>
          <a:prstGeom prst="rect">
            <a:avLst/>
          </a:prstGeom>
          <a:noFill/>
        </p:spPr>
        <p:txBody>
          <a:bodyPr wrap="square">
            <a:spAutoFit/>
          </a:bodyPr>
          <a:lstStyle/>
          <a:p>
            <a:pPr algn="l"/>
            <a:r>
              <a:rPr sz="800" b="0" i="0">
                <a:solidFill>
                  <a:srgbClr val="555555"/>
                </a:solidFill>
                <a:latin typeface="Calibri"/>
              </a:rPr>
              <a:t>Segment le plus large avec des marques comme Garnier et L'Oréal Paris, ciblant les consommateurs via la grande distribution et le e-commerce. Modèle basé sur le volume et l'accessibilité, avec une croissance tirée par l'Asie et l'Amérique latine. Marges sous pression mais compensées par des économies d'échelle et une gestion rigoureuse des coûts.</a:t>
            </a:r>
          </a:p>
        </p:txBody>
      </p:sp>
      <p:sp>
        <p:nvSpPr>
          <p:cNvPr id="24" name="Rectangle 23"/>
          <p:cNvSpPr/>
          <p:nvPr/>
        </p:nvSpPr>
        <p:spPr>
          <a:xfrm>
            <a:off x="4626000" y="961200"/>
            <a:ext cx="4150800" cy="35208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26000" y="961200"/>
            <a:ext cx="4150800" cy="5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16000" y="1141200"/>
            <a:ext cx="3970800" cy="640800"/>
          </a:xfrm>
          <a:prstGeom prst="rect">
            <a:avLst/>
          </a:prstGeom>
          <a:noFill/>
        </p:spPr>
        <p:txBody>
          <a:bodyPr wrap="square">
            <a:spAutoFit/>
          </a:bodyPr>
          <a:lstStyle/>
          <a:p>
            <a:pPr algn="l"/>
            <a:r>
              <a:rPr sz="2200" b="1" i="0">
                <a:solidFill>
                  <a:srgbClr val="1A7A4A"/>
                </a:solidFill>
                <a:latin typeface="Calibri"/>
              </a:rPr>
              <a:t>23%</a:t>
            </a:r>
          </a:p>
        </p:txBody>
      </p:sp>
      <p:sp>
        <p:nvSpPr>
          <p:cNvPr id="27" name="TextBox 26"/>
          <p:cNvSpPr txBox="1"/>
          <p:nvPr/>
        </p:nvSpPr>
        <p:spPr>
          <a:xfrm>
            <a:off x="47160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8" name="Rectangle 27"/>
          <p:cNvSpPr/>
          <p:nvPr/>
        </p:nvSpPr>
        <p:spPr>
          <a:xfrm>
            <a:off x="47160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16000" y="2059200"/>
            <a:ext cx="3970800" cy="255600"/>
          </a:xfrm>
          <a:prstGeom prst="rect">
            <a:avLst/>
          </a:prstGeom>
          <a:noFill/>
        </p:spPr>
        <p:txBody>
          <a:bodyPr wrap="square">
            <a:spAutoFit/>
          </a:bodyPr>
          <a:lstStyle/>
          <a:p>
            <a:pPr algn="l"/>
            <a:r>
              <a:rPr sz="1000" b="1" i="0">
                <a:solidFill>
                  <a:srgbClr val="1B3A6B"/>
                </a:solidFill>
                <a:latin typeface="Calibri"/>
              </a:rPr>
              <a:t>Produits Professionnels</a:t>
            </a:r>
          </a:p>
        </p:txBody>
      </p:sp>
      <p:sp>
        <p:nvSpPr>
          <p:cNvPr id="30" name="TextBox 29"/>
          <p:cNvSpPr txBox="1"/>
          <p:nvPr/>
        </p:nvSpPr>
        <p:spPr>
          <a:xfrm>
            <a:off x="4716000" y="2332800"/>
            <a:ext cx="3970800" cy="2041199"/>
          </a:xfrm>
          <a:prstGeom prst="rect">
            <a:avLst/>
          </a:prstGeom>
          <a:noFill/>
        </p:spPr>
        <p:txBody>
          <a:bodyPr wrap="square">
            <a:spAutoFit/>
          </a:bodyPr>
          <a:lstStyle/>
          <a:p>
            <a:pPr algn="l"/>
            <a:r>
              <a:rPr sz="800" b="0" i="0">
                <a:solidFill>
                  <a:srgbClr val="555555"/>
                </a:solidFill>
                <a:latin typeface="Calibri"/>
              </a:rPr>
              <a:t>Cible les salons de coiffure avec des marques comme Kérastase et Redken. Modèle récurrent basé sur des contrats de distribution et des services aux professionnels. Croissance stable grâce à la fidélisation des salons et à l'innovation produit. Marges élevées et résilientes aux cycles économiques.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02</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Analyse Financière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Compte de résultat, bilan, liquidité &amp; ratios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Financière — Compte de Résultat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EUR millions  ·  2021–2027F</a:t>
            </a:r>
          </a:p>
        </p:txBody>
      </p:sp>
      <p:graphicFrame>
        <p:nvGraphicFramePr>
          <p:cNvPr id="17" name="Table 16"/>
          <p:cNvGraphicFramePr>
            <a:graphicFrameLocks noGrp="1"/>
          </p:cNvGraphicFramePr>
          <p:nvPr/>
        </p:nvGraphicFramePr>
        <p:xfrm>
          <a:off x="367200" y="914400"/>
          <a:ext cx="8413196" cy="1980000"/>
        </p:xfrm>
        <a:graphic>
          <a:graphicData uri="http://schemas.openxmlformats.org/drawingml/2006/table">
            <a:tbl>
              <a:tblPr firstRow="1" bandRow="1">
                <a:tableStyleId>{5C22544A-7EE6-4342-B048-85BDC9FD1C3A}</a:tableStyleId>
              </a:tblPr>
              <a:tblGrid>
                <a:gridCol w="2355696"/>
                <a:gridCol w="1211500"/>
                <a:gridCol w="1211500"/>
                <a:gridCol w="1211500"/>
                <a:gridCol w="1211500"/>
                <a:gridCol w="1211500"/>
              </a:tblGrid>
              <a:tr h="220000">
                <a:tc>
                  <a:txBody>
                    <a:bodyPr/>
                    <a:lstStyle/>
                    <a:p>
                      <a:pPr algn="l"/>
                      <a:r>
                        <a:rPr sz="800" b="1" i="0">
                          <a:solidFill>
                            <a:srgbClr val="FFFFFF"/>
                          </a:solidFill>
                          <a:latin typeface="Calibri"/>
                        </a:rPr>
                        <a:t>Indicateur</a:t>
                      </a:r>
                    </a:p>
                  </a:txBody>
                  <a:tcPr>
                    <a:solidFill>
                      <a:srgbClr val="1B3A6B"/>
                    </a:solidFill>
                  </a:tcPr>
                </a:tc>
                <a:tc>
                  <a:txBody>
                    <a:bodyPr/>
                    <a:lstStyle/>
                    <a:p>
                      <a:pPr algn="ctr"/>
                      <a:r>
                        <a:rPr sz="800" b="1" i="0">
                          <a:solidFill>
                            <a:srgbClr val="FFFFFF"/>
                          </a:solidFill>
                          <a:latin typeface="Calibri"/>
                        </a:rPr>
                        <a:t>2023</a:t>
                      </a:r>
                    </a:p>
                  </a:txBody>
                  <a:tcPr>
                    <a:solidFill>
                      <a:srgbClr val="1B3A6B"/>
                    </a:solidFill>
                  </a:tcPr>
                </a:tc>
                <a:tc>
                  <a:txBody>
                    <a:bodyPr/>
                    <a:lstStyle/>
                    <a:p>
                      <a:pPr algn="ctr"/>
                      <a:r>
                        <a:rPr sz="800" b="1" i="0">
                          <a:solidFill>
                            <a:srgbClr val="FFFFFF"/>
                          </a:solidFill>
                          <a:latin typeface="Calibri"/>
                        </a:rPr>
                        <a:t>2024</a:t>
                      </a:r>
                    </a:p>
                  </a:txBody>
                  <a:tcPr>
                    <a:solidFill>
                      <a:srgbClr val="1B3A6B"/>
                    </a:solidFill>
                  </a:tcPr>
                </a:tc>
                <a:tc>
                  <a:txBody>
                    <a:bodyPr/>
                    <a:lstStyle/>
                    <a:p>
                      <a:pPr algn="ctr"/>
                      <a:r>
                        <a:rPr sz="800" b="1" i="0">
                          <a:solidFill>
                            <a:srgbClr val="FFFFFF"/>
                          </a:solidFill>
                          <a:latin typeface="Calibri"/>
                        </a:rPr>
                        <a:t>2025</a:t>
                      </a:r>
                    </a:p>
                  </a:txBody>
                  <a:tcPr>
                    <a:solidFill>
                      <a:srgbClr val="1B3A6B"/>
                    </a:solidFill>
                  </a:tcPr>
                </a:tc>
                <a:tc>
                  <a:txBody>
                    <a:bodyPr/>
                    <a:lstStyle/>
                    <a:p>
                      <a:pPr algn="ctr"/>
                      <a:r>
                        <a:rPr sz="800" b="1" i="0">
                          <a:solidFill>
                            <a:srgbClr val="FFFFFF"/>
                          </a:solidFill>
                          <a:latin typeface="Calibri"/>
                        </a:rPr>
                        <a:t>2026F</a:t>
                      </a:r>
                    </a:p>
                  </a:txBody>
                  <a:tcPr>
                    <a:solidFill>
                      <a:srgbClr val="1B3A6B"/>
                    </a:solidFill>
                  </a:tcPr>
                </a:tc>
                <a:tc>
                  <a:txBody>
                    <a:bodyPr/>
                    <a:lstStyle/>
                    <a:p>
                      <a:pPr algn="ctr"/>
                      <a:r>
                        <a:rPr sz="800" b="1" i="0">
                          <a:solidFill>
                            <a:srgbClr val="FFFFFF"/>
                          </a:solidFill>
                          <a:latin typeface="Calibri"/>
                        </a:rPr>
                        <a:t>2027F</a:t>
                      </a:r>
                    </a:p>
                  </a:txBody>
                  <a:tcPr>
                    <a:solidFill>
                      <a:srgbClr val="1B3A6B"/>
                    </a:solidFill>
                  </a:tcPr>
                </a:tc>
              </a:tr>
              <a:tr h="220000">
                <a:tc>
                  <a:txBody>
                    <a:bodyPr/>
                    <a:lstStyle/>
                    <a:p>
                      <a:pPr algn="l"/>
                      <a:r>
                        <a:rPr sz="800" b="1" i="0">
                          <a:solidFill>
                            <a:srgbClr val="0D0D0D"/>
                          </a:solidFill>
                          <a:latin typeface="Calibri"/>
                        </a:rPr>
                        <a:t>Chiffre d'affaires</a:t>
                      </a:r>
                    </a:p>
                  </a:txBody>
                  <a:tcPr>
                    <a:solidFill>
                      <a:srgbClr val="FFFFFF"/>
                    </a:solidFill>
                  </a:tcPr>
                </a:tc>
                <a:tc>
                  <a:txBody>
                    <a:bodyPr/>
                    <a:lstStyle/>
                    <a:p>
                      <a:pPr algn="ctr"/>
                      <a:r>
                        <a:rPr sz="800" b="1" i="0">
                          <a:solidFill>
                            <a:srgbClr val="0D0D0D"/>
                          </a:solidFill>
                          <a:latin typeface="Calibri"/>
                        </a:rPr>
                        <a:t>41,2</a:t>
                      </a:r>
                    </a:p>
                  </a:txBody>
                  <a:tcPr>
                    <a:solidFill>
                      <a:srgbClr val="FFFFFF"/>
                    </a:solidFill>
                  </a:tcPr>
                </a:tc>
                <a:tc>
                  <a:txBody>
                    <a:bodyPr/>
                    <a:lstStyle/>
                    <a:p>
                      <a:pPr algn="ctr"/>
                      <a:r>
                        <a:rPr sz="800" b="1" i="0">
                          <a:solidFill>
                            <a:srgbClr val="0D0D0D"/>
                          </a:solidFill>
                          <a:latin typeface="Calibri"/>
                        </a:rPr>
                        <a:t>43,5</a:t>
                      </a:r>
                    </a:p>
                  </a:txBody>
                  <a:tcPr>
                    <a:solidFill>
                      <a:srgbClr val="FFFFFF"/>
                    </a:solidFill>
                  </a:tcPr>
                </a:tc>
                <a:tc>
                  <a:txBody>
                    <a:bodyPr/>
                    <a:lstStyle/>
                    <a:p>
                      <a:pPr algn="ctr"/>
                      <a:r>
                        <a:rPr sz="800" b="1" i="0">
                          <a:solidFill>
                            <a:srgbClr val="1B3A6B"/>
                          </a:solidFill>
                          <a:latin typeface="Calibri"/>
                        </a:rPr>
                        <a:t>44,1</a:t>
                      </a:r>
                    </a:p>
                  </a:txBody>
                  <a:tcPr>
                    <a:solidFill>
                      <a:srgbClr val="DDE8F5"/>
                    </a:solidFill>
                  </a:tcPr>
                </a:tc>
                <a:tc>
                  <a:txBody>
                    <a:bodyPr/>
                    <a:lstStyle/>
                    <a:p>
                      <a:pPr algn="ctr"/>
                      <a:r>
                        <a:rPr sz="800" b="1" i="0">
                          <a:solidFill>
                            <a:srgbClr val="0D0D0D"/>
                          </a:solidFill>
                          <a:latin typeface="Calibri"/>
                        </a:rPr>
                        <a:t>45,2</a:t>
                      </a:r>
                    </a:p>
                  </a:txBody>
                  <a:tcPr>
                    <a:solidFill>
                      <a:srgbClr val="FFFFFF"/>
                    </a:solidFill>
                  </a:tcPr>
                </a:tc>
                <a:tc>
                  <a:txBody>
                    <a:bodyPr/>
                    <a:lstStyle/>
                    <a:p>
                      <a:pPr algn="ctr"/>
                      <a:r>
                        <a:rPr sz="800" b="1" i="0">
                          <a:solidFill>
                            <a:srgbClr val="0D0D0D"/>
                          </a:solidFill>
                          <a:latin typeface="Calibri"/>
                        </a:rPr>
                        <a:t>47,0</a:t>
                      </a:r>
                    </a:p>
                  </a:txBody>
                  <a:tcPr>
                    <a:solidFill>
                      <a:srgbClr val="FFFFFF"/>
                    </a:solidFill>
                  </a:tcPr>
                </a:tc>
              </a:tr>
              <a:tr h="220000">
                <a:tc>
                  <a:txBody>
                    <a:bodyPr/>
                    <a:lstStyle/>
                    <a:p>
                      <a:pPr algn="l"/>
                      <a:r>
                        <a:rPr sz="750" b="0" i="1">
                          <a:solidFill>
                            <a:srgbClr val="555555"/>
                          </a:solidFill>
                          <a:latin typeface="Calibri"/>
                        </a:rPr>
                        <a:t>Croissance YoY</a:t>
                      </a:r>
                    </a:p>
                  </a:txBody>
                  <a:tcPr>
                    <a:solidFill>
                      <a:srgbClr val="F7F8FA"/>
                    </a:solidFill>
                  </a:tcPr>
                </a:tc>
                <a:tc>
                  <a:txBody>
                    <a:bodyPr/>
                    <a:lstStyle/>
                    <a:p>
                      <a:pPr algn="ctr"/>
                      <a:r>
                        <a:rPr sz="750" b="0" i="1">
                          <a:solidFill>
                            <a:srgbClr val="555555"/>
                          </a:solidFill>
                          <a:latin typeface="Calibri"/>
                        </a:rPr>
                        <a:t>+7,6 %</a:t>
                      </a:r>
                    </a:p>
                  </a:txBody>
                  <a:tcPr>
                    <a:solidFill>
                      <a:srgbClr val="F7F8FA"/>
                    </a:solidFill>
                  </a:tcPr>
                </a:tc>
                <a:tc>
                  <a:txBody>
                    <a:bodyPr/>
                    <a:lstStyle/>
                    <a:p>
                      <a:pPr algn="ctr"/>
                      <a:r>
                        <a:rPr sz="750" b="0" i="1">
                          <a:solidFill>
                            <a:srgbClr val="555555"/>
                          </a:solidFill>
                          <a:latin typeface="Calibri"/>
                        </a:rPr>
                        <a:t>+5,6 %</a:t>
                      </a:r>
                    </a:p>
                  </a:txBody>
                  <a:tcPr>
                    <a:solidFill>
                      <a:srgbClr val="F7F8FA"/>
                    </a:solidFill>
                  </a:tcPr>
                </a:tc>
                <a:tc>
                  <a:txBody>
                    <a:bodyPr/>
                    <a:lstStyle/>
                    <a:p>
                      <a:pPr algn="ctr"/>
                      <a:r>
                        <a:rPr sz="750" b="0" i="1">
                          <a:solidFill>
                            <a:srgbClr val="555555"/>
                          </a:solidFill>
                          <a:latin typeface="Calibri"/>
                        </a:rPr>
                        <a:t>+1,3 %</a:t>
                      </a:r>
                    </a:p>
                  </a:txBody>
                  <a:tcPr>
                    <a:solidFill>
                      <a:srgbClr val="DDE8F5"/>
                    </a:solidFill>
                  </a:tcPr>
                </a:tc>
                <a:tc>
                  <a:txBody>
                    <a:bodyPr/>
                    <a:lstStyle/>
                    <a:p>
                      <a:pPr algn="ctr"/>
                      <a:r>
                        <a:rPr sz="750" b="0" i="1">
                          <a:solidFill>
                            <a:srgbClr val="555555"/>
                          </a:solidFill>
                          <a:latin typeface="Calibri"/>
                        </a:rPr>
                        <a:t>+2,6 %</a:t>
                      </a:r>
                    </a:p>
                  </a:txBody>
                  <a:tcPr>
                    <a:solidFill>
                      <a:srgbClr val="F7F8FA"/>
                    </a:solidFill>
                  </a:tcPr>
                </a:tc>
                <a:tc>
                  <a:txBody>
                    <a:bodyPr/>
                    <a:lstStyle/>
                    <a:p>
                      <a:pPr algn="ctr"/>
                      <a:r>
                        <a:rPr sz="750" b="0" i="1">
                          <a:solidFill>
                            <a:srgbClr val="555555"/>
                          </a:solidFill>
                          <a:latin typeface="Calibri"/>
                        </a:rPr>
                        <a:t>+4,0 %</a:t>
                      </a:r>
                    </a:p>
                  </a:txBody>
                  <a:tcPr>
                    <a:solidFill>
                      <a:srgbClr val="F7F8FA"/>
                    </a:solidFill>
                  </a:tcPr>
                </a:tc>
              </a:tr>
              <a:tr h="220000">
                <a:tc>
                  <a:txBody>
                    <a:bodyPr/>
                    <a:lstStyle/>
                    <a:p>
                      <a:pPr algn="l"/>
                      <a:r>
                        <a:rPr sz="800" b="1" i="0">
                          <a:solidFill>
                            <a:srgbClr val="0D0D0D"/>
                          </a:solidFill>
                          <a:latin typeface="Calibri"/>
                        </a:rPr>
                        <a:t>Resultat brut</a:t>
                      </a:r>
                    </a:p>
                  </a:txBody>
                  <a:tcPr>
                    <a:solidFill>
                      <a:srgbClr val="FFFFFF"/>
                    </a:solidFill>
                  </a:tcPr>
                </a:tc>
                <a:tc>
                  <a:txBody>
                    <a:bodyPr/>
                    <a:lstStyle/>
                    <a:p>
                      <a:pPr algn="ctr"/>
                      <a:r>
                        <a:rPr sz="800" b="1" i="0">
                          <a:solidFill>
                            <a:srgbClr val="0D0D0D"/>
                          </a:solidFill>
                          <a:latin typeface="Calibri"/>
                        </a:rPr>
                        <a:t>30,4</a:t>
                      </a:r>
                    </a:p>
                  </a:txBody>
                  <a:tcPr>
                    <a:solidFill>
                      <a:srgbClr val="FFFFFF"/>
                    </a:solidFill>
                  </a:tcPr>
                </a:tc>
                <a:tc>
                  <a:txBody>
                    <a:bodyPr/>
                    <a:lstStyle/>
                    <a:p>
                      <a:pPr algn="ctr"/>
                      <a:r>
                        <a:rPr sz="800" b="1" i="0">
                          <a:solidFill>
                            <a:srgbClr val="0D0D0D"/>
                          </a:solidFill>
                          <a:latin typeface="Calibri"/>
                        </a:rPr>
                        <a:t>32,3</a:t>
                      </a:r>
                    </a:p>
                  </a:txBody>
                  <a:tcPr>
                    <a:solidFill>
                      <a:srgbClr val="FFFFFF"/>
                    </a:solidFill>
                  </a:tcPr>
                </a:tc>
                <a:tc>
                  <a:txBody>
                    <a:bodyPr/>
                    <a:lstStyle/>
                    <a:p>
                      <a:pPr algn="ctr"/>
                      <a:r>
                        <a:rPr sz="800" b="1" i="0">
                          <a:solidFill>
                            <a:srgbClr val="1B3A6B"/>
                          </a:solidFill>
                          <a:latin typeface="Calibri"/>
                        </a:rPr>
                        <a:t>32,7</a:t>
                      </a:r>
                    </a:p>
                  </a:txBody>
                  <a:tcPr>
                    <a:solidFill>
                      <a:srgbClr val="DDE8F5"/>
                    </a:solidFill>
                  </a:tcPr>
                </a:tc>
                <a:tc>
                  <a:txBody>
                    <a:bodyPr/>
                    <a:lstStyle/>
                    <a:p>
                      <a:pPr algn="ctr"/>
                      <a:r>
                        <a:rPr sz="800" b="1" i="0">
                          <a:solidFill>
                            <a:srgbClr val="0D0D0D"/>
                          </a:solidFill>
                          <a:latin typeface="Calibri"/>
                        </a:rPr>
                        <a:t>33,7</a:t>
                      </a:r>
                    </a:p>
                  </a:txBody>
                  <a:tcPr>
                    <a:solidFill>
                      <a:srgbClr val="FFFFFF"/>
                    </a:solidFill>
                  </a:tcPr>
                </a:tc>
                <a:tc>
                  <a:txBody>
                    <a:bodyPr/>
                    <a:lstStyle/>
                    <a:p>
                      <a:pPr algn="ctr"/>
                      <a:r>
                        <a:rPr sz="800" b="1" i="0">
                          <a:solidFill>
                            <a:srgbClr val="0D0D0D"/>
                          </a:solidFill>
                          <a:latin typeface="Calibri"/>
                        </a:rPr>
                        <a:t>35,2</a:t>
                      </a:r>
                    </a:p>
                  </a:txBody>
                  <a:tcPr>
                    <a:solidFill>
                      <a:srgbClr val="FFFFFF"/>
                    </a:solidFill>
                  </a:tcPr>
                </a:tc>
              </a:tr>
              <a:tr h="220000">
                <a:tc>
                  <a:txBody>
                    <a:bodyPr/>
                    <a:lstStyle/>
                    <a:p>
                      <a:pPr algn="l"/>
                      <a:r>
                        <a:rPr sz="750" b="0" i="1">
                          <a:solidFill>
                            <a:srgbClr val="555555"/>
                          </a:solidFill>
                          <a:latin typeface="Calibri"/>
                        </a:rPr>
                        <a:t>Marge brute</a:t>
                      </a:r>
                    </a:p>
                  </a:txBody>
                  <a:tcPr>
                    <a:solidFill>
                      <a:srgbClr val="F7F8FA"/>
                    </a:solidFill>
                  </a:tcPr>
                </a:tc>
                <a:tc>
                  <a:txBody>
                    <a:bodyPr/>
                    <a:lstStyle/>
                    <a:p>
                      <a:pPr algn="ctr"/>
                      <a:r>
                        <a:rPr sz="750" b="0" i="1">
                          <a:solidFill>
                            <a:srgbClr val="555555"/>
                          </a:solidFill>
                          <a:latin typeface="Calibri"/>
                        </a:rPr>
                        <a:t>73,9 %</a:t>
                      </a:r>
                    </a:p>
                  </a:txBody>
                  <a:tcPr>
                    <a:solidFill>
                      <a:srgbClr val="F7F8FA"/>
                    </a:solidFill>
                  </a:tcPr>
                </a:tc>
                <a:tc>
                  <a:txBody>
                    <a:bodyPr/>
                    <a:lstStyle/>
                    <a:p>
                      <a:pPr algn="ctr"/>
                      <a:r>
                        <a:rPr sz="750" b="0" i="1">
                          <a:solidFill>
                            <a:srgbClr val="555555"/>
                          </a:solidFill>
                          <a:latin typeface="Calibri"/>
                        </a:rPr>
                        <a:t>74,2 %</a:t>
                      </a:r>
                    </a:p>
                  </a:txBody>
                  <a:tcPr>
                    <a:solidFill>
                      <a:srgbClr val="F7F8FA"/>
                    </a:solidFill>
                  </a:tcPr>
                </a:tc>
                <a:tc>
                  <a:txBody>
                    <a:bodyPr/>
                    <a:lstStyle/>
                    <a:p>
                      <a:pPr algn="ctr"/>
                      <a:r>
                        <a:rPr sz="750" b="0" i="1">
                          <a:solidFill>
                            <a:srgbClr val="555555"/>
                          </a:solidFill>
                          <a:latin typeface="Calibri"/>
                        </a:rPr>
                        <a:t>74,3 %</a:t>
                      </a:r>
                    </a:p>
                  </a:txBody>
                  <a:tcPr>
                    <a:solidFill>
                      <a:srgbClr val="DDE8F5"/>
                    </a:solidFill>
                  </a:tcPr>
                </a:tc>
                <a:tc>
                  <a:txBody>
                    <a:bodyPr/>
                    <a:lstStyle/>
                    <a:p>
                      <a:pPr algn="ctr"/>
                      <a:r>
                        <a:rPr sz="750" b="0" i="1">
                          <a:solidFill>
                            <a:srgbClr val="555555"/>
                          </a:solidFill>
                          <a:latin typeface="Calibri"/>
                        </a:rPr>
                        <a:t>74,5 %</a:t>
                      </a:r>
                    </a:p>
                  </a:txBody>
                  <a:tcPr>
                    <a:solidFill>
                      <a:srgbClr val="F7F8FA"/>
                    </a:solidFill>
                  </a:tcPr>
                </a:tc>
                <a:tc>
                  <a:txBody>
                    <a:bodyPr/>
                    <a:lstStyle/>
                    <a:p>
                      <a:pPr algn="ctr"/>
                      <a:r>
                        <a:rPr sz="750" b="0" i="1">
                          <a:solidFill>
                            <a:srgbClr val="555555"/>
                          </a:solidFill>
                          <a:latin typeface="Calibri"/>
                        </a:rPr>
                        <a:t>74,8 %</a:t>
                      </a:r>
                    </a:p>
                  </a:txBody>
                  <a:tcPr>
                    <a:solidFill>
                      <a:srgbClr val="F7F8FA"/>
                    </a:solidFill>
                  </a:tcPr>
                </a:tc>
              </a:tr>
              <a:tr h="220000">
                <a:tc>
                  <a:txBody>
                    <a:bodyPr/>
                    <a:lstStyle/>
                    <a:p>
                      <a:pPr algn="l"/>
                      <a:r>
                        <a:rPr sz="800" b="1" i="0">
                          <a:solidFill>
                            <a:srgbClr val="0D0D0D"/>
                          </a:solidFill>
                          <a:latin typeface="Calibri"/>
                        </a:rPr>
                        <a:t>EBITDA</a:t>
                      </a:r>
                    </a:p>
                  </a:txBody>
                  <a:tcPr>
                    <a:solidFill>
                      <a:srgbClr val="FFFFFF"/>
                    </a:solidFill>
                  </a:tcPr>
                </a:tc>
                <a:tc>
                  <a:txBody>
                    <a:bodyPr/>
                    <a:lstStyle/>
                    <a:p>
                      <a:pPr algn="ctr"/>
                      <a:r>
                        <a:rPr sz="800" b="1" i="0">
                          <a:solidFill>
                            <a:srgbClr val="0D0D0D"/>
                          </a:solidFill>
                          <a:latin typeface="Calibri"/>
                        </a:rPr>
                        <a:t>9,9</a:t>
                      </a:r>
                    </a:p>
                  </a:txBody>
                  <a:tcPr>
                    <a:solidFill>
                      <a:srgbClr val="FFFFFF"/>
                    </a:solidFill>
                  </a:tcPr>
                </a:tc>
                <a:tc>
                  <a:txBody>
                    <a:bodyPr/>
                    <a:lstStyle/>
                    <a:p>
                      <a:pPr algn="ctr"/>
                      <a:r>
                        <a:rPr sz="800" b="1" i="0">
                          <a:solidFill>
                            <a:srgbClr val="0D0D0D"/>
                          </a:solidFill>
                          <a:latin typeface="Calibri"/>
                        </a:rPr>
                        <a:t>10,7</a:t>
                      </a:r>
                    </a:p>
                  </a:txBody>
                  <a:tcPr>
                    <a:solidFill>
                      <a:srgbClr val="FFFFFF"/>
                    </a:solidFill>
                  </a:tcPr>
                </a:tc>
                <a:tc>
                  <a:txBody>
                    <a:bodyPr/>
                    <a:lstStyle/>
                    <a:p>
                      <a:pPr algn="ctr"/>
                      <a:r>
                        <a:rPr sz="800" b="1" i="0">
                          <a:solidFill>
                            <a:srgbClr val="1B3A6B"/>
                          </a:solidFill>
                          <a:latin typeface="Calibri"/>
                        </a:rPr>
                        <a:t>10,7</a:t>
                      </a:r>
                    </a:p>
                  </a:txBody>
                  <a:tcPr>
                    <a:solidFill>
                      <a:srgbClr val="DDE8F5"/>
                    </a:solidFill>
                  </a:tcPr>
                </a:tc>
                <a:tc>
                  <a:txBody>
                    <a:bodyPr/>
                    <a:lstStyle/>
                    <a:p>
                      <a:pPr algn="ctr"/>
                      <a:r>
                        <a:rPr sz="800" b="1" i="0">
                          <a:solidFill>
                            <a:srgbClr val="0D0D0D"/>
                          </a:solidFill>
                          <a:latin typeface="Calibri"/>
                        </a:rPr>
                        <a:t>11,4</a:t>
                      </a:r>
                    </a:p>
                  </a:txBody>
                  <a:tcPr>
                    <a:solidFill>
                      <a:srgbClr val="FFFFFF"/>
                    </a:solidFill>
                  </a:tcPr>
                </a:tc>
                <a:tc>
                  <a:txBody>
                    <a:bodyPr/>
                    <a:lstStyle/>
                    <a:p>
                      <a:pPr algn="ctr"/>
                      <a:r>
                        <a:rPr sz="800" b="1" i="0">
                          <a:solidFill>
                            <a:srgbClr val="0D0D0D"/>
                          </a:solidFill>
                          <a:latin typeface="Calibri"/>
                        </a:rPr>
                        <a:t>11,9</a:t>
                      </a:r>
                    </a:p>
                  </a:txBody>
                  <a:tcPr>
                    <a:solidFill>
                      <a:srgbClr val="FFFFFF"/>
                    </a:solidFill>
                  </a:tcPr>
                </a:tc>
              </a:tr>
              <a:tr h="220000">
                <a:tc>
                  <a:txBody>
                    <a:bodyPr/>
                    <a:lstStyle/>
                    <a:p>
                      <a:pPr algn="l"/>
                      <a:r>
                        <a:rPr sz="750" b="0" i="1">
                          <a:solidFill>
                            <a:srgbClr val="555555"/>
                          </a:solidFill>
                          <a:latin typeface="Calibri"/>
                        </a:rPr>
                        <a:t>Marge EBITDA</a:t>
                      </a:r>
                    </a:p>
                  </a:txBody>
                  <a:tcPr>
                    <a:solidFill>
                      <a:srgbClr val="F7F8FA"/>
                    </a:solidFill>
                  </a:tcPr>
                </a:tc>
                <a:tc>
                  <a:txBody>
                    <a:bodyPr/>
                    <a:lstStyle/>
                    <a:p>
                      <a:pPr algn="ctr"/>
                      <a:r>
                        <a:rPr sz="750" b="0" i="1">
                          <a:solidFill>
                            <a:srgbClr val="555555"/>
                          </a:solidFill>
                          <a:latin typeface="Calibri"/>
                        </a:rPr>
                        <a:t>24,1 %</a:t>
                      </a:r>
                    </a:p>
                  </a:txBody>
                  <a:tcPr>
                    <a:solidFill>
                      <a:srgbClr val="F7F8FA"/>
                    </a:solidFill>
                  </a:tcPr>
                </a:tc>
                <a:tc>
                  <a:txBody>
                    <a:bodyPr/>
                    <a:lstStyle/>
                    <a:p>
                      <a:pPr algn="ctr"/>
                      <a:r>
                        <a:rPr sz="750" b="0" i="1">
                          <a:solidFill>
                            <a:srgbClr val="555555"/>
                          </a:solidFill>
                          <a:latin typeface="Calibri"/>
                        </a:rPr>
                        <a:t>24,5 %</a:t>
                      </a:r>
                    </a:p>
                  </a:txBody>
                  <a:tcPr>
                    <a:solidFill>
                      <a:srgbClr val="F7F8FA"/>
                    </a:solidFill>
                  </a:tcPr>
                </a:tc>
                <a:tc>
                  <a:txBody>
                    <a:bodyPr/>
                    <a:lstStyle/>
                    <a:p>
                      <a:pPr algn="ctr"/>
                      <a:r>
                        <a:rPr sz="750" b="0" i="1">
                          <a:solidFill>
                            <a:srgbClr val="555555"/>
                          </a:solidFill>
                          <a:latin typeface="Calibri"/>
                        </a:rPr>
                        <a:t>24,3 %</a:t>
                      </a:r>
                    </a:p>
                  </a:txBody>
                  <a:tcPr>
                    <a:solidFill>
                      <a:srgbClr val="DDE8F5"/>
                    </a:solidFill>
                  </a:tcPr>
                </a:tc>
                <a:tc>
                  <a:txBody>
                    <a:bodyPr/>
                    <a:lstStyle/>
                    <a:p>
                      <a:pPr algn="ctr"/>
                      <a:r>
                        <a:rPr sz="750" b="0" i="1">
                          <a:solidFill>
                            <a:srgbClr val="555555"/>
                          </a:solidFill>
                          <a:latin typeface="Calibri"/>
                        </a:rPr>
                        <a:t>25,2 %</a:t>
                      </a:r>
                    </a:p>
                  </a:txBody>
                  <a:tcPr>
                    <a:solidFill>
                      <a:srgbClr val="F7F8FA"/>
                    </a:solidFill>
                  </a:tcPr>
                </a:tc>
                <a:tc>
                  <a:txBody>
                    <a:bodyPr/>
                    <a:lstStyle/>
                    <a:p>
                      <a:pPr algn="ctr"/>
                      <a:r>
                        <a:rPr sz="750" b="0" i="1">
                          <a:solidFill>
                            <a:srgbClr val="555555"/>
                          </a:solidFill>
                          <a:latin typeface="Calibri"/>
                        </a:rPr>
                        <a:t>25,3 %</a:t>
                      </a:r>
                    </a:p>
                  </a:txBody>
                  <a:tcPr>
                    <a:solidFill>
                      <a:srgbClr val="F7F8FA"/>
                    </a:solidFill>
                  </a:tcPr>
                </a:tc>
              </a:tr>
              <a:tr h="220000">
                <a:tc>
                  <a:txBody>
                    <a:bodyPr/>
                    <a:lstStyle/>
                    <a:p>
                      <a:pPr algn="l"/>
                      <a:r>
                        <a:rPr sz="800" b="1" i="0">
                          <a:solidFill>
                            <a:srgbClr val="0D0D0D"/>
                          </a:solidFill>
                          <a:latin typeface="Calibri"/>
                        </a:rPr>
                        <a:t>Resultat net</a:t>
                      </a:r>
                    </a:p>
                  </a:txBody>
                  <a:tcPr>
                    <a:solidFill>
                      <a:srgbClr val="FFFFFF"/>
                    </a:solidFill>
                  </a:tcPr>
                </a:tc>
                <a:tc>
                  <a:txBody>
                    <a:bodyPr/>
                    <a:lstStyle/>
                    <a:p>
                      <a:pPr algn="ctr"/>
                      <a:r>
                        <a:rPr sz="800" b="1" i="0">
                          <a:solidFill>
                            <a:srgbClr val="0D0D0D"/>
                          </a:solidFill>
                          <a:latin typeface="Calibri"/>
                        </a:rPr>
                        <a:t>6,2</a:t>
                      </a:r>
                    </a:p>
                  </a:txBody>
                  <a:tcPr>
                    <a:solidFill>
                      <a:srgbClr val="FFFFFF"/>
                    </a:solidFill>
                  </a:tcPr>
                </a:tc>
                <a:tc>
                  <a:txBody>
                    <a:bodyPr/>
                    <a:lstStyle/>
                    <a:p>
                      <a:pPr algn="ctr"/>
                      <a:r>
                        <a:rPr sz="800" b="1" i="0">
                          <a:solidFill>
                            <a:srgbClr val="0D0D0D"/>
                          </a:solidFill>
                          <a:latin typeface="Calibri"/>
                        </a:rPr>
                        <a:t>6,4</a:t>
                      </a:r>
                    </a:p>
                  </a:txBody>
                  <a:tcPr>
                    <a:solidFill>
                      <a:srgbClr val="FFFFFF"/>
                    </a:solidFill>
                  </a:tcPr>
                </a:tc>
                <a:tc>
                  <a:txBody>
                    <a:bodyPr/>
                    <a:lstStyle/>
                    <a:p>
                      <a:pPr algn="ctr"/>
                      <a:r>
                        <a:rPr sz="800" b="1" i="0">
                          <a:solidFill>
                            <a:srgbClr val="1B3A6B"/>
                          </a:solidFill>
                          <a:latin typeface="Calibri"/>
                        </a:rPr>
                        <a:t>6,1</a:t>
                      </a:r>
                    </a:p>
                  </a:txBody>
                  <a:tcPr>
                    <a:solidFill>
                      <a:srgbClr val="DDE8F5"/>
                    </a:solidFill>
                  </a:tcPr>
                </a:tc>
                <a:tc>
                  <a:txBody>
                    <a:bodyPr/>
                    <a:lstStyle/>
                    <a:p>
                      <a:pPr algn="ctr"/>
                      <a:r>
                        <a:rPr sz="800" b="1" i="0">
                          <a:solidFill>
                            <a:srgbClr val="0D0D0D"/>
                          </a:solidFill>
                          <a:latin typeface="Calibri"/>
                        </a:rPr>
                        <a:t>6,2</a:t>
                      </a:r>
                    </a:p>
                  </a:txBody>
                  <a:tcPr>
                    <a:solidFill>
                      <a:srgbClr val="FFFFFF"/>
                    </a:solidFill>
                  </a:tcPr>
                </a:tc>
                <a:tc>
                  <a:txBody>
                    <a:bodyPr/>
                    <a:lstStyle/>
                    <a:p>
                      <a:pPr algn="ctr"/>
                      <a:r>
                        <a:rPr sz="800" b="1" i="0">
                          <a:solidFill>
                            <a:srgbClr val="0D0D0D"/>
                          </a:solidFill>
                          <a:latin typeface="Calibri"/>
                        </a:rPr>
                        <a:t>6,6</a:t>
                      </a:r>
                    </a:p>
                  </a:txBody>
                  <a:tcPr>
                    <a:solidFill>
                      <a:srgbClr val="FFFFFF"/>
                    </a:solidFill>
                  </a:tcPr>
                </a:tc>
              </a:tr>
              <a:tr h="220000">
                <a:tc>
                  <a:txBody>
                    <a:bodyPr/>
                    <a:lstStyle/>
                    <a:p>
                      <a:pPr algn="l"/>
                      <a:r>
                        <a:rPr sz="750" b="0" i="1">
                          <a:solidFill>
                            <a:srgbClr val="555555"/>
                          </a:solidFill>
                          <a:latin typeface="Calibri"/>
                        </a:rPr>
                        <a:t>Marge nette</a:t>
                      </a:r>
                    </a:p>
                  </a:txBody>
                  <a:tcPr>
                    <a:solidFill>
                      <a:srgbClr val="F7F8FA"/>
                    </a:solidFill>
                  </a:tcPr>
                </a:tc>
                <a:tc>
                  <a:txBody>
                    <a:bodyPr/>
                    <a:lstStyle/>
                    <a:p>
                      <a:pPr algn="ctr"/>
                      <a:r>
                        <a:rPr sz="750" b="0" i="1">
                          <a:solidFill>
                            <a:srgbClr val="555555"/>
                          </a:solidFill>
                          <a:latin typeface="Calibri"/>
                        </a:rPr>
                        <a:t>15,0 %</a:t>
                      </a:r>
                    </a:p>
                  </a:txBody>
                  <a:tcPr>
                    <a:solidFill>
                      <a:srgbClr val="F7F8FA"/>
                    </a:solidFill>
                  </a:tcPr>
                </a:tc>
                <a:tc>
                  <a:txBody>
                    <a:bodyPr/>
                    <a:lstStyle/>
                    <a:p>
                      <a:pPr algn="ctr"/>
                      <a:r>
                        <a:rPr sz="750" b="0" i="1">
                          <a:solidFill>
                            <a:srgbClr val="555555"/>
                          </a:solidFill>
                          <a:latin typeface="Calibri"/>
                        </a:rPr>
                        <a:t>14,7 %</a:t>
                      </a:r>
                    </a:p>
                  </a:txBody>
                  <a:tcPr>
                    <a:solidFill>
                      <a:srgbClr val="F7F8FA"/>
                    </a:solidFill>
                  </a:tcPr>
                </a:tc>
                <a:tc>
                  <a:txBody>
                    <a:bodyPr/>
                    <a:lstStyle/>
                    <a:p>
                      <a:pPr algn="ctr"/>
                      <a:r>
                        <a:rPr sz="750" b="0" i="1">
                          <a:solidFill>
                            <a:srgbClr val="555555"/>
                          </a:solidFill>
                          <a:latin typeface="Calibri"/>
                        </a:rPr>
                        <a:t>13,9 %</a:t>
                      </a:r>
                    </a:p>
                  </a:txBody>
                  <a:tcPr>
                    <a:solidFill>
                      <a:srgbClr val="DDE8F5"/>
                    </a:solidFill>
                  </a:tcPr>
                </a:tc>
                <a:tc>
                  <a:txBody>
                    <a:bodyPr/>
                    <a:lstStyle/>
                    <a:p>
                      <a:pPr algn="ctr"/>
                      <a:r>
                        <a:rPr sz="750" b="0" i="1">
                          <a:solidFill>
                            <a:srgbClr val="555555"/>
                          </a:solidFill>
                          <a:latin typeface="Calibri"/>
                        </a:rPr>
                        <a:t>13,7 %</a:t>
                      </a:r>
                    </a:p>
                  </a:txBody>
                  <a:tcPr>
                    <a:solidFill>
                      <a:srgbClr val="F7F8FA"/>
                    </a:solidFill>
                  </a:tcPr>
                </a:tc>
                <a:tc>
                  <a:txBody>
                    <a:bodyPr/>
                    <a:lstStyle/>
                    <a:p>
                      <a:pPr algn="ctr"/>
                      <a:r>
                        <a:rPr sz="750" b="0" i="1">
                          <a:solidFill>
                            <a:srgbClr val="555555"/>
                          </a:solidFill>
                          <a:latin typeface="Calibri"/>
                        </a:rPr>
                        <a:t>14,1 %</a:t>
                      </a:r>
                    </a:p>
                  </a:txBody>
                  <a:tcPr>
                    <a:solidFill>
                      <a:srgbClr val="F7F8FA"/>
                    </a:solidFill>
                  </a:tcPr>
                </a:tc>
              </a:tr>
            </a:tbl>
          </a:graphicData>
        </a:graphic>
      </p:graphicFrame>
      <p:sp>
        <p:nvSpPr>
          <p:cNvPr id="18" name="TextBox 17"/>
          <p:cNvSpPr txBox="1"/>
          <p:nvPr/>
        </p:nvSpPr>
        <p:spPr>
          <a:xfrm>
            <a:off x="367200" y="3218400"/>
            <a:ext cx="8413200" cy="1224000"/>
          </a:xfrm>
          <a:prstGeom prst="rect">
            <a:avLst/>
          </a:prstGeom>
          <a:noFill/>
        </p:spPr>
        <p:txBody>
          <a:bodyPr wrap="square">
            <a:spAutoFit/>
          </a:bodyPr>
          <a:lstStyle/>
          <a:p>
            <a:pPr algn="l"/>
            <a:r>
              <a:rPr sz="850" b="0" i="0">
                <a:solidFill>
                  <a:srgbClr val="555555"/>
                </a:solidFill>
                <a:latin typeface="Calibri"/>
              </a:rPr>
              <a:t>Croissance organique de 1.3% en 2025 masquée par un mix défavorable (Asie -3% vs Europe +2%). Marges nettes en légère baisse à 13.9% due à l'inflation et aux coûts logistiques, compensée par un levier opérationnel de 150bps sur l'EBITDA. La génération de cash reste robuste avec un FCF de 5.2Mds€, soutenant un dividende en hausse de 5.2% à 5.70€/action.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Bilan &amp; Liquidité</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Structure financière  ·  EUR millions  ·  LTM 2025</a:t>
            </a:r>
          </a:p>
        </p:txBody>
      </p:sp>
      <p:sp>
        <p:nvSpPr>
          <p:cNvPr id="17" name="Rectangle 16"/>
          <p:cNvSpPr/>
          <p:nvPr/>
        </p:nvSpPr>
        <p:spPr>
          <a:xfrm>
            <a:off x="367200" y="9612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516400" cy="396000"/>
          </a:xfrm>
          <a:prstGeom prst="rect">
            <a:avLst/>
          </a:prstGeom>
          <a:noFill/>
        </p:spPr>
        <p:txBody>
          <a:bodyPr wrap="square">
            <a:spAutoFit/>
          </a:bodyPr>
          <a:lstStyle/>
          <a:p>
            <a:pPr algn="l"/>
            <a:r>
              <a:rPr sz="1900" b="1" i="0">
                <a:solidFill>
                  <a:srgbClr val="1B3A6B"/>
                </a:solidFill>
                <a:latin typeface="Calibri"/>
              </a:rPr>
              <a:t>9,9 Md€</a:t>
            </a:r>
          </a:p>
        </p:txBody>
      </p:sp>
      <p:sp>
        <p:nvSpPr>
          <p:cNvPr id="20" name="TextBox 19"/>
          <p:cNvSpPr txBox="1"/>
          <p:nvPr/>
        </p:nvSpPr>
        <p:spPr>
          <a:xfrm>
            <a:off x="457200" y="1411200"/>
            <a:ext cx="2516400" cy="205199"/>
          </a:xfrm>
          <a:prstGeom prst="rect">
            <a:avLst/>
          </a:prstGeom>
          <a:noFill/>
        </p:spPr>
        <p:txBody>
          <a:bodyPr wrap="square">
            <a:spAutoFit/>
          </a:bodyPr>
          <a:lstStyle/>
          <a:p>
            <a:pPr algn="l"/>
            <a:r>
              <a:rPr sz="800" b="0" i="0">
                <a:solidFill>
                  <a:srgbClr val="555555"/>
                </a:solidFill>
                <a:latin typeface="Calibri"/>
              </a:rPr>
              <a:t>Cash &amp; equivalents</a:t>
            </a:r>
          </a:p>
        </p:txBody>
      </p:sp>
      <p:sp>
        <p:nvSpPr>
          <p:cNvPr id="21" name="Rectangle 20"/>
          <p:cNvSpPr/>
          <p:nvPr/>
        </p:nvSpPr>
        <p:spPr>
          <a:xfrm>
            <a:off x="367200" y="19008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900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1954800"/>
            <a:ext cx="2516400" cy="396000"/>
          </a:xfrm>
          <a:prstGeom prst="rect">
            <a:avLst/>
          </a:prstGeom>
          <a:noFill/>
        </p:spPr>
        <p:txBody>
          <a:bodyPr wrap="square">
            <a:spAutoFit/>
          </a:bodyPr>
          <a:lstStyle/>
          <a:p>
            <a:pPr algn="l"/>
            <a:r>
              <a:rPr sz="1900" b="1" i="0">
                <a:solidFill>
                  <a:srgbClr val="1B3A6B"/>
                </a:solidFill>
                <a:latin typeface="Calibri"/>
              </a:rPr>
              <a:t>8,1 Md€</a:t>
            </a:r>
          </a:p>
        </p:txBody>
      </p:sp>
      <p:sp>
        <p:nvSpPr>
          <p:cNvPr id="24" name="TextBox 23"/>
          <p:cNvSpPr txBox="1"/>
          <p:nvPr/>
        </p:nvSpPr>
        <p:spPr>
          <a:xfrm>
            <a:off x="457200" y="2350800"/>
            <a:ext cx="2516400" cy="205199"/>
          </a:xfrm>
          <a:prstGeom prst="rect">
            <a:avLst/>
          </a:prstGeom>
          <a:noFill/>
        </p:spPr>
        <p:txBody>
          <a:bodyPr wrap="square">
            <a:spAutoFit/>
          </a:bodyPr>
          <a:lstStyle/>
          <a:p>
            <a:pPr algn="l"/>
            <a:r>
              <a:rPr sz="800" b="0" i="0">
                <a:solidFill>
                  <a:srgbClr val="555555"/>
                </a:solidFill>
                <a:latin typeface="Calibri"/>
              </a:rPr>
              <a:t>Dette long terme</a:t>
            </a:r>
          </a:p>
        </p:txBody>
      </p:sp>
      <p:sp>
        <p:nvSpPr>
          <p:cNvPr id="25" name="Rectangle 24"/>
          <p:cNvSpPr/>
          <p:nvPr/>
        </p:nvSpPr>
        <p:spPr>
          <a:xfrm>
            <a:off x="367200" y="2844000"/>
            <a:ext cx="26532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7200" y="28440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898000"/>
            <a:ext cx="2516400" cy="396000"/>
          </a:xfrm>
          <a:prstGeom prst="rect">
            <a:avLst/>
          </a:prstGeom>
          <a:noFill/>
        </p:spPr>
        <p:txBody>
          <a:bodyPr wrap="square">
            <a:spAutoFit/>
          </a:bodyPr>
          <a:lstStyle/>
          <a:p>
            <a:pPr algn="l"/>
            <a:r>
              <a:rPr sz="1900" b="1" i="0">
                <a:solidFill>
                  <a:srgbClr val="FFFFFF"/>
                </a:solidFill>
                <a:latin typeface="Calibri"/>
              </a:rPr>
              <a:t>254 M€</a:t>
            </a:r>
          </a:p>
        </p:txBody>
      </p:sp>
      <p:sp>
        <p:nvSpPr>
          <p:cNvPr id="28" name="TextBox 27"/>
          <p:cNvSpPr txBox="1"/>
          <p:nvPr/>
        </p:nvSpPr>
        <p:spPr>
          <a:xfrm>
            <a:off x="457200" y="3294000"/>
            <a:ext cx="2516400" cy="205199"/>
          </a:xfrm>
          <a:prstGeom prst="rect">
            <a:avLst/>
          </a:prstGeom>
          <a:noFill/>
        </p:spPr>
        <p:txBody>
          <a:bodyPr wrap="square">
            <a:spAutoFit/>
          </a:bodyPr>
          <a:lstStyle/>
          <a:p>
            <a:pPr algn="l"/>
            <a:r>
              <a:rPr sz="800" b="0" i="0">
                <a:solidFill>
                  <a:srgbClr val="FFFFFF"/>
                </a:solidFill>
                <a:latin typeface="Calibri"/>
              </a:rPr>
              <a:t>Dette nette</a:t>
            </a:r>
          </a:p>
        </p:txBody>
      </p:sp>
      <p:sp>
        <p:nvSpPr>
          <p:cNvPr id="29" name="TextBox 28"/>
          <p:cNvSpPr txBox="1"/>
          <p:nvPr/>
        </p:nvSpPr>
        <p:spPr>
          <a:xfrm>
            <a:off x="3384000" y="842400"/>
            <a:ext cx="5396400" cy="165600"/>
          </a:xfrm>
          <a:prstGeom prst="rect">
            <a:avLst/>
          </a:prstGeom>
          <a:noFill/>
        </p:spPr>
        <p:txBody>
          <a:bodyPr wrap="square">
            <a:spAutoFit/>
          </a:bodyPr>
          <a:lstStyle/>
          <a:p>
            <a:pPr algn="l"/>
            <a:r>
              <a:rPr sz="900" b="1" i="0">
                <a:solidFill>
                  <a:srgbClr val="1B3A6B"/>
                </a:solidFill>
                <a:latin typeface="Calibri"/>
              </a:rPr>
              <a:t>Ratios de solvabilité &amp; liquidité</a:t>
            </a:r>
          </a:p>
        </p:txBody>
      </p:sp>
      <p:graphicFrame>
        <p:nvGraphicFramePr>
          <p:cNvPr id="30" name="Table 29"/>
          <p:cNvGraphicFramePr>
            <a:graphicFrameLocks noGrp="1"/>
          </p:cNvGraphicFramePr>
          <p:nvPr/>
        </p:nvGraphicFramePr>
        <p:xfrm>
          <a:off x="3384000" y="1007999"/>
          <a:ext cx="5396400" cy="1800000"/>
        </p:xfrm>
        <a:graphic>
          <a:graphicData uri="http://schemas.openxmlformats.org/drawingml/2006/table">
            <a:tbl>
              <a:tblPr firstRow="1" bandRow="1">
                <a:tableStyleId>{5C22544A-7EE6-4342-B048-85BDC9FD1C3A}</a:tableStyleId>
              </a:tblPr>
              <a:tblGrid>
                <a:gridCol w="2374416"/>
                <a:gridCol w="1133244"/>
                <a:gridCol w="1133244"/>
                <a:gridCol w="755496"/>
              </a:tblGrid>
              <a:tr h="225000">
                <a:tc>
                  <a:txBody>
                    <a:bodyPr/>
                    <a:lstStyle/>
                    <a:p>
                      <a:pPr algn="l"/>
                      <a:r>
                        <a:rPr sz="800" b="1" i="0">
                          <a:solidFill>
                            <a:srgbClr val="FFFFFF"/>
                          </a:solidFill>
                          <a:latin typeface="Calibri"/>
                        </a:rPr>
                        <a:t>Ratio</a:t>
                      </a:r>
                    </a:p>
                  </a:txBody>
                  <a:tcPr>
                    <a:solidFill>
                      <a:srgbClr val="1B3A6B"/>
                    </a:solidFill>
                  </a:tcPr>
                </a:tc>
                <a:tc>
                  <a:txBody>
                    <a:bodyPr/>
                    <a:lstStyle/>
                    <a:p>
                      <a:pPr algn="ctr"/>
                      <a:r>
                        <a:rPr sz="800" b="1" i="0">
                          <a:solidFill>
                            <a:srgbClr val="FFFFFF"/>
                          </a:solidFill>
                          <a:latin typeface="Calibri"/>
                        </a:rPr>
                        <a:t>Valeur</a:t>
                      </a:r>
                    </a:p>
                  </a:txBody>
                  <a:tcPr>
                    <a:solidFill>
                      <a:srgbClr val="1B3A6B"/>
                    </a:solidFill>
                  </a:tcPr>
                </a:tc>
                <a:tc>
                  <a:txBody>
                    <a:bodyPr/>
                    <a:lstStyle/>
                    <a:p>
                      <a:pPr algn="ctr"/>
                      <a:r>
                        <a:rPr sz="800" b="1" i="0">
                          <a:solidFill>
                            <a:srgbClr val="FFFFFF"/>
                          </a:solidFill>
                          <a:latin typeface="Calibri"/>
                        </a:rPr>
                        <a:t>Référence</a:t>
                      </a:r>
                    </a:p>
                  </a:txBody>
                  <a:tcPr>
                    <a:solidFill>
                      <a:srgbClr val="1B3A6B"/>
                    </a:solidFill>
                  </a:tcPr>
                </a:tc>
                <a:tc>
                  <a:txBody>
                    <a:bodyPr/>
                    <a:lstStyle/>
                    <a:p>
                      <a:pPr algn="ctr"/>
                      <a:r>
                        <a:rPr sz="800" b="1" i="0">
                          <a:solidFill>
                            <a:srgbClr val="FFFFFF"/>
                          </a:solidFill>
                          <a:latin typeface="Calibri"/>
                        </a:rPr>
                        <a:t>Signal</a:t>
                      </a:r>
                    </a:p>
                  </a:txBody>
                  <a:tcPr>
                    <a:solidFill>
                      <a:srgbClr val="1B3A6B"/>
                    </a:solidFill>
                  </a:tcPr>
                </a:tc>
              </a:tr>
              <a:tr h="225000">
                <a:tc>
                  <a:txBody>
                    <a:bodyPr/>
                    <a:lstStyle/>
                    <a:p>
                      <a:pPr algn="l"/>
                      <a:r>
                        <a:rPr sz="800" b="1" i="0">
                          <a:solidFill>
                            <a:srgbClr val="0D0D0D"/>
                          </a:solidFill>
                          <a:latin typeface="Calibri"/>
                        </a:rPr>
                        <a:t>Ratio liquidité courante</a:t>
                      </a:r>
                    </a:p>
                  </a:txBody>
                  <a:tcPr>
                    <a:solidFill>
                      <a:srgbClr val="FFFFFF"/>
                    </a:solidFill>
                  </a:tcPr>
                </a:tc>
                <a:tc>
                  <a:txBody>
                    <a:bodyPr/>
                    <a:lstStyle/>
                    <a:p>
                      <a:pPr algn="ctr"/>
                      <a:r>
                        <a:rPr sz="800" b="0" i="0">
                          <a:solidFill>
                            <a:srgbClr val="0D0D0D"/>
                          </a:solidFill>
                          <a:latin typeface="Calibri"/>
                        </a:rPr>
                        <a:t>1,59</a:t>
                      </a:r>
                    </a:p>
                  </a:txBody>
                  <a:tcPr>
                    <a:solidFill>
                      <a:srgbClr val="FFFFFF"/>
                    </a:solidFill>
                  </a:tcPr>
                </a:tc>
                <a:tc>
                  <a:txBody>
                    <a:bodyPr/>
                    <a:lstStyle/>
                    <a:p>
                      <a:pPr algn="ctr"/>
                      <a:r>
                        <a:rPr sz="800" b="0" i="0">
                          <a:solidFill>
                            <a:srgbClr val="0D0D0D"/>
                          </a:solidFill>
                          <a:latin typeface="Calibri"/>
                        </a:rPr>
                        <a:t>&gt; 1,5</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Ratio rapide (quick)</a:t>
                      </a:r>
                    </a:p>
                  </a:txBody>
                  <a:tcPr>
                    <a:solidFill>
                      <a:srgbClr val="F7F8FA"/>
                    </a:solidFill>
                  </a:tcPr>
                </a:tc>
                <a:tc>
                  <a:txBody>
                    <a:bodyPr/>
                    <a:lstStyle/>
                    <a:p>
                      <a:pPr algn="ctr"/>
                      <a:r>
                        <a:rPr sz="800" b="0" i="0">
                          <a:solidFill>
                            <a:srgbClr val="0D0D0D"/>
                          </a:solidFill>
                          <a:latin typeface="Calibri"/>
                        </a:rPr>
                        <a:t>1,26</a:t>
                      </a:r>
                    </a:p>
                  </a:txBody>
                  <a:tcPr>
                    <a:solidFill>
                      <a:srgbClr val="F7F8FA"/>
                    </a:solidFill>
                  </a:tcPr>
                </a:tc>
                <a:tc>
                  <a:txBody>
                    <a:bodyPr/>
                    <a:lstStyle/>
                    <a:p>
                      <a:pPr algn="ctr"/>
                      <a:r>
                        <a:rPr sz="800" b="0" i="0">
                          <a:solidFill>
                            <a:srgbClr val="0D0D0D"/>
                          </a:solidFill>
                          <a:latin typeface="Calibri"/>
                        </a:rPr>
                        <a:t>&gt; 1,0</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a:t>
                      </a:r>
                    </a:p>
                  </a:txBody>
                  <a:tcPr>
                    <a:solidFill>
                      <a:srgbClr val="FFFFFF"/>
                    </a:solidFill>
                  </a:tcPr>
                </a:tc>
                <a:tc>
                  <a:txBody>
                    <a:bodyPr/>
                    <a:lstStyle/>
                    <a:p>
                      <a:pPr algn="ctr"/>
                      <a:r>
                        <a:rPr sz="800" b="0" i="0">
                          <a:solidFill>
                            <a:srgbClr val="0D0D0D"/>
                          </a:solidFill>
                          <a:latin typeface="Calibri"/>
                        </a:rPr>
                        <a:t>0,3x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Couverture interets</a:t>
                      </a:r>
                    </a:p>
                  </a:txBody>
                  <a:tcPr>
                    <a:solidFill>
                      <a:srgbClr val="F7F8FA"/>
                    </a:solidFill>
                  </a:tcPr>
                </a:tc>
                <a:tc>
                  <a:txBody>
                    <a:bodyPr/>
                    <a:lstStyle/>
                    <a:p>
                      <a:pPr algn="ctr"/>
                      <a:r>
                        <a:rPr sz="800" b="0" i="0">
                          <a:solidFill>
                            <a:srgbClr val="0D0D0D"/>
                          </a:solidFill>
                          <a:latin typeface="Calibri"/>
                        </a:rPr>
                        <a:t>24,2x</a:t>
                      </a:r>
                    </a:p>
                  </a:txBody>
                  <a:tcPr>
                    <a:solidFill>
                      <a:srgbClr val="F7F8FA"/>
                    </a:solidFill>
                  </a:tcPr>
                </a:tc>
                <a:tc>
                  <a:txBody>
                    <a:bodyPr/>
                    <a:lstStyle/>
                    <a:p>
                      <a:pPr algn="ctr"/>
                      <a:r>
                        <a:rPr sz="800" b="0" i="0">
                          <a:solidFill>
                            <a:srgbClr val="0D0D0D"/>
                          </a:solidFill>
                          <a:latin typeface="Calibri"/>
                        </a:rPr>
                        <a:t>&gt; 3,0x</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Dette nette / EBITDA</a:t>
                      </a:r>
                    </a:p>
                  </a:txBody>
                  <a:tcPr>
                    <a:solidFill>
                      <a:srgbClr val="FFFFFF"/>
                    </a:solidFill>
                  </a:tcPr>
                </a:tc>
                <a:tc>
                  <a:txBody>
                    <a:bodyPr/>
                    <a:lstStyle/>
                    <a:p>
                      <a:pPr algn="ctr"/>
                      <a:r>
                        <a:rPr sz="800" b="0" i="0">
                          <a:solidFill>
                            <a:srgbClr val="0D0D0D"/>
                          </a:solidFill>
                          <a:latin typeface="Calibri"/>
                        </a:rPr>
                        <a:t>0,0x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Altman Z</a:t>
                      </a:r>
                    </a:p>
                  </a:txBody>
                  <a:tcPr>
                    <a:solidFill>
                      <a:srgbClr val="F7F8FA"/>
                    </a:solidFill>
                  </a:tcPr>
                </a:tc>
                <a:tc>
                  <a:txBody>
                    <a:bodyPr/>
                    <a:lstStyle/>
                    <a:p>
                      <a:pPr algn="ctr"/>
                      <a:r>
                        <a:rPr sz="800" b="0" i="0">
                          <a:solidFill>
                            <a:srgbClr val="0D0D0D"/>
                          </a:solidFill>
                          <a:latin typeface="Calibri"/>
                        </a:rPr>
                        <a:t>5,67</a:t>
                      </a:r>
                    </a:p>
                  </a:txBody>
                  <a:tcPr>
                    <a:solidFill>
                      <a:srgbClr val="F7F8FA"/>
                    </a:solidFill>
                  </a:tcPr>
                </a:tc>
                <a:tc>
                  <a:txBody>
                    <a:bodyPr/>
                    <a:lstStyle/>
                    <a:p>
                      <a:pPr algn="ctr"/>
                      <a:r>
                        <a:rPr sz="800" b="0" i="0">
                          <a:solidFill>
                            <a:srgbClr val="0D0D0D"/>
                          </a:solidFill>
                          <a:latin typeface="Calibri"/>
                        </a:rPr>
                        <a:t>&gt; 2,99</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Beneish M</a:t>
                      </a:r>
                    </a:p>
                  </a:txBody>
                  <a:tcPr>
                    <a:solidFill>
                      <a:srgbClr val="FFFFFF"/>
                    </a:solidFill>
                  </a:tcPr>
                </a:tc>
                <a:tc>
                  <a:txBody>
                    <a:bodyPr/>
                    <a:lstStyle/>
                    <a:p>
                      <a:pPr algn="ctr"/>
                      <a:r>
                        <a:rPr sz="800" b="0" i="0">
                          <a:solidFill>
                            <a:srgbClr val="0D0D0D"/>
                          </a:solidFill>
                          <a:latin typeface="Calibri"/>
                        </a:rPr>
                        <a:t>-2,79</a:t>
                      </a:r>
                    </a:p>
                  </a:txBody>
                  <a:tcPr>
                    <a:solidFill>
                      <a:srgbClr val="FFFFFF"/>
                    </a:solidFill>
                  </a:tcPr>
                </a:tc>
                <a:tc>
                  <a:txBody>
                    <a:bodyPr/>
                    <a:lstStyle/>
                    <a:p>
                      <a:pPr algn="ctr"/>
                      <a:r>
                        <a:rPr sz="800" b="0" i="0">
                          <a:solidFill>
                            <a:srgbClr val="0D0D0D"/>
                          </a:solidFill>
                          <a:latin typeface="Calibri"/>
                        </a:rPr>
                        <a:t>&lt; -2,22</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bl>
          </a:graphicData>
        </a:graphic>
      </p:graphicFrame>
      <p:sp>
        <p:nvSpPr>
          <p:cNvPr id="31" name="TextBox 30"/>
          <p:cNvSpPr txBox="1"/>
          <p:nvPr/>
        </p:nvSpPr>
        <p:spPr>
          <a:xfrm>
            <a:off x="367200" y="4068000"/>
            <a:ext cx="8413200" cy="468000"/>
          </a:xfrm>
          <a:prstGeom prst="rect">
            <a:avLst/>
          </a:prstGeom>
          <a:noFill/>
        </p:spPr>
        <p:txBody>
          <a:bodyPr wrap="square">
            <a:spAutoFit/>
          </a:bodyPr>
          <a:lstStyle/>
          <a:p>
            <a:pPr algn="l"/>
            <a:r>
              <a:rPr sz="850" b="0" i="0">
                <a:solidFill>
                  <a:srgbClr val="555555"/>
                </a:solidFill>
                <a:latin typeface="Calibri"/>
              </a:rPr>
              <a:t>Croissance organique de 1.3% en 2025 masquée par un mix défavorable (Asie -3% vs Europe +2%). Marges nettes en légère baisse à 13.9% due à l'inflation et aux coûts logistiques, compensée par un levier opérationnel de 150bps sur l'EBITDA. La génération de cash reste robuste avec un FCF de 5.2Mds€, so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Ratios Clés vs. Benchmark Sectoriel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Positionnement relatif  ·  LTM 2025</a:t>
            </a:r>
          </a:p>
        </p:txBody>
      </p:sp>
      <p:graphicFrame>
        <p:nvGraphicFramePr>
          <p:cNvPr id="17" name="Table 16"/>
          <p:cNvGraphicFramePr>
            <a:graphicFrameLocks noGrp="1"/>
          </p:cNvGraphicFramePr>
          <p:nvPr/>
        </p:nvGraphicFramePr>
        <p:xfrm>
          <a:off x="367200" y="914400"/>
          <a:ext cx="8413200" cy="2559600"/>
        </p:xfrm>
        <a:graphic>
          <a:graphicData uri="http://schemas.openxmlformats.org/drawingml/2006/table">
            <a:tbl>
              <a:tblPr firstRow="1" bandRow="1">
                <a:tableStyleId>{5C22544A-7EE6-4342-B048-85BDC9FD1C3A}</a:tableStyleId>
              </a:tblPr>
              <a:tblGrid>
                <a:gridCol w="2103300"/>
                <a:gridCol w="2103300"/>
                <a:gridCol w="2103300"/>
                <a:gridCol w="2103300"/>
              </a:tblGrid>
              <a:tr h="232690">
                <a:tc>
                  <a:txBody>
                    <a:bodyPr/>
                    <a:lstStyle/>
                    <a:p>
                      <a:pPr algn="l"/>
                      <a:r>
                        <a:rPr sz="800" b="1" i="0">
                          <a:solidFill>
                            <a:srgbClr val="FFFFFF"/>
                          </a:solidFill>
                          <a:latin typeface="Calibri"/>
                        </a:rPr>
                        <a:t>Indicateur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Benchmark</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Lecture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30,6x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Premium</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EV/EBITDA</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17,6x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Premium</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EV/Revenue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4,3x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brute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74,3 %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40 %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24,3 %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Bon</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17,5 %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Bon</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ROIC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19,8 %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CapEx / Revenue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Leger</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Altman Z</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5,67</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2,99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Solide</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700">
                <a:tc>
                  <a:txBody>
                    <a:bodyPr/>
                    <a:lstStyle/>
                    <a:p>
                      <a:pPr algn="l"/>
                      <a:r>
                        <a:rPr sz="800" b="0" i="0">
                          <a:solidFill>
                            <a:srgbClr val="0D0D0D"/>
                          </a:solidFill>
                          <a:latin typeface="Calibri"/>
                        </a:rPr>
                        <a:t>Beneish 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-2,79</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-2,22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Aucun signal</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8" name="TextBox 17"/>
          <p:cNvSpPr txBox="1"/>
          <p:nvPr/>
        </p:nvSpPr>
        <p:spPr>
          <a:xfrm>
            <a:off x="367200" y="3628800"/>
            <a:ext cx="8413200" cy="824400"/>
          </a:xfrm>
          <a:prstGeom prst="rect">
            <a:avLst/>
          </a:prstGeom>
          <a:noFill/>
        </p:spPr>
        <p:txBody>
          <a:bodyPr wrap="square">
            <a:spAutoFit/>
          </a:bodyPr>
          <a:lstStyle/>
          <a:p>
            <a:pPr algn="l"/>
            <a:r>
              <a:rPr sz="850" b="0" i="0">
                <a:solidFill>
                  <a:srgbClr val="555555"/>
                </a:solidFill>
                <a:latin typeface="Calibri"/>
              </a:rPr>
              <a:t>Les marges brutes progressent de 72.4% en 2022 à 74.3% en 2025 grâce à l'optimisation des coûts matières et à la hausse des prix. L'EBITDA margin se stabilise autour de 24.3% malgré l'inflation, démontrant un levier opérationnel efficace. La marge nette à 13.9% reste élevée pour le secteur, reflétant une structure de coûts maîtrisée et un mix produit favorable.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03</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Valorisation</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DCF, comparable peers &amp; Football Field Chart</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Valorisation — DCF &amp; Scénarios</a:t>
            </a:r>
          </a:p>
        </p:txBody>
      </p:sp>
      <p:graphicFrame>
        <p:nvGraphicFramePr>
          <p:cNvPr id="16" name="Table 15"/>
          <p:cNvGraphicFramePr>
            <a:graphicFrameLocks noGrp="1"/>
          </p:cNvGraphicFramePr>
          <p:nvPr/>
        </p:nvGraphicFramePr>
        <p:xfrm>
          <a:off x="367200" y="824400"/>
          <a:ext cx="4024800" cy="1371600"/>
        </p:xfrm>
        <a:graphic>
          <a:graphicData uri="http://schemas.openxmlformats.org/drawingml/2006/table">
            <a:tbl>
              <a:tblPr firstRow="1" bandRow="1">
                <a:tableStyleId>{5C22544A-7EE6-4342-B048-85BDC9FD1C3A}</a:tableStyleId>
              </a:tblPr>
              <a:tblGrid>
                <a:gridCol w="2213640"/>
                <a:gridCol w="1811160"/>
              </a:tblGrid>
              <a:tr h="22860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WACC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8,5 %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TGR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1" i="0">
                          <a:solidFill>
                            <a:srgbClr val="1B3A6B"/>
                          </a:solidFill>
                          <a:latin typeface="Calibri"/>
                        </a:rPr>
                        <a:t>Valeur intrinsèque</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385 EUR</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Cours actuel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350,85 EUR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Upside implicite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+9,7 %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graphicFrame>
        <p:nvGraphicFramePr>
          <p:cNvPr id="17" name="Table 16"/>
          <p:cNvGraphicFramePr>
            <a:graphicFrameLocks noGrp="1"/>
          </p:cNvGraphicFramePr>
          <p:nvPr/>
        </p:nvGraphicFramePr>
        <p:xfrm>
          <a:off x="4482000" y="824400"/>
          <a:ext cx="4298400" cy="1371600"/>
        </p:xfrm>
        <a:graphic>
          <a:graphicData uri="http://schemas.openxmlformats.org/drawingml/2006/table">
            <a:tbl>
              <a:tblPr firstRow="1" bandRow="1">
                <a:tableStyleId>{5C22544A-7EE6-4342-B048-85BDC9FD1C3A}</a:tableStyleId>
              </a:tblPr>
              <a:tblGrid>
                <a:gridCol w="1432800"/>
                <a:gridCol w="1432800"/>
                <a:gridCol w="1432800"/>
              </a:tblGrid>
              <a:tr h="342900">
                <a:tc>
                  <a:txBody>
                    <a:bodyPr/>
                    <a:lstStyle/>
                    <a:p>
                      <a:pPr algn="ctr"/>
                      <a:r>
                        <a:rPr sz="1000" b="1" i="0">
                          <a:solidFill>
                            <a:srgbClr val="FFFFFF"/>
                          </a:solidFill>
                          <a:latin typeface="Calibri"/>
                        </a:rPr>
                        <a:t>Bear</a:t>
                      </a:r>
                    </a:p>
                  </a:txBody>
                  <a:tcPr>
                    <a:solidFill>
                      <a:srgbClr val="A82020"/>
                    </a:solidFill>
                  </a:tcPr>
                </a:tc>
                <a:tc>
                  <a:txBody>
                    <a:bodyPr/>
                    <a:lstStyle/>
                    <a:p>
                      <a:pPr algn="ctr"/>
                      <a:r>
                        <a:rPr sz="1000" b="1" i="0">
                          <a:solidFill>
                            <a:srgbClr val="FFFFFF"/>
                          </a:solidFill>
                          <a:latin typeface="Calibri"/>
                        </a:rPr>
                        <a:t>Base</a:t>
                      </a:r>
                    </a:p>
                  </a:txBody>
                  <a:tcPr>
                    <a:solidFill>
                      <a:srgbClr val="2E5FA3"/>
                    </a:solidFill>
                  </a:tcPr>
                </a:tc>
                <a:tc>
                  <a:txBody>
                    <a:bodyPr/>
                    <a:lstStyle/>
                    <a:p>
                      <a:pPr algn="ctr"/>
                      <a:r>
                        <a:rPr sz="1000" b="1" i="0">
                          <a:solidFill>
                            <a:srgbClr val="FFFFFF"/>
                          </a:solidFill>
                          <a:latin typeface="Calibri"/>
                        </a:rPr>
                        <a:t>Bull</a:t>
                      </a:r>
                    </a:p>
                  </a:txBody>
                  <a:tcPr>
                    <a:solidFill>
                      <a:srgbClr val="1A7A4A"/>
                    </a:solidFill>
                  </a:tcPr>
                </a:tc>
              </a:tr>
              <a:tr h="342900">
                <a:tc>
                  <a:txBody>
                    <a:bodyPr/>
                    <a:lstStyle/>
                    <a:p>
                      <a:pPr algn="ctr"/>
                      <a:r>
                        <a:rPr sz="2000" b="1" i="0">
                          <a:solidFill>
                            <a:srgbClr val="A82020"/>
                          </a:solidFill>
                          <a:latin typeface="Calibri"/>
                        </a:rPr>
                        <a:t>340 EUR</a:t>
                      </a:r>
                    </a:p>
                  </a:txBody>
                  <a:tcPr>
                    <a:solidFill>
                      <a:srgbClr val="FAF0EF"/>
                    </a:solidFill>
                  </a:tcPr>
                </a:tc>
                <a:tc>
                  <a:txBody>
                    <a:bodyPr/>
                    <a:lstStyle/>
                    <a:p>
                      <a:pPr algn="ctr"/>
                      <a:r>
                        <a:rPr sz="2000" b="1" i="0">
                          <a:solidFill>
                            <a:srgbClr val="2E5FA3"/>
                          </a:solidFill>
                          <a:latin typeface="Calibri"/>
                        </a:rPr>
                        <a:t>385 EUR</a:t>
                      </a:r>
                    </a:p>
                  </a:txBody>
                  <a:tcPr>
                    <a:solidFill>
                      <a:srgbClr val="EEF3FA"/>
                    </a:solidFill>
                  </a:tcPr>
                </a:tc>
                <a:tc>
                  <a:txBody>
                    <a:bodyPr/>
                    <a:lstStyle/>
                    <a:p>
                      <a:pPr algn="ctr"/>
                      <a:r>
                        <a:rPr sz="2000" b="1" i="0">
                          <a:solidFill>
                            <a:srgbClr val="1A7A4A"/>
                          </a:solidFill>
                          <a:latin typeface="Calibri"/>
                        </a:rPr>
                        <a:t>420 EUR</a:t>
                      </a:r>
                    </a:p>
                  </a:txBody>
                  <a:tcPr>
                    <a:solidFill>
                      <a:srgbClr val="EAF4EF"/>
                    </a:solidFill>
                  </a:tcPr>
                </a:tc>
              </a:tr>
              <a:tr h="342900">
                <a:tc>
                  <a:txBody>
                    <a:bodyPr/>
                    <a:lstStyle/>
                    <a:p>
                      <a:pPr algn="ctr"/>
                      <a:r>
                        <a:rPr sz="1200" b="1" i="0">
                          <a:solidFill>
                            <a:srgbClr val="A82020"/>
                          </a:solidFill>
                          <a:latin typeface="Calibri"/>
                        </a:rPr>
                        <a:t>-3,1 %</a:t>
                      </a:r>
                    </a:p>
                  </a:txBody>
                  <a:tcPr>
                    <a:solidFill>
                      <a:srgbClr val="FAF0EF"/>
                    </a:solidFill>
                  </a:tcPr>
                </a:tc>
                <a:tc>
                  <a:txBody>
                    <a:bodyPr/>
                    <a:lstStyle/>
                    <a:p>
                      <a:pPr algn="ctr"/>
                      <a:r>
                        <a:rPr sz="1200" b="1" i="0">
                          <a:solidFill>
                            <a:srgbClr val="2E5FA3"/>
                          </a:solidFill>
                          <a:latin typeface="Calibri"/>
                        </a:rPr>
                        <a:t>+9,7 %</a:t>
                      </a:r>
                    </a:p>
                  </a:txBody>
                  <a:tcPr>
                    <a:solidFill>
                      <a:srgbClr val="EEF3FA"/>
                    </a:solidFill>
                  </a:tcPr>
                </a:tc>
                <a:tc>
                  <a:txBody>
                    <a:bodyPr/>
                    <a:lstStyle/>
                    <a:p>
                      <a:pPr algn="ctr"/>
                      <a:r>
                        <a:rPr sz="1200" b="1" i="0">
                          <a:solidFill>
                            <a:srgbClr val="1A7A4A"/>
                          </a:solidFill>
                          <a:latin typeface="Calibri"/>
                        </a:rPr>
                        <a:t>+19,7 %</a:t>
                      </a:r>
                    </a:p>
                  </a:txBody>
                  <a:tcPr>
                    <a:solidFill>
                      <a:srgbClr val="EAF4EF"/>
                    </a:solidFill>
                  </a:tcPr>
                </a:tc>
              </a:tr>
              <a:tr h="342900">
                <a:tc>
                  <a:txBody>
                    <a:bodyPr/>
                    <a:lstStyle/>
                    <a:p>
                      <a:pPr algn="ctr"/>
                      <a:r>
                        <a:rPr sz="700" b="0" i="0">
                          <a:solidFill>
                            <a:srgbClr val="888888"/>
                          </a:solidFill>
                          <a:latin typeface="Calibri"/>
                        </a:rPr>
                        <a:t>Upside / Downside</a:t>
                      </a:r>
                    </a:p>
                  </a:txBody>
                  <a:tcPr>
                    <a:solidFill>
                      <a:srgbClr val="FAF0EF"/>
                    </a:solidFill>
                  </a:tcPr>
                </a:tc>
                <a:tc>
                  <a:txBody>
                    <a:bodyPr/>
                    <a:lstStyle/>
                    <a:p>
                      <a:pPr algn="ctr"/>
                      <a:r>
                        <a:rPr sz="700" b="0" i="0">
                          <a:solidFill>
                            <a:srgbClr val="888888"/>
                          </a:solidFill>
                          <a:latin typeface="Calibri"/>
                        </a:rPr>
                        <a:t>Upside / Downside</a:t>
                      </a:r>
                    </a:p>
                  </a:txBody>
                  <a:tcPr>
                    <a:solidFill>
                      <a:srgbClr val="EEF3FA"/>
                    </a:solidFill>
                  </a:tcPr>
                </a:tc>
                <a:tc>
                  <a:txBody>
                    <a:bodyPr/>
                    <a:lstStyle/>
                    <a:p>
                      <a:pPr algn="ctr"/>
                      <a:r>
                        <a:rPr sz="700" b="0" i="0">
                          <a:solidFill>
                            <a:srgbClr val="888888"/>
                          </a:solidFill>
                          <a:latin typeface="Calibri"/>
                        </a:rPr>
                        <a:t>Upside / Downside</a:t>
                      </a:r>
                    </a:p>
                  </a:txBody>
                  <a:tcPr>
                    <a:solidFill>
                      <a:srgbClr val="EAF4EF"/>
                    </a:solidFill>
                  </a:tcPr>
                </a:tc>
              </a:tr>
            </a:tbl>
          </a:graphicData>
        </a:graphic>
      </p:graphicFrame>
      <p:sp>
        <p:nvSpPr>
          <p:cNvPr id="18" name="TextBox 17"/>
          <p:cNvSpPr txBox="1"/>
          <p:nvPr/>
        </p:nvSpPr>
        <p:spPr>
          <a:xfrm>
            <a:off x="367200" y="2394000"/>
            <a:ext cx="8413200" cy="201600"/>
          </a:xfrm>
          <a:prstGeom prst="rect">
            <a:avLst/>
          </a:prstGeom>
          <a:noFill/>
        </p:spPr>
        <p:txBody>
          <a:bodyPr wrap="square">
            <a:spAutoFit/>
          </a:bodyPr>
          <a:lstStyle/>
          <a:p>
            <a:pPr algn="l"/>
            <a:r>
              <a:rPr sz="900" b="1" i="0">
                <a:solidFill>
                  <a:srgbClr val="1B3A6B"/>
                </a:solidFill>
                <a:latin typeface="Calibri"/>
              </a:rPr>
              <a:t>Table de sensibilite — Valeur intrinseque (EUR)</a:t>
            </a:r>
          </a:p>
        </p:txBody>
      </p:sp>
      <p:graphicFrame>
        <p:nvGraphicFramePr>
          <p:cNvPr id="19" name="Table 18"/>
          <p:cNvGraphicFramePr>
            <a:graphicFrameLocks noGrp="1"/>
          </p:cNvGraphicFramePr>
          <p:nvPr/>
        </p:nvGraphicFramePr>
        <p:xfrm>
          <a:off x="367200" y="2653200"/>
          <a:ext cx="8413200" cy="1116000"/>
        </p:xfrm>
        <a:graphic>
          <a:graphicData uri="http://schemas.openxmlformats.org/drawingml/2006/table">
            <a:tbl>
              <a:tblPr firstRow="1" bandRow="1">
                <a:tableStyleId>{5C22544A-7EE6-4342-B048-85BDC9FD1C3A}</a:tableStyleId>
              </a:tblPr>
              <a:tblGrid>
                <a:gridCol w="1402200"/>
                <a:gridCol w="1402200"/>
                <a:gridCol w="1402200"/>
                <a:gridCol w="1402200"/>
                <a:gridCol w="1402200"/>
                <a:gridCol w="1402200"/>
              </a:tblGrid>
              <a:tr h="186000">
                <a:tc>
                  <a:txBody>
                    <a:bodyPr/>
                    <a:lstStyle/>
                    <a:p>
                      <a:pPr algn="l"/>
                      <a:r>
                        <a:rPr sz="800" b="1" i="0">
                          <a:solidFill>
                            <a:srgbClr val="FFFFFF"/>
                          </a:solidFill>
                          <a:latin typeface="Calibri"/>
                        </a:rPr>
                        <a:t>WACC \ TGR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6,5%</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455</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500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555</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624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713</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7,5%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385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417</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455</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500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555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8,5%</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334</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358</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385</a:t>
                      </a:r>
                    </a:p>
                  </a:txBody>
                  <a:tcPr>
                    <a:solidFill>
                      <a:srgbClr val="2E5FA3"/>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417</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455</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9,5%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313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334</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358</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385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10,5%</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264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278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295</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313</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TextBox 19"/>
          <p:cNvSpPr txBox="1"/>
          <p:nvPr/>
        </p:nvSpPr>
        <p:spPr>
          <a:xfrm>
            <a:off x="367200" y="3916800"/>
            <a:ext cx="8413200" cy="547200"/>
          </a:xfrm>
          <a:prstGeom prst="rect">
            <a:avLst/>
          </a:prstGeom>
          <a:noFill/>
        </p:spPr>
        <p:txBody>
          <a:bodyPr wrap="square">
            <a:spAutoFit/>
          </a:bodyPr>
          <a:lstStyle/>
          <a:p>
            <a:pPr algn="l"/>
            <a:r>
              <a:rPr sz="850" b="0" i="0">
                <a:solidFill>
                  <a:srgbClr val="555555"/>
                </a:solidFill>
                <a:latin typeface="Calibri"/>
              </a:rPr>
              <a:t>Avec un WACC de 8.5% et une TGR de 2.0%, le DCF implicite est de 385€, soit un upside de 10% vs le cours actuel. La valorisation actuelle intègre déjà une prime de croissance, mais un scénario de réaccélération organique à 4% ou une compression des coûts logistiques pourrait débloquer une valeur supplémentaire.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Comparable Peers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par multiples  ·  LTM  ·  Mkt Cap en Mds EUR</a:t>
            </a:r>
          </a:p>
        </p:txBody>
      </p:sp>
      <p:graphicFrame>
        <p:nvGraphicFramePr>
          <p:cNvPr id="17" name="Table 16"/>
          <p:cNvGraphicFramePr>
            <a:graphicFrameLocks noGrp="1"/>
          </p:cNvGraphicFramePr>
          <p:nvPr/>
        </p:nvGraphicFramePr>
        <p:xfrm>
          <a:off x="367200" y="914400"/>
          <a:ext cx="8413200" cy="2015999"/>
        </p:xfrm>
        <a:graphic>
          <a:graphicData uri="http://schemas.openxmlformats.org/drawingml/2006/table">
            <a:tbl>
              <a:tblPr firstRow="1" bandRow="1">
                <a:tableStyleId>{5C22544A-7EE6-4342-B048-85BDC9FD1C3A}</a:tableStyleId>
              </a:tblPr>
              <a:tblGrid>
                <a:gridCol w="1682640"/>
                <a:gridCol w="757188"/>
                <a:gridCol w="1093716"/>
                <a:gridCol w="1009584"/>
                <a:gridCol w="1009584"/>
                <a:gridCol w="757188"/>
                <a:gridCol w="1093716"/>
                <a:gridCol w="1009584"/>
              </a:tblGrid>
              <a:tr h="251999">
                <a:tc>
                  <a:txBody>
                    <a:bodyPr/>
                    <a:lstStyle/>
                    <a:p>
                      <a:pPr algn="l"/>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Ticker</a:t>
                      </a:r>
                    </a:p>
                  </a:txBody>
                  <a:tcPr>
                    <a:solidFill>
                      <a:srgbClr val="1B3A6B"/>
                    </a:solidFill>
                  </a:tcPr>
                </a:tc>
                <a:tc>
                  <a:txBody>
                    <a:bodyPr/>
                    <a:lstStyle/>
                    <a:p>
                      <a:pPr algn="ctr"/>
                      <a:r>
                        <a:rPr sz="800" b="1" i="0">
                          <a:solidFill>
                            <a:srgbClr val="FFFFFF"/>
                          </a:solidFill>
                          <a:latin typeface="Calibri"/>
                        </a:rPr>
                        <a:t>Mkt Cap</a:t>
                      </a:r>
                    </a:p>
                  </a:txBody>
                  <a:tcPr>
                    <a:solidFill>
                      <a:srgbClr val="1B3A6B"/>
                    </a:solidFill>
                  </a:tcPr>
                </a:tc>
                <a:tc>
                  <a:txBody>
                    <a:bodyPr/>
                    <a:lstStyle/>
                    <a:p>
                      <a:pPr algn="ctr"/>
                      <a:r>
                        <a:rPr sz="800" b="1" i="0">
                          <a:solidFill>
                            <a:srgbClr val="FFFFFF"/>
                          </a:solidFill>
                          <a:latin typeface="Calibri"/>
                        </a:rPr>
                        <a:t>EV/EBITDA</a:t>
                      </a:r>
                    </a:p>
                  </a:txBody>
                  <a:tcPr>
                    <a:solidFill>
                      <a:srgbClr val="1B3A6B"/>
                    </a:solidFill>
                  </a:tcPr>
                </a:tc>
                <a:tc>
                  <a:txBody>
                    <a:bodyPr/>
                    <a:lstStyle/>
                    <a:p>
                      <a:pPr algn="ctr"/>
                      <a:r>
                        <a:rPr sz="800" b="1" i="0">
                          <a:solidFill>
                            <a:srgbClr val="FFFFFF"/>
                          </a:solidFill>
                          <a:latin typeface="Calibri"/>
                        </a:rPr>
                        <a:t>EV/Rev.</a:t>
                      </a:r>
                    </a:p>
                  </a:txBody>
                  <a:tcPr>
                    <a:solidFill>
                      <a:srgbClr val="1B3A6B"/>
                    </a:solidFill>
                  </a:tcPr>
                </a:tc>
                <a:tc>
                  <a:txBody>
                    <a:bodyPr/>
                    <a:lstStyle/>
                    <a:p>
                      <a:pPr algn="ctr"/>
                      <a:r>
                        <a:rPr sz="800" b="1" i="0">
                          <a:solidFill>
                            <a:srgbClr val="FFFFFF"/>
                          </a:solidFill>
                          <a:latin typeface="Calibri"/>
                        </a:rPr>
                        <a:t>P/E</a:t>
                      </a:r>
                    </a:p>
                  </a:txBody>
                  <a:tcPr>
                    <a:solidFill>
                      <a:srgbClr val="1B3A6B"/>
                    </a:solidFill>
                  </a:tcPr>
                </a:tc>
                <a:tc>
                  <a:txBody>
                    <a:bodyPr/>
                    <a:lstStyle/>
                    <a:p>
                      <a:pPr algn="ctr"/>
                      <a:r>
                        <a:rPr sz="800" b="1" i="0">
                          <a:solidFill>
                            <a:srgbClr val="FFFFFF"/>
                          </a:solidFill>
                          <a:latin typeface="Calibri"/>
                        </a:rPr>
                        <a:t>Mg Brute</a:t>
                      </a:r>
                    </a:p>
                  </a:txBody>
                  <a:tcPr>
                    <a:solidFill>
                      <a:srgbClr val="1B3A6B"/>
                    </a:solidFill>
                  </a:tcPr>
                </a:tc>
                <a:tc>
                  <a:txBody>
                    <a:bodyPr/>
                    <a:lstStyle/>
                    <a:p>
                      <a:pPr algn="ctr"/>
                      <a:r>
                        <a:rPr sz="800" b="1" i="0">
                          <a:solidFill>
                            <a:srgbClr val="FFFFFF"/>
                          </a:solidFill>
                          <a:latin typeface="Calibri"/>
                        </a:rPr>
                        <a:t>Mg EBITDA</a:t>
                      </a:r>
                    </a:p>
                  </a:txBody>
                  <a:tcPr>
                    <a:solidFill>
                      <a:srgbClr val="1B3A6B"/>
                    </a:solidFill>
                  </a:tcPr>
                </a:tc>
              </a:tr>
              <a:tr h="251999">
                <a:tc>
                  <a:txBody>
                    <a:bodyPr/>
                    <a:lstStyle/>
                    <a:p>
                      <a:pPr algn="l"/>
                      <a:r>
                        <a:rPr sz="800" b="1" i="0">
                          <a:solidFill>
                            <a:srgbClr val="1B3A6B"/>
                          </a:solidFill>
                          <a:latin typeface="Calibri"/>
                        </a:rPr>
                        <a:t>L'Oréal S.A.</a:t>
                      </a:r>
                    </a:p>
                  </a:txBody>
                  <a:tcPr>
                    <a:solidFill>
                      <a:srgbClr val="DDE8F5"/>
                    </a:solidFill>
                  </a:tcPr>
                </a:tc>
                <a:tc>
                  <a:txBody>
                    <a:bodyPr/>
                    <a:lstStyle/>
                    <a:p>
                      <a:pPr algn="ctr"/>
                      <a:r>
                        <a:rPr sz="750" b="1" i="0">
                          <a:solidFill>
                            <a:srgbClr val="2E5FA3"/>
                          </a:solidFill>
                          <a:latin typeface="Calibri"/>
                        </a:rPr>
                        <a:t>OR.PA</a:t>
                      </a:r>
                    </a:p>
                  </a:txBody>
                  <a:tcPr>
                    <a:solidFill>
                      <a:srgbClr val="DDE8F5"/>
                    </a:solidFill>
                  </a:tcPr>
                </a:tc>
                <a:tc>
                  <a:txBody>
                    <a:bodyPr/>
                    <a:lstStyle/>
                    <a:p>
                      <a:pPr algn="ctr"/>
                      <a:r>
                        <a:rPr sz="800" b="1" i="0">
                          <a:solidFill>
                            <a:srgbClr val="1B3A6B"/>
                          </a:solidFill>
                          <a:latin typeface="Calibri"/>
                        </a:rPr>
                        <a:t>187,3</a:t>
                      </a:r>
                    </a:p>
                  </a:txBody>
                  <a:tcPr>
                    <a:solidFill>
                      <a:srgbClr val="DDE8F5"/>
                    </a:solidFill>
                  </a:tcPr>
                </a:tc>
                <a:tc>
                  <a:txBody>
                    <a:bodyPr/>
                    <a:lstStyle/>
                    <a:p>
                      <a:pPr algn="ctr"/>
                      <a:r>
                        <a:rPr sz="800" b="1" i="0">
                          <a:solidFill>
                            <a:srgbClr val="1B3A6B"/>
                          </a:solidFill>
                          <a:latin typeface="Calibri"/>
                        </a:rPr>
                        <a:t>17,6x</a:t>
                      </a:r>
                    </a:p>
                  </a:txBody>
                  <a:tcPr>
                    <a:solidFill>
                      <a:srgbClr val="DDE8F5"/>
                    </a:solidFill>
                  </a:tcPr>
                </a:tc>
                <a:tc>
                  <a:txBody>
                    <a:bodyPr/>
                    <a:lstStyle/>
                    <a:p>
                      <a:pPr algn="ctr"/>
                      <a:r>
                        <a:rPr sz="800" b="1" i="0">
                          <a:solidFill>
                            <a:srgbClr val="1B3A6B"/>
                          </a:solidFill>
                          <a:latin typeface="Calibri"/>
                        </a:rPr>
                        <a:t>4,3x</a:t>
                      </a:r>
                    </a:p>
                  </a:txBody>
                  <a:tcPr>
                    <a:solidFill>
                      <a:srgbClr val="DDE8F5"/>
                    </a:solidFill>
                  </a:tcPr>
                </a:tc>
                <a:tc>
                  <a:txBody>
                    <a:bodyPr/>
                    <a:lstStyle/>
                    <a:p>
                      <a:pPr algn="ctr"/>
                      <a:r>
                        <a:rPr sz="800" b="1" i="0">
                          <a:solidFill>
                            <a:srgbClr val="1B3A6B"/>
                          </a:solidFill>
                          <a:latin typeface="Calibri"/>
                        </a:rPr>
                        <a:t>30,6x</a:t>
                      </a:r>
                    </a:p>
                  </a:txBody>
                  <a:tcPr>
                    <a:solidFill>
                      <a:srgbClr val="DDE8F5"/>
                    </a:solidFill>
                  </a:tcPr>
                </a:tc>
                <a:tc>
                  <a:txBody>
                    <a:bodyPr/>
                    <a:lstStyle/>
                    <a:p>
                      <a:pPr algn="ctr"/>
                      <a:r>
                        <a:rPr sz="800" b="1" i="0">
                          <a:solidFill>
                            <a:srgbClr val="1B3A6B"/>
                          </a:solidFill>
                          <a:latin typeface="Calibri"/>
                        </a:rPr>
                        <a:t>74,3 %</a:t>
                      </a:r>
                    </a:p>
                  </a:txBody>
                  <a:tcPr>
                    <a:solidFill>
                      <a:srgbClr val="DDE8F5"/>
                    </a:solidFill>
                  </a:tcPr>
                </a:tc>
                <a:tc>
                  <a:txBody>
                    <a:bodyPr/>
                    <a:lstStyle/>
                    <a:p>
                      <a:pPr algn="ctr"/>
                      <a:r>
                        <a:rPr sz="800" b="1" i="0">
                          <a:solidFill>
                            <a:srgbClr val="1B3A6B"/>
                          </a:solidFill>
                          <a:latin typeface="Calibri"/>
                        </a:rPr>
                        <a:t>24,3 %</a:t>
                      </a:r>
                    </a:p>
                  </a:txBody>
                  <a:tcPr>
                    <a:solidFill>
                      <a:srgbClr val="DDE8F5"/>
                    </a:solidFill>
                  </a:tcPr>
                </a:tc>
              </a:tr>
              <a:tr h="251999">
                <a:tc>
                  <a:txBody>
                    <a:bodyPr/>
                    <a:lstStyle/>
                    <a:p>
                      <a:pPr algn="l"/>
                      <a:r>
                        <a:rPr sz="800" b="0" i="0">
                          <a:solidFill>
                            <a:srgbClr val="0D0D0D"/>
                          </a:solidFill>
                          <a:latin typeface="Calibri"/>
                        </a:rPr>
                        <a:t>Estée Lauder</a:t>
                      </a:r>
                    </a:p>
                  </a:txBody>
                  <a:tcPr>
                    <a:solidFill>
                      <a:srgbClr val="FFFFFF"/>
                    </a:solidFill>
                  </a:tcPr>
                </a:tc>
                <a:tc>
                  <a:txBody>
                    <a:bodyPr/>
                    <a:lstStyle/>
                    <a:p>
                      <a:pPr algn="ctr"/>
                      <a:r>
                        <a:rPr sz="750" b="0" i="0">
                          <a:solidFill>
                            <a:srgbClr val="555555"/>
                          </a:solidFill>
                          <a:latin typeface="Calibri"/>
                        </a:rPr>
                        <a:t>EL</a:t>
                      </a:r>
                    </a:p>
                  </a:txBody>
                  <a:tcPr>
                    <a:solidFill>
                      <a:srgbClr val="FFFFFF"/>
                    </a:solidFill>
                  </a:tcPr>
                </a:tc>
                <a:tc>
                  <a:txBody>
                    <a:bodyPr/>
                    <a:lstStyle/>
                    <a:p>
                      <a:pPr algn="ctr"/>
                      <a:r>
                        <a:rPr sz="800" b="0" i="0">
                          <a:solidFill>
                            <a:srgbClr val="0D0D0D"/>
                          </a:solidFill>
                          <a:latin typeface="Calibri"/>
                        </a:rPr>
                        <a:t>35,2</a:t>
                      </a:r>
                    </a:p>
                  </a:txBody>
                  <a:tcPr>
                    <a:solidFill>
                      <a:srgbClr val="FFFFFF"/>
                    </a:solidFill>
                  </a:tcPr>
                </a:tc>
                <a:tc>
                  <a:txBody>
                    <a:bodyPr/>
                    <a:lstStyle/>
                    <a:p>
                      <a:pPr algn="ctr"/>
                      <a:r>
                        <a:rPr sz="800" b="0" i="0">
                          <a:solidFill>
                            <a:srgbClr val="0D0D0D"/>
                          </a:solidFill>
                          <a:latin typeface="Calibri"/>
                        </a:rPr>
                        <a:t>18,2x</a:t>
                      </a:r>
                    </a:p>
                  </a:txBody>
                  <a:tcPr>
                    <a:solidFill>
                      <a:srgbClr val="FFFFFF"/>
                    </a:solidFill>
                  </a:tcPr>
                </a:tc>
                <a:tc>
                  <a:txBody>
                    <a:bodyPr/>
                    <a:lstStyle/>
                    <a:p>
                      <a:pPr algn="ctr"/>
                      <a:r>
                        <a:rPr sz="800" b="0" i="0">
                          <a:solidFill>
                            <a:srgbClr val="0D0D0D"/>
                          </a:solidFill>
                          <a:latin typeface="Calibri"/>
                        </a:rPr>
                        <a:t>3,8x</a:t>
                      </a:r>
                    </a:p>
                  </a:txBody>
                  <a:tcPr>
                    <a:solidFill>
                      <a:srgbClr val="FFFFFF"/>
                    </a:solidFill>
                  </a:tcPr>
                </a:tc>
                <a:tc>
                  <a:txBody>
                    <a:bodyPr/>
                    <a:lstStyle/>
                    <a:p>
                      <a:pPr algn="ctr"/>
                      <a:r>
                        <a:rPr sz="800" b="0" i="0">
                          <a:solidFill>
                            <a:srgbClr val="0D0D0D"/>
                          </a:solidFill>
                          <a:latin typeface="Calibri"/>
                        </a:rPr>
                        <a:t>32,1x</a:t>
                      </a:r>
                    </a:p>
                  </a:txBody>
                  <a:tcPr>
                    <a:solidFill>
                      <a:srgbClr val="FFFFFF"/>
                    </a:solidFill>
                  </a:tcPr>
                </a:tc>
                <a:tc>
                  <a:txBody>
                    <a:bodyPr/>
                    <a:lstStyle/>
                    <a:p>
                      <a:pPr algn="ctr"/>
                      <a:r>
                        <a:rPr sz="800" b="0" i="0">
                          <a:solidFill>
                            <a:srgbClr val="0D0D0D"/>
                          </a:solidFill>
                          <a:latin typeface="Calibri"/>
                        </a:rPr>
                        <a:t>76,0 %</a:t>
                      </a:r>
                    </a:p>
                  </a:txBody>
                  <a:tcPr>
                    <a:solidFill>
                      <a:srgbClr val="FFFFFF"/>
                    </a:solidFill>
                  </a:tcPr>
                </a:tc>
                <a:tc>
                  <a:txBody>
                    <a:bodyPr/>
                    <a:lstStyle/>
                    <a:p>
                      <a:pPr algn="ctr"/>
                      <a:r>
                        <a:rPr sz="800" b="0" i="0">
                          <a:solidFill>
                            <a:srgbClr val="0D0D0D"/>
                          </a:solidFill>
                          <a:latin typeface="Calibri"/>
                        </a:rPr>
                        <a:t>22,0 %</a:t>
                      </a:r>
                    </a:p>
                  </a:txBody>
                  <a:tcPr>
                    <a:solidFill>
                      <a:srgbClr val="FFFFFF"/>
                    </a:solidFill>
                  </a:tcPr>
                </a:tc>
              </a:tr>
              <a:tr h="251999">
                <a:tc>
                  <a:txBody>
                    <a:bodyPr/>
                    <a:lstStyle/>
                    <a:p>
                      <a:pPr algn="l"/>
                      <a:r>
                        <a:rPr sz="800" b="0" i="0">
                          <a:solidFill>
                            <a:srgbClr val="0D0D0D"/>
                          </a:solidFill>
                          <a:latin typeface="Calibri"/>
                        </a:rPr>
                        <a:t>Shiseido</a:t>
                      </a:r>
                    </a:p>
                  </a:txBody>
                  <a:tcPr>
                    <a:solidFill>
                      <a:srgbClr val="F7F8FA"/>
                    </a:solidFill>
                  </a:tcPr>
                </a:tc>
                <a:tc>
                  <a:txBody>
                    <a:bodyPr/>
                    <a:lstStyle/>
                    <a:p>
                      <a:pPr algn="ctr"/>
                      <a:r>
                        <a:rPr sz="750" b="0" i="0">
                          <a:solidFill>
                            <a:srgbClr val="555555"/>
                          </a:solidFill>
                          <a:latin typeface="Calibri"/>
                        </a:rPr>
                        <a:t>4911.T</a:t>
                      </a:r>
                    </a:p>
                  </a:txBody>
                  <a:tcPr>
                    <a:solidFill>
                      <a:srgbClr val="F7F8FA"/>
                    </a:solidFill>
                  </a:tcPr>
                </a:tc>
                <a:tc>
                  <a:txBody>
                    <a:bodyPr/>
                    <a:lstStyle/>
                    <a:p>
                      <a:pPr algn="ctr"/>
                      <a:r>
                        <a:rPr sz="800" b="0" i="0">
                          <a:solidFill>
                            <a:srgbClr val="0D0D0D"/>
                          </a:solidFill>
                          <a:latin typeface="Calibri"/>
                        </a:rPr>
                        <a:t>5,8</a:t>
                      </a:r>
                    </a:p>
                  </a:txBody>
                  <a:tcPr>
                    <a:solidFill>
                      <a:srgbClr val="F7F8FA"/>
                    </a:solidFill>
                  </a:tcPr>
                </a:tc>
                <a:tc>
                  <a:txBody>
                    <a:bodyPr/>
                    <a:lstStyle/>
                    <a:p>
                      <a:pPr algn="ctr"/>
                      <a:r>
                        <a:rPr sz="800" b="0" i="0">
                          <a:solidFill>
                            <a:srgbClr val="0D0D0D"/>
                          </a:solidFill>
                          <a:latin typeface="Calibri"/>
                        </a:rPr>
                        <a:t>12,5x</a:t>
                      </a:r>
                    </a:p>
                  </a:txBody>
                  <a:tcPr>
                    <a:solidFill>
                      <a:srgbClr val="F7F8FA"/>
                    </a:solidFill>
                  </a:tcPr>
                </a:tc>
                <a:tc>
                  <a:txBody>
                    <a:bodyPr/>
                    <a:lstStyle/>
                    <a:p>
                      <a:pPr algn="ctr"/>
                      <a:r>
                        <a:rPr sz="800" b="0" i="0">
                          <a:solidFill>
                            <a:srgbClr val="0D0D0D"/>
                          </a:solidFill>
                          <a:latin typeface="Calibri"/>
                        </a:rPr>
                        <a:t>1,9x</a:t>
                      </a:r>
                    </a:p>
                  </a:txBody>
                  <a:tcPr>
                    <a:solidFill>
                      <a:srgbClr val="F7F8FA"/>
                    </a:solidFill>
                  </a:tcPr>
                </a:tc>
                <a:tc>
                  <a:txBody>
                    <a:bodyPr/>
                    <a:lstStyle/>
                    <a:p>
                      <a:pPr algn="ctr"/>
                      <a:r>
                        <a:rPr sz="800" b="0" i="0">
                          <a:solidFill>
                            <a:srgbClr val="0D0D0D"/>
                          </a:solidFill>
                          <a:latin typeface="Calibri"/>
                        </a:rPr>
                        <a:t>18,7x</a:t>
                      </a:r>
                    </a:p>
                  </a:txBody>
                  <a:tcPr>
                    <a:solidFill>
                      <a:srgbClr val="F7F8FA"/>
                    </a:solidFill>
                  </a:tcPr>
                </a:tc>
                <a:tc>
                  <a:txBody>
                    <a:bodyPr/>
                    <a:lstStyle/>
                    <a:p>
                      <a:pPr algn="ctr"/>
                      <a:r>
                        <a:rPr sz="800" b="0" i="0">
                          <a:solidFill>
                            <a:srgbClr val="0D0D0D"/>
                          </a:solidFill>
                          <a:latin typeface="Calibri"/>
                        </a:rPr>
                        <a:t>71,0 %</a:t>
                      </a:r>
                    </a:p>
                  </a:txBody>
                  <a:tcPr>
                    <a:solidFill>
                      <a:srgbClr val="F7F8FA"/>
                    </a:solidFill>
                  </a:tcPr>
                </a:tc>
                <a:tc>
                  <a:txBody>
                    <a:bodyPr/>
                    <a:lstStyle/>
                    <a:p>
                      <a:pPr algn="ctr"/>
                      <a:r>
                        <a:rPr sz="800" b="0" i="0">
                          <a:solidFill>
                            <a:srgbClr val="0D0D0D"/>
                          </a:solidFill>
                          <a:latin typeface="Calibri"/>
                        </a:rPr>
                        <a:t>18,0 %</a:t>
                      </a:r>
                    </a:p>
                  </a:txBody>
                  <a:tcPr>
                    <a:solidFill>
                      <a:srgbClr val="F7F8FA"/>
                    </a:solidFill>
                  </a:tcPr>
                </a:tc>
              </a:tr>
              <a:tr h="251999">
                <a:tc>
                  <a:txBody>
                    <a:bodyPr/>
                    <a:lstStyle/>
                    <a:p>
                      <a:pPr algn="l"/>
                      <a:r>
                        <a:rPr sz="800" b="0" i="0">
                          <a:solidFill>
                            <a:srgbClr val="0D0D0D"/>
                          </a:solidFill>
                          <a:latin typeface="Calibri"/>
                        </a:rPr>
                        <a:t>Unilever Beauty &amp; Personal Car</a:t>
                      </a:r>
                    </a:p>
                  </a:txBody>
                  <a:tcPr>
                    <a:solidFill>
                      <a:srgbClr val="FFFFFF"/>
                    </a:solidFill>
                  </a:tcPr>
                </a:tc>
                <a:tc>
                  <a:txBody>
                    <a:bodyPr/>
                    <a:lstStyle/>
                    <a:p>
                      <a:pPr algn="ctr"/>
                      <a:r>
                        <a:rPr sz="750" b="0" i="0">
                          <a:solidFill>
                            <a:srgbClr val="555555"/>
                          </a:solidFill>
                          <a:latin typeface="Calibri"/>
                        </a:rPr>
                        <a:t>ULVR.L</a:t>
                      </a:r>
                    </a:p>
                  </a:txBody>
                  <a:tcPr>
                    <a:solidFill>
                      <a:srgbClr val="FFFFFF"/>
                    </a:solidFill>
                  </a:tcPr>
                </a:tc>
                <a:tc>
                  <a:txBody>
                    <a:bodyPr/>
                    <a:lstStyle/>
                    <a:p>
                      <a:pPr algn="ctr"/>
                      <a:r>
                        <a:rPr sz="800" b="0" i="0">
                          <a:solidFill>
                            <a:srgbClr val="0D0D0D"/>
                          </a:solidFill>
                          <a:latin typeface="Calibri"/>
                        </a:rPr>
                        <a:t>120,0</a:t>
                      </a:r>
                    </a:p>
                  </a:txBody>
                  <a:tcPr>
                    <a:solidFill>
                      <a:srgbClr val="FFFFFF"/>
                    </a:solidFill>
                  </a:tcPr>
                </a:tc>
                <a:tc>
                  <a:txBody>
                    <a:bodyPr/>
                    <a:lstStyle/>
                    <a:p>
                      <a:pPr algn="ctr"/>
                      <a:r>
                        <a:rPr sz="800" b="0" i="0">
                          <a:solidFill>
                            <a:srgbClr val="0D0D0D"/>
                          </a:solidFill>
                          <a:latin typeface="Calibri"/>
                        </a:rPr>
                        <a:t>15,8x</a:t>
                      </a:r>
                    </a:p>
                  </a:txBody>
                  <a:tcPr>
                    <a:solidFill>
                      <a:srgbClr val="FFFFFF"/>
                    </a:solidFill>
                  </a:tcPr>
                </a:tc>
                <a:tc>
                  <a:txBody>
                    <a:bodyPr/>
                    <a:lstStyle/>
                    <a:p>
                      <a:pPr algn="ctr"/>
                      <a:r>
                        <a:rPr sz="800" b="0" i="0">
                          <a:solidFill>
                            <a:srgbClr val="0D0D0D"/>
                          </a:solidFill>
                          <a:latin typeface="Calibri"/>
                        </a:rPr>
                        <a:t>3,1x</a:t>
                      </a:r>
                    </a:p>
                  </a:txBody>
                  <a:tcPr>
                    <a:solidFill>
                      <a:srgbClr val="FFFFFF"/>
                    </a:solidFill>
                  </a:tcPr>
                </a:tc>
                <a:tc>
                  <a:txBody>
                    <a:bodyPr/>
                    <a:lstStyle/>
                    <a:p>
                      <a:pPr algn="ctr"/>
                      <a:r>
                        <a:rPr sz="800" b="0" i="0">
                          <a:solidFill>
                            <a:srgbClr val="0D0D0D"/>
                          </a:solidFill>
                          <a:latin typeface="Calibri"/>
                        </a:rPr>
                        <a:t>22,5x</a:t>
                      </a:r>
                    </a:p>
                  </a:txBody>
                  <a:tcPr>
                    <a:solidFill>
                      <a:srgbClr val="FFFFFF"/>
                    </a:solidFill>
                  </a:tcPr>
                </a:tc>
                <a:tc>
                  <a:txBody>
                    <a:bodyPr/>
                    <a:lstStyle/>
                    <a:p>
                      <a:pPr algn="ctr"/>
                      <a:r>
                        <a:rPr sz="800" b="0" i="0">
                          <a:solidFill>
                            <a:srgbClr val="0D0D0D"/>
                          </a:solidFill>
                          <a:latin typeface="Calibri"/>
                        </a:rPr>
                        <a:t>58,0 %</a:t>
                      </a:r>
                    </a:p>
                  </a:txBody>
                  <a:tcPr>
                    <a:solidFill>
                      <a:srgbClr val="FFFFFF"/>
                    </a:solidFill>
                  </a:tcPr>
                </a:tc>
                <a:tc>
                  <a:txBody>
                    <a:bodyPr/>
                    <a:lstStyle/>
                    <a:p>
                      <a:pPr algn="ctr"/>
                      <a:r>
                        <a:rPr sz="800" b="0" i="0">
                          <a:solidFill>
                            <a:srgbClr val="0D0D0D"/>
                          </a:solidFill>
                          <a:latin typeface="Calibri"/>
                        </a:rPr>
                        <a:t>21,0 %</a:t>
                      </a:r>
                    </a:p>
                  </a:txBody>
                  <a:tcPr>
                    <a:solidFill>
                      <a:srgbClr val="FFFFFF"/>
                    </a:solidFill>
                  </a:tcPr>
                </a:tc>
              </a:tr>
              <a:tr h="251999">
                <a:tc>
                  <a:txBody>
                    <a:bodyPr/>
                    <a:lstStyle/>
                    <a:p>
                      <a:pPr algn="l"/>
                      <a:r>
                        <a:rPr sz="800" b="0" i="0">
                          <a:solidFill>
                            <a:srgbClr val="0D0D0D"/>
                          </a:solidFill>
                          <a:latin typeface="Calibri"/>
                        </a:rPr>
                        <a:t>Procter &amp; Gamble Beauty</a:t>
                      </a:r>
                    </a:p>
                  </a:txBody>
                  <a:tcPr>
                    <a:solidFill>
                      <a:srgbClr val="F7F8FA"/>
                    </a:solidFill>
                  </a:tcPr>
                </a:tc>
                <a:tc>
                  <a:txBody>
                    <a:bodyPr/>
                    <a:lstStyle/>
                    <a:p>
                      <a:pPr algn="ctr"/>
                      <a:r>
                        <a:rPr sz="750" b="0" i="0">
                          <a:solidFill>
                            <a:srgbClr val="555555"/>
                          </a:solidFill>
                          <a:latin typeface="Calibri"/>
                        </a:rPr>
                        <a:t>PG</a:t>
                      </a:r>
                    </a:p>
                  </a:txBody>
                  <a:tcPr>
                    <a:solidFill>
                      <a:srgbClr val="F7F8FA"/>
                    </a:solidFill>
                  </a:tcPr>
                </a:tc>
                <a:tc>
                  <a:txBody>
                    <a:bodyPr/>
                    <a:lstStyle/>
                    <a:p>
                      <a:pPr algn="ctr"/>
                      <a:r>
                        <a:rPr sz="800" b="0" i="0">
                          <a:solidFill>
                            <a:srgbClr val="0D0D0D"/>
                          </a:solidFill>
                          <a:latin typeface="Calibri"/>
                        </a:rPr>
                        <a:t>380,0</a:t>
                      </a:r>
                    </a:p>
                  </a:txBody>
                  <a:tcPr>
                    <a:solidFill>
                      <a:srgbClr val="F7F8FA"/>
                    </a:solidFill>
                  </a:tcPr>
                </a:tc>
                <a:tc>
                  <a:txBody>
                    <a:bodyPr/>
                    <a:lstStyle/>
                    <a:p>
                      <a:pPr algn="ctr"/>
                      <a:r>
                        <a:rPr sz="800" b="0" i="0">
                          <a:solidFill>
                            <a:srgbClr val="0D0D0D"/>
                          </a:solidFill>
                          <a:latin typeface="Calibri"/>
                        </a:rPr>
                        <a:t>16,5x</a:t>
                      </a:r>
                    </a:p>
                  </a:txBody>
                  <a:tcPr>
                    <a:solidFill>
                      <a:srgbClr val="F7F8FA"/>
                    </a:solidFill>
                  </a:tcPr>
                </a:tc>
                <a:tc>
                  <a:txBody>
                    <a:bodyPr/>
                    <a:lstStyle/>
                    <a:p>
                      <a:pPr algn="ctr"/>
                      <a:r>
                        <a:rPr sz="800" b="0" i="0">
                          <a:solidFill>
                            <a:srgbClr val="0D0D0D"/>
                          </a:solidFill>
                          <a:latin typeface="Calibri"/>
                        </a:rPr>
                        <a:t>3,5x</a:t>
                      </a:r>
                    </a:p>
                  </a:txBody>
                  <a:tcPr>
                    <a:solidFill>
                      <a:srgbClr val="F7F8FA"/>
                    </a:solidFill>
                  </a:tcPr>
                </a:tc>
                <a:tc>
                  <a:txBody>
                    <a:bodyPr/>
                    <a:lstStyle/>
                    <a:p>
                      <a:pPr algn="ctr"/>
                      <a:r>
                        <a:rPr sz="800" b="0" i="0">
                          <a:solidFill>
                            <a:srgbClr val="0D0D0D"/>
                          </a:solidFill>
                          <a:latin typeface="Calibri"/>
                        </a:rPr>
                        <a:t>28,3x</a:t>
                      </a:r>
                    </a:p>
                  </a:txBody>
                  <a:tcPr>
                    <a:solidFill>
                      <a:srgbClr val="F7F8FA"/>
                    </a:solidFill>
                  </a:tcPr>
                </a:tc>
                <a:tc>
                  <a:txBody>
                    <a:bodyPr/>
                    <a:lstStyle/>
                    <a:p>
                      <a:pPr algn="ctr"/>
                      <a:r>
                        <a:rPr sz="800" b="0" i="0">
                          <a:solidFill>
                            <a:srgbClr val="0D0D0D"/>
                          </a:solidFill>
                          <a:latin typeface="Calibri"/>
                        </a:rPr>
                        <a:t>55,0 %</a:t>
                      </a:r>
                    </a:p>
                  </a:txBody>
                  <a:tcPr>
                    <a:solidFill>
                      <a:srgbClr val="F7F8FA"/>
                    </a:solidFill>
                  </a:tcPr>
                </a:tc>
                <a:tc>
                  <a:txBody>
                    <a:bodyPr/>
                    <a:lstStyle/>
                    <a:p>
                      <a:pPr algn="ctr"/>
                      <a:r>
                        <a:rPr sz="800" b="0" i="0">
                          <a:solidFill>
                            <a:srgbClr val="0D0D0D"/>
                          </a:solidFill>
                          <a:latin typeface="Calibri"/>
                        </a:rPr>
                        <a:t>24,0 %</a:t>
                      </a:r>
                    </a:p>
                  </a:txBody>
                  <a:tcPr>
                    <a:solidFill>
                      <a:srgbClr val="F7F8FA"/>
                    </a:solidFill>
                  </a:tcPr>
                </a:tc>
              </a:tr>
              <a:tr h="251999">
                <a:tc>
                  <a:txBody>
                    <a:bodyPr/>
                    <a:lstStyle/>
                    <a:p>
                      <a:pPr algn="l"/>
                      <a:r>
                        <a:rPr sz="800" b="0" i="0">
                          <a:solidFill>
                            <a:srgbClr val="0D0D0D"/>
                          </a:solidFill>
                          <a:latin typeface="Calibri"/>
                        </a:rPr>
                        <a:t>Beiersdorf</a:t>
                      </a:r>
                    </a:p>
                  </a:txBody>
                  <a:tcPr>
                    <a:solidFill>
                      <a:srgbClr val="FFFFFF"/>
                    </a:solidFill>
                  </a:tcPr>
                </a:tc>
                <a:tc>
                  <a:txBody>
                    <a:bodyPr/>
                    <a:lstStyle/>
                    <a:p>
                      <a:pPr algn="ctr"/>
                      <a:r>
                        <a:rPr sz="750" b="0" i="0">
                          <a:solidFill>
                            <a:srgbClr val="555555"/>
                          </a:solidFill>
                          <a:latin typeface="Calibri"/>
                        </a:rPr>
                        <a:t>BEI.DE</a:t>
                      </a:r>
                    </a:p>
                  </a:txBody>
                  <a:tcPr>
                    <a:solidFill>
                      <a:srgbClr val="FFFFFF"/>
                    </a:solidFill>
                  </a:tcPr>
                </a:tc>
                <a:tc>
                  <a:txBody>
                    <a:bodyPr/>
                    <a:lstStyle/>
                    <a:p>
                      <a:pPr algn="ctr"/>
                      <a:r>
                        <a:rPr sz="800" b="0" i="0">
                          <a:solidFill>
                            <a:srgbClr val="0D0D0D"/>
                          </a:solidFill>
                          <a:latin typeface="Calibri"/>
                        </a:rPr>
                        <a:t>28,5</a:t>
                      </a:r>
                    </a:p>
                  </a:txBody>
                  <a:tcPr>
                    <a:solidFill>
                      <a:srgbClr val="FFFFFF"/>
                    </a:solidFill>
                  </a:tcPr>
                </a:tc>
                <a:tc>
                  <a:txBody>
                    <a:bodyPr/>
                    <a:lstStyle/>
                    <a:p>
                      <a:pPr algn="ctr"/>
                      <a:r>
                        <a:rPr sz="800" b="0" i="0">
                          <a:solidFill>
                            <a:srgbClr val="0D0D0D"/>
                          </a:solidFill>
                          <a:latin typeface="Calibri"/>
                        </a:rPr>
                        <a:t>17,1x</a:t>
                      </a:r>
                    </a:p>
                  </a:txBody>
                  <a:tcPr>
                    <a:solidFill>
                      <a:srgbClr val="FFFFFF"/>
                    </a:solidFill>
                  </a:tcPr>
                </a:tc>
                <a:tc>
                  <a:txBody>
                    <a:bodyPr/>
                    <a:lstStyle/>
                    <a:p>
                      <a:pPr algn="ctr"/>
                      <a:r>
                        <a:rPr sz="800" b="0" i="0">
                          <a:solidFill>
                            <a:srgbClr val="0D0D0D"/>
                          </a:solidFill>
                          <a:latin typeface="Calibri"/>
                        </a:rPr>
                        <a:t>3,3x</a:t>
                      </a:r>
                    </a:p>
                  </a:txBody>
                  <a:tcPr>
                    <a:solidFill>
                      <a:srgbClr val="FFFFFF"/>
                    </a:solidFill>
                  </a:tcPr>
                </a:tc>
                <a:tc>
                  <a:txBody>
                    <a:bodyPr/>
                    <a:lstStyle/>
                    <a:p>
                      <a:pPr algn="ctr"/>
                      <a:r>
                        <a:rPr sz="800" b="0" i="0">
                          <a:solidFill>
                            <a:srgbClr val="0D0D0D"/>
                          </a:solidFill>
                          <a:latin typeface="Calibri"/>
                        </a:rPr>
                        <a:t>29,8x</a:t>
                      </a:r>
                    </a:p>
                  </a:txBody>
                  <a:tcPr>
                    <a:solidFill>
                      <a:srgbClr val="FFFFFF"/>
                    </a:solidFill>
                  </a:tcPr>
                </a:tc>
                <a:tc>
                  <a:txBody>
                    <a:bodyPr/>
                    <a:lstStyle/>
                    <a:p>
                      <a:pPr algn="ctr"/>
                      <a:r>
                        <a:rPr sz="800" b="0" i="0">
                          <a:solidFill>
                            <a:srgbClr val="0D0D0D"/>
                          </a:solidFill>
                          <a:latin typeface="Calibri"/>
                        </a:rPr>
                        <a:t>68,0 %</a:t>
                      </a:r>
                    </a:p>
                  </a:txBody>
                  <a:tcPr>
                    <a:solidFill>
                      <a:srgbClr val="FFFFFF"/>
                    </a:solidFill>
                  </a:tcPr>
                </a:tc>
                <a:tc>
                  <a:txBody>
                    <a:bodyPr/>
                    <a:lstStyle/>
                    <a:p>
                      <a:pPr algn="ctr"/>
                      <a:r>
                        <a:rPr sz="800" b="0" i="0">
                          <a:solidFill>
                            <a:srgbClr val="0D0D0D"/>
                          </a:solidFill>
                          <a:latin typeface="Calibri"/>
                        </a:rPr>
                        <a:t>23,0 %</a:t>
                      </a:r>
                    </a:p>
                  </a:txBody>
                  <a:tcPr>
                    <a:solidFill>
                      <a:srgbClr val="FFFFFF"/>
                    </a:solidFill>
                  </a:tcPr>
                </a:tc>
              </a:tr>
              <a:tr h="252006">
                <a:tc>
                  <a:txBody>
                    <a:bodyPr/>
                    <a:lstStyle/>
                    <a:p>
                      <a:pPr algn="l"/>
                      <a:r>
                        <a:rPr sz="800" b="1" i="0">
                          <a:solidFill>
                            <a:srgbClr val="0D0D0D"/>
                          </a:solidFill>
                          <a:latin typeface="Calibri"/>
                        </a:rPr>
                        <a:t>Médiane peers</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16,5x</a:t>
                      </a:r>
                    </a:p>
                  </a:txBody>
                  <a:tcPr>
                    <a:solidFill>
                      <a:srgbClr val="F7F8FA"/>
                    </a:solidFill>
                  </a:tcPr>
                </a:tc>
                <a:tc>
                  <a:txBody>
                    <a:bodyPr/>
                    <a:lstStyle/>
                    <a:p>
                      <a:pPr algn="ctr"/>
                      <a:r>
                        <a:rPr sz="800" b="1" i="0">
                          <a:solidFill>
                            <a:srgbClr val="0D0D0D"/>
                          </a:solidFill>
                          <a:latin typeface="Calibri"/>
                        </a:rPr>
                        <a:t>3,3x</a:t>
                      </a:r>
                    </a:p>
                  </a:txBody>
                  <a:tcPr>
                    <a:solidFill>
                      <a:srgbClr val="F7F8FA"/>
                    </a:solidFill>
                  </a:tcPr>
                </a:tc>
                <a:tc>
                  <a:txBody>
                    <a:bodyPr/>
                    <a:lstStyle/>
                    <a:p>
                      <a:pPr algn="ctr"/>
                      <a:r>
                        <a:rPr sz="800" b="1" i="0">
                          <a:solidFill>
                            <a:srgbClr val="0D0D0D"/>
                          </a:solidFill>
                          <a:latin typeface="Calibri"/>
                        </a:rPr>
                        <a:t>28,3x</a:t>
                      </a:r>
                    </a:p>
                  </a:txBody>
                  <a:tcPr>
                    <a:solidFill>
                      <a:srgbClr val="F7F8FA"/>
                    </a:solidFill>
                  </a:tcPr>
                </a:tc>
                <a:tc>
                  <a:txBody>
                    <a:bodyPr/>
                    <a:lstStyle/>
                    <a:p>
                      <a:pPr algn="ctr"/>
                      <a:r>
                        <a:rPr sz="800" b="1" i="0">
                          <a:solidFill>
                            <a:srgbClr val="0D0D0D"/>
                          </a:solidFill>
                          <a:latin typeface="Calibri"/>
                        </a:rPr>
                        <a:t>68,0 %</a:t>
                      </a:r>
                    </a:p>
                  </a:txBody>
                  <a:tcPr>
                    <a:solidFill>
                      <a:srgbClr val="F7F8FA"/>
                    </a:solidFill>
                  </a:tcPr>
                </a:tc>
                <a:tc>
                  <a:txBody>
                    <a:bodyPr/>
                    <a:lstStyle/>
                    <a:p>
                      <a:pPr algn="ctr"/>
                      <a:r>
                        <a:rPr sz="800" b="1" i="0">
                          <a:solidFill>
                            <a:srgbClr val="0D0D0D"/>
                          </a:solidFill>
                          <a:latin typeface="Calibri"/>
                        </a:rPr>
                        <a:t>22,0 %</a:t>
                      </a:r>
                    </a:p>
                  </a:txBody>
                  <a:tcPr>
                    <a:solidFill>
                      <a:srgbClr val="F7F8FA"/>
                    </a:solidFill>
                  </a:tcPr>
                </a:tc>
              </a:tr>
            </a:tbl>
          </a:graphicData>
        </a:graphic>
      </p:graphicFrame>
      <p:sp>
        <p:nvSpPr>
          <p:cNvPr id="18" name="TextBox 17"/>
          <p:cNvSpPr txBox="1"/>
          <p:nvPr/>
        </p:nvSpPr>
        <p:spPr>
          <a:xfrm>
            <a:off x="367200" y="3128400"/>
            <a:ext cx="8413200" cy="1234800"/>
          </a:xfrm>
          <a:prstGeom prst="rect">
            <a:avLst/>
          </a:prstGeom>
          <a:noFill/>
        </p:spPr>
        <p:txBody>
          <a:bodyPr wrap="square">
            <a:spAutoFit/>
          </a:bodyPr>
          <a:lstStyle/>
          <a:p>
            <a:pPr algn="l"/>
            <a:r>
              <a:rPr sz="850" b="0" i="0">
                <a:solidFill>
                  <a:srgbClr val="555555"/>
                </a:solidFill>
                <a:latin typeface="Calibri"/>
              </a:rPr>
              <a:t>L'Oréal affiche un EV/EBITDA de 17.6x contre une médiane peers de 16.2x (+8.6%), justifiée par une croissance organique supérieure (4-5% vs 2-3% peers) et des marges EBITDA plus élevées. Le P/E de 30.6x est en ligne avec Estée Lauder (32.1x) mais supérieur à Shiseido (18.7x), reflétant une qualité d'actifs supérieure. Une convergence vers la médiane peers impliquerait un downside de 8-10%.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Football Field Chart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Synthèse des méthodes de valorisation  ·  EUR par action</a:t>
            </a:r>
          </a:p>
        </p:txBody>
      </p:sp>
      <p:pic>
        <p:nvPicPr>
          <p:cNvPr id="17" name="Picture 16" descr="image.png"/>
          <p:cNvPicPr>
            <a:picLocks noChangeAspect="1"/>
          </p:cNvPicPr>
          <p:nvPr/>
        </p:nvPicPr>
        <p:blipFill>
          <a:blip r:embed="rId2"/>
          <a:stretch>
            <a:fillRect/>
          </a:stretch>
        </p:blipFill>
        <p:spPr>
          <a:xfrm>
            <a:off x="367200" y="914400"/>
            <a:ext cx="8413200" cy="2448000"/>
          </a:xfrm>
          <a:prstGeom prst="rect">
            <a:avLst/>
          </a:prstGeom>
        </p:spPr>
      </p:pic>
      <p:sp>
        <p:nvSpPr>
          <p:cNvPr id="18" name="TextBox 17"/>
          <p:cNvSpPr txBox="1"/>
          <p:nvPr/>
        </p:nvSpPr>
        <p:spPr>
          <a:xfrm>
            <a:off x="367200" y="3488400"/>
            <a:ext cx="8413200" cy="914400"/>
          </a:xfrm>
          <a:prstGeom prst="rect">
            <a:avLst/>
          </a:prstGeom>
          <a:noFill/>
        </p:spPr>
        <p:txBody>
          <a:bodyPr wrap="square">
            <a:spAutoFit/>
          </a:bodyPr>
          <a:lstStyle/>
          <a:p>
            <a:pPr algn="l"/>
            <a:r>
              <a:rPr sz="850" b="0" i="0">
                <a:solidFill>
                  <a:srgbClr val="555555"/>
                </a:solidFill>
                <a:latin typeface="Calibri"/>
              </a:rPr>
              <a:t>Avec un WACC de 8.5% et une TGR de 2.0%, le DCF implicite est de 385€, soit un upside de 10% vs le cours actuel. La valorisation actuelle intègre déjà une prime de croissance, mais un scénario de réaccélération organique à 4% ou une compression des coûts logistiques pourrait débloquer une valeur supplémentaire.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04</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Risques &amp; Stratégie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Avocat du diable &amp; conditions d'invalidation</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1B3A6B"/>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Risques &amp; Conditions d'Invalidation</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des risques structurels  ·  Thèse contraire</a:t>
            </a:r>
          </a:p>
        </p:txBody>
      </p:sp>
      <p:sp>
        <p:nvSpPr>
          <p:cNvPr id="17" name="Rectangle 16"/>
          <p:cNvSpPr/>
          <p:nvPr/>
        </p:nvSpPr>
        <p:spPr>
          <a:xfrm>
            <a:off x="367200" y="961200"/>
            <a:ext cx="2743200" cy="1918800"/>
          </a:xfrm>
          <a:prstGeom prst="rect">
            <a:avLst/>
          </a:prstGeom>
          <a:solidFill>
            <a:srgbClr val="FA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43200" cy="5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200" y="1069200"/>
            <a:ext cx="2527200" cy="255600"/>
          </a:xfrm>
          <a:prstGeom prst="rect">
            <a:avLst/>
          </a:prstGeom>
          <a:noFill/>
        </p:spPr>
        <p:txBody>
          <a:bodyPr wrap="square">
            <a:spAutoFit/>
          </a:bodyPr>
          <a:lstStyle/>
          <a:p>
            <a:pPr algn="l"/>
            <a:r>
              <a:rPr sz="900" b="1" i="0">
                <a:solidFill>
                  <a:srgbClr val="A82020"/>
                </a:solidFill>
                <a:latin typeface="Calibri"/>
              </a:rPr>
              <a:t>Marges sous pression Asie</a:t>
            </a:r>
          </a:p>
        </p:txBody>
      </p:sp>
      <p:sp>
        <p:nvSpPr>
          <p:cNvPr id="20" name="TextBox 19"/>
          <p:cNvSpPr txBox="1"/>
          <p:nvPr/>
        </p:nvSpPr>
        <p:spPr>
          <a:xfrm>
            <a:off x="475200" y="1436400"/>
            <a:ext cx="2527200" cy="1260000"/>
          </a:xfrm>
          <a:prstGeom prst="rect">
            <a:avLst/>
          </a:prstGeom>
          <a:noFill/>
        </p:spPr>
        <p:txBody>
          <a:bodyPr wrap="square">
            <a:spAutoFit/>
          </a:bodyPr>
          <a:lstStyle/>
          <a:p>
            <a:pPr algn="l"/>
            <a:r>
              <a:rPr sz="800" b="0" i="0">
                <a:solidFill>
                  <a:srgbClr val="555555"/>
                </a:solidFill>
                <a:latin typeface="Calibri"/>
              </a:rPr>
              <a:t>Le pricing power de L'Oréal repose sur des marques premium dont l'élasticité-prix s'avère déjà élevée en Asie, où les ventes ont chuté de 8.2% en 2023 malgré des hausses tarifaires de 7.5%</a:t>
            </a:r>
          </a:p>
        </p:txBody>
      </p:sp>
      <p:sp>
        <p:nvSpPr>
          <p:cNvPr id="21" name="Rectangle 20"/>
          <p:cNvSpPr/>
          <p:nvPr/>
        </p:nvSpPr>
        <p:spPr>
          <a:xfrm>
            <a:off x="3229200" y="961200"/>
            <a:ext cx="2743200" cy="191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29200" y="961200"/>
            <a:ext cx="27432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200" y="1069200"/>
            <a:ext cx="2527200" cy="255600"/>
          </a:xfrm>
          <a:prstGeom prst="rect">
            <a:avLst/>
          </a:prstGeom>
          <a:noFill/>
        </p:spPr>
        <p:txBody>
          <a:bodyPr wrap="square">
            <a:spAutoFit/>
          </a:bodyPr>
          <a:lstStyle/>
          <a:p>
            <a:pPr algn="l"/>
            <a:r>
              <a:rPr sz="900" b="1" i="0">
                <a:solidFill>
                  <a:srgbClr val="2E5FA3"/>
                </a:solidFill>
                <a:latin typeface="Calibri"/>
              </a:rPr>
              <a:t>Dépendance géographique critique</a:t>
            </a:r>
          </a:p>
        </p:txBody>
      </p:sp>
      <p:sp>
        <p:nvSpPr>
          <p:cNvPr id="24" name="TextBox 23"/>
          <p:cNvSpPr txBox="1"/>
          <p:nvPr/>
        </p:nvSpPr>
        <p:spPr>
          <a:xfrm>
            <a:off x="3337200" y="1436400"/>
            <a:ext cx="2527200" cy="1260000"/>
          </a:xfrm>
          <a:prstGeom prst="rect">
            <a:avLst/>
          </a:prstGeom>
          <a:noFill/>
        </p:spPr>
        <p:txBody>
          <a:bodyPr wrap="square">
            <a:spAutoFit/>
          </a:bodyPr>
          <a:lstStyle/>
          <a:p>
            <a:pPr algn="l"/>
            <a:r>
              <a:rPr sz="800" b="0" i="0">
                <a:solidFill>
                  <a:srgbClr val="555555"/>
                </a:solidFill>
                <a:latin typeface="Calibri"/>
              </a:rPr>
              <a:t>La R&amp;D inégalée coûte 3.4% du CA, mais son ROI reste incertain avec un taux d'échec de 85% pour les innovations lancées depuis 2020</a:t>
            </a:r>
          </a:p>
        </p:txBody>
      </p:sp>
      <p:sp>
        <p:nvSpPr>
          <p:cNvPr id="25" name="Rectangle 24"/>
          <p:cNvSpPr/>
          <p:nvPr/>
        </p:nvSpPr>
        <p:spPr>
          <a:xfrm>
            <a:off x="6091200" y="961200"/>
            <a:ext cx="2743200" cy="19188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1200" y="961200"/>
            <a:ext cx="2743200" cy="5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9200" y="1069200"/>
            <a:ext cx="2527200" cy="255600"/>
          </a:xfrm>
          <a:prstGeom prst="rect">
            <a:avLst/>
          </a:prstGeom>
          <a:noFill/>
        </p:spPr>
        <p:txBody>
          <a:bodyPr wrap="square">
            <a:spAutoFit/>
          </a:bodyPr>
          <a:lstStyle/>
          <a:p>
            <a:pPr algn="l"/>
            <a:r>
              <a:rPr sz="900" b="1" i="0">
                <a:solidFill>
                  <a:srgbClr val="B06000"/>
                </a:solidFill>
                <a:latin typeface="Calibri"/>
              </a:rPr>
              <a:t>ROI R&amp;D incertain</a:t>
            </a:r>
          </a:p>
        </p:txBody>
      </p:sp>
      <p:sp>
        <p:nvSpPr>
          <p:cNvPr id="28" name="TextBox 27"/>
          <p:cNvSpPr txBox="1"/>
          <p:nvPr/>
        </p:nvSpPr>
        <p:spPr>
          <a:xfrm>
            <a:off x="6199200" y="1436400"/>
            <a:ext cx="2527200" cy="1260000"/>
          </a:xfrm>
          <a:prstGeom prst="rect">
            <a:avLst/>
          </a:prstGeom>
          <a:noFill/>
        </p:spPr>
        <p:txBody>
          <a:bodyPr wrap="square">
            <a:spAutoFit/>
          </a:bodyPr>
          <a:lstStyle/>
          <a:p>
            <a:pPr algn="l"/>
            <a:r>
              <a:rPr sz="800" b="0" i="0">
                <a:solidFill>
                  <a:srgbClr val="555555"/>
                </a:solidFill>
                <a:latin typeface="Calibri"/>
              </a:rPr>
              <a:t>La résilience géographique masque une dépendance extrême à l'Europe (42% du CA) et aux USA (28%), zones en stagnation démographique et sous pression fiscale.</a:t>
            </a:r>
          </a:p>
        </p:txBody>
      </p:sp>
      <p:sp>
        <p:nvSpPr>
          <p:cNvPr id="29" name="Rectangle 28"/>
          <p:cNvSpPr/>
          <p:nvPr/>
        </p:nvSpPr>
        <p:spPr>
          <a:xfrm>
            <a:off x="367200" y="2998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200" y="3070800"/>
            <a:ext cx="8413200" cy="165600"/>
          </a:xfrm>
          <a:prstGeom prst="rect">
            <a:avLst/>
          </a:prstGeom>
          <a:noFill/>
        </p:spPr>
        <p:txBody>
          <a:bodyPr wrap="square">
            <a:spAutoFit/>
          </a:bodyPr>
          <a:lstStyle/>
          <a:p>
            <a:pPr algn="l"/>
            <a:r>
              <a:rPr sz="900" b="1" i="0">
                <a:solidFill>
                  <a:srgbClr val="1B3A6B"/>
                </a:solidFill>
                <a:latin typeface="Calibri"/>
              </a:rPr>
              <a:t>Conditions d'invalidation de la these</a:t>
            </a:r>
          </a:p>
        </p:txBody>
      </p:sp>
      <p:graphicFrame>
        <p:nvGraphicFramePr>
          <p:cNvPr id="31" name="Table 30"/>
          <p:cNvGraphicFramePr>
            <a:graphicFrameLocks noGrp="1"/>
          </p:cNvGraphicFramePr>
          <p:nvPr/>
        </p:nvGraphicFramePr>
        <p:xfrm>
          <a:off x="367200" y="3308400"/>
          <a:ext cx="8413200" cy="1098000"/>
        </p:xfrm>
        <a:graphic>
          <a:graphicData uri="http://schemas.openxmlformats.org/drawingml/2006/table">
            <a:tbl>
              <a:tblPr firstRow="1" bandRow="1">
                <a:tableStyleId>{5C22544A-7EE6-4342-B048-85BDC9FD1C3A}</a:tableStyleId>
              </a:tblPr>
              <a:tblGrid>
                <a:gridCol w="1261980"/>
                <a:gridCol w="5468580"/>
                <a:gridCol w="1682640"/>
              </a:tblGrid>
              <a:tr h="274500">
                <a:tc>
                  <a:txBody>
                    <a:bodyPr/>
                    <a:lstStyle/>
                    <a:p>
                      <a:pPr algn="l"/>
                      <a:r>
                        <a:rPr sz="800" b="1" i="0">
                          <a:solidFill>
                            <a:srgbClr val="FFFFFF"/>
                          </a:solidFill>
                          <a:latin typeface="Calibri"/>
                        </a:rPr>
                        <a:t>Axe</a:t>
                      </a:r>
                    </a:p>
                  </a:txBody>
                  <a:tcPr>
                    <a:solidFill>
                      <a:srgbClr val="1B3A6B"/>
                    </a:solidFill>
                  </a:tcPr>
                </a:tc>
                <a:tc>
                  <a:txBody>
                    <a:bodyPr/>
                    <a:lstStyle/>
                    <a:p>
                      <a:pPr algn="ctr"/>
                      <a:r>
                        <a:rPr sz="800" b="1" i="0">
                          <a:solidFill>
                            <a:srgbClr val="FFFFFF"/>
                          </a:solidFill>
                          <a:latin typeface="Calibri"/>
                        </a:rPr>
                        <a:t>Condition d'invalidation</a:t>
                      </a:r>
                    </a:p>
                  </a:txBody>
                  <a:tcPr>
                    <a:solidFill>
                      <a:srgbClr val="1B3A6B"/>
                    </a:solidFill>
                  </a:tcPr>
                </a:tc>
                <a:tc>
                  <a:txBody>
                    <a:bodyPr/>
                    <a:lstStyle/>
                    <a:p>
                      <a:pPr algn="ctr"/>
                      <a:r>
                        <a:rPr sz="800" b="1" i="0">
                          <a:solidFill>
                            <a:srgbClr val="FFFFFF"/>
                          </a:solidFill>
                          <a:latin typeface="Calibri"/>
                        </a:rPr>
                        <a:t>Horizon</a:t>
                      </a:r>
                    </a:p>
                  </a:txBody>
                  <a:tcPr>
                    <a:solidFill>
                      <a:srgbClr val="1B3A6B"/>
                    </a:solidFill>
                  </a:tcPr>
                </a:tc>
              </a:tr>
              <a:tr h="274500">
                <a:tc>
                  <a:txBody>
                    <a:bodyPr/>
                    <a:lstStyle/>
                    <a:p>
                      <a:pPr algn="l"/>
                      <a:r>
                        <a:rPr sz="800" b="1" i="0">
                          <a:solidFill>
                            <a:srgbClr val="1B3A6B"/>
                          </a:solidFill>
                          <a:latin typeface="Calibri"/>
                        </a:rPr>
                        <a:t>Macro</a:t>
                      </a:r>
                    </a:p>
                  </a:txBody>
                  <a:tcPr>
                    <a:solidFill>
                      <a:srgbClr val="FFFFFF"/>
                    </a:solidFill>
                  </a:tcPr>
                </a:tc>
                <a:tc>
                  <a:txBody>
                    <a:bodyPr/>
                    <a:lstStyle/>
                    <a:p>
                      <a:pPr algn="ctr"/>
                      <a:r>
                        <a:rPr sz="800" b="0" i="0">
                          <a:solidFill>
                            <a:srgbClr val="0D0D0D"/>
                          </a:solidFill>
                          <a:latin typeface="Calibri"/>
                        </a:rPr>
                        <a:t>Ralentissement économique en Europe avec PIB -2% en 2026</a:t>
                      </a:r>
                    </a:p>
                  </a:txBody>
                  <a:tcPr>
                    <a:solidFill>
                      <a:srgbClr val="FFFFFF"/>
                    </a:solidFill>
                  </a:tcPr>
                </a:tc>
                <a:tc>
                  <a:txBody>
                    <a:bodyPr/>
                    <a:lstStyle/>
                    <a:p>
                      <a:pPr algn="ctr"/>
                      <a:r>
                        <a:rPr sz="800" b="0" i="0">
                          <a:solidFill>
                            <a:srgbClr val="0D0D0D"/>
                          </a:solidFill>
                          <a:latin typeface="Calibri"/>
                        </a:rPr>
                        <a:t>6-12 mois</a:t>
                      </a:r>
                    </a:p>
                  </a:txBody>
                  <a:tcPr>
                    <a:solidFill>
                      <a:srgbClr val="FFFFFF"/>
                    </a:solidFill>
                  </a:tcPr>
                </a:tc>
              </a:tr>
              <a:tr h="274500">
                <a:tc>
                  <a:txBody>
                    <a:bodyPr/>
                    <a:lstStyle/>
                    <a:p>
                      <a:pPr algn="l"/>
                      <a:r>
                        <a:rPr sz="800" b="1" i="0">
                          <a:solidFill>
                            <a:srgbClr val="1B3A6B"/>
                          </a:solidFill>
                          <a:latin typeface="Calibri"/>
                        </a:rPr>
                        <a:t>Sectoriel</a:t>
                      </a:r>
                    </a:p>
                  </a:txBody>
                  <a:tcPr>
                    <a:solidFill>
                      <a:srgbClr val="F7F8FA"/>
                    </a:solidFill>
                  </a:tcPr>
                </a:tc>
                <a:tc>
                  <a:txBody>
                    <a:bodyPr/>
                    <a:lstStyle/>
                    <a:p>
                      <a:pPr algn="ctr"/>
                      <a:r>
                        <a:rPr sz="800" b="0" i="0">
                          <a:solidFill>
                            <a:srgbClr val="0D0D0D"/>
                          </a:solidFill>
                          <a:latin typeface="Calibri"/>
                        </a:rPr>
                        <a:t>Régulation sanitaire en Europe (REACH) augmentant les coûts de conformité de 100M€/an</a:t>
                      </a:r>
                    </a:p>
                  </a:txBody>
                  <a:tcPr>
                    <a:solidFill>
                      <a:srgbClr val="F7F8FA"/>
                    </a:solidFill>
                  </a:tcPr>
                </a:tc>
                <a:tc>
                  <a:txBody>
                    <a:bodyPr/>
                    <a:lstStyle/>
                    <a:p>
                      <a:pPr algn="ctr"/>
                      <a:r>
                        <a:rPr sz="800" b="0" i="0">
                          <a:solidFill>
                            <a:srgbClr val="0D0D0D"/>
                          </a:solidFill>
                          <a:latin typeface="Calibri"/>
                        </a:rPr>
                        <a:t>12-18 mois</a:t>
                      </a:r>
                    </a:p>
                  </a:txBody>
                  <a:tcPr>
                    <a:solidFill>
                      <a:srgbClr val="F7F8FA"/>
                    </a:solidFill>
                  </a:tcPr>
                </a:tc>
              </a:tr>
              <a:tr h="274500">
                <a:tc>
                  <a:txBody>
                    <a:bodyPr/>
                    <a:lstStyle/>
                    <a:p>
                      <a:pPr algn="l"/>
                      <a:r>
                        <a:rPr sz="800" b="1" i="0">
                          <a:solidFill>
                            <a:srgbClr val="1B3A6B"/>
                          </a:solidFill>
                          <a:latin typeface="Calibri"/>
                        </a:rPr>
                        <a:t>Societe</a:t>
                      </a:r>
                    </a:p>
                  </a:txBody>
                  <a:tcPr>
                    <a:solidFill>
                      <a:srgbClr val="FFFFFF"/>
                    </a:solidFill>
                  </a:tcPr>
                </a:tc>
                <a:tc>
                  <a:txBody>
                    <a:bodyPr/>
                    <a:lstStyle/>
                    <a:p>
                      <a:pPr algn="ctr"/>
                      <a:r>
                        <a:rPr sz="800" b="0" i="0">
                          <a:solidFill>
                            <a:srgbClr val="0D0D0D"/>
                          </a:solidFill>
                          <a:latin typeface="Calibri"/>
                        </a:rPr>
                        <a:t>Dégradation de la croissance organique en Chine en dessous de 2% en 2026</a:t>
                      </a:r>
                    </a:p>
                  </a:txBody>
                  <a:tcPr>
                    <a:solidFill>
                      <a:srgbClr val="FFFFFF"/>
                    </a:solidFill>
                  </a:tcPr>
                </a:tc>
                <a:tc>
                  <a:txBody>
                    <a:bodyPr/>
                    <a:lstStyle/>
                    <a:p>
                      <a:pPr algn="ctr"/>
                      <a:r>
                        <a:rPr sz="800" b="0" i="0">
                          <a:solidFill>
                            <a:srgbClr val="0D0D0D"/>
                          </a:solidFill>
                          <a:latin typeface="Calibri"/>
                        </a:rPr>
                        <a:t>2-3 trim.</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05</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Sentiment &amp; Annexes</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FinBERT, actionnariat &amp; historique de cours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Sentiment de Marché — FinBERT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sémantique  ·  20 articles  ·  7 derniers jours</a:t>
            </a:r>
          </a:p>
        </p:txBody>
      </p:sp>
      <p:sp>
        <p:nvSpPr>
          <p:cNvPr id="17" name="Rectangle 16"/>
          <p:cNvSpPr/>
          <p:nvPr/>
        </p:nvSpPr>
        <p:spPr>
          <a:xfrm>
            <a:off x="367200" y="961200"/>
            <a:ext cx="25596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422800" cy="396000"/>
          </a:xfrm>
          <a:prstGeom prst="rect">
            <a:avLst/>
          </a:prstGeom>
          <a:noFill/>
        </p:spPr>
        <p:txBody>
          <a:bodyPr wrap="square">
            <a:spAutoFit/>
          </a:bodyPr>
          <a:lstStyle/>
          <a:p>
            <a:pPr algn="l"/>
            <a:r>
              <a:rPr sz="1900" b="1" i="0">
                <a:solidFill>
                  <a:srgbClr val="1B3A6B"/>
                </a:solidFill>
                <a:latin typeface="Calibri"/>
              </a:rPr>
              <a:t>Neutre +</a:t>
            </a:r>
          </a:p>
        </p:txBody>
      </p:sp>
      <p:sp>
        <p:nvSpPr>
          <p:cNvPr id="20" name="TextBox 19"/>
          <p:cNvSpPr txBox="1"/>
          <p:nvPr/>
        </p:nvSpPr>
        <p:spPr>
          <a:xfrm>
            <a:off x="457200" y="1411200"/>
            <a:ext cx="2422800" cy="205199"/>
          </a:xfrm>
          <a:prstGeom prst="rect">
            <a:avLst/>
          </a:prstGeom>
          <a:noFill/>
        </p:spPr>
        <p:txBody>
          <a:bodyPr wrap="square">
            <a:spAutoFit/>
          </a:bodyPr>
          <a:lstStyle/>
          <a:p>
            <a:pPr algn="l"/>
            <a:r>
              <a:rPr sz="800" b="0" i="0">
                <a:solidFill>
                  <a:srgbClr val="555555"/>
                </a:solidFill>
                <a:latin typeface="Calibri"/>
              </a:rPr>
              <a:t>Orientation globale</a:t>
            </a:r>
          </a:p>
        </p:txBody>
      </p:sp>
      <p:sp>
        <p:nvSpPr>
          <p:cNvPr id="21" name="TextBox 20"/>
          <p:cNvSpPr txBox="1"/>
          <p:nvPr/>
        </p:nvSpPr>
        <p:spPr>
          <a:xfrm>
            <a:off x="457200" y="1609200"/>
            <a:ext cx="2422800" cy="165600"/>
          </a:xfrm>
          <a:prstGeom prst="rect">
            <a:avLst/>
          </a:prstGeom>
          <a:noFill/>
        </p:spPr>
        <p:txBody>
          <a:bodyPr wrap="square">
            <a:spAutoFit/>
          </a:bodyPr>
          <a:lstStyle/>
          <a:p>
            <a:pPr algn="l"/>
            <a:r>
              <a:rPr sz="700" b="0" i="0">
                <a:solidFill>
                  <a:srgbClr val="888888"/>
                </a:solidFill>
                <a:latin typeface="Calibri"/>
              </a:rPr>
              <a:t>Score agrege : +0,175</a:t>
            </a:r>
          </a:p>
        </p:txBody>
      </p:sp>
      <p:sp>
        <p:nvSpPr>
          <p:cNvPr id="22" name="Rectangle 21"/>
          <p:cNvSpPr/>
          <p:nvPr/>
        </p:nvSpPr>
        <p:spPr>
          <a:xfrm>
            <a:off x="3110400" y="961200"/>
            <a:ext cx="182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104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1015200"/>
            <a:ext cx="1692000" cy="396000"/>
          </a:xfrm>
          <a:prstGeom prst="rect">
            <a:avLst/>
          </a:prstGeom>
          <a:noFill/>
        </p:spPr>
        <p:txBody>
          <a:bodyPr wrap="square">
            <a:spAutoFit/>
          </a:bodyPr>
          <a:lstStyle/>
          <a:p>
            <a:pPr algn="l"/>
            <a:r>
              <a:rPr sz="1900" b="1" i="0">
                <a:solidFill>
                  <a:srgbClr val="1B3A6B"/>
                </a:solidFill>
                <a:latin typeface="Calibri"/>
              </a:rPr>
              <a:t>20</a:t>
            </a:r>
          </a:p>
        </p:txBody>
      </p:sp>
      <p:sp>
        <p:nvSpPr>
          <p:cNvPr id="25" name="TextBox 24"/>
          <p:cNvSpPr txBox="1"/>
          <p:nvPr/>
        </p:nvSpPr>
        <p:spPr>
          <a:xfrm>
            <a:off x="3200400" y="1411200"/>
            <a:ext cx="1692000" cy="205199"/>
          </a:xfrm>
          <a:prstGeom prst="rect">
            <a:avLst/>
          </a:prstGeom>
          <a:noFill/>
        </p:spPr>
        <p:txBody>
          <a:bodyPr wrap="square">
            <a:spAutoFit/>
          </a:bodyPr>
          <a:lstStyle/>
          <a:p>
            <a:pPr algn="l"/>
            <a:r>
              <a:rPr sz="800" b="0" i="0">
                <a:solidFill>
                  <a:srgbClr val="555555"/>
                </a:solidFill>
                <a:latin typeface="Calibri"/>
              </a:rPr>
              <a:t>Articles analyses</a:t>
            </a:r>
          </a:p>
        </p:txBody>
      </p:sp>
      <p:sp>
        <p:nvSpPr>
          <p:cNvPr id="26" name="TextBox 25"/>
          <p:cNvSpPr txBox="1"/>
          <p:nvPr/>
        </p:nvSpPr>
        <p:spPr>
          <a:xfrm>
            <a:off x="3200400" y="1609200"/>
            <a:ext cx="1692000" cy="165600"/>
          </a:xfrm>
          <a:prstGeom prst="rect">
            <a:avLst/>
          </a:prstGeom>
          <a:noFill/>
        </p:spPr>
        <p:txBody>
          <a:bodyPr wrap="square">
            <a:spAutoFit/>
          </a:bodyPr>
          <a:lstStyle/>
          <a:p>
            <a:pPr algn="l"/>
            <a:r>
              <a:rPr sz="700" b="0" i="0">
                <a:solidFill>
                  <a:srgbClr val="888888"/>
                </a:solidFill>
                <a:latin typeface="Calibri"/>
              </a:rPr>
              <a:t>Fenetre : 7 jours</a:t>
            </a:r>
          </a:p>
        </p:txBody>
      </p:sp>
      <p:sp>
        <p:nvSpPr>
          <p:cNvPr id="27" name="Rectangle 26"/>
          <p:cNvSpPr/>
          <p:nvPr/>
        </p:nvSpPr>
        <p:spPr>
          <a:xfrm>
            <a:off x="5119200" y="961200"/>
            <a:ext cx="16452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19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09200" y="1015200"/>
            <a:ext cx="1508400" cy="396000"/>
          </a:xfrm>
          <a:prstGeom prst="rect">
            <a:avLst/>
          </a:prstGeom>
          <a:noFill/>
        </p:spPr>
        <p:txBody>
          <a:bodyPr wrap="square">
            <a:spAutoFit/>
          </a:bodyPr>
          <a:lstStyle/>
          <a:p>
            <a:pPr algn="l"/>
            <a:r>
              <a:rPr sz="1900" b="1" i="0">
                <a:solidFill>
                  <a:srgbClr val="1B3A6B"/>
                </a:solidFill>
                <a:latin typeface="Calibri"/>
              </a:rPr>
              <a:t>45,0 %</a:t>
            </a:r>
          </a:p>
        </p:txBody>
      </p:sp>
      <p:sp>
        <p:nvSpPr>
          <p:cNvPr id="30" name="TextBox 29"/>
          <p:cNvSpPr txBox="1"/>
          <p:nvPr/>
        </p:nvSpPr>
        <p:spPr>
          <a:xfrm>
            <a:off x="5209200" y="1411200"/>
            <a:ext cx="1508400" cy="205199"/>
          </a:xfrm>
          <a:prstGeom prst="rect">
            <a:avLst/>
          </a:prstGeom>
          <a:noFill/>
        </p:spPr>
        <p:txBody>
          <a:bodyPr wrap="square">
            <a:spAutoFit/>
          </a:bodyPr>
          <a:lstStyle/>
          <a:p>
            <a:pPr algn="l"/>
            <a:r>
              <a:rPr sz="800" b="0" i="0">
                <a:solidFill>
                  <a:srgbClr val="555555"/>
                </a:solidFill>
                <a:latin typeface="Calibri"/>
              </a:rPr>
              <a:t>Confiance IA</a:t>
            </a:r>
          </a:p>
        </p:txBody>
      </p:sp>
      <p:sp>
        <p:nvSpPr>
          <p:cNvPr id="31" name="TextBox 30"/>
          <p:cNvSpPr txBox="1"/>
          <p:nvPr/>
        </p:nvSpPr>
        <p:spPr>
          <a:xfrm>
            <a:off x="5209200" y="1609200"/>
            <a:ext cx="1508400" cy="165600"/>
          </a:xfrm>
          <a:prstGeom prst="rect">
            <a:avLst/>
          </a:prstGeom>
          <a:noFill/>
        </p:spPr>
        <p:txBody>
          <a:bodyPr wrap="square">
            <a:spAutoFit/>
          </a:bodyPr>
          <a:lstStyle/>
          <a:p>
            <a:pPr algn="l"/>
            <a:r>
              <a:rPr sz="700" b="0" i="0">
                <a:solidFill>
                  <a:srgbClr val="888888"/>
                </a:solidFill>
                <a:latin typeface="Calibri"/>
              </a:rPr>
              <a:t>Modele FinBERT</a:t>
            </a:r>
          </a:p>
        </p:txBody>
      </p:sp>
      <p:sp>
        <p:nvSpPr>
          <p:cNvPr id="32" name="Rectangle 31"/>
          <p:cNvSpPr/>
          <p:nvPr/>
        </p:nvSpPr>
        <p:spPr>
          <a:xfrm>
            <a:off x="6948000" y="961200"/>
            <a:ext cx="173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480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8000" y="1015200"/>
            <a:ext cx="1602000" cy="396000"/>
          </a:xfrm>
          <a:prstGeom prst="rect">
            <a:avLst/>
          </a:prstGeom>
          <a:noFill/>
        </p:spPr>
        <p:txBody>
          <a:bodyPr wrap="square">
            <a:spAutoFit/>
          </a:bodyPr>
          <a:lstStyle/>
          <a:p>
            <a:pPr algn="l"/>
            <a:r>
              <a:rPr sz="1900" b="1" i="0">
                <a:solidFill>
                  <a:srgbClr val="1B3A6B"/>
                </a:solidFill>
                <a:latin typeface="Calibri"/>
              </a:rPr>
              <a:t>BUY</a:t>
            </a:r>
          </a:p>
        </p:txBody>
      </p:sp>
      <p:sp>
        <p:nvSpPr>
          <p:cNvPr id="35" name="TextBox 34"/>
          <p:cNvSpPr txBox="1"/>
          <p:nvPr/>
        </p:nvSpPr>
        <p:spPr>
          <a:xfrm>
            <a:off x="7038000" y="1411200"/>
            <a:ext cx="1602000" cy="205199"/>
          </a:xfrm>
          <a:prstGeom prst="rect">
            <a:avLst/>
          </a:prstGeom>
          <a:noFill/>
        </p:spPr>
        <p:txBody>
          <a:bodyPr wrap="square">
            <a:spAutoFit/>
          </a:bodyPr>
          <a:lstStyle/>
          <a:p>
            <a:pPr algn="l"/>
            <a:r>
              <a:rPr sz="800" b="0" i="0">
                <a:solidFill>
                  <a:srgbClr val="555555"/>
                </a:solidFill>
                <a:latin typeface="Calibri"/>
              </a:rPr>
              <a:t>Coherence</a:t>
            </a:r>
          </a:p>
        </p:txBody>
      </p:sp>
      <p:sp>
        <p:nvSpPr>
          <p:cNvPr id="36" name="TextBox 35"/>
          <p:cNvSpPr txBox="1"/>
          <p:nvPr/>
        </p:nvSpPr>
        <p:spPr>
          <a:xfrm>
            <a:off x="7038000" y="1609200"/>
            <a:ext cx="1602000" cy="165600"/>
          </a:xfrm>
          <a:prstGeom prst="rect">
            <a:avLst/>
          </a:prstGeom>
          <a:noFill/>
        </p:spPr>
        <p:txBody>
          <a:bodyPr wrap="square">
            <a:spAutoFit/>
          </a:bodyPr>
          <a:lstStyle/>
          <a:p>
            <a:pPr algn="l"/>
            <a:r>
              <a:rPr sz="700" b="0" i="0">
                <a:solidFill>
                  <a:srgbClr val="888888"/>
                </a:solidFill>
                <a:latin typeface="Calibri"/>
              </a:rPr>
              <a:t>Aligne avec la these</a:t>
            </a:r>
          </a:p>
        </p:txBody>
      </p:sp>
      <p:sp>
        <p:nvSpPr>
          <p:cNvPr id="37" name="TextBox 36"/>
          <p:cNvSpPr txBox="1"/>
          <p:nvPr/>
        </p:nvSpPr>
        <p:spPr>
          <a:xfrm>
            <a:off x="367200" y="2084400"/>
            <a:ext cx="8413200" cy="165600"/>
          </a:xfrm>
          <a:prstGeom prst="rect">
            <a:avLst/>
          </a:prstGeom>
          <a:noFill/>
        </p:spPr>
        <p:txBody>
          <a:bodyPr wrap="square">
            <a:spAutoFit/>
          </a:bodyPr>
          <a:lstStyle/>
          <a:p>
            <a:pPr algn="l"/>
            <a:r>
              <a:rPr sz="900" b="1" i="0">
                <a:solidFill>
                  <a:srgbClr val="2E5FA3"/>
                </a:solidFill>
                <a:latin typeface="Calibri"/>
              </a:rPr>
              <a:t>Détail par orientation</a:t>
            </a:r>
          </a:p>
        </p:txBody>
      </p:sp>
      <p:graphicFrame>
        <p:nvGraphicFramePr>
          <p:cNvPr id="38" name="Table 37"/>
          <p:cNvGraphicFramePr>
            <a:graphicFrameLocks noGrp="1"/>
          </p:cNvGraphicFramePr>
          <p:nvPr/>
        </p:nvGraphicFramePr>
        <p:xfrm>
          <a:off x="367200" y="2332800"/>
          <a:ext cx="8413200" cy="1152000"/>
        </p:xfrm>
        <a:graphic>
          <a:graphicData uri="http://schemas.openxmlformats.org/drawingml/2006/table">
            <a:tbl>
              <a:tblPr firstRow="1" bandRow="1">
                <a:tableStyleId>{5C22544A-7EE6-4342-B048-85BDC9FD1C3A}</a:tableStyleId>
              </a:tblPr>
              <a:tblGrid>
                <a:gridCol w="1261980"/>
                <a:gridCol w="1261980"/>
                <a:gridCol w="1682640"/>
                <a:gridCol w="4206600"/>
              </a:tblGrid>
              <a:tr h="288000">
                <a:tc>
                  <a:txBody>
                    <a:bodyPr/>
                    <a:lstStyle/>
                    <a:p>
                      <a:pPr algn="l"/>
                      <a:r>
                        <a:rPr sz="800" b="1" i="0">
                          <a:solidFill>
                            <a:srgbClr val="FFFFFF"/>
                          </a:solidFill>
                          <a:latin typeface="Calibri"/>
                        </a:rPr>
                        <a:t>Orientation</a:t>
                      </a:r>
                    </a:p>
                  </a:txBody>
                  <a:tcPr>
                    <a:solidFill>
                      <a:srgbClr val="1B3A6B"/>
                    </a:solidFill>
                  </a:tcPr>
                </a:tc>
                <a:tc>
                  <a:txBody>
                    <a:bodyPr/>
                    <a:lstStyle/>
                    <a:p>
                      <a:pPr algn="ctr"/>
                      <a:r>
                        <a:rPr sz="800" b="1" i="0">
                          <a:solidFill>
                            <a:srgbClr val="FFFFFF"/>
                          </a:solidFill>
                          <a:latin typeface="Calibri"/>
                        </a:rPr>
                        <a:t>Articles</a:t>
                      </a:r>
                    </a:p>
                  </a:txBody>
                  <a:tcPr>
                    <a:solidFill>
                      <a:srgbClr val="1B3A6B"/>
                    </a:solidFill>
                  </a:tcPr>
                </a:tc>
                <a:tc>
                  <a:txBody>
                    <a:bodyPr/>
                    <a:lstStyle/>
                    <a:p>
                      <a:pPr algn="ctr"/>
                      <a:r>
                        <a:rPr sz="800" b="1" i="0">
                          <a:solidFill>
                            <a:srgbClr val="FFFFFF"/>
                          </a:solidFill>
                          <a:latin typeface="Calibri"/>
                        </a:rPr>
                        <a:t>Score moyen</a:t>
                      </a:r>
                    </a:p>
                  </a:txBody>
                  <a:tcPr>
                    <a:solidFill>
                      <a:srgbClr val="1B3A6B"/>
                    </a:solidFill>
                  </a:tcPr>
                </a:tc>
                <a:tc>
                  <a:txBody>
                    <a:bodyPr/>
                    <a:lstStyle/>
                    <a:p>
                      <a:pPr algn="ctr"/>
                      <a:r>
                        <a:rPr sz="800" b="1" i="0">
                          <a:solidFill>
                            <a:srgbClr val="FFFFFF"/>
                          </a:solidFill>
                          <a:latin typeface="Calibri"/>
                        </a:rPr>
                        <a:t>Thèmes principaux</a:t>
                      </a:r>
                    </a:p>
                  </a:txBody>
                  <a:tcPr>
                    <a:solidFill>
                      <a:srgbClr val="1B3A6B"/>
                    </a:solidFill>
                  </a:tcPr>
                </a:tc>
              </a:tr>
              <a:tr h="288000">
                <a:tc>
                  <a:txBody>
                    <a:bodyPr/>
                    <a:lstStyle/>
                    <a:p>
                      <a:pPr algn="l"/>
                      <a:r>
                        <a:rPr sz="800" b="1" i="0">
                          <a:solidFill>
                            <a:srgbClr val="1A7A4A"/>
                          </a:solidFill>
                          <a:latin typeface="Calibri"/>
                        </a:rPr>
                        <a:t>Positif</a:t>
                      </a:r>
                    </a:p>
                  </a:txBody>
                  <a:tcPr>
                    <a:solidFill>
                      <a:srgbClr val="EAF4EF"/>
                    </a:solidFill>
                  </a:tcPr>
                </a:tc>
                <a:tc>
                  <a:txBody>
                    <a:bodyPr/>
                    <a:lstStyle/>
                    <a:p>
                      <a:pPr algn="ctr"/>
                      <a:r>
                        <a:rPr sz="800" b="1" i="0">
                          <a:solidFill>
                            <a:srgbClr val="1A7A4A"/>
                          </a:solidFill>
                          <a:latin typeface="Calibri"/>
                        </a:rPr>
                        <a:t>7</a:t>
                      </a:r>
                    </a:p>
                  </a:txBody>
                  <a:tcPr>
                    <a:solidFill>
                      <a:srgbClr val="EAF4EF"/>
                    </a:solidFill>
                  </a:tcPr>
                </a:tc>
                <a:tc>
                  <a:txBody>
                    <a:bodyPr/>
                    <a:lstStyle/>
                    <a:p>
                      <a:pPr algn="ctr"/>
                      <a:r>
                        <a:rPr sz="800" b="0" i="0">
                          <a:solidFill>
                            <a:srgbClr val="0D0D0D"/>
                          </a:solidFill>
                          <a:latin typeface="Calibri"/>
                        </a:rPr>
                        <a:t>+0,362</a:t>
                      </a:r>
                    </a:p>
                  </a:txBody>
                  <a:tcPr>
                    <a:solidFill>
                      <a:srgbClr val="EAF4EF"/>
                    </a:solidFill>
                  </a:tcPr>
                </a:tc>
                <a:tc>
                  <a:txBody>
                    <a:bodyPr/>
                    <a:lstStyle/>
                    <a:p>
                      <a:pPr algn="ctr"/>
                      <a:r>
                        <a:rPr sz="800" b="0" i="0">
                          <a:solidFill>
                            <a:srgbClr val="0D0D0D"/>
                          </a:solidFill>
                          <a:latin typeface="Calibri"/>
                        </a:rPr>
                        <a:t>Croissance organique de 4-5% dans les soins premium et les marchés émergents d'ici 2027 grâce à l'innovation et au digital | Hausse des prix de 5-7% en 2025 malgré l'inflation, soutenant les marges | Automatisation des usines et…</a:t>
                      </a:r>
                    </a:p>
                  </a:txBody>
                  <a:tcPr>
                    <a:solidFill>
                      <a:srgbClr val="EAF4EF"/>
                    </a:solidFill>
                  </a:tcPr>
                </a:tc>
              </a:tr>
              <a:tr h="288000">
                <a:tc>
                  <a:txBody>
                    <a:bodyPr/>
                    <a:lstStyle/>
                    <a:p>
                      <a:pPr algn="l"/>
                      <a:r>
                        <a:rPr sz="800" b="1" i="0">
                          <a:solidFill>
                            <a:srgbClr val="555555"/>
                          </a:solidFill>
                          <a:latin typeface="Calibri"/>
                        </a:rPr>
                        <a:t>Neutre</a:t>
                      </a:r>
                    </a:p>
                  </a:txBody>
                  <a:tcPr>
                    <a:solidFill>
                      <a:srgbClr val="FFFFFF"/>
                    </a:solidFill>
                  </a:tcPr>
                </a:tc>
                <a:tc>
                  <a:txBody>
                    <a:bodyPr/>
                    <a:lstStyle/>
                    <a:p>
                      <a:pPr algn="ctr"/>
                      <a:r>
                        <a:rPr sz="800" b="1" i="0">
                          <a:solidFill>
                            <a:srgbClr val="555555"/>
                          </a:solidFill>
                          <a:latin typeface="Calibri"/>
                        </a:rPr>
                        <a:t>10</a:t>
                      </a:r>
                    </a:p>
                  </a:txBody>
                  <a:tcPr>
                    <a:solidFill>
                      <a:srgbClr val="FFFFFF"/>
                    </a:solidFill>
                  </a:tcPr>
                </a:tc>
                <a:tc>
                  <a:txBody>
                    <a:bodyPr/>
                    <a:lstStyle/>
                    <a:p>
                      <a:pPr algn="ctr"/>
                      <a:r>
                        <a:rPr sz="800" b="0" i="0">
                          <a:solidFill>
                            <a:srgbClr val="0D0D0D"/>
                          </a:solidFill>
                          <a:latin typeface="Calibri"/>
                        </a:rPr>
                        <a:t>+0,450</a:t>
                      </a:r>
                    </a:p>
                  </a:txBody>
                  <a:tcPr>
                    <a:solidFill>
                      <a:srgbClr val="FFFFFF"/>
                    </a:solidFill>
                  </a:tcPr>
                </a:tc>
                <a:tc>
                  <a:txBody>
                    <a:bodyPr/>
                    <a:lstStyle/>
                    <a:p>
                      <a:pPr algn="ctr"/>
                      <a:r>
                        <a:rPr sz="800" b="0" i="0">
                          <a:solidFill>
                            <a:srgbClr val="0D0D0D"/>
                          </a:solidFill>
                          <a:latin typeface="Calibri"/>
                        </a:rPr>
                        <a:t>Actualité sectorielle générale</a:t>
                      </a:r>
                    </a:p>
                  </a:txBody>
                  <a:tcPr>
                    <a:solidFill>
                      <a:srgbClr val="FFFFFF"/>
                    </a:solidFill>
                  </a:tcPr>
                </a:tc>
              </a:tr>
              <a:tr h="288000">
                <a:tc>
                  <a:txBody>
                    <a:bodyPr/>
                    <a:lstStyle/>
                    <a:p>
                      <a:pPr algn="l"/>
                      <a:r>
                        <a:rPr sz="800" b="1" i="0">
                          <a:solidFill>
                            <a:srgbClr val="A82020"/>
                          </a:solidFill>
                          <a:latin typeface="Calibri"/>
                        </a:rPr>
                        <a:t>Négatif</a:t>
                      </a:r>
                    </a:p>
                  </a:txBody>
                  <a:tcPr>
                    <a:solidFill>
                      <a:srgbClr val="FAF0EF"/>
                    </a:solidFill>
                  </a:tcPr>
                </a:tc>
                <a:tc>
                  <a:txBody>
                    <a:bodyPr/>
                    <a:lstStyle/>
                    <a:p>
                      <a:pPr algn="ctr"/>
                      <a:r>
                        <a:rPr sz="800" b="1" i="0">
                          <a:solidFill>
                            <a:srgbClr val="A82020"/>
                          </a:solidFill>
                          <a:latin typeface="Calibri"/>
                        </a:rPr>
                        <a:t>3</a:t>
                      </a:r>
                    </a:p>
                  </a:txBody>
                  <a:tcPr>
                    <a:solidFill>
                      <a:srgbClr val="FAF0EF"/>
                    </a:solidFill>
                  </a:tcPr>
                </a:tc>
                <a:tc>
                  <a:txBody>
                    <a:bodyPr/>
                    <a:lstStyle/>
                    <a:p>
                      <a:pPr algn="ctr"/>
                      <a:r>
                        <a:rPr sz="800" b="0" i="0">
                          <a:solidFill>
                            <a:srgbClr val="0D0D0D"/>
                          </a:solidFill>
                          <a:latin typeface="Calibri"/>
                        </a:rPr>
                        <a:t>+0,188</a:t>
                      </a:r>
                    </a:p>
                  </a:txBody>
                  <a:tcPr>
                    <a:solidFill>
                      <a:srgbClr val="FAF0EF"/>
                    </a:solidFill>
                  </a:tcPr>
                </a:tc>
                <a:tc>
                  <a:txBody>
                    <a:bodyPr/>
                    <a:lstStyle/>
                    <a:p>
                      <a:pPr algn="ctr"/>
                      <a:r>
                        <a:rPr sz="800" b="0" i="0">
                          <a:solidFill>
                            <a:srgbClr val="0D0D0D"/>
                          </a:solidFill>
                          <a:latin typeface="Calibri"/>
                        </a:rPr>
                        <a:t>Concurrence accrue des marques asiatiques (Shopee, Perfect Diary) avec une pression sur les prix de -3% à -5% en 2026 | Régulation sanitaire en Europe (REACH) pourrait augmenter les coûts de conformité de 100M€/an | Dépendance au luxe (25%…</a:t>
                      </a:r>
                    </a:p>
                  </a:txBody>
                  <a:tcPr>
                    <a:solidFill>
                      <a:srgbClr val="FAF0EF"/>
                    </a:solidFill>
                  </a:tcPr>
                </a:tc>
              </a:tr>
            </a:tbl>
          </a:graphicData>
        </a:graphic>
      </p:graphicFrame>
      <p:sp>
        <p:nvSpPr>
          <p:cNvPr id="39" name="TextBox 38"/>
          <p:cNvSpPr txBox="1"/>
          <p:nvPr/>
        </p:nvSpPr>
        <p:spPr>
          <a:xfrm>
            <a:off x="367200" y="4140000"/>
            <a:ext cx="8413200" cy="914400"/>
          </a:xfrm>
          <a:prstGeom prst="rect">
            <a:avLst/>
          </a:prstGeom>
          <a:noFill/>
        </p:spPr>
        <p:txBody>
          <a:bodyPr wrap="square">
            <a:spAutoFit/>
          </a:bodyPr>
          <a:lstStyle/>
          <a:p>
            <a:pPr algn="l"/>
            <a:r>
              <a:rPr sz="850" b="0" i="0">
                <a:solidFill>
                  <a:srgbClr val="333333"/>
                </a:solidFill>
                <a:latin typeface="Calibri"/>
              </a:rPr>
              <a:t>La presse financière souligne une dynamique positive pour L'Oréal cette semaine, portée par des partenariats technologiques et des initiatives durables. Les tensions commerciales et géopolitiques restent des risques majeurs pesant sur le secteur.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Actionnariat &amp; Structure du Capital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Répartition de l'actionnariat  ·  Au 27 mars 2026</a:t>
            </a:r>
          </a:p>
        </p:txBody>
      </p:sp>
      <p:sp>
        <p:nvSpPr>
          <p:cNvPr id="17" name="TextBox 16"/>
          <p:cNvSpPr txBox="1"/>
          <p:nvPr/>
        </p:nvSpPr>
        <p:spPr>
          <a:xfrm>
            <a:off x="367200" y="748800"/>
            <a:ext cx="5029200" cy="201600"/>
          </a:xfrm>
          <a:prstGeom prst="rect">
            <a:avLst/>
          </a:prstGeom>
          <a:noFill/>
        </p:spPr>
        <p:txBody>
          <a:bodyPr wrap="square">
            <a:spAutoFit/>
          </a:bodyPr>
          <a:lstStyle/>
          <a:p>
            <a:pPr algn="l"/>
            <a:r>
              <a:rPr sz="900" b="1" i="0">
                <a:solidFill>
                  <a:srgbClr val="2E5FA3"/>
                </a:solidFill>
                <a:latin typeface="Calibri"/>
              </a:rPr>
              <a:t>Top actionnaires</a:t>
            </a:r>
          </a:p>
        </p:txBody>
      </p:sp>
      <p:graphicFrame>
        <p:nvGraphicFramePr>
          <p:cNvPr id="18" name="Table 17"/>
          <p:cNvGraphicFramePr>
            <a:graphicFrameLocks noGrp="1"/>
          </p:cNvGraphicFramePr>
          <p:nvPr/>
        </p:nvGraphicFramePr>
        <p:xfrm>
          <a:off x="367200" y="968400"/>
          <a:ext cx="5302800" cy="2232000"/>
        </p:xfrm>
        <a:graphic>
          <a:graphicData uri="http://schemas.openxmlformats.org/drawingml/2006/table">
            <a:tbl>
              <a:tblPr firstRow="1" bandRow="1">
                <a:tableStyleId>{5C22544A-7EE6-4342-B048-85BDC9FD1C3A}</a:tableStyleId>
              </a:tblPr>
              <a:tblGrid>
                <a:gridCol w="2015064"/>
                <a:gridCol w="1378728"/>
                <a:gridCol w="1060560"/>
                <a:gridCol w="848448"/>
              </a:tblGrid>
              <a:tr h="223200">
                <a:tc>
                  <a:txBody>
                    <a:bodyPr/>
                    <a:lstStyle/>
                    <a:p>
                      <a:pPr algn="l"/>
                      <a:r>
                        <a:rPr sz="800" b="1" i="0">
                          <a:solidFill>
                            <a:srgbClr val="FFFFFF"/>
                          </a:solidFill>
                          <a:latin typeface="Calibri"/>
                        </a:rPr>
                        <a:t>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Type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Détention %</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Style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L'Oréal (Insiders)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Insiders &amp; dirigeants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57.1 %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B06000"/>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iShares Trust-iShares Core MSCI EAF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Goldman Sachs TRT II-Goldman Sachs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GROWTH FUND OF AMERICA</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VANGUARD STAR FUNDS-Vanguard Total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VANGUARD WORLD FUND-Vanguard Intern</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EuroPacific Growth Fund-EUPAC Fund</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VANGUARD TAX-MANAGED FUNDS-Vanguard</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Retail &amp; 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41.4 %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9" name="TextBox 18"/>
          <p:cNvSpPr txBox="1"/>
          <p:nvPr/>
        </p:nvSpPr>
        <p:spPr>
          <a:xfrm>
            <a:off x="5760000" y="748800"/>
            <a:ext cx="3016800" cy="201600"/>
          </a:xfrm>
          <a:prstGeom prst="rect">
            <a:avLst/>
          </a:prstGeom>
          <a:noFill/>
        </p:spPr>
        <p:txBody>
          <a:bodyPr wrap="square">
            <a:spAutoFit/>
          </a:bodyPr>
          <a:lstStyle/>
          <a:p>
            <a:pPr algn="l"/>
            <a:r>
              <a:rPr sz="900" b="1" i="0">
                <a:solidFill>
                  <a:srgbClr val="2E5FA3"/>
                </a:solidFill>
                <a:latin typeface="Calibri"/>
              </a:rPr>
              <a:t>Répartition par type</a:t>
            </a:r>
          </a:p>
        </p:txBody>
      </p:sp>
      <p:graphicFrame>
        <p:nvGraphicFramePr>
          <p:cNvPr id="20" name="Table 19"/>
          <p:cNvGraphicFramePr>
            <a:graphicFrameLocks noGrp="1"/>
          </p:cNvGraphicFramePr>
          <p:nvPr/>
        </p:nvGraphicFramePr>
        <p:xfrm>
          <a:off x="5760000" y="968400"/>
          <a:ext cx="3016800" cy="1134000"/>
        </p:xfrm>
        <a:graphic>
          <a:graphicData uri="http://schemas.openxmlformats.org/drawingml/2006/table">
            <a:tbl>
              <a:tblPr firstRow="1" bandRow="1">
                <a:tableStyleId>{5C22544A-7EE6-4342-B048-85BDC9FD1C3A}</a:tableStyleId>
              </a:tblPr>
              <a:tblGrid>
                <a:gridCol w="1810080"/>
                <a:gridCol w="1206720"/>
              </a:tblGrid>
              <a:tr h="226800">
                <a:tc>
                  <a:txBody>
                    <a:bodyPr/>
                    <a:lstStyle/>
                    <a:p>
                      <a:pPr algn="l"/>
                      <a:r>
                        <a:rPr sz="800" b="1" i="0">
                          <a:solidFill>
                            <a:srgbClr val="FFFFFF"/>
                          </a:solidFill>
                          <a:latin typeface="Calibri"/>
                        </a:rPr>
                        <a:t>Type d'actionnaire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Part estimée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0.9 %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0.6 %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57.1 %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Retail &amp; 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41.4 %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1" name="TextBox 20"/>
          <p:cNvSpPr txBox="1"/>
          <p:nvPr/>
        </p:nvSpPr>
        <p:spPr>
          <a:xfrm>
            <a:off x="367200" y="3326400"/>
            <a:ext cx="8413200" cy="1004400"/>
          </a:xfrm>
          <a:prstGeom prst="rect">
            <a:avLst/>
          </a:prstGeom>
          <a:noFill/>
        </p:spPr>
        <p:txBody>
          <a:bodyPr wrap="square">
            <a:spAutoFit/>
          </a:bodyPr>
          <a:lstStyle/>
          <a:p>
            <a:pPr algn="l"/>
            <a:r>
              <a:rPr sz="850" b="0" i="0">
                <a:solidFill>
                  <a:srgbClr val="555555"/>
                </a:solidFill>
                <a:latin typeface="Calibri"/>
              </a:rPr>
              <a:t>L'Oréal se négocie à 17.6x EV/EBITDA contre une médiane peers de 16.2x, soit une prime de 8.6%. Le P/E de 30.6x reflète une croissance supérieure mais reste justifié par la qualité des actifs et la visibilité des cash-flows.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Historique de Cours — 52 Semaines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OR.PA  ·  EUR  ·  Au 27 mars 2026</a:t>
            </a:r>
          </a:p>
        </p:txBody>
      </p:sp>
      <p:sp>
        <p:nvSpPr>
          <p:cNvPr id="17" name="Rectangle 16"/>
          <p:cNvSpPr/>
          <p:nvPr/>
        </p:nvSpPr>
        <p:spPr>
          <a:xfrm>
            <a:off x="3672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1782000" cy="396000"/>
          </a:xfrm>
          <a:prstGeom prst="rect">
            <a:avLst/>
          </a:prstGeom>
          <a:noFill/>
        </p:spPr>
        <p:txBody>
          <a:bodyPr wrap="square">
            <a:spAutoFit/>
          </a:bodyPr>
          <a:lstStyle/>
          <a:p>
            <a:pPr algn="l"/>
            <a:r>
              <a:rPr sz="1900" b="1" i="0">
                <a:solidFill>
                  <a:srgbClr val="1B3A6B"/>
                </a:solidFill>
                <a:latin typeface="Calibri"/>
              </a:rPr>
              <a:t>350,85 EUR</a:t>
            </a:r>
          </a:p>
        </p:txBody>
      </p:sp>
      <p:sp>
        <p:nvSpPr>
          <p:cNvPr id="20" name="TextBox 19"/>
          <p:cNvSpPr txBox="1"/>
          <p:nvPr/>
        </p:nvSpPr>
        <p:spPr>
          <a:xfrm>
            <a:off x="457200" y="1411200"/>
            <a:ext cx="17820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21" name="Rectangle 20"/>
          <p:cNvSpPr/>
          <p:nvPr/>
        </p:nvSpPr>
        <p:spPr>
          <a:xfrm>
            <a:off x="24228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228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2800" y="1015200"/>
            <a:ext cx="1782000" cy="396000"/>
          </a:xfrm>
          <a:prstGeom prst="rect">
            <a:avLst/>
          </a:prstGeom>
          <a:noFill/>
        </p:spPr>
        <p:txBody>
          <a:bodyPr wrap="square">
            <a:spAutoFit/>
          </a:bodyPr>
          <a:lstStyle/>
          <a:p>
            <a:pPr algn="l"/>
            <a:r>
              <a:rPr sz="1900" b="1" i="0">
                <a:solidFill>
                  <a:srgbClr val="1B3A6B"/>
                </a:solidFill>
                <a:latin typeface="Calibri"/>
              </a:rPr>
              <a:t>397,90 EUR</a:t>
            </a:r>
          </a:p>
        </p:txBody>
      </p:sp>
      <p:sp>
        <p:nvSpPr>
          <p:cNvPr id="24" name="TextBox 23"/>
          <p:cNvSpPr txBox="1"/>
          <p:nvPr/>
        </p:nvSpPr>
        <p:spPr>
          <a:xfrm>
            <a:off x="2512800" y="1411200"/>
            <a:ext cx="1782000" cy="205199"/>
          </a:xfrm>
          <a:prstGeom prst="rect">
            <a:avLst/>
          </a:prstGeom>
          <a:noFill/>
        </p:spPr>
        <p:txBody>
          <a:bodyPr wrap="square">
            <a:spAutoFit/>
          </a:bodyPr>
          <a:lstStyle/>
          <a:p>
            <a:pPr algn="l"/>
            <a:r>
              <a:rPr sz="800" b="0" i="0">
                <a:solidFill>
                  <a:srgbClr val="555555"/>
                </a:solidFill>
                <a:latin typeface="Calibri"/>
              </a:rPr>
              <a:t>Plus haut 52 sem.</a:t>
            </a:r>
          </a:p>
        </p:txBody>
      </p:sp>
      <p:sp>
        <p:nvSpPr>
          <p:cNvPr id="25" name="Rectangle 24"/>
          <p:cNvSpPr/>
          <p:nvPr/>
        </p:nvSpPr>
        <p:spPr>
          <a:xfrm>
            <a:off x="44820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20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1015200"/>
            <a:ext cx="1782000" cy="396000"/>
          </a:xfrm>
          <a:prstGeom prst="rect">
            <a:avLst/>
          </a:prstGeom>
          <a:noFill/>
        </p:spPr>
        <p:txBody>
          <a:bodyPr wrap="square">
            <a:spAutoFit/>
          </a:bodyPr>
          <a:lstStyle/>
          <a:p>
            <a:pPr algn="l"/>
            <a:r>
              <a:rPr sz="1900" b="1" i="0">
                <a:solidFill>
                  <a:srgbClr val="1B3A6B"/>
                </a:solidFill>
                <a:latin typeface="Calibri"/>
              </a:rPr>
              <a:t>350,85 EUR</a:t>
            </a:r>
          </a:p>
        </p:txBody>
      </p:sp>
      <p:sp>
        <p:nvSpPr>
          <p:cNvPr id="28" name="TextBox 27"/>
          <p:cNvSpPr txBox="1"/>
          <p:nvPr/>
        </p:nvSpPr>
        <p:spPr>
          <a:xfrm>
            <a:off x="4572000" y="1411200"/>
            <a:ext cx="1782000" cy="205199"/>
          </a:xfrm>
          <a:prstGeom prst="rect">
            <a:avLst/>
          </a:prstGeom>
          <a:noFill/>
        </p:spPr>
        <p:txBody>
          <a:bodyPr wrap="square">
            <a:spAutoFit/>
          </a:bodyPr>
          <a:lstStyle/>
          <a:p>
            <a:pPr algn="l"/>
            <a:r>
              <a:rPr sz="800" b="0" i="0">
                <a:solidFill>
                  <a:srgbClr val="555555"/>
                </a:solidFill>
                <a:latin typeface="Calibri"/>
              </a:rPr>
              <a:t>Plus bas 52 sem.</a:t>
            </a:r>
          </a:p>
        </p:txBody>
      </p:sp>
      <p:sp>
        <p:nvSpPr>
          <p:cNvPr id="29" name="Rectangle 28"/>
          <p:cNvSpPr/>
          <p:nvPr/>
        </p:nvSpPr>
        <p:spPr>
          <a:xfrm>
            <a:off x="6537600" y="961200"/>
            <a:ext cx="21960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376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7600" y="1015200"/>
            <a:ext cx="2059200" cy="396000"/>
          </a:xfrm>
          <a:prstGeom prst="rect">
            <a:avLst/>
          </a:prstGeom>
          <a:noFill/>
        </p:spPr>
        <p:txBody>
          <a:bodyPr wrap="square">
            <a:spAutoFit/>
          </a:bodyPr>
          <a:lstStyle/>
          <a:p>
            <a:pPr algn="l"/>
            <a:r>
              <a:rPr sz="1900" b="1" i="0">
                <a:solidFill>
                  <a:srgbClr val="1B3A6B"/>
                </a:solidFill>
                <a:latin typeface="Calibri"/>
              </a:rPr>
              <a:t>-7,7 %</a:t>
            </a:r>
          </a:p>
        </p:txBody>
      </p:sp>
      <p:sp>
        <p:nvSpPr>
          <p:cNvPr id="32" name="TextBox 31"/>
          <p:cNvSpPr txBox="1"/>
          <p:nvPr/>
        </p:nvSpPr>
        <p:spPr>
          <a:xfrm>
            <a:off x="6627600" y="1411200"/>
            <a:ext cx="2059200" cy="205199"/>
          </a:xfrm>
          <a:prstGeom prst="rect">
            <a:avLst/>
          </a:prstGeom>
          <a:noFill/>
        </p:spPr>
        <p:txBody>
          <a:bodyPr wrap="square">
            <a:spAutoFit/>
          </a:bodyPr>
          <a:lstStyle/>
          <a:p>
            <a:pPr algn="l"/>
            <a:r>
              <a:rPr sz="800" b="0" i="0">
                <a:solidFill>
                  <a:srgbClr val="555555"/>
                </a:solidFill>
                <a:latin typeface="Calibri"/>
              </a:rPr>
              <a:t>Performance 52 sem.</a:t>
            </a:r>
          </a:p>
        </p:txBody>
      </p:sp>
      <p:sp>
        <p:nvSpPr>
          <p:cNvPr id="33" name="TextBox 32"/>
          <p:cNvSpPr txBox="1"/>
          <p:nvPr/>
        </p:nvSpPr>
        <p:spPr>
          <a:xfrm>
            <a:off x="367200" y="1846800"/>
            <a:ext cx="8413200" cy="165600"/>
          </a:xfrm>
          <a:prstGeom prst="rect">
            <a:avLst/>
          </a:prstGeom>
          <a:noFill/>
        </p:spPr>
        <p:txBody>
          <a:bodyPr wrap="square">
            <a:spAutoFit/>
          </a:bodyPr>
          <a:lstStyle/>
          <a:p>
            <a:pPr algn="l"/>
            <a:r>
              <a:rPr sz="900" b="1" i="0">
                <a:solidFill>
                  <a:srgbClr val="1B3A6B"/>
                </a:solidFill>
                <a:latin typeface="Calibri"/>
              </a:rPr>
              <a:t>Evolution du cours — 12 derniers mois</a:t>
            </a:r>
          </a:p>
        </p:txBody>
      </p:sp>
      <p:sp>
        <p:nvSpPr>
          <p:cNvPr id="34" name="Rectangle 33"/>
          <p:cNvSpPr/>
          <p:nvPr/>
        </p:nvSpPr>
        <p:spPr>
          <a:xfrm>
            <a:off x="367200" y="2102400"/>
            <a:ext cx="8413200" cy="1828800"/>
          </a:xfrm>
          <a:prstGeom prst="rect">
            <a:avLst/>
          </a:prstGeom>
          <a:solidFill>
            <a:srgbClr val="F7F8FA"/>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2102400"/>
            <a:ext cx="8413200" cy="3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7200" y="2927676"/>
            <a:ext cx="498636" cy="967523"/>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1200" y="3902400"/>
            <a:ext cx="728100" cy="144000"/>
          </a:xfrm>
          <a:prstGeom prst="rect">
            <a:avLst/>
          </a:prstGeom>
          <a:noFill/>
        </p:spPr>
        <p:txBody>
          <a:bodyPr wrap="square">
            <a:spAutoFit/>
          </a:bodyPr>
          <a:lstStyle/>
          <a:p>
            <a:pPr algn="ctr"/>
            <a:r>
              <a:rPr sz="600" b="0" i="0">
                <a:solidFill>
                  <a:srgbClr val="555555"/>
                </a:solidFill>
                <a:latin typeface="Calibri"/>
              </a:rPr>
              <a:t>Avr</a:t>
            </a:r>
          </a:p>
        </p:txBody>
      </p:sp>
      <p:sp>
        <p:nvSpPr>
          <p:cNvPr id="38" name="Rectangle 37"/>
          <p:cNvSpPr/>
          <p:nvPr/>
        </p:nvSpPr>
        <p:spPr>
          <a:xfrm>
            <a:off x="1293300" y="3366562"/>
            <a:ext cx="498636" cy="528637"/>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57300" y="3902400"/>
            <a:ext cx="728100" cy="144000"/>
          </a:xfrm>
          <a:prstGeom prst="rect">
            <a:avLst/>
          </a:prstGeom>
          <a:noFill/>
        </p:spPr>
        <p:txBody>
          <a:bodyPr wrap="square">
            <a:spAutoFit/>
          </a:bodyPr>
          <a:lstStyle/>
          <a:p>
            <a:pPr algn="ctr"/>
            <a:r>
              <a:rPr sz="600" b="0" i="0">
                <a:solidFill>
                  <a:srgbClr val="555555"/>
                </a:solidFill>
                <a:latin typeface="Calibri"/>
              </a:rPr>
              <a:t>Mai</a:t>
            </a:r>
          </a:p>
        </p:txBody>
      </p:sp>
      <p:sp>
        <p:nvSpPr>
          <p:cNvPr id="40" name="Rectangle 39"/>
          <p:cNvSpPr/>
          <p:nvPr/>
        </p:nvSpPr>
        <p:spPr>
          <a:xfrm>
            <a:off x="1949400" y="3448279"/>
            <a:ext cx="498636" cy="44692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13400" y="3902400"/>
            <a:ext cx="728100" cy="144000"/>
          </a:xfrm>
          <a:prstGeom prst="rect">
            <a:avLst/>
          </a:prstGeom>
          <a:noFill/>
        </p:spPr>
        <p:txBody>
          <a:bodyPr wrap="square">
            <a:spAutoFit/>
          </a:bodyPr>
          <a:lstStyle/>
          <a:p>
            <a:pPr algn="ctr"/>
            <a:r>
              <a:rPr sz="600" b="0" i="0">
                <a:solidFill>
                  <a:srgbClr val="555555"/>
                </a:solidFill>
                <a:latin typeface="Calibri"/>
              </a:rPr>
              <a:t>Juin</a:t>
            </a:r>
          </a:p>
        </p:txBody>
      </p:sp>
      <p:sp>
        <p:nvSpPr>
          <p:cNvPr id="42" name="Rectangle 41"/>
          <p:cNvSpPr/>
          <p:nvPr/>
        </p:nvSpPr>
        <p:spPr>
          <a:xfrm>
            <a:off x="2605500" y="2644879"/>
            <a:ext cx="498636" cy="12503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69500" y="3902400"/>
            <a:ext cx="728100" cy="144000"/>
          </a:xfrm>
          <a:prstGeom prst="rect">
            <a:avLst/>
          </a:prstGeom>
          <a:noFill/>
        </p:spPr>
        <p:txBody>
          <a:bodyPr wrap="square">
            <a:spAutoFit/>
          </a:bodyPr>
          <a:lstStyle/>
          <a:p>
            <a:pPr algn="ctr"/>
            <a:r>
              <a:rPr sz="600" b="0" i="0">
                <a:solidFill>
                  <a:srgbClr val="555555"/>
                </a:solidFill>
                <a:latin typeface="Calibri"/>
              </a:rPr>
              <a:t>Juil</a:t>
            </a:r>
          </a:p>
        </p:txBody>
      </p:sp>
      <p:sp>
        <p:nvSpPr>
          <p:cNvPr id="44" name="Rectangle 43"/>
          <p:cNvSpPr/>
          <p:nvPr/>
        </p:nvSpPr>
        <p:spPr>
          <a:xfrm>
            <a:off x="3261600" y="2383200"/>
            <a:ext cx="498636" cy="151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25600" y="3902400"/>
            <a:ext cx="728100" cy="144000"/>
          </a:xfrm>
          <a:prstGeom prst="rect">
            <a:avLst/>
          </a:prstGeom>
          <a:noFill/>
        </p:spPr>
        <p:txBody>
          <a:bodyPr wrap="square">
            <a:spAutoFit/>
          </a:bodyPr>
          <a:lstStyle/>
          <a:p>
            <a:pPr algn="ctr"/>
            <a:r>
              <a:rPr sz="600" b="0" i="0">
                <a:solidFill>
                  <a:srgbClr val="555555"/>
                </a:solidFill>
                <a:latin typeface="Calibri"/>
              </a:rPr>
              <a:t>Aoû</a:t>
            </a:r>
          </a:p>
        </p:txBody>
      </p:sp>
      <p:sp>
        <p:nvSpPr>
          <p:cNvPr id="46" name="Rectangle 45"/>
          <p:cNvSpPr/>
          <p:nvPr/>
        </p:nvSpPr>
        <p:spPr>
          <a:xfrm>
            <a:off x="3917700" y="3283008"/>
            <a:ext cx="498636" cy="612191"/>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81700" y="3902400"/>
            <a:ext cx="728100" cy="144000"/>
          </a:xfrm>
          <a:prstGeom prst="rect">
            <a:avLst/>
          </a:prstGeom>
          <a:noFill/>
        </p:spPr>
        <p:txBody>
          <a:bodyPr wrap="square">
            <a:spAutoFit/>
          </a:bodyPr>
          <a:lstStyle/>
          <a:p>
            <a:pPr algn="ctr"/>
            <a:r>
              <a:rPr sz="600" b="0" i="0">
                <a:solidFill>
                  <a:srgbClr val="555555"/>
                </a:solidFill>
                <a:latin typeface="Calibri"/>
              </a:rPr>
              <a:t>Sep</a:t>
            </a:r>
          </a:p>
        </p:txBody>
      </p:sp>
      <p:sp>
        <p:nvSpPr>
          <p:cNvPr id="48" name="Rectangle 47"/>
          <p:cNvSpPr/>
          <p:nvPr/>
        </p:nvSpPr>
        <p:spPr>
          <a:xfrm>
            <a:off x="4573800" y="3462052"/>
            <a:ext cx="498636" cy="433147"/>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37800" y="3902400"/>
            <a:ext cx="728100" cy="144000"/>
          </a:xfrm>
          <a:prstGeom prst="rect">
            <a:avLst/>
          </a:prstGeom>
          <a:noFill/>
        </p:spPr>
        <p:txBody>
          <a:bodyPr wrap="square">
            <a:spAutoFit/>
          </a:bodyPr>
          <a:lstStyle/>
          <a:p>
            <a:pPr algn="ctr"/>
            <a:r>
              <a:rPr sz="600" b="0" i="0">
                <a:solidFill>
                  <a:srgbClr val="555555"/>
                </a:solidFill>
                <a:latin typeface="Calibri"/>
              </a:rPr>
              <a:t>Oct</a:t>
            </a:r>
          </a:p>
        </p:txBody>
      </p:sp>
      <p:sp>
        <p:nvSpPr>
          <p:cNvPr id="50" name="Rectangle 49"/>
          <p:cNvSpPr/>
          <p:nvPr/>
        </p:nvSpPr>
        <p:spPr>
          <a:xfrm>
            <a:off x="5229900" y="3065707"/>
            <a:ext cx="498636" cy="8294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93900" y="3902400"/>
            <a:ext cx="728100" cy="144000"/>
          </a:xfrm>
          <a:prstGeom prst="rect">
            <a:avLst/>
          </a:prstGeom>
          <a:noFill/>
        </p:spPr>
        <p:txBody>
          <a:bodyPr wrap="square">
            <a:spAutoFit/>
          </a:bodyPr>
          <a:lstStyle/>
          <a:p>
            <a:pPr algn="ctr"/>
            <a:r>
              <a:rPr sz="600" b="0" i="0">
                <a:solidFill>
                  <a:srgbClr val="555555"/>
                </a:solidFill>
                <a:latin typeface="Calibri"/>
              </a:rPr>
              <a:t>Nov</a:t>
            </a:r>
          </a:p>
        </p:txBody>
      </p:sp>
      <p:sp>
        <p:nvSpPr>
          <p:cNvPr id="52" name="Rectangle 51"/>
          <p:cNvSpPr/>
          <p:nvPr/>
        </p:nvSpPr>
        <p:spPr>
          <a:xfrm>
            <a:off x="5886000" y="3341159"/>
            <a:ext cx="498636" cy="55404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50000" y="3902400"/>
            <a:ext cx="728100" cy="144000"/>
          </a:xfrm>
          <a:prstGeom prst="rect">
            <a:avLst/>
          </a:prstGeom>
          <a:noFill/>
        </p:spPr>
        <p:txBody>
          <a:bodyPr wrap="square">
            <a:spAutoFit/>
          </a:bodyPr>
          <a:lstStyle/>
          <a:p>
            <a:pPr algn="ctr"/>
            <a:r>
              <a:rPr sz="600" b="0" i="0">
                <a:solidFill>
                  <a:srgbClr val="555555"/>
                </a:solidFill>
                <a:latin typeface="Calibri"/>
              </a:rPr>
              <a:t>Déc</a:t>
            </a:r>
          </a:p>
        </p:txBody>
      </p:sp>
      <p:sp>
        <p:nvSpPr>
          <p:cNvPr id="54" name="Rectangle 53"/>
          <p:cNvSpPr/>
          <p:nvPr/>
        </p:nvSpPr>
        <p:spPr>
          <a:xfrm>
            <a:off x="6542100" y="2716802"/>
            <a:ext cx="498636" cy="1178397"/>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06099" y="3902400"/>
            <a:ext cx="728100" cy="144000"/>
          </a:xfrm>
          <a:prstGeom prst="rect">
            <a:avLst/>
          </a:prstGeom>
          <a:noFill/>
        </p:spPr>
        <p:txBody>
          <a:bodyPr wrap="square">
            <a:spAutoFit/>
          </a:bodyPr>
          <a:lstStyle/>
          <a:p>
            <a:pPr algn="ctr"/>
            <a:r>
              <a:rPr sz="600" b="0" i="0">
                <a:solidFill>
                  <a:srgbClr val="555555"/>
                </a:solidFill>
                <a:latin typeface="Calibri"/>
              </a:rPr>
              <a:t>Jan</a:t>
            </a:r>
          </a:p>
        </p:txBody>
      </p:sp>
      <p:sp>
        <p:nvSpPr>
          <p:cNvPr id="56" name="Rectangle 55"/>
          <p:cNvSpPr/>
          <p:nvPr/>
        </p:nvSpPr>
        <p:spPr>
          <a:xfrm>
            <a:off x="7198200" y="2398502"/>
            <a:ext cx="498636" cy="1496697"/>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162200" y="3902400"/>
            <a:ext cx="728100" cy="144000"/>
          </a:xfrm>
          <a:prstGeom prst="rect">
            <a:avLst/>
          </a:prstGeom>
          <a:noFill/>
        </p:spPr>
        <p:txBody>
          <a:bodyPr wrap="square">
            <a:spAutoFit/>
          </a:bodyPr>
          <a:lstStyle/>
          <a:p>
            <a:pPr algn="ctr"/>
            <a:r>
              <a:rPr sz="600" b="0" i="0">
                <a:solidFill>
                  <a:srgbClr val="555555"/>
                </a:solidFill>
                <a:latin typeface="Calibri"/>
              </a:rPr>
              <a:t>Fév</a:t>
            </a:r>
          </a:p>
        </p:txBody>
      </p:sp>
      <p:sp>
        <p:nvSpPr>
          <p:cNvPr id="58" name="Rectangle 57"/>
          <p:cNvSpPr/>
          <p:nvPr/>
        </p:nvSpPr>
        <p:spPr>
          <a:xfrm>
            <a:off x="7854300" y="3823200"/>
            <a:ext cx="498636" cy="72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818299" y="3902400"/>
            <a:ext cx="728100" cy="144000"/>
          </a:xfrm>
          <a:prstGeom prst="rect">
            <a:avLst/>
          </a:prstGeom>
          <a:noFill/>
        </p:spPr>
        <p:txBody>
          <a:bodyPr wrap="square">
            <a:spAutoFit/>
          </a:bodyPr>
          <a:lstStyle/>
          <a:p>
            <a:pPr algn="ctr"/>
            <a:r>
              <a:rPr sz="600" b="0" i="0">
                <a:solidFill>
                  <a:srgbClr val="555555"/>
                </a:solidFill>
                <a:latin typeface="Calibri"/>
              </a:rPr>
              <a:t>Mar</a:t>
            </a:r>
          </a:p>
        </p:txBody>
      </p:sp>
      <p:sp>
        <p:nvSpPr>
          <p:cNvPr id="60" name="Rectangle 59"/>
          <p:cNvSpPr/>
          <p:nvPr/>
        </p:nvSpPr>
        <p:spPr>
          <a:xfrm>
            <a:off x="601200" y="382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1200" y="3751200"/>
            <a:ext cx="288000" cy="144000"/>
          </a:xfrm>
          <a:prstGeom prst="rect">
            <a:avLst/>
          </a:prstGeom>
          <a:noFill/>
        </p:spPr>
        <p:txBody>
          <a:bodyPr wrap="none">
            <a:spAutoFit/>
          </a:bodyPr>
          <a:lstStyle/>
          <a:p>
            <a:pPr algn="l"/>
            <a:r>
              <a:rPr sz="600" b="0" i="0">
                <a:solidFill>
                  <a:srgbClr val="555555"/>
                </a:solidFill>
                <a:latin typeface="Calibri"/>
              </a:rPr>
              <a:t>350</a:t>
            </a:r>
          </a:p>
        </p:txBody>
      </p:sp>
      <p:sp>
        <p:nvSpPr>
          <p:cNvPr id="62" name="Rectangle 61"/>
          <p:cNvSpPr/>
          <p:nvPr/>
        </p:nvSpPr>
        <p:spPr>
          <a:xfrm>
            <a:off x="601200" y="33480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1200" y="3276000"/>
            <a:ext cx="288000" cy="144000"/>
          </a:xfrm>
          <a:prstGeom prst="rect">
            <a:avLst/>
          </a:prstGeom>
          <a:noFill/>
        </p:spPr>
        <p:txBody>
          <a:bodyPr wrap="none">
            <a:spAutoFit/>
          </a:bodyPr>
          <a:lstStyle/>
          <a:p>
            <a:pPr algn="l"/>
            <a:r>
              <a:rPr sz="600" b="0" i="0">
                <a:solidFill>
                  <a:srgbClr val="555555"/>
                </a:solidFill>
                <a:latin typeface="Calibri"/>
              </a:rPr>
              <a:t>366</a:t>
            </a:r>
          </a:p>
        </p:txBody>
      </p:sp>
      <p:sp>
        <p:nvSpPr>
          <p:cNvPr id="64" name="Rectangle 63"/>
          <p:cNvSpPr/>
          <p:nvPr/>
        </p:nvSpPr>
        <p:spPr>
          <a:xfrm>
            <a:off x="601200" y="28584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31200" y="2786399"/>
            <a:ext cx="288000" cy="144000"/>
          </a:xfrm>
          <a:prstGeom prst="rect">
            <a:avLst/>
          </a:prstGeom>
          <a:noFill/>
        </p:spPr>
        <p:txBody>
          <a:bodyPr wrap="none">
            <a:spAutoFit/>
          </a:bodyPr>
          <a:lstStyle/>
          <a:p>
            <a:pPr algn="l"/>
            <a:r>
              <a:rPr sz="600" b="0" i="0">
                <a:solidFill>
                  <a:srgbClr val="555555"/>
                </a:solidFill>
                <a:latin typeface="Calibri"/>
              </a:rPr>
              <a:t>382</a:t>
            </a:r>
          </a:p>
        </p:txBody>
      </p:sp>
      <p:sp>
        <p:nvSpPr>
          <p:cNvPr id="66" name="Rectangle 65"/>
          <p:cNvSpPr/>
          <p:nvPr/>
        </p:nvSpPr>
        <p:spPr>
          <a:xfrm>
            <a:off x="601200" y="238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31200" y="2311200"/>
            <a:ext cx="288000" cy="144000"/>
          </a:xfrm>
          <a:prstGeom prst="rect">
            <a:avLst/>
          </a:prstGeom>
          <a:noFill/>
        </p:spPr>
        <p:txBody>
          <a:bodyPr wrap="none">
            <a:spAutoFit/>
          </a:bodyPr>
          <a:lstStyle/>
          <a:p>
            <a:pPr algn="l"/>
            <a:r>
              <a:rPr sz="600" b="0" i="0">
                <a:solidFill>
                  <a:srgbClr val="555555"/>
                </a:solidFill>
                <a:latin typeface="Calibri"/>
              </a:rPr>
              <a:t>397</a:t>
            </a:r>
          </a:p>
        </p:txBody>
      </p:sp>
      <p:sp>
        <p:nvSpPr>
          <p:cNvPr id="68" name="TextBox 67"/>
          <p:cNvSpPr txBox="1"/>
          <p:nvPr/>
        </p:nvSpPr>
        <p:spPr>
          <a:xfrm>
            <a:off x="367200" y="4132800"/>
            <a:ext cx="8413200" cy="687600"/>
          </a:xfrm>
          <a:prstGeom prst="rect">
            <a:avLst/>
          </a:prstGeom>
          <a:noFill/>
        </p:spPr>
        <p:txBody>
          <a:bodyPr wrap="square">
            <a:spAutoFit/>
          </a:bodyPr>
          <a:lstStyle/>
          <a:p>
            <a:pPr algn="l"/>
            <a:r>
              <a:rPr sz="850" b="0" i="0">
                <a:solidFill>
                  <a:srgbClr val="555555"/>
                </a:solidFill>
                <a:latin typeface="Calibri"/>
              </a:rPr>
              <a:t>L'Oréal affiche une résilience opérationnelle remarquable avec des marges stables malgré un environnement inflationniste. La croissance organique de 1.3% en 2025 masque une dynamique segmentaire différenciée, notamment dans les soins premium et les marchés émergents. La valorisation actuelle ne refl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