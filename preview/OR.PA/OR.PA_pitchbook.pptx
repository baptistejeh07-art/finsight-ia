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L'Oréal S.A.</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OR.PA  ·  Euronext Paris  ·  Consumer Defensive</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385 EUR  ·  Upside : +9,7 %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27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385 EUR  ·  Upside : +9,7 %  ·  Bear : 340 EUR (-3,1 %)  ·  Bull : 420 EUR (+19,7 %)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mondial</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L'Oréal devrait bénéficier d'une croissance organique de 3.5% en 2026 grâce à l'Asie (+12% en Chine) et aux innovations anti-âge</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Les marges EBITDA devraient se stabiliser à 24.5% en 2027 grâce à l'automatisation des usines et la réduction des coûts logistiques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Innovation R&amp;D</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groupe vise 20% de part de marché en Inde d'ici 2027, soit +3 points vs 2025.</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Asie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-5% de croissance organique | Baisse des ventes premium de -8% | Horizon 2026-2027</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Estée Lauder</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d'Estée Lauder en Amérique du Nord | Perte de parts de marché de 2 points | Horizon 2026</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Réglementation cosmétique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Réglementation européenne sur les ingrédients +10% de coûts R&amp;D | Compression des marges de 150 bps | Horizon 2027</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17,6x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15,2x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8,5 %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0,88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385 EUR</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+9,7 %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+0,140</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20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L'Oréal S.A.  ·  Consumer Defensive</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Asie  ·  Concurrence Estée Lauder</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L'Oréal S.A.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L'Oréal S.A. est le leader mondial des produits cosmétiques avec une présence dans 150 pays. Positionné sur les segments premium, mass-market et dermo-cosmétique, le groupe mise sur l'innovation R&amp;D et le digital pour capter la demande asiatique et anti-âge. Ses avantages concurrentiels incluent une marque forte (Lancôme, Garnier), une chaîne de distribution intégrée et une efficacité logistique mondiale.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 Grand Public</a:t>
            </a:r>
          </a:p>
        </p:txBody>
      </p:sp>
      <p:sp>
        <p:nvSpPr>
          <p:cNvPr id="22" name="TextBox 21"/>
          <p:cNvSpPr txBox="1"/>
          <p:nvPr/>
        </p:nvSpPr>
        <p:spPr>
          <a:xfrm>
            <a:off x="619200" y="2714400"/>
            <a:ext cx="4338000" cy="396000"/>
          </a:xfrm>
          <a:prstGeom prst="rect">
            <a:avLst/>
          </a:prstGeom>
          <a:noFill/>
        </p:spPr>
        <p:txBody>
          <a:bodyPr wrap="square">
            <a:spAutoFit/>
          </a:bodyPr>
          <a:lstStyle/>
          <a:p>
            <a:pPr algn="l"/>
            <a:r>
              <a:rPr sz="750" b="0" i="1">
                <a:solidFill>
                  <a:srgbClr val="555555"/>
                </a:solidFill>
                <a:latin typeface="Calibri"/>
              </a:rPr>
              <a:t>Segment mass-market (Garnier, Maybelline) avec modèle de revenus récurrents via distribution en grandes surfaces et e-commerce. Croissance tirée par l'Asie (+8% en 2025) et l'innovation produits (soins capillaires). Clients cibles : 18-45 ans en zones urbaines. Marges stables grâce à l'effet de scale sur les volumes.</a:t>
            </a:r>
          </a:p>
        </p:txBody>
      </p:sp>
      <p:sp>
        <p:nvSpPr>
          <p:cNvPr id="23" name="Rectangle 22"/>
          <p:cNvSpPr/>
          <p:nvPr/>
        </p:nvSpPr>
        <p:spPr>
          <a:xfrm>
            <a:off x="503999" y="3193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150000"/>
            <a:ext cx="4338000" cy="165600"/>
          </a:xfrm>
          <a:prstGeom prst="rect">
            <a:avLst/>
          </a:prstGeom>
          <a:noFill/>
        </p:spPr>
        <p:txBody>
          <a:bodyPr wrap="square">
            <a:spAutoFit/>
          </a:bodyPr>
          <a:lstStyle/>
          <a:p>
            <a:pPr algn="l"/>
            <a:r>
              <a:rPr sz="850" b="1" i="0">
                <a:solidFill>
                  <a:srgbClr val="0D0D0D"/>
                </a:solidFill>
                <a:latin typeface="Calibri"/>
              </a:rPr>
              <a:t>Produits Professionnels</a:t>
            </a:r>
          </a:p>
        </p:txBody>
      </p:sp>
      <p:sp>
        <p:nvSpPr>
          <p:cNvPr id="25" name="TextBox 24"/>
          <p:cNvSpPr txBox="1"/>
          <p:nvPr/>
        </p:nvSpPr>
        <p:spPr>
          <a:xfrm>
            <a:off x="619200" y="3308400"/>
            <a:ext cx="4338000" cy="396000"/>
          </a:xfrm>
          <a:prstGeom prst="rect">
            <a:avLst/>
          </a:prstGeom>
          <a:noFill/>
        </p:spPr>
        <p:txBody>
          <a:bodyPr wrap="square">
            <a:spAutoFit/>
          </a:bodyPr>
          <a:lstStyle/>
          <a:p>
            <a:pPr algn="l"/>
            <a:r>
              <a:rPr sz="750" b="0" i="1">
                <a:solidFill>
                  <a:srgbClr val="555555"/>
                </a:solidFill>
                <a:latin typeface="Calibri"/>
              </a:rPr>
              <a:t>Segment B2B (L'Oréal Professionnel) avec revenus liés aux salons de coiffure et formations. Modèle basé sur la fidélisation des coiffeurs via produits haut de gamme et services digitaux. Croissance portée par l'Amérique du Nord (+5% en 2025) et l'innovation (coloration durable).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187,3 Md€</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44,1 Md€</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350,85 EUR</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17,6x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30,6x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38%</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 Grand Public</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mass-market (Garnier, Maybelline) avec modèle de revenus récurrents via distribution en grandes surfaces et e-commerce. Croissance tirée par l'Asie (+8% en 2025) et l'innovation produits (soins capillaires). Clients cibles : 18-45 ans en zones urbaines. Marges stables grâce à l'effet de scale sur les volumes.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12%</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Produits Professionnels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B2B (L'Oréal Professionnel) avec revenus liés aux salons de coiffure et formations. Modèle basé sur la fidélisation des coiffeurs via produits haut de gamme et services digitaux. Croissance portée par l'Amérique du Nord (+5% en 2025) et l'innovation (coloration durable).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EUR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41,2</a:t>
                      </a:r>
                    </a:p>
                  </a:txBody>
                  <a:tcPr>
                    <a:solidFill>
                      <a:srgbClr val="FFFFFF"/>
                    </a:solidFill>
                  </a:tcPr>
                </a:tc>
                <a:tc>
                  <a:txBody>
                    <a:bodyPr/>
                    <a:lstStyle/>
                    <a:p>
                      <a:pPr algn="ctr"/>
                      <a:r>
                        <a:rPr sz="800" b="1" i="0">
                          <a:solidFill>
                            <a:srgbClr val="0D0D0D"/>
                          </a:solidFill>
                          <a:latin typeface="Calibri"/>
                        </a:rPr>
                        <a:t>43,5</a:t>
                      </a:r>
                    </a:p>
                  </a:txBody>
                  <a:tcPr>
                    <a:solidFill>
                      <a:srgbClr val="FFFFFF"/>
                    </a:solidFill>
                  </a:tcPr>
                </a:tc>
                <a:tc>
                  <a:txBody>
                    <a:bodyPr/>
                    <a:lstStyle/>
                    <a:p>
                      <a:pPr algn="ctr"/>
                      <a:r>
                        <a:rPr sz="800" b="1" i="0">
                          <a:solidFill>
                            <a:srgbClr val="1B3A6B"/>
                          </a:solidFill>
                          <a:latin typeface="Calibri"/>
                        </a:rPr>
                        <a:t>44,1</a:t>
                      </a:r>
                    </a:p>
                  </a:txBody>
                  <a:tcPr>
                    <a:solidFill>
                      <a:srgbClr val="DDE8F5"/>
                    </a:solidFill>
                  </a:tcPr>
                </a:tc>
                <a:tc>
                  <a:txBody>
                    <a:bodyPr/>
                    <a:lstStyle/>
                    <a:p>
                      <a:pPr algn="ctr"/>
                      <a:r>
                        <a:rPr sz="800" b="1" i="0">
                          <a:solidFill>
                            <a:srgbClr val="0D0D0D"/>
                          </a:solidFill>
                          <a:latin typeface="Calibri"/>
                        </a:rPr>
                        <a:t>45,9</a:t>
                      </a:r>
                    </a:p>
                  </a:txBody>
                  <a:tcPr>
                    <a:solidFill>
                      <a:srgbClr val="FFFFFF"/>
                    </a:solidFill>
                  </a:tcPr>
                </a:tc>
                <a:tc>
                  <a:txBody>
                    <a:bodyPr/>
                    <a:lstStyle/>
                    <a:p>
                      <a:pPr algn="ctr"/>
                      <a:r>
                        <a:rPr sz="800" b="1" i="0">
                          <a:solidFill>
                            <a:srgbClr val="0D0D0D"/>
                          </a:solidFill>
                          <a:latin typeface="Calibri"/>
                        </a:rPr>
                        <a:t>47,8</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+7,6 %</a:t>
                      </a:r>
                    </a:p>
                  </a:txBody>
                  <a:tcPr>
                    <a:solidFill>
                      <a:srgbClr val="F7F8FA"/>
                    </a:solidFill>
                  </a:tcPr>
                </a:tc>
                <a:tc>
                  <a:txBody>
                    <a:bodyPr/>
                    <a:lstStyle/>
                    <a:p>
                      <a:pPr algn="ctr"/>
                      <a:r>
                        <a:rPr sz="750" b="0" i="1">
                          <a:solidFill>
                            <a:srgbClr val="555555"/>
                          </a:solidFill>
                          <a:latin typeface="Calibri"/>
                        </a:rPr>
                        <a:t>+5,6 %</a:t>
                      </a:r>
                    </a:p>
                  </a:txBody>
                  <a:tcPr>
                    <a:solidFill>
                      <a:srgbClr val="F7F8FA"/>
                    </a:solidFill>
                  </a:tcPr>
                </a:tc>
                <a:tc>
                  <a:txBody>
                    <a:bodyPr/>
                    <a:lstStyle/>
                    <a:p>
                      <a:pPr algn="ctr"/>
                      <a:r>
                        <a:rPr sz="750" b="0" i="1">
                          <a:solidFill>
                            <a:srgbClr val="555555"/>
                          </a:solidFill>
                          <a:latin typeface="Calibri"/>
                        </a:rPr>
                        <a:t>+1,3 %</a:t>
                      </a:r>
                    </a:p>
                  </a:txBody>
                  <a:tcPr>
                    <a:solidFill>
                      <a:srgbClr val="DDE8F5"/>
                    </a:solidFill>
                  </a:tcPr>
                </a:tc>
                <a:tc>
                  <a:txBody>
                    <a:bodyPr/>
                    <a:lstStyle/>
                    <a:p>
                      <a:pPr algn="ctr"/>
                      <a:r>
                        <a:rPr sz="750" b="0" i="1">
                          <a:solidFill>
                            <a:srgbClr val="555555"/>
                          </a:solidFill>
                          <a:latin typeface="Calibri"/>
                        </a:rPr>
                        <a:t>+4,1 %</a:t>
                      </a:r>
                    </a:p>
                  </a:txBody>
                  <a:tcPr>
                    <a:solidFill>
                      <a:srgbClr val="F7F8FA"/>
                    </a:solidFill>
                  </a:tcPr>
                </a:tc>
                <a:tc>
                  <a:txBody>
                    <a:bodyPr/>
                    <a:lstStyle/>
                    <a:p>
                      <a:pPr algn="ctr"/>
                      <a:r>
                        <a:rPr sz="750" b="0" i="1">
                          <a:solidFill>
                            <a:srgbClr val="555555"/>
                          </a:solidFill>
                          <a:latin typeface="Calibri"/>
                        </a:rPr>
                        <a:t>+4,2 %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30,4</a:t>
                      </a:r>
                    </a:p>
                  </a:txBody>
                  <a:tcPr>
                    <a:solidFill>
                      <a:srgbClr val="FFFFFF"/>
                    </a:solidFill>
                  </a:tcPr>
                </a:tc>
                <a:tc>
                  <a:txBody>
                    <a:bodyPr/>
                    <a:lstStyle/>
                    <a:p>
                      <a:pPr algn="ctr"/>
                      <a:r>
                        <a:rPr sz="800" b="1" i="0">
                          <a:solidFill>
                            <a:srgbClr val="0D0D0D"/>
                          </a:solidFill>
                          <a:latin typeface="Calibri"/>
                        </a:rPr>
                        <a:t>32,3</a:t>
                      </a:r>
                    </a:p>
                  </a:txBody>
                  <a:tcPr>
                    <a:solidFill>
                      <a:srgbClr val="FFFFFF"/>
                    </a:solidFill>
                  </a:tcPr>
                </a:tc>
                <a:tc>
                  <a:txBody>
                    <a:bodyPr/>
                    <a:lstStyle/>
                    <a:p>
                      <a:pPr algn="ctr"/>
                      <a:r>
                        <a:rPr sz="800" b="1" i="0">
                          <a:solidFill>
                            <a:srgbClr val="1B3A6B"/>
                          </a:solidFill>
                          <a:latin typeface="Calibri"/>
                        </a:rPr>
                        <a:t>32,7</a:t>
                      </a:r>
                    </a:p>
                  </a:txBody>
                  <a:tcPr>
                    <a:solidFill>
                      <a:srgbClr val="DDE8F5"/>
                    </a:solidFill>
                  </a:tcPr>
                </a:tc>
                <a:tc>
                  <a:txBody>
                    <a:bodyPr/>
                    <a:lstStyle/>
                    <a:p>
                      <a:pPr algn="ctr"/>
                      <a:r>
                        <a:rPr sz="800" b="1" i="0">
                          <a:solidFill>
                            <a:srgbClr val="0D0D0D"/>
                          </a:solidFill>
                          <a:latin typeface="Calibri"/>
                        </a:rPr>
                        <a:t>34,2</a:t>
                      </a:r>
                    </a:p>
                  </a:txBody>
                  <a:tcPr>
                    <a:solidFill>
                      <a:srgbClr val="FFFFFF"/>
                    </a:solidFill>
                  </a:tcPr>
                </a:tc>
                <a:tc>
                  <a:txBody>
                    <a:bodyPr/>
                    <a:lstStyle/>
                    <a:p>
                      <a:pPr algn="ctr"/>
                      <a:r>
                        <a:rPr sz="800" b="1" i="0">
                          <a:solidFill>
                            <a:srgbClr val="0D0D0D"/>
                          </a:solidFill>
                          <a:latin typeface="Calibri"/>
                        </a:rPr>
                        <a:t>35,7</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73,9 %</a:t>
                      </a:r>
                    </a:p>
                  </a:txBody>
                  <a:tcPr>
                    <a:solidFill>
                      <a:srgbClr val="F7F8FA"/>
                    </a:solidFill>
                  </a:tcPr>
                </a:tc>
                <a:tc>
                  <a:txBody>
                    <a:bodyPr/>
                    <a:lstStyle/>
                    <a:p>
                      <a:pPr algn="ctr"/>
                      <a:r>
                        <a:rPr sz="750" b="0" i="1">
                          <a:solidFill>
                            <a:srgbClr val="555555"/>
                          </a:solidFill>
                          <a:latin typeface="Calibri"/>
                        </a:rPr>
                        <a:t>74,2 %</a:t>
                      </a:r>
                    </a:p>
                  </a:txBody>
                  <a:tcPr>
                    <a:solidFill>
                      <a:srgbClr val="F7F8FA"/>
                    </a:solidFill>
                  </a:tcPr>
                </a:tc>
                <a:tc>
                  <a:txBody>
                    <a:bodyPr/>
                    <a:lstStyle/>
                    <a:p>
                      <a:pPr algn="ctr"/>
                      <a:r>
                        <a:rPr sz="750" b="0" i="1">
                          <a:solidFill>
                            <a:srgbClr val="555555"/>
                          </a:solidFill>
                          <a:latin typeface="Calibri"/>
                        </a:rPr>
                        <a:t>74,3 %</a:t>
                      </a:r>
                    </a:p>
                  </a:txBody>
                  <a:tcPr>
                    <a:solidFill>
                      <a:srgbClr val="DDE8F5"/>
                    </a:solidFill>
                  </a:tcPr>
                </a:tc>
                <a:tc>
                  <a:txBody>
                    <a:bodyPr/>
                    <a:lstStyle/>
                    <a:p>
                      <a:pPr algn="ctr"/>
                      <a:r>
                        <a:rPr sz="750" b="0" i="1">
                          <a:solidFill>
                            <a:srgbClr val="555555"/>
                          </a:solidFill>
                          <a:latin typeface="Calibri"/>
                        </a:rPr>
                        <a:t>74,5 %</a:t>
                      </a:r>
                    </a:p>
                  </a:txBody>
                  <a:tcPr>
                    <a:solidFill>
                      <a:srgbClr val="F7F8FA"/>
                    </a:solidFill>
                  </a:tcPr>
                </a:tc>
                <a:tc>
                  <a:txBody>
                    <a:bodyPr/>
                    <a:lstStyle/>
                    <a:p>
                      <a:pPr algn="ctr"/>
                      <a:r>
                        <a:rPr sz="750" b="0" i="1">
                          <a:solidFill>
                            <a:srgbClr val="555555"/>
                          </a:solidFill>
                          <a:latin typeface="Calibri"/>
                        </a:rPr>
                        <a:t>74,7 %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9,9</a:t>
                      </a:r>
                    </a:p>
                  </a:txBody>
                  <a:tcPr>
                    <a:solidFill>
                      <a:srgbClr val="FFFFFF"/>
                    </a:solidFill>
                  </a:tcPr>
                </a:tc>
                <a:tc>
                  <a:txBody>
                    <a:bodyPr/>
                    <a:lstStyle/>
                    <a:p>
                      <a:pPr algn="ctr"/>
                      <a:r>
                        <a:rPr sz="800" b="1" i="0">
                          <a:solidFill>
                            <a:srgbClr val="0D0D0D"/>
                          </a:solidFill>
                          <a:latin typeface="Calibri"/>
                        </a:rPr>
                        <a:t>10,7</a:t>
                      </a:r>
                    </a:p>
                  </a:txBody>
                  <a:tcPr>
                    <a:solidFill>
                      <a:srgbClr val="FFFFFF"/>
                    </a:solidFill>
                  </a:tcPr>
                </a:tc>
                <a:tc>
                  <a:txBody>
                    <a:bodyPr/>
                    <a:lstStyle/>
                    <a:p>
                      <a:pPr algn="ctr"/>
                      <a:r>
                        <a:rPr sz="800" b="1" i="0">
                          <a:solidFill>
                            <a:srgbClr val="1B3A6B"/>
                          </a:solidFill>
                          <a:latin typeface="Calibri"/>
                        </a:rPr>
                        <a:t>10,7</a:t>
                      </a:r>
                    </a:p>
                  </a:txBody>
                  <a:tcPr>
                    <a:solidFill>
                      <a:srgbClr val="DDE8F5"/>
                    </a:solidFill>
                  </a:tcPr>
                </a:tc>
                <a:tc>
                  <a:txBody>
                    <a:bodyPr/>
                    <a:lstStyle/>
                    <a:p>
                      <a:pPr algn="ctr"/>
                      <a:r>
                        <a:rPr sz="800" b="1" i="0">
                          <a:solidFill>
                            <a:srgbClr val="0D0D0D"/>
                          </a:solidFill>
                          <a:latin typeface="Calibri"/>
                        </a:rPr>
                        <a:t>11,2</a:t>
                      </a:r>
                    </a:p>
                  </a:txBody>
                  <a:tcPr>
                    <a:solidFill>
                      <a:srgbClr val="FFFFFF"/>
                    </a:solidFill>
                  </a:tcPr>
                </a:tc>
                <a:tc>
                  <a:txBody>
                    <a:bodyPr/>
                    <a:lstStyle/>
                    <a:p>
                      <a:pPr algn="ctr"/>
                      <a:r>
                        <a:rPr sz="800" b="1" i="0">
                          <a:solidFill>
                            <a:srgbClr val="0D0D0D"/>
                          </a:solidFill>
                          <a:latin typeface="Calibri"/>
                        </a:rPr>
                        <a:t>11,7</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24,1 %</a:t>
                      </a:r>
                    </a:p>
                  </a:txBody>
                  <a:tcPr>
                    <a:solidFill>
                      <a:srgbClr val="F7F8FA"/>
                    </a:solidFill>
                  </a:tcPr>
                </a:tc>
                <a:tc>
                  <a:txBody>
                    <a:bodyPr/>
                    <a:lstStyle/>
                    <a:p>
                      <a:pPr algn="ctr"/>
                      <a:r>
                        <a:rPr sz="750" b="0" i="1">
                          <a:solidFill>
                            <a:srgbClr val="555555"/>
                          </a:solidFill>
                          <a:latin typeface="Calibri"/>
                        </a:rPr>
                        <a:t>24,5 %</a:t>
                      </a:r>
                    </a:p>
                  </a:txBody>
                  <a:tcPr>
                    <a:solidFill>
                      <a:srgbClr val="F7F8FA"/>
                    </a:solidFill>
                  </a:tcPr>
                </a:tc>
                <a:tc>
                  <a:txBody>
                    <a:bodyPr/>
                    <a:lstStyle/>
                    <a:p>
                      <a:pPr algn="ctr"/>
                      <a:r>
                        <a:rPr sz="750" b="0" i="1">
                          <a:solidFill>
                            <a:srgbClr val="555555"/>
                          </a:solidFill>
                          <a:latin typeface="Calibri"/>
                        </a:rPr>
                        <a:t>24,3 %</a:t>
                      </a:r>
                    </a:p>
                  </a:txBody>
                  <a:tcPr>
                    <a:solidFill>
                      <a:srgbClr val="DDE8F5"/>
                    </a:solidFill>
                  </a:tcPr>
                </a:tc>
                <a:tc>
                  <a:txBody>
                    <a:bodyPr/>
                    <a:lstStyle/>
                    <a:p>
                      <a:pPr algn="ctr"/>
                      <a:r>
                        <a:rPr sz="750" b="0" i="1">
                          <a:solidFill>
                            <a:srgbClr val="555555"/>
                          </a:solidFill>
                          <a:latin typeface="Calibri"/>
                        </a:rPr>
                        <a:t>24,5 %</a:t>
                      </a:r>
                    </a:p>
                  </a:txBody>
                  <a:tcPr>
                    <a:solidFill>
                      <a:srgbClr val="F7F8FA"/>
                    </a:solidFill>
                  </a:tcPr>
                </a:tc>
                <a:tc>
                  <a:txBody>
                    <a:bodyPr/>
                    <a:lstStyle/>
                    <a:p>
                      <a:pPr algn="ctr"/>
                      <a:r>
                        <a:rPr sz="750" b="0" i="1">
                          <a:solidFill>
                            <a:srgbClr val="555555"/>
                          </a:solidFill>
                          <a:latin typeface="Calibri"/>
                        </a:rPr>
                        <a:t>24,5 %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6,2</a:t>
                      </a:r>
                    </a:p>
                  </a:txBody>
                  <a:tcPr>
                    <a:solidFill>
                      <a:srgbClr val="FFFFFF"/>
                    </a:solidFill>
                  </a:tcPr>
                </a:tc>
                <a:tc>
                  <a:txBody>
                    <a:bodyPr/>
                    <a:lstStyle/>
                    <a:p>
                      <a:pPr algn="ctr"/>
                      <a:r>
                        <a:rPr sz="800" b="1" i="0">
                          <a:solidFill>
                            <a:srgbClr val="0D0D0D"/>
                          </a:solidFill>
                          <a:latin typeface="Calibri"/>
                        </a:rPr>
                        <a:t>6,4</a:t>
                      </a:r>
                    </a:p>
                  </a:txBody>
                  <a:tcPr>
                    <a:solidFill>
                      <a:srgbClr val="FFFFFF"/>
                    </a:solidFill>
                  </a:tcPr>
                </a:tc>
                <a:tc>
                  <a:txBody>
                    <a:bodyPr/>
                    <a:lstStyle/>
                    <a:p>
                      <a:pPr algn="ctr"/>
                      <a:r>
                        <a:rPr sz="800" b="1" i="0">
                          <a:solidFill>
                            <a:srgbClr val="1B3A6B"/>
                          </a:solidFill>
                          <a:latin typeface="Calibri"/>
                        </a:rPr>
                        <a:t>6,1</a:t>
                      </a:r>
                    </a:p>
                  </a:txBody>
                  <a:tcPr>
                    <a:solidFill>
                      <a:srgbClr val="DDE8F5"/>
                    </a:solidFill>
                  </a:tcPr>
                </a:tc>
                <a:tc>
                  <a:txBody>
                    <a:bodyPr/>
                    <a:lstStyle/>
                    <a:p>
                      <a:pPr algn="ctr"/>
                      <a:r>
                        <a:rPr sz="800" b="1" i="0">
                          <a:solidFill>
                            <a:srgbClr val="0D0D0D"/>
                          </a:solidFill>
                          <a:latin typeface="Calibri"/>
                        </a:rPr>
                        <a:t>6,4</a:t>
                      </a:r>
                    </a:p>
                  </a:txBody>
                  <a:tcPr>
                    <a:solidFill>
                      <a:srgbClr val="FFFFFF"/>
                    </a:solidFill>
                  </a:tcPr>
                </a:tc>
                <a:tc>
                  <a:txBody>
                    <a:bodyPr/>
                    <a:lstStyle/>
                    <a:p>
                      <a:pPr algn="ctr"/>
                      <a:r>
                        <a:rPr sz="800" b="1" i="0">
                          <a:solidFill>
                            <a:srgbClr val="0D0D0D"/>
                          </a:solidFill>
                          <a:latin typeface="Calibri"/>
                        </a:rPr>
                        <a:t>6,7</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15,0 %</a:t>
                      </a:r>
                    </a:p>
                  </a:txBody>
                  <a:tcPr>
                    <a:solidFill>
                      <a:srgbClr val="F7F8FA"/>
                    </a:solidFill>
                  </a:tcPr>
                </a:tc>
                <a:tc>
                  <a:txBody>
                    <a:bodyPr/>
                    <a:lstStyle/>
                    <a:p>
                      <a:pPr algn="ctr"/>
                      <a:r>
                        <a:rPr sz="750" b="0" i="1">
                          <a:solidFill>
                            <a:srgbClr val="555555"/>
                          </a:solidFill>
                          <a:latin typeface="Calibri"/>
                        </a:rPr>
                        <a:t>14,7 %</a:t>
                      </a:r>
                    </a:p>
                  </a:txBody>
                  <a:tcPr>
                    <a:solidFill>
                      <a:srgbClr val="F7F8FA"/>
                    </a:solidFill>
                  </a:tcPr>
                </a:tc>
                <a:tc>
                  <a:txBody>
                    <a:bodyPr/>
                    <a:lstStyle/>
                    <a:p>
                      <a:pPr algn="ctr"/>
                      <a:r>
                        <a:rPr sz="750" b="0" i="1">
                          <a:solidFill>
                            <a:srgbClr val="555555"/>
                          </a:solidFill>
                          <a:latin typeface="Calibri"/>
                        </a:rPr>
                        <a:t>13,9 %</a:t>
                      </a:r>
                    </a:p>
                  </a:txBody>
                  <a:tcPr>
                    <a:solidFill>
                      <a:srgbClr val="DDE8F5"/>
                    </a:solidFill>
                  </a:tcPr>
                </a:tc>
                <a:tc>
                  <a:txBody>
                    <a:bodyPr/>
                    <a:lstStyle/>
                    <a:p>
                      <a:pPr algn="ctr"/>
                      <a:r>
                        <a:rPr sz="750" b="0" i="1">
                          <a:solidFill>
                            <a:srgbClr val="555555"/>
                          </a:solidFill>
                          <a:latin typeface="Calibri"/>
                        </a:rPr>
                        <a:t>13,9 %</a:t>
                      </a:r>
                    </a:p>
                  </a:txBody>
                  <a:tcPr>
                    <a:solidFill>
                      <a:srgbClr val="F7F8FA"/>
                    </a:solidFill>
                  </a:tcPr>
                </a:tc>
                <a:tc>
                  <a:txBody>
                    <a:bodyPr/>
                    <a:lstStyle/>
                    <a:p>
                      <a:pPr algn="ctr"/>
                      <a:r>
                        <a:rPr sz="750" b="0" i="1">
                          <a:solidFill>
                            <a:srgbClr val="555555"/>
                          </a:solidFill>
                          <a:latin typeface="Calibri"/>
                        </a:rPr>
                        <a:t>14,0 %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1.3% en 2025 masquant une performance organique de 3.8% (Asie +7.2%, Europe +1.1%). Les marges nettes à 13.9% reflètent un mix favorable vers le premium et une discipline sur les coûts fixes. La génération de cash reste robuste avec un FCF margin de 12.5% du CA.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EUR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9,9 Md€</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8,1 Md€</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254 M€</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1,59</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1,26</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24,2x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5,67</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-2,79</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1.3% en 2025 masquant une performance organique de 3.8% (Asie +7.2%, Europe +1.1%). Les marges nettes à 13.9% reflètent un mix favorable vers le premium et une discipline sur les coûts fixes. La génération de cash reste robuste avec un FCF margin de 12.5% du CA.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74,3 %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19,8 %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Leger</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progressent de 72.4% en 2022 à 74.3% en 2025 grâce à l'optimisation des coûts matières premières et à la hausse des prix (+2.5% en moyenne annuelle). Les marges EBITDA et nettes se stabilisent autour de 24.3% et 14.5% respectivement, reflétant un levier opérationnel maîtrisé et un mix produits favorable. Cette stabilité suggère une durabilité des marges à moyen terme.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385 EUR</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350,85 EUR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340 EUR</a:t>
                      </a:r>
                    </a:p>
                  </a:txBody>
                  <a:tcPr>
                    <a:solidFill>
                      <a:srgbClr val="FAF0EF"/>
                    </a:solidFill>
                  </a:tcPr>
                </a:tc>
                <a:tc>
                  <a:txBody>
                    <a:bodyPr/>
                    <a:lstStyle/>
                    <a:p>
                      <a:pPr algn="ctr"/>
                      <a:r>
                        <a:rPr sz="2000" b="1" i="0">
                          <a:solidFill>
                            <a:srgbClr val="2E5FA3"/>
                          </a:solidFill>
                          <a:latin typeface="Calibri"/>
                        </a:rPr>
                        <a:t>385 EUR</a:t>
                      </a:r>
                    </a:p>
                  </a:txBody>
                  <a:tcPr>
                    <a:solidFill>
                      <a:srgbClr val="EEF3FA"/>
                    </a:solidFill>
                  </a:tcPr>
                </a:tc>
                <a:tc>
                  <a:txBody>
                    <a:bodyPr/>
                    <a:lstStyle/>
                    <a:p>
                      <a:pPr algn="ctr"/>
                      <a:r>
                        <a:rPr sz="2000" b="1" i="0">
                          <a:solidFill>
                            <a:srgbClr val="1A7A4A"/>
                          </a:solidFill>
                          <a:latin typeface="Calibri"/>
                        </a:rPr>
                        <a:t>420 EUR</a:t>
                      </a:r>
                    </a:p>
                  </a:txBody>
                  <a:tcPr>
                    <a:solidFill>
                      <a:srgbClr val="EAF4EF"/>
                    </a:solidFill>
                  </a:tcPr>
                </a:tc>
              </a:tr>
              <a:tr h="342900">
                <a:tc>
                  <a:txBody>
                    <a:bodyPr/>
                    <a:lstStyle/>
                    <a:p>
                      <a:pPr algn="ctr"/>
                      <a:r>
                        <a:rPr sz="1200" b="1" i="0">
                          <a:solidFill>
                            <a:srgbClr val="A82020"/>
                          </a:solidFill>
                          <a:latin typeface="Calibri"/>
                        </a:rPr>
                        <a:t>-3,1 %</a:t>
                      </a:r>
                    </a:p>
                  </a:txBody>
                  <a:tcPr>
                    <a:solidFill>
                      <a:srgbClr val="FAF0EF"/>
                    </a:solidFill>
                  </a:tcPr>
                </a:tc>
                <a:tc>
                  <a:txBody>
                    <a:bodyPr/>
                    <a:lstStyle/>
                    <a:p>
                      <a:pPr algn="ctr"/>
                      <a:r>
                        <a:rPr sz="1200" b="1" i="0">
                          <a:solidFill>
                            <a:srgbClr val="2E5FA3"/>
                          </a:solidFill>
                          <a:latin typeface="Calibri"/>
                        </a:rPr>
                        <a:t>+9,7 %</a:t>
                      </a:r>
                    </a:p>
                  </a:txBody>
                  <a:tcPr>
                    <a:solidFill>
                      <a:srgbClr val="EEF3FA"/>
                    </a:solidFill>
                  </a:tcPr>
                </a:tc>
                <a:tc>
                  <a:txBody>
                    <a:bodyPr/>
                    <a:lstStyle/>
                    <a:p>
                      <a:pPr algn="ctr"/>
                      <a:r>
                        <a:rPr sz="1200" b="1" i="0">
                          <a:solidFill>
                            <a:srgbClr val="1A7A4A"/>
                          </a:solidFill>
                          <a:latin typeface="Calibri"/>
                        </a:rPr>
                        <a:t>+19,7 %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(EUR)</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6,5%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8,5%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8.5% et une TGR de 2.0%, le prix implicite DCF est de 375 EUR, soit un upside de 7% vs le cours actuel. La prime actuelle semble refléter une croissance déjà anticipée, mais les catalyseurs asiatiques pourraient justifier une revalorisation.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EUR</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L'Oréal S.A.</a:t>
                      </a:r>
                    </a:p>
                  </a:txBody>
                  <a:tcPr>
                    <a:solidFill>
                      <a:srgbClr val="DDE8F5"/>
                    </a:solidFill>
                  </a:tcPr>
                </a:tc>
                <a:tc>
                  <a:txBody>
                    <a:bodyPr/>
                    <a:lstStyle/>
                    <a:p>
                      <a:pPr algn="ctr"/>
                      <a:r>
                        <a:rPr sz="750" b="1" i="0">
                          <a:solidFill>
                            <a:srgbClr val="2E5FA3"/>
                          </a:solidFill>
                          <a:latin typeface="Calibri"/>
                        </a:rPr>
                        <a:t>OR.PA</a:t>
                      </a:r>
                    </a:p>
                  </a:txBody>
                  <a:tcPr>
                    <a:solidFill>
                      <a:srgbClr val="DDE8F5"/>
                    </a:solidFill>
                  </a:tcPr>
                </a:tc>
                <a:tc>
                  <a:txBody>
                    <a:bodyPr/>
                    <a:lstStyle/>
                    <a:p>
                      <a:pPr algn="ctr"/>
                      <a:r>
                        <a:rPr sz="800" b="1" i="0">
                          <a:solidFill>
                            <a:srgbClr val="1B3A6B"/>
                          </a:solidFill>
                          <a:latin typeface="Calibri"/>
                        </a:rPr>
                        <a:t>187,3</a:t>
                      </a:r>
                    </a:p>
                  </a:txBody>
                  <a:tcPr>
                    <a:solidFill>
                      <a:srgbClr val="DDE8F5"/>
                    </a:solidFill>
                  </a:tcPr>
                </a:tc>
                <a:tc>
                  <a:txBody>
                    <a:bodyPr/>
                    <a:lstStyle/>
                    <a:p>
                      <a:pPr algn="ctr"/>
                      <a:r>
                        <a:rPr sz="800" b="1" i="0">
                          <a:solidFill>
                            <a:srgbClr val="1B3A6B"/>
                          </a:solidFill>
                          <a:latin typeface="Calibri"/>
                        </a:rPr>
                        <a:t>17,6x</a:t>
                      </a:r>
                    </a:p>
                  </a:txBody>
                  <a:tcPr>
                    <a:solidFill>
                      <a:srgbClr val="DDE8F5"/>
                    </a:solidFill>
                  </a:tcPr>
                </a:tc>
                <a:tc>
                  <a:txBody>
                    <a:bodyPr/>
                    <a:lstStyle/>
                    <a:p>
                      <a:pPr algn="ctr"/>
                      <a:r>
                        <a:rPr sz="800" b="1" i="0">
                          <a:solidFill>
                            <a:srgbClr val="1B3A6B"/>
                          </a:solidFill>
                          <a:latin typeface="Calibri"/>
                        </a:rPr>
                        <a:t>4,3x</a:t>
                      </a:r>
                    </a:p>
                  </a:txBody>
                  <a:tcPr>
                    <a:solidFill>
                      <a:srgbClr val="DDE8F5"/>
                    </a:solidFill>
                  </a:tcPr>
                </a:tc>
                <a:tc>
                  <a:txBody>
                    <a:bodyPr/>
                    <a:lstStyle/>
                    <a:p>
                      <a:pPr algn="ctr"/>
                      <a:r>
                        <a:rPr sz="800" b="1" i="0">
                          <a:solidFill>
                            <a:srgbClr val="1B3A6B"/>
                          </a:solidFill>
                          <a:latin typeface="Calibri"/>
                        </a:rPr>
                        <a:t>30,6x</a:t>
                      </a:r>
                    </a:p>
                  </a:txBody>
                  <a:tcPr>
                    <a:solidFill>
                      <a:srgbClr val="DDE8F5"/>
                    </a:solidFill>
                  </a:tcPr>
                </a:tc>
                <a:tc>
                  <a:txBody>
                    <a:bodyPr/>
                    <a:lstStyle/>
                    <a:p>
                      <a:pPr algn="ctr"/>
                      <a:r>
                        <a:rPr sz="800" b="1" i="0">
                          <a:solidFill>
                            <a:srgbClr val="1B3A6B"/>
                          </a:solidFill>
                          <a:latin typeface="Calibri"/>
                        </a:rPr>
                        <a:t>74,3 %</a:t>
                      </a:r>
                    </a:p>
                  </a:txBody>
                  <a:tcPr>
                    <a:solidFill>
                      <a:srgbClr val="DDE8F5"/>
                    </a:solidFill>
                  </a:tcPr>
                </a:tc>
                <a:tc>
                  <a:txBody>
                    <a:bodyPr/>
                    <a:lstStyle/>
                    <a:p>
                      <a:pPr algn="ctr"/>
                      <a:r>
                        <a:rPr sz="800" b="1" i="0">
                          <a:solidFill>
                            <a:srgbClr val="1B3A6B"/>
                          </a:solidFill>
                          <a:latin typeface="Calibri"/>
                        </a:rPr>
                        <a:t>24,3 %</a:t>
                      </a:r>
                    </a:p>
                  </a:txBody>
                  <a:tcPr>
                    <a:solidFill>
                      <a:srgbClr val="DDE8F5"/>
                    </a:solidFill>
                  </a:tcPr>
                </a:tc>
              </a:tr>
              <a:tr h="251999">
                <a:tc>
                  <a:txBody>
                    <a:bodyPr/>
                    <a:lstStyle/>
                    <a:p>
                      <a:pPr algn="l"/>
                      <a:r>
                        <a:rPr sz="800" b="0" i="0">
                          <a:solidFill>
                            <a:srgbClr val="0D0D0D"/>
                          </a:solidFill>
                          <a:latin typeface="Calibri"/>
                        </a:rPr>
                        <a:t>Estée Lauder</a:t>
                      </a:r>
                    </a:p>
                  </a:txBody>
                  <a:tcPr>
                    <a:solidFill>
                      <a:srgbClr val="FFFFFF"/>
                    </a:solidFill>
                  </a:tcPr>
                </a:tc>
                <a:tc>
                  <a:txBody>
                    <a:bodyPr/>
                    <a:lstStyle/>
                    <a:p>
                      <a:pPr algn="ctr"/>
                      <a:r>
                        <a:rPr sz="750" b="0" i="0">
                          <a:solidFill>
                            <a:srgbClr val="555555"/>
                          </a:solidFill>
                          <a:latin typeface="Calibri"/>
                        </a:rPr>
                        <a:t>EL</a:t>
                      </a:r>
                    </a:p>
                  </a:txBody>
                  <a:tcPr>
                    <a:solidFill>
                      <a:srgbClr val="FFFFFF"/>
                    </a:solidFill>
                  </a:tcPr>
                </a:tc>
                <a:tc>
                  <a:txBody>
                    <a:bodyPr/>
                    <a:lstStyle/>
                    <a:p>
                      <a:pPr algn="ctr"/>
                      <a:r>
                        <a:rPr sz="800" b="0" i="0">
                          <a:solidFill>
                            <a:srgbClr val="0D0D0D"/>
                          </a:solidFill>
                          <a:latin typeface="Calibri"/>
                        </a:rPr>
                        <a:t>42,5</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3,8x</a:t>
                      </a:r>
                    </a:p>
                  </a:txBody>
                  <a:tcPr>
                    <a:solidFill>
                      <a:srgbClr val="FFFFFF"/>
                    </a:solidFill>
                  </a:tcPr>
                </a:tc>
                <a:tc>
                  <a:txBody>
                    <a:bodyPr/>
                    <a:lstStyle/>
                    <a:p>
                      <a:pPr algn="ctr"/>
                      <a:r>
                        <a:rPr sz="800" b="0" i="0">
                          <a:solidFill>
                            <a:srgbClr val="0D0D0D"/>
                          </a:solidFill>
                          <a:latin typeface="Calibri"/>
                        </a:rPr>
                        <a:t>35,1x</a:t>
                      </a:r>
                    </a:p>
                  </a:txBody>
                  <a:tcPr>
                    <a:solidFill>
                      <a:srgbClr val="FFFFFF"/>
                    </a:solidFill>
                  </a:tcPr>
                </a:tc>
                <a:tc>
                  <a:txBody>
                    <a:bodyPr/>
                    <a:lstStyle/>
                    <a:p>
                      <a:pPr algn="ctr"/>
                      <a:r>
                        <a:rPr sz="800" b="0" i="0">
                          <a:solidFill>
                            <a:srgbClr val="0D0D0D"/>
                          </a:solidFill>
                          <a:latin typeface="Calibri"/>
                        </a:rPr>
                        <a:t>76,1 %</a:t>
                      </a:r>
                    </a:p>
                  </a:txBody>
                  <a:tcPr>
                    <a:solidFill>
                      <a:srgbClr val="FFFFFF"/>
                    </a:solidFill>
                  </a:tcPr>
                </a:tc>
                <a:tc>
                  <a:txBody>
                    <a:bodyPr/>
                    <a:lstStyle/>
                    <a:p>
                      <a:pPr algn="ctr"/>
                      <a:r>
                        <a:rPr sz="800" b="0" i="0">
                          <a:solidFill>
                            <a:srgbClr val="0D0D0D"/>
                          </a:solidFill>
                          <a:latin typeface="Calibri"/>
                        </a:rPr>
                        <a:t>22,5 %</a:t>
                      </a:r>
                    </a:p>
                  </a:txBody>
                  <a:tcPr>
                    <a:solidFill>
                      <a:srgbClr val="FFFFFF"/>
                    </a:solidFill>
                  </a:tcPr>
                </a:tc>
              </a:tr>
              <a:tr h="251999">
                <a:tc>
                  <a:txBody>
                    <a:bodyPr/>
                    <a:lstStyle/>
                    <a:p>
                      <a:pPr algn="l"/>
                      <a:r>
                        <a:rPr sz="800" b="0" i="0">
                          <a:solidFill>
                            <a:srgbClr val="0D0D0D"/>
                          </a:solidFill>
                          <a:latin typeface="Calibri"/>
                        </a:rPr>
                        <a:t>Unilever Beauty &amp; Personal Car</a:t>
                      </a:r>
                    </a:p>
                  </a:txBody>
                  <a:tcPr>
                    <a:solidFill>
                      <a:srgbClr val="F7F8FA"/>
                    </a:solidFill>
                  </a:tcPr>
                </a:tc>
                <a:tc>
                  <a:txBody>
                    <a:bodyPr/>
                    <a:lstStyle/>
                    <a:p>
                      <a:pPr algn="ctr"/>
                      <a:r>
                        <a:rPr sz="750" b="0" i="0">
                          <a:solidFill>
                            <a:srgbClr val="555555"/>
                          </a:solidFill>
                          <a:latin typeface="Calibri"/>
                        </a:rPr>
                        <a:t>ULVR.L</a:t>
                      </a:r>
                    </a:p>
                  </a:txBody>
                  <a:tcPr>
                    <a:solidFill>
                      <a:srgbClr val="F7F8FA"/>
                    </a:solidFill>
                  </a:tcPr>
                </a:tc>
                <a:tc>
                  <a:txBody>
                    <a:bodyPr/>
                    <a:lstStyle/>
                    <a:p>
                      <a:pPr algn="ctr"/>
                      <a:r>
                        <a:rPr sz="800" b="0" i="0">
                          <a:solidFill>
                            <a:srgbClr val="0D0D0D"/>
                          </a:solidFill>
                          <a:latin typeface="Calibri"/>
                        </a:rPr>
                        <a:t>110,2</a:t>
                      </a:r>
                    </a:p>
                  </a:txBody>
                  <a:tcPr>
                    <a:solidFill>
                      <a:srgbClr val="F7F8FA"/>
                    </a:solidFill>
                  </a:tcPr>
                </a:tc>
                <a:tc>
                  <a:txBody>
                    <a:bodyPr/>
                    <a:lstStyle/>
                    <a:p>
                      <a:pPr algn="ctr"/>
                      <a:r>
                        <a:rPr sz="800" b="0" i="0">
                          <a:solidFill>
                            <a:srgbClr val="0D0D0D"/>
                          </a:solidFill>
                          <a:latin typeface="Calibri"/>
                        </a:rPr>
                        <a:t>13,8x</a:t>
                      </a:r>
                    </a:p>
                  </a:txBody>
                  <a:tcPr>
                    <a:solidFill>
                      <a:srgbClr val="F7F8FA"/>
                    </a:solidFill>
                  </a:tcPr>
                </a:tc>
                <a:tc>
                  <a:txBody>
                    <a:bodyPr/>
                    <a:lstStyle/>
                    <a:p>
                      <a:pPr algn="ctr"/>
                      <a:r>
                        <a:rPr sz="800" b="0" i="0">
                          <a:solidFill>
                            <a:srgbClr val="0D0D0D"/>
                          </a:solidFill>
                          <a:latin typeface="Calibri"/>
                        </a:rPr>
                        <a:t>2,9x</a:t>
                      </a:r>
                    </a:p>
                  </a:txBody>
                  <a:tcPr>
                    <a:solidFill>
                      <a:srgbClr val="F7F8FA"/>
                    </a:solidFill>
                  </a:tcPr>
                </a:tc>
                <a:tc>
                  <a:txBody>
                    <a:bodyPr/>
                    <a:lstStyle/>
                    <a:p>
                      <a:pPr algn="ctr"/>
                      <a:r>
                        <a:rPr sz="800" b="0" i="0">
                          <a:solidFill>
                            <a:srgbClr val="0D0D0D"/>
                          </a:solidFill>
                          <a:latin typeface="Calibri"/>
                        </a:rPr>
                        <a:t>22,4x</a:t>
                      </a:r>
                    </a:p>
                  </a:txBody>
                  <a:tcPr>
                    <a:solidFill>
                      <a:srgbClr val="F7F8FA"/>
                    </a:solidFill>
                  </a:tcPr>
                </a:tc>
                <a:tc>
                  <a:txBody>
                    <a:bodyPr/>
                    <a:lstStyle/>
                    <a:p>
                      <a:pPr algn="ctr"/>
                      <a:r>
                        <a:rPr sz="800" b="0" i="0">
                          <a:solidFill>
                            <a:srgbClr val="0D0D0D"/>
                          </a:solidFill>
                          <a:latin typeface="Calibri"/>
                        </a:rPr>
                        <a:t>58,2 %</a:t>
                      </a:r>
                    </a:p>
                  </a:txBody>
                  <a:tcPr>
                    <a:solidFill>
                      <a:srgbClr val="F7F8FA"/>
                    </a:solidFill>
                  </a:tcPr>
                </a:tc>
                <a:tc>
                  <a:txBody>
                    <a:bodyPr/>
                    <a:lstStyle/>
                    <a:p>
                      <a:pPr algn="ctr"/>
                      <a:r>
                        <a:rPr sz="800" b="0" i="0">
                          <a:solidFill>
                            <a:srgbClr val="0D0D0D"/>
                          </a:solidFill>
                          <a:latin typeface="Calibri"/>
                        </a:rPr>
                        <a:t>20,1 %</a:t>
                      </a:r>
                    </a:p>
                  </a:txBody>
                  <a:tcPr>
                    <a:solidFill>
                      <a:srgbClr val="F7F8FA"/>
                    </a:solidFill>
                  </a:tcPr>
                </a:tc>
              </a:tr>
              <a:tr h="251999">
                <a:tc>
                  <a:txBody>
                    <a:bodyPr/>
                    <a:lstStyle/>
                    <a:p>
                      <a:pPr algn="l"/>
                      <a:r>
                        <a:rPr sz="800" b="0" i="0">
                          <a:solidFill>
                            <a:srgbClr val="0D0D0D"/>
                          </a:solidFill>
                          <a:latin typeface="Calibri"/>
                        </a:rPr>
                        <a:t>Shiseido</a:t>
                      </a:r>
                    </a:p>
                  </a:txBody>
                  <a:tcPr>
                    <a:solidFill>
                      <a:srgbClr val="FFFFFF"/>
                    </a:solidFill>
                  </a:tcPr>
                </a:tc>
                <a:tc>
                  <a:txBody>
                    <a:bodyPr/>
                    <a:lstStyle/>
                    <a:p>
                      <a:pPr algn="ctr"/>
                      <a:r>
                        <a:rPr sz="750" b="0" i="0">
                          <a:solidFill>
                            <a:srgbClr val="555555"/>
                          </a:solidFill>
                          <a:latin typeface="Calibri"/>
                        </a:rPr>
                        <a:t>4911.T</a:t>
                      </a:r>
                    </a:p>
                  </a:txBody>
                  <a:tcPr>
                    <a:solidFill>
                      <a:srgbClr val="FFFFFF"/>
                    </a:solidFill>
                  </a:tcPr>
                </a:tc>
                <a:tc>
                  <a:txBody>
                    <a:bodyPr/>
                    <a:lstStyle/>
                    <a:p>
                      <a:pPr algn="ctr"/>
                      <a:r>
                        <a:rPr sz="800" b="0" i="0">
                          <a:solidFill>
                            <a:srgbClr val="0D0D0D"/>
                          </a:solidFill>
                          <a:latin typeface="Calibri"/>
                        </a:rPr>
                        <a:t>8,9</a:t>
                      </a:r>
                    </a:p>
                  </a:txBody>
                  <a:tcPr>
                    <a:solidFill>
                      <a:srgbClr val="FFFFFF"/>
                    </a:solidFill>
                  </a:tcPr>
                </a:tc>
                <a:tc>
                  <a:txBody>
                    <a:bodyPr/>
                    <a:lstStyle/>
                    <a:p>
                      <a:pPr algn="ctr"/>
                      <a:r>
                        <a:rPr sz="800" b="0" i="0">
                          <a:solidFill>
                            <a:srgbClr val="0D0D0D"/>
                          </a:solidFill>
                          <a:latin typeface="Calibri"/>
                        </a:rPr>
                        <a:t>10,5x</a:t>
                      </a:r>
                    </a:p>
                  </a:txBody>
                  <a:tcPr>
                    <a:solidFill>
                      <a:srgbClr val="FFFFFF"/>
                    </a:solidFill>
                  </a:tcPr>
                </a:tc>
                <a:tc>
                  <a:txBody>
                    <a:bodyPr/>
                    <a:lstStyle/>
                    <a:p>
                      <a:pPr algn="ctr"/>
                      <a:r>
                        <a:rPr sz="800" b="0" i="0">
                          <a:solidFill>
                            <a:srgbClr val="0D0D0D"/>
                          </a:solidFill>
                          <a:latin typeface="Calibri"/>
                        </a:rPr>
                        <a:t>2,1x</a:t>
                      </a:r>
                    </a:p>
                  </a:txBody>
                  <a:tcPr>
                    <a:solidFill>
                      <a:srgbClr val="FFFFFF"/>
                    </a:solidFill>
                  </a:tcPr>
                </a:tc>
                <a:tc>
                  <a:txBody>
                    <a:bodyPr/>
                    <a:lstStyle/>
                    <a:p>
                      <a:pPr algn="ctr"/>
                      <a:r>
                        <a:rPr sz="800" b="0" i="0">
                          <a:solidFill>
                            <a:srgbClr val="0D0D0D"/>
                          </a:solidFill>
                          <a:latin typeface="Calibri"/>
                        </a:rPr>
                        <a:t>28,7x</a:t>
                      </a:r>
                    </a:p>
                  </a:txBody>
                  <a:tcPr>
                    <a:solidFill>
                      <a:srgbClr val="FFFFFF"/>
                    </a:solidFill>
                  </a:tcPr>
                </a:tc>
                <a:tc>
                  <a:txBody>
                    <a:bodyPr/>
                    <a:lstStyle/>
                    <a:p>
                      <a:pPr algn="ctr"/>
                      <a:r>
                        <a:rPr sz="800" b="0" i="0">
                          <a:solidFill>
                            <a:srgbClr val="0D0D0D"/>
                          </a:solidFill>
                          <a:latin typeface="Calibri"/>
                        </a:rPr>
                        <a:t>71,2 %</a:t>
                      </a:r>
                    </a:p>
                  </a:txBody>
                  <a:tcPr>
                    <a:solidFill>
                      <a:srgbClr val="FFFFFF"/>
                    </a:solidFill>
                  </a:tcPr>
                </a:tc>
                <a:tc>
                  <a:txBody>
                    <a:bodyPr/>
                    <a:lstStyle/>
                    <a:p>
                      <a:pPr algn="ctr"/>
                      <a:r>
                        <a:rPr sz="800" b="0" i="0">
                          <a:solidFill>
                            <a:srgbClr val="0D0D0D"/>
                          </a:solidFill>
                          <a:latin typeface="Calibri"/>
                        </a:rPr>
                        <a:t>18,9 %</a:t>
                      </a:r>
                    </a:p>
                  </a:txBody>
                  <a:tcPr>
                    <a:solidFill>
                      <a:srgbClr val="FFFFFF"/>
                    </a:solidFill>
                  </a:tcPr>
                </a:tc>
              </a:tr>
              <a:tr h="251999">
                <a:tc>
                  <a:txBody>
                    <a:bodyPr/>
                    <a:lstStyle/>
                    <a:p>
                      <a:pPr algn="l"/>
                      <a:r>
                        <a:rPr sz="800" b="0" i="0">
                          <a:solidFill>
                            <a:srgbClr val="0D0D0D"/>
                          </a:solidFill>
                          <a:latin typeface="Calibri"/>
                        </a:rPr>
                        <a:t>Beiersdorf</a:t>
                      </a:r>
                    </a:p>
                  </a:txBody>
                  <a:tcPr>
                    <a:solidFill>
                      <a:srgbClr val="F7F8FA"/>
                    </a:solidFill>
                  </a:tcPr>
                </a:tc>
                <a:tc>
                  <a:txBody>
                    <a:bodyPr/>
                    <a:lstStyle/>
                    <a:p>
                      <a:pPr algn="ctr"/>
                      <a:r>
                        <a:rPr sz="750" b="0" i="0">
                          <a:solidFill>
                            <a:srgbClr val="555555"/>
                          </a:solidFill>
                          <a:latin typeface="Calibri"/>
                        </a:rPr>
                        <a:t>BEI.DE</a:t>
                      </a:r>
                    </a:p>
                  </a:txBody>
                  <a:tcPr>
                    <a:solidFill>
                      <a:srgbClr val="F7F8FA"/>
                    </a:solidFill>
                  </a:tcPr>
                </a:tc>
                <a:tc>
                  <a:txBody>
                    <a:bodyPr/>
                    <a:lstStyle/>
                    <a:p>
                      <a:pPr algn="ctr"/>
                      <a:r>
                        <a:rPr sz="800" b="0" i="0">
                          <a:solidFill>
                            <a:srgbClr val="0D0D0D"/>
                          </a:solidFill>
                          <a:latin typeface="Calibri"/>
                        </a:rPr>
                        <a:t>28,7</a:t>
                      </a:r>
                    </a:p>
                  </a:txBody>
                  <a:tcPr>
                    <a:solidFill>
                      <a:srgbClr val="F7F8FA"/>
                    </a:solidFill>
                  </a:tcPr>
                </a:tc>
                <a:tc>
                  <a:txBody>
                    <a:bodyPr/>
                    <a:lstStyle/>
                    <a:p>
                      <a:pPr algn="ctr"/>
                      <a:r>
                        <a:rPr sz="800" b="0" i="0">
                          <a:solidFill>
                            <a:srgbClr val="0D0D0D"/>
                          </a:solidFill>
                          <a:latin typeface="Calibri"/>
                        </a:rPr>
                        <a:t>16,5x</a:t>
                      </a:r>
                    </a:p>
                  </a:txBody>
                  <a:tcPr>
                    <a:solidFill>
                      <a:srgbClr val="F7F8FA"/>
                    </a:solidFill>
                  </a:tcPr>
                </a:tc>
                <a:tc>
                  <a:txBody>
                    <a:bodyPr/>
                    <a:lstStyle/>
                    <a:p>
                      <a:pPr algn="ctr"/>
                      <a:r>
                        <a:rPr sz="800" b="0" i="0">
                          <a:solidFill>
                            <a:srgbClr val="0D0D0D"/>
                          </a:solidFill>
                          <a:latin typeface="Calibri"/>
                        </a:rPr>
                        <a:t>3,2x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c>
                  <a:txBody>
                    <a:bodyPr/>
                    <a:lstStyle/>
                    <a:p>
                      <a:pPr algn="ctr"/>
                      <a:r>
                        <a:rPr sz="800" b="0" i="0">
                          <a:solidFill>
                            <a:srgbClr val="0D0D0D"/>
                          </a:solidFill>
                          <a:latin typeface="Calibri"/>
                        </a:rPr>
                        <a:t>67,8 %</a:t>
                      </a:r>
                    </a:p>
                  </a:txBody>
                  <a:tcPr>
                    <a:solidFill>
                      <a:srgbClr val="F7F8FA"/>
                    </a:solidFill>
                  </a:tcPr>
                </a:tc>
                <a:tc>
                  <a:txBody>
                    <a:bodyPr/>
                    <a:lstStyle/>
                    <a:p>
                      <a:pPr algn="ctr"/>
                      <a:r>
                        <a:rPr sz="800" b="0" i="0">
                          <a:solidFill>
                            <a:srgbClr val="0D0D0D"/>
                          </a:solidFill>
                          <a:latin typeface="Calibri"/>
                        </a:rPr>
                        <a:t>21,3 %</a:t>
                      </a:r>
                    </a:p>
                  </a:txBody>
                  <a:tcPr>
                    <a:solidFill>
                      <a:srgbClr val="F7F8FA"/>
                    </a:solidFill>
                  </a:tcPr>
                </a:tc>
              </a:tr>
              <a:tr h="251999">
                <a:tc>
                  <a:txBody>
                    <a:bodyPr/>
                    <a:lstStyle/>
                    <a:p>
                      <a:pPr algn="l"/>
                      <a:r>
                        <a:rPr sz="800" b="0" i="0">
                          <a:solidFill>
                            <a:srgbClr val="0D0D0D"/>
                          </a:solidFill>
                          <a:latin typeface="Calibri"/>
                        </a:rPr>
                        <a:t>Procter &amp; Gamble Beauty</a:t>
                      </a:r>
                    </a:p>
                  </a:txBody>
                  <a:tcPr>
                    <a:solidFill>
                      <a:srgbClr val="FFFFFF"/>
                    </a:solidFill>
                  </a:tcPr>
                </a:tc>
                <a:tc>
                  <a:txBody>
                    <a:bodyPr/>
                    <a:lstStyle/>
                    <a:p>
                      <a:pPr algn="ctr"/>
                      <a:r>
                        <a:rPr sz="750" b="0" i="0">
                          <a:solidFill>
                            <a:srgbClr val="555555"/>
                          </a:solidFill>
                          <a:latin typeface="Calibri"/>
                        </a:rPr>
                        <a:t>PG</a:t>
                      </a:r>
                    </a:p>
                  </a:txBody>
                  <a:tcPr>
                    <a:solidFill>
                      <a:srgbClr val="FFFFFF"/>
                    </a:solidFill>
                  </a:tcPr>
                </a:tc>
                <a:tc>
                  <a:txBody>
                    <a:bodyPr/>
                    <a:lstStyle/>
                    <a:p>
                      <a:pPr algn="ctr"/>
                      <a:r>
                        <a:rPr sz="800" b="0" i="0">
                          <a:solidFill>
                            <a:srgbClr val="0D0D0D"/>
                          </a:solidFill>
                          <a:latin typeface="Calibri"/>
                        </a:rPr>
                        <a:t>380,5</a:t>
                      </a:r>
                    </a:p>
                  </a:txBody>
                  <a:tcPr>
                    <a:solidFill>
                      <a:srgbClr val="FFFFFF"/>
                    </a:solidFill>
                  </a:tcPr>
                </a:tc>
                <a:tc>
                  <a:txBody>
                    <a:bodyPr/>
                    <a:lstStyle/>
                    <a:p>
                      <a:pPr algn="ctr"/>
                      <a:r>
                        <a:rPr sz="800" b="0" i="0">
                          <a:solidFill>
                            <a:srgbClr val="0D0D0D"/>
                          </a:solidFill>
                          <a:latin typeface="Calibri"/>
                        </a:rPr>
                        <a:t>18,7x</a:t>
                      </a:r>
                    </a:p>
                  </a:txBody>
                  <a:tcPr>
                    <a:solidFill>
                      <a:srgbClr val="FFFFFF"/>
                    </a:solidFill>
                  </a:tcPr>
                </a:tc>
                <a:tc>
                  <a:txBody>
                    <a:bodyPr/>
                    <a:lstStyle/>
                    <a:p>
                      <a:pPr algn="ctr"/>
                      <a:r>
                        <a:rPr sz="800" b="0" i="0">
                          <a:solidFill>
                            <a:srgbClr val="0D0D0D"/>
                          </a:solidFill>
                          <a:latin typeface="Calibri"/>
                        </a:rPr>
                        <a:t>4,1x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c>
                  <a:txBody>
                    <a:bodyPr/>
                    <a:lstStyle/>
                    <a:p>
                      <a:pPr algn="ctr"/>
                      <a:r>
                        <a:rPr sz="800" b="0" i="0">
                          <a:solidFill>
                            <a:srgbClr val="0D0D0D"/>
                          </a:solidFill>
                          <a:latin typeface="Calibri"/>
                        </a:rPr>
                        <a:t>52,3 %</a:t>
                      </a:r>
                    </a:p>
                  </a:txBody>
                  <a:tcPr>
                    <a:solidFill>
                      <a:srgbClr val="FFFFFF"/>
                    </a:solidFill>
                  </a:tcPr>
                </a:tc>
                <a:tc>
                  <a:txBody>
                    <a:bodyPr/>
                    <a:lstStyle/>
                    <a:p>
                      <a:pPr algn="ctr"/>
                      <a:r>
                        <a:rPr sz="800" b="0" i="0">
                          <a:solidFill>
                            <a:srgbClr val="0D0D0D"/>
                          </a:solidFill>
                          <a:latin typeface="Calibri"/>
                        </a:rPr>
                        <a:t>23,9 %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15,2x</a:t>
                      </a:r>
                    </a:p>
                  </a:txBody>
                  <a:tcPr>
                    <a:solidFill>
                      <a:srgbClr val="F7F8FA"/>
                    </a:solidFill>
                  </a:tcPr>
                </a:tc>
                <a:tc>
                  <a:txBody>
                    <a:bodyPr/>
                    <a:lstStyle/>
                    <a:p>
                      <a:pPr algn="ctr"/>
                      <a:r>
                        <a:rPr sz="800" b="1" i="0">
                          <a:solidFill>
                            <a:srgbClr val="0D0D0D"/>
                          </a:solidFill>
                          <a:latin typeface="Calibri"/>
                        </a:rPr>
                        <a:t>3,2x</a:t>
                      </a:r>
                    </a:p>
                  </a:txBody>
                  <a:tcPr>
                    <a:solidFill>
                      <a:srgbClr val="F7F8FA"/>
                    </a:solidFill>
                  </a:tcPr>
                </a:tc>
                <a:tc>
                  <a:txBody>
                    <a:bodyPr/>
                    <a:lstStyle/>
                    <a:p>
                      <a:pPr algn="ctr"/>
                      <a:r>
                        <a:rPr sz="800" b="1" i="0">
                          <a:solidFill>
                            <a:srgbClr val="0D0D0D"/>
                          </a:solidFill>
                          <a:latin typeface="Calibri"/>
                        </a:rPr>
                        <a:t>28,7x</a:t>
                      </a:r>
                    </a:p>
                  </a:txBody>
                  <a:tcPr>
                    <a:solidFill>
                      <a:srgbClr val="F7F8FA"/>
                    </a:solidFill>
                  </a:tcPr>
                </a:tc>
                <a:tc>
                  <a:txBody>
                    <a:bodyPr/>
                    <a:lstStyle/>
                    <a:p>
                      <a:pPr algn="ctr"/>
                      <a:r>
                        <a:rPr sz="800" b="1" i="0">
                          <a:solidFill>
                            <a:srgbClr val="0D0D0D"/>
                          </a:solidFill>
                          <a:latin typeface="Calibri"/>
                        </a:rPr>
                        <a:t>67,8 %</a:t>
                      </a:r>
                    </a:p>
                  </a:txBody>
                  <a:tcPr>
                    <a:solidFill>
                      <a:srgbClr val="F7F8FA"/>
                    </a:solidFill>
                  </a:tcPr>
                </a:tc>
                <a:tc>
                  <a:txBody>
                    <a:bodyPr/>
                    <a:lstStyle/>
                    <a:p>
                      <a:pPr algn="ctr"/>
                      <a:r>
                        <a:rPr sz="800" b="1" i="0">
                          <a:solidFill>
                            <a:srgbClr val="0D0D0D"/>
                          </a:solidFill>
                          <a:latin typeface="Calibri"/>
                        </a:rPr>
                        <a:t>21,3 %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L'Oréal affiche un EV/EBITDA de 17.6x vs une médiane peers de 14.1x (+25%), et un P/E de 30.6x vs 24.5x (+25%). Cette prime est justifiée par une croissance organique supérieure (3.5-4% vs 2-3% peers) et une résilience des marges. Une convergence vers la médiane impliquerait un downside de 15%, peu probable sans choc sectoriel.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EUR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8.5% et une TGR de 2.0%, le prix implicite DCF est de 375 EUR, soit un upside de 7% vs le cours actuel. La prime actuelle semble refléter une croissance déjà anticipée, mais les catalyseurs asiatiques pourraient justifier une revalorisation.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Valorisation excessive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 P/E de 30.56x est 50% supérieur à la moyenne sectorielle de 20.3x, reflétant une valorisation excessive pour un secteur mature comme les cosmétiques. Les marges nettes de 13.9% en 2025 supposent une maîtrise parfaite des coûts, alors que les pressions salariales en Europe (+4.5% en 2024) et la hausse des matières premières (+12% depuis 2022) menacent cette stabilité. L'EV/EBITDA à 17.55x ignore le risque de décote en cas de ralentissement des ventes premium, déjà…</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Dépendance produits clés</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L'Altman Z-score de 5.67 masque une dépendance critique aux marques phares : 60% du CA provient de 10 produits, dont 3 représentent 35% des marges. Une perte de part de marché sur un seul produit (ex : L'Oréal Paris) réduirait le ROE de 3 points, passant de 17.5% à 14.5%, un seuil critique pour les investisseurs. Les coûts R&amp;D (3.2% du CA) n'ont pas généré d'innovation disruptive depuis 2018, malgré un budget en hausse de 15%.</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Risque liquidité</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NetDebt/EBITDA de 0.02x est artificiellement bas grâce à une trésorerie de 4.2 Md€, mais 68% est bloquée dans des filiales étrangères, limitant sa liquidité immédiate. Une crise géopolitique (ex : tensions USA-Chine) pourrait geler 2.8 Md€ de fonds, réduisant la capacité de réaction à 1.4x l'EBITDA, un niveau dangereux face à un concurrent comme Estée Lauder (0.8x).</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Ralentissement du PIB chinois &lt;4%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Interdiction des tests sur animaux en UE étendue à d'autres régions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Perte de parts de marché en Amérique du Nord &gt;3 points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20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+0,140</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20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48,0 %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6</a:t>
                      </a:r>
                    </a:p>
                  </a:txBody>
                  <a:tcPr>
                    <a:solidFill>
                      <a:srgbClr val="EAF4EF"/>
                    </a:solidFill>
                  </a:tcPr>
                </a:tc>
                <a:tc>
                  <a:txBody>
                    <a:bodyPr/>
                    <a:lstStyle/>
                    <a:p>
                      <a:pPr algn="ctr"/>
                      <a:r>
                        <a:rPr sz="800" b="0" i="0">
                          <a:solidFill>
                            <a:srgbClr val="0D0D0D"/>
                          </a:solidFill>
                          <a:latin typeface="Calibri"/>
                        </a:rPr>
                        <a:t>+0,330</a:t>
                      </a:r>
                    </a:p>
                  </a:txBody>
                  <a:tcPr>
                    <a:solidFill>
                      <a:srgbClr val="EAF4EF"/>
                    </a:solidFill>
                  </a:tcPr>
                </a:tc>
                <a:tc>
                  <a:txBody>
                    <a:bodyPr/>
                    <a:lstStyle/>
                    <a:p>
                      <a:pPr algn="ctr"/>
                      <a:r>
                        <a:rPr sz="800" b="0" i="0">
                          <a:solidFill>
                            <a:srgbClr val="0D0D0D"/>
                          </a:solidFill>
                          <a:latin typeface="Calibri"/>
                        </a:rPr>
                        <a:t>Croissance Asie +12% en 2026 avec lancement de 50 nouveaux produits en Chine | +1.8Md EUR de revenus supplémentaires | Horizon 2026-2027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11</a:t>
                      </a:r>
                    </a:p>
                  </a:txBody>
                  <a:tcPr>
                    <a:solidFill>
                      <a:srgbClr val="FFFFFF"/>
                    </a:solidFill>
                  </a:tcPr>
                </a:tc>
                <a:tc>
                  <a:txBody>
                    <a:bodyPr/>
                    <a:lstStyle/>
                    <a:p>
                      <a:pPr algn="ctr"/>
                      <a:r>
                        <a:rPr sz="800" b="0" i="0">
                          <a:solidFill>
                            <a:srgbClr val="0D0D0D"/>
                          </a:solidFill>
                          <a:latin typeface="Calibri"/>
                        </a:rPr>
                        <a:t>+0,480</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3</a:t>
                      </a:r>
                    </a:p>
                  </a:txBody>
                  <a:tcPr>
                    <a:solidFill>
                      <a:srgbClr val="FAF0EF"/>
                    </a:solidFill>
                  </a:tcPr>
                </a:tc>
                <a:tc>
                  <a:txBody>
                    <a:bodyPr/>
                    <a:lstStyle/>
                    <a:p>
                      <a:pPr algn="ctr"/>
                      <a:r>
                        <a:rPr sz="800" b="0" i="0">
                          <a:solidFill>
                            <a:srgbClr val="0D0D0D"/>
                          </a:solidFill>
                          <a:latin typeface="Calibri"/>
                        </a:rPr>
                        <a:t>+0,190</a:t>
                      </a:r>
                    </a:p>
                  </a:txBody>
                  <a:tcPr>
                    <a:solidFill>
                      <a:srgbClr val="FAF0EF"/>
                    </a:solidFill>
                  </a:tcPr>
                </a:tc>
                <a:tc>
                  <a:txBody>
                    <a:bodyPr/>
                    <a:lstStyle/>
                    <a:p>
                      <a:pPr algn="ctr"/>
                      <a:r>
                        <a:rPr sz="800" b="0" i="0">
                          <a:solidFill>
                            <a:srgbClr val="0D0D0D"/>
                          </a:solidFill>
                          <a:latin typeface="Calibri"/>
                        </a:rPr>
                        <a:t>Ralentissement économique en Chine -5% de croissance organique | Baisse des ventes premium de -8% | Horizon 2026-2027</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une dynamique positive pour L'Oréal cette semaine, portée par des partenariats technologiques et des initiatives durables. Cependant, les incertitudes liées aux tensions commerciales et géopolitiques pèsent sur le sentiment global.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27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L'Oréal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iShares Trust-iShares Core MSCI EAF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Goldman Sachs TRT II-Goldman Sachs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GROWTH FUND OF AMERICA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STAR FUNDS-Vanguard Total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WORLD FUND-Vanguard Intern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EuroPacific Growth Fund-EUPAC Fund</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TAX-MANAGED FUNDS-Vanguard</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L'Oréal se négocie à une prime de 25% vs la médiane des pairs sur EV/EBITDA (17.6x vs 14.1x). Cette prime est justifiée par une croissance organique supérieure et une résilience des marges.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OR.PA  ·  EUR  ·  Au 27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350,85 EUR</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397,90 EUR</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350,85 EUR</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-7,7 %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2927676"/>
            <a:ext cx="498636" cy="96752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366562"/>
            <a:ext cx="498636" cy="52863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448279"/>
            <a:ext cx="498636" cy="44692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2644879"/>
            <a:ext cx="498636" cy="12503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3283008"/>
            <a:ext cx="498636" cy="61219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3462052"/>
            <a:ext cx="498636" cy="43314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3065707"/>
            <a:ext cx="498636" cy="82949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3341159"/>
            <a:ext cx="498636" cy="55404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16802"/>
            <a:ext cx="498636" cy="117839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398502"/>
            <a:ext cx="498636" cy="149669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3823200"/>
            <a:ext cx="498636" cy="7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350</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366</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382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397</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L'Oréal affiche une résilience opérationnelle remarquable avec des marges stables malgré un environnement macro difficile. La diversification géographique et segmentaire réduit la volatilité des revenus et soutient la croissance organique à 3-5% par 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