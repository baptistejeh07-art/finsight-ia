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L'Oréal S.A.</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OR.PA  ·  Euronext Paris  ·  Consumer Defensive</a:t>
            </a:r>
          </a:p>
        </p:txBody>
      </p:sp>
      <p:sp>
        <p:nvSpPr>
          <p:cNvPr id="8" name="Rectangle 7"/>
          <p:cNvSpPr/>
          <p:nvPr/>
        </p:nvSpPr>
        <p:spPr>
          <a:xfrm>
            <a:off x="2771999" y="2720232"/>
            <a:ext cx="3600000" cy="43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6000" y="2738232"/>
            <a:ext cx="3491999" cy="395999"/>
          </a:xfrm>
          <a:prstGeom prst="rect">
            <a:avLst/>
          </a:prstGeom>
          <a:noFill/>
        </p:spPr>
        <p:txBody>
          <a:bodyPr wrap="square">
            <a:spAutoFit/>
          </a:bodyPr>
          <a:lstStyle/>
          <a:p>
            <a:pPr algn="ctr"/>
            <a:r>
              <a:rPr sz="900" b="1" i="0">
                <a:solidFill>
                  <a:srgbClr val="FFFFFF"/>
                </a:solidFill>
                <a:latin typeface="Calibri"/>
              </a:rPr>
              <a:t>● HOLD  ·  Prix cible base : — EUR  ·  Upside : —</a:t>
            </a:r>
          </a:p>
        </p:txBody>
      </p:sp>
      <p:sp>
        <p:nvSpPr>
          <p:cNvPr id="10" name="Rectangle 9"/>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2" name="TextBox 11"/>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6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B06000"/>
                </a:solidFill>
                <a:latin typeface="Calibri"/>
              </a:rPr>
              <a:t>● HOLD</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 EUR  ·  Upside : —  ·  Bear : — EUR (—)  ·  Bull : — EUR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a:t>
            </a:r>
          </a:p>
        </p:txBody>
      </p:sp>
      <p:sp>
        <p:nvSpPr>
          <p:cNvPr id="14" name="TextBox 13"/>
          <p:cNvSpPr txBox="1"/>
          <p:nvPr/>
        </p:nvSpPr>
        <p:spPr>
          <a:xfrm>
            <a:off x="503999" y="1814400"/>
            <a:ext cx="3931200" cy="378000"/>
          </a:xfrm>
          <a:prstGeom prst="rect">
            <a:avLst/>
          </a:prstGeom>
          <a:noFill/>
        </p:spPr>
        <p:txBody>
          <a:bodyPr wrap="square">
            <a:spAutoFit/>
          </a:bodyPr>
          <a:lstStyle/>
          <a:p>
            <a:pPr algn="l"/>
            <a:r>
              <a:rPr sz="750" b="0" i="0">
                <a:solidFill>
                  <a:srgbClr val="333333"/>
                </a:solidFill>
                <a:latin typeface="Calibri"/>
              </a:rPr>
              <a:t>—</a:t>
            </a:r>
          </a:p>
        </p:txBody>
      </p:sp>
      <p:sp>
        <p:nvSpPr>
          <p:cNvPr id="15" name="Rectangle 14"/>
          <p:cNvSpPr/>
          <p:nvPr/>
        </p:nvSpPr>
        <p:spPr>
          <a:xfrm>
            <a:off x="367200" y="2214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96000"/>
            <a:ext cx="3931200" cy="183600"/>
          </a:xfrm>
          <a:prstGeom prst="rect">
            <a:avLst/>
          </a:prstGeom>
          <a:noFill/>
        </p:spPr>
        <p:txBody>
          <a:bodyPr wrap="square">
            <a:spAutoFit/>
          </a:bodyPr>
          <a:lstStyle/>
          <a:p>
            <a:pPr algn="l"/>
            <a:r>
              <a:rPr sz="850" b="1" i="0">
                <a:solidFill>
                  <a:srgbClr val="1B3A6B"/>
                </a:solidFill>
                <a:latin typeface="Calibri"/>
              </a:rPr>
              <a:t>—</a:t>
            </a:r>
          </a:p>
        </p:txBody>
      </p:sp>
      <p:sp>
        <p:nvSpPr>
          <p:cNvPr id="17" name="TextBox 16"/>
          <p:cNvSpPr txBox="1"/>
          <p:nvPr/>
        </p:nvSpPr>
        <p:spPr>
          <a:xfrm>
            <a:off x="503999" y="2365200"/>
            <a:ext cx="3931200" cy="378000"/>
          </a:xfrm>
          <a:prstGeom prst="rect">
            <a:avLst/>
          </a:prstGeom>
          <a:noFill/>
        </p:spPr>
        <p:txBody>
          <a:bodyPr wrap="square">
            <a:spAutoFit/>
          </a:bodyPr>
          <a:lstStyle/>
          <a:p>
            <a:pPr algn="l"/>
            <a:r>
              <a:rPr sz="750" b="0" i="0">
                <a:solidFill>
                  <a:srgbClr val="333333"/>
                </a:solidFill>
                <a:latin typeface="Calibri"/>
              </a:rPr>
              <a:t>—</a:t>
            </a:r>
          </a:p>
        </p:txBody>
      </p:sp>
      <p:sp>
        <p:nvSpPr>
          <p:cNvPr id="18" name="Rectangle 17"/>
          <p:cNvSpPr/>
          <p:nvPr/>
        </p:nvSpPr>
        <p:spPr>
          <a:xfrm>
            <a:off x="367200" y="2764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46800"/>
            <a:ext cx="3931200" cy="183600"/>
          </a:xfrm>
          <a:prstGeom prst="rect">
            <a:avLst/>
          </a:prstGeom>
          <a:noFill/>
        </p:spPr>
        <p:txBody>
          <a:bodyPr wrap="square">
            <a:spAutoFit/>
          </a:bodyPr>
          <a:lstStyle/>
          <a:p>
            <a:pPr algn="l"/>
            <a:r>
              <a:rPr sz="850" b="1" i="0">
                <a:solidFill>
                  <a:srgbClr val="1B3A6B"/>
                </a:solidFill>
                <a:latin typeface="Calibri"/>
              </a:rPr>
              <a:t>—</a:t>
            </a:r>
          </a:p>
        </p:txBody>
      </p:sp>
      <p:sp>
        <p:nvSpPr>
          <p:cNvPr id="20" name="TextBox 19"/>
          <p:cNvSpPr txBox="1"/>
          <p:nvPr/>
        </p:nvSpPr>
        <p:spPr>
          <a:xfrm>
            <a:off x="503999" y="2916000"/>
            <a:ext cx="3931200" cy="378000"/>
          </a:xfrm>
          <a:prstGeom prst="rect">
            <a:avLst/>
          </a:prstGeom>
          <a:noFill/>
        </p:spPr>
        <p:txBody>
          <a:bodyPr wrap="square">
            <a:spAutoFit/>
          </a:bodyPr>
          <a:lstStyle/>
          <a:p>
            <a:pPr algn="l"/>
            <a:r>
              <a:rPr sz="750" b="0" i="0">
                <a:solidFill>
                  <a:srgbClr val="333333"/>
                </a:solidFill>
                <a:latin typeface="Calibri"/>
              </a:rPr>
              <a:t>—</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a:t>
            </a:r>
          </a:p>
        </p:txBody>
      </p:sp>
      <p:sp>
        <p:nvSpPr>
          <p:cNvPr id="25" name="TextBox 24"/>
          <p:cNvSpPr txBox="1"/>
          <p:nvPr/>
        </p:nvSpPr>
        <p:spPr>
          <a:xfrm>
            <a:off x="4845600" y="1814400"/>
            <a:ext cx="3794399" cy="378000"/>
          </a:xfrm>
          <a:prstGeom prst="rect">
            <a:avLst/>
          </a:prstGeom>
          <a:noFill/>
        </p:spPr>
        <p:txBody>
          <a:bodyPr wrap="square">
            <a:spAutoFit/>
          </a:bodyPr>
          <a:lstStyle/>
          <a:p>
            <a:pPr algn="l"/>
            <a:r>
              <a:rPr sz="750" b="0" i="0">
                <a:solidFill>
                  <a:srgbClr val="333333"/>
                </a:solidFill>
                <a:latin typeface="Calibri"/>
              </a:rPr>
              <a:t>Impact potentiel sur la thèse d'investissement — surveillance recommandée sur les 6-12 prochains mois.</a:t>
            </a:r>
          </a:p>
        </p:txBody>
      </p:sp>
      <p:sp>
        <p:nvSpPr>
          <p:cNvPr id="26" name="Rectangle 25"/>
          <p:cNvSpPr/>
          <p:nvPr/>
        </p:nvSpPr>
        <p:spPr>
          <a:xfrm>
            <a:off x="4708800" y="2214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96000"/>
            <a:ext cx="3794399" cy="183600"/>
          </a:xfrm>
          <a:prstGeom prst="rect">
            <a:avLst/>
          </a:prstGeom>
          <a:noFill/>
        </p:spPr>
        <p:txBody>
          <a:bodyPr wrap="square">
            <a:spAutoFit/>
          </a:bodyPr>
          <a:lstStyle/>
          <a:p>
            <a:pPr algn="l"/>
            <a:r>
              <a:rPr sz="850" b="1" i="0">
                <a:solidFill>
                  <a:srgbClr val="1B3A6B"/>
                </a:solidFill>
                <a:latin typeface="Calibri"/>
              </a:rPr>
              <a:t>—</a:t>
            </a:r>
          </a:p>
        </p:txBody>
      </p:sp>
      <p:sp>
        <p:nvSpPr>
          <p:cNvPr id="28" name="TextBox 27"/>
          <p:cNvSpPr txBox="1"/>
          <p:nvPr/>
        </p:nvSpPr>
        <p:spPr>
          <a:xfrm>
            <a:off x="4845600" y="2365200"/>
            <a:ext cx="3794399" cy="378000"/>
          </a:xfrm>
          <a:prstGeom prst="rect">
            <a:avLst/>
          </a:prstGeom>
          <a:noFill/>
        </p:spPr>
        <p:txBody>
          <a:bodyPr wrap="square">
            <a:spAutoFit/>
          </a:bodyPr>
          <a:lstStyle/>
          <a:p>
            <a:pPr algn="l"/>
            <a:r>
              <a:rPr sz="750" b="0" i="0">
                <a:solidFill>
                  <a:srgbClr val="333333"/>
                </a:solidFill>
                <a:latin typeface="Calibri"/>
              </a:rPr>
              <a:t>Impact potentiel sur la thèse d'investissement — surveillance recommandée sur les 6-12 prochains mois.</a:t>
            </a:r>
          </a:p>
        </p:txBody>
      </p:sp>
      <p:sp>
        <p:nvSpPr>
          <p:cNvPr id="29" name="Rectangle 28"/>
          <p:cNvSpPr/>
          <p:nvPr/>
        </p:nvSpPr>
        <p:spPr>
          <a:xfrm>
            <a:off x="4708800" y="2764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46800"/>
            <a:ext cx="3794399" cy="183600"/>
          </a:xfrm>
          <a:prstGeom prst="rect">
            <a:avLst/>
          </a:prstGeom>
          <a:noFill/>
        </p:spPr>
        <p:txBody>
          <a:bodyPr wrap="square">
            <a:spAutoFit/>
          </a:bodyPr>
          <a:lstStyle/>
          <a:p>
            <a:pPr algn="l"/>
            <a:r>
              <a:rPr sz="850" b="1" i="0">
                <a:solidFill>
                  <a:srgbClr val="1B3A6B"/>
                </a:solidFill>
                <a:latin typeface="Calibri"/>
              </a:rPr>
              <a:t>—</a:t>
            </a:r>
          </a:p>
        </p:txBody>
      </p:sp>
      <p:sp>
        <p:nvSpPr>
          <p:cNvPr id="31" name="TextBox 30"/>
          <p:cNvSpPr txBox="1"/>
          <p:nvPr/>
        </p:nvSpPr>
        <p:spPr>
          <a:xfrm>
            <a:off x="4845600" y="2916000"/>
            <a:ext cx="3794399" cy="378000"/>
          </a:xfrm>
          <a:prstGeom prst="rect">
            <a:avLst/>
          </a:prstGeom>
          <a:noFill/>
        </p:spPr>
        <p:txBody>
          <a:bodyPr wrap="square">
            <a:spAutoFit/>
          </a:bodyPr>
          <a:lstStyle/>
          <a:p>
            <a:pPr algn="l"/>
            <a:r>
              <a:rPr sz="750" b="0" i="0">
                <a:solidFill>
                  <a:srgbClr val="333333"/>
                </a:solidFill>
                <a:latin typeface="Calibri"/>
              </a:rPr>
              <a:t>Impact potentiel sur la thèse d'investissement — surveillance recommandée sur les 6-12 prochains mois.</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17,9x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8,6 %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0,91  ·  RFR 4,3 %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 EUR</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intrinsèque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+0,315</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Positif  ·  20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L'Oréal S.A.  ·  Consumer Defensive</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Risques structurels &amp; thèse contraire</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L'Oréal S.A.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a:t>
            </a:r>
          </a:p>
        </p:txBody>
      </p:sp>
      <p:sp>
        <p:nvSpPr>
          <p:cNvPr id="20" name="TextBox 19"/>
          <p:cNvSpPr txBox="1"/>
          <p:nvPr/>
        </p:nvSpPr>
        <p:spPr>
          <a:xfrm>
            <a:off x="503999" y="2358000"/>
            <a:ext cx="4662000" cy="183600"/>
          </a:xfrm>
          <a:prstGeom prst="rect">
            <a:avLst/>
          </a:prstGeom>
          <a:noFill/>
        </p:spPr>
        <p:txBody>
          <a:bodyPr wrap="square">
            <a:spAutoFit/>
          </a:bodyPr>
          <a:lstStyle/>
          <a:p>
            <a:pPr algn="l"/>
            <a:r>
              <a:rPr sz="900" b="1" i="0">
                <a:solidFill>
                  <a:srgbClr val="1B3A6B"/>
                </a:solidFill>
                <a:latin typeface="Calibri"/>
              </a:rPr>
              <a:t>Positionnement stratégique</a:t>
            </a:r>
          </a:p>
        </p:txBody>
      </p:sp>
      <p:sp>
        <p:nvSpPr>
          <p:cNvPr id="21" name="Rectangle 20"/>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191,2 Md€</a:t>
            </a:r>
          </a:p>
        </p:txBody>
      </p:sp>
      <p:sp>
        <p:nvSpPr>
          <p:cNvPr id="24" name="TextBox 23"/>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25" name="Rectangle 24"/>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44,1 Md€</a:t>
            </a:r>
          </a:p>
        </p:txBody>
      </p:sp>
      <p:sp>
        <p:nvSpPr>
          <p:cNvPr id="28" name="TextBox 27"/>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29" name="Rectangle 28"/>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358,20 EUR</a:t>
            </a:r>
          </a:p>
        </p:txBody>
      </p:sp>
      <p:sp>
        <p:nvSpPr>
          <p:cNvPr id="32" name="TextBox 31"/>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3" name="Rectangle 32"/>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17,9x</a:t>
            </a:r>
          </a:p>
        </p:txBody>
      </p:sp>
      <p:sp>
        <p:nvSpPr>
          <p:cNvPr id="36" name="TextBox 35"/>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37" name="TextBox 36"/>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31,2x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2731199"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31199"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2551199" cy="640800"/>
          </a:xfrm>
          <a:prstGeom prst="rect">
            <a:avLst/>
          </a:prstGeom>
          <a:noFill/>
        </p:spPr>
        <p:txBody>
          <a:bodyPr wrap="square">
            <a:spAutoFit/>
          </a:bodyPr>
          <a:lstStyle/>
          <a:p>
            <a:pPr algn="l"/>
            <a:r>
              <a:rPr sz="2200" b="1" i="0">
                <a:solidFill>
                  <a:srgbClr val="2E5FA3"/>
                </a:solidFill>
                <a:latin typeface="Calibri"/>
              </a:rPr>
              <a:t>—</a:t>
            </a:r>
          </a:p>
        </p:txBody>
      </p:sp>
      <p:sp>
        <p:nvSpPr>
          <p:cNvPr id="20" name="TextBox 19"/>
          <p:cNvSpPr txBox="1"/>
          <p:nvPr/>
        </p:nvSpPr>
        <p:spPr>
          <a:xfrm>
            <a:off x="4572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2551199" cy="255600"/>
          </a:xfrm>
          <a:prstGeom prst="rect">
            <a:avLst/>
          </a:prstGeom>
          <a:noFill/>
        </p:spPr>
        <p:txBody>
          <a:bodyPr wrap="square">
            <a:spAutoFit/>
          </a:bodyPr>
          <a:lstStyle/>
          <a:p>
            <a:pPr algn="l"/>
            <a:r>
              <a:rPr sz="1000" b="1" i="0">
                <a:solidFill>
                  <a:srgbClr val="1B3A6B"/>
                </a:solidFill>
                <a:latin typeface="Calibri"/>
              </a:rPr>
              <a:t>Core Business</a:t>
            </a:r>
          </a:p>
        </p:txBody>
      </p:sp>
      <p:sp>
        <p:nvSpPr>
          <p:cNvPr id="23" name="TextBox 22"/>
          <p:cNvSpPr txBox="1"/>
          <p:nvPr/>
        </p:nvSpPr>
        <p:spPr>
          <a:xfrm>
            <a:off x="457200" y="2332800"/>
            <a:ext cx="2551199" cy="2041199"/>
          </a:xfrm>
          <a:prstGeom prst="rect">
            <a:avLst/>
          </a:prstGeom>
          <a:noFill/>
        </p:spPr>
        <p:txBody>
          <a:bodyPr wrap="square">
            <a:spAutoFit/>
          </a:bodyPr>
          <a:lstStyle/>
          <a:p>
            <a:pPr algn="l"/>
            <a:r>
              <a:rPr sz="800" b="0" i="0">
                <a:solidFill>
                  <a:srgbClr val="555555"/>
                </a:solidFill>
                <a:latin typeface="Calibri"/>
              </a:rPr>
              <a:t>—</a:t>
            </a:r>
          </a:p>
        </p:txBody>
      </p:sp>
      <p:sp>
        <p:nvSpPr>
          <p:cNvPr id="24" name="Rectangle 23"/>
          <p:cNvSpPr/>
          <p:nvPr/>
        </p:nvSpPr>
        <p:spPr>
          <a:xfrm>
            <a:off x="3206400" y="961200"/>
            <a:ext cx="2731199"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206400" y="961200"/>
            <a:ext cx="2731199"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96400" y="1141200"/>
            <a:ext cx="2551199" cy="640800"/>
          </a:xfrm>
          <a:prstGeom prst="rect">
            <a:avLst/>
          </a:prstGeom>
          <a:noFill/>
        </p:spPr>
        <p:txBody>
          <a:bodyPr wrap="square">
            <a:spAutoFit/>
          </a:bodyPr>
          <a:lstStyle/>
          <a:p>
            <a:pPr algn="l"/>
            <a:r>
              <a:rPr sz="2200" b="1" i="0">
                <a:solidFill>
                  <a:srgbClr val="1A7A4A"/>
                </a:solidFill>
                <a:latin typeface="Calibri"/>
              </a:rPr>
              <a:t>—</a:t>
            </a:r>
          </a:p>
        </p:txBody>
      </p:sp>
      <p:sp>
        <p:nvSpPr>
          <p:cNvPr id="27" name="TextBox 26"/>
          <p:cNvSpPr txBox="1"/>
          <p:nvPr/>
        </p:nvSpPr>
        <p:spPr>
          <a:xfrm>
            <a:off x="32964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32964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96400" y="2059200"/>
            <a:ext cx="2551199" cy="255600"/>
          </a:xfrm>
          <a:prstGeom prst="rect">
            <a:avLst/>
          </a:prstGeom>
          <a:noFill/>
        </p:spPr>
        <p:txBody>
          <a:bodyPr wrap="square">
            <a:spAutoFit/>
          </a:bodyPr>
          <a:lstStyle/>
          <a:p>
            <a:pPr algn="l"/>
            <a:r>
              <a:rPr sz="1000" b="1" i="0">
                <a:solidFill>
                  <a:srgbClr val="1B3A6B"/>
                </a:solidFill>
                <a:latin typeface="Calibri"/>
              </a:rPr>
              <a:t>Growth Driver</a:t>
            </a:r>
          </a:p>
        </p:txBody>
      </p:sp>
      <p:sp>
        <p:nvSpPr>
          <p:cNvPr id="30" name="TextBox 29"/>
          <p:cNvSpPr txBox="1"/>
          <p:nvPr/>
        </p:nvSpPr>
        <p:spPr>
          <a:xfrm>
            <a:off x="3296400" y="2332800"/>
            <a:ext cx="2551199" cy="2041199"/>
          </a:xfrm>
          <a:prstGeom prst="rect">
            <a:avLst/>
          </a:prstGeom>
          <a:noFill/>
        </p:spPr>
        <p:txBody>
          <a:bodyPr wrap="square">
            <a:spAutoFit/>
          </a:bodyPr>
          <a:lstStyle/>
          <a:p>
            <a:pPr algn="l"/>
            <a:r>
              <a:rPr sz="800" b="0" i="0">
                <a:solidFill>
                  <a:srgbClr val="555555"/>
                </a:solidFill>
                <a:latin typeface="Calibri"/>
              </a:rPr>
              <a:t>—</a:t>
            </a:r>
          </a:p>
        </p:txBody>
      </p:sp>
      <p:sp>
        <p:nvSpPr>
          <p:cNvPr id="31" name="Rectangle 30"/>
          <p:cNvSpPr/>
          <p:nvPr/>
        </p:nvSpPr>
        <p:spPr>
          <a:xfrm>
            <a:off x="6045600" y="961200"/>
            <a:ext cx="2731199"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45600" y="961200"/>
            <a:ext cx="2731199" cy="54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35600" y="1141200"/>
            <a:ext cx="2551199" cy="640800"/>
          </a:xfrm>
          <a:prstGeom prst="rect">
            <a:avLst/>
          </a:prstGeom>
          <a:noFill/>
        </p:spPr>
        <p:txBody>
          <a:bodyPr wrap="square">
            <a:spAutoFit/>
          </a:bodyPr>
          <a:lstStyle/>
          <a:p>
            <a:pPr algn="l"/>
            <a:r>
              <a:rPr sz="2200" b="1" i="0">
                <a:solidFill>
                  <a:srgbClr val="888888"/>
                </a:solidFill>
                <a:latin typeface="Calibri"/>
              </a:rPr>
              <a:t>—</a:t>
            </a:r>
          </a:p>
        </p:txBody>
      </p:sp>
      <p:sp>
        <p:nvSpPr>
          <p:cNvPr id="34" name="TextBox 33"/>
          <p:cNvSpPr txBox="1"/>
          <p:nvPr/>
        </p:nvSpPr>
        <p:spPr>
          <a:xfrm>
            <a:off x="61356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35" name="Rectangle 34"/>
          <p:cNvSpPr/>
          <p:nvPr/>
        </p:nvSpPr>
        <p:spPr>
          <a:xfrm>
            <a:off x="61356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35600" y="2059200"/>
            <a:ext cx="2551199" cy="255600"/>
          </a:xfrm>
          <a:prstGeom prst="rect">
            <a:avLst/>
          </a:prstGeom>
          <a:noFill/>
        </p:spPr>
        <p:txBody>
          <a:bodyPr wrap="square">
            <a:spAutoFit/>
          </a:bodyPr>
          <a:lstStyle/>
          <a:p>
            <a:pPr algn="l"/>
            <a:r>
              <a:rPr sz="1000" b="1" i="0">
                <a:solidFill>
                  <a:srgbClr val="1B3A6B"/>
                </a:solidFill>
                <a:latin typeface="Calibri"/>
              </a:rPr>
              <a:t>International</a:t>
            </a:r>
          </a:p>
        </p:txBody>
      </p:sp>
      <p:sp>
        <p:nvSpPr>
          <p:cNvPr id="37" name="TextBox 36"/>
          <p:cNvSpPr txBox="1"/>
          <p:nvPr/>
        </p:nvSpPr>
        <p:spPr>
          <a:xfrm>
            <a:off x="6135600" y="2332800"/>
            <a:ext cx="2551199" cy="2041199"/>
          </a:xfrm>
          <a:prstGeom prst="rect">
            <a:avLst/>
          </a:prstGeom>
          <a:noFill/>
        </p:spPr>
        <p:txBody>
          <a:bodyPr wrap="square">
            <a:spAutoFit/>
          </a:bodyPr>
          <a:lstStyle/>
          <a:p>
            <a:pPr algn="l"/>
            <a:r>
              <a:rPr sz="800" b="0" i="0">
                <a:solidFill>
                  <a:srgbClr val="555555"/>
                </a:solidFill>
                <a:latin typeface="Calibri"/>
              </a:rPr>
              <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EUR millions  ·  2022–2025</a:t>
            </a:r>
          </a:p>
        </p:txBody>
      </p:sp>
      <p:graphicFrame>
        <p:nvGraphicFramePr>
          <p:cNvPr id="17" name="Table 16"/>
          <p:cNvGraphicFramePr>
            <a:graphicFrameLocks noGrp="1"/>
          </p:cNvGraphicFramePr>
          <p:nvPr/>
        </p:nvGraphicFramePr>
        <p:xfrm>
          <a:off x="367200" y="914400"/>
          <a:ext cx="8413200" cy="1980000"/>
        </p:xfrm>
        <a:graphic>
          <a:graphicData uri="http://schemas.openxmlformats.org/drawingml/2006/table">
            <a:tbl>
              <a:tblPr firstRow="1" bandRow="1">
                <a:tableStyleId>{5C22544A-7EE6-4342-B048-85BDC9FD1C3A}</a:tableStyleId>
              </a:tblPr>
              <a:tblGrid>
                <a:gridCol w="2355696"/>
                <a:gridCol w="2019168"/>
                <a:gridCol w="2019168"/>
                <a:gridCol w="2019168"/>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41,2</a:t>
                      </a:r>
                    </a:p>
                  </a:txBody>
                  <a:tcPr>
                    <a:solidFill>
                      <a:srgbClr val="FFFFFF"/>
                    </a:solidFill>
                  </a:tcPr>
                </a:tc>
                <a:tc>
                  <a:txBody>
                    <a:bodyPr/>
                    <a:lstStyle/>
                    <a:p>
                      <a:pPr algn="ctr"/>
                      <a:r>
                        <a:rPr sz="800" b="1" i="0">
                          <a:solidFill>
                            <a:srgbClr val="0D0D0D"/>
                          </a:solidFill>
                          <a:latin typeface="Calibri"/>
                        </a:rPr>
                        <a:t>43,5</a:t>
                      </a:r>
                    </a:p>
                  </a:txBody>
                  <a:tcPr>
                    <a:solidFill>
                      <a:srgbClr val="FFFFFF"/>
                    </a:solidFill>
                  </a:tcPr>
                </a:tc>
                <a:tc>
                  <a:txBody>
                    <a:bodyPr/>
                    <a:lstStyle/>
                    <a:p>
                      <a:pPr algn="ctr"/>
                      <a:r>
                        <a:rPr sz="800" b="1" i="0">
                          <a:solidFill>
                            <a:srgbClr val="1B3A6B"/>
                          </a:solidFill>
                          <a:latin typeface="Calibri"/>
                        </a:rPr>
                        <a:t>44,1</a:t>
                      </a:r>
                    </a:p>
                  </a:txBody>
                  <a:tcPr>
                    <a:solidFill>
                      <a:srgbClr val="DDE8F5"/>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+7,6 %</a:t>
                      </a:r>
                    </a:p>
                  </a:txBody>
                  <a:tcPr>
                    <a:solidFill>
                      <a:srgbClr val="F7F8FA"/>
                    </a:solidFill>
                  </a:tcPr>
                </a:tc>
                <a:tc>
                  <a:txBody>
                    <a:bodyPr/>
                    <a:lstStyle/>
                    <a:p>
                      <a:pPr algn="ctr"/>
                      <a:r>
                        <a:rPr sz="750" b="0" i="1">
                          <a:solidFill>
                            <a:srgbClr val="555555"/>
                          </a:solidFill>
                          <a:latin typeface="Calibri"/>
                        </a:rPr>
                        <a:t>+5,6 %</a:t>
                      </a:r>
                    </a:p>
                  </a:txBody>
                  <a:tcPr>
                    <a:solidFill>
                      <a:srgbClr val="F7F8FA"/>
                    </a:solidFill>
                  </a:tcPr>
                </a:tc>
                <a:tc>
                  <a:txBody>
                    <a:bodyPr/>
                    <a:lstStyle/>
                    <a:p>
                      <a:pPr algn="ctr"/>
                      <a:r>
                        <a:rPr sz="750" b="0" i="1">
                          <a:solidFill>
                            <a:srgbClr val="555555"/>
                          </a:solidFill>
                          <a:latin typeface="Calibri"/>
                        </a:rPr>
                        <a:t>+1,3 %</a:t>
                      </a:r>
                    </a:p>
                  </a:txBody>
                  <a:tcPr>
                    <a:solidFill>
                      <a:srgbClr val="DDE8F5"/>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30,4</a:t>
                      </a:r>
                    </a:p>
                  </a:txBody>
                  <a:tcPr>
                    <a:solidFill>
                      <a:srgbClr val="FFFFFF"/>
                    </a:solidFill>
                  </a:tcPr>
                </a:tc>
                <a:tc>
                  <a:txBody>
                    <a:bodyPr/>
                    <a:lstStyle/>
                    <a:p>
                      <a:pPr algn="ctr"/>
                      <a:r>
                        <a:rPr sz="800" b="1" i="0">
                          <a:solidFill>
                            <a:srgbClr val="0D0D0D"/>
                          </a:solidFill>
                          <a:latin typeface="Calibri"/>
                        </a:rPr>
                        <a:t>32,3</a:t>
                      </a:r>
                    </a:p>
                  </a:txBody>
                  <a:tcPr>
                    <a:solidFill>
                      <a:srgbClr val="FFFFFF"/>
                    </a:solidFill>
                  </a:tcPr>
                </a:tc>
                <a:tc>
                  <a:txBody>
                    <a:bodyPr/>
                    <a:lstStyle/>
                    <a:p>
                      <a:pPr algn="ctr"/>
                      <a:r>
                        <a:rPr sz="800" b="1" i="0">
                          <a:solidFill>
                            <a:srgbClr val="1B3A6B"/>
                          </a:solidFill>
                          <a:latin typeface="Calibri"/>
                        </a:rPr>
                        <a:t>32,7</a:t>
                      </a:r>
                    </a:p>
                  </a:txBody>
                  <a:tcPr>
                    <a:solidFill>
                      <a:srgbClr val="DDE8F5"/>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73,9 %</a:t>
                      </a:r>
                    </a:p>
                  </a:txBody>
                  <a:tcPr>
                    <a:solidFill>
                      <a:srgbClr val="F7F8FA"/>
                    </a:solidFill>
                  </a:tcPr>
                </a:tc>
                <a:tc>
                  <a:txBody>
                    <a:bodyPr/>
                    <a:lstStyle/>
                    <a:p>
                      <a:pPr algn="ctr"/>
                      <a:r>
                        <a:rPr sz="750" b="0" i="1">
                          <a:solidFill>
                            <a:srgbClr val="555555"/>
                          </a:solidFill>
                          <a:latin typeface="Calibri"/>
                        </a:rPr>
                        <a:t>74,2 %</a:t>
                      </a:r>
                    </a:p>
                  </a:txBody>
                  <a:tcPr>
                    <a:solidFill>
                      <a:srgbClr val="F7F8FA"/>
                    </a:solidFill>
                  </a:tcPr>
                </a:tc>
                <a:tc>
                  <a:txBody>
                    <a:bodyPr/>
                    <a:lstStyle/>
                    <a:p>
                      <a:pPr algn="ctr"/>
                      <a:r>
                        <a:rPr sz="750" b="0" i="1">
                          <a:solidFill>
                            <a:srgbClr val="555555"/>
                          </a:solidFill>
                          <a:latin typeface="Calibri"/>
                        </a:rPr>
                        <a:t>74,3 %</a:t>
                      </a:r>
                    </a:p>
                  </a:txBody>
                  <a:tcPr>
                    <a:solidFill>
                      <a:srgbClr val="DDE8F5"/>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9,9</a:t>
                      </a:r>
                    </a:p>
                  </a:txBody>
                  <a:tcPr>
                    <a:solidFill>
                      <a:srgbClr val="FFFFFF"/>
                    </a:solidFill>
                  </a:tcPr>
                </a:tc>
                <a:tc>
                  <a:txBody>
                    <a:bodyPr/>
                    <a:lstStyle/>
                    <a:p>
                      <a:pPr algn="ctr"/>
                      <a:r>
                        <a:rPr sz="800" b="1" i="0">
                          <a:solidFill>
                            <a:srgbClr val="0D0D0D"/>
                          </a:solidFill>
                          <a:latin typeface="Calibri"/>
                        </a:rPr>
                        <a:t>10,7</a:t>
                      </a:r>
                    </a:p>
                  </a:txBody>
                  <a:tcPr>
                    <a:solidFill>
                      <a:srgbClr val="FFFFFF"/>
                    </a:solidFill>
                  </a:tcPr>
                </a:tc>
                <a:tc>
                  <a:txBody>
                    <a:bodyPr/>
                    <a:lstStyle/>
                    <a:p>
                      <a:pPr algn="ctr"/>
                      <a:r>
                        <a:rPr sz="800" b="1" i="0">
                          <a:solidFill>
                            <a:srgbClr val="1B3A6B"/>
                          </a:solidFill>
                          <a:latin typeface="Calibri"/>
                        </a:rPr>
                        <a:t>10,7</a:t>
                      </a:r>
                    </a:p>
                  </a:txBody>
                  <a:tcPr>
                    <a:solidFill>
                      <a:srgbClr val="DDE8F5"/>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24,1 %</a:t>
                      </a:r>
                    </a:p>
                  </a:txBody>
                  <a:tcPr>
                    <a:solidFill>
                      <a:srgbClr val="F7F8FA"/>
                    </a:solidFill>
                  </a:tcPr>
                </a:tc>
                <a:tc>
                  <a:txBody>
                    <a:bodyPr/>
                    <a:lstStyle/>
                    <a:p>
                      <a:pPr algn="ctr"/>
                      <a:r>
                        <a:rPr sz="750" b="0" i="1">
                          <a:solidFill>
                            <a:srgbClr val="555555"/>
                          </a:solidFill>
                          <a:latin typeface="Calibri"/>
                        </a:rPr>
                        <a:t>24,5 %</a:t>
                      </a:r>
                    </a:p>
                  </a:txBody>
                  <a:tcPr>
                    <a:solidFill>
                      <a:srgbClr val="F7F8FA"/>
                    </a:solidFill>
                  </a:tcPr>
                </a:tc>
                <a:tc>
                  <a:txBody>
                    <a:bodyPr/>
                    <a:lstStyle/>
                    <a:p>
                      <a:pPr algn="ctr"/>
                      <a:r>
                        <a:rPr sz="750" b="0" i="1">
                          <a:solidFill>
                            <a:srgbClr val="555555"/>
                          </a:solidFill>
                          <a:latin typeface="Calibri"/>
                        </a:rPr>
                        <a:t>24,3 %</a:t>
                      </a:r>
                    </a:p>
                  </a:txBody>
                  <a:tcPr>
                    <a:solidFill>
                      <a:srgbClr val="DDE8F5"/>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6,2</a:t>
                      </a:r>
                    </a:p>
                  </a:txBody>
                  <a:tcPr>
                    <a:solidFill>
                      <a:srgbClr val="FFFFFF"/>
                    </a:solidFill>
                  </a:tcPr>
                </a:tc>
                <a:tc>
                  <a:txBody>
                    <a:bodyPr/>
                    <a:lstStyle/>
                    <a:p>
                      <a:pPr algn="ctr"/>
                      <a:r>
                        <a:rPr sz="800" b="1" i="0">
                          <a:solidFill>
                            <a:srgbClr val="0D0D0D"/>
                          </a:solidFill>
                          <a:latin typeface="Calibri"/>
                        </a:rPr>
                        <a:t>6,4</a:t>
                      </a:r>
                    </a:p>
                  </a:txBody>
                  <a:tcPr>
                    <a:solidFill>
                      <a:srgbClr val="FFFFFF"/>
                    </a:solidFill>
                  </a:tcPr>
                </a:tc>
                <a:tc>
                  <a:txBody>
                    <a:bodyPr/>
                    <a:lstStyle/>
                    <a:p>
                      <a:pPr algn="ctr"/>
                      <a:r>
                        <a:rPr sz="800" b="1" i="0">
                          <a:solidFill>
                            <a:srgbClr val="1B3A6B"/>
                          </a:solidFill>
                          <a:latin typeface="Calibri"/>
                        </a:rPr>
                        <a:t>6,1</a:t>
                      </a:r>
                    </a:p>
                  </a:txBody>
                  <a:tcPr>
                    <a:solidFill>
                      <a:srgbClr val="DDE8F5"/>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15,0 %</a:t>
                      </a:r>
                    </a:p>
                  </a:txBody>
                  <a:tcPr>
                    <a:solidFill>
                      <a:srgbClr val="F7F8FA"/>
                    </a:solidFill>
                  </a:tcPr>
                </a:tc>
                <a:tc>
                  <a:txBody>
                    <a:bodyPr/>
                    <a:lstStyle/>
                    <a:p>
                      <a:pPr algn="ctr"/>
                      <a:r>
                        <a:rPr sz="750" b="0" i="1">
                          <a:solidFill>
                            <a:srgbClr val="555555"/>
                          </a:solidFill>
                          <a:latin typeface="Calibri"/>
                        </a:rPr>
                        <a:t>14,7 %</a:t>
                      </a:r>
                    </a:p>
                  </a:txBody>
                  <a:tcPr>
                    <a:solidFill>
                      <a:srgbClr val="F7F8FA"/>
                    </a:solidFill>
                  </a:tcPr>
                </a:tc>
                <a:tc>
                  <a:txBody>
                    <a:bodyPr/>
                    <a:lstStyle/>
                    <a:p>
                      <a:pPr algn="ctr"/>
                      <a:r>
                        <a:rPr sz="750" b="0" i="1">
                          <a:solidFill>
                            <a:srgbClr val="555555"/>
                          </a:solidFill>
                          <a:latin typeface="Calibri"/>
                        </a:rPr>
                        <a:t>13,9 %</a:t>
                      </a:r>
                    </a:p>
                  </a:txBody>
                  <a:tcPr>
                    <a:solidFill>
                      <a:srgbClr val="DDE8F5"/>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EUR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9,9 Md€</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8,1 Md€</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254 M€</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1,76</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1,37</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0,3x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23,7x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0,0x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5,77</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-2,73</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31,2x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17,9x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4,3x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74,3 %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24,3 %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17,5 %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19,8 %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Léger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5,77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-2,73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358,20 EUR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a:t>
                      </a:r>
                    </a:p>
                  </a:txBody>
                  <a:tcPr>
                    <a:solidFill>
                      <a:srgbClr val="FAF0EF"/>
                    </a:solidFill>
                  </a:tcPr>
                </a:tc>
                <a:tc>
                  <a:txBody>
                    <a:bodyPr/>
                    <a:lstStyle/>
                    <a:p>
                      <a:pPr algn="ctr"/>
                      <a:r>
                        <a:rPr sz="2000" b="1" i="0">
                          <a:solidFill>
                            <a:srgbClr val="2E5FA3"/>
                          </a:solidFill>
                          <a:latin typeface="Calibri"/>
                        </a:rPr>
                        <a:t>—</a:t>
                      </a:r>
                    </a:p>
                  </a:txBody>
                  <a:tcPr>
                    <a:solidFill>
                      <a:srgbClr val="EEF3FA"/>
                    </a:solidFill>
                  </a:tcPr>
                </a:tc>
                <a:tc>
                  <a:txBody>
                    <a:bodyPr/>
                    <a:lstStyle/>
                    <a:p>
                      <a:pPr algn="ctr"/>
                      <a:r>
                        <a:rPr sz="2000" b="1" i="0">
                          <a:solidFill>
                            <a:srgbClr val="1A7A4A"/>
                          </a:solidFill>
                          <a:latin typeface="Calibri"/>
                        </a:rPr>
                        <a:t>—</a:t>
                      </a:r>
                    </a:p>
                  </a:txBody>
                  <a:tcPr>
                    <a:solidFill>
                      <a:srgbClr val="EAF4EF"/>
                    </a:solidFill>
                  </a:tcPr>
                </a:tc>
              </a:tr>
              <a:tr h="342900">
                <a:tc>
                  <a:txBody>
                    <a:bodyPr/>
                    <a:lstStyle/>
                    <a:p>
                      <a:pPr algn="ctr"/>
                      <a:r>
                        <a:rPr sz="1200" b="1" i="0">
                          <a:solidFill>
                            <a:srgbClr val="A82020"/>
                          </a:solidFill>
                          <a:latin typeface="Calibri"/>
                        </a:rPr>
                        <a:t>—</a:t>
                      </a:r>
                    </a:p>
                  </a:txBody>
                  <a:tcPr>
                    <a:solidFill>
                      <a:srgbClr val="FAF0EF"/>
                    </a:solidFill>
                  </a:tcPr>
                </a:tc>
                <a:tc>
                  <a:txBody>
                    <a:bodyPr/>
                    <a:lstStyle/>
                    <a:p>
                      <a:pPr algn="ctr"/>
                      <a:r>
                        <a:rPr sz="1200" b="1" i="0">
                          <a:solidFill>
                            <a:srgbClr val="2E5FA3"/>
                          </a:solidFill>
                          <a:latin typeface="Calibri"/>
                        </a:rPr>
                        <a:t>—</a:t>
                      </a:r>
                    </a:p>
                  </a:txBody>
                  <a:tcPr>
                    <a:solidFill>
                      <a:srgbClr val="EEF3FA"/>
                    </a:solidFill>
                  </a:tcPr>
                </a:tc>
                <a:tc>
                  <a:txBody>
                    <a:bodyPr/>
                    <a:lstStyle/>
                    <a:p>
                      <a:pPr algn="ctr"/>
                      <a:r>
                        <a:rPr sz="1200" b="1" i="0">
                          <a:solidFill>
                            <a:srgbClr val="1A7A4A"/>
                          </a:solidFill>
                          <a:latin typeface="Calibri"/>
                        </a:rPr>
                        <a:t>—</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sensibilité — Valeur intrinsèque (EUR)</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6,6%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7,6%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8,6%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10,6%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EUR</a:t>
            </a:r>
          </a:p>
        </p:txBody>
      </p:sp>
      <p:graphicFrame>
        <p:nvGraphicFramePr>
          <p:cNvPr id="17" name="Table 16"/>
          <p:cNvGraphicFramePr>
            <a:graphicFrameLocks noGrp="1"/>
          </p:cNvGraphicFramePr>
          <p:nvPr/>
        </p:nvGraphicFramePr>
        <p:xfrm>
          <a:off x="367200" y="914400"/>
          <a:ext cx="8413200" cy="871200"/>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90400">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90400">
                <a:tc>
                  <a:txBody>
                    <a:bodyPr/>
                    <a:lstStyle/>
                    <a:p>
                      <a:pPr algn="l"/>
                      <a:r>
                        <a:rPr sz="800" b="1" i="0">
                          <a:solidFill>
                            <a:srgbClr val="1B3A6B"/>
                          </a:solidFill>
                          <a:latin typeface="Calibri"/>
                        </a:rPr>
                        <a:t>L'Oréal S.A.</a:t>
                      </a:r>
                    </a:p>
                  </a:txBody>
                  <a:tcPr>
                    <a:solidFill>
                      <a:srgbClr val="DDE8F5"/>
                    </a:solidFill>
                  </a:tcPr>
                </a:tc>
                <a:tc>
                  <a:txBody>
                    <a:bodyPr/>
                    <a:lstStyle/>
                    <a:p>
                      <a:pPr algn="ctr"/>
                      <a:r>
                        <a:rPr sz="750" b="1" i="0">
                          <a:solidFill>
                            <a:srgbClr val="2E5FA3"/>
                          </a:solidFill>
                          <a:latin typeface="Calibri"/>
                        </a:rPr>
                        <a:t>OR.PA</a:t>
                      </a:r>
                    </a:p>
                  </a:txBody>
                  <a:tcPr>
                    <a:solidFill>
                      <a:srgbClr val="DDE8F5"/>
                    </a:solidFill>
                  </a:tcPr>
                </a:tc>
                <a:tc>
                  <a:txBody>
                    <a:bodyPr/>
                    <a:lstStyle/>
                    <a:p>
                      <a:pPr algn="ctr"/>
                      <a:r>
                        <a:rPr sz="800" b="1" i="0">
                          <a:solidFill>
                            <a:srgbClr val="1B3A6B"/>
                          </a:solidFill>
                          <a:latin typeface="Calibri"/>
                        </a:rPr>
                        <a:t>191,2</a:t>
                      </a:r>
                    </a:p>
                  </a:txBody>
                  <a:tcPr>
                    <a:solidFill>
                      <a:srgbClr val="DDE8F5"/>
                    </a:solidFill>
                  </a:tcPr>
                </a:tc>
                <a:tc>
                  <a:txBody>
                    <a:bodyPr/>
                    <a:lstStyle/>
                    <a:p>
                      <a:pPr algn="ctr"/>
                      <a:r>
                        <a:rPr sz="800" b="1" i="0">
                          <a:solidFill>
                            <a:srgbClr val="1B3A6B"/>
                          </a:solidFill>
                          <a:latin typeface="Calibri"/>
                        </a:rPr>
                        <a:t>17,9x</a:t>
                      </a:r>
                    </a:p>
                  </a:txBody>
                  <a:tcPr>
                    <a:solidFill>
                      <a:srgbClr val="DDE8F5"/>
                    </a:solidFill>
                  </a:tcPr>
                </a:tc>
                <a:tc>
                  <a:txBody>
                    <a:bodyPr/>
                    <a:lstStyle/>
                    <a:p>
                      <a:pPr algn="ctr"/>
                      <a:r>
                        <a:rPr sz="800" b="1" i="0">
                          <a:solidFill>
                            <a:srgbClr val="1B3A6B"/>
                          </a:solidFill>
                          <a:latin typeface="Calibri"/>
                        </a:rPr>
                        <a:t>4,3x</a:t>
                      </a:r>
                    </a:p>
                  </a:txBody>
                  <a:tcPr>
                    <a:solidFill>
                      <a:srgbClr val="DDE8F5"/>
                    </a:solidFill>
                  </a:tcPr>
                </a:tc>
                <a:tc>
                  <a:txBody>
                    <a:bodyPr/>
                    <a:lstStyle/>
                    <a:p>
                      <a:pPr algn="ctr"/>
                      <a:r>
                        <a:rPr sz="800" b="1" i="0">
                          <a:solidFill>
                            <a:srgbClr val="1B3A6B"/>
                          </a:solidFill>
                          <a:latin typeface="Calibri"/>
                        </a:rPr>
                        <a:t>31,2x</a:t>
                      </a:r>
                    </a:p>
                  </a:txBody>
                  <a:tcPr>
                    <a:solidFill>
                      <a:srgbClr val="DDE8F5"/>
                    </a:solidFill>
                  </a:tcPr>
                </a:tc>
                <a:tc>
                  <a:txBody>
                    <a:bodyPr/>
                    <a:lstStyle/>
                    <a:p>
                      <a:pPr algn="ctr"/>
                      <a:r>
                        <a:rPr sz="800" b="1" i="0">
                          <a:solidFill>
                            <a:srgbClr val="1B3A6B"/>
                          </a:solidFill>
                          <a:latin typeface="Calibri"/>
                        </a:rPr>
                        <a:t>74,3 %</a:t>
                      </a:r>
                    </a:p>
                  </a:txBody>
                  <a:tcPr>
                    <a:solidFill>
                      <a:srgbClr val="DDE8F5"/>
                    </a:solidFill>
                  </a:tcPr>
                </a:tc>
                <a:tc>
                  <a:txBody>
                    <a:bodyPr/>
                    <a:lstStyle/>
                    <a:p>
                      <a:pPr algn="ctr"/>
                      <a:r>
                        <a:rPr sz="800" b="1" i="0">
                          <a:solidFill>
                            <a:srgbClr val="1B3A6B"/>
                          </a:solidFill>
                          <a:latin typeface="Calibri"/>
                        </a:rPr>
                        <a:t>24,3 %</a:t>
                      </a:r>
                    </a:p>
                  </a:txBody>
                  <a:tcPr>
                    <a:solidFill>
                      <a:srgbClr val="DDE8F5"/>
                    </a:solidFill>
                  </a:tcPr>
                </a:tc>
              </a:tr>
              <a:tr h="290400">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EUR par action</a:t>
            </a:r>
          </a:p>
        </p:txBody>
      </p:sp>
      <p:graphicFrame>
        <p:nvGraphicFramePr>
          <p:cNvPr id="17" name="Table 16"/>
          <p:cNvGraphicFramePr>
            <a:graphicFrameLocks noGrp="1"/>
          </p:cNvGraphicFramePr>
          <p:nvPr/>
        </p:nvGraphicFramePr>
        <p:xfrm>
          <a:off x="367200" y="914400"/>
          <a:ext cx="8413200" cy="615600"/>
        </p:xfrm>
        <a:graphic>
          <a:graphicData uri="http://schemas.openxmlformats.org/drawingml/2006/table">
            <a:tbl>
              <a:tblPr firstRow="1" bandRow="1">
                <a:tableStyleId>{5C22544A-7EE6-4342-B048-85BDC9FD1C3A}</a:tableStyleId>
              </a:tblPr>
              <a:tblGrid>
                <a:gridCol w="2944620"/>
                <a:gridCol w="1682640"/>
                <a:gridCol w="1682640"/>
                <a:gridCol w="2103300"/>
              </a:tblGrid>
              <a:tr h="307800">
                <a:tc>
                  <a:txBody>
                    <a:bodyPr/>
                    <a:lstStyle/>
                    <a:p>
                      <a:pPr algn="l"/>
                      <a:r>
                        <a:rPr sz="800" b="1" i="0">
                          <a:solidFill>
                            <a:srgbClr val="FFFFFF"/>
                          </a:solidFill>
                          <a:latin typeface="Calibri"/>
                        </a:rPr>
                        <a:t>Méthode</a:t>
                      </a:r>
                    </a:p>
                  </a:txBody>
                  <a:tcPr>
                    <a:solidFill>
                      <a:srgbClr val="1B3A6B"/>
                    </a:solidFill>
                  </a:tcPr>
                </a:tc>
                <a:tc>
                  <a:txBody>
                    <a:bodyPr/>
                    <a:lstStyle/>
                    <a:p>
                      <a:pPr algn="ctr"/>
                      <a:r>
                        <a:rPr sz="800" b="1" i="0">
                          <a:solidFill>
                            <a:srgbClr val="FFFFFF"/>
                          </a:solidFill>
                          <a:latin typeface="Calibri"/>
                        </a:rPr>
                        <a:t>Fourchette basse</a:t>
                      </a:r>
                    </a:p>
                  </a:txBody>
                  <a:tcPr>
                    <a:solidFill>
                      <a:srgbClr val="1B3A6B"/>
                    </a:solidFill>
                  </a:tcPr>
                </a:tc>
                <a:tc>
                  <a:txBody>
                    <a:bodyPr/>
                    <a:lstStyle/>
                    <a:p>
                      <a:pPr algn="ctr"/>
                      <a:r>
                        <a:rPr sz="800" b="1" i="0">
                          <a:solidFill>
                            <a:srgbClr val="FFFFFF"/>
                          </a:solidFill>
                          <a:latin typeface="Calibri"/>
                        </a:rPr>
                        <a:t>Fourchette haute</a:t>
                      </a:r>
                    </a:p>
                  </a:txBody>
                  <a:tcPr>
                    <a:solidFill>
                      <a:srgbClr val="1B3A6B"/>
                    </a:solidFill>
                  </a:tcPr>
                </a:tc>
                <a:tc>
                  <a:txBody>
                    <a:bodyPr/>
                    <a:lstStyle/>
                    <a:p>
                      <a:pPr algn="ctr"/>
                      <a:r>
                        <a:rPr sz="800" b="1" i="0">
                          <a:solidFill>
                            <a:srgbClr val="FFFFFF"/>
                          </a:solidFill>
                          <a:latin typeface="Calibri"/>
                        </a:rPr>
                        <a:t>Point central</a:t>
                      </a:r>
                    </a:p>
                  </a:txBody>
                  <a:tcPr>
                    <a:solidFill>
                      <a:srgbClr val="1B3A6B"/>
                    </a:solidFill>
                  </a:tcPr>
                </a:tc>
              </a:tr>
              <a:tr h="307800">
                <a:tc>
                  <a:txBody>
                    <a:bodyPr/>
                    <a:lstStyle/>
                    <a:p>
                      <a:pPr algn="l"/>
                      <a:r>
                        <a:rPr sz="800" b="0" i="0">
                          <a:solidFill>
                            <a:srgbClr val="0D0D0D"/>
                          </a:solidFill>
                          <a:latin typeface="Calibri"/>
                        </a:rPr>
                        <a:t>Cours actuel (358,20)</a:t>
                      </a:r>
                    </a:p>
                  </a:txBody>
                  <a:tcPr>
                    <a:solidFill>
                      <a:srgbClr val="EEF3FA"/>
                    </a:solidFill>
                  </a:tcPr>
                </a:tc>
                <a:tc>
                  <a:txBody>
                    <a:bodyPr/>
                    <a:lstStyle/>
                    <a:p>
                      <a:pPr algn="ctr"/>
                      <a:r>
                        <a:rPr sz="800" b="0" i="0">
                          <a:solidFill>
                            <a:srgbClr val="0D0D0D"/>
                          </a:solidFill>
                          <a:latin typeface="Calibri"/>
                        </a:rPr>
                        <a:t>—</a:t>
                      </a:r>
                    </a:p>
                  </a:txBody>
                  <a:tcPr>
                    <a:solidFill>
                      <a:srgbClr val="EEF3FA"/>
                    </a:solidFill>
                  </a:tcPr>
                </a:tc>
                <a:tc>
                  <a:txBody>
                    <a:bodyPr/>
                    <a:lstStyle/>
                    <a:p>
                      <a:pPr algn="ctr"/>
                      <a:r>
                        <a:rPr sz="800" b="0" i="0">
                          <a:solidFill>
                            <a:srgbClr val="0D0D0D"/>
                          </a:solidFill>
                          <a:latin typeface="Calibri"/>
                        </a:rPr>
                        <a:t>—</a:t>
                      </a:r>
                    </a:p>
                  </a:txBody>
                  <a:tcPr>
                    <a:solidFill>
                      <a:srgbClr val="EEF3FA"/>
                    </a:solidFill>
                  </a:tcPr>
                </a:tc>
                <a:tc>
                  <a:txBody>
                    <a:bodyPr/>
                    <a:lstStyle/>
                    <a:p>
                      <a:pPr algn="ctr"/>
                      <a:r>
                        <a:rPr sz="800" b="0" i="0">
                          <a:solidFill>
                            <a:srgbClr val="0D0D0D"/>
                          </a:solidFill>
                          <a:latin typeface="Calibri"/>
                        </a:rPr>
                        <a:t>358,20</a:t>
                      </a:r>
                    </a:p>
                  </a:txBody>
                  <a:tcPr>
                    <a:solidFill>
                      <a:srgbClr val="EEF3FA"/>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396000"/>
          </a:xfrm>
          <a:prstGeom prst="rect">
            <a:avLst/>
          </a:prstGeom>
          <a:noFill/>
        </p:spPr>
        <p:txBody>
          <a:bodyPr wrap="square">
            <a:spAutoFit/>
          </a:bodyPr>
          <a:lstStyle/>
          <a:p>
            <a:pPr algn="l"/>
            <a:r>
              <a:rPr sz="900" b="1" i="0">
                <a:solidFill>
                  <a:srgbClr val="A82020"/>
                </a:solidFill>
                <a:latin typeface="Calibri"/>
              </a:rPr>
              <a:t>Risque 1</a:t>
            </a:r>
          </a:p>
        </p:txBody>
      </p:sp>
      <p:sp>
        <p:nvSpPr>
          <p:cNvPr id="20" name="TextBox 19"/>
          <p:cNvSpPr txBox="1"/>
          <p:nvPr/>
        </p:nvSpPr>
        <p:spPr>
          <a:xfrm>
            <a:off x="475200" y="1537199"/>
            <a:ext cx="2527200" cy="1260000"/>
          </a:xfrm>
          <a:prstGeom prst="rect">
            <a:avLst/>
          </a:prstGeom>
          <a:noFill/>
        </p:spPr>
        <p:txBody>
          <a:bodyPr wrap="square">
            <a:spAutoFit/>
          </a:bodyPr>
          <a:lstStyle/>
          <a:p>
            <a:pPr algn="l"/>
            <a:r>
              <a:rPr sz="800" b="0" i="0">
                <a:solidFill>
                  <a:srgbClr val="555555"/>
                </a:solidFill>
                <a:latin typeface="Calibri"/>
              </a:rPr>
              <a:t>Risque macro-économique : remontée des taux ou ralentissement de la demande mondiale.</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396000"/>
          </a:xfrm>
          <a:prstGeom prst="rect">
            <a:avLst/>
          </a:prstGeom>
          <a:noFill/>
        </p:spPr>
        <p:txBody>
          <a:bodyPr wrap="square">
            <a:spAutoFit/>
          </a:bodyPr>
          <a:lstStyle/>
          <a:p>
            <a:pPr algn="l"/>
            <a:r>
              <a:rPr sz="900" b="1" i="0">
                <a:solidFill>
                  <a:srgbClr val="2E5FA3"/>
                </a:solidFill>
                <a:latin typeface="Calibri"/>
              </a:rPr>
              <a:t>Risque 2</a:t>
            </a:r>
          </a:p>
        </p:txBody>
      </p:sp>
      <p:sp>
        <p:nvSpPr>
          <p:cNvPr id="24" name="TextBox 23"/>
          <p:cNvSpPr txBox="1"/>
          <p:nvPr/>
        </p:nvSpPr>
        <p:spPr>
          <a:xfrm>
            <a:off x="3337200" y="1537199"/>
            <a:ext cx="2527200" cy="1260000"/>
          </a:xfrm>
          <a:prstGeom prst="rect">
            <a:avLst/>
          </a:prstGeom>
          <a:noFill/>
        </p:spPr>
        <p:txBody>
          <a:bodyPr wrap="square">
            <a:spAutoFit/>
          </a:bodyPr>
          <a:lstStyle/>
          <a:p>
            <a:pPr algn="l"/>
            <a:r>
              <a:rPr sz="800" b="0" i="0">
                <a:solidFill>
                  <a:srgbClr val="555555"/>
                </a:solidFill>
                <a:latin typeface="Calibri"/>
              </a:rPr>
              <a:t>Risque sectoriel : intensification de la concurrence ou disruption technologique.</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396000"/>
          </a:xfrm>
          <a:prstGeom prst="rect">
            <a:avLst/>
          </a:prstGeom>
          <a:noFill/>
        </p:spPr>
        <p:txBody>
          <a:bodyPr wrap="square">
            <a:spAutoFit/>
          </a:bodyPr>
          <a:lstStyle/>
          <a:p>
            <a:pPr algn="l"/>
            <a:r>
              <a:rPr sz="900" b="1" i="0">
                <a:solidFill>
                  <a:srgbClr val="B06000"/>
                </a:solidFill>
                <a:latin typeface="Calibri"/>
              </a:rPr>
              <a:t>Risque 3</a:t>
            </a:r>
          </a:p>
        </p:txBody>
      </p:sp>
      <p:sp>
        <p:nvSpPr>
          <p:cNvPr id="28" name="TextBox 27"/>
          <p:cNvSpPr txBox="1"/>
          <p:nvPr/>
        </p:nvSpPr>
        <p:spPr>
          <a:xfrm>
            <a:off x="6199200" y="1537199"/>
            <a:ext cx="2527200" cy="1260000"/>
          </a:xfrm>
          <a:prstGeom prst="rect">
            <a:avLst/>
          </a:prstGeom>
          <a:noFill/>
        </p:spPr>
        <p:txBody>
          <a:bodyPr wrap="square">
            <a:spAutoFit/>
          </a:bodyPr>
          <a:lstStyle/>
          <a:p>
            <a:pPr algn="l"/>
            <a:r>
              <a:rPr sz="800" b="0" i="0">
                <a:solidFill>
                  <a:srgbClr val="555555"/>
                </a:solidFill>
                <a:latin typeface="Calibri"/>
              </a:rPr>
              <a:t>Risque spécifique : détérioration des marges ou exécution stratégique.</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Remontée des taux directeurs &gt; 200bps</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Rupture technologique remettant en cause le modèle</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Détérioration matérielle des marges opérationnelles</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4280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438800"/>
            <a:ext cx="2696400" cy="158400"/>
          </a:xfrm>
          <a:prstGeom prst="rect">
            <a:avLst/>
          </a:prstGeom>
          <a:noFill/>
        </p:spPr>
        <p:txBody>
          <a:bodyPr wrap="square">
            <a:spAutoFit/>
          </a:bodyPr>
          <a:lstStyle/>
          <a:p>
            <a:pPr algn="l"/>
            <a:r>
              <a:rPr sz="700" b="0" i="0">
                <a:solidFill>
                  <a:srgbClr val="1B3A6B"/>
                </a:solidFill>
                <a:latin typeface="Calibri"/>
              </a:rPr>
              <a:t>Détresse : 0/100  Sain</a:t>
            </a:r>
          </a:p>
        </p:txBody>
      </p:sp>
      <p:sp>
        <p:nvSpPr>
          <p:cNvPr id="35" name="Rectangle 34"/>
          <p:cNvSpPr/>
          <p:nvPr/>
        </p:nvSpPr>
        <p:spPr>
          <a:xfrm>
            <a:off x="324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438800"/>
            <a:ext cx="2696400" cy="158400"/>
          </a:xfrm>
          <a:prstGeom prst="rect">
            <a:avLst/>
          </a:prstGeom>
          <a:noFill/>
        </p:spPr>
        <p:txBody>
          <a:bodyPr wrap="square">
            <a:spAutoFit/>
          </a:bodyPr>
          <a:lstStyle/>
          <a:p>
            <a:pPr algn="l"/>
            <a:r>
              <a:rPr sz="700" b="0" i="0">
                <a:solidFill>
                  <a:srgbClr val="1B3A6B"/>
                </a:solidFill>
                <a:latin typeface="Calibri"/>
              </a:rPr>
              <a:t>M&amp;A : 44/100  Moderate</a:t>
            </a:r>
          </a:p>
        </p:txBody>
      </p:sp>
      <p:sp>
        <p:nvSpPr>
          <p:cNvPr id="38" name="Rectangle 37"/>
          <p:cNvSpPr/>
          <p:nvPr/>
        </p:nvSpPr>
        <p:spPr>
          <a:xfrm>
            <a:off x="612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428000"/>
            <a:ext cx="432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438800"/>
            <a:ext cx="2696400" cy="158400"/>
          </a:xfrm>
          <a:prstGeom prst="rect">
            <a:avLst/>
          </a:prstGeom>
          <a:noFill/>
        </p:spPr>
        <p:txBody>
          <a:bodyPr wrap="square">
            <a:spAutoFit/>
          </a:bodyPr>
          <a:lstStyle/>
          <a:p>
            <a:pPr algn="l"/>
            <a:r>
              <a:rPr sz="700" b="0" i="0">
                <a:solidFill>
                  <a:srgbClr val="1B3A6B"/>
                </a:solidFill>
                <a:latin typeface="Calibri"/>
              </a:rPr>
              <a:t>Régime : Bear  Rec.6M:34%</a:t>
            </a:r>
          </a:p>
        </p:txBody>
      </p:sp>
      <p:sp>
        <p:nvSpPr>
          <p:cNvPr id="41" name="Rectangle 40"/>
          <p:cNvSpPr/>
          <p:nvPr/>
        </p:nvSpPr>
        <p:spPr>
          <a:xfrm>
            <a:off x="3672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6400" y="4629600"/>
            <a:ext cx="2696400" cy="158400"/>
          </a:xfrm>
          <a:prstGeom prst="rect">
            <a:avLst/>
          </a:prstGeom>
          <a:noFill/>
        </p:spPr>
        <p:txBody>
          <a:bodyPr wrap="square">
            <a:spAutoFit/>
          </a:bodyPr>
          <a:lstStyle/>
          <a:p>
            <a:pPr algn="l"/>
            <a:r>
              <a:rPr sz="700" b="0" i="0">
                <a:solidFill>
                  <a:srgbClr val="1B3A6B"/>
                </a:solidFill>
                <a:latin typeface="Calibri"/>
              </a:rPr>
              <a:t>Earnings Qualité : Excellente (1.05x)</a:t>
            </a:r>
          </a:p>
        </p:txBody>
      </p:sp>
      <p:sp>
        <p:nvSpPr>
          <p:cNvPr id="44" name="Rectangle 43"/>
          <p:cNvSpPr/>
          <p:nvPr/>
        </p:nvSpPr>
        <p:spPr>
          <a:xfrm>
            <a:off x="324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243600" y="4618800"/>
            <a:ext cx="432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22800" y="4629600"/>
            <a:ext cx="2696400" cy="158400"/>
          </a:xfrm>
          <a:prstGeom prst="rect">
            <a:avLst/>
          </a:prstGeom>
          <a:noFill/>
        </p:spPr>
        <p:txBody>
          <a:bodyPr wrap="square">
            <a:spAutoFit/>
          </a:bodyPr>
          <a:lstStyle/>
          <a:p>
            <a:pPr algn="l"/>
            <a:r>
              <a:rPr sz="700" b="0" i="0">
                <a:solidFill>
                  <a:srgbClr val="1B3A6B"/>
                </a:solidFill>
                <a:latin typeface="Calibri"/>
              </a:rPr>
              <a:t>Struct. Capital : Modérée (20% CT)</a:t>
            </a:r>
          </a:p>
        </p:txBody>
      </p:sp>
      <p:sp>
        <p:nvSpPr>
          <p:cNvPr id="47" name="Rectangle 46"/>
          <p:cNvSpPr/>
          <p:nvPr/>
        </p:nvSpPr>
        <p:spPr>
          <a:xfrm>
            <a:off x="612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02800" y="4629600"/>
            <a:ext cx="2696400" cy="158400"/>
          </a:xfrm>
          <a:prstGeom prst="rect">
            <a:avLst/>
          </a:prstGeom>
          <a:noFill/>
        </p:spPr>
        <p:txBody>
          <a:bodyPr wrap="square">
            <a:spAutoFit/>
          </a:bodyPr>
          <a:lstStyle/>
          <a:p>
            <a:pPr algn="l"/>
            <a:r>
              <a:rPr sz="700" b="0" i="0">
                <a:solidFill>
                  <a:srgbClr val="1B3A6B"/>
                </a:solidFill>
                <a:latin typeface="Calibri"/>
              </a:rPr>
              <a:t>Dividende : Tres soutenable (12.9x)</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LLM Groq</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20 articles  ·  7 derniers jours  ·  Classification LLM</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Positif</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+0,315</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20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49,2 %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LLM Groq</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HOLD</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11</a:t>
                      </a:r>
                    </a:p>
                  </a:txBody>
                  <a:tcPr>
                    <a:solidFill>
                      <a:srgbClr val="EAF4EF"/>
                    </a:solidFill>
                  </a:tcPr>
                </a:tc>
                <a:tc>
                  <a:txBody>
                    <a:bodyPr/>
                    <a:lstStyle/>
                    <a:p>
                      <a:pPr algn="ctr"/>
                      <a:r>
                        <a:rPr sz="800" b="0" i="0">
                          <a:solidFill>
                            <a:srgbClr val="0D0D0D"/>
                          </a:solidFill>
                          <a:latin typeface="Calibri"/>
                        </a:rPr>
                        <a:t>+0,492</a:t>
                      </a:r>
                    </a:p>
                  </a:txBody>
                  <a:tcPr>
                    <a:solidFill>
                      <a:srgbClr val="EAF4EF"/>
                    </a:solidFill>
                  </a:tcPr>
                </a:tc>
                <a:tc>
                  <a:txBody>
                    <a:bodyPr/>
                    <a:lstStyle/>
                    <a:p>
                      <a:pPr algn="ctr"/>
                      <a:r>
                        <a:rPr sz="800" b="0" i="0">
                          <a:solidFill>
                            <a:srgbClr val="0D0D0D"/>
                          </a:solidFill>
                          <a:latin typeface="Calibri"/>
                        </a:rPr>
                        <a:t>Catalyseurs, croissance, résultats</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6</a:t>
                      </a:r>
                    </a:p>
                  </a:txBody>
                  <a:tcPr>
                    <a:solidFill>
                      <a:srgbClr val="FFFFFF"/>
                    </a:solidFill>
                  </a:tcPr>
                </a:tc>
                <a:tc>
                  <a:txBody>
                    <a:bodyPr/>
                    <a:lstStyle/>
                    <a:p>
                      <a:pPr algn="ctr"/>
                      <a:r>
                        <a:rPr sz="800" b="0" i="0">
                          <a:solidFill>
                            <a:srgbClr val="0D0D0D"/>
                          </a:solidFill>
                          <a:latin typeface="Calibri"/>
                        </a:rPr>
                        <a:t>+0,330</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3</a:t>
                      </a:r>
                    </a:p>
                  </a:txBody>
                  <a:tcPr>
                    <a:solidFill>
                      <a:srgbClr val="FAF0EF"/>
                    </a:solidFill>
                  </a:tcPr>
                </a:tc>
                <a:tc>
                  <a:txBody>
                    <a:bodyPr/>
                    <a:lstStyle/>
                    <a:p>
                      <a:pPr algn="ctr"/>
                      <a:r>
                        <a:rPr sz="800" b="0" i="0">
                          <a:solidFill>
                            <a:srgbClr val="0D0D0D"/>
                          </a:solidFill>
                          <a:latin typeface="Calibri"/>
                        </a:rPr>
                        <a:t>+0,177</a:t>
                      </a:r>
                    </a:p>
                  </a:txBody>
                  <a:tcPr>
                    <a:solidFill>
                      <a:srgbClr val="FAF0EF"/>
                    </a:solidFill>
                  </a:tcPr>
                </a:tc>
                <a:tc>
                  <a:txBody>
                    <a:bodyPr/>
                    <a:lstStyle/>
                    <a:p>
                      <a:pPr algn="ctr"/>
                      <a:r>
                        <a:rPr sz="800" b="0" i="0">
                          <a:solidFill>
                            <a:srgbClr val="0D0D0D"/>
                          </a:solidFill>
                          <a:latin typeface="Calibri"/>
                        </a:rPr>
                        <a:t>Risques macro, concurrence, dette</a:t>
                      </a:r>
                    </a:p>
                  </a:txBody>
                  <a:tcPr>
                    <a:solidFill>
                      <a:srgbClr val="FAF0EF"/>
                    </a:solidFill>
                  </a:tcPr>
                </a:tc>
              </a:tr>
            </a:tbl>
          </a:graphicData>
        </a:graphic>
      </p:graphicFrame>
      <p:sp>
        <p:nvSpPr>
          <p:cNvPr id="39" name="TextBox 38"/>
          <p:cNvSpPr txBox="1"/>
          <p:nvPr/>
        </p:nvSpPr>
        <p:spPr>
          <a:xfrm>
            <a:off x="367200" y="4140000"/>
            <a:ext cx="8413200" cy="720000"/>
          </a:xfrm>
          <a:prstGeom prst="rect">
            <a:avLst/>
          </a:prstGeom>
          <a:noFill/>
        </p:spPr>
        <p:txBody>
          <a:bodyPr wrap="square">
            <a:spAutoFit/>
          </a:bodyPr>
          <a:lstStyle/>
          <a:p>
            <a:pPr algn="l"/>
            <a:r>
              <a:rPr sz="850" b="0" i="0">
                <a:solidFill>
                  <a:srgbClr val="333333"/>
                </a:solidFill>
                <a:latin typeface="Calibri"/>
              </a:rPr>
              <a:t>La presse financière souligne une dynamique globalement positive pour L'Oréal avec plusieurs acquisitions stratégiques et partenariats technologiques majeurs. Cependant, certains analystes s'interrogent sur une possible surévaluation après la récente hausse des cours.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6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L'Oréal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57.1 %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iShares Trust-iShares Core MSCI EAF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GROWTH FUND OF AMERICA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Goldman Sachs TRT II-Goldman Sachs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STAR FUNDS-Vanguard Total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WORLD FUND-Vanguard Intern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EuroPacific Growth Fund-EUPAC Fund</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TAX-MANAGED FUNDS-Vanguard</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57.1 %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41.4 %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OR.PA  ·  EUR  ·  Au 6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358,20 EUR</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397,90 EUR</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349,35 EUR</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-2,1 %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336180"/>
            <a:ext cx="498636" cy="55901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38" name="Rectangle 37"/>
          <p:cNvSpPr/>
          <p:nvPr/>
        </p:nvSpPr>
        <p:spPr>
          <a:xfrm>
            <a:off x="1293300" y="3415373"/>
            <a:ext cx="498636" cy="479826"/>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0" name="Rectangle 39"/>
          <p:cNvSpPr/>
          <p:nvPr/>
        </p:nvSpPr>
        <p:spPr>
          <a:xfrm>
            <a:off x="1949400" y="2636794"/>
            <a:ext cx="498636" cy="1258405"/>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2" name="Rectangle 41"/>
          <p:cNvSpPr/>
          <p:nvPr/>
        </p:nvSpPr>
        <p:spPr>
          <a:xfrm>
            <a:off x="26055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4" name="Rectangle 43"/>
          <p:cNvSpPr/>
          <p:nvPr/>
        </p:nvSpPr>
        <p:spPr>
          <a:xfrm>
            <a:off x="3261600" y="3255208"/>
            <a:ext cx="498636" cy="639991"/>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6" name="Rectangle 45"/>
          <p:cNvSpPr/>
          <p:nvPr/>
        </p:nvSpPr>
        <p:spPr>
          <a:xfrm>
            <a:off x="3917700" y="3428720"/>
            <a:ext cx="498636" cy="46647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48" name="Rectangle 47"/>
          <p:cNvSpPr/>
          <p:nvPr/>
        </p:nvSpPr>
        <p:spPr>
          <a:xfrm>
            <a:off x="4573800" y="3044621"/>
            <a:ext cx="498636" cy="85057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0" name="Rectangle 49"/>
          <p:cNvSpPr/>
          <p:nvPr/>
        </p:nvSpPr>
        <p:spPr>
          <a:xfrm>
            <a:off x="5229900" y="3311562"/>
            <a:ext cx="498636" cy="583637"/>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2" name="Rectangle 51"/>
          <p:cNvSpPr/>
          <p:nvPr/>
        </p:nvSpPr>
        <p:spPr>
          <a:xfrm>
            <a:off x="5886000" y="2706495"/>
            <a:ext cx="498636" cy="1188704"/>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4" name="Rectangle 53"/>
          <p:cNvSpPr/>
          <p:nvPr/>
        </p:nvSpPr>
        <p:spPr>
          <a:xfrm>
            <a:off x="6542100" y="2398030"/>
            <a:ext cx="498636" cy="149716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6" name="Rectangle 55"/>
          <p:cNvSpPr/>
          <p:nvPr/>
        </p:nvSpPr>
        <p:spPr>
          <a:xfrm>
            <a:off x="7198200" y="3823200"/>
            <a:ext cx="498636" cy="7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58" name="Rectangle 57"/>
          <p:cNvSpPr/>
          <p:nvPr/>
        </p:nvSpPr>
        <p:spPr>
          <a:xfrm>
            <a:off x="7854300" y="3560707"/>
            <a:ext cx="498636" cy="334492"/>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1200" y="3751200"/>
            <a:ext cx="288000" cy="144000"/>
          </a:xfrm>
          <a:prstGeom prst="rect">
            <a:avLst/>
          </a:prstGeom>
          <a:noFill/>
        </p:spPr>
        <p:txBody>
          <a:bodyPr wrap="none">
            <a:spAutoFit/>
          </a:bodyPr>
          <a:lstStyle/>
          <a:p>
            <a:pPr algn="l"/>
            <a:r>
              <a:rPr sz="600" b="0" i="0">
                <a:solidFill>
                  <a:srgbClr val="555555"/>
                </a:solidFill>
                <a:latin typeface="Calibri"/>
              </a:rPr>
              <a:t>349</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1200" y="3276000"/>
            <a:ext cx="288000" cy="144000"/>
          </a:xfrm>
          <a:prstGeom prst="rect">
            <a:avLst/>
          </a:prstGeom>
          <a:noFill/>
        </p:spPr>
        <p:txBody>
          <a:bodyPr wrap="none">
            <a:spAutoFit/>
          </a:bodyPr>
          <a:lstStyle/>
          <a:p>
            <a:pPr algn="l"/>
            <a:r>
              <a:rPr sz="600" b="0" i="0">
                <a:solidFill>
                  <a:srgbClr val="555555"/>
                </a:solidFill>
                <a:latin typeface="Calibri"/>
              </a:rPr>
              <a:t>365</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1200" y="2786399"/>
            <a:ext cx="288000" cy="144000"/>
          </a:xfrm>
          <a:prstGeom prst="rect">
            <a:avLst/>
          </a:prstGeom>
          <a:noFill/>
        </p:spPr>
        <p:txBody>
          <a:bodyPr wrap="none">
            <a:spAutoFit/>
          </a:bodyPr>
          <a:lstStyle/>
          <a:p>
            <a:pPr algn="l"/>
            <a:r>
              <a:rPr sz="600" b="0" i="0">
                <a:solidFill>
                  <a:srgbClr val="555555"/>
                </a:solidFill>
                <a:latin typeface="Calibri"/>
              </a:rPr>
              <a:t>381</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31200" y="2311200"/>
            <a:ext cx="288000" cy="144000"/>
          </a:xfrm>
          <a:prstGeom prst="rect">
            <a:avLst/>
          </a:prstGeom>
          <a:noFill/>
        </p:spPr>
        <p:txBody>
          <a:bodyPr wrap="none">
            <a:spAutoFit/>
          </a:bodyPr>
          <a:lstStyle/>
          <a:p>
            <a:pPr algn="l"/>
            <a:r>
              <a:rPr sz="600" b="0" i="0">
                <a:solidFill>
                  <a:srgbClr val="555555"/>
                </a:solidFill>
                <a:latin typeface="Calibri"/>
              </a:rPr>
              <a:t>397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