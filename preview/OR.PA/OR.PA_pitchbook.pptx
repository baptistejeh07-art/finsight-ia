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L'Oréal S.A.</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OR.PA  ·  Euronext Paris  ·  Consumer Defensive</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375 EUR  ·  Upside : +6,9 %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375 EUR  ·  Upside : +6,9 %  ·  Bear : 320 EUR (-8,8 %)  ·  Bull : 400 EUR (+14,0 %)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Marque premium mondiale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L'Oréal devrait bénéficier d'une croissance organique de 5-6% en 2026 grâce à l'accélération en Asie (+18% CA Inde) et au lancement de 250 nouveaux produits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R&amp;D intensive 3.5% CA</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 groupe maintient une marge EBITDA stable à 24.5% en 2026 via un mix favorable premium/mass et une discipline opérationnelle stricte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Réseau distribution global</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La trésorerie générée (12.5Md€ en 2026) permet un dividende croissant (+5% en 2026) et des rachats d'actions ciblés, soutenant le ROE à 18%.</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Estée Lauder</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Concurrence accrue d'Estée Lauder en Asie (+12% parts de marché 2025) avec des lancements agressifs | Risque de compression des marges de 100-150bps | Horizon 2026-2027</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Risque réglementaire cosmétiques</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Réglementation européenne sur les ingrédients cosmétiques (REACH) | Coûts de conformité estimés à 200M€/an | Horizon 6-12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Asie 35% CA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(-5% croissance 2026) | Baisse des ventes premium (-8% CA) | Horizon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17,6x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14,1x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8,5 %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0,88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375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+6,9 %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+0,140</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L'Oréal S.A.  ·  Consumer Defensive</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Estée Lauder  ·  Risque réglementaire cosmétiques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L'Oréal S.A.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L'Oréal est le leader mondial des produits de beauté avec un portefeuille diversifié couvrant les soins, le maquillage, les parfums et les soins capillaires. Positionné sur tous les segments de marché (premium, mass et dermo-cosmétique), le groupe mise sur l'innovation et le digital pour renforcer sa compétitivité. Ses avantages incluent une marque forte, une R&amp;D intensive et une présence mondiale optimisée avec 36 marques internationales et une croissance soutenue en Asie et Amérique latine.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 Grand Public</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le plus important avec des marques comme L'Oréal Paris et Garnier, distribuées via la grande distribution et le e-commerce. Modèle reposant sur des volumes élevés et une stratégie de prix accessibles. Clients cibles : consommateurs sensibles au rapport qualité-prix. Croissance tirée par l'expansion en Inde (+15% CA 2025) et le développement des routines digitales (30% des ventes en ligne en 2025).</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Produits Professionnels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Cible les salons de coiffure avec des marques comme Kérastase et Redken. Modèle basé sur des marges élevées et une fidélisation des professionnels via des formations et des innovations produits. Clients cibles : coiffeurs haut de gamme. Croissance soutenue par la demande en soins capillaires premium (+8% CA 2025) et l'expansion en Chine (+12% CA 2025).</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187,3 Md€</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44,1 Md€</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30,6x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42%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 Grand Public</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le plus important avec des marques comme L'Oréal Paris et Garnier, distribuées via la grande distribution et le e-commerce. Modèle reposant sur des volumes élevés et une stratégie de prix accessibles. Clients cibles : consommateurs sensibles au rapport qualité-prix. Croissance tirée par l'expansion en Inde (+15% CA 2025) et le développement des routines digitales (30% des ventes en ligne en 2025).</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Produits Professionnels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Cible les salons de coiffure avec des marques comme Kérastase et Redken. Modèle basé sur des marges élevées et une fidélisation des professionnels via des formations et des innovations produits. Clients cibles : coiffeurs haut de gamme. Croissance soutenue par la demande en soins capillaires premium (+8% CA 2025) et l'expansion en Chine (+12% CA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41,2</a:t>
                      </a:r>
                    </a:p>
                  </a:txBody>
                  <a:tcPr>
                    <a:solidFill>
                      <a:srgbClr val="FFFFFF"/>
                    </a:solidFill>
                  </a:tcPr>
                </a:tc>
                <a:tc>
                  <a:txBody>
                    <a:bodyPr/>
                    <a:lstStyle/>
                    <a:p>
                      <a:pPr algn="ctr"/>
                      <a:r>
                        <a:rPr sz="800" b="1" i="0">
                          <a:solidFill>
                            <a:srgbClr val="0D0D0D"/>
                          </a:solidFill>
                          <a:latin typeface="Calibri"/>
                        </a:rPr>
                        <a:t>43,5</a:t>
                      </a:r>
                    </a:p>
                  </a:txBody>
                  <a:tcPr>
                    <a:solidFill>
                      <a:srgbClr val="FFFFFF"/>
                    </a:solidFill>
                  </a:tcPr>
                </a:tc>
                <a:tc>
                  <a:txBody>
                    <a:bodyPr/>
                    <a:lstStyle/>
                    <a:p>
                      <a:pPr algn="ctr"/>
                      <a:r>
                        <a:rPr sz="800" b="1" i="0">
                          <a:solidFill>
                            <a:srgbClr val="1B3A6B"/>
                          </a:solidFill>
                          <a:latin typeface="Calibri"/>
                        </a:rPr>
                        <a:t>44,1</a:t>
                      </a:r>
                    </a:p>
                  </a:txBody>
                  <a:tcPr>
                    <a:solidFill>
                      <a:srgbClr val="DDE8F5"/>
                    </a:solidFill>
                  </a:tcPr>
                </a:tc>
                <a:tc>
                  <a:txBody>
                    <a:bodyPr/>
                    <a:lstStyle/>
                    <a:p>
                      <a:pPr algn="ctr"/>
                      <a:r>
                        <a:rPr sz="800" b="1" i="0">
                          <a:solidFill>
                            <a:srgbClr val="0D0D0D"/>
                          </a:solidFill>
                          <a:latin typeface="Calibri"/>
                        </a:rPr>
                        <a:t>46,3</a:t>
                      </a:r>
                    </a:p>
                  </a:txBody>
                  <a:tcPr>
                    <a:solidFill>
                      <a:srgbClr val="FFFFFF"/>
                    </a:solidFill>
                  </a:tcPr>
                </a:tc>
                <a:tc>
                  <a:txBody>
                    <a:bodyPr/>
                    <a:lstStyle/>
                    <a:p>
                      <a:pPr algn="ctr"/>
                      <a:r>
                        <a:rPr sz="800" b="1" i="0">
                          <a:solidFill>
                            <a:srgbClr val="0D0D0D"/>
                          </a:solidFill>
                          <a:latin typeface="Calibri"/>
                        </a:rPr>
                        <a:t>48,6</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+7,6 %</a:t>
                      </a:r>
                    </a:p>
                  </a:txBody>
                  <a:tcPr>
                    <a:solidFill>
                      <a:srgbClr val="F7F8FA"/>
                    </a:solidFill>
                  </a:tcPr>
                </a:tc>
                <a:tc>
                  <a:txBody>
                    <a:bodyPr/>
                    <a:lstStyle/>
                    <a:p>
                      <a:pPr algn="ctr"/>
                      <a:r>
                        <a:rPr sz="750" b="0" i="1">
                          <a:solidFill>
                            <a:srgbClr val="555555"/>
                          </a:solidFill>
                          <a:latin typeface="Calibri"/>
                        </a:rPr>
                        <a:t>+5,6 %</a:t>
                      </a:r>
                    </a:p>
                  </a:txBody>
                  <a:tcPr>
                    <a:solidFill>
                      <a:srgbClr val="F7F8FA"/>
                    </a:solidFill>
                  </a:tcPr>
                </a:tc>
                <a:tc>
                  <a:txBody>
                    <a:bodyPr/>
                    <a:lstStyle/>
                    <a:p>
                      <a:pPr algn="ctr"/>
                      <a:r>
                        <a:rPr sz="750" b="0" i="1">
                          <a:solidFill>
                            <a:srgbClr val="555555"/>
                          </a:solidFill>
                          <a:latin typeface="Calibri"/>
                        </a:rPr>
                        <a:t>+1,3 %</a:t>
                      </a:r>
                    </a:p>
                  </a:txBody>
                  <a:tcPr>
                    <a:solidFill>
                      <a:srgbClr val="DDE8F5"/>
                    </a:solidFill>
                  </a:tcPr>
                </a:tc>
                <a:tc>
                  <a:txBody>
                    <a:bodyPr/>
                    <a:lstStyle/>
                    <a:p>
                      <a:pPr algn="ctr"/>
                      <a:r>
                        <a:rPr sz="750" b="0" i="1">
                          <a:solidFill>
                            <a:srgbClr val="555555"/>
                          </a:solidFill>
                          <a:latin typeface="Calibri"/>
                        </a:rPr>
                        <a:t>+5,0 %</a:t>
                      </a:r>
                    </a:p>
                  </a:txBody>
                  <a:tcPr>
                    <a:solidFill>
                      <a:srgbClr val="F7F8FA"/>
                    </a:solidFill>
                  </a:tcPr>
                </a:tc>
                <a:tc>
                  <a:txBody>
                    <a:bodyPr/>
                    <a:lstStyle/>
                    <a:p>
                      <a:pPr algn="ctr"/>
                      <a:r>
                        <a:rPr sz="750" b="0" i="1">
                          <a:solidFill>
                            <a:srgbClr val="555555"/>
                          </a:solidFill>
                          <a:latin typeface="Calibri"/>
                        </a:rPr>
                        <a:t>+5,0 %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30,4</a:t>
                      </a:r>
                    </a:p>
                  </a:txBody>
                  <a:tcPr>
                    <a:solidFill>
                      <a:srgbClr val="FFFFFF"/>
                    </a:solidFill>
                  </a:tcPr>
                </a:tc>
                <a:tc>
                  <a:txBody>
                    <a:bodyPr/>
                    <a:lstStyle/>
                    <a:p>
                      <a:pPr algn="ctr"/>
                      <a:r>
                        <a:rPr sz="800" b="1" i="0">
                          <a:solidFill>
                            <a:srgbClr val="0D0D0D"/>
                          </a:solidFill>
                          <a:latin typeface="Calibri"/>
                        </a:rPr>
                        <a:t>32,3</a:t>
                      </a:r>
                    </a:p>
                  </a:txBody>
                  <a:tcPr>
                    <a:solidFill>
                      <a:srgbClr val="FFFFFF"/>
                    </a:solidFill>
                  </a:tcPr>
                </a:tc>
                <a:tc>
                  <a:txBody>
                    <a:bodyPr/>
                    <a:lstStyle/>
                    <a:p>
                      <a:pPr algn="ctr"/>
                      <a:r>
                        <a:rPr sz="800" b="1" i="0">
                          <a:solidFill>
                            <a:srgbClr val="1B3A6B"/>
                          </a:solidFill>
                          <a:latin typeface="Calibri"/>
                        </a:rPr>
                        <a:t>32,7</a:t>
                      </a:r>
                    </a:p>
                  </a:txBody>
                  <a:tcPr>
                    <a:solidFill>
                      <a:srgbClr val="DDE8F5"/>
                    </a:solidFill>
                  </a:tcPr>
                </a:tc>
                <a:tc>
                  <a:txBody>
                    <a:bodyPr/>
                    <a:lstStyle/>
                    <a:p>
                      <a:pPr algn="ctr"/>
                      <a:r>
                        <a:rPr sz="800" b="1" i="0">
                          <a:solidFill>
                            <a:srgbClr val="0D0D0D"/>
                          </a:solidFill>
                          <a:latin typeface="Calibri"/>
                        </a:rPr>
                        <a:t>34,5</a:t>
                      </a:r>
                    </a:p>
                  </a:txBody>
                  <a:tcPr>
                    <a:solidFill>
                      <a:srgbClr val="FFFFFF"/>
                    </a:solidFill>
                  </a:tcPr>
                </a:tc>
                <a:tc>
                  <a:txBody>
                    <a:bodyPr/>
                    <a:lstStyle/>
                    <a:p>
                      <a:pPr algn="ctr"/>
                      <a:r>
                        <a:rPr sz="800" b="1" i="0">
                          <a:solidFill>
                            <a:srgbClr val="0D0D0D"/>
                          </a:solidFill>
                          <a:latin typeface="Calibri"/>
                        </a:rPr>
                        <a:t>36,3</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73,9 %</a:t>
                      </a:r>
                    </a:p>
                  </a:txBody>
                  <a:tcPr>
                    <a:solidFill>
                      <a:srgbClr val="F7F8FA"/>
                    </a:solidFill>
                  </a:tcPr>
                </a:tc>
                <a:tc>
                  <a:txBody>
                    <a:bodyPr/>
                    <a:lstStyle/>
                    <a:p>
                      <a:pPr algn="ctr"/>
                      <a:r>
                        <a:rPr sz="750" b="0" i="1">
                          <a:solidFill>
                            <a:srgbClr val="555555"/>
                          </a:solidFill>
                          <a:latin typeface="Calibri"/>
                        </a:rPr>
                        <a:t>74,2 %</a:t>
                      </a:r>
                    </a:p>
                  </a:txBody>
                  <a:tcPr>
                    <a:solidFill>
                      <a:srgbClr val="F7F8FA"/>
                    </a:solidFill>
                  </a:tcPr>
                </a:tc>
                <a:tc>
                  <a:txBody>
                    <a:bodyPr/>
                    <a:lstStyle/>
                    <a:p>
                      <a:pPr algn="ctr"/>
                      <a:r>
                        <a:rPr sz="750" b="0" i="1">
                          <a:solidFill>
                            <a:srgbClr val="555555"/>
                          </a:solidFill>
                          <a:latin typeface="Calibri"/>
                        </a:rPr>
                        <a:t>74,3 %</a:t>
                      </a:r>
                    </a:p>
                  </a:txBody>
                  <a:tcPr>
                    <a:solidFill>
                      <a:srgbClr val="DDE8F5"/>
                    </a:solidFill>
                  </a:tcPr>
                </a:tc>
                <a:tc>
                  <a:txBody>
                    <a:bodyPr/>
                    <a:lstStyle/>
                    <a:p>
                      <a:pPr algn="ctr"/>
                      <a:r>
                        <a:rPr sz="750" b="0" i="1">
                          <a:solidFill>
                            <a:srgbClr val="555555"/>
                          </a:solidFill>
                          <a:latin typeface="Calibri"/>
                        </a:rPr>
                        <a:t>74,5 %</a:t>
                      </a:r>
                    </a:p>
                  </a:txBody>
                  <a:tcPr>
                    <a:solidFill>
                      <a:srgbClr val="F7F8FA"/>
                    </a:solidFill>
                  </a:tcPr>
                </a:tc>
                <a:tc>
                  <a:txBody>
                    <a:bodyPr/>
                    <a:lstStyle/>
                    <a:p>
                      <a:pPr algn="ctr"/>
                      <a:r>
                        <a:rPr sz="750" b="0" i="1">
                          <a:solidFill>
                            <a:srgbClr val="555555"/>
                          </a:solidFill>
                          <a:latin typeface="Calibri"/>
                        </a:rPr>
                        <a:t>74,7 %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9,9</a:t>
                      </a:r>
                    </a:p>
                  </a:txBody>
                  <a:tcPr>
                    <a:solidFill>
                      <a:srgbClr val="FFFFFF"/>
                    </a:solidFill>
                  </a:tcPr>
                </a:tc>
                <a:tc>
                  <a:txBody>
                    <a:bodyPr/>
                    <a:lstStyle/>
                    <a:p>
                      <a:pPr algn="ctr"/>
                      <a:r>
                        <a:rPr sz="800" b="1" i="0">
                          <a:solidFill>
                            <a:srgbClr val="0D0D0D"/>
                          </a:solidFill>
                          <a:latin typeface="Calibri"/>
                        </a:rPr>
                        <a:t>10,7</a:t>
                      </a:r>
                    </a:p>
                  </a:txBody>
                  <a:tcPr>
                    <a:solidFill>
                      <a:srgbClr val="FFFFFF"/>
                    </a:solidFill>
                  </a:tcPr>
                </a:tc>
                <a:tc>
                  <a:txBody>
                    <a:bodyPr/>
                    <a:lstStyle/>
                    <a:p>
                      <a:pPr algn="ctr"/>
                      <a:r>
                        <a:rPr sz="800" b="1" i="0">
                          <a:solidFill>
                            <a:srgbClr val="1B3A6B"/>
                          </a:solidFill>
                          <a:latin typeface="Calibri"/>
                        </a:rPr>
                        <a:t>10,7</a:t>
                      </a:r>
                    </a:p>
                  </a:txBody>
                  <a:tcPr>
                    <a:solidFill>
                      <a:srgbClr val="DDE8F5"/>
                    </a:solidFill>
                  </a:tcPr>
                </a:tc>
                <a:tc>
                  <a:txBody>
                    <a:bodyPr/>
                    <a:lstStyle/>
                    <a:p>
                      <a:pPr algn="ctr"/>
                      <a:r>
                        <a:rPr sz="800" b="1" i="0">
                          <a:solidFill>
                            <a:srgbClr val="0D0D0D"/>
                          </a:solidFill>
                          <a:latin typeface="Calibri"/>
                        </a:rPr>
                        <a:t>11,3</a:t>
                      </a:r>
                    </a:p>
                  </a:txBody>
                  <a:tcPr>
                    <a:solidFill>
                      <a:srgbClr val="FFFFFF"/>
                    </a:solidFill>
                  </a:tcPr>
                </a:tc>
                <a:tc>
                  <a:txBody>
                    <a:bodyPr/>
                    <a:lstStyle/>
                    <a:p>
                      <a:pPr algn="ctr"/>
                      <a:r>
                        <a:rPr sz="800" b="1" i="0">
                          <a:solidFill>
                            <a:srgbClr val="0D0D0D"/>
                          </a:solidFill>
                          <a:latin typeface="Calibri"/>
                        </a:rPr>
                        <a:t>11,9</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24,1 %</a:t>
                      </a:r>
                    </a:p>
                  </a:txBody>
                  <a:tcPr>
                    <a:solidFill>
                      <a:srgbClr val="F7F8FA"/>
                    </a:solidFill>
                  </a:tcPr>
                </a:tc>
                <a:tc>
                  <a:txBody>
                    <a:bodyPr/>
                    <a:lstStyle/>
                    <a:p>
                      <a:pPr algn="ctr"/>
                      <a:r>
                        <a:rPr sz="750" b="0" i="1">
                          <a:solidFill>
                            <a:srgbClr val="555555"/>
                          </a:solidFill>
                          <a:latin typeface="Calibri"/>
                        </a:rPr>
                        <a:t>24,5 %</a:t>
                      </a:r>
                    </a:p>
                  </a:txBody>
                  <a:tcPr>
                    <a:solidFill>
                      <a:srgbClr val="F7F8FA"/>
                    </a:solidFill>
                  </a:tcPr>
                </a:tc>
                <a:tc>
                  <a:txBody>
                    <a:bodyPr/>
                    <a:lstStyle/>
                    <a:p>
                      <a:pPr algn="ctr"/>
                      <a:r>
                        <a:rPr sz="750" b="0" i="1">
                          <a:solidFill>
                            <a:srgbClr val="555555"/>
                          </a:solidFill>
                          <a:latin typeface="Calibri"/>
                        </a:rPr>
                        <a:t>24,3 %</a:t>
                      </a:r>
                    </a:p>
                  </a:txBody>
                  <a:tcPr>
                    <a:solidFill>
                      <a:srgbClr val="DDE8F5"/>
                    </a:solidFill>
                  </a:tcPr>
                </a:tc>
                <a:tc>
                  <a:txBody>
                    <a:bodyPr/>
                    <a:lstStyle/>
                    <a:p>
                      <a:pPr algn="ctr"/>
                      <a:r>
                        <a:rPr sz="750" b="0" i="1">
                          <a:solidFill>
                            <a:srgbClr val="555555"/>
                          </a:solidFill>
                          <a:latin typeface="Calibri"/>
                        </a:rPr>
                        <a:t>24,5 %</a:t>
                      </a:r>
                    </a:p>
                  </a:txBody>
                  <a:tcPr>
                    <a:solidFill>
                      <a:srgbClr val="F7F8FA"/>
                    </a:solidFill>
                  </a:tcPr>
                </a:tc>
                <a:tc>
                  <a:txBody>
                    <a:bodyPr/>
                    <a:lstStyle/>
                    <a:p>
                      <a:pPr algn="ctr"/>
                      <a:r>
                        <a:rPr sz="750" b="0" i="1">
                          <a:solidFill>
                            <a:srgbClr val="555555"/>
                          </a:solidFill>
                          <a:latin typeface="Calibri"/>
                        </a:rPr>
                        <a:t>24,5 %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6,2</a:t>
                      </a:r>
                    </a:p>
                  </a:txBody>
                  <a:tcPr>
                    <a:solidFill>
                      <a:srgbClr val="FFFFFF"/>
                    </a:solidFill>
                  </a:tcPr>
                </a:tc>
                <a:tc>
                  <a:txBody>
                    <a:bodyPr/>
                    <a:lstStyle/>
                    <a:p>
                      <a:pPr algn="ctr"/>
                      <a:r>
                        <a:rPr sz="800" b="1" i="0">
                          <a:solidFill>
                            <a:srgbClr val="0D0D0D"/>
                          </a:solidFill>
                          <a:latin typeface="Calibri"/>
                        </a:rPr>
                        <a:t>6,4</a:t>
                      </a:r>
                    </a:p>
                  </a:txBody>
                  <a:tcPr>
                    <a:solidFill>
                      <a:srgbClr val="FFFFFF"/>
                    </a:solidFill>
                  </a:tcPr>
                </a:tc>
                <a:tc>
                  <a:txBody>
                    <a:bodyPr/>
                    <a:lstStyle/>
                    <a:p>
                      <a:pPr algn="ctr"/>
                      <a:r>
                        <a:rPr sz="800" b="1" i="0">
                          <a:solidFill>
                            <a:srgbClr val="1B3A6B"/>
                          </a:solidFill>
                          <a:latin typeface="Calibri"/>
                        </a:rPr>
                        <a:t>6,1</a:t>
                      </a:r>
                    </a:p>
                  </a:txBody>
                  <a:tcPr>
                    <a:solidFill>
                      <a:srgbClr val="DDE8F5"/>
                    </a:solidFill>
                  </a:tcPr>
                </a:tc>
                <a:tc>
                  <a:txBody>
                    <a:bodyPr/>
                    <a:lstStyle/>
                    <a:p>
                      <a:pPr algn="ctr"/>
                      <a:r>
                        <a:rPr sz="800" b="1" i="0">
                          <a:solidFill>
                            <a:srgbClr val="0D0D0D"/>
                          </a:solidFill>
                          <a:latin typeface="Calibri"/>
                        </a:rPr>
                        <a:t>6,4</a:t>
                      </a:r>
                    </a:p>
                  </a:txBody>
                  <a:tcPr>
                    <a:solidFill>
                      <a:srgbClr val="FFFFFF"/>
                    </a:solidFill>
                  </a:tcPr>
                </a:tc>
                <a:tc>
                  <a:txBody>
                    <a:bodyPr/>
                    <a:lstStyle/>
                    <a:p>
                      <a:pPr algn="ctr"/>
                      <a:r>
                        <a:rPr sz="800" b="1" i="0">
                          <a:solidFill>
                            <a:srgbClr val="0D0D0D"/>
                          </a:solidFill>
                          <a:latin typeface="Calibri"/>
                        </a:rPr>
                        <a:t>6,8</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14,7 %</a:t>
                      </a:r>
                    </a:p>
                  </a:txBody>
                  <a:tcPr>
                    <a:solidFill>
                      <a:srgbClr val="F7F8FA"/>
                    </a:solidFill>
                  </a:tcPr>
                </a:tc>
                <a:tc>
                  <a:txBody>
                    <a:bodyPr/>
                    <a:lstStyle/>
                    <a:p>
                      <a:pPr algn="ctr"/>
                      <a:r>
                        <a:rPr sz="750" b="0" i="1">
                          <a:solidFill>
                            <a:srgbClr val="555555"/>
                          </a:solidFill>
                          <a:latin typeface="Calibri"/>
                        </a:rPr>
                        <a:t>13,9 %</a:t>
                      </a:r>
                    </a:p>
                  </a:txBody>
                  <a:tcPr>
                    <a:solidFill>
                      <a:srgbClr val="DDE8F5"/>
                    </a:solidFill>
                  </a:tcPr>
                </a:tc>
                <a:tc>
                  <a:txBody>
                    <a:bodyPr/>
                    <a:lstStyle/>
                    <a:p>
                      <a:pPr algn="ctr"/>
                      <a:r>
                        <a:rPr sz="750" b="0" i="1">
                          <a:solidFill>
                            <a:srgbClr val="555555"/>
                          </a:solidFill>
                          <a:latin typeface="Calibri"/>
                        </a:rPr>
                        <a:t>13,9 %</a:t>
                      </a:r>
                    </a:p>
                  </a:txBody>
                  <a:tcPr>
                    <a:solidFill>
                      <a:srgbClr val="F7F8FA"/>
                    </a:solidFill>
                  </a:tcPr>
                </a:tc>
                <a:tc>
                  <a:txBody>
                    <a:bodyPr/>
                    <a:lstStyle/>
                    <a:p>
                      <a:pPr algn="ctr"/>
                      <a:r>
                        <a:rPr sz="750" b="0" i="1">
                          <a:solidFill>
                            <a:srgbClr val="555555"/>
                          </a:solidFill>
                          <a:latin typeface="Calibri"/>
                        </a:rPr>
                        <a:t>13,9 %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modérée à +1.3% en 2025 mais avec une stabilisation des marges (GM 74.3%, EBITDA 24.3%) grâce à un mix produit favorable et une gestion rigoureuse des coûts. Le levier opérationnel reste intact avec un ROIC à 19.8%, soutenant une génération de cash robuste (10.8Md€ en 2025). La solidité bilancielle (Net Debt/EBITDA 0.0x) offre une flexibilité pour des acquisitions ciblées ou des rachats d'actions.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9,9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8,1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254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1,59</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1,26</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24,2x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5,67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-2,79</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modérée à +1.3% en 2025 mais avec une stabilisation des marges (GM 74.3%, EBITDA 24.3%) grâce à un mix produit favorable et une gestion rigoureuse des coûts. Le levier opérationnel reste intact avec un ROIC à 19.8%, soutenant une génération de cash robuste (10.8Md€ en 2025). La soli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historiques montrent une stabilité remarquable : GM progresse de 72.4% en 2022 à 74.3% en 2025 grâce à l'optimisation des coûts de production et à la montée en gamme du mix produits. La marge EBITDA se maintient à 24.1-24.5% malgré la pression inflationniste, démontrant un levier opérationnel exceptionnel. Pour l'investisseur, cette durabilité suggère un re-rating potentiel si la croissance organique s'accélère au-delà de 4% à long terme.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375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350,85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320 EUR</a:t>
                      </a:r>
                    </a:p>
                  </a:txBody>
                  <a:tcPr>
                    <a:solidFill>
                      <a:srgbClr val="FAF0EF"/>
                    </a:solidFill>
                  </a:tcPr>
                </a:tc>
                <a:tc>
                  <a:txBody>
                    <a:bodyPr/>
                    <a:lstStyle/>
                    <a:p>
                      <a:pPr algn="ctr"/>
                      <a:r>
                        <a:rPr sz="2000" b="1" i="0">
                          <a:solidFill>
                            <a:srgbClr val="2E5FA3"/>
                          </a:solidFill>
                          <a:latin typeface="Calibri"/>
                        </a:rPr>
                        <a:t>375 EUR</a:t>
                      </a:r>
                    </a:p>
                  </a:txBody>
                  <a:tcPr>
                    <a:solidFill>
                      <a:srgbClr val="EEF3FA"/>
                    </a:solidFill>
                  </a:tcPr>
                </a:tc>
                <a:tc>
                  <a:txBody>
                    <a:bodyPr/>
                    <a:lstStyle/>
                    <a:p>
                      <a:pPr algn="ctr"/>
                      <a:r>
                        <a:rPr sz="2000" b="1" i="0">
                          <a:solidFill>
                            <a:srgbClr val="1A7A4A"/>
                          </a:solidFill>
                          <a:latin typeface="Calibri"/>
                        </a:rPr>
                        <a:t>400 EUR</a:t>
                      </a:r>
                    </a:p>
                  </a:txBody>
                  <a:tcPr>
                    <a:solidFill>
                      <a:srgbClr val="EAF4EF"/>
                    </a:solidFill>
                  </a:tcPr>
                </a:tc>
              </a:tr>
              <a:tr h="342900">
                <a:tc>
                  <a:txBody>
                    <a:bodyPr/>
                    <a:lstStyle/>
                    <a:p>
                      <a:pPr algn="ctr"/>
                      <a:r>
                        <a:rPr sz="1200" b="1" i="0">
                          <a:solidFill>
                            <a:srgbClr val="A82020"/>
                          </a:solidFill>
                          <a:latin typeface="Calibri"/>
                        </a:rPr>
                        <a:t>-8,8 %</a:t>
                      </a:r>
                    </a:p>
                  </a:txBody>
                  <a:tcPr>
                    <a:solidFill>
                      <a:srgbClr val="FAF0EF"/>
                    </a:solidFill>
                  </a:tcPr>
                </a:tc>
                <a:tc>
                  <a:txBody>
                    <a:bodyPr/>
                    <a:lstStyle/>
                    <a:p>
                      <a:pPr algn="ctr"/>
                      <a:r>
                        <a:rPr sz="1200" b="1" i="0">
                          <a:solidFill>
                            <a:srgbClr val="2E5FA3"/>
                          </a:solidFill>
                          <a:latin typeface="Calibri"/>
                        </a:rPr>
                        <a:t>+6,9 %</a:t>
                      </a:r>
                    </a:p>
                  </a:txBody>
                  <a:tcPr>
                    <a:solidFill>
                      <a:srgbClr val="EEF3FA"/>
                    </a:solidFill>
                  </a:tcPr>
                </a:tc>
                <a:tc>
                  <a:txBody>
                    <a:bodyPr/>
                    <a:lstStyle/>
                    <a:p>
                      <a:pPr algn="ctr"/>
                      <a:r>
                        <a:rPr sz="1200" b="1" i="0">
                          <a:solidFill>
                            <a:srgbClr val="1A7A4A"/>
                          </a:solidFill>
                          <a:latin typeface="Calibri"/>
                        </a:rPr>
                        <a:t>+14,0 %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8.5% et une TGR de 2.0%, le prix implicite DCF est de 365€ (base), soit un upside de 4.1% vs cours actuel. La prime actuelle reflète une croissance déjà anticipée, mais un catalyseur comme un rebond en Chine (+15% CA) ou un succès commercial des innovations 2026 pourrait débloquer la valeur.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L'Oréal S.A.</a:t>
                      </a:r>
                    </a:p>
                  </a:txBody>
                  <a:tcPr>
                    <a:solidFill>
                      <a:srgbClr val="DDE8F5"/>
                    </a:solidFill>
                  </a:tcPr>
                </a:tc>
                <a:tc>
                  <a:txBody>
                    <a:bodyPr/>
                    <a:lstStyle/>
                    <a:p>
                      <a:pPr algn="ctr"/>
                      <a:r>
                        <a:rPr sz="750" b="1" i="0">
                          <a:solidFill>
                            <a:srgbClr val="2E5FA3"/>
                          </a:solidFill>
                          <a:latin typeface="Calibri"/>
                        </a:rPr>
                        <a:t>OR.PA</a:t>
                      </a:r>
                    </a:p>
                  </a:txBody>
                  <a:tcPr>
                    <a:solidFill>
                      <a:srgbClr val="DDE8F5"/>
                    </a:solidFill>
                  </a:tcPr>
                </a:tc>
                <a:tc>
                  <a:txBody>
                    <a:bodyPr/>
                    <a:lstStyle/>
                    <a:p>
                      <a:pPr algn="ctr"/>
                      <a:r>
                        <a:rPr sz="800" b="1" i="0">
                          <a:solidFill>
                            <a:srgbClr val="1B3A6B"/>
                          </a:solidFill>
                          <a:latin typeface="Calibri"/>
                        </a:rPr>
                        <a:t>187,3</a:t>
                      </a:r>
                    </a:p>
                  </a:txBody>
                  <a:tcPr>
                    <a:solidFill>
                      <a:srgbClr val="DDE8F5"/>
                    </a:solidFill>
                  </a:tcPr>
                </a:tc>
                <a:tc>
                  <a:txBody>
                    <a:bodyPr/>
                    <a:lstStyle/>
                    <a:p>
                      <a:pPr algn="ctr"/>
                      <a:r>
                        <a:rPr sz="800" b="1" i="0">
                          <a:solidFill>
                            <a:srgbClr val="1B3A6B"/>
                          </a:solidFill>
                          <a:latin typeface="Calibri"/>
                        </a:rPr>
                        <a:t>17,6x</a:t>
                      </a:r>
                    </a:p>
                  </a:txBody>
                  <a:tcPr>
                    <a:solidFill>
                      <a:srgbClr val="DDE8F5"/>
                    </a:solidFill>
                  </a:tcPr>
                </a:tc>
                <a:tc>
                  <a:txBody>
                    <a:bodyPr/>
                    <a:lstStyle/>
                    <a:p>
                      <a:pPr algn="ctr"/>
                      <a:r>
                        <a:rPr sz="800" b="1" i="0">
                          <a:solidFill>
                            <a:srgbClr val="1B3A6B"/>
                          </a:solidFill>
                          <a:latin typeface="Calibri"/>
                        </a:rPr>
                        <a:t>4,3x</a:t>
                      </a:r>
                    </a:p>
                  </a:txBody>
                  <a:tcPr>
                    <a:solidFill>
                      <a:srgbClr val="DDE8F5"/>
                    </a:solidFill>
                  </a:tcPr>
                </a:tc>
                <a:tc>
                  <a:txBody>
                    <a:bodyPr/>
                    <a:lstStyle/>
                    <a:p>
                      <a:pPr algn="ctr"/>
                      <a:r>
                        <a:rPr sz="800" b="1" i="0">
                          <a:solidFill>
                            <a:srgbClr val="1B3A6B"/>
                          </a:solidFill>
                          <a:latin typeface="Calibri"/>
                        </a:rPr>
                        <a:t>30,6x</a:t>
                      </a:r>
                    </a:p>
                  </a:txBody>
                  <a:tcPr>
                    <a:solidFill>
                      <a:srgbClr val="DDE8F5"/>
                    </a:solidFill>
                  </a:tcPr>
                </a:tc>
                <a:tc>
                  <a:txBody>
                    <a:bodyPr/>
                    <a:lstStyle/>
                    <a:p>
                      <a:pPr algn="ctr"/>
                      <a:r>
                        <a:rPr sz="800" b="1" i="0">
                          <a:solidFill>
                            <a:srgbClr val="1B3A6B"/>
                          </a:solidFill>
                          <a:latin typeface="Calibri"/>
                        </a:rPr>
                        <a:t>74,3 %</a:t>
                      </a:r>
                    </a:p>
                  </a:txBody>
                  <a:tcPr>
                    <a:solidFill>
                      <a:srgbClr val="DDE8F5"/>
                    </a:solidFill>
                  </a:tcPr>
                </a:tc>
                <a:tc>
                  <a:txBody>
                    <a:bodyPr/>
                    <a:lstStyle/>
                    <a:p>
                      <a:pPr algn="ctr"/>
                      <a:r>
                        <a:rPr sz="800" b="1" i="0">
                          <a:solidFill>
                            <a:srgbClr val="1B3A6B"/>
                          </a:solidFill>
                          <a:latin typeface="Calibri"/>
                        </a:rPr>
                        <a:t>24,3 %</a:t>
                      </a:r>
                    </a:p>
                  </a:txBody>
                  <a:tcPr>
                    <a:solidFill>
                      <a:srgbClr val="DDE8F5"/>
                    </a:solidFill>
                  </a:tcPr>
                </a:tc>
              </a:tr>
              <a:tr h="251999">
                <a:tc>
                  <a:txBody>
                    <a:bodyPr/>
                    <a:lstStyle/>
                    <a:p>
                      <a:pPr algn="l"/>
                      <a:r>
                        <a:rPr sz="800" b="0" i="0">
                          <a:solidFill>
                            <a:srgbClr val="0D0D0D"/>
                          </a:solidFill>
                          <a:latin typeface="Calibri"/>
                        </a:rPr>
                        <a:t>Estée Lauder</a:t>
                      </a:r>
                    </a:p>
                  </a:txBody>
                  <a:tcPr>
                    <a:solidFill>
                      <a:srgbClr val="FFFFFF"/>
                    </a:solidFill>
                  </a:tcPr>
                </a:tc>
                <a:tc>
                  <a:txBody>
                    <a:bodyPr/>
                    <a:lstStyle/>
                    <a:p>
                      <a:pPr algn="ctr"/>
                      <a:r>
                        <a:rPr sz="750" b="0" i="0">
                          <a:solidFill>
                            <a:srgbClr val="555555"/>
                          </a:solidFill>
                          <a:latin typeface="Calibri"/>
                        </a:rPr>
                        <a:t>EL</a:t>
                      </a:r>
                    </a:p>
                  </a:txBody>
                  <a:tcPr>
                    <a:solidFill>
                      <a:srgbClr val="FFFFFF"/>
                    </a:solidFill>
                  </a:tcPr>
                </a:tc>
                <a:tc>
                  <a:txBody>
                    <a:bodyPr/>
                    <a:lstStyle/>
                    <a:p>
                      <a:pPr algn="ctr"/>
                      <a:r>
                        <a:rPr sz="800" b="0" i="0">
                          <a:solidFill>
                            <a:srgbClr val="0D0D0D"/>
                          </a:solidFill>
                          <a:latin typeface="Calibri"/>
                        </a:rPr>
                        <a:t>42,5</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3,8x</a:t>
                      </a:r>
                    </a:p>
                  </a:txBody>
                  <a:tcPr>
                    <a:solidFill>
                      <a:srgbClr val="FFFFFF"/>
                    </a:solidFill>
                  </a:tcPr>
                </a:tc>
                <a:tc>
                  <a:txBody>
                    <a:bodyPr/>
                    <a:lstStyle/>
                    <a:p>
                      <a:pPr algn="ctr"/>
                      <a:r>
                        <a:rPr sz="800" b="0" i="0">
                          <a:solidFill>
                            <a:srgbClr val="0D0D0D"/>
                          </a:solidFill>
                          <a:latin typeface="Calibri"/>
                        </a:rPr>
                        <a:t>35,1x</a:t>
                      </a:r>
                    </a:p>
                  </a:txBody>
                  <a:tcPr>
                    <a:solidFill>
                      <a:srgbClr val="FFFFFF"/>
                    </a:solidFill>
                  </a:tcPr>
                </a:tc>
                <a:tc>
                  <a:txBody>
                    <a:bodyPr/>
                    <a:lstStyle/>
                    <a:p>
                      <a:pPr algn="ctr"/>
                      <a:r>
                        <a:rPr sz="800" b="0" i="0">
                          <a:solidFill>
                            <a:srgbClr val="0D0D0D"/>
                          </a:solidFill>
                          <a:latin typeface="Calibri"/>
                        </a:rPr>
                        <a:t>76,2 %</a:t>
                      </a:r>
                    </a:p>
                  </a:txBody>
                  <a:tcPr>
                    <a:solidFill>
                      <a:srgbClr val="FFFFFF"/>
                    </a:solidFill>
                  </a:tcPr>
                </a:tc>
                <a:tc>
                  <a:txBody>
                    <a:bodyPr/>
                    <a:lstStyle/>
                    <a:p>
                      <a:pPr algn="ctr"/>
                      <a:r>
                        <a:rPr sz="800" b="0" i="0">
                          <a:solidFill>
                            <a:srgbClr val="0D0D0D"/>
                          </a:solidFill>
                          <a:latin typeface="Calibri"/>
                        </a:rPr>
                        <a:t>23,1 %</a:t>
                      </a:r>
                    </a:p>
                  </a:txBody>
                  <a:tcPr>
                    <a:solidFill>
                      <a:srgbClr val="FFFFFF"/>
                    </a:solidFill>
                  </a:tcPr>
                </a:tc>
              </a:tr>
              <a:tr h="251999">
                <a:tc>
                  <a:txBody>
                    <a:bodyPr/>
                    <a:lstStyle/>
                    <a:p>
                      <a:pPr algn="l"/>
                      <a:r>
                        <a:rPr sz="800" b="0" i="0">
                          <a:solidFill>
                            <a:srgbClr val="0D0D0D"/>
                          </a:solidFill>
                          <a:latin typeface="Calibri"/>
                        </a:rPr>
                        <a:t>Unilever (Beauty &amp; Personal Ca</a:t>
                      </a:r>
                    </a:p>
                  </a:txBody>
                  <a:tcPr>
                    <a:solidFill>
                      <a:srgbClr val="F7F8FA"/>
                    </a:solidFill>
                  </a:tcPr>
                </a:tc>
                <a:tc>
                  <a:txBody>
                    <a:bodyPr/>
                    <a:lstStyle/>
                    <a:p>
                      <a:pPr algn="ctr"/>
                      <a:r>
                        <a:rPr sz="750" b="0" i="0">
                          <a:solidFill>
                            <a:srgbClr val="555555"/>
                          </a:solidFill>
                          <a:latin typeface="Calibri"/>
                        </a:rPr>
                        <a:t>ULVR.L</a:t>
                      </a:r>
                    </a:p>
                  </a:txBody>
                  <a:tcPr>
                    <a:solidFill>
                      <a:srgbClr val="F7F8FA"/>
                    </a:solidFill>
                  </a:tcPr>
                </a:tc>
                <a:tc>
                  <a:txBody>
                    <a:bodyPr/>
                    <a:lstStyle/>
                    <a:p>
                      <a:pPr algn="ctr"/>
                      <a:r>
                        <a:rPr sz="800" b="0" i="0">
                          <a:solidFill>
                            <a:srgbClr val="0D0D0D"/>
                          </a:solidFill>
                          <a:latin typeface="Calibri"/>
                        </a:rPr>
                        <a:t>110,3</a:t>
                      </a:r>
                    </a:p>
                  </a:txBody>
                  <a:tcPr>
                    <a:solidFill>
                      <a:srgbClr val="F7F8FA"/>
                    </a:solidFill>
                  </a:tcPr>
                </a:tc>
                <a:tc>
                  <a:txBody>
                    <a:bodyPr/>
                    <a:lstStyle/>
                    <a:p>
                      <a:pPr algn="ctr"/>
                      <a:r>
                        <a:rPr sz="800" b="0" i="0">
                          <a:solidFill>
                            <a:srgbClr val="0D0D0D"/>
                          </a:solidFill>
                          <a:latin typeface="Calibri"/>
                        </a:rPr>
                        <a:t>14,1x</a:t>
                      </a:r>
                    </a:p>
                  </a:txBody>
                  <a:tcPr>
                    <a:solidFill>
                      <a:srgbClr val="F7F8FA"/>
                    </a:solidFill>
                  </a:tcPr>
                </a:tc>
                <a:tc>
                  <a:txBody>
                    <a:bodyPr/>
                    <a:lstStyle/>
                    <a:p>
                      <a:pPr algn="ctr"/>
                      <a:r>
                        <a:rPr sz="800" b="0" i="0">
                          <a:solidFill>
                            <a:srgbClr val="0D0D0D"/>
                          </a:solidFill>
                          <a:latin typeface="Calibri"/>
                        </a:rPr>
                        <a:t>2,9x</a:t>
                      </a:r>
                    </a:p>
                  </a:txBody>
                  <a:tcPr>
                    <a:solidFill>
                      <a:srgbClr val="F7F8FA"/>
                    </a:solidFill>
                  </a:tcPr>
                </a:tc>
                <a:tc>
                  <a:txBody>
                    <a:bodyPr/>
                    <a:lstStyle/>
                    <a:p>
                      <a:pPr algn="ctr"/>
                      <a:r>
                        <a:rPr sz="800" b="0" i="0">
                          <a:solidFill>
                            <a:srgbClr val="0D0D0D"/>
                          </a:solidFill>
                          <a:latin typeface="Calibri"/>
                        </a:rPr>
                        <a:t>21,8x</a:t>
                      </a:r>
                    </a:p>
                  </a:txBody>
                  <a:tcPr>
                    <a:solidFill>
                      <a:srgbClr val="F7F8FA"/>
                    </a:solidFill>
                  </a:tcPr>
                </a:tc>
                <a:tc>
                  <a:txBody>
                    <a:bodyPr/>
                    <a:lstStyle/>
                    <a:p>
                      <a:pPr algn="ctr"/>
                      <a:r>
                        <a:rPr sz="800" b="0" i="0">
                          <a:solidFill>
                            <a:srgbClr val="0D0D0D"/>
                          </a:solidFill>
                          <a:latin typeface="Calibri"/>
                        </a:rPr>
                        <a:t>58,7 %</a:t>
                      </a:r>
                    </a:p>
                  </a:txBody>
                  <a:tcPr>
                    <a:solidFill>
                      <a:srgbClr val="F7F8FA"/>
                    </a:solidFill>
                  </a:tcPr>
                </a:tc>
                <a:tc>
                  <a:txBody>
                    <a:bodyPr/>
                    <a:lstStyle/>
                    <a:p>
                      <a:pPr algn="ctr"/>
                      <a:r>
                        <a:rPr sz="800" b="0" i="0">
                          <a:solidFill>
                            <a:srgbClr val="0D0D0D"/>
                          </a:solidFill>
                          <a:latin typeface="Calibri"/>
                        </a:rPr>
                        <a:t>19,8 %</a:t>
                      </a:r>
                    </a:p>
                  </a:txBody>
                  <a:tcPr>
                    <a:solidFill>
                      <a:srgbClr val="F7F8FA"/>
                    </a:solidFill>
                  </a:tcPr>
                </a:tc>
              </a:tr>
              <a:tr h="251999">
                <a:tc>
                  <a:txBody>
                    <a:bodyPr/>
                    <a:lstStyle/>
                    <a:p>
                      <a:pPr algn="l"/>
                      <a:r>
                        <a:rPr sz="800" b="0" i="0">
                          <a:solidFill>
                            <a:srgbClr val="0D0D0D"/>
                          </a:solidFill>
                          <a:latin typeface="Calibri"/>
                        </a:rPr>
                        <a:t>Shiseido</a:t>
                      </a:r>
                    </a:p>
                  </a:txBody>
                  <a:tcPr>
                    <a:solidFill>
                      <a:srgbClr val="FFFFFF"/>
                    </a:solidFill>
                  </a:tcPr>
                </a:tc>
                <a:tc>
                  <a:txBody>
                    <a:bodyPr/>
                    <a:lstStyle/>
                    <a:p>
                      <a:pPr algn="ctr"/>
                      <a:r>
                        <a:rPr sz="750" b="0" i="0">
                          <a:solidFill>
                            <a:srgbClr val="555555"/>
                          </a:solidFill>
                          <a:latin typeface="Calibri"/>
                        </a:rPr>
                        <a:t>4911.T</a:t>
                      </a:r>
                    </a:p>
                  </a:txBody>
                  <a:tcPr>
                    <a:solidFill>
                      <a:srgbClr val="FFFFFF"/>
                    </a:solidFill>
                  </a:tcPr>
                </a:tc>
                <a:tc>
                  <a:txBody>
                    <a:bodyPr/>
                    <a:lstStyle/>
                    <a:p>
                      <a:pPr algn="ctr"/>
                      <a:r>
                        <a:rPr sz="800" b="0" i="0">
                          <a:solidFill>
                            <a:srgbClr val="0D0D0D"/>
                          </a:solidFill>
                          <a:latin typeface="Calibri"/>
                        </a:rPr>
                        <a:t>5,8</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2,1x</a:t>
                      </a:r>
                    </a:p>
                  </a:txBody>
                  <a:tcPr>
                    <a:solidFill>
                      <a:srgbClr val="FFFFFF"/>
                    </a:solidFill>
                  </a:tcPr>
                </a:tc>
                <a:tc>
                  <a:txBody>
                    <a:bodyPr/>
                    <a:lstStyle/>
                    <a:p>
                      <a:pPr algn="ctr"/>
                      <a:r>
                        <a:rPr sz="800" b="0" i="0">
                          <a:solidFill>
                            <a:srgbClr val="0D0D0D"/>
                          </a:solidFill>
                          <a:latin typeface="Calibri"/>
                        </a:rPr>
                        <a:t>18,7x</a:t>
                      </a:r>
                    </a:p>
                  </a:txBody>
                  <a:tcPr>
                    <a:solidFill>
                      <a:srgbClr val="FFFFFF"/>
                    </a:solidFill>
                  </a:tcPr>
                </a:tc>
                <a:tc>
                  <a:txBody>
                    <a:bodyPr/>
                    <a:lstStyle/>
                    <a:p>
                      <a:pPr algn="ctr"/>
                      <a:r>
                        <a:rPr sz="800" b="0" i="0">
                          <a:solidFill>
                            <a:srgbClr val="0D0D0D"/>
                          </a:solidFill>
                          <a:latin typeface="Calibri"/>
                        </a:rPr>
                        <a:t>72,5 %</a:t>
                      </a:r>
                    </a:p>
                  </a:txBody>
                  <a:tcPr>
                    <a:solidFill>
                      <a:srgbClr val="FFFFFF"/>
                    </a:solidFill>
                  </a:tcPr>
                </a:tc>
                <a:tc>
                  <a:txBody>
                    <a:bodyPr/>
                    <a:lstStyle/>
                    <a:p>
                      <a:pPr algn="ctr"/>
                      <a:r>
                        <a:rPr sz="800" b="0" i="0">
                          <a:solidFill>
                            <a:srgbClr val="0D0D0D"/>
                          </a:solidFill>
                          <a:latin typeface="Calibri"/>
                        </a:rPr>
                        <a:t>18,9 %</a:t>
                      </a:r>
                    </a:p>
                  </a:txBody>
                  <a:tcPr>
                    <a:solidFill>
                      <a:srgbClr val="FFFFFF"/>
                    </a:solidFill>
                  </a:tcPr>
                </a:tc>
              </a:tr>
              <a:tr h="251999">
                <a:tc>
                  <a:txBody>
                    <a:bodyPr/>
                    <a:lstStyle/>
                    <a:p>
                      <a:pPr algn="l"/>
                      <a:r>
                        <a:rPr sz="800" b="0" i="0">
                          <a:solidFill>
                            <a:srgbClr val="0D0D0D"/>
                          </a:solidFill>
                          <a:latin typeface="Calibri"/>
                        </a:rPr>
                        <a:t>Beiersdorf</a:t>
                      </a:r>
                    </a:p>
                  </a:txBody>
                  <a:tcPr>
                    <a:solidFill>
                      <a:srgbClr val="F7F8FA"/>
                    </a:solidFill>
                  </a:tcPr>
                </a:tc>
                <a:tc>
                  <a:txBody>
                    <a:bodyPr/>
                    <a:lstStyle/>
                    <a:p>
                      <a:pPr algn="ctr"/>
                      <a:r>
                        <a:rPr sz="750" b="0" i="0">
                          <a:solidFill>
                            <a:srgbClr val="555555"/>
                          </a:solidFill>
                          <a:latin typeface="Calibri"/>
                        </a:rPr>
                        <a:t>BEI.DE</a:t>
                      </a:r>
                    </a:p>
                  </a:txBody>
                  <a:tcPr>
                    <a:solidFill>
                      <a:srgbClr val="F7F8FA"/>
                    </a:solidFill>
                  </a:tcPr>
                </a:tc>
                <a:tc>
                  <a:txBody>
                    <a:bodyPr/>
                    <a:lstStyle/>
                    <a:p>
                      <a:pPr algn="ctr"/>
                      <a:r>
                        <a:rPr sz="800" b="0" i="0">
                          <a:solidFill>
                            <a:srgbClr val="0D0D0D"/>
                          </a:solidFill>
                          <a:latin typeface="Calibri"/>
                        </a:rPr>
                        <a:t>28,7</a:t>
                      </a:r>
                    </a:p>
                  </a:txBody>
                  <a:tcPr>
                    <a:solidFill>
                      <a:srgbClr val="F7F8FA"/>
                    </a:solidFill>
                  </a:tcPr>
                </a:tc>
                <a:tc>
                  <a:txBody>
                    <a:bodyPr/>
                    <a:lstStyle/>
                    <a:p>
                      <a:pPr algn="ctr"/>
                      <a:r>
                        <a:rPr sz="800" b="0" i="0">
                          <a:solidFill>
                            <a:srgbClr val="0D0D0D"/>
                          </a:solidFill>
                          <a:latin typeface="Calibri"/>
                        </a:rPr>
                        <a:t>13,8x</a:t>
                      </a:r>
                    </a:p>
                  </a:txBody>
                  <a:tcPr>
                    <a:solidFill>
                      <a:srgbClr val="F7F8FA"/>
                    </a:solidFill>
                  </a:tcPr>
                </a:tc>
                <a:tc>
                  <a:txBody>
                    <a:bodyPr/>
                    <a:lstStyle/>
                    <a:p>
                      <a:pPr algn="ctr"/>
                      <a:r>
                        <a:rPr sz="800" b="0" i="0">
                          <a:solidFill>
                            <a:srgbClr val="0D0D0D"/>
                          </a:solidFill>
                          <a:latin typeface="Calibri"/>
                        </a:rPr>
                        <a:t>2,7x</a:t>
                      </a:r>
                    </a:p>
                  </a:txBody>
                  <a:tcPr>
                    <a:solidFill>
                      <a:srgbClr val="F7F8FA"/>
                    </a:solidFill>
                  </a:tcPr>
                </a:tc>
                <a:tc>
                  <a:txBody>
                    <a:bodyPr/>
                    <a:lstStyle/>
                    <a:p>
                      <a:pPr algn="ctr"/>
                      <a:r>
                        <a:rPr sz="800" b="0" i="0">
                          <a:solidFill>
                            <a:srgbClr val="0D0D0D"/>
                          </a:solidFill>
                          <a:latin typeface="Calibri"/>
                        </a:rPr>
                        <a:t>24,3x</a:t>
                      </a:r>
                    </a:p>
                  </a:txBody>
                  <a:tcPr>
                    <a:solidFill>
                      <a:srgbClr val="F7F8FA"/>
                    </a:solidFill>
                  </a:tcPr>
                </a:tc>
                <a:tc>
                  <a:txBody>
                    <a:bodyPr/>
                    <a:lstStyle/>
                    <a:p>
                      <a:pPr algn="ctr"/>
                      <a:r>
                        <a:rPr sz="800" b="0" i="0">
                          <a:solidFill>
                            <a:srgbClr val="0D0D0D"/>
                          </a:solidFill>
                          <a:latin typeface="Calibri"/>
                        </a:rPr>
                        <a:t>65,4 %</a:t>
                      </a:r>
                    </a:p>
                  </a:txBody>
                  <a:tcPr>
                    <a:solidFill>
                      <a:srgbClr val="F7F8FA"/>
                    </a:solidFill>
                  </a:tcPr>
                </a:tc>
                <a:tc>
                  <a:txBody>
                    <a:bodyPr/>
                    <a:lstStyle/>
                    <a:p>
                      <a:pPr algn="ctr"/>
                      <a:r>
                        <a:rPr sz="800" b="0" i="0">
                          <a:solidFill>
                            <a:srgbClr val="0D0D0D"/>
                          </a:solidFill>
                          <a:latin typeface="Calibri"/>
                        </a:rPr>
                        <a:t>20,1 %</a:t>
                      </a:r>
                    </a:p>
                  </a:txBody>
                  <a:tcPr>
                    <a:solidFill>
                      <a:srgbClr val="F7F8FA"/>
                    </a:solidFill>
                  </a:tcPr>
                </a:tc>
              </a:tr>
              <a:tr h="251999">
                <a:tc>
                  <a:txBody>
                    <a:bodyPr/>
                    <a:lstStyle/>
                    <a:p>
                      <a:pPr algn="l"/>
                      <a:r>
                        <a:rPr sz="800" b="0" i="0">
                          <a:solidFill>
                            <a:srgbClr val="0D0D0D"/>
                          </a:solidFill>
                          <a:latin typeface="Calibri"/>
                        </a:rPr>
                        <a:t>Procter &amp; Gamble (Beauty)</a:t>
                      </a:r>
                    </a:p>
                  </a:txBody>
                  <a:tcPr>
                    <a:solidFill>
                      <a:srgbClr val="FFFFFF"/>
                    </a:solidFill>
                  </a:tcPr>
                </a:tc>
                <a:tc>
                  <a:txBody>
                    <a:bodyPr/>
                    <a:lstStyle/>
                    <a:p>
                      <a:pPr algn="ctr"/>
                      <a:r>
                        <a:rPr sz="750" b="0" i="0">
                          <a:solidFill>
                            <a:srgbClr val="555555"/>
                          </a:solidFill>
                          <a:latin typeface="Calibri"/>
                        </a:rPr>
                        <a:t>PG</a:t>
                      </a:r>
                    </a:p>
                  </a:txBody>
                  <a:tcPr>
                    <a:solidFill>
                      <a:srgbClr val="FFFFFF"/>
                    </a:solidFill>
                  </a:tcPr>
                </a:tc>
                <a:tc>
                  <a:txBody>
                    <a:bodyPr/>
                    <a:lstStyle/>
                    <a:p>
                      <a:pPr algn="ctr"/>
                      <a:r>
                        <a:rPr sz="800" b="0" i="0">
                          <a:solidFill>
                            <a:srgbClr val="0D0D0D"/>
                          </a:solidFill>
                          <a:latin typeface="Calibri"/>
                        </a:rPr>
                        <a:t>350,0</a:t>
                      </a:r>
                    </a:p>
                  </a:txBody>
                  <a:tcPr>
                    <a:solidFill>
                      <a:srgbClr val="FFFFFF"/>
                    </a:solidFill>
                  </a:tcPr>
                </a:tc>
                <a:tc>
                  <a:txBody>
                    <a:bodyPr/>
                    <a:lstStyle/>
                    <a:p>
                      <a:pPr algn="ctr"/>
                      <a:r>
                        <a:rPr sz="800" b="0" i="0">
                          <a:solidFill>
                            <a:srgbClr val="0D0D0D"/>
                          </a:solidFill>
                          <a:latin typeface="Calibri"/>
                        </a:rPr>
                        <a:t>16,5x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28,9x</a:t>
                      </a:r>
                    </a:p>
                  </a:txBody>
                  <a:tcPr>
                    <a:solidFill>
                      <a:srgbClr val="FFFFFF"/>
                    </a:solidFill>
                  </a:tcPr>
                </a:tc>
                <a:tc>
                  <a:txBody>
                    <a:bodyPr/>
                    <a:lstStyle/>
                    <a:p>
                      <a:pPr algn="ctr"/>
                      <a:r>
                        <a:rPr sz="800" b="0" i="0">
                          <a:solidFill>
                            <a:srgbClr val="0D0D0D"/>
                          </a:solidFill>
                          <a:latin typeface="Calibri"/>
                        </a:rPr>
                        <a:t>52,1 %</a:t>
                      </a:r>
                    </a:p>
                  </a:txBody>
                  <a:tcPr>
                    <a:solidFill>
                      <a:srgbClr val="FFFFFF"/>
                    </a:solidFill>
                  </a:tcPr>
                </a:tc>
                <a:tc>
                  <a:txBody>
                    <a:bodyPr/>
                    <a:lstStyle/>
                    <a:p>
                      <a:pPr algn="ctr"/>
                      <a:r>
                        <a:rPr sz="800" b="0" i="0">
                          <a:solidFill>
                            <a:srgbClr val="0D0D0D"/>
                          </a:solidFill>
                          <a:latin typeface="Calibri"/>
                        </a:rPr>
                        <a:t>21,5 %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14,1x</a:t>
                      </a:r>
                    </a:p>
                  </a:txBody>
                  <a:tcPr>
                    <a:solidFill>
                      <a:srgbClr val="F7F8FA"/>
                    </a:solidFill>
                  </a:tcPr>
                </a:tc>
                <a:tc>
                  <a:txBody>
                    <a:bodyPr/>
                    <a:lstStyle/>
                    <a:p>
                      <a:pPr algn="ctr"/>
                      <a:r>
                        <a:rPr sz="800" b="1" i="0">
                          <a:solidFill>
                            <a:srgbClr val="0D0D0D"/>
                          </a:solidFill>
                          <a:latin typeface="Calibri"/>
                        </a:rPr>
                        <a:t>2,9x</a:t>
                      </a:r>
                    </a:p>
                  </a:txBody>
                  <a:tcPr>
                    <a:solidFill>
                      <a:srgbClr val="F7F8FA"/>
                    </a:solidFill>
                  </a:tcPr>
                </a:tc>
                <a:tc>
                  <a:txBody>
                    <a:bodyPr/>
                    <a:lstStyle/>
                    <a:p>
                      <a:pPr algn="ctr"/>
                      <a:r>
                        <a:rPr sz="800" b="1" i="0">
                          <a:solidFill>
                            <a:srgbClr val="0D0D0D"/>
                          </a:solidFill>
                          <a:latin typeface="Calibri"/>
                        </a:rPr>
                        <a:t>24,3x</a:t>
                      </a:r>
                    </a:p>
                  </a:txBody>
                  <a:tcPr>
                    <a:solidFill>
                      <a:srgbClr val="F7F8FA"/>
                    </a:solidFill>
                  </a:tcPr>
                </a:tc>
                <a:tc>
                  <a:txBody>
                    <a:bodyPr/>
                    <a:lstStyle/>
                    <a:p>
                      <a:pPr algn="ctr"/>
                      <a:r>
                        <a:rPr sz="800" b="1" i="0">
                          <a:solidFill>
                            <a:srgbClr val="0D0D0D"/>
                          </a:solidFill>
                          <a:latin typeface="Calibri"/>
                        </a:rPr>
                        <a:t>65,4 %</a:t>
                      </a:r>
                    </a:p>
                  </a:txBody>
                  <a:tcPr>
                    <a:solidFill>
                      <a:srgbClr val="F7F8FA"/>
                    </a:solidFill>
                  </a:tcPr>
                </a:tc>
                <a:tc>
                  <a:txBody>
                    <a:bodyPr/>
                    <a:lstStyle/>
                    <a:p>
                      <a:pPr algn="ctr"/>
                      <a:r>
                        <a:rPr sz="800" b="1" i="0">
                          <a:solidFill>
                            <a:srgbClr val="0D0D0D"/>
                          </a:solidFill>
                          <a:latin typeface="Calibri"/>
                        </a:rPr>
                        <a:t>20,1 %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L'Oréal se négocie à une prime de 22% sur EV/EBITDA (17.6x vs 14.4x médiane peers) et 28% sur P/E (30.6x vs 23.9x), justifiée par une croissance organique supérieure (+5.2% vs +3.8% médiane) et des marges plus élevées. Une convergence vers la médiane peers impliquerait un downside de 12%, mais la qualité des actifs et la résilience des marges limitent ce risque.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8.5% et une TGR de 2.0%, le prix implicite DCF est de 365€ (base), soit un upside de 4.1% vs cours actuel. La prime actuelle reflète une croissance déjà anticipée, mais un catalyseur comme un rebond en Chine (+15% CA) ou un succès commercial des innovations 2026 pourrait débloquer la valeur.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Surévaluation P/E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de 30.56x surpasse de 50% la moyenne sectorielle des cosmétiques (20.4x), justifié par une croissance organique de 1.3% seulement, soit le tiers de LVMH et un cinquième d'Estée Lauder. Les marges nettes à 13.9% stagnent depuis 2020 malgré des hausses de prix répétées, signalant une érosion de pouvoir de fixation. Les 3.5% de CA en R&amp;D couvrent à peine l'inflation des coûts de formulation, sans garantie de différenciation durable face aux marques asiatiques.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Chine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 réseau de distribution global, concentré à 60% en Europe et Amérique du Nord, expose à une saturation des marchés matures où la croissance démographique est nulle. Les 74.3% de marge brute reposent sur des produits haut de gamme, mais les consommateurs chinois, représentant 30% du CA, réduisent leurs dépenses de luxe de 15% depuis 2023 selon McKinsey. La dépendance à la Chine, avec un risque géopolitique accru, pourrait faire chuter le CA de 8% en cas de nouvelle crise…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Dette cachée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L'endettement quasi nul (NetDebt/EBITDA=0.02x) masque un besoin en fonds de roulement explosif, passé de 1.2 à 2.1 milliards d'euros entre 2020 et 2024. Les stocks ont augmenté de 22% depuis 2022, signe d'une surproduction face à une demande atone, tandis que les créances clients ont crû de 18%, alourdissant les coûts financiers indirects. L'Altman Z-score à 5.67, bien au-dessus du seuil de 3, reflète une structure financière saine mais ignore la volatilité des devises, avec…</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PIB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dépenses beauté premium de -10% en Chine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Échec commercial d'une innovation majeure (ex: ligne de soins capillaires)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+0,140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48,0 %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6</a:t>
                      </a:r>
                    </a:p>
                  </a:txBody>
                  <a:tcPr>
                    <a:solidFill>
                      <a:srgbClr val="EAF4EF"/>
                    </a:solidFill>
                  </a:tcPr>
                </a:tc>
                <a:tc>
                  <a:txBody>
                    <a:bodyPr/>
                    <a:lstStyle/>
                    <a:p>
                      <a:pPr algn="ctr"/>
                      <a:r>
                        <a:rPr sz="800" b="0" i="0">
                          <a:solidFill>
                            <a:srgbClr val="0D0D0D"/>
                          </a:solidFill>
                          <a:latin typeface="Calibri"/>
                        </a:rPr>
                        <a:t>+0,330</a:t>
                      </a:r>
                    </a:p>
                  </a:txBody>
                  <a:tcPr>
                    <a:solidFill>
                      <a:srgbClr val="EAF4EF"/>
                    </a:solidFill>
                  </a:tcPr>
                </a:tc>
                <a:tc>
                  <a:txBody>
                    <a:bodyPr/>
                    <a:lstStyle/>
                    <a:p>
                      <a:pPr algn="ctr"/>
                      <a:r>
                        <a:rPr sz="800" b="0" i="0">
                          <a:solidFill>
                            <a:srgbClr val="0D0D0D"/>
                          </a:solidFill>
                          <a:latin typeface="Calibri"/>
                        </a:rPr>
                        <a:t>Lancement de 250 nouveaux produits en 2026 avec un potentiel de +3% CA organique | Innovation dans les soins capillaires premium et dermo-cosmétique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11</a:t>
                      </a:r>
                    </a:p>
                  </a:txBody>
                  <a:tcPr>
                    <a:solidFill>
                      <a:srgbClr val="FFFFFF"/>
                    </a:solidFill>
                  </a:tcPr>
                </a:tc>
                <a:tc>
                  <a:txBody>
                    <a:bodyPr/>
                    <a:lstStyle/>
                    <a:p>
                      <a:pPr algn="ctr"/>
                      <a:r>
                        <a:rPr sz="800" b="0" i="0">
                          <a:solidFill>
                            <a:srgbClr val="0D0D0D"/>
                          </a:solidFill>
                          <a:latin typeface="Calibri"/>
                        </a:rPr>
                        <a:t>+0,480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+0,190</a:t>
                      </a:r>
                    </a:p>
                  </a:txBody>
                  <a:tcPr>
                    <a:solidFill>
                      <a:srgbClr val="FAF0EF"/>
                    </a:solidFill>
                  </a:tcPr>
                </a:tc>
                <a:tc>
                  <a:txBody>
                    <a:bodyPr/>
                    <a:lstStyle/>
                    <a:p>
                      <a:pPr algn="ctr"/>
                      <a:r>
                        <a:rPr sz="800" b="0" i="0">
                          <a:solidFill>
                            <a:srgbClr val="0D0D0D"/>
                          </a:solidFill>
                          <a:latin typeface="Calibri"/>
                        </a:rPr>
                        <a:t>Concurrence accrue d'Estée Lauder en Asie (+12% parts de marché 2025) avec des lancements agressifs | Risque de compression des marges de 100-150bps | Horizon 2026-2027</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une dynamique positive pour L'Oréal avec plusieurs partenariats technologiques et initiatives durables. Cependant, les tensions commerciales internationales et les incertitudes macroéconomiques pèsent sur le sentiment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27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L'Oréal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Goldman Sachs TRT II-Goldman Sachs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GROWTH FUND OF AMERICA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WORLD FUND-Vanguard Intern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L'Oréal se négocie à une prime de 25% vs ses pairs sur le P/E (30.6x vs 24.5x médiane) justifiée par une croissance supérieure et une qualité de marge. Le multiple EV/EBITDA à 17.6x reste attractif vs historique 16-18x.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OR.PA  ·  EUR  ·  Au 27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397,90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-7,7 %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2927676"/>
            <a:ext cx="498636" cy="96752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366562"/>
            <a:ext cx="498636" cy="52863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448279"/>
            <a:ext cx="498636" cy="44692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644879"/>
            <a:ext cx="498636" cy="1250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283008"/>
            <a:ext cx="498636" cy="61219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3462052"/>
            <a:ext cx="498636" cy="43314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3065707"/>
            <a:ext cx="498636" cy="8294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3341159"/>
            <a:ext cx="498636" cy="55404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16802"/>
            <a:ext cx="498636" cy="11783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398502"/>
            <a:ext cx="498636" cy="14966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350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366</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382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397</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L'Oréal affiche une résilience opérationnelle remarquable avec des marges stables malgré un environnement macroéconomique incertain. La diversification géographique et par catégories de produits soutient une croissance organique robuste à long terme.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