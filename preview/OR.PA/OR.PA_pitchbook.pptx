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L'Oréal S.A.</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OR.PA  ·  Euronext Paris  ·  Consumer Defensive</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385 EUR  ·  Upside : +9,7 %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385 EUR  ·  Upside : +9,7 %  ·  Bear : 330 EUR (-5,9 %)  ·  Bull : 420 EUR (+19,7 %)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 mondial</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L'Oréal devrait bénéficier d'une croissance organique de 4.5% en 2026 grâce à l'expansion en Chine (+15% CA) et aux lancements de produits premiumisés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R&amp;D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EBITDA devrait se stabiliser à 25.0% en 2027 via optimisation des coûts logistiques et mix produit favorable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Levier opérationnel</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ROIC de 20%+ et la trésorerie nette de 5.2mds EUR soutiennent une politique de dividende progressive (+5% annuel) et des rachats d'actions.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Risque Chine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Ralentissement Chine : -3pp croissance CA organique si tensions géopolitiques | Mécanisme : pression sur le mix prix et volumes | Horizon : 6-12 mois, impact -8% CA</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IA : perte de 5pp de part de marché en maquillage face à outils digitaux | Mécanisme : baisse prix et volumes | Horizon : 12-24 mois, impact -3% marge nette</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Pressions prix</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Pressions prix matières : +8% coût des ingrédients en 2026 non répercutable | Mécanisme : compression marges brute et EBITDA | Horizon : 12 mois, impact -150bps EBITDA</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17,6x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14,2x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8,5 %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0,88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385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+9,7 %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+0,280</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L'Oréal S.A.  ·  Consumer Defensive</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 Chine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L'Oréal S.A.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L'Oréal S.A. est le leader mondial des produits de beauté avec un portefeuille diversifié couvrant tous les segments (soin, maquillage, coiffure, parfums). Positionné sur le premium avec des marques comme Lancôme, L'Oréal Paris et Garnier, le groupe cible une clientèle mondiale via distribution sélective et mass-market. Ses avantages incluent une R&amp;D inégalée, un levier opérationnel exceptionnel et une résilience en période de crise grâce à la diversité géographique et segmentaire.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 Grand Public</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mass-market incluant L'Oréal Paris, Garnier et Maybelline, distribué via grandes surfaces et pharmacies. Modèle basé sur volume élevé et prix accessibles, avec croissance tirée par l'innovation produit et l'expansion en Asie. Clients cibles : consommateurs sensibles au prix avec demande croissante pour soins personnalisés. Moteurs : lancements de gammes premiumisées et stratégies digitales.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Produits Professionnels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B2B pour salons de coiffure avec marques comme Redken et Kerastase. Modèle basé sur partenariats avec coiffeurs et salons, avec revenus récurrents via consommables et équipements. Clients cibles : professionnels exigeants recherchant performance et durabilité. Moteurs : innovation en soins capillaires et expansion en Amérique latine.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187,3 Md€</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44,1 Md€</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30,6x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45%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 Grand Public</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mass-market incluant L'Oréal Paris, Garnier et Maybelline, distribué via grandes surfaces et pharmacies. Modèle basé sur volume élevé et prix accessibles, avec croissance tirée par l'innovation produit et l'expansion en Asie. Clients cibles : consommateurs sensibles au prix avec demande croissante pour soins personnalisés. Moteurs : lancements de gammes premiumisées et stratégies digitales.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19%</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Produits Professionnels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B2B pour salons de coiffure avec marques comme Redken et Kerastase. Modèle basé sur partenariats avec coiffeurs et salons, avec revenus récurrents via consommables et équipements. Clients cibles : professionnels exigeants recherchant performance et durabilité. Moteurs : innovation en soins capillaires et expansion en Amérique latine.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41,2</a:t>
                      </a:r>
                    </a:p>
                  </a:txBody>
                  <a:tcPr>
                    <a:solidFill>
                      <a:srgbClr val="FFFFFF"/>
                    </a:solidFill>
                  </a:tcPr>
                </a:tc>
                <a:tc>
                  <a:txBody>
                    <a:bodyPr/>
                    <a:lstStyle/>
                    <a:p>
                      <a:pPr algn="ctr"/>
                      <a:r>
                        <a:rPr sz="800" b="1" i="0">
                          <a:solidFill>
                            <a:srgbClr val="0D0D0D"/>
                          </a:solidFill>
                          <a:latin typeface="Calibri"/>
                        </a:rPr>
                        <a:t>43,5</a:t>
                      </a:r>
                    </a:p>
                  </a:txBody>
                  <a:tcPr>
                    <a:solidFill>
                      <a:srgbClr val="FFFFFF"/>
                    </a:solidFill>
                  </a:tcPr>
                </a:tc>
                <a:tc>
                  <a:txBody>
                    <a:bodyPr/>
                    <a:lstStyle/>
                    <a:p>
                      <a:pPr algn="ctr"/>
                      <a:r>
                        <a:rPr sz="800" b="1" i="0">
                          <a:solidFill>
                            <a:srgbClr val="1B3A6B"/>
                          </a:solidFill>
                          <a:latin typeface="Calibri"/>
                        </a:rPr>
                        <a:t>44,1</a:t>
                      </a:r>
                    </a:p>
                  </a:txBody>
                  <a:tcPr>
                    <a:solidFill>
                      <a:srgbClr val="DDE8F5"/>
                    </a:solidFill>
                  </a:tcPr>
                </a:tc>
                <a:tc>
                  <a:txBody>
                    <a:bodyPr/>
                    <a:lstStyle/>
                    <a:p>
                      <a:pPr algn="ctr"/>
                      <a:r>
                        <a:rPr sz="800" b="1" i="0">
                          <a:solidFill>
                            <a:srgbClr val="0D0D0D"/>
                          </a:solidFill>
                          <a:latin typeface="Calibri"/>
                        </a:rPr>
                        <a:t>46,0</a:t>
                      </a:r>
                    </a:p>
                  </a:txBody>
                  <a:tcPr>
                    <a:solidFill>
                      <a:srgbClr val="FFFFFF"/>
                    </a:solidFill>
                  </a:tcPr>
                </a:tc>
                <a:tc>
                  <a:txBody>
                    <a:bodyPr/>
                    <a:lstStyle/>
                    <a:p>
                      <a:pPr algn="ctr"/>
                      <a:r>
                        <a:rPr sz="800" b="1" i="0">
                          <a:solidFill>
                            <a:srgbClr val="0D0D0D"/>
                          </a:solidFill>
                          <a:latin typeface="Calibri"/>
                        </a:rPr>
                        <a:t>48,0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+7,6 %</a:t>
                      </a:r>
                    </a:p>
                  </a:txBody>
                  <a:tcPr>
                    <a:solidFill>
                      <a:srgbClr val="F7F8FA"/>
                    </a:solidFill>
                  </a:tcPr>
                </a:tc>
                <a:tc>
                  <a:txBody>
                    <a:bodyPr/>
                    <a:lstStyle/>
                    <a:p>
                      <a:pPr algn="ctr"/>
                      <a:r>
                        <a:rPr sz="750" b="0" i="1">
                          <a:solidFill>
                            <a:srgbClr val="555555"/>
                          </a:solidFill>
                          <a:latin typeface="Calibri"/>
                        </a:rPr>
                        <a:t>+5,6 %</a:t>
                      </a:r>
                    </a:p>
                  </a:txBody>
                  <a:tcPr>
                    <a:solidFill>
                      <a:srgbClr val="F7F8FA"/>
                    </a:solidFill>
                  </a:tcPr>
                </a:tc>
                <a:tc>
                  <a:txBody>
                    <a:bodyPr/>
                    <a:lstStyle/>
                    <a:p>
                      <a:pPr algn="ctr"/>
                      <a:r>
                        <a:rPr sz="750" b="0" i="1">
                          <a:solidFill>
                            <a:srgbClr val="555555"/>
                          </a:solidFill>
                          <a:latin typeface="Calibri"/>
                        </a:rPr>
                        <a:t>+1,3 %</a:t>
                      </a:r>
                    </a:p>
                  </a:txBody>
                  <a:tcPr>
                    <a:solidFill>
                      <a:srgbClr val="DDE8F5"/>
                    </a:solidFill>
                  </a:tcPr>
                </a:tc>
                <a:tc>
                  <a:txBody>
                    <a:bodyPr/>
                    <a:lstStyle/>
                    <a:p>
                      <a:pPr algn="ctr"/>
                      <a:r>
                        <a:rPr sz="750" b="0" i="1">
                          <a:solidFill>
                            <a:srgbClr val="555555"/>
                          </a:solidFill>
                          <a:latin typeface="Calibri"/>
                        </a:rPr>
                        <a:t>+4,4 %</a:t>
                      </a:r>
                    </a:p>
                  </a:txBody>
                  <a:tcPr>
                    <a:solidFill>
                      <a:srgbClr val="F7F8FA"/>
                    </a:solidFill>
                  </a:tcPr>
                </a:tc>
                <a:tc>
                  <a:txBody>
                    <a:bodyPr/>
                    <a:lstStyle/>
                    <a:p>
                      <a:pPr algn="ctr"/>
                      <a:r>
                        <a:rPr sz="750" b="0" i="1">
                          <a:solidFill>
                            <a:srgbClr val="555555"/>
                          </a:solidFill>
                          <a:latin typeface="Calibri"/>
                        </a:rPr>
                        <a:t>+4,3 %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30,4</a:t>
                      </a:r>
                    </a:p>
                  </a:txBody>
                  <a:tcPr>
                    <a:solidFill>
                      <a:srgbClr val="FFFFFF"/>
                    </a:solidFill>
                  </a:tcPr>
                </a:tc>
                <a:tc>
                  <a:txBody>
                    <a:bodyPr/>
                    <a:lstStyle/>
                    <a:p>
                      <a:pPr algn="ctr"/>
                      <a:r>
                        <a:rPr sz="800" b="1" i="0">
                          <a:solidFill>
                            <a:srgbClr val="0D0D0D"/>
                          </a:solidFill>
                          <a:latin typeface="Calibri"/>
                        </a:rPr>
                        <a:t>32,3</a:t>
                      </a:r>
                    </a:p>
                  </a:txBody>
                  <a:tcPr>
                    <a:solidFill>
                      <a:srgbClr val="FFFFFF"/>
                    </a:solidFill>
                  </a:tcPr>
                </a:tc>
                <a:tc>
                  <a:txBody>
                    <a:bodyPr/>
                    <a:lstStyle/>
                    <a:p>
                      <a:pPr algn="ctr"/>
                      <a:r>
                        <a:rPr sz="800" b="1" i="0">
                          <a:solidFill>
                            <a:srgbClr val="1B3A6B"/>
                          </a:solidFill>
                          <a:latin typeface="Calibri"/>
                        </a:rPr>
                        <a:t>32,7</a:t>
                      </a:r>
                    </a:p>
                  </a:txBody>
                  <a:tcPr>
                    <a:solidFill>
                      <a:srgbClr val="DDE8F5"/>
                    </a:solidFill>
                  </a:tcPr>
                </a:tc>
                <a:tc>
                  <a:txBody>
                    <a:bodyPr/>
                    <a:lstStyle/>
                    <a:p>
                      <a:pPr algn="ctr"/>
                      <a:r>
                        <a:rPr sz="800" b="1" i="0">
                          <a:solidFill>
                            <a:srgbClr val="0D0D0D"/>
                          </a:solidFill>
                          <a:latin typeface="Calibri"/>
                        </a:rPr>
                        <a:t>34,3</a:t>
                      </a:r>
                    </a:p>
                  </a:txBody>
                  <a:tcPr>
                    <a:solidFill>
                      <a:srgbClr val="FFFFFF"/>
                    </a:solidFill>
                  </a:tcPr>
                </a:tc>
                <a:tc>
                  <a:txBody>
                    <a:bodyPr/>
                    <a:lstStyle/>
                    <a:p>
                      <a:pPr algn="ctr"/>
                      <a:r>
                        <a:rPr sz="800" b="1" i="0">
                          <a:solidFill>
                            <a:srgbClr val="0D0D0D"/>
                          </a:solidFill>
                          <a:latin typeface="Calibri"/>
                        </a:rPr>
                        <a:t>35,9</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73,9 %</a:t>
                      </a:r>
                    </a:p>
                  </a:txBody>
                  <a:tcPr>
                    <a:solidFill>
                      <a:srgbClr val="F7F8FA"/>
                    </a:solidFill>
                  </a:tcPr>
                </a:tc>
                <a:tc>
                  <a:txBody>
                    <a:bodyPr/>
                    <a:lstStyle/>
                    <a:p>
                      <a:pPr algn="ctr"/>
                      <a:r>
                        <a:rPr sz="750" b="0" i="1">
                          <a:solidFill>
                            <a:srgbClr val="555555"/>
                          </a:solidFill>
                          <a:latin typeface="Calibri"/>
                        </a:rPr>
                        <a:t>74,2 %</a:t>
                      </a:r>
                    </a:p>
                  </a:txBody>
                  <a:tcPr>
                    <a:solidFill>
                      <a:srgbClr val="F7F8FA"/>
                    </a:solidFill>
                  </a:tcPr>
                </a:tc>
                <a:tc>
                  <a:txBody>
                    <a:bodyPr/>
                    <a:lstStyle/>
                    <a:p>
                      <a:pPr algn="ctr"/>
                      <a:r>
                        <a:rPr sz="750" b="0" i="1">
                          <a:solidFill>
                            <a:srgbClr val="555555"/>
                          </a:solidFill>
                          <a:latin typeface="Calibri"/>
                        </a:rPr>
                        <a:t>74,3 %</a:t>
                      </a:r>
                    </a:p>
                  </a:txBody>
                  <a:tcPr>
                    <a:solidFill>
                      <a:srgbClr val="DDE8F5"/>
                    </a:solidFill>
                  </a:tcPr>
                </a:tc>
                <a:tc>
                  <a:txBody>
                    <a:bodyPr/>
                    <a:lstStyle/>
                    <a:p>
                      <a:pPr algn="ctr"/>
                      <a:r>
                        <a:rPr sz="750" b="0" i="1">
                          <a:solidFill>
                            <a:srgbClr val="555555"/>
                          </a:solidFill>
                          <a:latin typeface="Calibri"/>
                        </a:rPr>
                        <a:t>74,5 %</a:t>
                      </a:r>
                    </a:p>
                  </a:txBody>
                  <a:tcPr>
                    <a:solidFill>
                      <a:srgbClr val="F7F8FA"/>
                    </a:solidFill>
                  </a:tcPr>
                </a:tc>
                <a:tc>
                  <a:txBody>
                    <a:bodyPr/>
                    <a:lstStyle/>
                    <a:p>
                      <a:pPr algn="ctr"/>
                      <a:r>
                        <a:rPr sz="750" b="0" i="1">
                          <a:solidFill>
                            <a:srgbClr val="555555"/>
                          </a:solidFill>
                          <a:latin typeface="Calibri"/>
                        </a:rPr>
                        <a:t>74,7 %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9,9</a:t>
                      </a:r>
                    </a:p>
                  </a:txBody>
                  <a:tcPr>
                    <a:solidFill>
                      <a:srgbClr val="FFFFFF"/>
                    </a:solidFill>
                  </a:tcPr>
                </a:tc>
                <a:tc>
                  <a:txBody>
                    <a:bodyPr/>
                    <a:lstStyle/>
                    <a:p>
                      <a:pPr algn="ctr"/>
                      <a:r>
                        <a:rPr sz="800" b="1" i="0">
                          <a:solidFill>
                            <a:srgbClr val="0D0D0D"/>
                          </a:solidFill>
                          <a:latin typeface="Calibri"/>
                        </a:rPr>
                        <a:t>10,7</a:t>
                      </a:r>
                    </a:p>
                  </a:txBody>
                  <a:tcPr>
                    <a:solidFill>
                      <a:srgbClr val="FFFFFF"/>
                    </a:solidFill>
                  </a:tcPr>
                </a:tc>
                <a:tc>
                  <a:txBody>
                    <a:bodyPr/>
                    <a:lstStyle/>
                    <a:p>
                      <a:pPr algn="ctr"/>
                      <a:r>
                        <a:rPr sz="800" b="1" i="0">
                          <a:solidFill>
                            <a:srgbClr val="1B3A6B"/>
                          </a:solidFill>
                          <a:latin typeface="Calibri"/>
                        </a:rPr>
                        <a:t>10,7</a:t>
                      </a:r>
                    </a:p>
                  </a:txBody>
                  <a:tcPr>
                    <a:solidFill>
                      <a:srgbClr val="DDE8F5"/>
                    </a:solidFill>
                  </a:tcPr>
                </a:tc>
                <a:tc>
                  <a:txBody>
                    <a:bodyPr/>
                    <a:lstStyle/>
                    <a:p>
                      <a:pPr algn="ctr"/>
                      <a:r>
                        <a:rPr sz="800" b="1" i="0">
                          <a:solidFill>
                            <a:srgbClr val="0D0D0D"/>
                          </a:solidFill>
                          <a:latin typeface="Calibri"/>
                        </a:rPr>
                        <a:t>11,5</a:t>
                      </a:r>
                    </a:p>
                  </a:txBody>
                  <a:tcPr>
                    <a:solidFill>
                      <a:srgbClr val="FFFFFF"/>
                    </a:solidFill>
                  </a:tcPr>
                </a:tc>
                <a:tc>
                  <a:txBody>
                    <a:bodyPr/>
                    <a:lstStyle/>
                    <a:p>
                      <a:pPr algn="ctr"/>
                      <a:r>
                        <a:rPr sz="800" b="1" i="0">
                          <a:solidFill>
                            <a:srgbClr val="0D0D0D"/>
                          </a:solidFill>
                          <a:latin typeface="Calibri"/>
                        </a:rPr>
                        <a:t>12,0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24,1 %</a:t>
                      </a:r>
                    </a:p>
                  </a:txBody>
                  <a:tcPr>
                    <a:solidFill>
                      <a:srgbClr val="F7F8FA"/>
                    </a:solidFill>
                  </a:tcPr>
                </a:tc>
                <a:tc>
                  <a:txBody>
                    <a:bodyPr/>
                    <a:lstStyle/>
                    <a:p>
                      <a:pPr algn="ctr"/>
                      <a:r>
                        <a:rPr sz="750" b="0" i="1">
                          <a:solidFill>
                            <a:srgbClr val="555555"/>
                          </a:solidFill>
                          <a:latin typeface="Calibri"/>
                        </a:rPr>
                        <a:t>24,5 %</a:t>
                      </a:r>
                    </a:p>
                  </a:txBody>
                  <a:tcPr>
                    <a:solidFill>
                      <a:srgbClr val="F7F8FA"/>
                    </a:solidFill>
                  </a:tcPr>
                </a:tc>
                <a:tc>
                  <a:txBody>
                    <a:bodyPr/>
                    <a:lstStyle/>
                    <a:p>
                      <a:pPr algn="ctr"/>
                      <a:r>
                        <a:rPr sz="750" b="0" i="1">
                          <a:solidFill>
                            <a:srgbClr val="555555"/>
                          </a:solidFill>
                          <a:latin typeface="Calibri"/>
                        </a:rPr>
                        <a:t>24,3 %</a:t>
                      </a:r>
                    </a:p>
                  </a:txBody>
                  <a:tcPr>
                    <a:solidFill>
                      <a:srgbClr val="DDE8F5"/>
                    </a:solidFill>
                  </a:tcPr>
                </a:tc>
                <a:tc>
                  <a:txBody>
                    <a:bodyPr/>
                    <a:lstStyle/>
                    <a:p>
                      <a:pPr algn="ctr"/>
                      <a:r>
                        <a:rPr sz="750" b="0" i="1">
                          <a:solidFill>
                            <a:srgbClr val="555555"/>
                          </a:solidFill>
                          <a:latin typeface="Calibri"/>
                        </a:rPr>
                        <a:t>25,0 %</a:t>
                      </a:r>
                    </a:p>
                  </a:txBody>
                  <a:tcPr>
                    <a:solidFill>
                      <a:srgbClr val="F7F8FA"/>
                    </a:solidFill>
                  </a:tcPr>
                </a:tc>
                <a:tc>
                  <a:txBody>
                    <a:bodyPr/>
                    <a:lstStyle/>
                    <a:p>
                      <a:pPr algn="ctr"/>
                      <a:r>
                        <a:rPr sz="750" b="0" i="1">
                          <a:solidFill>
                            <a:srgbClr val="555555"/>
                          </a:solidFill>
                          <a:latin typeface="Calibri"/>
                        </a:rPr>
                        <a:t>25,0 %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6,2</a:t>
                      </a:r>
                    </a:p>
                  </a:txBody>
                  <a:tcPr>
                    <a:solidFill>
                      <a:srgbClr val="FFFFFF"/>
                    </a:solidFill>
                  </a:tcPr>
                </a:tc>
                <a:tc>
                  <a:txBody>
                    <a:bodyPr/>
                    <a:lstStyle/>
                    <a:p>
                      <a:pPr algn="ctr"/>
                      <a:r>
                        <a:rPr sz="800" b="1" i="0">
                          <a:solidFill>
                            <a:srgbClr val="0D0D0D"/>
                          </a:solidFill>
                          <a:latin typeface="Calibri"/>
                        </a:rPr>
                        <a:t>6,4</a:t>
                      </a:r>
                    </a:p>
                  </a:txBody>
                  <a:tcPr>
                    <a:solidFill>
                      <a:srgbClr val="FFFFFF"/>
                    </a:solidFill>
                  </a:tcPr>
                </a:tc>
                <a:tc>
                  <a:txBody>
                    <a:bodyPr/>
                    <a:lstStyle/>
                    <a:p>
                      <a:pPr algn="ctr"/>
                      <a:r>
                        <a:rPr sz="800" b="1" i="0">
                          <a:solidFill>
                            <a:srgbClr val="1B3A6B"/>
                          </a:solidFill>
                          <a:latin typeface="Calibri"/>
                        </a:rPr>
                        <a:t>6,1</a:t>
                      </a:r>
                    </a:p>
                  </a:txBody>
                  <a:tcPr>
                    <a:solidFill>
                      <a:srgbClr val="DDE8F5"/>
                    </a:solidFill>
                  </a:tcPr>
                </a:tc>
                <a:tc>
                  <a:txBody>
                    <a:bodyPr/>
                    <a:lstStyle/>
                    <a:p>
                      <a:pPr algn="ctr"/>
                      <a:r>
                        <a:rPr sz="800" b="1" i="0">
                          <a:solidFill>
                            <a:srgbClr val="0D0D0D"/>
                          </a:solidFill>
                          <a:latin typeface="Calibri"/>
                        </a:rPr>
                        <a:t>6,2</a:t>
                      </a:r>
                    </a:p>
                  </a:txBody>
                  <a:tcPr>
                    <a:solidFill>
                      <a:srgbClr val="FFFFFF"/>
                    </a:solidFill>
                  </a:tcPr>
                </a:tc>
                <a:tc>
                  <a:txBody>
                    <a:bodyPr/>
                    <a:lstStyle/>
                    <a:p>
                      <a:pPr algn="ctr"/>
                      <a:r>
                        <a:rPr sz="800" b="1" i="0">
                          <a:solidFill>
                            <a:srgbClr val="0D0D0D"/>
                          </a:solidFill>
                          <a:latin typeface="Calibri"/>
                        </a:rPr>
                        <a:t>6,5</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14,7 %</a:t>
                      </a:r>
                    </a:p>
                  </a:txBody>
                  <a:tcPr>
                    <a:solidFill>
                      <a:srgbClr val="F7F8FA"/>
                    </a:solidFill>
                  </a:tcPr>
                </a:tc>
                <a:tc>
                  <a:txBody>
                    <a:bodyPr/>
                    <a:lstStyle/>
                    <a:p>
                      <a:pPr algn="ctr"/>
                      <a:r>
                        <a:rPr sz="750" b="0" i="1">
                          <a:solidFill>
                            <a:srgbClr val="555555"/>
                          </a:solidFill>
                          <a:latin typeface="Calibri"/>
                        </a:rPr>
                        <a:t>13,9 %</a:t>
                      </a:r>
                    </a:p>
                  </a:txBody>
                  <a:tcPr>
                    <a:solidFill>
                      <a:srgbClr val="DDE8F5"/>
                    </a:solidFill>
                  </a:tcPr>
                </a:tc>
                <a:tc>
                  <a:txBody>
                    <a:bodyPr/>
                    <a:lstStyle/>
                    <a:p>
                      <a:pPr algn="ctr"/>
                      <a:r>
                        <a:rPr sz="750" b="0" i="1">
                          <a:solidFill>
                            <a:srgbClr val="555555"/>
                          </a:solidFill>
                          <a:latin typeface="Calibri"/>
                        </a:rPr>
                        <a:t>13,5 %</a:t>
                      </a:r>
                    </a:p>
                  </a:txBody>
                  <a:tcPr>
                    <a:solidFill>
                      <a:srgbClr val="F7F8FA"/>
                    </a:solidFill>
                  </a:tcPr>
                </a:tc>
                <a:tc>
                  <a:txBody>
                    <a:bodyPr/>
                    <a:lstStyle/>
                    <a:p>
                      <a:pPr algn="ctr"/>
                      <a:r>
                        <a:rPr sz="750" b="0" i="1">
                          <a:solidFill>
                            <a:srgbClr val="555555"/>
                          </a:solidFill>
                          <a:latin typeface="Calibri"/>
                        </a:rPr>
                        <a:t>13,5 %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de 1.3% en 2025 masque une accélération organique à +4.1% hors effets devise, portée par le luxe (+8%) et les soins (+5%). Les marges brute et EBITDA se maintiennent à des niveaux historiques grâce à un mix produit favorable et une discipline de pricing. La trésorerie nette de 5.2mds EUR et un ROIC de 19.8% confirment la génération de cash robuste et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9,9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8,1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254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1,59</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1,26</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24,2x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5,67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-2,79</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de 1.3% en 2025 masque une accélération organique à +4.1% hors effets devise, portée par le luxe (+8%) et les soins (+5%). Les marges brute et EBITDA se maintiennent à des niveaux historiques grâce à un mix produit favorable et une discipline de pricing. La trésorerie nette de 5.2mds 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 (74.3%), EBITDA (24.3%) et nette (13.9%) affichent une stabilité remarquable depuis 2022, avec une légère compression nette en 2025 due à des coûts logistiques et marketing accrus. Cette résilience s'explique par le levier opérationnel, un mix produit premium et une politique de pricing agressive. Pour l'investisseur, cela implique une durabilité des marges et un potentiel de re-rating si la compression nette se résorbe.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385 EUR</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350,85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330 EUR</a:t>
                      </a:r>
                    </a:p>
                  </a:txBody>
                  <a:tcPr>
                    <a:solidFill>
                      <a:srgbClr val="FAF0EF"/>
                    </a:solidFill>
                  </a:tcPr>
                </a:tc>
                <a:tc>
                  <a:txBody>
                    <a:bodyPr/>
                    <a:lstStyle/>
                    <a:p>
                      <a:pPr algn="ctr"/>
                      <a:r>
                        <a:rPr sz="2000" b="1" i="0">
                          <a:solidFill>
                            <a:srgbClr val="2E5FA3"/>
                          </a:solidFill>
                          <a:latin typeface="Calibri"/>
                        </a:rPr>
                        <a:t>385 EUR</a:t>
                      </a:r>
                    </a:p>
                  </a:txBody>
                  <a:tcPr>
                    <a:solidFill>
                      <a:srgbClr val="EEF3FA"/>
                    </a:solidFill>
                  </a:tcPr>
                </a:tc>
                <a:tc>
                  <a:txBody>
                    <a:bodyPr/>
                    <a:lstStyle/>
                    <a:p>
                      <a:pPr algn="ctr"/>
                      <a:r>
                        <a:rPr sz="2000" b="1" i="0">
                          <a:solidFill>
                            <a:srgbClr val="1A7A4A"/>
                          </a:solidFill>
                          <a:latin typeface="Calibri"/>
                        </a:rPr>
                        <a:t>420 EUR</a:t>
                      </a:r>
                    </a:p>
                  </a:txBody>
                  <a:tcPr>
                    <a:solidFill>
                      <a:srgbClr val="EAF4EF"/>
                    </a:solidFill>
                  </a:tcPr>
                </a:tc>
              </a:tr>
              <a:tr h="342900">
                <a:tc>
                  <a:txBody>
                    <a:bodyPr/>
                    <a:lstStyle/>
                    <a:p>
                      <a:pPr algn="ctr"/>
                      <a:r>
                        <a:rPr sz="1200" b="1" i="0">
                          <a:solidFill>
                            <a:srgbClr val="A82020"/>
                          </a:solidFill>
                          <a:latin typeface="Calibri"/>
                        </a:rPr>
                        <a:t>-5,9 %</a:t>
                      </a:r>
                    </a:p>
                  </a:txBody>
                  <a:tcPr>
                    <a:solidFill>
                      <a:srgbClr val="FAF0EF"/>
                    </a:solidFill>
                  </a:tcPr>
                </a:tc>
                <a:tc>
                  <a:txBody>
                    <a:bodyPr/>
                    <a:lstStyle/>
                    <a:p>
                      <a:pPr algn="ctr"/>
                      <a:r>
                        <a:rPr sz="1200" b="1" i="0">
                          <a:solidFill>
                            <a:srgbClr val="2E5FA3"/>
                          </a:solidFill>
                          <a:latin typeface="Calibri"/>
                        </a:rPr>
                        <a:t>+9,7 %</a:t>
                      </a:r>
                    </a:p>
                  </a:txBody>
                  <a:tcPr>
                    <a:solidFill>
                      <a:srgbClr val="EEF3FA"/>
                    </a:solidFill>
                  </a:tcPr>
                </a:tc>
                <a:tc>
                  <a:txBody>
                    <a:bodyPr/>
                    <a:lstStyle/>
                    <a:p>
                      <a:pPr algn="ctr"/>
                      <a:r>
                        <a:rPr sz="1200" b="1" i="0">
                          <a:solidFill>
                            <a:srgbClr val="1A7A4A"/>
                          </a:solidFill>
                          <a:latin typeface="Calibri"/>
                        </a:rPr>
                        <a:t>+19,7 %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8,5%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8.5% et une TGR de 2.0%, le prix implicite DCF est de 395 EUR, soit un upside de 12.6% vs cours actuel. La prime de croissance est partiellement pricee, mais les catalyseurs (Chine, innovation) pourraient justifier une revalorisation. Un risque d'execution sur les coûts logistiques ou une dégradation en Chine pourrait limiter l'upside.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L'Oréal S.A.</a:t>
                      </a:r>
                    </a:p>
                  </a:txBody>
                  <a:tcPr>
                    <a:solidFill>
                      <a:srgbClr val="DDE8F5"/>
                    </a:solidFill>
                  </a:tcPr>
                </a:tc>
                <a:tc>
                  <a:txBody>
                    <a:bodyPr/>
                    <a:lstStyle/>
                    <a:p>
                      <a:pPr algn="ctr"/>
                      <a:r>
                        <a:rPr sz="750" b="1" i="0">
                          <a:solidFill>
                            <a:srgbClr val="2E5FA3"/>
                          </a:solidFill>
                          <a:latin typeface="Calibri"/>
                        </a:rPr>
                        <a:t>OR.PA</a:t>
                      </a:r>
                    </a:p>
                  </a:txBody>
                  <a:tcPr>
                    <a:solidFill>
                      <a:srgbClr val="DDE8F5"/>
                    </a:solidFill>
                  </a:tcPr>
                </a:tc>
                <a:tc>
                  <a:txBody>
                    <a:bodyPr/>
                    <a:lstStyle/>
                    <a:p>
                      <a:pPr algn="ctr"/>
                      <a:r>
                        <a:rPr sz="800" b="1" i="0">
                          <a:solidFill>
                            <a:srgbClr val="1B3A6B"/>
                          </a:solidFill>
                          <a:latin typeface="Calibri"/>
                        </a:rPr>
                        <a:t>187,3</a:t>
                      </a:r>
                    </a:p>
                  </a:txBody>
                  <a:tcPr>
                    <a:solidFill>
                      <a:srgbClr val="DDE8F5"/>
                    </a:solidFill>
                  </a:tcPr>
                </a:tc>
                <a:tc>
                  <a:txBody>
                    <a:bodyPr/>
                    <a:lstStyle/>
                    <a:p>
                      <a:pPr algn="ctr"/>
                      <a:r>
                        <a:rPr sz="800" b="1" i="0">
                          <a:solidFill>
                            <a:srgbClr val="1B3A6B"/>
                          </a:solidFill>
                          <a:latin typeface="Calibri"/>
                        </a:rPr>
                        <a:t>17,6x</a:t>
                      </a:r>
                    </a:p>
                  </a:txBody>
                  <a:tcPr>
                    <a:solidFill>
                      <a:srgbClr val="DDE8F5"/>
                    </a:solidFill>
                  </a:tcPr>
                </a:tc>
                <a:tc>
                  <a:txBody>
                    <a:bodyPr/>
                    <a:lstStyle/>
                    <a:p>
                      <a:pPr algn="ctr"/>
                      <a:r>
                        <a:rPr sz="800" b="1" i="0">
                          <a:solidFill>
                            <a:srgbClr val="1B3A6B"/>
                          </a:solidFill>
                          <a:latin typeface="Calibri"/>
                        </a:rPr>
                        <a:t>4,3x</a:t>
                      </a:r>
                    </a:p>
                  </a:txBody>
                  <a:tcPr>
                    <a:solidFill>
                      <a:srgbClr val="DDE8F5"/>
                    </a:solidFill>
                  </a:tcPr>
                </a:tc>
                <a:tc>
                  <a:txBody>
                    <a:bodyPr/>
                    <a:lstStyle/>
                    <a:p>
                      <a:pPr algn="ctr"/>
                      <a:r>
                        <a:rPr sz="800" b="1" i="0">
                          <a:solidFill>
                            <a:srgbClr val="1B3A6B"/>
                          </a:solidFill>
                          <a:latin typeface="Calibri"/>
                        </a:rPr>
                        <a:t>30,6x</a:t>
                      </a:r>
                    </a:p>
                  </a:txBody>
                  <a:tcPr>
                    <a:solidFill>
                      <a:srgbClr val="DDE8F5"/>
                    </a:solidFill>
                  </a:tcPr>
                </a:tc>
                <a:tc>
                  <a:txBody>
                    <a:bodyPr/>
                    <a:lstStyle/>
                    <a:p>
                      <a:pPr algn="ctr"/>
                      <a:r>
                        <a:rPr sz="800" b="1" i="0">
                          <a:solidFill>
                            <a:srgbClr val="1B3A6B"/>
                          </a:solidFill>
                          <a:latin typeface="Calibri"/>
                        </a:rPr>
                        <a:t>74,3 %</a:t>
                      </a:r>
                    </a:p>
                  </a:txBody>
                  <a:tcPr>
                    <a:solidFill>
                      <a:srgbClr val="DDE8F5"/>
                    </a:solidFill>
                  </a:tcPr>
                </a:tc>
                <a:tc>
                  <a:txBody>
                    <a:bodyPr/>
                    <a:lstStyle/>
                    <a:p>
                      <a:pPr algn="ctr"/>
                      <a:r>
                        <a:rPr sz="800" b="1" i="0">
                          <a:solidFill>
                            <a:srgbClr val="1B3A6B"/>
                          </a:solidFill>
                          <a:latin typeface="Calibri"/>
                        </a:rPr>
                        <a:t>24,3 %</a:t>
                      </a:r>
                    </a:p>
                  </a:txBody>
                  <a:tcPr>
                    <a:solidFill>
                      <a:srgbClr val="DDE8F5"/>
                    </a:solidFill>
                  </a:tcPr>
                </a:tc>
              </a:tr>
              <a:tr h="251999">
                <a:tc>
                  <a:txBody>
                    <a:bodyPr/>
                    <a:lstStyle/>
                    <a:p>
                      <a:pPr algn="l"/>
                      <a:r>
                        <a:rPr sz="800" b="0" i="0">
                          <a:solidFill>
                            <a:srgbClr val="0D0D0D"/>
                          </a:solidFill>
                          <a:latin typeface="Calibri"/>
                        </a:rPr>
                        <a:t>Estée Lauder</a:t>
                      </a:r>
                    </a:p>
                  </a:txBody>
                  <a:tcPr>
                    <a:solidFill>
                      <a:srgbClr val="FFFFFF"/>
                    </a:solidFill>
                  </a:tcPr>
                </a:tc>
                <a:tc>
                  <a:txBody>
                    <a:bodyPr/>
                    <a:lstStyle/>
                    <a:p>
                      <a:pPr algn="ctr"/>
                      <a:r>
                        <a:rPr sz="750" b="0" i="0">
                          <a:solidFill>
                            <a:srgbClr val="555555"/>
                          </a:solidFill>
                          <a:latin typeface="Calibri"/>
                        </a:rPr>
                        <a:t>EL</a:t>
                      </a:r>
                    </a:p>
                  </a:txBody>
                  <a:tcPr>
                    <a:solidFill>
                      <a:srgbClr val="FFFFFF"/>
                    </a:solidFill>
                  </a:tcPr>
                </a:tc>
                <a:tc>
                  <a:txBody>
                    <a:bodyPr/>
                    <a:lstStyle/>
                    <a:p>
                      <a:pPr algn="ctr"/>
                      <a:r>
                        <a:rPr sz="800" b="0" i="0">
                          <a:solidFill>
                            <a:srgbClr val="0D0D0D"/>
                          </a:solidFill>
                          <a:latin typeface="Calibri"/>
                        </a:rPr>
                        <a:t>35,2</a:t>
                      </a:r>
                    </a:p>
                  </a:txBody>
                  <a:tcPr>
                    <a:solidFill>
                      <a:srgbClr val="FFFFFF"/>
                    </a:solidFill>
                  </a:tcPr>
                </a:tc>
                <a:tc>
                  <a:txBody>
                    <a:bodyPr/>
                    <a:lstStyle/>
                    <a:p>
                      <a:pPr algn="ctr"/>
                      <a:r>
                        <a:rPr sz="800" b="0" i="0">
                          <a:solidFill>
                            <a:srgbClr val="0D0D0D"/>
                          </a:solidFill>
                          <a:latin typeface="Calibri"/>
                        </a:rPr>
                        <a:t>15,8x</a:t>
                      </a:r>
                    </a:p>
                  </a:txBody>
                  <a:tcPr>
                    <a:solidFill>
                      <a:srgbClr val="FFFFFF"/>
                    </a:solidFill>
                  </a:tcPr>
                </a:tc>
                <a:tc>
                  <a:txBody>
                    <a:bodyPr/>
                    <a:lstStyle/>
                    <a:p>
                      <a:pPr algn="ctr"/>
                      <a:r>
                        <a:rPr sz="800" b="0" i="0">
                          <a:solidFill>
                            <a:srgbClr val="0D0D0D"/>
                          </a:solidFill>
                          <a:latin typeface="Calibri"/>
                        </a:rPr>
                        <a:t>3,1x</a:t>
                      </a:r>
                    </a:p>
                  </a:txBody>
                  <a:tcPr>
                    <a:solidFill>
                      <a:srgbClr val="FFFFFF"/>
                    </a:solidFill>
                  </a:tcPr>
                </a:tc>
                <a:tc>
                  <a:txBody>
                    <a:bodyPr/>
                    <a:lstStyle/>
                    <a:p>
                      <a:pPr algn="ctr"/>
                      <a:r>
                        <a:rPr sz="800" b="0" i="0">
                          <a:solidFill>
                            <a:srgbClr val="0D0D0D"/>
                          </a:solidFill>
                          <a:latin typeface="Calibri"/>
                        </a:rPr>
                        <a:t>35,1x</a:t>
                      </a:r>
                    </a:p>
                  </a:txBody>
                  <a:tcPr>
                    <a:solidFill>
                      <a:srgbClr val="FFFFFF"/>
                    </a:solidFill>
                  </a:tcPr>
                </a:tc>
                <a:tc>
                  <a:txBody>
                    <a:bodyPr/>
                    <a:lstStyle/>
                    <a:p>
                      <a:pPr algn="ctr"/>
                      <a:r>
                        <a:rPr sz="800" b="0" i="0">
                          <a:solidFill>
                            <a:srgbClr val="0D0D0D"/>
                          </a:solidFill>
                          <a:latin typeface="Calibri"/>
                        </a:rPr>
                        <a:t>72,0 %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Shiseido</a:t>
                      </a:r>
                    </a:p>
                  </a:txBody>
                  <a:tcPr>
                    <a:solidFill>
                      <a:srgbClr val="F7F8FA"/>
                    </a:solidFill>
                  </a:tcPr>
                </a:tc>
                <a:tc>
                  <a:txBody>
                    <a:bodyPr/>
                    <a:lstStyle/>
                    <a:p>
                      <a:pPr algn="ctr"/>
                      <a:r>
                        <a:rPr sz="750" b="0" i="0">
                          <a:solidFill>
                            <a:srgbClr val="555555"/>
                          </a:solidFill>
                          <a:latin typeface="Calibri"/>
                        </a:rPr>
                        <a:t>4911.T</a:t>
                      </a:r>
                    </a:p>
                  </a:txBody>
                  <a:tcPr>
                    <a:solidFill>
                      <a:srgbClr val="F7F8FA"/>
                    </a:solidFill>
                  </a:tcPr>
                </a:tc>
                <a:tc>
                  <a:txBody>
                    <a:bodyPr/>
                    <a:lstStyle/>
                    <a:p>
                      <a:pPr algn="ctr"/>
                      <a:r>
                        <a:rPr sz="800" b="0" i="0">
                          <a:solidFill>
                            <a:srgbClr val="0D0D0D"/>
                          </a:solidFill>
                          <a:latin typeface="Calibri"/>
                        </a:rPr>
                        <a:t>5,8</a:t>
                      </a:r>
                    </a:p>
                  </a:txBody>
                  <a:tcPr>
                    <a:solidFill>
                      <a:srgbClr val="F7F8FA"/>
                    </a:solidFill>
                  </a:tcPr>
                </a:tc>
                <a:tc>
                  <a:txBody>
                    <a:bodyPr/>
                    <a:lstStyle/>
                    <a:p>
                      <a:pPr algn="ctr"/>
                      <a:r>
                        <a:rPr sz="800" b="0" i="0">
                          <a:solidFill>
                            <a:srgbClr val="0D0D0D"/>
                          </a:solidFill>
                          <a:latin typeface="Calibri"/>
                        </a:rPr>
                        <a:t>8,2x</a:t>
                      </a:r>
                    </a:p>
                  </a:txBody>
                  <a:tcPr>
                    <a:solidFill>
                      <a:srgbClr val="F7F8FA"/>
                    </a:solidFill>
                  </a:tcPr>
                </a:tc>
                <a:tc>
                  <a:txBody>
                    <a:bodyPr/>
                    <a:lstStyle/>
                    <a:p>
                      <a:pPr algn="ctr"/>
                      <a:r>
                        <a:rPr sz="800" b="0" i="0">
                          <a:solidFill>
                            <a:srgbClr val="0D0D0D"/>
                          </a:solidFill>
                          <a:latin typeface="Calibri"/>
                        </a:rPr>
                        <a:t>1,2x</a:t>
                      </a:r>
                    </a:p>
                  </a:txBody>
                  <a:tcPr>
                    <a:solidFill>
                      <a:srgbClr val="F7F8FA"/>
                    </a:solidFill>
                  </a:tcPr>
                </a:tc>
                <a:tc>
                  <a:txBody>
                    <a:bodyPr/>
                    <a:lstStyle/>
                    <a:p>
                      <a:pPr algn="ctr"/>
                      <a:r>
                        <a:rPr sz="800" b="0" i="0">
                          <a:solidFill>
                            <a:srgbClr val="0D0D0D"/>
                          </a:solidFill>
                          <a:latin typeface="Calibri"/>
                        </a:rPr>
                        <a:t>12,5x</a:t>
                      </a:r>
                    </a:p>
                  </a:txBody>
                  <a:tcPr>
                    <a:solidFill>
                      <a:srgbClr val="F7F8FA"/>
                    </a:solidFill>
                  </a:tcPr>
                </a:tc>
                <a:tc>
                  <a:txBody>
                    <a:bodyPr/>
                    <a:lstStyle/>
                    <a:p>
                      <a:pPr algn="ctr"/>
                      <a:r>
                        <a:rPr sz="800" b="0" i="0">
                          <a:solidFill>
                            <a:srgbClr val="0D0D0D"/>
                          </a:solidFill>
                          <a:latin typeface="Calibri"/>
                        </a:rPr>
                        <a:t>68,0 %</a:t>
                      </a:r>
                    </a:p>
                  </a:txBody>
                  <a:tcPr>
                    <a:solidFill>
                      <a:srgbClr val="F7F8FA"/>
                    </a:solidFill>
                  </a:tcPr>
                </a:tc>
                <a:tc>
                  <a:txBody>
                    <a:bodyPr/>
                    <a:lstStyle/>
                    <a:p>
                      <a:pPr algn="ctr"/>
                      <a:r>
                        <a:rPr sz="800" b="0" i="0">
                          <a:solidFill>
                            <a:srgbClr val="0D0D0D"/>
                          </a:solidFill>
                          <a:latin typeface="Calibri"/>
                        </a:rPr>
                        <a:t>18,0 %</a:t>
                      </a:r>
                    </a:p>
                  </a:txBody>
                  <a:tcPr>
                    <a:solidFill>
                      <a:srgbClr val="F7F8FA"/>
                    </a:solidFill>
                  </a:tcPr>
                </a:tc>
              </a:tr>
              <a:tr h="251999">
                <a:tc>
                  <a:txBody>
                    <a:bodyPr/>
                    <a:lstStyle/>
                    <a:p>
                      <a:pPr algn="l"/>
                      <a:r>
                        <a:rPr sz="800" b="0" i="0">
                          <a:solidFill>
                            <a:srgbClr val="0D0D0D"/>
                          </a:solidFill>
                          <a:latin typeface="Calibri"/>
                        </a:rPr>
                        <a:t>Unilever (Beauty &amp; Personal Ca</a:t>
                      </a:r>
                    </a:p>
                  </a:txBody>
                  <a:tcPr>
                    <a:solidFill>
                      <a:srgbClr val="FFFFFF"/>
                    </a:solidFill>
                  </a:tcPr>
                </a:tc>
                <a:tc>
                  <a:txBody>
                    <a:bodyPr/>
                    <a:lstStyle/>
                    <a:p>
                      <a:pPr algn="ctr"/>
                      <a:r>
                        <a:rPr sz="750" b="0" i="0">
                          <a:solidFill>
                            <a:srgbClr val="555555"/>
                          </a:solidFill>
                          <a:latin typeface="Calibri"/>
                        </a:rPr>
                        <a:t>ULVR.L</a:t>
                      </a:r>
                    </a:p>
                  </a:txBody>
                  <a:tcPr>
                    <a:solidFill>
                      <a:srgbClr val="FFFFFF"/>
                    </a:solidFill>
                  </a:tcPr>
                </a:tc>
                <a:tc>
                  <a:txBody>
                    <a:bodyPr/>
                    <a:lstStyle/>
                    <a:p>
                      <a:pPr algn="ctr"/>
                      <a:r>
                        <a:rPr sz="800" b="0" i="0">
                          <a:solidFill>
                            <a:srgbClr val="0D0D0D"/>
                          </a:solidFill>
                          <a:latin typeface="Calibri"/>
                        </a:rPr>
                        <a:t>120,0</a:t>
                      </a:r>
                    </a:p>
                  </a:txBody>
                  <a:tcPr>
                    <a:solidFill>
                      <a:srgbClr val="FFFFFF"/>
                    </a:solidFill>
                  </a:tcPr>
                </a:tc>
                <a:tc>
                  <a:txBody>
                    <a:bodyPr/>
                    <a:lstStyle/>
                    <a:p>
                      <a:pPr algn="ctr"/>
                      <a:r>
                        <a:rPr sz="800" b="0" i="0">
                          <a:solidFill>
                            <a:srgbClr val="0D0D0D"/>
                          </a:solidFill>
                          <a:latin typeface="Calibri"/>
                        </a:rPr>
                        <a:t>14,2x</a:t>
                      </a:r>
                    </a:p>
                  </a:txBody>
                  <a:tcPr>
                    <a:solidFill>
                      <a:srgbClr val="FFFFFF"/>
                    </a:solidFill>
                  </a:tcPr>
                </a:tc>
                <a:tc>
                  <a:txBody>
                    <a:bodyPr/>
                    <a:lstStyle/>
                    <a:p>
                      <a:pPr algn="ctr"/>
                      <a:r>
                        <a:rPr sz="800" b="0" i="0">
                          <a:solidFill>
                            <a:srgbClr val="0D0D0D"/>
                          </a:solidFill>
                          <a:latin typeface="Calibri"/>
                        </a:rPr>
                        <a:t>2,8x</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c>
                  <a:txBody>
                    <a:bodyPr/>
                    <a:lstStyle/>
                    <a:p>
                      <a:pPr algn="ctr"/>
                      <a:r>
                        <a:rPr sz="800" b="0" i="0">
                          <a:solidFill>
                            <a:srgbClr val="0D0D0D"/>
                          </a:solidFill>
                          <a:latin typeface="Calibri"/>
                        </a:rPr>
                        <a:t>20,0 %</a:t>
                      </a:r>
                    </a:p>
                  </a:txBody>
                  <a:tcPr>
                    <a:solidFill>
                      <a:srgbClr val="FFFFFF"/>
                    </a:solidFill>
                  </a:tcPr>
                </a:tc>
              </a:tr>
              <a:tr h="251999">
                <a:tc>
                  <a:txBody>
                    <a:bodyPr/>
                    <a:lstStyle/>
                    <a:p>
                      <a:pPr algn="l"/>
                      <a:r>
                        <a:rPr sz="800" b="0" i="0">
                          <a:solidFill>
                            <a:srgbClr val="0D0D0D"/>
                          </a:solidFill>
                          <a:latin typeface="Calibri"/>
                        </a:rPr>
                        <a:t>Procter &amp; Gamble (Beauty)</a:t>
                      </a:r>
                    </a:p>
                  </a:txBody>
                  <a:tcPr>
                    <a:solidFill>
                      <a:srgbClr val="F7F8FA"/>
                    </a:solidFill>
                  </a:tcPr>
                </a:tc>
                <a:tc>
                  <a:txBody>
                    <a:bodyPr/>
                    <a:lstStyle/>
                    <a:p>
                      <a:pPr algn="ctr"/>
                      <a:r>
                        <a:rPr sz="750" b="0" i="0">
                          <a:solidFill>
                            <a:srgbClr val="555555"/>
                          </a:solidFill>
                          <a:latin typeface="Calibri"/>
                        </a:rPr>
                        <a:t>PG</a:t>
                      </a:r>
                    </a:p>
                  </a:txBody>
                  <a:tcPr>
                    <a:solidFill>
                      <a:srgbClr val="F7F8FA"/>
                    </a:solidFill>
                  </a:tcPr>
                </a:tc>
                <a:tc>
                  <a:txBody>
                    <a:bodyPr/>
                    <a:lstStyle/>
                    <a:p>
                      <a:pPr algn="ctr"/>
                      <a:r>
                        <a:rPr sz="800" b="0" i="0">
                          <a:solidFill>
                            <a:srgbClr val="0D0D0D"/>
                          </a:solidFill>
                          <a:latin typeface="Calibri"/>
                        </a:rPr>
                        <a:t>380,0</a:t>
                      </a:r>
                    </a:p>
                  </a:txBody>
                  <a:tcPr>
                    <a:solidFill>
                      <a:srgbClr val="F7F8FA"/>
                    </a:solidFill>
                  </a:tcPr>
                </a:tc>
                <a:tc>
                  <a:txBody>
                    <a:bodyPr/>
                    <a:lstStyle/>
                    <a:p>
                      <a:pPr algn="ctr"/>
                      <a:r>
                        <a:rPr sz="800" b="0" i="0">
                          <a:solidFill>
                            <a:srgbClr val="0D0D0D"/>
                          </a:solidFill>
                          <a:latin typeface="Calibri"/>
                        </a:rPr>
                        <a:t>16,5x</a:t>
                      </a:r>
                    </a:p>
                  </a:txBody>
                  <a:tcPr>
                    <a:solidFill>
                      <a:srgbClr val="F7F8FA"/>
                    </a:solidFill>
                  </a:tcPr>
                </a:tc>
                <a:tc>
                  <a:txBody>
                    <a:bodyPr/>
                    <a:lstStyle/>
                    <a:p>
                      <a:pPr algn="ctr"/>
                      <a:r>
                        <a:rPr sz="800" b="0" i="0">
                          <a:solidFill>
                            <a:srgbClr val="0D0D0D"/>
                          </a:solidFill>
                          <a:latin typeface="Calibri"/>
                        </a:rPr>
                        <a:t>3,5x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52,0 %</a:t>
                      </a:r>
                    </a:p>
                  </a:txBody>
                  <a:tcPr>
                    <a:solidFill>
                      <a:srgbClr val="F7F8FA"/>
                    </a:solidFill>
                  </a:tcPr>
                </a:tc>
                <a:tc>
                  <a:txBody>
                    <a:bodyPr/>
                    <a:lstStyle/>
                    <a:p>
                      <a:pPr algn="ctr"/>
                      <a:r>
                        <a:rPr sz="800" b="0" i="0">
                          <a:solidFill>
                            <a:srgbClr val="0D0D0D"/>
                          </a:solidFill>
                          <a:latin typeface="Calibri"/>
                        </a:rPr>
                        <a:t>23,0 %</a:t>
                      </a:r>
                    </a:p>
                  </a:txBody>
                  <a:tcPr>
                    <a:solidFill>
                      <a:srgbClr val="F7F8FA"/>
                    </a:solidFill>
                  </a:tcPr>
                </a:tc>
              </a:tr>
              <a:tr h="251999">
                <a:tc>
                  <a:txBody>
                    <a:bodyPr/>
                    <a:lstStyle/>
                    <a:p>
                      <a:pPr algn="l"/>
                      <a:r>
                        <a:rPr sz="800" b="0" i="0">
                          <a:solidFill>
                            <a:srgbClr val="0D0D0D"/>
                          </a:solidFill>
                          <a:latin typeface="Calibri"/>
                        </a:rPr>
                        <a:t>Beiersdorf</a:t>
                      </a:r>
                    </a:p>
                  </a:txBody>
                  <a:tcPr>
                    <a:solidFill>
                      <a:srgbClr val="FFFFFF"/>
                    </a:solidFill>
                  </a:tcPr>
                </a:tc>
                <a:tc>
                  <a:txBody>
                    <a:bodyPr/>
                    <a:lstStyle/>
                    <a:p>
                      <a:pPr algn="ctr"/>
                      <a:r>
                        <a:rPr sz="750" b="0" i="0">
                          <a:solidFill>
                            <a:srgbClr val="555555"/>
                          </a:solidFill>
                          <a:latin typeface="Calibri"/>
                        </a:rPr>
                        <a:t>BEI.DE</a:t>
                      </a:r>
                    </a:p>
                  </a:txBody>
                  <a:tcPr>
                    <a:solidFill>
                      <a:srgbClr val="FFFFFF"/>
                    </a:solidFill>
                  </a:tcPr>
                </a:tc>
                <a:tc>
                  <a:txBody>
                    <a:bodyPr/>
                    <a:lstStyle/>
                    <a:p>
                      <a:pPr algn="ctr"/>
                      <a:r>
                        <a:rPr sz="800" b="0" i="0">
                          <a:solidFill>
                            <a:srgbClr val="0D0D0D"/>
                          </a:solidFill>
                          <a:latin typeface="Calibri"/>
                        </a:rPr>
                        <a:t>28,5</a:t>
                      </a:r>
                    </a:p>
                  </a:txBody>
                  <a:tcPr>
                    <a:solidFill>
                      <a:srgbClr val="FFFFFF"/>
                    </a:solidFill>
                  </a:tcPr>
                </a:tc>
                <a:tc>
                  <a:txBody>
                    <a:bodyPr/>
                    <a:lstStyle/>
                    <a:p>
                      <a:pPr algn="ctr"/>
                      <a:r>
                        <a:rPr sz="800" b="0" i="0">
                          <a:solidFill>
                            <a:srgbClr val="0D0D0D"/>
                          </a:solidFill>
                          <a:latin typeface="Calibri"/>
                        </a:rPr>
                        <a:t>13,5x</a:t>
                      </a:r>
                    </a:p>
                  </a:txBody>
                  <a:tcPr>
                    <a:solidFill>
                      <a:srgbClr val="FFFFFF"/>
                    </a:solidFill>
                  </a:tcPr>
                </a:tc>
                <a:tc>
                  <a:txBody>
                    <a:bodyPr/>
                    <a:lstStyle/>
                    <a:p>
                      <a:pPr algn="ctr"/>
                      <a:r>
                        <a:rPr sz="800" b="0" i="0">
                          <a:solidFill>
                            <a:srgbClr val="0D0D0D"/>
                          </a:solidFill>
                          <a:latin typeface="Calibri"/>
                        </a:rPr>
                        <a:t>2,9x</a:t>
                      </a:r>
                    </a:p>
                  </a:txBody>
                  <a:tcPr>
                    <a:solidFill>
                      <a:srgbClr val="FFFFFF"/>
                    </a:solidFill>
                  </a:tcPr>
                </a:tc>
                <a:tc>
                  <a:txBody>
                    <a:bodyPr/>
                    <a:lstStyle/>
                    <a:p>
                      <a:pPr algn="ctr"/>
                      <a:r>
                        <a:rPr sz="800" b="0" i="0">
                          <a:solidFill>
                            <a:srgbClr val="0D0D0D"/>
                          </a:solidFill>
                          <a:latin typeface="Calibri"/>
                        </a:rPr>
                        <a:t>25,3x</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c>
                  <a:txBody>
                    <a:bodyPr/>
                    <a:lstStyle/>
                    <a:p>
                      <a:pPr algn="ctr"/>
                      <a:r>
                        <a:rPr sz="800" b="0" i="0">
                          <a:solidFill>
                            <a:srgbClr val="0D0D0D"/>
                          </a:solidFill>
                          <a:latin typeface="Calibri"/>
                        </a:rPr>
                        <a:t>19,0 %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14,2x</a:t>
                      </a:r>
                    </a:p>
                  </a:txBody>
                  <a:tcPr>
                    <a:solidFill>
                      <a:srgbClr val="F7F8FA"/>
                    </a:solidFill>
                  </a:tcPr>
                </a:tc>
                <a:tc>
                  <a:txBody>
                    <a:bodyPr/>
                    <a:lstStyle/>
                    <a:p>
                      <a:pPr algn="ctr"/>
                      <a:r>
                        <a:rPr sz="800" b="1" i="0">
                          <a:solidFill>
                            <a:srgbClr val="0D0D0D"/>
                          </a:solidFill>
                          <a:latin typeface="Calibri"/>
                        </a:rPr>
                        <a:t>2,9x</a:t>
                      </a:r>
                    </a:p>
                  </a:txBody>
                  <a:tcPr>
                    <a:solidFill>
                      <a:srgbClr val="F7F8FA"/>
                    </a:solidFill>
                  </a:tcPr>
                </a:tc>
                <a:tc>
                  <a:txBody>
                    <a:bodyPr/>
                    <a:lstStyle/>
                    <a:p>
                      <a:pPr algn="ctr"/>
                      <a:r>
                        <a:rPr sz="800" b="1" i="0">
                          <a:solidFill>
                            <a:srgbClr val="0D0D0D"/>
                          </a:solidFill>
                          <a:latin typeface="Calibri"/>
                        </a:rPr>
                        <a:t>25,3x</a:t>
                      </a:r>
                    </a:p>
                  </a:txBody>
                  <a:tcPr>
                    <a:solidFill>
                      <a:srgbClr val="F7F8FA"/>
                    </a:solidFill>
                  </a:tcPr>
                </a:tc>
                <a:tc>
                  <a:txBody>
                    <a:bodyPr/>
                    <a:lstStyle/>
                    <a:p>
                      <a:pPr algn="ctr"/>
                      <a:r>
                        <a:rPr sz="800" b="1" i="0">
                          <a:solidFill>
                            <a:srgbClr val="0D0D0D"/>
                          </a:solidFill>
                          <a:latin typeface="Calibri"/>
                        </a:rPr>
                        <a:t>65,0 %</a:t>
                      </a:r>
                    </a:p>
                  </a:txBody>
                  <a:tcPr>
                    <a:solidFill>
                      <a:srgbClr val="F7F8FA"/>
                    </a:solidFill>
                  </a:tcPr>
                </a:tc>
                <a:tc>
                  <a:txBody>
                    <a:bodyPr/>
                    <a:lstStyle/>
                    <a:p>
                      <a:pPr algn="ctr"/>
                      <a:r>
                        <a:rPr sz="800" b="1" i="0">
                          <a:solidFill>
                            <a:srgbClr val="0D0D0D"/>
                          </a:solidFill>
                          <a:latin typeface="Calibri"/>
                        </a:rPr>
                        <a:t>20,0 %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L'Oréal se négocie à 17.6x EV/EBITDA vs médiane peers à 16.8x (+5%), et à 30.6x P/E vs 28.5x (+7%). La prime reflète une croissance organique supérieure (+4.5% vs +3.2% peers) et des marges plus résilientes. Une convergence vers la médiane peers impliquerait un downside de 8-10%, tandis qu'une prime maintenue justifierait l'upside actuel.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8.5% et une TGR de 2.0%, le prix implicite DCF est de 395 EUR, soit un upside de 12.6% vs cours actuel. La prime de croissance est partiellement pricee, mais les catalyseurs (Chine, innovation) pourraient justifier une revalorisation. Un risque d'execution sur les coûts logistiques ou une dégradation en Chine pourrait limiter l'upside.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Prime de valorisation excessive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de 30.56x surpasse de 50% la moyenne sectorielle des cosmétiques (20.3x), reflétant une prime de valorisation déjà intégrée dans le cours actuel.</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Risque prix-volume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marges nettes de 13.9% stagnent depuis 2021 malgré des hausses de prix de 8% en 2023, signalant une érosion de pouvoir de fixation des prix.</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Stagnation marges</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 R&amp;D premium à 3.1% du CA (2023) n'a généré aucun blockbuster depuis 2019, remettant en cause son efficacité.</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économique en Chine de -3pp vs consensus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Pénétration accélérée de l'IA dans le maquillage (-5pp part de marché)</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Échec du lancement de la gamme premium en Inde (CA &lt;100m EUR en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+0,280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46,0 %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10</a:t>
                      </a:r>
                    </a:p>
                  </a:txBody>
                  <a:tcPr>
                    <a:solidFill>
                      <a:srgbClr val="EAF4EF"/>
                    </a:solidFill>
                  </a:tcPr>
                </a:tc>
                <a:tc>
                  <a:txBody>
                    <a:bodyPr/>
                    <a:lstStyle/>
                    <a:p>
                      <a:pPr algn="ctr"/>
                      <a:r>
                        <a:rPr sz="800" b="0" i="0">
                          <a:solidFill>
                            <a:srgbClr val="0D0D0D"/>
                          </a:solidFill>
                          <a:latin typeface="Calibri"/>
                        </a:rPr>
                        <a:t>+0,460</a:t>
                      </a:r>
                    </a:p>
                  </a:txBody>
                  <a:tcPr>
                    <a:solidFill>
                      <a:srgbClr val="EAF4EF"/>
                    </a:solidFill>
                  </a:tcPr>
                </a:tc>
                <a:tc>
                  <a:txBody>
                    <a:bodyPr/>
                    <a:lstStyle/>
                    <a:p>
                      <a:pPr algn="ctr"/>
                      <a:r>
                        <a:rPr sz="800" b="0" i="0">
                          <a:solidFill>
                            <a:srgbClr val="0D0D0D"/>
                          </a:solidFill>
                          <a:latin typeface="Calibri"/>
                        </a:rPr>
                        <a:t>Expansion en Chine : +15% CA organique en 2026 via digitalisation et lancements premium | Mécanisme : croissance volume + mix prix | Horizon : 12-18 mois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7</a:t>
                      </a:r>
                    </a:p>
                  </a:txBody>
                  <a:tcPr>
                    <a:solidFill>
                      <a:srgbClr val="FFFFFF"/>
                    </a:solidFill>
                  </a:tcPr>
                </a:tc>
                <a:tc>
                  <a:txBody>
                    <a:bodyPr/>
                    <a:lstStyle/>
                    <a:p>
                      <a:pPr algn="ctr"/>
                      <a:r>
                        <a:rPr sz="800" b="0" i="0">
                          <a:solidFill>
                            <a:srgbClr val="0D0D0D"/>
                          </a:solidFill>
                          <a:latin typeface="Calibri"/>
                        </a:rPr>
                        <a:t>+0,360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+0,180</a:t>
                      </a:r>
                    </a:p>
                  </a:txBody>
                  <a:tcPr>
                    <a:solidFill>
                      <a:srgbClr val="FAF0EF"/>
                    </a:solidFill>
                  </a:tcPr>
                </a:tc>
                <a:tc>
                  <a:txBody>
                    <a:bodyPr/>
                    <a:lstStyle/>
                    <a:p>
                      <a:pPr algn="ctr"/>
                      <a:r>
                        <a:rPr sz="800" b="0" i="0">
                          <a:solidFill>
                            <a:srgbClr val="0D0D0D"/>
                          </a:solidFill>
                          <a:latin typeface="Calibri"/>
                        </a:rPr>
                        <a:t>Ralentissement Chine : -3pp croissance CA organique si tensions géopolitiques | Mécanisme : pression sur le mix prix et volumes | Horizon : 6-12 mois, impact…</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une dynamique positive pour L'Oréal cette semaine, portée par des partenariats technologiques et des initiatives durables. Cependant, les tensions commerciales et géopolitiques introduisent une note de prudence sur certains segments.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27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L'Oréal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Core MSCI EAF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Goldman Sachs TRT II-Goldman Sachs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GROWTH FUND OF AMERICA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STAR FUNDS-Vanguard Total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WORLD FUND-Vanguard Intern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EuroPacific Growth Fund-EUPAC Fund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TAX-MANAGED FUNDS-Vanguard</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L'Oréal se négocie à 17.6x EV/EBITDA vs médiane peers à 16.8x, soit une prime de 5%. Le P/E de 30.6x reflète une croissance supérieure et une qualité d'actifs reconnue. La prime semble justifiée par la résilience des marges et la diversification géographique.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OR.PA  ·  EUR  ·  Au 27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397,90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350,85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-7,7 %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2927676"/>
            <a:ext cx="498636" cy="96752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366562"/>
            <a:ext cx="498636" cy="52863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448279"/>
            <a:ext cx="498636" cy="44692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2644879"/>
            <a:ext cx="498636" cy="1250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3283008"/>
            <a:ext cx="498636" cy="61219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3462052"/>
            <a:ext cx="498636" cy="43314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3065707"/>
            <a:ext cx="498636" cy="82949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3341159"/>
            <a:ext cx="498636" cy="55404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16802"/>
            <a:ext cx="498636" cy="11783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398502"/>
            <a:ext cx="498636" cy="149669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823200"/>
            <a:ext cx="498636" cy="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350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366</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382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397</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L'Oréal affiche une résilience opérationnelle remarquable avec des marges stables et une croissance organique soutenue. Le modèle premium diversifié et l'innovation continue renforcent sa position de leader mondial. La valorisation reste attractive malgré une prime modérée vs peers.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