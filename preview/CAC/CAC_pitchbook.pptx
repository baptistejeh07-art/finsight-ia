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9144000" cy="51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371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5600"/>
            <a:ext cx="8229600" cy="255600"/>
          </a:xfrm>
          <a:prstGeom prst="rect">
            <a:avLst/>
          </a:prstGeom>
          <a:noFill/>
        </p:spPr>
        <p:txBody>
          <a:bodyPr wrap="square">
            <a:spAutoFit/>
          </a:bodyPr>
          <a:lstStyle/>
          <a:p>
            <a:pPr algn="ctr"/>
            <a:r>
              <a:rPr sz="1000" b="0" i="0">
                <a:solidFill>
                  <a:srgbClr val="8899BB"/>
                </a:solidFill>
                <a:latin typeface="Calibri"/>
              </a:rPr>
              <a:t>FinSight IA</a:t>
            </a:r>
          </a:p>
        </p:txBody>
      </p:sp>
      <p:sp>
        <p:nvSpPr>
          <p:cNvPr id="4" name="Rectangle 3"/>
          <p:cNvSpPr/>
          <p:nvPr/>
        </p:nvSpPr>
        <p:spPr>
          <a:xfrm>
            <a:off x="3978000" y="475200"/>
            <a:ext cx="1188000" cy="1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547200"/>
            <a:ext cx="8229600" cy="291600"/>
          </a:xfrm>
          <a:prstGeom prst="rect">
            <a:avLst/>
          </a:prstGeom>
          <a:noFill/>
        </p:spPr>
        <p:txBody>
          <a:bodyPr wrap="square">
            <a:spAutoFit/>
          </a:bodyPr>
          <a:lstStyle/>
          <a:p>
            <a:pPr algn="ctr"/>
            <a:r>
              <a:rPr sz="1100" b="0" i="0">
                <a:solidFill>
                  <a:srgbClr val="CCDDEE"/>
                </a:solidFill>
                <a:latin typeface="Calibri"/>
              </a:rPr>
              <a:t>Pitchbook  —  Analyse d'investissement</a:t>
            </a:r>
          </a:p>
        </p:txBody>
      </p:sp>
      <p:sp>
        <p:nvSpPr>
          <p:cNvPr id="6" name="TextBox 5"/>
          <p:cNvSpPr txBox="1"/>
          <p:nvPr/>
        </p:nvSpPr>
        <p:spPr>
          <a:xfrm>
            <a:off x="457200" y="1461599"/>
            <a:ext cx="8229600" cy="554050"/>
          </a:xfrm>
          <a:prstGeom prst="rect">
            <a:avLst/>
          </a:prstGeom>
          <a:noFill/>
        </p:spPr>
        <p:txBody>
          <a:bodyPr wrap="square">
            <a:spAutoFit/>
          </a:bodyPr>
          <a:lstStyle/>
          <a:p>
            <a:pPr algn="ctr"/>
            <a:r>
              <a:rPr sz="2600" b="1" i="0">
                <a:solidFill>
                  <a:srgbClr val="1B3A6B"/>
                </a:solidFill>
                <a:latin typeface="Calibri"/>
              </a:rPr>
              <a:t>Camden National Corporation</a:t>
            </a:r>
          </a:p>
        </p:txBody>
      </p:sp>
      <p:sp>
        <p:nvSpPr>
          <p:cNvPr id="7" name="TextBox 6"/>
          <p:cNvSpPr txBox="1"/>
          <p:nvPr/>
        </p:nvSpPr>
        <p:spPr>
          <a:xfrm>
            <a:off x="457200" y="2105650"/>
            <a:ext cx="8229600" cy="255600"/>
          </a:xfrm>
          <a:prstGeom prst="rect">
            <a:avLst/>
          </a:prstGeom>
          <a:noFill/>
        </p:spPr>
        <p:txBody>
          <a:bodyPr wrap="square">
            <a:spAutoFit/>
          </a:bodyPr>
          <a:lstStyle/>
          <a:p>
            <a:pPr algn="ctr"/>
            <a:r>
              <a:rPr sz="1100" b="0" i="0">
                <a:solidFill>
                  <a:srgbClr val="888888"/>
                </a:solidFill>
                <a:latin typeface="Calibri"/>
              </a:rPr>
              <a:t>CAC  ·  Financial Services</a:t>
            </a:r>
          </a:p>
        </p:txBody>
      </p:sp>
      <p:sp>
        <p:nvSpPr>
          <p:cNvPr id="8" name="Rectangle 7"/>
          <p:cNvSpPr/>
          <p:nvPr/>
        </p:nvSpPr>
        <p:spPr>
          <a:xfrm>
            <a:off x="457200" y="2480050"/>
            <a:ext cx="8229600" cy="4752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480050"/>
            <a:ext cx="46800" cy="4752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2498050"/>
            <a:ext cx="8063999" cy="439200"/>
          </a:xfrm>
          <a:prstGeom prst="rect">
            <a:avLst/>
          </a:prstGeom>
          <a:noFill/>
        </p:spPr>
        <p:txBody>
          <a:bodyPr wrap="square">
            <a:spAutoFit/>
          </a:bodyPr>
          <a:lstStyle/>
          <a:p>
            <a:pPr algn="ctr"/>
            <a:r>
              <a:rPr sz="900" b="1" i="0">
                <a:solidFill>
                  <a:srgbClr val="B06000"/>
                </a:solidFill>
                <a:latin typeface="Calibri"/>
              </a:rPr>
              <a:t>● HOLD  ·  Prix cible base : — $  ·  Upside : —</a:t>
            </a:r>
          </a:p>
        </p:txBody>
      </p:sp>
      <p:sp>
        <p:nvSpPr>
          <p:cNvPr id="11" name="Rectangle 10"/>
          <p:cNvSpPr/>
          <p:nvPr/>
        </p:nvSpPr>
        <p:spPr>
          <a:xfrm>
            <a:off x="367200" y="44640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7200" y="4554000"/>
            <a:ext cx="4114800" cy="201600"/>
          </a:xfrm>
          <a:prstGeom prst="rect">
            <a:avLst/>
          </a:prstGeom>
          <a:noFill/>
        </p:spPr>
        <p:txBody>
          <a:bodyPr wrap="square">
            <a:spAutoFit/>
          </a:bodyPr>
          <a:lstStyle/>
          <a:p>
            <a:pPr algn="l"/>
            <a:r>
              <a:rPr sz="800" b="0" i="0">
                <a:solidFill>
                  <a:srgbClr val="555555"/>
                </a:solidFill>
                <a:latin typeface="Calibri"/>
              </a:rPr>
              <a:t>Rapport confidentiel</a:t>
            </a:r>
          </a:p>
        </p:txBody>
      </p:sp>
      <p:sp>
        <p:nvSpPr>
          <p:cNvPr id="13" name="TextBox 12"/>
          <p:cNvSpPr txBox="1"/>
          <p:nvPr/>
        </p:nvSpPr>
        <p:spPr>
          <a:xfrm>
            <a:off x="4662000" y="4554000"/>
            <a:ext cx="4114800" cy="201600"/>
          </a:xfrm>
          <a:prstGeom prst="rect">
            <a:avLst/>
          </a:prstGeom>
          <a:noFill/>
        </p:spPr>
        <p:txBody>
          <a:bodyPr wrap="square">
            <a:spAutoFit/>
          </a:bodyPr>
          <a:lstStyle/>
          <a:p>
            <a:pPr algn="r"/>
            <a:r>
              <a:rPr sz="800" b="0" i="0">
                <a:solidFill>
                  <a:srgbClr val="555555"/>
                </a:solidFill>
                <a:latin typeface="Calibri"/>
              </a:rPr>
              <a:t>1 avril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Executive Summary</a:t>
            </a:r>
          </a:p>
        </p:txBody>
      </p:sp>
      <p:sp>
        <p:nvSpPr>
          <p:cNvPr id="6" name="Rectangle 5"/>
          <p:cNvSpPr/>
          <p:nvPr/>
        </p:nvSpPr>
        <p:spPr>
          <a:xfrm>
            <a:off x="367200" y="748800"/>
            <a:ext cx="8413200" cy="4392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748800"/>
            <a:ext cx="46800" cy="4392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766800"/>
            <a:ext cx="1098000" cy="403200"/>
          </a:xfrm>
          <a:prstGeom prst="rect">
            <a:avLst/>
          </a:prstGeom>
          <a:noFill/>
        </p:spPr>
        <p:txBody>
          <a:bodyPr wrap="square">
            <a:spAutoFit/>
          </a:bodyPr>
          <a:lstStyle/>
          <a:p>
            <a:pPr algn="l"/>
            <a:r>
              <a:rPr sz="1100" b="1" i="0">
                <a:solidFill>
                  <a:srgbClr val="B06000"/>
                </a:solidFill>
                <a:latin typeface="Calibri"/>
              </a:rPr>
              <a:t>● HOLD</a:t>
            </a:r>
          </a:p>
        </p:txBody>
      </p:sp>
      <p:sp>
        <p:nvSpPr>
          <p:cNvPr id="9" name="TextBox 8"/>
          <p:cNvSpPr txBox="1"/>
          <p:nvPr/>
        </p:nvSpPr>
        <p:spPr>
          <a:xfrm>
            <a:off x="1692000" y="766800"/>
            <a:ext cx="6948000" cy="403200"/>
          </a:xfrm>
          <a:prstGeom prst="rect">
            <a:avLst/>
          </a:prstGeom>
          <a:noFill/>
        </p:spPr>
        <p:txBody>
          <a:bodyPr wrap="square">
            <a:spAutoFit/>
          </a:bodyPr>
          <a:lstStyle/>
          <a:p>
            <a:pPr algn="l"/>
            <a:r>
              <a:rPr sz="900" b="0" i="0">
                <a:solidFill>
                  <a:srgbClr val="1B3A6B"/>
                </a:solidFill>
                <a:latin typeface="Calibri"/>
              </a:rPr>
              <a:t>Prix cible base : — $  ·  Upside : —  ·  Bear : — $ (—)  ·  Bull : — $ (—)</a:t>
            </a:r>
          </a:p>
        </p:txBody>
      </p:sp>
      <p:sp>
        <p:nvSpPr>
          <p:cNvPr id="10" name="Rectangle 9"/>
          <p:cNvSpPr/>
          <p:nvPr/>
        </p:nvSpPr>
        <p:spPr>
          <a:xfrm>
            <a:off x="367200" y="1353600"/>
            <a:ext cx="4161600" cy="2556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7200" y="1353600"/>
            <a:ext cx="4161600" cy="255600"/>
          </a:xfrm>
          <a:prstGeom prst="rect">
            <a:avLst/>
          </a:prstGeom>
          <a:noFill/>
        </p:spPr>
        <p:txBody>
          <a:bodyPr wrap="square">
            <a:spAutoFit/>
          </a:bodyPr>
          <a:lstStyle/>
          <a:p>
            <a:pPr algn="l"/>
            <a:r>
              <a:rPr sz="900" b="1" i="0">
                <a:solidFill>
                  <a:srgbClr val="FFFFFF"/>
                </a:solidFill>
                <a:latin typeface="Calibri"/>
              </a:rPr>
              <a:t>THÈSE D'INVESTISSEMENT</a:t>
            </a:r>
          </a:p>
        </p:txBody>
      </p:sp>
      <p:sp>
        <p:nvSpPr>
          <p:cNvPr id="12" name="Rectangle 11"/>
          <p:cNvSpPr/>
          <p:nvPr/>
        </p:nvSpPr>
        <p:spPr>
          <a:xfrm>
            <a:off x="367200" y="16632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3999" y="1645200"/>
            <a:ext cx="3931200" cy="183600"/>
          </a:xfrm>
          <a:prstGeom prst="rect">
            <a:avLst/>
          </a:prstGeom>
          <a:noFill/>
        </p:spPr>
        <p:txBody>
          <a:bodyPr wrap="square">
            <a:spAutoFit/>
          </a:bodyPr>
          <a:lstStyle/>
          <a:p>
            <a:pPr algn="l"/>
            <a:r>
              <a:rPr sz="850" b="1" i="0">
                <a:solidFill>
                  <a:srgbClr val="1B3A6B"/>
                </a:solidFill>
                <a:latin typeface="Calibri"/>
              </a:rPr>
              <a:t>—</a:t>
            </a:r>
          </a:p>
        </p:txBody>
      </p:sp>
      <p:sp>
        <p:nvSpPr>
          <p:cNvPr id="14" name="TextBox 13"/>
          <p:cNvSpPr txBox="1"/>
          <p:nvPr/>
        </p:nvSpPr>
        <p:spPr>
          <a:xfrm>
            <a:off x="503999" y="1814400"/>
            <a:ext cx="3931200" cy="327600"/>
          </a:xfrm>
          <a:prstGeom prst="rect">
            <a:avLst/>
          </a:prstGeom>
          <a:noFill/>
        </p:spPr>
        <p:txBody>
          <a:bodyPr wrap="square">
            <a:spAutoFit/>
          </a:bodyPr>
          <a:lstStyle/>
          <a:p>
            <a:pPr algn="l"/>
            <a:r>
              <a:rPr sz="750" b="0" i="0">
                <a:solidFill>
                  <a:srgbClr val="333333"/>
                </a:solidFill>
                <a:latin typeface="Calibri"/>
              </a:rPr>
              <a:t>—</a:t>
            </a:r>
          </a:p>
        </p:txBody>
      </p:sp>
      <p:sp>
        <p:nvSpPr>
          <p:cNvPr id="15" name="Rectangle 14"/>
          <p:cNvSpPr/>
          <p:nvPr/>
        </p:nvSpPr>
        <p:spPr>
          <a:xfrm>
            <a:off x="367200" y="21960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3999" y="2178000"/>
            <a:ext cx="3931200" cy="183600"/>
          </a:xfrm>
          <a:prstGeom prst="rect">
            <a:avLst/>
          </a:prstGeom>
          <a:noFill/>
        </p:spPr>
        <p:txBody>
          <a:bodyPr wrap="square">
            <a:spAutoFit/>
          </a:bodyPr>
          <a:lstStyle/>
          <a:p>
            <a:pPr algn="l"/>
            <a:r>
              <a:rPr sz="850" b="1" i="0">
                <a:solidFill>
                  <a:srgbClr val="1B3A6B"/>
                </a:solidFill>
                <a:latin typeface="Calibri"/>
              </a:rPr>
              <a:t>—</a:t>
            </a:r>
          </a:p>
        </p:txBody>
      </p:sp>
      <p:sp>
        <p:nvSpPr>
          <p:cNvPr id="17" name="TextBox 16"/>
          <p:cNvSpPr txBox="1"/>
          <p:nvPr/>
        </p:nvSpPr>
        <p:spPr>
          <a:xfrm>
            <a:off x="503999" y="2347200"/>
            <a:ext cx="3931200" cy="327600"/>
          </a:xfrm>
          <a:prstGeom prst="rect">
            <a:avLst/>
          </a:prstGeom>
          <a:noFill/>
        </p:spPr>
        <p:txBody>
          <a:bodyPr wrap="square">
            <a:spAutoFit/>
          </a:bodyPr>
          <a:lstStyle/>
          <a:p>
            <a:pPr algn="l"/>
            <a:r>
              <a:rPr sz="750" b="0" i="0">
                <a:solidFill>
                  <a:srgbClr val="333333"/>
                </a:solidFill>
                <a:latin typeface="Calibri"/>
              </a:rPr>
              <a:t>—</a:t>
            </a:r>
          </a:p>
        </p:txBody>
      </p:sp>
      <p:sp>
        <p:nvSpPr>
          <p:cNvPr id="18" name="Rectangle 17"/>
          <p:cNvSpPr/>
          <p:nvPr/>
        </p:nvSpPr>
        <p:spPr>
          <a:xfrm>
            <a:off x="367200" y="2728800"/>
            <a:ext cx="54000" cy="129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2710800"/>
            <a:ext cx="3931200" cy="183600"/>
          </a:xfrm>
          <a:prstGeom prst="rect">
            <a:avLst/>
          </a:prstGeom>
          <a:noFill/>
        </p:spPr>
        <p:txBody>
          <a:bodyPr wrap="square">
            <a:spAutoFit/>
          </a:bodyPr>
          <a:lstStyle/>
          <a:p>
            <a:pPr algn="l"/>
            <a:r>
              <a:rPr sz="850" b="1" i="0">
                <a:solidFill>
                  <a:srgbClr val="1B3A6B"/>
                </a:solidFill>
                <a:latin typeface="Calibri"/>
              </a:rPr>
              <a:t>—</a:t>
            </a:r>
          </a:p>
        </p:txBody>
      </p:sp>
      <p:sp>
        <p:nvSpPr>
          <p:cNvPr id="20" name="TextBox 19"/>
          <p:cNvSpPr txBox="1"/>
          <p:nvPr/>
        </p:nvSpPr>
        <p:spPr>
          <a:xfrm>
            <a:off x="503999" y="2880000"/>
            <a:ext cx="3931200" cy="327600"/>
          </a:xfrm>
          <a:prstGeom prst="rect">
            <a:avLst/>
          </a:prstGeom>
          <a:noFill/>
        </p:spPr>
        <p:txBody>
          <a:bodyPr wrap="square">
            <a:spAutoFit/>
          </a:bodyPr>
          <a:lstStyle/>
          <a:p>
            <a:pPr algn="l"/>
            <a:r>
              <a:rPr sz="750" b="0" i="0">
                <a:solidFill>
                  <a:srgbClr val="333333"/>
                </a:solidFill>
                <a:latin typeface="Calibri"/>
              </a:rPr>
              <a:t>—</a:t>
            </a:r>
          </a:p>
        </p:txBody>
      </p:sp>
      <p:sp>
        <p:nvSpPr>
          <p:cNvPr id="21" name="Rectangle 20"/>
          <p:cNvSpPr/>
          <p:nvPr/>
        </p:nvSpPr>
        <p:spPr>
          <a:xfrm>
            <a:off x="4708800" y="1353600"/>
            <a:ext cx="4068000" cy="255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708800" y="1353600"/>
            <a:ext cx="4068000" cy="255600"/>
          </a:xfrm>
          <a:prstGeom prst="rect">
            <a:avLst/>
          </a:prstGeom>
          <a:noFill/>
        </p:spPr>
        <p:txBody>
          <a:bodyPr wrap="square">
            <a:spAutoFit/>
          </a:bodyPr>
          <a:lstStyle/>
          <a:p>
            <a:pPr algn="l"/>
            <a:r>
              <a:rPr sz="900" b="1" i="0">
                <a:solidFill>
                  <a:srgbClr val="FFFFFF"/>
                </a:solidFill>
                <a:latin typeface="Calibri"/>
              </a:rPr>
              <a:t>RISQUES PRINCIPAUX</a:t>
            </a:r>
          </a:p>
        </p:txBody>
      </p:sp>
      <p:sp>
        <p:nvSpPr>
          <p:cNvPr id="23" name="Rectangle 22"/>
          <p:cNvSpPr/>
          <p:nvPr/>
        </p:nvSpPr>
        <p:spPr>
          <a:xfrm>
            <a:off x="4708800" y="16632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5600" y="1645200"/>
            <a:ext cx="3794399" cy="183600"/>
          </a:xfrm>
          <a:prstGeom prst="rect">
            <a:avLst/>
          </a:prstGeom>
          <a:noFill/>
        </p:spPr>
        <p:txBody>
          <a:bodyPr wrap="square">
            <a:spAutoFit/>
          </a:bodyPr>
          <a:lstStyle/>
          <a:p>
            <a:pPr algn="l"/>
            <a:r>
              <a:rPr sz="850" b="1" i="0">
                <a:solidFill>
                  <a:srgbClr val="1B3A6B"/>
                </a:solidFill>
                <a:latin typeface="Calibri"/>
              </a:rPr>
              <a:t>—</a:t>
            </a:r>
          </a:p>
        </p:txBody>
      </p:sp>
      <p:sp>
        <p:nvSpPr>
          <p:cNvPr id="25" name="TextBox 24"/>
          <p:cNvSpPr txBox="1"/>
          <p:nvPr/>
        </p:nvSpPr>
        <p:spPr>
          <a:xfrm>
            <a:off x="4845600" y="1814400"/>
            <a:ext cx="3794399" cy="327600"/>
          </a:xfrm>
          <a:prstGeom prst="rect">
            <a:avLst/>
          </a:prstGeom>
          <a:noFill/>
        </p:spPr>
        <p:txBody>
          <a:bodyPr wrap="square">
            <a:spAutoFit/>
          </a:bodyPr>
          <a:lstStyle/>
          <a:p>
            <a:pPr algn="l"/>
            <a:r>
              <a:rPr sz="750" b="0" i="0">
                <a:solidFill>
                  <a:srgbClr val="333333"/>
                </a:solidFill>
                <a:latin typeface="Calibri"/>
              </a:rPr>
              <a:t>Impact potentiel sur la thèse d'investissement — surveillance recommandée sur les 6-12 prochains mois.</a:t>
            </a:r>
          </a:p>
        </p:txBody>
      </p:sp>
      <p:sp>
        <p:nvSpPr>
          <p:cNvPr id="26" name="Rectangle 25"/>
          <p:cNvSpPr/>
          <p:nvPr/>
        </p:nvSpPr>
        <p:spPr>
          <a:xfrm>
            <a:off x="4708800" y="21960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45600" y="2178000"/>
            <a:ext cx="3794399" cy="183600"/>
          </a:xfrm>
          <a:prstGeom prst="rect">
            <a:avLst/>
          </a:prstGeom>
          <a:noFill/>
        </p:spPr>
        <p:txBody>
          <a:bodyPr wrap="square">
            <a:spAutoFit/>
          </a:bodyPr>
          <a:lstStyle/>
          <a:p>
            <a:pPr algn="l"/>
            <a:r>
              <a:rPr sz="850" b="1" i="0">
                <a:solidFill>
                  <a:srgbClr val="1B3A6B"/>
                </a:solidFill>
                <a:latin typeface="Calibri"/>
              </a:rPr>
              <a:t>—</a:t>
            </a:r>
          </a:p>
        </p:txBody>
      </p:sp>
      <p:sp>
        <p:nvSpPr>
          <p:cNvPr id="28" name="TextBox 27"/>
          <p:cNvSpPr txBox="1"/>
          <p:nvPr/>
        </p:nvSpPr>
        <p:spPr>
          <a:xfrm>
            <a:off x="4845600" y="2347200"/>
            <a:ext cx="3794399" cy="327600"/>
          </a:xfrm>
          <a:prstGeom prst="rect">
            <a:avLst/>
          </a:prstGeom>
          <a:noFill/>
        </p:spPr>
        <p:txBody>
          <a:bodyPr wrap="square">
            <a:spAutoFit/>
          </a:bodyPr>
          <a:lstStyle/>
          <a:p>
            <a:pPr algn="l"/>
            <a:r>
              <a:rPr sz="750" b="0" i="0">
                <a:solidFill>
                  <a:srgbClr val="333333"/>
                </a:solidFill>
                <a:latin typeface="Calibri"/>
              </a:rPr>
              <a:t>Impact potentiel sur la thèse d'investissement — surveillance recommandée sur les 6-12 prochains mois.</a:t>
            </a:r>
          </a:p>
        </p:txBody>
      </p:sp>
      <p:sp>
        <p:nvSpPr>
          <p:cNvPr id="29" name="Rectangle 28"/>
          <p:cNvSpPr/>
          <p:nvPr/>
        </p:nvSpPr>
        <p:spPr>
          <a:xfrm>
            <a:off x="4708800" y="2728800"/>
            <a:ext cx="54000" cy="1296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5600" y="2710800"/>
            <a:ext cx="3794399" cy="183600"/>
          </a:xfrm>
          <a:prstGeom prst="rect">
            <a:avLst/>
          </a:prstGeom>
          <a:noFill/>
        </p:spPr>
        <p:txBody>
          <a:bodyPr wrap="square">
            <a:spAutoFit/>
          </a:bodyPr>
          <a:lstStyle/>
          <a:p>
            <a:pPr algn="l"/>
            <a:r>
              <a:rPr sz="850" b="1" i="0">
                <a:solidFill>
                  <a:srgbClr val="1B3A6B"/>
                </a:solidFill>
                <a:latin typeface="Calibri"/>
              </a:rPr>
              <a:t>—</a:t>
            </a:r>
          </a:p>
        </p:txBody>
      </p:sp>
      <p:sp>
        <p:nvSpPr>
          <p:cNvPr id="31" name="TextBox 30"/>
          <p:cNvSpPr txBox="1"/>
          <p:nvPr/>
        </p:nvSpPr>
        <p:spPr>
          <a:xfrm>
            <a:off x="4845600" y="2880000"/>
            <a:ext cx="3794399" cy="327600"/>
          </a:xfrm>
          <a:prstGeom prst="rect">
            <a:avLst/>
          </a:prstGeom>
          <a:noFill/>
        </p:spPr>
        <p:txBody>
          <a:bodyPr wrap="square">
            <a:spAutoFit/>
          </a:bodyPr>
          <a:lstStyle/>
          <a:p>
            <a:pPr algn="l"/>
            <a:r>
              <a:rPr sz="750" b="0" i="0">
                <a:solidFill>
                  <a:srgbClr val="333333"/>
                </a:solidFill>
                <a:latin typeface="Calibri"/>
              </a:rPr>
              <a:t>Impact potentiel sur la thèse d'investissement — surveillance recommandée sur les 6-12 prochains mois.</a:t>
            </a:r>
          </a:p>
        </p:txBody>
      </p:sp>
      <p:sp>
        <p:nvSpPr>
          <p:cNvPr id="32" name="Rectangle 31"/>
          <p:cNvSpPr/>
          <p:nvPr/>
        </p:nvSpPr>
        <p:spPr>
          <a:xfrm>
            <a:off x="4525200" y="1353600"/>
            <a:ext cx="10800" cy="17424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33012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72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3430800"/>
            <a:ext cx="1893600" cy="396000"/>
          </a:xfrm>
          <a:prstGeom prst="rect">
            <a:avLst/>
          </a:prstGeom>
          <a:noFill/>
        </p:spPr>
        <p:txBody>
          <a:bodyPr wrap="square">
            <a:spAutoFit/>
          </a:bodyPr>
          <a:lstStyle/>
          <a:p>
            <a:pPr algn="l"/>
            <a:r>
              <a:rPr sz="1900" b="1" i="0">
                <a:solidFill>
                  <a:srgbClr val="1B3A6B"/>
                </a:solidFill>
                <a:latin typeface="Calibri"/>
              </a:rPr>
              <a:t>—</a:t>
            </a:r>
          </a:p>
        </p:txBody>
      </p:sp>
      <p:sp>
        <p:nvSpPr>
          <p:cNvPr id="37" name="TextBox 36"/>
          <p:cNvSpPr txBox="1"/>
          <p:nvPr/>
        </p:nvSpPr>
        <p:spPr>
          <a:xfrm>
            <a:off x="457200" y="3826800"/>
            <a:ext cx="1893600" cy="205199"/>
          </a:xfrm>
          <a:prstGeom prst="rect">
            <a:avLst/>
          </a:prstGeom>
          <a:noFill/>
        </p:spPr>
        <p:txBody>
          <a:bodyPr wrap="square">
            <a:spAutoFit/>
          </a:bodyPr>
          <a:lstStyle/>
          <a:p>
            <a:pPr algn="l"/>
            <a:r>
              <a:rPr sz="800" b="0" i="0">
                <a:solidFill>
                  <a:srgbClr val="555555"/>
                </a:solidFill>
                <a:latin typeface="Calibri"/>
              </a:rPr>
              <a:t>EV/EBITDA</a:t>
            </a:r>
          </a:p>
        </p:txBody>
      </p:sp>
      <p:sp>
        <p:nvSpPr>
          <p:cNvPr id="38" name="TextBox 37"/>
          <p:cNvSpPr txBox="1"/>
          <p:nvPr/>
        </p:nvSpPr>
        <p:spPr>
          <a:xfrm>
            <a:off x="457200" y="4024800"/>
            <a:ext cx="1893600" cy="165600"/>
          </a:xfrm>
          <a:prstGeom prst="rect">
            <a:avLst/>
          </a:prstGeom>
          <a:noFill/>
        </p:spPr>
        <p:txBody>
          <a:bodyPr wrap="square">
            <a:spAutoFit/>
          </a:bodyPr>
          <a:lstStyle/>
          <a:p>
            <a:pPr algn="l"/>
            <a:r>
              <a:rPr sz="700" b="0" i="0">
                <a:solidFill>
                  <a:srgbClr val="888888"/>
                </a:solidFill>
                <a:latin typeface="Calibri"/>
              </a:rPr>
              <a:t>vs — médiane peers</a:t>
            </a:r>
          </a:p>
        </p:txBody>
      </p:sp>
      <p:sp>
        <p:nvSpPr>
          <p:cNvPr id="39" name="Rectangle 38"/>
          <p:cNvSpPr/>
          <p:nvPr/>
        </p:nvSpPr>
        <p:spPr>
          <a:xfrm>
            <a:off x="24876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24876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77600" y="3430800"/>
            <a:ext cx="1893600" cy="396000"/>
          </a:xfrm>
          <a:prstGeom prst="rect">
            <a:avLst/>
          </a:prstGeom>
          <a:noFill/>
        </p:spPr>
        <p:txBody>
          <a:bodyPr wrap="square">
            <a:spAutoFit/>
          </a:bodyPr>
          <a:lstStyle/>
          <a:p>
            <a:pPr algn="l"/>
            <a:r>
              <a:rPr sz="1900" b="1" i="0">
                <a:solidFill>
                  <a:srgbClr val="1B3A6B"/>
                </a:solidFill>
                <a:latin typeface="Calibri"/>
              </a:rPr>
              <a:t>9,7 %</a:t>
            </a:r>
          </a:p>
        </p:txBody>
      </p:sp>
      <p:sp>
        <p:nvSpPr>
          <p:cNvPr id="42" name="TextBox 41"/>
          <p:cNvSpPr txBox="1"/>
          <p:nvPr/>
        </p:nvSpPr>
        <p:spPr>
          <a:xfrm>
            <a:off x="2577600" y="3826800"/>
            <a:ext cx="1893600" cy="205199"/>
          </a:xfrm>
          <a:prstGeom prst="rect">
            <a:avLst/>
          </a:prstGeom>
          <a:noFill/>
        </p:spPr>
        <p:txBody>
          <a:bodyPr wrap="square">
            <a:spAutoFit/>
          </a:bodyPr>
          <a:lstStyle/>
          <a:p>
            <a:pPr algn="l"/>
            <a:r>
              <a:rPr sz="800" b="0" i="0">
                <a:solidFill>
                  <a:srgbClr val="555555"/>
                </a:solidFill>
                <a:latin typeface="Calibri"/>
              </a:rPr>
              <a:t>WACC</a:t>
            </a:r>
          </a:p>
        </p:txBody>
      </p:sp>
      <p:sp>
        <p:nvSpPr>
          <p:cNvPr id="43" name="TextBox 42"/>
          <p:cNvSpPr txBox="1"/>
          <p:nvPr/>
        </p:nvSpPr>
        <p:spPr>
          <a:xfrm>
            <a:off x="2577600" y="4024800"/>
            <a:ext cx="1893600" cy="165600"/>
          </a:xfrm>
          <a:prstGeom prst="rect">
            <a:avLst/>
          </a:prstGeom>
          <a:noFill/>
        </p:spPr>
        <p:txBody>
          <a:bodyPr wrap="square">
            <a:spAutoFit/>
          </a:bodyPr>
          <a:lstStyle/>
          <a:p>
            <a:pPr algn="l"/>
            <a:r>
              <a:rPr sz="700" b="0" i="0">
                <a:solidFill>
                  <a:srgbClr val="888888"/>
                </a:solidFill>
                <a:latin typeface="Calibri"/>
              </a:rPr>
              <a:t>Beta 0,61  ·  RFR 4,3 %</a:t>
            </a:r>
          </a:p>
        </p:txBody>
      </p:sp>
      <p:sp>
        <p:nvSpPr>
          <p:cNvPr id="44" name="Rectangle 43"/>
          <p:cNvSpPr/>
          <p:nvPr/>
        </p:nvSpPr>
        <p:spPr>
          <a:xfrm>
            <a:off x="46080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6080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698000" y="3430800"/>
            <a:ext cx="1893600" cy="396000"/>
          </a:xfrm>
          <a:prstGeom prst="rect">
            <a:avLst/>
          </a:prstGeom>
          <a:noFill/>
        </p:spPr>
        <p:txBody>
          <a:bodyPr wrap="square">
            <a:spAutoFit/>
          </a:bodyPr>
          <a:lstStyle/>
          <a:p>
            <a:pPr algn="l"/>
            <a:r>
              <a:rPr sz="1900" b="1" i="0">
                <a:solidFill>
                  <a:srgbClr val="1B3A6B"/>
                </a:solidFill>
                <a:latin typeface="Calibri"/>
              </a:rPr>
              <a:t>— $</a:t>
            </a:r>
          </a:p>
        </p:txBody>
      </p:sp>
      <p:sp>
        <p:nvSpPr>
          <p:cNvPr id="47" name="TextBox 46"/>
          <p:cNvSpPr txBox="1"/>
          <p:nvPr/>
        </p:nvSpPr>
        <p:spPr>
          <a:xfrm>
            <a:off x="4698000" y="3826800"/>
            <a:ext cx="1893600" cy="205199"/>
          </a:xfrm>
          <a:prstGeom prst="rect">
            <a:avLst/>
          </a:prstGeom>
          <a:noFill/>
        </p:spPr>
        <p:txBody>
          <a:bodyPr wrap="square">
            <a:spAutoFit/>
          </a:bodyPr>
          <a:lstStyle/>
          <a:p>
            <a:pPr algn="l"/>
            <a:r>
              <a:rPr sz="800" b="0" i="0">
                <a:solidFill>
                  <a:srgbClr val="555555"/>
                </a:solidFill>
                <a:latin typeface="Calibri"/>
              </a:rPr>
              <a:t>Valeur intrinsèque DCF</a:t>
            </a:r>
          </a:p>
        </p:txBody>
      </p:sp>
      <p:sp>
        <p:nvSpPr>
          <p:cNvPr id="48" name="TextBox 47"/>
          <p:cNvSpPr txBox="1"/>
          <p:nvPr/>
        </p:nvSpPr>
        <p:spPr>
          <a:xfrm>
            <a:off x="4698000" y="4024800"/>
            <a:ext cx="1893600" cy="165600"/>
          </a:xfrm>
          <a:prstGeom prst="rect">
            <a:avLst/>
          </a:prstGeom>
          <a:noFill/>
        </p:spPr>
        <p:txBody>
          <a:bodyPr wrap="square">
            <a:spAutoFit/>
          </a:bodyPr>
          <a:lstStyle/>
          <a:p>
            <a:pPr algn="l"/>
            <a:r>
              <a:rPr sz="700" b="0" i="0">
                <a:solidFill>
                  <a:srgbClr val="888888"/>
                </a:solidFill>
                <a:latin typeface="Calibri"/>
              </a:rPr>
              <a:t>Upside de — vs cours</a:t>
            </a:r>
          </a:p>
        </p:txBody>
      </p:sp>
      <p:sp>
        <p:nvSpPr>
          <p:cNvPr id="49" name="Rectangle 48"/>
          <p:cNvSpPr/>
          <p:nvPr/>
        </p:nvSpPr>
        <p:spPr>
          <a:xfrm>
            <a:off x="6728400" y="3376800"/>
            <a:ext cx="2030400" cy="806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728400" y="3376800"/>
            <a:ext cx="46800" cy="806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818400" y="3430800"/>
            <a:ext cx="1893600" cy="396000"/>
          </a:xfrm>
          <a:prstGeom prst="rect">
            <a:avLst/>
          </a:prstGeom>
          <a:noFill/>
        </p:spPr>
        <p:txBody>
          <a:bodyPr wrap="square">
            <a:spAutoFit/>
          </a:bodyPr>
          <a:lstStyle/>
          <a:p>
            <a:pPr algn="l"/>
            <a:r>
              <a:rPr sz="1900" b="1" i="0">
                <a:solidFill>
                  <a:srgbClr val="1B3A6B"/>
                </a:solidFill>
                <a:latin typeface="Calibri"/>
              </a:rPr>
              <a:t>+0,420</a:t>
            </a:r>
          </a:p>
        </p:txBody>
      </p:sp>
      <p:sp>
        <p:nvSpPr>
          <p:cNvPr id="52" name="TextBox 51"/>
          <p:cNvSpPr txBox="1"/>
          <p:nvPr/>
        </p:nvSpPr>
        <p:spPr>
          <a:xfrm>
            <a:off x="6818400" y="3826800"/>
            <a:ext cx="1893600" cy="205199"/>
          </a:xfrm>
          <a:prstGeom prst="rect">
            <a:avLst/>
          </a:prstGeom>
          <a:noFill/>
        </p:spPr>
        <p:txBody>
          <a:bodyPr wrap="square">
            <a:spAutoFit/>
          </a:bodyPr>
          <a:lstStyle/>
          <a:p>
            <a:pPr algn="l"/>
            <a:r>
              <a:rPr sz="800" b="0" i="0">
                <a:solidFill>
                  <a:srgbClr val="555555"/>
                </a:solidFill>
                <a:latin typeface="Calibri"/>
              </a:rPr>
              <a:t>Sentiment FinBERT</a:t>
            </a:r>
          </a:p>
        </p:txBody>
      </p:sp>
      <p:sp>
        <p:nvSpPr>
          <p:cNvPr id="53" name="TextBox 52"/>
          <p:cNvSpPr txBox="1"/>
          <p:nvPr/>
        </p:nvSpPr>
        <p:spPr>
          <a:xfrm>
            <a:off x="6818400" y="4024800"/>
            <a:ext cx="1893600" cy="165600"/>
          </a:xfrm>
          <a:prstGeom prst="rect">
            <a:avLst/>
          </a:prstGeom>
          <a:noFill/>
        </p:spPr>
        <p:txBody>
          <a:bodyPr wrap="square">
            <a:spAutoFit/>
          </a:bodyPr>
          <a:lstStyle/>
          <a:p>
            <a:pPr algn="l"/>
            <a:r>
              <a:rPr sz="700" b="0" i="0">
                <a:solidFill>
                  <a:srgbClr val="888888"/>
                </a:solidFill>
                <a:latin typeface="Calibri"/>
              </a:rPr>
              <a:t>Positif  ·  20 articles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TextBox 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Sommaire</a:t>
            </a:r>
          </a:p>
        </p:txBody>
      </p:sp>
      <p:sp>
        <p:nvSpPr>
          <p:cNvPr id="6" name="Rectangle 5"/>
          <p:cNvSpPr/>
          <p:nvPr/>
        </p:nvSpPr>
        <p:spPr>
          <a:xfrm>
            <a:off x="367200" y="8964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7200" y="8964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3999" y="950400"/>
            <a:ext cx="475200" cy="514800"/>
          </a:xfrm>
          <a:prstGeom prst="rect">
            <a:avLst/>
          </a:prstGeom>
          <a:noFill/>
        </p:spPr>
        <p:txBody>
          <a:bodyPr wrap="square">
            <a:spAutoFit/>
          </a:bodyPr>
          <a:lstStyle/>
          <a:p>
            <a:pPr algn="l"/>
            <a:r>
              <a:rPr sz="1700" b="1" i="0">
                <a:solidFill>
                  <a:srgbClr val="888888"/>
                </a:solidFill>
                <a:latin typeface="Calibri"/>
              </a:rPr>
              <a:t>01</a:t>
            </a:r>
          </a:p>
        </p:txBody>
      </p:sp>
      <p:sp>
        <p:nvSpPr>
          <p:cNvPr id="9" name="TextBox 8"/>
          <p:cNvSpPr txBox="1"/>
          <p:nvPr/>
        </p:nvSpPr>
        <p:spPr>
          <a:xfrm>
            <a:off x="1152000" y="968400"/>
            <a:ext cx="6120000" cy="255600"/>
          </a:xfrm>
          <a:prstGeom prst="rect">
            <a:avLst/>
          </a:prstGeom>
          <a:noFill/>
        </p:spPr>
        <p:txBody>
          <a:bodyPr wrap="square">
            <a:spAutoFit/>
          </a:bodyPr>
          <a:lstStyle/>
          <a:p>
            <a:pPr algn="l"/>
            <a:r>
              <a:rPr sz="1300" b="1" i="0">
                <a:solidFill>
                  <a:srgbClr val="1B3A6B"/>
                </a:solidFill>
                <a:latin typeface="Calibri"/>
              </a:rPr>
              <a:t>Company Overview</a:t>
            </a:r>
          </a:p>
        </p:txBody>
      </p:sp>
      <p:sp>
        <p:nvSpPr>
          <p:cNvPr id="10" name="TextBox 9"/>
          <p:cNvSpPr txBox="1"/>
          <p:nvPr/>
        </p:nvSpPr>
        <p:spPr>
          <a:xfrm>
            <a:off x="1152000" y="1202400"/>
            <a:ext cx="6120000" cy="255600"/>
          </a:xfrm>
          <a:prstGeom prst="rect">
            <a:avLst/>
          </a:prstGeom>
          <a:noFill/>
        </p:spPr>
        <p:txBody>
          <a:bodyPr wrap="square">
            <a:spAutoFit/>
          </a:bodyPr>
          <a:lstStyle/>
          <a:p>
            <a:pPr algn="l"/>
            <a:r>
              <a:rPr sz="850" b="0" i="0">
                <a:solidFill>
                  <a:srgbClr val="555555"/>
                </a:solidFill>
                <a:latin typeface="Calibri"/>
              </a:rPr>
              <a:t>Camden National Corporation  ·  Financial Services</a:t>
            </a:r>
          </a:p>
        </p:txBody>
      </p:sp>
      <p:sp>
        <p:nvSpPr>
          <p:cNvPr id="11" name="TextBox 10"/>
          <p:cNvSpPr txBox="1"/>
          <p:nvPr/>
        </p:nvSpPr>
        <p:spPr>
          <a:xfrm>
            <a:off x="7405200" y="1058400"/>
            <a:ext cx="1375200" cy="255600"/>
          </a:xfrm>
          <a:prstGeom prst="rect">
            <a:avLst/>
          </a:prstGeom>
          <a:noFill/>
        </p:spPr>
        <p:txBody>
          <a:bodyPr wrap="square">
            <a:spAutoFit/>
          </a:bodyPr>
          <a:lstStyle/>
          <a:p>
            <a:pPr algn="r"/>
            <a:r>
              <a:rPr sz="900" b="0" i="0">
                <a:solidFill>
                  <a:srgbClr val="2E5FA3"/>
                </a:solidFill>
                <a:latin typeface="Calibri"/>
              </a:rPr>
              <a:t>3–5</a:t>
            </a:r>
          </a:p>
        </p:txBody>
      </p:sp>
      <p:sp>
        <p:nvSpPr>
          <p:cNvPr id="12" name="Rectangle 11"/>
          <p:cNvSpPr/>
          <p:nvPr/>
        </p:nvSpPr>
        <p:spPr>
          <a:xfrm>
            <a:off x="367200" y="15912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7200" y="15912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3999" y="1645200"/>
            <a:ext cx="475200" cy="514800"/>
          </a:xfrm>
          <a:prstGeom prst="rect">
            <a:avLst/>
          </a:prstGeom>
          <a:noFill/>
        </p:spPr>
        <p:txBody>
          <a:bodyPr wrap="square">
            <a:spAutoFit/>
          </a:bodyPr>
          <a:lstStyle/>
          <a:p>
            <a:pPr algn="l"/>
            <a:r>
              <a:rPr sz="1700" b="1" i="0">
                <a:solidFill>
                  <a:srgbClr val="888888"/>
                </a:solidFill>
                <a:latin typeface="Calibri"/>
              </a:rPr>
              <a:t>02</a:t>
            </a:r>
          </a:p>
        </p:txBody>
      </p:sp>
      <p:sp>
        <p:nvSpPr>
          <p:cNvPr id="15" name="TextBox 14"/>
          <p:cNvSpPr txBox="1"/>
          <p:nvPr/>
        </p:nvSpPr>
        <p:spPr>
          <a:xfrm>
            <a:off x="1152000" y="1663200"/>
            <a:ext cx="6120000" cy="255600"/>
          </a:xfrm>
          <a:prstGeom prst="rect">
            <a:avLst/>
          </a:prstGeom>
          <a:noFill/>
        </p:spPr>
        <p:txBody>
          <a:bodyPr wrap="square">
            <a:spAutoFit/>
          </a:bodyPr>
          <a:lstStyle/>
          <a:p>
            <a:pPr algn="l"/>
            <a:r>
              <a:rPr sz="1300" b="1" i="0">
                <a:solidFill>
                  <a:srgbClr val="1B3A6B"/>
                </a:solidFill>
                <a:latin typeface="Calibri"/>
              </a:rPr>
              <a:t>Analyse Financière</a:t>
            </a:r>
          </a:p>
        </p:txBody>
      </p:sp>
      <p:sp>
        <p:nvSpPr>
          <p:cNvPr id="16" name="TextBox 15"/>
          <p:cNvSpPr txBox="1"/>
          <p:nvPr/>
        </p:nvSpPr>
        <p:spPr>
          <a:xfrm>
            <a:off x="1152000" y="1897199"/>
            <a:ext cx="6120000" cy="255600"/>
          </a:xfrm>
          <a:prstGeom prst="rect">
            <a:avLst/>
          </a:prstGeom>
          <a:noFill/>
        </p:spPr>
        <p:txBody>
          <a:bodyPr wrap="square">
            <a:spAutoFit/>
          </a:bodyPr>
          <a:lstStyle/>
          <a:p>
            <a:pPr algn="l"/>
            <a:r>
              <a:rPr sz="850" b="0" i="0">
                <a:solidFill>
                  <a:srgbClr val="555555"/>
                </a:solidFill>
                <a:latin typeface="Calibri"/>
              </a:rPr>
              <a:t>Compte de résultat, bilan &amp; liquidité, ratios</a:t>
            </a:r>
          </a:p>
        </p:txBody>
      </p:sp>
      <p:sp>
        <p:nvSpPr>
          <p:cNvPr id="17" name="TextBox 16"/>
          <p:cNvSpPr txBox="1"/>
          <p:nvPr/>
        </p:nvSpPr>
        <p:spPr>
          <a:xfrm>
            <a:off x="7405200" y="1753200"/>
            <a:ext cx="1375200" cy="255600"/>
          </a:xfrm>
          <a:prstGeom prst="rect">
            <a:avLst/>
          </a:prstGeom>
          <a:noFill/>
        </p:spPr>
        <p:txBody>
          <a:bodyPr wrap="square">
            <a:spAutoFit/>
          </a:bodyPr>
          <a:lstStyle/>
          <a:p>
            <a:pPr algn="r"/>
            <a:r>
              <a:rPr sz="900" b="0" i="0">
                <a:solidFill>
                  <a:srgbClr val="2E5FA3"/>
                </a:solidFill>
                <a:latin typeface="Calibri"/>
              </a:rPr>
              <a:t>6–8</a:t>
            </a:r>
          </a:p>
        </p:txBody>
      </p:sp>
      <p:sp>
        <p:nvSpPr>
          <p:cNvPr id="18" name="Rectangle 17"/>
          <p:cNvSpPr/>
          <p:nvPr/>
        </p:nvSpPr>
        <p:spPr>
          <a:xfrm>
            <a:off x="367200" y="22860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7200" y="22860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3999" y="2340000"/>
            <a:ext cx="475200" cy="514800"/>
          </a:xfrm>
          <a:prstGeom prst="rect">
            <a:avLst/>
          </a:prstGeom>
          <a:noFill/>
        </p:spPr>
        <p:txBody>
          <a:bodyPr wrap="square">
            <a:spAutoFit/>
          </a:bodyPr>
          <a:lstStyle/>
          <a:p>
            <a:pPr algn="l"/>
            <a:r>
              <a:rPr sz="1700" b="1" i="0">
                <a:solidFill>
                  <a:srgbClr val="888888"/>
                </a:solidFill>
                <a:latin typeface="Calibri"/>
              </a:rPr>
              <a:t>03</a:t>
            </a:r>
          </a:p>
        </p:txBody>
      </p:sp>
      <p:sp>
        <p:nvSpPr>
          <p:cNvPr id="21" name="TextBox 20"/>
          <p:cNvSpPr txBox="1"/>
          <p:nvPr/>
        </p:nvSpPr>
        <p:spPr>
          <a:xfrm>
            <a:off x="1152000" y="2358000"/>
            <a:ext cx="6120000" cy="255600"/>
          </a:xfrm>
          <a:prstGeom prst="rect">
            <a:avLst/>
          </a:prstGeom>
          <a:noFill/>
        </p:spPr>
        <p:txBody>
          <a:bodyPr wrap="square">
            <a:spAutoFit/>
          </a:bodyPr>
          <a:lstStyle/>
          <a:p>
            <a:pPr algn="l"/>
            <a:r>
              <a:rPr sz="1300" b="1" i="0">
                <a:solidFill>
                  <a:srgbClr val="1B3A6B"/>
                </a:solidFill>
                <a:latin typeface="Calibri"/>
              </a:rPr>
              <a:t>Valorisation</a:t>
            </a:r>
          </a:p>
        </p:txBody>
      </p:sp>
      <p:sp>
        <p:nvSpPr>
          <p:cNvPr id="22" name="TextBox 21"/>
          <p:cNvSpPr txBox="1"/>
          <p:nvPr/>
        </p:nvSpPr>
        <p:spPr>
          <a:xfrm>
            <a:off x="1152000" y="2591999"/>
            <a:ext cx="6120000" cy="255600"/>
          </a:xfrm>
          <a:prstGeom prst="rect">
            <a:avLst/>
          </a:prstGeom>
          <a:noFill/>
        </p:spPr>
        <p:txBody>
          <a:bodyPr wrap="square">
            <a:spAutoFit/>
          </a:bodyPr>
          <a:lstStyle/>
          <a:p>
            <a:pPr algn="l"/>
            <a:r>
              <a:rPr sz="850" b="0" i="0">
                <a:solidFill>
                  <a:srgbClr val="555555"/>
                </a:solidFill>
                <a:latin typeface="Calibri"/>
              </a:rPr>
              <a:t>DCF, comparable peers, Football Field</a:t>
            </a:r>
          </a:p>
        </p:txBody>
      </p:sp>
      <p:sp>
        <p:nvSpPr>
          <p:cNvPr id="23" name="TextBox 22"/>
          <p:cNvSpPr txBox="1"/>
          <p:nvPr/>
        </p:nvSpPr>
        <p:spPr>
          <a:xfrm>
            <a:off x="7405200" y="2448000"/>
            <a:ext cx="1375200" cy="255600"/>
          </a:xfrm>
          <a:prstGeom prst="rect">
            <a:avLst/>
          </a:prstGeom>
          <a:noFill/>
        </p:spPr>
        <p:txBody>
          <a:bodyPr wrap="square">
            <a:spAutoFit/>
          </a:bodyPr>
          <a:lstStyle/>
          <a:p>
            <a:pPr algn="r"/>
            <a:r>
              <a:rPr sz="900" b="0" i="0">
                <a:solidFill>
                  <a:srgbClr val="2E5FA3"/>
                </a:solidFill>
                <a:latin typeface="Calibri"/>
              </a:rPr>
              <a:t>9–11</a:t>
            </a:r>
          </a:p>
        </p:txBody>
      </p:sp>
      <p:sp>
        <p:nvSpPr>
          <p:cNvPr id="24" name="Rectangle 23"/>
          <p:cNvSpPr/>
          <p:nvPr/>
        </p:nvSpPr>
        <p:spPr>
          <a:xfrm>
            <a:off x="367200" y="2980800"/>
            <a:ext cx="8413200" cy="622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7200" y="29808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3999" y="3034800"/>
            <a:ext cx="475200" cy="514800"/>
          </a:xfrm>
          <a:prstGeom prst="rect">
            <a:avLst/>
          </a:prstGeom>
          <a:noFill/>
        </p:spPr>
        <p:txBody>
          <a:bodyPr wrap="square">
            <a:spAutoFit/>
          </a:bodyPr>
          <a:lstStyle/>
          <a:p>
            <a:pPr algn="l"/>
            <a:r>
              <a:rPr sz="1700" b="1" i="0">
                <a:solidFill>
                  <a:srgbClr val="888888"/>
                </a:solidFill>
                <a:latin typeface="Calibri"/>
              </a:rPr>
              <a:t>04</a:t>
            </a:r>
          </a:p>
        </p:txBody>
      </p:sp>
      <p:sp>
        <p:nvSpPr>
          <p:cNvPr id="27" name="TextBox 26"/>
          <p:cNvSpPr txBox="1"/>
          <p:nvPr/>
        </p:nvSpPr>
        <p:spPr>
          <a:xfrm>
            <a:off x="1152000" y="3052799"/>
            <a:ext cx="6120000" cy="255600"/>
          </a:xfrm>
          <a:prstGeom prst="rect">
            <a:avLst/>
          </a:prstGeom>
          <a:noFill/>
        </p:spPr>
        <p:txBody>
          <a:bodyPr wrap="square">
            <a:spAutoFit/>
          </a:bodyPr>
          <a:lstStyle/>
          <a:p>
            <a:pPr algn="l"/>
            <a:r>
              <a:rPr sz="1300" b="1" i="0">
                <a:solidFill>
                  <a:srgbClr val="1B3A6B"/>
                </a:solidFill>
                <a:latin typeface="Calibri"/>
              </a:rPr>
              <a:t>Risques &amp; Stratégie</a:t>
            </a:r>
          </a:p>
        </p:txBody>
      </p:sp>
      <p:sp>
        <p:nvSpPr>
          <p:cNvPr id="28" name="TextBox 27"/>
          <p:cNvSpPr txBox="1"/>
          <p:nvPr/>
        </p:nvSpPr>
        <p:spPr>
          <a:xfrm>
            <a:off x="1152000" y="3286799"/>
            <a:ext cx="6120000" cy="255600"/>
          </a:xfrm>
          <a:prstGeom prst="rect">
            <a:avLst/>
          </a:prstGeom>
          <a:noFill/>
        </p:spPr>
        <p:txBody>
          <a:bodyPr wrap="square">
            <a:spAutoFit/>
          </a:bodyPr>
          <a:lstStyle/>
          <a:p>
            <a:pPr algn="l"/>
            <a:r>
              <a:rPr sz="850" b="0" i="0">
                <a:solidFill>
                  <a:srgbClr val="555555"/>
                </a:solidFill>
                <a:latin typeface="Calibri"/>
              </a:rPr>
              <a:t>Risques structurels &amp; thèse contraire</a:t>
            </a:r>
          </a:p>
        </p:txBody>
      </p:sp>
      <p:sp>
        <p:nvSpPr>
          <p:cNvPr id="29" name="TextBox 28"/>
          <p:cNvSpPr txBox="1"/>
          <p:nvPr/>
        </p:nvSpPr>
        <p:spPr>
          <a:xfrm>
            <a:off x="7405200" y="3142799"/>
            <a:ext cx="1375200" cy="255600"/>
          </a:xfrm>
          <a:prstGeom prst="rect">
            <a:avLst/>
          </a:prstGeom>
          <a:noFill/>
        </p:spPr>
        <p:txBody>
          <a:bodyPr wrap="square">
            <a:spAutoFit/>
          </a:bodyPr>
          <a:lstStyle/>
          <a:p>
            <a:pPr algn="r"/>
            <a:r>
              <a:rPr sz="900" b="0" i="0">
                <a:solidFill>
                  <a:srgbClr val="2E5FA3"/>
                </a:solidFill>
                <a:latin typeface="Calibri"/>
              </a:rPr>
              <a:t>12–13</a:t>
            </a:r>
          </a:p>
        </p:txBody>
      </p:sp>
      <p:sp>
        <p:nvSpPr>
          <p:cNvPr id="30" name="Rectangle 29"/>
          <p:cNvSpPr/>
          <p:nvPr/>
        </p:nvSpPr>
        <p:spPr>
          <a:xfrm>
            <a:off x="367200" y="3675600"/>
            <a:ext cx="8413200" cy="622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7200" y="3675600"/>
            <a:ext cx="46800" cy="622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3999" y="3729600"/>
            <a:ext cx="475200" cy="514800"/>
          </a:xfrm>
          <a:prstGeom prst="rect">
            <a:avLst/>
          </a:prstGeom>
          <a:noFill/>
        </p:spPr>
        <p:txBody>
          <a:bodyPr wrap="square">
            <a:spAutoFit/>
          </a:bodyPr>
          <a:lstStyle/>
          <a:p>
            <a:pPr algn="l"/>
            <a:r>
              <a:rPr sz="1700" b="1" i="0">
                <a:solidFill>
                  <a:srgbClr val="888888"/>
                </a:solidFill>
                <a:latin typeface="Calibri"/>
              </a:rPr>
              <a:t>05</a:t>
            </a:r>
          </a:p>
        </p:txBody>
      </p:sp>
      <p:sp>
        <p:nvSpPr>
          <p:cNvPr id="33" name="TextBox 32"/>
          <p:cNvSpPr txBox="1"/>
          <p:nvPr/>
        </p:nvSpPr>
        <p:spPr>
          <a:xfrm>
            <a:off x="1152000" y="3747600"/>
            <a:ext cx="6120000" cy="255600"/>
          </a:xfrm>
          <a:prstGeom prst="rect">
            <a:avLst/>
          </a:prstGeom>
          <a:noFill/>
        </p:spPr>
        <p:txBody>
          <a:bodyPr wrap="square">
            <a:spAutoFit/>
          </a:bodyPr>
          <a:lstStyle/>
          <a:p>
            <a:pPr algn="l"/>
            <a:r>
              <a:rPr sz="1300" b="1" i="0">
                <a:solidFill>
                  <a:srgbClr val="1B3A6B"/>
                </a:solidFill>
                <a:latin typeface="Calibri"/>
              </a:rPr>
              <a:t>Sentiment &amp; Annexes</a:t>
            </a:r>
          </a:p>
        </p:txBody>
      </p:sp>
      <p:sp>
        <p:nvSpPr>
          <p:cNvPr id="34" name="TextBox 33"/>
          <p:cNvSpPr txBox="1"/>
          <p:nvPr/>
        </p:nvSpPr>
        <p:spPr>
          <a:xfrm>
            <a:off x="1152000" y="3981600"/>
            <a:ext cx="6120000" cy="255600"/>
          </a:xfrm>
          <a:prstGeom prst="rect">
            <a:avLst/>
          </a:prstGeom>
          <a:noFill/>
        </p:spPr>
        <p:txBody>
          <a:bodyPr wrap="square">
            <a:spAutoFit/>
          </a:bodyPr>
          <a:lstStyle/>
          <a:p>
            <a:pPr algn="l"/>
            <a:r>
              <a:rPr sz="850" b="0" i="0">
                <a:solidFill>
                  <a:srgbClr val="555555"/>
                </a:solidFill>
                <a:latin typeface="Calibri"/>
              </a:rPr>
              <a:t>FinBERT, actionnariat &amp; historique de cours</a:t>
            </a:r>
          </a:p>
        </p:txBody>
      </p:sp>
      <p:sp>
        <p:nvSpPr>
          <p:cNvPr id="35" name="TextBox 34"/>
          <p:cNvSpPr txBox="1"/>
          <p:nvPr/>
        </p:nvSpPr>
        <p:spPr>
          <a:xfrm>
            <a:off x="7405200" y="3837600"/>
            <a:ext cx="1375200" cy="255600"/>
          </a:xfrm>
          <a:prstGeom prst="rect">
            <a:avLst/>
          </a:prstGeom>
          <a:noFill/>
        </p:spPr>
        <p:txBody>
          <a:bodyPr wrap="square">
            <a:spAutoFit/>
          </a:bodyPr>
          <a:lstStyle/>
          <a:p>
            <a:pPr algn="r"/>
            <a:r>
              <a:rPr sz="900" b="0" i="0">
                <a:solidFill>
                  <a:srgbClr val="2E5FA3"/>
                </a:solidFill>
                <a:latin typeface="Calibri"/>
              </a:rPr>
              <a:t>14–15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01</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Company Overview</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Présentation, modèle économique &amp; données de marché</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Company Overview</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Camden National Corporation  ·  Présentation &amp; Positionnement stratégique</a:t>
            </a:r>
          </a:p>
        </p:txBody>
      </p:sp>
      <p:sp>
        <p:nvSpPr>
          <p:cNvPr id="17" name="Rectangle 16"/>
          <p:cNvSpPr/>
          <p:nvPr/>
        </p:nvSpPr>
        <p:spPr>
          <a:xfrm>
            <a:off x="367200" y="961200"/>
            <a:ext cx="4939200"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3520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3999" y="1022400"/>
            <a:ext cx="4662000" cy="1440000"/>
          </a:xfrm>
          <a:prstGeom prst="rect">
            <a:avLst/>
          </a:prstGeom>
          <a:noFill/>
        </p:spPr>
        <p:txBody>
          <a:bodyPr wrap="square">
            <a:spAutoFit/>
          </a:bodyPr>
          <a:lstStyle/>
          <a:p>
            <a:pPr algn="l"/>
            <a:r>
              <a:rPr sz="850" b="0" i="0">
                <a:solidFill>
                  <a:srgbClr val="0D0D0D"/>
                </a:solidFill>
                <a:latin typeface="Calibri"/>
              </a:rPr>
              <a:t>—</a:t>
            </a:r>
          </a:p>
        </p:txBody>
      </p:sp>
      <p:sp>
        <p:nvSpPr>
          <p:cNvPr id="20" name="TextBox 19"/>
          <p:cNvSpPr txBox="1"/>
          <p:nvPr/>
        </p:nvSpPr>
        <p:spPr>
          <a:xfrm>
            <a:off x="503999" y="2358000"/>
            <a:ext cx="4662000" cy="183600"/>
          </a:xfrm>
          <a:prstGeom prst="rect">
            <a:avLst/>
          </a:prstGeom>
          <a:noFill/>
        </p:spPr>
        <p:txBody>
          <a:bodyPr wrap="square">
            <a:spAutoFit/>
          </a:bodyPr>
          <a:lstStyle/>
          <a:p>
            <a:pPr algn="l"/>
            <a:r>
              <a:rPr sz="900" b="1" i="0">
                <a:solidFill>
                  <a:srgbClr val="1B3A6B"/>
                </a:solidFill>
                <a:latin typeface="Calibri"/>
              </a:rPr>
              <a:t>Positionnement stratégique</a:t>
            </a:r>
          </a:p>
        </p:txBody>
      </p:sp>
      <p:sp>
        <p:nvSpPr>
          <p:cNvPr id="21" name="Rectangle 20"/>
          <p:cNvSpPr/>
          <p:nvPr/>
        </p:nvSpPr>
        <p:spPr>
          <a:xfrm>
            <a:off x="5558400" y="961200"/>
            <a:ext cx="32004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58400" y="9612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48400" y="1015200"/>
            <a:ext cx="3063600" cy="396000"/>
          </a:xfrm>
          <a:prstGeom prst="rect">
            <a:avLst/>
          </a:prstGeom>
          <a:noFill/>
        </p:spPr>
        <p:txBody>
          <a:bodyPr wrap="square">
            <a:spAutoFit/>
          </a:bodyPr>
          <a:lstStyle/>
          <a:p>
            <a:pPr algn="l"/>
            <a:r>
              <a:rPr sz="1900" b="1" i="0">
                <a:solidFill>
                  <a:srgbClr val="FFFFFF"/>
                </a:solidFill>
                <a:latin typeface="Calibri"/>
              </a:rPr>
              <a:t>822 M$</a:t>
            </a:r>
          </a:p>
        </p:txBody>
      </p:sp>
      <p:sp>
        <p:nvSpPr>
          <p:cNvPr id="24" name="TextBox 23"/>
          <p:cNvSpPr txBox="1"/>
          <p:nvPr/>
        </p:nvSpPr>
        <p:spPr>
          <a:xfrm>
            <a:off x="5648400" y="1411200"/>
            <a:ext cx="3063600" cy="205199"/>
          </a:xfrm>
          <a:prstGeom prst="rect">
            <a:avLst/>
          </a:prstGeom>
          <a:noFill/>
        </p:spPr>
        <p:txBody>
          <a:bodyPr wrap="square">
            <a:spAutoFit/>
          </a:bodyPr>
          <a:lstStyle/>
          <a:p>
            <a:pPr algn="l"/>
            <a:r>
              <a:rPr sz="800" b="0" i="0">
                <a:solidFill>
                  <a:srgbClr val="FFFFFF"/>
                </a:solidFill>
                <a:latin typeface="Calibri"/>
              </a:rPr>
              <a:t>Capitalisation boursière</a:t>
            </a:r>
          </a:p>
        </p:txBody>
      </p:sp>
      <p:sp>
        <p:nvSpPr>
          <p:cNvPr id="25" name="Rectangle 24"/>
          <p:cNvSpPr/>
          <p:nvPr/>
        </p:nvSpPr>
        <p:spPr>
          <a:xfrm>
            <a:off x="5558400" y="18468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58400" y="1846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648400" y="1900800"/>
            <a:ext cx="3063600" cy="396000"/>
          </a:xfrm>
          <a:prstGeom prst="rect">
            <a:avLst/>
          </a:prstGeom>
          <a:noFill/>
        </p:spPr>
        <p:txBody>
          <a:bodyPr wrap="square">
            <a:spAutoFit/>
          </a:bodyPr>
          <a:lstStyle/>
          <a:p>
            <a:pPr algn="l"/>
            <a:r>
              <a:rPr sz="1900" b="1" i="0">
                <a:solidFill>
                  <a:srgbClr val="1B3A6B"/>
                </a:solidFill>
                <a:latin typeface="Calibri"/>
              </a:rPr>
              <a:t>248 M$</a:t>
            </a:r>
          </a:p>
        </p:txBody>
      </p:sp>
      <p:sp>
        <p:nvSpPr>
          <p:cNvPr id="28" name="TextBox 27"/>
          <p:cNvSpPr txBox="1"/>
          <p:nvPr/>
        </p:nvSpPr>
        <p:spPr>
          <a:xfrm>
            <a:off x="5648400" y="2296800"/>
            <a:ext cx="3063600" cy="205199"/>
          </a:xfrm>
          <a:prstGeom prst="rect">
            <a:avLst/>
          </a:prstGeom>
          <a:noFill/>
        </p:spPr>
        <p:txBody>
          <a:bodyPr wrap="square">
            <a:spAutoFit/>
          </a:bodyPr>
          <a:lstStyle/>
          <a:p>
            <a:pPr algn="l"/>
            <a:r>
              <a:rPr sz="800" b="0" i="0">
                <a:solidFill>
                  <a:srgbClr val="555555"/>
                </a:solidFill>
                <a:latin typeface="Calibri"/>
              </a:rPr>
              <a:t>Chiffre d'affaires (2025)</a:t>
            </a:r>
          </a:p>
        </p:txBody>
      </p:sp>
      <p:sp>
        <p:nvSpPr>
          <p:cNvPr id="29" name="Rectangle 28"/>
          <p:cNvSpPr/>
          <p:nvPr/>
        </p:nvSpPr>
        <p:spPr>
          <a:xfrm>
            <a:off x="5558400" y="27324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58400" y="27324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48400" y="2786400"/>
            <a:ext cx="3063600" cy="396000"/>
          </a:xfrm>
          <a:prstGeom prst="rect">
            <a:avLst/>
          </a:prstGeom>
          <a:noFill/>
        </p:spPr>
        <p:txBody>
          <a:bodyPr wrap="square">
            <a:spAutoFit/>
          </a:bodyPr>
          <a:lstStyle/>
          <a:p>
            <a:pPr algn="l"/>
            <a:r>
              <a:rPr sz="1900" b="1" i="0">
                <a:solidFill>
                  <a:srgbClr val="1B3A6B"/>
                </a:solidFill>
                <a:latin typeface="Calibri"/>
              </a:rPr>
              <a:t>48,53 $</a:t>
            </a:r>
          </a:p>
        </p:txBody>
      </p:sp>
      <p:sp>
        <p:nvSpPr>
          <p:cNvPr id="32" name="TextBox 31"/>
          <p:cNvSpPr txBox="1"/>
          <p:nvPr/>
        </p:nvSpPr>
        <p:spPr>
          <a:xfrm>
            <a:off x="5648400" y="3182400"/>
            <a:ext cx="30636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33" name="Rectangle 32"/>
          <p:cNvSpPr/>
          <p:nvPr/>
        </p:nvSpPr>
        <p:spPr>
          <a:xfrm>
            <a:off x="5558400" y="3621600"/>
            <a:ext cx="32004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58400" y="36216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48400" y="3675600"/>
            <a:ext cx="3063600" cy="396000"/>
          </a:xfrm>
          <a:prstGeom prst="rect">
            <a:avLst/>
          </a:prstGeom>
          <a:noFill/>
        </p:spPr>
        <p:txBody>
          <a:bodyPr wrap="square">
            <a:spAutoFit/>
          </a:bodyPr>
          <a:lstStyle/>
          <a:p>
            <a:pPr algn="l"/>
            <a:r>
              <a:rPr sz="1900" b="1" i="0">
                <a:solidFill>
                  <a:srgbClr val="1B3A6B"/>
                </a:solidFill>
                <a:latin typeface="Calibri"/>
              </a:rPr>
              <a:t>—</a:t>
            </a:r>
          </a:p>
        </p:txBody>
      </p:sp>
      <p:sp>
        <p:nvSpPr>
          <p:cNvPr id="36" name="TextBox 35"/>
          <p:cNvSpPr txBox="1"/>
          <p:nvPr/>
        </p:nvSpPr>
        <p:spPr>
          <a:xfrm>
            <a:off x="5648400" y="4071600"/>
            <a:ext cx="3063600" cy="205199"/>
          </a:xfrm>
          <a:prstGeom prst="rect">
            <a:avLst/>
          </a:prstGeom>
          <a:noFill/>
        </p:spPr>
        <p:txBody>
          <a:bodyPr wrap="square">
            <a:spAutoFit/>
          </a:bodyPr>
          <a:lstStyle/>
          <a:p>
            <a:pPr algn="l"/>
            <a:r>
              <a:rPr sz="800" b="0" i="0">
                <a:solidFill>
                  <a:srgbClr val="555555"/>
                </a:solidFill>
                <a:latin typeface="Calibri"/>
              </a:rPr>
              <a:t>EV/EBITDA (LTM)</a:t>
            </a:r>
          </a:p>
        </p:txBody>
      </p:sp>
      <p:sp>
        <p:nvSpPr>
          <p:cNvPr id="37" name="TextBox 36"/>
          <p:cNvSpPr txBox="1"/>
          <p:nvPr/>
        </p:nvSpPr>
        <p:spPr>
          <a:xfrm>
            <a:off x="5648400" y="4269600"/>
            <a:ext cx="3063600" cy="165600"/>
          </a:xfrm>
          <a:prstGeom prst="rect">
            <a:avLst/>
          </a:prstGeom>
          <a:noFill/>
        </p:spPr>
        <p:txBody>
          <a:bodyPr wrap="square">
            <a:spAutoFit/>
          </a:bodyPr>
          <a:lstStyle/>
          <a:p>
            <a:pPr algn="l"/>
            <a:r>
              <a:rPr sz="700" b="0" i="0">
                <a:solidFill>
                  <a:srgbClr val="888888"/>
                </a:solidFill>
                <a:latin typeface="Calibri"/>
              </a:rPr>
              <a:t>P/E : 12,6x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1B3A6B"/>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Modèle Économique</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Segments opérationnels et moteurs de croissance</a:t>
            </a:r>
          </a:p>
        </p:txBody>
      </p:sp>
      <p:sp>
        <p:nvSpPr>
          <p:cNvPr id="17" name="Rectangle 16"/>
          <p:cNvSpPr/>
          <p:nvPr/>
        </p:nvSpPr>
        <p:spPr>
          <a:xfrm>
            <a:off x="367200" y="961200"/>
            <a:ext cx="2731199" cy="3520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31199"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141200"/>
            <a:ext cx="2551199" cy="640800"/>
          </a:xfrm>
          <a:prstGeom prst="rect">
            <a:avLst/>
          </a:prstGeom>
          <a:noFill/>
        </p:spPr>
        <p:txBody>
          <a:bodyPr wrap="square">
            <a:spAutoFit/>
          </a:bodyPr>
          <a:lstStyle/>
          <a:p>
            <a:pPr algn="l"/>
            <a:r>
              <a:rPr sz="2200" b="1" i="0">
                <a:solidFill>
                  <a:srgbClr val="2E5FA3"/>
                </a:solidFill>
                <a:latin typeface="Calibri"/>
              </a:rPr>
              <a:t>—</a:t>
            </a:r>
          </a:p>
        </p:txBody>
      </p:sp>
      <p:sp>
        <p:nvSpPr>
          <p:cNvPr id="20" name="TextBox 19"/>
          <p:cNvSpPr txBox="1"/>
          <p:nvPr/>
        </p:nvSpPr>
        <p:spPr>
          <a:xfrm>
            <a:off x="457200" y="1785600"/>
            <a:ext cx="2551199" cy="108000"/>
          </a:xfrm>
          <a:prstGeom prst="rect">
            <a:avLst/>
          </a:prstGeom>
          <a:noFill/>
        </p:spPr>
        <p:txBody>
          <a:bodyPr wrap="square">
            <a:spAutoFit/>
          </a:bodyPr>
          <a:lstStyle/>
          <a:p>
            <a:pPr algn="l"/>
            <a:r>
              <a:rPr sz="900" b="0" i="0">
                <a:solidFill>
                  <a:srgbClr val="555555"/>
                </a:solidFill>
                <a:latin typeface="Calibri"/>
              </a:rPr>
              <a:t>du CA</a:t>
            </a:r>
          </a:p>
        </p:txBody>
      </p:sp>
      <p:sp>
        <p:nvSpPr>
          <p:cNvPr id="21" name="Rectangle 20"/>
          <p:cNvSpPr/>
          <p:nvPr/>
        </p:nvSpPr>
        <p:spPr>
          <a:xfrm>
            <a:off x="457200" y="1965600"/>
            <a:ext cx="2551199"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2059200"/>
            <a:ext cx="2551199" cy="255600"/>
          </a:xfrm>
          <a:prstGeom prst="rect">
            <a:avLst/>
          </a:prstGeom>
          <a:noFill/>
        </p:spPr>
        <p:txBody>
          <a:bodyPr wrap="square">
            <a:spAutoFit/>
          </a:bodyPr>
          <a:lstStyle/>
          <a:p>
            <a:pPr algn="l"/>
            <a:r>
              <a:rPr sz="1000" b="1" i="0">
                <a:solidFill>
                  <a:srgbClr val="1B3A6B"/>
                </a:solidFill>
                <a:latin typeface="Calibri"/>
              </a:rPr>
              <a:t>Core Business</a:t>
            </a:r>
          </a:p>
        </p:txBody>
      </p:sp>
      <p:sp>
        <p:nvSpPr>
          <p:cNvPr id="23" name="TextBox 22"/>
          <p:cNvSpPr txBox="1"/>
          <p:nvPr/>
        </p:nvSpPr>
        <p:spPr>
          <a:xfrm>
            <a:off x="457200" y="2332800"/>
            <a:ext cx="2551199" cy="2041199"/>
          </a:xfrm>
          <a:prstGeom prst="rect">
            <a:avLst/>
          </a:prstGeom>
          <a:noFill/>
        </p:spPr>
        <p:txBody>
          <a:bodyPr wrap="square">
            <a:spAutoFit/>
          </a:bodyPr>
          <a:lstStyle/>
          <a:p>
            <a:pPr algn="l"/>
            <a:r>
              <a:rPr sz="800" b="0" i="0">
                <a:solidFill>
                  <a:srgbClr val="555555"/>
                </a:solidFill>
                <a:latin typeface="Calibri"/>
              </a:rPr>
              <a:t>—</a:t>
            </a:r>
          </a:p>
        </p:txBody>
      </p:sp>
      <p:sp>
        <p:nvSpPr>
          <p:cNvPr id="24" name="Rectangle 23"/>
          <p:cNvSpPr/>
          <p:nvPr/>
        </p:nvSpPr>
        <p:spPr>
          <a:xfrm>
            <a:off x="3206400" y="961200"/>
            <a:ext cx="2731199" cy="3520800"/>
          </a:xfrm>
          <a:prstGeom prst="rect">
            <a:avLst/>
          </a:prstGeom>
          <a:solidFill>
            <a:srgbClr val="EA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6400" y="961200"/>
            <a:ext cx="2731199" cy="54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6400" y="1141200"/>
            <a:ext cx="2551199" cy="640800"/>
          </a:xfrm>
          <a:prstGeom prst="rect">
            <a:avLst/>
          </a:prstGeom>
          <a:noFill/>
        </p:spPr>
        <p:txBody>
          <a:bodyPr wrap="square">
            <a:spAutoFit/>
          </a:bodyPr>
          <a:lstStyle/>
          <a:p>
            <a:pPr algn="l"/>
            <a:r>
              <a:rPr sz="2200" b="1" i="0">
                <a:solidFill>
                  <a:srgbClr val="1A7A4A"/>
                </a:solidFill>
                <a:latin typeface="Calibri"/>
              </a:rPr>
              <a:t>—</a:t>
            </a:r>
          </a:p>
        </p:txBody>
      </p:sp>
      <p:sp>
        <p:nvSpPr>
          <p:cNvPr id="27" name="TextBox 26"/>
          <p:cNvSpPr txBox="1"/>
          <p:nvPr/>
        </p:nvSpPr>
        <p:spPr>
          <a:xfrm>
            <a:off x="3296400" y="1785600"/>
            <a:ext cx="2551199" cy="108000"/>
          </a:xfrm>
          <a:prstGeom prst="rect">
            <a:avLst/>
          </a:prstGeom>
          <a:noFill/>
        </p:spPr>
        <p:txBody>
          <a:bodyPr wrap="square">
            <a:spAutoFit/>
          </a:bodyPr>
          <a:lstStyle/>
          <a:p>
            <a:pPr algn="l"/>
            <a:r>
              <a:rPr sz="900" b="0" i="0">
                <a:solidFill>
                  <a:srgbClr val="555555"/>
                </a:solidFill>
                <a:latin typeface="Calibri"/>
              </a:rPr>
              <a:t>du CA</a:t>
            </a:r>
          </a:p>
        </p:txBody>
      </p:sp>
      <p:sp>
        <p:nvSpPr>
          <p:cNvPr id="28" name="Rectangle 27"/>
          <p:cNvSpPr/>
          <p:nvPr/>
        </p:nvSpPr>
        <p:spPr>
          <a:xfrm>
            <a:off x="3296400" y="1965600"/>
            <a:ext cx="2551199"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96400" y="2059200"/>
            <a:ext cx="2551199" cy="255600"/>
          </a:xfrm>
          <a:prstGeom prst="rect">
            <a:avLst/>
          </a:prstGeom>
          <a:noFill/>
        </p:spPr>
        <p:txBody>
          <a:bodyPr wrap="square">
            <a:spAutoFit/>
          </a:bodyPr>
          <a:lstStyle/>
          <a:p>
            <a:pPr algn="l"/>
            <a:r>
              <a:rPr sz="1000" b="1" i="0">
                <a:solidFill>
                  <a:srgbClr val="1B3A6B"/>
                </a:solidFill>
                <a:latin typeface="Calibri"/>
              </a:rPr>
              <a:t>Growth Driver</a:t>
            </a:r>
          </a:p>
        </p:txBody>
      </p:sp>
      <p:sp>
        <p:nvSpPr>
          <p:cNvPr id="30" name="TextBox 29"/>
          <p:cNvSpPr txBox="1"/>
          <p:nvPr/>
        </p:nvSpPr>
        <p:spPr>
          <a:xfrm>
            <a:off x="3296400" y="2332800"/>
            <a:ext cx="2551199" cy="2041199"/>
          </a:xfrm>
          <a:prstGeom prst="rect">
            <a:avLst/>
          </a:prstGeom>
          <a:noFill/>
        </p:spPr>
        <p:txBody>
          <a:bodyPr wrap="square">
            <a:spAutoFit/>
          </a:bodyPr>
          <a:lstStyle/>
          <a:p>
            <a:pPr algn="l"/>
            <a:r>
              <a:rPr sz="800" b="0" i="0">
                <a:solidFill>
                  <a:srgbClr val="555555"/>
                </a:solidFill>
                <a:latin typeface="Calibri"/>
              </a:rPr>
              <a:t>—</a:t>
            </a:r>
          </a:p>
        </p:txBody>
      </p:sp>
      <p:sp>
        <p:nvSpPr>
          <p:cNvPr id="31" name="Rectangle 30"/>
          <p:cNvSpPr/>
          <p:nvPr/>
        </p:nvSpPr>
        <p:spPr>
          <a:xfrm>
            <a:off x="6045600" y="961200"/>
            <a:ext cx="2731199" cy="3520800"/>
          </a:xfrm>
          <a:prstGeom prst="rect">
            <a:avLst/>
          </a:prstGeom>
          <a:solidFill>
            <a:srgbClr val="F7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45600" y="961200"/>
            <a:ext cx="2731199" cy="54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35600" y="1141200"/>
            <a:ext cx="2551199" cy="640800"/>
          </a:xfrm>
          <a:prstGeom prst="rect">
            <a:avLst/>
          </a:prstGeom>
          <a:noFill/>
        </p:spPr>
        <p:txBody>
          <a:bodyPr wrap="square">
            <a:spAutoFit/>
          </a:bodyPr>
          <a:lstStyle/>
          <a:p>
            <a:pPr algn="l"/>
            <a:r>
              <a:rPr sz="2200" b="1" i="0">
                <a:solidFill>
                  <a:srgbClr val="888888"/>
                </a:solidFill>
                <a:latin typeface="Calibri"/>
              </a:rPr>
              <a:t>—</a:t>
            </a:r>
          </a:p>
        </p:txBody>
      </p:sp>
      <p:sp>
        <p:nvSpPr>
          <p:cNvPr id="34" name="TextBox 33"/>
          <p:cNvSpPr txBox="1"/>
          <p:nvPr/>
        </p:nvSpPr>
        <p:spPr>
          <a:xfrm>
            <a:off x="6135600" y="1785600"/>
            <a:ext cx="2551199" cy="108000"/>
          </a:xfrm>
          <a:prstGeom prst="rect">
            <a:avLst/>
          </a:prstGeom>
          <a:noFill/>
        </p:spPr>
        <p:txBody>
          <a:bodyPr wrap="square">
            <a:spAutoFit/>
          </a:bodyPr>
          <a:lstStyle/>
          <a:p>
            <a:pPr algn="l"/>
            <a:r>
              <a:rPr sz="900" b="0" i="0">
                <a:solidFill>
                  <a:srgbClr val="555555"/>
                </a:solidFill>
                <a:latin typeface="Calibri"/>
              </a:rPr>
              <a:t>du CA</a:t>
            </a:r>
          </a:p>
        </p:txBody>
      </p:sp>
      <p:sp>
        <p:nvSpPr>
          <p:cNvPr id="35" name="Rectangle 34"/>
          <p:cNvSpPr/>
          <p:nvPr/>
        </p:nvSpPr>
        <p:spPr>
          <a:xfrm>
            <a:off x="6135600" y="1965600"/>
            <a:ext cx="2551199" cy="180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35600" y="2059200"/>
            <a:ext cx="2551199" cy="255600"/>
          </a:xfrm>
          <a:prstGeom prst="rect">
            <a:avLst/>
          </a:prstGeom>
          <a:noFill/>
        </p:spPr>
        <p:txBody>
          <a:bodyPr wrap="square">
            <a:spAutoFit/>
          </a:bodyPr>
          <a:lstStyle/>
          <a:p>
            <a:pPr algn="l"/>
            <a:r>
              <a:rPr sz="1000" b="1" i="0">
                <a:solidFill>
                  <a:srgbClr val="1B3A6B"/>
                </a:solidFill>
                <a:latin typeface="Calibri"/>
              </a:rPr>
              <a:t>International</a:t>
            </a:r>
          </a:p>
        </p:txBody>
      </p:sp>
      <p:sp>
        <p:nvSpPr>
          <p:cNvPr id="37" name="TextBox 36"/>
          <p:cNvSpPr txBox="1"/>
          <p:nvPr/>
        </p:nvSpPr>
        <p:spPr>
          <a:xfrm>
            <a:off x="6135600" y="2332800"/>
            <a:ext cx="2551199" cy="2041199"/>
          </a:xfrm>
          <a:prstGeom prst="rect">
            <a:avLst/>
          </a:prstGeom>
          <a:noFill/>
        </p:spPr>
        <p:txBody>
          <a:bodyPr wrap="square">
            <a:spAutoFit/>
          </a:bodyPr>
          <a:lstStyle/>
          <a:p>
            <a:pPr algn="l"/>
            <a:r>
              <a:rPr sz="800" b="0" i="0">
                <a:solidFill>
                  <a:srgbClr val="555555"/>
                </a:solidFill>
                <a:latin typeface="Calibri"/>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02</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Analyse Financière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Compte de résultat, bilan, liquidité &amp; ratios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Analyse Financière — Compte de Résultat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USD millions  ·  2022–2025</a:t>
            </a:r>
          </a:p>
        </p:txBody>
      </p:sp>
      <p:graphicFrame>
        <p:nvGraphicFramePr>
          <p:cNvPr id="17" name="Table 16"/>
          <p:cNvGraphicFramePr>
            <a:graphicFrameLocks noGrp="1"/>
          </p:cNvGraphicFramePr>
          <p:nvPr/>
        </p:nvGraphicFramePr>
        <p:xfrm>
          <a:off x="367200" y="914400"/>
          <a:ext cx="8413200" cy="1980000"/>
        </p:xfrm>
        <a:graphic>
          <a:graphicData uri="http://schemas.openxmlformats.org/drawingml/2006/table">
            <a:tbl>
              <a:tblPr firstRow="1" bandRow="1">
                <a:tableStyleId>{5C22544A-7EE6-4342-B048-85BDC9FD1C3A}</a:tableStyleId>
              </a:tblPr>
              <a:tblGrid>
                <a:gridCol w="2355696"/>
                <a:gridCol w="2019168"/>
                <a:gridCol w="2019168"/>
                <a:gridCol w="2019168"/>
              </a:tblGrid>
              <a:tr h="220000">
                <a:tc>
                  <a:txBody>
                    <a:bodyPr/>
                    <a:lstStyle/>
                    <a:p>
                      <a:pPr algn="l"/>
                      <a:r>
                        <a:rPr sz="800" b="1" i="0">
                          <a:solidFill>
                            <a:srgbClr val="FFFFFF"/>
                          </a:solidFill>
                          <a:latin typeface="Calibri"/>
                        </a:rPr>
                        <a:t>Indicateur</a:t>
                      </a:r>
                    </a:p>
                  </a:txBody>
                  <a:tcPr>
                    <a:solidFill>
                      <a:srgbClr val="1B3A6B"/>
                    </a:solidFill>
                  </a:tcPr>
                </a:tc>
                <a:tc>
                  <a:txBody>
                    <a:bodyPr/>
                    <a:lstStyle/>
                    <a:p>
                      <a:pPr algn="ctr"/>
                      <a:r>
                        <a:rPr sz="800" b="1" i="0">
                          <a:solidFill>
                            <a:srgbClr val="FFFFFF"/>
                          </a:solidFill>
                          <a:latin typeface="Calibri"/>
                        </a:rPr>
                        <a:t>2023</a:t>
                      </a:r>
                    </a:p>
                  </a:txBody>
                  <a:tcPr>
                    <a:solidFill>
                      <a:srgbClr val="1B3A6B"/>
                    </a:solidFill>
                  </a:tcPr>
                </a:tc>
                <a:tc>
                  <a:txBody>
                    <a:bodyPr/>
                    <a:lstStyle/>
                    <a:p>
                      <a:pPr algn="ctr"/>
                      <a:r>
                        <a:rPr sz="800" b="1" i="0">
                          <a:solidFill>
                            <a:srgbClr val="FFFFFF"/>
                          </a:solidFill>
                          <a:latin typeface="Calibri"/>
                        </a:rPr>
                        <a:t>2024</a:t>
                      </a:r>
                    </a:p>
                  </a:txBody>
                  <a:tcPr>
                    <a:solidFill>
                      <a:srgbClr val="1B3A6B"/>
                    </a:solidFill>
                  </a:tcPr>
                </a:tc>
                <a:tc>
                  <a:txBody>
                    <a:bodyPr/>
                    <a:lstStyle/>
                    <a:p>
                      <a:pPr algn="ctr"/>
                      <a:r>
                        <a:rPr sz="800" b="1" i="0">
                          <a:solidFill>
                            <a:srgbClr val="FFFFFF"/>
                          </a:solidFill>
                          <a:latin typeface="Calibri"/>
                        </a:rPr>
                        <a:t>2025</a:t>
                      </a:r>
                    </a:p>
                  </a:txBody>
                  <a:tcPr>
                    <a:solidFill>
                      <a:srgbClr val="1B3A6B"/>
                    </a:solidFill>
                  </a:tcPr>
                </a:tc>
              </a:tr>
              <a:tr h="220000">
                <a:tc>
                  <a:txBody>
                    <a:bodyPr/>
                    <a:lstStyle/>
                    <a:p>
                      <a:pPr algn="l"/>
                      <a:r>
                        <a:rPr sz="800" b="1" i="0">
                          <a:solidFill>
                            <a:srgbClr val="0D0D0D"/>
                          </a:solidFill>
                          <a:latin typeface="Calibri"/>
                        </a:rPr>
                        <a:t>Chiffre d'affaires</a:t>
                      </a:r>
                    </a:p>
                  </a:txBody>
                  <a:tcPr>
                    <a:solidFill>
                      <a:srgbClr val="FFFFFF"/>
                    </a:solidFill>
                  </a:tcPr>
                </a:tc>
                <a:tc>
                  <a:txBody>
                    <a:bodyPr/>
                    <a:lstStyle/>
                    <a:p>
                      <a:pPr algn="ctr"/>
                      <a:r>
                        <a:rPr sz="800" b="1" i="0">
                          <a:solidFill>
                            <a:srgbClr val="0D0D0D"/>
                          </a:solidFill>
                          <a:latin typeface="Calibri"/>
                        </a:rPr>
                        <a:t>156</a:t>
                      </a:r>
                    </a:p>
                  </a:txBody>
                  <a:tcPr>
                    <a:solidFill>
                      <a:srgbClr val="FFFFFF"/>
                    </a:solidFill>
                  </a:tcPr>
                </a:tc>
                <a:tc>
                  <a:txBody>
                    <a:bodyPr/>
                    <a:lstStyle/>
                    <a:p>
                      <a:pPr algn="ctr"/>
                      <a:r>
                        <a:rPr sz="800" b="1" i="0">
                          <a:solidFill>
                            <a:srgbClr val="0D0D0D"/>
                          </a:solidFill>
                          <a:latin typeface="Calibri"/>
                        </a:rPr>
                        <a:t>173</a:t>
                      </a:r>
                    </a:p>
                  </a:txBody>
                  <a:tcPr>
                    <a:solidFill>
                      <a:srgbClr val="FFFFFF"/>
                    </a:solidFill>
                  </a:tcPr>
                </a:tc>
                <a:tc>
                  <a:txBody>
                    <a:bodyPr/>
                    <a:lstStyle/>
                    <a:p>
                      <a:pPr algn="ctr"/>
                      <a:r>
                        <a:rPr sz="800" b="1" i="0">
                          <a:solidFill>
                            <a:srgbClr val="1B3A6B"/>
                          </a:solidFill>
                          <a:latin typeface="Calibri"/>
                        </a:rPr>
                        <a:t>248</a:t>
                      </a:r>
                    </a:p>
                  </a:txBody>
                  <a:tcPr>
                    <a:solidFill>
                      <a:srgbClr val="DDE8F5"/>
                    </a:solidFill>
                  </a:tcPr>
                </a:tc>
              </a:tr>
              <a:tr h="220000">
                <a:tc>
                  <a:txBody>
                    <a:bodyPr/>
                    <a:lstStyle/>
                    <a:p>
                      <a:pPr algn="l"/>
                      <a:r>
                        <a:rPr sz="750" b="0" i="1">
                          <a:solidFill>
                            <a:srgbClr val="555555"/>
                          </a:solidFill>
                          <a:latin typeface="Calibri"/>
                        </a:rPr>
                        <a:t>Croissance YoY</a:t>
                      </a:r>
                    </a:p>
                  </a:txBody>
                  <a:tcPr>
                    <a:solidFill>
                      <a:srgbClr val="F7F8FA"/>
                    </a:solidFill>
                  </a:tcPr>
                </a:tc>
                <a:tc>
                  <a:txBody>
                    <a:bodyPr/>
                    <a:lstStyle/>
                    <a:p>
                      <a:pPr algn="ctr"/>
                      <a:r>
                        <a:rPr sz="750" b="0" i="1">
                          <a:solidFill>
                            <a:srgbClr val="555555"/>
                          </a:solidFill>
                          <a:latin typeface="Calibri"/>
                        </a:rPr>
                        <a:t>—</a:t>
                      </a:r>
                    </a:p>
                  </a:txBody>
                  <a:tcPr>
                    <a:solidFill>
                      <a:srgbClr val="F7F8FA"/>
                    </a:solidFill>
                  </a:tcPr>
                </a:tc>
                <a:tc>
                  <a:txBody>
                    <a:bodyPr/>
                    <a:lstStyle/>
                    <a:p>
                      <a:pPr algn="ctr"/>
                      <a:r>
                        <a:rPr sz="750" b="0" i="1">
                          <a:solidFill>
                            <a:srgbClr val="555555"/>
                          </a:solidFill>
                          <a:latin typeface="Calibri"/>
                        </a:rPr>
                        <a:t>—</a:t>
                      </a:r>
                    </a:p>
                  </a:txBody>
                  <a:tcPr>
                    <a:solidFill>
                      <a:srgbClr val="F7F8FA"/>
                    </a:solidFill>
                  </a:tcPr>
                </a:tc>
                <a:tc>
                  <a:txBody>
                    <a:bodyPr/>
                    <a:lstStyle/>
                    <a:p>
                      <a:pPr algn="ctr"/>
                      <a:r>
                        <a:rPr sz="750" b="0" i="1">
                          <a:solidFill>
                            <a:srgbClr val="555555"/>
                          </a:solidFill>
                          <a:latin typeface="Calibri"/>
                        </a:rPr>
                        <a:t>—</a:t>
                      </a:r>
                    </a:p>
                  </a:txBody>
                  <a:tcPr>
                    <a:solidFill>
                      <a:srgbClr val="DDE8F5"/>
                    </a:solidFill>
                  </a:tcPr>
                </a:tc>
              </a:tr>
              <a:tr h="220000">
                <a:tc>
                  <a:txBody>
                    <a:bodyPr/>
                    <a:lstStyle/>
                    <a:p>
                      <a:pPr algn="l"/>
                      <a:r>
                        <a:rPr sz="800" b="1" i="0">
                          <a:solidFill>
                            <a:srgbClr val="0D0D0D"/>
                          </a:solidFill>
                          <a:latin typeface="Calibri"/>
                        </a:rPr>
                        <a:t>Résultat brut</a:t>
                      </a:r>
                    </a:p>
                  </a:txBody>
                  <a:tcPr>
                    <a:solidFill>
                      <a:srgbClr val="FFFFFF"/>
                    </a:solidFill>
                  </a:tcPr>
                </a:tc>
                <a:tc>
                  <a:txBody>
                    <a:bodyPr/>
                    <a:lstStyle/>
                    <a:p>
                      <a:pPr algn="ctr"/>
                      <a:r>
                        <a:rPr sz="800" b="1" i="0">
                          <a:solidFill>
                            <a:srgbClr val="0D0D0D"/>
                          </a:solidFill>
                          <a:latin typeface="Calibri"/>
                        </a:rPr>
                        <a:t>—</a:t>
                      </a:r>
                    </a:p>
                  </a:txBody>
                  <a:tcPr>
                    <a:solidFill>
                      <a:srgbClr val="FFFFFF"/>
                    </a:solidFill>
                  </a:tcPr>
                </a:tc>
                <a:tc>
                  <a:txBody>
                    <a:bodyPr/>
                    <a:lstStyle/>
                    <a:p>
                      <a:pPr algn="ctr"/>
                      <a:r>
                        <a:rPr sz="800" b="1" i="0">
                          <a:solidFill>
                            <a:srgbClr val="0D0D0D"/>
                          </a:solidFill>
                          <a:latin typeface="Calibri"/>
                        </a:rPr>
                        <a:t>—</a:t>
                      </a:r>
                    </a:p>
                  </a:txBody>
                  <a:tcPr>
                    <a:solidFill>
                      <a:srgbClr val="FFFFFF"/>
                    </a:solidFill>
                  </a:tcPr>
                </a:tc>
                <a:tc>
                  <a:txBody>
                    <a:bodyPr/>
                    <a:lstStyle/>
                    <a:p>
                      <a:pPr algn="ctr"/>
                      <a:r>
                        <a:rPr sz="800" b="1" i="0">
                          <a:solidFill>
                            <a:srgbClr val="1B3A6B"/>
                          </a:solidFill>
                          <a:latin typeface="Calibri"/>
                        </a:rPr>
                        <a:t>—</a:t>
                      </a:r>
                    </a:p>
                  </a:txBody>
                  <a:tcPr>
                    <a:solidFill>
                      <a:srgbClr val="DDE8F5"/>
                    </a:solidFill>
                  </a:tcPr>
                </a:tc>
              </a:tr>
              <a:tr h="220000">
                <a:tc>
                  <a:txBody>
                    <a:bodyPr/>
                    <a:lstStyle/>
                    <a:p>
                      <a:pPr algn="l"/>
                      <a:r>
                        <a:rPr sz="750" b="0" i="1">
                          <a:solidFill>
                            <a:srgbClr val="555555"/>
                          </a:solidFill>
                          <a:latin typeface="Calibri"/>
                        </a:rPr>
                        <a:t>Marge brute</a:t>
                      </a:r>
                    </a:p>
                  </a:txBody>
                  <a:tcPr>
                    <a:solidFill>
                      <a:srgbClr val="F7F8FA"/>
                    </a:solidFill>
                  </a:tcPr>
                </a:tc>
                <a:tc>
                  <a:txBody>
                    <a:bodyPr/>
                    <a:lstStyle/>
                    <a:p>
                      <a:pPr algn="ctr"/>
                      <a:r>
                        <a:rPr sz="750" b="0" i="1">
                          <a:solidFill>
                            <a:srgbClr val="555555"/>
                          </a:solidFill>
                          <a:latin typeface="Calibri"/>
                        </a:rPr>
                        <a:t>—</a:t>
                      </a:r>
                    </a:p>
                  </a:txBody>
                  <a:tcPr>
                    <a:solidFill>
                      <a:srgbClr val="F7F8FA"/>
                    </a:solidFill>
                  </a:tcPr>
                </a:tc>
                <a:tc>
                  <a:txBody>
                    <a:bodyPr/>
                    <a:lstStyle/>
                    <a:p>
                      <a:pPr algn="ctr"/>
                      <a:r>
                        <a:rPr sz="750" b="0" i="1">
                          <a:solidFill>
                            <a:srgbClr val="555555"/>
                          </a:solidFill>
                          <a:latin typeface="Calibri"/>
                        </a:rPr>
                        <a:t>—</a:t>
                      </a:r>
                    </a:p>
                  </a:txBody>
                  <a:tcPr>
                    <a:solidFill>
                      <a:srgbClr val="F7F8FA"/>
                    </a:solidFill>
                  </a:tcPr>
                </a:tc>
                <a:tc>
                  <a:txBody>
                    <a:bodyPr/>
                    <a:lstStyle/>
                    <a:p>
                      <a:pPr algn="ctr"/>
                      <a:r>
                        <a:rPr sz="750" b="0" i="1">
                          <a:solidFill>
                            <a:srgbClr val="555555"/>
                          </a:solidFill>
                          <a:latin typeface="Calibri"/>
                        </a:rPr>
                        <a:t>—</a:t>
                      </a:r>
                    </a:p>
                  </a:txBody>
                  <a:tcPr>
                    <a:solidFill>
                      <a:srgbClr val="DDE8F5"/>
                    </a:solidFill>
                  </a:tcPr>
                </a:tc>
              </a:tr>
              <a:tr h="220000">
                <a:tc>
                  <a:txBody>
                    <a:bodyPr/>
                    <a:lstStyle/>
                    <a:p>
                      <a:pPr algn="l"/>
                      <a:r>
                        <a:rPr sz="800" b="1" i="0">
                          <a:solidFill>
                            <a:srgbClr val="0D0D0D"/>
                          </a:solidFill>
                          <a:latin typeface="Calibri"/>
                        </a:rPr>
                        <a:t>EBITDA</a:t>
                      </a:r>
                    </a:p>
                  </a:txBody>
                  <a:tcPr>
                    <a:solidFill>
                      <a:srgbClr val="FFFFFF"/>
                    </a:solidFill>
                  </a:tcPr>
                </a:tc>
                <a:tc>
                  <a:txBody>
                    <a:bodyPr/>
                    <a:lstStyle/>
                    <a:p>
                      <a:pPr algn="ctr"/>
                      <a:r>
                        <a:rPr sz="800" b="1" i="0">
                          <a:solidFill>
                            <a:srgbClr val="0D0D0D"/>
                          </a:solidFill>
                          <a:latin typeface="Calibri"/>
                        </a:rPr>
                        <a:t>—</a:t>
                      </a:r>
                    </a:p>
                  </a:txBody>
                  <a:tcPr>
                    <a:solidFill>
                      <a:srgbClr val="FFFFFF"/>
                    </a:solidFill>
                  </a:tcPr>
                </a:tc>
                <a:tc>
                  <a:txBody>
                    <a:bodyPr/>
                    <a:lstStyle/>
                    <a:p>
                      <a:pPr algn="ctr"/>
                      <a:r>
                        <a:rPr sz="800" b="1" i="0">
                          <a:solidFill>
                            <a:srgbClr val="0D0D0D"/>
                          </a:solidFill>
                          <a:latin typeface="Calibri"/>
                        </a:rPr>
                        <a:t>—</a:t>
                      </a:r>
                    </a:p>
                  </a:txBody>
                  <a:tcPr>
                    <a:solidFill>
                      <a:srgbClr val="FFFFFF"/>
                    </a:solidFill>
                  </a:tcPr>
                </a:tc>
                <a:tc>
                  <a:txBody>
                    <a:bodyPr/>
                    <a:lstStyle/>
                    <a:p>
                      <a:pPr algn="ctr"/>
                      <a:r>
                        <a:rPr sz="800" b="1" i="0">
                          <a:solidFill>
                            <a:srgbClr val="1B3A6B"/>
                          </a:solidFill>
                          <a:latin typeface="Calibri"/>
                        </a:rPr>
                        <a:t>—</a:t>
                      </a:r>
                    </a:p>
                  </a:txBody>
                  <a:tcPr>
                    <a:solidFill>
                      <a:srgbClr val="DDE8F5"/>
                    </a:solidFill>
                  </a:tcPr>
                </a:tc>
              </a:tr>
              <a:tr h="220000">
                <a:tc>
                  <a:txBody>
                    <a:bodyPr/>
                    <a:lstStyle/>
                    <a:p>
                      <a:pPr algn="l"/>
                      <a:r>
                        <a:rPr sz="750" b="0" i="1">
                          <a:solidFill>
                            <a:srgbClr val="555555"/>
                          </a:solidFill>
                          <a:latin typeface="Calibri"/>
                        </a:rPr>
                        <a:t>Marge EBITDA</a:t>
                      </a:r>
                    </a:p>
                  </a:txBody>
                  <a:tcPr>
                    <a:solidFill>
                      <a:srgbClr val="F7F8FA"/>
                    </a:solidFill>
                  </a:tcPr>
                </a:tc>
                <a:tc>
                  <a:txBody>
                    <a:bodyPr/>
                    <a:lstStyle/>
                    <a:p>
                      <a:pPr algn="ctr"/>
                      <a:r>
                        <a:rPr sz="750" b="0" i="1">
                          <a:solidFill>
                            <a:srgbClr val="555555"/>
                          </a:solidFill>
                          <a:latin typeface="Calibri"/>
                        </a:rPr>
                        <a:t>—</a:t>
                      </a:r>
                    </a:p>
                  </a:txBody>
                  <a:tcPr>
                    <a:solidFill>
                      <a:srgbClr val="F7F8FA"/>
                    </a:solidFill>
                  </a:tcPr>
                </a:tc>
                <a:tc>
                  <a:txBody>
                    <a:bodyPr/>
                    <a:lstStyle/>
                    <a:p>
                      <a:pPr algn="ctr"/>
                      <a:r>
                        <a:rPr sz="750" b="0" i="1">
                          <a:solidFill>
                            <a:srgbClr val="555555"/>
                          </a:solidFill>
                          <a:latin typeface="Calibri"/>
                        </a:rPr>
                        <a:t>—</a:t>
                      </a:r>
                    </a:p>
                  </a:txBody>
                  <a:tcPr>
                    <a:solidFill>
                      <a:srgbClr val="F7F8FA"/>
                    </a:solidFill>
                  </a:tcPr>
                </a:tc>
                <a:tc>
                  <a:txBody>
                    <a:bodyPr/>
                    <a:lstStyle/>
                    <a:p>
                      <a:pPr algn="ctr"/>
                      <a:r>
                        <a:rPr sz="750" b="0" i="1">
                          <a:solidFill>
                            <a:srgbClr val="555555"/>
                          </a:solidFill>
                          <a:latin typeface="Calibri"/>
                        </a:rPr>
                        <a:t>—</a:t>
                      </a:r>
                    </a:p>
                  </a:txBody>
                  <a:tcPr>
                    <a:solidFill>
                      <a:srgbClr val="DDE8F5"/>
                    </a:solidFill>
                  </a:tcPr>
                </a:tc>
              </a:tr>
              <a:tr h="220000">
                <a:tc>
                  <a:txBody>
                    <a:bodyPr/>
                    <a:lstStyle/>
                    <a:p>
                      <a:pPr algn="l"/>
                      <a:r>
                        <a:rPr sz="800" b="1" i="0">
                          <a:solidFill>
                            <a:srgbClr val="0D0D0D"/>
                          </a:solidFill>
                          <a:latin typeface="Calibri"/>
                        </a:rPr>
                        <a:t>Résultat net</a:t>
                      </a:r>
                    </a:p>
                  </a:txBody>
                  <a:tcPr>
                    <a:solidFill>
                      <a:srgbClr val="FFFFFF"/>
                    </a:solidFill>
                  </a:tcPr>
                </a:tc>
                <a:tc>
                  <a:txBody>
                    <a:bodyPr/>
                    <a:lstStyle/>
                    <a:p>
                      <a:pPr algn="ctr"/>
                      <a:r>
                        <a:rPr sz="800" b="1" i="0">
                          <a:solidFill>
                            <a:srgbClr val="0D0D0D"/>
                          </a:solidFill>
                          <a:latin typeface="Calibri"/>
                        </a:rPr>
                        <a:t>43</a:t>
                      </a:r>
                    </a:p>
                  </a:txBody>
                  <a:tcPr>
                    <a:solidFill>
                      <a:srgbClr val="FFFFFF"/>
                    </a:solidFill>
                  </a:tcPr>
                </a:tc>
                <a:tc>
                  <a:txBody>
                    <a:bodyPr/>
                    <a:lstStyle/>
                    <a:p>
                      <a:pPr algn="ctr"/>
                      <a:r>
                        <a:rPr sz="800" b="1" i="0">
                          <a:solidFill>
                            <a:srgbClr val="0D0D0D"/>
                          </a:solidFill>
                          <a:latin typeface="Calibri"/>
                        </a:rPr>
                        <a:t>53</a:t>
                      </a:r>
                    </a:p>
                  </a:txBody>
                  <a:tcPr>
                    <a:solidFill>
                      <a:srgbClr val="FFFFFF"/>
                    </a:solidFill>
                  </a:tcPr>
                </a:tc>
                <a:tc>
                  <a:txBody>
                    <a:bodyPr/>
                    <a:lstStyle/>
                    <a:p>
                      <a:pPr algn="ctr"/>
                      <a:r>
                        <a:rPr sz="800" b="1" i="0">
                          <a:solidFill>
                            <a:srgbClr val="1B3A6B"/>
                          </a:solidFill>
                          <a:latin typeface="Calibri"/>
                        </a:rPr>
                        <a:t>65</a:t>
                      </a:r>
                    </a:p>
                  </a:txBody>
                  <a:tcPr>
                    <a:solidFill>
                      <a:srgbClr val="DDE8F5"/>
                    </a:solidFill>
                  </a:tcPr>
                </a:tc>
              </a:tr>
              <a:tr h="220000">
                <a:tc>
                  <a:txBody>
                    <a:bodyPr/>
                    <a:lstStyle/>
                    <a:p>
                      <a:pPr algn="l"/>
                      <a:r>
                        <a:rPr sz="750" b="0" i="1">
                          <a:solidFill>
                            <a:srgbClr val="555555"/>
                          </a:solidFill>
                          <a:latin typeface="Calibri"/>
                        </a:rPr>
                        <a:t>Marge nette</a:t>
                      </a:r>
                    </a:p>
                  </a:txBody>
                  <a:tcPr>
                    <a:solidFill>
                      <a:srgbClr val="F7F8FA"/>
                    </a:solidFill>
                  </a:tcPr>
                </a:tc>
                <a:tc>
                  <a:txBody>
                    <a:bodyPr/>
                    <a:lstStyle/>
                    <a:p>
                      <a:pPr algn="ctr"/>
                      <a:r>
                        <a:rPr sz="750" b="0" i="1">
                          <a:solidFill>
                            <a:srgbClr val="555555"/>
                          </a:solidFill>
                          <a:latin typeface="Calibri"/>
                        </a:rPr>
                        <a:t>27,8 %</a:t>
                      </a:r>
                    </a:p>
                  </a:txBody>
                  <a:tcPr>
                    <a:solidFill>
                      <a:srgbClr val="F7F8FA"/>
                    </a:solidFill>
                  </a:tcPr>
                </a:tc>
                <a:tc>
                  <a:txBody>
                    <a:bodyPr/>
                    <a:lstStyle/>
                    <a:p>
                      <a:pPr algn="ctr"/>
                      <a:r>
                        <a:rPr sz="750" b="0" i="1">
                          <a:solidFill>
                            <a:srgbClr val="555555"/>
                          </a:solidFill>
                          <a:latin typeface="Calibri"/>
                        </a:rPr>
                        <a:t>30,7 %</a:t>
                      </a:r>
                    </a:p>
                  </a:txBody>
                  <a:tcPr>
                    <a:solidFill>
                      <a:srgbClr val="F7F8FA"/>
                    </a:solidFill>
                  </a:tcPr>
                </a:tc>
                <a:tc>
                  <a:txBody>
                    <a:bodyPr/>
                    <a:lstStyle/>
                    <a:p>
                      <a:pPr algn="ctr"/>
                      <a:r>
                        <a:rPr sz="750" b="0" i="1">
                          <a:solidFill>
                            <a:srgbClr val="555555"/>
                          </a:solidFill>
                          <a:latin typeface="Calibri"/>
                        </a:rPr>
                        <a:t>26,2 %</a:t>
                      </a:r>
                    </a:p>
                  </a:txBody>
                  <a:tcPr>
                    <a:solidFill>
                      <a:srgbClr val="DDE8F5"/>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Bilan &amp; Liquidité</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Structure financière  ·  USD millions  ·  LTM 2025</a:t>
            </a:r>
          </a:p>
        </p:txBody>
      </p:sp>
      <p:sp>
        <p:nvSpPr>
          <p:cNvPr id="17" name="Rectangle 16"/>
          <p:cNvSpPr/>
          <p:nvPr/>
        </p:nvSpPr>
        <p:spPr>
          <a:xfrm>
            <a:off x="367200" y="9612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516400" cy="396000"/>
          </a:xfrm>
          <a:prstGeom prst="rect">
            <a:avLst/>
          </a:prstGeom>
          <a:noFill/>
        </p:spPr>
        <p:txBody>
          <a:bodyPr wrap="square">
            <a:spAutoFit/>
          </a:bodyPr>
          <a:lstStyle/>
          <a:p>
            <a:pPr algn="l"/>
            <a:r>
              <a:rPr sz="1900" b="1" i="0">
                <a:solidFill>
                  <a:srgbClr val="1B3A6B"/>
                </a:solidFill>
                <a:latin typeface="Calibri"/>
              </a:rPr>
              <a:t>97 M$</a:t>
            </a:r>
          </a:p>
        </p:txBody>
      </p:sp>
      <p:sp>
        <p:nvSpPr>
          <p:cNvPr id="20" name="TextBox 19"/>
          <p:cNvSpPr txBox="1"/>
          <p:nvPr/>
        </p:nvSpPr>
        <p:spPr>
          <a:xfrm>
            <a:off x="457200" y="1411200"/>
            <a:ext cx="2516400" cy="205199"/>
          </a:xfrm>
          <a:prstGeom prst="rect">
            <a:avLst/>
          </a:prstGeom>
          <a:noFill/>
        </p:spPr>
        <p:txBody>
          <a:bodyPr wrap="square">
            <a:spAutoFit/>
          </a:bodyPr>
          <a:lstStyle/>
          <a:p>
            <a:pPr algn="l"/>
            <a:r>
              <a:rPr sz="800" b="0" i="0">
                <a:solidFill>
                  <a:srgbClr val="555555"/>
                </a:solidFill>
                <a:latin typeface="Calibri"/>
              </a:rPr>
              <a:t>Cash &amp; equivalents</a:t>
            </a:r>
          </a:p>
        </p:txBody>
      </p:sp>
      <p:sp>
        <p:nvSpPr>
          <p:cNvPr id="21" name="Rectangle 20"/>
          <p:cNvSpPr/>
          <p:nvPr/>
        </p:nvSpPr>
        <p:spPr>
          <a:xfrm>
            <a:off x="367200" y="1900800"/>
            <a:ext cx="2653200" cy="82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67200" y="1900800"/>
            <a:ext cx="46800" cy="82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1954800"/>
            <a:ext cx="2516400" cy="396000"/>
          </a:xfrm>
          <a:prstGeom prst="rect">
            <a:avLst/>
          </a:prstGeom>
          <a:noFill/>
        </p:spPr>
        <p:txBody>
          <a:bodyPr wrap="square">
            <a:spAutoFit/>
          </a:bodyPr>
          <a:lstStyle/>
          <a:p>
            <a:pPr algn="l"/>
            <a:r>
              <a:rPr sz="1900" b="1" i="0">
                <a:solidFill>
                  <a:srgbClr val="1B3A6B"/>
                </a:solidFill>
                <a:latin typeface="Calibri"/>
              </a:rPr>
              <a:t>63 M$</a:t>
            </a:r>
          </a:p>
        </p:txBody>
      </p:sp>
      <p:sp>
        <p:nvSpPr>
          <p:cNvPr id="24" name="TextBox 23"/>
          <p:cNvSpPr txBox="1"/>
          <p:nvPr/>
        </p:nvSpPr>
        <p:spPr>
          <a:xfrm>
            <a:off x="457200" y="2350800"/>
            <a:ext cx="2516400" cy="205199"/>
          </a:xfrm>
          <a:prstGeom prst="rect">
            <a:avLst/>
          </a:prstGeom>
          <a:noFill/>
        </p:spPr>
        <p:txBody>
          <a:bodyPr wrap="square">
            <a:spAutoFit/>
          </a:bodyPr>
          <a:lstStyle/>
          <a:p>
            <a:pPr algn="l"/>
            <a:r>
              <a:rPr sz="800" b="0" i="0">
                <a:solidFill>
                  <a:srgbClr val="555555"/>
                </a:solidFill>
                <a:latin typeface="Calibri"/>
              </a:rPr>
              <a:t>Dette long terme</a:t>
            </a:r>
          </a:p>
        </p:txBody>
      </p:sp>
      <p:sp>
        <p:nvSpPr>
          <p:cNvPr id="25" name="Rectangle 24"/>
          <p:cNvSpPr/>
          <p:nvPr/>
        </p:nvSpPr>
        <p:spPr>
          <a:xfrm>
            <a:off x="367200" y="2844000"/>
            <a:ext cx="2653200" cy="824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7200" y="2844000"/>
            <a:ext cx="46800" cy="82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898000"/>
            <a:ext cx="2516400" cy="396000"/>
          </a:xfrm>
          <a:prstGeom prst="rect">
            <a:avLst/>
          </a:prstGeom>
          <a:noFill/>
        </p:spPr>
        <p:txBody>
          <a:bodyPr wrap="square">
            <a:spAutoFit/>
          </a:bodyPr>
          <a:lstStyle/>
          <a:p>
            <a:pPr algn="l"/>
            <a:r>
              <a:rPr sz="1900" b="1" i="0">
                <a:solidFill>
                  <a:srgbClr val="FFFFFF"/>
                </a:solidFill>
                <a:latin typeface="Calibri"/>
              </a:rPr>
              <a:t>292 M$</a:t>
            </a:r>
          </a:p>
        </p:txBody>
      </p:sp>
      <p:sp>
        <p:nvSpPr>
          <p:cNvPr id="28" name="TextBox 27"/>
          <p:cNvSpPr txBox="1"/>
          <p:nvPr/>
        </p:nvSpPr>
        <p:spPr>
          <a:xfrm>
            <a:off x="457200" y="3294000"/>
            <a:ext cx="2516400" cy="205199"/>
          </a:xfrm>
          <a:prstGeom prst="rect">
            <a:avLst/>
          </a:prstGeom>
          <a:noFill/>
        </p:spPr>
        <p:txBody>
          <a:bodyPr wrap="square">
            <a:spAutoFit/>
          </a:bodyPr>
          <a:lstStyle/>
          <a:p>
            <a:pPr algn="l"/>
            <a:r>
              <a:rPr sz="800" b="0" i="0">
                <a:solidFill>
                  <a:srgbClr val="FFFFFF"/>
                </a:solidFill>
                <a:latin typeface="Calibri"/>
              </a:rPr>
              <a:t>Dette nette</a:t>
            </a:r>
          </a:p>
        </p:txBody>
      </p:sp>
      <p:sp>
        <p:nvSpPr>
          <p:cNvPr id="29" name="TextBox 28"/>
          <p:cNvSpPr txBox="1"/>
          <p:nvPr/>
        </p:nvSpPr>
        <p:spPr>
          <a:xfrm>
            <a:off x="3384000" y="842400"/>
            <a:ext cx="5396400" cy="165600"/>
          </a:xfrm>
          <a:prstGeom prst="rect">
            <a:avLst/>
          </a:prstGeom>
          <a:noFill/>
        </p:spPr>
        <p:txBody>
          <a:bodyPr wrap="square">
            <a:spAutoFit/>
          </a:bodyPr>
          <a:lstStyle/>
          <a:p>
            <a:pPr algn="l"/>
            <a:r>
              <a:rPr sz="900" b="1" i="0">
                <a:solidFill>
                  <a:srgbClr val="1B3A6B"/>
                </a:solidFill>
                <a:latin typeface="Calibri"/>
              </a:rPr>
              <a:t>Ratios de solvabilité &amp; liquidité</a:t>
            </a:r>
          </a:p>
        </p:txBody>
      </p:sp>
      <p:graphicFrame>
        <p:nvGraphicFramePr>
          <p:cNvPr id="30" name="Table 29"/>
          <p:cNvGraphicFramePr>
            <a:graphicFrameLocks noGrp="1"/>
          </p:cNvGraphicFramePr>
          <p:nvPr/>
        </p:nvGraphicFramePr>
        <p:xfrm>
          <a:off x="3384000" y="1007999"/>
          <a:ext cx="5396400" cy="1800000"/>
        </p:xfrm>
        <a:graphic>
          <a:graphicData uri="http://schemas.openxmlformats.org/drawingml/2006/table">
            <a:tbl>
              <a:tblPr firstRow="1" bandRow="1">
                <a:tableStyleId>{5C22544A-7EE6-4342-B048-85BDC9FD1C3A}</a:tableStyleId>
              </a:tblPr>
              <a:tblGrid>
                <a:gridCol w="2374416"/>
                <a:gridCol w="1133244"/>
                <a:gridCol w="1133244"/>
                <a:gridCol w="755496"/>
              </a:tblGrid>
              <a:tr h="225000">
                <a:tc>
                  <a:txBody>
                    <a:bodyPr/>
                    <a:lstStyle/>
                    <a:p>
                      <a:pPr algn="l"/>
                      <a:r>
                        <a:rPr sz="800" b="1" i="0">
                          <a:solidFill>
                            <a:srgbClr val="FFFFFF"/>
                          </a:solidFill>
                          <a:latin typeface="Calibri"/>
                        </a:rPr>
                        <a:t>Ratio</a:t>
                      </a:r>
                    </a:p>
                  </a:txBody>
                  <a:tcPr>
                    <a:solidFill>
                      <a:srgbClr val="1B3A6B"/>
                    </a:solidFill>
                  </a:tcPr>
                </a:tc>
                <a:tc>
                  <a:txBody>
                    <a:bodyPr/>
                    <a:lstStyle/>
                    <a:p>
                      <a:pPr algn="ctr"/>
                      <a:r>
                        <a:rPr sz="800" b="1" i="0">
                          <a:solidFill>
                            <a:srgbClr val="FFFFFF"/>
                          </a:solidFill>
                          <a:latin typeface="Calibri"/>
                        </a:rPr>
                        <a:t>Valeur</a:t>
                      </a:r>
                    </a:p>
                  </a:txBody>
                  <a:tcPr>
                    <a:solidFill>
                      <a:srgbClr val="1B3A6B"/>
                    </a:solidFill>
                  </a:tcPr>
                </a:tc>
                <a:tc>
                  <a:txBody>
                    <a:bodyPr/>
                    <a:lstStyle/>
                    <a:p>
                      <a:pPr algn="ctr"/>
                      <a:r>
                        <a:rPr sz="800" b="1" i="0">
                          <a:solidFill>
                            <a:srgbClr val="FFFFFF"/>
                          </a:solidFill>
                          <a:latin typeface="Calibri"/>
                        </a:rPr>
                        <a:t>Référence</a:t>
                      </a:r>
                    </a:p>
                  </a:txBody>
                  <a:tcPr>
                    <a:solidFill>
                      <a:srgbClr val="1B3A6B"/>
                    </a:solidFill>
                  </a:tcPr>
                </a:tc>
                <a:tc>
                  <a:txBody>
                    <a:bodyPr/>
                    <a:lstStyle/>
                    <a:p>
                      <a:pPr algn="ctr"/>
                      <a:r>
                        <a:rPr sz="800" b="1" i="0">
                          <a:solidFill>
                            <a:srgbClr val="FFFFFF"/>
                          </a:solidFill>
                          <a:latin typeface="Calibri"/>
                        </a:rPr>
                        <a:t>Signal</a:t>
                      </a:r>
                    </a:p>
                  </a:txBody>
                  <a:tcPr>
                    <a:solidFill>
                      <a:srgbClr val="1B3A6B"/>
                    </a:solidFill>
                  </a:tcPr>
                </a:tc>
              </a:tr>
              <a:tr h="225000">
                <a:tc>
                  <a:txBody>
                    <a:bodyPr/>
                    <a:lstStyle/>
                    <a:p>
                      <a:pPr algn="l"/>
                      <a:r>
                        <a:rPr sz="800" b="1" i="0">
                          <a:solidFill>
                            <a:srgbClr val="0D0D0D"/>
                          </a:solidFill>
                          <a:latin typeface="Calibri"/>
                        </a:rPr>
                        <a:t>Ratio liquidité courante</a:t>
                      </a:r>
                    </a:p>
                  </a:txBody>
                  <a:tcPr>
                    <a:solidFill>
                      <a:srgbClr val="FFFFFF"/>
                    </a:solidFill>
                  </a:tcPr>
                </a:tc>
                <a:tc>
                  <a:txBody>
                    <a:bodyPr/>
                    <a:lstStyle/>
                    <a:p>
                      <a:pPr algn="ctr"/>
                      <a:r>
                        <a:rPr sz="800" b="0" i="0">
                          <a:solidFill>
                            <a:srgbClr val="0D0D0D"/>
                          </a:solidFill>
                          <a:latin typeface="Calibri"/>
                        </a:rPr>
                        <a:t>0,30</a:t>
                      </a:r>
                    </a:p>
                  </a:txBody>
                  <a:tcPr>
                    <a:solidFill>
                      <a:srgbClr val="FFFFFF"/>
                    </a:solidFill>
                  </a:tcPr>
                </a:tc>
                <a:tc>
                  <a:txBody>
                    <a:bodyPr/>
                    <a:lstStyle/>
                    <a:p>
                      <a:pPr algn="ctr"/>
                      <a:r>
                        <a:rPr sz="800" b="0" i="0">
                          <a:solidFill>
                            <a:srgbClr val="0D0D0D"/>
                          </a:solidFill>
                          <a:latin typeface="Calibri"/>
                        </a:rPr>
                        <a:t>&gt; 1,5</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Ratio rapide (quick)</a:t>
                      </a:r>
                    </a:p>
                  </a:txBody>
                  <a:tcPr>
                    <a:solidFill>
                      <a:srgbClr val="F7F8FA"/>
                    </a:solidFill>
                  </a:tcPr>
                </a:tc>
                <a:tc>
                  <a:txBody>
                    <a:bodyPr/>
                    <a:lstStyle/>
                    <a:p>
                      <a:pPr algn="ctr"/>
                      <a:r>
                        <a:rPr sz="800" b="0" i="0">
                          <a:solidFill>
                            <a:srgbClr val="0D0D0D"/>
                          </a:solidFill>
                          <a:latin typeface="Calibri"/>
                        </a:rPr>
                        <a:t>0,30</a:t>
                      </a:r>
                    </a:p>
                  </a:txBody>
                  <a:tcPr>
                    <a:solidFill>
                      <a:srgbClr val="F7F8FA"/>
                    </a:solidFill>
                  </a:tcPr>
                </a:tc>
                <a:tc>
                  <a:txBody>
                    <a:bodyPr/>
                    <a:lstStyle/>
                    <a:p>
                      <a:pPr algn="ctr"/>
                      <a:r>
                        <a:rPr sz="800" b="0" i="0">
                          <a:solidFill>
                            <a:srgbClr val="0D0D0D"/>
                          </a:solidFill>
                          <a:latin typeface="Calibri"/>
                        </a:rPr>
                        <a:t>&gt; 1,0</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a:t>
                      </a:r>
                    </a:p>
                  </a:txBody>
                  <a:tcPr>
                    <a:solidFill>
                      <a:srgbClr val="FFFFFF"/>
                    </a:solidFill>
                  </a:tcPr>
                </a:tc>
                <a:tc>
                  <a:txBody>
                    <a:bodyPr/>
                    <a:lstStyle/>
                    <a:p>
                      <a:pPr algn="ctr"/>
                      <a:r>
                        <a:rPr sz="800" b="0" i="0">
                          <a:solidFill>
                            <a:srgbClr val="0D0D0D"/>
                          </a:solidFill>
                          <a:latin typeface="Calibri"/>
                        </a:rPr>
                        <a:t>0,6x</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Couverture d'intérêts</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c>
                  <a:txBody>
                    <a:bodyPr/>
                    <a:lstStyle/>
                    <a:p>
                      <a:pPr algn="ctr"/>
                      <a:r>
                        <a:rPr sz="800" b="0" i="0">
                          <a:solidFill>
                            <a:srgbClr val="0D0D0D"/>
                          </a:solidFill>
                          <a:latin typeface="Calibri"/>
                        </a:rPr>
                        <a:t>&gt; 3,0x</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Dette nette / EBITDA</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c>
                  <a:txBody>
                    <a:bodyPr/>
                    <a:lstStyle/>
                    <a:p>
                      <a:pPr algn="ctr"/>
                      <a:r>
                        <a:rPr sz="800" b="0" i="0">
                          <a:solidFill>
                            <a:srgbClr val="0D0D0D"/>
                          </a:solidFill>
                          <a:latin typeface="Calibri"/>
                        </a:rPr>
                        <a:t>&lt; 2,0x</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r h="225000">
                <a:tc>
                  <a:txBody>
                    <a:bodyPr/>
                    <a:lstStyle/>
                    <a:p>
                      <a:pPr algn="l"/>
                      <a:r>
                        <a:rPr sz="800" b="1" i="0">
                          <a:solidFill>
                            <a:srgbClr val="0D0D0D"/>
                          </a:solidFill>
                          <a:latin typeface="Calibri"/>
                        </a:rPr>
                        <a:t>Altman Z</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c>
                  <a:txBody>
                    <a:bodyPr/>
                    <a:lstStyle/>
                    <a:p>
                      <a:pPr algn="ctr"/>
                      <a:r>
                        <a:rPr sz="800" b="0" i="0">
                          <a:solidFill>
                            <a:srgbClr val="0D0D0D"/>
                          </a:solidFill>
                          <a:latin typeface="Calibri"/>
                        </a:rPr>
                        <a:t>&gt; 2,99</a:t>
                      </a:r>
                    </a:p>
                  </a:txBody>
                  <a:tcPr>
                    <a:solidFill>
                      <a:srgbClr val="F7F8FA"/>
                    </a:solidFill>
                  </a:tcPr>
                </a:tc>
                <a:tc>
                  <a:txBody>
                    <a:bodyPr/>
                    <a:lstStyle/>
                    <a:p>
                      <a:pPr algn="ctr"/>
                      <a:r>
                        <a:rPr sz="800" b="0" i="0">
                          <a:solidFill>
                            <a:srgbClr val="0D0D0D"/>
                          </a:solidFill>
                          <a:latin typeface="Calibri"/>
                        </a:rPr>
                        <a:t>—</a:t>
                      </a:r>
                    </a:p>
                  </a:txBody>
                  <a:tcPr>
                    <a:solidFill>
                      <a:srgbClr val="F7F8FA"/>
                    </a:solidFill>
                  </a:tcPr>
                </a:tc>
              </a:tr>
              <a:tr h="225000">
                <a:tc>
                  <a:txBody>
                    <a:bodyPr/>
                    <a:lstStyle/>
                    <a:p>
                      <a:pPr algn="l"/>
                      <a:r>
                        <a:rPr sz="800" b="1" i="0">
                          <a:solidFill>
                            <a:srgbClr val="0D0D0D"/>
                          </a:solidFill>
                          <a:latin typeface="Calibri"/>
                        </a:rPr>
                        <a:t>Beneish M</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c>
                  <a:txBody>
                    <a:bodyPr/>
                    <a:lstStyle/>
                    <a:p>
                      <a:pPr algn="ctr"/>
                      <a:r>
                        <a:rPr sz="800" b="0" i="0">
                          <a:solidFill>
                            <a:srgbClr val="0D0D0D"/>
                          </a:solidFill>
                          <a:latin typeface="Calibri"/>
                        </a:rPr>
                        <a:t>&lt; -2,22</a:t>
                      </a:r>
                    </a:p>
                  </a:txBody>
                  <a:tcPr>
                    <a:solidFill>
                      <a:srgbClr val="FFFFFF"/>
                    </a:solidFill>
                  </a:tcPr>
                </a:tc>
                <a:tc>
                  <a:txBody>
                    <a:bodyPr/>
                    <a:lstStyle/>
                    <a:p>
                      <a:pPr algn="ctr"/>
                      <a:r>
                        <a:rPr sz="800" b="0" i="0">
                          <a:solidFill>
                            <a:srgbClr val="0D0D0D"/>
                          </a:solidFill>
                          <a:latin typeface="Calibri"/>
                        </a:rPr>
                        <a:t>—</a:t>
                      </a:r>
                    </a:p>
                  </a:txBody>
                  <a:tcP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1B3A6B"/>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Ratios Clés vs. Benchmark Sectoriel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Positionnement relatif  ·  LTM 2025</a:t>
            </a:r>
          </a:p>
        </p:txBody>
      </p:sp>
      <p:graphicFrame>
        <p:nvGraphicFramePr>
          <p:cNvPr id="17" name="Table 16"/>
          <p:cNvGraphicFramePr>
            <a:graphicFrameLocks noGrp="1"/>
          </p:cNvGraphicFramePr>
          <p:nvPr/>
        </p:nvGraphicFramePr>
        <p:xfrm>
          <a:off x="367200" y="914400"/>
          <a:ext cx="8413200" cy="2559600"/>
        </p:xfrm>
        <a:graphic>
          <a:graphicData uri="http://schemas.openxmlformats.org/drawingml/2006/table">
            <a:tbl>
              <a:tblPr firstRow="1" bandRow="1">
                <a:tableStyleId>{5C22544A-7EE6-4342-B048-85BDC9FD1C3A}</a:tableStyleId>
              </a:tblPr>
              <a:tblGrid>
                <a:gridCol w="2103300"/>
                <a:gridCol w="2103300"/>
                <a:gridCol w="2103300"/>
                <a:gridCol w="2103300"/>
              </a:tblGrid>
              <a:tr h="232690">
                <a:tc>
                  <a:txBody>
                    <a:bodyPr/>
                    <a:lstStyle/>
                    <a:p>
                      <a:pPr algn="l"/>
                      <a:r>
                        <a:rPr sz="800" b="1" i="0">
                          <a:solidFill>
                            <a:srgbClr val="FFFFFF"/>
                          </a:solidFill>
                          <a:latin typeface="Calibri"/>
                        </a:rPr>
                        <a:t>Indicateur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Benchmark</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Lecture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P/E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12,6x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15–25x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Sous-value</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EV/EBITDA</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8–14x</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EV/Revenue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4,5x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1–5x</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brute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40 %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Marge EBITDA</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9,3 %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A7A4A"/>
                          </a:solidFill>
                          <a:latin typeface="Calibri"/>
                        </a:rPr>
                        <a:t>Correct</a:t>
                      </a:r>
                    </a:p>
                  </a:txBody>
                  <a:tcPr>
                    <a:solidFill>
                      <a:srgbClr val="EAF4E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ROIC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10 %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CapEx / Revenue</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2,3 %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15 %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Léger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32690">
                <a:tc>
                  <a:txBody>
                    <a:bodyPr/>
                    <a:lstStyle/>
                    <a:p>
                      <a:pPr algn="l"/>
                      <a:r>
                        <a:rPr sz="800" b="0" i="0">
                          <a:solidFill>
                            <a:srgbClr val="0D0D0D"/>
                          </a:solidFill>
                          <a:latin typeface="Calibri"/>
                        </a:rPr>
                        <a:t>Altman Z</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&gt; 2,99</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32700">
                <a:tc>
                  <a:txBody>
                    <a:bodyPr/>
                    <a:lstStyle/>
                    <a:p>
                      <a:pPr algn="l"/>
                      <a:r>
                        <a:rPr sz="800" b="0" i="0">
                          <a:solidFill>
                            <a:srgbClr val="0D0D0D"/>
                          </a:solidFill>
                          <a:latin typeface="Calibri"/>
                        </a:rPr>
                        <a:t>Beneish M</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&lt; -2,22</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555555"/>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03</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Valorisation</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DCF, comparable peers &amp; Football Field Chart</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Valorisation — DCF &amp; Scénarios</a:t>
            </a:r>
          </a:p>
        </p:txBody>
      </p:sp>
      <p:graphicFrame>
        <p:nvGraphicFramePr>
          <p:cNvPr id="16" name="Table 15"/>
          <p:cNvGraphicFramePr>
            <a:graphicFrameLocks noGrp="1"/>
          </p:cNvGraphicFramePr>
          <p:nvPr/>
        </p:nvGraphicFramePr>
        <p:xfrm>
          <a:off x="367200" y="824400"/>
          <a:ext cx="4024800" cy="1371600"/>
        </p:xfrm>
        <a:graphic>
          <a:graphicData uri="http://schemas.openxmlformats.org/drawingml/2006/table">
            <a:tbl>
              <a:tblPr firstRow="1" bandRow="1">
                <a:tableStyleId>{5C22544A-7EE6-4342-B048-85BDC9FD1C3A}</a:tableStyleId>
              </a:tblPr>
              <a:tblGrid>
                <a:gridCol w="2213640"/>
                <a:gridCol w="1811160"/>
              </a:tblGrid>
              <a:tr h="228600">
                <a:tc>
                  <a:txBody>
                    <a:bodyPr/>
                    <a:lstStyle/>
                    <a:p>
                      <a:pPr algn="l"/>
                      <a:r>
                        <a:rPr sz="800" b="1" i="0">
                          <a:solidFill>
                            <a:srgbClr val="FFFFFF"/>
                          </a:solidFill>
                          <a:latin typeface="Calibri"/>
                        </a:rPr>
                        <a:t>Paramètre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Valeur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WACC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9,7 %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TGR</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2,5 %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1" i="0">
                          <a:solidFill>
                            <a:srgbClr val="1B3A6B"/>
                          </a:solidFill>
                          <a:latin typeface="Calibri"/>
                        </a:rPr>
                        <a:t>Valeur intrinsèque</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1B3A6B"/>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Cours actuel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48,53 $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8600">
                <a:tc>
                  <a:txBody>
                    <a:bodyPr/>
                    <a:lstStyle/>
                    <a:p>
                      <a:pPr algn="l"/>
                      <a:r>
                        <a:rPr sz="800" b="0" i="0">
                          <a:solidFill>
                            <a:srgbClr val="0D0D0D"/>
                          </a:solidFill>
                          <a:latin typeface="Calibri"/>
                        </a:rPr>
                        <a:t>Upside implicite</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graphicFrame>
        <p:nvGraphicFramePr>
          <p:cNvPr id="17" name="Table 16"/>
          <p:cNvGraphicFramePr>
            <a:graphicFrameLocks noGrp="1"/>
          </p:cNvGraphicFramePr>
          <p:nvPr/>
        </p:nvGraphicFramePr>
        <p:xfrm>
          <a:off x="4482000" y="824400"/>
          <a:ext cx="4298400" cy="1371600"/>
        </p:xfrm>
        <a:graphic>
          <a:graphicData uri="http://schemas.openxmlformats.org/drawingml/2006/table">
            <a:tbl>
              <a:tblPr firstRow="1" bandRow="1">
                <a:tableStyleId>{5C22544A-7EE6-4342-B048-85BDC9FD1C3A}</a:tableStyleId>
              </a:tblPr>
              <a:tblGrid>
                <a:gridCol w="1432800"/>
                <a:gridCol w="1432800"/>
                <a:gridCol w="1432800"/>
              </a:tblGrid>
              <a:tr h="342900">
                <a:tc>
                  <a:txBody>
                    <a:bodyPr/>
                    <a:lstStyle/>
                    <a:p>
                      <a:pPr algn="ctr"/>
                      <a:r>
                        <a:rPr sz="1000" b="1" i="0">
                          <a:solidFill>
                            <a:srgbClr val="FFFFFF"/>
                          </a:solidFill>
                          <a:latin typeface="Calibri"/>
                        </a:rPr>
                        <a:t>Bear</a:t>
                      </a:r>
                    </a:p>
                  </a:txBody>
                  <a:tcPr>
                    <a:solidFill>
                      <a:srgbClr val="A82020"/>
                    </a:solidFill>
                  </a:tcPr>
                </a:tc>
                <a:tc>
                  <a:txBody>
                    <a:bodyPr/>
                    <a:lstStyle/>
                    <a:p>
                      <a:pPr algn="ctr"/>
                      <a:r>
                        <a:rPr sz="1000" b="1" i="0">
                          <a:solidFill>
                            <a:srgbClr val="FFFFFF"/>
                          </a:solidFill>
                          <a:latin typeface="Calibri"/>
                        </a:rPr>
                        <a:t>Base</a:t>
                      </a:r>
                    </a:p>
                  </a:txBody>
                  <a:tcPr>
                    <a:solidFill>
                      <a:srgbClr val="2E5FA3"/>
                    </a:solidFill>
                  </a:tcPr>
                </a:tc>
                <a:tc>
                  <a:txBody>
                    <a:bodyPr/>
                    <a:lstStyle/>
                    <a:p>
                      <a:pPr algn="ctr"/>
                      <a:r>
                        <a:rPr sz="1000" b="1" i="0">
                          <a:solidFill>
                            <a:srgbClr val="FFFFFF"/>
                          </a:solidFill>
                          <a:latin typeface="Calibri"/>
                        </a:rPr>
                        <a:t>Bull</a:t>
                      </a:r>
                    </a:p>
                  </a:txBody>
                  <a:tcPr>
                    <a:solidFill>
                      <a:srgbClr val="1A7A4A"/>
                    </a:solidFill>
                  </a:tcPr>
                </a:tc>
              </a:tr>
              <a:tr h="342900">
                <a:tc>
                  <a:txBody>
                    <a:bodyPr/>
                    <a:lstStyle/>
                    <a:p>
                      <a:pPr algn="ctr"/>
                      <a:r>
                        <a:rPr sz="2000" b="1" i="0">
                          <a:solidFill>
                            <a:srgbClr val="A82020"/>
                          </a:solidFill>
                          <a:latin typeface="Calibri"/>
                        </a:rPr>
                        <a:t>—</a:t>
                      </a:r>
                    </a:p>
                  </a:txBody>
                  <a:tcPr>
                    <a:solidFill>
                      <a:srgbClr val="FAF0EF"/>
                    </a:solidFill>
                  </a:tcPr>
                </a:tc>
                <a:tc>
                  <a:txBody>
                    <a:bodyPr/>
                    <a:lstStyle/>
                    <a:p>
                      <a:pPr algn="ctr"/>
                      <a:r>
                        <a:rPr sz="2000" b="1" i="0">
                          <a:solidFill>
                            <a:srgbClr val="2E5FA3"/>
                          </a:solidFill>
                          <a:latin typeface="Calibri"/>
                        </a:rPr>
                        <a:t>—</a:t>
                      </a:r>
                    </a:p>
                  </a:txBody>
                  <a:tcPr>
                    <a:solidFill>
                      <a:srgbClr val="EEF3FA"/>
                    </a:solidFill>
                  </a:tcPr>
                </a:tc>
                <a:tc>
                  <a:txBody>
                    <a:bodyPr/>
                    <a:lstStyle/>
                    <a:p>
                      <a:pPr algn="ctr"/>
                      <a:r>
                        <a:rPr sz="2000" b="1" i="0">
                          <a:solidFill>
                            <a:srgbClr val="1A7A4A"/>
                          </a:solidFill>
                          <a:latin typeface="Calibri"/>
                        </a:rPr>
                        <a:t>—</a:t>
                      </a:r>
                    </a:p>
                  </a:txBody>
                  <a:tcPr>
                    <a:solidFill>
                      <a:srgbClr val="EAF4EF"/>
                    </a:solidFill>
                  </a:tcPr>
                </a:tc>
              </a:tr>
              <a:tr h="342900">
                <a:tc>
                  <a:txBody>
                    <a:bodyPr/>
                    <a:lstStyle/>
                    <a:p>
                      <a:pPr algn="ctr"/>
                      <a:r>
                        <a:rPr sz="1200" b="1" i="0">
                          <a:solidFill>
                            <a:srgbClr val="A82020"/>
                          </a:solidFill>
                          <a:latin typeface="Calibri"/>
                        </a:rPr>
                        <a:t>—</a:t>
                      </a:r>
                    </a:p>
                  </a:txBody>
                  <a:tcPr>
                    <a:solidFill>
                      <a:srgbClr val="FAF0EF"/>
                    </a:solidFill>
                  </a:tcPr>
                </a:tc>
                <a:tc>
                  <a:txBody>
                    <a:bodyPr/>
                    <a:lstStyle/>
                    <a:p>
                      <a:pPr algn="ctr"/>
                      <a:r>
                        <a:rPr sz="1200" b="1" i="0">
                          <a:solidFill>
                            <a:srgbClr val="2E5FA3"/>
                          </a:solidFill>
                          <a:latin typeface="Calibri"/>
                        </a:rPr>
                        <a:t>—</a:t>
                      </a:r>
                    </a:p>
                  </a:txBody>
                  <a:tcPr>
                    <a:solidFill>
                      <a:srgbClr val="EEF3FA"/>
                    </a:solidFill>
                  </a:tcPr>
                </a:tc>
                <a:tc>
                  <a:txBody>
                    <a:bodyPr/>
                    <a:lstStyle/>
                    <a:p>
                      <a:pPr algn="ctr"/>
                      <a:r>
                        <a:rPr sz="1200" b="1" i="0">
                          <a:solidFill>
                            <a:srgbClr val="1A7A4A"/>
                          </a:solidFill>
                          <a:latin typeface="Calibri"/>
                        </a:rPr>
                        <a:t>—</a:t>
                      </a:r>
                    </a:p>
                  </a:txBody>
                  <a:tcPr>
                    <a:solidFill>
                      <a:srgbClr val="EAF4EF"/>
                    </a:solidFill>
                  </a:tcPr>
                </a:tc>
              </a:tr>
              <a:tr h="342900">
                <a:tc>
                  <a:txBody>
                    <a:bodyPr/>
                    <a:lstStyle/>
                    <a:p>
                      <a:pPr algn="ctr"/>
                      <a:r>
                        <a:rPr sz="700" b="0" i="0">
                          <a:solidFill>
                            <a:srgbClr val="888888"/>
                          </a:solidFill>
                          <a:latin typeface="Calibri"/>
                        </a:rPr>
                        <a:t>Upside / Downside</a:t>
                      </a:r>
                    </a:p>
                  </a:txBody>
                  <a:tcPr>
                    <a:solidFill>
                      <a:srgbClr val="FAF0EF"/>
                    </a:solidFill>
                  </a:tcPr>
                </a:tc>
                <a:tc>
                  <a:txBody>
                    <a:bodyPr/>
                    <a:lstStyle/>
                    <a:p>
                      <a:pPr algn="ctr"/>
                      <a:r>
                        <a:rPr sz="700" b="0" i="0">
                          <a:solidFill>
                            <a:srgbClr val="888888"/>
                          </a:solidFill>
                          <a:latin typeface="Calibri"/>
                        </a:rPr>
                        <a:t>Upside / Downside</a:t>
                      </a:r>
                    </a:p>
                  </a:txBody>
                  <a:tcPr>
                    <a:solidFill>
                      <a:srgbClr val="EEF3FA"/>
                    </a:solidFill>
                  </a:tcPr>
                </a:tc>
                <a:tc>
                  <a:txBody>
                    <a:bodyPr/>
                    <a:lstStyle/>
                    <a:p>
                      <a:pPr algn="ctr"/>
                      <a:r>
                        <a:rPr sz="700" b="0" i="0">
                          <a:solidFill>
                            <a:srgbClr val="888888"/>
                          </a:solidFill>
                          <a:latin typeface="Calibri"/>
                        </a:rPr>
                        <a:t>Upside / Downside</a:t>
                      </a:r>
                    </a:p>
                  </a:txBody>
                  <a:tcPr>
                    <a:solidFill>
                      <a:srgbClr val="EAF4EF"/>
                    </a:solidFill>
                  </a:tcPr>
                </a:tc>
              </a:tr>
            </a:tbl>
          </a:graphicData>
        </a:graphic>
      </p:graphicFrame>
      <p:sp>
        <p:nvSpPr>
          <p:cNvPr id="18" name="TextBox 17"/>
          <p:cNvSpPr txBox="1"/>
          <p:nvPr/>
        </p:nvSpPr>
        <p:spPr>
          <a:xfrm>
            <a:off x="367200" y="2394000"/>
            <a:ext cx="8413200" cy="201600"/>
          </a:xfrm>
          <a:prstGeom prst="rect">
            <a:avLst/>
          </a:prstGeom>
          <a:noFill/>
        </p:spPr>
        <p:txBody>
          <a:bodyPr wrap="square">
            <a:spAutoFit/>
          </a:bodyPr>
          <a:lstStyle/>
          <a:p>
            <a:pPr algn="l"/>
            <a:r>
              <a:rPr sz="900" b="1" i="0">
                <a:solidFill>
                  <a:srgbClr val="1B3A6B"/>
                </a:solidFill>
                <a:latin typeface="Calibri"/>
              </a:rPr>
              <a:t>Table de sensibilité — Valeur intrinsèque ($)</a:t>
            </a:r>
          </a:p>
        </p:txBody>
      </p:sp>
      <p:graphicFrame>
        <p:nvGraphicFramePr>
          <p:cNvPr id="19" name="Table 18"/>
          <p:cNvGraphicFramePr>
            <a:graphicFrameLocks noGrp="1"/>
          </p:cNvGraphicFramePr>
          <p:nvPr/>
        </p:nvGraphicFramePr>
        <p:xfrm>
          <a:off x="367200" y="2653200"/>
          <a:ext cx="8413200" cy="1116000"/>
        </p:xfrm>
        <a:graphic>
          <a:graphicData uri="http://schemas.openxmlformats.org/drawingml/2006/table">
            <a:tbl>
              <a:tblPr firstRow="1" bandRow="1">
                <a:tableStyleId>{5C22544A-7EE6-4342-B048-85BDC9FD1C3A}</a:tableStyleId>
              </a:tblPr>
              <a:tblGrid>
                <a:gridCol w="1402200"/>
                <a:gridCol w="1402200"/>
                <a:gridCol w="1402200"/>
                <a:gridCol w="1402200"/>
                <a:gridCol w="1402200"/>
                <a:gridCol w="1402200"/>
              </a:tblGrid>
              <a:tr h="186000">
                <a:tc>
                  <a:txBody>
                    <a:bodyPr/>
                    <a:lstStyle/>
                    <a:p>
                      <a:pPr algn="l"/>
                      <a:r>
                        <a:rPr sz="800" b="1" i="0">
                          <a:solidFill>
                            <a:srgbClr val="FFFFFF"/>
                          </a:solidFill>
                          <a:latin typeface="Calibri"/>
                        </a:rPr>
                        <a:t>WACC \ TGR</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1,5%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2,5%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3,0%</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3,5%</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7,7%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8,7%</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1" i="0">
                          <a:solidFill>
                            <a:srgbClr val="1B3A6B"/>
                          </a:solidFill>
                          <a:latin typeface="Calibri"/>
                        </a:rPr>
                        <a:t>9,7%</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a:t>
                      </a:r>
                    </a:p>
                  </a:txBody>
                  <a:tcPr>
                    <a:solidFill>
                      <a:srgbClr val="2E5FA3"/>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10,7%</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186000">
                <a:tc>
                  <a:txBody>
                    <a:bodyPr/>
                    <a:lstStyle/>
                    <a:p>
                      <a:pPr algn="l"/>
                      <a:r>
                        <a:rPr sz="800" b="0" i="0">
                          <a:solidFill>
                            <a:srgbClr val="0D0D0D"/>
                          </a:solidFill>
                          <a:latin typeface="Calibri"/>
                        </a:rPr>
                        <a:t>11,7%</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DDE8F5"/>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Comparable Peers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par multiples  ·  LTM  ·  Mkt Cap en Mds USD</a:t>
            </a:r>
          </a:p>
        </p:txBody>
      </p:sp>
      <p:graphicFrame>
        <p:nvGraphicFramePr>
          <p:cNvPr id="17" name="Table 16"/>
          <p:cNvGraphicFramePr>
            <a:graphicFrameLocks noGrp="1"/>
          </p:cNvGraphicFramePr>
          <p:nvPr/>
        </p:nvGraphicFramePr>
        <p:xfrm>
          <a:off x="367200" y="914400"/>
          <a:ext cx="8413200" cy="871200"/>
        </p:xfrm>
        <a:graphic>
          <a:graphicData uri="http://schemas.openxmlformats.org/drawingml/2006/table">
            <a:tbl>
              <a:tblPr firstRow="1" bandRow="1">
                <a:tableStyleId>{5C22544A-7EE6-4342-B048-85BDC9FD1C3A}</a:tableStyleId>
              </a:tblPr>
              <a:tblGrid>
                <a:gridCol w="1682640"/>
                <a:gridCol w="757188"/>
                <a:gridCol w="1093716"/>
                <a:gridCol w="1009584"/>
                <a:gridCol w="1009584"/>
                <a:gridCol w="757188"/>
                <a:gridCol w="1093716"/>
                <a:gridCol w="1009584"/>
              </a:tblGrid>
              <a:tr h="290400">
                <a:tc>
                  <a:txBody>
                    <a:bodyPr/>
                    <a:lstStyle/>
                    <a:p>
                      <a:pPr algn="l"/>
                      <a:r>
                        <a:rPr sz="800" b="1" i="0">
                          <a:solidFill>
                            <a:srgbClr val="FFFFFF"/>
                          </a:solidFill>
                          <a:latin typeface="Calibri"/>
                        </a:rPr>
                        <a:t>Société</a:t>
                      </a:r>
                    </a:p>
                  </a:txBody>
                  <a:tcPr>
                    <a:solidFill>
                      <a:srgbClr val="1B3A6B"/>
                    </a:solidFill>
                  </a:tcPr>
                </a:tc>
                <a:tc>
                  <a:txBody>
                    <a:bodyPr/>
                    <a:lstStyle/>
                    <a:p>
                      <a:pPr algn="ctr"/>
                      <a:r>
                        <a:rPr sz="800" b="1" i="0">
                          <a:solidFill>
                            <a:srgbClr val="FFFFFF"/>
                          </a:solidFill>
                          <a:latin typeface="Calibri"/>
                        </a:rPr>
                        <a:t>Ticker</a:t>
                      </a:r>
                    </a:p>
                  </a:txBody>
                  <a:tcPr>
                    <a:solidFill>
                      <a:srgbClr val="1B3A6B"/>
                    </a:solidFill>
                  </a:tcPr>
                </a:tc>
                <a:tc>
                  <a:txBody>
                    <a:bodyPr/>
                    <a:lstStyle/>
                    <a:p>
                      <a:pPr algn="ctr"/>
                      <a:r>
                        <a:rPr sz="800" b="1" i="0">
                          <a:solidFill>
                            <a:srgbClr val="FFFFFF"/>
                          </a:solidFill>
                          <a:latin typeface="Calibri"/>
                        </a:rPr>
                        <a:t>Mkt Cap</a:t>
                      </a:r>
                    </a:p>
                  </a:txBody>
                  <a:tcPr>
                    <a:solidFill>
                      <a:srgbClr val="1B3A6B"/>
                    </a:solidFill>
                  </a:tcPr>
                </a:tc>
                <a:tc>
                  <a:txBody>
                    <a:bodyPr/>
                    <a:lstStyle/>
                    <a:p>
                      <a:pPr algn="ctr"/>
                      <a:r>
                        <a:rPr sz="800" b="1" i="0">
                          <a:solidFill>
                            <a:srgbClr val="FFFFFF"/>
                          </a:solidFill>
                          <a:latin typeface="Calibri"/>
                        </a:rPr>
                        <a:t>EV/EBITDA</a:t>
                      </a:r>
                    </a:p>
                  </a:txBody>
                  <a:tcPr>
                    <a:solidFill>
                      <a:srgbClr val="1B3A6B"/>
                    </a:solidFill>
                  </a:tcPr>
                </a:tc>
                <a:tc>
                  <a:txBody>
                    <a:bodyPr/>
                    <a:lstStyle/>
                    <a:p>
                      <a:pPr algn="ctr"/>
                      <a:r>
                        <a:rPr sz="800" b="1" i="0">
                          <a:solidFill>
                            <a:srgbClr val="FFFFFF"/>
                          </a:solidFill>
                          <a:latin typeface="Calibri"/>
                        </a:rPr>
                        <a:t>EV/Rev.</a:t>
                      </a:r>
                    </a:p>
                  </a:txBody>
                  <a:tcPr>
                    <a:solidFill>
                      <a:srgbClr val="1B3A6B"/>
                    </a:solidFill>
                  </a:tcPr>
                </a:tc>
                <a:tc>
                  <a:txBody>
                    <a:bodyPr/>
                    <a:lstStyle/>
                    <a:p>
                      <a:pPr algn="ctr"/>
                      <a:r>
                        <a:rPr sz="800" b="1" i="0">
                          <a:solidFill>
                            <a:srgbClr val="FFFFFF"/>
                          </a:solidFill>
                          <a:latin typeface="Calibri"/>
                        </a:rPr>
                        <a:t>P/E</a:t>
                      </a:r>
                    </a:p>
                  </a:txBody>
                  <a:tcPr>
                    <a:solidFill>
                      <a:srgbClr val="1B3A6B"/>
                    </a:solidFill>
                  </a:tcPr>
                </a:tc>
                <a:tc>
                  <a:txBody>
                    <a:bodyPr/>
                    <a:lstStyle/>
                    <a:p>
                      <a:pPr algn="ctr"/>
                      <a:r>
                        <a:rPr sz="800" b="1" i="0">
                          <a:solidFill>
                            <a:srgbClr val="FFFFFF"/>
                          </a:solidFill>
                          <a:latin typeface="Calibri"/>
                        </a:rPr>
                        <a:t>Mg Brute</a:t>
                      </a:r>
                    </a:p>
                  </a:txBody>
                  <a:tcPr>
                    <a:solidFill>
                      <a:srgbClr val="1B3A6B"/>
                    </a:solidFill>
                  </a:tcPr>
                </a:tc>
                <a:tc>
                  <a:txBody>
                    <a:bodyPr/>
                    <a:lstStyle/>
                    <a:p>
                      <a:pPr algn="ctr"/>
                      <a:r>
                        <a:rPr sz="800" b="1" i="0">
                          <a:solidFill>
                            <a:srgbClr val="FFFFFF"/>
                          </a:solidFill>
                          <a:latin typeface="Calibri"/>
                        </a:rPr>
                        <a:t>Mg EBITDA</a:t>
                      </a:r>
                    </a:p>
                  </a:txBody>
                  <a:tcPr>
                    <a:solidFill>
                      <a:srgbClr val="1B3A6B"/>
                    </a:solidFill>
                  </a:tcPr>
                </a:tc>
              </a:tr>
              <a:tr h="290400">
                <a:tc>
                  <a:txBody>
                    <a:bodyPr/>
                    <a:lstStyle/>
                    <a:p>
                      <a:pPr algn="l"/>
                      <a:r>
                        <a:rPr sz="800" b="1" i="0">
                          <a:solidFill>
                            <a:srgbClr val="1B3A6B"/>
                          </a:solidFill>
                          <a:latin typeface="Calibri"/>
                        </a:rPr>
                        <a:t>Camden National Corporation</a:t>
                      </a:r>
                    </a:p>
                  </a:txBody>
                  <a:tcPr>
                    <a:solidFill>
                      <a:srgbClr val="DDE8F5"/>
                    </a:solidFill>
                  </a:tcPr>
                </a:tc>
                <a:tc>
                  <a:txBody>
                    <a:bodyPr/>
                    <a:lstStyle/>
                    <a:p>
                      <a:pPr algn="ctr"/>
                      <a:r>
                        <a:rPr sz="750" b="1" i="0">
                          <a:solidFill>
                            <a:srgbClr val="2E5FA3"/>
                          </a:solidFill>
                          <a:latin typeface="Calibri"/>
                        </a:rPr>
                        <a:t>CAC</a:t>
                      </a:r>
                    </a:p>
                  </a:txBody>
                  <a:tcPr>
                    <a:solidFill>
                      <a:srgbClr val="DDE8F5"/>
                    </a:solidFill>
                  </a:tcPr>
                </a:tc>
                <a:tc>
                  <a:txBody>
                    <a:bodyPr/>
                    <a:lstStyle/>
                    <a:p>
                      <a:pPr algn="ctr"/>
                      <a:r>
                        <a:rPr sz="800" b="1" i="0">
                          <a:solidFill>
                            <a:srgbClr val="1B3A6B"/>
                          </a:solidFill>
                          <a:latin typeface="Calibri"/>
                        </a:rPr>
                        <a:t>0,8</a:t>
                      </a:r>
                    </a:p>
                  </a:txBody>
                  <a:tcPr>
                    <a:solidFill>
                      <a:srgbClr val="DDE8F5"/>
                    </a:solidFill>
                  </a:tcPr>
                </a:tc>
                <a:tc>
                  <a:txBody>
                    <a:bodyPr/>
                    <a:lstStyle/>
                    <a:p>
                      <a:pPr algn="ctr"/>
                      <a:r>
                        <a:rPr sz="800" b="1" i="0">
                          <a:solidFill>
                            <a:srgbClr val="1B3A6B"/>
                          </a:solidFill>
                          <a:latin typeface="Calibri"/>
                        </a:rPr>
                        <a:t>—</a:t>
                      </a:r>
                    </a:p>
                  </a:txBody>
                  <a:tcPr>
                    <a:solidFill>
                      <a:srgbClr val="DDE8F5"/>
                    </a:solidFill>
                  </a:tcPr>
                </a:tc>
                <a:tc>
                  <a:txBody>
                    <a:bodyPr/>
                    <a:lstStyle/>
                    <a:p>
                      <a:pPr algn="ctr"/>
                      <a:r>
                        <a:rPr sz="800" b="1" i="0">
                          <a:solidFill>
                            <a:srgbClr val="1B3A6B"/>
                          </a:solidFill>
                          <a:latin typeface="Calibri"/>
                        </a:rPr>
                        <a:t>4,5x</a:t>
                      </a:r>
                    </a:p>
                  </a:txBody>
                  <a:tcPr>
                    <a:solidFill>
                      <a:srgbClr val="DDE8F5"/>
                    </a:solidFill>
                  </a:tcPr>
                </a:tc>
                <a:tc>
                  <a:txBody>
                    <a:bodyPr/>
                    <a:lstStyle/>
                    <a:p>
                      <a:pPr algn="ctr"/>
                      <a:r>
                        <a:rPr sz="800" b="1" i="0">
                          <a:solidFill>
                            <a:srgbClr val="1B3A6B"/>
                          </a:solidFill>
                          <a:latin typeface="Calibri"/>
                        </a:rPr>
                        <a:t>12,6x</a:t>
                      </a:r>
                    </a:p>
                  </a:txBody>
                  <a:tcPr>
                    <a:solidFill>
                      <a:srgbClr val="DDE8F5"/>
                    </a:solidFill>
                  </a:tcPr>
                </a:tc>
                <a:tc>
                  <a:txBody>
                    <a:bodyPr/>
                    <a:lstStyle/>
                    <a:p>
                      <a:pPr algn="ctr"/>
                      <a:r>
                        <a:rPr sz="800" b="1" i="0">
                          <a:solidFill>
                            <a:srgbClr val="1B3A6B"/>
                          </a:solidFill>
                          <a:latin typeface="Calibri"/>
                        </a:rPr>
                        <a:t>—</a:t>
                      </a:r>
                    </a:p>
                  </a:txBody>
                  <a:tcPr>
                    <a:solidFill>
                      <a:srgbClr val="DDE8F5"/>
                    </a:solidFill>
                  </a:tcPr>
                </a:tc>
                <a:tc>
                  <a:txBody>
                    <a:bodyPr/>
                    <a:lstStyle/>
                    <a:p>
                      <a:pPr algn="ctr"/>
                      <a:r>
                        <a:rPr sz="800" b="1" i="0">
                          <a:solidFill>
                            <a:srgbClr val="1B3A6B"/>
                          </a:solidFill>
                          <a:latin typeface="Calibri"/>
                        </a:rPr>
                        <a:t>—</a:t>
                      </a:r>
                    </a:p>
                  </a:txBody>
                  <a:tcPr>
                    <a:solidFill>
                      <a:srgbClr val="DDE8F5"/>
                    </a:solidFill>
                  </a:tcPr>
                </a:tc>
              </a:tr>
              <a:tr h="290400">
                <a:tc>
                  <a:txBody>
                    <a:bodyPr/>
                    <a:lstStyle/>
                    <a:p>
                      <a:pPr algn="l"/>
                      <a:r>
                        <a:rPr sz="800" b="1" i="0">
                          <a:solidFill>
                            <a:srgbClr val="0D0D0D"/>
                          </a:solidFill>
                          <a:latin typeface="Calibri"/>
                        </a:rPr>
                        <a:t>Médiane peers</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c>
                  <a:txBody>
                    <a:bodyPr/>
                    <a:lstStyle/>
                    <a:p>
                      <a:pPr algn="ctr"/>
                      <a:r>
                        <a:rPr sz="800" b="1" i="0">
                          <a:solidFill>
                            <a:srgbClr val="0D0D0D"/>
                          </a:solidFill>
                          <a:latin typeface="Calibri"/>
                        </a:rPr>
                        <a:t>—</a:t>
                      </a:r>
                    </a:p>
                  </a:txBody>
                  <a:tcPr>
                    <a:solidFill>
                      <a:srgbClr val="F7F8FA"/>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1B3A6B"/>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Football Field Chart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Synthèse des méthodes de valorisation  ·  USD par action</a:t>
            </a:r>
          </a:p>
        </p:txBody>
      </p:sp>
      <p:graphicFrame>
        <p:nvGraphicFramePr>
          <p:cNvPr id="17" name="Table 16"/>
          <p:cNvGraphicFramePr>
            <a:graphicFrameLocks noGrp="1"/>
          </p:cNvGraphicFramePr>
          <p:nvPr/>
        </p:nvGraphicFramePr>
        <p:xfrm>
          <a:off x="367200" y="914400"/>
          <a:ext cx="8413200" cy="615600"/>
        </p:xfrm>
        <a:graphic>
          <a:graphicData uri="http://schemas.openxmlformats.org/drawingml/2006/table">
            <a:tbl>
              <a:tblPr firstRow="1" bandRow="1">
                <a:tableStyleId>{5C22544A-7EE6-4342-B048-85BDC9FD1C3A}</a:tableStyleId>
              </a:tblPr>
              <a:tblGrid>
                <a:gridCol w="2944620"/>
                <a:gridCol w="1682640"/>
                <a:gridCol w="1682640"/>
                <a:gridCol w="2103300"/>
              </a:tblGrid>
              <a:tr h="307800">
                <a:tc>
                  <a:txBody>
                    <a:bodyPr/>
                    <a:lstStyle/>
                    <a:p>
                      <a:pPr algn="l"/>
                      <a:r>
                        <a:rPr sz="800" b="1" i="0">
                          <a:solidFill>
                            <a:srgbClr val="FFFFFF"/>
                          </a:solidFill>
                          <a:latin typeface="Calibri"/>
                        </a:rPr>
                        <a:t>Méthode</a:t>
                      </a:r>
                    </a:p>
                  </a:txBody>
                  <a:tcPr>
                    <a:solidFill>
                      <a:srgbClr val="1B3A6B"/>
                    </a:solidFill>
                  </a:tcPr>
                </a:tc>
                <a:tc>
                  <a:txBody>
                    <a:bodyPr/>
                    <a:lstStyle/>
                    <a:p>
                      <a:pPr algn="ctr"/>
                      <a:r>
                        <a:rPr sz="800" b="1" i="0">
                          <a:solidFill>
                            <a:srgbClr val="FFFFFF"/>
                          </a:solidFill>
                          <a:latin typeface="Calibri"/>
                        </a:rPr>
                        <a:t>Fourchette basse</a:t>
                      </a:r>
                    </a:p>
                  </a:txBody>
                  <a:tcPr>
                    <a:solidFill>
                      <a:srgbClr val="1B3A6B"/>
                    </a:solidFill>
                  </a:tcPr>
                </a:tc>
                <a:tc>
                  <a:txBody>
                    <a:bodyPr/>
                    <a:lstStyle/>
                    <a:p>
                      <a:pPr algn="ctr"/>
                      <a:r>
                        <a:rPr sz="800" b="1" i="0">
                          <a:solidFill>
                            <a:srgbClr val="FFFFFF"/>
                          </a:solidFill>
                          <a:latin typeface="Calibri"/>
                        </a:rPr>
                        <a:t>Fourchette haute</a:t>
                      </a:r>
                    </a:p>
                  </a:txBody>
                  <a:tcPr>
                    <a:solidFill>
                      <a:srgbClr val="1B3A6B"/>
                    </a:solidFill>
                  </a:tcPr>
                </a:tc>
                <a:tc>
                  <a:txBody>
                    <a:bodyPr/>
                    <a:lstStyle/>
                    <a:p>
                      <a:pPr algn="ctr"/>
                      <a:r>
                        <a:rPr sz="800" b="1" i="0">
                          <a:solidFill>
                            <a:srgbClr val="FFFFFF"/>
                          </a:solidFill>
                          <a:latin typeface="Calibri"/>
                        </a:rPr>
                        <a:t>Point central</a:t>
                      </a:r>
                    </a:p>
                  </a:txBody>
                  <a:tcPr>
                    <a:solidFill>
                      <a:srgbClr val="1B3A6B"/>
                    </a:solidFill>
                  </a:tcPr>
                </a:tc>
              </a:tr>
              <a:tr h="307800">
                <a:tc>
                  <a:txBody>
                    <a:bodyPr/>
                    <a:lstStyle/>
                    <a:p>
                      <a:pPr algn="l"/>
                      <a:r>
                        <a:rPr sz="800" b="0" i="0">
                          <a:solidFill>
                            <a:srgbClr val="0D0D0D"/>
                          </a:solidFill>
                          <a:latin typeface="Calibri"/>
                        </a:rPr>
                        <a:t>Cours actuel (48,53)</a:t>
                      </a:r>
                    </a:p>
                  </a:txBody>
                  <a:tcPr>
                    <a:solidFill>
                      <a:srgbClr val="EEF3FA"/>
                    </a:solidFill>
                  </a:tcPr>
                </a:tc>
                <a:tc>
                  <a:txBody>
                    <a:bodyPr/>
                    <a:lstStyle/>
                    <a:p>
                      <a:pPr algn="ctr"/>
                      <a:r>
                        <a:rPr sz="800" b="0" i="0">
                          <a:solidFill>
                            <a:srgbClr val="0D0D0D"/>
                          </a:solidFill>
                          <a:latin typeface="Calibri"/>
                        </a:rPr>
                        <a:t>—</a:t>
                      </a:r>
                    </a:p>
                  </a:txBody>
                  <a:tcPr>
                    <a:solidFill>
                      <a:srgbClr val="EEF3FA"/>
                    </a:solidFill>
                  </a:tcPr>
                </a:tc>
                <a:tc>
                  <a:txBody>
                    <a:bodyPr/>
                    <a:lstStyle/>
                    <a:p>
                      <a:pPr algn="ctr"/>
                      <a:r>
                        <a:rPr sz="800" b="0" i="0">
                          <a:solidFill>
                            <a:srgbClr val="0D0D0D"/>
                          </a:solidFill>
                          <a:latin typeface="Calibri"/>
                        </a:rPr>
                        <a:t>—</a:t>
                      </a:r>
                    </a:p>
                  </a:txBody>
                  <a:tcPr>
                    <a:solidFill>
                      <a:srgbClr val="EEF3FA"/>
                    </a:solidFill>
                  </a:tcPr>
                </a:tc>
                <a:tc>
                  <a:txBody>
                    <a:bodyPr/>
                    <a:lstStyle/>
                    <a:p>
                      <a:pPr algn="ctr"/>
                      <a:r>
                        <a:rPr sz="800" b="0" i="0">
                          <a:solidFill>
                            <a:srgbClr val="0D0D0D"/>
                          </a:solidFill>
                          <a:latin typeface="Calibri"/>
                        </a:rPr>
                        <a:t>48,53</a:t>
                      </a:r>
                    </a:p>
                  </a:txBody>
                  <a:tcPr>
                    <a:solidFill>
                      <a:srgbClr val="EEF3FA"/>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04</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Risques &amp; Stratégie</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Avocat du diable &amp; conditions d'invalidation</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1B3A6B"/>
                </a:solidFill>
                <a:latin typeface="Calibri"/>
              </a:rPr>
              <a:t>4</a:t>
            </a:r>
          </a:p>
        </p:txBody>
      </p:sp>
      <p:sp>
        <p:nvSpPr>
          <p:cNvPr id="13" name="Rectangle 12"/>
          <p:cNvSpPr/>
          <p:nvPr/>
        </p:nvSpPr>
        <p:spPr>
          <a:xfrm>
            <a:off x="70416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FFFFFF"/>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Risques &amp; Conditions d'Invalidation</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des risques structurels  ·  Thèse contraire</a:t>
            </a:r>
          </a:p>
        </p:txBody>
      </p:sp>
      <p:sp>
        <p:nvSpPr>
          <p:cNvPr id="17" name="Rectangle 16"/>
          <p:cNvSpPr/>
          <p:nvPr/>
        </p:nvSpPr>
        <p:spPr>
          <a:xfrm>
            <a:off x="367200" y="961200"/>
            <a:ext cx="2743200" cy="1918800"/>
          </a:xfrm>
          <a:prstGeom prst="rect">
            <a:avLst/>
          </a:prstGeom>
          <a:solidFill>
            <a:srgbClr val="FAF0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2743200" cy="54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200" y="1069200"/>
            <a:ext cx="2527200" cy="255600"/>
          </a:xfrm>
          <a:prstGeom prst="rect">
            <a:avLst/>
          </a:prstGeom>
          <a:noFill/>
        </p:spPr>
        <p:txBody>
          <a:bodyPr wrap="square">
            <a:spAutoFit/>
          </a:bodyPr>
          <a:lstStyle/>
          <a:p>
            <a:pPr algn="l"/>
            <a:r>
              <a:rPr sz="900" b="1" i="0">
                <a:solidFill>
                  <a:srgbClr val="A82020"/>
                </a:solidFill>
                <a:latin typeface="Calibri"/>
              </a:rPr>
              <a:t>Risque 1</a:t>
            </a:r>
          </a:p>
        </p:txBody>
      </p:sp>
      <p:sp>
        <p:nvSpPr>
          <p:cNvPr id="20" name="TextBox 19"/>
          <p:cNvSpPr txBox="1"/>
          <p:nvPr/>
        </p:nvSpPr>
        <p:spPr>
          <a:xfrm>
            <a:off x="475200" y="1436400"/>
            <a:ext cx="2527200" cy="1260000"/>
          </a:xfrm>
          <a:prstGeom prst="rect">
            <a:avLst/>
          </a:prstGeom>
          <a:noFill/>
        </p:spPr>
        <p:txBody>
          <a:bodyPr wrap="square">
            <a:spAutoFit/>
          </a:bodyPr>
          <a:lstStyle/>
          <a:p>
            <a:pPr algn="l"/>
            <a:r>
              <a:rPr sz="800" b="0" i="0">
                <a:solidFill>
                  <a:srgbClr val="555555"/>
                </a:solidFill>
                <a:latin typeface="Calibri"/>
              </a:rPr>
              <a:t>Risque macro-économique : remontée des taux ou ralentissement de la demande mondiale.</a:t>
            </a:r>
          </a:p>
        </p:txBody>
      </p:sp>
      <p:sp>
        <p:nvSpPr>
          <p:cNvPr id="21" name="Rectangle 20"/>
          <p:cNvSpPr/>
          <p:nvPr/>
        </p:nvSpPr>
        <p:spPr>
          <a:xfrm>
            <a:off x="3229200" y="961200"/>
            <a:ext cx="2743200" cy="191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229200" y="961200"/>
            <a:ext cx="2743200" cy="54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37200" y="1069200"/>
            <a:ext cx="2527200" cy="255600"/>
          </a:xfrm>
          <a:prstGeom prst="rect">
            <a:avLst/>
          </a:prstGeom>
          <a:noFill/>
        </p:spPr>
        <p:txBody>
          <a:bodyPr wrap="square">
            <a:spAutoFit/>
          </a:bodyPr>
          <a:lstStyle/>
          <a:p>
            <a:pPr algn="l"/>
            <a:r>
              <a:rPr sz="900" b="1" i="0">
                <a:solidFill>
                  <a:srgbClr val="2E5FA3"/>
                </a:solidFill>
                <a:latin typeface="Calibri"/>
              </a:rPr>
              <a:t>Risque 2</a:t>
            </a:r>
          </a:p>
        </p:txBody>
      </p:sp>
      <p:sp>
        <p:nvSpPr>
          <p:cNvPr id="24" name="TextBox 23"/>
          <p:cNvSpPr txBox="1"/>
          <p:nvPr/>
        </p:nvSpPr>
        <p:spPr>
          <a:xfrm>
            <a:off x="3337200" y="1436400"/>
            <a:ext cx="2527200" cy="1260000"/>
          </a:xfrm>
          <a:prstGeom prst="rect">
            <a:avLst/>
          </a:prstGeom>
          <a:noFill/>
        </p:spPr>
        <p:txBody>
          <a:bodyPr wrap="square">
            <a:spAutoFit/>
          </a:bodyPr>
          <a:lstStyle/>
          <a:p>
            <a:pPr algn="l"/>
            <a:r>
              <a:rPr sz="800" b="0" i="0">
                <a:solidFill>
                  <a:srgbClr val="555555"/>
                </a:solidFill>
                <a:latin typeface="Calibri"/>
              </a:rPr>
              <a:t>Risque sectoriel : intensification de la concurrence ou disruption technologique.</a:t>
            </a:r>
          </a:p>
        </p:txBody>
      </p:sp>
      <p:sp>
        <p:nvSpPr>
          <p:cNvPr id="25" name="Rectangle 24"/>
          <p:cNvSpPr/>
          <p:nvPr/>
        </p:nvSpPr>
        <p:spPr>
          <a:xfrm>
            <a:off x="6091200" y="961200"/>
            <a:ext cx="2743200" cy="1918800"/>
          </a:xfrm>
          <a:prstGeom prst="rect">
            <a:avLst/>
          </a:prstGeom>
          <a:solidFill>
            <a:srgbClr val="FDF6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1200" y="961200"/>
            <a:ext cx="2743200" cy="54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99200" y="1069200"/>
            <a:ext cx="2527200" cy="255600"/>
          </a:xfrm>
          <a:prstGeom prst="rect">
            <a:avLst/>
          </a:prstGeom>
          <a:noFill/>
        </p:spPr>
        <p:txBody>
          <a:bodyPr wrap="square">
            <a:spAutoFit/>
          </a:bodyPr>
          <a:lstStyle/>
          <a:p>
            <a:pPr algn="l"/>
            <a:r>
              <a:rPr sz="900" b="1" i="0">
                <a:solidFill>
                  <a:srgbClr val="B06000"/>
                </a:solidFill>
                <a:latin typeface="Calibri"/>
              </a:rPr>
              <a:t>Risque 3</a:t>
            </a:r>
          </a:p>
        </p:txBody>
      </p:sp>
      <p:sp>
        <p:nvSpPr>
          <p:cNvPr id="28" name="TextBox 27"/>
          <p:cNvSpPr txBox="1"/>
          <p:nvPr/>
        </p:nvSpPr>
        <p:spPr>
          <a:xfrm>
            <a:off x="6199200" y="1436400"/>
            <a:ext cx="2527200" cy="1260000"/>
          </a:xfrm>
          <a:prstGeom prst="rect">
            <a:avLst/>
          </a:prstGeom>
          <a:noFill/>
        </p:spPr>
        <p:txBody>
          <a:bodyPr wrap="square">
            <a:spAutoFit/>
          </a:bodyPr>
          <a:lstStyle/>
          <a:p>
            <a:pPr algn="l"/>
            <a:r>
              <a:rPr sz="800" b="0" i="0">
                <a:solidFill>
                  <a:srgbClr val="555555"/>
                </a:solidFill>
                <a:latin typeface="Calibri"/>
              </a:rPr>
              <a:t>Risque spécifique : détérioration des marges ou exécution stratégique.</a:t>
            </a:r>
          </a:p>
        </p:txBody>
      </p:sp>
      <p:sp>
        <p:nvSpPr>
          <p:cNvPr id="29" name="Rectangle 28"/>
          <p:cNvSpPr/>
          <p:nvPr/>
        </p:nvSpPr>
        <p:spPr>
          <a:xfrm>
            <a:off x="367200" y="2998800"/>
            <a:ext cx="8413200" cy="10800"/>
          </a:xfrm>
          <a:prstGeom prst="rect">
            <a:avLst/>
          </a:prstGeom>
          <a:solidFill>
            <a:srgbClr val="AAAA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7200" y="3070800"/>
            <a:ext cx="8413200" cy="165600"/>
          </a:xfrm>
          <a:prstGeom prst="rect">
            <a:avLst/>
          </a:prstGeom>
          <a:noFill/>
        </p:spPr>
        <p:txBody>
          <a:bodyPr wrap="square">
            <a:spAutoFit/>
          </a:bodyPr>
          <a:lstStyle/>
          <a:p>
            <a:pPr algn="l"/>
            <a:r>
              <a:rPr sz="900" b="1" i="0">
                <a:solidFill>
                  <a:srgbClr val="1B3A6B"/>
                </a:solidFill>
                <a:latin typeface="Calibri"/>
              </a:rPr>
              <a:t>Conditions d'invalidation de la thèse</a:t>
            </a:r>
          </a:p>
        </p:txBody>
      </p:sp>
      <p:graphicFrame>
        <p:nvGraphicFramePr>
          <p:cNvPr id="31" name="Table 30"/>
          <p:cNvGraphicFramePr>
            <a:graphicFrameLocks noGrp="1"/>
          </p:cNvGraphicFramePr>
          <p:nvPr/>
        </p:nvGraphicFramePr>
        <p:xfrm>
          <a:off x="367200" y="3308400"/>
          <a:ext cx="8413200" cy="1098000"/>
        </p:xfrm>
        <a:graphic>
          <a:graphicData uri="http://schemas.openxmlformats.org/drawingml/2006/table">
            <a:tbl>
              <a:tblPr firstRow="1" bandRow="1">
                <a:tableStyleId>{5C22544A-7EE6-4342-B048-85BDC9FD1C3A}</a:tableStyleId>
              </a:tblPr>
              <a:tblGrid>
                <a:gridCol w="1261980"/>
                <a:gridCol w="5468580"/>
                <a:gridCol w="1682640"/>
              </a:tblGrid>
              <a:tr h="274500">
                <a:tc>
                  <a:txBody>
                    <a:bodyPr/>
                    <a:lstStyle/>
                    <a:p>
                      <a:pPr algn="l"/>
                      <a:r>
                        <a:rPr sz="800" b="1" i="0">
                          <a:solidFill>
                            <a:srgbClr val="FFFFFF"/>
                          </a:solidFill>
                          <a:latin typeface="Calibri"/>
                        </a:rPr>
                        <a:t>Axe</a:t>
                      </a:r>
                    </a:p>
                  </a:txBody>
                  <a:tcPr>
                    <a:solidFill>
                      <a:srgbClr val="1B3A6B"/>
                    </a:solidFill>
                  </a:tcPr>
                </a:tc>
                <a:tc>
                  <a:txBody>
                    <a:bodyPr/>
                    <a:lstStyle/>
                    <a:p>
                      <a:pPr algn="ctr"/>
                      <a:r>
                        <a:rPr sz="800" b="1" i="0">
                          <a:solidFill>
                            <a:srgbClr val="FFFFFF"/>
                          </a:solidFill>
                          <a:latin typeface="Calibri"/>
                        </a:rPr>
                        <a:t>Condition d'invalidation</a:t>
                      </a:r>
                    </a:p>
                  </a:txBody>
                  <a:tcPr>
                    <a:solidFill>
                      <a:srgbClr val="1B3A6B"/>
                    </a:solidFill>
                  </a:tcPr>
                </a:tc>
                <a:tc>
                  <a:txBody>
                    <a:bodyPr/>
                    <a:lstStyle/>
                    <a:p>
                      <a:pPr algn="ctr"/>
                      <a:r>
                        <a:rPr sz="800" b="1" i="0">
                          <a:solidFill>
                            <a:srgbClr val="FFFFFF"/>
                          </a:solidFill>
                          <a:latin typeface="Calibri"/>
                        </a:rPr>
                        <a:t>Horizon</a:t>
                      </a:r>
                    </a:p>
                  </a:txBody>
                  <a:tcPr>
                    <a:solidFill>
                      <a:srgbClr val="1B3A6B"/>
                    </a:solidFill>
                  </a:tcPr>
                </a:tc>
              </a:tr>
              <a:tr h="274500">
                <a:tc>
                  <a:txBody>
                    <a:bodyPr/>
                    <a:lstStyle/>
                    <a:p>
                      <a:pPr algn="l"/>
                      <a:r>
                        <a:rPr sz="800" b="1" i="0">
                          <a:solidFill>
                            <a:srgbClr val="1B3A6B"/>
                          </a:solidFill>
                          <a:latin typeface="Calibri"/>
                        </a:rPr>
                        <a:t>Macro</a:t>
                      </a:r>
                    </a:p>
                  </a:txBody>
                  <a:tcPr>
                    <a:solidFill>
                      <a:srgbClr val="FFFFFF"/>
                    </a:solidFill>
                  </a:tcPr>
                </a:tc>
                <a:tc>
                  <a:txBody>
                    <a:bodyPr/>
                    <a:lstStyle/>
                    <a:p>
                      <a:pPr algn="ctr"/>
                      <a:r>
                        <a:rPr sz="800" b="0" i="0">
                          <a:solidFill>
                            <a:srgbClr val="0D0D0D"/>
                          </a:solidFill>
                          <a:latin typeface="Calibri"/>
                        </a:rPr>
                        <a:t>Remontée des taux directeurs &gt; 200bps</a:t>
                      </a:r>
                    </a:p>
                  </a:txBody>
                  <a:tcPr>
                    <a:solidFill>
                      <a:srgbClr val="FFFFFF"/>
                    </a:solidFill>
                  </a:tcPr>
                </a:tc>
                <a:tc>
                  <a:txBody>
                    <a:bodyPr/>
                    <a:lstStyle/>
                    <a:p>
                      <a:pPr algn="ctr"/>
                      <a:r>
                        <a:rPr sz="800" b="0" i="0">
                          <a:solidFill>
                            <a:srgbClr val="0D0D0D"/>
                          </a:solidFill>
                          <a:latin typeface="Calibri"/>
                        </a:rPr>
                        <a:t>6-12 mois</a:t>
                      </a:r>
                    </a:p>
                  </a:txBody>
                  <a:tcPr>
                    <a:solidFill>
                      <a:srgbClr val="FFFFFF"/>
                    </a:solidFill>
                  </a:tcPr>
                </a:tc>
              </a:tr>
              <a:tr h="274500">
                <a:tc>
                  <a:txBody>
                    <a:bodyPr/>
                    <a:lstStyle/>
                    <a:p>
                      <a:pPr algn="l"/>
                      <a:r>
                        <a:rPr sz="800" b="1" i="0">
                          <a:solidFill>
                            <a:srgbClr val="1B3A6B"/>
                          </a:solidFill>
                          <a:latin typeface="Calibri"/>
                        </a:rPr>
                        <a:t>Sectoriel</a:t>
                      </a:r>
                    </a:p>
                  </a:txBody>
                  <a:tcPr>
                    <a:solidFill>
                      <a:srgbClr val="F7F8FA"/>
                    </a:solidFill>
                  </a:tcPr>
                </a:tc>
                <a:tc>
                  <a:txBody>
                    <a:bodyPr/>
                    <a:lstStyle/>
                    <a:p>
                      <a:pPr algn="ctr"/>
                      <a:r>
                        <a:rPr sz="800" b="0" i="0">
                          <a:solidFill>
                            <a:srgbClr val="0D0D0D"/>
                          </a:solidFill>
                          <a:latin typeface="Calibri"/>
                        </a:rPr>
                        <a:t>Rupture technologique remettant en cause le modèle</a:t>
                      </a:r>
                    </a:p>
                  </a:txBody>
                  <a:tcPr>
                    <a:solidFill>
                      <a:srgbClr val="F7F8FA"/>
                    </a:solidFill>
                  </a:tcPr>
                </a:tc>
                <a:tc>
                  <a:txBody>
                    <a:bodyPr/>
                    <a:lstStyle/>
                    <a:p>
                      <a:pPr algn="ctr"/>
                      <a:r>
                        <a:rPr sz="800" b="0" i="0">
                          <a:solidFill>
                            <a:srgbClr val="0D0D0D"/>
                          </a:solidFill>
                          <a:latin typeface="Calibri"/>
                        </a:rPr>
                        <a:t>12-18 mois</a:t>
                      </a:r>
                    </a:p>
                  </a:txBody>
                  <a:tcPr>
                    <a:solidFill>
                      <a:srgbClr val="F7F8FA"/>
                    </a:solidFill>
                  </a:tcPr>
                </a:tc>
              </a:tr>
              <a:tr h="274500">
                <a:tc>
                  <a:txBody>
                    <a:bodyPr/>
                    <a:lstStyle/>
                    <a:p>
                      <a:pPr algn="l"/>
                      <a:r>
                        <a:rPr sz="800" b="1" i="0">
                          <a:solidFill>
                            <a:srgbClr val="1B3A6B"/>
                          </a:solidFill>
                          <a:latin typeface="Calibri"/>
                        </a:rPr>
                        <a:t>Société</a:t>
                      </a:r>
                    </a:p>
                  </a:txBody>
                  <a:tcPr>
                    <a:solidFill>
                      <a:srgbClr val="FFFFFF"/>
                    </a:solidFill>
                  </a:tcPr>
                </a:tc>
                <a:tc>
                  <a:txBody>
                    <a:bodyPr/>
                    <a:lstStyle/>
                    <a:p>
                      <a:pPr algn="ctr"/>
                      <a:r>
                        <a:rPr sz="800" b="0" i="0">
                          <a:solidFill>
                            <a:srgbClr val="0D0D0D"/>
                          </a:solidFill>
                          <a:latin typeface="Calibri"/>
                        </a:rPr>
                        <a:t>Détérioration matérielle des marges opérationnelles</a:t>
                      </a:r>
                    </a:p>
                  </a:txBody>
                  <a:tcPr>
                    <a:solidFill>
                      <a:srgbClr val="FFFFFF"/>
                    </a:solidFill>
                  </a:tcPr>
                </a:tc>
                <a:tc>
                  <a:txBody>
                    <a:bodyPr/>
                    <a:lstStyle/>
                    <a:p>
                      <a:pPr algn="ctr"/>
                      <a:r>
                        <a:rPr sz="800" b="0" i="0">
                          <a:solidFill>
                            <a:srgbClr val="0D0D0D"/>
                          </a:solidFill>
                          <a:latin typeface="Calibri"/>
                        </a:rPr>
                        <a:t>2-3 trim.</a:t>
                      </a:r>
                    </a:p>
                  </a:txBody>
                  <a:tcPr>
                    <a:solidFill>
                      <a:srgbClr val="FFFFFF"/>
                    </a:solidFill>
                  </a:tcPr>
                </a:tc>
              </a:tr>
            </a:tbl>
          </a:graphicData>
        </a:graphic>
      </p:graphicFrame>
      <p:sp>
        <p:nvSpPr>
          <p:cNvPr id="32" name="Rectangle 31"/>
          <p:cNvSpPr/>
          <p:nvPr/>
        </p:nvSpPr>
        <p:spPr>
          <a:xfrm>
            <a:off x="3672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72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6400" y="4438800"/>
            <a:ext cx="2696400" cy="158400"/>
          </a:xfrm>
          <a:prstGeom prst="rect">
            <a:avLst/>
          </a:prstGeom>
          <a:noFill/>
        </p:spPr>
        <p:txBody>
          <a:bodyPr wrap="square">
            <a:spAutoFit/>
          </a:bodyPr>
          <a:lstStyle/>
          <a:p>
            <a:pPr algn="l"/>
            <a:r>
              <a:rPr sz="700" b="0" i="0">
                <a:solidFill>
                  <a:srgbClr val="1B3A6B"/>
                </a:solidFill>
                <a:latin typeface="Calibri"/>
              </a:rPr>
              <a:t>Detresse : 36/100  Moderé</a:t>
            </a:r>
          </a:p>
        </p:txBody>
      </p:sp>
      <p:sp>
        <p:nvSpPr>
          <p:cNvPr id="35" name="Rectangle 34"/>
          <p:cNvSpPr/>
          <p:nvPr/>
        </p:nvSpPr>
        <p:spPr>
          <a:xfrm>
            <a:off x="324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43600" y="44280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22800" y="4438800"/>
            <a:ext cx="2696400" cy="158400"/>
          </a:xfrm>
          <a:prstGeom prst="rect">
            <a:avLst/>
          </a:prstGeom>
          <a:noFill/>
        </p:spPr>
        <p:txBody>
          <a:bodyPr wrap="square">
            <a:spAutoFit/>
          </a:bodyPr>
          <a:lstStyle/>
          <a:p>
            <a:pPr algn="l"/>
            <a:r>
              <a:rPr sz="700" b="0" i="0">
                <a:solidFill>
                  <a:srgbClr val="1B3A6B"/>
                </a:solidFill>
                <a:latin typeface="Calibri"/>
              </a:rPr>
              <a:t>M&amp;A : 100/100  Tres attractive</a:t>
            </a:r>
          </a:p>
        </p:txBody>
      </p:sp>
      <p:sp>
        <p:nvSpPr>
          <p:cNvPr id="38" name="Rectangle 37"/>
          <p:cNvSpPr/>
          <p:nvPr/>
        </p:nvSpPr>
        <p:spPr>
          <a:xfrm>
            <a:off x="6123600" y="4428000"/>
            <a:ext cx="2804400" cy="1800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23600" y="4428000"/>
            <a:ext cx="43200" cy="180000"/>
          </a:xfrm>
          <a:prstGeom prst="rect">
            <a:avLst/>
          </a:prstGeom>
          <a:solidFill>
            <a:srgbClr val="B0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02800" y="4438800"/>
            <a:ext cx="2696400" cy="158400"/>
          </a:xfrm>
          <a:prstGeom prst="rect">
            <a:avLst/>
          </a:prstGeom>
          <a:noFill/>
        </p:spPr>
        <p:txBody>
          <a:bodyPr wrap="square">
            <a:spAutoFit/>
          </a:bodyPr>
          <a:lstStyle/>
          <a:p>
            <a:pPr algn="l"/>
            <a:r>
              <a:rPr sz="700" b="0" i="0">
                <a:solidFill>
                  <a:srgbClr val="1B3A6B"/>
                </a:solidFill>
                <a:latin typeface="Calibri"/>
              </a:rPr>
              <a:t>Regime : Volatile  Rec.6M:26%</a:t>
            </a:r>
          </a:p>
        </p:txBody>
      </p:sp>
      <p:sp>
        <p:nvSpPr>
          <p:cNvPr id="41" name="Rectangle 40"/>
          <p:cNvSpPr/>
          <p:nvPr/>
        </p:nvSpPr>
        <p:spPr>
          <a:xfrm>
            <a:off x="3672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67200" y="4618800"/>
            <a:ext cx="43200" cy="180000"/>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6400" y="4629600"/>
            <a:ext cx="2696400" cy="158400"/>
          </a:xfrm>
          <a:prstGeom prst="rect">
            <a:avLst/>
          </a:prstGeom>
          <a:noFill/>
        </p:spPr>
        <p:txBody>
          <a:bodyPr wrap="square">
            <a:spAutoFit/>
          </a:bodyPr>
          <a:lstStyle/>
          <a:p>
            <a:pPr algn="l"/>
            <a:r>
              <a:rPr sz="700" b="0" i="0">
                <a:solidFill>
                  <a:srgbClr val="1B3A6B"/>
                </a:solidFill>
                <a:latin typeface="Calibri"/>
              </a:rPr>
              <a:t>Earnings Qualite : Excellente (1.08x)</a:t>
            </a:r>
          </a:p>
        </p:txBody>
      </p:sp>
      <p:sp>
        <p:nvSpPr>
          <p:cNvPr id="44" name="Rectangle 43"/>
          <p:cNvSpPr/>
          <p:nvPr/>
        </p:nvSpPr>
        <p:spPr>
          <a:xfrm>
            <a:off x="3243600" y="4618800"/>
            <a:ext cx="2804400" cy="180000"/>
          </a:xfrm>
          <a:prstGeom prst="rect">
            <a:avLst/>
          </a:prstGeom>
          <a:solidFill>
            <a:srgbClr val="EBF0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3243600" y="4618800"/>
            <a:ext cx="43200" cy="180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22800" y="4629600"/>
            <a:ext cx="2696400" cy="158400"/>
          </a:xfrm>
          <a:prstGeom prst="rect">
            <a:avLst/>
          </a:prstGeom>
          <a:noFill/>
        </p:spPr>
        <p:txBody>
          <a:bodyPr wrap="square">
            <a:spAutoFit/>
          </a:bodyPr>
          <a:lstStyle/>
          <a:p>
            <a:pPr algn="l"/>
            <a:r>
              <a:rPr sz="700" b="0" i="0">
                <a:solidFill>
                  <a:srgbClr val="1B3A6B"/>
                </a:solidFill>
                <a:latin typeface="Calibri"/>
              </a:rPr>
              <a:t>Struct. Capital : Critique (84% 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B3A6B"/>
        </a:solidFill>
        <a:effectLst/>
      </p:bgPr>
    </p:bg>
    <p:spTree>
      <p:nvGrpSpPr>
        <p:cNvPr id="1" name=""/>
        <p:cNvGrpSpPr/>
        <p:nvPr/>
      </p:nvGrpSpPr>
      <p:grpSpPr/>
      <p:sp>
        <p:nvSpPr>
          <p:cNvPr id="2" name="Rectangle 1"/>
          <p:cNvSpPr/>
          <p:nvPr/>
        </p:nvSpPr>
        <p:spPr>
          <a:xfrm>
            <a:off x="0" y="0"/>
            <a:ext cx="108000" cy="514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1599"/>
            <a:ext cx="8229600" cy="1645200"/>
          </a:xfrm>
          <a:prstGeom prst="rect">
            <a:avLst/>
          </a:prstGeom>
          <a:noFill/>
        </p:spPr>
        <p:txBody>
          <a:bodyPr wrap="none">
            <a:spAutoFit/>
          </a:bodyPr>
          <a:lstStyle/>
          <a:p>
            <a:r>
              <a:rPr sz="8000" b="1">
                <a:solidFill>
                  <a:srgbClr val="FFFFFF">
                    <a:alpha val="15000"/>
                  </a:srgbClr>
                </a:solidFill>
                <a:latin typeface="Calibri"/>
              </a:rPr>
              <a:t>05</a:t>
            </a:r>
          </a:p>
        </p:txBody>
      </p:sp>
      <p:sp>
        <p:nvSpPr>
          <p:cNvPr id="4" name="TextBox 3"/>
          <p:cNvSpPr txBox="1"/>
          <p:nvPr/>
        </p:nvSpPr>
        <p:spPr>
          <a:xfrm>
            <a:off x="457200" y="1875600"/>
            <a:ext cx="7772400" cy="824400"/>
          </a:xfrm>
          <a:prstGeom prst="rect">
            <a:avLst/>
          </a:prstGeom>
          <a:noFill/>
        </p:spPr>
        <p:txBody>
          <a:bodyPr wrap="square">
            <a:spAutoFit/>
          </a:bodyPr>
          <a:lstStyle/>
          <a:p>
            <a:pPr algn="l"/>
            <a:r>
              <a:rPr sz="2800" b="1" i="0">
                <a:solidFill>
                  <a:srgbClr val="FFFFFF"/>
                </a:solidFill>
                <a:latin typeface="Calibri"/>
              </a:rPr>
              <a:t>Sentiment &amp; Annexes</a:t>
            </a:r>
          </a:p>
        </p:txBody>
      </p:sp>
      <p:sp>
        <p:nvSpPr>
          <p:cNvPr id="5" name="Rectangle 4"/>
          <p:cNvSpPr/>
          <p:nvPr/>
        </p:nvSpPr>
        <p:spPr>
          <a:xfrm>
            <a:off x="457200" y="2790000"/>
            <a:ext cx="2743200" cy="3600"/>
          </a:xfrm>
          <a:prstGeom prst="rect">
            <a:avLst/>
          </a:prstGeom>
          <a:solidFill>
            <a:srgbClr val="888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908800"/>
            <a:ext cx="6400800" cy="320400"/>
          </a:xfrm>
          <a:prstGeom prst="rect">
            <a:avLst/>
          </a:prstGeom>
          <a:noFill/>
        </p:spPr>
        <p:txBody>
          <a:bodyPr wrap="square">
            <a:spAutoFit/>
          </a:bodyPr>
          <a:lstStyle/>
          <a:p>
            <a:pPr algn="l"/>
            <a:r>
              <a:rPr sz="1000" b="0" i="0">
                <a:solidFill>
                  <a:srgbClr val="AABBDD"/>
                </a:solidFill>
                <a:latin typeface="Calibri"/>
              </a:rPr>
              <a:t>FinBERT, actionnariat &amp; historique de cours</a:t>
            </a:r>
          </a:p>
        </p:txBody>
      </p:sp>
      <p:sp>
        <p:nvSpPr>
          <p:cNvPr id="7" name="TextBox 6"/>
          <p:cNvSpPr txBox="1"/>
          <p:nvPr/>
        </p:nvSpPr>
        <p:spPr>
          <a:xfrm>
            <a:off x="367200" y="4802400"/>
            <a:ext cx="8413200" cy="201600"/>
          </a:xfrm>
          <a:prstGeom prst="rect">
            <a:avLst/>
          </a:prstGeom>
          <a:noFill/>
        </p:spPr>
        <p:txBody>
          <a:bodyPr wrap="square">
            <a:spAutoFit/>
          </a:bodyPr>
          <a:lstStyle/>
          <a:p>
            <a:pPr algn="l"/>
            <a:r>
              <a:rPr sz="700" b="0" i="0">
                <a:solidFill>
                  <a:srgbClr val="6677AA"/>
                </a:solidFill>
                <a:latin typeface="Calibri"/>
              </a:rPr>
              <a:t>FinSight IA  ·  Usage confidentiel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Sentiment de Marché — FinBERT</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Analyse sémantique  ·  20 articles  ·  7 derniers jours</a:t>
            </a:r>
          </a:p>
        </p:txBody>
      </p:sp>
      <p:sp>
        <p:nvSpPr>
          <p:cNvPr id="17" name="Rectangle 16"/>
          <p:cNvSpPr/>
          <p:nvPr/>
        </p:nvSpPr>
        <p:spPr>
          <a:xfrm>
            <a:off x="367200" y="961200"/>
            <a:ext cx="25596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2422800" cy="396000"/>
          </a:xfrm>
          <a:prstGeom prst="rect">
            <a:avLst/>
          </a:prstGeom>
          <a:noFill/>
        </p:spPr>
        <p:txBody>
          <a:bodyPr wrap="square">
            <a:spAutoFit/>
          </a:bodyPr>
          <a:lstStyle/>
          <a:p>
            <a:pPr algn="l"/>
            <a:r>
              <a:rPr sz="1900" b="1" i="0">
                <a:solidFill>
                  <a:srgbClr val="1B3A6B"/>
                </a:solidFill>
                <a:latin typeface="Calibri"/>
              </a:rPr>
              <a:t>Positif</a:t>
            </a:r>
          </a:p>
        </p:txBody>
      </p:sp>
      <p:sp>
        <p:nvSpPr>
          <p:cNvPr id="20" name="TextBox 19"/>
          <p:cNvSpPr txBox="1"/>
          <p:nvPr/>
        </p:nvSpPr>
        <p:spPr>
          <a:xfrm>
            <a:off x="457200" y="1411200"/>
            <a:ext cx="2422800" cy="205199"/>
          </a:xfrm>
          <a:prstGeom prst="rect">
            <a:avLst/>
          </a:prstGeom>
          <a:noFill/>
        </p:spPr>
        <p:txBody>
          <a:bodyPr wrap="square">
            <a:spAutoFit/>
          </a:bodyPr>
          <a:lstStyle/>
          <a:p>
            <a:pPr algn="l"/>
            <a:r>
              <a:rPr sz="800" b="0" i="0">
                <a:solidFill>
                  <a:srgbClr val="555555"/>
                </a:solidFill>
                <a:latin typeface="Calibri"/>
              </a:rPr>
              <a:t>Orientation globale</a:t>
            </a:r>
          </a:p>
        </p:txBody>
      </p:sp>
      <p:sp>
        <p:nvSpPr>
          <p:cNvPr id="21" name="TextBox 20"/>
          <p:cNvSpPr txBox="1"/>
          <p:nvPr/>
        </p:nvSpPr>
        <p:spPr>
          <a:xfrm>
            <a:off x="457200" y="1609200"/>
            <a:ext cx="2422800" cy="165600"/>
          </a:xfrm>
          <a:prstGeom prst="rect">
            <a:avLst/>
          </a:prstGeom>
          <a:noFill/>
        </p:spPr>
        <p:txBody>
          <a:bodyPr wrap="square">
            <a:spAutoFit/>
          </a:bodyPr>
          <a:lstStyle/>
          <a:p>
            <a:pPr algn="l"/>
            <a:r>
              <a:rPr sz="700" b="0" i="0">
                <a:solidFill>
                  <a:srgbClr val="888888"/>
                </a:solidFill>
                <a:latin typeface="Calibri"/>
              </a:rPr>
              <a:t>Score agrégé : +0,420</a:t>
            </a:r>
          </a:p>
        </p:txBody>
      </p:sp>
      <p:sp>
        <p:nvSpPr>
          <p:cNvPr id="22" name="Rectangle 21"/>
          <p:cNvSpPr/>
          <p:nvPr/>
        </p:nvSpPr>
        <p:spPr>
          <a:xfrm>
            <a:off x="3110400" y="961200"/>
            <a:ext cx="182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104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00400" y="1015200"/>
            <a:ext cx="1692000" cy="396000"/>
          </a:xfrm>
          <a:prstGeom prst="rect">
            <a:avLst/>
          </a:prstGeom>
          <a:noFill/>
        </p:spPr>
        <p:txBody>
          <a:bodyPr wrap="square">
            <a:spAutoFit/>
          </a:bodyPr>
          <a:lstStyle/>
          <a:p>
            <a:pPr algn="l"/>
            <a:r>
              <a:rPr sz="1900" b="1" i="0">
                <a:solidFill>
                  <a:srgbClr val="1B3A6B"/>
                </a:solidFill>
                <a:latin typeface="Calibri"/>
              </a:rPr>
              <a:t>20</a:t>
            </a:r>
          </a:p>
        </p:txBody>
      </p:sp>
      <p:sp>
        <p:nvSpPr>
          <p:cNvPr id="25" name="TextBox 24"/>
          <p:cNvSpPr txBox="1"/>
          <p:nvPr/>
        </p:nvSpPr>
        <p:spPr>
          <a:xfrm>
            <a:off x="3200400" y="1411200"/>
            <a:ext cx="1692000" cy="205199"/>
          </a:xfrm>
          <a:prstGeom prst="rect">
            <a:avLst/>
          </a:prstGeom>
          <a:noFill/>
        </p:spPr>
        <p:txBody>
          <a:bodyPr wrap="square">
            <a:spAutoFit/>
          </a:bodyPr>
          <a:lstStyle/>
          <a:p>
            <a:pPr algn="l"/>
            <a:r>
              <a:rPr sz="800" b="0" i="0">
                <a:solidFill>
                  <a:srgbClr val="555555"/>
                </a:solidFill>
                <a:latin typeface="Calibri"/>
              </a:rPr>
              <a:t>Articles analysés</a:t>
            </a:r>
          </a:p>
        </p:txBody>
      </p:sp>
      <p:sp>
        <p:nvSpPr>
          <p:cNvPr id="26" name="TextBox 25"/>
          <p:cNvSpPr txBox="1"/>
          <p:nvPr/>
        </p:nvSpPr>
        <p:spPr>
          <a:xfrm>
            <a:off x="3200400" y="1609200"/>
            <a:ext cx="1692000" cy="165600"/>
          </a:xfrm>
          <a:prstGeom prst="rect">
            <a:avLst/>
          </a:prstGeom>
          <a:noFill/>
        </p:spPr>
        <p:txBody>
          <a:bodyPr wrap="square">
            <a:spAutoFit/>
          </a:bodyPr>
          <a:lstStyle/>
          <a:p>
            <a:pPr algn="l"/>
            <a:r>
              <a:rPr sz="700" b="0" i="0">
                <a:solidFill>
                  <a:srgbClr val="888888"/>
                </a:solidFill>
                <a:latin typeface="Calibri"/>
              </a:rPr>
              <a:t>Fenêtre : 7 jours</a:t>
            </a:r>
          </a:p>
        </p:txBody>
      </p:sp>
      <p:sp>
        <p:nvSpPr>
          <p:cNvPr id="27" name="Rectangle 26"/>
          <p:cNvSpPr/>
          <p:nvPr/>
        </p:nvSpPr>
        <p:spPr>
          <a:xfrm>
            <a:off x="5119200" y="961200"/>
            <a:ext cx="16452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1192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09200" y="1015200"/>
            <a:ext cx="1508400" cy="396000"/>
          </a:xfrm>
          <a:prstGeom prst="rect">
            <a:avLst/>
          </a:prstGeom>
          <a:noFill/>
        </p:spPr>
        <p:txBody>
          <a:bodyPr wrap="square">
            <a:spAutoFit/>
          </a:bodyPr>
          <a:lstStyle/>
          <a:p>
            <a:pPr algn="l"/>
            <a:r>
              <a:rPr sz="1900" b="1" i="0">
                <a:solidFill>
                  <a:srgbClr val="1B3A6B"/>
                </a:solidFill>
                <a:latin typeface="Calibri"/>
              </a:rPr>
              <a:t>59,0 %</a:t>
            </a:r>
          </a:p>
        </p:txBody>
      </p:sp>
      <p:sp>
        <p:nvSpPr>
          <p:cNvPr id="30" name="TextBox 29"/>
          <p:cNvSpPr txBox="1"/>
          <p:nvPr/>
        </p:nvSpPr>
        <p:spPr>
          <a:xfrm>
            <a:off x="5209200" y="1411200"/>
            <a:ext cx="1508400" cy="205199"/>
          </a:xfrm>
          <a:prstGeom prst="rect">
            <a:avLst/>
          </a:prstGeom>
          <a:noFill/>
        </p:spPr>
        <p:txBody>
          <a:bodyPr wrap="square">
            <a:spAutoFit/>
          </a:bodyPr>
          <a:lstStyle/>
          <a:p>
            <a:pPr algn="l"/>
            <a:r>
              <a:rPr sz="800" b="0" i="0">
                <a:solidFill>
                  <a:srgbClr val="555555"/>
                </a:solidFill>
                <a:latin typeface="Calibri"/>
              </a:rPr>
              <a:t>Confiance IA</a:t>
            </a:r>
          </a:p>
        </p:txBody>
      </p:sp>
      <p:sp>
        <p:nvSpPr>
          <p:cNvPr id="31" name="TextBox 30"/>
          <p:cNvSpPr txBox="1"/>
          <p:nvPr/>
        </p:nvSpPr>
        <p:spPr>
          <a:xfrm>
            <a:off x="5209200" y="1609200"/>
            <a:ext cx="1508400" cy="165600"/>
          </a:xfrm>
          <a:prstGeom prst="rect">
            <a:avLst/>
          </a:prstGeom>
          <a:noFill/>
        </p:spPr>
        <p:txBody>
          <a:bodyPr wrap="square">
            <a:spAutoFit/>
          </a:bodyPr>
          <a:lstStyle/>
          <a:p>
            <a:pPr algn="l"/>
            <a:r>
              <a:rPr sz="700" b="0" i="0">
                <a:solidFill>
                  <a:srgbClr val="888888"/>
                </a:solidFill>
                <a:latin typeface="Calibri"/>
              </a:rPr>
              <a:t>Modèle FinBERT</a:t>
            </a:r>
          </a:p>
        </p:txBody>
      </p:sp>
      <p:sp>
        <p:nvSpPr>
          <p:cNvPr id="32" name="Rectangle 31"/>
          <p:cNvSpPr/>
          <p:nvPr/>
        </p:nvSpPr>
        <p:spPr>
          <a:xfrm>
            <a:off x="6948000" y="961200"/>
            <a:ext cx="1738800" cy="10044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948000" y="961200"/>
            <a:ext cx="46800" cy="10044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38000" y="1015200"/>
            <a:ext cx="1602000" cy="396000"/>
          </a:xfrm>
          <a:prstGeom prst="rect">
            <a:avLst/>
          </a:prstGeom>
          <a:noFill/>
        </p:spPr>
        <p:txBody>
          <a:bodyPr wrap="square">
            <a:spAutoFit/>
          </a:bodyPr>
          <a:lstStyle/>
          <a:p>
            <a:pPr algn="l"/>
            <a:r>
              <a:rPr sz="1900" b="1" i="0">
                <a:solidFill>
                  <a:srgbClr val="1B3A6B"/>
                </a:solidFill>
                <a:latin typeface="Calibri"/>
              </a:rPr>
              <a:t>HOLD</a:t>
            </a:r>
          </a:p>
        </p:txBody>
      </p:sp>
      <p:sp>
        <p:nvSpPr>
          <p:cNvPr id="35" name="TextBox 34"/>
          <p:cNvSpPr txBox="1"/>
          <p:nvPr/>
        </p:nvSpPr>
        <p:spPr>
          <a:xfrm>
            <a:off x="7038000" y="1411200"/>
            <a:ext cx="1602000" cy="205199"/>
          </a:xfrm>
          <a:prstGeom prst="rect">
            <a:avLst/>
          </a:prstGeom>
          <a:noFill/>
        </p:spPr>
        <p:txBody>
          <a:bodyPr wrap="square">
            <a:spAutoFit/>
          </a:bodyPr>
          <a:lstStyle/>
          <a:p>
            <a:pPr algn="l"/>
            <a:r>
              <a:rPr sz="800" b="0" i="0">
                <a:solidFill>
                  <a:srgbClr val="555555"/>
                </a:solidFill>
                <a:latin typeface="Calibri"/>
              </a:rPr>
              <a:t>Cohérence</a:t>
            </a:r>
          </a:p>
        </p:txBody>
      </p:sp>
      <p:sp>
        <p:nvSpPr>
          <p:cNvPr id="36" name="TextBox 35"/>
          <p:cNvSpPr txBox="1"/>
          <p:nvPr/>
        </p:nvSpPr>
        <p:spPr>
          <a:xfrm>
            <a:off x="7038000" y="1609200"/>
            <a:ext cx="1602000" cy="165600"/>
          </a:xfrm>
          <a:prstGeom prst="rect">
            <a:avLst/>
          </a:prstGeom>
          <a:noFill/>
        </p:spPr>
        <p:txBody>
          <a:bodyPr wrap="square">
            <a:spAutoFit/>
          </a:bodyPr>
          <a:lstStyle/>
          <a:p>
            <a:pPr algn="l"/>
            <a:r>
              <a:rPr sz="700" b="0" i="0">
                <a:solidFill>
                  <a:srgbClr val="888888"/>
                </a:solidFill>
                <a:latin typeface="Calibri"/>
              </a:rPr>
              <a:t>Aligné avec la thèse</a:t>
            </a:r>
          </a:p>
        </p:txBody>
      </p:sp>
      <p:sp>
        <p:nvSpPr>
          <p:cNvPr id="37" name="TextBox 36"/>
          <p:cNvSpPr txBox="1"/>
          <p:nvPr/>
        </p:nvSpPr>
        <p:spPr>
          <a:xfrm>
            <a:off x="367200" y="2084400"/>
            <a:ext cx="8413200" cy="165600"/>
          </a:xfrm>
          <a:prstGeom prst="rect">
            <a:avLst/>
          </a:prstGeom>
          <a:noFill/>
        </p:spPr>
        <p:txBody>
          <a:bodyPr wrap="square">
            <a:spAutoFit/>
          </a:bodyPr>
          <a:lstStyle/>
          <a:p>
            <a:pPr algn="l"/>
            <a:r>
              <a:rPr sz="900" b="1" i="0">
                <a:solidFill>
                  <a:srgbClr val="2E5FA3"/>
                </a:solidFill>
                <a:latin typeface="Calibri"/>
              </a:rPr>
              <a:t>Détail par orientation</a:t>
            </a:r>
          </a:p>
        </p:txBody>
      </p:sp>
      <p:graphicFrame>
        <p:nvGraphicFramePr>
          <p:cNvPr id="38" name="Table 37"/>
          <p:cNvGraphicFramePr>
            <a:graphicFrameLocks noGrp="1"/>
          </p:cNvGraphicFramePr>
          <p:nvPr/>
        </p:nvGraphicFramePr>
        <p:xfrm>
          <a:off x="367200" y="2332800"/>
          <a:ext cx="8413200" cy="1152000"/>
        </p:xfrm>
        <a:graphic>
          <a:graphicData uri="http://schemas.openxmlformats.org/drawingml/2006/table">
            <a:tbl>
              <a:tblPr firstRow="1" bandRow="1">
                <a:tableStyleId>{5C22544A-7EE6-4342-B048-85BDC9FD1C3A}</a:tableStyleId>
              </a:tblPr>
              <a:tblGrid>
                <a:gridCol w="1261980"/>
                <a:gridCol w="1261980"/>
                <a:gridCol w="1682640"/>
                <a:gridCol w="4206600"/>
              </a:tblGrid>
              <a:tr h="288000">
                <a:tc>
                  <a:txBody>
                    <a:bodyPr/>
                    <a:lstStyle/>
                    <a:p>
                      <a:pPr algn="l"/>
                      <a:r>
                        <a:rPr sz="800" b="1" i="0">
                          <a:solidFill>
                            <a:srgbClr val="FFFFFF"/>
                          </a:solidFill>
                          <a:latin typeface="Calibri"/>
                        </a:rPr>
                        <a:t>Orientation</a:t>
                      </a:r>
                    </a:p>
                  </a:txBody>
                  <a:tcPr>
                    <a:solidFill>
                      <a:srgbClr val="1B3A6B"/>
                    </a:solidFill>
                  </a:tcPr>
                </a:tc>
                <a:tc>
                  <a:txBody>
                    <a:bodyPr/>
                    <a:lstStyle/>
                    <a:p>
                      <a:pPr algn="ctr"/>
                      <a:r>
                        <a:rPr sz="800" b="1" i="0">
                          <a:solidFill>
                            <a:srgbClr val="FFFFFF"/>
                          </a:solidFill>
                          <a:latin typeface="Calibri"/>
                        </a:rPr>
                        <a:t>Articles</a:t>
                      </a:r>
                    </a:p>
                  </a:txBody>
                  <a:tcPr>
                    <a:solidFill>
                      <a:srgbClr val="1B3A6B"/>
                    </a:solidFill>
                  </a:tcPr>
                </a:tc>
                <a:tc>
                  <a:txBody>
                    <a:bodyPr/>
                    <a:lstStyle/>
                    <a:p>
                      <a:pPr algn="ctr"/>
                      <a:r>
                        <a:rPr sz="800" b="1" i="0">
                          <a:solidFill>
                            <a:srgbClr val="FFFFFF"/>
                          </a:solidFill>
                          <a:latin typeface="Calibri"/>
                        </a:rPr>
                        <a:t>Score moyen</a:t>
                      </a:r>
                    </a:p>
                  </a:txBody>
                  <a:tcPr>
                    <a:solidFill>
                      <a:srgbClr val="1B3A6B"/>
                    </a:solidFill>
                  </a:tcPr>
                </a:tc>
                <a:tc>
                  <a:txBody>
                    <a:bodyPr/>
                    <a:lstStyle/>
                    <a:p>
                      <a:pPr algn="ctr"/>
                      <a:r>
                        <a:rPr sz="800" b="1" i="0">
                          <a:solidFill>
                            <a:srgbClr val="FFFFFF"/>
                          </a:solidFill>
                          <a:latin typeface="Calibri"/>
                        </a:rPr>
                        <a:t>Thèmes principaux</a:t>
                      </a:r>
                    </a:p>
                  </a:txBody>
                  <a:tcPr>
                    <a:solidFill>
                      <a:srgbClr val="1B3A6B"/>
                    </a:solidFill>
                  </a:tcPr>
                </a:tc>
              </a:tr>
              <a:tr h="288000">
                <a:tc>
                  <a:txBody>
                    <a:bodyPr/>
                    <a:lstStyle/>
                    <a:p>
                      <a:pPr algn="l"/>
                      <a:r>
                        <a:rPr sz="800" b="1" i="0">
                          <a:solidFill>
                            <a:srgbClr val="1A7A4A"/>
                          </a:solidFill>
                          <a:latin typeface="Calibri"/>
                        </a:rPr>
                        <a:t>Positif</a:t>
                      </a:r>
                    </a:p>
                  </a:txBody>
                  <a:tcPr>
                    <a:solidFill>
                      <a:srgbClr val="EAF4EF"/>
                    </a:solidFill>
                  </a:tcPr>
                </a:tc>
                <a:tc>
                  <a:txBody>
                    <a:bodyPr/>
                    <a:lstStyle/>
                    <a:p>
                      <a:pPr algn="ctr"/>
                      <a:r>
                        <a:rPr sz="800" b="1" i="0">
                          <a:solidFill>
                            <a:srgbClr val="1A7A4A"/>
                          </a:solidFill>
                          <a:latin typeface="Calibri"/>
                        </a:rPr>
                        <a:t>14</a:t>
                      </a:r>
                    </a:p>
                  </a:txBody>
                  <a:tcPr>
                    <a:solidFill>
                      <a:srgbClr val="EAF4EF"/>
                    </a:solidFill>
                  </a:tcPr>
                </a:tc>
                <a:tc>
                  <a:txBody>
                    <a:bodyPr/>
                    <a:lstStyle/>
                    <a:p>
                      <a:pPr algn="ctr"/>
                      <a:r>
                        <a:rPr sz="800" b="0" i="0">
                          <a:solidFill>
                            <a:srgbClr val="0D0D0D"/>
                          </a:solidFill>
                          <a:latin typeface="Calibri"/>
                        </a:rPr>
                        <a:t>+0,590</a:t>
                      </a:r>
                    </a:p>
                  </a:txBody>
                  <a:tcPr>
                    <a:solidFill>
                      <a:srgbClr val="EAF4EF"/>
                    </a:solidFill>
                  </a:tcPr>
                </a:tc>
                <a:tc>
                  <a:txBody>
                    <a:bodyPr/>
                    <a:lstStyle/>
                    <a:p>
                      <a:pPr algn="ctr"/>
                      <a:r>
                        <a:rPr sz="800" b="0" i="0">
                          <a:solidFill>
                            <a:srgbClr val="0D0D0D"/>
                          </a:solidFill>
                          <a:latin typeface="Calibri"/>
                        </a:rPr>
                        <a:t>Catalyseurs, croissance, résultats</a:t>
                      </a:r>
                    </a:p>
                  </a:txBody>
                  <a:tcPr>
                    <a:solidFill>
                      <a:srgbClr val="EAF4EF"/>
                    </a:solidFill>
                  </a:tcPr>
                </a:tc>
              </a:tr>
              <a:tr h="288000">
                <a:tc>
                  <a:txBody>
                    <a:bodyPr/>
                    <a:lstStyle/>
                    <a:p>
                      <a:pPr algn="l"/>
                      <a:r>
                        <a:rPr sz="800" b="1" i="0">
                          <a:solidFill>
                            <a:srgbClr val="555555"/>
                          </a:solidFill>
                          <a:latin typeface="Calibri"/>
                        </a:rPr>
                        <a:t>Neutre</a:t>
                      </a:r>
                    </a:p>
                  </a:txBody>
                  <a:tcPr>
                    <a:solidFill>
                      <a:srgbClr val="FFFFFF"/>
                    </a:solidFill>
                  </a:tcPr>
                </a:tc>
                <a:tc>
                  <a:txBody>
                    <a:bodyPr/>
                    <a:lstStyle/>
                    <a:p>
                      <a:pPr algn="ctr"/>
                      <a:r>
                        <a:rPr sz="800" b="1" i="0">
                          <a:solidFill>
                            <a:srgbClr val="555555"/>
                          </a:solidFill>
                          <a:latin typeface="Calibri"/>
                        </a:rPr>
                        <a:t>3</a:t>
                      </a:r>
                    </a:p>
                  </a:txBody>
                  <a:tcPr>
                    <a:solidFill>
                      <a:srgbClr val="FFFFFF"/>
                    </a:solidFill>
                  </a:tcPr>
                </a:tc>
                <a:tc>
                  <a:txBody>
                    <a:bodyPr/>
                    <a:lstStyle/>
                    <a:p>
                      <a:pPr algn="ctr"/>
                      <a:r>
                        <a:rPr sz="800" b="0" i="0">
                          <a:solidFill>
                            <a:srgbClr val="0D0D0D"/>
                          </a:solidFill>
                          <a:latin typeface="Calibri"/>
                        </a:rPr>
                        <a:t>+0,240</a:t>
                      </a:r>
                    </a:p>
                  </a:txBody>
                  <a:tcPr>
                    <a:solidFill>
                      <a:srgbClr val="FFFFFF"/>
                    </a:solidFill>
                  </a:tcPr>
                </a:tc>
                <a:tc>
                  <a:txBody>
                    <a:bodyPr/>
                    <a:lstStyle/>
                    <a:p>
                      <a:pPr algn="ctr"/>
                      <a:r>
                        <a:rPr sz="800" b="0" i="0">
                          <a:solidFill>
                            <a:srgbClr val="0D0D0D"/>
                          </a:solidFill>
                          <a:latin typeface="Calibri"/>
                        </a:rPr>
                        <a:t>Actualité sectorielle générale</a:t>
                      </a:r>
                    </a:p>
                  </a:txBody>
                  <a:tcPr>
                    <a:solidFill>
                      <a:srgbClr val="FFFFFF"/>
                    </a:solidFill>
                  </a:tcPr>
                </a:tc>
              </a:tr>
              <a:tr h="288000">
                <a:tc>
                  <a:txBody>
                    <a:bodyPr/>
                    <a:lstStyle/>
                    <a:p>
                      <a:pPr algn="l"/>
                      <a:r>
                        <a:rPr sz="800" b="1" i="0">
                          <a:solidFill>
                            <a:srgbClr val="A82020"/>
                          </a:solidFill>
                          <a:latin typeface="Calibri"/>
                        </a:rPr>
                        <a:t>Négatif</a:t>
                      </a:r>
                    </a:p>
                  </a:txBody>
                  <a:tcPr>
                    <a:solidFill>
                      <a:srgbClr val="FAF0EF"/>
                    </a:solidFill>
                  </a:tcPr>
                </a:tc>
                <a:tc>
                  <a:txBody>
                    <a:bodyPr/>
                    <a:lstStyle/>
                    <a:p>
                      <a:pPr algn="ctr"/>
                      <a:r>
                        <a:rPr sz="800" b="1" i="0">
                          <a:solidFill>
                            <a:srgbClr val="A82020"/>
                          </a:solidFill>
                          <a:latin typeface="Calibri"/>
                        </a:rPr>
                        <a:t>3</a:t>
                      </a:r>
                    </a:p>
                  </a:txBody>
                  <a:tcPr>
                    <a:solidFill>
                      <a:srgbClr val="FAF0EF"/>
                    </a:solidFill>
                  </a:tcPr>
                </a:tc>
                <a:tc>
                  <a:txBody>
                    <a:bodyPr/>
                    <a:lstStyle/>
                    <a:p>
                      <a:pPr algn="ctr"/>
                      <a:r>
                        <a:rPr sz="800" b="0" i="0">
                          <a:solidFill>
                            <a:srgbClr val="0D0D0D"/>
                          </a:solidFill>
                          <a:latin typeface="Calibri"/>
                        </a:rPr>
                        <a:t>+0,170</a:t>
                      </a:r>
                    </a:p>
                  </a:txBody>
                  <a:tcPr>
                    <a:solidFill>
                      <a:srgbClr val="FAF0EF"/>
                    </a:solidFill>
                  </a:tcPr>
                </a:tc>
                <a:tc>
                  <a:txBody>
                    <a:bodyPr/>
                    <a:lstStyle/>
                    <a:p>
                      <a:pPr algn="ctr"/>
                      <a:r>
                        <a:rPr sz="800" b="0" i="0">
                          <a:solidFill>
                            <a:srgbClr val="0D0D0D"/>
                          </a:solidFill>
                          <a:latin typeface="Calibri"/>
                        </a:rPr>
                        <a:t>Risques macro, concurrence, dette</a:t>
                      </a:r>
                    </a:p>
                  </a:txBody>
                  <a:tcPr>
                    <a:solidFill>
                      <a:srgbClr val="FAF0EF"/>
                    </a:solidFill>
                  </a:tcPr>
                </a:tc>
              </a:tr>
            </a:tbl>
          </a:graphicData>
        </a:graphic>
      </p:graphicFrame>
      <p:sp>
        <p:nvSpPr>
          <p:cNvPr id="39" name="TextBox 38"/>
          <p:cNvSpPr txBox="1"/>
          <p:nvPr/>
        </p:nvSpPr>
        <p:spPr>
          <a:xfrm>
            <a:off x="367200" y="4140000"/>
            <a:ext cx="8413200" cy="914400"/>
          </a:xfrm>
          <a:prstGeom prst="rect">
            <a:avLst/>
          </a:prstGeom>
          <a:noFill/>
        </p:spPr>
        <p:txBody>
          <a:bodyPr wrap="square">
            <a:spAutoFit/>
          </a:bodyPr>
          <a:lstStyle/>
          <a:p>
            <a:pPr algn="l"/>
            <a:r>
              <a:rPr sz="850" b="0" i="0">
                <a:solidFill>
                  <a:srgbClr val="333333"/>
                </a:solidFill>
                <a:latin typeface="Calibri"/>
              </a:rPr>
              <a:t>La presse financière affiche un sentiment majoritairement positif sur CAC cette semaine, soulignant des performances records et une croissance solide. Les analystes mettent en avant des résultats dépassant les attentes et une dynamique régionale favorable.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Actionnariat &amp; Structure du Capital</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Répartition de l'actionnariat  ·  Au 1 avril 2026</a:t>
            </a:r>
          </a:p>
        </p:txBody>
      </p:sp>
      <p:sp>
        <p:nvSpPr>
          <p:cNvPr id="17" name="TextBox 16"/>
          <p:cNvSpPr txBox="1"/>
          <p:nvPr/>
        </p:nvSpPr>
        <p:spPr>
          <a:xfrm>
            <a:off x="367200" y="748800"/>
            <a:ext cx="5029200" cy="201600"/>
          </a:xfrm>
          <a:prstGeom prst="rect">
            <a:avLst/>
          </a:prstGeom>
          <a:noFill/>
        </p:spPr>
        <p:txBody>
          <a:bodyPr wrap="square">
            <a:spAutoFit/>
          </a:bodyPr>
          <a:lstStyle/>
          <a:p>
            <a:pPr algn="l"/>
            <a:r>
              <a:rPr sz="900" b="1" i="0">
                <a:solidFill>
                  <a:srgbClr val="2E5FA3"/>
                </a:solidFill>
                <a:latin typeface="Calibri"/>
              </a:rPr>
              <a:t>Top actionnaires</a:t>
            </a:r>
          </a:p>
        </p:txBody>
      </p:sp>
      <p:graphicFrame>
        <p:nvGraphicFramePr>
          <p:cNvPr id="18" name="Table 17"/>
          <p:cNvGraphicFramePr>
            <a:graphicFrameLocks noGrp="1"/>
          </p:cNvGraphicFramePr>
          <p:nvPr/>
        </p:nvGraphicFramePr>
        <p:xfrm>
          <a:off x="367200" y="968400"/>
          <a:ext cx="5302800" cy="2232000"/>
        </p:xfrm>
        <a:graphic>
          <a:graphicData uri="http://schemas.openxmlformats.org/drawingml/2006/table">
            <a:tbl>
              <a:tblPr firstRow="1" bandRow="1">
                <a:tableStyleId>{5C22544A-7EE6-4342-B048-85BDC9FD1C3A}</a:tableStyleId>
              </a:tblPr>
              <a:tblGrid>
                <a:gridCol w="2015064"/>
                <a:gridCol w="1378728"/>
                <a:gridCol w="1060560"/>
                <a:gridCol w="848448"/>
              </a:tblGrid>
              <a:tr h="223200">
                <a:tc>
                  <a:txBody>
                    <a:bodyPr/>
                    <a:lstStyle/>
                    <a:p>
                      <a:pPr algn="l"/>
                      <a:r>
                        <a:rPr sz="800" b="1" i="0">
                          <a:solidFill>
                            <a:srgbClr val="FFFFFF"/>
                          </a:solidFill>
                          <a:latin typeface="Calibri"/>
                        </a:rPr>
                        <a:t>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Type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Détention %</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Style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Camden (Insiders)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Insiders &amp; dirigeants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B06000"/>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Blackrock Inc.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Franklin Resources, Inc.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9.2 %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FMR, LLC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8.8 %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Vanguard Group Inc</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Dimensional Fund Advisors LP</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4.9 %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State Street Corporation</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2E5FA3"/>
                          </a:solidFill>
                          <a:latin typeface="Calibri"/>
                        </a:rPr>
                        <a:t>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Geode Capital Management, LLC</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Institutionnel</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2.4 %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1A7A4A"/>
                          </a:solidFill>
                          <a:latin typeface="Calibri"/>
                        </a:rPr>
                        <a:t>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3200">
                <a:tc>
                  <a:txBody>
                    <a:bodyPr/>
                    <a:lstStyle/>
                    <a:p>
                      <a:pPr algn="l"/>
                      <a:r>
                        <a:rPr sz="800" b="0" i="0">
                          <a:solidFill>
                            <a:srgbClr val="0D0D0D"/>
                          </a:solidFill>
                          <a:latin typeface="Calibri"/>
                        </a:rPr>
                        <a:t>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Retail &amp; autres</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54.9 %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750" b="1" i="0">
                          <a:solidFill>
                            <a:srgbClr val="555555"/>
                          </a:solidFill>
                          <a:latin typeface="Calibri"/>
                        </a:rPr>
                        <a:t>—</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
        <p:nvSpPr>
          <p:cNvPr id="19" name="TextBox 18"/>
          <p:cNvSpPr txBox="1"/>
          <p:nvPr/>
        </p:nvSpPr>
        <p:spPr>
          <a:xfrm>
            <a:off x="5760000" y="748800"/>
            <a:ext cx="3016800" cy="201600"/>
          </a:xfrm>
          <a:prstGeom prst="rect">
            <a:avLst/>
          </a:prstGeom>
          <a:noFill/>
        </p:spPr>
        <p:txBody>
          <a:bodyPr wrap="square">
            <a:spAutoFit/>
          </a:bodyPr>
          <a:lstStyle/>
          <a:p>
            <a:pPr algn="l"/>
            <a:r>
              <a:rPr sz="900" b="1" i="0">
                <a:solidFill>
                  <a:srgbClr val="2E5FA3"/>
                </a:solidFill>
                <a:latin typeface="Calibri"/>
              </a:rPr>
              <a:t>Répartition par type</a:t>
            </a:r>
          </a:p>
        </p:txBody>
      </p:sp>
      <p:graphicFrame>
        <p:nvGraphicFramePr>
          <p:cNvPr id="20" name="Table 19"/>
          <p:cNvGraphicFramePr>
            <a:graphicFrameLocks noGrp="1"/>
          </p:cNvGraphicFramePr>
          <p:nvPr/>
        </p:nvGraphicFramePr>
        <p:xfrm>
          <a:off x="5760000" y="968400"/>
          <a:ext cx="3016800" cy="1134000"/>
        </p:xfrm>
        <a:graphic>
          <a:graphicData uri="http://schemas.openxmlformats.org/drawingml/2006/table">
            <a:tbl>
              <a:tblPr firstRow="1" bandRow="1">
                <a:tableStyleId>{5C22544A-7EE6-4342-B048-85BDC9FD1C3A}</a:tableStyleId>
              </a:tblPr>
              <a:tblGrid>
                <a:gridCol w="1810080"/>
                <a:gridCol w="1206720"/>
              </a:tblGrid>
              <a:tr h="226800">
                <a:tc>
                  <a:txBody>
                    <a:bodyPr/>
                    <a:lstStyle/>
                    <a:p>
                      <a:pPr algn="l"/>
                      <a:r>
                        <a:rPr sz="800" b="1" i="0">
                          <a:solidFill>
                            <a:srgbClr val="FFFFFF"/>
                          </a:solidFill>
                          <a:latin typeface="Calibri"/>
                        </a:rPr>
                        <a:t>Type d'actionnaire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1" i="0">
                          <a:solidFill>
                            <a:srgbClr val="FFFFFF"/>
                          </a:solidFill>
                          <a:latin typeface="Calibri"/>
                        </a:rPr>
                        <a:t>Part estimée</a:t>
                      </a:r>
                    </a:p>
                  </a:txBody>
                  <a:tcPr>
                    <a:solidFill>
                      <a:srgbClr val="1B3A6B"/>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passif</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13.5 %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Institutionnel actif</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29.8 %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Insider</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1.8 %</a:t>
                      </a:r>
                    </a:p>
                  </a:txBody>
                  <a:tcPr>
                    <a:solidFill>
                      <a:srgbClr val="FFFFFF"/>
                    </a:solidFill>
                    <a:lnL w="6350">
                      <a:solidFill>
                        <a:srgbClr val="DDDDDD"/>
                      </a:solidFill>
                    </a:lnL>
                    <a:lnR w="6350">
                      <a:solidFill>
                        <a:srgbClr val="DDDDDD"/>
                      </a:solidFill>
                    </a:lnR>
                    <a:lnT w="6350">
                      <a:solidFill>
                        <a:srgbClr val="DDDDDD"/>
                      </a:solidFill>
                    </a:lnT>
                    <a:lnB w="6350">
                      <a:solidFill>
                        <a:srgbClr val="DDDDDD"/>
                      </a:solidFill>
                    </a:lnB>
                  </a:tcPr>
                </a:tc>
              </a:tr>
              <a:tr h="226800">
                <a:tc>
                  <a:txBody>
                    <a:bodyPr/>
                    <a:lstStyle/>
                    <a:p>
                      <a:pPr algn="l"/>
                      <a:r>
                        <a:rPr sz="800" b="0" i="0">
                          <a:solidFill>
                            <a:srgbClr val="0D0D0D"/>
                          </a:solidFill>
                          <a:latin typeface="Calibri"/>
                        </a:rPr>
                        <a:t>Retail &amp; autres</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c>
                  <a:txBody>
                    <a:bodyPr/>
                    <a:lstStyle/>
                    <a:p>
                      <a:pPr algn="ctr"/>
                      <a:r>
                        <a:rPr sz="800" b="0" i="0">
                          <a:solidFill>
                            <a:srgbClr val="0D0D0D"/>
                          </a:solidFill>
                          <a:latin typeface="Calibri"/>
                        </a:rPr>
                        <a:t>54.9 %</a:t>
                      </a:r>
                    </a:p>
                  </a:txBody>
                  <a:tcPr>
                    <a:solidFill>
                      <a:srgbClr val="F7F8FA"/>
                    </a:solidFill>
                    <a:lnL w="6350">
                      <a:solidFill>
                        <a:srgbClr val="DDDDDD"/>
                      </a:solidFill>
                    </a:lnL>
                    <a:lnR w="6350">
                      <a:solidFill>
                        <a:srgbClr val="DDDDDD"/>
                      </a:solidFill>
                    </a:lnR>
                    <a:lnT w="6350">
                      <a:solidFill>
                        <a:srgbClr val="DDDDDD"/>
                      </a:solidFill>
                    </a:lnT>
                    <a:lnB w="6350">
                      <a:solidFill>
                        <a:srgbClr val="DDDDDD"/>
                      </a:solidFill>
                    </a:lnB>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940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20400"/>
            <a:ext cx="9144000" cy="320400"/>
          </a:xfrm>
          <a:prstGeom prst="rect">
            <a:avLst/>
          </a:prstGeom>
          <a:solidFill>
            <a:srgbClr val="1B3A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7200" y="4838400"/>
            <a:ext cx="8413200" cy="201600"/>
          </a:xfrm>
          <a:prstGeom prst="rect">
            <a:avLst/>
          </a:prstGeom>
          <a:noFill/>
        </p:spPr>
        <p:txBody>
          <a:bodyPr wrap="square">
            <a:spAutoFit/>
          </a:bodyPr>
          <a:lstStyle/>
          <a:p>
            <a:pPr algn="l"/>
            <a:r>
              <a:rPr sz="700" b="0" i="0">
                <a:solidFill>
                  <a:srgbClr val="FFFFFF"/>
                </a:solidFill>
                <a:latin typeface="Calibri"/>
              </a:rPr>
              <a:t>FinSight IA  ·  Usage confidentiel</a:t>
            </a:r>
          </a:p>
        </p:txBody>
      </p:sp>
      <p:sp>
        <p:nvSpPr>
          <p:cNvPr id="5" name="Rectangle 4"/>
          <p:cNvSpPr/>
          <p:nvPr/>
        </p:nvSpPr>
        <p:spPr>
          <a:xfrm>
            <a:off x="6127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34400" y="122400"/>
            <a:ext cx="169200" cy="158400"/>
          </a:xfrm>
          <a:prstGeom prst="rect">
            <a:avLst/>
          </a:prstGeom>
          <a:noFill/>
        </p:spPr>
        <p:txBody>
          <a:bodyPr wrap="square">
            <a:spAutoFit/>
          </a:bodyPr>
          <a:lstStyle/>
          <a:p>
            <a:pPr algn="ctr"/>
            <a:r>
              <a:rPr sz="700" b="1" i="0">
                <a:solidFill>
                  <a:srgbClr val="FFFFFF"/>
                </a:solidFill>
                <a:latin typeface="Calibri"/>
              </a:rPr>
              <a:t>1</a:t>
            </a:r>
          </a:p>
        </p:txBody>
      </p:sp>
      <p:sp>
        <p:nvSpPr>
          <p:cNvPr id="7" name="Rectangle 6"/>
          <p:cNvSpPr/>
          <p:nvPr/>
        </p:nvSpPr>
        <p:spPr>
          <a:xfrm>
            <a:off x="6353999"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61199" y="122400"/>
            <a:ext cx="169200" cy="158400"/>
          </a:xfrm>
          <a:prstGeom prst="rect">
            <a:avLst/>
          </a:prstGeom>
          <a:noFill/>
        </p:spPr>
        <p:txBody>
          <a:bodyPr wrap="square">
            <a:spAutoFit/>
          </a:bodyPr>
          <a:lstStyle/>
          <a:p>
            <a:pPr algn="ctr"/>
            <a:r>
              <a:rPr sz="700" b="1" i="0">
                <a:solidFill>
                  <a:srgbClr val="FFFFFF"/>
                </a:solidFill>
                <a:latin typeface="Calibri"/>
              </a:rPr>
              <a:t>2</a:t>
            </a:r>
          </a:p>
        </p:txBody>
      </p:sp>
      <p:sp>
        <p:nvSpPr>
          <p:cNvPr id="9" name="Rectangle 8"/>
          <p:cNvSpPr/>
          <p:nvPr/>
        </p:nvSpPr>
        <p:spPr>
          <a:xfrm>
            <a:off x="65844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91600" y="122400"/>
            <a:ext cx="169200" cy="158400"/>
          </a:xfrm>
          <a:prstGeom prst="rect">
            <a:avLst/>
          </a:prstGeom>
          <a:noFill/>
        </p:spPr>
        <p:txBody>
          <a:bodyPr wrap="square">
            <a:spAutoFit/>
          </a:bodyPr>
          <a:lstStyle/>
          <a:p>
            <a:pPr algn="ctr"/>
            <a:r>
              <a:rPr sz="700" b="1" i="0">
                <a:solidFill>
                  <a:srgbClr val="FFFFFF"/>
                </a:solidFill>
                <a:latin typeface="Calibri"/>
              </a:rPr>
              <a:t>3</a:t>
            </a:r>
          </a:p>
        </p:txBody>
      </p:sp>
      <p:sp>
        <p:nvSpPr>
          <p:cNvPr id="11" name="Rectangle 10"/>
          <p:cNvSpPr/>
          <p:nvPr/>
        </p:nvSpPr>
        <p:spPr>
          <a:xfrm>
            <a:off x="6811200" y="118800"/>
            <a:ext cx="183600" cy="1836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8400" y="122400"/>
            <a:ext cx="169200" cy="158400"/>
          </a:xfrm>
          <a:prstGeom prst="rect">
            <a:avLst/>
          </a:prstGeom>
          <a:noFill/>
        </p:spPr>
        <p:txBody>
          <a:bodyPr wrap="square">
            <a:spAutoFit/>
          </a:bodyPr>
          <a:lstStyle/>
          <a:p>
            <a:pPr algn="ctr"/>
            <a:r>
              <a:rPr sz="700" b="1" i="0">
                <a:solidFill>
                  <a:srgbClr val="FFFFFF"/>
                </a:solidFill>
                <a:latin typeface="Calibri"/>
              </a:rPr>
              <a:t>4</a:t>
            </a:r>
          </a:p>
        </p:txBody>
      </p:sp>
      <p:sp>
        <p:nvSpPr>
          <p:cNvPr id="13" name="Rectangle 12"/>
          <p:cNvSpPr/>
          <p:nvPr/>
        </p:nvSpPr>
        <p:spPr>
          <a:xfrm>
            <a:off x="7041600" y="118800"/>
            <a:ext cx="183600" cy="18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8799" y="122400"/>
            <a:ext cx="169200" cy="158400"/>
          </a:xfrm>
          <a:prstGeom prst="rect">
            <a:avLst/>
          </a:prstGeom>
          <a:noFill/>
        </p:spPr>
        <p:txBody>
          <a:bodyPr wrap="square">
            <a:spAutoFit/>
          </a:bodyPr>
          <a:lstStyle/>
          <a:p>
            <a:pPr algn="ctr"/>
            <a:r>
              <a:rPr sz="700" b="1" i="0">
                <a:solidFill>
                  <a:srgbClr val="1B3A6B"/>
                </a:solidFill>
                <a:latin typeface="Calibri"/>
              </a:rPr>
              <a:t>5</a:t>
            </a:r>
          </a:p>
        </p:txBody>
      </p:sp>
      <p:sp>
        <p:nvSpPr>
          <p:cNvPr id="15" name="TextBox 14"/>
          <p:cNvSpPr txBox="1"/>
          <p:nvPr/>
        </p:nvSpPr>
        <p:spPr>
          <a:xfrm>
            <a:off x="367200" y="118800"/>
            <a:ext cx="5576400" cy="349200"/>
          </a:xfrm>
          <a:prstGeom prst="rect">
            <a:avLst/>
          </a:prstGeom>
          <a:noFill/>
        </p:spPr>
        <p:txBody>
          <a:bodyPr wrap="square">
            <a:spAutoFit/>
          </a:bodyPr>
          <a:lstStyle/>
          <a:p>
            <a:pPr algn="l"/>
            <a:r>
              <a:rPr sz="1300" b="1" i="0">
                <a:solidFill>
                  <a:srgbClr val="FFFFFF"/>
                </a:solidFill>
                <a:latin typeface="Calibri"/>
              </a:rPr>
              <a:t>Historique de Cours — 52 Semaines</a:t>
            </a:r>
          </a:p>
        </p:txBody>
      </p:sp>
      <p:sp>
        <p:nvSpPr>
          <p:cNvPr id="16" name="TextBox 15"/>
          <p:cNvSpPr txBox="1"/>
          <p:nvPr/>
        </p:nvSpPr>
        <p:spPr>
          <a:xfrm>
            <a:off x="367200" y="622800"/>
            <a:ext cx="8413200" cy="201600"/>
          </a:xfrm>
          <a:prstGeom prst="rect">
            <a:avLst/>
          </a:prstGeom>
          <a:noFill/>
        </p:spPr>
        <p:txBody>
          <a:bodyPr wrap="square">
            <a:spAutoFit/>
          </a:bodyPr>
          <a:lstStyle/>
          <a:p>
            <a:pPr algn="l"/>
            <a:r>
              <a:rPr sz="900" b="0" i="0">
                <a:solidFill>
                  <a:srgbClr val="2E5FA3"/>
                </a:solidFill>
                <a:latin typeface="Calibri"/>
              </a:rPr>
              <a:t>CAC  ·  USD  ·  Au 1 avril 2026</a:t>
            </a:r>
          </a:p>
        </p:txBody>
      </p:sp>
      <p:sp>
        <p:nvSpPr>
          <p:cNvPr id="17" name="Rectangle 16"/>
          <p:cNvSpPr/>
          <p:nvPr/>
        </p:nvSpPr>
        <p:spPr>
          <a:xfrm>
            <a:off x="3672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72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1015200"/>
            <a:ext cx="1782000" cy="396000"/>
          </a:xfrm>
          <a:prstGeom prst="rect">
            <a:avLst/>
          </a:prstGeom>
          <a:noFill/>
        </p:spPr>
        <p:txBody>
          <a:bodyPr wrap="square">
            <a:spAutoFit/>
          </a:bodyPr>
          <a:lstStyle/>
          <a:p>
            <a:pPr algn="l"/>
            <a:r>
              <a:rPr sz="1900" b="1" i="0">
                <a:solidFill>
                  <a:srgbClr val="1B3A6B"/>
                </a:solidFill>
                <a:latin typeface="Calibri"/>
              </a:rPr>
              <a:t>48,53 $</a:t>
            </a:r>
          </a:p>
        </p:txBody>
      </p:sp>
      <p:sp>
        <p:nvSpPr>
          <p:cNvPr id="20" name="TextBox 19"/>
          <p:cNvSpPr txBox="1"/>
          <p:nvPr/>
        </p:nvSpPr>
        <p:spPr>
          <a:xfrm>
            <a:off x="457200" y="1411200"/>
            <a:ext cx="1782000" cy="205199"/>
          </a:xfrm>
          <a:prstGeom prst="rect">
            <a:avLst/>
          </a:prstGeom>
          <a:noFill/>
        </p:spPr>
        <p:txBody>
          <a:bodyPr wrap="square">
            <a:spAutoFit/>
          </a:bodyPr>
          <a:lstStyle/>
          <a:p>
            <a:pPr algn="l"/>
            <a:r>
              <a:rPr sz="800" b="0" i="0">
                <a:solidFill>
                  <a:srgbClr val="555555"/>
                </a:solidFill>
                <a:latin typeface="Calibri"/>
              </a:rPr>
              <a:t>Cours actuel</a:t>
            </a:r>
          </a:p>
        </p:txBody>
      </p:sp>
      <p:sp>
        <p:nvSpPr>
          <p:cNvPr id="21" name="Rectangle 20"/>
          <p:cNvSpPr/>
          <p:nvPr/>
        </p:nvSpPr>
        <p:spPr>
          <a:xfrm>
            <a:off x="24228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4228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512800" y="1015200"/>
            <a:ext cx="1782000" cy="396000"/>
          </a:xfrm>
          <a:prstGeom prst="rect">
            <a:avLst/>
          </a:prstGeom>
          <a:noFill/>
        </p:spPr>
        <p:txBody>
          <a:bodyPr wrap="square">
            <a:spAutoFit/>
          </a:bodyPr>
          <a:lstStyle/>
          <a:p>
            <a:pPr algn="l"/>
            <a:r>
              <a:rPr sz="1900" b="1" i="0">
                <a:solidFill>
                  <a:srgbClr val="1B3A6B"/>
                </a:solidFill>
                <a:latin typeface="Calibri"/>
              </a:rPr>
              <a:t>48,53 $</a:t>
            </a:r>
          </a:p>
        </p:txBody>
      </p:sp>
      <p:sp>
        <p:nvSpPr>
          <p:cNvPr id="24" name="TextBox 23"/>
          <p:cNvSpPr txBox="1"/>
          <p:nvPr/>
        </p:nvSpPr>
        <p:spPr>
          <a:xfrm>
            <a:off x="2512800" y="1411200"/>
            <a:ext cx="1782000" cy="205199"/>
          </a:xfrm>
          <a:prstGeom prst="rect">
            <a:avLst/>
          </a:prstGeom>
          <a:noFill/>
        </p:spPr>
        <p:txBody>
          <a:bodyPr wrap="square">
            <a:spAutoFit/>
          </a:bodyPr>
          <a:lstStyle/>
          <a:p>
            <a:pPr algn="l"/>
            <a:r>
              <a:rPr sz="800" b="0" i="0">
                <a:solidFill>
                  <a:srgbClr val="555555"/>
                </a:solidFill>
                <a:latin typeface="Calibri"/>
              </a:rPr>
              <a:t>Plus haut 52 sem.</a:t>
            </a:r>
          </a:p>
        </p:txBody>
      </p:sp>
      <p:sp>
        <p:nvSpPr>
          <p:cNvPr id="25" name="Rectangle 24"/>
          <p:cNvSpPr/>
          <p:nvPr/>
        </p:nvSpPr>
        <p:spPr>
          <a:xfrm>
            <a:off x="4482000" y="961200"/>
            <a:ext cx="19188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20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0" y="1015200"/>
            <a:ext cx="1782000" cy="396000"/>
          </a:xfrm>
          <a:prstGeom prst="rect">
            <a:avLst/>
          </a:prstGeom>
          <a:noFill/>
        </p:spPr>
        <p:txBody>
          <a:bodyPr wrap="square">
            <a:spAutoFit/>
          </a:bodyPr>
          <a:lstStyle/>
          <a:p>
            <a:pPr algn="l"/>
            <a:r>
              <a:rPr sz="1900" b="1" i="0">
                <a:solidFill>
                  <a:srgbClr val="1B3A6B"/>
                </a:solidFill>
                <a:latin typeface="Calibri"/>
              </a:rPr>
              <a:t>36,59 $</a:t>
            </a:r>
          </a:p>
        </p:txBody>
      </p:sp>
      <p:sp>
        <p:nvSpPr>
          <p:cNvPr id="28" name="TextBox 27"/>
          <p:cNvSpPr txBox="1"/>
          <p:nvPr/>
        </p:nvSpPr>
        <p:spPr>
          <a:xfrm>
            <a:off x="4572000" y="1411200"/>
            <a:ext cx="1782000" cy="205199"/>
          </a:xfrm>
          <a:prstGeom prst="rect">
            <a:avLst/>
          </a:prstGeom>
          <a:noFill/>
        </p:spPr>
        <p:txBody>
          <a:bodyPr wrap="square">
            <a:spAutoFit/>
          </a:bodyPr>
          <a:lstStyle/>
          <a:p>
            <a:pPr algn="l"/>
            <a:r>
              <a:rPr sz="800" b="0" i="0">
                <a:solidFill>
                  <a:srgbClr val="555555"/>
                </a:solidFill>
                <a:latin typeface="Calibri"/>
              </a:rPr>
              <a:t>Plus bas 52 sem.</a:t>
            </a:r>
          </a:p>
        </p:txBody>
      </p:sp>
      <p:sp>
        <p:nvSpPr>
          <p:cNvPr id="29" name="Rectangle 28"/>
          <p:cNvSpPr/>
          <p:nvPr/>
        </p:nvSpPr>
        <p:spPr>
          <a:xfrm>
            <a:off x="6537600" y="961200"/>
            <a:ext cx="2196000" cy="748800"/>
          </a:xfrm>
          <a:prstGeom prst="rect">
            <a:avLst/>
          </a:prstGeom>
          <a:solidFill>
            <a:srgbClr val="EEF3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37600" y="961200"/>
            <a:ext cx="46800" cy="7488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27600" y="1015200"/>
            <a:ext cx="2059200" cy="396000"/>
          </a:xfrm>
          <a:prstGeom prst="rect">
            <a:avLst/>
          </a:prstGeom>
          <a:noFill/>
        </p:spPr>
        <p:txBody>
          <a:bodyPr wrap="square">
            <a:spAutoFit/>
          </a:bodyPr>
          <a:lstStyle/>
          <a:p>
            <a:pPr algn="l"/>
            <a:r>
              <a:rPr sz="1900" b="1" i="0">
                <a:solidFill>
                  <a:srgbClr val="1B3A6B"/>
                </a:solidFill>
                <a:latin typeface="Calibri"/>
              </a:rPr>
              <a:t>+31,3 %</a:t>
            </a:r>
          </a:p>
        </p:txBody>
      </p:sp>
      <p:sp>
        <p:nvSpPr>
          <p:cNvPr id="32" name="TextBox 31"/>
          <p:cNvSpPr txBox="1"/>
          <p:nvPr/>
        </p:nvSpPr>
        <p:spPr>
          <a:xfrm>
            <a:off x="6627600" y="1411200"/>
            <a:ext cx="2059200" cy="205199"/>
          </a:xfrm>
          <a:prstGeom prst="rect">
            <a:avLst/>
          </a:prstGeom>
          <a:noFill/>
        </p:spPr>
        <p:txBody>
          <a:bodyPr wrap="square">
            <a:spAutoFit/>
          </a:bodyPr>
          <a:lstStyle/>
          <a:p>
            <a:pPr algn="l"/>
            <a:r>
              <a:rPr sz="800" b="0" i="0">
                <a:solidFill>
                  <a:srgbClr val="555555"/>
                </a:solidFill>
                <a:latin typeface="Calibri"/>
              </a:rPr>
              <a:t>Performance 52 sem.</a:t>
            </a:r>
          </a:p>
        </p:txBody>
      </p:sp>
      <p:sp>
        <p:nvSpPr>
          <p:cNvPr id="33" name="TextBox 32"/>
          <p:cNvSpPr txBox="1"/>
          <p:nvPr/>
        </p:nvSpPr>
        <p:spPr>
          <a:xfrm>
            <a:off x="367200" y="1846800"/>
            <a:ext cx="8413200" cy="165600"/>
          </a:xfrm>
          <a:prstGeom prst="rect">
            <a:avLst/>
          </a:prstGeom>
          <a:noFill/>
        </p:spPr>
        <p:txBody>
          <a:bodyPr wrap="square">
            <a:spAutoFit/>
          </a:bodyPr>
          <a:lstStyle/>
          <a:p>
            <a:pPr algn="l"/>
            <a:r>
              <a:rPr sz="900" b="1" i="0">
                <a:solidFill>
                  <a:srgbClr val="1B3A6B"/>
                </a:solidFill>
                <a:latin typeface="Calibri"/>
              </a:rPr>
              <a:t>Evolution du cours — 12 derniers mois</a:t>
            </a:r>
          </a:p>
        </p:txBody>
      </p:sp>
      <p:sp>
        <p:nvSpPr>
          <p:cNvPr id="34" name="Rectangle 33"/>
          <p:cNvSpPr/>
          <p:nvPr/>
        </p:nvSpPr>
        <p:spPr>
          <a:xfrm>
            <a:off x="367200" y="2102400"/>
            <a:ext cx="8413200" cy="1828800"/>
          </a:xfrm>
          <a:prstGeom prst="rect">
            <a:avLst/>
          </a:prstGeom>
          <a:solidFill>
            <a:srgbClr val="F7F8FA"/>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7200" y="2102400"/>
            <a:ext cx="8413200" cy="36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37200" y="3632647"/>
            <a:ext cx="498636" cy="26255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1200" y="3902400"/>
            <a:ext cx="728100" cy="144000"/>
          </a:xfrm>
          <a:prstGeom prst="rect">
            <a:avLst/>
          </a:prstGeom>
          <a:noFill/>
        </p:spPr>
        <p:txBody>
          <a:bodyPr wrap="square">
            <a:spAutoFit/>
          </a:bodyPr>
          <a:lstStyle/>
          <a:p>
            <a:pPr algn="ctr"/>
            <a:r>
              <a:rPr sz="600" b="0" i="0">
                <a:solidFill>
                  <a:srgbClr val="555555"/>
                </a:solidFill>
                <a:latin typeface="Calibri"/>
              </a:rPr>
              <a:t>Mai</a:t>
            </a:r>
          </a:p>
        </p:txBody>
      </p:sp>
      <p:sp>
        <p:nvSpPr>
          <p:cNvPr id="38" name="Rectangle 37"/>
          <p:cNvSpPr/>
          <p:nvPr/>
        </p:nvSpPr>
        <p:spPr>
          <a:xfrm>
            <a:off x="1293300" y="3486717"/>
            <a:ext cx="498636" cy="40848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57300" y="3902400"/>
            <a:ext cx="728100" cy="144000"/>
          </a:xfrm>
          <a:prstGeom prst="rect">
            <a:avLst/>
          </a:prstGeom>
          <a:noFill/>
        </p:spPr>
        <p:txBody>
          <a:bodyPr wrap="square">
            <a:spAutoFit/>
          </a:bodyPr>
          <a:lstStyle/>
          <a:p>
            <a:pPr algn="ctr"/>
            <a:r>
              <a:rPr sz="600" b="0" i="0">
                <a:solidFill>
                  <a:srgbClr val="555555"/>
                </a:solidFill>
                <a:latin typeface="Calibri"/>
              </a:rPr>
              <a:t>Juin</a:t>
            </a:r>
          </a:p>
        </p:txBody>
      </p:sp>
      <p:sp>
        <p:nvSpPr>
          <p:cNvPr id="40" name="Rectangle 39"/>
          <p:cNvSpPr/>
          <p:nvPr/>
        </p:nvSpPr>
        <p:spPr>
          <a:xfrm>
            <a:off x="1949400" y="3823200"/>
            <a:ext cx="498636" cy="7200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913400" y="3902400"/>
            <a:ext cx="728100" cy="144000"/>
          </a:xfrm>
          <a:prstGeom prst="rect">
            <a:avLst/>
          </a:prstGeom>
          <a:noFill/>
        </p:spPr>
        <p:txBody>
          <a:bodyPr wrap="square">
            <a:spAutoFit/>
          </a:bodyPr>
          <a:lstStyle/>
          <a:p>
            <a:pPr algn="ctr"/>
            <a:r>
              <a:rPr sz="600" b="0" i="0">
                <a:solidFill>
                  <a:srgbClr val="555555"/>
                </a:solidFill>
                <a:latin typeface="Calibri"/>
              </a:rPr>
              <a:t>Juil</a:t>
            </a:r>
          </a:p>
        </p:txBody>
      </p:sp>
      <p:sp>
        <p:nvSpPr>
          <p:cNvPr id="42" name="Rectangle 41"/>
          <p:cNvSpPr/>
          <p:nvPr/>
        </p:nvSpPr>
        <p:spPr>
          <a:xfrm>
            <a:off x="2605500" y="3404707"/>
            <a:ext cx="498636" cy="4904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569500" y="3902400"/>
            <a:ext cx="728100" cy="144000"/>
          </a:xfrm>
          <a:prstGeom prst="rect">
            <a:avLst/>
          </a:prstGeom>
          <a:noFill/>
        </p:spPr>
        <p:txBody>
          <a:bodyPr wrap="square">
            <a:spAutoFit/>
          </a:bodyPr>
          <a:lstStyle/>
          <a:p>
            <a:pPr algn="ctr"/>
            <a:r>
              <a:rPr sz="600" b="0" i="0">
                <a:solidFill>
                  <a:srgbClr val="555555"/>
                </a:solidFill>
                <a:latin typeface="Calibri"/>
              </a:rPr>
              <a:t>Aoû</a:t>
            </a:r>
          </a:p>
        </p:txBody>
      </p:sp>
      <p:sp>
        <p:nvSpPr>
          <p:cNvPr id="44" name="Rectangle 43"/>
          <p:cNvSpPr/>
          <p:nvPr/>
        </p:nvSpPr>
        <p:spPr>
          <a:xfrm>
            <a:off x="3261600" y="3676064"/>
            <a:ext cx="498636" cy="219135"/>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225600" y="3902400"/>
            <a:ext cx="728100" cy="144000"/>
          </a:xfrm>
          <a:prstGeom prst="rect">
            <a:avLst/>
          </a:prstGeom>
          <a:noFill/>
        </p:spPr>
        <p:txBody>
          <a:bodyPr wrap="square">
            <a:spAutoFit/>
          </a:bodyPr>
          <a:lstStyle/>
          <a:p>
            <a:pPr algn="ctr"/>
            <a:r>
              <a:rPr sz="600" b="0" i="0">
                <a:solidFill>
                  <a:srgbClr val="555555"/>
                </a:solidFill>
                <a:latin typeface="Calibri"/>
              </a:rPr>
              <a:t>Sep</a:t>
            </a:r>
          </a:p>
        </p:txBody>
      </p:sp>
      <p:sp>
        <p:nvSpPr>
          <p:cNvPr id="46" name="Rectangle 45"/>
          <p:cNvSpPr/>
          <p:nvPr/>
        </p:nvSpPr>
        <p:spPr>
          <a:xfrm>
            <a:off x="3917700" y="3727923"/>
            <a:ext cx="498636" cy="167276"/>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881700" y="3902400"/>
            <a:ext cx="728100" cy="144000"/>
          </a:xfrm>
          <a:prstGeom prst="rect">
            <a:avLst/>
          </a:prstGeom>
          <a:noFill/>
        </p:spPr>
        <p:txBody>
          <a:bodyPr wrap="square">
            <a:spAutoFit/>
          </a:bodyPr>
          <a:lstStyle/>
          <a:p>
            <a:pPr algn="ctr"/>
            <a:r>
              <a:rPr sz="600" b="0" i="0">
                <a:solidFill>
                  <a:srgbClr val="555555"/>
                </a:solidFill>
                <a:latin typeface="Calibri"/>
              </a:rPr>
              <a:t>Oct</a:t>
            </a:r>
          </a:p>
        </p:txBody>
      </p:sp>
      <p:sp>
        <p:nvSpPr>
          <p:cNvPr id="48" name="Rectangle 47"/>
          <p:cNvSpPr/>
          <p:nvPr/>
        </p:nvSpPr>
        <p:spPr>
          <a:xfrm>
            <a:off x="4573800" y="3404707"/>
            <a:ext cx="498636" cy="490492"/>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537800" y="3902400"/>
            <a:ext cx="728100" cy="144000"/>
          </a:xfrm>
          <a:prstGeom prst="rect">
            <a:avLst/>
          </a:prstGeom>
          <a:noFill/>
        </p:spPr>
        <p:txBody>
          <a:bodyPr wrap="square">
            <a:spAutoFit/>
          </a:bodyPr>
          <a:lstStyle/>
          <a:p>
            <a:pPr algn="ctr"/>
            <a:r>
              <a:rPr sz="600" b="0" i="0">
                <a:solidFill>
                  <a:srgbClr val="555555"/>
                </a:solidFill>
                <a:latin typeface="Calibri"/>
              </a:rPr>
              <a:t>Nov</a:t>
            </a:r>
          </a:p>
        </p:txBody>
      </p:sp>
      <p:sp>
        <p:nvSpPr>
          <p:cNvPr id="50" name="Rectangle 49"/>
          <p:cNvSpPr/>
          <p:nvPr/>
        </p:nvSpPr>
        <p:spPr>
          <a:xfrm>
            <a:off x="5229900" y="3053752"/>
            <a:ext cx="498636" cy="841447"/>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193900" y="3902400"/>
            <a:ext cx="728100" cy="144000"/>
          </a:xfrm>
          <a:prstGeom prst="rect">
            <a:avLst/>
          </a:prstGeom>
          <a:noFill/>
        </p:spPr>
        <p:txBody>
          <a:bodyPr wrap="square">
            <a:spAutoFit/>
          </a:bodyPr>
          <a:lstStyle/>
          <a:p>
            <a:pPr algn="ctr"/>
            <a:r>
              <a:rPr sz="600" b="0" i="0">
                <a:solidFill>
                  <a:srgbClr val="555555"/>
                </a:solidFill>
                <a:latin typeface="Calibri"/>
              </a:rPr>
              <a:t>Déc</a:t>
            </a:r>
          </a:p>
        </p:txBody>
      </p:sp>
      <p:sp>
        <p:nvSpPr>
          <p:cNvPr id="52" name="Rectangle 51"/>
          <p:cNvSpPr/>
          <p:nvPr/>
        </p:nvSpPr>
        <p:spPr>
          <a:xfrm>
            <a:off x="5886000" y="2552044"/>
            <a:ext cx="498636" cy="1343155"/>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50000" y="3902400"/>
            <a:ext cx="728100" cy="144000"/>
          </a:xfrm>
          <a:prstGeom prst="rect">
            <a:avLst/>
          </a:prstGeom>
          <a:noFill/>
        </p:spPr>
        <p:txBody>
          <a:bodyPr wrap="square">
            <a:spAutoFit/>
          </a:bodyPr>
          <a:lstStyle/>
          <a:p>
            <a:pPr algn="ctr"/>
            <a:r>
              <a:rPr sz="600" b="0" i="0">
                <a:solidFill>
                  <a:srgbClr val="555555"/>
                </a:solidFill>
                <a:latin typeface="Calibri"/>
              </a:rPr>
              <a:t>Jan</a:t>
            </a:r>
          </a:p>
        </p:txBody>
      </p:sp>
      <p:sp>
        <p:nvSpPr>
          <p:cNvPr id="54" name="Rectangle 53"/>
          <p:cNvSpPr/>
          <p:nvPr/>
        </p:nvSpPr>
        <p:spPr>
          <a:xfrm>
            <a:off x="6542100" y="2669029"/>
            <a:ext cx="498636" cy="1226170"/>
          </a:xfrm>
          <a:prstGeom prst="rect">
            <a:avLst/>
          </a:prstGeom>
          <a:solidFill>
            <a:srgbClr val="A8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06099" y="3902400"/>
            <a:ext cx="728100" cy="144000"/>
          </a:xfrm>
          <a:prstGeom prst="rect">
            <a:avLst/>
          </a:prstGeom>
          <a:noFill/>
        </p:spPr>
        <p:txBody>
          <a:bodyPr wrap="square">
            <a:spAutoFit/>
          </a:bodyPr>
          <a:lstStyle/>
          <a:p>
            <a:pPr algn="ctr"/>
            <a:r>
              <a:rPr sz="600" b="0" i="0">
                <a:solidFill>
                  <a:srgbClr val="555555"/>
                </a:solidFill>
                <a:latin typeface="Calibri"/>
              </a:rPr>
              <a:t>Fév</a:t>
            </a:r>
          </a:p>
        </p:txBody>
      </p:sp>
      <p:sp>
        <p:nvSpPr>
          <p:cNvPr id="56" name="Rectangle 55"/>
          <p:cNvSpPr/>
          <p:nvPr/>
        </p:nvSpPr>
        <p:spPr>
          <a:xfrm>
            <a:off x="7198200" y="2513451"/>
            <a:ext cx="498636" cy="1381748"/>
          </a:xfrm>
          <a:prstGeom prst="rect">
            <a:avLst/>
          </a:prstGeom>
          <a:solidFill>
            <a:srgbClr val="1A7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162200" y="3902400"/>
            <a:ext cx="728100" cy="144000"/>
          </a:xfrm>
          <a:prstGeom prst="rect">
            <a:avLst/>
          </a:prstGeom>
          <a:noFill/>
        </p:spPr>
        <p:txBody>
          <a:bodyPr wrap="square">
            <a:spAutoFit/>
          </a:bodyPr>
          <a:lstStyle/>
          <a:p>
            <a:pPr algn="ctr"/>
            <a:r>
              <a:rPr sz="600" b="0" i="0">
                <a:solidFill>
                  <a:srgbClr val="555555"/>
                </a:solidFill>
                <a:latin typeface="Calibri"/>
              </a:rPr>
              <a:t>Mar</a:t>
            </a:r>
          </a:p>
        </p:txBody>
      </p:sp>
      <p:sp>
        <p:nvSpPr>
          <p:cNvPr id="58" name="Rectangle 57"/>
          <p:cNvSpPr/>
          <p:nvPr/>
        </p:nvSpPr>
        <p:spPr>
          <a:xfrm>
            <a:off x="7854300" y="2383200"/>
            <a:ext cx="498636" cy="1512000"/>
          </a:xfrm>
          <a:prstGeom prst="rect">
            <a:avLst/>
          </a:prstGeom>
          <a:solidFill>
            <a:srgbClr val="2E5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818299" y="3902400"/>
            <a:ext cx="728100" cy="144000"/>
          </a:xfrm>
          <a:prstGeom prst="rect">
            <a:avLst/>
          </a:prstGeom>
          <a:noFill/>
        </p:spPr>
        <p:txBody>
          <a:bodyPr wrap="square">
            <a:spAutoFit/>
          </a:bodyPr>
          <a:lstStyle/>
          <a:p>
            <a:pPr algn="ctr"/>
            <a:r>
              <a:rPr sz="600" b="0" i="0">
                <a:solidFill>
                  <a:srgbClr val="555555"/>
                </a:solidFill>
                <a:latin typeface="Calibri"/>
              </a:rPr>
              <a:t>Avr</a:t>
            </a:r>
          </a:p>
        </p:txBody>
      </p:sp>
      <p:sp>
        <p:nvSpPr>
          <p:cNvPr id="60" name="Rectangle 59"/>
          <p:cNvSpPr/>
          <p:nvPr/>
        </p:nvSpPr>
        <p:spPr>
          <a:xfrm>
            <a:off x="601200" y="382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31200" y="3751200"/>
            <a:ext cx="288000" cy="144000"/>
          </a:xfrm>
          <a:prstGeom prst="rect">
            <a:avLst/>
          </a:prstGeom>
          <a:noFill/>
        </p:spPr>
        <p:txBody>
          <a:bodyPr wrap="none">
            <a:spAutoFit/>
          </a:bodyPr>
          <a:lstStyle/>
          <a:p>
            <a:pPr algn="l"/>
            <a:r>
              <a:rPr sz="600" b="0" i="0">
                <a:solidFill>
                  <a:srgbClr val="555555"/>
                </a:solidFill>
                <a:latin typeface="Calibri"/>
              </a:rPr>
              <a:t>36</a:t>
            </a:r>
          </a:p>
        </p:txBody>
      </p:sp>
      <p:sp>
        <p:nvSpPr>
          <p:cNvPr id="62" name="Rectangle 61"/>
          <p:cNvSpPr/>
          <p:nvPr/>
        </p:nvSpPr>
        <p:spPr>
          <a:xfrm>
            <a:off x="601200" y="33480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1200" y="3276000"/>
            <a:ext cx="288000" cy="144000"/>
          </a:xfrm>
          <a:prstGeom prst="rect">
            <a:avLst/>
          </a:prstGeom>
          <a:noFill/>
        </p:spPr>
        <p:txBody>
          <a:bodyPr wrap="none">
            <a:spAutoFit/>
          </a:bodyPr>
          <a:lstStyle/>
          <a:p>
            <a:pPr algn="l"/>
            <a:r>
              <a:rPr sz="600" b="0" i="0">
                <a:solidFill>
                  <a:srgbClr val="555555"/>
                </a:solidFill>
                <a:latin typeface="Calibri"/>
              </a:rPr>
              <a:t>40</a:t>
            </a:r>
          </a:p>
        </p:txBody>
      </p:sp>
      <p:sp>
        <p:nvSpPr>
          <p:cNvPr id="64" name="Rectangle 63"/>
          <p:cNvSpPr/>
          <p:nvPr/>
        </p:nvSpPr>
        <p:spPr>
          <a:xfrm>
            <a:off x="601200" y="28584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31200" y="2786399"/>
            <a:ext cx="288000" cy="144000"/>
          </a:xfrm>
          <a:prstGeom prst="rect">
            <a:avLst/>
          </a:prstGeom>
          <a:noFill/>
        </p:spPr>
        <p:txBody>
          <a:bodyPr wrap="none">
            <a:spAutoFit/>
          </a:bodyPr>
          <a:lstStyle/>
          <a:p>
            <a:pPr algn="l"/>
            <a:r>
              <a:rPr sz="600" b="0" i="0">
                <a:solidFill>
                  <a:srgbClr val="555555"/>
                </a:solidFill>
                <a:latin typeface="Calibri"/>
              </a:rPr>
              <a:t>44</a:t>
            </a:r>
          </a:p>
        </p:txBody>
      </p:sp>
      <p:sp>
        <p:nvSpPr>
          <p:cNvPr id="66" name="Rectangle 65"/>
          <p:cNvSpPr/>
          <p:nvPr/>
        </p:nvSpPr>
        <p:spPr>
          <a:xfrm>
            <a:off x="601200" y="2383200"/>
            <a:ext cx="8179200" cy="7200"/>
          </a:xfrm>
          <a:prstGeom prst="rect">
            <a:avLst/>
          </a:prstGeom>
          <a:solidFill>
            <a:srgbClr val="D0D5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31200" y="2311200"/>
            <a:ext cx="288000" cy="144000"/>
          </a:xfrm>
          <a:prstGeom prst="rect">
            <a:avLst/>
          </a:prstGeom>
          <a:noFill/>
        </p:spPr>
        <p:txBody>
          <a:bodyPr wrap="none">
            <a:spAutoFit/>
          </a:bodyPr>
          <a:lstStyle/>
          <a:p>
            <a:pPr algn="l"/>
            <a:r>
              <a:rPr sz="600" b="0" i="0">
                <a:solidFill>
                  <a:srgbClr val="555555"/>
                </a:solidFill>
                <a:latin typeface="Calibri"/>
              </a:rPr>
              <a:t>48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